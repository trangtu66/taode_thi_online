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bài giảng. Bài giảng gồm 6 tiết trong 1 file; mỗi tiết mở đầu bằng slide nền xanh đậm.</a:t>
            </a:r>
          </a:p>
          <a:p>
            <a:r>
              <a:t>Đáp án, lời giải hiện theo từng cú click. Nút GeoGebra mở trang online trên kho Taode_thi_online (cần Internet).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giới thiệu nhanh mục tiêu (1 phút). Yêu cầu cần đạt lấy từ khung 'Kiến thức, kĩ năng' SGK tr.45.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Mỗi tiết có hoạt động GeoGebra 3D hoặc trò chơi.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7' – HĐ1, định nghĩa 10' – HĐ2, các khái niệm 15' – Luyện tập, trò chơi 10'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phút. GV chiếu video mở đầu (1 phút) – bấm nút hoặc quét QR. Sau video chiếu Hình 2.1, đọc câu hỏi mở đầu SGK tr.45.</a:t>
            </a:r>
          </a:p>
          <a:p>
            <a:r>
              <a:t>HS trao đổi cặp 2', dự đoán: có dùng vectơ cho đại lượng có hướng trong không gian được không; phép toán giống/khác gì mặt phẳng.</a:t>
            </a:r>
          </a:p>
          <a:p>
            <a:r>
              <a:t>GV KHÔNG chốt đáp án – sẽ trả lời ở cuối Tiết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(SGK tr.46) – 4'. HS quan sát Hình 2.2, trả lời cặp đôi. Click 1: đáp án a; click 2: đáp án b.</a:t>
            </a:r>
          </a:p>
          <a:p>
            <a:r>
              <a:t>Sai lầm: HS nghĩ các lực cùng nằm trong một mặt phẳng – cho HS nhìn kĩ 4 sợi dây buộc 4 góc kiện hàng.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chốt định nghĩa (khung đỏ). Câu hỏi (?) tr.46: HS tìm thêm ví dụ – click hiện gợi ý.</a:t>
            </a:r>
          </a:p>
          <a:p>
            <a:r>
              <a:t>Gợi ý: lực đẩy của tên lửa, vận tốc của chim/drone bay lên, trọng lực, lực kéo của cần cẩu…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nhấn mạnh: kí hiệu, độ dài, giá giống hệt vectơ trong mặt phẳng (lớp 10).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hướng dẫn, HS trả lời miệng. Click 1–3: lời giải a, b, c.</a:t>
            </a:r>
          </a:p>
          <a:p>
            <a:r>
              <a:t>Lưu ý: vectơ AD có giá AD không nằm trong (ABC).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cá nhân 2'. Click 1, 2: đáp án.</a:t>
            </a:r>
          </a:p>
          <a:p>
            <a:r>
              <a:t>|AC| = |AD'| = √2 (đường chéo mặt), |AD| =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(SGK tr.47) – 4'. HS quan sát hình hộp. Click 1–3: đáp án.</a:t>
            </a:r>
          </a:p>
          <a:p>
            <a:r>
              <a:t>Gợi ý: ABC'D' là hình bình hành nên AB // D'C' và AB = D'C'.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chốt khung kiến thức. Câu hỏi (?): click hiện đáp án – Có, vì cùng độ dài và cùng hướng với vectơ thứ ba.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như SGK tr.47–48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hướng dẫn: hai vectơ bằng nhau ⇔ cùng độ dài, cùng hướng; giá chéo nhau ⇒ không cùng phương. Click 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cặp đôi 3'. Click 1, 2.</a:t>
            </a:r>
          </a:p>
          <a:p>
            <a:r>
              <a:t>b) N thuộc cạnh BC với BN = AM: khi đó ABNM là hình bình hành (AM // BN, AM = BN) nên MN = AB.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thảo luận nhóm 2'. Click: đáp án. Mỗi lần di chuyển 7 tầng cùng hướng lên ⇒ hai vectơ bằng nhau.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thao tác trên máy chiếu, HS quan sát (HS có điện thoại mở cùng). Nếu mất mạng: dùng mô hình khung hình hộp, dùng 2 bút chì minh hoạ hai vectơ bằng nhau.</a:t>
            </a:r>
          </a:p>
          <a:p>
            <a:r>
              <a:t>Lệnh GeoGebra (geogebra.org/3d): A=(0,0,0), B=(3,0,0), D=(1,2.5,0), C=B+D-A, P=(0.7,0.5,2.6), A'=A+P, B'=B+P, C'=C+P, D'=D+P, u=Vector(A,B), v=Vector(D',C').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Luật: GV đọc từng mệnh đề, cả lớp giơ thẻ Đ (xanh)/S (đỏ) trong 10 giây. Click lần lượt hiện đáp án từng câu. Bạn đúng cả 5 câu được cộng điểm.</a:t>
            </a:r>
          </a:p>
          <a:p>
            <a:r>
              <a:t>Đáp án: 1 S, 2 Đ, 3 Đ, 4 Đ, 5 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Gọi 1 HS nhắc lại các khái niệm. Giao bài.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Khởi động 4' – HĐ3, định nghĩa 8' – Ví dụ, luyện tập 3, 4: 13' – HĐ4, quy tắc hình hộp, GeoGebra 10' – Trò chơi 7'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HS trả lời nhanh (giơ tay). Click 1–3: đáp án.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(SGK tr.49) – 5'. Gợi ý: bốn điểm A, B, A', B' đồng phẳng và ABB'A' là hình bình hành. Click 1, 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chốt khung kiến thức và Nhận xét (SGK tr.49). 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làm mẫu. Click 1–3. Ý chính: thay vectơ bằng vectơ bằng nó để nối đuôi.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Luyện tập 3 (SGK tr.50): HS làm cá nhân 2'. Click 1: đáp số |AC + C'D'| = 1. Sau đó GV giới thiệu tính chất.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4: GV trình bày (click 1). Luyện tập 4: 1 HS lên bảng, cả lớp làm vở (3'); click 2: lời giải.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HĐ4 (SGK tr.50) – 4'. Gợi ý: áp dụng quy tắc hình bình hành trong không gian. Click 1, 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Chốt quy tắc (SGK tr.50). Câu hỏi (?): HS phát biểu cho đỉnh B – click hiện đáp án (theo SGV): BA + BC + BB' = BD'.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kéo P cho HS thấy quy tắc đúng với mọi hình hộp. Nếu mất mạng: bỏ qua, dùng mô hình khung hình hộp.</a:t>
            </a:r>
          </a:p>
          <a:p>
            <a:r>
              <a:t>Lệnh: như GeoGebra tiết 1, thêm u1=Vector(A,B), u2=Vector(A,D), u3=Vector(A,A'), w=Vector(A,C'), t=u1+u2+u3, T=A+t.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5: GV trình bày (click 1). Luyện tập 5: HS làm 3', click 2. Lưu ý (SGV): vế phải có điểm đầu B nên tìm các vectơ có điểm đầu B bằng các vectơ ở vế trái.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Chia lớp 4 đội, mỗi đội cử lần lượt từng bạn lên bảng điền 1 ô (tiếp sức). Đội xong trước, đúng nhiều nhất thắng. Click 1–4 hiện đáp án từng ô.</a:t>
            </a:r>
          </a:p>
          <a:p>
            <a:r>
              <a:t>Đáp án: AC'; AC'; A'C'; DB'.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3 (45'): HĐ5, vectơ đối, hiệu 8' – Ví dụ 6, Luyện tập 6, Vận dụng 2: 12' – HĐ6, tích số với vectơ 8' – Ví dụ 7, Luyện tập 7, GeoGebra 10' – Trò chơi 5'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HĐ5 (SGK tr.51) – 3'. Theo SGV: lực tác dụng và phản lực (Định luật III Newton) cùng phương, ngược hướng, độ lớn bằng nhau. Mũi tên trên hình chỉ mang tính tương đối – thực tế hai lực có giá trùng nhau. Click 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chốt hai khung kiến thức và Nhận xét (SGK tr.51). 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hướng dẫn. Click 1, 2: lời giải a, b.</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nhóm đôi 4'. Click 1, 2 (theo gợi ý SGV).</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Theo SGV: hai vectơ vận tốc cùng phương (hai làn 'song song'), ngược hướng (một làn lên, một làn xuống); hai làn chạy cùng tốc độ nên độ dài bằng nhau ⇒ đối nhau. Nhắc an toàn: giữ tay vịn, trông trẻ nhỏ. Click 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HĐ6 (SGK tr.52) – 4'. MN là đường trung bình tam giác ABC; BC = B'C' (hình bình hành BCC'B'). Click 1, 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Chốt định nghĩa (SGK tr.53). Câu hỏi (?): click 1 – Có; có. Nhấn mạnh điều kiện cùng phương: a = k 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7: GV hướng dẫn (click 1). Luyện tập 7: HS làm 3', click 2. Lời giải LT7: EF = SF − SE = ⅓SB − ⅓SA = ⅓AB = ⅓DC.</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giới thiệu như SGK tr.53 (2').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cho HS dự đoán trước khi kéo k (k = −1? k = 0?). Lệnh: k=Slider(-3,3,0.1), O=(0,0,0), M=(1.5,1,1.2), a=Vector(O,M), Q=O+k*a, ka=Vector(O,Q).</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Cặp đôi ghép mỗi vectơ cột trái với vectơ đối của nó ở cột phải (hình hộp ABCD.A'B'C'D'). Click 1–4 hiện từng cặp.</a:t>
            </a:r>
          </a:p>
          <a:p>
            <a:r>
              <a:t>Đáp án: 1–D, 2–C, 3–A, 4–B (đã kiểm tra bằng toạ độ).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4 (45'): Ví dụ 8, Luyện tập 8, GeoGebra 10' – Vận dụng 3: 6' – HĐ7, định nghĩa góc 8' – Ví dụ 9, Luyện tập 9: 8' – Hộp quà bí mật 10'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nhắc tính chất trọng tâm tam giác GB + GC + GD = 0. Click 1, 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nhóm 4' (gợi ý: dùng Chú ý với O = I). Click 1, 2.</a:t>
            </a:r>
          </a:p>
          <a:p>
            <a:r>
              <a:t>Điểm I được gọi là trọng tâm của tứ diện ABCD.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A,B,C,D tự do; G=(B+C+D)/3; I=(A+B+C+D)/4; tong=Vector(I,A)+Vector(I,B)+Vector(I,C)+Vector(I,D).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Lực cản ngược hướng lực đẩy, máy bay giữ nguyên hướng bay ⇒ F1, F2 cùng hướng ⇒ F1 = kF2, k &gt; 0. Lực cản tỉ lệ thuận với bình phương vận tốc: k = |F1|/|F2| = (900/920)² ≈ 0,9570 ≈ 0,96. Click 1, 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HĐ7 (SGK tr.54) – 5'. Gợi ý: OAB và O'A'B' bằng nhau (c.c.c) hoặc định lí côsin. Click 1, 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Chốt định nghĩa (SGK tr.55), Chú ý. Câu hỏi (?): click 1 – cùng hướng: 0°; ngược hướng: 180°.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9: GV trình bày (click 1, 2). Luyện tập 9: HS làm 3' (click 3, 4). Theo SGV: (AA', BC) = (BB', BC) = CBB' = 90°; (AB, A'C') = (AB, AC) = BAC = 60°.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a=Vector(P1,P2), b=Vector(Q1,Q2), O=(0,0,0), A=O+a, B=O+b, goc=Angle(A,O,B).</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Mỗi đội chọn 1 hộp (bấm vào hộp – slide câu hỏi mở ra). Trả lời đúng trong 30 giây nhận quà ghi trên slide. Bấm '↩ Về hộp quà' để quay lại. Các slide câu hỏi đang ẩn – chỉ mở được qua hộp quà.</a:t>
            </a:r>
          </a:p>
          <a:p>
            <a:r>
              <a:t>Đáp án (lập phương): 1) 180°  2) 90°  3) 45°  4) 60° – đã kiểm tra bằng toạ độ.</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hộp quà – click 1 hiện đáp án.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hộp quà – click 1 hiện đáp án.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hộp quà – click 1 hiện đáp án.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hộp quà – click 1 hiện đáp án.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5 (45'): HĐ8, định nghĩa 7' – Ví dụ 10, Luyện tập 10: 10' – Tính chất, Ví dụ 11, Luyện tập 11: 10' – GeoGebra, Vận dụng 4: 8' – Trả lời câu hỏi mở đầu 3' – Ai nhanh hơn 5'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HĐ8 (SGK tr.56): HS nhắc lại công thức lớp 10 (click 1). GV chốt định nghĩa – nhấn mạnh tương đồng với mặt phẳng (SGV).</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triển khai như SGK tr.56 (2'). Các quy ước quen thuộc từ mặt phẳng.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từng ý (click 1–4).</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nhóm 4'. Click 1, 2. Kiểm tra bằng toạ độ: AS·BD = 0, AS·CD = −a²/2.</a:t>
            </a:r>
          </a:p>
          <a:p>
            <a:r>
              <a:t>Sai lầm: lấy góc (AS, CD) = 60° (quên CD ngược hướng AB) ⇒ ra a²/2.</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hướng dẫn (click 1–3). Kĩ thuật: biểu diễn MN theo hai đường gấp khúc rồi cộng.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3' (click 1, 2). SGV lưu ý: đây là chứng minh chặt chẽ cho tính chất đường thẳng vuông góc mặt phẳng đã thừa nhận ở lớp 11.</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Dẫn vào Vận dụng 4. Lệnh: u=Vector(A',C), v=Vector(B',D'), tvh=u*v; α=Slider(0°,180°,1°), F=M+3*(cos(α),0,sin(α)), congA=f*mn.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Theo SGV: A = |F|·|MN|·cos(F, MN); |F|, |MN| không đổi nên A lớn nhất khi cos = 1, tức góc 0° – lực cùng hướng chuyển động. Kéo/đẩy vật nặng nên theo hướng song song với hướng chuyển động mong muốn. Click 1, 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Quay lại câu hỏi mở đầu Tiết 1 (SGK tr.45). HS phát biểu trước, GV click chốt.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Lập phương cạnh 1. HS tính nhẩm, viết đáp số lên bảng con; ai giơ trước, đúng được điểm. Click 1–4.</a:t>
            </a:r>
          </a:p>
          <a:p>
            <a:r>
              <a:t>Đáp án (kiểm tra bằng toạ độ): 1; −1; 0;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6 (45'): Sơ đồ tư duy 4' – Bài tập 2.1 – 2.12 (chữa nhanh, ưu tiên bài HS sai nhiều) 22' – Em có biết 3' – Rung chuông vàng 13' – Củng cố online, giao việc 3'.</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HS nhìn sơ đồ, nhắc lại từng nhánh.</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từng bài (theo SGV tr.101 – 102). Ưu tiên bài HS sai nhiều.</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từng bài (theo SGV tr.101 – 102). Ưu tiên bài HS sai nhiều.</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từng bài (theo SGV tr.101 – 102). Ưu tiên bài HS sai nhiều.</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từng bài (theo SGV tr.101 – 102). Ưu tiên bài HS sai nhiều.</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từng bài (theo SGV tr.101 – 102). Ưu tiên bài HS sai nhiều.</a:t>
            </a:r>
          </a:p>
          <a:p>
            <a:r>
              <a:t>LƯU Ý: SGV tr.102 in đáp số 2.11b là (−5 + √2)/2 – SAI. Tính lại: (a+3b)(a−2b) = a² + a·b − 6b² = 1 + √2/2 − 6 = −5 + √2/2 = (−10 + √2)/2 ≈ −4,29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từng bài (theo SGV tr.101 – 102). Ưu tiên bài HS sai nhiều.</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Đọc cùng HS (SGK tr.59). Liên hệ: bàn đạp xuất phát trong điền kinh; cách đi bộ trên đường trơn.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Mỗi HS một bảng con. Mỗi câu 30 giây (câu Đ/S, trả lời ngắn, thực tế: 60 giây). HS sai rời 'sàn thi', còn lại đến cuối là người thắng. Có thể 'cứu trợ' 1 lần bằng câu hỏi phụ của GV.</a:t>
            </a:r>
          </a:p>
          <a:p>
            <a:r>
              <a:t>Cấu trúc: 4 câu nhiều lựa chọn, 1 câu Đúng/Sai (4 ý), 2 câu trả lời ngắn, 1 câu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CD, B'A' ngược hướng (nhầm 'cùng phương' với 'bằng nhau'); A'C' khác phương.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nhầm đường chéo A'C; thay AD bằng AC; đổi chiều CA'.</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quên hệ số 3; nhầm 2 (trung điểm); đổi chiều GA.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3 (sai dấu cos 120°); −3√3 (dùng sin); 6 (quên cos).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HS ghi Đ/S cho 4 ý. Click 1–4: đáp án từng ý. Đáp án: Đ – S – Đ – S (kiểm tra bằng toạ độ).</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đáp án. Sai lầm: |a+b| = |a| + |b| = 2 ⇒ 4.</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đáp án. Sai lầm: cộng độ dài 3 + 4 + 12 = 19.</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 đáp án. Sai lầm: dùng sin 30° ⇒ 250; quên cos ⇒ 500.</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(Taode_thi_online)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2/VIDEO_MoDau_TOAN12_Bai6_VectoTrongKhongGian.mp4"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trangtu66.github.io/Taode_thi_online/GGB3D_Bai6_1_VectoBangNhau.html" TargetMode="External"/><Relationship Id="rId4" Type="http://schemas.openxmlformats.org/officeDocument/2006/relationships/image" Target="../media/image10.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trangtu66.github.io/Taode_thi_online/GGB3D_Bai6_2_QuyTacHinhHop.html" TargetMode="External"/><Relationship Id="rId4" Type="http://schemas.openxmlformats.org/officeDocument/2006/relationships/image" Target="../media/image16.png"/><Relationship Id="rId5"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trangtu66.github.io/Taode_thi_online/GGB3D_Bai6_3_TichSoVoiVecto.html" TargetMode="External"/><Relationship Id="rId4" Type="http://schemas.openxmlformats.org/officeDocument/2006/relationships/image" Target="../media/image22.png"/><Relationship Id="rId5"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trangtu66.github.io/Taode_thi_online/GGB3D_Bai6_4_TrongTamTuDien.html" TargetMode="External"/><Relationship Id="rId4" Type="http://schemas.openxmlformats.org/officeDocument/2006/relationships/image" Target="../media/image24.png"/><Relationship Id="rId5"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27.png"/><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9.png"/><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hyperlink" Target="https://trangtu66.github.io/Taode_thi_online/GGB3D_Bai6_5_GocGiuaHaiVecto.html" TargetMode="External"/><Relationship Id="rId4" Type="http://schemas.openxmlformats.org/officeDocument/2006/relationships/image" Target="../media/image31.png"/><Relationship Id="rId5"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slide" Target="slide56.xml"/><Relationship Id="rId4" Type="http://schemas.openxmlformats.org/officeDocument/2006/relationships/slide" Target="slide57.xml"/><Relationship Id="rId5" Type="http://schemas.openxmlformats.org/officeDocument/2006/relationships/slide" Target="slide58.xml"/><Relationship Id="rId6" Type="http://schemas.openxmlformats.org/officeDocument/2006/relationships/slide" Target="slide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slide" Target="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png"/><Relationship Id="rId4" Type="http://schemas.openxmlformats.org/officeDocument/2006/relationships/slide" Target="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png"/><Relationship Id="rId4" Type="http://schemas.openxmlformats.org/officeDocument/2006/relationships/slide" Target="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png"/><Relationship Id="rId4" Type="http://schemas.openxmlformats.org/officeDocument/2006/relationships/slide" Target="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3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3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hyperlink" Target="https://trangtu66.github.io/Taode_thi_online/GGB3D_Bai6_6_TichVoHuong.html" TargetMode="External"/><Relationship Id="rId4" Type="http://schemas.openxmlformats.org/officeDocument/2006/relationships/image" Target="../media/image34.png"/><Relationship Id="rId5" Type="http://schemas.openxmlformats.org/officeDocument/2006/relationships/image" Target="../media/image3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3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3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3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3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39.png"/><Relationship Id="rId4" Type="http://schemas.openxmlformats.org/officeDocument/2006/relationships/image" Target="../media/image4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41.png"/><Relationship Id="rId4" Type="http://schemas.openxmlformats.org/officeDocument/2006/relationships/hyperlink" Target="https://trangtu66.github.io/Taode_thi_online/cc_bai6_t12.html"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200" b="1">
                <a:solidFill>
                  <a:srgbClr val="FCD34D"/>
                </a:solidFill>
                <a:latin typeface="Cambria"/>
              </a:rPr>
              <a:t>CHƯƠNG II. VECTƠ VÀ HỆ TRỤC TOẠ ĐỘ TRONG KHÔNG GIAN</a:t>
            </a:r>
          </a:p>
          <a:p>
            <a:pPr>
              <a:spcAft>
                <a:spcPts val="600"/>
              </a:spcAft>
            </a:pPr>
            <a:r>
              <a:rPr sz="3000" b="1">
                <a:solidFill>
                  <a:srgbClr val="FFFFFF"/>
                </a:solidFill>
                <a:latin typeface="Cambria"/>
              </a:rPr>
              <a:t>BÀI 6</a:t>
            </a:r>
          </a:p>
          <a:p>
            <a:pPr>
              <a:spcAft>
                <a:spcPts val="600"/>
              </a:spcAft>
            </a:pPr>
            <a:r>
              <a:rPr sz="4800" b="1">
                <a:solidFill>
                  <a:srgbClr val="FFFFFF"/>
                </a:solidFill>
                <a:latin typeface="Cambria"/>
              </a:rPr>
              <a:t>VECTƠ TRONG KHÔNG GIAN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6 tiết: T28 – T33</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a:t>
            </a:r>
          </a:p>
        </p:txBody>
      </p:sp>
      <p:sp>
        <p:nvSpPr>
          <p:cNvPr id="7" name="Rounded Rectangle 6"/>
          <p:cNvSpPr/>
          <p:nvPr/>
        </p:nvSpPr>
        <p:spPr>
          <a:xfrm>
            <a:off x="548640" y="1417320"/>
            <a:ext cx="11064240" cy="147218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tr.45)</a:t>
            </a:r>
          </a:p>
          <a:p>
            <a:pPr algn="l" marL="365760" indent="-365760">
              <a:spcAft>
                <a:spcPts val="800"/>
              </a:spcAft>
              <a:buClr>
                <a:srgbClr val="1E40AF"/>
              </a:buClr>
              <a:buFont typeface="Arial"/>
              <a:buChar char="•"/>
            </a:pPr>
            <a:r>
              <a:rPr sz="2200">
                <a:solidFill>
                  <a:srgbClr val="1E293B"/>
                </a:solidFill>
                <a:latin typeface="Calibri"/>
              </a:rPr>
              <a:t>Nhận biết vectơ trong không gian.</a:t>
            </a:r>
          </a:p>
          <a:p>
            <a:pPr algn="l" marL="365760" indent="-365760">
              <a:spcAft>
                <a:spcPts val="800"/>
              </a:spcAft>
              <a:buClr>
                <a:srgbClr val="1E40AF"/>
              </a:buClr>
              <a:buFont typeface="Arial"/>
              <a:buChar char="•"/>
            </a:pPr>
            <a:r>
              <a:rPr sz="2200">
                <a:solidFill>
                  <a:srgbClr val="1E293B"/>
                </a:solidFill>
                <a:latin typeface="Calibri"/>
              </a:rPr>
              <a:t>Nhận biết và thực hiện các phép toán vectơ trong không gian.</a:t>
            </a:r>
          </a:p>
        </p:txBody>
      </p:sp>
      <p:sp>
        <p:nvSpPr>
          <p:cNvPr id="9" name="TextBox 8"/>
          <p:cNvSpPr txBox="1"/>
          <p:nvPr/>
        </p:nvSpPr>
        <p:spPr>
          <a:xfrm>
            <a:off x="548640" y="3063240"/>
            <a:ext cx="110642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(chứng minh đẳng thức vectơ); mô hình hoá (lực, vận tốc, độ dịch chuyển bằng vectơ); giải quyết vấn đề; giao tiếp toán học; sử dụng công cụ, phương tiện (GeoGebra 3D).</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khi tự kiểm tra kết quả, trách nhiệm khi làm việc nhóm.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6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a:t>
            </a:r>
          </a:p>
        </p:txBody>
      </p:sp>
      <p:sp>
        <p:nvSpPr>
          <p:cNvPr id="7" name="Rounded Rectangle 6"/>
          <p:cNvSpPr/>
          <p:nvPr/>
        </p:nvSpPr>
        <p:spPr>
          <a:xfrm>
            <a:off x="548640" y="1463040"/>
            <a:ext cx="1188720" cy="658368"/>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1188720" cy="566928"/>
          </a:xfrm>
          <a:prstGeom prst="rect">
            <a:avLst/>
          </a:prstGeom>
          <a:noFill/>
        </p:spPr>
        <p:txBody>
          <a:bodyPr wrap="square" anchor="t" lIns="45720" rIns="45720">
            <a:spAutoFit/>
          </a:bodyPr>
          <a:lstStyle/>
          <a:p>
            <a:pPr algn="ctr">
              <a:spcAft>
                <a:spcPts val="800"/>
              </a:spcAft>
            </a:pPr>
            <a:r>
              <a:rPr sz="2200" b="1">
                <a:solidFill>
                  <a:srgbClr val="FFFFFF"/>
                </a:solidFill>
                <a:latin typeface="Calibri"/>
              </a:rPr>
              <a:t>T28</a:t>
            </a:r>
          </a:p>
        </p:txBody>
      </p:sp>
      <p:sp>
        <p:nvSpPr>
          <p:cNvPr id="9" name="TextBox 8"/>
          <p:cNvSpPr txBox="1"/>
          <p:nvPr/>
        </p:nvSpPr>
        <p:spPr>
          <a:xfrm>
            <a:off x="1920240" y="1536192"/>
            <a:ext cx="5852160" cy="566928"/>
          </a:xfrm>
          <a:prstGeom prst="rect">
            <a:avLst/>
          </a:prstGeom>
          <a:noFill/>
        </p:spPr>
        <p:txBody>
          <a:bodyPr wrap="square" anchor="t" lIns="45720" rIns="45720">
            <a:spAutoFit/>
          </a:bodyPr>
          <a:lstStyle/>
          <a:p>
            <a:pPr algn="l">
              <a:spcAft>
                <a:spcPts val="800"/>
              </a:spcAft>
            </a:pPr>
            <a:r>
              <a:rPr sz="2200">
                <a:solidFill>
                  <a:srgbClr val="1E293B"/>
                </a:solidFill>
                <a:latin typeface="Calibri"/>
              </a:rPr>
              <a:t>1. Vectơ trong không gian</a:t>
            </a:r>
          </a:p>
        </p:txBody>
      </p:sp>
      <p:sp>
        <p:nvSpPr>
          <p:cNvPr id="10" name="TextBox 9"/>
          <p:cNvSpPr txBox="1"/>
          <p:nvPr/>
        </p:nvSpPr>
        <p:spPr>
          <a:xfrm>
            <a:off x="7863840" y="1536192"/>
            <a:ext cx="3931920" cy="566928"/>
          </a:xfrm>
          <a:prstGeom prst="rect">
            <a:avLst/>
          </a:prstGeom>
          <a:noFill/>
        </p:spPr>
        <p:txBody>
          <a:bodyPr wrap="square" anchor="t" lIns="45720" rIns="45720">
            <a:spAutoFit/>
          </a:bodyPr>
          <a:lstStyle/>
          <a:p>
            <a:pPr algn="l">
              <a:spcAft>
                <a:spcPts val="800"/>
              </a:spcAft>
            </a:pPr>
            <a:r>
              <a:rPr sz="2000">
                <a:solidFill>
                  <a:srgbClr val="1E293B"/>
                </a:solidFill>
                <a:latin typeface="Calibri"/>
              </a:rPr>
              <a:t>🎮 Trò chơi Đúng hay Sai?</a:t>
            </a:r>
          </a:p>
        </p:txBody>
      </p:sp>
      <p:sp>
        <p:nvSpPr>
          <p:cNvPr id="11" name="Rounded Rectangle 10"/>
          <p:cNvSpPr/>
          <p:nvPr/>
        </p:nvSpPr>
        <p:spPr>
          <a:xfrm>
            <a:off x="548640" y="2249424"/>
            <a:ext cx="1188720" cy="658368"/>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295144"/>
            <a:ext cx="1188720" cy="566928"/>
          </a:xfrm>
          <a:prstGeom prst="rect">
            <a:avLst/>
          </a:prstGeom>
          <a:noFill/>
        </p:spPr>
        <p:txBody>
          <a:bodyPr wrap="square" anchor="t" lIns="45720" rIns="45720">
            <a:spAutoFit/>
          </a:bodyPr>
          <a:lstStyle/>
          <a:p>
            <a:pPr algn="ctr">
              <a:spcAft>
                <a:spcPts val="800"/>
              </a:spcAft>
            </a:pPr>
            <a:r>
              <a:rPr sz="2200" b="1">
                <a:solidFill>
                  <a:srgbClr val="FFFFFF"/>
                </a:solidFill>
                <a:latin typeface="Calibri"/>
              </a:rPr>
              <a:t>T29</a:t>
            </a:r>
          </a:p>
        </p:txBody>
      </p:sp>
      <p:sp>
        <p:nvSpPr>
          <p:cNvPr id="13" name="TextBox 12"/>
          <p:cNvSpPr txBox="1"/>
          <p:nvPr/>
        </p:nvSpPr>
        <p:spPr>
          <a:xfrm>
            <a:off x="1920240" y="2322576"/>
            <a:ext cx="5852160" cy="566928"/>
          </a:xfrm>
          <a:prstGeom prst="rect">
            <a:avLst/>
          </a:prstGeom>
          <a:noFill/>
        </p:spPr>
        <p:txBody>
          <a:bodyPr wrap="square" anchor="t" lIns="45720" rIns="45720">
            <a:spAutoFit/>
          </a:bodyPr>
          <a:lstStyle/>
          <a:p>
            <a:pPr algn="l">
              <a:spcAft>
                <a:spcPts val="800"/>
              </a:spcAft>
            </a:pPr>
            <a:r>
              <a:rPr sz="2200">
                <a:solidFill>
                  <a:srgbClr val="1E293B"/>
                </a:solidFill>
                <a:latin typeface="Calibri"/>
              </a:rPr>
              <a:t>2a. Tổng hai vectơ, quy tắc hình hộp</a:t>
            </a:r>
          </a:p>
        </p:txBody>
      </p:sp>
      <p:sp>
        <p:nvSpPr>
          <p:cNvPr id="14" name="TextBox 13"/>
          <p:cNvSpPr txBox="1"/>
          <p:nvPr/>
        </p:nvSpPr>
        <p:spPr>
          <a:xfrm>
            <a:off x="7863840" y="2322576"/>
            <a:ext cx="3931920" cy="566928"/>
          </a:xfrm>
          <a:prstGeom prst="rect">
            <a:avLst/>
          </a:prstGeom>
          <a:noFill/>
        </p:spPr>
        <p:txBody>
          <a:bodyPr wrap="square" anchor="t" lIns="45720" rIns="45720">
            <a:spAutoFit/>
          </a:bodyPr>
          <a:lstStyle/>
          <a:p>
            <a:pPr algn="l">
              <a:spcAft>
                <a:spcPts val="800"/>
              </a:spcAft>
            </a:pPr>
            <a:r>
              <a:rPr sz="2000">
                <a:solidFill>
                  <a:srgbClr val="1E293B"/>
                </a:solidFill>
                <a:latin typeface="Calibri"/>
              </a:rPr>
              <a:t>🎮 Tiếp sức đồng đội</a:t>
            </a:r>
          </a:p>
        </p:txBody>
      </p:sp>
      <p:sp>
        <p:nvSpPr>
          <p:cNvPr id="15" name="Rounded Rectangle 14"/>
          <p:cNvSpPr/>
          <p:nvPr/>
        </p:nvSpPr>
        <p:spPr>
          <a:xfrm>
            <a:off x="548640" y="3035808"/>
            <a:ext cx="1188720" cy="658368"/>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081528"/>
            <a:ext cx="1188720" cy="566928"/>
          </a:xfrm>
          <a:prstGeom prst="rect">
            <a:avLst/>
          </a:prstGeom>
          <a:noFill/>
        </p:spPr>
        <p:txBody>
          <a:bodyPr wrap="square" anchor="t" lIns="45720" rIns="45720">
            <a:spAutoFit/>
          </a:bodyPr>
          <a:lstStyle/>
          <a:p>
            <a:pPr algn="ctr">
              <a:spcAft>
                <a:spcPts val="800"/>
              </a:spcAft>
            </a:pPr>
            <a:r>
              <a:rPr sz="2200" b="1">
                <a:solidFill>
                  <a:srgbClr val="FFFFFF"/>
                </a:solidFill>
                <a:latin typeface="Calibri"/>
              </a:rPr>
              <a:t>T30</a:t>
            </a:r>
          </a:p>
        </p:txBody>
      </p:sp>
      <p:sp>
        <p:nvSpPr>
          <p:cNvPr id="17" name="TextBox 16"/>
          <p:cNvSpPr txBox="1"/>
          <p:nvPr/>
        </p:nvSpPr>
        <p:spPr>
          <a:xfrm>
            <a:off x="1920240" y="3108960"/>
            <a:ext cx="5852160" cy="566928"/>
          </a:xfrm>
          <a:prstGeom prst="rect">
            <a:avLst/>
          </a:prstGeom>
          <a:noFill/>
        </p:spPr>
        <p:txBody>
          <a:bodyPr wrap="square" anchor="t" lIns="45720" rIns="45720">
            <a:spAutoFit/>
          </a:bodyPr>
          <a:lstStyle/>
          <a:p>
            <a:pPr algn="l">
              <a:spcAft>
                <a:spcPts val="800"/>
              </a:spcAft>
            </a:pPr>
            <a:r>
              <a:rPr sz="2200">
                <a:solidFill>
                  <a:srgbClr val="1E293B"/>
                </a:solidFill>
                <a:latin typeface="Calibri"/>
              </a:rPr>
              <a:t>2b. Hiệu. 3. Tích một số với vectơ</a:t>
            </a:r>
          </a:p>
        </p:txBody>
      </p:sp>
      <p:sp>
        <p:nvSpPr>
          <p:cNvPr id="18" name="TextBox 17"/>
          <p:cNvSpPr txBox="1"/>
          <p:nvPr/>
        </p:nvSpPr>
        <p:spPr>
          <a:xfrm>
            <a:off x="7863840" y="3108960"/>
            <a:ext cx="3931920" cy="566928"/>
          </a:xfrm>
          <a:prstGeom prst="rect">
            <a:avLst/>
          </a:prstGeom>
          <a:noFill/>
        </p:spPr>
        <p:txBody>
          <a:bodyPr wrap="square" anchor="t" lIns="45720" rIns="45720">
            <a:spAutoFit/>
          </a:bodyPr>
          <a:lstStyle/>
          <a:p>
            <a:pPr algn="l">
              <a:spcAft>
                <a:spcPts val="800"/>
              </a:spcAft>
            </a:pPr>
            <a:r>
              <a:rPr sz="2000">
                <a:solidFill>
                  <a:srgbClr val="1E293B"/>
                </a:solidFill>
                <a:latin typeface="Calibri"/>
              </a:rPr>
              <a:t>🎮 Ghép đôi vectơ đối</a:t>
            </a:r>
          </a:p>
        </p:txBody>
      </p:sp>
      <p:sp>
        <p:nvSpPr>
          <p:cNvPr id="19" name="Rounded Rectangle 18"/>
          <p:cNvSpPr/>
          <p:nvPr/>
        </p:nvSpPr>
        <p:spPr>
          <a:xfrm>
            <a:off x="548640" y="3822191"/>
            <a:ext cx="1188720" cy="658368"/>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867911"/>
            <a:ext cx="1188720" cy="566928"/>
          </a:xfrm>
          <a:prstGeom prst="rect">
            <a:avLst/>
          </a:prstGeom>
          <a:noFill/>
        </p:spPr>
        <p:txBody>
          <a:bodyPr wrap="square" anchor="t" lIns="45720" rIns="45720">
            <a:spAutoFit/>
          </a:bodyPr>
          <a:lstStyle/>
          <a:p>
            <a:pPr algn="ctr">
              <a:spcAft>
                <a:spcPts val="800"/>
              </a:spcAft>
            </a:pPr>
            <a:r>
              <a:rPr sz="2200" b="1">
                <a:solidFill>
                  <a:srgbClr val="FFFFFF"/>
                </a:solidFill>
                <a:latin typeface="Calibri"/>
              </a:rPr>
              <a:t>T31</a:t>
            </a:r>
          </a:p>
        </p:txBody>
      </p:sp>
      <p:sp>
        <p:nvSpPr>
          <p:cNvPr id="21" name="TextBox 20"/>
          <p:cNvSpPr txBox="1"/>
          <p:nvPr/>
        </p:nvSpPr>
        <p:spPr>
          <a:xfrm>
            <a:off x="1920240" y="3895344"/>
            <a:ext cx="5852160" cy="566928"/>
          </a:xfrm>
          <a:prstGeom prst="rect">
            <a:avLst/>
          </a:prstGeom>
          <a:noFill/>
        </p:spPr>
        <p:txBody>
          <a:bodyPr wrap="square" anchor="t" lIns="45720" rIns="45720">
            <a:spAutoFit/>
          </a:bodyPr>
          <a:lstStyle/>
          <a:p>
            <a:pPr algn="l">
              <a:spcAft>
                <a:spcPts val="800"/>
              </a:spcAft>
            </a:pPr>
            <a:r>
              <a:rPr sz="2200">
                <a:solidFill>
                  <a:srgbClr val="1E293B"/>
                </a:solidFill>
                <a:latin typeface="Calibri"/>
              </a:rPr>
              <a:t>Trọng tâm. 4a. Góc giữa hai vectơ</a:t>
            </a:r>
          </a:p>
        </p:txBody>
      </p:sp>
      <p:sp>
        <p:nvSpPr>
          <p:cNvPr id="22" name="TextBox 21"/>
          <p:cNvSpPr txBox="1"/>
          <p:nvPr/>
        </p:nvSpPr>
        <p:spPr>
          <a:xfrm>
            <a:off x="7863840" y="3895344"/>
            <a:ext cx="3931920" cy="566928"/>
          </a:xfrm>
          <a:prstGeom prst="rect">
            <a:avLst/>
          </a:prstGeom>
          <a:noFill/>
        </p:spPr>
        <p:txBody>
          <a:bodyPr wrap="square" anchor="t" lIns="45720" rIns="45720">
            <a:spAutoFit/>
          </a:bodyPr>
          <a:lstStyle/>
          <a:p>
            <a:pPr algn="l">
              <a:spcAft>
                <a:spcPts val="800"/>
              </a:spcAft>
            </a:pPr>
            <a:r>
              <a:rPr sz="2000">
                <a:solidFill>
                  <a:srgbClr val="1E293B"/>
                </a:solidFill>
                <a:latin typeface="Calibri"/>
              </a:rPr>
              <a:t>🎮 Hộp quà bí mật</a:t>
            </a:r>
          </a:p>
        </p:txBody>
      </p:sp>
      <p:sp>
        <p:nvSpPr>
          <p:cNvPr id="23" name="Rounded Rectangle 22"/>
          <p:cNvSpPr/>
          <p:nvPr/>
        </p:nvSpPr>
        <p:spPr>
          <a:xfrm>
            <a:off x="548640" y="4608576"/>
            <a:ext cx="1188720" cy="658368"/>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654296"/>
            <a:ext cx="1188720" cy="566928"/>
          </a:xfrm>
          <a:prstGeom prst="rect">
            <a:avLst/>
          </a:prstGeom>
          <a:noFill/>
        </p:spPr>
        <p:txBody>
          <a:bodyPr wrap="square" anchor="t" lIns="45720" rIns="45720">
            <a:spAutoFit/>
          </a:bodyPr>
          <a:lstStyle/>
          <a:p>
            <a:pPr algn="ctr">
              <a:spcAft>
                <a:spcPts val="800"/>
              </a:spcAft>
            </a:pPr>
            <a:r>
              <a:rPr sz="2200" b="1">
                <a:solidFill>
                  <a:srgbClr val="FFFFFF"/>
                </a:solidFill>
                <a:latin typeface="Calibri"/>
              </a:rPr>
              <a:t>T32</a:t>
            </a:r>
          </a:p>
        </p:txBody>
      </p:sp>
      <p:sp>
        <p:nvSpPr>
          <p:cNvPr id="25" name="TextBox 24"/>
          <p:cNvSpPr txBox="1"/>
          <p:nvPr/>
        </p:nvSpPr>
        <p:spPr>
          <a:xfrm>
            <a:off x="1920240" y="4681728"/>
            <a:ext cx="5852160" cy="566928"/>
          </a:xfrm>
          <a:prstGeom prst="rect">
            <a:avLst/>
          </a:prstGeom>
          <a:noFill/>
        </p:spPr>
        <p:txBody>
          <a:bodyPr wrap="square" anchor="t" lIns="45720" rIns="45720">
            <a:spAutoFit/>
          </a:bodyPr>
          <a:lstStyle/>
          <a:p>
            <a:pPr algn="l">
              <a:spcAft>
                <a:spcPts val="800"/>
              </a:spcAft>
            </a:pPr>
            <a:r>
              <a:rPr sz="2200">
                <a:solidFill>
                  <a:srgbClr val="1E293B"/>
                </a:solidFill>
                <a:latin typeface="Calibri"/>
              </a:rPr>
              <a:t>4b. Tích vô hướng</a:t>
            </a:r>
          </a:p>
        </p:txBody>
      </p:sp>
      <p:sp>
        <p:nvSpPr>
          <p:cNvPr id="26" name="TextBox 25"/>
          <p:cNvSpPr txBox="1"/>
          <p:nvPr/>
        </p:nvSpPr>
        <p:spPr>
          <a:xfrm>
            <a:off x="7863840" y="4681728"/>
            <a:ext cx="3931920" cy="566928"/>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a:t>
            </a:r>
          </a:p>
        </p:txBody>
      </p:sp>
      <p:sp>
        <p:nvSpPr>
          <p:cNvPr id="27" name="Rounded Rectangle 26"/>
          <p:cNvSpPr/>
          <p:nvPr/>
        </p:nvSpPr>
        <p:spPr>
          <a:xfrm>
            <a:off x="548640" y="5394960"/>
            <a:ext cx="1188720" cy="658368"/>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440680"/>
            <a:ext cx="1188720" cy="566928"/>
          </a:xfrm>
          <a:prstGeom prst="rect">
            <a:avLst/>
          </a:prstGeom>
          <a:noFill/>
        </p:spPr>
        <p:txBody>
          <a:bodyPr wrap="square" anchor="t" lIns="45720" rIns="45720">
            <a:spAutoFit/>
          </a:bodyPr>
          <a:lstStyle/>
          <a:p>
            <a:pPr algn="ctr">
              <a:spcAft>
                <a:spcPts val="800"/>
              </a:spcAft>
            </a:pPr>
            <a:r>
              <a:rPr sz="2200" b="1">
                <a:solidFill>
                  <a:srgbClr val="FFFFFF"/>
                </a:solidFill>
                <a:latin typeface="Calibri"/>
              </a:rPr>
              <a:t>T33</a:t>
            </a:r>
          </a:p>
        </p:txBody>
      </p:sp>
      <p:sp>
        <p:nvSpPr>
          <p:cNvPr id="29" name="TextBox 28"/>
          <p:cNvSpPr txBox="1"/>
          <p:nvPr/>
        </p:nvSpPr>
        <p:spPr>
          <a:xfrm>
            <a:off x="1920240" y="5468112"/>
            <a:ext cx="5852160" cy="566928"/>
          </a:xfrm>
          <a:prstGeom prst="rect">
            <a:avLst/>
          </a:prstGeom>
          <a:noFill/>
        </p:spPr>
        <p:txBody>
          <a:bodyPr wrap="square" anchor="t" lIns="45720" rIns="45720">
            <a:spAutoFit/>
          </a:bodyPr>
          <a:lstStyle/>
          <a:p>
            <a:pPr algn="l">
              <a:spcAft>
                <a:spcPts val="800"/>
              </a:spcAft>
            </a:pPr>
            <a:r>
              <a:rPr sz="2200">
                <a:solidFill>
                  <a:srgbClr val="1E293B"/>
                </a:solidFill>
                <a:latin typeface="Calibri"/>
              </a:rPr>
              <a:t>Luyện tập – Bài tập 2.1 – 2.12</a:t>
            </a:r>
          </a:p>
        </p:txBody>
      </p:sp>
      <p:sp>
        <p:nvSpPr>
          <p:cNvPr id="30" name="TextBox 29"/>
          <p:cNvSpPr txBox="1"/>
          <p:nvPr/>
        </p:nvSpPr>
        <p:spPr>
          <a:xfrm>
            <a:off x="7863840" y="5468112"/>
            <a:ext cx="3931920" cy="566928"/>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(T28)</a:t>
            </a:r>
          </a:p>
          <a:p>
            <a:pPr>
              <a:spcAft>
                <a:spcPts val="600"/>
              </a:spcAft>
            </a:pPr>
            <a:r>
              <a:rPr sz="4000" b="1">
                <a:solidFill>
                  <a:srgbClr val="FFFFFF"/>
                </a:solidFill>
                <a:latin typeface="Cambria"/>
              </a:rPr>
              <a:t>Vectơ trong không gian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vectơ, độ dài, giá của vectơ trong không gian.</a:t>
            </a:r>
          </a:p>
          <a:p>
            <a:pPr algn="l">
              <a:spcAft>
                <a:spcPts val="800"/>
              </a:spcAft>
            </a:pPr>
            <a:r>
              <a:rPr sz="2200">
                <a:solidFill>
                  <a:srgbClr val="E0E7FF"/>
                </a:solidFill>
                <a:latin typeface="Calibri"/>
              </a:rPr>
              <a:t>• Nhận biết hai vectơ cùng phương, cùng hướng, bằng nhau; vectơ-không.</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CÂU HỎI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a:t>
            </a:r>
          </a:p>
        </p:txBody>
      </p:sp>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Ở lớp 10, ta đã biết về vectơ trong mặt phẳng và biết sử dụng vectơ để biểu thị các đại lượng có hướng và độ lớn trong mặt phẳng, ví dụ như vận tốc hay lực. </a:t>
            </a:r>
            <a:r>
              <a:rPr sz="2200" b="1">
                <a:solidFill>
                  <a:srgbClr val="1E293B"/>
                </a:solidFill>
                <a:latin typeface="Calibri"/>
              </a:rPr>
              <a:t>Đối với các đại lượng có hướng trong không gian, ta có thể sử dụng vectơ để biểu diễn chúng hay không? Các phép toán vectơ trong trường hợp này giống và khác như thế nào với các phép toán vectơ trong mặt phẳng?</a:t>
            </a:r>
          </a:p>
          <a:p>
            <a:pPr algn="l">
              <a:spcAft>
                <a:spcPts val="800"/>
              </a:spcAft>
            </a:pPr>
            <a:r>
              <a:rPr sz="2000">
                <a:solidFill>
                  <a:srgbClr val="64748B"/>
                </a:solidFill>
                <a:latin typeface="Calibri"/>
              </a:rPr>
              <a:t>(SGK Toán 12 tập một, tr.45)</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 (1 phút)</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h21.png"/>
          <p:cNvPicPr>
            <a:picLocks noChangeAspect="1"/>
          </p:cNvPicPr>
          <p:nvPr/>
        </p:nvPicPr>
        <p:blipFill>
          <a:blip r:embed="rId5"/>
          <a:stretch>
            <a:fillRect/>
          </a:stretch>
        </p:blipFill>
        <p:spPr>
          <a:xfrm>
            <a:off x="7315200" y="1624159"/>
            <a:ext cx="4389120" cy="3701122"/>
          </a:xfrm>
          <a:prstGeom prst="rect">
            <a:avLst/>
          </a:prstGeom>
        </p:spPr>
      </p:pic>
      <p:sp>
        <p:nvSpPr>
          <p:cNvPr id="11" name="TextBox 10"/>
          <p:cNvSpPr txBox="1"/>
          <p:nvPr/>
        </p:nvSpPr>
        <p:spPr>
          <a:xfrm>
            <a:off x="7315200" y="5550407"/>
            <a:ext cx="43891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 Các mũi tên chỉ đường gợi lên hình ảnh về vectơ trong không gian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VECTƠ TRONG KHÔNG GIAN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a:t>
            </a:r>
          </a:p>
        </p:txBody>
      </p:sp>
      <p:sp>
        <p:nvSpPr>
          <p:cNvPr id="7" name="TextBox 6"/>
          <p:cNvSpPr txBox="1"/>
          <p:nvPr/>
        </p:nvSpPr>
        <p:spPr>
          <a:xfrm>
            <a:off x="548640" y="1371600"/>
            <a:ext cx="7863840" cy="3035808"/>
          </a:xfrm>
          <a:prstGeom prst="rect">
            <a:avLst/>
          </a:prstGeom>
          <a:noFill/>
        </p:spPr>
        <p:txBody>
          <a:bodyPr wrap="square" anchor="t" lIns="45720" rIns="45720">
            <a:spAutoFit/>
          </a:bodyPr>
          <a:lstStyle/>
          <a:p>
            <a:pPr algn="l">
              <a:spcAft>
                <a:spcPts val="800"/>
              </a:spcAft>
            </a:pPr>
            <a:r>
              <a:rPr sz="2100" b="1">
                <a:solidFill>
                  <a:srgbClr val="1E40AF"/>
                </a:solidFill>
                <a:latin typeface="Calibri"/>
              </a:rPr>
              <a:t>HĐ1. Nhận biết vectơ trong không gian</a:t>
            </a:r>
            <a:r>
              <a:rPr sz="2100" b="1">
                <a:solidFill>
                  <a:srgbClr val="1E40AF"/>
                </a:solidFill>
                <a:latin typeface="Calibri"/>
              </a:rPr>
              <a:t> (SGK tr.46)</a:t>
            </a:r>
          </a:p>
          <a:p>
            <a:pPr algn="l">
              <a:spcAft>
                <a:spcPts val="800"/>
              </a:spcAft>
            </a:pPr>
            <a:r>
              <a:rPr sz="2100">
                <a:solidFill>
                  <a:srgbClr val="1E293B"/>
                </a:solidFill>
                <a:latin typeface="Calibri"/>
              </a:rPr>
              <a:t>Trong Hình 2.2, lực căng dây (được tạo ra bởi sức nặng của kiện hàng) được thể hiện bởi các đoạn thẳng có mũi tên màu đỏ.</a:t>
            </a:r>
          </a:p>
          <a:p>
            <a:pPr algn="l">
              <a:spcAft>
                <a:spcPts val="800"/>
              </a:spcAft>
            </a:pPr>
            <a:r>
              <a:rPr sz="2100">
                <a:solidFill>
                  <a:srgbClr val="1E293B"/>
                </a:solidFill>
                <a:latin typeface="Calibri"/>
              </a:rPr>
              <a:t>a) Các đoạn thẳng này cho biết gì về hướng và độ lớn của các lực căng dây?</a:t>
            </a:r>
          </a:p>
          <a:p>
            <a:pPr algn="l">
              <a:spcAft>
                <a:spcPts val="800"/>
              </a:spcAft>
            </a:pPr>
            <a:r>
              <a:rPr sz="2100">
                <a:solidFill>
                  <a:srgbClr val="1E293B"/>
                </a:solidFill>
                <a:latin typeface="Calibri"/>
              </a:rPr>
              <a:t>b) Các đoạn thẳng này có cùng nằm trong một mặt phẳng không?</a:t>
            </a:r>
          </a:p>
        </p:txBody>
      </p:sp>
      <p:sp>
        <p:nvSpPr>
          <p:cNvPr id="8" name="s1_nen"/>
          <p:cNvSpPr/>
          <p:nvPr/>
        </p:nvSpPr>
        <p:spPr>
          <a:xfrm>
            <a:off x="548640" y="4462272"/>
            <a:ext cx="78638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4498848"/>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Hướng mũi tên: hướng của lực; độ dài đoạn thẳng: độ lớn của lực.</a:t>
            </a:r>
          </a:p>
        </p:txBody>
      </p:sp>
      <p:sp>
        <p:nvSpPr>
          <p:cNvPr id="10" name="s2_nen"/>
          <p:cNvSpPr/>
          <p:nvPr/>
        </p:nvSpPr>
        <p:spPr>
          <a:xfrm>
            <a:off x="548640" y="5422392"/>
            <a:ext cx="78638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5458968"/>
            <a:ext cx="75346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Không – bốn đoạn thẳng không cùng nằm trong một mặt phẳng.</a:t>
            </a:r>
          </a:p>
        </p:txBody>
      </p:sp>
      <p:pic>
        <p:nvPicPr>
          <p:cNvPr id="12" name="Picture 11" descr="h22.png"/>
          <p:cNvPicPr>
            <a:picLocks noChangeAspect="1"/>
          </p:cNvPicPr>
          <p:nvPr/>
        </p:nvPicPr>
        <p:blipFill>
          <a:blip r:embed="rId3"/>
          <a:stretch>
            <a:fillRect/>
          </a:stretch>
        </p:blipFill>
        <p:spPr>
          <a:xfrm>
            <a:off x="8686800" y="1605170"/>
            <a:ext cx="3017520" cy="3739100"/>
          </a:xfrm>
          <a:prstGeom prst="rect">
            <a:avLst/>
          </a:prstGeom>
        </p:spPr>
      </p:pic>
      <p:sp>
        <p:nvSpPr>
          <p:cNvPr id="13" name="TextBox 12"/>
          <p:cNvSpPr txBox="1"/>
          <p:nvPr/>
        </p:nvSpPr>
        <p:spPr>
          <a:xfrm>
            <a:off x="8686800" y="5596127"/>
            <a:ext cx="30175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VECTƠ TRONG KHÔNG GIAN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a:t>
            </a:r>
          </a:p>
        </p:txBody>
      </p:sp>
      <p:sp>
        <p:nvSpPr>
          <p:cNvPr id="7" name="Rounded Rectangle 6"/>
          <p:cNvSpPr/>
          <p:nvPr/>
        </p:nvSpPr>
        <p:spPr>
          <a:xfrm>
            <a:off x="548640" y="1417320"/>
            <a:ext cx="11064240" cy="146304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38988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Vectơ trong không gian</a:t>
            </a:r>
            <a:r>
              <a:rPr sz="2400">
                <a:solidFill>
                  <a:srgbClr val="1E293B"/>
                </a:solidFill>
                <a:latin typeface="Calibri"/>
              </a:rPr>
              <a:t> là một đoạn thẳng có hướng.</a:t>
            </a:r>
          </a:p>
          <a:p>
            <a:pPr algn="l">
              <a:spcAft>
                <a:spcPts val="800"/>
              </a:spcAft>
            </a:pPr>
            <a:r>
              <a:rPr sz="2400" b="1">
                <a:solidFill>
                  <a:srgbClr val="1E293B"/>
                </a:solidFill>
                <a:latin typeface="Calibri"/>
              </a:rPr>
              <a:t>Độ dài của vectơ</a:t>
            </a:r>
            <a:r>
              <a:rPr sz="2400">
                <a:solidFill>
                  <a:srgbClr val="1E293B"/>
                </a:solidFill>
                <a:latin typeface="Calibri"/>
              </a:rPr>
              <a:t> trong không gian là khoảng cách giữa điểm đầu và điểm cuối của vectơ đó.</a:t>
            </a:r>
          </a:p>
        </p:txBody>
      </p:sp>
      <p:sp>
        <p:nvSpPr>
          <p:cNvPr id="9" name="TextBox 8"/>
          <p:cNvSpPr txBox="1"/>
          <p:nvPr/>
        </p:nvSpPr>
        <p:spPr>
          <a:xfrm>
            <a:off x="548640" y="2880360"/>
            <a:ext cx="5486400" cy="1463040"/>
          </a:xfrm>
          <a:prstGeom prst="rect">
            <a:avLst/>
          </a:prstGeom>
          <a:noFill/>
        </p:spPr>
        <p:txBody>
          <a:bodyPr wrap="square" anchor="t" lIns="45720" rIns="45720">
            <a:spAutoFit/>
          </a:bodyPr>
          <a:lstStyle/>
          <a:p>
            <a:pPr algn="l">
              <a:spcAft>
                <a:spcPts val="800"/>
              </a:spcAft>
            </a:pPr>
            <a:r>
              <a:rPr sz="2200">
                <a:solidFill>
                  <a:srgbClr val="1E293B"/>
                </a:solidFill>
                <a:latin typeface="Calibri"/>
              </a:rPr>
              <a:t>❓ Hình 2.3 cho ta ví dụ về một số đại lượng có thể được biểu diễn bởi vectơ trong không gian. Hãy tìm thêm một số ví dụ tương tự.</a:t>
            </a:r>
          </a:p>
        </p:txBody>
      </p:sp>
      <p:sp>
        <p:nvSpPr>
          <p:cNvPr id="10" name="s1_nen"/>
          <p:cNvSpPr/>
          <p:nvPr/>
        </p:nvSpPr>
        <p:spPr>
          <a:xfrm>
            <a:off x="548640" y="4434840"/>
            <a:ext cx="5486400" cy="12710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1_chu"/>
          <p:cNvSpPr txBox="1"/>
          <p:nvPr/>
        </p:nvSpPr>
        <p:spPr>
          <a:xfrm>
            <a:off x="713232" y="4471416"/>
            <a:ext cx="5157216" cy="119786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Lực đẩy của tên lửa, vận tốc của drone đang bay lên, trọng lực, lực kéo của cần cẩu…</a:t>
            </a:r>
          </a:p>
        </p:txBody>
      </p:sp>
      <p:pic>
        <p:nvPicPr>
          <p:cNvPr id="12" name="Picture 11" descr="h23.png"/>
          <p:cNvPicPr>
            <a:picLocks noChangeAspect="1"/>
          </p:cNvPicPr>
          <p:nvPr/>
        </p:nvPicPr>
        <p:blipFill>
          <a:blip r:embed="rId3"/>
          <a:stretch>
            <a:fillRect/>
          </a:stretch>
        </p:blipFill>
        <p:spPr>
          <a:xfrm>
            <a:off x="6217920" y="3193898"/>
            <a:ext cx="5486400" cy="1841803"/>
          </a:xfrm>
          <a:prstGeom prst="rect">
            <a:avLst/>
          </a:prstGeom>
        </p:spPr>
      </p:pic>
      <p:sp>
        <p:nvSpPr>
          <p:cNvPr id="13" name="TextBox 12"/>
          <p:cNvSpPr txBox="1"/>
          <p:nvPr/>
        </p:nvSpPr>
        <p:spPr>
          <a:xfrm>
            <a:off x="6217920" y="5321808"/>
            <a:ext cx="54864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2.3. Vận tốc gió và vận tốc của máy bay được biểu diễn bởi vectơ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KÍ HIỆU, KHÁI NIỆM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11064240" cy="4754880"/>
              </a:xfrm>
              <a:prstGeom prst="rect">
                <a:avLst/>
              </a:prstGeom>
              <a:noFill/>
            </p:spPr>
            <p:txBody>
              <a:bodyPr wrap="square" anchor="t" lIns="45720" rIns="45720">
                <a:spAutoFit/>
              </a:bodyPr>
              <a:lstStyle/>
              <a:p>
                <a:pPr algn="l">
                  <a:spcAft>
                    <a:spcPts val="800"/>
                  </a:spcAft>
                </a:pPr>
                <a:r>
                  <a:rPr sz="2200">
                    <a:solidFill>
                      <a:srgbClr val="1E293B"/>
                    </a:solidFill>
                    <a:latin typeface="Calibri"/>
                  </a:rPr>
                  <a:t>Tương tự như vectơ trong mặt phẳng, đối với vectơ trong không gian ta cũng có các kí hiệu và khái niệm sau:</a:t>
                </a:r>
              </a:p>
              <a:p>
                <a:pPr algn="l" marL="365760" indent="-365760">
                  <a:spcAft>
                    <a:spcPts val="800"/>
                  </a:spcAft>
                  <a:buClr>
                    <a:srgbClr val="1E40AF"/>
                  </a:buClr>
                  <a:buFont typeface="Arial"/>
                  <a:buChar char="•"/>
                </a:pPr>
                <a:r>
                  <a:rPr sz="2200">
                    <a:solidFill>
                      <a:srgbClr val="1E293B"/>
                    </a:solidFill>
                    <a:latin typeface="Calibri"/>
                  </a:rPr>
                  <a:t>Vectơ có điểm đầu là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và điểm cuối là </a:t>
                </a:r>
                <a14:m>
                  <m:oMath xmlns:m="http://schemas.openxmlformats.org/officeDocument/2006/math">
                    <m:r>
                      <a:rPr lang="vi-VN" sz="2200" b="0">
                        <a:solidFill>
                          <a:srgbClr val="1E293B"/>
                        </a:solidFill>
                        <a:latin typeface="Cambria Math" panose="02040503050406030204" pitchFamily="18" charset="0"/>
                      </a:rPr>
                      <m:t>B</m:t>
                    </m:r>
                  </m:oMath>
                </a14:m>
                <a:r>
                  <a:rPr sz="2200">
                    <a:solidFill>
                      <a:srgbClr val="1E293B"/>
                    </a:solidFill>
                    <a:latin typeface="Calibri"/>
                  </a:rPr>
                  <a:t> được kí hiệu là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Khi không cần chỉ rõ điểm đầu và điểm cuối thì vectơ còn được kí hiệu là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x</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y</m:t>
                        </m:r>
                      </m:e>
                    </m:acc>
                    <m:r>
                      <a:rPr lang="vi-VN" sz="2200" b="0">
                        <a:solidFill>
                          <a:srgbClr val="1E293B"/>
                        </a:solidFill>
                        <a:latin typeface="Cambria Math" panose="02040503050406030204" pitchFamily="18" charset="0"/>
                      </a:rPr>
                      <m:t>,…</m:t>
                    </m:r>
                  </m:oMath>
                </a14:m>
              </a:p>
              <a:p>
                <a:pPr algn="l" marL="365760" indent="-365760">
                  <a:spcAft>
                    <a:spcPts val="800"/>
                  </a:spcAft>
                  <a:buClr>
                    <a:srgbClr val="1E40AF"/>
                  </a:buClr>
                  <a:buFont typeface="Arial"/>
                  <a:buChar char="•"/>
                </a:pPr>
                <a:r>
                  <a:rPr sz="2200">
                    <a:solidFill>
                      <a:srgbClr val="1E293B"/>
                    </a:solidFill>
                    <a:latin typeface="Calibri"/>
                  </a:rPr>
                  <a:t>Độ dài của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được kí hiệu là </a:t>
                </a:r>
                <a14:m>
                  <m:oMath xmlns:m="http://schemas.openxmlformats.org/officeDocument/2006/math">
                    <m:d>
                      <m:dPr>
                        <m:begChr m:val="|"/>
                        <m:sepChr m:val=""/>
                        <m:endChr m:val="|"/>
                      </m:dPr>
                      <m:e>
                        <m:acc>
                          <m:accPr>
                            <m:chr m:val="⃗"/>
                          </m:accPr>
                          <m:e>
                            <m:r>
                              <a:rPr lang="vi-VN" sz="2200" b="0">
                                <a:solidFill>
                                  <a:srgbClr val="1E293B"/>
                                </a:solidFill>
                                <a:latin typeface="Cambria Math" panose="02040503050406030204" pitchFamily="18" charset="0"/>
                              </a:rPr>
                              <m:t>AB</m:t>
                            </m:r>
                          </m:e>
                        </m:acc>
                      </m:e>
                    </m:d>
                  </m:oMath>
                </a14:m>
                <a:r>
                  <a:rPr sz="2200">
                    <a:solidFill>
                      <a:srgbClr val="1E293B"/>
                    </a:solidFill>
                    <a:latin typeface="Calibri"/>
                  </a:rPr>
                  <a:t>, độ dài của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được kí hiệu là </a:t>
                </a:r>
                <a14:m>
                  <m:oMath xmlns:m="http://schemas.openxmlformats.org/officeDocument/2006/math">
                    <m:d>
                      <m:dPr>
                        <m:begChr m:val="|"/>
                        <m:sepChr m:val=""/>
                        <m:endChr m:val="|"/>
                      </m:dPr>
                      <m:e>
                        <m:acc>
                          <m:accPr>
                            <m:chr m:val="⃗"/>
                          </m:accPr>
                          <m:e>
                            <m:r>
                              <a:rPr lang="vi-VN" sz="2200" b="0">
                                <a:solidFill>
                                  <a:srgbClr val="1E293B"/>
                                </a:solidFill>
                                <a:latin typeface="Cambria Math" panose="02040503050406030204" pitchFamily="18" charset="0"/>
                              </a:rPr>
                              <m:t>a</m:t>
                            </m:r>
                          </m:e>
                        </m:acc>
                      </m:e>
                    </m:d>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Đường thẳng đi qua điểm đầu và điểm cuối của một vectơ được gọi là </a:t>
                </a:r>
                <a:r>
                  <a:rPr sz="2200" b="1">
                    <a:solidFill>
                      <a:srgbClr val="1E293B"/>
                    </a:solidFill>
                    <a:latin typeface="Calibri"/>
                  </a:rPr>
                  <a:t>giá</a:t>
                </a:r>
                <a:r>
                  <a:rPr sz="2200">
                    <a:solidFill>
                      <a:srgbClr val="1E293B"/>
                    </a:solidFill>
                    <a:latin typeface="Calibri"/>
                  </a:rPr>
                  <a:t> của vectơ đó.</a:t>
                </a:r>
              </a:p>
            </p:txBody>
          </p:sp>
        </mc:Choice>
        <mc:Fallback>
          <p:sp>
            <p:nvSpPr>
              <p:cNvPr id="7" name="TextBox 6"/>
              <p:cNvSpPr txBox="1"/>
              <p:nvPr/>
            </p:nvSpPr>
            <p:spPr>
              <a:xfrm>
                <a:off x="548640" y="1417320"/>
                <a:ext cx="11064240" cy="4754880"/>
              </a:xfrm>
              <a:prstGeom prst="rect">
                <a:avLst/>
              </a:prstGeom>
              <a:noFill/>
            </p:spPr>
            <p:txBody>
              <a:bodyPr wrap="square" anchor="t" lIns="45720" rIns="45720">
                <a:spAutoFit/>
              </a:bodyPr>
              <a:lstStyle/>
              <a:p>
                <a:pPr algn="l">
                  <a:spcAft>
                    <a:spcPts val="800"/>
                  </a:spcAft>
                </a:pPr>
                <a:r>
                  <a:rPr sz="2200">
                    <a:solidFill>
                      <a:srgbClr val="1E293B"/>
                    </a:solidFill>
                    <a:latin typeface="Calibri"/>
                  </a:rPr>
                  <a:t>Tương tự như vectơ trong mặt phẳng, đối với vectơ trong không gian ta cũng có các kí hiệu và khái niệm sau:</a:t>
                </a:r>
              </a:p>
              <a:p>
                <a:pPr algn="l" marL="365760" indent="-365760">
                  <a:spcAft>
                    <a:spcPts val="800"/>
                  </a:spcAft>
                  <a:buClr>
                    <a:srgbClr val="1E40AF"/>
                  </a:buClr>
                  <a:buFont typeface="Arial"/>
                  <a:buChar char="•"/>
                </a:pPr>
                <a:r>
                  <a:rPr sz="2200">
                    <a:solidFill>
                      <a:srgbClr val="1E293B"/>
                    </a:solidFill>
                    <a:latin typeface="Calibri"/>
                  </a:rPr>
                  <a:t>Vectơ có điểm đầu là </a:t>
                </a:r>
                <a:r>
                  <a:rPr lang="vi-VN"/>
                  <a:t>A</a:t>
                </a:r>
                <a:r>
                  <a:rPr sz="2200">
                    <a:solidFill>
                      <a:srgbClr val="1E293B"/>
                    </a:solidFill>
                    <a:latin typeface="Calibri"/>
                  </a:rPr>
                  <a:t> và điểm cuối là </a:t>
                </a:r>
                <a:r>
                  <a:rPr lang="vi-VN"/>
                  <a:t>B</a:t>
                </a:r>
                <a:r>
                  <a:rPr sz="2200">
                    <a:solidFill>
                      <a:srgbClr val="1E293B"/>
                    </a:solidFill>
                    <a:latin typeface="Calibri"/>
                  </a:rPr>
                  <a:t> được kí hiệu là </a:t>
                </a:r>
                <a:r>
                  <a:rPr lang="vi-VN"/>
                  <a:t>\overrightarrow{AB}</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Khi không cần chỉ rõ điểm đầu và điểm cuối thì vectơ còn được kí hiệu là </a:t>
                </a:r>
                <a:r>
                  <a:rPr lang="vi-VN"/>
                  <a:t>\vec{a},\ \vec{b},\ \vec{x},\ \vec{y},\ldots</a:t>
                </a:r>
              </a:p>
              <a:p>
                <a:pPr algn="l" marL="365760" indent="-365760">
                  <a:spcAft>
                    <a:spcPts val="800"/>
                  </a:spcAft>
                  <a:buClr>
                    <a:srgbClr val="1E40AF"/>
                  </a:buClr>
                  <a:buFont typeface="Arial"/>
                  <a:buChar char="•"/>
                </a:pPr>
                <a:r>
                  <a:rPr sz="2200">
                    <a:solidFill>
                      <a:srgbClr val="1E293B"/>
                    </a:solidFill>
                    <a:latin typeface="Calibri"/>
                  </a:rPr>
                  <a:t>Độ dài của vectơ </a:t>
                </a:r>
                <a:r>
                  <a:rPr lang="vi-VN"/>
                  <a:t>\overrightarrow{AB}</a:t>
                </a:r>
                <a:r>
                  <a:rPr sz="2200">
                    <a:solidFill>
                      <a:srgbClr val="1E293B"/>
                    </a:solidFill>
                    <a:latin typeface="Calibri"/>
                  </a:rPr>
                  <a:t> được kí hiệu là </a:t>
                </a:r>
                <a:r>
                  <a:rPr lang="vi-VN"/>
                  <a:t>|\overrightarrow{AB}|</a:t>
                </a:r>
                <a:r>
                  <a:rPr sz="2200">
                    <a:solidFill>
                      <a:srgbClr val="1E293B"/>
                    </a:solidFill>
                    <a:latin typeface="Calibri"/>
                  </a:rPr>
                  <a:t>, độ dài của vectơ </a:t>
                </a:r>
                <a:r>
                  <a:rPr lang="vi-VN"/>
                  <a:t>\vec{a}</a:t>
                </a:r>
                <a:r>
                  <a:rPr sz="2200">
                    <a:solidFill>
                      <a:srgbClr val="1E293B"/>
                    </a:solidFill>
                    <a:latin typeface="Calibri"/>
                  </a:rPr>
                  <a:t> được kí hiệu là </a:t>
                </a:r>
                <a:r>
                  <a:rPr lang="vi-VN"/>
                  <a:t>|\vec{a}|</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Đường thẳng đi qua điểm đầu và điểm cuối của một vectơ được gọi là </a:t>
                </a:r>
                <a:r>
                  <a:rPr sz="2200" b="1">
                    <a:solidFill>
                      <a:srgbClr val="1E293B"/>
                    </a:solidFill>
                    <a:latin typeface="Calibri"/>
                  </a:rPr>
                  <a:t>giá</a:t>
                </a:r>
                <a:r>
                  <a:rPr sz="2200">
                    <a:solidFill>
                      <a:srgbClr val="1E293B"/>
                    </a:solidFill>
                    <a:latin typeface="Calibri"/>
                  </a:rPr>
                  <a:t> của vectơ đó.</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(SGK TR.47)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138160" cy="2487168"/>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tứ diện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có độ dài mỗi cạnh bằng 1 (H.2.5).</a:t>
                </a:r>
              </a:p>
              <a:p>
                <a:pPr algn="l">
                  <a:spcAft>
                    <a:spcPts val="800"/>
                  </a:spcAft>
                </a:pPr>
                <a:r>
                  <a:rPr sz="2200">
                    <a:solidFill>
                      <a:srgbClr val="1E293B"/>
                    </a:solidFill>
                    <a:latin typeface="Calibri"/>
                  </a:rPr>
                  <a:t>a) Có bao nhiêu vectơ có điểm đầu là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và điểm cuối là một trong các đỉnh còn lại của tứ diện?</a:t>
                </a:r>
              </a:p>
              <a:p>
                <a:pPr algn="l">
                  <a:spcAft>
                    <a:spcPts val="800"/>
                  </a:spcAft>
                </a:pPr>
                <a:r>
                  <a:rPr sz="2200">
                    <a:solidFill>
                      <a:srgbClr val="1E293B"/>
                    </a:solidFill>
                    <a:latin typeface="Calibri"/>
                  </a:rPr>
                  <a:t>b) Trong các vectơ tìm được ở câu a, những vectơ nào có giá nằm trong mặt phẳng </a:t>
                </a:r>
                <a14:m>
                  <m:oMath xmlns:m="http://schemas.openxmlformats.org/officeDocument/2006/math">
                    <m:d>
                      <m:dPr>
                        <m:sep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B</m:t>
                        </m:r>
                        <m:r>
                          <a:rPr lang="vi-VN" sz="2200" b="0">
                            <a:solidFill>
                              <a:srgbClr val="1E293B"/>
                            </a:solidFill>
                            <a:latin typeface="Cambria Math" panose="02040503050406030204" pitchFamily="18" charset="0"/>
                          </a:rPr>
                          <m:t>C</m:t>
                        </m:r>
                      </m:e>
                    </m:d>
                  </m:oMath>
                </a14:m>
                <a:r>
                  <a:rPr sz="2200">
                    <a:solidFill>
                      <a:srgbClr val="1E293B"/>
                    </a:solidFill>
                    <a:latin typeface="Calibri"/>
                  </a:rPr>
                  <a:t>?</a:t>
                </a:r>
              </a:p>
              <a:p>
                <a:pPr algn="l">
                  <a:spcAft>
                    <a:spcPts val="800"/>
                  </a:spcAft>
                </a:pPr>
                <a:r>
                  <a:rPr sz="2200">
                    <a:solidFill>
                      <a:srgbClr val="1E293B"/>
                    </a:solidFill>
                    <a:latin typeface="Calibri"/>
                  </a:rPr>
                  <a:t>c) Tính độ dài của các vectơ tìm được ở câu a.</a:t>
                </a:r>
              </a:p>
            </p:txBody>
          </p:sp>
        </mc:Choice>
        <mc:Fallback>
          <p:sp>
            <p:nvSpPr>
              <p:cNvPr id="7" name="TextBox 6"/>
              <p:cNvSpPr txBox="1"/>
              <p:nvPr/>
            </p:nvSpPr>
            <p:spPr>
              <a:xfrm>
                <a:off x="548640" y="1371600"/>
                <a:ext cx="8138160" cy="2487168"/>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tứ diện </a:t>
                </a:r>
                <a:r>
                  <a:rPr lang="vi-VN"/>
                  <a:t>ABCD</a:t>
                </a:r>
                <a:r>
                  <a:rPr sz="2200">
                    <a:solidFill>
                      <a:srgbClr val="1E293B"/>
                    </a:solidFill>
                    <a:latin typeface="Calibri"/>
                  </a:rPr>
                  <a:t> có độ dài mỗi cạnh bằng 1 (H.2.5).</a:t>
                </a:r>
              </a:p>
              <a:p>
                <a:pPr algn="l">
                  <a:spcAft>
                    <a:spcPts val="800"/>
                  </a:spcAft>
                </a:pPr>
                <a:r>
                  <a:rPr sz="2200">
                    <a:solidFill>
                      <a:srgbClr val="1E293B"/>
                    </a:solidFill>
                    <a:latin typeface="Calibri"/>
                  </a:rPr>
                  <a:t>a) Có bao nhiêu vectơ có điểm đầu là </a:t>
                </a:r>
                <a:r>
                  <a:rPr lang="vi-VN"/>
                  <a:t>A</a:t>
                </a:r>
                <a:r>
                  <a:rPr sz="2200">
                    <a:solidFill>
                      <a:srgbClr val="1E293B"/>
                    </a:solidFill>
                    <a:latin typeface="Calibri"/>
                  </a:rPr>
                  <a:t> và điểm cuối là một trong các đỉnh còn lại của tứ diện?</a:t>
                </a:r>
              </a:p>
              <a:p>
                <a:pPr algn="l">
                  <a:spcAft>
                    <a:spcPts val="800"/>
                  </a:spcAft>
                </a:pPr>
                <a:r>
                  <a:rPr sz="2200">
                    <a:solidFill>
                      <a:srgbClr val="1E293B"/>
                    </a:solidFill>
                    <a:latin typeface="Calibri"/>
                  </a:rPr>
                  <a:t>b) Trong các vectơ tìm được ở câu a, những vectơ nào có giá nằm trong mặt phẳng </a:t>
                </a:r>
                <a:r>
                  <a:rPr lang="vi-VN"/>
                  <a:t>(ABC)</a:t>
                </a:r>
                <a:r>
                  <a:rPr sz="2200">
                    <a:solidFill>
                      <a:srgbClr val="1E293B"/>
                    </a:solidFill>
                    <a:latin typeface="Calibri"/>
                  </a:rPr>
                  <a:t>?</a:t>
                </a:r>
              </a:p>
              <a:p>
                <a:pPr algn="l">
                  <a:spcAft>
                    <a:spcPts val="800"/>
                  </a:spcAft>
                </a:pPr>
                <a:r>
                  <a:rPr sz="2200">
                    <a:solidFill>
                      <a:srgbClr val="1E293B"/>
                    </a:solidFill>
                    <a:latin typeface="Calibri"/>
                  </a:rPr>
                  <a:t>c) Tính độ dài của các vectơ tìm được ở câu a.</a:t>
                </a:r>
              </a:p>
            </p:txBody>
          </p:sp>
        </mc:Fallback>
      </mc:AlternateContent>
      <p:sp>
        <p:nvSpPr>
          <p:cNvPr id="8" name="s1_nen"/>
          <p:cNvSpPr/>
          <p:nvPr/>
        </p:nvSpPr>
        <p:spPr>
          <a:xfrm>
            <a:off x="548640" y="3950208"/>
            <a:ext cx="81381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86784"/>
                <a:ext cx="78089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Có ba vectơ là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a:t>
                </a:r>
              </a:p>
            </p:txBody>
          </p:sp>
        </mc:Choice>
        <mc:Fallback>
          <p:sp>
            <p:nvSpPr>
              <p:cNvPr id="9" name="TextBox 8"/>
              <p:cNvSpPr txBox="1"/>
              <p:nvPr/>
            </p:nvSpPr>
            <p:spPr>
              <a:xfrm>
                <a:off x="713232" y="3986784"/>
                <a:ext cx="78089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Có ba vectơ là </a:t>
                </a:r>
                <a:r>
                  <a:rPr lang="vi-VN"/>
                  <a:t>\overrightarrow{AB},\ \overrightarrow{AC}</a:t>
                </a:r>
                <a:r>
                  <a:rPr sz="2200">
                    <a:solidFill>
                      <a:srgbClr val="1E293B"/>
                    </a:solidFill>
                    <a:latin typeface="Calibri"/>
                  </a:rPr>
                  <a:t> và </a:t>
                </a:r>
                <a:r>
                  <a:rPr lang="vi-VN"/>
                  <a:t>\overrightarrow{AD}</a:t>
                </a:r>
                <a:r>
                  <a:rPr sz="2200">
                    <a:solidFill>
                      <a:srgbClr val="1E293B"/>
                    </a:solidFill>
                    <a:latin typeface="Calibri"/>
                  </a:rPr>
                  <a:t>.</a:t>
                </a:r>
              </a:p>
            </p:txBody>
          </p:sp>
        </mc:Fallback>
      </mc:AlternateContent>
      <p:sp>
        <p:nvSpPr>
          <p:cNvPr id="10" name="s2_nen"/>
          <p:cNvSpPr/>
          <p:nvPr/>
        </p:nvSpPr>
        <p:spPr>
          <a:xfrm>
            <a:off x="548640" y="4642104"/>
            <a:ext cx="813816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678680"/>
                <a:ext cx="78089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Chỉ có hai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có giá nằm trong mặt phẳng </a:t>
                </a:r>
                <a14:m>
                  <m:oMath xmlns:m="http://schemas.openxmlformats.org/officeDocument/2006/math">
                    <m:d>
                      <m:dPr>
                        <m:sep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B</m:t>
                        </m:r>
                        <m:r>
                          <a:rPr lang="vi-VN" sz="2200" b="0">
                            <a:solidFill>
                              <a:srgbClr val="1E293B"/>
                            </a:solidFill>
                            <a:latin typeface="Cambria Math" panose="02040503050406030204" pitchFamily="18" charset="0"/>
                          </a:rPr>
                          <m:t>C</m:t>
                        </m:r>
                      </m:e>
                    </m:d>
                  </m:oMath>
                </a14:m>
                <a:r>
                  <a:rPr sz="2200">
                    <a:solidFill>
                      <a:srgbClr val="1E293B"/>
                    </a:solidFill>
                    <a:latin typeface="Calibri"/>
                  </a:rPr>
                  <a:t>.</a:t>
                </a:r>
              </a:p>
            </p:txBody>
          </p:sp>
        </mc:Choice>
        <mc:Fallback>
          <p:sp>
            <p:nvSpPr>
              <p:cNvPr id="11" name="TextBox 10"/>
              <p:cNvSpPr txBox="1"/>
              <p:nvPr/>
            </p:nvSpPr>
            <p:spPr>
              <a:xfrm>
                <a:off x="713232" y="4678680"/>
                <a:ext cx="78089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Chỉ có hai vectơ </a:t>
                </a:r>
                <a:r>
                  <a:rPr lang="vi-VN"/>
                  <a:t>\overrightarrow{AB}</a:t>
                </a:r>
                <a:r>
                  <a:rPr sz="2200">
                    <a:solidFill>
                      <a:srgbClr val="1E293B"/>
                    </a:solidFill>
                    <a:latin typeface="Calibri"/>
                  </a:rPr>
                  <a:t> và </a:t>
                </a:r>
                <a:r>
                  <a:rPr lang="vi-VN"/>
                  <a:t>\overrightarrow{AC}</a:t>
                </a:r>
                <a:r>
                  <a:rPr sz="2200">
                    <a:solidFill>
                      <a:srgbClr val="1E293B"/>
                    </a:solidFill>
                    <a:latin typeface="Calibri"/>
                  </a:rPr>
                  <a:t> có giá nằm trong mặt phẳng </a:t>
                </a:r>
                <a:r>
                  <a:rPr lang="vi-VN"/>
                  <a:t>(ABC)</a:t>
                </a:r>
                <a:r>
                  <a:rPr sz="2200">
                    <a:solidFill>
                      <a:srgbClr val="1E293B"/>
                    </a:solidFill>
                    <a:latin typeface="Calibri"/>
                  </a:rPr>
                  <a:t>.</a:t>
                </a:r>
              </a:p>
            </p:txBody>
          </p:sp>
        </mc:Fallback>
      </mc:AlternateContent>
      <p:sp>
        <p:nvSpPr>
          <p:cNvPr id="12" name="s3_nen"/>
          <p:cNvSpPr/>
          <p:nvPr/>
        </p:nvSpPr>
        <p:spPr>
          <a:xfrm>
            <a:off x="548640" y="5669279"/>
            <a:ext cx="81381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705855"/>
                <a:ext cx="78089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|=1</m:t>
                    </m:r>
                  </m:oMath>
                </a14:m>
                <a:r>
                  <a:rPr sz="2200">
                    <a:solidFill>
                      <a:srgbClr val="1E293B"/>
                    </a:solidFill>
                    <a:latin typeface="Calibri"/>
                  </a:rPr>
                  <a:t>.</a:t>
                </a:r>
              </a:p>
            </p:txBody>
          </p:sp>
        </mc:Choice>
        <mc:Fallback>
          <p:sp>
            <p:nvSpPr>
              <p:cNvPr id="13" name="TextBox 12"/>
              <p:cNvSpPr txBox="1"/>
              <p:nvPr/>
            </p:nvSpPr>
            <p:spPr>
              <a:xfrm>
                <a:off x="713232" y="5705855"/>
                <a:ext cx="78089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a:t>
                </a:r>
                <a:r>
                  <a:rPr lang="vi-VN"/>
                  <a:t>|\overrightarrow{AB}|=|\overrightarrow{AC}|=|\overrightarrow{AD}|=1</a:t>
                </a:r>
                <a:r>
                  <a:rPr sz="2200">
                    <a:solidFill>
                      <a:srgbClr val="1E293B"/>
                    </a:solidFill>
                    <a:latin typeface="Calibri"/>
                  </a:rPr>
                  <a:t>.</a:t>
                </a:r>
              </a:p>
            </p:txBody>
          </p:sp>
        </mc:Fallback>
      </mc:AlternateContent>
      <p:pic>
        <p:nvPicPr>
          <p:cNvPr id="14" name="Picture 13" descr="h25.png"/>
          <p:cNvPicPr>
            <a:picLocks noChangeAspect="1"/>
          </p:cNvPicPr>
          <p:nvPr/>
        </p:nvPicPr>
        <p:blipFill>
          <a:blip r:embed="rId3"/>
          <a:stretch>
            <a:fillRect/>
          </a:stretch>
        </p:blipFill>
        <p:spPr>
          <a:xfrm>
            <a:off x="8869680" y="1483637"/>
            <a:ext cx="2834640" cy="3250645"/>
          </a:xfrm>
          <a:prstGeom prst="rect">
            <a:avLst/>
          </a:prstGeom>
        </p:spPr>
      </p:pic>
      <p:sp>
        <p:nvSpPr>
          <p:cNvPr id="15" name="TextBox 14"/>
          <p:cNvSpPr txBox="1"/>
          <p:nvPr/>
        </p:nvSpPr>
        <p:spPr>
          <a:xfrm>
            <a:off x="8869680" y="4773168"/>
            <a:ext cx="28346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1 (SGK TR.47)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223760" cy="237744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lập phương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(H.2.6). Trong các vectơ </a:t>
                </a:r>
                <a14:m>
                  <m:oMath xmlns:m="http://schemas.openxmlformats.org/officeDocument/2006/math">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a:p>
                <a:pPr algn="l">
                  <a:spcAft>
                    <a:spcPts val="800"/>
                  </a:spcAft>
                </a:pPr>
                <a:r>
                  <a:rPr sz="2200">
                    <a:solidFill>
                      <a:srgbClr val="1E293B"/>
                    </a:solidFill>
                    <a:latin typeface="Calibri"/>
                  </a:rPr>
                  <a:t>a) Hai vectơ nào có giá cùng nằm trong mặt phẳng </a:t>
                </a:r>
                <a14:m>
                  <m:oMath xmlns:m="http://schemas.openxmlformats.org/officeDocument/2006/math">
                    <m:d>
                      <m:dPr>
                        <m:sep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B</m:t>
                        </m:r>
                        <m:r>
                          <a:rPr lang="vi-VN" sz="2200" b="0">
                            <a:solidFill>
                              <a:srgbClr val="1E293B"/>
                            </a:solidFill>
                            <a:latin typeface="Cambria Math" panose="02040503050406030204" pitchFamily="18" charset="0"/>
                          </a:rPr>
                          <m:t>C</m:t>
                        </m:r>
                        <m:r>
                          <a:rPr lang="vi-VN" sz="2200" b="0">
                            <a:solidFill>
                              <a:srgbClr val="1E293B"/>
                            </a:solidFill>
                            <a:latin typeface="Cambria Math" panose="02040503050406030204" pitchFamily="18" charset="0"/>
                          </a:rPr>
                          <m:t>D</m:t>
                        </m:r>
                      </m:e>
                    </m:d>
                  </m:oMath>
                </a14:m>
                <a:r>
                  <a:rPr sz="2200">
                    <a:solidFill>
                      <a:srgbClr val="1E293B"/>
                    </a:solidFill>
                    <a:latin typeface="Calibri"/>
                  </a:rPr>
                  <a:t>?</a:t>
                </a:r>
              </a:p>
              <a:p>
                <a:pPr algn="l">
                  <a:spcAft>
                    <a:spcPts val="800"/>
                  </a:spcAft>
                </a:pPr>
                <a:r>
                  <a:rPr sz="2200">
                    <a:solidFill>
                      <a:srgbClr val="1E293B"/>
                    </a:solidFill>
                    <a:latin typeface="Calibri"/>
                  </a:rPr>
                  <a:t>b) Hai vectơ nào có cùng độ dài?</a:t>
                </a:r>
              </a:p>
            </p:txBody>
          </p:sp>
        </mc:Choice>
        <mc:Fallback>
          <p:sp>
            <p:nvSpPr>
              <p:cNvPr id="7" name="TextBox 6"/>
              <p:cNvSpPr txBox="1"/>
              <p:nvPr/>
            </p:nvSpPr>
            <p:spPr>
              <a:xfrm>
                <a:off x="548640" y="1371600"/>
                <a:ext cx="7223760" cy="237744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lập phương </a:t>
                </a:r>
                <a:r>
                  <a:rPr lang="vi-VN"/>
                  <a:t>ABCD.A'B'C'D'</a:t>
                </a:r>
                <a:r>
                  <a:rPr sz="2200">
                    <a:solidFill>
                      <a:srgbClr val="1E293B"/>
                    </a:solidFill>
                    <a:latin typeface="Calibri"/>
                  </a:rPr>
                  <a:t> (H.2.6). Trong các vectơ </a:t>
                </a:r>
                <a:r>
                  <a:rPr lang="vi-VN"/>
                  <a:t>\overrightarrow{AC},\ \overrightarrow{AD},\ \overrightarrow{AD'}</a:t>
                </a:r>
                <a:r>
                  <a:rPr sz="2200">
                    <a:solidFill>
                      <a:srgbClr val="1E293B"/>
                    </a:solidFill>
                    <a:latin typeface="Calibri"/>
                  </a:rPr>
                  <a:t>:</a:t>
                </a:r>
              </a:p>
              <a:p>
                <a:pPr algn="l">
                  <a:spcAft>
                    <a:spcPts val="800"/>
                  </a:spcAft>
                </a:pPr>
                <a:r>
                  <a:rPr sz="2200">
                    <a:solidFill>
                      <a:srgbClr val="1E293B"/>
                    </a:solidFill>
                    <a:latin typeface="Calibri"/>
                  </a:rPr>
                  <a:t>a) Hai vectơ nào có giá cùng nằm trong mặt phẳng </a:t>
                </a:r>
                <a:r>
                  <a:rPr lang="vi-VN"/>
                  <a:t>(ABCD)</a:t>
                </a:r>
                <a:r>
                  <a:rPr sz="2200">
                    <a:solidFill>
                      <a:srgbClr val="1E293B"/>
                    </a:solidFill>
                    <a:latin typeface="Calibri"/>
                  </a:rPr>
                  <a:t>?</a:t>
                </a:r>
              </a:p>
              <a:p>
                <a:pPr algn="l">
                  <a:spcAft>
                    <a:spcPts val="800"/>
                  </a:spcAft>
                </a:pPr>
                <a:r>
                  <a:rPr sz="2200">
                    <a:solidFill>
                      <a:srgbClr val="1E293B"/>
                    </a:solidFill>
                    <a:latin typeface="Calibri"/>
                  </a:rPr>
                  <a:t>b) Hai vectơ nào có cùng độ dài?</a:t>
                </a:r>
              </a:p>
            </p:txBody>
          </p:sp>
        </mc:Fallback>
      </mc:AlternateContent>
      <p:sp>
        <p:nvSpPr>
          <p:cNvPr id="8" name="s1_nen"/>
          <p:cNvSpPr/>
          <p:nvPr/>
        </p:nvSpPr>
        <p:spPr>
          <a:xfrm>
            <a:off x="548640" y="3840480"/>
            <a:ext cx="72237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877056"/>
                <a:ext cx="68945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a:t>
                </a:r>
              </a:p>
            </p:txBody>
          </p:sp>
        </mc:Choice>
        <mc:Fallback>
          <p:sp>
            <p:nvSpPr>
              <p:cNvPr id="9" name="TextBox 8"/>
              <p:cNvSpPr txBox="1"/>
              <p:nvPr/>
            </p:nvSpPr>
            <p:spPr>
              <a:xfrm>
                <a:off x="713232" y="3877056"/>
                <a:ext cx="68945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\overrightarrow{AC}</a:t>
                </a:r>
                <a:r>
                  <a:rPr sz="2200">
                    <a:solidFill>
                      <a:srgbClr val="1E293B"/>
                    </a:solidFill>
                    <a:latin typeface="Calibri"/>
                  </a:rPr>
                  <a:t> và </a:t>
                </a:r>
                <a:r>
                  <a:rPr lang="vi-VN"/>
                  <a:t>\overrightarrow{AD}</a:t>
                </a:r>
                <a:r>
                  <a:rPr sz="2200">
                    <a:solidFill>
                      <a:srgbClr val="1E293B"/>
                    </a:solidFill>
                    <a:latin typeface="Calibri"/>
                  </a:rPr>
                  <a:t>.</a:t>
                </a:r>
              </a:p>
            </p:txBody>
          </p:sp>
        </mc:Fallback>
      </mc:AlternateContent>
      <p:sp>
        <p:nvSpPr>
          <p:cNvPr id="10" name="s2_nen"/>
          <p:cNvSpPr/>
          <p:nvPr/>
        </p:nvSpPr>
        <p:spPr>
          <a:xfrm>
            <a:off x="548640" y="4532375"/>
            <a:ext cx="722376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568951"/>
                <a:ext cx="68945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(cùng là đường chéo của một mặt hình lập phương).</a:t>
                </a:r>
              </a:p>
            </p:txBody>
          </p:sp>
        </mc:Choice>
        <mc:Fallback>
          <p:sp>
            <p:nvSpPr>
              <p:cNvPr id="11" name="TextBox 10"/>
              <p:cNvSpPr txBox="1"/>
              <p:nvPr/>
            </p:nvSpPr>
            <p:spPr>
              <a:xfrm>
                <a:off x="713232" y="4568951"/>
                <a:ext cx="68945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r>
                  <a:rPr lang="vi-VN"/>
                  <a:t>\overrightarrow{AC}</a:t>
                </a:r>
                <a:r>
                  <a:rPr sz="2200">
                    <a:solidFill>
                      <a:srgbClr val="1E293B"/>
                    </a:solidFill>
                    <a:latin typeface="Calibri"/>
                  </a:rPr>
                  <a:t> và </a:t>
                </a:r>
                <a:r>
                  <a:rPr lang="vi-VN"/>
                  <a:t>\overrightarrow{AD'}</a:t>
                </a:r>
                <a:r>
                  <a:rPr sz="2200">
                    <a:solidFill>
                      <a:srgbClr val="1E293B"/>
                    </a:solidFill>
                    <a:latin typeface="Calibri"/>
                  </a:rPr>
                  <a:t> (cùng là đường chéo của một mặt hình lập phương).</a:t>
                </a:r>
              </a:p>
            </p:txBody>
          </p:sp>
        </mc:Fallback>
      </mc:AlternateContent>
      <p:pic>
        <p:nvPicPr>
          <p:cNvPr id="12" name="Picture 11" descr="h26.png"/>
          <p:cNvPicPr>
            <a:picLocks noChangeAspect="1"/>
          </p:cNvPicPr>
          <p:nvPr/>
        </p:nvPicPr>
        <p:blipFill>
          <a:blip r:embed="rId3"/>
          <a:stretch>
            <a:fillRect/>
          </a:stretch>
        </p:blipFill>
        <p:spPr>
          <a:xfrm>
            <a:off x="7955279" y="1506685"/>
            <a:ext cx="3749039" cy="3204549"/>
          </a:xfrm>
          <a:prstGeom prst="rect">
            <a:avLst/>
          </a:prstGeom>
        </p:spPr>
      </p:pic>
      <p:sp>
        <p:nvSpPr>
          <p:cNvPr id="13" name="TextBox 12"/>
          <p:cNvSpPr txBox="1"/>
          <p:nvPr/>
        </p:nvSpPr>
        <p:spPr>
          <a:xfrm>
            <a:off x="7955279" y="4773168"/>
            <a:ext cx="3749039"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CÙNG PHƯƠNG, CÙNG HƯỚNG, BẰNG NHAU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498079" cy="26517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HĐ2.</a:t>
                </a:r>
                <a:r>
                  <a:rPr sz="2200">
                    <a:solidFill>
                      <a:srgbClr val="1E293B"/>
                    </a:solidFill>
                    <a:latin typeface="Calibri"/>
                  </a:rPr>
                  <a:t> Cho hình hộp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(H.2.7).</a:t>
                </a:r>
              </a:p>
              <a:p>
                <a:pPr algn="l">
                  <a:spcAft>
                    <a:spcPts val="800"/>
                  </a:spcAft>
                </a:pPr>
                <a:r>
                  <a:rPr sz="2200">
                    <a:solidFill>
                      <a:srgbClr val="1E293B"/>
                    </a:solidFill>
                    <a:latin typeface="Calibri"/>
                  </a:rPr>
                  <a:t>a) So sánh độ dài của hai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và </a:t>
                </a:r>
                <a14:m>
                  <m:oMath xmlns:m="http://schemas.openxmlformats.org/officeDocument/2006/math">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a:p>
                <a:pPr algn="l">
                  <a:spcAft>
                    <a:spcPts val="800"/>
                  </a:spcAft>
                </a:pPr>
                <a:r>
                  <a:rPr sz="2200">
                    <a:solidFill>
                      <a:srgbClr val="1E293B"/>
                    </a:solidFill>
                    <a:latin typeface="Calibri"/>
                  </a:rPr>
                  <a:t>b) Nhận xét về giá của hai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và </a:t>
                </a:r>
                <a14:m>
                  <m:oMath xmlns:m="http://schemas.openxmlformats.org/officeDocument/2006/math">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a:p>
                <a:pPr algn="l">
                  <a:spcAft>
                    <a:spcPts val="800"/>
                  </a:spcAft>
                </a:pPr>
                <a:r>
                  <a:rPr sz="2200">
                    <a:solidFill>
                      <a:srgbClr val="1E293B"/>
                    </a:solidFill>
                    <a:latin typeface="Calibri"/>
                  </a:rPr>
                  <a:t>c) Hai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và </a:t>
                </a:r>
                <a14:m>
                  <m:oMath xmlns:m="http://schemas.openxmlformats.org/officeDocument/2006/math">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có cùng phương không? Có cùng hướng không?</a:t>
                </a:r>
              </a:p>
            </p:txBody>
          </p:sp>
        </mc:Choice>
        <mc:Fallback>
          <p:sp>
            <p:nvSpPr>
              <p:cNvPr id="7" name="TextBox 6"/>
              <p:cNvSpPr txBox="1"/>
              <p:nvPr/>
            </p:nvSpPr>
            <p:spPr>
              <a:xfrm>
                <a:off x="548640" y="1371600"/>
                <a:ext cx="7498079" cy="26517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HĐ2.</a:t>
                </a:r>
                <a:r>
                  <a:rPr sz="2200">
                    <a:solidFill>
                      <a:srgbClr val="1E293B"/>
                    </a:solidFill>
                    <a:latin typeface="Calibri"/>
                  </a:rPr>
                  <a:t> Cho hình hộp </a:t>
                </a:r>
                <a:r>
                  <a:rPr lang="vi-VN"/>
                  <a:t>ABCD.A'B'C'D'</a:t>
                </a:r>
                <a:r>
                  <a:rPr sz="2200">
                    <a:solidFill>
                      <a:srgbClr val="1E293B"/>
                    </a:solidFill>
                    <a:latin typeface="Calibri"/>
                  </a:rPr>
                  <a:t> (H.2.7).</a:t>
                </a:r>
              </a:p>
              <a:p>
                <a:pPr algn="l">
                  <a:spcAft>
                    <a:spcPts val="800"/>
                  </a:spcAft>
                </a:pPr>
                <a:r>
                  <a:rPr sz="2200">
                    <a:solidFill>
                      <a:srgbClr val="1E293B"/>
                    </a:solidFill>
                    <a:latin typeface="Calibri"/>
                  </a:rPr>
                  <a:t>a) So sánh độ dài của hai vectơ </a:t>
                </a:r>
                <a:r>
                  <a:rPr lang="vi-VN"/>
                  <a:t>\overrightarrow{AB}</a:t>
                </a:r>
                <a:r>
                  <a:rPr sz="2200">
                    <a:solidFill>
                      <a:srgbClr val="1E293B"/>
                    </a:solidFill>
                    <a:latin typeface="Calibri"/>
                  </a:rPr>
                  <a:t> và </a:t>
                </a:r>
                <a:r>
                  <a:rPr lang="vi-VN"/>
                  <a:t>\overrightarrow{D'C'}</a:t>
                </a:r>
                <a:r>
                  <a:rPr sz="2200">
                    <a:solidFill>
                      <a:srgbClr val="1E293B"/>
                    </a:solidFill>
                    <a:latin typeface="Calibri"/>
                  </a:rPr>
                  <a:t>.</a:t>
                </a:r>
              </a:p>
              <a:p>
                <a:pPr algn="l">
                  <a:spcAft>
                    <a:spcPts val="800"/>
                  </a:spcAft>
                </a:pPr>
                <a:r>
                  <a:rPr sz="2200">
                    <a:solidFill>
                      <a:srgbClr val="1E293B"/>
                    </a:solidFill>
                    <a:latin typeface="Calibri"/>
                  </a:rPr>
                  <a:t>b) Nhận xét về giá của hai vectơ </a:t>
                </a:r>
                <a:r>
                  <a:rPr lang="vi-VN"/>
                  <a:t>\overrightarrow{AB}</a:t>
                </a:r>
                <a:r>
                  <a:rPr sz="2200">
                    <a:solidFill>
                      <a:srgbClr val="1E293B"/>
                    </a:solidFill>
                    <a:latin typeface="Calibri"/>
                  </a:rPr>
                  <a:t> và </a:t>
                </a:r>
                <a:r>
                  <a:rPr lang="vi-VN"/>
                  <a:t>\overrightarrow{D'C'}</a:t>
                </a:r>
                <a:r>
                  <a:rPr sz="2200">
                    <a:solidFill>
                      <a:srgbClr val="1E293B"/>
                    </a:solidFill>
                    <a:latin typeface="Calibri"/>
                  </a:rPr>
                  <a:t>.</a:t>
                </a:r>
              </a:p>
              <a:p>
                <a:pPr algn="l">
                  <a:spcAft>
                    <a:spcPts val="800"/>
                  </a:spcAft>
                </a:pPr>
                <a:r>
                  <a:rPr sz="2200">
                    <a:solidFill>
                      <a:srgbClr val="1E293B"/>
                    </a:solidFill>
                    <a:latin typeface="Calibri"/>
                  </a:rPr>
                  <a:t>c) Hai vectơ </a:t>
                </a:r>
                <a:r>
                  <a:rPr lang="vi-VN"/>
                  <a:t>\overrightarrow{AB}</a:t>
                </a:r>
                <a:r>
                  <a:rPr sz="2200">
                    <a:solidFill>
                      <a:srgbClr val="1E293B"/>
                    </a:solidFill>
                    <a:latin typeface="Calibri"/>
                  </a:rPr>
                  <a:t> và </a:t>
                </a:r>
                <a:r>
                  <a:rPr lang="vi-VN"/>
                  <a:t>\overrightarrow{D'C'}</a:t>
                </a:r>
                <a:r>
                  <a:rPr sz="2200">
                    <a:solidFill>
                      <a:srgbClr val="1E293B"/>
                    </a:solidFill>
                    <a:latin typeface="Calibri"/>
                  </a:rPr>
                  <a:t> có cùng phương không? Có cùng hướng không?</a:t>
                </a:r>
              </a:p>
            </p:txBody>
          </p:sp>
        </mc:Fallback>
      </mc:AlternateContent>
      <p:sp>
        <p:nvSpPr>
          <p:cNvPr id="8" name="s1_nen"/>
          <p:cNvSpPr/>
          <p:nvPr/>
        </p:nvSpPr>
        <p:spPr>
          <a:xfrm>
            <a:off x="548640" y="4069080"/>
            <a:ext cx="7498079"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4105656"/>
                <a:ext cx="7168895"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d>
                      <m:dPr>
                        <m:begChr m:val="|"/>
                        <m:sepChr m:val=""/>
                        <m:endChr m:val="|"/>
                      </m:dPr>
                      <m:e>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e>
                    </m:d>
                  </m:oMath>
                </a14:m>
                <a:r>
                  <a:rPr sz="2200">
                    <a:solidFill>
                      <a:srgbClr val="1E293B"/>
                    </a:solidFill>
                    <a:latin typeface="Calibri"/>
                  </a:rPr>
                  <a:t> (vì </a:t>
                </a:r>
                <a14:m>
                  <m:oMath xmlns:m="http://schemas.openxmlformats.org/officeDocument/2006/math">
                    <m:r>
                      <a:rPr lang="vi-VN" sz="2200" b="0">
                        <a:solidFill>
                          <a:srgbClr val="1E293B"/>
                        </a:solidFill>
                        <a:latin typeface="Cambria Math" panose="02040503050406030204" pitchFamily="18" charset="0"/>
                      </a:rPr>
                      <m:t>AB</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là hình bình hành).</a:t>
                </a:r>
              </a:p>
            </p:txBody>
          </p:sp>
        </mc:Choice>
        <mc:Fallback>
          <p:sp>
            <p:nvSpPr>
              <p:cNvPr id="9" name="TextBox 8"/>
              <p:cNvSpPr txBox="1"/>
              <p:nvPr/>
            </p:nvSpPr>
            <p:spPr>
              <a:xfrm>
                <a:off x="713232" y="4105656"/>
                <a:ext cx="7168895"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|\overrightarrow{AB}|=|\overrightarrow{D'C'}|</a:t>
                </a:r>
                <a:r>
                  <a:rPr sz="2200">
                    <a:solidFill>
                      <a:srgbClr val="1E293B"/>
                    </a:solidFill>
                    <a:latin typeface="Calibri"/>
                  </a:rPr>
                  <a:t> (vì </a:t>
                </a:r>
                <a:r>
                  <a:rPr lang="vi-VN"/>
                  <a:t>ABC'D'</a:t>
                </a:r>
                <a:r>
                  <a:rPr sz="2200">
                    <a:solidFill>
                      <a:srgbClr val="1E293B"/>
                    </a:solidFill>
                    <a:latin typeface="Calibri"/>
                  </a:rPr>
                  <a:t> là hình bình hành).</a:t>
                </a:r>
              </a:p>
            </p:txBody>
          </p:sp>
        </mc:Fallback>
      </mc:AlternateContent>
      <p:sp>
        <p:nvSpPr>
          <p:cNvPr id="10" name="s2_nen"/>
          <p:cNvSpPr/>
          <p:nvPr/>
        </p:nvSpPr>
        <p:spPr>
          <a:xfrm>
            <a:off x="548640" y="4760975"/>
            <a:ext cx="7498079"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797551"/>
                <a:ext cx="7168895"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Giá </a:t>
                </a:r>
                <a14:m>
                  <m:oMath xmlns:m="http://schemas.openxmlformats.org/officeDocument/2006/math">
                    <m:r>
                      <a:rPr lang="vi-VN" sz="2200" b="0">
                        <a:solidFill>
                          <a:srgbClr val="1E293B"/>
                        </a:solidFill>
                        <a:latin typeface="Cambria Math" panose="02040503050406030204" pitchFamily="18" charset="0"/>
                      </a:rPr>
                      <m:t>AB</m:t>
                    </m:r>
                  </m:oMath>
                </a14:m>
                <a:r>
                  <a:rPr sz="2200">
                    <a:solidFill>
                      <a:srgbClr val="1E293B"/>
                    </a:solidFill>
                    <a:latin typeface="Calibri"/>
                  </a:rPr>
                  <a:t> và </a:t>
                </a:r>
                <a14:m>
                  <m:oMath xmlns:m="http://schemas.openxmlformats.org/officeDocument/2006/math">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song song với nhau.</a:t>
                </a:r>
              </a:p>
            </p:txBody>
          </p:sp>
        </mc:Choice>
        <mc:Fallback>
          <p:sp>
            <p:nvSpPr>
              <p:cNvPr id="11" name="TextBox 10"/>
              <p:cNvSpPr txBox="1"/>
              <p:nvPr/>
            </p:nvSpPr>
            <p:spPr>
              <a:xfrm>
                <a:off x="713232" y="4797551"/>
                <a:ext cx="7168895"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Giá </a:t>
                </a:r>
                <a:r>
                  <a:rPr lang="vi-VN"/>
                  <a:t>AB</a:t>
                </a:r>
                <a:r>
                  <a:rPr sz="2200">
                    <a:solidFill>
                      <a:srgbClr val="1E293B"/>
                    </a:solidFill>
                    <a:latin typeface="Calibri"/>
                  </a:rPr>
                  <a:t> và </a:t>
                </a:r>
                <a:r>
                  <a:rPr lang="vi-VN"/>
                  <a:t>D'C'</a:t>
                </a:r>
                <a:r>
                  <a:rPr sz="2200">
                    <a:solidFill>
                      <a:srgbClr val="1E293B"/>
                    </a:solidFill>
                    <a:latin typeface="Calibri"/>
                  </a:rPr>
                  <a:t> song song với nhau.</a:t>
                </a:r>
              </a:p>
            </p:txBody>
          </p:sp>
        </mc:Fallback>
      </mc:AlternateContent>
      <p:sp>
        <p:nvSpPr>
          <p:cNvPr id="12" name="s3_nen"/>
          <p:cNvSpPr/>
          <p:nvPr/>
        </p:nvSpPr>
        <p:spPr>
          <a:xfrm>
            <a:off x="548640" y="5452871"/>
            <a:ext cx="7498079"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3_chu"/>
          <p:cNvSpPr txBox="1"/>
          <p:nvPr/>
        </p:nvSpPr>
        <p:spPr>
          <a:xfrm>
            <a:off x="713232" y="5489447"/>
            <a:ext cx="7168895"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 Cùng phương và cùng hướng.</a:t>
            </a:r>
          </a:p>
        </p:txBody>
      </p:sp>
      <p:pic>
        <p:nvPicPr>
          <p:cNvPr id="14" name="Picture 13" descr="h27.png"/>
          <p:cNvPicPr>
            <a:picLocks noChangeAspect="1"/>
          </p:cNvPicPr>
          <p:nvPr/>
        </p:nvPicPr>
        <p:blipFill>
          <a:blip r:embed="rId3"/>
          <a:stretch>
            <a:fillRect/>
          </a:stretch>
        </p:blipFill>
        <p:spPr>
          <a:xfrm>
            <a:off x="8229600" y="1783772"/>
            <a:ext cx="3474720" cy="2376056"/>
          </a:xfrm>
          <a:prstGeom prst="rect">
            <a:avLst/>
          </a:prstGeom>
        </p:spPr>
      </p:pic>
      <p:sp>
        <p:nvSpPr>
          <p:cNvPr id="15" name="TextBox 14"/>
          <p:cNvSpPr txBox="1"/>
          <p:nvPr/>
        </p:nvSpPr>
        <p:spPr>
          <a:xfrm>
            <a:off x="8229600" y="4498848"/>
            <a:ext cx="34747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CÁC KHÁI NIỆM (SGK TR.47)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12</a:t>
            </a:r>
          </a:p>
        </p:txBody>
      </p:sp>
      <p:sp>
        <p:nvSpPr>
          <p:cNvPr id="7" name="Rounded Rectangle 6"/>
          <p:cNvSpPr/>
          <p:nvPr/>
        </p:nvSpPr>
        <p:spPr>
          <a:xfrm>
            <a:off x="548640" y="1417320"/>
            <a:ext cx="11064240" cy="21427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53896"/>
                <a:ext cx="10735056" cy="2069591"/>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Hai vectơ được gọi là </a:t>
                </a:r>
                <a:r>
                  <a:rPr sz="2200" b="1">
                    <a:solidFill>
                      <a:srgbClr val="1E293B"/>
                    </a:solidFill>
                    <a:latin typeface="Calibri"/>
                  </a:rPr>
                  <a:t>cùng phương</a:t>
                </a:r>
                <a:r>
                  <a:rPr sz="2200">
                    <a:solidFill>
                      <a:srgbClr val="1E293B"/>
                    </a:solidFill>
                    <a:latin typeface="Calibri"/>
                  </a:rPr>
                  <a:t> nếu chúng có giá song song hoặc trùng nhau.</a:t>
                </a:r>
              </a:p>
              <a:p>
                <a:pPr algn="l" marL="365760" indent="-365760">
                  <a:spcAft>
                    <a:spcPts val="800"/>
                  </a:spcAft>
                  <a:buClr>
                    <a:srgbClr val="1E40AF"/>
                  </a:buClr>
                  <a:buFont typeface="Arial"/>
                  <a:buChar char="•"/>
                </a:pPr>
                <a:r>
                  <a:rPr sz="2200">
                    <a:solidFill>
                      <a:srgbClr val="1E293B"/>
                    </a:solidFill>
                    <a:latin typeface="Calibri"/>
                  </a:rPr>
                  <a:t>Nếu hai vectơ cùng phương thì chúng </a:t>
                </a:r>
                <a:r>
                  <a:rPr sz="2200" b="1">
                    <a:solidFill>
                      <a:srgbClr val="1E293B"/>
                    </a:solidFill>
                    <a:latin typeface="Calibri"/>
                  </a:rPr>
                  <a:t>cùng hướng</a:t>
                </a:r>
                <a:r>
                  <a:rPr sz="2200">
                    <a:solidFill>
                      <a:srgbClr val="1E293B"/>
                    </a:solidFill>
                    <a:latin typeface="Calibri"/>
                  </a:rPr>
                  <a:t> hoặc </a:t>
                </a:r>
                <a:r>
                  <a:rPr sz="2200" b="1">
                    <a:solidFill>
                      <a:srgbClr val="1E293B"/>
                    </a:solidFill>
                    <a:latin typeface="Calibri"/>
                  </a:rPr>
                  <a:t>ngược hướng</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Hai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được gọi là </a:t>
                </a:r>
                <a:r>
                  <a:rPr sz="2200" b="1">
                    <a:solidFill>
                      <a:srgbClr val="1E293B"/>
                    </a:solidFill>
                    <a:latin typeface="Calibri"/>
                  </a:rPr>
                  <a:t>bằng nhau</a:t>
                </a:r>
                <a:r>
                  <a:rPr sz="2200">
                    <a:solidFill>
                      <a:srgbClr val="1E293B"/>
                    </a:solidFill>
                    <a:latin typeface="Calibri"/>
                  </a:rPr>
                  <a:t>, kí hiệu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nếu chúng có cùng độ dài và cùng hướng.</a:t>
                </a:r>
              </a:p>
            </p:txBody>
          </p:sp>
        </mc:Choice>
        <mc:Fallback>
          <p:sp>
            <p:nvSpPr>
              <p:cNvPr id="8" name="TextBox 7"/>
              <p:cNvSpPr txBox="1"/>
              <p:nvPr/>
            </p:nvSpPr>
            <p:spPr>
              <a:xfrm>
                <a:off x="713232" y="1453896"/>
                <a:ext cx="10735056" cy="2069591"/>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Hai vectơ được gọi là </a:t>
                </a:r>
                <a:r>
                  <a:rPr sz="2200" b="1">
                    <a:solidFill>
                      <a:srgbClr val="1E293B"/>
                    </a:solidFill>
                    <a:latin typeface="Calibri"/>
                  </a:rPr>
                  <a:t>cùng phương</a:t>
                </a:r>
                <a:r>
                  <a:rPr sz="2200">
                    <a:solidFill>
                      <a:srgbClr val="1E293B"/>
                    </a:solidFill>
                    <a:latin typeface="Calibri"/>
                  </a:rPr>
                  <a:t> nếu chúng có giá song song hoặc trùng nhau.</a:t>
                </a:r>
              </a:p>
              <a:p>
                <a:pPr algn="l" marL="365760" indent="-365760">
                  <a:spcAft>
                    <a:spcPts val="800"/>
                  </a:spcAft>
                  <a:buClr>
                    <a:srgbClr val="1E40AF"/>
                  </a:buClr>
                  <a:buFont typeface="Arial"/>
                  <a:buChar char="•"/>
                </a:pPr>
                <a:r>
                  <a:rPr sz="2200">
                    <a:solidFill>
                      <a:srgbClr val="1E293B"/>
                    </a:solidFill>
                    <a:latin typeface="Calibri"/>
                  </a:rPr>
                  <a:t>Nếu hai vectơ cùng phương thì chúng </a:t>
                </a:r>
                <a:r>
                  <a:rPr sz="2200" b="1">
                    <a:solidFill>
                      <a:srgbClr val="1E293B"/>
                    </a:solidFill>
                    <a:latin typeface="Calibri"/>
                  </a:rPr>
                  <a:t>cùng hướng</a:t>
                </a:r>
                <a:r>
                  <a:rPr sz="2200">
                    <a:solidFill>
                      <a:srgbClr val="1E293B"/>
                    </a:solidFill>
                    <a:latin typeface="Calibri"/>
                  </a:rPr>
                  <a:t> hoặc </a:t>
                </a:r>
                <a:r>
                  <a:rPr sz="2200" b="1">
                    <a:solidFill>
                      <a:srgbClr val="1E293B"/>
                    </a:solidFill>
                    <a:latin typeface="Calibri"/>
                  </a:rPr>
                  <a:t>ngược hướng</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Hai vectơ </a:t>
                </a:r>
                <a:r>
                  <a:rPr lang="vi-VN"/>
                  <a:t>\vec{a}</a:t>
                </a:r>
                <a:r>
                  <a:rPr sz="2200">
                    <a:solidFill>
                      <a:srgbClr val="1E293B"/>
                    </a:solidFill>
                    <a:latin typeface="Calibri"/>
                  </a:rPr>
                  <a:t> và </a:t>
                </a:r>
                <a:r>
                  <a:rPr lang="vi-VN"/>
                  <a:t>\vec{b}</a:t>
                </a:r>
                <a:r>
                  <a:rPr sz="2200">
                    <a:solidFill>
                      <a:srgbClr val="1E293B"/>
                    </a:solidFill>
                    <a:latin typeface="Calibri"/>
                  </a:rPr>
                  <a:t> được gọi là </a:t>
                </a:r>
                <a:r>
                  <a:rPr sz="2200" b="1">
                    <a:solidFill>
                      <a:srgbClr val="1E293B"/>
                    </a:solidFill>
                    <a:latin typeface="Calibri"/>
                  </a:rPr>
                  <a:t>bằng nhau</a:t>
                </a:r>
                <a:r>
                  <a:rPr sz="2200">
                    <a:solidFill>
                      <a:srgbClr val="1E293B"/>
                    </a:solidFill>
                    <a:latin typeface="Calibri"/>
                  </a:rPr>
                  <a:t>, kí hiệu </a:t>
                </a:r>
                <a:r>
                  <a:rPr lang="vi-VN"/>
                  <a:t>\vec{a}=\vec{b}</a:t>
                </a:r>
                <a:r>
                  <a:rPr sz="2200">
                    <a:solidFill>
                      <a:srgbClr val="1E293B"/>
                    </a:solidFill>
                    <a:latin typeface="Calibri"/>
                  </a:rPr>
                  <a:t>, nếu chúng có cùng độ dài và cùng hướng.</a:t>
                </a:r>
              </a:p>
            </p:txBody>
          </p:sp>
        </mc:Fallback>
      </mc:AlternateContent>
      <p:sp>
        <p:nvSpPr>
          <p:cNvPr id="9" name="TextBox 8"/>
          <p:cNvSpPr txBox="1"/>
          <p:nvPr/>
        </p:nvSpPr>
        <p:spPr>
          <a:xfrm>
            <a:off x="548640" y="3566160"/>
            <a:ext cx="110642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 Nếu hai vectơ cùng bằng một vectơ thứ ba thì hai vectơ đó có bằng nhau không?</a:t>
            </a:r>
          </a:p>
        </p:txBody>
      </p:sp>
      <p:sp>
        <p:nvSpPr>
          <p:cNvPr id="10" name="s1_nen"/>
          <p:cNvSpPr/>
          <p:nvPr/>
        </p:nvSpPr>
        <p:spPr>
          <a:xfrm>
            <a:off x="548640" y="4297680"/>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1_chu"/>
          <p:cNvSpPr txBox="1"/>
          <p:nvPr/>
        </p:nvSpPr>
        <p:spPr>
          <a:xfrm>
            <a:off x="713232" y="433425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Có. Hai vectơ đó cùng độ dài và cùng hướng với vectơ thứ ba nên cùng độ dài, cùng hướng với nhau.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VECTƠ-KHÔNG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13</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11064240" cy="45720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Trong không gian, với mỗi điểm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và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cho trước, có duy nhất điểm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sao cho </a:t>
                </a:r>
                <a14:m>
                  <m:oMath xmlns:m="http://schemas.openxmlformats.org/officeDocument/2006/math">
                    <m:acc>
                      <m:accPr>
                        <m:chr m:val="⃗"/>
                      </m:accPr>
                      <m:e>
                        <m:r>
                          <a:rPr lang="vi-VN" sz="2200" b="0">
                            <a:solidFill>
                              <a:srgbClr val="1E293B"/>
                            </a:solidFill>
                            <a:latin typeface="Cambria Math" panose="02040503050406030204" pitchFamily="18" charset="0"/>
                          </a:rPr>
                          <m:t>OM</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Các vectơ có điểm đầu và điểm cuối trùng nhau, ví dụ như </a:t>
                </a:r>
                <a14:m>
                  <m:oMath xmlns:m="http://schemas.openxmlformats.org/officeDocument/2006/math">
                    <m:acc>
                      <m:accPr>
                        <m:chr m:val="⃗"/>
                      </m:accPr>
                      <m:e>
                        <m:r>
                          <a:rPr lang="vi-VN" sz="2200" b="0">
                            <a:solidFill>
                              <a:srgbClr val="1E293B"/>
                            </a:solidFill>
                            <a:latin typeface="Cambria Math" panose="02040503050406030204" pitchFamily="18" charset="0"/>
                          </a:rPr>
                          <m:t>AA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BB</m:t>
                        </m:r>
                      </m:e>
                    </m:acc>
                    <m:r>
                      <a:rPr lang="vi-VN" sz="2200" b="0">
                        <a:solidFill>
                          <a:srgbClr val="1E293B"/>
                        </a:solidFill>
                        <a:latin typeface="Cambria Math" panose="02040503050406030204" pitchFamily="18" charset="0"/>
                      </a:rPr>
                      <m:t>,…</m:t>
                    </m:r>
                  </m:oMath>
                </a14:m>
                <a:r>
                  <a:rPr sz="2200">
                    <a:solidFill>
                      <a:srgbClr val="1E293B"/>
                    </a:solidFill>
                    <a:latin typeface="Calibri"/>
                  </a:rPr>
                  <a:t> gọi là các </a:t>
                </a:r>
                <a:r>
                  <a:rPr sz="2200" b="1">
                    <a:solidFill>
                      <a:srgbClr val="1E293B"/>
                    </a:solidFill>
                    <a:latin typeface="Calibri"/>
                  </a:rPr>
                  <a:t>vectơ-không</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Ta quy ước vectơ-không có độ dài là 0, cùng hướng (và vì vậy cùng phương) với mọi vectơ. Do đó, các vectơ-không đều bằng nhau và được kí hiệu chung là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7" name="TextBox 6"/>
              <p:cNvSpPr txBox="1"/>
              <p:nvPr/>
            </p:nvSpPr>
            <p:spPr>
              <a:xfrm>
                <a:off x="548640" y="1417320"/>
                <a:ext cx="11064240" cy="45720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Trong không gian, với mỗi điểm </a:t>
                </a:r>
                <a:r>
                  <a:rPr lang="vi-VN"/>
                  <a:t>O</a:t>
                </a:r>
                <a:r>
                  <a:rPr sz="2200">
                    <a:solidFill>
                      <a:srgbClr val="1E293B"/>
                    </a:solidFill>
                    <a:latin typeface="Calibri"/>
                  </a:rPr>
                  <a:t> và vectơ </a:t>
                </a:r>
                <a:r>
                  <a:rPr lang="vi-VN"/>
                  <a:t>\vec{a}</a:t>
                </a:r>
                <a:r>
                  <a:rPr sz="2200">
                    <a:solidFill>
                      <a:srgbClr val="1E293B"/>
                    </a:solidFill>
                    <a:latin typeface="Calibri"/>
                  </a:rPr>
                  <a:t> cho trước, có duy nhất điểm </a:t>
                </a:r>
                <a:r>
                  <a:rPr lang="vi-VN"/>
                  <a:t>M</a:t>
                </a:r>
                <a:r>
                  <a:rPr sz="2200">
                    <a:solidFill>
                      <a:srgbClr val="1E293B"/>
                    </a:solidFill>
                    <a:latin typeface="Calibri"/>
                  </a:rPr>
                  <a:t> sao cho </a:t>
                </a:r>
                <a:r>
                  <a:rPr lang="vi-VN"/>
                  <a:t>\overrightarrow{OM}=\vec{a}</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Các vectơ có điểm đầu và điểm cuối trùng nhau, ví dụ như </a:t>
                </a:r>
                <a:r>
                  <a:rPr lang="vi-VN"/>
                  <a:t>\overrightarrow{AA},\ \overrightarrow{BB},\ldots</a:t>
                </a:r>
                <a:r>
                  <a:rPr sz="2200">
                    <a:solidFill>
                      <a:srgbClr val="1E293B"/>
                    </a:solidFill>
                    <a:latin typeface="Calibri"/>
                  </a:rPr>
                  <a:t> gọi là các </a:t>
                </a:r>
                <a:r>
                  <a:rPr sz="2200" b="1">
                    <a:solidFill>
                      <a:srgbClr val="1E293B"/>
                    </a:solidFill>
                    <a:latin typeface="Calibri"/>
                  </a:rPr>
                  <a:t>vectơ-không</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Ta quy ước vectơ-không có độ dài là 0, cùng hướng (và vì vậy cùng phương) với mọi vectơ. Do đó, các vectơ-không đều bằng nhau và được kí hiệu chung là </a:t>
                </a:r>
                <a:r>
                  <a:rPr lang="vi-VN"/>
                  <a:t>\vec{0}</a:t>
                </a:r>
                <a:r>
                  <a:rPr sz="2200">
                    <a:solidFill>
                      <a:srgbClr val="1E293B"/>
                    </a:solidFill>
                    <a:latin typeface="Calibri"/>
                  </a:rPr>
                  <a:t>.</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(SGK TR.48)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2011680"/>
              </a:xfrm>
              <a:prstGeom prst="rect">
                <a:avLst/>
              </a:prstGeom>
              <a:noFill/>
            </p:spPr>
            <p:txBody>
              <a:bodyPr wrap="square" anchor="t" lIns="45720" rIns="45720">
                <a:spAutoFit/>
              </a:bodyPr>
              <a:lstStyle/>
              <a:p>
                <a:pPr algn="l">
                  <a:spcAft>
                    <a:spcPts val="800"/>
                  </a:spcAft>
                </a:pPr>
                <a:r>
                  <a:rPr sz="2100">
                    <a:solidFill>
                      <a:srgbClr val="1E293B"/>
                    </a:solidFill>
                    <a:latin typeface="Calibri"/>
                  </a:rPr>
                  <a:t>Cho hình lăng trụ </a:t>
                </a:r>
                <a14:m>
                  <m:oMath xmlns:m="http://schemas.openxmlformats.org/officeDocument/2006/math">
                    <m:r>
                      <a:rPr lang="vi-VN" sz="2100" b="0">
                        <a:solidFill>
                          <a:srgbClr val="1E293B"/>
                        </a:solidFill>
                        <a:latin typeface="Cambria Math" panose="02040503050406030204" pitchFamily="18" charset="0"/>
                      </a:rPr>
                      <m:t>ABC.</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(H.2.8).</a:t>
                </a:r>
              </a:p>
              <a:p>
                <a:pPr algn="l">
                  <a:spcAft>
                    <a:spcPts val="800"/>
                  </a:spcAft>
                </a:pPr>
                <a:r>
                  <a:rPr sz="2100">
                    <a:solidFill>
                      <a:srgbClr val="1E293B"/>
                    </a:solidFill>
                    <a:latin typeface="Calibri"/>
                  </a:rPr>
                  <a:t>a) Trong ba vectơ </a:t>
                </a:r>
                <a14:m>
                  <m:oMath xmlns:m="http://schemas.openxmlformats.org/officeDocument/2006/math">
                    <m:acc>
                      <m:accPr>
                        <m:chr m:val="⃗"/>
                      </m:accPr>
                      <m:e>
                        <m:r>
                          <a:rPr lang="vi-VN" sz="2100" b="0">
                            <a:solidFill>
                              <a:srgbClr val="1E293B"/>
                            </a:solidFill>
                            <a:latin typeface="Cambria Math" panose="02040503050406030204" pitchFamily="18" charset="0"/>
                          </a:rPr>
                          <m:t>BC</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C</m:t>
                        </m:r>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 và </a:t>
                </a:r>
                <a14:m>
                  <m:oMath xmlns:m="http://schemas.openxmlformats.org/officeDocument/2006/math">
                    <m:acc>
                      <m:accPr>
                        <m:chr m:val="⃗"/>
                      </m:accPr>
                      <m:e>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B</m:t>
                        </m:r>
                      </m:e>
                    </m:acc>
                  </m:oMath>
                </a14:m>
                <a:r>
                  <a:rPr sz="2100">
                    <a:solidFill>
                      <a:srgbClr val="1E293B"/>
                    </a:solidFill>
                    <a:latin typeface="Calibri"/>
                  </a:rPr>
                  <a:t>, vectơ nào bằng vectơ </a:t>
                </a:r>
                <a14:m>
                  <m:oMath xmlns:m="http://schemas.openxmlformats.org/officeDocument/2006/math">
                    <m:acc>
                      <m:accPr>
                        <m:chr m:val="⃗"/>
                      </m:accPr>
                      <m:e>
                        <m:r>
                          <a:rPr lang="vi-VN" sz="2100" b="0">
                            <a:solidFill>
                              <a:srgbClr val="1E293B"/>
                            </a:solidFill>
                            <a:latin typeface="Cambria Math" panose="02040503050406030204" pitchFamily="18" charset="0"/>
                          </a:rPr>
                          <m:t>A</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 Giải thích vì sao.</a:t>
                </a:r>
              </a:p>
              <a:p>
                <a:pPr algn="l">
                  <a:spcAft>
                    <a:spcPts val="800"/>
                  </a:spcAft>
                </a:pPr>
                <a:r>
                  <a:rPr sz="2100">
                    <a:solidFill>
                      <a:srgbClr val="1E293B"/>
                    </a:solidFill>
                    <a:latin typeface="Calibri"/>
                  </a:rPr>
                  <a:t>b) Gọi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là trung điểm của cạnh </a:t>
                </a:r>
                <a14:m>
                  <m:oMath xmlns:m="http://schemas.openxmlformats.org/officeDocument/2006/math">
                    <m:r>
                      <a:rPr lang="vi-VN" sz="2100" b="0">
                        <a:solidFill>
                          <a:srgbClr val="1E293B"/>
                        </a:solidFill>
                        <a:latin typeface="Cambria Math" panose="02040503050406030204" pitchFamily="18" charset="0"/>
                      </a:rPr>
                      <m:t>BC</m:t>
                    </m:r>
                  </m:oMath>
                </a14:m>
                <a:r>
                  <a:rPr sz="2100">
                    <a:solidFill>
                      <a:srgbClr val="1E293B"/>
                    </a:solidFill>
                    <a:latin typeface="Calibri"/>
                  </a:rPr>
                  <a:t>. Xác định điểm </a:t>
                </a:r>
                <a14:m>
                  <m:oMath xmlns:m="http://schemas.openxmlformats.org/officeDocument/2006/math">
                    <m:sSup>
                      <m:e>
                        <m:r>
                          <a:rPr lang="vi-VN" sz="2100" b="0">
                            <a:solidFill>
                              <a:srgbClr val="1E293B"/>
                            </a:solidFill>
                            <a:latin typeface="Cambria Math" panose="02040503050406030204" pitchFamily="18" charset="0"/>
                          </a:rPr>
                          <m:t>M</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sao cho </a:t>
                </a:r>
                <a14:m>
                  <m:oMath xmlns:m="http://schemas.openxmlformats.org/officeDocument/2006/math">
                    <m:acc>
                      <m:accPr>
                        <m:chr m:val="⃗"/>
                      </m:accPr>
                      <m:e>
                        <m:r>
                          <a:rPr lang="vi-VN" sz="2100" b="0">
                            <a:solidFill>
                              <a:srgbClr val="1E293B"/>
                            </a:solidFill>
                            <a:latin typeface="Cambria Math" panose="02040503050406030204" pitchFamily="18" charset="0"/>
                          </a:rPr>
                          <m:t>M</m:t>
                        </m:r>
                        <m:sSup>
                          <m:e>
                            <m:r>
                              <a:rPr lang="vi-VN" sz="2100" b="0">
                                <a:solidFill>
                                  <a:srgbClr val="1E293B"/>
                                </a:solidFill>
                                <a:latin typeface="Cambria Math" panose="02040503050406030204" pitchFamily="18" charset="0"/>
                              </a:rPr>
                              <m:t>M</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a:t>
                </a:r>
              </a:p>
            </p:txBody>
          </p:sp>
        </mc:Choice>
        <mc:Fallback>
          <p:sp>
            <p:nvSpPr>
              <p:cNvPr id="7" name="TextBox 6"/>
              <p:cNvSpPr txBox="1"/>
              <p:nvPr/>
            </p:nvSpPr>
            <p:spPr>
              <a:xfrm>
                <a:off x="548640" y="1371600"/>
                <a:ext cx="8595360" cy="2011680"/>
              </a:xfrm>
              <a:prstGeom prst="rect">
                <a:avLst/>
              </a:prstGeom>
              <a:noFill/>
            </p:spPr>
            <p:txBody>
              <a:bodyPr wrap="square" anchor="t" lIns="45720" rIns="45720">
                <a:spAutoFit/>
              </a:bodyPr>
              <a:lstStyle/>
              <a:p>
                <a:pPr algn="l">
                  <a:spcAft>
                    <a:spcPts val="800"/>
                  </a:spcAft>
                </a:pPr>
                <a:r>
                  <a:rPr sz="2100">
                    <a:solidFill>
                      <a:srgbClr val="1E293B"/>
                    </a:solidFill>
                    <a:latin typeface="Calibri"/>
                  </a:rPr>
                  <a:t>Cho hình lăng trụ </a:t>
                </a:r>
                <a:r>
                  <a:rPr lang="vi-VN"/>
                  <a:t>ABC.A'B'C'</a:t>
                </a:r>
                <a:r>
                  <a:rPr sz="2100">
                    <a:solidFill>
                      <a:srgbClr val="1E293B"/>
                    </a:solidFill>
                    <a:latin typeface="Calibri"/>
                  </a:rPr>
                  <a:t> (H.2.8).</a:t>
                </a:r>
              </a:p>
              <a:p>
                <a:pPr algn="l">
                  <a:spcAft>
                    <a:spcPts val="800"/>
                  </a:spcAft>
                </a:pPr>
                <a:r>
                  <a:rPr sz="2100">
                    <a:solidFill>
                      <a:srgbClr val="1E293B"/>
                    </a:solidFill>
                    <a:latin typeface="Calibri"/>
                  </a:rPr>
                  <a:t>a) Trong ba vectơ </a:t>
                </a:r>
                <a:r>
                  <a:rPr lang="vi-VN"/>
                  <a:t>\overrightarrow{BC},\ \overrightarrow{CC'}</a:t>
                </a:r>
                <a:r>
                  <a:rPr sz="2100">
                    <a:solidFill>
                      <a:srgbClr val="1E293B"/>
                    </a:solidFill>
                    <a:latin typeface="Calibri"/>
                  </a:rPr>
                  <a:t> và </a:t>
                </a:r>
                <a:r>
                  <a:rPr lang="vi-VN"/>
                  <a:t>\overrightarrow{B'B}</a:t>
                </a:r>
                <a:r>
                  <a:rPr sz="2100">
                    <a:solidFill>
                      <a:srgbClr val="1E293B"/>
                    </a:solidFill>
                    <a:latin typeface="Calibri"/>
                  </a:rPr>
                  <a:t>, vectơ nào bằng vectơ </a:t>
                </a:r>
                <a:r>
                  <a:rPr lang="vi-VN"/>
                  <a:t>\overrightarrow{AA'}</a:t>
                </a:r>
                <a:r>
                  <a:rPr sz="2100">
                    <a:solidFill>
                      <a:srgbClr val="1E293B"/>
                    </a:solidFill>
                    <a:latin typeface="Calibri"/>
                  </a:rPr>
                  <a:t>? Giải thích vì sao.</a:t>
                </a:r>
              </a:p>
              <a:p>
                <a:pPr algn="l">
                  <a:spcAft>
                    <a:spcPts val="800"/>
                  </a:spcAft>
                </a:pPr>
                <a:r>
                  <a:rPr sz="2100">
                    <a:solidFill>
                      <a:srgbClr val="1E293B"/>
                    </a:solidFill>
                    <a:latin typeface="Calibri"/>
                  </a:rPr>
                  <a:t>b) Gọi </a:t>
                </a:r>
                <a:r>
                  <a:rPr lang="vi-VN"/>
                  <a:t>M</a:t>
                </a:r>
                <a:r>
                  <a:rPr sz="2100">
                    <a:solidFill>
                      <a:srgbClr val="1E293B"/>
                    </a:solidFill>
                    <a:latin typeface="Calibri"/>
                  </a:rPr>
                  <a:t> là trung điểm của cạnh </a:t>
                </a:r>
                <a:r>
                  <a:rPr lang="vi-VN"/>
                  <a:t>BC</a:t>
                </a:r>
                <a:r>
                  <a:rPr sz="2100">
                    <a:solidFill>
                      <a:srgbClr val="1E293B"/>
                    </a:solidFill>
                    <a:latin typeface="Calibri"/>
                  </a:rPr>
                  <a:t>. Xác định điểm </a:t>
                </a:r>
                <a:r>
                  <a:rPr lang="vi-VN"/>
                  <a:t>M'</a:t>
                </a:r>
                <a:r>
                  <a:rPr sz="2100">
                    <a:solidFill>
                      <a:srgbClr val="1E293B"/>
                    </a:solidFill>
                    <a:latin typeface="Calibri"/>
                  </a:rPr>
                  <a:t> sao cho </a:t>
                </a:r>
                <a:r>
                  <a:rPr lang="vi-VN"/>
                  <a:t>\overrightarrow{MM'}=\overrightarrow{AA'}</a:t>
                </a:r>
                <a:r>
                  <a:rPr sz="2100">
                    <a:solidFill>
                      <a:srgbClr val="1E293B"/>
                    </a:solidFill>
                    <a:latin typeface="Calibri"/>
                  </a:rPr>
                  <a:t>.</a:t>
                </a:r>
              </a:p>
            </p:txBody>
          </p:sp>
        </mc:Fallback>
      </mc:AlternateContent>
      <p:sp>
        <p:nvSpPr>
          <p:cNvPr id="8" name="s1_nen"/>
          <p:cNvSpPr/>
          <p:nvPr/>
        </p:nvSpPr>
        <p:spPr>
          <a:xfrm>
            <a:off x="548640" y="3429000"/>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465576"/>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BC</m:t>
                    </m:r>
                  </m:oMath>
                </a14:m>
                <a:r>
                  <a:rPr sz="2000">
                    <a:solidFill>
                      <a:srgbClr val="1E293B"/>
                    </a:solidFill>
                    <a:latin typeface="Calibri"/>
                  </a:rPr>
                  <a:t> chéo nhau nên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không cùng phương, không bằng nhau.</a:t>
                </a:r>
              </a:p>
            </p:txBody>
          </p:sp>
        </mc:Choice>
        <mc:Fallback>
          <p:sp>
            <p:nvSpPr>
              <p:cNvPr id="9" name="TextBox 8"/>
              <p:cNvSpPr txBox="1"/>
              <p:nvPr/>
            </p:nvSpPr>
            <p:spPr>
              <a:xfrm>
                <a:off x="713232" y="3465576"/>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AA'</a:t>
                </a:r>
                <a:r>
                  <a:rPr sz="2000">
                    <a:solidFill>
                      <a:srgbClr val="1E293B"/>
                    </a:solidFill>
                    <a:latin typeface="Calibri"/>
                  </a:rPr>
                  <a:t> và </a:t>
                </a:r>
                <a:r>
                  <a:rPr lang="vi-VN"/>
                  <a:t>BC</a:t>
                </a:r>
                <a:r>
                  <a:rPr sz="2000">
                    <a:solidFill>
                      <a:srgbClr val="1E293B"/>
                    </a:solidFill>
                    <a:latin typeface="Calibri"/>
                  </a:rPr>
                  <a:t> chéo nhau nên </a:t>
                </a:r>
                <a:r>
                  <a:rPr lang="vi-VN"/>
                  <a:t>\overrightarrow{AA'}</a:t>
                </a:r>
                <a:r>
                  <a:rPr sz="2000">
                    <a:solidFill>
                      <a:srgbClr val="1E293B"/>
                    </a:solidFill>
                    <a:latin typeface="Calibri"/>
                  </a:rPr>
                  <a:t> và </a:t>
                </a:r>
                <a:r>
                  <a:rPr lang="vi-VN"/>
                  <a:t>\overrightarrow{BC}</a:t>
                </a:r>
                <a:r>
                  <a:rPr sz="2000">
                    <a:solidFill>
                      <a:srgbClr val="1E293B"/>
                    </a:solidFill>
                    <a:latin typeface="Calibri"/>
                  </a:rPr>
                  <a:t> không cùng phương, không bằng nhau.</a:t>
                </a:r>
              </a:p>
            </p:txBody>
          </p:sp>
        </mc:Fallback>
      </mc:AlternateContent>
      <p:sp>
        <p:nvSpPr>
          <p:cNvPr id="10" name="s2_nen"/>
          <p:cNvSpPr/>
          <p:nvPr/>
        </p:nvSpPr>
        <p:spPr>
          <a:xfrm>
            <a:off x="548640" y="4395216"/>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431792"/>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là hình bình hành nên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cùng độ dài, cùng hướng: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và </a:t>
                </a:r>
                <a14:m>
                  <m:oMath xmlns:m="http://schemas.openxmlformats.org/officeDocument/2006/math">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e>
                    </m:acc>
                  </m:oMath>
                </a14:m>
                <a:r>
                  <a:rPr sz="2000">
                    <a:solidFill>
                      <a:srgbClr val="1E293B"/>
                    </a:solidFill>
                    <a:latin typeface="Calibri"/>
                  </a:rPr>
                  <a:t> ngược hướng nên không bằng nhau.</a:t>
                </a:r>
              </a:p>
            </p:txBody>
          </p:sp>
        </mc:Choice>
        <mc:Fallback>
          <p:sp>
            <p:nvSpPr>
              <p:cNvPr id="11" name="TextBox 10"/>
              <p:cNvSpPr txBox="1"/>
              <p:nvPr/>
            </p:nvSpPr>
            <p:spPr>
              <a:xfrm>
                <a:off x="713232" y="4431792"/>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ACC'A'</a:t>
                </a:r>
                <a:r>
                  <a:rPr sz="2000">
                    <a:solidFill>
                      <a:srgbClr val="1E293B"/>
                    </a:solidFill>
                    <a:latin typeface="Calibri"/>
                  </a:rPr>
                  <a:t> là hình bình hành nên </a:t>
                </a:r>
                <a:r>
                  <a:rPr lang="vi-VN"/>
                  <a:t>\overrightarrow{AA'}</a:t>
                </a:r>
                <a:r>
                  <a:rPr sz="2000">
                    <a:solidFill>
                      <a:srgbClr val="1E293B"/>
                    </a:solidFill>
                    <a:latin typeface="Calibri"/>
                  </a:rPr>
                  <a:t>, </a:t>
                </a:r>
                <a:r>
                  <a:rPr lang="vi-VN"/>
                  <a:t>\overrightarrow{CC'}</a:t>
                </a:r>
                <a:r>
                  <a:rPr sz="2000">
                    <a:solidFill>
                      <a:srgbClr val="1E293B"/>
                    </a:solidFill>
                    <a:latin typeface="Calibri"/>
                  </a:rPr>
                  <a:t> cùng độ dài, cùng hướng: </a:t>
                </a:r>
                <a:r>
                  <a:rPr lang="vi-VN"/>
                  <a:t>\overrightarrow{AA'}=\overrightarrow{CC'}</a:t>
                </a:r>
                <a:r>
                  <a:rPr sz="2000">
                    <a:solidFill>
                      <a:srgbClr val="1E293B"/>
                    </a:solidFill>
                    <a:latin typeface="Calibri"/>
                  </a:rPr>
                  <a:t>. </a:t>
                </a:r>
                <a:r>
                  <a:rPr lang="vi-VN"/>
                  <a:t>\overrightarrow{AA'}</a:t>
                </a:r>
                <a:r>
                  <a:rPr sz="2000">
                    <a:solidFill>
                      <a:srgbClr val="1E293B"/>
                    </a:solidFill>
                    <a:latin typeface="Calibri"/>
                  </a:rPr>
                  <a:t> và </a:t>
                </a:r>
                <a:r>
                  <a:rPr lang="vi-VN"/>
                  <a:t>\overrightarrow{B'B}</a:t>
                </a:r>
                <a:r>
                  <a:rPr sz="2000">
                    <a:solidFill>
                      <a:srgbClr val="1E293B"/>
                    </a:solidFill>
                    <a:latin typeface="Calibri"/>
                  </a:rPr>
                  <a:t> ngược hướng nên không bằng nhau.</a:t>
                </a:r>
              </a:p>
            </p:txBody>
          </p:sp>
        </mc:Fallback>
      </mc:AlternateContent>
      <p:sp>
        <p:nvSpPr>
          <p:cNvPr id="12" name="s3_nen"/>
          <p:cNvSpPr/>
          <p:nvPr/>
        </p:nvSpPr>
        <p:spPr>
          <a:xfrm>
            <a:off x="548640" y="5361432"/>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398008"/>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sSup>
                      <m:e>
                        <m:r>
                          <a:rPr lang="vi-VN" sz="2000" b="0">
                            <a:solidFill>
                              <a:srgbClr val="1E293B"/>
                            </a:solidFill>
                            <a:latin typeface="Cambria Math" panose="02040503050406030204" pitchFamily="18" charset="0"/>
                          </a:rPr>
                          <m:t>M</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là trung điểm của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là hình bình hành nên </a:t>
                </a:r>
                <a14:m>
                  <m:oMath xmlns:m="http://schemas.openxmlformats.org/officeDocument/2006/math">
                    <m:r>
                      <a:rPr lang="vi-VN" sz="2000" b="0">
                        <a:solidFill>
                          <a:srgbClr val="1E293B"/>
                        </a:solidFill>
                        <a:latin typeface="Cambria Math" panose="02040503050406030204" pitchFamily="18" charset="0"/>
                      </a:rPr>
                      <m:t>M</m:t>
                    </m:r>
                    <m:sSup>
                      <m:e>
                        <m:r>
                          <a:rPr lang="vi-VN" sz="2000" b="0">
                            <a:solidFill>
                              <a:srgbClr val="1E293B"/>
                            </a:solidFill>
                            <a:latin typeface="Cambria Math" panose="02040503050406030204" pitchFamily="18" charset="0"/>
                          </a:rPr>
                          <m:t>M</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m:t>
                    </m:r>
                    <m:sSup>
                      <m:e>
                        <m:r>
                          <a:rPr lang="vi-VN" sz="2000" b="0">
                            <a:solidFill>
                              <a:srgbClr val="1E293B"/>
                            </a:solidFill>
                            <a:latin typeface="Cambria Math" panose="02040503050406030204" pitchFamily="18" charset="0"/>
                          </a:rPr>
                          <m:t>M</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mà </a:t>
                </a:r>
                <a14:m>
                  <m:oMath xmlns:m="http://schemas.openxmlformats.org/officeDocument/2006/math">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nên </a:t>
                </a:r>
                <a14:m>
                  <m:oMath xmlns:m="http://schemas.openxmlformats.org/officeDocument/2006/math">
                    <m:acc>
                      <m:accPr>
                        <m:chr m:val="⃗"/>
                      </m:accPr>
                      <m:e>
                        <m:r>
                          <a:rPr lang="vi-VN" sz="2000" b="0">
                            <a:solidFill>
                              <a:srgbClr val="1E293B"/>
                            </a:solidFill>
                            <a:latin typeface="Cambria Math" panose="02040503050406030204" pitchFamily="18" charset="0"/>
                          </a:rPr>
                          <m:t>M</m:t>
                        </m:r>
                        <m:sSup>
                          <m:e>
                            <m:r>
                              <a:rPr lang="vi-VN" sz="2000" b="0">
                                <a:solidFill>
                                  <a:srgbClr val="1E293B"/>
                                </a:solidFill>
                                <a:latin typeface="Cambria Math" panose="02040503050406030204" pitchFamily="18" charset="0"/>
                              </a:rPr>
                              <m:t>M</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a:t>
                </a:r>
              </a:p>
            </p:txBody>
          </p:sp>
        </mc:Choice>
        <mc:Fallback>
          <p:sp>
            <p:nvSpPr>
              <p:cNvPr id="13" name="TextBox 12"/>
              <p:cNvSpPr txBox="1"/>
              <p:nvPr/>
            </p:nvSpPr>
            <p:spPr>
              <a:xfrm>
                <a:off x="713232" y="5398008"/>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M'</a:t>
                </a:r>
                <a:r>
                  <a:rPr sz="2000">
                    <a:solidFill>
                      <a:srgbClr val="1E293B"/>
                    </a:solidFill>
                    <a:latin typeface="Calibri"/>
                  </a:rPr>
                  <a:t> là trung điểm của </a:t>
                </a:r>
                <a:r>
                  <a:rPr lang="vi-VN"/>
                  <a:t>B'C'</a:t>
                </a:r>
                <a:r>
                  <a:rPr sz="2000">
                    <a:solidFill>
                      <a:srgbClr val="1E293B"/>
                    </a:solidFill>
                    <a:latin typeface="Calibri"/>
                  </a:rPr>
                  <a:t>: </a:t>
                </a:r>
                <a:r>
                  <a:rPr lang="vi-VN"/>
                  <a:t>BCC'B'</a:t>
                </a:r>
                <a:r>
                  <a:rPr sz="2000">
                    <a:solidFill>
                      <a:srgbClr val="1E293B"/>
                    </a:solidFill>
                    <a:latin typeface="Calibri"/>
                  </a:rPr>
                  <a:t> là hình bình hành nên </a:t>
                </a:r>
                <a:r>
                  <a:rPr lang="vi-VN"/>
                  <a:t>MM'\parallel BB'</a:t>
                </a:r>
                <a:r>
                  <a:rPr sz="2000">
                    <a:solidFill>
                      <a:srgbClr val="1E293B"/>
                    </a:solidFill>
                    <a:latin typeface="Calibri"/>
                  </a:rPr>
                  <a:t>, </a:t>
                </a:r>
                <a:r>
                  <a:rPr lang="vi-VN"/>
                  <a:t>MM'=BB'</a:t>
                </a:r>
                <a:r>
                  <a:rPr sz="2000">
                    <a:solidFill>
                      <a:srgbClr val="1E293B"/>
                    </a:solidFill>
                    <a:latin typeface="Calibri"/>
                  </a:rPr>
                  <a:t>; mà </a:t>
                </a:r>
                <a:r>
                  <a:rPr lang="vi-VN"/>
                  <a:t>AA'\parallel BB'</a:t>
                </a:r>
                <a:r>
                  <a:rPr sz="2000">
                    <a:solidFill>
                      <a:srgbClr val="1E293B"/>
                    </a:solidFill>
                    <a:latin typeface="Calibri"/>
                  </a:rPr>
                  <a:t>, </a:t>
                </a:r>
                <a:r>
                  <a:rPr lang="vi-VN"/>
                  <a:t>AA'=BB'</a:t>
                </a:r>
                <a:r>
                  <a:rPr sz="2000">
                    <a:solidFill>
                      <a:srgbClr val="1E293B"/>
                    </a:solidFill>
                    <a:latin typeface="Calibri"/>
                  </a:rPr>
                  <a:t> nên </a:t>
                </a:r>
                <a:r>
                  <a:rPr lang="vi-VN"/>
                  <a:t>\overrightarrow{MM'}=\overrightarrow{AA'}</a:t>
                </a:r>
                <a:r>
                  <a:rPr sz="2000">
                    <a:solidFill>
                      <a:srgbClr val="1E293B"/>
                    </a:solidFill>
                    <a:latin typeface="Calibri"/>
                  </a:rPr>
                  <a:t>.</a:t>
                </a:r>
              </a:p>
            </p:txBody>
          </p:sp>
        </mc:Fallback>
      </mc:AlternateContent>
      <p:pic>
        <p:nvPicPr>
          <p:cNvPr id="14" name="Picture 13" descr="h28.png"/>
          <p:cNvPicPr>
            <a:picLocks noChangeAspect="1"/>
          </p:cNvPicPr>
          <p:nvPr/>
        </p:nvPicPr>
        <p:blipFill>
          <a:blip r:embed="rId3"/>
          <a:stretch>
            <a:fillRect/>
          </a:stretch>
        </p:blipFill>
        <p:spPr>
          <a:xfrm>
            <a:off x="9235440" y="1716165"/>
            <a:ext cx="2560320" cy="2602709"/>
          </a:xfrm>
          <a:prstGeom prst="rect">
            <a:avLst/>
          </a:prstGeom>
        </p:spPr>
      </p:pic>
      <p:sp>
        <p:nvSpPr>
          <p:cNvPr id="15" name="TextBox 14"/>
          <p:cNvSpPr txBox="1"/>
          <p:nvPr/>
        </p:nvSpPr>
        <p:spPr>
          <a:xfrm>
            <a:off x="9235440" y="4590288"/>
            <a:ext cx="25603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2 (SGK TR.48)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chóp </a:t>
                </a:r>
                <a14:m>
                  <m:oMath xmlns:m="http://schemas.openxmlformats.org/officeDocument/2006/math">
                    <m:r>
                      <a:rPr lang="vi-VN" sz="2200" b="0">
                        <a:solidFill>
                          <a:srgbClr val="1E293B"/>
                        </a:solidFill>
                        <a:latin typeface="Cambria Math" panose="02040503050406030204" pitchFamily="18" charset="0"/>
                      </a:rPr>
                      <m:t>S.ABCD</m:t>
                    </m:r>
                  </m:oMath>
                </a14:m>
                <a:r>
                  <a:rPr sz="2200">
                    <a:solidFill>
                      <a:srgbClr val="1E293B"/>
                    </a:solidFill>
                    <a:latin typeface="Calibri"/>
                  </a:rPr>
                  <a:t> có đáy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là hình bình hành.</a:t>
                </a:r>
              </a:p>
              <a:p>
                <a:pPr algn="l">
                  <a:spcAft>
                    <a:spcPts val="800"/>
                  </a:spcAft>
                </a:pPr>
                <a:r>
                  <a:rPr sz="2200">
                    <a:solidFill>
                      <a:srgbClr val="1E293B"/>
                    </a:solidFill>
                    <a:latin typeface="Calibri"/>
                  </a:rPr>
                  <a:t>a) Trong ba vectơ </a:t>
                </a:r>
                <a14:m>
                  <m:oMath xmlns:m="http://schemas.openxmlformats.org/officeDocument/2006/math">
                    <m:acc>
                      <m:accPr>
                        <m:chr m:val="⃗"/>
                      </m:accPr>
                      <m:e>
                        <m:r>
                          <a:rPr lang="vi-VN" sz="2200" b="0">
                            <a:solidFill>
                              <a:srgbClr val="1E293B"/>
                            </a:solidFill>
                            <a:latin typeface="Cambria Math" panose="02040503050406030204" pitchFamily="18" charset="0"/>
                          </a:rPr>
                          <m:t>SC</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DC</m:t>
                        </m:r>
                      </m:e>
                    </m:acc>
                  </m:oMath>
                </a14:m>
                <a:r>
                  <a:rPr sz="2200">
                    <a:solidFill>
                      <a:srgbClr val="1E293B"/>
                    </a:solidFill>
                    <a:latin typeface="Calibri"/>
                  </a:rPr>
                  <a:t>, vectơ nào bằng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a:t>
                </a:r>
              </a:p>
              <a:p>
                <a:pPr algn="l">
                  <a:spcAft>
                    <a:spcPts val="800"/>
                  </a:spcAft>
                </a:pPr>
                <a:r>
                  <a:rPr sz="2200">
                    <a:solidFill>
                      <a:srgbClr val="1E293B"/>
                    </a:solidFill>
                    <a:latin typeface="Calibri"/>
                  </a:rPr>
                  <a:t>b) Gọi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là một điểm thuộc cạnh </a:t>
                </a:r>
                <a14:m>
                  <m:oMath xmlns:m="http://schemas.openxmlformats.org/officeDocument/2006/math">
                    <m:r>
                      <a:rPr lang="vi-VN" sz="2200" b="0">
                        <a:solidFill>
                          <a:srgbClr val="1E293B"/>
                        </a:solidFill>
                        <a:latin typeface="Cambria Math" panose="02040503050406030204" pitchFamily="18" charset="0"/>
                      </a:rPr>
                      <m:t>AD</m:t>
                    </m:r>
                  </m:oMath>
                </a14:m>
                <a:r>
                  <a:rPr sz="2200">
                    <a:solidFill>
                      <a:srgbClr val="1E293B"/>
                    </a:solidFill>
                    <a:latin typeface="Calibri"/>
                  </a:rPr>
                  <a:t>. Xác định điểm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sao cho </a:t>
                </a:r>
                <a14:m>
                  <m:oMath xmlns:m="http://schemas.openxmlformats.org/officeDocument/2006/math">
                    <m:acc>
                      <m:accPr>
                        <m:chr m:val="⃗"/>
                      </m:accPr>
                      <m:e>
                        <m:r>
                          <a:rPr lang="vi-VN" sz="2200" b="0">
                            <a:solidFill>
                              <a:srgbClr val="1E293B"/>
                            </a:solidFill>
                            <a:latin typeface="Cambria Math" panose="02040503050406030204" pitchFamily="18" charset="0"/>
                          </a:rPr>
                          <m:t>MN</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a:t>
                </a:r>
              </a:p>
            </p:txBody>
          </p:sp>
        </mc:Choice>
        <mc:Fallback>
          <p:sp>
            <p:nvSpPr>
              <p:cNvPr id="7" name="TextBox 6"/>
              <p:cNvSpPr txBox="1"/>
              <p:nvPr/>
            </p:nvSpPr>
            <p:spPr>
              <a:xfrm>
                <a:off x="548640" y="1371600"/>
                <a:ext cx="1106424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chóp </a:t>
                </a:r>
                <a:r>
                  <a:rPr lang="vi-VN"/>
                  <a:t>S.ABCD</a:t>
                </a:r>
                <a:r>
                  <a:rPr sz="2200">
                    <a:solidFill>
                      <a:srgbClr val="1E293B"/>
                    </a:solidFill>
                    <a:latin typeface="Calibri"/>
                  </a:rPr>
                  <a:t> có đáy </a:t>
                </a:r>
                <a:r>
                  <a:rPr lang="vi-VN"/>
                  <a:t>ABCD</a:t>
                </a:r>
                <a:r>
                  <a:rPr sz="2200">
                    <a:solidFill>
                      <a:srgbClr val="1E293B"/>
                    </a:solidFill>
                    <a:latin typeface="Calibri"/>
                  </a:rPr>
                  <a:t> là hình bình hành.</a:t>
                </a:r>
              </a:p>
              <a:p>
                <a:pPr algn="l">
                  <a:spcAft>
                    <a:spcPts val="800"/>
                  </a:spcAft>
                </a:pPr>
                <a:r>
                  <a:rPr sz="2200">
                    <a:solidFill>
                      <a:srgbClr val="1E293B"/>
                    </a:solidFill>
                    <a:latin typeface="Calibri"/>
                  </a:rPr>
                  <a:t>a) Trong ba vectơ </a:t>
                </a:r>
                <a:r>
                  <a:rPr lang="vi-VN"/>
                  <a:t>\overrightarrow{SC},\ \overrightarrow{AD}</a:t>
                </a:r>
                <a:r>
                  <a:rPr sz="2200">
                    <a:solidFill>
                      <a:srgbClr val="1E293B"/>
                    </a:solidFill>
                    <a:latin typeface="Calibri"/>
                  </a:rPr>
                  <a:t> và </a:t>
                </a:r>
                <a:r>
                  <a:rPr lang="vi-VN"/>
                  <a:t>\overrightarrow{DC}</a:t>
                </a:r>
                <a:r>
                  <a:rPr sz="2200">
                    <a:solidFill>
                      <a:srgbClr val="1E293B"/>
                    </a:solidFill>
                    <a:latin typeface="Calibri"/>
                  </a:rPr>
                  <a:t>, vectơ nào bằng vectơ </a:t>
                </a:r>
                <a:r>
                  <a:rPr lang="vi-VN"/>
                  <a:t>\overrightarrow{AB}</a:t>
                </a:r>
                <a:r>
                  <a:rPr sz="2200">
                    <a:solidFill>
                      <a:srgbClr val="1E293B"/>
                    </a:solidFill>
                    <a:latin typeface="Calibri"/>
                  </a:rPr>
                  <a:t>?</a:t>
                </a:r>
              </a:p>
              <a:p>
                <a:pPr algn="l">
                  <a:spcAft>
                    <a:spcPts val="800"/>
                  </a:spcAft>
                </a:pPr>
                <a:r>
                  <a:rPr sz="2200">
                    <a:solidFill>
                      <a:srgbClr val="1E293B"/>
                    </a:solidFill>
                    <a:latin typeface="Calibri"/>
                  </a:rPr>
                  <a:t>b) Gọi </a:t>
                </a:r>
                <a:r>
                  <a:rPr lang="vi-VN"/>
                  <a:t>M</a:t>
                </a:r>
                <a:r>
                  <a:rPr sz="2200">
                    <a:solidFill>
                      <a:srgbClr val="1E293B"/>
                    </a:solidFill>
                    <a:latin typeface="Calibri"/>
                  </a:rPr>
                  <a:t> là một điểm thuộc cạnh </a:t>
                </a:r>
                <a:r>
                  <a:rPr lang="vi-VN"/>
                  <a:t>AD</a:t>
                </a:r>
                <a:r>
                  <a:rPr sz="2200">
                    <a:solidFill>
                      <a:srgbClr val="1E293B"/>
                    </a:solidFill>
                    <a:latin typeface="Calibri"/>
                  </a:rPr>
                  <a:t>. Xác định điểm </a:t>
                </a:r>
                <a:r>
                  <a:rPr lang="vi-VN"/>
                  <a:t>N</a:t>
                </a:r>
                <a:r>
                  <a:rPr sz="2200">
                    <a:solidFill>
                      <a:srgbClr val="1E293B"/>
                    </a:solidFill>
                    <a:latin typeface="Calibri"/>
                  </a:rPr>
                  <a:t> sao cho </a:t>
                </a:r>
                <a:r>
                  <a:rPr lang="vi-VN"/>
                  <a:t>\overrightarrow{MN}=\overrightarrow{AB}</a:t>
                </a:r>
                <a:r>
                  <a:rPr sz="2200">
                    <a:solidFill>
                      <a:srgbClr val="1E293B"/>
                    </a:solidFill>
                    <a:latin typeface="Calibri"/>
                  </a:rPr>
                  <a:t>.</a:t>
                </a:r>
              </a:p>
            </p:txBody>
          </p:sp>
        </mc:Fallback>
      </mc:AlternateContent>
      <p:sp>
        <p:nvSpPr>
          <p:cNvPr id="8" name="s1_nen"/>
          <p:cNvSpPr/>
          <p:nvPr/>
        </p:nvSpPr>
        <p:spPr>
          <a:xfrm>
            <a:off x="548640" y="352044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55701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acc>
                      <m:accPr>
                        <m:chr m:val="⃗"/>
                      </m:accPr>
                      <m:e>
                        <m:r>
                          <a:rPr lang="vi-VN" sz="2200" b="0">
                            <a:solidFill>
                              <a:srgbClr val="1E293B"/>
                            </a:solidFill>
                            <a:latin typeface="Cambria Math" panose="02040503050406030204" pitchFamily="18" charset="0"/>
                          </a:rPr>
                          <m:t>DC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là hình bình hành).</a:t>
                </a:r>
              </a:p>
            </p:txBody>
          </p:sp>
        </mc:Choice>
        <mc:Fallback>
          <p:sp>
            <p:nvSpPr>
              <p:cNvPr id="9" name="TextBox 8"/>
              <p:cNvSpPr txBox="1"/>
              <p:nvPr/>
            </p:nvSpPr>
            <p:spPr>
              <a:xfrm>
                <a:off x="713232" y="355701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\overrightarrow{DC}=\overrightarrow{AB}</a:t>
                </a:r>
                <a:r>
                  <a:rPr sz="2200">
                    <a:solidFill>
                      <a:srgbClr val="1E293B"/>
                    </a:solidFill>
                    <a:latin typeface="Calibri"/>
                  </a:rPr>
                  <a:t> (</a:t>
                </a:r>
                <a:r>
                  <a:rPr lang="vi-VN"/>
                  <a:t>ABCD</a:t>
                </a:r>
                <a:r>
                  <a:rPr sz="2200">
                    <a:solidFill>
                      <a:srgbClr val="1E293B"/>
                    </a:solidFill>
                    <a:latin typeface="Calibri"/>
                  </a:rPr>
                  <a:t> là hình bình hành).</a:t>
                </a:r>
              </a:p>
            </p:txBody>
          </p:sp>
        </mc:Fallback>
      </mc:AlternateContent>
      <p:sp>
        <p:nvSpPr>
          <p:cNvPr id="10" name="s2_nen"/>
          <p:cNvSpPr/>
          <p:nvPr/>
        </p:nvSpPr>
        <p:spPr>
          <a:xfrm>
            <a:off x="548640" y="4212336"/>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248912"/>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Lấy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trên cạnh </a:t>
                </a:r>
                <a14:m>
                  <m:oMath xmlns:m="http://schemas.openxmlformats.org/officeDocument/2006/math">
                    <m:r>
                      <a:rPr lang="vi-VN" sz="2200" b="0">
                        <a:solidFill>
                          <a:srgbClr val="1E293B"/>
                        </a:solidFill>
                        <a:latin typeface="Cambria Math" panose="02040503050406030204" pitchFamily="18" charset="0"/>
                      </a:rPr>
                      <m:t>BC</m:t>
                    </m:r>
                  </m:oMath>
                </a14:m>
                <a:r>
                  <a:rPr sz="2200">
                    <a:solidFill>
                      <a:srgbClr val="1E293B"/>
                    </a:solidFill>
                    <a:latin typeface="Calibri"/>
                  </a:rPr>
                  <a:t> sao cho </a:t>
                </a:r>
                <a14:m>
                  <m:oMath xmlns:m="http://schemas.openxmlformats.org/officeDocument/2006/math">
                    <m:r>
                      <a:rPr lang="vi-VN" sz="2200" b="0">
                        <a:solidFill>
                          <a:srgbClr val="1E293B"/>
                        </a:solidFill>
                        <a:latin typeface="Cambria Math" panose="02040503050406030204" pitchFamily="18" charset="0"/>
                      </a:rPr>
                      <m:t>BN=AM</m:t>
                    </m:r>
                  </m:oMath>
                </a14:m>
                <a:r>
                  <a:rPr sz="2200">
                    <a:solidFill>
                      <a:srgbClr val="1E293B"/>
                    </a:solidFill>
                    <a:latin typeface="Calibri"/>
                  </a:rPr>
                  <a:t>. Khi đó </a:t>
                </a:r>
                <a14:m>
                  <m:oMath xmlns:m="http://schemas.openxmlformats.org/officeDocument/2006/math">
                    <m:r>
                      <a:rPr lang="vi-VN" sz="2200" b="0">
                        <a:solidFill>
                          <a:srgbClr val="1E293B"/>
                        </a:solidFill>
                        <a:latin typeface="Cambria Math" panose="02040503050406030204" pitchFamily="18" charset="0"/>
                      </a:rPr>
                      <m:t>ABNM</m:t>
                    </m:r>
                  </m:oMath>
                </a14:m>
                <a:r>
                  <a:rPr sz="2200">
                    <a:solidFill>
                      <a:srgbClr val="1E293B"/>
                    </a:solidFill>
                    <a:latin typeface="Calibri"/>
                  </a:rPr>
                  <a:t> là hình bình hành nên </a:t>
                </a:r>
                <a14:m>
                  <m:oMath xmlns:m="http://schemas.openxmlformats.org/officeDocument/2006/math">
                    <m:acc>
                      <m:accPr>
                        <m:chr m:val="⃗"/>
                      </m:accPr>
                      <m:e>
                        <m:r>
                          <a:rPr lang="vi-VN" sz="2200" b="0">
                            <a:solidFill>
                              <a:srgbClr val="1E293B"/>
                            </a:solidFill>
                            <a:latin typeface="Cambria Math" panose="02040503050406030204" pitchFamily="18" charset="0"/>
                          </a:rPr>
                          <m:t>MN</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a:t>
                </a:r>
              </a:p>
            </p:txBody>
          </p:sp>
        </mc:Choice>
        <mc:Fallback>
          <p:sp>
            <p:nvSpPr>
              <p:cNvPr id="11" name="TextBox 10"/>
              <p:cNvSpPr txBox="1"/>
              <p:nvPr/>
            </p:nvSpPr>
            <p:spPr>
              <a:xfrm>
                <a:off x="713232" y="4248912"/>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Lấy </a:t>
                </a:r>
                <a:r>
                  <a:rPr lang="vi-VN"/>
                  <a:t>N</a:t>
                </a:r>
                <a:r>
                  <a:rPr sz="2200">
                    <a:solidFill>
                      <a:srgbClr val="1E293B"/>
                    </a:solidFill>
                    <a:latin typeface="Calibri"/>
                  </a:rPr>
                  <a:t> trên cạnh </a:t>
                </a:r>
                <a:r>
                  <a:rPr lang="vi-VN"/>
                  <a:t>BC</a:t>
                </a:r>
                <a:r>
                  <a:rPr sz="2200">
                    <a:solidFill>
                      <a:srgbClr val="1E293B"/>
                    </a:solidFill>
                    <a:latin typeface="Calibri"/>
                  </a:rPr>
                  <a:t> sao cho </a:t>
                </a:r>
                <a:r>
                  <a:rPr lang="vi-VN"/>
                  <a:t>BN=AM</a:t>
                </a:r>
                <a:r>
                  <a:rPr sz="2200">
                    <a:solidFill>
                      <a:srgbClr val="1E293B"/>
                    </a:solidFill>
                    <a:latin typeface="Calibri"/>
                  </a:rPr>
                  <a:t>. Khi đó </a:t>
                </a:r>
                <a:r>
                  <a:rPr lang="vi-VN"/>
                  <a:t>ABNM</a:t>
                </a:r>
                <a:r>
                  <a:rPr sz="2200">
                    <a:solidFill>
                      <a:srgbClr val="1E293B"/>
                    </a:solidFill>
                    <a:latin typeface="Calibri"/>
                  </a:rPr>
                  <a:t> là hình bình hành nên </a:t>
                </a:r>
                <a:r>
                  <a:rPr lang="vi-VN"/>
                  <a:t>\overrightarrow{MN}=\overrightarrow{AB}</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1 (SGK TR.48)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16</a:t>
            </a:r>
          </a:p>
        </p:txBody>
      </p:sp>
      <p:sp>
        <p:nvSpPr>
          <p:cNvPr id="7" name="TextBox 6"/>
          <p:cNvSpPr txBox="1"/>
          <p:nvPr/>
        </p:nvSpPr>
        <p:spPr>
          <a:xfrm>
            <a:off x="548640" y="1371600"/>
            <a:ext cx="5852160" cy="310896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toà nhà có chiều cao của các tầng là như nhau. Một chiếc thang máy di chuyển từ tầng 15 lên tầng 22 của toà nhà, sau đó di chuyển từ tầng 22 lên tầng 29. Các vectơ biểu diễn độ dịch chuyển của thang máy trong hai lần di chuyển đó có bằng nhau không? Giải thích vì sao.</a:t>
            </a:r>
          </a:p>
        </p:txBody>
      </p:sp>
      <p:sp>
        <p:nvSpPr>
          <p:cNvPr id="8" name="s1_nen"/>
          <p:cNvSpPr/>
          <p:nvPr/>
        </p:nvSpPr>
        <p:spPr>
          <a:xfrm>
            <a:off x="548640" y="4572000"/>
            <a:ext cx="5852160" cy="12710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4608576"/>
            <a:ext cx="5522976" cy="119786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Có.</a:t>
            </a:r>
            <a:r>
              <a:rPr sz="2200">
                <a:solidFill>
                  <a:srgbClr val="1E293B"/>
                </a:solidFill>
                <a:latin typeface="Calibri"/>
              </a:rPr>
              <a:t> Hai vectơ cùng hướng (thẳng đứng, hướng lên) và cùng độ dài (mỗi lần đi 7 tầng) nên bằng nhau.</a:t>
            </a:r>
          </a:p>
        </p:txBody>
      </p:sp>
      <p:pic>
        <p:nvPicPr>
          <p:cNvPr id="10" name="Picture 9" descr="h29.png"/>
          <p:cNvPicPr>
            <a:picLocks noChangeAspect="1"/>
          </p:cNvPicPr>
          <p:nvPr/>
        </p:nvPicPr>
        <p:blipFill>
          <a:blip r:embed="rId3"/>
          <a:stretch>
            <a:fillRect/>
          </a:stretch>
        </p:blipFill>
        <p:spPr>
          <a:xfrm>
            <a:off x="6583680" y="1611183"/>
            <a:ext cx="5120640" cy="3361313"/>
          </a:xfrm>
          <a:prstGeom prst="rect">
            <a:avLst/>
          </a:prstGeom>
        </p:spPr>
      </p:pic>
      <p:sp>
        <p:nvSpPr>
          <p:cNvPr id="11" name="TextBox 10"/>
          <p:cNvSpPr txBox="1"/>
          <p:nvPr/>
        </p:nvSpPr>
        <p:spPr>
          <a:xfrm>
            <a:off x="6583680" y="5138927"/>
            <a:ext cx="51206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 3D</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GEOGEBRA 3D – HAI VECTƠ BẰNG NHAU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17</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Mở hình hộp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trong GeoGebra 3D.</a:t>
                </a:r>
              </a:p>
              <a:p>
                <a:pPr algn="l" marL="365760" indent="-365760">
                  <a:spcAft>
                    <a:spcPts val="800"/>
                  </a:spcAft>
                  <a:buClr>
                    <a:srgbClr val="1E40AF"/>
                  </a:buClr>
                  <a:buFont typeface="Arial"/>
                  <a:buChar char="•"/>
                </a:pPr>
                <a:r>
                  <a:rPr sz="2200">
                    <a:solidFill>
                      <a:srgbClr val="1E293B"/>
                    </a:solidFill>
                    <a:latin typeface="Calibri"/>
                  </a:rPr>
                  <a:t>Kéo điểm </a:t>
                </a:r>
                <a14:m>
                  <m:oMath xmlns:m="http://schemas.openxmlformats.org/officeDocument/2006/math">
                    <m:r>
                      <a:rPr lang="vi-VN" sz="2200" b="0">
                        <a:solidFill>
                          <a:srgbClr val="1E293B"/>
                        </a:solidFill>
                        <a:latin typeface="Cambria Math" panose="02040503050406030204" pitchFamily="18" charset="0"/>
                      </a:rPr>
                      <m:t>P</m:t>
                    </m:r>
                  </m:oMath>
                </a14:m>
                <a:r>
                  <a:rPr sz="2200">
                    <a:solidFill>
                      <a:srgbClr val="1E293B"/>
                    </a:solidFill>
                    <a:latin typeface="Calibri"/>
                  </a:rPr>
                  <a:t> để thay đổi hình hộp, xoay hình bằng chuột.</a:t>
                </a:r>
              </a:p>
              <a:p>
                <a:pPr algn="l" marL="365760" indent="-365760">
                  <a:spcAft>
                    <a:spcPts val="800"/>
                  </a:spcAft>
                  <a:buClr>
                    <a:srgbClr val="1E40AF"/>
                  </a:buClr>
                  <a:buFont typeface="Arial"/>
                  <a:buChar char="•"/>
                </a:pPr>
                <a:r>
                  <a:rPr sz="2200">
                    <a:solidFill>
                      <a:srgbClr val="1E293B"/>
                    </a:solidFill>
                    <a:latin typeface="Calibri"/>
                  </a:rPr>
                  <a:t>Quan sát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và </a:t>
                </a:r>
                <a14:m>
                  <m:oMath xmlns:m="http://schemas.openxmlformats.org/officeDocument/2006/math">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luôn cùng hướng và </a:t>
                </a:r>
                <a14:m>
                  <m:oMath xmlns:m="http://schemas.openxmlformats.org/officeDocument/2006/math">
                    <m:d>
                      <m:dPr>
                        <m:begChr m:val="|"/>
                        <m:sepChr m:val=""/>
                        <m:endChr m:val="|"/>
                      </m:dPr>
                      <m:e>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e>
                    </m:d>
                  </m:oMath>
                </a14:m>
                <a:r>
                  <a:rPr sz="2200">
                    <a:solidFill>
                      <a:srgbClr val="1E293B"/>
                    </a:solidFill>
                    <a:latin typeface="Calibri"/>
                  </a:rPr>
                  <a:t>.</a:t>
                </a:r>
              </a:p>
              <a:p>
                <a:pPr algn="l" marL="365760" indent="-365760">
                  <a:spcAft>
                    <a:spcPts val="800"/>
                  </a:spcAft>
                  <a:buClr>
                    <a:srgbClr val="1E40AF"/>
                  </a:buClr>
                  <a:buFont typeface="Arial"/>
                  <a:buChar char="•"/>
                </a:pPr>
                <a:r>
                  <a:rPr sz="2200" b="1">
                    <a:solidFill>
                      <a:srgbClr val="1E293B"/>
                    </a:solidFill>
                    <a:latin typeface="Calibri"/>
                  </a:rPr>
                  <a:t>Kết luận:</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với mọi hình hộp.</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Mở hình hộp </a:t>
                </a:r>
                <a:r>
                  <a:rPr lang="vi-VN"/>
                  <a:t>ABCD.A'B'C'D'</a:t>
                </a:r>
                <a:r>
                  <a:rPr sz="2200">
                    <a:solidFill>
                      <a:srgbClr val="1E293B"/>
                    </a:solidFill>
                    <a:latin typeface="Calibri"/>
                  </a:rPr>
                  <a:t> trong GeoGebra 3D.</a:t>
                </a:r>
              </a:p>
              <a:p>
                <a:pPr algn="l" marL="365760" indent="-365760">
                  <a:spcAft>
                    <a:spcPts val="800"/>
                  </a:spcAft>
                  <a:buClr>
                    <a:srgbClr val="1E40AF"/>
                  </a:buClr>
                  <a:buFont typeface="Arial"/>
                  <a:buChar char="•"/>
                </a:pPr>
                <a:r>
                  <a:rPr sz="2200">
                    <a:solidFill>
                      <a:srgbClr val="1E293B"/>
                    </a:solidFill>
                    <a:latin typeface="Calibri"/>
                  </a:rPr>
                  <a:t>Kéo điểm </a:t>
                </a:r>
                <a:r>
                  <a:rPr lang="vi-VN"/>
                  <a:t>P</a:t>
                </a:r>
                <a:r>
                  <a:rPr sz="2200">
                    <a:solidFill>
                      <a:srgbClr val="1E293B"/>
                    </a:solidFill>
                    <a:latin typeface="Calibri"/>
                  </a:rPr>
                  <a:t> để thay đổi hình hộp, xoay hình bằng chuột.</a:t>
                </a:r>
              </a:p>
              <a:p>
                <a:pPr algn="l" marL="365760" indent="-365760">
                  <a:spcAft>
                    <a:spcPts val="800"/>
                  </a:spcAft>
                  <a:buClr>
                    <a:srgbClr val="1E40AF"/>
                  </a:buClr>
                  <a:buFont typeface="Arial"/>
                  <a:buChar char="•"/>
                </a:pPr>
                <a:r>
                  <a:rPr sz="2200">
                    <a:solidFill>
                      <a:srgbClr val="1E293B"/>
                    </a:solidFill>
                    <a:latin typeface="Calibri"/>
                  </a:rPr>
                  <a:t>Quan sát </a:t>
                </a:r>
                <a:r>
                  <a:rPr lang="vi-VN"/>
                  <a:t>\overrightarrow{AB}</a:t>
                </a:r>
                <a:r>
                  <a:rPr sz="2200">
                    <a:solidFill>
                      <a:srgbClr val="1E293B"/>
                    </a:solidFill>
                    <a:latin typeface="Calibri"/>
                  </a:rPr>
                  <a:t> và </a:t>
                </a:r>
                <a:r>
                  <a:rPr lang="vi-VN"/>
                  <a:t>\overrightarrow{D'C'}</a:t>
                </a:r>
                <a:r>
                  <a:rPr sz="2200">
                    <a:solidFill>
                      <a:srgbClr val="1E293B"/>
                    </a:solidFill>
                    <a:latin typeface="Calibri"/>
                  </a:rPr>
                  <a:t>: luôn cùng hướng và </a:t>
                </a:r>
                <a:r>
                  <a:rPr lang="vi-VN"/>
                  <a:t>|\overrightarrow{AB}|=|\overrightarrow{D'C'}|</a:t>
                </a:r>
                <a:r>
                  <a:rPr sz="2200">
                    <a:solidFill>
                      <a:srgbClr val="1E293B"/>
                    </a:solidFill>
                    <a:latin typeface="Calibri"/>
                  </a:rPr>
                  <a:t>.</a:t>
                </a:r>
              </a:p>
              <a:p>
                <a:pPr algn="l" marL="365760" indent="-365760">
                  <a:spcAft>
                    <a:spcPts val="800"/>
                  </a:spcAft>
                  <a:buClr>
                    <a:srgbClr val="1E40AF"/>
                  </a:buClr>
                  <a:buFont typeface="Arial"/>
                  <a:buChar char="•"/>
                </a:pPr>
                <a:r>
                  <a:rPr sz="2200" b="1">
                    <a:solidFill>
                      <a:srgbClr val="1E293B"/>
                    </a:solidFill>
                    <a:latin typeface="Calibri"/>
                  </a:rPr>
                  <a:t>Kết luận:</a:t>
                </a:r>
                <a:r>
                  <a:rPr sz="2200">
                    <a:solidFill>
                      <a:srgbClr val="1E293B"/>
                    </a:solidFill>
                    <a:latin typeface="Calibri"/>
                  </a:rPr>
                  <a:t> </a:t>
                </a:r>
                <a:r>
                  <a:rPr lang="vi-VN"/>
                  <a:t>\overrightarrow{AB}=\overrightarrow{D'C'}</a:t>
                </a:r>
                <a:r>
                  <a:rPr sz="2200">
                    <a:solidFill>
                      <a:srgbClr val="1E293B"/>
                    </a:solidFill>
                    <a:latin typeface="Calibri"/>
                  </a:rPr>
                  <a:t> với mọi hình hộp.</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 3D</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để xoay hình, chụm/cuộn để phóng to.</a:t>
            </a:r>
          </a:p>
        </p:txBody>
      </p:sp>
      <p:pic>
        <p:nvPicPr>
          <p:cNvPr id="11" name="Picture 10" descr="h27.png"/>
          <p:cNvPicPr>
            <a:picLocks noChangeAspect="1"/>
          </p:cNvPicPr>
          <p:nvPr/>
        </p:nvPicPr>
        <p:blipFill>
          <a:blip r:embed="rId5"/>
          <a:stretch>
            <a:fillRect/>
          </a:stretch>
        </p:blipFill>
        <p:spPr>
          <a:xfrm>
            <a:off x="6858000" y="2046333"/>
            <a:ext cx="4846320" cy="331397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18</a:t>
            </a:r>
          </a:p>
        </p:txBody>
      </p:sp>
      <p:sp>
        <p:nvSpPr>
          <p:cNvPr id="7" name="TextBox 6"/>
          <p:cNvSpPr txBox="1"/>
          <p:nvPr/>
        </p:nvSpPr>
        <p:spPr>
          <a:xfrm>
            <a:off x="548640" y="1463040"/>
            <a:ext cx="8229600" cy="8229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a:t>
            </a:r>
            <a:r>
              <a:rPr sz="2200">
                <a:solidFill>
                  <a:srgbClr val="1E293B"/>
                </a:solidFill>
                <a:latin typeface="Calibri"/>
              </a:rPr>
              <a:t> Hai vectơ cùng phương thì cùng hướng.</a:t>
            </a:r>
          </a:p>
        </p:txBody>
      </p:sp>
      <p:sp>
        <p:nvSpPr>
          <p:cNvPr id="8" name="s1_nen"/>
          <p:cNvSpPr/>
          <p:nvPr/>
        </p:nvSpPr>
        <p:spPr>
          <a:xfrm>
            <a:off x="8961120" y="1463040"/>
            <a:ext cx="2743200"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8961120" y="1536192"/>
            <a:ext cx="2743200" cy="548640"/>
          </a:xfrm>
          <a:prstGeom prst="rect">
            <a:avLst/>
          </a:prstGeom>
          <a:noFill/>
        </p:spPr>
        <p:txBody>
          <a:bodyPr wrap="square" anchor="t" lIns="45720" rIns="45720">
            <a:spAutoFit/>
          </a:bodyPr>
          <a:lstStyle/>
          <a:p>
            <a:pPr algn="ctr">
              <a:spcAft>
                <a:spcPts val="800"/>
              </a:spcAft>
            </a:pPr>
            <a:r>
              <a:rPr sz="1800" b="1">
                <a:solidFill>
                  <a:srgbClr val="FFFFFF"/>
                </a:solidFill>
                <a:latin typeface="Calibri"/>
              </a:rPr>
              <a:t>SAI</a:t>
            </a:r>
            <a:r>
              <a:rPr sz="1800">
                <a:solidFill>
                  <a:srgbClr val="FFFFFF"/>
                </a:solidFill>
                <a:latin typeface="Calibri"/>
              </a:rPr>
              <a:t> (có thể ngược hướng)</a:t>
            </a:r>
          </a:p>
        </p:txBody>
      </p:sp>
      <p:sp>
        <p:nvSpPr>
          <p:cNvPr id="10" name="TextBox 9"/>
          <p:cNvSpPr txBox="1"/>
          <p:nvPr/>
        </p:nvSpPr>
        <p:spPr>
          <a:xfrm>
            <a:off x="548640" y="2377440"/>
            <a:ext cx="8229600" cy="8229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2.</a:t>
            </a:r>
            <a:r>
              <a:rPr sz="2200">
                <a:solidFill>
                  <a:srgbClr val="1E293B"/>
                </a:solidFill>
                <a:latin typeface="Calibri"/>
              </a:rPr>
              <a:t> Hai vectơ cùng hướng thì cùng phương.</a:t>
            </a:r>
          </a:p>
        </p:txBody>
      </p:sp>
      <p:sp>
        <p:nvSpPr>
          <p:cNvPr id="11" name="s2_nen"/>
          <p:cNvSpPr/>
          <p:nvPr/>
        </p:nvSpPr>
        <p:spPr>
          <a:xfrm>
            <a:off x="8961120" y="2377440"/>
            <a:ext cx="2743200"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2_chu"/>
          <p:cNvSpPr txBox="1"/>
          <p:nvPr/>
        </p:nvSpPr>
        <p:spPr>
          <a:xfrm>
            <a:off x="8961120" y="2450592"/>
            <a:ext cx="2743200" cy="548640"/>
          </a:xfrm>
          <a:prstGeom prst="rect">
            <a:avLst/>
          </a:prstGeom>
          <a:noFill/>
        </p:spPr>
        <p:txBody>
          <a:bodyPr wrap="square" anchor="t" lIns="45720" rIns="45720">
            <a:spAutoFit/>
          </a:bodyPr>
          <a:lstStyle/>
          <a:p>
            <a:pPr algn="ctr">
              <a:spcAft>
                <a:spcPts val="800"/>
              </a:spcAft>
            </a:pPr>
            <a:r>
              <a:rPr sz="1800" b="1">
                <a:solidFill>
                  <a:srgbClr val="FFFFFF"/>
                </a:solidFill>
                <a:latin typeface="Calibri"/>
              </a:rPr>
              <a:t>ĐÚNG</a:t>
            </a:r>
          </a:p>
        </p:txBody>
      </p:sp>
      <mc:AlternateContent xmlns:mc="http://schemas.openxmlformats.org/markup-compatibility/2006">
        <mc:Choice xmlns:a14="http://schemas.microsoft.com/office/drawing/2010/main" Requires="a14">
          <p:sp>
            <p:nvSpPr>
              <p:cNvPr id="13" name="TextBox 12"/>
              <p:cNvSpPr txBox="1"/>
              <p:nvPr/>
            </p:nvSpPr>
            <p:spPr>
              <a:xfrm>
                <a:off x="548640" y="3291840"/>
                <a:ext cx="8229600" cy="8229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3.</a:t>
                </a:r>
                <a:r>
                  <a:rPr sz="2200">
                    <a:solidFill>
                      <a:srgbClr val="1E293B"/>
                    </a:solidFill>
                    <a:latin typeface="Calibri"/>
                  </a:rPr>
                  <a:t> Trong hình hộp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13" name="TextBox 12"/>
              <p:cNvSpPr txBox="1"/>
              <p:nvPr/>
            </p:nvSpPr>
            <p:spPr>
              <a:xfrm>
                <a:off x="548640" y="3291840"/>
                <a:ext cx="8229600" cy="8229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3.</a:t>
                </a:r>
                <a:r>
                  <a:rPr sz="2200">
                    <a:solidFill>
                      <a:srgbClr val="1E293B"/>
                    </a:solidFill>
                    <a:latin typeface="Calibri"/>
                  </a:rPr>
                  <a:t> Trong hình hộp </a:t>
                </a:r>
                <a:r>
                  <a:rPr lang="vi-VN"/>
                  <a:t>ABCD.A'B'C'D'</a:t>
                </a:r>
                <a:r>
                  <a:rPr sz="2200">
                    <a:solidFill>
                      <a:srgbClr val="1E293B"/>
                    </a:solidFill>
                    <a:latin typeface="Calibri"/>
                  </a:rPr>
                  <a:t>: </a:t>
                </a:r>
                <a:r>
                  <a:rPr lang="vi-VN"/>
                  <a:t>\overrightarrow{AB}=\overrightarrow{D'C'}</a:t>
                </a:r>
                <a:r>
                  <a:rPr sz="2200">
                    <a:solidFill>
                      <a:srgbClr val="1E293B"/>
                    </a:solidFill>
                    <a:latin typeface="Calibri"/>
                  </a:rPr>
                  <a:t>.</a:t>
                </a:r>
              </a:p>
            </p:txBody>
          </p:sp>
        </mc:Fallback>
      </mc:AlternateContent>
      <p:sp>
        <p:nvSpPr>
          <p:cNvPr id="14" name="s3_nen"/>
          <p:cNvSpPr/>
          <p:nvPr/>
        </p:nvSpPr>
        <p:spPr>
          <a:xfrm>
            <a:off x="8961120" y="3291840"/>
            <a:ext cx="2743200"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3_chu"/>
          <p:cNvSpPr txBox="1"/>
          <p:nvPr/>
        </p:nvSpPr>
        <p:spPr>
          <a:xfrm>
            <a:off x="8961120" y="3364992"/>
            <a:ext cx="2743200" cy="548640"/>
          </a:xfrm>
          <a:prstGeom prst="rect">
            <a:avLst/>
          </a:prstGeom>
          <a:noFill/>
        </p:spPr>
        <p:txBody>
          <a:bodyPr wrap="square" anchor="t" lIns="45720" rIns="45720">
            <a:spAutoFit/>
          </a:bodyPr>
          <a:lstStyle/>
          <a:p>
            <a:pPr algn="ctr">
              <a:spcAft>
                <a:spcPts val="800"/>
              </a:spcAft>
            </a:pPr>
            <a:r>
              <a:rPr sz="1800" b="1">
                <a:solidFill>
                  <a:srgbClr val="FFFFFF"/>
                </a:solidFill>
                <a:latin typeface="Calibri"/>
              </a:rPr>
              <a:t>ĐÚNG</a:t>
            </a:r>
          </a:p>
        </p:txBody>
      </p:sp>
      <p:sp>
        <p:nvSpPr>
          <p:cNvPr id="16" name="TextBox 15"/>
          <p:cNvSpPr txBox="1"/>
          <p:nvPr/>
        </p:nvSpPr>
        <p:spPr>
          <a:xfrm>
            <a:off x="548640" y="4206240"/>
            <a:ext cx="8229600" cy="8229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4.</a:t>
            </a:r>
            <a:r>
              <a:rPr sz="2200">
                <a:solidFill>
                  <a:srgbClr val="1E293B"/>
                </a:solidFill>
                <a:latin typeface="Calibri"/>
              </a:rPr>
              <a:t> Vectơ-không cùng hướng với mọi vectơ.</a:t>
            </a:r>
          </a:p>
        </p:txBody>
      </p:sp>
      <p:sp>
        <p:nvSpPr>
          <p:cNvPr id="17" name="s4_nen"/>
          <p:cNvSpPr/>
          <p:nvPr/>
        </p:nvSpPr>
        <p:spPr>
          <a:xfrm>
            <a:off x="8961120" y="4206240"/>
            <a:ext cx="2743200"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4_chu"/>
          <p:cNvSpPr txBox="1"/>
          <p:nvPr/>
        </p:nvSpPr>
        <p:spPr>
          <a:xfrm>
            <a:off x="8961120" y="4279392"/>
            <a:ext cx="2743200" cy="548640"/>
          </a:xfrm>
          <a:prstGeom prst="rect">
            <a:avLst/>
          </a:prstGeom>
          <a:noFill/>
        </p:spPr>
        <p:txBody>
          <a:bodyPr wrap="square" anchor="t" lIns="45720" rIns="45720">
            <a:spAutoFit/>
          </a:bodyPr>
          <a:lstStyle/>
          <a:p>
            <a:pPr algn="ctr">
              <a:spcAft>
                <a:spcPts val="800"/>
              </a:spcAft>
            </a:pPr>
            <a:r>
              <a:rPr sz="1800" b="1">
                <a:solidFill>
                  <a:srgbClr val="FFFFFF"/>
                </a:solidFill>
                <a:latin typeface="Calibri"/>
              </a:rPr>
              <a:t>ĐÚNG</a:t>
            </a:r>
            <a:r>
              <a:rPr sz="1800">
                <a:solidFill>
                  <a:srgbClr val="FFFFFF"/>
                </a:solidFill>
                <a:latin typeface="Calibri"/>
              </a:rPr>
              <a:t> (quy ước)</a:t>
            </a:r>
          </a:p>
        </p:txBody>
      </p:sp>
      <p:sp>
        <p:nvSpPr>
          <p:cNvPr id="19" name="TextBox 18"/>
          <p:cNvSpPr txBox="1"/>
          <p:nvPr/>
        </p:nvSpPr>
        <p:spPr>
          <a:xfrm>
            <a:off x="548640" y="5120640"/>
            <a:ext cx="8229600" cy="8229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5.</a:t>
            </a:r>
            <a:r>
              <a:rPr sz="2200">
                <a:solidFill>
                  <a:srgbClr val="1E293B"/>
                </a:solidFill>
                <a:latin typeface="Calibri"/>
              </a:rPr>
              <a:t> Hai vectơ có độ dài bằng nhau thì bằng nhau.</a:t>
            </a:r>
          </a:p>
        </p:txBody>
      </p:sp>
      <p:sp>
        <p:nvSpPr>
          <p:cNvPr id="20" name="s5_nen"/>
          <p:cNvSpPr/>
          <p:nvPr/>
        </p:nvSpPr>
        <p:spPr>
          <a:xfrm>
            <a:off x="8961120" y="5120640"/>
            <a:ext cx="2743200"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5_chu"/>
          <p:cNvSpPr txBox="1"/>
          <p:nvPr/>
        </p:nvSpPr>
        <p:spPr>
          <a:xfrm>
            <a:off x="8961120" y="5193792"/>
            <a:ext cx="2743200" cy="548640"/>
          </a:xfrm>
          <a:prstGeom prst="rect">
            <a:avLst/>
          </a:prstGeom>
          <a:noFill/>
        </p:spPr>
        <p:txBody>
          <a:bodyPr wrap="square" anchor="t" lIns="45720" rIns="45720">
            <a:spAutoFit/>
          </a:bodyPr>
          <a:lstStyle/>
          <a:p>
            <a:pPr algn="ctr">
              <a:spcAft>
                <a:spcPts val="800"/>
              </a:spcAft>
            </a:pPr>
            <a:r>
              <a:rPr sz="1800" b="1">
                <a:solidFill>
                  <a:srgbClr val="FFFFFF"/>
                </a:solidFill>
                <a:latin typeface="Calibri"/>
              </a:rPr>
              <a:t>SAI</a:t>
            </a:r>
            <a:r>
              <a:rPr sz="1800">
                <a:solidFill>
                  <a:srgbClr val="FFFFFF"/>
                </a:solidFill>
                <a:latin typeface="Calibri"/>
              </a:rPr>
              <a:t> (còn phải cùng hướng)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19</a:t>
            </a:r>
          </a:p>
        </p:txBody>
      </p:sp>
      <p:sp>
        <p:nvSpPr>
          <p:cNvPr id="7" name="Rounded Rectangle 6"/>
          <p:cNvSpPr/>
          <p:nvPr/>
        </p:nvSpPr>
        <p:spPr>
          <a:xfrm>
            <a:off x="548640" y="1463040"/>
            <a:ext cx="11064240" cy="17068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63372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Vectơ trong không gian: đoạn thẳng có hướng; độ dài, giá như trong mặt phẳng.</a:t>
                </a:r>
              </a:p>
              <a:p>
                <a:pPr algn="l" marL="365760" indent="-365760">
                  <a:spcAft>
                    <a:spcPts val="800"/>
                  </a:spcAft>
                  <a:buClr>
                    <a:srgbClr val="1E40AF"/>
                  </a:buClr>
                  <a:buFont typeface="Arial"/>
                  <a:buChar char="•"/>
                </a:pPr>
                <a:r>
                  <a:rPr sz="2200">
                    <a:solidFill>
                      <a:srgbClr val="1E293B"/>
                    </a:solidFill>
                    <a:latin typeface="Calibri"/>
                  </a:rPr>
                  <a:t>Cùng phương: giá song song hoặc trùng nhau; bằng nhau: cùng độ dài và cùng hướng; vectơ-không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8" name="TextBox 7"/>
              <p:cNvSpPr txBox="1"/>
              <p:nvPr/>
            </p:nvSpPr>
            <p:spPr>
              <a:xfrm>
                <a:off x="713232" y="1499616"/>
                <a:ext cx="10735056" cy="163372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Vectơ trong không gian: đoạn thẳng có hướng; độ dài, giá như trong mặt phẳng.</a:t>
                </a:r>
              </a:p>
              <a:p>
                <a:pPr algn="l" marL="365760" indent="-365760">
                  <a:spcAft>
                    <a:spcPts val="800"/>
                  </a:spcAft>
                  <a:buClr>
                    <a:srgbClr val="1E40AF"/>
                  </a:buClr>
                  <a:buFont typeface="Arial"/>
                  <a:buChar char="•"/>
                </a:pPr>
                <a:r>
                  <a:rPr sz="2200">
                    <a:solidFill>
                      <a:srgbClr val="1E293B"/>
                    </a:solidFill>
                    <a:latin typeface="Calibri"/>
                  </a:rPr>
                  <a:t>Cùng phương: giá song song hoặc trùng nhau; bằng nhau: cùng độ dài và cùng hướng; vectơ-không </a:t>
                </a:r>
                <a:r>
                  <a:rPr lang="vi-VN"/>
                  <a:t>\vec{0}</a:t>
                </a:r>
                <a:r>
                  <a:rPr sz="2200">
                    <a:solidFill>
                      <a:srgbClr val="1E293B"/>
                    </a:solidFill>
                    <a:latin typeface="Calibri"/>
                  </a:rPr>
                  <a:t>.</a:t>
                </a:r>
              </a:p>
            </p:txBody>
          </p:sp>
        </mc:Fallback>
      </mc:AlternateContent>
      <p:sp>
        <p:nvSpPr>
          <p:cNvPr id="9" name="Rounded Rectangle 8"/>
          <p:cNvSpPr/>
          <p:nvPr/>
        </p:nvSpPr>
        <p:spPr>
          <a:xfrm>
            <a:off x="548640" y="339852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43509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Học khung kiến thức mục 1; làm Bài tập 2.1, 2.2, 2.3 (SGK tr.58).</a:t>
            </a:r>
          </a:p>
          <a:p>
            <a:pPr algn="l" marL="365760" indent="-365760">
              <a:spcAft>
                <a:spcPts val="800"/>
              </a:spcAft>
              <a:buClr>
                <a:srgbClr val="1E40AF"/>
              </a:buClr>
              <a:buFont typeface="Arial"/>
              <a:buChar char="•"/>
            </a:pPr>
            <a:r>
              <a:rPr sz="2200">
                <a:solidFill>
                  <a:srgbClr val="1E293B"/>
                </a:solidFill>
                <a:latin typeface="Calibri"/>
              </a:rPr>
              <a:t>Đọc trước mục 2a – Tổng của hai vectơ trong không gian.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(T29)</a:t>
            </a:r>
          </a:p>
          <a:p>
            <a:pPr>
              <a:spcAft>
                <a:spcPts val="600"/>
              </a:spcAft>
            </a:pPr>
            <a:r>
              <a:rPr sz="4000" b="1">
                <a:solidFill>
                  <a:srgbClr val="FFFFFF"/>
                </a:solidFill>
                <a:latin typeface="Cambria"/>
              </a:rPr>
              <a:t>Tổng của hai vectơ trong không gian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Thực hiện phép cộng vectơ; vận dụng quy tắc ba điểm, quy tắc hình bình hành.</a:t>
            </a:r>
          </a:p>
          <a:p>
            <a:pPr algn="l">
              <a:spcAft>
                <a:spcPts val="800"/>
              </a:spcAft>
            </a:pPr>
            <a:r>
              <a:rPr sz="2200">
                <a:solidFill>
                  <a:srgbClr val="E0E7FF"/>
                </a:solidFill>
                <a:latin typeface="Calibri"/>
              </a:rPr>
              <a:t>• Nhận biết và vận dụng quy tắc hình hộp.</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NHỚ LẠI LỚP 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21</a:t>
            </a:r>
          </a:p>
        </p:txBody>
      </p:sp>
      <p:sp>
        <p:nvSpPr>
          <p:cNvPr id="7" name="TextBox 6"/>
          <p:cNvSpPr txBox="1"/>
          <p:nvPr/>
        </p:nvSpPr>
        <p:spPr>
          <a:xfrm>
            <a:off x="548640" y="1371600"/>
            <a:ext cx="10972800" cy="548640"/>
          </a:xfrm>
          <a:prstGeom prst="rect">
            <a:avLst/>
          </a:prstGeom>
          <a:noFill/>
        </p:spPr>
        <p:txBody>
          <a:bodyPr wrap="square" anchor="t" lIns="45720" rIns="45720">
            <a:spAutoFit/>
          </a:bodyPr>
          <a:lstStyle/>
          <a:p>
            <a:pPr algn="l">
              <a:spcAft>
                <a:spcPts val="800"/>
              </a:spcAft>
            </a:pPr>
            <a:r>
              <a:rPr sz="2200">
                <a:solidFill>
                  <a:srgbClr val="1E293B"/>
                </a:solidFill>
                <a:latin typeface="Calibri"/>
              </a:rPr>
              <a:t>Điền vào chỗ trống (vectơ trong mặt phẳng):</a:t>
            </a:r>
          </a:p>
        </p:txBody>
      </p:sp>
      <mc:AlternateContent xmlns:mc="http://schemas.openxmlformats.org/markup-compatibility/2006">
        <mc:Choice xmlns:a14="http://schemas.microsoft.com/office/drawing/2010/main" Requires="a14">
          <p:sp>
            <p:nvSpPr>
              <p:cNvPr id="8" name="TextBox 7"/>
              <p:cNvSpPr txBox="1"/>
              <p:nvPr/>
            </p:nvSpPr>
            <p:spPr>
              <a:xfrm>
                <a:off x="548640" y="2103120"/>
                <a:ext cx="7315200" cy="914400"/>
              </a:xfrm>
              <a:prstGeom prst="rect">
                <a:avLst/>
              </a:prstGeom>
              <a:noFill/>
            </p:spPr>
            <p:txBody>
              <a:bodyPr wrap="square" anchor="t" lIns="45720" rIns="45720">
                <a:spAutoFit/>
              </a:bodyPr>
              <a:lstStyle/>
              <a:p>
                <a:pPr algn="l">
                  <a:spcAft>
                    <a:spcPts val="800"/>
                  </a:spcAft>
                </a:pPr>
                <a:r>
                  <a:rPr sz="2400">
                    <a:solidFill>
                      <a:srgbClr val="1E293B"/>
                    </a:solidFill>
                    <a:latin typeface="Calibri"/>
                  </a:rPr>
                  <a:t>Quy tắc ba điểm: </a:t>
                </a:r>
                <a14:m>
                  <m:oMath xmlns:m="http://schemas.openxmlformats.org/officeDocument/2006/math">
                    <m:acc>
                      <m:accPr>
                        <m:chr m:val="⃗"/>
                      </m:accPr>
                      <m:e>
                        <m:r>
                          <a:rPr lang="vi-VN" sz="2400" b="0">
                            <a:solidFill>
                              <a:srgbClr val="1E293B"/>
                            </a:solidFill>
                            <a:latin typeface="Cambria Math" panose="02040503050406030204" pitchFamily="18" charset="0"/>
                          </a:rPr>
                          <m:t>AB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BC</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8" name="TextBox 7"/>
              <p:cNvSpPr txBox="1"/>
              <p:nvPr/>
            </p:nvSpPr>
            <p:spPr>
              <a:xfrm>
                <a:off x="548640" y="2103120"/>
                <a:ext cx="7315200" cy="914400"/>
              </a:xfrm>
              <a:prstGeom prst="rect">
                <a:avLst/>
              </a:prstGeom>
              <a:noFill/>
            </p:spPr>
            <p:txBody>
              <a:bodyPr wrap="square" anchor="t" lIns="45720" rIns="45720">
                <a:spAutoFit/>
              </a:bodyPr>
              <a:lstStyle/>
              <a:p>
                <a:pPr algn="l">
                  <a:spcAft>
                    <a:spcPts val="800"/>
                  </a:spcAft>
                </a:pPr>
                <a:r>
                  <a:rPr sz="2400">
                    <a:solidFill>
                      <a:srgbClr val="1E293B"/>
                    </a:solidFill>
                    <a:latin typeface="Calibri"/>
                  </a:rPr>
                  <a:t>Quy tắc ba điểm: </a:t>
                </a:r>
                <a:r>
                  <a:rPr lang="vi-VN"/>
                  <a:t>\overrightarrow{AB}+\overrightarrow{BC}=\ ?</a:t>
                </a:r>
              </a:p>
            </p:txBody>
          </p:sp>
        </mc:Fallback>
      </mc:AlternateContent>
      <p:sp>
        <p:nvSpPr>
          <p:cNvPr id="9" name="s1_nen"/>
          <p:cNvSpPr/>
          <p:nvPr/>
        </p:nvSpPr>
        <p:spPr>
          <a:xfrm>
            <a:off x="8138160" y="2057400"/>
            <a:ext cx="347472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s1_chu"/>
              <p:cNvSpPr txBox="1"/>
              <p:nvPr/>
            </p:nvSpPr>
            <p:spPr>
              <a:xfrm>
                <a:off x="8302752" y="2093976"/>
                <a:ext cx="314553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AC</m:t>
                        </m:r>
                      </m:e>
                    </m:acc>
                  </m:oMath>
                </a14:m>
              </a:p>
            </p:txBody>
          </p:sp>
        </mc:Choice>
        <mc:Fallback>
          <p:sp>
            <p:nvSpPr>
              <p:cNvPr id="10" name="TextBox 9"/>
              <p:cNvSpPr txBox="1"/>
              <p:nvPr/>
            </p:nvSpPr>
            <p:spPr>
              <a:xfrm>
                <a:off x="8302752" y="2093976"/>
                <a:ext cx="314553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\overrightarrow{AC}</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548640" y="3291839"/>
                <a:ext cx="7315200" cy="914400"/>
              </a:xfrm>
              <a:prstGeom prst="rect">
                <a:avLst/>
              </a:prstGeom>
              <a:noFill/>
            </p:spPr>
            <p:txBody>
              <a:bodyPr wrap="square" anchor="t" lIns="45720" rIns="45720">
                <a:spAutoFit/>
              </a:bodyPr>
              <a:lstStyle/>
              <a:p>
                <a:pPr algn="l">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ABCD</m:t>
                    </m:r>
                  </m:oMath>
                </a14:m>
                <a:r>
                  <a:rPr sz="2400">
                    <a:solidFill>
                      <a:srgbClr val="1E293B"/>
                    </a:solidFill>
                    <a:latin typeface="Calibri"/>
                  </a:rPr>
                  <a:t> là hình bình hành: </a:t>
                </a:r>
                <a14:m>
                  <m:oMath xmlns:m="http://schemas.openxmlformats.org/officeDocument/2006/math">
                    <m:acc>
                      <m:accPr>
                        <m:chr m:val="⃗"/>
                      </m:accPr>
                      <m:e>
                        <m:r>
                          <a:rPr lang="vi-VN" sz="2400" b="0">
                            <a:solidFill>
                              <a:srgbClr val="1E293B"/>
                            </a:solidFill>
                            <a:latin typeface="Cambria Math" panose="02040503050406030204" pitchFamily="18" charset="0"/>
                          </a:rPr>
                          <m:t>AB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AD</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11" name="TextBox 10"/>
              <p:cNvSpPr txBox="1"/>
              <p:nvPr/>
            </p:nvSpPr>
            <p:spPr>
              <a:xfrm>
                <a:off x="548640" y="3291839"/>
                <a:ext cx="7315200" cy="914400"/>
              </a:xfrm>
              <a:prstGeom prst="rect">
                <a:avLst/>
              </a:prstGeom>
              <a:noFill/>
            </p:spPr>
            <p:txBody>
              <a:bodyPr wrap="square" anchor="t" lIns="45720" rIns="45720">
                <a:spAutoFit/>
              </a:bodyPr>
              <a:lstStyle/>
              <a:p>
                <a:pPr algn="l">
                  <a:spcAft>
                    <a:spcPts val="800"/>
                  </a:spcAft>
                </a:pPr>
                <a:r>
                  <a:rPr sz="2400">
                    <a:solidFill>
                      <a:srgbClr val="1E293B"/>
                    </a:solidFill>
                    <a:latin typeface="Calibri"/>
                  </a:rPr>
                  <a:t> </a:t>
                </a:r>
                <a:r>
                  <a:rPr lang="vi-VN"/>
                  <a:t>ABCD</a:t>
                </a:r>
                <a:r>
                  <a:rPr sz="2400">
                    <a:solidFill>
                      <a:srgbClr val="1E293B"/>
                    </a:solidFill>
                    <a:latin typeface="Calibri"/>
                  </a:rPr>
                  <a:t> là hình bình hành: </a:t>
                </a:r>
                <a:r>
                  <a:rPr lang="vi-VN"/>
                  <a:t>\overrightarrow{AB}+\overrightarrow{AD}=\ ?</a:t>
                </a:r>
              </a:p>
            </p:txBody>
          </p:sp>
        </mc:Fallback>
      </mc:AlternateContent>
      <p:sp>
        <p:nvSpPr>
          <p:cNvPr id="12" name="s2_nen"/>
          <p:cNvSpPr/>
          <p:nvPr/>
        </p:nvSpPr>
        <p:spPr>
          <a:xfrm>
            <a:off x="8138160" y="3246120"/>
            <a:ext cx="347472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2_chu"/>
              <p:cNvSpPr txBox="1"/>
              <p:nvPr/>
            </p:nvSpPr>
            <p:spPr>
              <a:xfrm>
                <a:off x="8302752" y="3282696"/>
                <a:ext cx="314553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AC</m:t>
                        </m:r>
                      </m:e>
                    </m:acc>
                  </m:oMath>
                </a14:m>
              </a:p>
            </p:txBody>
          </p:sp>
        </mc:Choice>
        <mc:Fallback>
          <p:sp>
            <p:nvSpPr>
              <p:cNvPr id="13" name="TextBox 12"/>
              <p:cNvSpPr txBox="1"/>
              <p:nvPr/>
            </p:nvSpPr>
            <p:spPr>
              <a:xfrm>
                <a:off x="8302752" y="3282696"/>
                <a:ext cx="314553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\overrightarrow{AC}</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548640" y="4480560"/>
                <a:ext cx="7315200" cy="914400"/>
              </a:xfrm>
              <a:prstGeom prst="rect">
                <a:avLst/>
              </a:prstGeom>
              <a:noFill/>
            </p:spPr>
            <p:txBody>
              <a:bodyPr wrap="square" anchor="t" lIns="45720" rIns="45720">
                <a:spAutoFit/>
              </a:bodyPr>
              <a:lstStyle/>
              <a:p>
                <a:pPr algn="l">
                  <a:spcAft>
                    <a:spcPts val="800"/>
                  </a:spcAft>
                </a:pPr>
                <a:r>
                  <a:rPr sz="2400">
                    <a:solidFill>
                      <a:srgbClr val="1E293B"/>
                    </a:solidFill>
                    <a:latin typeface="Calibri"/>
                  </a:rPr>
                  <a:t>Với ba điểm </a:t>
                </a:r>
                <a14:m>
                  <m:oMath xmlns:m="http://schemas.openxmlformats.org/officeDocument/2006/math">
                    <m:r>
                      <a:rPr lang="vi-VN" sz="2400" b="0">
                        <a:solidFill>
                          <a:srgbClr val="1E293B"/>
                        </a:solidFill>
                        <a:latin typeface="Cambria Math" panose="02040503050406030204" pitchFamily="18" charset="0"/>
                      </a:rPr>
                      <m:t>O,</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B</m:t>
                    </m:r>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OB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OA</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14" name="TextBox 13"/>
              <p:cNvSpPr txBox="1"/>
              <p:nvPr/>
            </p:nvSpPr>
            <p:spPr>
              <a:xfrm>
                <a:off x="548640" y="4480560"/>
                <a:ext cx="7315200" cy="914400"/>
              </a:xfrm>
              <a:prstGeom prst="rect">
                <a:avLst/>
              </a:prstGeom>
              <a:noFill/>
            </p:spPr>
            <p:txBody>
              <a:bodyPr wrap="square" anchor="t" lIns="45720" rIns="45720">
                <a:spAutoFit/>
              </a:bodyPr>
              <a:lstStyle/>
              <a:p>
                <a:pPr algn="l">
                  <a:spcAft>
                    <a:spcPts val="800"/>
                  </a:spcAft>
                </a:pPr>
                <a:r>
                  <a:rPr sz="2400">
                    <a:solidFill>
                      <a:srgbClr val="1E293B"/>
                    </a:solidFill>
                    <a:latin typeface="Calibri"/>
                  </a:rPr>
                  <a:t>Với ba điểm </a:t>
                </a:r>
                <a:r>
                  <a:rPr lang="vi-VN"/>
                  <a:t>O,\ A,\ B</a:t>
                </a:r>
                <a:r>
                  <a:rPr sz="2400">
                    <a:solidFill>
                      <a:srgbClr val="1E293B"/>
                    </a:solidFill>
                    <a:latin typeface="Calibri"/>
                  </a:rPr>
                  <a:t>: </a:t>
                </a:r>
                <a:r>
                  <a:rPr lang="vi-VN"/>
                  <a:t>\overrightarrow{OB}-\overrightarrow{OA}=\ ?</a:t>
                </a:r>
              </a:p>
            </p:txBody>
          </p:sp>
        </mc:Fallback>
      </mc:AlternateContent>
      <p:sp>
        <p:nvSpPr>
          <p:cNvPr id="15" name="s3_nen"/>
          <p:cNvSpPr/>
          <p:nvPr/>
        </p:nvSpPr>
        <p:spPr>
          <a:xfrm>
            <a:off x="8138160" y="4434840"/>
            <a:ext cx="347472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s3_chu"/>
              <p:cNvSpPr txBox="1"/>
              <p:nvPr/>
            </p:nvSpPr>
            <p:spPr>
              <a:xfrm>
                <a:off x="8302752" y="4471416"/>
                <a:ext cx="314553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p>
            </p:txBody>
          </p:sp>
        </mc:Choice>
        <mc:Fallback>
          <p:sp>
            <p:nvSpPr>
              <p:cNvPr id="16" name="TextBox 15"/>
              <p:cNvSpPr txBox="1"/>
              <p:nvPr/>
            </p:nvSpPr>
            <p:spPr>
              <a:xfrm>
                <a:off x="8302752" y="4471416"/>
                <a:ext cx="314553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\overrightarrow{AB}</a:t>
                </a:r>
              </a:p>
            </p:txBody>
          </p:sp>
        </mc:Fallback>
      </mc:AlternateContent>
      <p:sp>
        <p:nvSpPr>
          <p:cNvPr id="17" name="s4_chu"/>
          <p:cNvSpPr txBox="1"/>
          <p:nvPr/>
        </p:nvSpPr>
        <p:spPr>
          <a:xfrm>
            <a:off x="548640" y="5623560"/>
            <a:ext cx="10972800" cy="548640"/>
          </a:xfrm>
          <a:prstGeom prst="rect">
            <a:avLst/>
          </a:prstGeom>
          <a:noFill/>
        </p:spPr>
        <p:txBody>
          <a:bodyPr wrap="square" anchor="t" lIns="45720" rIns="45720">
            <a:spAutoFit/>
          </a:bodyPr>
          <a:lstStyle/>
          <a:p>
            <a:pPr algn="l">
              <a:spcAft>
                <a:spcPts val="800"/>
              </a:spcAft>
            </a:pPr>
            <a:r>
              <a:rPr sz="2200" b="1">
                <a:solidFill>
                  <a:srgbClr val="1E40AF"/>
                </a:solidFill>
                <a:latin typeface="Calibri"/>
              </a:rPr>
              <a:t>Các quy tắc này còn đúng trong không gian không?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2A. TỔNG CỦA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949440" cy="301752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Trong không gian, cho hai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và </a:t>
                </a:r>
                <a14:m>
                  <m:oMath xmlns:m="http://schemas.openxmlformats.org/officeDocument/2006/math">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không cùng phương. Lấy điểm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vẽ các vectơ </a:t>
                </a:r>
                <a14:m>
                  <m:oMath xmlns:m="http://schemas.openxmlformats.org/officeDocument/2006/math">
                    <m:acc>
                      <m:accPr>
                        <m:chr m:val="⃗"/>
                      </m:accPr>
                      <m:e>
                        <m:r>
                          <a:rPr lang="vi-VN" sz="2100" b="0">
                            <a:solidFill>
                              <a:srgbClr val="1E293B"/>
                            </a:solidFill>
                            <a:latin typeface="Cambria Math" panose="02040503050406030204" pitchFamily="18" charset="0"/>
                          </a:rPr>
                          <m:t>AB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Lấy điểm </a:t>
                </a:r>
                <a14:m>
                  <m:oMath xmlns:m="http://schemas.openxmlformats.org/officeDocument/2006/math">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khác </a:t>
                </a:r>
                <a14:m>
                  <m:oMath xmlns:m="http://schemas.openxmlformats.org/officeDocument/2006/math">
                    <m:r>
                      <a:rPr lang="vi-VN" sz="2100" b="0">
                        <a:solidFill>
                          <a:srgbClr val="1E293B"/>
                        </a:solidFill>
                        <a:latin typeface="Cambria Math" panose="02040503050406030204" pitchFamily="18" charset="0"/>
                      </a:rPr>
                      <m:t>A</m:t>
                    </m:r>
                  </m:oMath>
                </a14:m>
                <a:r>
                  <a:rPr sz="2100">
                    <a:solidFill>
                      <a:srgbClr val="1E293B"/>
                    </a:solidFill>
                    <a:latin typeface="Calibri"/>
                  </a:rPr>
                  <a:t> và vẽ các vectơ </a:t>
                </a:r>
                <a14:m>
                  <m:oMath xmlns:m="http://schemas.openxmlformats.org/officeDocument/2006/math">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(H.2.10).</a:t>
                </a:r>
              </a:p>
              <a:p>
                <a:pPr algn="l">
                  <a:spcAft>
                    <a:spcPts val="800"/>
                  </a:spcAft>
                </a:pPr>
                <a:r>
                  <a:rPr sz="2100">
                    <a:solidFill>
                      <a:srgbClr val="1E293B"/>
                    </a:solidFill>
                    <a:latin typeface="Calibri"/>
                  </a:rPr>
                  <a:t>a) Giải thích vì sao </a:t>
                </a:r>
                <a14:m>
                  <m:oMath xmlns:m="http://schemas.openxmlformats.org/officeDocument/2006/math">
                    <m:acc>
                      <m:accPr>
                        <m:chr m:val="⃗"/>
                      </m:accPr>
                      <m:e>
                        <m:r>
                          <a:rPr lang="vi-VN" sz="2100" b="0">
                            <a:solidFill>
                              <a:srgbClr val="1E293B"/>
                            </a:solidFill>
                            <a:latin typeface="Cambria Math" panose="02040503050406030204" pitchFamily="18" charset="0"/>
                          </a:rPr>
                          <m:t>A</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 và </a:t>
                </a:r>
                <a14:m>
                  <m:oMath xmlns:m="http://schemas.openxmlformats.org/officeDocument/2006/math">
                    <m:acc>
                      <m:accPr>
                        <m:chr m:val="⃗"/>
                      </m:accPr>
                      <m:e>
                        <m:r>
                          <a:rPr lang="vi-VN" sz="2100" b="0">
                            <a:solidFill>
                              <a:srgbClr val="1E293B"/>
                            </a:solidFill>
                            <a:latin typeface="Cambria Math" panose="02040503050406030204" pitchFamily="18" charset="0"/>
                          </a:rPr>
                          <m:t>B</m:t>
                        </m:r>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a:t>
                </a:r>
              </a:p>
              <a:p>
                <a:pPr algn="l">
                  <a:spcAft>
                    <a:spcPts val="800"/>
                  </a:spcAft>
                </a:pPr>
                <a:r>
                  <a:rPr sz="2100">
                    <a:solidFill>
                      <a:srgbClr val="1E293B"/>
                    </a:solidFill>
                    <a:latin typeface="Calibri"/>
                  </a:rPr>
                  <a:t>b) Giải thích vì sao </a:t>
                </a:r>
                <a14:m>
                  <m:oMath xmlns:m="http://schemas.openxmlformats.org/officeDocument/2006/math">
                    <m:r>
                      <a:rPr lang="vi-VN" sz="2100" b="0">
                        <a:solidFill>
                          <a:srgbClr val="1E293B"/>
                        </a:solidFill>
                        <a:latin typeface="Cambria Math" panose="02040503050406030204" pitchFamily="18" charset="0"/>
                      </a:rPr>
                      <m:t>A</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C</m:t>
                    </m:r>
                  </m:oMath>
                </a14:m>
                <a:r>
                  <a:rPr sz="2100">
                    <a:solidFill>
                      <a:srgbClr val="1E293B"/>
                    </a:solidFill>
                    <a:latin typeface="Calibri"/>
                  </a:rPr>
                  <a:t> là hình bình hành, từ đó suy ra </a:t>
                </a:r>
                <a14:m>
                  <m:oMath xmlns:m="http://schemas.openxmlformats.org/officeDocument/2006/math">
                    <m:acc>
                      <m:accPr>
                        <m:chr m:val="⃗"/>
                      </m:accPr>
                      <m:e>
                        <m:r>
                          <a:rPr lang="vi-VN" sz="2100" b="0">
                            <a:solidFill>
                              <a:srgbClr val="1E293B"/>
                            </a:solidFill>
                            <a:latin typeface="Cambria Math" panose="02040503050406030204" pitchFamily="18" charset="0"/>
                          </a:rPr>
                          <m:t>AC</m:t>
                        </m:r>
                      </m:e>
                    </m:acc>
                    <m:r>
                      <a:rPr lang="vi-VN" sz="2100" b="0">
                        <a:solidFill>
                          <a:srgbClr val="1E293B"/>
                        </a:solidFill>
                        <a:latin typeface="Cambria Math" panose="02040503050406030204" pitchFamily="18" charset="0"/>
                      </a:rPr>
                      <m:t>=</m:t>
                    </m:r>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a:t>
                </a:r>
              </a:p>
            </p:txBody>
          </p:sp>
        </mc:Choice>
        <mc:Fallback>
          <p:sp>
            <p:nvSpPr>
              <p:cNvPr id="7" name="TextBox 6"/>
              <p:cNvSpPr txBox="1"/>
              <p:nvPr/>
            </p:nvSpPr>
            <p:spPr>
              <a:xfrm>
                <a:off x="548640" y="1371600"/>
                <a:ext cx="6949440" cy="301752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HĐ3.</a:t>
                </a:r>
                <a:r>
                  <a:rPr sz="2100">
                    <a:solidFill>
                      <a:srgbClr val="1E293B"/>
                    </a:solidFill>
                    <a:latin typeface="Calibri"/>
                  </a:rPr>
                  <a:t> Trong không gian, cho hai vectơ </a:t>
                </a:r>
                <a:r>
                  <a:rPr lang="vi-VN"/>
                  <a:t>\vec{a}</a:t>
                </a:r>
                <a:r>
                  <a:rPr sz="2100">
                    <a:solidFill>
                      <a:srgbClr val="1E293B"/>
                    </a:solidFill>
                    <a:latin typeface="Calibri"/>
                  </a:rPr>
                  <a:t> và </a:t>
                </a:r>
                <a:r>
                  <a:rPr lang="vi-VN"/>
                  <a:t>\vec{b}</a:t>
                </a:r>
                <a:r>
                  <a:rPr sz="2100">
                    <a:solidFill>
                      <a:srgbClr val="1E293B"/>
                    </a:solidFill>
                    <a:latin typeface="Calibri"/>
                  </a:rPr>
                  <a:t> không cùng phương. Lấy điểm </a:t>
                </a:r>
                <a:r>
                  <a:rPr lang="vi-VN"/>
                  <a:t>A</a:t>
                </a:r>
                <a:r>
                  <a:rPr sz="2100">
                    <a:solidFill>
                      <a:srgbClr val="1E293B"/>
                    </a:solidFill>
                    <a:latin typeface="Calibri"/>
                  </a:rPr>
                  <a:t> và vẽ các vectơ </a:t>
                </a:r>
                <a:r>
                  <a:rPr lang="vi-VN"/>
                  <a:t>\overrightarrow{AB}=\vec{a},\ \overrightarrow{BC}=\vec{b}</a:t>
                </a:r>
                <a:r>
                  <a:rPr sz="2100">
                    <a:solidFill>
                      <a:srgbClr val="1E293B"/>
                    </a:solidFill>
                    <a:latin typeface="Calibri"/>
                  </a:rPr>
                  <a:t>. Lấy điểm </a:t>
                </a:r>
                <a:r>
                  <a:rPr lang="vi-VN"/>
                  <a:t>A'</a:t>
                </a:r>
                <a:r>
                  <a:rPr sz="2100">
                    <a:solidFill>
                      <a:srgbClr val="1E293B"/>
                    </a:solidFill>
                    <a:latin typeface="Calibri"/>
                  </a:rPr>
                  <a:t> khác </a:t>
                </a:r>
                <a:r>
                  <a:rPr lang="vi-VN"/>
                  <a:t>A</a:t>
                </a:r>
                <a:r>
                  <a:rPr sz="2100">
                    <a:solidFill>
                      <a:srgbClr val="1E293B"/>
                    </a:solidFill>
                    <a:latin typeface="Calibri"/>
                  </a:rPr>
                  <a:t> và vẽ các vectơ </a:t>
                </a:r>
                <a:r>
                  <a:rPr lang="vi-VN"/>
                  <a:t>\overrightarrow{A'B'}=\vec{a},\ \overrightarrow{B'C'}=\vec{b}</a:t>
                </a:r>
                <a:r>
                  <a:rPr sz="2100">
                    <a:solidFill>
                      <a:srgbClr val="1E293B"/>
                    </a:solidFill>
                    <a:latin typeface="Calibri"/>
                  </a:rPr>
                  <a:t> (H.2.10).</a:t>
                </a:r>
              </a:p>
              <a:p>
                <a:pPr algn="l">
                  <a:spcAft>
                    <a:spcPts val="800"/>
                  </a:spcAft>
                </a:pPr>
                <a:r>
                  <a:rPr sz="2100">
                    <a:solidFill>
                      <a:srgbClr val="1E293B"/>
                    </a:solidFill>
                    <a:latin typeface="Calibri"/>
                  </a:rPr>
                  <a:t>a) Giải thích vì sao </a:t>
                </a:r>
                <a:r>
                  <a:rPr lang="vi-VN"/>
                  <a:t>\overrightarrow{AA'}=\overrightarrow{BB'}</a:t>
                </a:r>
                <a:r>
                  <a:rPr sz="2100">
                    <a:solidFill>
                      <a:srgbClr val="1E293B"/>
                    </a:solidFill>
                    <a:latin typeface="Calibri"/>
                  </a:rPr>
                  <a:t> và </a:t>
                </a:r>
                <a:r>
                  <a:rPr lang="vi-VN"/>
                  <a:t>\overrightarrow{BB'}=\overrightarrow{CC'}</a:t>
                </a:r>
                <a:r>
                  <a:rPr sz="2100">
                    <a:solidFill>
                      <a:srgbClr val="1E293B"/>
                    </a:solidFill>
                    <a:latin typeface="Calibri"/>
                  </a:rPr>
                  <a:t>.</a:t>
                </a:r>
              </a:p>
              <a:p>
                <a:pPr algn="l">
                  <a:spcAft>
                    <a:spcPts val="800"/>
                  </a:spcAft>
                </a:pPr>
                <a:r>
                  <a:rPr sz="2100">
                    <a:solidFill>
                      <a:srgbClr val="1E293B"/>
                    </a:solidFill>
                    <a:latin typeface="Calibri"/>
                  </a:rPr>
                  <a:t>b) Giải thích vì sao </a:t>
                </a:r>
                <a:r>
                  <a:rPr lang="vi-VN"/>
                  <a:t>AA'C'C</a:t>
                </a:r>
                <a:r>
                  <a:rPr sz="2100">
                    <a:solidFill>
                      <a:srgbClr val="1E293B"/>
                    </a:solidFill>
                    <a:latin typeface="Calibri"/>
                  </a:rPr>
                  <a:t> là hình bình hành, từ đó suy ra </a:t>
                </a:r>
                <a:r>
                  <a:rPr lang="vi-VN"/>
                  <a:t>\overrightarrow{AC}=\overrightarrow{A'C'}</a:t>
                </a:r>
                <a:r>
                  <a:rPr sz="2100">
                    <a:solidFill>
                      <a:srgbClr val="1E293B"/>
                    </a:solidFill>
                    <a:latin typeface="Calibri"/>
                  </a:rPr>
                  <a:t>.</a:t>
                </a:r>
              </a:p>
            </p:txBody>
          </p:sp>
        </mc:Fallback>
      </mc:AlternateContent>
      <p:sp>
        <p:nvSpPr>
          <p:cNvPr id="8" name="s1_nen"/>
          <p:cNvSpPr/>
          <p:nvPr/>
        </p:nvSpPr>
        <p:spPr>
          <a:xfrm>
            <a:off x="548640" y="4434840"/>
            <a:ext cx="69494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4471416"/>
                <a:ext cx="6620255"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nên </a:t>
                </a:r>
                <a14:m>
                  <m:oMath xmlns:m="http://schemas.openxmlformats.org/officeDocument/2006/math">
                    <m:r>
                      <a:rPr lang="vi-VN" sz="2000" b="0">
                        <a:solidFill>
                          <a:srgbClr val="1E293B"/>
                        </a:solidFill>
                        <a:latin typeface="Cambria Math" panose="02040503050406030204" pitchFamily="18" charset="0"/>
                      </a:rPr>
                      <m:t>AB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là hình bình hành ⇒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tương tự </a:t>
                </a:r>
                <a14:m>
                  <m:oMath xmlns:m="http://schemas.openxmlformats.org/officeDocument/2006/math">
                    <m:acc>
                      <m:accPr>
                        <m:chr m:val="⃗"/>
                      </m:accPr>
                      <m:e>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a:t>
                </a:r>
              </a:p>
            </p:txBody>
          </p:sp>
        </mc:Choice>
        <mc:Fallback>
          <p:sp>
            <p:nvSpPr>
              <p:cNvPr id="9" name="TextBox 8"/>
              <p:cNvSpPr txBox="1"/>
              <p:nvPr/>
            </p:nvSpPr>
            <p:spPr>
              <a:xfrm>
                <a:off x="713232" y="4471416"/>
                <a:ext cx="6620255"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\overrightarrow{AB}=\overrightarrow{A'B'}</a:t>
                </a:r>
                <a:r>
                  <a:rPr sz="2000">
                    <a:solidFill>
                      <a:srgbClr val="1E293B"/>
                    </a:solidFill>
                    <a:latin typeface="Calibri"/>
                  </a:rPr>
                  <a:t> nên </a:t>
                </a:r>
                <a:r>
                  <a:rPr lang="vi-VN"/>
                  <a:t>ABB'A'</a:t>
                </a:r>
                <a:r>
                  <a:rPr sz="2000">
                    <a:solidFill>
                      <a:srgbClr val="1E293B"/>
                    </a:solidFill>
                    <a:latin typeface="Calibri"/>
                  </a:rPr>
                  <a:t> là hình bình hành ⇒ </a:t>
                </a:r>
                <a:r>
                  <a:rPr lang="vi-VN"/>
                  <a:t>\overrightarrow{AA'}=\overrightarrow{BB'}</a:t>
                </a:r>
                <a:r>
                  <a:rPr sz="2000">
                    <a:solidFill>
                      <a:srgbClr val="1E293B"/>
                    </a:solidFill>
                    <a:latin typeface="Calibri"/>
                  </a:rPr>
                  <a:t>; tương tự </a:t>
                </a:r>
                <a:r>
                  <a:rPr lang="vi-VN"/>
                  <a:t>\overrightarrow{BB'}=\overrightarrow{CC'}</a:t>
                </a:r>
                <a:r>
                  <a:rPr sz="2000">
                    <a:solidFill>
                      <a:srgbClr val="1E293B"/>
                    </a:solidFill>
                    <a:latin typeface="Calibri"/>
                  </a:rPr>
                  <a:t>.</a:t>
                </a:r>
              </a:p>
            </p:txBody>
          </p:sp>
        </mc:Fallback>
      </mc:AlternateContent>
      <p:sp>
        <p:nvSpPr>
          <p:cNvPr id="10" name="s2_nen"/>
          <p:cNvSpPr/>
          <p:nvPr/>
        </p:nvSpPr>
        <p:spPr>
          <a:xfrm>
            <a:off x="548640" y="5401056"/>
            <a:ext cx="69494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5437632"/>
                <a:ext cx="6620255"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nên </a:t>
                </a:r>
                <a14:m>
                  <m:oMath xmlns:m="http://schemas.openxmlformats.org/officeDocument/2006/math">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m:t>
                    </m:r>
                  </m:oMath>
                </a14:m>
                <a:r>
                  <a:rPr sz="2000">
                    <a:solidFill>
                      <a:srgbClr val="1E293B"/>
                    </a:solidFill>
                    <a:latin typeface="Calibri"/>
                  </a:rPr>
                  <a:t> là hình bình hành ⇒ </a:t>
                </a:r>
                <a14:m>
                  <m:oMath xmlns:m="http://schemas.openxmlformats.org/officeDocument/2006/math">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a:t>
                </a:r>
              </a:p>
            </p:txBody>
          </p:sp>
        </mc:Choice>
        <mc:Fallback>
          <p:sp>
            <p:nvSpPr>
              <p:cNvPr id="11" name="TextBox 10"/>
              <p:cNvSpPr txBox="1"/>
              <p:nvPr/>
            </p:nvSpPr>
            <p:spPr>
              <a:xfrm>
                <a:off x="713232" y="5437632"/>
                <a:ext cx="6620255"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\overrightarrow{AA'}=\overrightarrow{CC'}</a:t>
                </a:r>
                <a:r>
                  <a:rPr sz="2000">
                    <a:solidFill>
                      <a:srgbClr val="1E293B"/>
                    </a:solidFill>
                    <a:latin typeface="Calibri"/>
                  </a:rPr>
                  <a:t> nên </a:t>
                </a:r>
                <a:r>
                  <a:rPr lang="vi-VN"/>
                  <a:t>AA'C'C</a:t>
                </a:r>
                <a:r>
                  <a:rPr sz="2000">
                    <a:solidFill>
                      <a:srgbClr val="1E293B"/>
                    </a:solidFill>
                    <a:latin typeface="Calibri"/>
                  </a:rPr>
                  <a:t> là hình bình hành ⇒ </a:t>
                </a:r>
                <a:r>
                  <a:rPr lang="vi-VN"/>
                  <a:t>\overrightarrow{AC}=\overrightarrow{A'C'}</a:t>
                </a:r>
                <a:r>
                  <a:rPr sz="2000">
                    <a:solidFill>
                      <a:srgbClr val="1E293B"/>
                    </a:solidFill>
                    <a:latin typeface="Calibri"/>
                  </a:rPr>
                  <a:t>.</a:t>
                </a:r>
              </a:p>
            </p:txBody>
          </p:sp>
        </mc:Fallback>
      </mc:AlternateContent>
      <p:pic>
        <p:nvPicPr>
          <p:cNvPr id="12" name="Picture 11" descr="h210.png"/>
          <p:cNvPicPr>
            <a:picLocks noChangeAspect="1"/>
          </p:cNvPicPr>
          <p:nvPr/>
        </p:nvPicPr>
        <p:blipFill>
          <a:blip r:embed="rId3"/>
          <a:stretch>
            <a:fillRect/>
          </a:stretch>
        </p:blipFill>
        <p:spPr>
          <a:xfrm>
            <a:off x="7680960" y="2211685"/>
            <a:ext cx="4023360" cy="1428790"/>
          </a:xfrm>
          <a:prstGeom prst="rect">
            <a:avLst/>
          </a:prstGeom>
        </p:spPr>
      </p:pic>
      <p:sp>
        <p:nvSpPr>
          <p:cNvPr id="13" name="TextBox 12"/>
          <p:cNvSpPr txBox="1"/>
          <p:nvPr/>
        </p:nvSpPr>
        <p:spPr>
          <a:xfrm>
            <a:off x="7680960" y="4315968"/>
            <a:ext cx="40233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TỔNG CỦA HAI VECTƠ – QUY TẮC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23</a:t>
            </a:r>
          </a:p>
        </p:txBody>
      </p:sp>
      <p:sp>
        <p:nvSpPr>
          <p:cNvPr id="7" name="Rounded Rectangle 6"/>
          <p:cNvSpPr/>
          <p:nvPr/>
        </p:nvSpPr>
        <p:spPr>
          <a:xfrm>
            <a:off x="548640" y="1371600"/>
            <a:ext cx="7863840" cy="237744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7534656" cy="2304288"/>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Trong không gian, cho hai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Lấy một điểm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bất kì và các điểm </a:t>
                </a:r>
                <a14:m>
                  <m:oMath xmlns:m="http://schemas.openxmlformats.org/officeDocument/2006/math">
                    <m:r>
                      <a:rPr lang="vi-VN" sz="2200" b="0">
                        <a:solidFill>
                          <a:srgbClr val="1E293B"/>
                        </a:solidFill>
                        <a:latin typeface="Cambria Math" panose="02040503050406030204" pitchFamily="18" charset="0"/>
                      </a:rPr>
                      <m:t>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C</m:t>
                    </m:r>
                  </m:oMath>
                </a14:m>
                <a:r>
                  <a:rPr sz="2200">
                    <a:solidFill>
                      <a:srgbClr val="1E293B"/>
                    </a:solidFill>
                    <a:latin typeface="Calibri"/>
                  </a:rPr>
                  <a:t> sao cho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Khi đó, vectơ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được gọi là </a:t>
                </a:r>
                <a:r>
                  <a:rPr sz="2200" b="1">
                    <a:solidFill>
                      <a:srgbClr val="1E293B"/>
                    </a:solidFill>
                    <a:latin typeface="Calibri"/>
                  </a:rPr>
                  <a:t>tổng của hai vectơ</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kí hiệu là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a:t>
                </a:r>
              </a:p>
              <a:p>
                <a:pPr algn="l">
                  <a:spcAft>
                    <a:spcPts val="800"/>
                  </a:spcAft>
                </a:pPr>
                <a:r>
                  <a:rPr sz="2200">
                    <a:solidFill>
                      <a:srgbClr val="1E293B"/>
                    </a:solidFill>
                    <a:latin typeface="Calibri"/>
                  </a:rPr>
                  <a:t>Trong không gian, phép lấy tổng của hai vectơ được gọi là </a:t>
                </a:r>
                <a:r>
                  <a:rPr sz="2200" b="1">
                    <a:solidFill>
                      <a:srgbClr val="1E293B"/>
                    </a:solidFill>
                    <a:latin typeface="Calibri"/>
                  </a:rPr>
                  <a:t>phép cộng vectơ</a:t>
                </a:r>
                <a:r>
                  <a:rPr sz="2200">
                    <a:solidFill>
                      <a:srgbClr val="1E293B"/>
                    </a:solidFill>
                    <a:latin typeface="Calibri"/>
                  </a:rPr>
                  <a:t>.</a:t>
                </a:r>
              </a:p>
            </p:txBody>
          </p:sp>
        </mc:Choice>
        <mc:Fallback>
          <p:sp>
            <p:nvSpPr>
              <p:cNvPr id="8" name="TextBox 7"/>
              <p:cNvSpPr txBox="1"/>
              <p:nvPr/>
            </p:nvSpPr>
            <p:spPr>
              <a:xfrm>
                <a:off x="713232" y="1408176"/>
                <a:ext cx="7534656" cy="2304288"/>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Trong không gian, cho hai vectơ </a:t>
                </a:r>
                <a:r>
                  <a:rPr lang="vi-VN"/>
                  <a:t>\vec{a}</a:t>
                </a:r>
                <a:r>
                  <a:rPr sz="2200">
                    <a:solidFill>
                      <a:srgbClr val="1E293B"/>
                    </a:solidFill>
                    <a:latin typeface="Calibri"/>
                  </a:rPr>
                  <a:t> và </a:t>
                </a:r>
                <a:r>
                  <a:rPr lang="vi-VN"/>
                  <a:t>\vec{b}</a:t>
                </a:r>
                <a:r>
                  <a:rPr sz="2200">
                    <a:solidFill>
                      <a:srgbClr val="1E293B"/>
                    </a:solidFill>
                    <a:latin typeface="Calibri"/>
                  </a:rPr>
                  <a:t>. Lấy một điểm </a:t>
                </a:r>
                <a:r>
                  <a:rPr lang="vi-VN"/>
                  <a:t>A</a:t>
                </a:r>
                <a:r>
                  <a:rPr sz="2200">
                    <a:solidFill>
                      <a:srgbClr val="1E293B"/>
                    </a:solidFill>
                    <a:latin typeface="Calibri"/>
                  </a:rPr>
                  <a:t> bất kì và các điểm </a:t>
                </a:r>
                <a:r>
                  <a:rPr lang="vi-VN"/>
                  <a:t>B,\ C</a:t>
                </a:r>
                <a:r>
                  <a:rPr sz="2200">
                    <a:solidFill>
                      <a:srgbClr val="1E293B"/>
                    </a:solidFill>
                    <a:latin typeface="Calibri"/>
                  </a:rPr>
                  <a:t> sao cho </a:t>
                </a:r>
                <a:r>
                  <a:rPr lang="vi-VN"/>
                  <a:t>\overrightarrow{AB}=\vec{a},\ \overrightarrow{BC}=\vec{b}</a:t>
                </a:r>
                <a:r>
                  <a:rPr sz="2200">
                    <a:solidFill>
                      <a:srgbClr val="1E293B"/>
                    </a:solidFill>
                    <a:latin typeface="Calibri"/>
                  </a:rPr>
                  <a:t>. Khi đó, vectơ </a:t>
                </a:r>
                <a:r>
                  <a:rPr lang="vi-VN"/>
                  <a:t>\overrightarrow{AC}</a:t>
                </a:r>
                <a:r>
                  <a:rPr sz="2200">
                    <a:solidFill>
                      <a:srgbClr val="1E293B"/>
                    </a:solidFill>
                    <a:latin typeface="Calibri"/>
                  </a:rPr>
                  <a:t> được gọi là </a:t>
                </a:r>
                <a:r>
                  <a:rPr sz="2200" b="1">
                    <a:solidFill>
                      <a:srgbClr val="1E293B"/>
                    </a:solidFill>
                    <a:latin typeface="Calibri"/>
                  </a:rPr>
                  <a:t>tổng của hai vectơ</a:t>
                </a:r>
                <a:r>
                  <a:rPr sz="2200">
                    <a:solidFill>
                      <a:srgbClr val="1E293B"/>
                    </a:solidFill>
                    <a:latin typeface="Calibri"/>
                  </a:rPr>
                  <a:t> </a:t>
                </a:r>
                <a:r>
                  <a:rPr lang="vi-VN"/>
                  <a:t>\vec{a}</a:t>
                </a:r>
                <a:r>
                  <a:rPr sz="2200">
                    <a:solidFill>
                      <a:srgbClr val="1E293B"/>
                    </a:solidFill>
                    <a:latin typeface="Calibri"/>
                  </a:rPr>
                  <a:t> và </a:t>
                </a:r>
                <a:r>
                  <a:rPr lang="vi-VN"/>
                  <a:t>\vec{b}</a:t>
                </a:r>
                <a:r>
                  <a:rPr sz="2200">
                    <a:solidFill>
                      <a:srgbClr val="1E293B"/>
                    </a:solidFill>
                    <a:latin typeface="Calibri"/>
                  </a:rPr>
                  <a:t>, kí hiệu là </a:t>
                </a:r>
                <a:r>
                  <a:rPr lang="vi-VN"/>
                  <a:t>\vec{a}+\vec{b}</a:t>
                </a:r>
                <a:r>
                  <a:rPr sz="2200">
                    <a:solidFill>
                      <a:srgbClr val="1E293B"/>
                    </a:solidFill>
                    <a:latin typeface="Calibri"/>
                  </a:rPr>
                  <a:t>.</a:t>
                </a:r>
              </a:p>
              <a:p>
                <a:pPr algn="l">
                  <a:spcAft>
                    <a:spcPts val="800"/>
                  </a:spcAft>
                </a:pPr>
                <a:r>
                  <a:rPr sz="2200">
                    <a:solidFill>
                      <a:srgbClr val="1E293B"/>
                    </a:solidFill>
                    <a:latin typeface="Calibri"/>
                  </a:rPr>
                  <a:t>Trong không gian, phép lấy tổng của hai vectơ được gọi là </a:t>
                </a:r>
                <a:r>
                  <a:rPr sz="2200" b="1">
                    <a:solidFill>
                      <a:srgbClr val="1E293B"/>
                    </a:solidFill>
                    <a:latin typeface="Calibri"/>
                  </a:rPr>
                  <a:t>phép cộng vectơ</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4069080"/>
                <a:ext cx="11064240" cy="21945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Nhận xét.</a:t>
                </a:r>
                <a:r>
                  <a:rPr sz="2200">
                    <a:solidFill>
                      <a:srgbClr val="1E293B"/>
                    </a:solidFill>
                    <a:latin typeface="Calibri"/>
                  </a:rPr>
                  <a:t> Quy tắc ba điểm và quy tắc hình bình hành trong mặt phẳng vẫn đúng trong không gian:</a:t>
                </a:r>
              </a:p>
              <a:p>
                <a:pPr algn="l" marL="365760" indent="-365760">
                  <a:spcAft>
                    <a:spcPts val="800"/>
                  </a:spcAft>
                  <a:buClr>
                    <a:srgbClr val="1E40AF"/>
                  </a:buClr>
                  <a:buFont typeface="Arial"/>
                  <a:buChar char="•"/>
                </a:pPr>
                <a:r>
                  <a:rPr sz="2200">
                    <a:solidFill>
                      <a:srgbClr val="1E293B"/>
                    </a:solidFill>
                    <a:latin typeface="Calibri"/>
                  </a:rPr>
                  <a:t>Nếu </a:t>
                </a:r>
                <a14:m>
                  <m:oMath xmlns:m="http://schemas.openxmlformats.org/officeDocument/2006/math">
                    <m:r>
                      <a:rPr lang="vi-VN" sz="2200" b="0">
                        <a:solidFill>
                          <a:srgbClr val="1E293B"/>
                        </a:solidFill>
                        <a:latin typeface="Cambria Math" panose="02040503050406030204" pitchFamily="18" charset="0"/>
                      </a:rPr>
                      <m:t>A,</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C</m:t>
                    </m:r>
                  </m:oMath>
                </a14:m>
                <a:r>
                  <a:rPr sz="2200">
                    <a:solidFill>
                      <a:srgbClr val="1E293B"/>
                    </a:solidFill>
                    <a:latin typeface="Calibri"/>
                  </a:rPr>
                  <a:t> là ba điểm bất kì thì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Nếu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là hình bình hành thì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a:t>
                </a:r>
              </a:p>
            </p:txBody>
          </p:sp>
        </mc:Choice>
        <mc:Fallback>
          <p:sp>
            <p:nvSpPr>
              <p:cNvPr id="9" name="TextBox 8"/>
              <p:cNvSpPr txBox="1"/>
              <p:nvPr/>
            </p:nvSpPr>
            <p:spPr>
              <a:xfrm>
                <a:off x="548640" y="4069080"/>
                <a:ext cx="11064240" cy="21945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Nhận xét.</a:t>
                </a:r>
                <a:r>
                  <a:rPr sz="2200">
                    <a:solidFill>
                      <a:srgbClr val="1E293B"/>
                    </a:solidFill>
                    <a:latin typeface="Calibri"/>
                  </a:rPr>
                  <a:t> Quy tắc ba điểm và quy tắc hình bình hành trong mặt phẳng vẫn đúng trong không gian:</a:t>
                </a:r>
              </a:p>
              <a:p>
                <a:pPr algn="l" marL="365760" indent="-365760">
                  <a:spcAft>
                    <a:spcPts val="800"/>
                  </a:spcAft>
                  <a:buClr>
                    <a:srgbClr val="1E40AF"/>
                  </a:buClr>
                  <a:buFont typeface="Arial"/>
                  <a:buChar char="•"/>
                </a:pPr>
                <a:r>
                  <a:rPr sz="2200">
                    <a:solidFill>
                      <a:srgbClr val="1E293B"/>
                    </a:solidFill>
                    <a:latin typeface="Calibri"/>
                  </a:rPr>
                  <a:t>Nếu </a:t>
                </a:r>
                <a:r>
                  <a:rPr lang="vi-VN"/>
                  <a:t>A,\ B,\ C</a:t>
                </a:r>
                <a:r>
                  <a:rPr sz="2200">
                    <a:solidFill>
                      <a:srgbClr val="1E293B"/>
                    </a:solidFill>
                    <a:latin typeface="Calibri"/>
                  </a:rPr>
                  <a:t> là ba điểm bất kì thì </a:t>
                </a:r>
                <a:r>
                  <a:rPr lang="vi-VN"/>
                  <a:t>\overrightarrow{AB}+\overrightarrow{BC}=\overrightarrow{AC}</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Nếu </a:t>
                </a:r>
                <a:r>
                  <a:rPr lang="vi-VN"/>
                  <a:t>ABCD</a:t>
                </a:r>
                <a:r>
                  <a:rPr sz="2200">
                    <a:solidFill>
                      <a:srgbClr val="1E293B"/>
                    </a:solidFill>
                    <a:latin typeface="Calibri"/>
                  </a:rPr>
                  <a:t> là hình bình hành thì </a:t>
                </a:r>
                <a:r>
                  <a:rPr lang="vi-VN"/>
                  <a:t>\overrightarrow{AB}+\overrightarrow{AD}=\overrightarrow{AC}</a:t>
                </a:r>
                <a:r>
                  <a:rPr sz="2200">
                    <a:solidFill>
                      <a:srgbClr val="1E293B"/>
                    </a:solidFill>
                    <a:latin typeface="Calibri"/>
                  </a:rPr>
                  <a:t>.</a:t>
                </a:r>
              </a:p>
            </p:txBody>
          </p:sp>
        </mc:Fallback>
      </mc:AlternateContent>
      <p:pic>
        <p:nvPicPr>
          <p:cNvPr id="10" name="Picture 9" descr="h211.png"/>
          <p:cNvPicPr>
            <a:picLocks noChangeAspect="1"/>
          </p:cNvPicPr>
          <p:nvPr/>
        </p:nvPicPr>
        <p:blipFill>
          <a:blip r:embed="rId3"/>
          <a:stretch>
            <a:fillRect/>
          </a:stretch>
        </p:blipFill>
        <p:spPr>
          <a:xfrm>
            <a:off x="8595360" y="1495119"/>
            <a:ext cx="3108960" cy="2130402"/>
          </a:xfrm>
          <a:prstGeom prst="rect">
            <a:avLst/>
          </a:prstGeom>
        </p:spPr>
      </p:pic>
      <p:sp>
        <p:nvSpPr>
          <p:cNvPr id="11" name="TextBox 10"/>
          <p:cNvSpPr txBox="1"/>
          <p:nvPr/>
        </p:nvSpPr>
        <p:spPr>
          <a:xfrm>
            <a:off x="8595360" y="3675887"/>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(SGK TR.49)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18872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lập phương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có độ dài mỗi cạnh bằng 1 (H.2.12). Tính độ dài của vectơ </a:t>
                </a:r>
                <a14:m>
                  <m:oMath xmlns:m="http://schemas.openxmlformats.org/officeDocument/2006/math">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7" name="TextBox 6"/>
              <p:cNvSpPr txBox="1"/>
              <p:nvPr/>
            </p:nvSpPr>
            <p:spPr>
              <a:xfrm>
                <a:off x="548640" y="1371600"/>
                <a:ext cx="7863840" cy="118872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lập phương </a:t>
                </a:r>
                <a:r>
                  <a:rPr lang="vi-VN"/>
                  <a:t>ABCD.A'B'C'D'</a:t>
                </a:r>
                <a:r>
                  <a:rPr sz="2200">
                    <a:solidFill>
                      <a:srgbClr val="1E293B"/>
                    </a:solidFill>
                    <a:latin typeface="Calibri"/>
                  </a:rPr>
                  <a:t> có độ dài mỗi cạnh bằng 1 (H.2.12). Tính độ dài của vectơ </a:t>
                </a:r>
                <a:r>
                  <a:rPr lang="vi-VN"/>
                  <a:t>\overrightarrow{BC}+\overrightarrow{DD'}</a:t>
                </a:r>
                <a:r>
                  <a:rPr sz="2200">
                    <a:solidFill>
                      <a:srgbClr val="1E293B"/>
                    </a:solidFill>
                    <a:latin typeface="Calibri"/>
                  </a:rPr>
                  <a:t>.</a:t>
                </a:r>
              </a:p>
            </p:txBody>
          </p:sp>
        </mc:Fallback>
      </mc:AlternateContent>
      <p:sp>
        <p:nvSpPr>
          <p:cNvPr id="8" name="s1_nen"/>
          <p:cNvSpPr/>
          <p:nvPr/>
        </p:nvSpPr>
        <p:spPr>
          <a:xfrm>
            <a:off x="548640" y="2697480"/>
            <a:ext cx="78638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34056"/>
                <a:ext cx="75346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Tứ giác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là hình vuông nên </a:t>
                </a:r>
                <a14:m>
                  <m:oMath xmlns:m="http://schemas.openxmlformats.org/officeDocument/2006/math">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a:t>
                </a:r>
              </a:p>
            </p:txBody>
          </p:sp>
        </mc:Choice>
        <mc:Fallback>
          <p:sp>
            <p:nvSpPr>
              <p:cNvPr id="9" name="TextBox 8"/>
              <p:cNvSpPr txBox="1"/>
              <p:nvPr/>
            </p:nvSpPr>
            <p:spPr>
              <a:xfrm>
                <a:off x="713232" y="2734056"/>
                <a:ext cx="75346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Tứ giác </a:t>
                </a:r>
                <a:r>
                  <a:rPr lang="vi-VN"/>
                  <a:t>ABCD</a:t>
                </a:r>
                <a:r>
                  <a:rPr sz="2200">
                    <a:solidFill>
                      <a:srgbClr val="1E293B"/>
                    </a:solidFill>
                    <a:latin typeface="Calibri"/>
                  </a:rPr>
                  <a:t> là hình vuông nên </a:t>
                </a:r>
                <a:r>
                  <a:rPr lang="vi-VN"/>
                  <a:t>\overrightarrow{BC}=\overrightarrow{AD}</a:t>
                </a:r>
                <a:r>
                  <a:rPr sz="2200">
                    <a:solidFill>
                      <a:srgbClr val="1E293B"/>
                    </a:solidFill>
                    <a:latin typeface="Calibri"/>
                  </a:rPr>
                  <a:t>.</a:t>
                </a:r>
              </a:p>
            </p:txBody>
          </p:sp>
        </mc:Fallback>
      </mc:AlternateContent>
      <p:sp>
        <p:nvSpPr>
          <p:cNvPr id="10" name="s2_nen"/>
          <p:cNvSpPr/>
          <p:nvPr/>
        </p:nvSpPr>
        <p:spPr>
          <a:xfrm>
            <a:off x="548640" y="3389376"/>
            <a:ext cx="78638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25952"/>
                <a:ext cx="75346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Do đó </a:t>
                </a:r>
                <a14:m>
                  <m:oMath xmlns:m="http://schemas.openxmlformats.org/officeDocument/2006/math">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11" name="TextBox 10"/>
              <p:cNvSpPr txBox="1"/>
              <p:nvPr/>
            </p:nvSpPr>
            <p:spPr>
              <a:xfrm>
                <a:off x="713232" y="3425952"/>
                <a:ext cx="75346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Do đó </a:t>
                </a:r>
                <a:r>
                  <a:rPr lang="vi-VN"/>
                  <a:t>\overrightarrow{BC}+\overrightarrow{DD'}=\overrightarrow{AD}+\overrightarrow{DD'}=\overrightarrow{AD'}</a:t>
                </a:r>
                <a:r>
                  <a:rPr sz="2200">
                    <a:solidFill>
                      <a:srgbClr val="1E293B"/>
                    </a:solidFill>
                    <a:latin typeface="Calibri"/>
                  </a:rPr>
                  <a:t>.</a:t>
                </a:r>
              </a:p>
            </p:txBody>
          </p:sp>
        </mc:Fallback>
      </mc:AlternateContent>
      <p:sp>
        <p:nvSpPr>
          <p:cNvPr id="12" name="s3_nen"/>
          <p:cNvSpPr/>
          <p:nvPr/>
        </p:nvSpPr>
        <p:spPr>
          <a:xfrm>
            <a:off x="548640" y="4081271"/>
            <a:ext cx="78638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117847"/>
                <a:ext cx="75346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Tứ giác </a:t>
                </a:r>
                <a14:m>
                  <m:oMath xmlns:m="http://schemas.openxmlformats.org/officeDocument/2006/math">
                    <m:r>
                      <a:rPr lang="vi-VN" sz="2200" b="0">
                        <a:solidFill>
                          <a:srgbClr val="1E293B"/>
                        </a:solidFill>
                        <a:latin typeface="Cambria Math" panose="02040503050406030204" pitchFamily="18" charset="0"/>
                      </a:rPr>
                      <m:t>AD</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là hình vuông nên </a:t>
                </a:r>
                <a14:m>
                  <m:oMath xmlns:m="http://schemas.openxmlformats.org/officeDocument/2006/math">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ad>
                      <m:radPr>
                        <m:degHide m:val="on"/>
                      </m:radPr>
                      <m:deg/>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+D</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′2</m:t>
                            </m:r>
                          </m:sup>
                        </m:sSup>
                      </m:e>
                    </m:rad>
                    <m:r>
                      <a:rPr lang="vi-VN" sz="2200" b="0">
                        <a:solidFill>
                          <a:srgbClr val="1E293B"/>
                        </a:solidFill>
                        <a:latin typeface="Cambria Math" panose="02040503050406030204" pitchFamily="18" charset="0"/>
                      </a:rPr>
                      <m:t>=</m:t>
                    </m:r>
                    <m:rad>
                      <m:radPr>
                        <m:degHide m:val="on"/>
                      </m:radPr>
                      <m:deg/>
                      <m:e>
                        <m:r>
                          <a:rPr lang="vi-VN" sz="2200" b="0">
                            <a:solidFill>
                              <a:srgbClr val="1E293B"/>
                            </a:solidFill>
                            <a:latin typeface="Cambria Math" panose="02040503050406030204" pitchFamily="18" charset="0"/>
                          </a:rPr>
                          <m:t>2</m:t>
                        </m:r>
                      </m:e>
                    </m:rad>
                  </m:oMath>
                </a14:m>
                <a:r>
                  <a:rPr sz="2200">
                    <a:solidFill>
                      <a:srgbClr val="1E293B"/>
                    </a:solidFill>
                    <a:latin typeface="Calibri"/>
                  </a:rPr>
                  <a:t>, suy ra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rad>
                      <m:radPr>
                        <m:degHide m:val="on"/>
                      </m:radPr>
                      <m:deg/>
                      <m:e>
                        <m:r>
                          <a:rPr lang="vi-VN" sz="2200" b="0">
                            <a:solidFill>
                              <a:srgbClr val="1E293B"/>
                            </a:solidFill>
                            <a:latin typeface="Cambria Math" panose="02040503050406030204" pitchFamily="18" charset="0"/>
                          </a:rPr>
                          <m:t>2</m:t>
                        </m:r>
                      </m:e>
                    </m:rad>
                  </m:oMath>
                </a14:m>
                <a:r>
                  <a:rPr sz="2200">
                    <a:solidFill>
                      <a:srgbClr val="1E293B"/>
                    </a:solidFill>
                    <a:latin typeface="Calibri"/>
                  </a:rPr>
                  <a:t>.</a:t>
                </a:r>
              </a:p>
            </p:txBody>
          </p:sp>
        </mc:Choice>
        <mc:Fallback>
          <p:sp>
            <p:nvSpPr>
              <p:cNvPr id="13" name="TextBox 12"/>
              <p:cNvSpPr txBox="1"/>
              <p:nvPr/>
            </p:nvSpPr>
            <p:spPr>
              <a:xfrm>
                <a:off x="713232" y="4117847"/>
                <a:ext cx="75346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Tứ giác </a:t>
                </a:r>
                <a:r>
                  <a:rPr lang="vi-VN"/>
                  <a:t>ADD'A'</a:t>
                </a:r>
                <a:r>
                  <a:rPr sz="2200">
                    <a:solidFill>
                      <a:srgbClr val="1E293B"/>
                    </a:solidFill>
                    <a:latin typeface="Calibri"/>
                  </a:rPr>
                  <a:t> là hình vuông nên </a:t>
                </a:r>
                <a:r>
                  <a:rPr lang="vi-VN"/>
                  <a:t>AD'=\sqrt{AD^2+DD'^2}=\sqrt{2}</a:t>
                </a:r>
                <a:r>
                  <a:rPr sz="2200">
                    <a:solidFill>
                      <a:srgbClr val="1E293B"/>
                    </a:solidFill>
                    <a:latin typeface="Calibri"/>
                  </a:rPr>
                  <a:t>, suy ra </a:t>
                </a:r>
                <a:r>
                  <a:rPr lang="vi-VN"/>
                  <a:t>|\overrightarrow{BC}+\overrightarrow{DD'}|=\sqrt{2}</a:t>
                </a:r>
                <a:r>
                  <a:rPr sz="2200">
                    <a:solidFill>
                      <a:srgbClr val="1E293B"/>
                    </a:solidFill>
                    <a:latin typeface="Calibri"/>
                  </a:rPr>
                  <a:t>.</a:t>
                </a:r>
              </a:p>
            </p:txBody>
          </p:sp>
        </mc:Fallback>
      </mc:AlternateContent>
      <p:pic>
        <p:nvPicPr>
          <p:cNvPr id="14" name="Picture 13" descr="h212.png"/>
          <p:cNvPicPr>
            <a:picLocks noChangeAspect="1"/>
          </p:cNvPicPr>
          <p:nvPr/>
        </p:nvPicPr>
        <p:blipFill>
          <a:blip r:embed="rId3"/>
          <a:stretch>
            <a:fillRect/>
          </a:stretch>
        </p:blipFill>
        <p:spPr>
          <a:xfrm>
            <a:off x="8595360" y="1699260"/>
            <a:ext cx="3108960" cy="2636520"/>
          </a:xfrm>
          <a:prstGeom prst="rect">
            <a:avLst/>
          </a:prstGeom>
        </p:spPr>
      </p:pic>
      <p:sp>
        <p:nvSpPr>
          <p:cNvPr id="15" name="TextBox 14"/>
          <p:cNvSpPr txBox="1"/>
          <p:nvPr/>
        </p:nvSpPr>
        <p:spPr>
          <a:xfrm>
            <a:off x="8595360" y="4590288"/>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3 – TÍNH CHẤT PHÉP CỘNG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3152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3.</a:t>
                </a:r>
                <a:r>
                  <a:rPr sz="2200">
                    <a:solidFill>
                      <a:srgbClr val="1E293B"/>
                    </a:solidFill>
                    <a:latin typeface="Calibri"/>
                  </a:rPr>
                  <a:t> Trong Ví dụ 3, hãy tính độ dài của vectơ </a:t>
                </a:r>
                <a14:m>
                  <m:oMath xmlns:m="http://schemas.openxmlformats.org/officeDocument/2006/math">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7" name="TextBox 6"/>
              <p:cNvSpPr txBox="1"/>
              <p:nvPr/>
            </p:nvSpPr>
            <p:spPr>
              <a:xfrm>
                <a:off x="548640" y="1371600"/>
                <a:ext cx="11064240" cy="73152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3.</a:t>
                </a:r>
                <a:r>
                  <a:rPr sz="2200">
                    <a:solidFill>
                      <a:srgbClr val="1E293B"/>
                    </a:solidFill>
                    <a:latin typeface="Calibri"/>
                  </a:rPr>
                  <a:t> Trong Ví dụ 3, hãy tính độ dài của vectơ </a:t>
                </a:r>
                <a:r>
                  <a:rPr lang="vi-VN"/>
                  <a:t>\overrightarrow{AC}+\overrightarrow{C'D'}</a:t>
                </a:r>
                <a:r>
                  <a:rPr sz="2200">
                    <a:solidFill>
                      <a:srgbClr val="1E293B"/>
                    </a:solidFill>
                    <a:latin typeface="Calibri"/>
                  </a:rPr>
                  <a:t>.</a:t>
                </a:r>
              </a:p>
            </p:txBody>
          </p:sp>
        </mc:Fallback>
      </mc:AlternateContent>
      <p:sp>
        <p:nvSpPr>
          <p:cNvPr id="8" name="s1_nen"/>
          <p:cNvSpPr/>
          <p:nvPr/>
        </p:nvSpPr>
        <p:spPr>
          <a:xfrm>
            <a:off x="548640" y="214884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8541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do đó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|=AD=1</m:t>
                    </m:r>
                  </m:oMath>
                </a14:m>
                <a:r>
                  <a:rPr sz="2200">
                    <a:solidFill>
                      <a:srgbClr val="1E293B"/>
                    </a:solidFill>
                    <a:latin typeface="Calibri"/>
                  </a:rPr>
                  <a:t>.</a:t>
                </a:r>
              </a:p>
            </p:txBody>
          </p:sp>
        </mc:Choice>
        <mc:Fallback>
          <p:sp>
            <p:nvSpPr>
              <p:cNvPr id="9" name="TextBox 8"/>
              <p:cNvSpPr txBox="1"/>
              <p:nvPr/>
            </p:nvSpPr>
            <p:spPr>
              <a:xfrm>
                <a:off x="713232" y="218541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\overrightarrow{C'D'}=\overrightarrow{CD}</a:t>
                </a:r>
                <a:r>
                  <a:rPr sz="2200">
                    <a:solidFill>
                      <a:srgbClr val="1E293B"/>
                    </a:solidFill>
                    <a:latin typeface="Calibri"/>
                  </a:rPr>
                  <a:t> nên </a:t>
                </a:r>
                <a:r>
                  <a:rPr lang="vi-VN"/>
                  <a:t>\overrightarrow{AC}+\overrightarrow{C'D'}=\overrightarrow{AC}+\overrightarrow{CD}=\overrightarrow{AD}</a:t>
                </a:r>
                <a:r>
                  <a:rPr sz="2200">
                    <a:solidFill>
                      <a:srgbClr val="1E293B"/>
                    </a:solidFill>
                    <a:latin typeface="Calibri"/>
                  </a:rPr>
                  <a:t>, do đó </a:t>
                </a:r>
                <a:r>
                  <a:rPr lang="vi-VN"/>
                  <a:t>|\overrightarrow{AC}+\overrightarrow{C'D'}|=AD=1</a:t>
                </a:r>
                <a:r>
                  <a:rPr sz="2200">
                    <a:solidFill>
                      <a:srgbClr val="1E293B"/>
                    </a:solidFill>
                    <a:latin typeface="Calibri"/>
                  </a:rPr>
                  <a:t>.</a:t>
                </a:r>
              </a:p>
            </p:txBody>
          </p:sp>
        </mc:Fallback>
      </mc:AlternateContent>
      <p:sp>
        <p:nvSpPr>
          <p:cNvPr id="10" name="s2_nen"/>
          <p:cNvSpPr/>
          <p:nvPr/>
        </p:nvSpPr>
        <p:spPr>
          <a:xfrm>
            <a:off x="548640" y="3429000"/>
            <a:ext cx="11064240" cy="1908047"/>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65576"/>
                <a:ext cx="10735056" cy="1834895"/>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Tính chất phép cộng vectơ trong không gian</a:t>
                </a:r>
                <a:r>
                  <a:rPr sz="2200">
                    <a:solidFill>
                      <a:srgbClr val="1E293B"/>
                    </a:solidFill>
                    <a:latin typeface="Calibri"/>
                  </a:rPr>
                  <a:t> (SGK tr.50)</a:t>
                </a:r>
              </a:p>
              <a:p>
                <a:pPr algn="l" marL="365760" indent="-365760">
                  <a:spcAft>
                    <a:spcPts val="800"/>
                  </a:spcAft>
                  <a:buClr>
                    <a:srgbClr val="1E40AF"/>
                  </a:buClr>
                  <a:buFont typeface="Arial"/>
                  <a:buChar char="•"/>
                </a:pPr>
                <a:r>
                  <a:rPr sz="2200">
                    <a:solidFill>
                      <a:srgbClr val="1E293B"/>
                    </a:solidFill>
                    <a:latin typeface="Calibri"/>
                  </a:rPr>
                  <a:t>Giao hoán: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Kết hợp: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m:t>
                            </m:r>
                          </m:e>
                        </m:acc>
                      </m:e>
                    </m:d>
                  </m:oMath>
                </a14:m>
                <a:r>
                  <a:rPr sz="2200">
                    <a:solidFill>
                      <a:srgbClr val="1E293B"/>
                    </a:solidFill>
                    <a:latin typeface="Calibri"/>
                  </a:rPr>
                  <a:t> – viết gọn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Cộng với vectơ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a:t>
                </a:r>
              </a:p>
            </p:txBody>
          </p:sp>
        </mc:Choice>
        <mc:Fallback>
          <p:sp>
            <p:nvSpPr>
              <p:cNvPr id="11" name="TextBox 10"/>
              <p:cNvSpPr txBox="1"/>
              <p:nvPr/>
            </p:nvSpPr>
            <p:spPr>
              <a:xfrm>
                <a:off x="713232" y="3465576"/>
                <a:ext cx="10735056" cy="1834895"/>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Tính chất phép cộng vectơ trong không gian</a:t>
                </a:r>
                <a:r>
                  <a:rPr sz="2200">
                    <a:solidFill>
                      <a:srgbClr val="1E293B"/>
                    </a:solidFill>
                    <a:latin typeface="Calibri"/>
                  </a:rPr>
                  <a:t> (SGK tr.50)</a:t>
                </a:r>
              </a:p>
              <a:p>
                <a:pPr algn="l" marL="365760" indent="-365760">
                  <a:spcAft>
                    <a:spcPts val="800"/>
                  </a:spcAft>
                  <a:buClr>
                    <a:srgbClr val="1E40AF"/>
                  </a:buClr>
                  <a:buFont typeface="Arial"/>
                  <a:buChar char="•"/>
                </a:pPr>
                <a:r>
                  <a:rPr sz="2200">
                    <a:solidFill>
                      <a:srgbClr val="1E293B"/>
                    </a:solidFill>
                    <a:latin typeface="Calibri"/>
                  </a:rPr>
                  <a:t>Giao hoán: </a:t>
                </a:r>
                <a:r>
                  <a:rPr lang="vi-VN"/>
                  <a:t>\vec{a}+\vec{b}=\vec{b}+\vec{a}</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Kết hợp: </a:t>
                </a:r>
                <a:r>
                  <a:rPr lang="vi-VN"/>
                  <a:t>(\vec{a}+\vec{b})+\vec{c}=\vec{a}+(\vec{b}+\vec{c})</a:t>
                </a:r>
                <a:r>
                  <a:rPr sz="2200">
                    <a:solidFill>
                      <a:srgbClr val="1E293B"/>
                    </a:solidFill>
                    <a:latin typeface="Calibri"/>
                  </a:rPr>
                  <a:t> – viết gọn </a:t>
                </a:r>
                <a:r>
                  <a:rPr lang="vi-VN"/>
                  <a:t>\vec{a}+\vec{b}+\vec{c}</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Cộng với vectơ </a:t>
                </a:r>
                <a:r>
                  <a:rPr lang="vi-VN"/>
                  <a:t>\vec{0}</a:t>
                </a:r>
                <a:r>
                  <a:rPr sz="2200">
                    <a:solidFill>
                      <a:srgbClr val="1E293B"/>
                    </a:solidFill>
                    <a:latin typeface="Calibri"/>
                  </a:rPr>
                  <a:t>: </a:t>
                </a:r>
                <a:r>
                  <a:rPr lang="vi-VN"/>
                  <a:t>\vec{a}+\vec{0}=\vec{0}+\vec{a}=\vec{a}</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VÍ DỤ 4 VÀ LUYỆN TẬP 4 (SGK TR.50)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4.</a:t>
                </a:r>
                <a:r>
                  <a:rPr sz="2200">
                    <a:solidFill>
                      <a:srgbClr val="1E293B"/>
                    </a:solidFill>
                    <a:latin typeface="Calibri"/>
                  </a:rPr>
                  <a:t> Cho tứ diện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(H.2.13). Chứng minh rằng </a:t>
                </a:r>
                <a14:m>
                  <m:oMath xmlns:m="http://schemas.openxmlformats.org/officeDocument/2006/math">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a:t>
                </a:r>
              </a:p>
            </p:txBody>
          </p:sp>
        </mc:Choice>
        <mc:Fallback>
          <p:sp>
            <p:nvSpPr>
              <p:cNvPr id="7" name="TextBox 6"/>
              <p:cNvSpPr txBox="1"/>
              <p:nvPr/>
            </p:nvSpPr>
            <p:spPr>
              <a:xfrm>
                <a:off x="548640" y="1371600"/>
                <a:ext cx="859536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4.</a:t>
                </a:r>
                <a:r>
                  <a:rPr sz="2200">
                    <a:solidFill>
                      <a:srgbClr val="1E293B"/>
                    </a:solidFill>
                    <a:latin typeface="Calibri"/>
                  </a:rPr>
                  <a:t> Cho tứ diện </a:t>
                </a:r>
                <a:r>
                  <a:rPr lang="vi-VN"/>
                  <a:t>ABCD</a:t>
                </a:r>
                <a:r>
                  <a:rPr sz="2200">
                    <a:solidFill>
                      <a:srgbClr val="1E293B"/>
                    </a:solidFill>
                    <a:latin typeface="Calibri"/>
                  </a:rPr>
                  <a:t> (H.2.13). Chứng minh rằng </a:t>
                </a:r>
                <a:r>
                  <a:rPr lang="vi-VN"/>
                  <a:t>\overrightarrow{AC}+\overrightarrow{BD}=\overrightarrow{AD}+\overrightarrow{BC}</a:t>
                </a:r>
                <a:r>
                  <a:rPr sz="2200">
                    <a:solidFill>
                      <a:srgbClr val="1E293B"/>
                    </a:solidFill>
                    <a:latin typeface="Calibri"/>
                  </a:rPr>
                  <a:t>.</a:t>
                </a:r>
              </a:p>
            </p:txBody>
          </p:sp>
        </mc:Fallback>
      </mc:AlternateContent>
      <p:sp>
        <p:nvSpPr>
          <p:cNvPr id="8" name="s1_nen"/>
          <p:cNvSpPr/>
          <p:nvPr/>
        </p:nvSpPr>
        <p:spPr>
          <a:xfrm>
            <a:off x="548640" y="2398775"/>
            <a:ext cx="85953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35352"/>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a:t>
                </a:r>
              </a:p>
            </p:txBody>
          </p:sp>
        </mc:Choice>
        <mc:Fallback>
          <p:sp>
            <p:nvSpPr>
              <p:cNvPr id="9" name="TextBox 8"/>
              <p:cNvSpPr txBox="1"/>
              <p:nvPr/>
            </p:nvSpPr>
            <p:spPr>
              <a:xfrm>
                <a:off x="713232" y="2435352"/>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\overrightarrow{AC}+\overrightarrow{BD}=(\overrightarrow{AD}+\overrightarrow{DC})+\overrightarrow{BD}=\overrightarrow{AD}+(\overrightarrow{BD}+\overrightarrow{DC})=\overrightarrow{AD}+\overrightarrow{BC}</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182112"/>
                <a:ext cx="859536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4.</a:t>
                </a:r>
                <a:r>
                  <a:rPr sz="2200">
                    <a:solidFill>
                      <a:srgbClr val="1E293B"/>
                    </a:solidFill>
                    <a:latin typeface="Calibri"/>
                  </a:rPr>
                  <a:t> Cho tứ diện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Chứng minh rằng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CB</m:t>
                        </m:r>
                      </m:e>
                    </m:acc>
                  </m:oMath>
                </a14:m>
                <a:r>
                  <a:rPr sz="2200">
                    <a:solidFill>
                      <a:srgbClr val="1E293B"/>
                    </a:solidFill>
                    <a:latin typeface="Calibri"/>
                  </a:rPr>
                  <a:t>.</a:t>
                </a:r>
              </a:p>
            </p:txBody>
          </p:sp>
        </mc:Choice>
        <mc:Fallback>
          <p:sp>
            <p:nvSpPr>
              <p:cNvPr id="10" name="TextBox 9"/>
              <p:cNvSpPr txBox="1"/>
              <p:nvPr/>
            </p:nvSpPr>
            <p:spPr>
              <a:xfrm>
                <a:off x="548640" y="3182112"/>
                <a:ext cx="859536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4.</a:t>
                </a:r>
                <a:r>
                  <a:rPr sz="2200">
                    <a:solidFill>
                      <a:srgbClr val="1E293B"/>
                    </a:solidFill>
                    <a:latin typeface="Calibri"/>
                  </a:rPr>
                  <a:t> Cho tứ diện </a:t>
                </a:r>
                <a:r>
                  <a:rPr lang="vi-VN"/>
                  <a:t>ABCD</a:t>
                </a:r>
                <a:r>
                  <a:rPr sz="2200">
                    <a:solidFill>
                      <a:srgbClr val="1E293B"/>
                    </a:solidFill>
                    <a:latin typeface="Calibri"/>
                  </a:rPr>
                  <a:t>. Chứng minh rằng </a:t>
                </a:r>
                <a:r>
                  <a:rPr lang="vi-VN"/>
                  <a:t>\overrightarrow{AB}+\overrightarrow{CD}=\overrightarrow{AD}+\overrightarrow{CB}</a:t>
                </a:r>
                <a:r>
                  <a:rPr sz="2200">
                    <a:solidFill>
                      <a:srgbClr val="1E293B"/>
                    </a:solidFill>
                    <a:latin typeface="Calibri"/>
                  </a:rPr>
                  <a:t>.</a:t>
                </a:r>
              </a:p>
            </p:txBody>
          </p:sp>
        </mc:Fallback>
      </mc:AlternateContent>
      <p:sp>
        <p:nvSpPr>
          <p:cNvPr id="11" name="s3_nen"/>
          <p:cNvSpPr/>
          <p:nvPr/>
        </p:nvSpPr>
        <p:spPr>
          <a:xfrm>
            <a:off x="548640" y="4209288"/>
            <a:ext cx="85953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245864"/>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CB</m:t>
                        </m:r>
                      </m:e>
                    </m:acc>
                  </m:oMath>
                </a14:m>
                <a:r>
                  <a:rPr sz="2200">
                    <a:solidFill>
                      <a:srgbClr val="1E293B"/>
                    </a:solidFill>
                    <a:latin typeface="Calibri"/>
                  </a:rPr>
                  <a:t>.</a:t>
                </a:r>
              </a:p>
            </p:txBody>
          </p:sp>
        </mc:Choice>
        <mc:Fallback>
          <p:sp>
            <p:nvSpPr>
              <p:cNvPr id="12" name="TextBox 11"/>
              <p:cNvSpPr txBox="1"/>
              <p:nvPr/>
            </p:nvSpPr>
            <p:spPr>
              <a:xfrm>
                <a:off x="713232" y="4245864"/>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\overrightarrow{AB}+\overrightarrow{CD}=(\overrightarrow{AD}+\overrightarrow{DB})+\overrightarrow{CD}=\overrightarrow{AD}+(\overrightarrow{CD}+\overrightarrow{DB})=\overrightarrow{AD}+\overrightarrow{CB}</a:t>
                </a:r>
                <a:r>
                  <a:rPr sz="2200">
                    <a:solidFill>
                      <a:srgbClr val="1E293B"/>
                    </a:solidFill>
                    <a:latin typeface="Calibri"/>
                  </a:rPr>
                  <a:t>.</a:t>
                </a:r>
              </a:p>
            </p:txBody>
          </p:sp>
        </mc:Fallback>
      </mc:AlternateContent>
      <p:pic>
        <p:nvPicPr>
          <p:cNvPr id="13" name="Picture 12" descr="h213.png"/>
          <p:cNvPicPr>
            <a:picLocks noChangeAspect="1"/>
          </p:cNvPicPr>
          <p:nvPr/>
        </p:nvPicPr>
        <p:blipFill>
          <a:blip r:embed="rId3"/>
          <a:stretch>
            <a:fillRect/>
          </a:stretch>
        </p:blipFill>
        <p:spPr>
          <a:xfrm>
            <a:off x="9326880" y="1660106"/>
            <a:ext cx="2377440" cy="2531948"/>
          </a:xfrm>
          <a:prstGeom prst="rect">
            <a:avLst/>
          </a:prstGeom>
        </p:spPr>
      </p:pic>
      <p:sp>
        <p:nvSpPr>
          <p:cNvPr id="14" name="TextBox 13"/>
          <p:cNvSpPr txBox="1"/>
          <p:nvPr/>
        </p:nvSpPr>
        <p:spPr>
          <a:xfrm>
            <a:off x="9326880" y="4407408"/>
            <a:ext cx="23774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HĐ4. THIẾT LẬP QUY TẮC HÌNH HỘP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219456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hộp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(H.2.14).</a:t>
                </a:r>
              </a:p>
              <a:p>
                <a:pPr algn="l">
                  <a:spcAft>
                    <a:spcPts val="800"/>
                  </a:spcAft>
                </a:pPr>
                <a:r>
                  <a:rPr sz="2200">
                    <a:solidFill>
                      <a:srgbClr val="1E293B"/>
                    </a:solidFill>
                    <a:latin typeface="Calibri"/>
                  </a:rPr>
                  <a:t>a) Hai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có bằng nhau hay không?</a:t>
                </a:r>
              </a:p>
              <a:p>
                <a:pPr algn="l">
                  <a:spcAft>
                    <a:spcPts val="800"/>
                  </a:spcAft>
                </a:pPr>
                <a:r>
                  <a:rPr sz="2200">
                    <a:solidFill>
                      <a:srgbClr val="1E293B"/>
                    </a:solidFill>
                    <a:latin typeface="Calibri"/>
                  </a:rPr>
                  <a:t>b) Hai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có bằng nhau hay không?</a:t>
                </a:r>
              </a:p>
            </p:txBody>
          </p:sp>
        </mc:Choice>
        <mc:Fallback>
          <p:sp>
            <p:nvSpPr>
              <p:cNvPr id="7" name="TextBox 6"/>
              <p:cNvSpPr txBox="1"/>
              <p:nvPr/>
            </p:nvSpPr>
            <p:spPr>
              <a:xfrm>
                <a:off x="548640" y="1371600"/>
                <a:ext cx="7315200" cy="219456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hộp </a:t>
                </a:r>
                <a:r>
                  <a:rPr lang="vi-VN"/>
                  <a:t>ABCD.A'B'C'D'</a:t>
                </a:r>
                <a:r>
                  <a:rPr sz="2200">
                    <a:solidFill>
                      <a:srgbClr val="1E293B"/>
                    </a:solidFill>
                    <a:latin typeface="Calibri"/>
                  </a:rPr>
                  <a:t> (H.2.14).</a:t>
                </a:r>
              </a:p>
              <a:p>
                <a:pPr algn="l">
                  <a:spcAft>
                    <a:spcPts val="800"/>
                  </a:spcAft>
                </a:pPr>
                <a:r>
                  <a:rPr sz="2200">
                    <a:solidFill>
                      <a:srgbClr val="1E293B"/>
                    </a:solidFill>
                    <a:latin typeface="Calibri"/>
                  </a:rPr>
                  <a:t>a) Hai vectơ </a:t>
                </a:r>
                <a:r>
                  <a:rPr lang="vi-VN"/>
                  <a:t>\overrightarrow{AB}+\overrightarrow{AD}</a:t>
                </a:r>
                <a:r>
                  <a:rPr sz="2200">
                    <a:solidFill>
                      <a:srgbClr val="1E293B"/>
                    </a:solidFill>
                    <a:latin typeface="Calibri"/>
                  </a:rPr>
                  <a:t> và </a:t>
                </a:r>
                <a:r>
                  <a:rPr lang="vi-VN"/>
                  <a:t>\overrightarrow{AC}</a:t>
                </a:r>
                <a:r>
                  <a:rPr sz="2200">
                    <a:solidFill>
                      <a:srgbClr val="1E293B"/>
                    </a:solidFill>
                    <a:latin typeface="Calibri"/>
                  </a:rPr>
                  <a:t> có bằng nhau hay không?</a:t>
                </a:r>
              </a:p>
              <a:p>
                <a:pPr algn="l">
                  <a:spcAft>
                    <a:spcPts val="800"/>
                  </a:spcAft>
                </a:pPr>
                <a:r>
                  <a:rPr sz="2200">
                    <a:solidFill>
                      <a:srgbClr val="1E293B"/>
                    </a:solidFill>
                    <a:latin typeface="Calibri"/>
                  </a:rPr>
                  <a:t>b) Hai vectơ </a:t>
                </a:r>
                <a:r>
                  <a:rPr lang="vi-VN"/>
                  <a:t>\overrightarrow{AB}+\overrightarrow{AD}+\overrightarrow{AA'}</a:t>
                </a:r>
                <a:r>
                  <a:rPr sz="2200">
                    <a:solidFill>
                      <a:srgbClr val="1E293B"/>
                    </a:solidFill>
                    <a:latin typeface="Calibri"/>
                  </a:rPr>
                  <a:t> và </a:t>
                </a:r>
                <a:r>
                  <a:rPr lang="vi-VN"/>
                  <a:t>\overrightarrow{AC'}</a:t>
                </a:r>
                <a:r>
                  <a:rPr sz="2200">
                    <a:solidFill>
                      <a:srgbClr val="1E293B"/>
                    </a:solidFill>
                    <a:latin typeface="Calibri"/>
                  </a:rPr>
                  <a:t> có bằng nhau hay không?</a:t>
                </a:r>
              </a:p>
            </p:txBody>
          </p:sp>
        </mc:Fallback>
      </mc:AlternateContent>
      <p:sp>
        <p:nvSpPr>
          <p:cNvPr id="8" name="s1_nen"/>
          <p:cNvSpPr/>
          <p:nvPr/>
        </p:nvSpPr>
        <p:spPr>
          <a:xfrm>
            <a:off x="548640" y="3657600"/>
            <a:ext cx="731520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694176"/>
                <a:ext cx="698601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Bằng nhau –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là hình bình hành.</a:t>
                </a:r>
              </a:p>
            </p:txBody>
          </p:sp>
        </mc:Choice>
        <mc:Fallback>
          <p:sp>
            <p:nvSpPr>
              <p:cNvPr id="9" name="TextBox 8"/>
              <p:cNvSpPr txBox="1"/>
              <p:nvPr/>
            </p:nvSpPr>
            <p:spPr>
              <a:xfrm>
                <a:off x="713232" y="3694176"/>
                <a:ext cx="698601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Bằng nhau – </a:t>
                </a:r>
                <a:r>
                  <a:rPr lang="vi-VN"/>
                  <a:t>ABCD</a:t>
                </a:r>
                <a:r>
                  <a:rPr sz="2200">
                    <a:solidFill>
                      <a:srgbClr val="1E293B"/>
                    </a:solidFill>
                    <a:latin typeface="Calibri"/>
                  </a:rPr>
                  <a:t> là hình bình hành.</a:t>
                </a:r>
              </a:p>
            </p:txBody>
          </p:sp>
        </mc:Fallback>
      </mc:AlternateContent>
      <p:sp>
        <p:nvSpPr>
          <p:cNvPr id="10" name="s2_nen"/>
          <p:cNvSpPr/>
          <p:nvPr/>
        </p:nvSpPr>
        <p:spPr>
          <a:xfrm>
            <a:off x="548640" y="4349495"/>
            <a:ext cx="731520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386071"/>
                <a:ext cx="698601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Bằng nhau: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AC</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là hình bình hành).</a:t>
                </a:r>
              </a:p>
            </p:txBody>
          </p:sp>
        </mc:Choice>
        <mc:Fallback>
          <p:sp>
            <p:nvSpPr>
              <p:cNvPr id="11" name="TextBox 10"/>
              <p:cNvSpPr txBox="1"/>
              <p:nvPr/>
            </p:nvSpPr>
            <p:spPr>
              <a:xfrm>
                <a:off x="713232" y="4386071"/>
                <a:ext cx="698601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Bằng nhau: </a:t>
                </a:r>
                <a:r>
                  <a:rPr lang="vi-VN"/>
                  <a:t>\overrightarrow{AB}+\overrightarrow{AD}+\overrightarrow{AA'}=\overrightarrow{AC}+\overrightarrow{AA'}=\overrightarrow{AC'}</a:t>
                </a:r>
                <a:r>
                  <a:rPr sz="2200">
                    <a:solidFill>
                      <a:srgbClr val="1E293B"/>
                    </a:solidFill>
                    <a:latin typeface="Calibri"/>
                  </a:rPr>
                  <a:t> (</a:t>
                </a:r>
                <a:r>
                  <a:rPr lang="vi-VN"/>
                  <a:t>ACC'A'</a:t>
                </a:r>
                <a:r>
                  <a:rPr sz="2200">
                    <a:solidFill>
                      <a:srgbClr val="1E293B"/>
                    </a:solidFill>
                    <a:latin typeface="Calibri"/>
                  </a:rPr>
                  <a:t> là hình bình hành).</a:t>
                </a:r>
              </a:p>
            </p:txBody>
          </p:sp>
        </mc:Fallback>
      </mc:AlternateContent>
      <p:pic>
        <p:nvPicPr>
          <p:cNvPr id="12" name="Picture 11" descr="h214.png"/>
          <p:cNvPicPr>
            <a:picLocks noChangeAspect="1"/>
          </p:cNvPicPr>
          <p:nvPr/>
        </p:nvPicPr>
        <p:blipFill>
          <a:blip r:embed="rId3"/>
          <a:stretch>
            <a:fillRect/>
          </a:stretch>
        </p:blipFill>
        <p:spPr>
          <a:xfrm>
            <a:off x="8046720" y="1618503"/>
            <a:ext cx="3657600" cy="2615153"/>
          </a:xfrm>
          <a:prstGeom prst="rect">
            <a:avLst/>
          </a:prstGeom>
        </p:spPr>
      </p:pic>
      <p:sp>
        <p:nvSpPr>
          <p:cNvPr id="13" name="TextBox 12"/>
          <p:cNvSpPr txBox="1"/>
          <p:nvPr/>
        </p:nvSpPr>
        <p:spPr>
          <a:xfrm>
            <a:off x="8046720" y="4407408"/>
            <a:ext cx="36576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QUY TẮC HÌNH HỘP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28</a:t>
            </a:r>
          </a:p>
        </p:txBody>
      </p:sp>
      <p:sp>
        <p:nvSpPr>
          <p:cNvPr id="7" name="Rounded Rectangle 6"/>
          <p:cNvSpPr/>
          <p:nvPr/>
        </p:nvSpPr>
        <p:spPr>
          <a:xfrm>
            <a:off x="548640" y="1463040"/>
            <a:ext cx="7132320" cy="155448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6803136" cy="148132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Cho hình hộp </a:t>
                </a:r>
                <a14:m>
                  <m:oMath xmlns:m="http://schemas.openxmlformats.org/officeDocument/2006/math">
                    <m:r>
                      <a:rPr lang="vi-VN" sz="2600" b="0">
                        <a:solidFill>
                          <a:srgbClr val="1E293B"/>
                        </a:solidFill>
                        <a:latin typeface="Cambria Math" panose="02040503050406030204" pitchFamily="18" charset="0"/>
                      </a:rPr>
                      <m:t>ABCD.</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Khi đó, ta có</a:t>
                </a:r>
              </a:p>
              <a:p>
                <a:pPr algn="ctr">
                  <a:spcAft>
                    <a:spcPts val="800"/>
                  </a:spcAft>
                </a:pPr>
                <a:r>
                  <a:rPr sz="3000">
                    <a:solidFill>
                      <a:srgbClr val="1E293B"/>
                    </a:solidFill>
                    <a:latin typeface="Calibri"/>
                  </a:rPr>
                  <a:t> </a:t>
                </a:r>
                <a14:m>
                  <m:oMath xmlns:m="http://schemas.openxmlformats.org/officeDocument/2006/math">
                    <m:acc>
                      <m:accPr>
                        <m:chr m:val="⃗"/>
                      </m:accPr>
                      <m:e>
                        <m:r>
                          <a:rPr lang="vi-VN" sz="3000" b="0">
                            <a:solidFill>
                              <a:srgbClr val="1E293B"/>
                            </a:solidFill>
                            <a:latin typeface="Cambria Math" panose="02040503050406030204" pitchFamily="18" charset="0"/>
                          </a:rPr>
                          <m:t>AB</m:t>
                        </m:r>
                      </m:e>
                    </m:acc>
                    <m:r>
                      <a:rPr lang="vi-VN" sz="3000" b="0">
                        <a:solidFill>
                          <a:srgbClr val="1E293B"/>
                        </a:solidFill>
                        <a:latin typeface="Cambria Math" panose="02040503050406030204" pitchFamily="18" charset="0"/>
                      </a:rPr>
                      <m:t>+</m:t>
                    </m:r>
                    <m:acc>
                      <m:accPr>
                        <m:chr m:val="⃗"/>
                      </m:accPr>
                      <m:e>
                        <m:r>
                          <a:rPr lang="vi-VN" sz="3000" b="0">
                            <a:solidFill>
                              <a:srgbClr val="1E293B"/>
                            </a:solidFill>
                            <a:latin typeface="Cambria Math" panose="02040503050406030204" pitchFamily="18" charset="0"/>
                          </a:rPr>
                          <m:t>AD</m:t>
                        </m:r>
                      </m:e>
                    </m:acc>
                    <m:r>
                      <a:rPr lang="vi-VN" sz="3000" b="0">
                        <a:solidFill>
                          <a:srgbClr val="1E293B"/>
                        </a:solidFill>
                        <a:latin typeface="Cambria Math" panose="02040503050406030204" pitchFamily="18" charset="0"/>
                      </a:rPr>
                      <m:t>+</m:t>
                    </m:r>
                    <m:acc>
                      <m:accPr>
                        <m:chr m:val="⃗"/>
                      </m:accPr>
                      <m:e>
                        <m:r>
                          <a:rPr lang="vi-VN" sz="3000" b="0">
                            <a:solidFill>
                              <a:srgbClr val="1E293B"/>
                            </a:solidFill>
                            <a:latin typeface="Cambria Math" panose="02040503050406030204" pitchFamily="18" charset="0"/>
                          </a:rPr>
                          <m:t>A</m:t>
                        </m:r>
                        <m:sSup>
                          <m:e>
                            <m:r>
                              <a:rPr lang="vi-VN" sz="3000" b="0">
                                <a:solidFill>
                                  <a:srgbClr val="1E293B"/>
                                </a:solidFill>
                                <a:latin typeface="Cambria Math" panose="02040503050406030204" pitchFamily="18" charset="0"/>
                              </a:rPr>
                              <m:t>A</m:t>
                            </m:r>
                          </m:e>
                          <m:sup>
                            <m:r>
                              <a:rPr lang="vi-VN" sz="3000" b="0">
                                <a:solidFill>
                                  <a:srgbClr val="1E293B"/>
                                </a:solidFill>
                                <a:latin typeface="Cambria Math" panose="02040503050406030204" pitchFamily="18" charset="0"/>
                              </a:rPr>
                              <m:t>′</m:t>
                            </m:r>
                          </m:sup>
                        </m:sSup>
                      </m:e>
                    </m:acc>
                    <m:r>
                      <a:rPr lang="vi-VN" sz="3000" b="0">
                        <a:solidFill>
                          <a:srgbClr val="1E293B"/>
                        </a:solidFill>
                        <a:latin typeface="Cambria Math" panose="02040503050406030204" pitchFamily="18" charset="0"/>
                      </a:rPr>
                      <m:t>=</m:t>
                    </m:r>
                    <m:acc>
                      <m:accPr>
                        <m:chr m:val="⃗"/>
                      </m:accPr>
                      <m:e>
                        <m:r>
                          <a:rPr lang="vi-VN" sz="3000" b="0">
                            <a:solidFill>
                              <a:srgbClr val="1E293B"/>
                            </a:solidFill>
                            <a:latin typeface="Cambria Math" panose="02040503050406030204" pitchFamily="18" charset="0"/>
                          </a:rPr>
                          <m:t>A</m:t>
                        </m:r>
                        <m:sSup>
                          <m:e>
                            <m:r>
                              <a:rPr lang="vi-VN" sz="3000" b="0">
                                <a:solidFill>
                                  <a:srgbClr val="1E293B"/>
                                </a:solidFill>
                                <a:latin typeface="Cambria Math" panose="02040503050406030204" pitchFamily="18" charset="0"/>
                              </a:rPr>
                              <m:t>C</m:t>
                            </m:r>
                          </m:e>
                          <m:sup>
                            <m:r>
                              <a:rPr lang="vi-VN" sz="3000" b="0">
                                <a:solidFill>
                                  <a:srgbClr val="1E293B"/>
                                </a:solidFill>
                                <a:latin typeface="Cambria Math" panose="02040503050406030204" pitchFamily="18" charset="0"/>
                              </a:rPr>
                              <m:t>′</m:t>
                            </m:r>
                          </m:sup>
                        </m:sSup>
                      </m:e>
                    </m:acc>
                  </m:oMath>
                </a14:m>
              </a:p>
            </p:txBody>
          </p:sp>
        </mc:Choice>
        <mc:Fallback>
          <p:sp>
            <p:nvSpPr>
              <p:cNvPr id="8" name="TextBox 7"/>
              <p:cNvSpPr txBox="1"/>
              <p:nvPr/>
            </p:nvSpPr>
            <p:spPr>
              <a:xfrm>
                <a:off x="713232" y="1499616"/>
                <a:ext cx="6803136" cy="148132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Cho hình hộp </a:t>
                </a:r>
                <a:r>
                  <a:rPr lang="vi-VN"/>
                  <a:t>ABCD.A'B'C'D'</a:t>
                </a:r>
                <a:r>
                  <a:rPr sz="2600">
                    <a:solidFill>
                      <a:srgbClr val="1E293B"/>
                    </a:solidFill>
                    <a:latin typeface="Calibri"/>
                  </a:rPr>
                  <a:t>. Khi đó, ta có</a:t>
                </a:r>
              </a:p>
              <a:p>
                <a:pPr algn="ctr">
                  <a:spcAft>
                    <a:spcPts val="800"/>
                  </a:spcAft>
                </a:pPr>
                <a:r>
                  <a:rPr sz="3000">
                    <a:solidFill>
                      <a:srgbClr val="1E293B"/>
                    </a:solidFill>
                    <a:latin typeface="Calibri"/>
                  </a:rPr>
                  <a:t> </a:t>
                </a:r>
                <a:r>
                  <a:rPr lang="vi-VN"/>
                  <a:t>\overrightarrow{AB}+\overrightarrow{AD}+\overrightarrow{AA'}=\overrightarrow{AC'}</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3291840"/>
                <a:ext cx="7132320" cy="1097280"/>
              </a:xfrm>
              <a:prstGeom prst="rect">
                <a:avLst/>
              </a:prstGeom>
              <a:noFill/>
            </p:spPr>
            <p:txBody>
              <a:bodyPr wrap="square" anchor="t" lIns="45720" rIns="45720">
                <a:spAutoFit/>
              </a:bodyPr>
              <a:lstStyle/>
              <a:p>
                <a:pPr algn="l">
                  <a:spcAft>
                    <a:spcPts val="800"/>
                  </a:spcAft>
                </a:pPr>
                <a:r>
                  <a:rPr sz="2200">
                    <a:solidFill>
                      <a:srgbClr val="1E293B"/>
                    </a:solidFill>
                    <a:latin typeface="Calibri"/>
                  </a:rPr>
                  <a:t>❓ Trong Hình 2.14, hãy phát biểu quy tắc hình hộp với các vectơ có điểm đầu là </a:t>
                </a:r>
                <a14:m>
                  <m:oMath xmlns:m="http://schemas.openxmlformats.org/officeDocument/2006/math">
                    <m:r>
                      <a:rPr lang="vi-VN" sz="2200" b="0">
                        <a:solidFill>
                          <a:srgbClr val="1E293B"/>
                        </a:solidFill>
                        <a:latin typeface="Cambria Math" panose="02040503050406030204" pitchFamily="18" charset="0"/>
                      </a:rPr>
                      <m:t>B</m:t>
                    </m:r>
                  </m:oMath>
                </a14:m>
                <a:r>
                  <a:rPr sz="2200">
                    <a:solidFill>
                      <a:srgbClr val="1E293B"/>
                    </a:solidFill>
                    <a:latin typeface="Calibri"/>
                  </a:rPr>
                  <a:t>.</a:t>
                </a:r>
              </a:p>
            </p:txBody>
          </p:sp>
        </mc:Choice>
        <mc:Fallback>
          <p:sp>
            <p:nvSpPr>
              <p:cNvPr id="9" name="TextBox 8"/>
              <p:cNvSpPr txBox="1"/>
              <p:nvPr/>
            </p:nvSpPr>
            <p:spPr>
              <a:xfrm>
                <a:off x="548640" y="3291840"/>
                <a:ext cx="7132320" cy="1097280"/>
              </a:xfrm>
              <a:prstGeom prst="rect">
                <a:avLst/>
              </a:prstGeom>
              <a:noFill/>
            </p:spPr>
            <p:txBody>
              <a:bodyPr wrap="square" anchor="t" lIns="45720" rIns="45720">
                <a:spAutoFit/>
              </a:bodyPr>
              <a:lstStyle/>
              <a:p>
                <a:pPr algn="l">
                  <a:spcAft>
                    <a:spcPts val="800"/>
                  </a:spcAft>
                </a:pPr>
                <a:r>
                  <a:rPr sz="2200">
                    <a:solidFill>
                      <a:srgbClr val="1E293B"/>
                    </a:solidFill>
                    <a:latin typeface="Calibri"/>
                  </a:rPr>
                  <a:t>❓ Trong Hình 2.14, hãy phát biểu quy tắc hình hộp với các vectơ có điểm đầu là </a:t>
                </a:r>
                <a:r>
                  <a:rPr lang="vi-VN"/>
                  <a:t>B</a:t>
                </a:r>
                <a:r>
                  <a:rPr sz="2200">
                    <a:solidFill>
                      <a:srgbClr val="1E293B"/>
                    </a:solidFill>
                    <a:latin typeface="Calibri"/>
                  </a:rPr>
                  <a:t>.</a:t>
                </a:r>
              </a:p>
            </p:txBody>
          </p:sp>
        </mc:Fallback>
      </mc:AlternateContent>
      <p:sp>
        <p:nvSpPr>
          <p:cNvPr id="10" name="s1_nen"/>
          <p:cNvSpPr/>
          <p:nvPr/>
        </p:nvSpPr>
        <p:spPr>
          <a:xfrm>
            <a:off x="548640" y="4389120"/>
            <a:ext cx="7132320" cy="6614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713232" y="4425696"/>
                <a:ext cx="6803136" cy="588264"/>
              </a:xfrm>
              <a:prstGeom prst="rect">
                <a:avLst/>
              </a:prstGeom>
              <a:noFill/>
            </p:spPr>
            <p:txBody>
              <a:bodyPr wrap="square" anchor="ctr" lIns="45720" rIns="45720">
                <a:spAutoFit/>
              </a:bodyPr>
              <a:lstStyle/>
              <a:p>
                <a:pPr algn="l">
                  <a:spcAft>
                    <a:spcPts val="800"/>
                  </a:spcAft>
                </a:pP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BA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BC</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e>
                    </m:acc>
                  </m:oMath>
                </a14:m>
              </a:p>
            </p:txBody>
          </p:sp>
        </mc:Choice>
        <mc:Fallback>
          <p:sp>
            <p:nvSpPr>
              <p:cNvPr id="11" name="TextBox 10"/>
              <p:cNvSpPr txBox="1"/>
              <p:nvPr/>
            </p:nvSpPr>
            <p:spPr>
              <a:xfrm>
                <a:off x="713232" y="4425696"/>
                <a:ext cx="6803136" cy="588264"/>
              </a:xfrm>
              <a:prstGeom prst="rect">
                <a:avLst/>
              </a:prstGeom>
              <a:noFill/>
            </p:spPr>
            <p:txBody>
              <a:bodyPr wrap="square" anchor="ctr" lIns="45720" rIns="45720">
                <a:spAutoFit/>
              </a:bodyPr>
              <a:lstStyle/>
              <a:p>
                <a:pPr algn="l">
                  <a:spcAft>
                    <a:spcPts val="800"/>
                  </a:spcAft>
                </a:pPr>
                <a:r>
                  <a:rPr sz="2600">
                    <a:solidFill>
                      <a:srgbClr val="1E293B"/>
                    </a:solidFill>
                    <a:latin typeface="Calibri"/>
                  </a:rPr>
                  <a:t> </a:t>
                </a:r>
                <a:r>
                  <a:rPr lang="vi-VN"/>
                  <a:t>\overrightarrow{BA}+\overrightarrow{BC}+\overrightarrow{BB'}=\overrightarrow{BD'}</a:t>
                </a:r>
              </a:p>
            </p:txBody>
          </p:sp>
        </mc:Fallback>
      </mc:AlternateContent>
      <p:pic>
        <p:nvPicPr>
          <p:cNvPr id="12" name="Picture 11" descr="h214.png"/>
          <p:cNvPicPr>
            <a:picLocks noChangeAspect="1"/>
          </p:cNvPicPr>
          <p:nvPr/>
        </p:nvPicPr>
        <p:blipFill>
          <a:blip r:embed="rId3"/>
          <a:stretch>
            <a:fillRect/>
          </a:stretch>
        </p:blipFill>
        <p:spPr>
          <a:xfrm>
            <a:off x="7863840" y="1644564"/>
            <a:ext cx="3840480" cy="2745911"/>
          </a:xfrm>
          <a:prstGeom prst="rect">
            <a:avLst/>
          </a:prstGeom>
        </p:spPr>
      </p:pic>
      <p:sp>
        <p:nvSpPr>
          <p:cNvPr id="13" name="TextBox 12"/>
          <p:cNvSpPr txBox="1"/>
          <p:nvPr/>
        </p:nvSpPr>
        <p:spPr>
          <a:xfrm>
            <a:off x="7863840" y="4590288"/>
            <a:ext cx="38404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 3D</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GEOGEBRA 3D – QUY TẮC HÌNH HỘP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29</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Ba vectơ xanh dương: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vectơ xanh lá: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tổng (nét đứt cam) vẽ từ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luôn trùng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dù kéo điểm </a:t>
                </a:r>
                <a14:m>
                  <m:oMath xmlns:m="http://schemas.openxmlformats.org/officeDocument/2006/math">
                    <m:r>
                      <a:rPr lang="vi-VN" sz="2200" b="0">
                        <a:solidFill>
                          <a:srgbClr val="1E293B"/>
                        </a:solidFill>
                        <a:latin typeface="Cambria Math" panose="02040503050406030204" pitchFamily="18" charset="0"/>
                      </a:rPr>
                      <m:t>P</m:t>
                    </m:r>
                  </m:oMath>
                </a14:m>
                <a:r>
                  <a:rPr sz="2200">
                    <a:solidFill>
                      <a:srgbClr val="1E293B"/>
                    </a:solidFill>
                    <a:latin typeface="Calibri"/>
                  </a:rPr>
                  <a:t> đổi hình hộp.</a:t>
                </a:r>
              </a:p>
              <a:p>
                <a:pPr algn="l" marL="365760" indent="-365760">
                  <a:spcAft>
                    <a:spcPts val="800"/>
                  </a:spcAft>
                  <a:buClr>
                    <a:srgbClr val="1E40AF"/>
                  </a:buClr>
                  <a:buFont typeface="Arial"/>
                  <a:buChar char="•"/>
                </a:pPr>
                <a:r>
                  <a:rPr sz="2200">
                    <a:solidFill>
                      <a:srgbClr val="1E293B"/>
                    </a:solidFill>
                    <a:latin typeface="Calibri"/>
                  </a:rPr>
                  <a:t>Giá trị </a:t>
                </a:r>
                <a:r>
                  <a:rPr sz="2200" b="1">
                    <a:solidFill>
                      <a:srgbClr val="1E293B"/>
                    </a:solidFill>
                    <a:latin typeface="Calibri"/>
                  </a:rPr>
                  <a:t>kiemTra = true</a:t>
                </a:r>
                <a:r>
                  <a:rPr sz="2200">
                    <a:solidFill>
                      <a:srgbClr val="1E293B"/>
                    </a:solidFill>
                    <a:latin typeface="Calibri"/>
                  </a:rPr>
                  <a:t> khẳng định tổng bằng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Ba vectơ xanh dương: </a:t>
                </a:r>
                <a:r>
                  <a:rPr lang="vi-VN"/>
                  <a:t>\overrightarrow{AB},\ \overrightarrow{AD},\ \overrightarrow{AA'}</a:t>
                </a:r>
                <a:r>
                  <a:rPr sz="2200">
                    <a:solidFill>
                      <a:srgbClr val="1E293B"/>
                    </a:solidFill>
                    <a:latin typeface="Calibri"/>
                  </a:rPr>
                  <a:t>; vectơ xanh lá: </a:t>
                </a:r>
                <a:r>
                  <a:rPr lang="vi-VN"/>
                  <a:t>\overrightarrow{AC'}</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tổng (nét đứt cam) vẽ từ </a:t>
                </a:r>
                <a:r>
                  <a:rPr lang="vi-VN"/>
                  <a:t>A</a:t>
                </a:r>
                <a:r>
                  <a:rPr sz="2200">
                    <a:solidFill>
                      <a:srgbClr val="1E293B"/>
                    </a:solidFill>
                    <a:latin typeface="Calibri"/>
                  </a:rPr>
                  <a:t> luôn trùng </a:t>
                </a:r>
                <a:r>
                  <a:rPr lang="vi-VN"/>
                  <a:t>\overrightarrow{AC'}</a:t>
                </a:r>
                <a:r>
                  <a:rPr sz="2200">
                    <a:solidFill>
                      <a:srgbClr val="1E293B"/>
                    </a:solidFill>
                    <a:latin typeface="Calibri"/>
                  </a:rPr>
                  <a:t> dù kéo điểm </a:t>
                </a:r>
                <a:r>
                  <a:rPr lang="vi-VN"/>
                  <a:t>P</a:t>
                </a:r>
                <a:r>
                  <a:rPr sz="2200">
                    <a:solidFill>
                      <a:srgbClr val="1E293B"/>
                    </a:solidFill>
                    <a:latin typeface="Calibri"/>
                  </a:rPr>
                  <a:t> đổi hình hộp.</a:t>
                </a:r>
              </a:p>
              <a:p>
                <a:pPr algn="l" marL="365760" indent="-365760">
                  <a:spcAft>
                    <a:spcPts val="800"/>
                  </a:spcAft>
                  <a:buClr>
                    <a:srgbClr val="1E40AF"/>
                  </a:buClr>
                  <a:buFont typeface="Arial"/>
                  <a:buChar char="•"/>
                </a:pPr>
                <a:r>
                  <a:rPr sz="2200">
                    <a:solidFill>
                      <a:srgbClr val="1E293B"/>
                    </a:solidFill>
                    <a:latin typeface="Calibri"/>
                  </a:rPr>
                  <a:t>Giá trị </a:t>
                </a:r>
                <a:r>
                  <a:rPr sz="2200" b="1">
                    <a:solidFill>
                      <a:srgbClr val="1E293B"/>
                    </a:solidFill>
                    <a:latin typeface="Calibri"/>
                  </a:rPr>
                  <a:t>kiemTra = true</a:t>
                </a:r>
                <a:r>
                  <a:rPr sz="2200">
                    <a:solidFill>
                      <a:srgbClr val="1E293B"/>
                    </a:solidFill>
                    <a:latin typeface="Calibri"/>
                  </a:rPr>
                  <a:t> khẳng định tổng bằng </a:t>
                </a:r>
                <a:r>
                  <a:rPr lang="vi-VN"/>
                  <a:t>\overrightarrow{AC'}</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 3D</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để xoay hình, chụm/cuộn để phóng to.</a:t>
            </a:r>
          </a:p>
        </p:txBody>
      </p:sp>
      <p:pic>
        <p:nvPicPr>
          <p:cNvPr id="11" name="Picture 10" descr="h214.png"/>
          <p:cNvPicPr>
            <a:picLocks noChangeAspect="1"/>
          </p:cNvPicPr>
          <p:nvPr/>
        </p:nvPicPr>
        <p:blipFill>
          <a:blip r:embed="rId5"/>
          <a:stretch>
            <a:fillRect/>
          </a:stretch>
        </p:blipFill>
        <p:spPr>
          <a:xfrm>
            <a:off x="6858000" y="1970781"/>
            <a:ext cx="4846320" cy="346507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VÍ DỤ 5 VÀ LUYỆN TẬP 5 (SGK TR.50)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1440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5.</a:t>
                </a:r>
                <a:r>
                  <a:rPr sz="2200">
                    <a:solidFill>
                      <a:srgbClr val="1E293B"/>
                    </a:solidFill>
                    <a:latin typeface="Calibri"/>
                  </a:rPr>
                  <a:t> Cho hình hộp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Chứng minh rằng </a:t>
                </a:r>
                <a14:m>
                  <m:oMath xmlns:m="http://schemas.openxmlformats.org/officeDocument/2006/math">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7" name="TextBox 6"/>
              <p:cNvSpPr txBox="1"/>
              <p:nvPr/>
            </p:nvSpPr>
            <p:spPr>
              <a:xfrm>
                <a:off x="548640" y="1371600"/>
                <a:ext cx="11064240" cy="91440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5.</a:t>
                </a:r>
                <a:r>
                  <a:rPr sz="2200">
                    <a:solidFill>
                      <a:srgbClr val="1E293B"/>
                    </a:solidFill>
                    <a:latin typeface="Calibri"/>
                  </a:rPr>
                  <a:t> Cho hình hộp </a:t>
                </a:r>
                <a:r>
                  <a:rPr lang="vi-VN"/>
                  <a:t>ABCD.A'B'C'D'</a:t>
                </a:r>
                <a:r>
                  <a:rPr sz="2200">
                    <a:solidFill>
                      <a:srgbClr val="1E293B"/>
                    </a:solidFill>
                    <a:latin typeface="Calibri"/>
                  </a:rPr>
                  <a:t>. Chứng minh rằng </a:t>
                </a:r>
                <a:r>
                  <a:rPr lang="vi-VN"/>
                  <a:t>\overrightarrow{BC}+\overrightarrow{DC}+\overrightarrow{AA'}=\overrightarrow{AC'}</a:t>
                </a:r>
                <a:r>
                  <a:rPr sz="2200">
                    <a:solidFill>
                      <a:srgbClr val="1E293B"/>
                    </a:solidFill>
                    <a:latin typeface="Calibri"/>
                  </a:rPr>
                  <a:t>.</a:t>
                </a:r>
              </a:p>
            </p:txBody>
          </p:sp>
        </mc:Fallback>
      </mc:AlternateContent>
      <p:sp>
        <p:nvSpPr>
          <p:cNvPr id="8" name="s1_nen"/>
          <p:cNvSpPr/>
          <p:nvPr/>
        </p:nvSpPr>
        <p:spPr>
          <a:xfrm>
            <a:off x="548640" y="2286000"/>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225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là hình bình hành nên </a:t>
                </a:r>
                <a14:m>
                  <m:oMath xmlns:m="http://schemas.openxmlformats.org/officeDocument/2006/math">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DC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Áp dụng quy tắc hình hộp: </a:t>
                </a:r>
                <a14:m>
                  <m:oMath xmlns:m="http://schemas.openxmlformats.org/officeDocument/2006/math">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DC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9" name="TextBox 8"/>
              <p:cNvSpPr txBox="1"/>
              <p:nvPr/>
            </p:nvSpPr>
            <p:spPr>
              <a:xfrm>
                <a:off x="713232" y="23225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ABCD</a:t>
                </a:r>
                <a:r>
                  <a:rPr sz="2200">
                    <a:solidFill>
                      <a:srgbClr val="1E293B"/>
                    </a:solidFill>
                    <a:latin typeface="Calibri"/>
                  </a:rPr>
                  <a:t> là hình bình hành nên </a:t>
                </a:r>
                <a:r>
                  <a:rPr lang="vi-VN"/>
                  <a:t>\overrightarrow{BC}=\overrightarrow{AD}</a:t>
                </a:r>
                <a:r>
                  <a:rPr sz="2200">
                    <a:solidFill>
                      <a:srgbClr val="1E293B"/>
                    </a:solidFill>
                    <a:latin typeface="Calibri"/>
                  </a:rPr>
                  <a:t>, </a:t>
                </a:r>
                <a:r>
                  <a:rPr lang="vi-VN"/>
                  <a:t>\overrightarrow{DC}=\overrightarrow{AB}</a:t>
                </a:r>
                <a:r>
                  <a:rPr sz="2200">
                    <a:solidFill>
                      <a:srgbClr val="1E293B"/>
                    </a:solidFill>
                    <a:latin typeface="Calibri"/>
                  </a:rPr>
                  <a:t>. Áp dụng quy tắc hình hộp: </a:t>
                </a:r>
                <a:r>
                  <a:rPr lang="vi-VN"/>
                  <a:t>\overrightarrow{BC}+\overrightarrow{DC}+\overrightarrow{AA'}=\overrightarrow{AD}+\overrightarrow{AB}+\overrightarrow{AA'}=\overrightarrow{AC'}</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657600"/>
                <a:ext cx="11064240" cy="91440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5.</a:t>
                </a:r>
                <a:r>
                  <a:rPr sz="2200">
                    <a:solidFill>
                      <a:srgbClr val="1E293B"/>
                    </a:solidFill>
                    <a:latin typeface="Calibri"/>
                  </a:rPr>
                  <a:t> Cho hình hộp chữ nhật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Chứng minh rằng </a:t>
                </a:r>
                <a14:m>
                  <m:oMath xmlns:m="http://schemas.openxmlformats.org/officeDocument/2006/math">
                    <m:acc>
                      <m:accPr>
                        <m:chr m:val="⃗"/>
                      </m:accPr>
                      <m:e>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10" name="TextBox 9"/>
              <p:cNvSpPr txBox="1"/>
              <p:nvPr/>
            </p:nvSpPr>
            <p:spPr>
              <a:xfrm>
                <a:off x="548640" y="3657600"/>
                <a:ext cx="11064240" cy="91440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5.</a:t>
                </a:r>
                <a:r>
                  <a:rPr sz="2200">
                    <a:solidFill>
                      <a:srgbClr val="1E293B"/>
                    </a:solidFill>
                    <a:latin typeface="Calibri"/>
                  </a:rPr>
                  <a:t> Cho hình hộp chữ nhật </a:t>
                </a:r>
                <a:r>
                  <a:rPr lang="vi-VN"/>
                  <a:t>ABCD.A'B'C'D'</a:t>
                </a:r>
                <a:r>
                  <a:rPr sz="2200">
                    <a:solidFill>
                      <a:srgbClr val="1E293B"/>
                    </a:solidFill>
                    <a:latin typeface="Calibri"/>
                  </a:rPr>
                  <a:t>. Chứng minh rằng </a:t>
                </a:r>
                <a:r>
                  <a:rPr lang="vi-VN"/>
                  <a:t>\overrightarrow{BB'}+\overrightarrow{CD}+\overrightarrow{AD}=\overrightarrow{BD'}</a:t>
                </a:r>
                <a:r>
                  <a:rPr sz="2200">
                    <a:solidFill>
                      <a:srgbClr val="1E293B"/>
                    </a:solidFill>
                    <a:latin typeface="Calibri"/>
                  </a:rPr>
                  <a:t>.</a:t>
                </a:r>
              </a:p>
            </p:txBody>
          </p:sp>
        </mc:Fallback>
      </mc:AlternateContent>
      <p:sp>
        <p:nvSpPr>
          <p:cNvPr id="11" name="s3_nen"/>
          <p:cNvSpPr/>
          <p:nvPr/>
        </p:nvSpPr>
        <p:spPr>
          <a:xfrm>
            <a:off x="548640" y="457200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60857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BA</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(quy tắc hình hộp).</a:t>
                </a:r>
              </a:p>
            </p:txBody>
          </p:sp>
        </mc:Choice>
        <mc:Fallback>
          <p:sp>
            <p:nvSpPr>
              <p:cNvPr id="12" name="TextBox 11"/>
              <p:cNvSpPr txBox="1"/>
              <p:nvPr/>
            </p:nvSpPr>
            <p:spPr>
              <a:xfrm>
                <a:off x="713232" y="460857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\overrightarrow{CD}=\overrightarrow{BA}</a:t>
                </a:r>
                <a:r>
                  <a:rPr sz="2200">
                    <a:solidFill>
                      <a:srgbClr val="1E293B"/>
                    </a:solidFill>
                    <a:latin typeface="Calibri"/>
                  </a:rPr>
                  <a:t>, </a:t>
                </a:r>
                <a:r>
                  <a:rPr lang="vi-VN"/>
                  <a:t>\overrightarrow{AD}=\overrightarrow{BC}</a:t>
                </a:r>
                <a:r>
                  <a:rPr sz="2200">
                    <a:solidFill>
                      <a:srgbClr val="1E293B"/>
                    </a:solidFill>
                    <a:latin typeface="Calibri"/>
                  </a:rPr>
                  <a:t> nên </a:t>
                </a:r>
                <a:r>
                  <a:rPr lang="vi-VN"/>
                  <a:t>\overrightarrow{BB'}+\overrightarrow{CD}+\overrightarrow{AD}=\overrightarrow{BB'}+\overrightarrow{BA}+\overrightarrow{BC}=\overrightarrow{BD'}</a:t>
                </a:r>
                <a:r>
                  <a:rPr sz="2200">
                    <a:solidFill>
                      <a:srgbClr val="1E293B"/>
                    </a:solidFill>
                    <a:latin typeface="Calibri"/>
                  </a:rPr>
                  <a:t> (quy tắc hình hộp).</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TIẾP SỨC ĐỒNG ĐỘI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54864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hộp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Điền vectơ thích hợp:</a:t>
                </a:r>
              </a:p>
            </p:txBody>
          </p:sp>
        </mc:Choice>
        <mc:Fallback>
          <p:sp>
            <p:nvSpPr>
              <p:cNvPr id="7" name="TextBox 6"/>
              <p:cNvSpPr txBox="1"/>
              <p:nvPr/>
            </p:nvSpPr>
            <p:spPr>
              <a:xfrm>
                <a:off x="548640" y="1371600"/>
                <a:ext cx="7315200" cy="54864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hộp </a:t>
                </a:r>
                <a:r>
                  <a:rPr lang="vi-VN"/>
                  <a:t>ABCD.A'B'C'D'</a:t>
                </a:r>
                <a:r>
                  <a:rPr sz="2200">
                    <a:solidFill>
                      <a:srgbClr val="1E293B"/>
                    </a:solidFill>
                    <a:latin typeface="Calibri"/>
                  </a:rPr>
                  <a:t>. Điền vectơ thích hợp:</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057400"/>
                <a:ext cx="5394960" cy="8686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Ô 1.</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BC</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C</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8" name="TextBox 7"/>
              <p:cNvSpPr txBox="1"/>
              <p:nvPr/>
            </p:nvSpPr>
            <p:spPr>
              <a:xfrm>
                <a:off x="548640" y="2057400"/>
                <a:ext cx="5394960" cy="8686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Ô 1.</a:t>
                </a:r>
                <a:r>
                  <a:rPr sz="2400">
                    <a:solidFill>
                      <a:srgbClr val="1E293B"/>
                    </a:solidFill>
                    <a:latin typeface="Calibri"/>
                  </a:rPr>
                  <a:t> </a:t>
                </a:r>
                <a:r>
                  <a:rPr lang="vi-VN"/>
                  <a:t>\overrightarrow{AB}+\overrightarrow{BC}+\overrightarrow{CC'}=\ ?</a:t>
                </a:r>
              </a:p>
            </p:txBody>
          </p:sp>
        </mc:Fallback>
      </mc:AlternateContent>
      <p:sp>
        <p:nvSpPr>
          <p:cNvPr id="9" name="s1_nen"/>
          <p:cNvSpPr/>
          <p:nvPr/>
        </p:nvSpPr>
        <p:spPr>
          <a:xfrm>
            <a:off x="5943600" y="2011680"/>
            <a:ext cx="182880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s1_chu"/>
              <p:cNvSpPr txBox="1"/>
              <p:nvPr/>
            </p:nvSpPr>
            <p:spPr>
              <a:xfrm>
                <a:off x="6108192" y="2048256"/>
                <a:ext cx="149961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10" name="TextBox 9"/>
              <p:cNvSpPr txBox="1"/>
              <p:nvPr/>
            </p:nvSpPr>
            <p:spPr>
              <a:xfrm>
                <a:off x="6108192" y="2048256"/>
                <a:ext cx="149961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\overrightarrow{AC'}</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548640" y="3081528"/>
                <a:ext cx="5394960" cy="8686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Ô 2.</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AD</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11" name="TextBox 10"/>
              <p:cNvSpPr txBox="1"/>
              <p:nvPr/>
            </p:nvSpPr>
            <p:spPr>
              <a:xfrm>
                <a:off x="548640" y="3081528"/>
                <a:ext cx="5394960" cy="8686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Ô 2.</a:t>
                </a:r>
                <a:r>
                  <a:rPr sz="2400">
                    <a:solidFill>
                      <a:srgbClr val="1E293B"/>
                    </a:solidFill>
                    <a:latin typeface="Calibri"/>
                  </a:rPr>
                  <a:t> </a:t>
                </a:r>
                <a:r>
                  <a:rPr lang="vi-VN"/>
                  <a:t>\overrightarrow{AB}+\overrightarrow{AD}+\overrightarrow{AA'}=\ ?</a:t>
                </a:r>
              </a:p>
            </p:txBody>
          </p:sp>
        </mc:Fallback>
      </mc:AlternateContent>
      <p:sp>
        <p:nvSpPr>
          <p:cNvPr id="12" name="s2_nen"/>
          <p:cNvSpPr/>
          <p:nvPr/>
        </p:nvSpPr>
        <p:spPr>
          <a:xfrm>
            <a:off x="5943600" y="3035808"/>
            <a:ext cx="182880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2_chu"/>
              <p:cNvSpPr txBox="1"/>
              <p:nvPr/>
            </p:nvSpPr>
            <p:spPr>
              <a:xfrm>
                <a:off x="6108192" y="3072384"/>
                <a:ext cx="149961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13" name="TextBox 12"/>
              <p:cNvSpPr txBox="1"/>
              <p:nvPr/>
            </p:nvSpPr>
            <p:spPr>
              <a:xfrm>
                <a:off x="6108192" y="3072384"/>
                <a:ext cx="149961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\overrightarrow{AC'}</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548640" y="4105656"/>
                <a:ext cx="5394960" cy="8686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Ô 3.</a:t>
                </a:r>
                <a:r>
                  <a:rPr sz="2400">
                    <a:solidFill>
                      <a:srgbClr val="1E293B"/>
                    </a:solidFill>
                    <a:latin typeface="Calibri"/>
                  </a:rPr>
                  <a:t> </a:t>
                </a:r>
                <a14:m>
                  <m:oMath xmlns:m="http://schemas.openxmlformats.org/officeDocument/2006/math">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14" name="TextBox 13"/>
              <p:cNvSpPr txBox="1"/>
              <p:nvPr/>
            </p:nvSpPr>
            <p:spPr>
              <a:xfrm>
                <a:off x="548640" y="4105656"/>
                <a:ext cx="5394960" cy="8686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Ô 3.</a:t>
                </a:r>
                <a:r>
                  <a:rPr sz="2400">
                    <a:solidFill>
                      <a:srgbClr val="1E293B"/>
                    </a:solidFill>
                    <a:latin typeface="Calibri"/>
                  </a:rPr>
                  <a:t> </a:t>
                </a:r>
                <a:r>
                  <a:rPr lang="vi-VN"/>
                  <a:t>\overrightarrow{A'B'}+\overrightarrow{B'C'}=\ ?</a:t>
                </a:r>
              </a:p>
            </p:txBody>
          </p:sp>
        </mc:Fallback>
      </mc:AlternateContent>
      <p:sp>
        <p:nvSpPr>
          <p:cNvPr id="15" name="s3_nen"/>
          <p:cNvSpPr/>
          <p:nvPr/>
        </p:nvSpPr>
        <p:spPr>
          <a:xfrm>
            <a:off x="5943600" y="4059936"/>
            <a:ext cx="182880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s3_chu"/>
              <p:cNvSpPr txBox="1"/>
              <p:nvPr/>
            </p:nvSpPr>
            <p:spPr>
              <a:xfrm>
                <a:off x="6108192" y="4096512"/>
                <a:ext cx="149961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16" name="TextBox 15"/>
              <p:cNvSpPr txBox="1"/>
              <p:nvPr/>
            </p:nvSpPr>
            <p:spPr>
              <a:xfrm>
                <a:off x="6108192" y="4096512"/>
                <a:ext cx="149961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\overrightarrow{A'C'}</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548640" y="5129784"/>
                <a:ext cx="5394960" cy="8686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Ô 4.</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DA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DC</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D</m:t>
                        </m:r>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p:txBody>
          </p:sp>
        </mc:Choice>
        <mc:Fallback>
          <p:sp>
            <p:nvSpPr>
              <p:cNvPr id="17" name="TextBox 16"/>
              <p:cNvSpPr txBox="1"/>
              <p:nvPr/>
            </p:nvSpPr>
            <p:spPr>
              <a:xfrm>
                <a:off x="548640" y="5129784"/>
                <a:ext cx="5394960" cy="8686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Ô 4.</a:t>
                </a:r>
                <a:r>
                  <a:rPr sz="2400">
                    <a:solidFill>
                      <a:srgbClr val="1E293B"/>
                    </a:solidFill>
                    <a:latin typeface="Calibri"/>
                  </a:rPr>
                  <a:t> </a:t>
                </a:r>
                <a:r>
                  <a:rPr lang="vi-VN"/>
                  <a:t>\overrightarrow{DA}+\overrightarrow{DC}+\overrightarrow{DD'}=\ ?</a:t>
                </a:r>
              </a:p>
            </p:txBody>
          </p:sp>
        </mc:Fallback>
      </mc:AlternateContent>
      <p:sp>
        <p:nvSpPr>
          <p:cNvPr id="18" name="s4_nen"/>
          <p:cNvSpPr/>
          <p:nvPr/>
        </p:nvSpPr>
        <p:spPr>
          <a:xfrm>
            <a:off x="5943600" y="5084064"/>
            <a:ext cx="182880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9" name="s4_chu"/>
              <p:cNvSpPr txBox="1"/>
              <p:nvPr/>
            </p:nvSpPr>
            <p:spPr>
              <a:xfrm>
                <a:off x="6108192" y="5120640"/>
                <a:ext cx="149961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D</m:t>
                        </m:r>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e>
                    </m:acc>
                  </m:oMath>
                </a14:m>
              </a:p>
            </p:txBody>
          </p:sp>
        </mc:Choice>
        <mc:Fallback>
          <p:sp>
            <p:nvSpPr>
              <p:cNvPr id="19" name="TextBox 18"/>
              <p:cNvSpPr txBox="1"/>
              <p:nvPr/>
            </p:nvSpPr>
            <p:spPr>
              <a:xfrm>
                <a:off x="6108192" y="5120640"/>
                <a:ext cx="149961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\overrightarrow{DB'}</a:t>
                </a:r>
              </a:p>
            </p:txBody>
          </p:sp>
        </mc:Fallback>
      </mc:AlternateContent>
      <p:pic>
        <p:nvPicPr>
          <p:cNvPr id="20" name="Picture 19" descr="h214.png"/>
          <p:cNvPicPr>
            <a:picLocks noChangeAspect="1"/>
          </p:cNvPicPr>
          <p:nvPr/>
        </p:nvPicPr>
        <p:blipFill>
          <a:blip r:embed="rId3"/>
          <a:stretch>
            <a:fillRect/>
          </a:stretch>
        </p:blipFill>
        <p:spPr>
          <a:xfrm>
            <a:off x="8046720" y="1892823"/>
            <a:ext cx="3657600" cy="2615153"/>
          </a:xfrm>
          <a:prstGeom prst="rect">
            <a:avLst/>
          </a:prstGeom>
        </p:spPr>
      </p:pic>
      <p:sp>
        <p:nvSpPr>
          <p:cNvPr id="21" name="TextBox 20"/>
          <p:cNvSpPr txBox="1"/>
          <p:nvPr/>
        </p:nvSpPr>
        <p:spPr>
          <a:xfrm>
            <a:off x="8046720" y="4773168"/>
            <a:ext cx="36576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hộp ABCD.A'B'C'D'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32</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Tổng hai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(quy tắc ba điểm), quy tắc hình bình hành – đúng cả trong không gian.</a:t>
                </a:r>
              </a:p>
              <a:p>
                <a:pPr algn="l" marL="365760" indent="-365760">
                  <a:spcAft>
                    <a:spcPts val="800"/>
                  </a:spcAft>
                  <a:buClr>
                    <a:srgbClr val="1E40AF"/>
                  </a:buClr>
                  <a:buFont typeface="Arial"/>
                  <a:buChar char="•"/>
                </a:pPr>
                <a:r>
                  <a:rPr sz="2200">
                    <a:solidFill>
                      <a:srgbClr val="1E293B"/>
                    </a:solidFill>
                    <a:latin typeface="Calibri"/>
                  </a:rPr>
                  <a:t>Quy tắc hình hộp: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Tổng hai vectơ: </a:t>
                </a:r>
                <a:r>
                  <a:rPr lang="vi-VN"/>
                  <a:t>\overrightarrow{AB}+\overrightarrow{BC}=\overrightarrow{AC}</a:t>
                </a:r>
                <a:r>
                  <a:rPr sz="2200">
                    <a:solidFill>
                      <a:srgbClr val="1E293B"/>
                    </a:solidFill>
                    <a:latin typeface="Calibri"/>
                  </a:rPr>
                  <a:t> (quy tắc ba điểm), quy tắc hình bình hành – đúng cả trong không gian.</a:t>
                </a:r>
              </a:p>
              <a:p>
                <a:pPr algn="l" marL="365760" indent="-365760">
                  <a:spcAft>
                    <a:spcPts val="800"/>
                  </a:spcAft>
                  <a:buClr>
                    <a:srgbClr val="1E40AF"/>
                  </a:buClr>
                  <a:buFont typeface="Arial"/>
                  <a:buChar char="•"/>
                </a:pPr>
                <a:r>
                  <a:rPr sz="2200">
                    <a:solidFill>
                      <a:srgbClr val="1E293B"/>
                    </a:solidFill>
                    <a:latin typeface="Calibri"/>
                  </a:rPr>
                  <a:t>Quy tắc hình hộp: </a:t>
                </a:r>
                <a:r>
                  <a:rPr lang="vi-VN"/>
                  <a:t>\overrightarrow{AB}+\overrightarrow{AD}+\overrightarrow{AA'}=\overrightarrow{AC'}</a:t>
                </a:r>
                <a:r>
                  <a:rPr sz="2200">
                    <a:solidFill>
                      <a:srgbClr val="1E293B"/>
                    </a:solidFill>
                    <a:latin typeface="Calibri"/>
                  </a:rPr>
                  <a:t>.</a:t>
                </a:r>
              </a:p>
            </p:txBody>
          </p:sp>
        </mc:Fallback>
      </mc:AlternateContent>
      <p:sp>
        <p:nvSpPr>
          <p:cNvPr id="9" name="Rounded Rectangle 8"/>
          <p:cNvSpPr/>
          <p:nvPr/>
        </p:nvSpPr>
        <p:spPr>
          <a:xfrm>
            <a:off x="548640" y="3063240"/>
            <a:ext cx="11064240" cy="180746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99816"/>
            <a:ext cx="10735056" cy="173431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2.4 (SGK tr.58).</a:t>
            </a:r>
          </a:p>
          <a:p>
            <a:pPr algn="l" marL="365760" indent="-365760">
              <a:spcAft>
                <a:spcPts val="800"/>
              </a:spcAft>
              <a:buClr>
                <a:srgbClr val="1E40AF"/>
              </a:buClr>
              <a:buFont typeface="Arial"/>
              <a:buChar char="•"/>
            </a:pPr>
            <a:r>
              <a:rPr sz="2200">
                <a:solidFill>
                  <a:srgbClr val="1E293B"/>
                </a:solidFill>
                <a:latin typeface="Calibri"/>
              </a:rPr>
              <a:t>Đọc trước mục 2b – Hiệu của hai vectơ; mục 3 – Tích của một số với một vectơ.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(T30)</a:t>
            </a:r>
          </a:p>
          <a:p>
            <a:pPr>
              <a:spcAft>
                <a:spcPts val="600"/>
              </a:spcAft>
            </a:pPr>
            <a:r>
              <a:rPr sz="4000" b="1">
                <a:solidFill>
                  <a:srgbClr val="FFFFFF"/>
                </a:solidFill>
                <a:latin typeface="Cambria"/>
              </a:rPr>
              <a:t>Hiệu của hai vectơ. Tích của một số với một vectơ</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vectơ đối; thực hiện phép trừ vectơ.</a:t>
            </a:r>
          </a:p>
          <a:p>
            <a:pPr algn="l">
              <a:spcAft>
                <a:spcPts val="800"/>
              </a:spcAft>
            </a:pPr>
            <a:r>
              <a:rPr sz="2200">
                <a:solidFill>
                  <a:srgbClr val="E0E7FF"/>
                </a:solidFill>
                <a:latin typeface="Calibri"/>
              </a:rPr>
              <a:t>• Thực hiện phép nhân một số với một vectơ; điều kiện hai vectơ cùng phương.</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2B. HIỆU CỦA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34</a:t>
            </a:r>
          </a:p>
        </p:txBody>
      </p:sp>
      <p:sp>
        <p:nvSpPr>
          <p:cNvPr id="7" name="TextBox 6"/>
          <p:cNvSpPr txBox="1"/>
          <p:nvPr/>
        </p:nvSpPr>
        <p:spPr>
          <a:xfrm>
            <a:off x="548640" y="1371600"/>
            <a:ext cx="8229600" cy="228600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HĐ5. Nhận biết vectơ đối của một vectơ trong không gian.</a:t>
            </a:r>
            <a:r>
              <a:rPr sz="2200">
                <a:solidFill>
                  <a:srgbClr val="1E293B"/>
                </a:solidFill>
                <a:latin typeface="Calibri"/>
              </a:rPr>
              <a:t> Hình 2.15 mô tả một lọ hoa được đặt trên bàn, trọng lượng của lọ hoa tạo nên một lực tác dụng lên mặt bàn và một phản lực từ mặt bàn lên lọ hoa. Có nhận xét gì về độ dài và hướng của các vectơ biểu diễn hai lực đó?</a:t>
            </a:r>
          </a:p>
        </p:txBody>
      </p:sp>
      <p:sp>
        <p:nvSpPr>
          <p:cNvPr id="8" name="s1_nen"/>
          <p:cNvSpPr/>
          <p:nvPr/>
        </p:nvSpPr>
        <p:spPr>
          <a:xfrm>
            <a:off x="548640" y="3749039"/>
            <a:ext cx="822960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3785615"/>
            <a:ext cx="790041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Hai vectơ có </a:t>
            </a:r>
            <a:r>
              <a:rPr sz="2200" b="1">
                <a:solidFill>
                  <a:srgbClr val="1E293B"/>
                </a:solidFill>
                <a:latin typeface="Calibri"/>
              </a:rPr>
              <a:t>cùng độ dài</a:t>
            </a:r>
            <a:r>
              <a:rPr sz="2200">
                <a:solidFill>
                  <a:srgbClr val="1E293B"/>
                </a:solidFill>
                <a:latin typeface="Calibri"/>
              </a:rPr>
              <a:t> và </a:t>
            </a:r>
            <a:r>
              <a:rPr sz="2200" b="1">
                <a:solidFill>
                  <a:srgbClr val="1E293B"/>
                </a:solidFill>
                <a:latin typeface="Calibri"/>
              </a:rPr>
              <a:t>ngược hướng</a:t>
            </a:r>
            <a:r>
              <a:rPr sz="2200">
                <a:solidFill>
                  <a:srgbClr val="1E293B"/>
                </a:solidFill>
                <a:latin typeface="Calibri"/>
              </a:rPr>
              <a:t>.</a:t>
            </a:r>
          </a:p>
        </p:txBody>
      </p:sp>
      <p:pic>
        <p:nvPicPr>
          <p:cNvPr id="10" name="Picture 9" descr="h215.png"/>
          <p:cNvPicPr>
            <a:picLocks noChangeAspect="1"/>
          </p:cNvPicPr>
          <p:nvPr/>
        </p:nvPicPr>
        <p:blipFill>
          <a:blip r:embed="rId3"/>
          <a:stretch>
            <a:fillRect/>
          </a:stretch>
        </p:blipFill>
        <p:spPr>
          <a:xfrm>
            <a:off x="9052560" y="1498029"/>
            <a:ext cx="2651760" cy="3221862"/>
          </a:xfrm>
          <a:prstGeom prst="rect">
            <a:avLst/>
          </a:prstGeom>
        </p:spPr>
      </p:pic>
      <p:sp>
        <p:nvSpPr>
          <p:cNvPr id="11" name="TextBox 10"/>
          <p:cNvSpPr txBox="1"/>
          <p:nvPr/>
        </p:nvSpPr>
        <p:spPr>
          <a:xfrm>
            <a:off x="9052560" y="4773168"/>
            <a:ext cx="26517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VECTƠ ĐỐI – HIỆU CỦA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35</a:t>
            </a:r>
          </a:p>
        </p:txBody>
      </p:sp>
      <p:sp>
        <p:nvSpPr>
          <p:cNvPr id="7" name="Rounded Rectangle 6"/>
          <p:cNvSpPr/>
          <p:nvPr/>
        </p:nvSpPr>
        <p:spPr>
          <a:xfrm>
            <a:off x="548640" y="1371600"/>
            <a:ext cx="11064240" cy="93573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Trong không gian, vectơ có cùng độ dài và ngược hướng với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được gọi là </a:t>
                </a:r>
                <a:r>
                  <a:rPr sz="2200" b="1">
                    <a:solidFill>
                      <a:srgbClr val="1E293B"/>
                    </a:solidFill>
                    <a:latin typeface="Calibri"/>
                  </a:rPr>
                  <a:t>vectơ đối</a:t>
                </a:r>
                <a:r>
                  <a:rPr sz="2200">
                    <a:solidFill>
                      <a:srgbClr val="1E293B"/>
                    </a:solidFill>
                    <a:latin typeface="Calibri"/>
                  </a:rPr>
                  <a:t> của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kí hiệu là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a:t>
                </a:r>
              </a:p>
            </p:txBody>
          </p:sp>
        </mc:Choice>
        <mc:Fallback>
          <p:sp>
            <p:nvSpPr>
              <p:cNvPr id="8" name="TextBox 7"/>
              <p:cNvSpPr txBox="1"/>
              <p:nvPr/>
            </p:nvSpPr>
            <p:spPr>
              <a:xfrm>
                <a:off x="713232" y="1408176"/>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Trong không gian, vectơ có cùng độ dài và ngược hướng với vectơ </a:t>
                </a:r>
                <a:r>
                  <a:rPr lang="vi-VN"/>
                  <a:t>\vec{a}</a:t>
                </a:r>
                <a:r>
                  <a:rPr sz="2200">
                    <a:solidFill>
                      <a:srgbClr val="1E293B"/>
                    </a:solidFill>
                    <a:latin typeface="Calibri"/>
                  </a:rPr>
                  <a:t> được gọi là </a:t>
                </a:r>
                <a:r>
                  <a:rPr sz="2200" b="1">
                    <a:solidFill>
                      <a:srgbClr val="1E293B"/>
                    </a:solidFill>
                    <a:latin typeface="Calibri"/>
                  </a:rPr>
                  <a:t>vectơ đối</a:t>
                </a:r>
                <a:r>
                  <a:rPr sz="2200">
                    <a:solidFill>
                      <a:srgbClr val="1E293B"/>
                    </a:solidFill>
                    <a:latin typeface="Calibri"/>
                  </a:rPr>
                  <a:t> của vectơ </a:t>
                </a:r>
                <a:r>
                  <a:rPr lang="vi-VN"/>
                  <a:t>\vec{a}</a:t>
                </a:r>
                <a:r>
                  <a:rPr sz="2200">
                    <a:solidFill>
                      <a:srgbClr val="1E293B"/>
                    </a:solidFill>
                    <a:latin typeface="Calibri"/>
                  </a:rPr>
                  <a:t>, kí hiệu là </a:t>
                </a:r>
                <a:r>
                  <a:rPr lang="vi-VN"/>
                  <a:t>-\vec{a}</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80"/>
                <a:ext cx="11064240" cy="13716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Hai vectơ là đối nhau nếu và chỉ nếu tổng của chúng bằng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a:t>
                </a:r>
                <a14:m>
                  <m:oMath xmlns:m="http://schemas.openxmlformats.org/officeDocument/2006/math">
                    <m:acc>
                      <m:accPr>
                        <m:chr m:val="⃗"/>
                      </m:accPr>
                      <m:e>
                        <m:r>
                          <a:rPr lang="vi-VN" sz="2200" b="0">
                            <a:solidFill>
                              <a:srgbClr val="1E293B"/>
                            </a:solidFill>
                            <a:latin typeface="Cambria Math" panose="02040503050406030204" pitchFamily="18" charset="0"/>
                          </a:rPr>
                          <m:t>BA</m:t>
                        </m:r>
                      </m:e>
                    </m:acc>
                  </m:oMath>
                </a14:m>
                <a:r>
                  <a:rPr sz="2200">
                    <a:solidFill>
                      <a:srgbClr val="1E293B"/>
                    </a:solidFill>
                    <a:latin typeface="Calibri"/>
                  </a:rPr>
                  <a:t> là một vectơ đối của vectơ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Vectơ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được coi là vectơ đối của chính nó.</a:t>
                </a:r>
              </a:p>
            </p:txBody>
          </p:sp>
        </mc:Choice>
        <mc:Fallback>
          <p:sp>
            <p:nvSpPr>
              <p:cNvPr id="9" name="TextBox 8"/>
              <p:cNvSpPr txBox="1"/>
              <p:nvPr/>
            </p:nvSpPr>
            <p:spPr>
              <a:xfrm>
                <a:off x="548640" y="2468880"/>
                <a:ext cx="11064240" cy="13716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Hai vectơ là đối nhau nếu và chỉ nếu tổng của chúng bằng </a:t>
                </a:r>
                <a:r>
                  <a:rPr lang="vi-VN"/>
                  <a:t>\vec{0}</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a:t>
                </a:r>
                <a:r>
                  <a:rPr lang="vi-VN"/>
                  <a:t>\overrightarrow{BA}</a:t>
                </a:r>
                <a:r>
                  <a:rPr sz="2200">
                    <a:solidFill>
                      <a:srgbClr val="1E293B"/>
                    </a:solidFill>
                    <a:latin typeface="Calibri"/>
                  </a:rPr>
                  <a:t> là một vectơ đối của vectơ </a:t>
                </a:r>
                <a:r>
                  <a:rPr lang="vi-VN"/>
                  <a:t>\overrightarrow{AB}</a:t>
                </a:r>
                <a:r>
                  <a:rPr sz="2200">
                    <a:solidFill>
                      <a:srgbClr val="1E293B"/>
                    </a:solidFill>
                    <a:latin typeface="Calibri"/>
                  </a:rPr>
                  <a:t>. Vectơ </a:t>
                </a:r>
                <a:r>
                  <a:rPr lang="vi-VN"/>
                  <a:t>\vec{0}</a:t>
                </a:r>
                <a:r>
                  <a:rPr sz="2200">
                    <a:solidFill>
                      <a:srgbClr val="1E293B"/>
                    </a:solidFill>
                    <a:latin typeface="Calibri"/>
                  </a:rPr>
                  <a:t> được coi là vectơ đối của chính nó.</a:t>
                </a:r>
              </a:p>
            </p:txBody>
          </p:sp>
        </mc:Fallback>
      </mc:AlternateContent>
      <p:sp>
        <p:nvSpPr>
          <p:cNvPr id="10" name="Rounded Rectangle 9"/>
          <p:cNvSpPr/>
          <p:nvPr/>
        </p:nvSpPr>
        <p:spPr>
          <a:xfrm>
            <a:off x="548640" y="3886200"/>
            <a:ext cx="11064240" cy="103632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713232" y="3922776"/>
                <a:ext cx="10735056" cy="963167"/>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oMath>
                </a14:m>
                <a:r>
                  <a:rPr sz="2200">
                    <a:solidFill>
                      <a:srgbClr val="1E293B"/>
                    </a:solidFill>
                    <a:latin typeface="Calibri"/>
                  </a:rPr>
                  <a:t> được gọi là </a:t>
                </a:r>
                <a:r>
                  <a:rPr sz="2200" b="1">
                    <a:solidFill>
                      <a:srgbClr val="1E293B"/>
                    </a:solidFill>
                    <a:latin typeface="Calibri"/>
                  </a:rPr>
                  <a:t>hiệu của hai vectơ</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và kí hiệu là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a:t>
                </a:r>
              </a:p>
              <a:p>
                <a:pPr algn="l">
                  <a:spcAft>
                    <a:spcPts val="800"/>
                  </a:spcAft>
                </a:pPr>
                <a:r>
                  <a:rPr sz="2200">
                    <a:solidFill>
                      <a:srgbClr val="1E293B"/>
                    </a:solidFill>
                    <a:latin typeface="Calibri"/>
                  </a:rPr>
                  <a:t>Trong không gian, phép lấy hiệu của hai vectơ được gọi là </a:t>
                </a:r>
                <a:r>
                  <a:rPr sz="2200" b="1">
                    <a:solidFill>
                      <a:srgbClr val="1E293B"/>
                    </a:solidFill>
                    <a:latin typeface="Calibri"/>
                  </a:rPr>
                  <a:t>phép trừ vectơ</a:t>
                </a:r>
                <a:r>
                  <a:rPr sz="2200">
                    <a:solidFill>
                      <a:srgbClr val="1E293B"/>
                    </a:solidFill>
                    <a:latin typeface="Calibri"/>
                  </a:rPr>
                  <a:t>.</a:t>
                </a:r>
              </a:p>
            </p:txBody>
          </p:sp>
        </mc:Choice>
        <mc:Fallback>
          <p:sp>
            <p:nvSpPr>
              <p:cNvPr id="11" name="TextBox 10"/>
              <p:cNvSpPr txBox="1"/>
              <p:nvPr/>
            </p:nvSpPr>
            <p:spPr>
              <a:xfrm>
                <a:off x="713232" y="3922776"/>
                <a:ext cx="10735056" cy="963167"/>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Vectơ </a:t>
                </a:r>
                <a:r>
                  <a:rPr lang="vi-VN"/>
                  <a:t>\vec{a}+(-\vec{b})</a:t>
                </a:r>
                <a:r>
                  <a:rPr sz="2200">
                    <a:solidFill>
                      <a:srgbClr val="1E293B"/>
                    </a:solidFill>
                    <a:latin typeface="Calibri"/>
                  </a:rPr>
                  <a:t> được gọi là </a:t>
                </a:r>
                <a:r>
                  <a:rPr sz="2200" b="1">
                    <a:solidFill>
                      <a:srgbClr val="1E293B"/>
                    </a:solidFill>
                    <a:latin typeface="Calibri"/>
                  </a:rPr>
                  <a:t>hiệu của hai vectơ</a:t>
                </a:r>
                <a:r>
                  <a:rPr sz="2200">
                    <a:solidFill>
                      <a:srgbClr val="1E293B"/>
                    </a:solidFill>
                    <a:latin typeface="Calibri"/>
                  </a:rPr>
                  <a:t> </a:t>
                </a:r>
                <a:r>
                  <a:rPr lang="vi-VN"/>
                  <a:t>\vec{a}</a:t>
                </a:r>
                <a:r>
                  <a:rPr sz="2200">
                    <a:solidFill>
                      <a:srgbClr val="1E293B"/>
                    </a:solidFill>
                    <a:latin typeface="Calibri"/>
                  </a:rPr>
                  <a:t> và </a:t>
                </a:r>
                <a:r>
                  <a:rPr lang="vi-VN"/>
                  <a:t>\vec{b}</a:t>
                </a:r>
                <a:r>
                  <a:rPr sz="2200">
                    <a:solidFill>
                      <a:srgbClr val="1E293B"/>
                    </a:solidFill>
                    <a:latin typeface="Calibri"/>
                  </a:rPr>
                  <a:t> và kí hiệu là </a:t>
                </a:r>
                <a:r>
                  <a:rPr lang="vi-VN"/>
                  <a:t>\vec{a}-\vec{b}</a:t>
                </a:r>
                <a:r>
                  <a:rPr sz="2200">
                    <a:solidFill>
                      <a:srgbClr val="1E293B"/>
                    </a:solidFill>
                    <a:latin typeface="Calibri"/>
                  </a:rPr>
                  <a:t>.</a:t>
                </a:r>
              </a:p>
              <a:p>
                <a:pPr algn="l">
                  <a:spcAft>
                    <a:spcPts val="800"/>
                  </a:spcAft>
                </a:pPr>
                <a:r>
                  <a:rPr sz="2200">
                    <a:solidFill>
                      <a:srgbClr val="1E293B"/>
                    </a:solidFill>
                    <a:latin typeface="Calibri"/>
                  </a:rPr>
                  <a:t>Trong không gian, phép lấy hiệu của hai vectơ được gọi là </a:t>
                </a:r>
                <a:r>
                  <a:rPr sz="2200" b="1">
                    <a:solidFill>
                      <a:srgbClr val="1E293B"/>
                    </a:solidFill>
                    <a:latin typeface="Calibri"/>
                  </a:rPr>
                  <a:t>phép trừ vectơ</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5440680"/>
                <a:ext cx="11064240" cy="73152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Nhận xét.</a:t>
                </a:r>
                <a:r>
                  <a:rPr sz="2200">
                    <a:solidFill>
                      <a:srgbClr val="1E293B"/>
                    </a:solidFill>
                    <a:latin typeface="Calibri"/>
                  </a:rPr>
                  <a:t> Với ba điểm </a:t>
                </a:r>
                <a14:m>
                  <m:oMath xmlns:m="http://schemas.openxmlformats.org/officeDocument/2006/math">
                    <m:r>
                      <a:rPr lang="vi-VN" sz="2200" b="0">
                        <a:solidFill>
                          <a:srgbClr val="1E293B"/>
                        </a:solidFill>
                        <a:latin typeface="Cambria Math" panose="02040503050406030204" pitchFamily="18" charset="0"/>
                      </a:rPr>
                      <m:t>O,</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A,</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B</m:t>
                    </m:r>
                  </m:oMath>
                </a14:m>
                <a:r>
                  <a:rPr sz="2200">
                    <a:solidFill>
                      <a:srgbClr val="1E293B"/>
                    </a:solidFill>
                    <a:latin typeface="Calibri"/>
                  </a:rPr>
                  <a:t> bất kì trong không gian, ta có </a:t>
                </a:r>
                <a14:m>
                  <m:oMath xmlns:m="http://schemas.openxmlformats.org/officeDocument/2006/math">
                    <m:acc>
                      <m:accPr>
                        <m:chr m:val="⃗"/>
                      </m:accPr>
                      <m:e>
                        <m:r>
                          <a:rPr lang="vi-VN" sz="2200" b="0">
                            <a:solidFill>
                              <a:srgbClr val="1E293B"/>
                            </a:solidFill>
                            <a:latin typeface="Cambria Math" panose="02040503050406030204" pitchFamily="18" charset="0"/>
                          </a:rPr>
                          <m:t>OB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OA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a:t>
                </a:r>
              </a:p>
            </p:txBody>
          </p:sp>
        </mc:Choice>
        <mc:Fallback>
          <p:sp>
            <p:nvSpPr>
              <p:cNvPr id="12" name="TextBox 11"/>
              <p:cNvSpPr txBox="1"/>
              <p:nvPr/>
            </p:nvSpPr>
            <p:spPr>
              <a:xfrm>
                <a:off x="548640" y="5440680"/>
                <a:ext cx="11064240" cy="73152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Nhận xét.</a:t>
                </a:r>
                <a:r>
                  <a:rPr sz="2200">
                    <a:solidFill>
                      <a:srgbClr val="1E293B"/>
                    </a:solidFill>
                    <a:latin typeface="Calibri"/>
                  </a:rPr>
                  <a:t> Với ba điểm </a:t>
                </a:r>
                <a:r>
                  <a:rPr lang="vi-VN"/>
                  <a:t>O,\ A,\ B</a:t>
                </a:r>
                <a:r>
                  <a:rPr sz="2200">
                    <a:solidFill>
                      <a:srgbClr val="1E293B"/>
                    </a:solidFill>
                    <a:latin typeface="Calibri"/>
                  </a:rPr>
                  <a:t> bất kì trong không gian, ta có </a:t>
                </a:r>
                <a:r>
                  <a:rPr lang="vi-VN"/>
                  <a:t>\overrightarrow{OB}-\overrightarrow{OA}=\overrightarrow{AB}</a:t>
                </a:r>
                <a:r>
                  <a:rPr sz="2200">
                    <a:solidFill>
                      <a:srgbClr val="1E293B"/>
                    </a:solidFill>
                    <a:latin typeface="Calibri"/>
                  </a:rPr>
                  <a:t>.</a:t>
                </a: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6 (SGK TR.51)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73736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chóp </a:t>
                </a:r>
                <a14:m>
                  <m:oMath xmlns:m="http://schemas.openxmlformats.org/officeDocument/2006/math">
                    <m:r>
                      <a:rPr lang="vi-VN" sz="2200" b="0">
                        <a:solidFill>
                          <a:srgbClr val="1E293B"/>
                        </a:solidFill>
                        <a:latin typeface="Cambria Math" panose="02040503050406030204" pitchFamily="18" charset="0"/>
                      </a:rPr>
                      <m:t>S.ABCD</m:t>
                    </m:r>
                  </m:oMath>
                </a14:m>
                <a:r>
                  <a:rPr sz="2200">
                    <a:solidFill>
                      <a:srgbClr val="1E293B"/>
                    </a:solidFill>
                    <a:latin typeface="Calibri"/>
                  </a:rPr>
                  <a:t> có đáy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là hình bình hành. Gọi </a:t>
                </a:r>
                <a14:m>
                  <m:oMath xmlns:m="http://schemas.openxmlformats.org/officeDocument/2006/math">
                    <m:r>
                      <a:rPr lang="vi-VN" sz="2200" b="0">
                        <a:solidFill>
                          <a:srgbClr val="1E293B"/>
                        </a:solidFill>
                        <a:latin typeface="Cambria Math" panose="02040503050406030204" pitchFamily="18" charset="0"/>
                      </a:rPr>
                      <m:t>M,</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N</m:t>
                    </m:r>
                  </m:oMath>
                </a14:m>
                <a:r>
                  <a:rPr sz="2200">
                    <a:solidFill>
                      <a:srgbClr val="1E293B"/>
                    </a:solidFill>
                    <a:latin typeface="Calibri"/>
                  </a:rPr>
                  <a:t> lần lượt là trung điểm của </a:t>
                </a:r>
                <a14:m>
                  <m:oMath xmlns:m="http://schemas.openxmlformats.org/officeDocument/2006/math">
                    <m:r>
                      <a:rPr lang="vi-VN" sz="2200" b="0">
                        <a:solidFill>
                          <a:srgbClr val="1E293B"/>
                        </a:solidFill>
                        <a:latin typeface="Cambria Math" panose="02040503050406030204" pitchFamily="18" charset="0"/>
                      </a:rPr>
                      <m:t>AB,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CD</m:t>
                    </m:r>
                  </m:oMath>
                </a14:m>
                <a:r>
                  <a:rPr sz="2200">
                    <a:solidFill>
                      <a:srgbClr val="1E293B"/>
                    </a:solidFill>
                    <a:latin typeface="Calibri"/>
                  </a:rPr>
                  <a:t> (H.2.16). Chứng minh rằng:</a:t>
                </a:r>
              </a:p>
              <a:p>
                <a:pPr algn="l">
                  <a:spcAft>
                    <a:spcPts val="800"/>
                  </a:spcAft>
                </a:pPr>
                <a:r>
                  <a:rPr sz="2200">
                    <a:solidFill>
                      <a:srgbClr val="1E293B"/>
                    </a:solidFill>
                    <a:latin typeface="Calibri"/>
                  </a:rPr>
                  <a:t>a) </a:t>
                </a:r>
                <a14:m>
                  <m:oMath xmlns:m="http://schemas.openxmlformats.org/officeDocument/2006/math">
                    <m:acc>
                      <m:accPr>
                        <m:chr m:val="⃗"/>
                      </m:accPr>
                      <m:e>
                        <m:r>
                          <a:rPr lang="vi-VN" sz="2200" b="0">
                            <a:solidFill>
                              <a:srgbClr val="1E293B"/>
                            </a:solidFill>
                            <a:latin typeface="Cambria Math" panose="02040503050406030204" pitchFamily="18" charset="0"/>
                          </a:rPr>
                          <m:t>AM</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CN</m:t>
                        </m:r>
                      </m:e>
                    </m:acc>
                  </m:oMath>
                </a14:m>
                <a:r>
                  <a:rPr sz="2200">
                    <a:solidFill>
                      <a:srgbClr val="1E293B"/>
                    </a:solidFill>
                    <a:latin typeface="Calibri"/>
                  </a:rPr>
                  <a:t> là hai vectơ đối nhau;   b) </a:t>
                </a:r>
                <a14:m>
                  <m:oMath xmlns:m="http://schemas.openxmlformats.org/officeDocument/2006/math">
                    <m:acc>
                      <m:accPr>
                        <m:chr m:val="⃗"/>
                      </m:accPr>
                      <m:e>
                        <m:r>
                          <a:rPr lang="vi-VN" sz="2200" b="0">
                            <a:solidFill>
                              <a:srgbClr val="1E293B"/>
                            </a:solidFill>
                            <a:latin typeface="Cambria Math" panose="02040503050406030204" pitchFamily="18" charset="0"/>
                          </a:rPr>
                          <m:t>SC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AN</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SA</m:t>
                        </m:r>
                      </m:e>
                    </m:acc>
                  </m:oMath>
                </a14:m>
                <a:r>
                  <a:rPr sz="2200">
                    <a:solidFill>
                      <a:srgbClr val="1E293B"/>
                    </a:solidFill>
                    <a:latin typeface="Calibri"/>
                  </a:rPr>
                  <a:t>.</a:t>
                </a:r>
              </a:p>
            </p:txBody>
          </p:sp>
        </mc:Choice>
        <mc:Fallback>
          <p:sp>
            <p:nvSpPr>
              <p:cNvPr id="7" name="TextBox 6"/>
              <p:cNvSpPr txBox="1"/>
              <p:nvPr/>
            </p:nvSpPr>
            <p:spPr>
              <a:xfrm>
                <a:off x="548640" y="1371600"/>
                <a:ext cx="8595360" cy="173736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chóp </a:t>
                </a:r>
                <a:r>
                  <a:rPr lang="vi-VN"/>
                  <a:t>S.ABCD</a:t>
                </a:r>
                <a:r>
                  <a:rPr sz="2200">
                    <a:solidFill>
                      <a:srgbClr val="1E293B"/>
                    </a:solidFill>
                    <a:latin typeface="Calibri"/>
                  </a:rPr>
                  <a:t> có đáy </a:t>
                </a:r>
                <a:r>
                  <a:rPr lang="vi-VN"/>
                  <a:t>ABCD</a:t>
                </a:r>
                <a:r>
                  <a:rPr sz="2200">
                    <a:solidFill>
                      <a:srgbClr val="1E293B"/>
                    </a:solidFill>
                    <a:latin typeface="Calibri"/>
                  </a:rPr>
                  <a:t> là hình bình hành. Gọi </a:t>
                </a:r>
                <a:r>
                  <a:rPr lang="vi-VN"/>
                  <a:t>M,\ N</a:t>
                </a:r>
                <a:r>
                  <a:rPr sz="2200">
                    <a:solidFill>
                      <a:srgbClr val="1E293B"/>
                    </a:solidFill>
                    <a:latin typeface="Calibri"/>
                  </a:rPr>
                  <a:t> lần lượt là trung điểm của </a:t>
                </a:r>
                <a:r>
                  <a:rPr lang="vi-VN"/>
                  <a:t>AB,\ CD</a:t>
                </a:r>
                <a:r>
                  <a:rPr sz="2200">
                    <a:solidFill>
                      <a:srgbClr val="1E293B"/>
                    </a:solidFill>
                    <a:latin typeface="Calibri"/>
                  </a:rPr>
                  <a:t> (H.2.16). Chứng minh rằng:</a:t>
                </a:r>
              </a:p>
              <a:p>
                <a:pPr algn="l">
                  <a:spcAft>
                    <a:spcPts val="800"/>
                  </a:spcAft>
                </a:pPr>
                <a:r>
                  <a:rPr sz="2200">
                    <a:solidFill>
                      <a:srgbClr val="1E293B"/>
                    </a:solidFill>
                    <a:latin typeface="Calibri"/>
                  </a:rPr>
                  <a:t>a) </a:t>
                </a:r>
                <a:r>
                  <a:rPr lang="vi-VN"/>
                  <a:t>\overrightarrow{AM}</a:t>
                </a:r>
                <a:r>
                  <a:rPr sz="2200">
                    <a:solidFill>
                      <a:srgbClr val="1E293B"/>
                    </a:solidFill>
                    <a:latin typeface="Calibri"/>
                  </a:rPr>
                  <a:t> và </a:t>
                </a:r>
                <a:r>
                  <a:rPr lang="vi-VN"/>
                  <a:t>\overrightarrow{CN}</a:t>
                </a:r>
                <a:r>
                  <a:rPr sz="2200">
                    <a:solidFill>
                      <a:srgbClr val="1E293B"/>
                    </a:solidFill>
                    <a:latin typeface="Calibri"/>
                  </a:rPr>
                  <a:t> là hai vectơ đối nhau;   b) </a:t>
                </a:r>
                <a:r>
                  <a:rPr lang="vi-VN"/>
                  <a:t>\overrightarrow{SC}-\overrightarrow{AM}-\overrightarrow{AN}=\overrightarrow{SA}</a:t>
                </a:r>
                <a:r>
                  <a:rPr sz="2200">
                    <a:solidFill>
                      <a:srgbClr val="1E293B"/>
                    </a:solidFill>
                    <a:latin typeface="Calibri"/>
                  </a:rPr>
                  <a:t>.</a:t>
                </a:r>
              </a:p>
            </p:txBody>
          </p:sp>
        </mc:Fallback>
      </mc:AlternateContent>
      <p:sp>
        <p:nvSpPr>
          <p:cNvPr id="8" name="s1_nen"/>
          <p:cNvSpPr/>
          <p:nvPr/>
        </p:nvSpPr>
        <p:spPr>
          <a:xfrm>
            <a:off x="548640" y="3200400"/>
            <a:ext cx="859536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236976"/>
                <a:ext cx="82661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r>
                      <a:rPr lang="vi-VN" sz="2100" b="0">
                        <a:solidFill>
                          <a:srgbClr val="1E293B"/>
                        </a:solidFill>
                        <a:latin typeface="Cambria Math" panose="02040503050406030204" pitchFamily="18" charset="0"/>
                      </a:rPr>
                      <m:t>ABCD</m:t>
                    </m:r>
                  </m:oMath>
                </a14:m>
                <a:r>
                  <a:rPr sz="2100">
                    <a:solidFill>
                      <a:srgbClr val="1E293B"/>
                    </a:solidFill>
                    <a:latin typeface="Calibri"/>
                  </a:rPr>
                  <a:t> là hình bình hành nên </a:t>
                </a:r>
                <a14:m>
                  <m:oMath xmlns:m="http://schemas.openxmlformats.org/officeDocument/2006/math">
                    <m:r>
                      <a:rPr lang="vi-VN" sz="2100" b="0">
                        <a:solidFill>
                          <a:srgbClr val="1E293B"/>
                        </a:solidFill>
                        <a:latin typeface="Cambria Math" panose="02040503050406030204" pitchFamily="18" charset="0"/>
                      </a:rPr>
                      <m:t>AB=CD</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AB∥CD</m:t>
                    </m:r>
                  </m:oMath>
                </a14:m>
                <a:r>
                  <a:rPr sz="2100">
                    <a:solidFill>
                      <a:srgbClr val="1E293B"/>
                    </a:solidFill>
                    <a:latin typeface="Calibri"/>
                  </a:rPr>
                  <a:t>, suy ra </a:t>
                </a:r>
                <a14:m>
                  <m:oMath xmlns:m="http://schemas.openxmlformats.org/officeDocument/2006/math">
                    <m:r>
                      <a:rPr lang="vi-VN" sz="2100" b="0">
                        <a:solidFill>
                          <a:srgbClr val="1E293B"/>
                        </a:solidFill>
                        <a:latin typeface="Cambria Math" panose="02040503050406030204" pitchFamily="18" charset="0"/>
                      </a:rPr>
                      <m:t>AM=CN</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AM∥CN</m:t>
                    </m:r>
                  </m:oMath>
                </a14:m>
                <a:r>
                  <a:rPr sz="2100">
                    <a:solidFill>
                      <a:srgbClr val="1E293B"/>
                    </a:solidFill>
                    <a:latin typeface="Calibri"/>
                  </a:rPr>
                  <a:t>. Hai vectơ </a:t>
                </a:r>
                <a14:m>
                  <m:oMath xmlns:m="http://schemas.openxmlformats.org/officeDocument/2006/math">
                    <m:acc>
                      <m:accPr>
                        <m:chr m:val="⃗"/>
                      </m:accPr>
                      <m:e>
                        <m:r>
                          <a:rPr lang="vi-VN" sz="2100" b="0">
                            <a:solidFill>
                              <a:srgbClr val="1E293B"/>
                            </a:solidFill>
                            <a:latin typeface="Cambria Math" panose="02040503050406030204" pitchFamily="18" charset="0"/>
                          </a:rPr>
                          <m:t>AM</m:t>
                        </m:r>
                      </m:e>
                    </m:acc>
                  </m:oMath>
                </a14:m>
                <a:r>
                  <a:rPr sz="2100">
                    <a:solidFill>
                      <a:srgbClr val="1E293B"/>
                    </a:solidFill>
                    <a:latin typeface="Calibri"/>
                  </a:rPr>
                  <a:t> và </a:t>
                </a:r>
                <a14:m>
                  <m:oMath xmlns:m="http://schemas.openxmlformats.org/officeDocument/2006/math">
                    <m:acc>
                      <m:accPr>
                        <m:chr m:val="⃗"/>
                      </m:accPr>
                      <m:e>
                        <m:r>
                          <a:rPr lang="vi-VN" sz="2100" b="0">
                            <a:solidFill>
                              <a:srgbClr val="1E293B"/>
                            </a:solidFill>
                            <a:latin typeface="Cambria Math" panose="02040503050406030204" pitchFamily="18" charset="0"/>
                          </a:rPr>
                          <m:t>CN</m:t>
                        </m:r>
                      </m:e>
                    </m:acc>
                  </m:oMath>
                </a14:m>
                <a:r>
                  <a:rPr sz="2100">
                    <a:solidFill>
                      <a:srgbClr val="1E293B"/>
                    </a:solidFill>
                    <a:latin typeface="Calibri"/>
                  </a:rPr>
                  <a:t> cùng độ dài, ngược hướng nên đối nhau.</a:t>
                </a:r>
              </a:p>
            </p:txBody>
          </p:sp>
        </mc:Choice>
        <mc:Fallback>
          <p:sp>
            <p:nvSpPr>
              <p:cNvPr id="9" name="TextBox 8"/>
              <p:cNvSpPr txBox="1"/>
              <p:nvPr/>
            </p:nvSpPr>
            <p:spPr>
              <a:xfrm>
                <a:off x="713232" y="3236976"/>
                <a:ext cx="82661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ABCD</a:t>
                </a:r>
                <a:r>
                  <a:rPr sz="2100">
                    <a:solidFill>
                      <a:srgbClr val="1E293B"/>
                    </a:solidFill>
                    <a:latin typeface="Calibri"/>
                  </a:rPr>
                  <a:t> là hình bình hành nên </a:t>
                </a:r>
                <a:r>
                  <a:rPr lang="vi-VN"/>
                  <a:t>AB=CD</a:t>
                </a:r>
                <a:r>
                  <a:rPr sz="2100">
                    <a:solidFill>
                      <a:srgbClr val="1E293B"/>
                    </a:solidFill>
                    <a:latin typeface="Calibri"/>
                  </a:rPr>
                  <a:t>, </a:t>
                </a:r>
                <a:r>
                  <a:rPr lang="vi-VN"/>
                  <a:t>AB\parallel CD</a:t>
                </a:r>
                <a:r>
                  <a:rPr sz="2100">
                    <a:solidFill>
                      <a:srgbClr val="1E293B"/>
                    </a:solidFill>
                    <a:latin typeface="Calibri"/>
                  </a:rPr>
                  <a:t>, suy ra </a:t>
                </a:r>
                <a:r>
                  <a:rPr lang="vi-VN"/>
                  <a:t>AM=CN</a:t>
                </a:r>
                <a:r>
                  <a:rPr sz="2100">
                    <a:solidFill>
                      <a:srgbClr val="1E293B"/>
                    </a:solidFill>
                    <a:latin typeface="Calibri"/>
                  </a:rPr>
                  <a:t> và </a:t>
                </a:r>
                <a:r>
                  <a:rPr lang="vi-VN"/>
                  <a:t>AM\parallel CN</a:t>
                </a:r>
                <a:r>
                  <a:rPr sz="2100">
                    <a:solidFill>
                      <a:srgbClr val="1E293B"/>
                    </a:solidFill>
                    <a:latin typeface="Calibri"/>
                  </a:rPr>
                  <a:t>. Hai vectơ </a:t>
                </a:r>
                <a:r>
                  <a:rPr lang="vi-VN"/>
                  <a:t>\overrightarrow{AM}</a:t>
                </a:r>
                <a:r>
                  <a:rPr sz="2100">
                    <a:solidFill>
                      <a:srgbClr val="1E293B"/>
                    </a:solidFill>
                    <a:latin typeface="Calibri"/>
                  </a:rPr>
                  <a:t> và </a:t>
                </a:r>
                <a:r>
                  <a:rPr lang="vi-VN"/>
                  <a:t>\overrightarrow{CN}</a:t>
                </a:r>
                <a:r>
                  <a:rPr sz="2100">
                    <a:solidFill>
                      <a:srgbClr val="1E293B"/>
                    </a:solidFill>
                    <a:latin typeface="Calibri"/>
                  </a:rPr>
                  <a:t> cùng độ dài, ngược hướng nên đối nhau.</a:t>
                </a:r>
              </a:p>
            </p:txBody>
          </p:sp>
        </mc:Fallback>
      </mc:AlternateContent>
      <p:sp>
        <p:nvSpPr>
          <p:cNvPr id="10" name="s2_nen"/>
          <p:cNvSpPr/>
          <p:nvPr/>
        </p:nvSpPr>
        <p:spPr>
          <a:xfrm>
            <a:off x="548640" y="4517136"/>
            <a:ext cx="85953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553712"/>
                <a:ext cx="82661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Từ a: </a:t>
                </a:r>
                <a14:m>
                  <m:oMath xmlns:m="http://schemas.openxmlformats.org/officeDocument/2006/math">
                    <m:acc>
                      <m:accPr>
                        <m:chr m:val="⃗"/>
                      </m:accPr>
                      <m:e>
                        <m:r>
                          <a:rPr lang="vi-VN" sz="2100" b="0">
                            <a:solidFill>
                              <a:srgbClr val="1E293B"/>
                            </a:solidFill>
                            <a:latin typeface="Cambria Math" panose="02040503050406030204" pitchFamily="18" charset="0"/>
                          </a:rPr>
                          <m:t>CN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m:t>
                        </m:r>
                      </m:e>
                    </m:acc>
                  </m:oMath>
                </a14:m>
                <a:r>
                  <a:rPr sz="2100">
                    <a:solidFill>
                      <a:srgbClr val="1E293B"/>
                    </a:solidFill>
                    <a:latin typeface="Calibri"/>
                  </a:rPr>
                  <a:t>. Suy ra </a:t>
                </a:r>
                <a14:m>
                  <m:oMath xmlns:m="http://schemas.openxmlformats.org/officeDocument/2006/math">
                    <m:acc>
                      <m:accPr>
                        <m:chr m:val="⃗"/>
                      </m:accPr>
                      <m:e>
                        <m:r>
                          <a:rPr lang="vi-VN" sz="2100" b="0">
                            <a:solidFill>
                              <a:srgbClr val="1E293B"/>
                            </a:solidFill>
                            <a:latin typeface="Cambria Math" panose="02040503050406030204" pitchFamily="18" charset="0"/>
                          </a:rPr>
                          <m:t>SC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NA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SA</m:t>
                        </m:r>
                      </m:e>
                    </m:acc>
                  </m:oMath>
                </a14:m>
                <a:r>
                  <a:rPr sz="2100">
                    <a:solidFill>
                      <a:srgbClr val="1E293B"/>
                    </a:solidFill>
                    <a:latin typeface="Calibri"/>
                  </a:rPr>
                  <a:t>.</a:t>
                </a:r>
              </a:p>
            </p:txBody>
          </p:sp>
        </mc:Choice>
        <mc:Fallback>
          <p:sp>
            <p:nvSpPr>
              <p:cNvPr id="11" name="TextBox 10"/>
              <p:cNvSpPr txBox="1"/>
              <p:nvPr/>
            </p:nvSpPr>
            <p:spPr>
              <a:xfrm>
                <a:off x="713232" y="4553712"/>
                <a:ext cx="82661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Từ a: </a:t>
                </a:r>
                <a:r>
                  <a:rPr lang="vi-VN"/>
                  <a:t>\overrightarrow{CN}=-\overrightarrow{AM}</a:t>
                </a:r>
                <a:r>
                  <a:rPr sz="2100">
                    <a:solidFill>
                      <a:srgbClr val="1E293B"/>
                    </a:solidFill>
                    <a:latin typeface="Calibri"/>
                  </a:rPr>
                  <a:t>. Suy ra </a:t>
                </a:r>
                <a:r>
                  <a:rPr lang="vi-VN"/>
                  <a:t>\overrightarrow{SC}-\overrightarrow{AM}-\overrightarrow{AN}=\overrightarrow{SC}+\overrightarrow{CN}-\overrightarrow{AN}=\overrightarrow{SN}-\overrightarrow{AN}=\overrightarrow{SN}+\overrightarrow{NA}=\overrightarrow{SA}</a:t>
                </a:r>
                <a:r>
                  <a:rPr sz="2100">
                    <a:solidFill>
                      <a:srgbClr val="1E293B"/>
                    </a:solidFill>
                    <a:latin typeface="Calibri"/>
                  </a:rPr>
                  <a:t>.</a:t>
                </a:r>
              </a:p>
            </p:txBody>
          </p:sp>
        </mc:Fallback>
      </mc:AlternateContent>
      <p:pic>
        <p:nvPicPr>
          <p:cNvPr id="12" name="Picture 11" descr="h216.png"/>
          <p:cNvPicPr>
            <a:picLocks noChangeAspect="1"/>
          </p:cNvPicPr>
          <p:nvPr/>
        </p:nvPicPr>
        <p:blipFill>
          <a:blip r:embed="rId3"/>
          <a:stretch>
            <a:fillRect/>
          </a:stretch>
        </p:blipFill>
        <p:spPr>
          <a:xfrm>
            <a:off x="9326880" y="1610836"/>
            <a:ext cx="2377440" cy="2447607"/>
          </a:xfrm>
          <a:prstGeom prst="rect">
            <a:avLst/>
          </a:prstGeom>
        </p:spPr>
      </p:pic>
      <p:sp>
        <p:nvSpPr>
          <p:cNvPr id="13" name="TextBox 12"/>
          <p:cNvSpPr txBox="1"/>
          <p:nvPr/>
        </p:nvSpPr>
        <p:spPr>
          <a:xfrm>
            <a:off x="9326880" y="4224527"/>
            <a:ext cx="23774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6 (SGK TR.52)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73736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Ví dụ 6, chứng minh rằng:</a:t>
                </a:r>
              </a:p>
              <a:p>
                <a:pPr algn="l">
                  <a:spcAft>
                    <a:spcPts val="800"/>
                  </a:spcAft>
                </a:pPr>
                <a:r>
                  <a:rPr sz="2200">
                    <a:solidFill>
                      <a:srgbClr val="1E293B"/>
                    </a:solidFill>
                    <a:latin typeface="Calibri"/>
                  </a:rPr>
                  <a:t>a) </a:t>
                </a:r>
                <a14:m>
                  <m:oMath xmlns:m="http://schemas.openxmlformats.org/officeDocument/2006/math">
                    <m:acc>
                      <m:accPr>
                        <m:chr m:val="⃗"/>
                      </m:accPr>
                      <m:e>
                        <m:r>
                          <a:rPr lang="vi-VN" sz="2200" b="0">
                            <a:solidFill>
                              <a:srgbClr val="1E293B"/>
                            </a:solidFill>
                            <a:latin typeface="Cambria Math" panose="02040503050406030204" pitchFamily="18" charset="0"/>
                          </a:rPr>
                          <m:t>BN</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DM</m:t>
                        </m:r>
                      </m:e>
                    </m:acc>
                  </m:oMath>
                </a14:m>
                <a:r>
                  <a:rPr sz="2200">
                    <a:solidFill>
                      <a:srgbClr val="1E293B"/>
                    </a:solidFill>
                    <a:latin typeface="Calibri"/>
                  </a:rPr>
                  <a:t> là hai vectơ đối nhau;</a:t>
                </a:r>
              </a:p>
              <a:p>
                <a:pPr algn="l">
                  <a:spcAft>
                    <a:spcPts val="800"/>
                  </a:spcAft>
                </a:pPr>
                <a:r>
                  <a:rPr sz="2200">
                    <a:solidFill>
                      <a:srgbClr val="1E293B"/>
                    </a:solidFill>
                    <a:latin typeface="Calibri"/>
                  </a:rPr>
                  <a:t>b) </a:t>
                </a:r>
                <a14:m>
                  <m:oMath xmlns:m="http://schemas.openxmlformats.org/officeDocument/2006/math">
                    <m:acc>
                      <m:accPr>
                        <m:chr m:val="⃗"/>
                      </m:accPr>
                      <m:e>
                        <m:r>
                          <a:rPr lang="vi-VN" sz="2200" b="0">
                            <a:solidFill>
                              <a:srgbClr val="1E293B"/>
                            </a:solidFill>
                            <a:latin typeface="Cambria Math" panose="02040503050406030204" pitchFamily="18" charset="0"/>
                          </a:rPr>
                          <m:t>SD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BN</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CM</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SC</m:t>
                        </m:r>
                      </m:e>
                    </m:acc>
                  </m:oMath>
                </a14:m>
                <a:r>
                  <a:rPr sz="2200">
                    <a:solidFill>
                      <a:srgbClr val="1E293B"/>
                    </a:solidFill>
                    <a:latin typeface="Calibri"/>
                  </a:rPr>
                  <a:t>.</a:t>
                </a:r>
              </a:p>
            </p:txBody>
          </p:sp>
        </mc:Choice>
        <mc:Fallback>
          <p:sp>
            <p:nvSpPr>
              <p:cNvPr id="7" name="TextBox 6"/>
              <p:cNvSpPr txBox="1"/>
              <p:nvPr/>
            </p:nvSpPr>
            <p:spPr>
              <a:xfrm>
                <a:off x="548640" y="1371600"/>
                <a:ext cx="8595360" cy="173736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Ví dụ 6, chứng minh rằng:</a:t>
                </a:r>
              </a:p>
              <a:p>
                <a:pPr algn="l">
                  <a:spcAft>
                    <a:spcPts val="800"/>
                  </a:spcAft>
                </a:pPr>
                <a:r>
                  <a:rPr sz="2200">
                    <a:solidFill>
                      <a:srgbClr val="1E293B"/>
                    </a:solidFill>
                    <a:latin typeface="Calibri"/>
                  </a:rPr>
                  <a:t>a) </a:t>
                </a:r>
                <a:r>
                  <a:rPr lang="vi-VN"/>
                  <a:t>\overrightarrow{BN}</a:t>
                </a:r>
                <a:r>
                  <a:rPr sz="2200">
                    <a:solidFill>
                      <a:srgbClr val="1E293B"/>
                    </a:solidFill>
                    <a:latin typeface="Calibri"/>
                  </a:rPr>
                  <a:t> và </a:t>
                </a:r>
                <a:r>
                  <a:rPr lang="vi-VN"/>
                  <a:t>\overrightarrow{DM}</a:t>
                </a:r>
                <a:r>
                  <a:rPr sz="2200">
                    <a:solidFill>
                      <a:srgbClr val="1E293B"/>
                    </a:solidFill>
                    <a:latin typeface="Calibri"/>
                  </a:rPr>
                  <a:t> là hai vectơ đối nhau;</a:t>
                </a:r>
              </a:p>
              <a:p>
                <a:pPr algn="l">
                  <a:spcAft>
                    <a:spcPts val="800"/>
                  </a:spcAft>
                </a:pPr>
                <a:r>
                  <a:rPr sz="2200">
                    <a:solidFill>
                      <a:srgbClr val="1E293B"/>
                    </a:solidFill>
                    <a:latin typeface="Calibri"/>
                  </a:rPr>
                  <a:t>b) </a:t>
                </a:r>
                <a:r>
                  <a:rPr lang="vi-VN"/>
                  <a:t>\overrightarrow{SD}-\overrightarrow{BN}-\overrightarrow{CM}=\overrightarrow{SC}</a:t>
                </a:r>
                <a:r>
                  <a:rPr sz="2200">
                    <a:solidFill>
                      <a:srgbClr val="1E293B"/>
                    </a:solidFill>
                    <a:latin typeface="Calibri"/>
                  </a:rPr>
                  <a:t>.</a:t>
                </a:r>
              </a:p>
            </p:txBody>
          </p:sp>
        </mc:Fallback>
      </mc:AlternateContent>
      <p:sp>
        <p:nvSpPr>
          <p:cNvPr id="8" name="s1_nen"/>
          <p:cNvSpPr/>
          <p:nvPr/>
        </p:nvSpPr>
        <p:spPr>
          <a:xfrm>
            <a:off x="548640" y="3200400"/>
            <a:ext cx="859536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236976"/>
                <a:ext cx="82661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r>
                      <a:rPr lang="vi-VN" sz="2100" b="0">
                        <a:solidFill>
                          <a:srgbClr val="1E293B"/>
                        </a:solidFill>
                        <a:latin typeface="Cambria Math" panose="02040503050406030204" pitchFamily="18" charset="0"/>
                      </a:rPr>
                      <m:t>MB=DN</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MB∥DN</m:t>
                    </m:r>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MBND</m:t>
                    </m:r>
                  </m:oMath>
                </a14:m>
                <a:r>
                  <a:rPr sz="2100">
                    <a:solidFill>
                      <a:srgbClr val="1E293B"/>
                    </a:solidFill>
                    <a:latin typeface="Calibri"/>
                  </a:rPr>
                  <a:t> là hình bình hành: </a:t>
                </a:r>
                <a14:m>
                  <m:oMath xmlns:m="http://schemas.openxmlformats.org/officeDocument/2006/math">
                    <m:acc>
                      <m:accPr>
                        <m:chr m:val="⃗"/>
                      </m:accPr>
                      <m:e>
                        <m:r>
                          <a:rPr lang="vi-VN" sz="2100" b="0">
                            <a:solidFill>
                              <a:srgbClr val="1E293B"/>
                            </a:solidFill>
                            <a:latin typeface="Cambria Math" panose="02040503050406030204" pitchFamily="18" charset="0"/>
                          </a:rPr>
                          <m:t>BN</m:t>
                        </m:r>
                      </m:e>
                    </m:acc>
                  </m:oMath>
                </a14:m>
                <a:r>
                  <a:rPr sz="2100">
                    <a:solidFill>
                      <a:srgbClr val="1E293B"/>
                    </a:solidFill>
                    <a:latin typeface="Calibri"/>
                  </a:rPr>
                  <a:t> và </a:t>
                </a:r>
                <a14:m>
                  <m:oMath xmlns:m="http://schemas.openxmlformats.org/officeDocument/2006/math">
                    <m:acc>
                      <m:accPr>
                        <m:chr m:val="⃗"/>
                      </m:accPr>
                      <m:e>
                        <m:r>
                          <a:rPr lang="vi-VN" sz="2100" b="0">
                            <a:solidFill>
                              <a:srgbClr val="1E293B"/>
                            </a:solidFill>
                            <a:latin typeface="Cambria Math" panose="02040503050406030204" pitchFamily="18" charset="0"/>
                          </a:rPr>
                          <m:t>DM</m:t>
                        </m:r>
                      </m:e>
                    </m:acc>
                  </m:oMath>
                </a14:m>
                <a:r>
                  <a:rPr sz="2100">
                    <a:solidFill>
                      <a:srgbClr val="1E293B"/>
                    </a:solidFill>
                    <a:latin typeface="Calibri"/>
                  </a:rPr>
                  <a:t> cùng phương, ngược hướng, cùng độ dài ⇒ đối nhau.</a:t>
                </a:r>
              </a:p>
            </p:txBody>
          </p:sp>
        </mc:Choice>
        <mc:Fallback>
          <p:sp>
            <p:nvSpPr>
              <p:cNvPr id="9" name="TextBox 8"/>
              <p:cNvSpPr txBox="1"/>
              <p:nvPr/>
            </p:nvSpPr>
            <p:spPr>
              <a:xfrm>
                <a:off x="713232" y="3236976"/>
                <a:ext cx="826617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MB=DN</a:t>
                </a:r>
                <a:r>
                  <a:rPr sz="2100">
                    <a:solidFill>
                      <a:srgbClr val="1E293B"/>
                    </a:solidFill>
                    <a:latin typeface="Calibri"/>
                  </a:rPr>
                  <a:t>, </a:t>
                </a:r>
                <a:r>
                  <a:rPr lang="vi-VN"/>
                  <a:t>MB\parallel DN</a:t>
                </a:r>
                <a:r>
                  <a:rPr sz="2100">
                    <a:solidFill>
                      <a:srgbClr val="1E293B"/>
                    </a:solidFill>
                    <a:latin typeface="Calibri"/>
                  </a:rPr>
                  <a:t> nên </a:t>
                </a:r>
                <a:r>
                  <a:rPr lang="vi-VN"/>
                  <a:t>MBND</a:t>
                </a:r>
                <a:r>
                  <a:rPr sz="2100">
                    <a:solidFill>
                      <a:srgbClr val="1E293B"/>
                    </a:solidFill>
                    <a:latin typeface="Calibri"/>
                  </a:rPr>
                  <a:t> là hình bình hành: </a:t>
                </a:r>
                <a:r>
                  <a:rPr lang="vi-VN"/>
                  <a:t>\overrightarrow{BN}</a:t>
                </a:r>
                <a:r>
                  <a:rPr sz="2100">
                    <a:solidFill>
                      <a:srgbClr val="1E293B"/>
                    </a:solidFill>
                    <a:latin typeface="Calibri"/>
                  </a:rPr>
                  <a:t> và </a:t>
                </a:r>
                <a:r>
                  <a:rPr lang="vi-VN"/>
                  <a:t>\overrightarrow{DM}</a:t>
                </a:r>
                <a:r>
                  <a:rPr sz="2100">
                    <a:solidFill>
                      <a:srgbClr val="1E293B"/>
                    </a:solidFill>
                    <a:latin typeface="Calibri"/>
                  </a:rPr>
                  <a:t> cùng phương, ngược hướng, cùng độ dài ⇒ đối nhau.</a:t>
                </a:r>
              </a:p>
            </p:txBody>
          </p:sp>
        </mc:Fallback>
      </mc:AlternateContent>
      <p:sp>
        <p:nvSpPr>
          <p:cNvPr id="10" name="s2_nen"/>
          <p:cNvSpPr/>
          <p:nvPr/>
        </p:nvSpPr>
        <p:spPr>
          <a:xfrm>
            <a:off x="548640" y="4197096"/>
            <a:ext cx="859536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233672"/>
                <a:ext cx="82661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acc>
                      <m:accPr>
                        <m:chr m:val="⃗"/>
                      </m:accPr>
                      <m:e>
                        <m:r>
                          <a:rPr lang="vi-VN" sz="2100" b="0">
                            <a:solidFill>
                              <a:srgbClr val="1E293B"/>
                            </a:solidFill>
                            <a:latin typeface="Cambria Math" panose="02040503050406030204" pitchFamily="18" charset="0"/>
                          </a:rPr>
                          <m:t>SD</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SD</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DM</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SM</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SM</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MC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SC</m:t>
                        </m:r>
                      </m:e>
                    </m:acc>
                  </m:oMath>
                </a14:m>
                <a:r>
                  <a:rPr sz="2100">
                    <a:solidFill>
                      <a:srgbClr val="1E293B"/>
                    </a:solidFill>
                    <a:latin typeface="Calibri"/>
                  </a:rPr>
                  <a:t>.</a:t>
                </a:r>
              </a:p>
            </p:txBody>
          </p:sp>
        </mc:Choice>
        <mc:Fallback>
          <p:sp>
            <p:nvSpPr>
              <p:cNvPr id="11" name="TextBox 10"/>
              <p:cNvSpPr txBox="1"/>
              <p:nvPr/>
            </p:nvSpPr>
            <p:spPr>
              <a:xfrm>
                <a:off x="713232" y="4233672"/>
                <a:ext cx="82661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\overrightarrow{SD}-\overrightarrow{BN}-\overrightarrow{CM}=\overrightarrow{SD}+\overrightarrow{DM}-\overrightarrow{CM}=\overrightarrow{SM}-\overrightarrow{CM}=\overrightarrow{SM}+\overrightarrow{MC}=\overrightarrow{SC}</a:t>
                </a:r>
                <a:r>
                  <a:rPr sz="2100">
                    <a:solidFill>
                      <a:srgbClr val="1E293B"/>
                    </a:solidFill>
                    <a:latin typeface="Calibri"/>
                  </a:rPr>
                  <a:t>.</a:t>
                </a:r>
              </a:p>
            </p:txBody>
          </p:sp>
        </mc:Fallback>
      </mc:AlternateContent>
      <p:pic>
        <p:nvPicPr>
          <p:cNvPr id="12" name="Picture 11" descr="h216.png"/>
          <p:cNvPicPr>
            <a:picLocks noChangeAspect="1"/>
          </p:cNvPicPr>
          <p:nvPr/>
        </p:nvPicPr>
        <p:blipFill>
          <a:blip r:embed="rId3"/>
          <a:stretch>
            <a:fillRect/>
          </a:stretch>
        </p:blipFill>
        <p:spPr>
          <a:xfrm>
            <a:off x="9326880" y="1610836"/>
            <a:ext cx="2377440" cy="2447607"/>
          </a:xfrm>
          <a:prstGeom prst="rect">
            <a:avLst/>
          </a:prstGeom>
        </p:spPr>
      </p:pic>
      <p:sp>
        <p:nvSpPr>
          <p:cNvPr id="13" name="TextBox 12"/>
          <p:cNvSpPr txBox="1"/>
          <p:nvPr/>
        </p:nvSpPr>
        <p:spPr>
          <a:xfrm>
            <a:off x="9326880" y="4224527"/>
            <a:ext cx="23774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2 (SGK TR.52)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38</a:t>
            </a:r>
          </a:p>
        </p:txBody>
      </p:sp>
      <p:sp>
        <p:nvSpPr>
          <p:cNvPr id="7" name="TextBox 6"/>
          <p:cNvSpPr txBox="1"/>
          <p:nvPr/>
        </p:nvSpPr>
        <p:spPr>
          <a:xfrm>
            <a:off x="548640" y="1371600"/>
            <a:ext cx="5669280" cy="3017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Thang cuốn tại các trung tâm thương mại, siêu thị lớn hay nhà ga, sân bay thường có hai làn, trong đó có một làn lên và một làn xuống. Khi thang cuốn chuyển động, vectơ biểu diễn vận tốc của mỗi làn có là hai vectơ đối nhau hay không? Giải thích vì sao.</a:t>
            </a:r>
          </a:p>
        </p:txBody>
      </p:sp>
      <p:sp>
        <p:nvSpPr>
          <p:cNvPr id="8" name="s1_nen"/>
          <p:cNvSpPr/>
          <p:nvPr/>
        </p:nvSpPr>
        <p:spPr>
          <a:xfrm>
            <a:off x="548640" y="4480560"/>
            <a:ext cx="5669280" cy="15453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4517136"/>
            <a:ext cx="5340096" cy="1472184"/>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Có.</a:t>
            </a:r>
            <a:r>
              <a:rPr sz="2100">
                <a:solidFill>
                  <a:srgbClr val="1E293B"/>
                </a:solidFill>
                <a:latin typeface="Calibri"/>
              </a:rPr>
              <a:t> Hai vectơ cùng phương (hai làn song song), ngược hướng (lên – xuống) và cùng độ dài (hai làn chạy cùng tốc độ).</a:t>
            </a:r>
          </a:p>
        </p:txBody>
      </p:sp>
      <p:pic>
        <p:nvPicPr>
          <p:cNvPr id="10" name="Picture 9" descr="h_thangcuon.png"/>
          <p:cNvPicPr>
            <a:picLocks noChangeAspect="1"/>
          </p:cNvPicPr>
          <p:nvPr/>
        </p:nvPicPr>
        <p:blipFill>
          <a:blip r:embed="rId3"/>
          <a:stretch>
            <a:fillRect/>
          </a:stretch>
        </p:blipFill>
        <p:spPr>
          <a:xfrm>
            <a:off x="6400800" y="1497571"/>
            <a:ext cx="5303520" cy="3497098"/>
          </a:xfrm>
          <a:prstGeom prst="rect">
            <a:avLst/>
          </a:prstGeom>
        </p:spPr>
      </p:pic>
      <p:sp>
        <p:nvSpPr>
          <p:cNvPr id="11" name="TextBox 10"/>
          <p:cNvSpPr txBox="1"/>
          <p:nvPr/>
        </p:nvSpPr>
        <p:spPr>
          <a:xfrm>
            <a:off x="6400800" y="5047488"/>
            <a:ext cx="53035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Tốc độ thang cuốn thường từ 0,5 m/s đến 0,75 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3. TÍCH CỦA MỘT SỐ VỚI MỘT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39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228600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HĐ6.</a:t>
                </a:r>
                <a:r>
                  <a:rPr sz="2200">
                    <a:solidFill>
                      <a:srgbClr val="1E293B"/>
                    </a:solidFill>
                    <a:latin typeface="Calibri"/>
                  </a:rPr>
                  <a:t> Cho hình lăng trụ tam giác </a:t>
                </a:r>
                <a14:m>
                  <m:oMath xmlns:m="http://schemas.openxmlformats.org/officeDocument/2006/math">
                    <m:r>
                      <a:rPr lang="vi-VN" sz="2200" b="0">
                        <a:solidFill>
                          <a:srgbClr val="1E293B"/>
                        </a:solidFill>
                        <a:latin typeface="Cambria Math" panose="02040503050406030204" pitchFamily="18" charset="0"/>
                      </a:rPr>
                      <m:t>ABC.</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Gọi </a:t>
                </a:r>
                <a14:m>
                  <m:oMath xmlns:m="http://schemas.openxmlformats.org/officeDocument/2006/math">
                    <m:r>
                      <a:rPr lang="vi-VN" sz="2200" b="0">
                        <a:solidFill>
                          <a:srgbClr val="1E293B"/>
                        </a:solidFill>
                        <a:latin typeface="Cambria Math" panose="02040503050406030204" pitchFamily="18" charset="0"/>
                      </a:rPr>
                      <m:t>M,</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N</m:t>
                    </m:r>
                  </m:oMath>
                </a14:m>
                <a:r>
                  <a:rPr sz="2200">
                    <a:solidFill>
                      <a:srgbClr val="1E293B"/>
                    </a:solidFill>
                    <a:latin typeface="Calibri"/>
                  </a:rPr>
                  <a:t> lần lượt là trung điểm của </a:t>
                </a:r>
                <a14:m>
                  <m:oMath xmlns:m="http://schemas.openxmlformats.org/officeDocument/2006/math">
                    <m:r>
                      <a:rPr lang="vi-VN" sz="2200" b="0">
                        <a:solidFill>
                          <a:srgbClr val="1E293B"/>
                        </a:solidFill>
                        <a:latin typeface="Cambria Math" panose="02040503050406030204" pitchFamily="18" charset="0"/>
                      </a:rPr>
                      <m:t>AB,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AC</m:t>
                    </m:r>
                  </m:oMath>
                </a14:m>
                <a:r>
                  <a:rPr sz="2200">
                    <a:solidFill>
                      <a:srgbClr val="1E293B"/>
                    </a:solidFill>
                    <a:latin typeface="Calibri"/>
                  </a:rPr>
                  <a:t> (H.2.17).</a:t>
                </a:r>
              </a:p>
              <a:p>
                <a:pPr algn="l">
                  <a:spcAft>
                    <a:spcPts val="800"/>
                  </a:spcAft>
                </a:pPr>
                <a:r>
                  <a:rPr sz="2200">
                    <a:solidFill>
                      <a:srgbClr val="1E293B"/>
                    </a:solidFill>
                    <a:latin typeface="Calibri"/>
                  </a:rPr>
                  <a:t>a) Hai vectơ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 và </a:t>
                </a:r>
                <a14:m>
                  <m:oMath xmlns:m="http://schemas.openxmlformats.org/officeDocument/2006/math">
                    <m:acc>
                      <m:accPr>
                        <m:chr m:val="⃗"/>
                      </m:accPr>
                      <m:e>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có cùng phương không? Có cùng hướng không?</a:t>
                </a:r>
              </a:p>
              <a:p>
                <a:pPr algn="l">
                  <a:spcAft>
                    <a:spcPts val="800"/>
                  </a:spcAft>
                </a:pPr>
                <a:r>
                  <a:rPr sz="2200">
                    <a:solidFill>
                      <a:srgbClr val="1E293B"/>
                    </a:solidFill>
                    <a:latin typeface="Calibri"/>
                  </a:rPr>
                  <a:t>b) Giải thích vì sao </a:t>
                </a:r>
                <a14:m>
                  <m:oMath xmlns:m="http://schemas.openxmlformats.org/officeDocument/2006/math">
                    <m:d>
                      <m:dPr>
                        <m:begChr m:val="|"/>
                        <m:sepChr m:val=""/>
                        <m:endChr m:val="|"/>
                      </m:dPr>
                      <m:e>
                        <m:acc>
                          <m:accPr>
                            <m:chr m:val="⃗"/>
                          </m:accPr>
                          <m:e>
                            <m:r>
                              <a:rPr lang="vi-VN" sz="2200" b="0">
                                <a:solidFill>
                                  <a:srgbClr val="1E293B"/>
                                </a:solidFill>
                                <a:latin typeface="Cambria Math" panose="02040503050406030204" pitchFamily="18" charset="0"/>
                              </a:rPr>
                              <m:t>MN</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acc>
                          <m:accPr>
                            <m:chr m:val="⃗"/>
                          </m:accPr>
                          <m:e>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e>
                    </m:d>
                  </m:oMath>
                </a14:m>
                <a:r>
                  <a:rPr sz="2200">
                    <a:solidFill>
                      <a:srgbClr val="1E293B"/>
                    </a:solidFill>
                    <a:latin typeface="Calibri"/>
                  </a:rPr>
                  <a:t>.</a:t>
                </a:r>
              </a:p>
            </p:txBody>
          </p:sp>
        </mc:Choice>
        <mc:Fallback>
          <p:sp>
            <p:nvSpPr>
              <p:cNvPr id="7" name="TextBox 6"/>
              <p:cNvSpPr txBox="1"/>
              <p:nvPr/>
            </p:nvSpPr>
            <p:spPr>
              <a:xfrm>
                <a:off x="548640" y="1371600"/>
                <a:ext cx="7863840" cy="228600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HĐ6.</a:t>
                </a:r>
                <a:r>
                  <a:rPr sz="2200">
                    <a:solidFill>
                      <a:srgbClr val="1E293B"/>
                    </a:solidFill>
                    <a:latin typeface="Calibri"/>
                  </a:rPr>
                  <a:t> Cho hình lăng trụ tam giác </a:t>
                </a:r>
                <a:r>
                  <a:rPr lang="vi-VN"/>
                  <a:t>ABC.A'B'C'</a:t>
                </a:r>
                <a:r>
                  <a:rPr sz="2200">
                    <a:solidFill>
                      <a:srgbClr val="1E293B"/>
                    </a:solidFill>
                    <a:latin typeface="Calibri"/>
                  </a:rPr>
                  <a:t>. Gọi </a:t>
                </a:r>
                <a:r>
                  <a:rPr lang="vi-VN"/>
                  <a:t>M,\ N</a:t>
                </a:r>
                <a:r>
                  <a:rPr sz="2200">
                    <a:solidFill>
                      <a:srgbClr val="1E293B"/>
                    </a:solidFill>
                    <a:latin typeface="Calibri"/>
                  </a:rPr>
                  <a:t> lần lượt là trung điểm của </a:t>
                </a:r>
                <a:r>
                  <a:rPr lang="vi-VN"/>
                  <a:t>AB,\ AC</a:t>
                </a:r>
                <a:r>
                  <a:rPr sz="2200">
                    <a:solidFill>
                      <a:srgbClr val="1E293B"/>
                    </a:solidFill>
                    <a:latin typeface="Calibri"/>
                  </a:rPr>
                  <a:t> (H.2.17).</a:t>
                </a:r>
              </a:p>
              <a:p>
                <a:pPr algn="l">
                  <a:spcAft>
                    <a:spcPts val="800"/>
                  </a:spcAft>
                </a:pPr>
                <a:r>
                  <a:rPr sz="2200">
                    <a:solidFill>
                      <a:srgbClr val="1E293B"/>
                    </a:solidFill>
                    <a:latin typeface="Calibri"/>
                  </a:rPr>
                  <a:t>a) Hai vectơ </a:t>
                </a:r>
                <a:r>
                  <a:rPr lang="vi-VN"/>
                  <a:t>\overrightarrow{MN}</a:t>
                </a:r>
                <a:r>
                  <a:rPr sz="2200">
                    <a:solidFill>
                      <a:srgbClr val="1E293B"/>
                    </a:solidFill>
                    <a:latin typeface="Calibri"/>
                  </a:rPr>
                  <a:t> và </a:t>
                </a:r>
                <a:r>
                  <a:rPr lang="vi-VN"/>
                  <a:t>\overrightarrow{B'C'}</a:t>
                </a:r>
                <a:r>
                  <a:rPr sz="2200">
                    <a:solidFill>
                      <a:srgbClr val="1E293B"/>
                    </a:solidFill>
                    <a:latin typeface="Calibri"/>
                  </a:rPr>
                  <a:t> có cùng phương không? Có cùng hướng không?</a:t>
                </a:r>
              </a:p>
              <a:p>
                <a:pPr algn="l">
                  <a:spcAft>
                    <a:spcPts val="800"/>
                  </a:spcAft>
                </a:pPr>
                <a:r>
                  <a:rPr sz="2200">
                    <a:solidFill>
                      <a:srgbClr val="1E293B"/>
                    </a:solidFill>
                    <a:latin typeface="Calibri"/>
                  </a:rPr>
                  <a:t>b) Giải thích vì sao </a:t>
                </a:r>
                <a:r>
                  <a:rPr lang="vi-VN"/>
                  <a:t>|\overrightarrow{MN}|=\frac{1}{2}|\overrightarrow{B'C'}|</a:t>
                </a:r>
                <a:r>
                  <a:rPr sz="2200">
                    <a:solidFill>
                      <a:srgbClr val="1E293B"/>
                    </a:solidFill>
                    <a:latin typeface="Calibri"/>
                  </a:rPr>
                  <a:t>.</a:t>
                </a:r>
              </a:p>
            </p:txBody>
          </p:sp>
        </mc:Fallback>
      </mc:AlternateContent>
      <p:sp>
        <p:nvSpPr>
          <p:cNvPr id="8" name="s1_nen"/>
          <p:cNvSpPr/>
          <p:nvPr/>
        </p:nvSpPr>
        <p:spPr>
          <a:xfrm>
            <a:off x="548640" y="3749039"/>
            <a:ext cx="78638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785615"/>
                <a:ext cx="75346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MN∥BC∥</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cùng phương; và cùng hướng.</a:t>
                </a:r>
              </a:p>
            </p:txBody>
          </p:sp>
        </mc:Choice>
        <mc:Fallback>
          <p:sp>
            <p:nvSpPr>
              <p:cNvPr id="9" name="TextBox 8"/>
              <p:cNvSpPr txBox="1"/>
              <p:nvPr/>
            </p:nvSpPr>
            <p:spPr>
              <a:xfrm>
                <a:off x="713232" y="3785615"/>
                <a:ext cx="75346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MN\parallel BC\parallel B'C'</a:t>
                </a:r>
                <a:r>
                  <a:rPr sz="2200">
                    <a:solidFill>
                      <a:srgbClr val="1E293B"/>
                    </a:solidFill>
                    <a:latin typeface="Calibri"/>
                  </a:rPr>
                  <a:t>: cùng phương; và cùng hướng.</a:t>
                </a:r>
              </a:p>
            </p:txBody>
          </p:sp>
        </mc:Fallback>
      </mc:AlternateContent>
      <p:sp>
        <p:nvSpPr>
          <p:cNvPr id="10" name="s2_nen"/>
          <p:cNvSpPr/>
          <p:nvPr/>
        </p:nvSpPr>
        <p:spPr>
          <a:xfrm>
            <a:off x="548640" y="4440935"/>
            <a:ext cx="7863840" cy="123748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477511"/>
                <a:ext cx="7534656" cy="1164336"/>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14:m>
                  <m:oMath xmlns:m="http://schemas.openxmlformats.org/officeDocument/2006/math">
                    <m:r>
                      <a:rPr lang="vi-VN" sz="2200" b="0">
                        <a:solidFill>
                          <a:srgbClr val="1E293B"/>
                        </a:solidFill>
                        <a:latin typeface="Cambria Math" panose="02040503050406030204" pitchFamily="18" charset="0"/>
                      </a:rPr>
                      <m:t>MN</m:t>
                    </m:r>
                  </m:oMath>
                </a14:m>
                <a:r>
                  <a:rPr sz="2200">
                    <a:solidFill>
                      <a:srgbClr val="1E293B"/>
                    </a:solidFill>
                    <a:latin typeface="Calibri"/>
                  </a:rPr>
                  <a:t> là đường trung bình của tam giác </a:t>
                </a:r>
                <a14:m>
                  <m:oMath xmlns:m="http://schemas.openxmlformats.org/officeDocument/2006/math">
                    <m:r>
                      <a:rPr lang="vi-VN" sz="2200" b="0">
                        <a:solidFill>
                          <a:srgbClr val="1E293B"/>
                        </a:solidFill>
                        <a:latin typeface="Cambria Math" panose="02040503050406030204" pitchFamily="18" charset="0"/>
                      </a:rPr>
                      <m:t>ABC</m:t>
                    </m:r>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MN=</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BC=</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11" name="TextBox 10"/>
              <p:cNvSpPr txBox="1"/>
              <p:nvPr/>
            </p:nvSpPr>
            <p:spPr>
              <a:xfrm>
                <a:off x="713232" y="4477511"/>
                <a:ext cx="7534656" cy="1164336"/>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 </a:t>
                </a:r>
                <a:r>
                  <a:rPr lang="vi-VN"/>
                  <a:t>MN</a:t>
                </a:r>
                <a:r>
                  <a:rPr sz="2200">
                    <a:solidFill>
                      <a:srgbClr val="1E293B"/>
                    </a:solidFill>
                    <a:latin typeface="Calibri"/>
                  </a:rPr>
                  <a:t> là đường trung bình của tam giác </a:t>
                </a:r>
                <a:r>
                  <a:rPr lang="vi-VN"/>
                  <a:t>ABC</a:t>
                </a:r>
                <a:r>
                  <a:rPr sz="2200">
                    <a:solidFill>
                      <a:srgbClr val="1E293B"/>
                    </a:solidFill>
                    <a:latin typeface="Calibri"/>
                  </a:rPr>
                  <a:t> nên </a:t>
                </a:r>
                <a:r>
                  <a:rPr lang="vi-VN"/>
                  <a:t>MN=\frac{1}{2}BC=\frac{1}{2}B'C'</a:t>
                </a:r>
                <a:r>
                  <a:rPr sz="2200">
                    <a:solidFill>
                      <a:srgbClr val="1E293B"/>
                    </a:solidFill>
                    <a:latin typeface="Calibri"/>
                  </a:rPr>
                  <a:t>.</a:t>
                </a:r>
              </a:p>
            </p:txBody>
          </p:sp>
        </mc:Fallback>
      </mc:AlternateContent>
      <p:pic>
        <p:nvPicPr>
          <p:cNvPr id="12" name="Picture 11" descr="h217.png"/>
          <p:cNvPicPr>
            <a:picLocks noChangeAspect="1"/>
          </p:cNvPicPr>
          <p:nvPr/>
        </p:nvPicPr>
        <p:blipFill>
          <a:blip r:embed="rId3"/>
          <a:stretch>
            <a:fillRect/>
          </a:stretch>
        </p:blipFill>
        <p:spPr>
          <a:xfrm>
            <a:off x="8595360" y="1636489"/>
            <a:ext cx="3108959" cy="2579182"/>
          </a:xfrm>
          <a:prstGeom prst="rect">
            <a:avLst/>
          </a:prstGeom>
        </p:spPr>
      </p:pic>
      <p:sp>
        <p:nvSpPr>
          <p:cNvPr id="13" name="TextBox 12"/>
          <p:cNvSpPr txBox="1"/>
          <p:nvPr/>
        </p:nvSpPr>
        <p:spPr>
          <a:xfrm>
            <a:off x="8595360" y="4407408"/>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TÍCH CỦA MỘT SỐ VỚI MỘT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40</a:t>
            </a:r>
          </a:p>
        </p:txBody>
      </p:sp>
      <p:sp>
        <p:nvSpPr>
          <p:cNvPr id="7" name="Rounded Rectangle 6"/>
          <p:cNvSpPr/>
          <p:nvPr/>
        </p:nvSpPr>
        <p:spPr>
          <a:xfrm>
            <a:off x="548640" y="1371600"/>
            <a:ext cx="11064240" cy="248716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10735056" cy="2414015"/>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Trong không gian, tích của một số thực </a:t>
                </a:r>
                <a14:m>
                  <m:oMath xmlns:m="http://schemas.openxmlformats.org/officeDocument/2006/math">
                    <m:r>
                      <a:rPr lang="vi-VN" sz="2100" b="0">
                        <a:solidFill>
                          <a:srgbClr val="1E293B"/>
                        </a:solidFill>
                        <a:latin typeface="Cambria Math" panose="02040503050406030204" pitchFamily="18" charset="0"/>
                      </a:rPr>
                      <m:t>k≠0</m:t>
                    </m:r>
                  </m:oMath>
                </a14:m>
                <a:r>
                  <a:rPr sz="2100">
                    <a:solidFill>
                      <a:srgbClr val="1E293B"/>
                    </a:solidFill>
                    <a:latin typeface="Calibri"/>
                  </a:rPr>
                  <a:t> với một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 là một vectơ, kí hiệu là </a:t>
                </a:r>
                <a14:m>
                  <m:oMath xmlns:m="http://schemas.openxmlformats.org/officeDocument/2006/math">
                    <m:r>
                      <a:rPr lang="vi-VN" sz="2100" b="0">
                        <a:solidFill>
                          <a:srgbClr val="1E293B"/>
                        </a:solidFill>
                        <a:latin typeface="Cambria Math" panose="02040503050406030204" pitchFamily="18" charset="0"/>
                      </a:rPr>
                      <m:t>k</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được xác định như sau:</a:t>
                </a:r>
              </a:p>
              <a:p>
                <a:pPr algn="l" marL="365760" indent="-365760">
                  <a:spcAft>
                    <a:spcPts val="800"/>
                  </a:spcAft>
                  <a:buClr>
                    <a:srgbClr val="1E40AF"/>
                  </a:buClr>
                  <a:buFont typeface="Arial"/>
                  <a:buChar char="•"/>
                </a:pPr>
                <a:r>
                  <a:rPr sz="2100">
                    <a:solidFill>
                      <a:srgbClr val="1E293B"/>
                    </a:solidFill>
                    <a:latin typeface="Calibri"/>
                  </a:rPr>
                  <a:t>Cùng hướng với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nếu </a:t>
                </a:r>
                <a14:m>
                  <m:oMath xmlns:m="http://schemas.openxmlformats.org/officeDocument/2006/math">
                    <m:r>
                      <a:rPr lang="vi-VN" sz="2100" b="0">
                        <a:solidFill>
                          <a:srgbClr val="1E293B"/>
                        </a:solidFill>
                        <a:latin typeface="Cambria Math" panose="02040503050406030204" pitchFamily="18" charset="0"/>
                      </a:rPr>
                      <m:t>k&gt;0</m:t>
                    </m:r>
                  </m:oMath>
                </a14:m>
                <a:r>
                  <a:rPr sz="2100">
                    <a:solidFill>
                      <a:srgbClr val="1E293B"/>
                    </a:solidFill>
                    <a:latin typeface="Calibri"/>
                  </a:rPr>
                  <a:t>; ngược hướng với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nếu </a:t>
                </a:r>
                <a14:m>
                  <m:oMath xmlns:m="http://schemas.openxmlformats.org/officeDocument/2006/math">
                    <m:r>
                      <a:rPr lang="vi-VN" sz="2100" b="0">
                        <a:solidFill>
                          <a:srgbClr val="1E293B"/>
                        </a:solidFill>
                        <a:latin typeface="Cambria Math" panose="02040503050406030204" pitchFamily="18" charset="0"/>
                      </a:rPr>
                      <m:t>k&lt;0</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Có độ dài bằng </a:t>
                </a:r>
                <a14:m>
                  <m:oMath xmlns:m="http://schemas.openxmlformats.org/officeDocument/2006/math">
                    <m:d>
                      <m:dPr>
                        <m:begChr m:val="|"/>
                        <m:sepChr m:val=""/>
                        <m:endChr m:val="|"/>
                      </m:dPr>
                      <m:e>
                        <m:r>
                          <a:rPr lang="vi-VN" sz="2100" b="0">
                            <a:solidFill>
                              <a:srgbClr val="1E293B"/>
                            </a:solidFill>
                            <a:latin typeface="Cambria Math" panose="02040503050406030204" pitchFamily="18" charset="0"/>
                          </a:rPr>
                          <m:t>k</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e>
                    </m:d>
                  </m:oMath>
                </a14:m>
                <a:r>
                  <a:rPr sz="2100">
                    <a:solidFill>
                      <a:srgbClr val="1E293B"/>
                    </a:solidFill>
                    <a:latin typeface="Calibri"/>
                  </a:rPr>
                  <a:t>.</a:t>
                </a:r>
              </a:p>
              <a:p>
                <a:pPr algn="l">
                  <a:spcAft>
                    <a:spcPts val="800"/>
                  </a:spcAft>
                </a:pPr>
                <a:r>
                  <a:rPr sz="2100">
                    <a:solidFill>
                      <a:srgbClr val="1E293B"/>
                    </a:solidFill>
                    <a:latin typeface="Calibri"/>
                  </a:rPr>
                  <a:t>Phép lấy tích của một số với một vectơ được gọi là </a:t>
                </a:r>
                <a:r>
                  <a:rPr sz="2100" b="1">
                    <a:solidFill>
                      <a:srgbClr val="1E293B"/>
                    </a:solidFill>
                    <a:latin typeface="Calibri"/>
                  </a:rPr>
                  <a:t>phép nhân một số với một vectơ</a:t>
                </a:r>
                <a:r>
                  <a:rPr sz="2100">
                    <a:solidFill>
                      <a:srgbClr val="1E293B"/>
                    </a:solidFill>
                    <a:latin typeface="Calibri"/>
                  </a:rPr>
                  <a:t>.</a:t>
                </a:r>
              </a:p>
            </p:txBody>
          </p:sp>
        </mc:Choice>
        <mc:Fallback>
          <p:sp>
            <p:nvSpPr>
              <p:cNvPr id="8" name="TextBox 7"/>
              <p:cNvSpPr txBox="1"/>
              <p:nvPr/>
            </p:nvSpPr>
            <p:spPr>
              <a:xfrm>
                <a:off x="713232" y="1408176"/>
                <a:ext cx="10735056" cy="2414015"/>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Trong không gian, tích của một số thực </a:t>
                </a:r>
                <a:r>
                  <a:rPr lang="vi-VN"/>
                  <a:t>k\ne 0</a:t>
                </a:r>
                <a:r>
                  <a:rPr sz="2100">
                    <a:solidFill>
                      <a:srgbClr val="1E293B"/>
                    </a:solidFill>
                    <a:latin typeface="Calibri"/>
                  </a:rPr>
                  <a:t> với một vectơ </a:t>
                </a:r>
                <a:r>
                  <a:rPr lang="vi-VN"/>
                  <a:t>\vec{a}\ne\vec{0}</a:t>
                </a:r>
                <a:r>
                  <a:rPr sz="2100">
                    <a:solidFill>
                      <a:srgbClr val="1E293B"/>
                    </a:solidFill>
                    <a:latin typeface="Calibri"/>
                  </a:rPr>
                  <a:t> là một vectơ, kí hiệu là </a:t>
                </a:r>
                <a:r>
                  <a:rPr lang="vi-VN"/>
                  <a:t>k\vec{a}</a:t>
                </a:r>
                <a:r>
                  <a:rPr sz="2100">
                    <a:solidFill>
                      <a:srgbClr val="1E293B"/>
                    </a:solidFill>
                    <a:latin typeface="Calibri"/>
                  </a:rPr>
                  <a:t>, được xác định như sau:</a:t>
                </a:r>
              </a:p>
              <a:p>
                <a:pPr algn="l" marL="365760" indent="-365760">
                  <a:spcAft>
                    <a:spcPts val="800"/>
                  </a:spcAft>
                  <a:buClr>
                    <a:srgbClr val="1E40AF"/>
                  </a:buClr>
                  <a:buFont typeface="Arial"/>
                  <a:buChar char="•"/>
                </a:pPr>
                <a:r>
                  <a:rPr sz="2100">
                    <a:solidFill>
                      <a:srgbClr val="1E293B"/>
                    </a:solidFill>
                    <a:latin typeface="Calibri"/>
                  </a:rPr>
                  <a:t>Cùng hướng với vectơ </a:t>
                </a:r>
                <a:r>
                  <a:rPr lang="vi-VN"/>
                  <a:t>\vec{a}</a:t>
                </a:r>
                <a:r>
                  <a:rPr sz="2100">
                    <a:solidFill>
                      <a:srgbClr val="1E293B"/>
                    </a:solidFill>
                    <a:latin typeface="Calibri"/>
                  </a:rPr>
                  <a:t> nếu </a:t>
                </a:r>
                <a:r>
                  <a:rPr lang="vi-VN"/>
                  <a:t>k&gt;0</a:t>
                </a:r>
                <a:r>
                  <a:rPr sz="2100">
                    <a:solidFill>
                      <a:srgbClr val="1E293B"/>
                    </a:solidFill>
                    <a:latin typeface="Calibri"/>
                  </a:rPr>
                  <a:t>; ngược hướng với vectơ </a:t>
                </a:r>
                <a:r>
                  <a:rPr lang="vi-VN"/>
                  <a:t>\vec{a}</a:t>
                </a:r>
                <a:r>
                  <a:rPr sz="2100">
                    <a:solidFill>
                      <a:srgbClr val="1E293B"/>
                    </a:solidFill>
                    <a:latin typeface="Calibri"/>
                  </a:rPr>
                  <a:t> nếu </a:t>
                </a:r>
                <a:r>
                  <a:rPr lang="vi-VN"/>
                  <a:t>k&lt;0</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Có độ dài bằng </a:t>
                </a:r>
                <a:r>
                  <a:rPr lang="vi-VN"/>
                  <a:t>|k|\cdot|\vec{a}|</a:t>
                </a:r>
                <a:r>
                  <a:rPr sz="2100">
                    <a:solidFill>
                      <a:srgbClr val="1E293B"/>
                    </a:solidFill>
                    <a:latin typeface="Calibri"/>
                  </a:rPr>
                  <a:t>.</a:t>
                </a:r>
              </a:p>
              <a:p>
                <a:pPr algn="l">
                  <a:spcAft>
                    <a:spcPts val="800"/>
                  </a:spcAft>
                </a:pPr>
                <a:r>
                  <a:rPr sz="2100">
                    <a:solidFill>
                      <a:srgbClr val="1E293B"/>
                    </a:solidFill>
                    <a:latin typeface="Calibri"/>
                  </a:rPr>
                  <a:t>Phép lấy tích của một số với một vectơ được gọi là </a:t>
                </a:r>
                <a:r>
                  <a:rPr sz="2100" b="1">
                    <a:solidFill>
                      <a:srgbClr val="1E293B"/>
                    </a:solidFill>
                    <a:latin typeface="Calibri"/>
                  </a:rPr>
                  <a:t>phép nhân một số với một vectơ</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3886200"/>
                <a:ext cx="7680960" cy="822960"/>
              </a:xfrm>
              <a:prstGeom prst="rect">
                <a:avLst/>
              </a:prstGeom>
              <a:noFill/>
            </p:spPr>
            <p:txBody>
              <a:bodyPr wrap="square" anchor="t" lIns="45720" rIns="45720">
                <a:spAutoFit/>
              </a:bodyPr>
              <a:lstStyle/>
              <a:p>
                <a:pPr algn="l">
                  <a:spcAft>
                    <a:spcPts val="800"/>
                  </a:spcAft>
                </a:pPr>
                <a:r>
                  <a:rPr sz="2100">
                    <a:solidFill>
                      <a:srgbClr val="1E293B"/>
                    </a:solidFill>
                    <a:latin typeface="Calibri"/>
                  </a:rPr>
                  <a:t>❓ Hai vectơ </a:t>
                </a:r>
                <a14:m>
                  <m:oMath xmlns:m="http://schemas.openxmlformats.org/officeDocument/2006/math">
                    <m:r>
                      <a:rPr lang="vi-VN" sz="2100" b="0">
                        <a:solidFill>
                          <a:srgbClr val="1E293B"/>
                        </a:solidFill>
                        <a:latin typeface="Cambria Math" panose="02040503050406030204" pitchFamily="18" charset="0"/>
                      </a:rPr>
                      <m:t>1</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và </a:t>
                </a:r>
                <a14:m>
                  <m:oMath xmlns:m="http://schemas.openxmlformats.org/officeDocument/2006/math">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có bằng nhau không? Hai vectơ </a:t>
                </a:r>
                <a14:m>
                  <m:oMath xmlns:m="http://schemas.openxmlformats.org/officeDocument/2006/math">
                    <m:r>
                      <a:rPr lang="vi-VN" sz="2100" b="0">
                        <a:solidFill>
                          <a:srgbClr val="1E293B"/>
                        </a:solidFill>
                        <a:latin typeface="Cambria Math" panose="02040503050406030204" pitchFamily="18" charset="0"/>
                      </a:rPr>
                      <m:t>(−1)</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có bằng nhau không?</a:t>
                </a:r>
              </a:p>
            </p:txBody>
          </p:sp>
        </mc:Choice>
        <mc:Fallback>
          <p:sp>
            <p:nvSpPr>
              <p:cNvPr id="9" name="TextBox 8"/>
              <p:cNvSpPr txBox="1"/>
              <p:nvPr/>
            </p:nvSpPr>
            <p:spPr>
              <a:xfrm>
                <a:off x="548640" y="3886200"/>
                <a:ext cx="7680960" cy="822960"/>
              </a:xfrm>
              <a:prstGeom prst="rect">
                <a:avLst/>
              </a:prstGeom>
              <a:noFill/>
            </p:spPr>
            <p:txBody>
              <a:bodyPr wrap="square" anchor="t" lIns="45720" rIns="45720">
                <a:spAutoFit/>
              </a:bodyPr>
              <a:lstStyle/>
              <a:p>
                <a:pPr algn="l">
                  <a:spcAft>
                    <a:spcPts val="800"/>
                  </a:spcAft>
                </a:pPr>
                <a:r>
                  <a:rPr sz="2100">
                    <a:solidFill>
                      <a:srgbClr val="1E293B"/>
                    </a:solidFill>
                    <a:latin typeface="Calibri"/>
                  </a:rPr>
                  <a:t>❓ Hai vectơ </a:t>
                </a:r>
                <a:r>
                  <a:rPr lang="vi-VN"/>
                  <a:t>1\vec{a}</a:t>
                </a:r>
                <a:r>
                  <a:rPr sz="2100">
                    <a:solidFill>
                      <a:srgbClr val="1E293B"/>
                    </a:solidFill>
                    <a:latin typeface="Calibri"/>
                  </a:rPr>
                  <a:t> và </a:t>
                </a:r>
                <a:r>
                  <a:rPr lang="vi-VN"/>
                  <a:t>\vec{a}</a:t>
                </a:r>
                <a:r>
                  <a:rPr sz="2100">
                    <a:solidFill>
                      <a:srgbClr val="1E293B"/>
                    </a:solidFill>
                    <a:latin typeface="Calibri"/>
                  </a:rPr>
                  <a:t> có bằng nhau không? Hai vectơ </a:t>
                </a:r>
                <a:r>
                  <a:rPr lang="vi-VN"/>
                  <a:t>(-1)\vec{a}</a:t>
                </a:r>
                <a:r>
                  <a:rPr sz="2100">
                    <a:solidFill>
                      <a:srgbClr val="1E293B"/>
                    </a:solidFill>
                    <a:latin typeface="Calibri"/>
                  </a:rPr>
                  <a:t> và </a:t>
                </a:r>
                <a:r>
                  <a:rPr lang="vi-VN"/>
                  <a:t>-\vec{a}</a:t>
                </a:r>
                <a:r>
                  <a:rPr sz="2100">
                    <a:solidFill>
                      <a:srgbClr val="1E293B"/>
                    </a:solidFill>
                    <a:latin typeface="Calibri"/>
                  </a:rPr>
                  <a:t> có bằng nhau không?</a:t>
                </a:r>
              </a:p>
            </p:txBody>
          </p:sp>
        </mc:Fallback>
      </mc:AlternateContent>
      <p:sp>
        <p:nvSpPr>
          <p:cNvPr id="10" name="s1_nen"/>
          <p:cNvSpPr/>
          <p:nvPr/>
        </p:nvSpPr>
        <p:spPr>
          <a:xfrm>
            <a:off x="8412480" y="3840480"/>
            <a:ext cx="320040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1_chu"/>
          <p:cNvSpPr txBox="1"/>
          <p:nvPr/>
        </p:nvSpPr>
        <p:spPr>
          <a:xfrm>
            <a:off x="8577072" y="3877056"/>
            <a:ext cx="287121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Có; có.</a:t>
            </a:r>
          </a:p>
        </p:txBody>
      </p:sp>
      <mc:AlternateContent xmlns:mc="http://schemas.openxmlformats.org/markup-compatibility/2006">
        <mc:Choice xmlns:a14="http://schemas.microsoft.com/office/drawing/2010/main" Requires="a14">
          <p:sp>
            <p:nvSpPr>
              <p:cNvPr id="12" name="s2_chu"/>
              <p:cNvSpPr txBox="1"/>
              <p:nvPr/>
            </p:nvSpPr>
            <p:spPr>
              <a:xfrm>
                <a:off x="548640" y="4754880"/>
                <a:ext cx="11064240" cy="15544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Quy ước </a:t>
                </a:r>
                <a14:m>
                  <m:oMath xmlns:m="http://schemas.openxmlformats.org/officeDocument/2006/math">
                    <m:r>
                      <a:rPr lang="vi-VN" sz="2000" b="0">
                        <a:solidFill>
                          <a:srgbClr val="1E293B"/>
                        </a:solidFill>
                        <a:latin typeface="Cambria Math" panose="02040503050406030204" pitchFamily="18" charset="0"/>
                      </a:rPr>
                      <m:t>0</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k</m:t>
                    </m:r>
                    <m:acc>
                      <m:accPr>
                        <m:chr m:val="⃗"/>
                      </m:accPr>
                      <m:e>
                        <m:r>
                          <a:rPr lang="vi-VN" sz="2000" b="0">
                            <a:solidFill>
                              <a:srgbClr val="1E293B"/>
                            </a:solidFill>
                            <a:latin typeface="Cambria Math" panose="02040503050406030204" pitchFamily="18" charset="0"/>
                          </a:rPr>
                          <m:t>0</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Nếu </a:t>
                </a:r>
                <a14:m>
                  <m:oMath xmlns:m="http://schemas.openxmlformats.org/officeDocument/2006/math">
                    <m:r>
                      <a:rPr lang="vi-VN" sz="2000" b="0">
                        <a:solidFill>
                          <a:srgbClr val="1E293B"/>
                        </a:solidFill>
                        <a:latin typeface="Cambria Math" panose="02040503050406030204" pitchFamily="18" charset="0"/>
                      </a:rPr>
                      <m:t>k</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thì </a:t>
                </a:r>
                <a14:m>
                  <m:oMath xmlns:m="http://schemas.openxmlformats.org/officeDocument/2006/math">
                    <m:r>
                      <a:rPr lang="vi-VN" sz="2000" b="0">
                        <a:solidFill>
                          <a:srgbClr val="1E293B"/>
                        </a:solidFill>
                        <a:latin typeface="Cambria Math" panose="02040503050406030204" pitchFamily="18" charset="0"/>
                      </a:rPr>
                      <m:t>k=0</m:t>
                    </m:r>
                  </m:oMath>
                </a14:m>
                <a:r>
                  <a:rPr sz="2000">
                    <a:solidFill>
                      <a:srgbClr val="1E293B"/>
                    </a:solidFill>
                    <a:latin typeface="Calibri"/>
                  </a:rPr>
                  <a:t> hoặc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a:t>
                </a:r>
              </a:p>
              <a:p>
                <a:pPr algn="l">
                  <a:spcAft>
                    <a:spcPts val="800"/>
                  </a:spcAft>
                </a:pPr>
                <a:r>
                  <a:rPr sz="2000">
                    <a:solidFill>
                      <a:srgbClr val="1E293B"/>
                    </a:solidFill>
                    <a:latin typeface="Calibri"/>
                  </a:rPr>
                  <a:t>Điều kiện cần và đủ để hai vectơ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b</m:t>
                        </m:r>
                      </m:e>
                    </m:acc>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0</m:t>
                        </m:r>
                      </m:e>
                    </m:acc>
                    <m:r>
                      <a:rPr lang="vi-VN" sz="2000" b="0">
                        <a:solidFill>
                          <a:srgbClr val="1E293B"/>
                        </a:solidFill>
                        <a:latin typeface="Cambria Math" panose="02040503050406030204" pitchFamily="18" charset="0"/>
                      </a:rPr>
                      <m:t>)</m:t>
                    </m:r>
                  </m:oMath>
                </a14:m>
                <a:r>
                  <a:rPr sz="2000">
                    <a:solidFill>
                      <a:srgbClr val="1E293B"/>
                    </a:solidFill>
                    <a:latin typeface="Calibri"/>
                  </a:rPr>
                  <a:t> cùng phương là có một số thực </a:t>
                </a:r>
                <a14:m>
                  <m:oMath xmlns:m="http://schemas.openxmlformats.org/officeDocument/2006/math">
                    <m:r>
                      <a:rPr lang="vi-VN" sz="2000" b="0">
                        <a:solidFill>
                          <a:srgbClr val="1E293B"/>
                        </a:solidFill>
                        <a:latin typeface="Cambria Math" panose="02040503050406030204" pitchFamily="18" charset="0"/>
                      </a:rPr>
                      <m:t>k</m:t>
                    </m:r>
                  </m:oMath>
                </a14:m>
                <a:r>
                  <a:rPr sz="2000">
                    <a:solidFill>
                      <a:srgbClr val="1E293B"/>
                    </a:solidFill>
                    <a:latin typeface="Calibri"/>
                  </a:rPr>
                  <a:t> sao cho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=k</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a:t>
                </a:r>
              </a:p>
            </p:txBody>
          </p:sp>
        </mc:Choice>
        <mc:Fallback>
          <p:sp>
            <p:nvSpPr>
              <p:cNvPr id="12" name="TextBox 11"/>
              <p:cNvSpPr txBox="1"/>
              <p:nvPr/>
            </p:nvSpPr>
            <p:spPr>
              <a:xfrm>
                <a:off x="548640" y="4754880"/>
                <a:ext cx="11064240" cy="1554480"/>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Quy ước </a:t>
                </a:r>
                <a:r>
                  <a:rPr lang="vi-VN"/>
                  <a:t>0\vec{a}=\vec{0}</a:t>
                </a:r>
                <a:r>
                  <a:rPr sz="2000">
                    <a:solidFill>
                      <a:srgbClr val="1E293B"/>
                    </a:solidFill>
                    <a:latin typeface="Calibri"/>
                  </a:rPr>
                  <a:t> và </a:t>
                </a:r>
                <a:r>
                  <a:rPr lang="vi-VN"/>
                  <a:t>k\vec{0}=\vec{0}</a:t>
                </a:r>
                <a:r>
                  <a:rPr sz="2000">
                    <a:solidFill>
                      <a:srgbClr val="1E293B"/>
                    </a:solidFill>
                    <a:latin typeface="Calibri"/>
                  </a:rPr>
                  <a:t>. Nếu </a:t>
                </a:r>
                <a:r>
                  <a:rPr lang="vi-VN"/>
                  <a:t>k\vec{a}=\vec{0}</a:t>
                </a:r>
                <a:r>
                  <a:rPr sz="2000">
                    <a:solidFill>
                      <a:srgbClr val="1E293B"/>
                    </a:solidFill>
                    <a:latin typeface="Calibri"/>
                  </a:rPr>
                  <a:t> thì </a:t>
                </a:r>
                <a:r>
                  <a:rPr lang="vi-VN"/>
                  <a:t>k=0</a:t>
                </a:r>
                <a:r>
                  <a:rPr sz="2000">
                    <a:solidFill>
                      <a:srgbClr val="1E293B"/>
                    </a:solidFill>
                    <a:latin typeface="Calibri"/>
                  </a:rPr>
                  <a:t> hoặc </a:t>
                </a:r>
                <a:r>
                  <a:rPr lang="vi-VN"/>
                  <a:t>\vec{a}=\vec{0}</a:t>
                </a:r>
                <a:r>
                  <a:rPr sz="2000">
                    <a:solidFill>
                      <a:srgbClr val="1E293B"/>
                    </a:solidFill>
                    <a:latin typeface="Calibri"/>
                  </a:rPr>
                  <a:t>.</a:t>
                </a:r>
              </a:p>
              <a:p>
                <a:pPr algn="l">
                  <a:spcAft>
                    <a:spcPts val="800"/>
                  </a:spcAft>
                </a:pPr>
                <a:r>
                  <a:rPr sz="2000">
                    <a:solidFill>
                      <a:srgbClr val="1E293B"/>
                    </a:solidFill>
                    <a:latin typeface="Calibri"/>
                  </a:rPr>
                  <a:t>Điều kiện cần và đủ để hai vectơ </a:t>
                </a:r>
                <a:r>
                  <a:rPr lang="vi-VN"/>
                  <a:t>\vec{a}</a:t>
                </a:r>
                <a:r>
                  <a:rPr sz="2000">
                    <a:solidFill>
                      <a:srgbClr val="1E293B"/>
                    </a:solidFill>
                    <a:latin typeface="Calibri"/>
                  </a:rPr>
                  <a:t> và </a:t>
                </a:r>
                <a:r>
                  <a:rPr lang="vi-VN"/>
                  <a:t>\vec{b}\ (\vec{b}\ne\vec{0})</a:t>
                </a:r>
                <a:r>
                  <a:rPr sz="2000">
                    <a:solidFill>
                      <a:srgbClr val="1E293B"/>
                    </a:solidFill>
                    <a:latin typeface="Calibri"/>
                  </a:rPr>
                  <a:t> cùng phương là có một số thực </a:t>
                </a:r>
                <a:r>
                  <a:rPr lang="vi-VN"/>
                  <a:t>k</a:t>
                </a:r>
                <a:r>
                  <a:rPr sz="2000">
                    <a:solidFill>
                      <a:srgbClr val="1E293B"/>
                    </a:solidFill>
                    <a:latin typeface="Calibri"/>
                  </a:rPr>
                  <a:t> sao cho </a:t>
                </a:r>
                <a:r>
                  <a:rPr lang="vi-VN"/>
                  <a:t>\vec{a}=k\vec{b}</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VÍ DỤ 7 – LUYỆN TẬP 7 (SGK TR.53)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7.</a:t>
                </a:r>
                <a:r>
                  <a:rPr sz="2000">
                    <a:solidFill>
                      <a:srgbClr val="1E293B"/>
                    </a:solidFill>
                    <a:latin typeface="Calibri"/>
                  </a:rPr>
                  <a:t> Trong HĐ6, gọi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là giao điểm của </a:t>
                </a:r>
                <a14:m>
                  <m:oMath xmlns:m="http://schemas.openxmlformats.org/officeDocument/2006/math">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và </a:t>
                </a:r>
                <a14:m>
                  <m:oMath xmlns:m="http://schemas.openxmlformats.org/officeDocument/2006/math">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oMath>
                </a14:m>
                <a:r>
                  <a:rPr sz="2000">
                    <a:solidFill>
                      <a:srgbClr val="1E293B"/>
                    </a:solidFill>
                    <a:latin typeface="Calibri"/>
                  </a:rPr>
                  <a:t> (H.2.18). Chứng minh rằng </a:t>
                </a:r>
                <a14:m>
                  <m:oMath xmlns:m="http://schemas.openxmlformats.org/officeDocument/2006/math">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=(−2)</m:t>
                    </m:r>
                    <m:acc>
                      <m:accPr>
                        <m:chr m:val="⃗"/>
                      </m:accPr>
                      <m:e>
                        <m:r>
                          <a:rPr lang="vi-VN" sz="2000" b="0">
                            <a:solidFill>
                              <a:srgbClr val="1E293B"/>
                            </a:solidFill>
                            <a:latin typeface="Cambria Math" panose="02040503050406030204" pitchFamily="18" charset="0"/>
                          </a:rPr>
                          <m:t>OM</m:t>
                        </m:r>
                      </m:e>
                    </m:acc>
                  </m:oMath>
                </a14:m>
                <a:r>
                  <a:rPr sz="2000">
                    <a:solidFill>
                      <a:srgbClr val="1E293B"/>
                    </a:solidFill>
                    <a:latin typeface="Calibri"/>
                  </a:rPr>
                  <a:t>.</a:t>
                </a:r>
              </a:p>
            </p:txBody>
          </p:sp>
        </mc:Choice>
        <mc:Fallback>
          <p:sp>
            <p:nvSpPr>
              <p:cNvPr id="7" name="TextBox 6"/>
              <p:cNvSpPr txBox="1"/>
              <p:nvPr/>
            </p:nvSpPr>
            <p:spPr>
              <a:xfrm>
                <a:off x="548640" y="1371600"/>
                <a:ext cx="859536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7.</a:t>
                </a:r>
                <a:r>
                  <a:rPr sz="2000">
                    <a:solidFill>
                      <a:srgbClr val="1E293B"/>
                    </a:solidFill>
                    <a:latin typeface="Calibri"/>
                  </a:rPr>
                  <a:t> Trong HĐ6, gọi </a:t>
                </a:r>
                <a:r>
                  <a:rPr lang="vi-VN"/>
                  <a:t>O</a:t>
                </a:r>
                <a:r>
                  <a:rPr sz="2000">
                    <a:solidFill>
                      <a:srgbClr val="1E293B"/>
                    </a:solidFill>
                    <a:latin typeface="Calibri"/>
                  </a:rPr>
                  <a:t> là giao điểm của </a:t>
                </a:r>
                <a:r>
                  <a:rPr lang="vi-VN"/>
                  <a:t>AB'</a:t>
                </a:r>
                <a:r>
                  <a:rPr sz="2000">
                    <a:solidFill>
                      <a:srgbClr val="1E293B"/>
                    </a:solidFill>
                    <a:latin typeface="Calibri"/>
                  </a:rPr>
                  <a:t> và </a:t>
                </a:r>
                <a:r>
                  <a:rPr lang="vi-VN"/>
                  <a:t>A'B</a:t>
                </a:r>
                <a:r>
                  <a:rPr sz="2000">
                    <a:solidFill>
                      <a:srgbClr val="1E293B"/>
                    </a:solidFill>
                    <a:latin typeface="Calibri"/>
                  </a:rPr>
                  <a:t> (H.2.18). Chứng minh rằng </a:t>
                </a:r>
                <a:r>
                  <a:rPr lang="vi-VN"/>
                  <a:t>\overrightarrow{CC'}=(-2)\overrightarrow{OM}</a:t>
                </a:r>
                <a:r>
                  <a:rPr sz="2000">
                    <a:solidFill>
                      <a:srgbClr val="1E293B"/>
                    </a:solidFill>
                    <a:latin typeface="Calibri"/>
                  </a:rPr>
                  <a:t>.</a:t>
                </a:r>
              </a:p>
            </p:txBody>
          </p:sp>
        </mc:Fallback>
      </mc:AlternateContent>
      <p:sp>
        <p:nvSpPr>
          <p:cNvPr id="8" name="s1_nen"/>
          <p:cNvSpPr/>
          <p:nvPr/>
        </p:nvSpPr>
        <p:spPr>
          <a:xfrm>
            <a:off x="548640" y="2246376"/>
            <a:ext cx="859536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82952"/>
                <a:ext cx="826617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là trung điểm </a:t>
                </a:r>
                <a14:m>
                  <m:oMath xmlns:m="http://schemas.openxmlformats.org/officeDocument/2006/math">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OM</m:t>
                    </m:r>
                  </m:oMath>
                </a14:m>
                <a:r>
                  <a:rPr sz="2000">
                    <a:solidFill>
                      <a:srgbClr val="1E293B"/>
                    </a:solidFill>
                    <a:latin typeface="Calibri"/>
                  </a:rPr>
                  <a:t> là đường trung bình tam giác </a:t>
                </a:r>
                <a14:m>
                  <m:oMath xmlns:m="http://schemas.openxmlformats.org/officeDocument/2006/math">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B∥OM</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B=2OM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là hình bình hành nên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C∥OM</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C=2OM</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OM</m:t>
                        </m:r>
                      </m:e>
                    </m:acc>
                  </m:oMath>
                </a14:m>
                <a:r>
                  <a:rPr sz="2000">
                    <a:solidFill>
                      <a:srgbClr val="1E293B"/>
                    </a:solidFill>
                    <a:latin typeface="Calibri"/>
                  </a:rPr>
                  <a:t> ngược hướng nên </a:t>
                </a:r>
                <a14:m>
                  <m:oMath xmlns:m="http://schemas.openxmlformats.org/officeDocument/2006/math">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=(−2)</m:t>
                    </m:r>
                    <m:acc>
                      <m:accPr>
                        <m:chr m:val="⃗"/>
                      </m:accPr>
                      <m:e>
                        <m:r>
                          <a:rPr lang="vi-VN" sz="2000" b="0">
                            <a:solidFill>
                              <a:srgbClr val="1E293B"/>
                            </a:solidFill>
                            <a:latin typeface="Cambria Math" panose="02040503050406030204" pitchFamily="18" charset="0"/>
                          </a:rPr>
                          <m:t>OM</m:t>
                        </m:r>
                      </m:e>
                    </m:acc>
                  </m:oMath>
                </a14:m>
                <a:r>
                  <a:rPr sz="2000">
                    <a:solidFill>
                      <a:srgbClr val="1E293B"/>
                    </a:solidFill>
                    <a:latin typeface="Calibri"/>
                  </a:rPr>
                  <a:t>.</a:t>
                </a:r>
              </a:p>
            </p:txBody>
          </p:sp>
        </mc:Choice>
        <mc:Fallback>
          <p:sp>
            <p:nvSpPr>
              <p:cNvPr id="9" name="TextBox 8"/>
              <p:cNvSpPr txBox="1"/>
              <p:nvPr/>
            </p:nvSpPr>
            <p:spPr>
              <a:xfrm>
                <a:off x="713232" y="2282952"/>
                <a:ext cx="826617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O</a:t>
                </a:r>
                <a:r>
                  <a:rPr sz="2000">
                    <a:solidFill>
                      <a:srgbClr val="1E293B"/>
                    </a:solidFill>
                    <a:latin typeface="Calibri"/>
                  </a:rPr>
                  <a:t> là trung điểm </a:t>
                </a:r>
                <a:r>
                  <a:rPr lang="vi-VN"/>
                  <a:t>AB'</a:t>
                </a:r>
                <a:r>
                  <a:rPr sz="2000">
                    <a:solidFill>
                      <a:srgbClr val="1E293B"/>
                    </a:solidFill>
                    <a:latin typeface="Calibri"/>
                  </a:rPr>
                  <a:t>, </a:t>
                </a:r>
                <a:r>
                  <a:rPr lang="vi-VN"/>
                  <a:t>OM</a:t>
                </a:r>
                <a:r>
                  <a:rPr sz="2000">
                    <a:solidFill>
                      <a:srgbClr val="1E293B"/>
                    </a:solidFill>
                    <a:latin typeface="Calibri"/>
                  </a:rPr>
                  <a:t> là đường trung bình tam giác </a:t>
                </a:r>
                <a:r>
                  <a:rPr lang="vi-VN"/>
                  <a:t>AB'B</a:t>
                </a:r>
                <a:r>
                  <a:rPr sz="2000">
                    <a:solidFill>
                      <a:srgbClr val="1E293B"/>
                    </a:solidFill>
                    <a:latin typeface="Calibri"/>
                  </a:rPr>
                  <a:t>: </a:t>
                </a:r>
                <a:r>
                  <a:rPr lang="vi-VN"/>
                  <a:t>B'B\parallel OM</a:t>
                </a:r>
                <a:r>
                  <a:rPr sz="2000">
                    <a:solidFill>
                      <a:srgbClr val="1E293B"/>
                    </a:solidFill>
                    <a:latin typeface="Calibri"/>
                  </a:rPr>
                  <a:t>, </a:t>
                </a:r>
                <a:r>
                  <a:rPr lang="vi-VN"/>
                  <a:t>B'B=2OM</a:t>
                </a:r>
                <a:r>
                  <a:rPr sz="2000">
                    <a:solidFill>
                      <a:srgbClr val="1E293B"/>
                    </a:solidFill>
                    <a:latin typeface="Calibri"/>
                  </a:rPr>
                  <a:t>. </a:t>
                </a:r>
                <a:r>
                  <a:rPr lang="vi-VN"/>
                  <a:t>BCC'B'</a:t>
                </a:r>
                <a:r>
                  <a:rPr sz="2000">
                    <a:solidFill>
                      <a:srgbClr val="1E293B"/>
                    </a:solidFill>
                    <a:latin typeface="Calibri"/>
                  </a:rPr>
                  <a:t> là hình bình hành nên </a:t>
                </a:r>
                <a:r>
                  <a:rPr lang="vi-VN"/>
                  <a:t>C'C\parallel OM</a:t>
                </a:r>
                <a:r>
                  <a:rPr sz="2000">
                    <a:solidFill>
                      <a:srgbClr val="1E293B"/>
                    </a:solidFill>
                    <a:latin typeface="Calibri"/>
                  </a:rPr>
                  <a:t>, </a:t>
                </a:r>
                <a:r>
                  <a:rPr lang="vi-VN"/>
                  <a:t>C'C=2OM</a:t>
                </a:r>
                <a:r>
                  <a:rPr sz="2000">
                    <a:solidFill>
                      <a:srgbClr val="1E293B"/>
                    </a:solidFill>
                    <a:latin typeface="Calibri"/>
                  </a:rPr>
                  <a:t>. </a:t>
                </a:r>
                <a:r>
                  <a:rPr lang="vi-VN"/>
                  <a:t>\overrightarrow{CC'}</a:t>
                </a:r>
                <a:r>
                  <a:rPr sz="2000">
                    <a:solidFill>
                      <a:srgbClr val="1E293B"/>
                    </a:solidFill>
                    <a:latin typeface="Calibri"/>
                  </a:rPr>
                  <a:t> và </a:t>
                </a:r>
                <a:r>
                  <a:rPr lang="vi-VN"/>
                  <a:t>\overrightarrow{OM}</a:t>
                </a:r>
                <a:r>
                  <a:rPr sz="2000">
                    <a:solidFill>
                      <a:srgbClr val="1E293B"/>
                    </a:solidFill>
                    <a:latin typeface="Calibri"/>
                  </a:rPr>
                  <a:t> ngược hướng nên </a:t>
                </a:r>
                <a:r>
                  <a:rPr lang="vi-VN"/>
                  <a:t>\overrightarrow{CC'}=(-2)\overrightarrow{OM}</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4069080"/>
                <a:ext cx="11064240" cy="1143762"/>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7.</a:t>
                </a:r>
                <a:r>
                  <a:rPr sz="1900">
                    <a:solidFill>
                      <a:srgbClr val="1E293B"/>
                    </a:solidFill>
                    <a:latin typeface="Calibri"/>
                  </a:rPr>
                  <a:t> Cho hình chóp </a:t>
                </a:r>
                <a14:m>
                  <m:oMath xmlns:m="http://schemas.openxmlformats.org/officeDocument/2006/math">
                    <m:r>
                      <a:rPr lang="vi-VN" sz="1900" b="0">
                        <a:solidFill>
                          <a:srgbClr val="1E293B"/>
                        </a:solidFill>
                        <a:latin typeface="Cambria Math" panose="02040503050406030204" pitchFamily="18" charset="0"/>
                      </a:rPr>
                      <m:t>S.ABCD</m:t>
                    </m:r>
                  </m:oMath>
                </a14:m>
                <a:r>
                  <a:rPr sz="1900">
                    <a:solidFill>
                      <a:srgbClr val="1E293B"/>
                    </a:solidFill>
                    <a:latin typeface="Calibri"/>
                  </a:rPr>
                  <a:t> có đáy </a:t>
                </a:r>
                <a14:m>
                  <m:oMath xmlns:m="http://schemas.openxmlformats.org/officeDocument/2006/math">
                    <m:r>
                      <a:rPr lang="vi-VN" sz="1900" b="0">
                        <a:solidFill>
                          <a:srgbClr val="1E293B"/>
                        </a:solidFill>
                        <a:latin typeface="Cambria Math" panose="02040503050406030204" pitchFamily="18" charset="0"/>
                      </a:rPr>
                      <m:t>ABCD</m:t>
                    </m:r>
                  </m:oMath>
                </a14:m>
                <a:r>
                  <a:rPr sz="1900">
                    <a:solidFill>
                      <a:srgbClr val="1E293B"/>
                    </a:solidFill>
                    <a:latin typeface="Calibri"/>
                  </a:rPr>
                  <a:t> là hình bình hành. Gọi </a:t>
                </a:r>
                <a14:m>
                  <m:oMath xmlns:m="http://schemas.openxmlformats.org/officeDocument/2006/math">
                    <m:r>
                      <a:rPr lang="vi-VN" sz="1900" b="0">
                        <a:solidFill>
                          <a:srgbClr val="1E293B"/>
                        </a:solidFill>
                        <a:latin typeface="Cambria Math" panose="02040503050406030204" pitchFamily="18" charset="0"/>
                      </a:rPr>
                      <m:t>E,</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F</m:t>
                    </m:r>
                  </m:oMath>
                </a14:m>
                <a:r>
                  <a:rPr sz="1900">
                    <a:solidFill>
                      <a:srgbClr val="1E293B"/>
                    </a:solidFill>
                    <a:latin typeface="Calibri"/>
                  </a:rPr>
                  <a:t> lần lượt là các điểm thuộc các cạnh </a:t>
                </a:r>
                <a14:m>
                  <m:oMath xmlns:m="http://schemas.openxmlformats.org/officeDocument/2006/math">
                    <m:r>
                      <a:rPr lang="vi-VN" sz="1900" b="0">
                        <a:solidFill>
                          <a:srgbClr val="1E293B"/>
                        </a:solidFill>
                        <a:latin typeface="Cambria Math" panose="02040503050406030204" pitchFamily="18" charset="0"/>
                      </a:rPr>
                      <m:t>SA,</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SB</m:t>
                    </m:r>
                  </m:oMath>
                </a14:m>
                <a:r>
                  <a:rPr sz="1900">
                    <a:solidFill>
                      <a:srgbClr val="1E293B"/>
                    </a:solidFill>
                    <a:latin typeface="Calibri"/>
                  </a:rPr>
                  <a:t> sao cho </a:t>
                </a:r>
                <a14:m>
                  <m:oMath xmlns:m="http://schemas.openxmlformats.org/officeDocument/2006/math">
                    <m:r>
                      <a:rPr lang="vi-VN" sz="1900" b="0">
                        <a:solidFill>
                          <a:srgbClr val="1E293B"/>
                        </a:solidFill>
                        <a:latin typeface="Cambria Math" panose="02040503050406030204" pitchFamily="18" charset="0"/>
                      </a:rPr>
                      <m:t>SE=</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3</m:t>
                        </m:r>
                      </m:den>
                    </m:f>
                    <m:r>
                      <a:rPr lang="vi-VN" sz="1900" b="0">
                        <a:solidFill>
                          <a:srgbClr val="1E293B"/>
                        </a:solidFill>
                        <a:latin typeface="Cambria Math" panose="02040503050406030204" pitchFamily="18" charset="0"/>
                      </a:rPr>
                      <m:t>SA</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SF=</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3</m:t>
                        </m:r>
                      </m:den>
                    </m:f>
                    <m:r>
                      <a:rPr lang="vi-VN" sz="1900" b="0">
                        <a:solidFill>
                          <a:srgbClr val="1E293B"/>
                        </a:solidFill>
                        <a:latin typeface="Cambria Math" panose="02040503050406030204" pitchFamily="18" charset="0"/>
                      </a:rPr>
                      <m:t>SB</m:t>
                    </m:r>
                  </m:oMath>
                </a14:m>
                <a:r>
                  <a:rPr sz="1900">
                    <a:solidFill>
                      <a:srgbClr val="1E293B"/>
                    </a:solidFill>
                    <a:latin typeface="Calibri"/>
                  </a:rPr>
                  <a:t>. Chứng minh rằng </a:t>
                </a:r>
                <a14:m>
                  <m:oMath xmlns:m="http://schemas.openxmlformats.org/officeDocument/2006/math">
                    <m:acc>
                      <m:accPr>
                        <m:chr m:val="⃗"/>
                      </m:accPr>
                      <m:e>
                        <m:r>
                          <a:rPr lang="vi-VN" sz="1900" b="0">
                            <a:solidFill>
                              <a:srgbClr val="1E293B"/>
                            </a:solidFill>
                            <a:latin typeface="Cambria Math" panose="02040503050406030204" pitchFamily="18" charset="0"/>
                          </a:rPr>
                          <m:t>EF</m:t>
                        </m:r>
                      </m:e>
                    </m:acc>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3</m:t>
                        </m:r>
                      </m:den>
                    </m:f>
                    <m:acc>
                      <m:accPr>
                        <m:chr m:val="⃗"/>
                      </m:accPr>
                      <m:e>
                        <m:r>
                          <a:rPr lang="vi-VN" sz="1900" b="0">
                            <a:solidFill>
                              <a:srgbClr val="1E293B"/>
                            </a:solidFill>
                            <a:latin typeface="Cambria Math" panose="02040503050406030204" pitchFamily="18" charset="0"/>
                          </a:rPr>
                          <m:t>DC</m:t>
                        </m:r>
                      </m:e>
                    </m:acc>
                  </m:oMath>
                </a14:m>
                <a:r>
                  <a:rPr sz="1900">
                    <a:solidFill>
                      <a:srgbClr val="1E293B"/>
                    </a:solidFill>
                    <a:latin typeface="Calibri"/>
                  </a:rPr>
                  <a:t>.</a:t>
                </a:r>
              </a:p>
            </p:txBody>
          </p:sp>
        </mc:Choice>
        <mc:Fallback>
          <p:sp>
            <p:nvSpPr>
              <p:cNvPr id="10" name="TextBox 9"/>
              <p:cNvSpPr txBox="1"/>
              <p:nvPr/>
            </p:nvSpPr>
            <p:spPr>
              <a:xfrm>
                <a:off x="548640" y="4069080"/>
                <a:ext cx="11064240" cy="1143762"/>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7.</a:t>
                </a:r>
                <a:r>
                  <a:rPr sz="1900">
                    <a:solidFill>
                      <a:srgbClr val="1E293B"/>
                    </a:solidFill>
                    <a:latin typeface="Calibri"/>
                  </a:rPr>
                  <a:t> Cho hình chóp </a:t>
                </a:r>
                <a:r>
                  <a:rPr lang="vi-VN"/>
                  <a:t>S.ABCD</a:t>
                </a:r>
                <a:r>
                  <a:rPr sz="1900">
                    <a:solidFill>
                      <a:srgbClr val="1E293B"/>
                    </a:solidFill>
                    <a:latin typeface="Calibri"/>
                  </a:rPr>
                  <a:t> có đáy </a:t>
                </a:r>
                <a:r>
                  <a:rPr lang="vi-VN"/>
                  <a:t>ABCD</a:t>
                </a:r>
                <a:r>
                  <a:rPr sz="1900">
                    <a:solidFill>
                      <a:srgbClr val="1E293B"/>
                    </a:solidFill>
                    <a:latin typeface="Calibri"/>
                  </a:rPr>
                  <a:t> là hình bình hành. Gọi </a:t>
                </a:r>
                <a:r>
                  <a:rPr lang="vi-VN"/>
                  <a:t>E,\ F</a:t>
                </a:r>
                <a:r>
                  <a:rPr sz="1900">
                    <a:solidFill>
                      <a:srgbClr val="1E293B"/>
                    </a:solidFill>
                    <a:latin typeface="Calibri"/>
                  </a:rPr>
                  <a:t> lần lượt là các điểm thuộc các cạnh </a:t>
                </a:r>
                <a:r>
                  <a:rPr lang="vi-VN"/>
                  <a:t>SA,\ SB</a:t>
                </a:r>
                <a:r>
                  <a:rPr sz="1900">
                    <a:solidFill>
                      <a:srgbClr val="1E293B"/>
                    </a:solidFill>
                    <a:latin typeface="Calibri"/>
                  </a:rPr>
                  <a:t> sao cho </a:t>
                </a:r>
                <a:r>
                  <a:rPr lang="vi-VN"/>
                  <a:t>SE=\frac{1}{3}SA</a:t>
                </a:r>
                <a:r>
                  <a:rPr sz="1900">
                    <a:solidFill>
                      <a:srgbClr val="1E293B"/>
                    </a:solidFill>
                    <a:latin typeface="Calibri"/>
                  </a:rPr>
                  <a:t>; </a:t>
                </a:r>
                <a:r>
                  <a:rPr lang="vi-VN"/>
                  <a:t>SF=\frac{1}{3}SB</a:t>
                </a:r>
                <a:r>
                  <a:rPr sz="1900">
                    <a:solidFill>
                      <a:srgbClr val="1E293B"/>
                    </a:solidFill>
                    <a:latin typeface="Calibri"/>
                  </a:rPr>
                  <a:t>. Chứng minh rằng </a:t>
                </a:r>
                <a:r>
                  <a:rPr lang="vi-VN"/>
                  <a:t>\overrightarrow{EF}=\frac{1}{3}\overrightarrow{DC}</a:t>
                </a:r>
                <a:r>
                  <a:rPr sz="1900">
                    <a:solidFill>
                      <a:srgbClr val="1E293B"/>
                    </a:solidFill>
                    <a:latin typeface="Calibri"/>
                  </a:rPr>
                  <a:t>.</a:t>
                </a:r>
              </a:p>
            </p:txBody>
          </p:sp>
        </mc:Fallback>
      </mc:AlternateContent>
      <p:sp>
        <p:nvSpPr>
          <p:cNvPr id="11" name="s3_nen"/>
          <p:cNvSpPr/>
          <p:nvPr/>
        </p:nvSpPr>
        <p:spPr>
          <a:xfrm>
            <a:off x="548640" y="5304282"/>
            <a:ext cx="11064240" cy="94564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340858"/>
                <a:ext cx="10735056" cy="87249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EF</m:t>
                        </m:r>
                      </m:e>
                    </m:acc>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SF</m:t>
                        </m:r>
                      </m:e>
                    </m:acc>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SE</m:t>
                        </m:r>
                      </m:e>
                    </m:acc>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3</m:t>
                        </m:r>
                      </m:den>
                    </m:f>
                    <m:acc>
                      <m:accPr>
                        <m:chr m:val="⃗"/>
                      </m:accPr>
                      <m:e>
                        <m:r>
                          <a:rPr lang="vi-VN" sz="1900" b="0">
                            <a:solidFill>
                              <a:srgbClr val="1E293B"/>
                            </a:solidFill>
                            <a:latin typeface="Cambria Math" panose="02040503050406030204" pitchFamily="18" charset="0"/>
                          </a:rPr>
                          <m:t>SB</m:t>
                        </m:r>
                      </m:e>
                    </m:acc>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3</m:t>
                        </m:r>
                      </m:den>
                    </m:f>
                    <m:acc>
                      <m:accPr>
                        <m:chr m:val="⃗"/>
                      </m:accPr>
                      <m:e>
                        <m:r>
                          <a:rPr lang="vi-VN" sz="1900" b="0">
                            <a:solidFill>
                              <a:srgbClr val="1E293B"/>
                            </a:solidFill>
                            <a:latin typeface="Cambria Math" panose="02040503050406030204" pitchFamily="18" charset="0"/>
                          </a:rPr>
                          <m:t>SA</m:t>
                        </m:r>
                      </m:e>
                    </m:acc>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3</m:t>
                        </m:r>
                      </m:den>
                    </m:f>
                    <m:acc>
                      <m:accPr>
                        <m:chr m:val="⃗"/>
                      </m:accPr>
                      <m:e>
                        <m:r>
                          <a:rPr lang="vi-VN" sz="1900" b="0">
                            <a:solidFill>
                              <a:srgbClr val="1E293B"/>
                            </a:solidFill>
                            <a:latin typeface="Cambria Math" panose="02040503050406030204" pitchFamily="18" charset="0"/>
                          </a:rPr>
                          <m:t>AB</m:t>
                        </m:r>
                      </m:e>
                    </m:acc>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3</m:t>
                        </m:r>
                      </m:den>
                    </m:f>
                    <m:acc>
                      <m:accPr>
                        <m:chr m:val="⃗"/>
                      </m:accPr>
                      <m:e>
                        <m:r>
                          <a:rPr lang="vi-VN" sz="1900" b="0">
                            <a:solidFill>
                              <a:srgbClr val="1E293B"/>
                            </a:solidFill>
                            <a:latin typeface="Cambria Math" panose="02040503050406030204" pitchFamily="18" charset="0"/>
                          </a:rPr>
                          <m:t>DC</m:t>
                        </m:r>
                      </m:e>
                    </m:acc>
                  </m:oMath>
                </a14:m>
                <a:r>
                  <a:rPr sz="1900">
                    <a:solidFill>
                      <a:srgbClr val="1E293B"/>
                    </a:solidFill>
                    <a:latin typeface="Calibri"/>
                  </a:rPr>
                  <a:t>.</a:t>
                </a:r>
              </a:p>
            </p:txBody>
          </p:sp>
        </mc:Choice>
        <mc:Fallback>
          <p:sp>
            <p:nvSpPr>
              <p:cNvPr id="12" name="TextBox 11"/>
              <p:cNvSpPr txBox="1"/>
              <p:nvPr/>
            </p:nvSpPr>
            <p:spPr>
              <a:xfrm>
                <a:off x="713232" y="5340858"/>
                <a:ext cx="10735056" cy="87249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\overrightarrow{EF}=\overrightarrow{SF}-\overrightarrow{SE}=\frac{1}{3}\overrightarrow{SB}-\frac{1}{3}\overrightarrow{SA}=\frac{1}{3}\overrightarrow{AB}=\frac{1}{3}\overrightarrow{DC}</a:t>
                </a:r>
                <a:r>
                  <a:rPr sz="1900">
                    <a:solidFill>
                      <a:srgbClr val="1E293B"/>
                    </a:solidFill>
                    <a:latin typeface="Calibri"/>
                  </a:rPr>
                  <a:t>.</a:t>
                </a:r>
              </a:p>
            </p:txBody>
          </p:sp>
        </mc:Fallback>
      </mc:AlternateContent>
      <p:pic>
        <p:nvPicPr>
          <p:cNvPr id="13" name="Picture 12" descr="h218.png"/>
          <p:cNvPicPr>
            <a:picLocks noChangeAspect="1"/>
          </p:cNvPicPr>
          <p:nvPr/>
        </p:nvPicPr>
        <p:blipFill>
          <a:blip r:embed="rId3"/>
          <a:stretch>
            <a:fillRect/>
          </a:stretch>
        </p:blipFill>
        <p:spPr>
          <a:xfrm>
            <a:off x="9326880" y="1538887"/>
            <a:ext cx="2377440" cy="2042866"/>
          </a:xfrm>
          <a:prstGeom prst="rect">
            <a:avLst/>
          </a:prstGeom>
        </p:spPr>
      </p:pic>
      <p:sp>
        <p:nvSpPr>
          <p:cNvPr id="14" name="TextBox 13"/>
          <p:cNvSpPr txBox="1"/>
          <p:nvPr/>
        </p:nvSpPr>
        <p:spPr>
          <a:xfrm>
            <a:off x="9326880" y="3675887"/>
            <a:ext cx="23774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TÍNH CHẤT PHÉP NHÂN SỐ VỚI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42</a:t>
            </a:r>
          </a:p>
        </p:txBody>
      </p:sp>
      <p:sp>
        <p:nvSpPr>
          <p:cNvPr id="7" name="Rounded Rectangle 6"/>
          <p:cNvSpPr/>
          <p:nvPr/>
        </p:nvSpPr>
        <p:spPr>
          <a:xfrm>
            <a:off x="548640" y="1463040"/>
            <a:ext cx="11064240" cy="202996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956816"/>
              </a:xfrm>
              <a:prstGeom prst="rect">
                <a:avLst/>
              </a:prstGeom>
              <a:noFill/>
            </p:spPr>
            <p:txBody>
              <a:bodyPr wrap="square" anchor="ctr" lIns="45720" rIns="45720">
                <a:spAutoFit/>
              </a:bodyPr>
              <a:lstStyle/>
              <a:p>
                <a:pPr algn="l">
                  <a:spcAft>
                    <a:spcPts val="800"/>
                  </a:spcAft>
                </a:pPr>
                <a:r>
                  <a:rPr sz="2400">
                    <a:solidFill>
                      <a:srgbClr val="1E293B"/>
                    </a:solidFill>
                    <a:latin typeface="Calibri"/>
                  </a:rPr>
                  <a:t>Với </a:t>
                </a:r>
                <a14:m>
                  <m:oMath xmlns:m="http://schemas.openxmlformats.org/officeDocument/2006/math">
                    <m:r>
                      <a:rPr lang="vi-VN" sz="2400" b="0">
                        <a:solidFill>
                          <a:srgbClr val="1E293B"/>
                        </a:solidFill>
                        <a:latin typeface="Cambria Math" panose="02040503050406030204" pitchFamily="18" charset="0"/>
                      </a:rPr>
                      <m:t>h,</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k</m:t>
                    </m:r>
                  </m:oMath>
                </a14:m>
                <a:r>
                  <a:rPr sz="2400">
                    <a:solidFill>
                      <a:srgbClr val="1E293B"/>
                    </a:solidFill>
                    <a:latin typeface="Calibri"/>
                  </a:rPr>
                  <a:t> là hai số thực, </a:t>
                </a:r>
                <a14:m>
                  <m:oMath xmlns:m="http://schemas.openxmlformats.org/officeDocument/2006/math">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b</m:t>
                        </m:r>
                      </m:e>
                    </m:acc>
                  </m:oMath>
                </a14:m>
                <a:r>
                  <a:rPr sz="2400">
                    <a:solidFill>
                      <a:srgbClr val="1E293B"/>
                    </a:solidFill>
                    <a:latin typeface="Calibri"/>
                  </a:rPr>
                  <a:t> là hai vectơ bất kì:</a:t>
                </a:r>
              </a:p>
              <a:p>
                <a:pPr algn="l" marL="365760" indent="-365760">
                  <a:spcAft>
                    <a:spcPts val="800"/>
                  </a:spcAft>
                  <a:buClr>
                    <a:srgbClr val="1E40AF"/>
                  </a:buClr>
                  <a:buFont typeface="Arial"/>
                  <a:buChar char="•"/>
                </a:pPr>
                <a:r>
                  <a:rPr sz="2400">
                    <a:solidFill>
                      <a:srgbClr val="1E293B"/>
                    </a:solidFill>
                    <a:latin typeface="Calibri"/>
                  </a:rPr>
                  <a:t>Tính chất kết hợp: </a:t>
                </a:r>
                <a14:m>
                  <m:oMath xmlns:m="http://schemas.openxmlformats.org/officeDocument/2006/math">
                    <m:r>
                      <a:rPr lang="vi-VN" sz="2400" b="0">
                        <a:solidFill>
                          <a:srgbClr val="1E293B"/>
                        </a:solidFill>
                        <a:latin typeface="Cambria Math" panose="02040503050406030204" pitchFamily="18" charset="0"/>
                      </a:rPr>
                      <m:t>h(k</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)=(hk)</m:t>
                    </m:r>
                    <m:acc>
                      <m:accPr>
                        <m:chr m:val="⃗"/>
                      </m:accPr>
                      <m:e>
                        <m:r>
                          <a:rPr lang="vi-VN" sz="2400" b="0">
                            <a:solidFill>
                              <a:srgbClr val="1E293B"/>
                            </a:solidFill>
                            <a:latin typeface="Cambria Math" panose="02040503050406030204" pitchFamily="18" charset="0"/>
                          </a:rPr>
                          <m:t>a</m:t>
                        </m:r>
                      </m:e>
                    </m:acc>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Tính chất phân phối: </a:t>
                </a:r>
                <a14:m>
                  <m:oMath xmlns:m="http://schemas.openxmlformats.org/officeDocument/2006/math">
                    <m:r>
                      <a:rPr lang="vi-VN" sz="2400" b="0">
                        <a:solidFill>
                          <a:srgbClr val="1E293B"/>
                        </a:solidFill>
                        <a:latin typeface="Cambria Math" panose="02040503050406030204" pitchFamily="18" charset="0"/>
                      </a:rPr>
                      <m:t>(h+k)</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=h</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+k</m:t>
                    </m:r>
                    <m:acc>
                      <m:accPr>
                        <m:chr m:val="⃗"/>
                      </m:accPr>
                      <m:e>
                        <m:r>
                          <a:rPr lang="vi-VN" sz="2400" b="0">
                            <a:solidFill>
                              <a:srgbClr val="1E293B"/>
                            </a:solidFill>
                            <a:latin typeface="Cambria Math" panose="02040503050406030204" pitchFamily="18" charset="0"/>
                          </a:rPr>
                          <m:t>a</m:t>
                        </m:r>
                      </m:e>
                    </m:acc>
                  </m:oMath>
                </a14:m>
                <a:r>
                  <a:rPr sz="2400">
                    <a:solidFill>
                      <a:srgbClr val="1E293B"/>
                    </a:solidFill>
                    <a:latin typeface="Calibri"/>
                  </a:rPr>
                  <a:t> và </a:t>
                </a:r>
                <a14:m>
                  <m:oMath xmlns:m="http://schemas.openxmlformats.org/officeDocument/2006/math">
                    <m:r>
                      <a:rPr lang="vi-VN" sz="2400" b="0">
                        <a:solidFill>
                          <a:srgbClr val="1E293B"/>
                        </a:solidFill>
                        <a:latin typeface="Cambria Math" panose="02040503050406030204" pitchFamily="18" charset="0"/>
                      </a:rPr>
                      <m:t>k(</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)=k</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+k</m:t>
                    </m:r>
                    <m:acc>
                      <m:accPr>
                        <m:chr m:val="⃗"/>
                      </m:accPr>
                      <m:e>
                        <m:r>
                          <a:rPr lang="vi-VN" sz="2400" b="0">
                            <a:solidFill>
                              <a:srgbClr val="1E293B"/>
                            </a:solidFill>
                            <a:latin typeface="Cambria Math" panose="02040503050406030204" pitchFamily="18" charset="0"/>
                          </a:rPr>
                          <m:t>b</m:t>
                        </m:r>
                      </m:e>
                    </m:acc>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Nhân với 1 và </a:t>
                </a:r>
                <a14:m>
                  <m:oMath xmlns:m="http://schemas.openxmlformats.org/officeDocument/2006/math">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oMath>
                </a14:m>
                <a:r>
                  <a:rPr sz="2400">
                    <a:solidFill>
                      <a:srgbClr val="1E293B"/>
                    </a:solidFill>
                    <a:latin typeface="Calibri"/>
                  </a:rPr>
                  <a:t> và </a:t>
                </a:r>
                <a14:m>
                  <m:oMath xmlns:m="http://schemas.openxmlformats.org/officeDocument/2006/math">
                    <m:r>
                      <a:rPr lang="vi-VN" sz="2400" b="0">
                        <a:solidFill>
                          <a:srgbClr val="1E293B"/>
                        </a:solidFill>
                        <a:latin typeface="Cambria Math" panose="02040503050406030204" pitchFamily="18" charset="0"/>
                      </a:rPr>
                      <m:t>(−1)</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oMath>
                </a14:m>
                <a:r>
                  <a:rPr sz="2400">
                    <a:solidFill>
                      <a:srgbClr val="1E293B"/>
                    </a:solidFill>
                    <a:latin typeface="Calibri"/>
                  </a:rPr>
                  <a:t>.</a:t>
                </a:r>
              </a:p>
            </p:txBody>
          </p:sp>
        </mc:Choice>
        <mc:Fallback>
          <p:sp>
            <p:nvSpPr>
              <p:cNvPr id="8" name="TextBox 7"/>
              <p:cNvSpPr txBox="1"/>
              <p:nvPr/>
            </p:nvSpPr>
            <p:spPr>
              <a:xfrm>
                <a:off x="713232" y="1499616"/>
                <a:ext cx="10735056" cy="1956816"/>
              </a:xfrm>
              <a:prstGeom prst="rect">
                <a:avLst/>
              </a:prstGeom>
              <a:noFill/>
            </p:spPr>
            <p:txBody>
              <a:bodyPr wrap="square" anchor="ctr" lIns="45720" rIns="45720">
                <a:spAutoFit/>
              </a:bodyPr>
              <a:lstStyle/>
              <a:p>
                <a:pPr algn="l">
                  <a:spcAft>
                    <a:spcPts val="800"/>
                  </a:spcAft>
                </a:pPr>
                <a:r>
                  <a:rPr sz="2400">
                    <a:solidFill>
                      <a:srgbClr val="1E293B"/>
                    </a:solidFill>
                    <a:latin typeface="Calibri"/>
                  </a:rPr>
                  <a:t>Với </a:t>
                </a:r>
                <a:r>
                  <a:rPr lang="vi-VN"/>
                  <a:t>h,\ k</a:t>
                </a:r>
                <a:r>
                  <a:rPr sz="2400">
                    <a:solidFill>
                      <a:srgbClr val="1E293B"/>
                    </a:solidFill>
                    <a:latin typeface="Calibri"/>
                  </a:rPr>
                  <a:t> là hai số thực, </a:t>
                </a:r>
                <a:r>
                  <a:rPr lang="vi-VN"/>
                  <a:t>\vec{a},\ \vec{b}</a:t>
                </a:r>
                <a:r>
                  <a:rPr sz="2400">
                    <a:solidFill>
                      <a:srgbClr val="1E293B"/>
                    </a:solidFill>
                    <a:latin typeface="Calibri"/>
                  </a:rPr>
                  <a:t> là hai vectơ bất kì:</a:t>
                </a:r>
              </a:p>
              <a:p>
                <a:pPr algn="l" marL="365760" indent="-365760">
                  <a:spcAft>
                    <a:spcPts val="800"/>
                  </a:spcAft>
                  <a:buClr>
                    <a:srgbClr val="1E40AF"/>
                  </a:buClr>
                  <a:buFont typeface="Arial"/>
                  <a:buChar char="•"/>
                </a:pPr>
                <a:r>
                  <a:rPr sz="2400">
                    <a:solidFill>
                      <a:srgbClr val="1E293B"/>
                    </a:solidFill>
                    <a:latin typeface="Calibri"/>
                  </a:rPr>
                  <a:t>Tính chất kết hợp: </a:t>
                </a:r>
                <a:r>
                  <a:rPr lang="vi-VN"/>
                  <a:t>h(k\vec{a})=(hk)\vec{a}</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Tính chất phân phối: </a:t>
                </a:r>
                <a:r>
                  <a:rPr lang="vi-VN"/>
                  <a:t>(h+k)\vec{a}=h\vec{a}+k\vec{a}</a:t>
                </a:r>
                <a:r>
                  <a:rPr sz="2400">
                    <a:solidFill>
                      <a:srgbClr val="1E293B"/>
                    </a:solidFill>
                    <a:latin typeface="Calibri"/>
                  </a:rPr>
                  <a:t> và </a:t>
                </a:r>
                <a:r>
                  <a:rPr lang="vi-VN"/>
                  <a:t>k(\vec{a}+\vec{b})=k\vec{a}+k\vec{b}</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Nhân với 1 và </a:t>
                </a:r>
                <a:r>
                  <a:rPr lang="vi-VN"/>
                  <a:t>-1</a:t>
                </a:r>
                <a:r>
                  <a:rPr sz="2400">
                    <a:solidFill>
                      <a:srgbClr val="1E293B"/>
                    </a:solidFill>
                    <a:latin typeface="Calibri"/>
                  </a:rPr>
                  <a:t>: </a:t>
                </a:r>
                <a:r>
                  <a:rPr lang="vi-VN"/>
                  <a:t>1\vec{a}=\vec{a}</a:t>
                </a:r>
                <a:r>
                  <a:rPr sz="2400">
                    <a:solidFill>
                      <a:srgbClr val="1E293B"/>
                    </a:solidFill>
                    <a:latin typeface="Calibri"/>
                  </a:rPr>
                  <a:t> và </a:t>
                </a:r>
                <a:r>
                  <a:rPr lang="vi-VN"/>
                  <a:t>(-1)\vec{a}=-\vec{a}</a:t>
                </a:r>
                <a:r>
                  <a:rPr sz="2400">
                    <a:solidFill>
                      <a:srgbClr val="1E293B"/>
                    </a:solidFill>
                    <a:latin typeface="Calibri"/>
                  </a:rPr>
                  <a:t>.</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 3D</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GEOGEBRA 3D – TÍCH CỦA MỘT SỐ VỚI MỘT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43</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k</m:t>
                    </m:r>
                  </m:oMath>
                </a14:m>
                <a:r>
                  <a:rPr sz="2200">
                    <a:solidFill>
                      <a:srgbClr val="1E293B"/>
                    </a:solidFill>
                    <a:latin typeface="Calibri"/>
                  </a:rPr>
                  <a:t> từ </a:t>
                </a:r>
                <a14:m>
                  <m:oMath xmlns:m="http://schemas.openxmlformats.org/officeDocument/2006/math">
                    <m:r>
                      <a:rPr lang="vi-VN" sz="2200" b="0">
                        <a:solidFill>
                          <a:srgbClr val="1E293B"/>
                        </a:solidFill>
                        <a:latin typeface="Cambria Math" panose="02040503050406030204" pitchFamily="18" charset="0"/>
                      </a:rPr>
                      <m:t>−3</m:t>
                    </m:r>
                  </m:oMath>
                </a14:m>
                <a:r>
                  <a:rPr sz="2200">
                    <a:solidFill>
                      <a:srgbClr val="1E293B"/>
                    </a:solidFill>
                    <a:latin typeface="Calibri"/>
                  </a:rPr>
                  <a:t> đến </a:t>
                </a:r>
                <a14:m>
                  <m:oMath xmlns:m="http://schemas.openxmlformats.org/officeDocument/2006/math">
                    <m:r>
                      <a:rPr lang="vi-VN" sz="2200" b="0">
                        <a:solidFill>
                          <a:srgbClr val="1E293B"/>
                        </a:solidFill>
                        <a:latin typeface="Cambria Math" panose="02040503050406030204" pitchFamily="18" charset="0"/>
                      </a:rPr>
                      <m:t>3</m:t>
                    </m:r>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k&gt;0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k</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cùng hướng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k&lt;0</m:t>
                    </m:r>
                  </m:oMath>
                </a14:m>
                <a:r>
                  <a:rPr sz="2200">
                    <a:solidFill>
                      <a:srgbClr val="1E293B"/>
                    </a:solidFill>
                    <a:latin typeface="Calibri"/>
                  </a:rPr>
                  <a:t>: ngược hướng; </a:t>
                </a:r>
                <a14:m>
                  <m:oMath xmlns:m="http://schemas.openxmlformats.org/officeDocument/2006/math">
                    <m:r>
                      <a:rPr lang="vi-VN" sz="2200" b="0">
                        <a:solidFill>
                          <a:srgbClr val="1E293B"/>
                        </a:solidFill>
                        <a:latin typeface="Cambria Math" panose="02040503050406030204" pitchFamily="18" charset="0"/>
                      </a:rPr>
                      <m:t>k=0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k</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So sánh độ dài: </a:t>
                </a:r>
                <a14:m>
                  <m:oMath xmlns:m="http://schemas.openxmlformats.org/officeDocument/2006/math">
                    <m:d>
                      <m:dPr>
                        <m:begChr m:val="|"/>
                        <m:sepChr m:val=""/>
                        <m:endChr m:val="|"/>
                      </m:dPr>
                      <m:e>
                        <m:r>
                          <a:rPr lang="vi-VN" sz="2200" b="0">
                            <a:solidFill>
                              <a:srgbClr val="1E293B"/>
                            </a:solidFill>
                            <a:latin typeface="Cambria Math" panose="02040503050406030204" pitchFamily="18" charset="0"/>
                          </a:rPr>
                          <m:t>k</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k</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e>
                    </m:d>
                  </m:oMath>
                </a14:m>
                <a:r>
                  <a:rPr sz="2200">
                    <a:solidFill>
                      <a:srgbClr val="1E293B"/>
                    </a:solidFill>
                    <a:latin typeface="Calibri"/>
                  </a:rPr>
                  <a:t> (xem bảng giá trị).</a:t>
                </a:r>
              </a:p>
              <a:p>
                <a:pPr algn="l" marL="365760" indent="-365760">
                  <a:spcAft>
                    <a:spcPts val="800"/>
                  </a:spcAft>
                  <a:buClr>
                    <a:srgbClr val="1E40AF"/>
                  </a:buClr>
                  <a:buFont typeface="Arial"/>
                  <a:buChar char="•"/>
                </a:pPr>
                <a:r>
                  <a:rPr sz="2200">
                    <a:solidFill>
                      <a:srgbClr val="1E293B"/>
                    </a:solidFill>
                    <a:latin typeface="Calibri"/>
                  </a:rPr>
                  <a:t>Kéo điểm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để đổi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trong không gian.</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k</a:t>
                </a:r>
                <a:r>
                  <a:rPr sz="2200">
                    <a:solidFill>
                      <a:srgbClr val="1E293B"/>
                    </a:solidFill>
                    <a:latin typeface="Calibri"/>
                  </a:rPr>
                  <a:t> từ </a:t>
                </a:r>
                <a:r>
                  <a:rPr lang="vi-VN"/>
                  <a:t>-3</a:t>
                </a:r>
                <a:r>
                  <a:rPr sz="2200">
                    <a:solidFill>
                      <a:srgbClr val="1E293B"/>
                    </a:solidFill>
                    <a:latin typeface="Calibri"/>
                  </a:rPr>
                  <a:t> đến </a:t>
                </a:r>
                <a:r>
                  <a:rPr lang="vi-VN"/>
                  <a:t>3</a:t>
                </a:r>
                <a:r>
                  <a:rPr sz="2200">
                    <a:solidFill>
                      <a:srgbClr val="1E293B"/>
                    </a:solidFill>
                    <a:latin typeface="Calibri"/>
                  </a:rPr>
                  <a:t>.</a:t>
                </a:r>
              </a:p>
              <a:p>
                <a:pPr algn="l" marL="365760" indent="-365760">
                  <a:spcAft>
                    <a:spcPts val="800"/>
                  </a:spcAft>
                  <a:buClr>
                    <a:srgbClr val="1E40AF"/>
                  </a:buClr>
                  <a:buFont typeface="Arial"/>
                  <a:buChar char="•"/>
                </a:pPr>
                <a:r>
                  <a:rPr lang="vi-VN"/>
                  <a:t>k&gt;0</a:t>
                </a:r>
                <a:r>
                  <a:rPr sz="2200">
                    <a:solidFill>
                      <a:srgbClr val="1E293B"/>
                    </a:solidFill>
                    <a:latin typeface="Calibri"/>
                  </a:rPr>
                  <a:t>: </a:t>
                </a:r>
                <a:r>
                  <a:rPr lang="vi-VN"/>
                  <a:t>k\vec{a}</a:t>
                </a:r>
                <a:r>
                  <a:rPr sz="2200">
                    <a:solidFill>
                      <a:srgbClr val="1E293B"/>
                    </a:solidFill>
                    <a:latin typeface="Calibri"/>
                  </a:rPr>
                  <a:t> cùng hướng </a:t>
                </a:r>
                <a:r>
                  <a:rPr lang="vi-VN"/>
                  <a:t>\vec{a}</a:t>
                </a:r>
                <a:r>
                  <a:rPr sz="2200">
                    <a:solidFill>
                      <a:srgbClr val="1E293B"/>
                    </a:solidFill>
                    <a:latin typeface="Calibri"/>
                  </a:rPr>
                  <a:t>; </a:t>
                </a:r>
                <a:r>
                  <a:rPr lang="vi-VN"/>
                  <a:t>k&lt;0</a:t>
                </a:r>
                <a:r>
                  <a:rPr sz="2200">
                    <a:solidFill>
                      <a:srgbClr val="1E293B"/>
                    </a:solidFill>
                    <a:latin typeface="Calibri"/>
                  </a:rPr>
                  <a:t>: ngược hướng; </a:t>
                </a:r>
                <a:r>
                  <a:rPr lang="vi-VN"/>
                  <a:t>k=0</a:t>
                </a:r>
                <a:r>
                  <a:rPr sz="2200">
                    <a:solidFill>
                      <a:srgbClr val="1E293B"/>
                    </a:solidFill>
                    <a:latin typeface="Calibri"/>
                  </a:rPr>
                  <a:t>: </a:t>
                </a:r>
                <a:r>
                  <a:rPr lang="vi-VN"/>
                  <a:t>k\vec{a}=\vec{0}</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So sánh độ dài: </a:t>
                </a:r>
                <a:r>
                  <a:rPr lang="vi-VN"/>
                  <a:t>|k\vec{a}|=|k|\cdot|\vec{a}|</a:t>
                </a:r>
                <a:r>
                  <a:rPr sz="2200">
                    <a:solidFill>
                      <a:srgbClr val="1E293B"/>
                    </a:solidFill>
                    <a:latin typeface="Calibri"/>
                  </a:rPr>
                  <a:t> (xem bảng giá trị).</a:t>
                </a:r>
              </a:p>
              <a:p>
                <a:pPr algn="l" marL="365760" indent="-365760">
                  <a:spcAft>
                    <a:spcPts val="800"/>
                  </a:spcAft>
                  <a:buClr>
                    <a:srgbClr val="1E40AF"/>
                  </a:buClr>
                  <a:buFont typeface="Arial"/>
                  <a:buChar char="•"/>
                </a:pPr>
                <a:r>
                  <a:rPr sz="2200">
                    <a:solidFill>
                      <a:srgbClr val="1E293B"/>
                    </a:solidFill>
                    <a:latin typeface="Calibri"/>
                  </a:rPr>
                  <a:t>Kéo điểm </a:t>
                </a:r>
                <a:r>
                  <a:rPr lang="vi-VN"/>
                  <a:t>M</a:t>
                </a:r>
                <a:r>
                  <a:rPr sz="2200">
                    <a:solidFill>
                      <a:srgbClr val="1E293B"/>
                    </a:solidFill>
                    <a:latin typeface="Calibri"/>
                  </a:rPr>
                  <a:t> để đổi vectơ </a:t>
                </a:r>
                <a:r>
                  <a:rPr lang="vi-VN"/>
                  <a:t>\vec{a}</a:t>
                </a:r>
                <a:r>
                  <a:rPr sz="2200">
                    <a:solidFill>
                      <a:srgbClr val="1E293B"/>
                    </a:solidFill>
                    <a:latin typeface="Calibri"/>
                  </a:rPr>
                  <a:t> trong không gian.</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 3D</a:t>
            </a:r>
          </a:p>
        </p:txBody>
      </p:sp>
      <p:pic>
        <p:nvPicPr>
          <p:cNvPr id="9" name="Picture 8" descr="qr_ggb_3.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để xoay hình, chụm/cuộn để phóng to.</a:t>
            </a:r>
          </a:p>
        </p:txBody>
      </p:sp>
      <p:pic>
        <p:nvPicPr>
          <p:cNvPr id="11" name="Picture 10" descr="h217.png"/>
          <p:cNvPicPr>
            <a:picLocks noChangeAspect="1"/>
          </p:cNvPicPr>
          <p:nvPr/>
        </p:nvPicPr>
        <p:blipFill>
          <a:blip r:embed="rId5"/>
          <a:stretch>
            <a:fillRect/>
          </a:stretch>
        </p:blipFill>
        <p:spPr>
          <a:xfrm>
            <a:off x="6858000" y="1693075"/>
            <a:ext cx="4846320" cy="402048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GHÉP ĐÔI VECTƠ ĐỐI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44</a:t>
            </a:r>
          </a:p>
        </p:txBody>
      </p:sp>
      <p:sp>
        <p:nvSpPr>
          <p:cNvPr id="7" name="Rounded Rectangle 6"/>
          <p:cNvSpPr/>
          <p:nvPr/>
        </p:nvSpPr>
        <p:spPr>
          <a:xfrm>
            <a:off x="548640" y="1508760"/>
            <a:ext cx="2103120" cy="82296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54533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1.</a:t>
                </a: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AB</m:t>
                        </m:r>
                      </m:e>
                    </m:acc>
                  </m:oMath>
                </a14:m>
              </a:p>
            </p:txBody>
          </p:sp>
        </mc:Choice>
        <mc:Fallback>
          <p:sp>
            <p:nvSpPr>
              <p:cNvPr id="8" name="TextBox 7"/>
              <p:cNvSpPr txBox="1"/>
              <p:nvPr/>
            </p:nvSpPr>
            <p:spPr>
              <a:xfrm>
                <a:off x="713232" y="154533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1.</a:t>
                </a:r>
                <a:r>
                  <a:rPr sz="2600">
                    <a:solidFill>
                      <a:srgbClr val="1E293B"/>
                    </a:solidFill>
                    <a:latin typeface="Calibri"/>
                  </a:rPr>
                  <a:t> </a:t>
                </a:r>
                <a:r>
                  <a:rPr lang="vi-VN"/>
                  <a:t>\overrightarrow{AB}</a:t>
                </a:r>
              </a:p>
            </p:txBody>
          </p:sp>
        </mc:Fallback>
      </mc:AlternateContent>
      <p:sp>
        <p:nvSpPr>
          <p:cNvPr id="9" name="Rounded Rectangle 8"/>
          <p:cNvSpPr/>
          <p:nvPr/>
        </p:nvSpPr>
        <p:spPr>
          <a:xfrm>
            <a:off x="3291840" y="1508760"/>
            <a:ext cx="2103120" cy="822960"/>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TextBox 9"/>
              <p:cNvSpPr txBox="1"/>
              <p:nvPr/>
            </p:nvSpPr>
            <p:spPr>
              <a:xfrm>
                <a:off x="3456432" y="154533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A.</a:t>
                </a:r>
                <a:r>
                  <a:rPr sz="2600">
                    <a:solidFill>
                      <a:srgbClr val="1E293B"/>
                    </a:solidFill>
                    <a:latin typeface="Calibri"/>
                  </a:rPr>
                  <a:t> </a:t>
                </a:r>
                <a14:m>
                  <m:oMath xmlns:m="http://schemas.openxmlformats.org/officeDocument/2006/math">
                    <m:acc>
                      <m:accPr>
                        <m:chr m:val="⃗"/>
                      </m:accPr>
                      <m:e>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B</m:t>
                        </m:r>
                      </m:e>
                    </m:acc>
                  </m:oMath>
                </a14:m>
              </a:p>
            </p:txBody>
          </p:sp>
        </mc:Choice>
        <mc:Fallback>
          <p:sp>
            <p:nvSpPr>
              <p:cNvPr id="10" name="TextBox 9"/>
              <p:cNvSpPr txBox="1"/>
              <p:nvPr/>
            </p:nvSpPr>
            <p:spPr>
              <a:xfrm>
                <a:off x="3456432" y="154533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A.</a:t>
                </a:r>
                <a:r>
                  <a:rPr sz="2600">
                    <a:solidFill>
                      <a:srgbClr val="1E293B"/>
                    </a:solidFill>
                    <a:latin typeface="Calibri"/>
                  </a:rPr>
                  <a:t> </a:t>
                </a:r>
                <a:r>
                  <a:rPr lang="vi-VN"/>
                  <a:t>\overrightarrow{B'B}</a:t>
                </a:r>
              </a:p>
            </p:txBody>
          </p:sp>
        </mc:Fallback>
      </mc:AlternateContent>
      <p:sp>
        <p:nvSpPr>
          <p:cNvPr id="11" name="s1_nen"/>
          <p:cNvSpPr/>
          <p:nvPr/>
        </p:nvSpPr>
        <p:spPr>
          <a:xfrm>
            <a:off x="5852160" y="1508760"/>
            <a:ext cx="1463040" cy="82296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1_chu"/>
          <p:cNvSpPr txBox="1"/>
          <p:nvPr/>
        </p:nvSpPr>
        <p:spPr>
          <a:xfrm>
            <a:off x="6016752" y="1545336"/>
            <a:ext cx="1133856" cy="74980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1 – D</a:t>
            </a:r>
          </a:p>
        </p:txBody>
      </p:sp>
      <p:sp>
        <p:nvSpPr>
          <p:cNvPr id="13" name="Rounded Rectangle 12"/>
          <p:cNvSpPr/>
          <p:nvPr/>
        </p:nvSpPr>
        <p:spPr>
          <a:xfrm>
            <a:off x="548640" y="2560320"/>
            <a:ext cx="2103120" cy="82296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TextBox 13"/>
              <p:cNvSpPr txBox="1"/>
              <p:nvPr/>
            </p:nvSpPr>
            <p:spPr>
              <a:xfrm>
                <a:off x="713232" y="259689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2.</a:t>
                </a: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AD</m:t>
                        </m:r>
                      </m:e>
                    </m:acc>
                  </m:oMath>
                </a14:m>
              </a:p>
            </p:txBody>
          </p:sp>
        </mc:Choice>
        <mc:Fallback>
          <p:sp>
            <p:nvSpPr>
              <p:cNvPr id="14" name="TextBox 13"/>
              <p:cNvSpPr txBox="1"/>
              <p:nvPr/>
            </p:nvSpPr>
            <p:spPr>
              <a:xfrm>
                <a:off x="713232" y="259689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2.</a:t>
                </a:r>
                <a:r>
                  <a:rPr sz="2600">
                    <a:solidFill>
                      <a:srgbClr val="1E293B"/>
                    </a:solidFill>
                    <a:latin typeface="Calibri"/>
                  </a:rPr>
                  <a:t> </a:t>
                </a:r>
                <a:r>
                  <a:rPr lang="vi-VN"/>
                  <a:t>\overrightarrow{AD}</a:t>
                </a:r>
              </a:p>
            </p:txBody>
          </p:sp>
        </mc:Fallback>
      </mc:AlternateContent>
      <p:sp>
        <p:nvSpPr>
          <p:cNvPr id="15" name="Rounded Rectangle 14"/>
          <p:cNvSpPr/>
          <p:nvPr/>
        </p:nvSpPr>
        <p:spPr>
          <a:xfrm>
            <a:off x="3291840" y="2560320"/>
            <a:ext cx="2103120" cy="822960"/>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TextBox 15"/>
              <p:cNvSpPr txBox="1"/>
              <p:nvPr/>
            </p:nvSpPr>
            <p:spPr>
              <a:xfrm>
                <a:off x="3456432" y="259689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B.</a:t>
                </a:r>
                <a:r>
                  <a:rPr sz="2600">
                    <a:solidFill>
                      <a:srgbClr val="1E293B"/>
                    </a:solidFill>
                    <a:latin typeface="Calibri"/>
                  </a:rPr>
                  <a:t> </a:t>
                </a:r>
                <a14:m>
                  <m:oMath xmlns:m="http://schemas.openxmlformats.org/officeDocument/2006/math">
                    <m:acc>
                      <m:accPr>
                        <m:chr m:val="⃗"/>
                      </m:accPr>
                      <m:e>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A</m:t>
                        </m:r>
                      </m:e>
                    </m:acc>
                  </m:oMath>
                </a14:m>
              </a:p>
            </p:txBody>
          </p:sp>
        </mc:Choice>
        <mc:Fallback>
          <p:sp>
            <p:nvSpPr>
              <p:cNvPr id="16" name="TextBox 15"/>
              <p:cNvSpPr txBox="1"/>
              <p:nvPr/>
            </p:nvSpPr>
            <p:spPr>
              <a:xfrm>
                <a:off x="3456432" y="259689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B.</a:t>
                </a:r>
                <a:r>
                  <a:rPr sz="2600">
                    <a:solidFill>
                      <a:srgbClr val="1E293B"/>
                    </a:solidFill>
                    <a:latin typeface="Calibri"/>
                  </a:rPr>
                  <a:t> </a:t>
                </a:r>
                <a:r>
                  <a:rPr lang="vi-VN"/>
                  <a:t>\overrightarrow{C'A}</a:t>
                </a:r>
              </a:p>
            </p:txBody>
          </p:sp>
        </mc:Fallback>
      </mc:AlternateContent>
      <p:sp>
        <p:nvSpPr>
          <p:cNvPr id="17" name="s2_nen"/>
          <p:cNvSpPr/>
          <p:nvPr/>
        </p:nvSpPr>
        <p:spPr>
          <a:xfrm>
            <a:off x="5852160" y="2560320"/>
            <a:ext cx="1463040" cy="82296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2_chu"/>
          <p:cNvSpPr txBox="1"/>
          <p:nvPr/>
        </p:nvSpPr>
        <p:spPr>
          <a:xfrm>
            <a:off x="6016752" y="2596896"/>
            <a:ext cx="1133856" cy="74980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2 – C</a:t>
            </a:r>
          </a:p>
        </p:txBody>
      </p:sp>
      <p:sp>
        <p:nvSpPr>
          <p:cNvPr id="19" name="Rounded Rectangle 18"/>
          <p:cNvSpPr/>
          <p:nvPr/>
        </p:nvSpPr>
        <p:spPr>
          <a:xfrm>
            <a:off x="548640" y="3611879"/>
            <a:ext cx="2103120" cy="82296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TextBox 19"/>
              <p:cNvSpPr txBox="1"/>
              <p:nvPr/>
            </p:nvSpPr>
            <p:spPr>
              <a:xfrm>
                <a:off x="713232" y="364845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3.</a:t>
                </a: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e>
                    </m:acc>
                  </m:oMath>
                </a14:m>
              </a:p>
            </p:txBody>
          </p:sp>
        </mc:Choice>
        <mc:Fallback>
          <p:sp>
            <p:nvSpPr>
              <p:cNvPr id="20" name="TextBox 19"/>
              <p:cNvSpPr txBox="1"/>
              <p:nvPr/>
            </p:nvSpPr>
            <p:spPr>
              <a:xfrm>
                <a:off x="713232" y="364845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3.</a:t>
                </a:r>
                <a:r>
                  <a:rPr sz="2600">
                    <a:solidFill>
                      <a:srgbClr val="1E293B"/>
                    </a:solidFill>
                    <a:latin typeface="Calibri"/>
                  </a:rPr>
                  <a:t> </a:t>
                </a:r>
                <a:r>
                  <a:rPr lang="vi-VN"/>
                  <a:t>\overrightarrow{AA'}</a:t>
                </a:r>
              </a:p>
            </p:txBody>
          </p:sp>
        </mc:Fallback>
      </mc:AlternateContent>
      <p:sp>
        <p:nvSpPr>
          <p:cNvPr id="21" name="Rounded Rectangle 20"/>
          <p:cNvSpPr/>
          <p:nvPr/>
        </p:nvSpPr>
        <p:spPr>
          <a:xfrm>
            <a:off x="3291840" y="3611879"/>
            <a:ext cx="2103120" cy="822960"/>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2" name="TextBox 21"/>
              <p:cNvSpPr txBox="1"/>
              <p:nvPr/>
            </p:nvSpPr>
            <p:spPr>
              <a:xfrm>
                <a:off x="3456432" y="364845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C.</a:t>
                </a:r>
                <a:r>
                  <a:rPr sz="2600">
                    <a:solidFill>
                      <a:srgbClr val="1E293B"/>
                    </a:solidFill>
                    <a:latin typeface="Calibri"/>
                  </a:rPr>
                  <a:t> </a:t>
                </a:r>
                <a14:m>
                  <m:oMath xmlns:m="http://schemas.openxmlformats.org/officeDocument/2006/math">
                    <m:acc>
                      <m:accPr>
                        <m:chr m:val="⃗"/>
                      </m:accPr>
                      <m:e>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e>
                    </m:acc>
                  </m:oMath>
                </a14:m>
              </a:p>
            </p:txBody>
          </p:sp>
        </mc:Choice>
        <mc:Fallback>
          <p:sp>
            <p:nvSpPr>
              <p:cNvPr id="22" name="TextBox 21"/>
              <p:cNvSpPr txBox="1"/>
              <p:nvPr/>
            </p:nvSpPr>
            <p:spPr>
              <a:xfrm>
                <a:off x="3456432" y="364845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C.</a:t>
                </a:r>
                <a:r>
                  <a:rPr sz="2600">
                    <a:solidFill>
                      <a:srgbClr val="1E293B"/>
                    </a:solidFill>
                    <a:latin typeface="Calibri"/>
                  </a:rPr>
                  <a:t> </a:t>
                </a:r>
                <a:r>
                  <a:rPr lang="vi-VN"/>
                  <a:t>\overrightarrow{C'B'}</a:t>
                </a:r>
              </a:p>
            </p:txBody>
          </p:sp>
        </mc:Fallback>
      </mc:AlternateContent>
      <p:sp>
        <p:nvSpPr>
          <p:cNvPr id="23" name="s3_nen"/>
          <p:cNvSpPr/>
          <p:nvPr/>
        </p:nvSpPr>
        <p:spPr>
          <a:xfrm>
            <a:off x="5852160" y="3611879"/>
            <a:ext cx="1463040" cy="82296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3_chu"/>
          <p:cNvSpPr txBox="1"/>
          <p:nvPr/>
        </p:nvSpPr>
        <p:spPr>
          <a:xfrm>
            <a:off x="6016752" y="3648456"/>
            <a:ext cx="1133856" cy="74980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3 – A</a:t>
            </a:r>
          </a:p>
        </p:txBody>
      </p:sp>
      <p:sp>
        <p:nvSpPr>
          <p:cNvPr id="25" name="Rounded Rectangle 24"/>
          <p:cNvSpPr/>
          <p:nvPr/>
        </p:nvSpPr>
        <p:spPr>
          <a:xfrm>
            <a:off x="548640" y="4663440"/>
            <a:ext cx="2103120" cy="82296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6" name="TextBox 25"/>
              <p:cNvSpPr txBox="1"/>
              <p:nvPr/>
            </p:nvSpPr>
            <p:spPr>
              <a:xfrm>
                <a:off x="713232" y="470001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4.</a:t>
                </a: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m:t>
                        </m:r>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e>
                    </m:acc>
                  </m:oMath>
                </a14:m>
              </a:p>
            </p:txBody>
          </p:sp>
        </mc:Choice>
        <mc:Fallback>
          <p:sp>
            <p:nvSpPr>
              <p:cNvPr id="26" name="TextBox 25"/>
              <p:cNvSpPr txBox="1"/>
              <p:nvPr/>
            </p:nvSpPr>
            <p:spPr>
              <a:xfrm>
                <a:off x="713232" y="470001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4.</a:t>
                </a:r>
                <a:r>
                  <a:rPr sz="2600">
                    <a:solidFill>
                      <a:srgbClr val="1E293B"/>
                    </a:solidFill>
                    <a:latin typeface="Calibri"/>
                  </a:rPr>
                  <a:t> </a:t>
                </a:r>
                <a:r>
                  <a:rPr lang="vi-VN"/>
                  <a:t>\overrightarrow{AC'}</a:t>
                </a:r>
              </a:p>
            </p:txBody>
          </p:sp>
        </mc:Fallback>
      </mc:AlternateContent>
      <p:sp>
        <p:nvSpPr>
          <p:cNvPr id="27" name="Rounded Rectangle 26"/>
          <p:cNvSpPr/>
          <p:nvPr/>
        </p:nvSpPr>
        <p:spPr>
          <a:xfrm>
            <a:off x="3291840" y="4663440"/>
            <a:ext cx="2103120" cy="822960"/>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8" name="TextBox 27"/>
              <p:cNvSpPr txBox="1"/>
              <p:nvPr/>
            </p:nvSpPr>
            <p:spPr>
              <a:xfrm>
                <a:off x="3456432" y="470001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D.</a:t>
                </a:r>
                <a:r>
                  <a:rPr sz="2600">
                    <a:solidFill>
                      <a:srgbClr val="1E293B"/>
                    </a:solidFill>
                    <a:latin typeface="Calibri"/>
                  </a:rPr>
                  <a:t> </a:t>
                </a:r>
                <a14:m>
                  <m:oMath xmlns:m="http://schemas.openxmlformats.org/officeDocument/2006/math">
                    <m:acc>
                      <m:accPr>
                        <m:chr m:val="⃗"/>
                      </m:accPr>
                      <m:e>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e>
                    </m:acc>
                  </m:oMath>
                </a14:m>
              </a:p>
            </p:txBody>
          </p:sp>
        </mc:Choice>
        <mc:Fallback>
          <p:sp>
            <p:nvSpPr>
              <p:cNvPr id="28" name="TextBox 27"/>
              <p:cNvSpPr txBox="1"/>
              <p:nvPr/>
            </p:nvSpPr>
            <p:spPr>
              <a:xfrm>
                <a:off x="3456432" y="4700016"/>
                <a:ext cx="1773936" cy="749808"/>
              </a:xfrm>
              <a:prstGeom prst="rect">
                <a:avLst/>
              </a:prstGeom>
              <a:noFill/>
            </p:spPr>
            <p:txBody>
              <a:bodyPr wrap="square" anchor="ctr" lIns="45720" rIns="45720">
                <a:spAutoFit/>
              </a:bodyPr>
              <a:lstStyle/>
              <a:p>
                <a:pPr algn="ctr">
                  <a:spcAft>
                    <a:spcPts val="800"/>
                  </a:spcAft>
                </a:pPr>
                <a:r>
                  <a:rPr sz="2600" b="1">
                    <a:solidFill>
                      <a:srgbClr val="1E293B"/>
                    </a:solidFill>
                    <a:latin typeface="Calibri"/>
                  </a:rPr>
                  <a:t>D.</a:t>
                </a:r>
                <a:r>
                  <a:rPr sz="2600">
                    <a:solidFill>
                      <a:srgbClr val="1E293B"/>
                    </a:solidFill>
                    <a:latin typeface="Calibri"/>
                  </a:rPr>
                  <a:t> </a:t>
                </a:r>
                <a:r>
                  <a:rPr lang="vi-VN"/>
                  <a:t>\overrightarrow{C'D'}</a:t>
                </a:r>
              </a:p>
            </p:txBody>
          </p:sp>
        </mc:Fallback>
      </mc:AlternateContent>
      <p:sp>
        <p:nvSpPr>
          <p:cNvPr id="29" name="s4_nen"/>
          <p:cNvSpPr/>
          <p:nvPr/>
        </p:nvSpPr>
        <p:spPr>
          <a:xfrm>
            <a:off x="5852160" y="4663440"/>
            <a:ext cx="1463040" cy="82296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4_chu"/>
          <p:cNvSpPr txBox="1"/>
          <p:nvPr/>
        </p:nvSpPr>
        <p:spPr>
          <a:xfrm>
            <a:off x="6016752" y="4700016"/>
            <a:ext cx="1133856" cy="74980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4 – B</a:t>
            </a:r>
          </a:p>
        </p:txBody>
      </p:sp>
      <p:pic>
        <p:nvPicPr>
          <p:cNvPr id="31" name="Picture 30" descr="h27.png"/>
          <p:cNvPicPr>
            <a:picLocks noChangeAspect="1"/>
          </p:cNvPicPr>
          <p:nvPr/>
        </p:nvPicPr>
        <p:blipFill>
          <a:blip r:embed="rId3"/>
          <a:stretch>
            <a:fillRect/>
          </a:stretch>
        </p:blipFill>
        <p:spPr>
          <a:xfrm>
            <a:off x="7680960" y="2007668"/>
            <a:ext cx="4023360" cy="2751223"/>
          </a:xfrm>
          <a:prstGeom prst="rect">
            <a:avLst/>
          </a:prstGeom>
        </p:spPr>
      </p:pic>
      <p:sp>
        <p:nvSpPr>
          <p:cNvPr id="32" name="TextBox 31"/>
          <p:cNvSpPr txBox="1"/>
          <p:nvPr/>
        </p:nvSpPr>
        <p:spPr>
          <a:xfrm>
            <a:off x="7680960" y="5138927"/>
            <a:ext cx="40233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hộp ABCD.A'B'C'D'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45</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Vectơ đối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hiệu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OB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OA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k</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cùng hướng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nếu </a:t>
                </a:r>
                <a14:m>
                  <m:oMath xmlns:m="http://schemas.openxmlformats.org/officeDocument/2006/math">
                    <m:r>
                      <a:rPr lang="vi-VN" sz="2200" b="0">
                        <a:solidFill>
                          <a:srgbClr val="1E293B"/>
                        </a:solidFill>
                        <a:latin typeface="Cambria Math" panose="02040503050406030204" pitchFamily="18" charset="0"/>
                      </a:rPr>
                      <m:t>k&gt;0</m:t>
                    </m:r>
                  </m:oMath>
                </a14:m>
                <a:r>
                  <a:rPr sz="2200">
                    <a:solidFill>
                      <a:srgbClr val="1E293B"/>
                    </a:solidFill>
                    <a:latin typeface="Calibri"/>
                  </a:rPr>
                  <a:t>, ngược hướng nếu </a:t>
                </a:r>
                <a14:m>
                  <m:oMath xmlns:m="http://schemas.openxmlformats.org/officeDocument/2006/math">
                    <m:r>
                      <a:rPr lang="vi-VN" sz="2200" b="0">
                        <a:solidFill>
                          <a:srgbClr val="1E293B"/>
                        </a:solidFill>
                        <a:latin typeface="Cambria Math" panose="02040503050406030204" pitchFamily="18" charset="0"/>
                      </a:rPr>
                      <m:t>k&lt;0</m:t>
                    </m:r>
                  </m:oMath>
                </a14:m>
                <a:r>
                  <a:rPr sz="2200">
                    <a:solidFill>
                      <a:srgbClr val="1E293B"/>
                    </a:solidFill>
                    <a:latin typeface="Calibri"/>
                  </a:rPr>
                  <a:t>, độ dài </a:t>
                </a:r>
                <a14:m>
                  <m:oMath xmlns:m="http://schemas.openxmlformats.org/officeDocument/2006/math">
                    <m:d>
                      <m:dPr>
                        <m:begChr m:val="|"/>
                        <m:sepChr m:val=""/>
                        <m:endChr m:val="|"/>
                      </m:dPr>
                      <m:e>
                        <m:r>
                          <a:rPr lang="vi-VN" sz="2200" b="0">
                            <a:solidFill>
                              <a:srgbClr val="1E293B"/>
                            </a:solidFill>
                            <a:latin typeface="Cambria Math" panose="02040503050406030204" pitchFamily="18" charset="0"/>
                          </a:rPr>
                          <m:t>k</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e>
                    </m:d>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cùng phương </a:t>
                </a:r>
                <a14:m>
                  <m:oMath xmlns:m="http://schemas.openxmlformats.org/officeDocument/2006/math">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=k</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a:t>
                </a:r>
              </a:p>
            </p:txBody>
          </p:sp>
        </mc:Choice>
        <mc:Fallback>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Vectơ đối </a:t>
                </a:r>
                <a:r>
                  <a:rPr lang="vi-VN"/>
                  <a:t>-\vec{a}</a:t>
                </a:r>
                <a:r>
                  <a:rPr sz="2200">
                    <a:solidFill>
                      <a:srgbClr val="1E293B"/>
                    </a:solidFill>
                    <a:latin typeface="Calibri"/>
                  </a:rPr>
                  <a:t>; hiệu </a:t>
                </a:r>
                <a:r>
                  <a:rPr lang="vi-VN"/>
                  <a:t>\vec{a}-\vec{b}=\vec{a}+(-\vec{b})</a:t>
                </a:r>
                <a:r>
                  <a:rPr sz="2200">
                    <a:solidFill>
                      <a:srgbClr val="1E293B"/>
                    </a:solidFill>
                    <a:latin typeface="Calibri"/>
                  </a:rPr>
                  <a:t>; </a:t>
                </a:r>
                <a:r>
                  <a:rPr lang="vi-VN"/>
                  <a:t>\overrightarrow{OB}-\overrightarrow{OA}=\overrightarrow{AB}</a:t>
                </a:r>
                <a:r>
                  <a:rPr sz="2200">
                    <a:solidFill>
                      <a:srgbClr val="1E293B"/>
                    </a:solidFill>
                    <a:latin typeface="Calibri"/>
                  </a:rPr>
                  <a:t>.</a:t>
                </a:r>
              </a:p>
              <a:p>
                <a:pPr algn="l" marL="365760" indent="-365760">
                  <a:spcAft>
                    <a:spcPts val="800"/>
                  </a:spcAft>
                  <a:buClr>
                    <a:srgbClr val="1E40AF"/>
                  </a:buClr>
                  <a:buFont typeface="Arial"/>
                  <a:buChar char="•"/>
                </a:pPr>
                <a:r>
                  <a:rPr lang="vi-VN"/>
                  <a:t>k\vec{a}</a:t>
                </a:r>
                <a:r>
                  <a:rPr sz="2200">
                    <a:solidFill>
                      <a:srgbClr val="1E293B"/>
                    </a:solidFill>
                    <a:latin typeface="Calibri"/>
                  </a:rPr>
                  <a:t>: cùng hướng </a:t>
                </a:r>
                <a:r>
                  <a:rPr lang="vi-VN"/>
                  <a:t>\vec{a}</a:t>
                </a:r>
                <a:r>
                  <a:rPr sz="2200">
                    <a:solidFill>
                      <a:srgbClr val="1E293B"/>
                    </a:solidFill>
                    <a:latin typeface="Calibri"/>
                  </a:rPr>
                  <a:t> nếu </a:t>
                </a:r>
                <a:r>
                  <a:rPr lang="vi-VN"/>
                  <a:t>k&gt;0</a:t>
                </a:r>
                <a:r>
                  <a:rPr sz="2200">
                    <a:solidFill>
                      <a:srgbClr val="1E293B"/>
                    </a:solidFill>
                    <a:latin typeface="Calibri"/>
                  </a:rPr>
                  <a:t>, ngược hướng nếu </a:t>
                </a:r>
                <a:r>
                  <a:rPr lang="vi-VN"/>
                  <a:t>k&lt;0</a:t>
                </a:r>
                <a:r>
                  <a:rPr sz="2200">
                    <a:solidFill>
                      <a:srgbClr val="1E293B"/>
                    </a:solidFill>
                    <a:latin typeface="Calibri"/>
                  </a:rPr>
                  <a:t>, độ dài </a:t>
                </a:r>
                <a:r>
                  <a:rPr lang="vi-VN"/>
                  <a:t>|k|\cdot|\vec{a}|</a:t>
                </a:r>
                <a:r>
                  <a:rPr sz="2200">
                    <a:solidFill>
                      <a:srgbClr val="1E293B"/>
                    </a:solidFill>
                    <a:latin typeface="Calibri"/>
                  </a:rPr>
                  <a:t>; </a:t>
                </a:r>
                <a:r>
                  <a:rPr lang="vi-VN"/>
                  <a:t>\vec{a}</a:t>
                </a:r>
                <a:r>
                  <a:rPr sz="2200">
                    <a:solidFill>
                      <a:srgbClr val="1E293B"/>
                    </a:solidFill>
                    <a:latin typeface="Calibri"/>
                  </a:rPr>
                  <a:t> cùng phương </a:t>
                </a:r>
                <a:r>
                  <a:rPr lang="vi-VN"/>
                  <a:t>\vec{b}\ne\vec{0}</a:t>
                </a:r>
                <a:r>
                  <a:rPr sz="2200">
                    <a:solidFill>
                      <a:srgbClr val="1E293B"/>
                    </a:solidFill>
                    <a:latin typeface="Calibri"/>
                  </a:rPr>
                  <a:t> ⇔ </a:t>
                </a:r>
                <a:r>
                  <a:rPr lang="vi-VN"/>
                  <a:t>\vec{a}=k\vec{b}</a:t>
                </a:r>
                <a:r>
                  <a:rPr sz="2200">
                    <a:solidFill>
                      <a:srgbClr val="1E293B"/>
                    </a:solidFill>
                    <a:latin typeface="Calibri"/>
                  </a:rPr>
                  <a:t>.</a:t>
                </a:r>
              </a:p>
            </p:txBody>
          </p:sp>
        </mc:Fallback>
      </mc:AlternateContent>
      <p:sp>
        <p:nvSpPr>
          <p:cNvPr id="9" name="Rounded Rectangle 8"/>
          <p:cNvSpPr/>
          <p:nvPr/>
        </p:nvSpPr>
        <p:spPr>
          <a:xfrm>
            <a:off x="548640" y="306324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9981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2.5, 2.6, 2.7 (SGK tr.58).</a:t>
            </a:r>
          </a:p>
          <a:p>
            <a:pPr algn="l" marL="365760" indent="-365760">
              <a:spcAft>
                <a:spcPts val="800"/>
              </a:spcAft>
              <a:buClr>
                <a:srgbClr val="1E40AF"/>
              </a:buClr>
              <a:buFont typeface="Arial"/>
              <a:buChar char="•"/>
            </a:pPr>
            <a:r>
              <a:rPr sz="2200">
                <a:solidFill>
                  <a:srgbClr val="1E293B"/>
                </a:solidFill>
                <a:latin typeface="Calibri"/>
              </a:rPr>
              <a:t>Ôn lại trọng tâm tam giác (lớp 10); đọc trước Ví dụ 8 và mục 4a.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4 (T31)</a:t>
            </a:r>
          </a:p>
          <a:p>
            <a:pPr>
              <a:spcAft>
                <a:spcPts val="600"/>
              </a:spcAft>
            </a:pPr>
            <a:r>
              <a:rPr sz="4000" b="1">
                <a:solidFill>
                  <a:srgbClr val="FFFFFF"/>
                </a:solidFill>
                <a:latin typeface="Cambria"/>
              </a:rPr>
              <a:t>Trọng tâm tứ diện. Góc giữa hai vectơ</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Vận dụng phép nhân số với vectơ: trọng tâm tam giác, tứ diện; bài toán thực tiễn.</a:t>
            </a:r>
          </a:p>
          <a:p>
            <a:pPr algn="l">
              <a:spcAft>
                <a:spcPts val="800"/>
              </a:spcAft>
            </a:pPr>
            <a:r>
              <a:rPr sz="2200">
                <a:solidFill>
                  <a:srgbClr val="E0E7FF"/>
                </a:solidFill>
                <a:latin typeface="Calibri"/>
              </a:rPr>
              <a:t>• Xác định góc giữa hai vectơ trong không gian.</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8 (SGK TR.54)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18872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tứ diện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 Gọi </a:t>
                </a:r>
                <a14:m>
                  <m:oMath xmlns:m="http://schemas.openxmlformats.org/officeDocument/2006/math">
                    <m:r>
                      <a:rPr lang="vi-VN" sz="2200" b="0">
                        <a:solidFill>
                          <a:srgbClr val="1E293B"/>
                        </a:solidFill>
                        <a:latin typeface="Cambria Math" panose="02040503050406030204" pitchFamily="18" charset="0"/>
                      </a:rPr>
                      <m:t>G</m:t>
                    </m:r>
                  </m:oMath>
                </a14:m>
                <a:r>
                  <a:rPr sz="2200">
                    <a:solidFill>
                      <a:srgbClr val="1E293B"/>
                    </a:solidFill>
                    <a:latin typeface="Calibri"/>
                  </a:rPr>
                  <a:t> là trọng tâm của tam giác </a:t>
                </a:r>
                <a14:m>
                  <m:oMath xmlns:m="http://schemas.openxmlformats.org/officeDocument/2006/math">
                    <m:r>
                      <a:rPr lang="vi-VN" sz="2200" b="0">
                        <a:solidFill>
                          <a:srgbClr val="1E293B"/>
                        </a:solidFill>
                        <a:latin typeface="Cambria Math" panose="02040503050406030204" pitchFamily="18" charset="0"/>
                      </a:rPr>
                      <m:t>BCD</m:t>
                    </m:r>
                  </m:oMath>
                </a14:m>
                <a:r>
                  <a:rPr sz="2200">
                    <a:solidFill>
                      <a:srgbClr val="1E293B"/>
                    </a:solidFill>
                    <a:latin typeface="Calibri"/>
                  </a:rPr>
                  <a:t> (H.2.19). Chứng minh rằng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AG</m:t>
                        </m:r>
                      </m:e>
                    </m:acc>
                  </m:oMath>
                </a14:m>
                <a:r>
                  <a:rPr sz="2200">
                    <a:solidFill>
                      <a:srgbClr val="1E293B"/>
                    </a:solidFill>
                    <a:latin typeface="Calibri"/>
                  </a:rPr>
                  <a:t>.</a:t>
                </a:r>
              </a:p>
            </p:txBody>
          </p:sp>
        </mc:Choice>
        <mc:Fallback>
          <p:sp>
            <p:nvSpPr>
              <p:cNvPr id="7" name="TextBox 6"/>
              <p:cNvSpPr txBox="1"/>
              <p:nvPr/>
            </p:nvSpPr>
            <p:spPr>
              <a:xfrm>
                <a:off x="548640" y="1371600"/>
                <a:ext cx="8595360" cy="118872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tứ diện </a:t>
                </a:r>
                <a:r>
                  <a:rPr lang="vi-VN"/>
                  <a:t>ABCD</a:t>
                </a:r>
                <a:r>
                  <a:rPr sz="2200">
                    <a:solidFill>
                      <a:srgbClr val="1E293B"/>
                    </a:solidFill>
                    <a:latin typeface="Calibri"/>
                  </a:rPr>
                  <a:t>. Gọi </a:t>
                </a:r>
                <a:r>
                  <a:rPr lang="vi-VN"/>
                  <a:t>G</a:t>
                </a:r>
                <a:r>
                  <a:rPr sz="2200">
                    <a:solidFill>
                      <a:srgbClr val="1E293B"/>
                    </a:solidFill>
                    <a:latin typeface="Calibri"/>
                  </a:rPr>
                  <a:t> là trọng tâm của tam giác </a:t>
                </a:r>
                <a:r>
                  <a:rPr lang="vi-VN"/>
                  <a:t>BCD</a:t>
                </a:r>
                <a:r>
                  <a:rPr sz="2200">
                    <a:solidFill>
                      <a:srgbClr val="1E293B"/>
                    </a:solidFill>
                    <a:latin typeface="Calibri"/>
                  </a:rPr>
                  <a:t> (H.2.19). Chứng minh rằng </a:t>
                </a:r>
                <a:r>
                  <a:rPr lang="vi-VN"/>
                  <a:t>\overrightarrow{AB}+\overrightarrow{AC}+\overrightarrow{AD}=3\overrightarrow{AG}</a:t>
                </a:r>
                <a:r>
                  <a:rPr sz="2200">
                    <a:solidFill>
                      <a:srgbClr val="1E293B"/>
                    </a:solidFill>
                    <a:latin typeface="Calibri"/>
                  </a:rPr>
                  <a:t>.</a:t>
                </a:r>
              </a:p>
            </p:txBody>
          </p:sp>
        </mc:Fallback>
      </mc:AlternateContent>
      <p:sp>
        <p:nvSpPr>
          <p:cNvPr id="8" name="s1_nen"/>
          <p:cNvSpPr/>
          <p:nvPr/>
        </p:nvSpPr>
        <p:spPr>
          <a:xfrm>
            <a:off x="548640" y="2651760"/>
            <a:ext cx="85953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88336"/>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Vì </a:t>
                </a:r>
                <a14:m>
                  <m:oMath xmlns:m="http://schemas.openxmlformats.org/officeDocument/2006/math">
                    <m:r>
                      <a:rPr lang="vi-VN" sz="2200" b="0">
                        <a:solidFill>
                          <a:srgbClr val="1E293B"/>
                        </a:solidFill>
                        <a:latin typeface="Cambria Math" panose="02040503050406030204" pitchFamily="18" charset="0"/>
                      </a:rPr>
                      <m:t>G</m:t>
                    </m:r>
                  </m:oMath>
                </a14:m>
                <a:r>
                  <a:rPr sz="2200">
                    <a:solidFill>
                      <a:srgbClr val="1E293B"/>
                    </a:solidFill>
                    <a:latin typeface="Calibri"/>
                  </a:rPr>
                  <a:t> là trọng tâm của tam giác </a:t>
                </a:r>
                <a14:m>
                  <m:oMath xmlns:m="http://schemas.openxmlformats.org/officeDocument/2006/math">
                    <m:r>
                      <a:rPr lang="vi-VN" sz="2200" b="0">
                        <a:solidFill>
                          <a:srgbClr val="1E293B"/>
                        </a:solidFill>
                        <a:latin typeface="Cambria Math" panose="02040503050406030204" pitchFamily="18" charset="0"/>
                      </a:rPr>
                      <m:t>BCD</m:t>
                    </m:r>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GB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9" name="TextBox 8"/>
              <p:cNvSpPr txBox="1"/>
              <p:nvPr/>
            </p:nvSpPr>
            <p:spPr>
              <a:xfrm>
                <a:off x="713232" y="2688336"/>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Vì </a:t>
                </a:r>
                <a:r>
                  <a:rPr lang="vi-VN"/>
                  <a:t>G</a:t>
                </a:r>
                <a:r>
                  <a:rPr sz="2200">
                    <a:solidFill>
                      <a:srgbClr val="1E293B"/>
                    </a:solidFill>
                    <a:latin typeface="Calibri"/>
                  </a:rPr>
                  <a:t> là trọng tâm của tam giác </a:t>
                </a:r>
                <a:r>
                  <a:rPr lang="vi-VN"/>
                  <a:t>BCD</a:t>
                </a:r>
                <a:r>
                  <a:rPr sz="2200">
                    <a:solidFill>
                      <a:srgbClr val="1E293B"/>
                    </a:solidFill>
                    <a:latin typeface="Calibri"/>
                  </a:rPr>
                  <a:t> nên </a:t>
                </a:r>
                <a:r>
                  <a:rPr lang="vi-VN"/>
                  <a:t>\overrightarrow{GB}+\overrightarrow{GC}+\overrightarrow{GD}=\vec{0}</a:t>
                </a:r>
                <a:r>
                  <a:rPr sz="2200">
                    <a:solidFill>
                      <a:srgbClr val="1E293B"/>
                    </a:solidFill>
                    <a:latin typeface="Calibri"/>
                  </a:rPr>
                  <a:t>.</a:t>
                </a:r>
              </a:p>
            </p:txBody>
          </p:sp>
        </mc:Fallback>
      </mc:AlternateContent>
      <p:sp>
        <p:nvSpPr>
          <p:cNvPr id="10" name="s2_nen"/>
          <p:cNvSpPr/>
          <p:nvPr/>
        </p:nvSpPr>
        <p:spPr>
          <a:xfrm>
            <a:off x="548640" y="3343656"/>
            <a:ext cx="85953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80232"/>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AG</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GD</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AG</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AG</m:t>
                        </m:r>
                      </m:e>
                    </m:acc>
                  </m:oMath>
                </a14:m>
                <a:r>
                  <a:rPr sz="2200">
                    <a:solidFill>
                      <a:srgbClr val="1E293B"/>
                    </a:solidFill>
                    <a:latin typeface="Calibri"/>
                  </a:rPr>
                  <a:t>.</a:t>
                </a:r>
              </a:p>
            </p:txBody>
          </p:sp>
        </mc:Choice>
        <mc:Fallback>
          <p:sp>
            <p:nvSpPr>
              <p:cNvPr id="11" name="TextBox 10"/>
              <p:cNvSpPr txBox="1"/>
              <p:nvPr/>
            </p:nvSpPr>
            <p:spPr>
              <a:xfrm>
                <a:off x="713232" y="3380232"/>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\overrightarrow{AB}+\overrightarrow{AC}+\overrightarrow{AD}=3\overrightarrow{AG}+(\overrightarrow{GB}+\overrightarrow{GC}+\overrightarrow{GD})=3\overrightarrow{AG}+\vec{0}=3\overrightarrow{AG}</a:t>
                </a:r>
                <a:r>
                  <a:rPr sz="2200">
                    <a:solidFill>
                      <a:srgbClr val="1E293B"/>
                    </a:solidFill>
                    <a:latin typeface="Calibri"/>
                  </a:rPr>
                  <a:t>.</a:t>
                </a:r>
              </a:p>
            </p:txBody>
          </p:sp>
        </mc:Fallback>
      </mc:AlternateContent>
      <p:sp>
        <p:nvSpPr>
          <p:cNvPr id="12" name="s3_nen"/>
          <p:cNvSpPr/>
          <p:nvPr/>
        </p:nvSpPr>
        <p:spPr>
          <a:xfrm>
            <a:off x="548640" y="4846320"/>
            <a:ext cx="8595360" cy="90525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882896"/>
                <a:ext cx="826617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Chú ý.</a:t>
                </a:r>
                <a:r>
                  <a:rPr sz="2100">
                    <a:solidFill>
                      <a:srgbClr val="1E293B"/>
                    </a:solidFill>
                    <a:latin typeface="Calibri"/>
                  </a:rPr>
                  <a:t> Nếu </a:t>
                </a:r>
                <a14:m>
                  <m:oMath xmlns:m="http://schemas.openxmlformats.org/officeDocument/2006/math">
                    <m:r>
                      <a:rPr lang="vi-VN" sz="2100" b="0">
                        <a:solidFill>
                          <a:srgbClr val="1E293B"/>
                        </a:solidFill>
                        <a:latin typeface="Cambria Math" panose="02040503050406030204" pitchFamily="18" charset="0"/>
                      </a:rPr>
                      <m:t>G</m:t>
                    </m:r>
                  </m:oMath>
                </a14:m>
                <a:r>
                  <a:rPr sz="2100">
                    <a:solidFill>
                      <a:srgbClr val="1E293B"/>
                    </a:solidFill>
                    <a:latin typeface="Calibri"/>
                  </a:rPr>
                  <a:t> là trọng tâm của tam giác </a:t>
                </a:r>
                <a14:m>
                  <m:oMath xmlns:m="http://schemas.openxmlformats.org/officeDocument/2006/math">
                    <m:r>
                      <a:rPr lang="vi-VN" sz="2100" b="0">
                        <a:solidFill>
                          <a:srgbClr val="1E293B"/>
                        </a:solidFill>
                        <a:latin typeface="Cambria Math" panose="02040503050406030204" pitchFamily="18" charset="0"/>
                      </a:rPr>
                      <m:t>ABC</m:t>
                    </m:r>
                  </m:oMath>
                </a14:m>
                <a:r>
                  <a:rPr sz="2100">
                    <a:solidFill>
                      <a:srgbClr val="1E293B"/>
                    </a:solidFill>
                    <a:latin typeface="Calibri"/>
                  </a:rPr>
                  <a:t> thì với điểm </a:t>
                </a:r>
                <a14:m>
                  <m:oMath xmlns:m="http://schemas.openxmlformats.org/officeDocument/2006/math">
                    <m:r>
                      <a:rPr lang="vi-VN" sz="2100" b="0">
                        <a:solidFill>
                          <a:srgbClr val="1E293B"/>
                        </a:solidFill>
                        <a:latin typeface="Cambria Math" panose="02040503050406030204" pitchFamily="18" charset="0"/>
                      </a:rPr>
                      <m:t>O</m:t>
                    </m:r>
                  </m:oMath>
                </a14:m>
                <a:r>
                  <a:rPr sz="2100">
                    <a:solidFill>
                      <a:srgbClr val="1E293B"/>
                    </a:solidFill>
                    <a:latin typeface="Calibri"/>
                  </a:rPr>
                  <a:t> tuỳ ý, ta có </a:t>
                </a:r>
                <a14:m>
                  <m:oMath xmlns:m="http://schemas.openxmlformats.org/officeDocument/2006/math">
                    <m:acc>
                      <m:accPr>
                        <m:chr m:val="⃗"/>
                      </m:accPr>
                      <m:e>
                        <m:r>
                          <a:rPr lang="vi-VN" sz="2100" b="0">
                            <a:solidFill>
                              <a:srgbClr val="1E293B"/>
                            </a:solidFill>
                            <a:latin typeface="Cambria Math" panose="02040503050406030204" pitchFamily="18" charset="0"/>
                          </a:rPr>
                          <m:t>OA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OB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OC</m:t>
                        </m:r>
                      </m:e>
                    </m:acc>
                    <m:r>
                      <a:rPr lang="vi-VN" sz="2100" b="0">
                        <a:solidFill>
                          <a:srgbClr val="1E293B"/>
                        </a:solidFill>
                        <a:latin typeface="Cambria Math" panose="02040503050406030204" pitchFamily="18" charset="0"/>
                      </a:rPr>
                      <m:t>=3</m:t>
                    </m:r>
                    <m:acc>
                      <m:accPr>
                        <m:chr m:val="⃗"/>
                      </m:accPr>
                      <m:e>
                        <m:r>
                          <a:rPr lang="vi-VN" sz="2100" b="0">
                            <a:solidFill>
                              <a:srgbClr val="1E293B"/>
                            </a:solidFill>
                            <a:latin typeface="Cambria Math" panose="02040503050406030204" pitchFamily="18" charset="0"/>
                          </a:rPr>
                          <m:t>OG</m:t>
                        </m:r>
                      </m:e>
                    </m:acc>
                  </m:oMath>
                </a14:m>
                <a:r>
                  <a:rPr sz="2100">
                    <a:solidFill>
                      <a:srgbClr val="1E293B"/>
                    </a:solidFill>
                    <a:latin typeface="Calibri"/>
                  </a:rPr>
                  <a:t>.</a:t>
                </a:r>
              </a:p>
            </p:txBody>
          </p:sp>
        </mc:Choice>
        <mc:Fallback>
          <p:sp>
            <p:nvSpPr>
              <p:cNvPr id="13" name="TextBox 12"/>
              <p:cNvSpPr txBox="1"/>
              <p:nvPr/>
            </p:nvSpPr>
            <p:spPr>
              <a:xfrm>
                <a:off x="713232" y="4882896"/>
                <a:ext cx="826617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Chú ý.</a:t>
                </a:r>
                <a:r>
                  <a:rPr sz="2100">
                    <a:solidFill>
                      <a:srgbClr val="1E293B"/>
                    </a:solidFill>
                    <a:latin typeface="Calibri"/>
                  </a:rPr>
                  <a:t> Nếu </a:t>
                </a:r>
                <a:r>
                  <a:rPr lang="vi-VN"/>
                  <a:t>G</a:t>
                </a:r>
                <a:r>
                  <a:rPr sz="2100">
                    <a:solidFill>
                      <a:srgbClr val="1E293B"/>
                    </a:solidFill>
                    <a:latin typeface="Calibri"/>
                  </a:rPr>
                  <a:t> là trọng tâm của tam giác </a:t>
                </a:r>
                <a:r>
                  <a:rPr lang="vi-VN"/>
                  <a:t>ABC</a:t>
                </a:r>
                <a:r>
                  <a:rPr sz="2100">
                    <a:solidFill>
                      <a:srgbClr val="1E293B"/>
                    </a:solidFill>
                    <a:latin typeface="Calibri"/>
                  </a:rPr>
                  <a:t> thì với điểm </a:t>
                </a:r>
                <a:r>
                  <a:rPr lang="vi-VN"/>
                  <a:t>O</a:t>
                </a:r>
                <a:r>
                  <a:rPr sz="2100">
                    <a:solidFill>
                      <a:srgbClr val="1E293B"/>
                    </a:solidFill>
                    <a:latin typeface="Calibri"/>
                  </a:rPr>
                  <a:t> tuỳ ý, ta có </a:t>
                </a:r>
                <a:r>
                  <a:rPr lang="vi-VN"/>
                  <a:t>\overrightarrow{OA}+\overrightarrow{OB}+\overrightarrow{OC}=3\overrightarrow{OG}</a:t>
                </a:r>
                <a:r>
                  <a:rPr sz="2100">
                    <a:solidFill>
                      <a:srgbClr val="1E293B"/>
                    </a:solidFill>
                    <a:latin typeface="Calibri"/>
                  </a:rPr>
                  <a:t>.</a:t>
                </a:r>
              </a:p>
            </p:txBody>
          </p:sp>
        </mc:Fallback>
      </mc:AlternateContent>
      <p:pic>
        <p:nvPicPr>
          <p:cNvPr id="14" name="Picture 13" descr="h219.png"/>
          <p:cNvPicPr>
            <a:picLocks noChangeAspect="1"/>
          </p:cNvPicPr>
          <p:nvPr/>
        </p:nvPicPr>
        <p:blipFill>
          <a:blip r:embed="rId3"/>
          <a:stretch>
            <a:fillRect/>
          </a:stretch>
        </p:blipFill>
        <p:spPr>
          <a:xfrm>
            <a:off x="9326880" y="1509476"/>
            <a:ext cx="2377440" cy="2650328"/>
          </a:xfrm>
          <a:prstGeom prst="rect">
            <a:avLst/>
          </a:prstGeom>
        </p:spPr>
      </p:pic>
      <p:sp>
        <p:nvSpPr>
          <p:cNvPr id="15" name="TextBox 14"/>
          <p:cNvSpPr txBox="1"/>
          <p:nvPr/>
        </p:nvSpPr>
        <p:spPr>
          <a:xfrm>
            <a:off x="9326880" y="4224527"/>
            <a:ext cx="23774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8 – TRỌNG TÂM TỨ DIỆN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28016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Ví dụ 8, gọi </a:t>
                </a:r>
                <a14:m>
                  <m:oMath xmlns:m="http://schemas.openxmlformats.org/officeDocument/2006/math">
                    <m:r>
                      <a:rPr lang="vi-VN" sz="2200" b="0">
                        <a:solidFill>
                          <a:srgbClr val="1E293B"/>
                        </a:solidFill>
                        <a:latin typeface="Cambria Math" panose="02040503050406030204" pitchFamily="18" charset="0"/>
                      </a:rPr>
                      <m:t>I</m:t>
                    </m:r>
                  </m:oMath>
                </a14:m>
                <a:r>
                  <a:rPr sz="2200">
                    <a:solidFill>
                      <a:srgbClr val="1E293B"/>
                    </a:solidFill>
                    <a:latin typeface="Calibri"/>
                  </a:rPr>
                  <a:t> là điểm thuộc đoạn thẳng </a:t>
                </a:r>
                <a14:m>
                  <m:oMath xmlns:m="http://schemas.openxmlformats.org/officeDocument/2006/math">
                    <m:r>
                      <a:rPr lang="vi-VN" sz="2200" b="0">
                        <a:solidFill>
                          <a:srgbClr val="1E293B"/>
                        </a:solidFill>
                        <a:latin typeface="Cambria Math" panose="02040503050406030204" pitchFamily="18" charset="0"/>
                      </a:rPr>
                      <m:t>AG</m:t>
                    </m:r>
                  </m:oMath>
                </a14:m>
                <a:r>
                  <a:rPr sz="2200">
                    <a:solidFill>
                      <a:srgbClr val="1E293B"/>
                    </a:solidFill>
                    <a:latin typeface="Calibri"/>
                  </a:rPr>
                  <a:t> sao cho </a:t>
                </a:r>
                <a14:m>
                  <m:oMath xmlns:m="http://schemas.openxmlformats.org/officeDocument/2006/math">
                    <m:acc>
                      <m:accPr>
                        <m:chr m:val="⃗"/>
                      </m:accPr>
                      <m:e>
                        <m:r>
                          <a:rPr lang="vi-VN" sz="2200" b="0">
                            <a:solidFill>
                              <a:srgbClr val="1E293B"/>
                            </a:solidFill>
                            <a:latin typeface="Cambria Math" panose="02040503050406030204" pitchFamily="18" charset="0"/>
                          </a:rPr>
                          <m:t>AI</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IG</m:t>
                        </m:r>
                      </m:e>
                    </m:acc>
                  </m:oMath>
                </a14:m>
                <a:r>
                  <a:rPr sz="2200">
                    <a:solidFill>
                      <a:srgbClr val="1E293B"/>
                    </a:solidFill>
                    <a:latin typeface="Calibri"/>
                  </a:rPr>
                  <a:t> (H.2.19). Chứng minh rằng </a:t>
                </a:r>
                <a14:m>
                  <m:oMath xmlns:m="http://schemas.openxmlformats.org/officeDocument/2006/math">
                    <m:acc>
                      <m:accPr>
                        <m:chr m:val="⃗"/>
                      </m:accPr>
                      <m:e>
                        <m:r>
                          <a:rPr lang="vi-VN" sz="2200" b="0">
                            <a:solidFill>
                              <a:srgbClr val="1E293B"/>
                            </a:solidFill>
                            <a:latin typeface="Cambria Math" panose="02040503050406030204" pitchFamily="18" charset="0"/>
                          </a:rPr>
                          <m:t>IA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7" name="TextBox 6"/>
              <p:cNvSpPr txBox="1"/>
              <p:nvPr/>
            </p:nvSpPr>
            <p:spPr>
              <a:xfrm>
                <a:off x="548640" y="1371600"/>
                <a:ext cx="8595360" cy="128016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Ví dụ 8, gọi </a:t>
                </a:r>
                <a:r>
                  <a:rPr lang="vi-VN"/>
                  <a:t>I</a:t>
                </a:r>
                <a:r>
                  <a:rPr sz="2200">
                    <a:solidFill>
                      <a:srgbClr val="1E293B"/>
                    </a:solidFill>
                    <a:latin typeface="Calibri"/>
                  </a:rPr>
                  <a:t> là điểm thuộc đoạn thẳng </a:t>
                </a:r>
                <a:r>
                  <a:rPr lang="vi-VN"/>
                  <a:t>AG</a:t>
                </a:r>
                <a:r>
                  <a:rPr sz="2200">
                    <a:solidFill>
                      <a:srgbClr val="1E293B"/>
                    </a:solidFill>
                    <a:latin typeface="Calibri"/>
                  </a:rPr>
                  <a:t> sao cho </a:t>
                </a:r>
                <a:r>
                  <a:rPr lang="vi-VN"/>
                  <a:t>\overrightarrow{AI}=3\overrightarrow{IG}</a:t>
                </a:r>
                <a:r>
                  <a:rPr sz="2200">
                    <a:solidFill>
                      <a:srgbClr val="1E293B"/>
                    </a:solidFill>
                    <a:latin typeface="Calibri"/>
                  </a:rPr>
                  <a:t> (H.2.19). Chứng minh rằng </a:t>
                </a:r>
                <a:r>
                  <a:rPr lang="vi-VN"/>
                  <a:t>\overrightarrow{IA}+\overrightarrow{IB}+\overrightarrow{IC}+\overrightarrow{ID}=\vec{0}</a:t>
                </a:r>
                <a:r>
                  <a:rPr sz="2200">
                    <a:solidFill>
                      <a:srgbClr val="1E293B"/>
                    </a:solidFill>
                    <a:latin typeface="Calibri"/>
                  </a:rPr>
                  <a:t>.</a:t>
                </a:r>
              </a:p>
            </p:txBody>
          </p:sp>
        </mc:Fallback>
      </mc:AlternateContent>
      <p:sp>
        <p:nvSpPr>
          <p:cNvPr id="8" name="s1_nen"/>
          <p:cNvSpPr/>
          <p:nvPr/>
        </p:nvSpPr>
        <p:spPr>
          <a:xfrm>
            <a:off x="548640" y="2743200"/>
            <a:ext cx="85953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79776"/>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G</m:t>
                    </m:r>
                  </m:oMath>
                </a14:m>
                <a:r>
                  <a:rPr sz="2200">
                    <a:solidFill>
                      <a:srgbClr val="1E293B"/>
                    </a:solidFill>
                    <a:latin typeface="Calibri"/>
                  </a:rPr>
                  <a:t> là trọng tâm tam giác </a:t>
                </a:r>
                <a14:m>
                  <m:oMath xmlns:m="http://schemas.openxmlformats.org/officeDocument/2006/math">
                    <m:r>
                      <a:rPr lang="vi-VN" sz="2200" b="0">
                        <a:solidFill>
                          <a:srgbClr val="1E293B"/>
                        </a:solidFill>
                        <a:latin typeface="Cambria Math" panose="02040503050406030204" pitchFamily="18" charset="0"/>
                      </a:rPr>
                      <m:t>BCD</m:t>
                    </m:r>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IB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ID</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IG</m:t>
                        </m:r>
                      </m:e>
                    </m:acc>
                  </m:oMath>
                </a14:m>
                <a:r>
                  <a:rPr sz="2200">
                    <a:solidFill>
                      <a:srgbClr val="1E293B"/>
                    </a:solidFill>
                    <a:latin typeface="Calibri"/>
                  </a:rPr>
                  <a:t>.</a:t>
                </a:r>
              </a:p>
            </p:txBody>
          </p:sp>
        </mc:Choice>
        <mc:Fallback>
          <p:sp>
            <p:nvSpPr>
              <p:cNvPr id="9" name="TextBox 8"/>
              <p:cNvSpPr txBox="1"/>
              <p:nvPr/>
            </p:nvSpPr>
            <p:spPr>
              <a:xfrm>
                <a:off x="713232" y="2779776"/>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G</a:t>
                </a:r>
                <a:r>
                  <a:rPr sz="2200">
                    <a:solidFill>
                      <a:srgbClr val="1E293B"/>
                    </a:solidFill>
                    <a:latin typeface="Calibri"/>
                  </a:rPr>
                  <a:t> là trọng tâm tam giác </a:t>
                </a:r>
                <a:r>
                  <a:rPr lang="vi-VN"/>
                  <a:t>BCD</a:t>
                </a:r>
                <a:r>
                  <a:rPr sz="2200">
                    <a:solidFill>
                      <a:srgbClr val="1E293B"/>
                    </a:solidFill>
                    <a:latin typeface="Calibri"/>
                  </a:rPr>
                  <a:t> nên </a:t>
                </a:r>
                <a:r>
                  <a:rPr lang="vi-VN"/>
                  <a:t>\overrightarrow{IB}+\overrightarrow{IC}+\overrightarrow{ID}=3\overrightarrow{IG}</a:t>
                </a:r>
                <a:r>
                  <a:rPr sz="2200">
                    <a:solidFill>
                      <a:srgbClr val="1E293B"/>
                    </a:solidFill>
                    <a:latin typeface="Calibri"/>
                  </a:rPr>
                  <a:t>.</a:t>
                </a:r>
              </a:p>
            </p:txBody>
          </p:sp>
        </mc:Fallback>
      </mc:AlternateContent>
      <p:sp>
        <p:nvSpPr>
          <p:cNvPr id="10" name="s2_nen"/>
          <p:cNvSpPr/>
          <p:nvPr/>
        </p:nvSpPr>
        <p:spPr>
          <a:xfrm>
            <a:off x="548640" y="3435096"/>
            <a:ext cx="859536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71672"/>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AI</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IG</m:t>
                        </m:r>
                      </m:e>
                    </m:acc>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IA</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IG</m:t>
                        </m:r>
                      </m:e>
                    </m:acc>
                  </m:oMath>
                </a14:m>
                <a:r>
                  <a:rPr sz="2200">
                    <a:solidFill>
                      <a:srgbClr val="1E293B"/>
                    </a:solidFill>
                    <a:latin typeface="Calibri"/>
                  </a:rPr>
                  <a:t>. Vậy </a:t>
                </a:r>
                <a14:m>
                  <m:oMath xmlns:m="http://schemas.openxmlformats.org/officeDocument/2006/math">
                    <m:acc>
                      <m:accPr>
                        <m:chr m:val="⃗"/>
                      </m:accPr>
                      <m:e>
                        <m:r>
                          <a:rPr lang="vi-VN" sz="2200" b="0">
                            <a:solidFill>
                              <a:srgbClr val="1E293B"/>
                            </a:solidFill>
                            <a:latin typeface="Cambria Math" panose="02040503050406030204" pitchFamily="18" charset="0"/>
                          </a:rPr>
                          <m:t>IA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ID</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IG</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IG</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11" name="TextBox 10"/>
              <p:cNvSpPr txBox="1"/>
              <p:nvPr/>
            </p:nvSpPr>
            <p:spPr>
              <a:xfrm>
                <a:off x="713232" y="3471672"/>
                <a:ext cx="826617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\overrightarrow{AI}=3\overrightarrow{IG}</a:t>
                </a:r>
                <a:r>
                  <a:rPr sz="2200">
                    <a:solidFill>
                      <a:srgbClr val="1E293B"/>
                    </a:solidFill>
                    <a:latin typeface="Calibri"/>
                  </a:rPr>
                  <a:t> nên </a:t>
                </a:r>
                <a:r>
                  <a:rPr lang="vi-VN"/>
                  <a:t>\overrightarrow{IA}=-3\overrightarrow{IG}</a:t>
                </a:r>
                <a:r>
                  <a:rPr sz="2200">
                    <a:solidFill>
                      <a:srgbClr val="1E293B"/>
                    </a:solidFill>
                    <a:latin typeface="Calibri"/>
                  </a:rPr>
                  <a:t>. Vậy </a:t>
                </a:r>
                <a:r>
                  <a:rPr lang="vi-VN"/>
                  <a:t>\overrightarrow{IA}+\overrightarrow{IB}+\overrightarrow{IC}+\overrightarrow{ID}=-3\overrightarrow{IG}+3\overrightarrow{IG}=\vec{0}</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5029200"/>
                <a:ext cx="859536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 Điểm </a:t>
                </a:r>
                <a14:m>
                  <m:oMath xmlns:m="http://schemas.openxmlformats.org/officeDocument/2006/math">
                    <m:r>
                      <a:rPr lang="vi-VN" sz="2200" b="0">
                        <a:solidFill>
                          <a:srgbClr val="1E293B"/>
                        </a:solidFill>
                        <a:latin typeface="Cambria Math" panose="02040503050406030204" pitchFamily="18" charset="0"/>
                      </a:rPr>
                      <m:t>I</m:t>
                    </m:r>
                  </m:oMath>
                </a14:m>
                <a:r>
                  <a:rPr sz="2200">
                    <a:solidFill>
                      <a:srgbClr val="1E293B"/>
                    </a:solidFill>
                    <a:latin typeface="Calibri"/>
                  </a:rPr>
                  <a:t> trong Luyện tập 8 được gọi là </a:t>
                </a:r>
                <a:r>
                  <a:rPr sz="2200" b="1">
                    <a:solidFill>
                      <a:srgbClr val="1E293B"/>
                    </a:solidFill>
                    <a:latin typeface="Calibri"/>
                  </a:rPr>
                  <a:t>trọng tâm</a:t>
                </a:r>
                <a:r>
                  <a:rPr sz="2200">
                    <a:solidFill>
                      <a:srgbClr val="1E293B"/>
                    </a:solidFill>
                    <a:latin typeface="Calibri"/>
                  </a:rPr>
                  <a:t> của tứ diện </a:t>
                </a:r>
                <a14:m>
                  <m:oMath xmlns:m="http://schemas.openxmlformats.org/officeDocument/2006/math">
                    <m:r>
                      <a:rPr lang="vi-VN" sz="2200" b="0">
                        <a:solidFill>
                          <a:srgbClr val="1E293B"/>
                        </a:solidFill>
                        <a:latin typeface="Cambria Math" panose="02040503050406030204" pitchFamily="18" charset="0"/>
                      </a:rPr>
                      <m:t>ABCD</m:t>
                    </m:r>
                  </m:oMath>
                </a14:m>
                <a:r>
                  <a:rPr sz="2200">
                    <a:solidFill>
                      <a:srgbClr val="1E293B"/>
                    </a:solidFill>
                    <a:latin typeface="Calibri"/>
                  </a:rPr>
                  <a:t>.</a:t>
                </a:r>
              </a:p>
            </p:txBody>
          </p:sp>
        </mc:Choice>
        <mc:Fallback>
          <p:sp>
            <p:nvSpPr>
              <p:cNvPr id="12" name="TextBox 11"/>
              <p:cNvSpPr txBox="1"/>
              <p:nvPr/>
            </p:nvSpPr>
            <p:spPr>
              <a:xfrm>
                <a:off x="548640" y="5029200"/>
                <a:ext cx="859536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 Điểm </a:t>
                </a:r>
                <a:r>
                  <a:rPr lang="vi-VN"/>
                  <a:t>I</a:t>
                </a:r>
                <a:r>
                  <a:rPr sz="2200">
                    <a:solidFill>
                      <a:srgbClr val="1E293B"/>
                    </a:solidFill>
                    <a:latin typeface="Calibri"/>
                  </a:rPr>
                  <a:t> trong Luyện tập 8 được gọi là </a:t>
                </a:r>
                <a:r>
                  <a:rPr sz="2200" b="1">
                    <a:solidFill>
                      <a:srgbClr val="1E293B"/>
                    </a:solidFill>
                    <a:latin typeface="Calibri"/>
                  </a:rPr>
                  <a:t>trọng tâm</a:t>
                </a:r>
                <a:r>
                  <a:rPr sz="2200">
                    <a:solidFill>
                      <a:srgbClr val="1E293B"/>
                    </a:solidFill>
                    <a:latin typeface="Calibri"/>
                  </a:rPr>
                  <a:t> của tứ diện </a:t>
                </a:r>
                <a:r>
                  <a:rPr lang="vi-VN"/>
                  <a:t>ABCD</a:t>
                </a:r>
                <a:r>
                  <a:rPr sz="2200">
                    <a:solidFill>
                      <a:srgbClr val="1E293B"/>
                    </a:solidFill>
                    <a:latin typeface="Calibri"/>
                  </a:rPr>
                  <a:t>.</a:t>
                </a:r>
              </a:p>
            </p:txBody>
          </p:sp>
        </mc:Fallback>
      </mc:AlternateContent>
      <p:pic>
        <p:nvPicPr>
          <p:cNvPr id="13" name="Picture 12" descr="h219.png"/>
          <p:cNvPicPr>
            <a:picLocks noChangeAspect="1"/>
          </p:cNvPicPr>
          <p:nvPr/>
        </p:nvPicPr>
        <p:blipFill>
          <a:blip r:embed="rId3"/>
          <a:stretch>
            <a:fillRect/>
          </a:stretch>
        </p:blipFill>
        <p:spPr>
          <a:xfrm>
            <a:off x="9326880" y="1509476"/>
            <a:ext cx="2377440" cy="2650328"/>
          </a:xfrm>
          <a:prstGeom prst="rect">
            <a:avLst/>
          </a:prstGeom>
        </p:spPr>
      </p:pic>
      <p:sp>
        <p:nvSpPr>
          <p:cNvPr id="14" name="TextBox 13"/>
          <p:cNvSpPr txBox="1"/>
          <p:nvPr/>
        </p:nvSpPr>
        <p:spPr>
          <a:xfrm>
            <a:off x="9326880" y="4224527"/>
            <a:ext cx="23774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 3D</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GEOGEBRA 3D – TRỌNG TÂM TỨ DIỆN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49</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G</m:t>
                    </m:r>
                  </m:oMath>
                </a14:m>
                <a:r>
                  <a:rPr sz="2200">
                    <a:solidFill>
                      <a:srgbClr val="1E293B"/>
                    </a:solidFill>
                    <a:latin typeface="Calibri"/>
                  </a:rPr>
                  <a:t> (đỏ): trọng tâm tam giác </a:t>
                </a:r>
                <a14:m>
                  <m:oMath xmlns:m="http://schemas.openxmlformats.org/officeDocument/2006/math">
                    <m:r>
                      <a:rPr lang="vi-VN" sz="2200" b="0">
                        <a:solidFill>
                          <a:srgbClr val="1E293B"/>
                        </a:solidFill>
                        <a:latin typeface="Cambria Math" panose="02040503050406030204" pitchFamily="18" charset="0"/>
                      </a:rPr>
                      <m:t>BCD</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I</m:t>
                    </m:r>
                  </m:oMath>
                </a14:m>
                <a:r>
                  <a:rPr sz="2200">
                    <a:solidFill>
                      <a:srgbClr val="1E293B"/>
                    </a:solidFill>
                    <a:latin typeface="Calibri"/>
                  </a:rPr>
                  <a:t> (tím) trên </a:t>
                </a:r>
                <a14:m>
                  <m:oMath xmlns:m="http://schemas.openxmlformats.org/officeDocument/2006/math">
                    <m:r>
                      <a:rPr lang="vi-VN" sz="2200" b="0">
                        <a:solidFill>
                          <a:srgbClr val="1E293B"/>
                        </a:solidFill>
                        <a:latin typeface="Cambria Math" panose="02040503050406030204" pitchFamily="18" charset="0"/>
                      </a:rPr>
                      <m:t>AG</m:t>
                    </m:r>
                  </m:oMath>
                </a14:m>
                <a:r>
                  <a:rPr sz="2200">
                    <a:solidFill>
                      <a:srgbClr val="1E293B"/>
                    </a:solidFill>
                    <a:latin typeface="Calibri"/>
                  </a:rPr>
                  <a:t> với </a:t>
                </a:r>
                <a14:m>
                  <m:oMath xmlns:m="http://schemas.openxmlformats.org/officeDocument/2006/math">
                    <m:r>
                      <a:rPr lang="vi-VN" sz="2200" b="0">
                        <a:solidFill>
                          <a:srgbClr val="1E293B"/>
                        </a:solidFill>
                        <a:latin typeface="Cambria Math" panose="02040503050406030204" pitchFamily="18" charset="0"/>
                      </a:rPr>
                      <m:t>AI=3IG</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Bốn vectơ </a:t>
                </a:r>
                <a14:m>
                  <m:oMath xmlns:m="http://schemas.openxmlformats.org/officeDocument/2006/math">
                    <m:acc>
                      <m:accPr>
                        <m:chr m:val="⃗"/>
                      </m:accPr>
                      <m:e>
                        <m:r>
                          <a:rPr lang="vi-VN" sz="2200" b="0">
                            <a:solidFill>
                              <a:srgbClr val="1E293B"/>
                            </a:solidFill>
                            <a:latin typeface="Cambria Math" panose="02040503050406030204" pitchFamily="18" charset="0"/>
                          </a:rPr>
                          <m:t>IA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IB</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IC</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ID</m:t>
                        </m:r>
                      </m:e>
                    </m:acc>
                  </m:oMath>
                </a14:m>
                <a:r>
                  <a:rPr sz="2200">
                    <a:solidFill>
                      <a:srgbClr val="1E293B"/>
                    </a:solidFill>
                    <a:latin typeface="Calibri"/>
                  </a:rPr>
                  <a:t> màu xanh.</a:t>
                </a:r>
              </a:p>
              <a:p>
                <a:pPr algn="l" marL="365760" indent="-365760">
                  <a:spcAft>
                    <a:spcPts val="800"/>
                  </a:spcAft>
                  <a:buClr>
                    <a:srgbClr val="1E40AF"/>
                  </a:buClr>
                  <a:buFont typeface="Arial"/>
                  <a:buChar char="•"/>
                </a:pPr>
                <a:r>
                  <a:rPr sz="2200">
                    <a:solidFill>
                      <a:srgbClr val="1E293B"/>
                    </a:solidFill>
                    <a:latin typeface="Calibri"/>
                  </a:rPr>
                  <a:t>Kéo các đỉnh </a:t>
                </a:r>
                <a14:m>
                  <m:oMath xmlns:m="http://schemas.openxmlformats.org/officeDocument/2006/math">
                    <m:r>
                      <a:rPr lang="vi-VN" sz="2200" b="0">
                        <a:solidFill>
                          <a:srgbClr val="1E293B"/>
                        </a:solidFill>
                        <a:latin typeface="Cambria Math" panose="02040503050406030204" pitchFamily="18" charset="0"/>
                      </a:rPr>
                      <m:t>A,</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C,</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D</m:t>
                    </m:r>
                  </m:oMath>
                </a14:m>
                <a:r>
                  <a:rPr sz="2200">
                    <a:solidFill>
                      <a:srgbClr val="1E293B"/>
                    </a:solidFill>
                    <a:latin typeface="Calibri"/>
                  </a:rPr>
                  <a:t>: giá trị </a:t>
                </a:r>
                <a:r>
                  <a:rPr sz="2200" b="1">
                    <a:solidFill>
                      <a:srgbClr val="1E293B"/>
                    </a:solidFill>
                    <a:latin typeface="Calibri"/>
                  </a:rPr>
                  <a:t>tong</a:t>
                </a:r>
                <a:r>
                  <a:rPr sz="2200">
                    <a:solidFill>
                      <a:srgbClr val="1E293B"/>
                    </a:solidFill>
                    <a:latin typeface="Calibri"/>
                  </a:rPr>
                  <a:t> luôn bằng </a:t>
                </a:r>
                <a14:m>
                  <m:oMath xmlns:m="http://schemas.openxmlformats.org/officeDocument/2006/math">
                    <m:d>
                      <m:dPr>
                        <m:sepChr m:val=","/>
                      </m:dPr>
                      <m:e>
                        <m:r>
                          <a:rPr lang="vi-VN" sz="2200" b="0">
                            <a:solidFill>
                              <a:srgbClr val="1E293B"/>
                            </a:solidFill>
                            <a:latin typeface="Cambria Math" panose="02040503050406030204" pitchFamily="18" charset="0"/>
                          </a:rPr>
                          <m:t>0</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e>
                    </m:d>
                  </m:oMath>
                </a14:m>
                <a:r>
                  <a:rPr sz="2200">
                    <a:solidFill>
                      <a:srgbClr val="1E293B"/>
                    </a:solidFill>
                    <a:latin typeface="Calibri"/>
                  </a:rPr>
                  <a:t>, tức tổng bằng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G</a:t>
                </a:r>
                <a:r>
                  <a:rPr sz="2200">
                    <a:solidFill>
                      <a:srgbClr val="1E293B"/>
                    </a:solidFill>
                    <a:latin typeface="Calibri"/>
                  </a:rPr>
                  <a:t> (đỏ): trọng tâm tam giác </a:t>
                </a:r>
                <a:r>
                  <a:rPr lang="vi-VN"/>
                  <a:t>BCD</a:t>
                </a:r>
                <a:r>
                  <a:rPr sz="2200">
                    <a:solidFill>
                      <a:srgbClr val="1E293B"/>
                    </a:solidFill>
                    <a:latin typeface="Calibri"/>
                  </a:rPr>
                  <a:t>; </a:t>
                </a:r>
                <a:r>
                  <a:rPr lang="vi-VN"/>
                  <a:t>I</a:t>
                </a:r>
                <a:r>
                  <a:rPr sz="2200">
                    <a:solidFill>
                      <a:srgbClr val="1E293B"/>
                    </a:solidFill>
                    <a:latin typeface="Calibri"/>
                  </a:rPr>
                  <a:t> (tím) trên </a:t>
                </a:r>
                <a:r>
                  <a:rPr lang="vi-VN"/>
                  <a:t>AG</a:t>
                </a:r>
                <a:r>
                  <a:rPr sz="2200">
                    <a:solidFill>
                      <a:srgbClr val="1E293B"/>
                    </a:solidFill>
                    <a:latin typeface="Calibri"/>
                  </a:rPr>
                  <a:t> với </a:t>
                </a:r>
                <a:r>
                  <a:rPr lang="vi-VN"/>
                  <a:t>AI=3IG</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Bốn vectơ </a:t>
                </a:r>
                <a:r>
                  <a:rPr lang="vi-VN"/>
                  <a:t>\overrightarrow{IA},\ \overrightarrow{IB},\ \overrightarrow{IC},\ \overrightarrow{ID}</a:t>
                </a:r>
                <a:r>
                  <a:rPr sz="2200">
                    <a:solidFill>
                      <a:srgbClr val="1E293B"/>
                    </a:solidFill>
                    <a:latin typeface="Calibri"/>
                  </a:rPr>
                  <a:t> màu xanh.</a:t>
                </a:r>
              </a:p>
              <a:p>
                <a:pPr algn="l" marL="365760" indent="-365760">
                  <a:spcAft>
                    <a:spcPts val="800"/>
                  </a:spcAft>
                  <a:buClr>
                    <a:srgbClr val="1E40AF"/>
                  </a:buClr>
                  <a:buFont typeface="Arial"/>
                  <a:buChar char="•"/>
                </a:pPr>
                <a:r>
                  <a:rPr sz="2200">
                    <a:solidFill>
                      <a:srgbClr val="1E293B"/>
                    </a:solidFill>
                    <a:latin typeface="Calibri"/>
                  </a:rPr>
                  <a:t>Kéo các đỉnh </a:t>
                </a:r>
                <a:r>
                  <a:rPr lang="vi-VN"/>
                  <a:t>A,\ B,\ C,\ D</a:t>
                </a:r>
                <a:r>
                  <a:rPr sz="2200">
                    <a:solidFill>
                      <a:srgbClr val="1E293B"/>
                    </a:solidFill>
                    <a:latin typeface="Calibri"/>
                  </a:rPr>
                  <a:t>: giá trị </a:t>
                </a:r>
                <a:r>
                  <a:rPr sz="2200" b="1">
                    <a:solidFill>
                      <a:srgbClr val="1E293B"/>
                    </a:solidFill>
                    <a:latin typeface="Calibri"/>
                  </a:rPr>
                  <a:t>tong</a:t>
                </a:r>
                <a:r>
                  <a:rPr sz="2200">
                    <a:solidFill>
                      <a:srgbClr val="1E293B"/>
                    </a:solidFill>
                    <a:latin typeface="Calibri"/>
                  </a:rPr>
                  <a:t> luôn bằng </a:t>
                </a:r>
                <a:r>
                  <a:rPr lang="vi-VN"/>
                  <a:t>(0,\ 0,\ 0)</a:t>
                </a:r>
                <a:r>
                  <a:rPr sz="2200">
                    <a:solidFill>
                      <a:srgbClr val="1E293B"/>
                    </a:solidFill>
                    <a:latin typeface="Calibri"/>
                  </a:rPr>
                  <a:t>, tức tổng bằng </a:t>
                </a:r>
                <a:r>
                  <a:rPr lang="vi-VN"/>
                  <a:t>\vec{0}</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 3D</a:t>
            </a:r>
          </a:p>
        </p:txBody>
      </p:sp>
      <p:pic>
        <p:nvPicPr>
          <p:cNvPr id="9" name="Picture 8" descr="qr_ggb_4.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để xoay hình, chụm/cuộn để phóng to.</a:t>
            </a:r>
          </a:p>
        </p:txBody>
      </p:sp>
      <p:pic>
        <p:nvPicPr>
          <p:cNvPr id="11" name="Picture 10" descr="h219.png"/>
          <p:cNvPicPr>
            <a:picLocks noChangeAspect="1"/>
          </p:cNvPicPr>
          <p:nvPr/>
        </p:nvPicPr>
        <p:blipFill>
          <a:blip r:embed="rId5"/>
          <a:stretch>
            <a:fillRect/>
          </a:stretch>
        </p:blipFill>
        <p:spPr>
          <a:xfrm>
            <a:off x="7271548" y="1463040"/>
            <a:ext cx="4019223" cy="448056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3 (SGK TR.54)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675120" cy="3657600"/>
              </a:xfrm>
              <a:prstGeom prst="rect">
                <a:avLst/>
              </a:prstGeom>
              <a:noFill/>
            </p:spPr>
            <p:txBody>
              <a:bodyPr wrap="square" anchor="t" lIns="45720" rIns="45720">
                <a:spAutoFit/>
              </a:bodyPr>
              <a:lstStyle/>
              <a:p>
                <a:pPr algn="l">
                  <a:spcAft>
                    <a:spcPts val="800"/>
                  </a:spcAft>
                </a:pPr>
                <a:r>
                  <a:rPr sz="1900">
                    <a:solidFill>
                      <a:srgbClr val="1E293B"/>
                    </a:solidFill>
                    <a:latin typeface="Calibri"/>
                  </a:rPr>
                  <a:t>Máy bay chịu bốn lực chính: lực đẩy của động cơ, lực cản của không khí, trọng lực và lực nâng khí động học (H.2.20). Lực cản của không khí ngược hướng với lực đẩy của động cơ và có độ lớn tỉ lệ thuận với bình phương vận tốc máy bay. Một chiếc máy bay tăng vận tốc từ 900 km/h lên 920 km/h, giữ nguyên hướng bay. Lực cản khi máy bay đạt 900 km/h và 920 km/h lần lượt biểu diễn bởi </a:t>
                </a:r>
                <a14:m>
                  <m:oMath xmlns:m="http://schemas.openxmlformats.org/officeDocument/2006/math">
                    <m:acc>
                      <m:accPr>
                        <m:chr m:val="⃗"/>
                      </m:accPr>
                      <m:e>
                        <m:sSub>
                          <m:e>
                            <m:r>
                              <a:rPr lang="vi-VN" sz="1900" b="0">
                                <a:solidFill>
                                  <a:srgbClr val="1E293B"/>
                                </a:solidFill>
                                <a:latin typeface="Cambria Math" panose="02040503050406030204" pitchFamily="18" charset="0"/>
                              </a:rPr>
                              <m:t>F</m:t>
                            </m:r>
                          </m:e>
                          <m:sub>
                            <m:r>
                              <a:rPr lang="vi-VN" sz="1900" b="0">
                                <a:solidFill>
                                  <a:srgbClr val="1E293B"/>
                                </a:solidFill>
                                <a:latin typeface="Cambria Math" panose="02040503050406030204" pitchFamily="18" charset="0"/>
                              </a:rPr>
                              <m:t>1</m:t>
                            </m:r>
                          </m:sub>
                        </m:sSub>
                      </m:e>
                    </m:acc>
                  </m:oMath>
                </a14:m>
                <a:r>
                  <a:rPr sz="1900">
                    <a:solidFill>
                      <a:srgbClr val="1E293B"/>
                    </a:solidFill>
                    <a:latin typeface="Calibri"/>
                  </a:rPr>
                  <a:t> và </a:t>
                </a:r>
                <a14:m>
                  <m:oMath xmlns:m="http://schemas.openxmlformats.org/officeDocument/2006/math">
                    <m:acc>
                      <m:accPr>
                        <m:chr m:val="⃗"/>
                      </m:accPr>
                      <m:e>
                        <m:sSub>
                          <m:e>
                            <m:r>
                              <a:rPr lang="vi-VN" sz="1900" b="0">
                                <a:solidFill>
                                  <a:srgbClr val="1E293B"/>
                                </a:solidFill>
                                <a:latin typeface="Cambria Math" panose="02040503050406030204" pitchFamily="18" charset="0"/>
                              </a:rPr>
                              <m:t>F</m:t>
                            </m:r>
                          </m:e>
                          <m:sub>
                            <m:r>
                              <a:rPr lang="vi-VN" sz="1900" b="0">
                                <a:solidFill>
                                  <a:srgbClr val="1E293B"/>
                                </a:solidFill>
                                <a:latin typeface="Cambria Math" panose="02040503050406030204" pitchFamily="18" charset="0"/>
                              </a:rPr>
                              <m:t>2</m:t>
                            </m:r>
                          </m:sub>
                        </m:sSub>
                      </m:e>
                    </m:acc>
                  </m:oMath>
                </a14:m>
                <a:r>
                  <a:rPr sz="1900">
                    <a:solidFill>
                      <a:srgbClr val="1E293B"/>
                    </a:solidFill>
                    <a:latin typeface="Calibri"/>
                  </a:rPr>
                  <a:t>. Giải thích vì sao </a:t>
                </a:r>
                <a14:m>
                  <m:oMath xmlns:m="http://schemas.openxmlformats.org/officeDocument/2006/math">
                    <m:acc>
                      <m:accPr>
                        <m:chr m:val="⃗"/>
                      </m:accPr>
                      <m:e>
                        <m:sSub>
                          <m:e>
                            <m:r>
                              <a:rPr lang="vi-VN" sz="1900" b="0">
                                <a:solidFill>
                                  <a:srgbClr val="1E293B"/>
                                </a:solidFill>
                                <a:latin typeface="Cambria Math" panose="02040503050406030204" pitchFamily="18" charset="0"/>
                              </a:rPr>
                              <m:t>F</m:t>
                            </m:r>
                          </m:e>
                          <m:sub>
                            <m:r>
                              <a:rPr lang="vi-VN" sz="1900" b="0">
                                <a:solidFill>
                                  <a:srgbClr val="1E293B"/>
                                </a:solidFill>
                                <a:latin typeface="Cambria Math" panose="02040503050406030204" pitchFamily="18" charset="0"/>
                              </a:rPr>
                              <m:t>1</m:t>
                            </m:r>
                          </m:sub>
                        </m:sSub>
                      </m:e>
                    </m:acc>
                    <m:r>
                      <a:rPr lang="vi-VN" sz="1900" b="0">
                        <a:solidFill>
                          <a:srgbClr val="1E293B"/>
                        </a:solidFill>
                        <a:latin typeface="Cambria Math" panose="02040503050406030204" pitchFamily="18" charset="0"/>
                      </a:rPr>
                      <m:t>=k</m:t>
                    </m:r>
                    <m:acc>
                      <m:accPr>
                        <m:chr m:val="⃗"/>
                      </m:accPr>
                      <m:e>
                        <m:sSub>
                          <m:e>
                            <m:r>
                              <a:rPr lang="vi-VN" sz="1900" b="0">
                                <a:solidFill>
                                  <a:srgbClr val="1E293B"/>
                                </a:solidFill>
                                <a:latin typeface="Cambria Math" panose="02040503050406030204" pitchFamily="18" charset="0"/>
                              </a:rPr>
                              <m:t>F</m:t>
                            </m:r>
                          </m:e>
                          <m:sub>
                            <m:r>
                              <a:rPr lang="vi-VN" sz="1900" b="0">
                                <a:solidFill>
                                  <a:srgbClr val="1E293B"/>
                                </a:solidFill>
                                <a:latin typeface="Cambria Math" panose="02040503050406030204" pitchFamily="18" charset="0"/>
                              </a:rPr>
                              <m:t>2</m:t>
                            </m:r>
                          </m:sub>
                        </m:sSub>
                      </m:e>
                    </m:acc>
                  </m:oMath>
                </a14:m>
                <a:r>
                  <a:rPr sz="1900">
                    <a:solidFill>
                      <a:srgbClr val="1E293B"/>
                    </a:solidFill>
                    <a:latin typeface="Calibri"/>
                  </a:rPr>
                  <a:t> với </a:t>
                </a:r>
                <a14:m>
                  <m:oMath xmlns:m="http://schemas.openxmlformats.org/officeDocument/2006/math">
                    <m:r>
                      <a:rPr lang="vi-VN" sz="1900" b="0">
                        <a:solidFill>
                          <a:srgbClr val="1E293B"/>
                        </a:solidFill>
                        <a:latin typeface="Cambria Math" panose="02040503050406030204" pitchFamily="18" charset="0"/>
                      </a:rPr>
                      <m:t>k</m:t>
                    </m:r>
                  </m:oMath>
                </a14:m>
                <a:r>
                  <a:rPr sz="1900">
                    <a:solidFill>
                      <a:srgbClr val="1E293B"/>
                    </a:solidFill>
                    <a:latin typeface="Calibri"/>
                  </a:rPr>
                  <a:t> là một số thực dương. Tính </a:t>
                </a:r>
                <a14:m>
                  <m:oMath xmlns:m="http://schemas.openxmlformats.org/officeDocument/2006/math">
                    <m:r>
                      <a:rPr lang="vi-VN" sz="1900" b="0">
                        <a:solidFill>
                          <a:srgbClr val="1E293B"/>
                        </a:solidFill>
                        <a:latin typeface="Cambria Math" panose="02040503050406030204" pitchFamily="18" charset="0"/>
                      </a:rPr>
                      <m:t>k</m:t>
                    </m:r>
                  </m:oMath>
                </a14:m>
                <a:r>
                  <a:rPr sz="1900">
                    <a:solidFill>
                      <a:srgbClr val="1E293B"/>
                    </a:solidFill>
                    <a:latin typeface="Calibri"/>
                  </a:rPr>
                  <a:t> (làm tròn đến chữ số thập phân thứ hai).</a:t>
                </a:r>
              </a:p>
            </p:txBody>
          </p:sp>
        </mc:Choice>
        <mc:Fallback>
          <p:sp>
            <p:nvSpPr>
              <p:cNvPr id="7" name="TextBox 6"/>
              <p:cNvSpPr txBox="1"/>
              <p:nvPr/>
            </p:nvSpPr>
            <p:spPr>
              <a:xfrm>
                <a:off x="548640" y="1371600"/>
                <a:ext cx="6675120" cy="3657600"/>
              </a:xfrm>
              <a:prstGeom prst="rect">
                <a:avLst/>
              </a:prstGeom>
              <a:noFill/>
            </p:spPr>
            <p:txBody>
              <a:bodyPr wrap="square" anchor="t" lIns="45720" rIns="45720">
                <a:spAutoFit/>
              </a:bodyPr>
              <a:lstStyle/>
              <a:p>
                <a:pPr algn="l">
                  <a:spcAft>
                    <a:spcPts val="800"/>
                  </a:spcAft>
                </a:pPr>
                <a:r>
                  <a:rPr sz="1900">
                    <a:solidFill>
                      <a:srgbClr val="1E293B"/>
                    </a:solidFill>
                    <a:latin typeface="Calibri"/>
                  </a:rPr>
                  <a:t>Máy bay chịu bốn lực chính: lực đẩy của động cơ, lực cản của không khí, trọng lực và lực nâng khí động học (H.2.20). Lực cản của không khí ngược hướng với lực đẩy của động cơ và có độ lớn tỉ lệ thuận với bình phương vận tốc máy bay. Một chiếc máy bay tăng vận tốc từ 900 km/h lên 920 km/h, giữ nguyên hướng bay. Lực cản khi máy bay đạt 900 km/h và 920 km/h lần lượt biểu diễn bởi </a:t>
                </a:r>
                <a:r>
                  <a:rPr lang="vi-VN"/>
                  <a:t>\vec{F_1}</a:t>
                </a:r>
                <a:r>
                  <a:rPr sz="1900">
                    <a:solidFill>
                      <a:srgbClr val="1E293B"/>
                    </a:solidFill>
                    <a:latin typeface="Calibri"/>
                  </a:rPr>
                  <a:t> và </a:t>
                </a:r>
                <a:r>
                  <a:rPr lang="vi-VN"/>
                  <a:t>\vec{F_2}</a:t>
                </a:r>
                <a:r>
                  <a:rPr sz="1900">
                    <a:solidFill>
                      <a:srgbClr val="1E293B"/>
                    </a:solidFill>
                    <a:latin typeface="Calibri"/>
                  </a:rPr>
                  <a:t>. Giải thích vì sao </a:t>
                </a:r>
                <a:r>
                  <a:rPr lang="vi-VN"/>
                  <a:t>\vec{F_1}=k\vec{F_2}</a:t>
                </a:r>
                <a:r>
                  <a:rPr sz="1900">
                    <a:solidFill>
                      <a:srgbClr val="1E293B"/>
                    </a:solidFill>
                    <a:latin typeface="Calibri"/>
                  </a:rPr>
                  <a:t> với </a:t>
                </a:r>
                <a:r>
                  <a:rPr lang="vi-VN"/>
                  <a:t>k</a:t>
                </a:r>
                <a:r>
                  <a:rPr sz="1900">
                    <a:solidFill>
                      <a:srgbClr val="1E293B"/>
                    </a:solidFill>
                    <a:latin typeface="Calibri"/>
                  </a:rPr>
                  <a:t> là một số thực dương. Tính </a:t>
                </a:r>
                <a:r>
                  <a:rPr lang="vi-VN"/>
                  <a:t>k</a:t>
                </a:r>
                <a:r>
                  <a:rPr sz="1900">
                    <a:solidFill>
                      <a:srgbClr val="1E293B"/>
                    </a:solidFill>
                    <a:latin typeface="Calibri"/>
                  </a:rPr>
                  <a:t> (làm tròn đến chữ số thập phân thứ hai).</a:t>
                </a:r>
              </a:p>
            </p:txBody>
          </p:sp>
        </mc:Fallback>
      </mc:AlternateContent>
      <p:sp>
        <p:nvSpPr>
          <p:cNvPr id="8" name="s1_nen"/>
          <p:cNvSpPr/>
          <p:nvPr/>
        </p:nvSpPr>
        <p:spPr>
          <a:xfrm>
            <a:off x="548640" y="4251960"/>
            <a:ext cx="667512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4288536"/>
                <a:ext cx="634593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Hướng bay không đổi ⇒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oMath>
                </a14:m>
                <a:r>
                  <a:rPr sz="2000">
                    <a:solidFill>
                      <a:srgbClr val="1E293B"/>
                    </a:solidFill>
                    <a:latin typeface="Calibri"/>
                  </a:rPr>
                  <a:t> cùng hướng (ngược hướng bay) ⇒ </a:t>
                </a:r>
                <a14:m>
                  <m:oMath xmlns:m="http://schemas.openxmlformats.org/officeDocument/2006/math">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r>
                      <a:rPr lang="vi-VN" sz="2000" b="0">
                        <a:solidFill>
                          <a:srgbClr val="1E293B"/>
                        </a:solidFill>
                        <a:latin typeface="Cambria Math" panose="02040503050406030204" pitchFamily="18" charset="0"/>
                      </a:rPr>
                      <m:t>=k</m:t>
                    </m:r>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k&gt;0</m:t>
                    </m:r>
                  </m:oMath>
                </a14:m>
                <a:r>
                  <a:rPr sz="2000">
                    <a:solidFill>
                      <a:srgbClr val="1E293B"/>
                    </a:solidFill>
                    <a:latin typeface="Calibri"/>
                  </a:rPr>
                  <a:t>.</a:t>
                </a:r>
              </a:p>
            </p:txBody>
          </p:sp>
        </mc:Choice>
        <mc:Fallback>
          <p:sp>
            <p:nvSpPr>
              <p:cNvPr id="9" name="TextBox 8"/>
              <p:cNvSpPr txBox="1"/>
              <p:nvPr/>
            </p:nvSpPr>
            <p:spPr>
              <a:xfrm>
                <a:off x="713232" y="4288536"/>
                <a:ext cx="634593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Hướng bay không đổi ⇒ </a:t>
                </a:r>
                <a:r>
                  <a:rPr lang="vi-VN"/>
                  <a:t>\vec{F_1},\ \vec{F_2}</a:t>
                </a:r>
                <a:r>
                  <a:rPr sz="2000">
                    <a:solidFill>
                      <a:srgbClr val="1E293B"/>
                    </a:solidFill>
                    <a:latin typeface="Calibri"/>
                  </a:rPr>
                  <a:t> cùng hướng (ngược hướng bay) ⇒ </a:t>
                </a:r>
                <a:r>
                  <a:rPr lang="vi-VN"/>
                  <a:t>\vec{F_1}=k\vec{F_2}</a:t>
                </a:r>
                <a:r>
                  <a:rPr sz="2000">
                    <a:solidFill>
                      <a:srgbClr val="1E293B"/>
                    </a:solidFill>
                    <a:latin typeface="Calibri"/>
                  </a:rPr>
                  <a:t>, </a:t>
                </a:r>
                <a:r>
                  <a:rPr lang="vi-VN"/>
                  <a:t>k&gt;0</a:t>
                </a:r>
                <a:r>
                  <a:rPr sz="2000">
                    <a:solidFill>
                      <a:srgbClr val="1E293B"/>
                    </a:solidFill>
                    <a:latin typeface="Calibri"/>
                  </a:rPr>
                  <a:t>.</a:t>
                </a:r>
              </a:p>
            </p:txBody>
          </p:sp>
        </mc:Fallback>
      </mc:AlternateContent>
      <p:sp>
        <p:nvSpPr>
          <p:cNvPr id="10" name="s2_nen"/>
          <p:cNvSpPr/>
          <p:nvPr/>
        </p:nvSpPr>
        <p:spPr>
          <a:xfrm>
            <a:off x="548640" y="5218176"/>
            <a:ext cx="667512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5254752"/>
                <a:ext cx="634593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k=</m:t>
                    </m:r>
                    <m:f>
                      <m:fPr>
                        <m:type m:val="bar"/>
                      </m:fPr>
                      <m:num>
                        <m:d>
                          <m:dPr>
                            <m:begChr m:val="|"/>
                            <m:sepChr m:val=""/>
                            <m:endChr m:val="|"/>
                          </m:dPr>
                          <m:e>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Sub>
                              </m:e>
                            </m:acc>
                          </m:e>
                        </m:d>
                      </m:num>
                      <m:den>
                        <m:d>
                          <m:dPr>
                            <m:begChr m:val="|"/>
                            <m:sepChr m:val=""/>
                            <m:endChr m:val="|"/>
                          </m:dPr>
                          <m:e>
                            <m:acc>
                              <m:accPr>
                                <m:chr m:val="⃗"/>
                              </m:accPr>
                              <m:e>
                                <m:sSub>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Sub>
                              </m:e>
                            </m:acc>
                          </m:e>
                        </m:d>
                      </m:den>
                    </m:f>
                    <m:r>
                      <a:rPr lang="vi-VN" sz="2000" b="0">
                        <a:solidFill>
                          <a:srgbClr val="1E293B"/>
                        </a:solidFill>
                        <a:latin typeface="Cambria Math" panose="02040503050406030204" pitchFamily="18" charset="0"/>
                      </a:rPr>
                      <m:t>=</m:t>
                    </m:r>
                    <m:sSup>
                      <m:e>
                        <m:d>
                          <m:dPr>
                            <m:sepChr m:val=""/>
                          </m:dPr>
                          <m:e>
                            <m:f>
                              <m:fPr>
                                <m:type m:val="bar"/>
                              </m:fPr>
                              <m:num>
                                <m:r>
                                  <a:rPr lang="vi-VN" sz="2000" b="0">
                                    <a:solidFill>
                                      <a:srgbClr val="1E293B"/>
                                    </a:solidFill>
                                    <a:latin typeface="Cambria Math" panose="02040503050406030204" pitchFamily="18" charset="0"/>
                                  </a:rPr>
                                  <m:t>900</m:t>
                                </m:r>
                              </m:num>
                              <m:den>
                                <m:r>
                                  <a:rPr lang="vi-VN" sz="2000" b="0">
                                    <a:solidFill>
                                      <a:srgbClr val="1E293B"/>
                                    </a:solidFill>
                                    <a:latin typeface="Cambria Math" panose="02040503050406030204" pitchFamily="18" charset="0"/>
                                  </a:rPr>
                                  <m:t>920</m:t>
                                </m:r>
                              </m:den>
                            </m:f>
                          </m:e>
                        </m:d>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96</m:t>
                    </m:r>
                  </m:oMath>
                </a14:m>
                <a:r>
                  <a:rPr sz="2000">
                    <a:solidFill>
                      <a:srgbClr val="1E293B"/>
                    </a:solidFill>
                    <a:latin typeface="Calibri"/>
                  </a:rPr>
                  <a:t>.</a:t>
                </a:r>
              </a:p>
            </p:txBody>
          </p:sp>
        </mc:Choice>
        <mc:Fallback>
          <p:sp>
            <p:nvSpPr>
              <p:cNvPr id="11" name="TextBox 10"/>
              <p:cNvSpPr txBox="1"/>
              <p:nvPr/>
            </p:nvSpPr>
            <p:spPr>
              <a:xfrm>
                <a:off x="713232" y="5254752"/>
                <a:ext cx="634593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k=\frac{|\vec{F_1}|}{|\vec{F_2}|}=\left(\frac{900}{920}\right)^2\approx 0{,}96</a:t>
                </a:r>
                <a:r>
                  <a:rPr sz="2000">
                    <a:solidFill>
                      <a:srgbClr val="1E293B"/>
                    </a:solidFill>
                    <a:latin typeface="Calibri"/>
                  </a:rPr>
                  <a:t>.</a:t>
                </a:r>
              </a:p>
            </p:txBody>
          </p:sp>
        </mc:Fallback>
      </mc:AlternateContent>
      <p:pic>
        <p:nvPicPr>
          <p:cNvPr id="12" name="Picture 11" descr="h220.png"/>
          <p:cNvPicPr>
            <a:picLocks noChangeAspect="1"/>
          </p:cNvPicPr>
          <p:nvPr/>
        </p:nvPicPr>
        <p:blipFill>
          <a:blip r:embed="rId3"/>
          <a:stretch>
            <a:fillRect/>
          </a:stretch>
        </p:blipFill>
        <p:spPr>
          <a:xfrm>
            <a:off x="7406640" y="1653779"/>
            <a:ext cx="4297680" cy="2453162"/>
          </a:xfrm>
          <a:prstGeom prst="rect">
            <a:avLst/>
          </a:prstGeom>
        </p:spPr>
      </p:pic>
      <p:sp>
        <p:nvSpPr>
          <p:cNvPr id="13" name="TextBox 12"/>
          <p:cNvSpPr txBox="1"/>
          <p:nvPr/>
        </p:nvSpPr>
        <p:spPr>
          <a:xfrm>
            <a:off x="7406640" y="4224527"/>
            <a:ext cx="429768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4A. GÓC GIỮA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29260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HĐ7.</a:t>
                </a:r>
                <a:r>
                  <a:rPr sz="2100">
                    <a:solidFill>
                      <a:srgbClr val="1E293B"/>
                    </a:solidFill>
                    <a:latin typeface="Calibri"/>
                  </a:rPr>
                  <a:t> Trong không gian, cho hai vectơ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khác </a:t>
                </a:r>
                <a14:m>
                  <m:oMath xmlns:m="http://schemas.openxmlformats.org/officeDocument/2006/math">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 Lấy điểm </a:t>
                </a:r>
                <a14:m>
                  <m:oMath xmlns:m="http://schemas.openxmlformats.org/officeDocument/2006/math">
                    <m:r>
                      <a:rPr lang="vi-VN" sz="2100" b="0">
                        <a:solidFill>
                          <a:srgbClr val="1E293B"/>
                        </a:solidFill>
                        <a:latin typeface="Cambria Math" panose="02040503050406030204" pitchFamily="18" charset="0"/>
                      </a:rPr>
                      <m:t>O</m:t>
                    </m:r>
                  </m:oMath>
                </a14:m>
                <a:r>
                  <a:rPr sz="2100">
                    <a:solidFill>
                      <a:srgbClr val="1E293B"/>
                    </a:solidFill>
                    <a:latin typeface="Calibri"/>
                  </a:rPr>
                  <a:t> và vẽ các vectơ </a:t>
                </a:r>
                <a14:m>
                  <m:oMath xmlns:m="http://schemas.openxmlformats.org/officeDocument/2006/math">
                    <m:acc>
                      <m:accPr>
                        <m:chr m:val="⃗"/>
                      </m:accPr>
                      <m:e>
                        <m:r>
                          <a:rPr lang="vi-VN" sz="2100" b="0">
                            <a:solidFill>
                              <a:srgbClr val="1E293B"/>
                            </a:solidFill>
                            <a:latin typeface="Cambria Math" panose="02040503050406030204" pitchFamily="18" charset="0"/>
                          </a:rPr>
                          <m:t>OA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OB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Lấy điểm </a:t>
                </a:r>
                <a14:m>
                  <m:oMath xmlns:m="http://schemas.openxmlformats.org/officeDocument/2006/math">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khác </a:t>
                </a:r>
                <a14:m>
                  <m:oMath xmlns:m="http://schemas.openxmlformats.org/officeDocument/2006/math">
                    <m:r>
                      <a:rPr lang="vi-VN" sz="2100" b="0">
                        <a:solidFill>
                          <a:srgbClr val="1E293B"/>
                        </a:solidFill>
                        <a:latin typeface="Cambria Math" panose="02040503050406030204" pitchFamily="18" charset="0"/>
                      </a:rPr>
                      <m:t>O</m:t>
                    </m:r>
                  </m:oMath>
                </a14:m>
                <a:r>
                  <a:rPr sz="2100">
                    <a:solidFill>
                      <a:srgbClr val="1E293B"/>
                    </a:solidFill>
                    <a:latin typeface="Calibri"/>
                  </a:rPr>
                  <a:t> và vẽ các vectơ </a:t>
                </a:r>
                <a14:m>
                  <m:oMath xmlns:m="http://schemas.openxmlformats.org/officeDocument/2006/math">
                    <m:acc>
                      <m:accPr>
                        <m:chr m:val="⃗"/>
                      </m:accPr>
                      <m:e>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 (H.2.21).</a:t>
                </a:r>
              </a:p>
              <a:p>
                <a:pPr algn="l">
                  <a:spcAft>
                    <a:spcPts val="800"/>
                  </a:spcAft>
                </a:pPr>
                <a:r>
                  <a:rPr sz="2100">
                    <a:solidFill>
                      <a:srgbClr val="1E293B"/>
                    </a:solidFill>
                    <a:latin typeface="Calibri"/>
                  </a:rPr>
                  <a:t>a) Giải thích vì sao </a:t>
                </a:r>
                <a14:m>
                  <m:oMath xmlns:m="http://schemas.openxmlformats.org/officeDocument/2006/math">
                    <m:acc>
                      <m:accPr>
                        <m:chr m:val="⃗"/>
                      </m:accPr>
                      <m:e>
                        <m:r>
                          <a:rPr lang="vi-VN" sz="2100" b="0">
                            <a:solidFill>
                              <a:srgbClr val="1E293B"/>
                            </a:solidFill>
                            <a:latin typeface="Cambria Math" panose="02040503050406030204" pitchFamily="18" charset="0"/>
                          </a:rPr>
                          <m:t>AB</m:t>
                        </m:r>
                      </m:e>
                    </m:acc>
                    <m:r>
                      <a:rPr lang="vi-VN" sz="2100" b="0">
                        <a:solidFill>
                          <a:srgbClr val="1E293B"/>
                        </a:solidFill>
                        <a:latin typeface="Cambria Math" panose="02040503050406030204" pitchFamily="18" charset="0"/>
                      </a:rPr>
                      <m:t>=</m:t>
                    </m:r>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a:t>
                </a:r>
              </a:p>
              <a:p>
                <a:pPr algn="l">
                  <a:spcAft>
                    <a:spcPts val="800"/>
                  </a:spcAft>
                </a:pPr>
                <a:r>
                  <a:rPr sz="2100">
                    <a:solidFill>
                      <a:srgbClr val="1E293B"/>
                    </a:solidFill>
                    <a:latin typeface="Calibri"/>
                  </a:rPr>
                  <a:t>b) Áp dụng định lí côsin cho hai tam giác </a:t>
                </a:r>
                <a14:m>
                  <m:oMath xmlns:m="http://schemas.openxmlformats.org/officeDocument/2006/math">
                    <m:r>
                      <a:rPr lang="vi-VN" sz="2100" b="0">
                        <a:solidFill>
                          <a:srgbClr val="1E293B"/>
                        </a:solidFill>
                        <a:latin typeface="Cambria Math" panose="02040503050406030204" pitchFamily="18" charset="0"/>
                      </a:rPr>
                      <m:t>OAB</m:t>
                    </m:r>
                  </m:oMath>
                </a14:m>
                <a:r>
                  <a:rPr sz="2100">
                    <a:solidFill>
                      <a:srgbClr val="1E293B"/>
                    </a:solidFill>
                    <a:latin typeface="Calibri"/>
                  </a:rPr>
                  <a:t> và </a:t>
                </a:r>
                <a14:m>
                  <m:oMath xmlns:m="http://schemas.openxmlformats.org/officeDocument/2006/math">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để giải thích vì sao </a:t>
                </a:r>
                <a14:m>
                  <m:oMath xmlns:m="http://schemas.openxmlformats.org/officeDocument/2006/math">
                    <m:acc>
                      <m:accPr>
                        <m:chr m:val="̂"/>
                      </m:accPr>
                      <m:e>
                        <m:r>
                          <a:rPr lang="vi-VN" sz="2100" b="0">
                            <a:solidFill>
                              <a:srgbClr val="1E293B"/>
                            </a:solidFill>
                            <a:latin typeface="Cambria Math" panose="02040503050406030204" pitchFamily="18" charset="0"/>
                          </a:rPr>
                          <m:t>AOB</m:t>
                        </m:r>
                      </m:e>
                    </m:acc>
                    <m:r>
                      <a:rPr lang="vi-VN" sz="2100" b="0">
                        <a:solidFill>
                          <a:srgbClr val="1E293B"/>
                        </a:solidFill>
                        <a:latin typeface="Cambria Math" panose="02040503050406030204" pitchFamily="18" charset="0"/>
                      </a:rPr>
                      <m:t>=</m:t>
                    </m:r>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a:t>
                </a:r>
              </a:p>
            </p:txBody>
          </p:sp>
        </mc:Choice>
        <mc:Fallback>
          <p:sp>
            <p:nvSpPr>
              <p:cNvPr id="7" name="TextBox 6"/>
              <p:cNvSpPr txBox="1"/>
              <p:nvPr/>
            </p:nvSpPr>
            <p:spPr>
              <a:xfrm>
                <a:off x="548640" y="1371600"/>
                <a:ext cx="7315200" cy="29260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HĐ7.</a:t>
                </a:r>
                <a:r>
                  <a:rPr sz="2100">
                    <a:solidFill>
                      <a:srgbClr val="1E293B"/>
                    </a:solidFill>
                    <a:latin typeface="Calibri"/>
                  </a:rPr>
                  <a:t> Trong không gian, cho hai vectơ </a:t>
                </a:r>
                <a:r>
                  <a:rPr lang="vi-VN"/>
                  <a:t>\vec{a},\ \vec{b}</a:t>
                </a:r>
                <a:r>
                  <a:rPr sz="2100">
                    <a:solidFill>
                      <a:srgbClr val="1E293B"/>
                    </a:solidFill>
                    <a:latin typeface="Calibri"/>
                  </a:rPr>
                  <a:t> khác </a:t>
                </a:r>
                <a:r>
                  <a:rPr lang="vi-VN"/>
                  <a:t>\vec{0}</a:t>
                </a:r>
                <a:r>
                  <a:rPr sz="2100">
                    <a:solidFill>
                      <a:srgbClr val="1E293B"/>
                    </a:solidFill>
                    <a:latin typeface="Calibri"/>
                  </a:rPr>
                  <a:t>. Lấy điểm </a:t>
                </a:r>
                <a:r>
                  <a:rPr lang="vi-VN"/>
                  <a:t>O</a:t>
                </a:r>
                <a:r>
                  <a:rPr sz="2100">
                    <a:solidFill>
                      <a:srgbClr val="1E293B"/>
                    </a:solidFill>
                    <a:latin typeface="Calibri"/>
                  </a:rPr>
                  <a:t> và vẽ các vectơ </a:t>
                </a:r>
                <a:r>
                  <a:rPr lang="vi-VN"/>
                  <a:t>\overrightarrow{OA}=\vec{a},\ \overrightarrow{OB}=\vec{b}</a:t>
                </a:r>
                <a:r>
                  <a:rPr sz="2100">
                    <a:solidFill>
                      <a:srgbClr val="1E293B"/>
                    </a:solidFill>
                    <a:latin typeface="Calibri"/>
                  </a:rPr>
                  <a:t>. Lấy điểm </a:t>
                </a:r>
                <a:r>
                  <a:rPr lang="vi-VN"/>
                  <a:t>O'</a:t>
                </a:r>
                <a:r>
                  <a:rPr sz="2100">
                    <a:solidFill>
                      <a:srgbClr val="1E293B"/>
                    </a:solidFill>
                    <a:latin typeface="Calibri"/>
                  </a:rPr>
                  <a:t> khác </a:t>
                </a:r>
                <a:r>
                  <a:rPr lang="vi-VN"/>
                  <a:t>O</a:t>
                </a:r>
                <a:r>
                  <a:rPr sz="2100">
                    <a:solidFill>
                      <a:srgbClr val="1E293B"/>
                    </a:solidFill>
                    <a:latin typeface="Calibri"/>
                  </a:rPr>
                  <a:t> và vẽ các vectơ </a:t>
                </a:r>
                <a:r>
                  <a:rPr lang="vi-VN"/>
                  <a:t>\overrightarrow{O'A'}=\vec{a},\ \overrightarrow{O'B'}=\vec{b}</a:t>
                </a:r>
                <a:r>
                  <a:rPr sz="2100">
                    <a:solidFill>
                      <a:srgbClr val="1E293B"/>
                    </a:solidFill>
                    <a:latin typeface="Calibri"/>
                  </a:rPr>
                  <a:t> (H.2.21).</a:t>
                </a:r>
              </a:p>
              <a:p>
                <a:pPr algn="l">
                  <a:spcAft>
                    <a:spcPts val="800"/>
                  </a:spcAft>
                </a:pPr>
                <a:r>
                  <a:rPr sz="2100">
                    <a:solidFill>
                      <a:srgbClr val="1E293B"/>
                    </a:solidFill>
                    <a:latin typeface="Calibri"/>
                  </a:rPr>
                  <a:t>a) Giải thích vì sao </a:t>
                </a:r>
                <a:r>
                  <a:rPr lang="vi-VN"/>
                  <a:t>\overrightarrow{AB}=\overrightarrow{A'B'}</a:t>
                </a:r>
                <a:r>
                  <a:rPr sz="2100">
                    <a:solidFill>
                      <a:srgbClr val="1E293B"/>
                    </a:solidFill>
                    <a:latin typeface="Calibri"/>
                  </a:rPr>
                  <a:t>.</a:t>
                </a:r>
              </a:p>
              <a:p>
                <a:pPr algn="l">
                  <a:spcAft>
                    <a:spcPts val="800"/>
                  </a:spcAft>
                </a:pPr>
                <a:r>
                  <a:rPr sz="2100">
                    <a:solidFill>
                      <a:srgbClr val="1E293B"/>
                    </a:solidFill>
                    <a:latin typeface="Calibri"/>
                  </a:rPr>
                  <a:t>b) Áp dụng định lí côsin cho hai tam giác </a:t>
                </a:r>
                <a:r>
                  <a:rPr lang="vi-VN"/>
                  <a:t>OAB</a:t>
                </a:r>
                <a:r>
                  <a:rPr sz="2100">
                    <a:solidFill>
                      <a:srgbClr val="1E293B"/>
                    </a:solidFill>
                    <a:latin typeface="Calibri"/>
                  </a:rPr>
                  <a:t> và </a:t>
                </a:r>
                <a:r>
                  <a:rPr lang="vi-VN"/>
                  <a:t>O'A'B'</a:t>
                </a:r>
                <a:r>
                  <a:rPr sz="2100">
                    <a:solidFill>
                      <a:srgbClr val="1E293B"/>
                    </a:solidFill>
                    <a:latin typeface="Calibri"/>
                  </a:rPr>
                  <a:t> để giải thích vì sao </a:t>
                </a:r>
                <a:r>
                  <a:rPr lang="vi-VN"/>
                  <a:t>\widehat{AOB}=\widehat{A'O'B'}</a:t>
                </a:r>
                <a:r>
                  <a:rPr sz="2100">
                    <a:solidFill>
                      <a:srgbClr val="1E293B"/>
                    </a:solidFill>
                    <a:latin typeface="Calibri"/>
                  </a:rPr>
                  <a:t>.</a:t>
                </a:r>
              </a:p>
            </p:txBody>
          </p:sp>
        </mc:Fallback>
      </mc:AlternateContent>
      <p:sp>
        <p:nvSpPr>
          <p:cNvPr id="8" name="s1_nen"/>
          <p:cNvSpPr/>
          <p:nvPr/>
        </p:nvSpPr>
        <p:spPr>
          <a:xfrm>
            <a:off x="548640" y="4389120"/>
            <a:ext cx="731520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4425696"/>
                <a:ext cx="698601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acc>
                      <m:accPr>
                        <m:chr m:val="⃗"/>
                      </m:accPr>
                      <m:e>
                        <m:r>
                          <a:rPr lang="vi-VN" sz="2100" b="0">
                            <a:solidFill>
                              <a:srgbClr val="1E293B"/>
                            </a:solidFill>
                            <a:latin typeface="Cambria Math" panose="02040503050406030204" pitchFamily="18" charset="0"/>
                          </a:rPr>
                          <m:t>AB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OB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OA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e>
                    </m:acc>
                    <m:r>
                      <a:rPr lang="vi-VN" sz="2100" b="0">
                        <a:solidFill>
                          <a:srgbClr val="1E293B"/>
                        </a:solidFill>
                        <a:latin typeface="Cambria Math" panose="02040503050406030204" pitchFamily="18" charset="0"/>
                      </a:rPr>
                      <m:t>=</m:t>
                    </m:r>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a:t>
                </a:r>
              </a:p>
            </p:txBody>
          </p:sp>
        </mc:Choice>
        <mc:Fallback>
          <p:sp>
            <p:nvSpPr>
              <p:cNvPr id="9" name="TextBox 8"/>
              <p:cNvSpPr txBox="1"/>
              <p:nvPr/>
            </p:nvSpPr>
            <p:spPr>
              <a:xfrm>
                <a:off x="713232" y="4425696"/>
                <a:ext cx="698601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\overrightarrow{AB}=\overrightarrow{OB}-\overrightarrow{OA}=\vec{b}-\vec{a}=\overrightarrow{O'B'}-\overrightarrow{O'A'}=\overrightarrow{A'B'}</a:t>
                </a:r>
                <a:r>
                  <a:rPr sz="2100">
                    <a:solidFill>
                      <a:srgbClr val="1E293B"/>
                    </a:solidFill>
                    <a:latin typeface="Calibri"/>
                  </a:rPr>
                  <a:t>.</a:t>
                </a:r>
              </a:p>
            </p:txBody>
          </p:sp>
        </mc:Fallback>
      </mc:AlternateContent>
      <p:sp>
        <p:nvSpPr>
          <p:cNvPr id="10" name="s2_nen"/>
          <p:cNvSpPr/>
          <p:nvPr/>
        </p:nvSpPr>
        <p:spPr>
          <a:xfrm>
            <a:off x="548640" y="5065775"/>
            <a:ext cx="731520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5102351"/>
                <a:ext cx="698601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r>
                      <a:rPr lang="vi-VN" sz="2100" b="0">
                        <a:solidFill>
                          <a:srgbClr val="1E293B"/>
                        </a:solidFill>
                        <a:latin typeface="Cambria Math" panose="02040503050406030204" pitchFamily="18" charset="0"/>
                      </a:rPr>
                      <m:t>OA=</m:t>
                    </m:r>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OB=</m:t>
                    </m:r>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AB=</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nên </a:t>
                </a:r>
                <a14:m>
                  <m:oMath xmlns:m="http://schemas.openxmlformats.org/officeDocument/2006/math">
                    <m:r>
                      <m:rPr>
                        <m:sty m:val="p"/>
                      </m:rPr>
                      <a:rPr lang="vi-VN" sz="2100" b="0">
                        <a:solidFill>
                          <a:srgbClr val="1E293B"/>
                        </a:solidFill>
                        <a:latin typeface="Cambria Math" panose="02040503050406030204" pitchFamily="18" charset="0"/>
                      </a:rPr>
                      <m:t>cos</m:t>
                    </m:r>
                    <m:acc>
                      <m:accPr>
                        <m:chr m:val="̂"/>
                      </m:accPr>
                      <m:e>
                        <m:r>
                          <a:rPr lang="vi-VN" sz="2100" b="0">
                            <a:solidFill>
                              <a:srgbClr val="1E293B"/>
                            </a:solidFill>
                            <a:latin typeface="Cambria Math" panose="02040503050406030204" pitchFamily="18" charset="0"/>
                          </a:rPr>
                          <m:t>AOB</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cos</m:t>
                    </m:r>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 suy ra </a:t>
                </a:r>
                <a14:m>
                  <m:oMath xmlns:m="http://schemas.openxmlformats.org/officeDocument/2006/math">
                    <m:acc>
                      <m:accPr>
                        <m:chr m:val="̂"/>
                      </m:accPr>
                      <m:e>
                        <m:r>
                          <a:rPr lang="vi-VN" sz="2100" b="0">
                            <a:solidFill>
                              <a:srgbClr val="1E293B"/>
                            </a:solidFill>
                            <a:latin typeface="Cambria Math" panose="02040503050406030204" pitchFamily="18" charset="0"/>
                          </a:rPr>
                          <m:t>AOB</m:t>
                        </m:r>
                      </m:e>
                    </m:acc>
                    <m:r>
                      <a:rPr lang="vi-VN" sz="2100" b="0">
                        <a:solidFill>
                          <a:srgbClr val="1E293B"/>
                        </a:solidFill>
                        <a:latin typeface="Cambria Math" panose="02040503050406030204" pitchFamily="18" charset="0"/>
                      </a:rPr>
                      <m:t>=</m:t>
                    </m:r>
                    <m:acc>
                      <m:accPr>
                        <m:chr m:val="̂"/>
                      </m:accPr>
                      <m:e>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O</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e>
                    </m:acc>
                  </m:oMath>
                </a14:m>
                <a:r>
                  <a:rPr sz="2100">
                    <a:solidFill>
                      <a:srgbClr val="1E293B"/>
                    </a:solidFill>
                    <a:latin typeface="Calibri"/>
                  </a:rPr>
                  <a:t>.</a:t>
                </a:r>
              </a:p>
            </p:txBody>
          </p:sp>
        </mc:Choice>
        <mc:Fallback>
          <p:sp>
            <p:nvSpPr>
              <p:cNvPr id="11" name="TextBox 10"/>
              <p:cNvSpPr txBox="1"/>
              <p:nvPr/>
            </p:nvSpPr>
            <p:spPr>
              <a:xfrm>
                <a:off x="713232" y="5102351"/>
                <a:ext cx="698601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OA=O'A',\ OB=O'B',\ AB=A'B'</a:t>
                </a:r>
                <a:r>
                  <a:rPr sz="2100">
                    <a:solidFill>
                      <a:srgbClr val="1E293B"/>
                    </a:solidFill>
                    <a:latin typeface="Calibri"/>
                  </a:rPr>
                  <a:t> nên </a:t>
                </a:r>
                <a:r>
                  <a:rPr lang="vi-VN"/>
                  <a:t>\cos\widehat{AOB}=\cos\widehat{A'O'B'}</a:t>
                </a:r>
                <a:r>
                  <a:rPr sz="2100">
                    <a:solidFill>
                      <a:srgbClr val="1E293B"/>
                    </a:solidFill>
                    <a:latin typeface="Calibri"/>
                  </a:rPr>
                  <a:t>, suy ra </a:t>
                </a:r>
                <a:r>
                  <a:rPr lang="vi-VN"/>
                  <a:t>\widehat{AOB}=\widehat{A'O'B'}</a:t>
                </a:r>
                <a:r>
                  <a:rPr sz="2100">
                    <a:solidFill>
                      <a:srgbClr val="1E293B"/>
                    </a:solidFill>
                    <a:latin typeface="Calibri"/>
                  </a:rPr>
                  <a:t>.</a:t>
                </a:r>
              </a:p>
            </p:txBody>
          </p:sp>
        </mc:Fallback>
      </mc:AlternateContent>
      <p:pic>
        <p:nvPicPr>
          <p:cNvPr id="12" name="Picture 11" descr="h221.png"/>
          <p:cNvPicPr>
            <a:picLocks noChangeAspect="1"/>
          </p:cNvPicPr>
          <p:nvPr/>
        </p:nvPicPr>
        <p:blipFill>
          <a:blip r:embed="rId3"/>
          <a:stretch>
            <a:fillRect/>
          </a:stretch>
        </p:blipFill>
        <p:spPr>
          <a:xfrm>
            <a:off x="8046720" y="1479665"/>
            <a:ext cx="3657600" cy="3075709"/>
          </a:xfrm>
          <a:prstGeom prst="rect">
            <a:avLst/>
          </a:prstGeom>
        </p:spPr>
      </p:pic>
      <p:sp>
        <p:nvSpPr>
          <p:cNvPr id="13" name="TextBox 12"/>
          <p:cNvSpPr txBox="1"/>
          <p:nvPr/>
        </p:nvSpPr>
        <p:spPr>
          <a:xfrm>
            <a:off x="8046720" y="4590288"/>
            <a:ext cx="36576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GÓC GIỮA HAI VECTƠ TRONG KHÔNG GIAN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52</a:t>
            </a:r>
          </a:p>
        </p:txBody>
      </p:sp>
      <p:sp>
        <p:nvSpPr>
          <p:cNvPr id="7" name="Rounded Rectangle 6"/>
          <p:cNvSpPr/>
          <p:nvPr/>
        </p:nvSpPr>
        <p:spPr>
          <a:xfrm>
            <a:off x="548640" y="1371600"/>
            <a:ext cx="7863840" cy="14843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7534656" cy="14112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Trong không gian, cho hai vectơ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khác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Lấy một điểm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bất kì và gọi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oMath>
                </a14:m>
                <a:r>
                  <a:rPr sz="2000">
                    <a:solidFill>
                      <a:srgbClr val="1E293B"/>
                    </a:solidFill>
                    <a:latin typeface="Calibri"/>
                  </a:rPr>
                  <a:t> là hai điểm sao cho </a:t>
                </a:r>
                <a14:m>
                  <m:oMath xmlns:m="http://schemas.openxmlformats.org/officeDocument/2006/math">
                    <m:acc>
                      <m:accPr>
                        <m:chr m:val="⃗"/>
                      </m:accPr>
                      <m:e>
                        <m:r>
                          <a:rPr lang="vi-VN" sz="2000" b="0">
                            <a:solidFill>
                              <a:srgbClr val="1E293B"/>
                            </a:solidFill>
                            <a:latin typeface="Cambria Math" panose="02040503050406030204" pitchFamily="18" charset="0"/>
                          </a:rPr>
                          <m:t>OA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OB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Khi đó, góc </a:t>
                </a:r>
                <a14:m>
                  <m:oMath xmlns:m="http://schemas.openxmlformats.org/officeDocument/2006/math">
                    <m:acc>
                      <m:accPr>
                        <m:chr m:val="̂"/>
                      </m:accPr>
                      <m:e>
                        <m:r>
                          <a:rPr lang="vi-VN" sz="2000" b="0">
                            <a:solidFill>
                              <a:srgbClr val="1E293B"/>
                            </a:solidFill>
                            <a:latin typeface="Cambria Math" panose="02040503050406030204" pitchFamily="18" charset="0"/>
                          </a:rPr>
                          <m:t>AOB</m:t>
                        </m:r>
                      </m:e>
                    </m:acc>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AOB</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oMath>
                </a14:m>
                <a:r>
                  <a:rPr sz="2000">
                    <a:solidFill>
                      <a:srgbClr val="1E293B"/>
                    </a:solidFill>
                    <a:latin typeface="Calibri"/>
                  </a:rPr>
                  <a:t> được gọi là </a:t>
                </a:r>
                <a:r>
                  <a:rPr sz="2000" b="1">
                    <a:solidFill>
                      <a:srgbClr val="1E293B"/>
                    </a:solidFill>
                    <a:latin typeface="Calibri"/>
                  </a:rPr>
                  <a:t>góc giữa hai vectơ</a:t>
                </a: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kí hiệu là </a:t>
                </a:r>
                <a14:m>
                  <m:oMath xmlns:m="http://schemas.openxmlformats.org/officeDocument/2006/math">
                    <m:d>
                      <m:dPr>
                        <m:sepChr m:val=","/>
                      </m:dPr>
                      <m:e>
                        <m:acc>
                          <m:accPr>
                            <m:chr m:val="⃗"/>
                          </m:accPr>
                          <m:e>
                            <m:r>
                              <a:rPr lang="vi-VN" sz="2000" b="0">
                                <a:solidFill>
                                  <a:srgbClr val="1E293B"/>
                                </a:solidFill>
                                <a:latin typeface="Cambria Math" panose="02040503050406030204" pitchFamily="18" charset="0"/>
                              </a:rPr>
                              <m:t>a</m:t>
                            </m:r>
                          </m:e>
                        </m:acc>
                      </m:e>
                      <m:e>
                        <m:acc>
                          <m:accPr>
                            <m:chr m:val="⃗"/>
                          </m:accPr>
                          <m:e>
                            <m:r>
                              <a:rPr lang="vi-VN" sz="2000" b="0">
                                <a:solidFill>
                                  <a:srgbClr val="1E293B"/>
                                </a:solidFill>
                                <a:latin typeface="Cambria Math" panose="02040503050406030204" pitchFamily="18" charset="0"/>
                              </a:rPr>
                              <m:t>b</m:t>
                            </m:r>
                          </m:e>
                        </m:acc>
                      </m:e>
                    </m:d>
                  </m:oMath>
                </a14:m>
                <a:r>
                  <a:rPr sz="2000">
                    <a:solidFill>
                      <a:srgbClr val="1E293B"/>
                    </a:solidFill>
                    <a:latin typeface="Calibri"/>
                  </a:rPr>
                  <a:t>.</a:t>
                </a:r>
              </a:p>
            </p:txBody>
          </p:sp>
        </mc:Choice>
        <mc:Fallback>
          <p:sp>
            <p:nvSpPr>
              <p:cNvPr id="8" name="TextBox 7"/>
              <p:cNvSpPr txBox="1"/>
              <p:nvPr/>
            </p:nvSpPr>
            <p:spPr>
              <a:xfrm>
                <a:off x="713232" y="1408176"/>
                <a:ext cx="7534656" cy="14112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Trong không gian, cho hai vectơ </a:t>
                </a:r>
                <a:r>
                  <a:rPr lang="vi-VN"/>
                  <a:t>\vec{a},\ \vec{b}</a:t>
                </a:r>
                <a:r>
                  <a:rPr sz="2000">
                    <a:solidFill>
                      <a:srgbClr val="1E293B"/>
                    </a:solidFill>
                    <a:latin typeface="Calibri"/>
                  </a:rPr>
                  <a:t> khác </a:t>
                </a:r>
                <a:r>
                  <a:rPr lang="vi-VN"/>
                  <a:t>\vec{0}</a:t>
                </a:r>
                <a:r>
                  <a:rPr sz="2000">
                    <a:solidFill>
                      <a:srgbClr val="1E293B"/>
                    </a:solidFill>
                    <a:latin typeface="Calibri"/>
                  </a:rPr>
                  <a:t>. Lấy một điểm </a:t>
                </a:r>
                <a:r>
                  <a:rPr lang="vi-VN"/>
                  <a:t>O</a:t>
                </a:r>
                <a:r>
                  <a:rPr sz="2000">
                    <a:solidFill>
                      <a:srgbClr val="1E293B"/>
                    </a:solidFill>
                    <a:latin typeface="Calibri"/>
                  </a:rPr>
                  <a:t> bất kì và gọi </a:t>
                </a:r>
                <a:r>
                  <a:rPr lang="vi-VN"/>
                  <a:t>A,\ B</a:t>
                </a:r>
                <a:r>
                  <a:rPr sz="2000">
                    <a:solidFill>
                      <a:srgbClr val="1E293B"/>
                    </a:solidFill>
                    <a:latin typeface="Calibri"/>
                  </a:rPr>
                  <a:t> là hai điểm sao cho </a:t>
                </a:r>
                <a:r>
                  <a:rPr lang="vi-VN"/>
                  <a:t>\overrightarrow{OA}=\vec{a},\ \overrightarrow{OB}=\vec{b}</a:t>
                </a:r>
                <a:r>
                  <a:rPr sz="2000">
                    <a:solidFill>
                      <a:srgbClr val="1E293B"/>
                    </a:solidFill>
                    <a:latin typeface="Calibri"/>
                  </a:rPr>
                  <a:t>. Khi đó, góc </a:t>
                </a:r>
                <a:r>
                  <a:rPr lang="vi-VN"/>
                  <a:t>\widehat{AOB}\ (0^\circ\le\widehat{AOB}\le 180^\circ)</a:t>
                </a:r>
                <a:r>
                  <a:rPr sz="2000">
                    <a:solidFill>
                      <a:srgbClr val="1E293B"/>
                    </a:solidFill>
                    <a:latin typeface="Calibri"/>
                  </a:rPr>
                  <a:t> được gọi là </a:t>
                </a:r>
                <a:r>
                  <a:rPr sz="2000" b="1">
                    <a:solidFill>
                      <a:srgbClr val="1E293B"/>
                    </a:solidFill>
                    <a:latin typeface="Calibri"/>
                  </a:rPr>
                  <a:t>góc giữa hai vectơ</a:t>
                </a:r>
                <a:r>
                  <a:rPr sz="2000">
                    <a:solidFill>
                      <a:srgbClr val="1E293B"/>
                    </a:solidFill>
                    <a:latin typeface="Calibri"/>
                  </a:rPr>
                  <a:t> </a:t>
                </a:r>
                <a:r>
                  <a:rPr lang="vi-VN"/>
                  <a:t>\vec{a}</a:t>
                </a:r>
                <a:r>
                  <a:rPr sz="2000">
                    <a:solidFill>
                      <a:srgbClr val="1E293B"/>
                    </a:solidFill>
                    <a:latin typeface="Calibri"/>
                  </a:rPr>
                  <a:t> và </a:t>
                </a:r>
                <a:r>
                  <a:rPr lang="vi-VN"/>
                  <a:t>\vec{b}</a:t>
                </a:r>
                <a:r>
                  <a:rPr sz="2000">
                    <a:solidFill>
                      <a:srgbClr val="1E293B"/>
                    </a:solidFill>
                    <a:latin typeface="Calibri"/>
                  </a:rPr>
                  <a:t>, kí hiệu là </a:t>
                </a:r>
                <a:r>
                  <a:rPr lang="vi-VN"/>
                  <a:t>(\vec{a},\vec{b})</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s1_chu"/>
              <p:cNvSpPr txBox="1"/>
              <p:nvPr/>
            </p:nvSpPr>
            <p:spPr>
              <a:xfrm>
                <a:off x="548640" y="2947416"/>
                <a:ext cx="7863840" cy="1898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Nếu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90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thì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vuông góc, kí hiệu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Xác định </a:t>
                </a:r>
                <a14:m>
                  <m:oMath xmlns:m="http://schemas.openxmlformats.org/officeDocument/2006/math">
                    <m:d>
                      <m:dPr>
                        <m:sepChr m:val=","/>
                      </m:dPr>
                      <m:e>
                        <m:acc>
                          <m:accPr>
                            <m:chr m:val="⃗"/>
                          </m:accPr>
                          <m:e>
                            <m:r>
                              <a:rPr lang="vi-VN" sz="2000" b="0">
                                <a:solidFill>
                                  <a:srgbClr val="1E293B"/>
                                </a:solidFill>
                                <a:latin typeface="Cambria Math" panose="02040503050406030204" pitchFamily="18" charset="0"/>
                              </a:rPr>
                              <m:t>AB</m:t>
                            </m:r>
                          </m:e>
                        </m:acc>
                      </m:e>
                      <m:e>
                        <m:acc>
                          <m:accPr>
                            <m:chr m:val="⃗"/>
                          </m:accPr>
                          <m:e>
                            <m:r>
                              <a:rPr lang="vi-VN" sz="2000" b="0">
                                <a:solidFill>
                                  <a:srgbClr val="1E293B"/>
                                </a:solidFill>
                                <a:latin typeface="Cambria Math" panose="02040503050406030204" pitchFamily="18" charset="0"/>
                              </a:rPr>
                              <m:t>CD</m:t>
                            </m:r>
                          </m:e>
                        </m:acc>
                      </m:e>
                    </m:d>
                  </m:oMath>
                </a14:m>
                <a:r>
                  <a:rPr sz="2000">
                    <a:solidFill>
                      <a:srgbClr val="1E293B"/>
                    </a:solidFill>
                    <a:latin typeface="Calibri"/>
                  </a:rPr>
                  <a:t>: lấy </a:t>
                </a:r>
                <a14:m>
                  <m:oMath xmlns:m="http://schemas.openxmlformats.org/officeDocument/2006/math">
                    <m:r>
                      <a:rPr lang="vi-VN" sz="2000" b="0">
                        <a:solidFill>
                          <a:srgbClr val="1E293B"/>
                        </a:solidFill>
                        <a:latin typeface="Cambria Math" panose="02040503050406030204" pitchFamily="18" charset="0"/>
                      </a:rPr>
                      <m:t>E</m:t>
                    </m:r>
                  </m:oMath>
                </a14:m>
                <a:r>
                  <a:rPr sz="2000">
                    <a:solidFill>
                      <a:srgbClr val="1E293B"/>
                    </a:solidFill>
                    <a:latin typeface="Calibri"/>
                  </a:rPr>
                  <a:t> sao cho </a:t>
                </a:r>
                <a14:m>
                  <m:oMath xmlns:m="http://schemas.openxmlformats.org/officeDocument/2006/math">
                    <m:acc>
                      <m:accPr>
                        <m:chr m:val="⃗"/>
                      </m:accPr>
                      <m:e>
                        <m:r>
                          <a:rPr lang="vi-VN" sz="2000" b="0">
                            <a:solidFill>
                              <a:srgbClr val="1E293B"/>
                            </a:solidFill>
                            <a:latin typeface="Cambria Math" panose="02040503050406030204" pitchFamily="18" charset="0"/>
                          </a:rPr>
                          <m:t>AE</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khi đó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BAE</m:t>
                        </m:r>
                      </m:e>
                    </m:acc>
                  </m:oMath>
                </a14:m>
                <a:r>
                  <a:rPr sz="2000">
                    <a:solidFill>
                      <a:srgbClr val="1E293B"/>
                    </a:solidFill>
                    <a:latin typeface="Calibri"/>
                  </a:rPr>
                  <a:t> (H.2.23).</a:t>
                </a:r>
              </a:p>
              <a:p>
                <a:pPr algn="l" marL="365760" indent="-365760">
                  <a:spcAft>
                    <a:spcPts val="800"/>
                  </a:spcAft>
                  <a:buClr>
                    <a:srgbClr val="1E40AF"/>
                  </a:buClr>
                  <a:buFont typeface="Arial"/>
                  <a:buChar char="•"/>
                </a:pPr>
                <a:r>
                  <a:rPr sz="2000">
                    <a:solidFill>
                      <a:srgbClr val="1E293B"/>
                    </a:solidFill>
                    <a:latin typeface="Calibri"/>
                  </a:rPr>
                  <a:t>Quy ước góc giữa một vectơ bất kì và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có thể nhận một giá trị tuỳ ý từ </a:t>
                </a:r>
                <a14:m>
                  <m:oMath xmlns:m="http://schemas.openxmlformats.org/officeDocument/2006/math">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đến </a:t>
                </a:r>
                <a14:m>
                  <m:oMath xmlns:m="http://schemas.openxmlformats.org/officeDocument/2006/math">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9" name="TextBox 8"/>
              <p:cNvSpPr txBox="1"/>
              <p:nvPr/>
            </p:nvSpPr>
            <p:spPr>
              <a:xfrm>
                <a:off x="548640" y="2947416"/>
                <a:ext cx="7863840" cy="1898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Nếu </a:t>
                </a:r>
                <a:r>
                  <a:rPr lang="vi-VN"/>
                  <a:t>(\vec{a},\vec{b})=90^\circ</a:t>
                </a:r>
                <a:r>
                  <a:rPr sz="2000">
                    <a:solidFill>
                      <a:srgbClr val="1E293B"/>
                    </a:solidFill>
                    <a:latin typeface="Calibri"/>
                  </a:rPr>
                  <a:t> thì </a:t>
                </a:r>
                <a:r>
                  <a:rPr lang="vi-VN"/>
                  <a:t>\vec{a}</a:t>
                </a:r>
                <a:r>
                  <a:rPr sz="2000">
                    <a:solidFill>
                      <a:srgbClr val="1E293B"/>
                    </a:solidFill>
                    <a:latin typeface="Calibri"/>
                  </a:rPr>
                  <a:t> và </a:t>
                </a:r>
                <a:r>
                  <a:rPr lang="vi-VN"/>
                  <a:t>\vec{b}</a:t>
                </a:r>
                <a:r>
                  <a:rPr sz="2000">
                    <a:solidFill>
                      <a:srgbClr val="1E293B"/>
                    </a:solidFill>
                    <a:latin typeface="Calibri"/>
                  </a:rPr>
                  <a:t> vuông góc, kí hiệu </a:t>
                </a:r>
                <a:r>
                  <a:rPr lang="vi-VN"/>
                  <a:t>\vec{a}\perp\vec{b}</a:t>
                </a:r>
                <a:r>
                  <a:rPr sz="2000">
                    <a:solidFill>
                      <a:srgbClr val="1E293B"/>
                    </a:solidFill>
                    <a:latin typeface="Calibri"/>
                  </a:rPr>
                  <a:t>.</a:t>
                </a:r>
              </a:p>
              <a:p>
                <a:pPr algn="l" marL="365760" indent="-365760">
                  <a:spcAft>
                    <a:spcPts val="800"/>
                  </a:spcAft>
                  <a:buClr>
                    <a:srgbClr val="1E40AF"/>
                  </a:buClr>
                  <a:buFont typeface="Arial"/>
                  <a:buChar char="•"/>
                </a:pPr>
                <a:r>
                  <a:rPr sz="2000">
                    <a:solidFill>
                      <a:srgbClr val="1E293B"/>
                    </a:solidFill>
                    <a:latin typeface="Calibri"/>
                  </a:rPr>
                  <a:t>Xác định </a:t>
                </a:r>
                <a:r>
                  <a:rPr lang="vi-VN"/>
                  <a:t>(\overrightarrow{AB},\overrightarrow{CD})</a:t>
                </a:r>
                <a:r>
                  <a:rPr sz="2000">
                    <a:solidFill>
                      <a:srgbClr val="1E293B"/>
                    </a:solidFill>
                    <a:latin typeface="Calibri"/>
                  </a:rPr>
                  <a:t>: lấy </a:t>
                </a:r>
                <a:r>
                  <a:rPr lang="vi-VN"/>
                  <a:t>E</a:t>
                </a:r>
                <a:r>
                  <a:rPr sz="2000">
                    <a:solidFill>
                      <a:srgbClr val="1E293B"/>
                    </a:solidFill>
                    <a:latin typeface="Calibri"/>
                  </a:rPr>
                  <a:t> sao cho </a:t>
                </a:r>
                <a:r>
                  <a:rPr lang="vi-VN"/>
                  <a:t>\overrightarrow{AE}=\overrightarrow{CD}</a:t>
                </a:r>
                <a:r>
                  <a:rPr sz="2000">
                    <a:solidFill>
                      <a:srgbClr val="1E293B"/>
                    </a:solidFill>
                    <a:latin typeface="Calibri"/>
                  </a:rPr>
                  <a:t>, khi đó </a:t>
                </a:r>
                <a:r>
                  <a:rPr lang="vi-VN"/>
                  <a:t>(\overrightarrow{AB},\overrightarrow{CD})=\widehat{BAE}</a:t>
                </a:r>
                <a:r>
                  <a:rPr sz="2000">
                    <a:solidFill>
                      <a:srgbClr val="1E293B"/>
                    </a:solidFill>
                    <a:latin typeface="Calibri"/>
                  </a:rPr>
                  <a:t> (H.2.23).</a:t>
                </a:r>
              </a:p>
              <a:p>
                <a:pPr algn="l" marL="365760" indent="-365760">
                  <a:spcAft>
                    <a:spcPts val="800"/>
                  </a:spcAft>
                  <a:buClr>
                    <a:srgbClr val="1E40AF"/>
                  </a:buClr>
                  <a:buFont typeface="Arial"/>
                  <a:buChar char="•"/>
                </a:pPr>
                <a:r>
                  <a:rPr sz="2000">
                    <a:solidFill>
                      <a:srgbClr val="1E293B"/>
                    </a:solidFill>
                    <a:latin typeface="Calibri"/>
                  </a:rPr>
                  <a:t>Quy ước góc giữa một vectơ bất kì và </a:t>
                </a:r>
                <a:r>
                  <a:rPr lang="vi-VN"/>
                  <a:t>\vec{0}</a:t>
                </a:r>
                <a:r>
                  <a:rPr sz="2000">
                    <a:solidFill>
                      <a:srgbClr val="1E293B"/>
                    </a:solidFill>
                    <a:latin typeface="Calibri"/>
                  </a:rPr>
                  <a:t> có thể nhận một giá trị tuỳ ý từ </a:t>
                </a:r>
                <a:r>
                  <a:rPr lang="vi-VN"/>
                  <a:t>0^\circ</a:t>
                </a:r>
                <a:r>
                  <a:rPr sz="2000">
                    <a:solidFill>
                      <a:srgbClr val="1E293B"/>
                    </a:solidFill>
                    <a:latin typeface="Calibri"/>
                  </a:rPr>
                  <a:t> đến </a:t>
                </a:r>
                <a:r>
                  <a:rPr lang="vi-VN"/>
                  <a:t>180^\circ</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4937760"/>
                <a:ext cx="4754880" cy="822960"/>
              </a:xfrm>
              <a:prstGeom prst="rect">
                <a:avLst/>
              </a:prstGeom>
              <a:noFill/>
            </p:spPr>
            <p:txBody>
              <a:bodyPr wrap="square" anchor="t" lIns="45720" rIns="45720">
                <a:spAutoFit/>
              </a:bodyPr>
              <a:lstStyle/>
              <a:p>
                <a:pPr algn="l">
                  <a:spcAft>
                    <a:spcPts val="800"/>
                  </a:spcAft>
                </a:pPr>
                <a:r>
                  <a:rPr sz="2000">
                    <a:solidFill>
                      <a:srgbClr val="1E293B"/>
                    </a:solidFill>
                    <a:latin typeface="Calibri"/>
                  </a:rPr>
                  <a:t>❓ Góc giữa hai vectơ cùng hướng (khác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Ngược hướng?</a:t>
                </a:r>
              </a:p>
            </p:txBody>
          </p:sp>
        </mc:Choice>
        <mc:Fallback>
          <p:sp>
            <p:nvSpPr>
              <p:cNvPr id="10" name="TextBox 9"/>
              <p:cNvSpPr txBox="1"/>
              <p:nvPr/>
            </p:nvSpPr>
            <p:spPr>
              <a:xfrm>
                <a:off x="548640" y="4937760"/>
                <a:ext cx="4754880" cy="822960"/>
              </a:xfrm>
              <a:prstGeom prst="rect">
                <a:avLst/>
              </a:prstGeom>
              <a:noFill/>
            </p:spPr>
            <p:txBody>
              <a:bodyPr wrap="square" anchor="t" lIns="45720" rIns="45720">
                <a:spAutoFit/>
              </a:bodyPr>
              <a:lstStyle/>
              <a:p>
                <a:pPr algn="l">
                  <a:spcAft>
                    <a:spcPts val="800"/>
                  </a:spcAft>
                </a:pPr>
                <a:r>
                  <a:rPr sz="2000">
                    <a:solidFill>
                      <a:srgbClr val="1E293B"/>
                    </a:solidFill>
                    <a:latin typeface="Calibri"/>
                  </a:rPr>
                  <a:t>❓ Góc giữa hai vectơ cùng hướng (khác </a:t>
                </a:r>
                <a:r>
                  <a:rPr lang="vi-VN"/>
                  <a:t>\vec{0}</a:t>
                </a:r>
                <a:r>
                  <a:rPr sz="2000">
                    <a:solidFill>
                      <a:srgbClr val="1E293B"/>
                    </a:solidFill>
                    <a:latin typeface="Calibri"/>
                  </a:rPr>
                  <a:t>)? Ngược hướng?</a:t>
                </a:r>
              </a:p>
            </p:txBody>
          </p:sp>
        </mc:Fallback>
      </mc:AlternateContent>
      <p:sp>
        <p:nvSpPr>
          <p:cNvPr id="11" name="s3_nen"/>
          <p:cNvSpPr/>
          <p:nvPr/>
        </p:nvSpPr>
        <p:spPr>
          <a:xfrm>
            <a:off x="5394960" y="4937760"/>
            <a:ext cx="301752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5559552" y="4974336"/>
                <a:ext cx="268833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12" name="TextBox 11"/>
              <p:cNvSpPr txBox="1"/>
              <p:nvPr/>
            </p:nvSpPr>
            <p:spPr>
              <a:xfrm>
                <a:off x="5559552" y="4974336"/>
                <a:ext cx="268833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0^\circ</a:t>
                </a:r>
                <a:r>
                  <a:rPr sz="2200">
                    <a:solidFill>
                      <a:srgbClr val="1E293B"/>
                    </a:solidFill>
                    <a:latin typeface="Calibri"/>
                  </a:rPr>
                  <a:t>; </a:t>
                </a:r>
                <a:r>
                  <a:rPr lang="vi-VN"/>
                  <a:t>180^\circ</a:t>
                </a:r>
                <a:r>
                  <a:rPr sz="2200">
                    <a:solidFill>
                      <a:srgbClr val="1E293B"/>
                    </a:solidFill>
                    <a:latin typeface="Calibri"/>
                  </a:rPr>
                  <a:t>.</a:t>
                </a:r>
              </a:p>
            </p:txBody>
          </p:sp>
        </mc:Fallback>
      </mc:AlternateContent>
      <p:pic>
        <p:nvPicPr>
          <p:cNvPr id="13" name="Picture 12" descr="h222.png"/>
          <p:cNvPicPr>
            <a:picLocks noChangeAspect="1"/>
          </p:cNvPicPr>
          <p:nvPr/>
        </p:nvPicPr>
        <p:blipFill>
          <a:blip r:embed="rId3"/>
          <a:stretch>
            <a:fillRect/>
          </a:stretch>
        </p:blipFill>
        <p:spPr>
          <a:xfrm>
            <a:off x="8613648" y="1371600"/>
            <a:ext cx="3072384" cy="2560320"/>
          </a:xfrm>
          <a:prstGeom prst="rect">
            <a:avLst/>
          </a:prstGeom>
        </p:spPr>
      </p:pic>
      <p:sp>
        <p:nvSpPr>
          <p:cNvPr id="14" name="TextBox 13"/>
          <p:cNvSpPr txBox="1"/>
          <p:nvPr/>
        </p:nvSpPr>
        <p:spPr>
          <a:xfrm>
            <a:off x="8595360" y="3950207"/>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2.22</a:t>
            </a:r>
          </a:p>
        </p:txBody>
      </p:sp>
      <p:pic>
        <p:nvPicPr>
          <p:cNvPr id="15" name="Picture 14" descr="h223.png"/>
          <p:cNvPicPr>
            <a:picLocks noChangeAspect="1"/>
          </p:cNvPicPr>
          <p:nvPr/>
        </p:nvPicPr>
        <p:blipFill>
          <a:blip r:embed="rId4"/>
          <a:stretch>
            <a:fillRect/>
          </a:stretch>
        </p:blipFill>
        <p:spPr>
          <a:xfrm>
            <a:off x="9252373" y="4206240"/>
            <a:ext cx="1794933" cy="182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VÍ DỤ 9 – LUYỆN TẬP 9 (SGK TR.56)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778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9.</a:t>
                </a:r>
                <a:r>
                  <a:rPr sz="2000">
                    <a:solidFill>
                      <a:srgbClr val="1E293B"/>
                    </a:solidFill>
                    <a:latin typeface="Calibri"/>
                  </a:rPr>
                  <a:t> Cho hình lập phương </a:t>
                </a:r>
                <a14:m>
                  <m:oMath xmlns:m="http://schemas.openxmlformats.org/officeDocument/2006/math">
                    <m:r>
                      <a:rPr lang="vi-VN" sz="2000" b="0">
                        <a:solidFill>
                          <a:srgbClr val="1E293B"/>
                        </a:solidFill>
                        <a:latin typeface="Cambria Math" panose="02040503050406030204" pitchFamily="18" charset="0"/>
                      </a:rPr>
                      <m:t>ABCD.</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(H.2.24). Tính góc giữa các cặp vectơ: a)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và </a:t>
                </a:r>
                <a14:m>
                  <m:oMath xmlns:m="http://schemas.openxmlformats.org/officeDocument/2006/math">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và </a:t>
                </a:r>
                <a14:m>
                  <m:oMath xmlns:m="http://schemas.openxmlformats.org/officeDocument/2006/math">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a:t>
                </a:r>
              </a:p>
            </p:txBody>
          </p:sp>
        </mc:Choice>
        <mc:Fallback>
          <p:sp>
            <p:nvSpPr>
              <p:cNvPr id="7" name="TextBox 6"/>
              <p:cNvSpPr txBox="1"/>
              <p:nvPr/>
            </p:nvSpPr>
            <p:spPr>
              <a:xfrm>
                <a:off x="548640" y="1371600"/>
                <a:ext cx="8778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9.</a:t>
                </a:r>
                <a:r>
                  <a:rPr sz="2000">
                    <a:solidFill>
                      <a:srgbClr val="1E293B"/>
                    </a:solidFill>
                    <a:latin typeface="Calibri"/>
                  </a:rPr>
                  <a:t> Cho hình lập phương </a:t>
                </a:r>
                <a:r>
                  <a:rPr lang="vi-VN"/>
                  <a:t>ABCD.A'B'C'D'</a:t>
                </a:r>
                <a:r>
                  <a:rPr sz="2000">
                    <a:solidFill>
                      <a:srgbClr val="1E293B"/>
                    </a:solidFill>
                    <a:latin typeface="Calibri"/>
                  </a:rPr>
                  <a:t> (H.2.24). Tính góc giữa các cặp vectơ: a) </a:t>
                </a:r>
                <a:r>
                  <a:rPr lang="vi-VN"/>
                  <a:t>\overrightarrow{AD}</a:t>
                </a:r>
                <a:r>
                  <a:rPr sz="2000">
                    <a:solidFill>
                      <a:srgbClr val="1E293B"/>
                    </a:solidFill>
                    <a:latin typeface="Calibri"/>
                  </a:rPr>
                  <a:t> và </a:t>
                </a:r>
                <a:r>
                  <a:rPr lang="vi-VN"/>
                  <a:t>\overrightarrow{B'C'}</a:t>
                </a:r>
                <a:r>
                  <a:rPr sz="2000">
                    <a:solidFill>
                      <a:srgbClr val="1E293B"/>
                    </a:solidFill>
                    <a:latin typeface="Calibri"/>
                  </a:rPr>
                  <a:t>; b) </a:t>
                </a:r>
                <a:r>
                  <a:rPr lang="vi-VN"/>
                  <a:t>\overrightarrow{AC}</a:t>
                </a:r>
                <a:r>
                  <a:rPr sz="2000">
                    <a:solidFill>
                      <a:srgbClr val="1E293B"/>
                    </a:solidFill>
                    <a:latin typeface="Calibri"/>
                  </a:rPr>
                  <a:t> và </a:t>
                </a:r>
                <a:r>
                  <a:rPr lang="vi-VN"/>
                  <a:t>\overrightarrow{A'D'}</a:t>
                </a:r>
                <a:r>
                  <a:rPr sz="2000">
                    <a:solidFill>
                      <a:srgbClr val="1E293B"/>
                    </a:solidFill>
                    <a:latin typeface="Calibri"/>
                  </a:rPr>
                  <a:t>.</a:t>
                </a:r>
              </a:p>
            </p:txBody>
          </p:sp>
        </mc:Fallback>
      </mc:AlternateContent>
      <p:sp>
        <p:nvSpPr>
          <p:cNvPr id="8" name="s1_nen"/>
          <p:cNvSpPr/>
          <p:nvPr/>
        </p:nvSpPr>
        <p:spPr>
          <a:xfrm>
            <a:off x="548640" y="2218944"/>
            <a:ext cx="8778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và </a:t>
                </a:r>
                <a14:m>
                  <m:oMath xmlns:m="http://schemas.openxmlformats.org/officeDocument/2006/math">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cùng hướng nên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AD</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9" name="TextBox 8"/>
              <p:cNvSpPr txBox="1"/>
              <p:nvPr/>
            </p:nvSpPr>
            <p:spPr>
              <a:xfrm>
                <a:off x="713232" y="2255520"/>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\overrightarrow{AD}</a:t>
                </a:r>
                <a:r>
                  <a:rPr sz="2000">
                    <a:solidFill>
                      <a:srgbClr val="1E293B"/>
                    </a:solidFill>
                    <a:latin typeface="Calibri"/>
                  </a:rPr>
                  <a:t> và </a:t>
                </a:r>
                <a:r>
                  <a:rPr lang="vi-VN"/>
                  <a:t>\overrightarrow{B'C'}</a:t>
                </a:r>
                <a:r>
                  <a:rPr sz="2000">
                    <a:solidFill>
                      <a:srgbClr val="1E293B"/>
                    </a:solidFill>
                    <a:latin typeface="Calibri"/>
                  </a:rPr>
                  <a:t> cùng hướng nên </a:t>
                </a:r>
                <a:r>
                  <a:rPr lang="vi-VN"/>
                  <a:t>(\overrightarrow{AD},\overrightarrow{B'C'})=0^\circ</a:t>
                </a:r>
                <a:r>
                  <a:rPr sz="2000">
                    <a:solidFill>
                      <a:srgbClr val="1E293B"/>
                    </a:solidFill>
                    <a:latin typeface="Calibri"/>
                  </a:rPr>
                  <a:t>.</a:t>
                </a:r>
              </a:p>
            </p:txBody>
          </p:sp>
        </mc:Fallback>
      </mc:AlternateContent>
      <p:sp>
        <p:nvSpPr>
          <p:cNvPr id="10" name="s2_nen"/>
          <p:cNvSpPr/>
          <p:nvPr/>
        </p:nvSpPr>
        <p:spPr>
          <a:xfrm>
            <a:off x="548640" y="2852927"/>
            <a:ext cx="8778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889503"/>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acc>
                      <m:accPr>
                        <m:chr m:val="⃗"/>
                      </m:accPr>
                      <m:e>
                        <m:r>
                          <a:rPr lang="vi-VN" sz="2000" b="0">
                            <a:solidFill>
                              <a:srgbClr val="1E293B"/>
                            </a:solidFill>
                            <a:latin typeface="Cambria Math" panose="02040503050406030204" pitchFamily="18" charset="0"/>
                          </a:rPr>
                          <m:t>AD</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nên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CAD</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45</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1" name="TextBox 10"/>
              <p:cNvSpPr txBox="1"/>
              <p:nvPr/>
            </p:nvSpPr>
            <p:spPr>
              <a:xfrm>
                <a:off x="713232" y="2889503"/>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\overrightarrow{AD}=\overrightarrow{A'D'}</a:t>
                </a:r>
                <a:r>
                  <a:rPr sz="2000">
                    <a:solidFill>
                      <a:srgbClr val="1E293B"/>
                    </a:solidFill>
                    <a:latin typeface="Calibri"/>
                  </a:rPr>
                  <a:t> nên </a:t>
                </a:r>
                <a:r>
                  <a:rPr lang="vi-VN"/>
                  <a:t>(\overrightarrow{AC},\overrightarrow{A'D'})=(\overrightarrow{AC},\overrightarrow{AD})=\widehat{CAD}=45^\circ</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3486911"/>
                <a:ext cx="8778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9.</a:t>
                </a:r>
                <a:r>
                  <a:rPr sz="2000">
                    <a:solidFill>
                      <a:srgbClr val="1E293B"/>
                    </a:solidFill>
                    <a:latin typeface="Calibri"/>
                  </a:rPr>
                  <a:t> Cho hình lăng trụ tam giác đều </a:t>
                </a:r>
                <a14:m>
                  <m:oMath xmlns:m="http://schemas.openxmlformats.org/officeDocument/2006/math">
                    <m:r>
                      <a:rPr lang="vi-VN" sz="2000" b="0">
                        <a:solidFill>
                          <a:srgbClr val="1E293B"/>
                        </a:solidFill>
                        <a:latin typeface="Cambria Math" panose="02040503050406030204" pitchFamily="18" charset="0"/>
                      </a:rPr>
                      <m:t>ABC.</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(H.2.25). Tính các góc </a:t>
                </a:r>
                <a14:m>
                  <m:oMath xmlns:m="http://schemas.openxmlformats.org/officeDocument/2006/math">
                    <m:d>
                      <m:dPr>
                        <m:sepChr m:val=","/>
                      </m:dPr>
                      <m:e>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e>
                      <m:e>
                        <m:acc>
                          <m:accPr>
                            <m:chr m:val="⃗"/>
                          </m:accPr>
                          <m:e>
                            <m:r>
                              <a:rPr lang="vi-VN" sz="2000" b="0">
                                <a:solidFill>
                                  <a:srgbClr val="1E293B"/>
                                </a:solidFill>
                                <a:latin typeface="Cambria Math" panose="02040503050406030204" pitchFamily="18" charset="0"/>
                              </a:rPr>
                              <m:t>BC</m:t>
                            </m:r>
                          </m:e>
                        </m:acc>
                      </m:e>
                    </m:d>
                  </m:oMath>
                </a14:m>
                <a:r>
                  <a:rPr sz="2000">
                    <a:solidFill>
                      <a:srgbClr val="1E293B"/>
                    </a:solidFill>
                    <a:latin typeface="Calibri"/>
                  </a:rPr>
                  <a:t> và </a:t>
                </a:r>
                <a14:m>
                  <m:oMath xmlns:m="http://schemas.openxmlformats.org/officeDocument/2006/math">
                    <m:d>
                      <m:dPr>
                        <m:sepChr m:val=","/>
                      </m:dPr>
                      <m:e>
                        <m:acc>
                          <m:accPr>
                            <m:chr m:val="⃗"/>
                          </m:accPr>
                          <m:e>
                            <m:r>
                              <a:rPr lang="vi-VN" sz="2000" b="0">
                                <a:solidFill>
                                  <a:srgbClr val="1E293B"/>
                                </a:solidFill>
                                <a:latin typeface="Cambria Math" panose="02040503050406030204" pitchFamily="18" charset="0"/>
                              </a:rPr>
                              <m:t>AB</m:t>
                            </m:r>
                          </m:e>
                        </m:acc>
                      </m:e>
                      <m:e>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e>
                    </m:d>
                  </m:oMath>
                </a14:m>
                <a:r>
                  <a:rPr sz="2000">
                    <a:solidFill>
                      <a:srgbClr val="1E293B"/>
                    </a:solidFill>
                    <a:latin typeface="Calibri"/>
                  </a:rPr>
                  <a:t>.</a:t>
                </a:r>
              </a:p>
            </p:txBody>
          </p:sp>
        </mc:Choice>
        <mc:Fallback>
          <p:sp>
            <p:nvSpPr>
              <p:cNvPr id="12" name="TextBox 11"/>
              <p:cNvSpPr txBox="1"/>
              <p:nvPr/>
            </p:nvSpPr>
            <p:spPr>
              <a:xfrm>
                <a:off x="548640" y="3486911"/>
                <a:ext cx="8778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9.</a:t>
                </a:r>
                <a:r>
                  <a:rPr sz="2000">
                    <a:solidFill>
                      <a:srgbClr val="1E293B"/>
                    </a:solidFill>
                    <a:latin typeface="Calibri"/>
                  </a:rPr>
                  <a:t> Cho hình lăng trụ tam giác đều </a:t>
                </a:r>
                <a:r>
                  <a:rPr lang="vi-VN"/>
                  <a:t>ABC.A'B'C'</a:t>
                </a:r>
                <a:r>
                  <a:rPr sz="2000">
                    <a:solidFill>
                      <a:srgbClr val="1E293B"/>
                    </a:solidFill>
                    <a:latin typeface="Calibri"/>
                  </a:rPr>
                  <a:t> (H.2.25). Tính các góc </a:t>
                </a:r>
                <a:r>
                  <a:rPr lang="vi-VN"/>
                  <a:t>(\overrightarrow{AA'},\overrightarrow{BC})</a:t>
                </a:r>
                <a:r>
                  <a:rPr sz="2000">
                    <a:solidFill>
                      <a:srgbClr val="1E293B"/>
                    </a:solidFill>
                    <a:latin typeface="Calibri"/>
                  </a:rPr>
                  <a:t> và </a:t>
                </a:r>
                <a:r>
                  <a:rPr lang="vi-VN"/>
                  <a:t>(\overrightarrow{AB},\overrightarrow{A'C'})</a:t>
                </a:r>
                <a:r>
                  <a:rPr sz="2000">
                    <a:solidFill>
                      <a:srgbClr val="1E293B"/>
                    </a:solidFill>
                    <a:latin typeface="Calibri"/>
                  </a:rPr>
                  <a:t>.</a:t>
                </a:r>
              </a:p>
            </p:txBody>
          </p:sp>
        </mc:Fallback>
      </mc:AlternateContent>
      <p:sp>
        <p:nvSpPr>
          <p:cNvPr id="13" name="s4_nen"/>
          <p:cNvSpPr/>
          <p:nvPr/>
        </p:nvSpPr>
        <p:spPr>
          <a:xfrm>
            <a:off x="548640" y="4334255"/>
            <a:ext cx="8778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4370831"/>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90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4" name="TextBox 13"/>
              <p:cNvSpPr txBox="1"/>
              <p:nvPr/>
            </p:nvSpPr>
            <p:spPr>
              <a:xfrm>
                <a:off x="713232" y="4370831"/>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(\overrightarrow{AA'},\overrightarrow{BC})=(\overrightarrow{BB'},\overrightarrow{BC})=\widehat{CBB'}=90^\circ</a:t>
                </a:r>
                <a:r>
                  <a:rPr sz="2000">
                    <a:solidFill>
                      <a:srgbClr val="1E293B"/>
                    </a:solidFill>
                    <a:latin typeface="Calibri"/>
                  </a:rPr>
                  <a:t>;</a:t>
                </a:r>
              </a:p>
            </p:txBody>
          </p:sp>
        </mc:Fallback>
      </mc:AlternateContent>
      <p:sp>
        <p:nvSpPr>
          <p:cNvPr id="15" name="s5_nen"/>
          <p:cNvSpPr/>
          <p:nvPr/>
        </p:nvSpPr>
        <p:spPr>
          <a:xfrm>
            <a:off x="548640" y="4968239"/>
            <a:ext cx="8778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s5_chu"/>
              <p:cNvSpPr txBox="1"/>
              <p:nvPr/>
            </p:nvSpPr>
            <p:spPr>
              <a:xfrm>
                <a:off x="713232" y="5004815"/>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BAC</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60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6" name="TextBox 15"/>
              <p:cNvSpPr txBox="1"/>
              <p:nvPr/>
            </p:nvSpPr>
            <p:spPr>
              <a:xfrm>
                <a:off x="713232" y="5004815"/>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(\overrightarrow{AB},\overrightarrow{A'C'})=(\overrightarrow{AB},\overrightarrow{AC})=\widehat{BAC}=60^\circ</a:t>
                </a:r>
                <a:r>
                  <a:rPr sz="2000">
                    <a:solidFill>
                      <a:srgbClr val="1E293B"/>
                    </a:solidFill>
                    <a:latin typeface="Calibri"/>
                  </a:rPr>
                  <a:t>.</a:t>
                </a:r>
              </a:p>
            </p:txBody>
          </p:sp>
        </mc:Fallback>
      </mc:AlternateContent>
      <p:pic>
        <p:nvPicPr>
          <p:cNvPr id="17" name="Picture 16" descr="h224.png"/>
          <p:cNvPicPr>
            <a:picLocks noChangeAspect="1"/>
          </p:cNvPicPr>
          <p:nvPr/>
        </p:nvPicPr>
        <p:blipFill>
          <a:blip r:embed="rId3"/>
          <a:stretch>
            <a:fillRect/>
          </a:stretch>
        </p:blipFill>
        <p:spPr>
          <a:xfrm>
            <a:off x="9509760" y="1543463"/>
            <a:ext cx="2194560" cy="1850833"/>
          </a:xfrm>
          <a:prstGeom prst="rect">
            <a:avLst/>
          </a:prstGeom>
        </p:spPr>
      </p:pic>
      <p:sp>
        <p:nvSpPr>
          <p:cNvPr id="18" name="TextBox 17"/>
          <p:cNvSpPr txBox="1"/>
          <p:nvPr/>
        </p:nvSpPr>
        <p:spPr>
          <a:xfrm>
            <a:off x="9509760" y="3584448"/>
            <a:ext cx="21945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2.24</a:t>
            </a:r>
          </a:p>
        </p:txBody>
      </p:sp>
      <p:pic>
        <p:nvPicPr>
          <p:cNvPr id="19" name="Picture 18" descr="h225.png"/>
          <p:cNvPicPr>
            <a:picLocks noChangeAspect="1"/>
          </p:cNvPicPr>
          <p:nvPr/>
        </p:nvPicPr>
        <p:blipFill>
          <a:blip r:embed="rId4"/>
          <a:stretch>
            <a:fillRect/>
          </a:stretch>
        </p:blipFill>
        <p:spPr>
          <a:xfrm>
            <a:off x="9622646" y="3931920"/>
            <a:ext cx="1968787" cy="2011680"/>
          </a:xfrm>
          <a:prstGeom prst="rect">
            <a:avLst/>
          </a:prstGeom>
        </p:spPr>
      </p:pic>
      <p:sp>
        <p:nvSpPr>
          <p:cNvPr id="20" name="TextBox 19"/>
          <p:cNvSpPr txBox="1"/>
          <p:nvPr/>
        </p:nvSpPr>
        <p:spPr>
          <a:xfrm>
            <a:off x="9509760" y="5961888"/>
            <a:ext cx="21945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 3D</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GEOGEBRA 3D – GÓC GIỮA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54</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(đỏ) và </a:t>
                </a:r>
                <a14:m>
                  <m:oMath xmlns:m="http://schemas.openxmlformats.org/officeDocument/2006/math">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(xanh) nằm ở hai nơi khác nhau trong không gian.</a:t>
                </a:r>
              </a:p>
              <a:p>
                <a:pPr algn="l" marL="365760" indent="-365760">
                  <a:spcAft>
                    <a:spcPts val="800"/>
                  </a:spcAft>
                  <a:buClr>
                    <a:srgbClr val="1E40AF"/>
                  </a:buClr>
                  <a:buFont typeface="Arial"/>
                  <a:buChar char="•"/>
                </a:pPr>
                <a:r>
                  <a:rPr sz="2200">
                    <a:solidFill>
                      <a:srgbClr val="1E293B"/>
                    </a:solidFill>
                    <a:latin typeface="Calibri"/>
                  </a:rPr>
                  <a:t>Từ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vẽ </a:t>
                </a:r>
                <a14:m>
                  <m:oMath xmlns:m="http://schemas.openxmlformats.org/officeDocument/2006/math">
                    <m:acc>
                      <m:accPr>
                        <m:chr m:val="⃗"/>
                      </m:accPr>
                      <m:e>
                        <m:r>
                          <a:rPr lang="vi-VN" sz="2200" b="0">
                            <a:solidFill>
                              <a:srgbClr val="1E293B"/>
                            </a:solidFill>
                            <a:latin typeface="Cambria Math" panose="02040503050406030204" pitchFamily="18" charset="0"/>
                          </a:rPr>
                          <m:t>OA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OB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(nét đứt): góc </a:t>
                </a:r>
                <a14:m>
                  <m:oMath xmlns:m="http://schemas.openxmlformats.org/officeDocument/2006/math">
                    <m:acc>
                      <m:accPr>
                        <m:chr m:val="̂"/>
                      </m:accPr>
                      <m:e>
                        <m:r>
                          <a:rPr lang="vi-VN" sz="2200" b="0">
                            <a:solidFill>
                              <a:srgbClr val="1E293B"/>
                            </a:solidFill>
                            <a:latin typeface="Cambria Math" panose="02040503050406030204" pitchFamily="18" charset="0"/>
                          </a:rPr>
                          <m:t>AOB</m:t>
                        </m:r>
                      </m:e>
                    </m:acc>
                  </m:oMath>
                </a14:m>
                <a:r>
                  <a:rPr sz="2200">
                    <a:solidFill>
                      <a:srgbClr val="1E293B"/>
                    </a:solidFill>
                    <a:latin typeface="Calibri"/>
                  </a:rPr>
                  <a:t> là </a:t>
                </a:r>
                <a14:m>
                  <m:oMath xmlns:m="http://schemas.openxmlformats.org/officeDocument/2006/math">
                    <m:d>
                      <m:dPr>
                        <m:sepChr m:val=","/>
                      </m:dPr>
                      <m:e>
                        <m:acc>
                          <m:accPr>
                            <m:chr m:val="⃗"/>
                          </m:accPr>
                          <m:e>
                            <m:r>
                              <a:rPr lang="vi-VN" sz="2200" b="0">
                                <a:solidFill>
                                  <a:srgbClr val="1E293B"/>
                                </a:solidFill>
                                <a:latin typeface="Cambria Math" panose="02040503050406030204" pitchFamily="18" charset="0"/>
                              </a:rPr>
                              <m:t>a</m:t>
                            </m:r>
                          </m:e>
                        </m:acc>
                      </m:e>
                      <m:e>
                        <m:acc>
                          <m:accPr>
                            <m:chr m:val="⃗"/>
                          </m:accPr>
                          <m:e>
                            <m:r>
                              <a:rPr lang="vi-VN" sz="2200" b="0">
                                <a:solidFill>
                                  <a:srgbClr val="1E293B"/>
                                </a:solidFill>
                                <a:latin typeface="Cambria Math" panose="02040503050406030204" pitchFamily="18" charset="0"/>
                              </a:rPr>
                              <m:t>b</m:t>
                            </m:r>
                          </m:e>
                        </m:acc>
                      </m:e>
                    </m:d>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Kéo các đầu mút của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góc chạy từ </a:t>
                </a:r>
                <a14:m>
                  <m:oMath xmlns:m="http://schemas.openxmlformats.org/officeDocument/2006/math">
                    <m:sSup>
                      <m:e>
                        <m:r>
                          <a:rPr lang="vi-VN" sz="2200" b="0">
                            <a:solidFill>
                              <a:srgbClr val="1E293B"/>
                            </a:solidFill>
                            <a:latin typeface="Cambria Math" panose="02040503050406030204" pitchFamily="18" charset="0"/>
                          </a:rPr>
                          <m:t>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đến </a:t>
                </a:r>
                <a14:m>
                  <m:oMath xmlns:m="http://schemas.openxmlformats.org/officeDocument/2006/math">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Thử làm cho hai vectơ cùng hướng, ngược hướng, vuông góc.</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\vec{a}</a:t>
                </a:r>
                <a:r>
                  <a:rPr sz="2200">
                    <a:solidFill>
                      <a:srgbClr val="1E293B"/>
                    </a:solidFill>
                    <a:latin typeface="Calibri"/>
                  </a:rPr>
                  <a:t> (đỏ) và </a:t>
                </a:r>
                <a:r>
                  <a:rPr lang="vi-VN"/>
                  <a:t>\vec{b}</a:t>
                </a:r>
                <a:r>
                  <a:rPr sz="2200">
                    <a:solidFill>
                      <a:srgbClr val="1E293B"/>
                    </a:solidFill>
                    <a:latin typeface="Calibri"/>
                  </a:rPr>
                  <a:t> (xanh) nằm ở hai nơi khác nhau trong không gian.</a:t>
                </a:r>
              </a:p>
              <a:p>
                <a:pPr algn="l" marL="365760" indent="-365760">
                  <a:spcAft>
                    <a:spcPts val="800"/>
                  </a:spcAft>
                  <a:buClr>
                    <a:srgbClr val="1E40AF"/>
                  </a:buClr>
                  <a:buFont typeface="Arial"/>
                  <a:buChar char="•"/>
                </a:pPr>
                <a:r>
                  <a:rPr sz="2200">
                    <a:solidFill>
                      <a:srgbClr val="1E293B"/>
                    </a:solidFill>
                    <a:latin typeface="Calibri"/>
                  </a:rPr>
                  <a:t>Từ </a:t>
                </a:r>
                <a:r>
                  <a:rPr lang="vi-VN"/>
                  <a:t>O</a:t>
                </a:r>
                <a:r>
                  <a:rPr sz="2200">
                    <a:solidFill>
                      <a:srgbClr val="1E293B"/>
                    </a:solidFill>
                    <a:latin typeface="Calibri"/>
                  </a:rPr>
                  <a:t> vẽ </a:t>
                </a:r>
                <a:r>
                  <a:rPr lang="vi-VN"/>
                  <a:t>\overrightarrow{OA}=\vec{a}</a:t>
                </a:r>
                <a:r>
                  <a:rPr sz="2200">
                    <a:solidFill>
                      <a:srgbClr val="1E293B"/>
                    </a:solidFill>
                    <a:latin typeface="Calibri"/>
                  </a:rPr>
                  <a:t>, </a:t>
                </a:r>
                <a:r>
                  <a:rPr lang="vi-VN"/>
                  <a:t>\overrightarrow{OB}=\vec{b}</a:t>
                </a:r>
                <a:r>
                  <a:rPr sz="2200">
                    <a:solidFill>
                      <a:srgbClr val="1E293B"/>
                    </a:solidFill>
                    <a:latin typeface="Calibri"/>
                  </a:rPr>
                  <a:t> (nét đứt): góc </a:t>
                </a:r>
                <a:r>
                  <a:rPr lang="vi-VN"/>
                  <a:t>\widehat{AOB}</a:t>
                </a:r>
                <a:r>
                  <a:rPr sz="2200">
                    <a:solidFill>
                      <a:srgbClr val="1E293B"/>
                    </a:solidFill>
                    <a:latin typeface="Calibri"/>
                  </a:rPr>
                  <a:t> là </a:t>
                </a:r>
                <a:r>
                  <a:rPr lang="vi-VN"/>
                  <a:t>(\vec{a},\vec{b})</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Kéo các đầu mút của </a:t>
                </a:r>
                <a:r>
                  <a:rPr lang="vi-VN"/>
                  <a:t>\vec{a},\ \vec{b}</a:t>
                </a:r>
                <a:r>
                  <a:rPr sz="2200">
                    <a:solidFill>
                      <a:srgbClr val="1E293B"/>
                    </a:solidFill>
                    <a:latin typeface="Calibri"/>
                  </a:rPr>
                  <a:t>: góc chạy từ </a:t>
                </a:r>
                <a:r>
                  <a:rPr lang="vi-VN"/>
                  <a:t>0^\circ</a:t>
                </a:r>
                <a:r>
                  <a:rPr sz="2200">
                    <a:solidFill>
                      <a:srgbClr val="1E293B"/>
                    </a:solidFill>
                    <a:latin typeface="Calibri"/>
                  </a:rPr>
                  <a:t> đến </a:t>
                </a:r>
                <a:r>
                  <a:rPr lang="vi-VN"/>
                  <a:t>180^\circ</a:t>
                </a:r>
                <a:r>
                  <a:rPr sz="2200">
                    <a:solidFill>
                      <a:srgbClr val="1E293B"/>
                    </a:solidFill>
                    <a:latin typeface="Calibri"/>
                  </a:rPr>
                  <a:t>. Thử làm cho hai vectơ cùng hướng, ngược hướng, vuông góc.</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 3D</a:t>
            </a:r>
          </a:p>
        </p:txBody>
      </p:sp>
      <p:pic>
        <p:nvPicPr>
          <p:cNvPr id="9" name="Picture 8" descr="qr_ggb_5.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để xoay hình, chụm/cuộn để phóng to.</a:t>
            </a:r>
          </a:p>
        </p:txBody>
      </p:sp>
      <p:pic>
        <p:nvPicPr>
          <p:cNvPr id="11" name="Picture 10" descr="h221.png"/>
          <p:cNvPicPr>
            <a:picLocks noChangeAspect="1"/>
          </p:cNvPicPr>
          <p:nvPr/>
        </p:nvPicPr>
        <p:blipFill>
          <a:blip r:embed="rId5"/>
          <a:stretch>
            <a:fillRect/>
          </a:stretch>
        </p:blipFill>
        <p:spPr>
          <a:xfrm>
            <a:off x="6858000" y="1665663"/>
            <a:ext cx="4846320" cy="4075314"/>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HỘP QUÀ BÍ MẬT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55</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Cho hình lập phương </a:t>
                </a:r>
                <a14:m>
                  <m:oMath xmlns:m="http://schemas.openxmlformats.org/officeDocument/2006/math">
                    <m:r>
                      <a:rPr lang="vi-VN" sz="2400" b="0">
                        <a:solidFill>
                          <a:srgbClr val="1E293B"/>
                        </a:solidFill>
                        <a:latin typeface="Cambria Math" panose="02040503050406030204" pitchFamily="18" charset="0"/>
                      </a:rPr>
                      <m:t>ABCD.</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Chọn một hộp quà!</a:t>
                </a:r>
              </a:p>
            </p:txBody>
          </p:sp>
        </mc:Choice>
        <mc:Fallback>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Cho hình lập phương </a:t>
                </a:r>
                <a:r>
                  <a:rPr lang="vi-VN"/>
                  <a:t>ABCD.A'B'C'D'</a:t>
                </a:r>
                <a:r>
                  <a:rPr sz="2400">
                    <a:solidFill>
                      <a:srgbClr val="1E293B"/>
                    </a:solidFill>
                    <a:latin typeface="Calibri"/>
                  </a:rPr>
                  <a:t>. Chọn một hộp quà!</a:t>
                </a:r>
              </a:p>
            </p:txBody>
          </p:sp>
        </mc:Fallback>
      </mc:AlternateContent>
      <p:sp>
        <p:nvSpPr>
          <p:cNvPr id="8" name="Rounded Rectangle 7">
            <a:hlinkClick action="ppaction://hlinksldjump" r:id="rId3"/>
          </p:cNvPr>
          <p:cNvSpPr/>
          <p:nvPr/>
        </p:nvSpPr>
        <p:spPr>
          <a:xfrm>
            <a:off x="914400" y="2651760"/>
            <a:ext cx="2194560" cy="21945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1</a:t>
            </a:r>
          </a:p>
        </p:txBody>
      </p:sp>
      <p:sp>
        <p:nvSpPr>
          <p:cNvPr id="9" name="Rounded Rectangle 8">
            <a:hlinkClick action="ppaction://hlinksldjump" r:id="rId4"/>
          </p:cNvPr>
          <p:cNvSpPr/>
          <p:nvPr/>
        </p:nvSpPr>
        <p:spPr>
          <a:xfrm>
            <a:off x="3657600" y="2651760"/>
            <a:ext cx="2194560" cy="219456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2</a:t>
            </a:r>
          </a:p>
        </p:txBody>
      </p:sp>
      <p:sp>
        <p:nvSpPr>
          <p:cNvPr id="10" name="Rounded Rectangle 9">
            <a:hlinkClick action="ppaction://hlinksldjump" r:id="rId5"/>
          </p:cNvPr>
          <p:cNvSpPr/>
          <p:nvPr/>
        </p:nvSpPr>
        <p:spPr>
          <a:xfrm>
            <a:off x="6400800" y="2651760"/>
            <a:ext cx="2194560" cy="21945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3</a:t>
            </a:r>
          </a:p>
        </p:txBody>
      </p:sp>
      <p:sp>
        <p:nvSpPr>
          <p:cNvPr id="11" name="Rounded Rectangle 10">
            <a:hlinkClick action="ppaction://hlinksldjump" r:id="rId6"/>
          </p:cNvPr>
          <p:cNvSpPr/>
          <p:nvPr/>
        </p:nvSpPr>
        <p:spPr>
          <a:xfrm>
            <a:off x="9144000" y="2651760"/>
            <a:ext cx="2194560" cy="219456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4</a:t>
            </a:r>
          </a:p>
        </p:txBody>
      </p:sp>
      <p:sp>
        <p:nvSpPr>
          <p:cNvPr id="12" name="TextBox 11"/>
          <p:cNvSpPr txBox="1"/>
          <p:nvPr/>
        </p:nvSpPr>
        <p:spPr>
          <a:xfrm>
            <a:off x="548640" y="5212080"/>
            <a:ext cx="11064240" cy="548640"/>
          </a:xfrm>
          <a:prstGeom prst="rect">
            <a:avLst/>
          </a:prstGeom>
          <a:noFill/>
        </p:spPr>
        <p:txBody>
          <a:bodyPr wrap="square" anchor="t" lIns="45720" rIns="45720">
            <a:spAutoFit/>
          </a:bodyPr>
          <a:lstStyle/>
          <a:p>
            <a:pPr algn="ctr">
              <a:spcAft>
                <a:spcPts val="800"/>
              </a:spcAft>
            </a:pPr>
            <a:r>
              <a:rPr sz="2000">
                <a:solidFill>
                  <a:srgbClr val="64748B"/>
                </a:solidFill>
                <a:latin typeface="Calibri"/>
              </a:rPr>
              <a:t>Đội nào trả lời đúng nhận phần quà trong hộp.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56</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1828800"/>
              </a:xfrm>
              <a:prstGeom prst="rect">
                <a:avLst/>
              </a:prstGeom>
              <a:noFill/>
            </p:spPr>
            <p:txBody>
              <a:bodyPr wrap="square" anchor="t" lIns="45720" rIns="45720">
                <a:spAutoFit/>
              </a:bodyPr>
              <a:lstStyle/>
              <a:p>
                <a:pPr algn="l">
                  <a:spcAft>
                    <a:spcPts val="800"/>
                  </a:spcAft>
                </a:pPr>
                <a:r>
                  <a:rPr sz="2800">
                    <a:solidFill>
                      <a:srgbClr val="1E293B"/>
                    </a:solidFill>
                    <a:latin typeface="Calibri"/>
                  </a:rPr>
                  <a:t>Cho hình lập phương </a:t>
                </a:r>
                <a14:m>
                  <m:oMath xmlns:m="http://schemas.openxmlformats.org/officeDocument/2006/math">
                    <m:r>
                      <a:rPr lang="vi-VN" sz="2800" b="0">
                        <a:solidFill>
                          <a:srgbClr val="1E293B"/>
                        </a:solidFill>
                        <a:latin typeface="Cambria Math" panose="02040503050406030204" pitchFamily="18" charset="0"/>
                      </a:rPr>
                      <m:t>ABCD.</m:t>
                    </m:r>
                    <m:sSup>
                      <m:e>
                        <m:r>
                          <a:rPr lang="vi-VN" sz="2800" b="0">
                            <a:solidFill>
                              <a:srgbClr val="1E293B"/>
                            </a:solidFill>
                            <a:latin typeface="Cambria Math" panose="02040503050406030204" pitchFamily="18" charset="0"/>
                          </a:rPr>
                          <m:t>A</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B</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C</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D</m:t>
                        </m:r>
                      </m:e>
                      <m:sup>
                        <m:r>
                          <a:rPr lang="vi-VN" sz="2800" b="0">
                            <a:solidFill>
                              <a:srgbClr val="1E293B"/>
                            </a:solidFill>
                            <a:latin typeface="Cambria Math" panose="02040503050406030204" pitchFamily="18" charset="0"/>
                          </a:rPr>
                          <m:t>′</m:t>
                        </m:r>
                      </m:sup>
                    </m:sSup>
                  </m:oMath>
                </a14:m>
                <a:r>
                  <a:rPr sz="2800">
                    <a:solidFill>
                      <a:srgbClr val="1E293B"/>
                    </a:solidFill>
                    <a:latin typeface="Calibri"/>
                  </a:rPr>
                  <a:t>.</a:t>
                </a:r>
              </a:p>
              <a:p>
                <a:pPr algn="l">
                  <a:spcAft>
                    <a:spcPts val="800"/>
                  </a:spcAft>
                </a:pPr>
                <a:r>
                  <a:rPr sz="3000">
                    <a:solidFill>
                      <a:srgbClr val="1E293B"/>
                    </a:solidFill>
                    <a:latin typeface="Calibri"/>
                  </a:rPr>
                  <a:t>Tính </a:t>
                </a:r>
                <a14:m>
                  <m:oMath xmlns:m="http://schemas.openxmlformats.org/officeDocument/2006/math">
                    <m:d>
                      <m:dPr>
                        <m:sepChr m:val=","/>
                      </m:dPr>
                      <m:e>
                        <m:acc>
                          <m:accPr>
                            <m:chr m:val="⃗"/>
                          </m:accPr>
                          <m:e>
                            <m:r>
                              <a:rPr lang="vi-VN" sz="3000" b="0">
                                <a:solidFill>
                                  <a:srgbClr val="1E293B"/>
                                </a:solidFill>
                                <a:latin typeface="Cambria Math" panose="02040503050406030204" pitchFamily="18" charset="0"/>
                              </a:rPr>
                              <m:t>AB</m:t>
                            </m:r>
                          </m:e>
                        </m:acc>
                      </m:e>
                      <m:e>
                        <m:acc>
                          <m:accPr>
                            <m:chr m:val="⃗"/>
                          </m:accPr>
                          <m:e>
                            <m:sSup>
                              <m:e>
                                <m:r>
                                  <a:rPr lang="vi-VN" sz="3000" b="0">
                                    <a:solidFill>
                                      <a:srgbClr val="1E293B"/>
                                    </a:solidFill>
                                    <a:latin typeface="Cambria Math" panose="02040503050406030204" pitchFamily="18" charset="0"/>
                                  </a:rPr>
                                  <m:t>C</m:t>
                                </m:r>
                              </m:e>
                              <m:sup>
                                <m:r>
                                  <a:rPr lang="vi-VN" sz="3000" b="0">
                                    <a:solidFill>
                                      <a:srgbClr val="1E293B"/>
                                    </a:solidFill>
                                    <a:latin typeface="Cambria Math" panose="02040503050406030204" pitchFamily="18" charset="0"/>
                                  </a:rPr>
                                  <m:t>′</m:t>
                                </m:r>
                              </m:sup>
                            </m:sSup>
                            <m:sSup>
                              <m:e>
                                <m:r>
                                  <a:rPr lang="vi-VN" sz="3000" b="0">
                                    <a:solidFill>
                                      <a:srgbClr val="1E293B"/>
                                    </a:solidFill>
                                    <a:latin typeface="Cambria Math" panose="02040503050406030204" pitchFamily="18" charset="0"/>
                                  </a:rPr>
                                  <m:t>D</m:t>
                                </m:r>
                              </m:e>
                              <m:sup>
                                <m:r>
                                  <a:rPr lang="vi-VN" sz="3000" b="0">
                                    <a:solidFill>
                                      <a:srgbClr val="1E293B"/>
                                    </a:solidFill>
                                    <a:latin typeface="Cambria Math" panose="02040503050406030204" pitchFamily="18" charset="0"/>
                                  </a:rPr>
                                  <m:t>′</m:t>
                                </m:r>
                              </m:sup>
                            </m:sSup>
                          </m:e>
                        </m:acc>
                      </m:e>
                    </m:d>
                  </m:oMath>
                </a14:m>
                <a:r>
                  <a:rPr sz="3000">
                    <a:solidFill>
                      <a:srgbClr val="1E293B"/>
                    </a:solidFill>
                    <a:latin typeface="Calibri"/>
                  </a:rPr>
                  <a:t>.</a:t>
                </a:r>
              </a:p>
            </p:txBody>
          </p:sp>
        </mc:Choice>
        <mc:Fallback>
          <p:sp>
            <p:nvSpPr>
              <p:cNvPr id="7" name="TextBox 6"/>
              <p:cNvSpPr txBox="1"/>
              <p:nvPr/>
            </p:nvSpPr>
            <p:spPr>
              <a:xfrm>
                <a:off x="548640" y="1463040"/>
                <a:ext cx="7680960" cy="1828800"/>
              </a:xfrm>
              <a:prstGeom prst="rect">
                <a:avLst/>
              </a:prstGeom>
              <a:noFill/>
            </p:spPr>
            <p:txBody>
              <a:bodyPr wrap="square" anchor="t" lIns="45720" rIns="45720">
                <a:spAutoFit/>
              </a:bodyPr>
              <a:lstStyle/>
              <a:p>
                <a:pPr algn="l">
                  <a:spcAft>
                    <a:spcPts val="800"/>
                  </a:spcAft>
                </a:pPr>
                <a:r>
                  <a:rPr sz="2800">
                    <a:solidFill>
                      <a:srgbClr val="1E293B"/>
                    </a:solidFill>
                    <a:latin typeface="Calibri"/>
                  </a:rPr>
                  <a:t>Cho hình lập phương </a:t>
                </a:r>
                <a:r>
                  <a:rPr lang="vi-VN"/>
                  <a:t>ABCD.A'B'C'D'</a:t>
                </a:r>
                <a:r>
                  <a:rPr sz="2800">
                    <a:solidFill>
                      <a:srgbClr val="1E293B"/>
                    </a:solidFill>
                    <a:latin typeface="Calibri"/>
                  </a:rPr>
                  <a:t>.</a:t>
                </a:r>
              </a:p>
              <a:p>
                <a:pPr algn="l">
                  <a:spcAft>
                    <a:spcPts val="800"/>
                  </a:spcAft>
                </a:pPr>
                <a:r>
                  <a:rPr sz="3000">
                    <a:solidFill>
                      <a:srgbClr val="1E293B"/>
                    </a:solidFill>
                    <a:latin typeface="Calibri"/>
                  </a:rPr>
                  <a:t>Tính </a:t>
                </a:r>
                <a:r>
                  <a:rPr lang="vi-VN"/>
                  <a:t>(\overrightarrow{AB},\overrightarrow{C'D'})</a:t>
                </a:r>
                <a:r>
                  <a:rPr sz="3000">
                    <a:solidFill>
                      <a:srgbClr val="1E293B"/>
                    </a:solidFill>
                    <a:latin typeface="Calibri"/>
                  </a:rPr>
                  <a:t>.</a:t>
                </a:r>
              </a:p>
            </p:txBody>
          </p:sp>
        </mc:Fallback>
      </mc:AlternateContent>
      <p:sp>
        <p:nvSpPr>
          <p:cNvPr id="8" name="s1_nen"/>
          <p:cNvSpPr/>
          <p:nvPr/>
        </p:nvSpPr>
        <p:spPr>
          <a:xfrm>
            <a:off x="548640" y="34747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5112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180</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 </a:t>
                </a:r>
                <a14:m>
                  <m:oMath xmlns:m="http://schemas.openxmlformats.org/officeDocument/2006/math">
                    <m:acc>
                      <m:accPr>
                        <m:chr m:val="⃗"/>
                      </m:accPr>
                      <m:e>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CD</m:t>
                        </m:r>
                      </m:e>
                    </m:acc>
                  </m:oMath>
                </a14:m>
                <a:r>
                  <a:rPr sz="2400">
                    <a:solidFill>
                      <a:srgbClr val="1E293B"/>
                    </a:solidFill>
                    <a:latin typeface="Calibri"/>
                  </a:rPr>
                  <a:t> ngược hướng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a:t>
                </a:r>
              </a:p>
            </p:txBody>
          </p:sp>
        </mc:Choice>
        <mc:Fallback>
          <p:sp>
            <p:nvSpPr>
              <p:cNvPr id="9" name="TextBox 8"/>
              <p:cNvSpPr txBox="1"/>
              <p:nvPr/>
            </p:nvSpPr>
            <p:spPr>
              <a:xfrm>
                <a:off x="713232" y="35112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180^\circ</a:t>
                </a:r>
                <a:r>
                  <a:rPr sz="2400">
                    <a:solidFill>
                      <a:srgbClr val="1E293B"/>
                    </a:solidFill>
                    <a:latin typeface="Calibri"/>
                  </a:rPr>
                  <a:t> – </a:t>
                </a:r>
                <a:r>
                  <a:rPr lang="vi-VN"/>
                  <a:t>\overrightarrow{C'D'}=\overrightarrow{CD}</a:t>
                </a:r>
                <a:r>
                  <a:rPr sz="2400">
                    <a:solidFill>
                      <a:srgbClr val="1E293B"/>
                    </a:solidFill>
                    <a:latin typeface="Calibri"/>
                  </a:rPr>
                  <a:t> ngược hướng </a:t>
                </a:r>
                <a:r>
                  <a:rPr lang="vi-VN"/>
                  <a:t>\overrightarrow{AB}</a:t>
                </a:r>
                <a:r>
                  <a:rPr sz="2400">
                    <a:solidFill>
                      <a:srgbClr val="1E293B"/>
                    </a:solidFill>
                    <a:latin typeface="Calibri"/>
                  </a:rPr>
                  <a:t>.</a:t>
                </a:r>
              </a:p>
            </p:txBody>
          </p:sp>
        </mc:Fallback>
      </mc:AlternateContent>
      <p:sp>
        <p:nvSpPr>
          <p:cNvPr id="10" name="s2_nen"/>
          <p:cNvSpPr/>
          <p:nvPr/>
        </p:nvSpPr>
        <p:spPr>
          <a:xfrm>
            <a:off x="548640" y="4754880"/>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4791456"/>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Một tràng pháo tay</a:t>
            </a:r>
          </a:p>
        </p:txBody>
      </p:sp>
      <p:pic>
        <p:nvPicPr>
          <p:cNvPr id="12" name="Picture 11" descr="h26.png"/>
          <p:cNvPicPr>
            <a:picLocks noChangeAspect="1"/>
          </p:cNvPicPr>
          <p:nvPr/>
        </p:nvPicPr>
        <p:blipFill>
          <a:blip r:embed="rId3"/>
          <a:stretch>
            <a:fillRect/>
          </a:stretch>
        </p:blipFill>
        <p:spPr>
          <a:xfrm>
            <a:off x="8412480" y="1519204"/>
            <a:ext cx="3291840" cy="2813751"/>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57</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1828800"/>
              </a:xfrm>
              <a:prstGeom prst="rect">
                <a:avLst/>
              </a:prstGeom>
              <a:noFill/>
            </p:spPr>
            <p:txBody>
              <a:bodyPr wrap="square" anchor="t" lIns="45720" rIns="45720">
                <a:spAutoFit/>
              </a:bodyPr>
              <a:lstStyle/>
              <a:p>
                <a:pPr algn="l">
                  <a:spcAft>
                    <a:spcPts val="800"/>
                  </a:spcAft>
                </a:pPr>
                <a:r>
                  <a:rPr sz="2800">
                    <a:solidFill>
                      <a:srgbClr val="1E293B"/>
                    </a:solidFill>
                    <a:latin typeface="Calibri"/>
                  </a:rPr>
                  <a:t>Cho hình lập phương </a:t>
                </a:r>
                <a14:m>
                  <m:oMath xmlns:m="http://schemas.openxmlformats.org/officeDocument/2006/math">
                    <m:r>
                      <a:rPr lang="vi-VN" sz="2800" b="0">
                        <a:solidFill>
                          <a:srgbClr val="1E293B"/>
                        </a:solidFill>
                        <a:latin typeface="Cambria Math" panose="02040503050406030204" pitchFamily="18" charset="0"/>
                      </a:rPr>
                      <m:t>ABCD.</m:t>
                    </m:r>
                    <m:sSup>
                      <m:e>
                        <m:r>
                          <a:rPr lang="vi-VN" sz="2800" b="0">
                            <a:solidFill>
                              <a:srgbClr val="1E293B"/>
                            </a:solidFill>
                            <a:latin typeface="Cambria Math" panose="02040503050406030204" pitchFamily="18" charset="0"/>
                          </a:rPr>
                          <m:t>A</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B</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C</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D</m:t>
                        </m:r>
                      </m:e>
                      <m:sup>
                        <m:r>
                          <a:rPr lang="vi-VN" sz="2800" b="0">
                            <a:solidFill>
                              <a:srgbClr val="1E293B"/>
                            </a:solidFill>
                            <a:latin typeface="Cambria Math" panose="02040503050406030204" pitchFamily="18" charset="0"/>
                          </a:rPr>
                          <m:t>′</m:t>
                        </m:r>
                      </m:sup>
                    </m:sSup>
                  </m:oMath>
                </a14:m>
                <a:r>
                  <a:rPr sz="2800">
                    <a:solidFill>
                      <a:srgbClr val="1E293B"/>
                    </a:solidFill>
                    <a:latin typeface="Calibri"/>
                  </a:rPr>
                  <a:t>.</a:t>
                </a:r>
              </a:p>
              <a:p>
                <a:pPr algn="l">
                  <a:spcAft>
                    <a:spcPts val="800"/>
                  </a:spcAft>
                </a:pPr>
                <a:r>
                  <a:rPr sz="3000">
                    <a:solidFill>
                      <a:srgbClr val="1E293B"/>
                    </a:solidFill>
                    <a:latin typeface="Calibri"/>
                  </a:rPr>
                  <a:t>Tính </a:t>
                </a:r>
                <a14:m>
                  <m:oMath xmlns:m="http://schemas.openxmlformats.org/officeDocument/2006/math">
                    <m:d>
                      <m:dPr>
                        <m:sepChr m:val=","/>
                      </m:dPr>
                      <m:e>
                        <m:acc>
                          <m:accPr>
                            <m:chr m:val="⃗"/>
                          </m:accPr>
                          <m:e>
                            <m:r>
                              <a:rPr lang="vi-VN" sz="3000" b="0">
                                <a:solidFill>
                                  <a:srgbClr val="1E293B"/>
                                </a:solidFill>
                                <a:latin typeface="Cambria Math" panose="02040503050406030204" pitchFamily="18" charset="0"/>
                              </a:rPr>
                              <m:t>AC</m:t>
                            </m:r>
                          </m:e>
                        </m:acc>
                      </m:e>
                      <m:e>
                        <m:acc>
                          <m:accPr>
                            <m:chr m:val="⃗"/>
                          </m:accPr>
                          <m:e>
                            <m:sSup>
                              <m:e>
                                <m:r>
                                  <a:rPr lang="vi-VN" sz="3000" b="0">
                                    <a:solidFill>
                                      <a:srgbClr val="1E293B"/>
                                    </a:solidFill>
                                    <a:latin typeface="Cambria Math" panose="02040503050406030204" pitchFamily="18" charset="0"/>
                                  </a:rPr>
                                  <m:t>B</m:t>
                                </m:r>
                              </m:e>
                              <m:sup>
                                <m:r>
                                  <a:rPr lang="vi-VN" sz="3000" b="0">
                                    <a:solidFill>
                                      <a:srgbClr val="1E293B"/>
                                    </a:solidFill>
                                    <a:latin typeface="Cambria Math" panose="02040503050406030204" pitchFamily="18" charset="0"/>
                                  </a:rPr>
                                  <m:t>′</m:t>
                                </m:r>
                              </m:sup>
                            </m:sSup>
                            <m:sSup>
                              <m:e>
                                <m:r>
                                  <a:rPr lang="vi-VN" sz="3000" b="0">
                                    <a:solidFill>
                                      <a:srgbClr val="1E293B"/>
                                    </a:solidFill>
                                    <a:latin typeface="Cambria Math" panose="02040503050406030204" pitchFamily="18" charset="0"/>
                                  </a:rPr>
                                  <m:t>D</m:t>
                                </m:r>
                              </m:e>
                              <m:sup>
                                <m:r>
                                  <a:rPr lang="vi-VN" sz="3000" b="0">
                                    <a:solidFill>
                                      <a:srgbClr val="1E293B"/>
                                    </a:solidFill>
                                    <a:latin typeface="Cambria Math" panose="02040503050406030204" pitchFamily="18" charset="0"/>
                                  </a:rPr>
                                  <m:t>′</m:t>
                                </m:r>
                              </m:sup>
                            </m:sSup>
                          </m:e>
                        </m:acc>
                      </m:e>
                    </m:d>
                  </m:oMath>
                </a14:m>
                <a:r>
                  <a:rPr sz="3000">
                    <a:solidFill>
                      <a:srgbClr val="1E293B"/>
                    </a:solidFill>
                    <a:latin typeface="Calibri"/>
                  </a:rPr>
                  <a:t>.</a:t>
                </a:r>
              </a:p>
            </p:txBody>
          </p:sp>
        </mc:Choice>
        <mc:Fallback>
          <p:sp>
            <p:nvSpPr>
              <p:cNvPr id="7" name="TextBox 6"/>
              <p:cNvSpPr txBox="1"/>
              <p:nvPr/>
            </p:nvSpPr>
            <p:spPr>
              <a:xfrm>
                <a:off x="548640" y="1463040"/>
                <a:ext cx="7680960" cy="1828800"/>
              </a:xfrm>
              <a:prstGeom prst="rect">
                <a:avLst/>
              </a:prstGeom>
              <a:noFill/>
            </p:spPr>
            <p:txBody>
              <a:bodyPr wrap="square" anchor="t" lIns="45720" rIns="45720">
                <a:spAutoFit/>
              </a:bodyPr>
              <a:lstStyle/>
              <a:p>
                <a:pPr algn="l">
                  <a:spcAft>
                    <a:spcPts val="800"/>
                  </a:spcAft>
                </a:pPr>
                <a:r>
                  <a:rPr sz="2800">
                    <a:solidFill>
                      <a:srgbClr val="1E293B"/>
                    </a:solidFill>
                    <a:latin typeface="Calibri"/>
                  </a:rPr>
                  <a:t>Cho hình lập phương </a:t>
                </a:r>
                <a:r>
                  <a:rPr lang="vi-VN"/>
                  <a:t>ABCD.A'B'C'D'</a:t>
                </a:r>
                <a:r>
                  <a:rPr sz="2800">
                    <a:solidFill>
                      <a:srgbClr val="1E293B"/>
                    </a:solidFill>
                    <a:latin typeface="Calibri"/>
                  </a:rPr>
                  <a:t>.</a:t>
                </a:r>
              </a:p>
              <a:p>
                <a:pPr algn="l">
                  <a:spcAft>
                    <a:spcPts val="800"/>
                  </a:spcAft>
                </a:pPr>
                <a:r>
                  <a:rPr sz="3000">
                    <a:solidFill>
                      <a:srgbClr val="1E293B"/>
                    </a:solidFill>
                    <a:latin typeface="Calibri"/>
                  </a:rPr>
                  <a:t>Tính </a:t>
                </a:r>
                <a:r>
                  <a:rPr lang="vi-VN"/>
                  <a:t>(\overrightarrow{AC},\overrightarrow{B'D'})</a:t>
                </a:r>
                <a:r>
                  <a:rPr sz="3000">
                    <a:solidFill>
                      <a:srgbClr val="1E293B"/>
                    </a:solidFill>
                    <a:latin typeface="Calibri"/>
                  </a:rPr>
                  <a:t>.</a:t>
                </a:r>
              </a:p>
            </p:txBody>
          </p:sp>
        </mc:Fallback>
      </mc:AlternateContent>
      <p:sp>
        <p:nvSpPr>
          <p:cNvPr id="8" name="s1_nen"/>
          <p:cNvSpPr/>
          <p:nvPr/>
        </p:nvSpPr>
        <p:spPr>
          <a:xfrm>
            <a:off x="548640" y="34747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5112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90</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 </a:t>
                </a:r>
                <a14:m>
                  <m:oMath xmlns:m="http://schemas.openxmlformats.org/officeDocument/2006/math">
                    <m:acc>
                      <m:accPr>
                        <m:chr m:val="⃗"/>
                      </m:accPr>
                      <m:e>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BD</m:t>
                        </m:r>
                      </m:e>
                    </m:acc>
                  </m:oMath>
                </a14:m>
                <a:r>
                  <a:rPr sz="2400">
                    <a:solidFill>
                      <a:srgbClr val="1E293B"/>
                    </a:solidFill>
                    <a:latin typeface="Calibri"/>
                  </a:rPr>
                  <a:t> và </a:t>
                </a:r>
                <a14:m>
                  <m:oMath xmlns:m="http://schemas.openxmlformats.org/officeDocument/2006/math">
                    <m:r>
                      <a:rPr lang="vi-VN" sz="2400" b="0">
                        <a:solidFill>
                          <a:srgbClr val="1E293B"/>
                        </a:solidFill>
                        <a:latin typeface="Cambria Math" panose="02040503050406030204" pitchFamily="18" charset="0"/>
                      </a:rPr>
                      <m:t>AC⟂BD</m:t>
                    </m:r>
                  </m:oMath>
                </a14:m>
                <a:r>
                  <a:rPr sz="2400">
                    <a:solidFill>
                      <a:srgbClr val="1E293B"/>
                    </a:solidFill>
                    <a:latin typeface="Calibri"/>
                  </a:rPr>
                  <a:t>.</a:t>
                </a:r>
              </a:p>
            </p:txBody>
          </p:sp>
        </mc:Choice>
        <mc:Fallback>
          <p:sp>
            <p:nvSpPr>
              <p:cNvPr id="9" name="TextBox 8"/>
              <p:cNvSpPr txBox="1"/>
              <p:nvPr/>
            </p:nvSpPr>
            <p:spPr>
              <a:xfrm>
                <a:off x="713232" y="35112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90^\circ</a:t>
                </a:r>
                <a:r>
                  <a:rPr sz="2400">
                    <a:solidFill>
                      <a:srgbClr val="1E293B"/>
                    </a:solidFill>
                    <a:latin typeface="Calibri"/>
                  </a:rPr>
                  <a:t> – </a:t>
                </a:r>
                <a:r>
                  <a:rPr lang="vi-VN"/>
                  <a:t>\overrightarrow{B'D'}=\overrightarrow{BD}</a:t>
                </a:r>
                <a:r>
                  <a:rPr sz="2400">
                    <a:solidFill>
                      <a:srgbClr val="1E293B"/>
                    </a:solidFill>
                    <a:latin typeface="Calibri"/>
                  </a:rPr>
                  <a:t> và </a:t>
                </a:r>
                <a:r>
                  <a:rPr lang="vi-VN"/>
                  <a:t>AC\perp BD</a:t>
                </a:r>
                <a:r>
                  <a:rPr sz="2400">
                    <a:solidFill>
                      <a:srgbClr val="1E293B"/>
                    </a:solidFill>
                    <a:latin typeface="Calibri"/>
                  </a:rPr>
                  <a:t>.</a:t>
                </a:r>
              </a:p>
            </p:txBody>
          </p:sp>
        </mc:Fallback>
      </mc:AlternateContent>
      <p:sp>
        <p:nvSpPr>
          <p:cNvPr id="10" name="s2_nen"/>
          <p:cNvSpPr/>
          <p:nvPr/>
        </p:nvSpPr>
        <p:spPr>
          <a:xfrm>
            <a:off x="548640" y="4754880"/>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4791456"/>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+1 điểm cộng</a:t>
            </a:r>
          </a:p>
        </p:txBody>
      </p:sp>
      <p:pic>
        <p:nvPicPr>
          <p:cNvPr id="12" name="Picture 11" descr="h26.png"/>
          <p:cNvPicPr>
            <a:picLocks noChangeAspect="1"/>
          </p:cNvPicPr>
          <p:nvPr/>
        </p:nvPicPr>
        <p:blipFill>
          <a:blip r:embed="rId3"/>
          <a:stretch>
            <a:fillRect/>
          </a:stretch>
        </p:blipFill>
        <p:spPr>
          <a:xfrm>
            <a:off x="8412480" y="1519204"/>
            <a:ext cx="3291840" cy="2813751"/>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58</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1828800"/>
              </a:xfrm>
              <a:prstGeom prst="rect">
                <a:avLst/>
              </a:prstGeom>
              <a:noFill/>
            </p:spPr>
            <p:txBody>
              <a:bodyPr wrap="square" anchor="t" lIns="45720" rIns="45720">
                <a:spAutoFit/>
              </a:bodyPr>
              <a:lstStyle/>
              <a:p>
                <a:pPr algn="l">
                  <a:spcAft>
                    <a:spcPts val="800"/>
                  </a:spcAft>
                </a:pPr>
                <a:r>
                  <a:rPr sz="2800">
                    <a:solidFill>
                      <a:srgbClr val="1E293B"/>
                    </a:solidFill>
                    <a:latin typeface="Calibri"/>
                  </a:rPr>
                  <a:t>Cho hình lập phương </a:t>
                </a:r>
                <a14:m>
                  <m:oMath xmlns:m="http://schemas.openxmlformats.org/officeDocument/2006/math">
                    <m:r>
                      <a:rPr lang="vi-VN" sz="2800" b="0">
                        <a:solidFill>
                          <a:srgbClr val="1E293B"/>
                        </a:solidFill>
                        <a:latin typeface="Cambria Math" panose="02040503050406030204" pitchFamily="18" charset="0"/>
                      </a:rPr>
                      <m:t>ABCD.</m:t>
                    </m:r>
                    <m:sSup>
                      <m:e>
                        <m:r>
                          <a:rPr lang="vi-VN" sz="2800" b="0">
                            <a:solidFill>
                              <a:srgbClr val="1E293B"/>
                            </a:solidFill>
                            <a:latin typeface="Cambria Math" panose="02040503050406030204" pitchFamily="18" charset="0"/>
                          </a:rPr>
                          <m:t>A</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B</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C</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D</m:t>
                        </m:r>
                      </m:e>
                      <m:sup>
                        <m:r>
                          <a:rPr lang="vi-VN" sz="2800" b="0">
                            <a:solidFill>
                              <a:srgbClr val="1E293B"/>
                            </a:solidFill>
                            <a:latin typeface="Cambria Math" panose="02040503050406030204" pitchFamily="18" charset="0"/>
                          </a:rPr>
                          <m:t>′</m:t>
                        </m:r>
                      </m:sup>
                    </m:sSup>
                  </m:oMath>
                </a14:m>
                <a:r>
                  <a:rPr sz="2800">
                    <a:solidFill>
                      <a:srgbClr val="1E293B"/>
                    </a:solidFill>
                    <a:latin typeface="Calibri"/>
                  </a:rPr>
                  <a:t>.</a:t>
                </a:r>
              </a:p>
              <a:p>
                <a:pPr algn="l">
                  <a:spcAft>
                    <a:spcPts val="800"/>
                  </a:spcAft>
                </a:pPr>
                <a:r>
                  <a:rPr sz="3000">
                    <a:solidFill>
                      <a:srgbClr val="1E293B"/>
                    </a:solidFill>
                    <a:latin typeface="Calibri"/>
                  </a:rPr>
                  <a:t>Tính </a:t>
                </a:r>
                <a14:m>
                  <m:oMath xmlns:m="http://schemas.openxmlformats.org/officeDocument/2006/math">
                    <m:d>
                      <m:dPr>
                        <m:sepChr m:val=","/>
                      </m:dPr>
                      <m:e>
                        <m:acc>
                          <m:accPr>
                            <m:chr m:val="⃗"/>
                          </m:accPr>
                          <m:e>
                            <m:r>
                              <a:rPr lang="vi-VN" sz="3000" b="0">
                                <a:solidFill>
                                  <a:srgbClr val="1E293B"/>
                                </a:solidFill>
                                <a:latin typeface="Cambria Math" panose="02040503050406030204" pitchFamily="18" charset="0"/>
                              </a:rPr>
                              <m:t>AD</m:t>
                            </m:r>
                          </m:e>
                        </m:acc>
                      </m:e>
                      <m:e>
                        <m:acc>
                          <m:accPr>
                            <m:chr m:val="⃗"/>
                          </m:accPr>
                          <m:e>
                            <m:sSup>
                              <m:e>
                                <m:r>
                                  <a:rPr lang="vi-VN" sz="3000" b="0">
                                    <a:solidFill>
                                      <a:srgbClr val="1E293B"/>
                                    </a:solidFill>
                                    <a:latin typeface="Cambria Math" panose="02040503050406030204" pitchFamily="18" charset="0"/>
                                  </a:rPr>
                                  <m:t>A</m:t>
                                </m:r>
                              </m:e>
                              <m:sup>
                                <m:r>
                                  <a:rPr lang="vi-VN" sz="3000" b="0">
                                    <a:solidFill>
                                      <a:srgbClr val="1E293B"/>
                                    </a:solidFill>
                                    <a:latin typeface="Cambria Math" panose="02040503050406030204" pitchFamily="18" charset="0"/>
                                  </a:rPr>
                                  <m:t>′</m:t>
                                </m:r>
                              </m:sup>
                            </m:sSup>
                            <m:sSup>
                              <m:e>
                                <m:r>
                                  <a:rPr lang="vi-VN" sz="3000" b="0">
                                    <a:solidFill>
                                      <a:srgbClr val="1E293B"/>
                                    </a:solidFill>
                                    <a:latin typeface="Cambria Math" panose="02040503050406030204" pitchFamily="18" charset="0"/>
                                  </a:rPr>
                                  <m:t>C</m:t>
                                </m:r>
                              </m:e>
                              <m:sup>
                                <m:r>
                                  <a:rPr lang="vi-VN" sz="3000" b="0">
                                    <a:solidFill>
                                      <a:srgbClr val="1E293B"/>
                                    </a:solidFill>
                                    <a:latin typeface="Cambria Math" panose="02040503050406030204" pitchFamily="18" charset="0"/>
                                  </a:rPr>
                                  <m:t>′</m:t>
                                </m:r>
                              </m:sup>
                            </m:sSup>
                          </m:e>
                        </m:acc>
                      </m:e>
                    </m:d>
                  </m:oMath>
                </a14:m>
                <a:r>
                  <a:rPr sz="3000">
                    <a:solidFill>
                      <a:srgbClr val="1E293B"/>
                    </a:solidFill>
                    <a:latin typeface="Calibri"/>
                  </a:rPr>
                  <a:t>.</a:t>
                </a:r>
              </a:p>
            </p:txBody>
          </p:sp>
        </mc:Choice>
        <mc:Fallback>
          <p:sp>
            <p:nvSpPr>
              <p:cNvPr id="7" name="TextBox 6"/>
              <p:cNvSpPr txBox="1"/>
              <p:nvPr/>
            </p:nvSpPr>
            <p:spPr>
              <a:xfrm>
                <a:off x="548640" y="1463040"/>
                <a:ext cx="7680960" cy="1828800"/>
              </a:xfrm>
              <a:prstGeom prst="rect">
                <a:avLst/>
              </a:prstGeom>
              <a:noFill/>
            </p:spPr>
            <p:txBody>
              <a:bodyPr wrap="square" anchor="t" lIns="45720" rIns="45720">
                <a:spAutoFit/>
              </a:bodyPr>
              <a:lstStyle/>
              <a:p>
                <a:pPr algn="l">
                  <a:spcAft>
                    <a:spcPts val="800"/>
                  </a:spcAft>
                </a:pPr>
                <a:r>
                  <a:rPr sz="2800">
                    <a:solidFill>
                      <a:srgbClr val="1E293B"/>
                    </a:solidFill>
                    <a:latin typeface="Calibri"/>
                  </a:rPr>
                  <a:t>Cho hình lập phương </a:t>
                </a:r>
                <a:r>
                  <a:rPr lang="vi-VN"/>
                  <a:t>ABCD.A'B'C'D'</a:t>
                </a:r>
                <a:r>
                  <a:rPr sz="2800">
                    <a:solidFill>
                      <a:srgbClr val="1E293B"/>
                    </a:solidFill>
                    <a:latin typeface="Calibri"/>
                  </a:rPr>
                  <a:t>.</a:t>
                </a:r>
              </a:p>
              <a:p>
                <a:pPr algn="l">
                  <a:spcAft>
                    <a:spcPts val="800"/>
                  </a:spcAft>
                </a:pPr>
                <a:r>
                  <a:rPr sz="3000">
                    <a:solidFill>
                      <a:srgbClr val="1E293B"/>
                    </a:solidFill>
                    <a:latin typeface="Calibri"/>
                  </a:rPr>
                  <a:t>Tính </a:t>
                </a:r>
                <a:r>
                  <a:rPr lang="vi-VN"/>
                  <a:t>(\overrightarrow{AD},\overrightarrow{A'C'})</a:t>
                </a:r>
                <a:r>
                  <a:rPr sz="3000">
                    <a:solidFill>
                      <a:srgbClr val="1E293B"/>
                    </a:solidFill>
                    <a:latin typeface="Calibri"/>
                  </a:rPr>
                  <a:t>.</a:t>
                </a:r>
              </a:p>
            </p:txBody>
          </p:sp>
        </mc:Fallback>
      </mc:AlternateContent>
      <p:sp>
        <p:nvSpPr>
          <p:cNvPr id="8" name="s1_nen"/>
          <p:cNvSpPr/>
          <p:nvPr/>
        </p:nvSpPr>
        <p:spPr>
          <a:xfrm>
            <a:off x="548640" y="34747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5112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45</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 </a:t>
                </a:r>
                <a14:m>
                  <m:oMath xmlns:m="http://schemas.openxmlformats.org/officeDocument/2006/math">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AC</m:t>
                        </m:r>
                      </m:e>
                    </m:acc>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DAC</m:t>
                        </m:r>
                      </m:e>
                    </m:acc>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45</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p:txBody>
          </p:sp>
        </mc:Choice>
        <mc:Fallback>
          <p:sp>
            <p:nvSpPr>
              <p:cNvPr id="9" name="TextBox 8"/>
              <p:cNvSpPr txBox="1"/>
              <p:nvPr/>
            </p:nvSpPr>
            <p:spPr>
              <a:xfrm>
                <a:off x="713232" y="35112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45^\circ</a:t>
                </a:r>
                <a:r>
                  <a:rPr sz="2400">
                    <a:solidFill>
                      <a:srgbClr val="1E293B"/>
                    </a:solidFill>
                    <a:latin typeface="Calibri"/>
                  </a:rPr>
                  <a:t> – </a:t>
                </a:r>
                <a:r>
                  <a:rPr lang="vi-VN"/>
                  <a:t>\overrightarrow{A'C'}=\overrightarrow{AC}</a:t>
                </a:r>
                <a:r>
                  <a:rPr sz="2400">
                    <a:solidFill>
                      <a:srgbClr val="1E293B"/>
                    </a:solidFill>
                    <a:latin typeface="Calibri"/>
                  </a:rPr>
                  <a:t>, </a:t>
                </a:r>
                <a:r>
                  <a:rPr lang="vi-VN"/>
                  <a:t>\widehat{DAC}=45^\circ</a:t>
                </a:r>
                <a:r>
                  <a:rPr sz="2400">
                    <a:solidFill>
                      <a:srgbClr val="1E293B"/>
                    </a:solidFill>
                    <a:latin typeface="Calibri"/>
                  </a:rPr>
                  <a:t>.</a:t>
                </a:r>
              </a:p>
            </p:txBody>
          </p:sp>
        </mc:Fallback>
      </mc:AlternateContent>
      <p:sp>
        <p:nvSpPr>
          <p:cNvPr id="10" name="s2_nen"/>
          <p:cNvSpPr/>
          <p:nvPr/>
        </p:nvSpPr>
        <p:spPr>
          <a:xfrm>
            <a:off x="548640" y="4754880"/>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4791456"/>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Quyền miễn 1 bài tập về nhà</a:t>
            </a:r>
          </a:p>
        </p:txBody>
      </p:sp>
      <p:pic>
        <p:nvPicPr>
          <p:cNvPr id="12" name="Picture 11" descr="h26.png"/>
          <p:cNvPicPr>
            <a:picLocks noChangeAspect="1"/>
          </p:cNvPicPr>
          <p:nvPr/>
        </p:nvPicPr>
        <p:blipFill>
          <a:blip r:embed="rId3"/>
          <a:stretch>
            <a:fillRect/>
          </a:stretch>
        </p:blipFill>
        <p:spPr>
          <a:xfrm>
            <a:off x="8412480" y="1519204"/>
            <a:ext cx="3291840" cy="2813751"/>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59</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1828800"/>
              </a:xfrm>
              <a:prstGeom prst="rect">
                <a:avLst/>
              </a:prstGeom>
              <a:noFill/>
            </p:spPr>
            <p:txBody>
              <a:bodyPr wrap="square" anchor="t" lIns="45720" rIns="45720">
                <a:spAutoFit/>
              </a:bodyPr>
              <a:lstStyle/>
              <a:p>
                <a:pPr algn="l">
                  <a:spcAft>
                    <a:spcPts val="800"/>
                  </a:spcAft>
                </a:pPr>
                <a:r>
                  <a:rPr sz="2800">
                    <a:solidFill>
                      <a:srgbClr val="1E293B"/>
                    </a:solidFill>
                    <a:latin typeface="Calibri"/>
                  </a:rPr>
                  <a:t>Cho hình lập phương </a:t>
                </a:r>
                <a14:m>
                  <m:oMath xmlns:m="http://schemas.openxmlformats.org/officeDocument/2006/math">
                    <m:r>
                      <a:rPr lang="vi-VN" sz="2800" b="0">
                        <a:solidFill>
                          <a:srgbClr val="1E293B"/>
                        </a:solidFill>
                        <a:latin typeface="Cambria Math" panose="02040503050406030204" pitchFamily="18" charset="0"/>
                      </a:rPr>
                      <m:t>ABCD.</m:t>
                    </m:r>
                    <m:sSup>
                      <m:e>
                        <m:r>
                          <a:rPr lang="vi-VN" sz="2800" b="0">
                            <a:solidFill>
                              <a:srgbClr val="1E293B"/>
                            </a:solidFill>
                            <a:latin typeface="Cambria Math" panose="02040503050406030204" pitchFamily="18" charset="0"/>
                          </a:rPr>
                          <m:t>A</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B</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C</m:t>
                        </m:r>
                      </m:e>
                      <m:sup>
                        <m:r>
                          <a:rPr lang="vi-VN" sz="2800" b="0">
                            <a:solidFill>
                              <a:srgbClr val="1E293B"/>
                            </a:solidFill>
                            <a:latin typeface="Cambria Math" panose="02040503050406030204" pitchFamily="18" charset="0"/>
                          </a:rPr>
                          <m:t>′</m:t>
                        </m:r>
                      </m:sup>
                    </m:sSup>
                    <m:sSup>
                      <m:e>
                        <m:r>
                          <a:rPr lang="vi-VN" sz="2800" b="0">
                            <a:solidFill>
                              <a:srgbClr val="1E293B"/>
                            </a:solidFill>
                            <a:latin typeface="Cambria Math" panose="02040503050406030204" pitchFamily="18" charset="0"/>
                          </a:rPr>
                          <m:t>D</m:t>
                        </m:r>
                      </m:e>
                      <m:sup>
                        <m:r>
                          <a:rPr lang="vi-VN" sz="2800" b="0">
                            <a:solidFill>
                              <a:srgbClr val="1E293B"/>
                            </a:solidFill>
                            <a:latin typeface="Cambria Math" panose="02040503050406030204" pitchFamily="18" charset="0"/>
                          </a:rPr>
                          <m:t>′</m:t>
                        </m:r>
                      </m:sup>
                    </m:sSup>
                  </m:oMath>
                </a14:m>
                <a:r>
                  <a:rPr sz="2800">
                    <a:solidFill>
                      <a:srgbClr val="1E293B"/>
                    </a:solidFill>
                    <a:latin typeface="Calibri"/>
                  </a:rPr>
                  <a:t>.</a:t>
                </a:r>
              </a:p>
              <a:p>
                <a:pPr algn="l">
                  <a:spcAft>
                    <a:spcPts val="800"/>
                  </a:spcAft>
                </a:pPr>
                <a:r>
                  <a:rPr sz="3000">
                    <a:solidFill>
                      <a:srgbClr val="1E293B"/>
                    </a:solidFill>
                    <a:latin typeface="Calibri"/>
                  </a:rPr>
                  <a:t>Tính </a:t>
                </a:r>
                <a14:m>
                  <m:oMath xmlns:m="http://schemas.openxmlformats.org/officeDocument/2006/math">
                    <m:d>
                      <m:dPr>
                        <m:sepChr m:val=","/>
                      </m:dPr>
                      <m:e>
                        <m:acc>
                          <m:accPr>
                            <m:chr m:val="⃗"/>
                          </m:accPr>
                          <m:e>
                            <m:r>
                              <a:rPr lang="vi-VN" sz="3000" b="0">
                                <a:solidFill>
                                  <a:srgbClr val="1E293B"/>
                                </a:solidFill>
                                <a:latin typeface="Cambria Math" panose="02040503050406030204" pitchFamily="18" charset="0"/>
                              </a:rPr>
                              <m:t>D</m:t>
                            </m:r>
                            <m:sSup>
                              <m:e>
                                <m:r>
                                  <a:rPr lang="vi-VN" sz="3000" b="0">
                                    <a:solidFill>
                                      <a:srgbClr val="1E293B"/>
                                    </a:solidFill>
                                    <a:latin typeface="Cambria Math" panose="02040503050406030204" pitchFamily="18" charset="0"/>
                                  </a:rPr>
                                  <m:t>C</m:t>
                                </m:r>
                              </m:e>
                              <m:sup>
                                <m:r>
                                  <a:rPr lang="vi-VN" sz="3000" b="0">
                                    <a:solidFill>
                                      <a:srgbClr val="1E293B"/>
                                    </a:solidFill>
                                    <a:latin typeface="Cambria Math" panose="02040503050406030204" pitchFamily="18" charset="0"/>
                                  </a:rPr>
                                  <m:t>′</m:t>
                                </m:r>
                              </m:sup>
                            </m:sSup>
                          </m:e>
                        </m:acc>
                      </m:e>
                      <m:e>
                        <m:acc>
                          <m:accPr>
                            <m:chr m:val="⃗"/>
                          </m:accPr>
                          <m:e>
                            <m:r>
                              <a:rPr lang="vi-VN" sz="3000" b="0">
                                <a:solidFill>
                                  <a:srgbClr val="1E293B"/>
                                </a:solidFill>
                                <a:latin typeface="Cambria Math" panose="02040503050406030204" pitchFamily="18" charset="0"/>
                              </a:rPr>
                              <m:t>B</m:t>
                            </m:r>
                            <m:sSup>
                              <m:e>
                                <m:r>
                                  <a:rPr lang="vi-VN" sz="3000" b="0">
                                    <a:solidFill>
                                      <a:srgbClr val="1E293B"/>
                                    </a:solidFill>
                                    <a:latin typeface="Cambria Math" panose="02040503050406030204" pitchFamily="18" charset="0"/>
                                  </a:rPr>
                                  <m:t>C</m:t>
                                </m:r>
                              </m:e>
                              <m:sup>
                                <m:r>
                                  <a:rPr lang="vi-VN" sz="3000" b="0">
                                    <a:solidFill>
                                      <a:srgbClr val="1E293B"/>
                                    </a:solidFill>
                                    <a:latin typeface="Cambria Math" panose="02040503050406030204" pitchFamily="18" charset="0"/>
                                  </a:rPr>
                                  <m:t>′</m:t>
                                </m:r>
                              </m:sup>
                            </m:sSup>
                          </m:e>
                        </m:acc>
                      </m:e>
                    </m:d>
                  </m:oMath>
                </a14:m>
                <a:r>
                  <a:rPr sz="3000">
                    <a:solidFill>
                      <a:srgbClr val="1E293B"/>
                    </a:solidFill>
                    <a:latin typeface="Calibri"/>
                  </a:rPr>
                  <a:t>.</a:t>
                </a:r>
              </a:p>
            </p:txBody>
          </p:sp>
        </mc:Choice>
        <mc:Fallback>
          <p:sp>
            <p:nvSpPr>
              <p:cNvPr id="7" name="TextBox 6"/>
              <p:cNvSpPr txBox="1"/>
              <p:nvPr/>
            </p:nvSpPr>
            <p:spPr>
              <a:xfrm>
                <a:off x="548640" y="1463040"/>
                <a:ext cx="7680960" cy="1828800"/>
              </a:xfrm>
              <a:prstGeom prst="rect">
                <a:avLst/>
              </a:prstGeom>
              <a:noFill/>
            </p:spPr>
            <p:txBody>
              <a:bodyPr wrap="square" anchor="t" lIns="45720" rIns="45720">
                <a:spAutoFit/>
              </a:bodyPr>
              <a:lstStyle/>
              <a:p>
                <a:pPr algn="l">
                  <a:spcAft>
                    <a:spcPts val="800"/>
                  </a:spcAft>
                </a:pPr>
                <a:r>
                  <a:rPr sz="2800">
                    <a:solidFill>
                      <a:srgbClr val="1E293B"/>
                    </a:solidFill>
                    <a:latin typeface="Calibri"/>
                  </a:rPr>
                  <a:t>Cho hình lập phương </a:t>
                </a:r>
                <a:r>
                  <a:rPr lang="vi-VN"/>
                  <a:t>ABCD.A'B'C'D'</a:t>
                </a:r>
                <a:r>
                  <a:rPr sz="2800">
                    <a:solidFill>
                      <a:srgbClr val="1E293B"/>
                    </a:solidFill>
                    <a:latin typeface="Calibri"/>
                  </a:rPr>
                  <a:t>.</a:t>
                </a:r>
              </a:p>
              <a:p>
                <a:pPr algn="l">
                  <a:spcAft>
                    <a:spcPts val="800"/>
                  </a:spcAft>
                </a:pPr>
                <a:r>
                  <a:rPr sz="3000">
                    <a:solidFill>
                      <a:srgbClr val="1E293B"/>
                    </a:solidFill>
                    <a:latin typeface="Calibri"/>
                  </a:rPr>
                  <a:t>Tính </a:t>
                </a:r>
                <a:r>
                  <a:rPr lang="vi-VN"/>
                  <a:t>(\overrightarrow{DC'},\overrightarrow{BC'})</a:t>
                </a:r>
                <a:r>
                  <a:rPr sz="3000">
                    <a:solidFill>
                      <a:srgbClr val="1E293B"/>
                    </a:solidFill>
                    <a:latin typeface="Calibri"/>
                  </a:rPr>
                  <a:t>.</a:t>
                </a:r>
              </a:p>
            </p:txBody>
          </p:sp>
        </mc:Fallback>
      </mc:AlternateContent>
      <p:sp>
        <p:nvSpPr>
          <p:cNvPr id="8" name="s1_nen"/>
          <p:cNvSpPr/>
          <p:nvPr/>
        </p:nvSpPr>
        <p:spPr>
          <a:xfrm>
            <a:off x="548640" y="3474720"/>
            <a:ext cx="768096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511296"/>
                <a:ext cx="7351776" cy="92354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60</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 tam giác </a:t>
                </a:r>
                <a14:m>
                  <m:oMath xmlns:m="http://schemas.openxmlformats.org/officeDocument/2006/math">
                    <m:r>
                      <a:rPr lang="vi-VN" sz="2400" b="0">
                        <a:solidFill>
                          <a:srgbClr val="1E293B"/>
                        </a:solidFill>
                        <a:latin typeface="Cambria Math" panose="02040503050406030204" pitchFamily="18" charset="0"/>
                      </a:rPr>
                      <m:t>BD</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đều (các cạnh là đường chéo mặt).</a:t>
                </a:r>
              </a:p>
            </p:txBody>
          </p:sp>
        </mc:Choice>
        <mc:Fallback>
          <p:sp>
            <p:nvSpPr>
              <p:cNvPr id="9" name="TextBox 8"/>
              <p:cNvSpPr txBox="1"/>
              <p:nvPr/>
            </p:nvSpPr>
            <p:spPr>
              <a:xfrm>
                <a:off x="713232" y="3511296"/>
                <a:ext cx="7351776" cy="92354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60^\circ</a:t>
                </a:r>
                <a:r>
                  <a:rPr sz="2400">
                    <a:solidFill>
                      <a:srgbClr val="1E293B"/>
                    </a:solidFill>
                    <a:latin typeface="Calibri"/>
                  </a:rPr>
                  <a:t> – tam giác </a:t>
                </a:r>
                <a:r>
                  <a:rPr lang="vi-VN"/>
                  <a:t>BDC'</a:t>
                </a:r>
                <a:r>
                  <a:rPr sz="2400">
                    <a:solidFill>
                      <a:srgbClr val="1E293B"/>
                    </a:solidFill>
                    <a:latin typeface="Calibri"/>
                  </a:rPr>
                  <a:t> đều (các cạnh là đường chéo mặt).</a:t>
                </a:r>
              </a:p>
            </p:txBody>
          </p:sp>
        </mc:Fallback>
      </mc:AlternateContent>
      <p:sp>
        <p:nvSpPr>
          <p:cNvPr id="10" name="s2_nen"/>
          <p:cNvSpPr/>
          <p:nvPr/>
        </p:nvSpPr>
        <p:spPr>
          <a:xfrm>
            <a:off x="548640" y="4754880"/>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4791456"/>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+1 điểm cộng</a:t>
            </a:r>
          </a:p>
        </p:txBody>
      </p:sp>
      <p:pic>
        <p:nvPicPr>
          <p:cNvPr id="12" name="Picture 11" descr="h26.png"/>
          <p:cNvPicPr>
            <a:picLocks noChangeAspect="1"/>
          </p:cNvPicPr>
          <p:nvPr/>
        </p:nvPicPr>
        <p:blipFill>
          <a:blip r:embed="rId3"/>
          <a:stretch>
            <a:fillRect/>
          </a:stretch>
        </p:blipFill>
        <p:spPr>
          <a:xfrm>
            <a:off x="8412480" y="1519204"/>
            <a:ext cx="3291840" cy="2813751"/>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60</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Trọng tâm tứ diện </a:t>
                </a:r>
                <a14:m>
                  <m:oMath xmlns:m="http://schemas.openxmlformats.org/officeDocument/2006/math">
                    <m:r>
                      <a:rPr lang="vi-VN" sz="2200" b="0">
                        <a:solidFill>
                          <a:srgbClr val="1E293B"/>
                        </a:solidFill>
                        <a:latin typeface="Cambria Math" panose="02040503050406030204" pitchFamily="18" charset="0"/>
                      </a:rPr>
                      <m:t>I</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IA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ID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Góc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AOB</m:t>
                        </m:r>
                      </m:e>
                    </m:acc>
                  </m:oMath>
                </a14:m>
                <a:r>
                  <a:rPr sz="2200">
                    <a:solidFill>
                      <a:srgbClr val="1E293B"/>
                    </a:solidFill>
                    <a:latin typeface="Calibri"/>
                  </a:rPr>
                  <a:t> với </a:t>
                </a:r>
                <a14:m>
                  <m:oMath xmlns:m="http://schemas.openxmlformats.org/officeDocument/2006/math">
                    <m:acc>
                      <m:accPr>
                        <m:chr m:val="⃗"/>
                      </m:accPr>
                      <m:e>
                        <m:r>
                          <a:rPr lang="vi-VN" sz="2200" b="0">
                            <a:solidFill>
                              <a:srgbClr val="1E293B"/>
                            </a:solidFill>
                            <a:latin typeface="Cambria Math" panose="02040503050406030204" pitchFamily="18" charset="0"/>
                          </a:rPr>
                          <m:t>OA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OB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Trọng tâm tứ diện </a:t>
                </a:r>
                <a:r>
                  <a:rPr lang="vi-VN"/>
                  <a:t>I</a:t>
                </a:r>
                <a:r>
                  <a:rPr sz="2200">
                    <a:solidFill>
                      <a:srgbClr val="1E293B"/>
                    </a:solidFill>
                    <a:latin typeface="Calibri"/>
                  </a:rPr>
                  <a:t>: </a:t>
                </a:r>
                <a:r>
                  <a:rPr lang="vi-VN"/>
                  <a:t>\overrightarrow{IA}+\overrightarrow{IB}+\overrightarrow{IC}+\overrightarrow{ID}=\vec{0}</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Góc </a:t>
                </a:r>
                <a:r>
                  <a:rPr lang="vi-VN"/>
                  <a:t>(\vec{a},\vec{b})=\widehat{AOB}</a:t>
                </a:r>
                <a:r>
                  <a:rPr sz="2200">
                    <a:solidFill>
                      <a:srgbClr val="1E293B"/>
                    </a:solidFill>
                    <a:latin typeface="Calibri"/>
                  </a:rPr>
                  <a:t> với </a:t>
                </a:r>
                <a:r>
                  <a:rPr lang="vi-VN"/>
                  <a:t>\overrightarrow{OA}=\vec{a},\ \overrightarrow{OB}=\vec{b}</a:t>
                </a:r>
                <a:r>
                  <a:rPr sz="2200">
                    <a:solidFill>
                      <a:srgbClr val="1E293B"/>
                    </a:solidFill>
                    <a:latin typeface="Calibri"/>
                  </a:rPr>
                  <a:t>; </a:t>
                </a:r>
                <a:r>
                  <a:rPr lang="vi-VN"/>
                  <a:t>0^\circ\le(\vec{a},\vec{b})\le 180^\circ</a:t>
                </a:r>
                <a:r>
                  <a:rPr sz="2200">
                    <a:solidFill>
                      <a:srgbClr val="1E293B"/>
                    </a:solidFill>
                    <a:latin typeface="Calibri"/>
                  </a:rPr>
                  <a:t>.</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6453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2.8, 2.9 (SGK tr.58 – 59).</a:t>
            </a:r>
          </a:p>
          <a:p>
            <a:pPr algn="l" marL="365760" indent="-365760">
              <a:spcAft>
                <a:spcPts val="800"/>
              </a:spcAft>
              <a:buClr>
                <a:srgbClr val="1E40AF"/>
              </a:buClr>
              <a:buFont typeface="Arial"/>
              <a:buChar char="•"/>
            </a:pPr>
            <a:r>
              <a:rPr sz="2200">
                <a:solidFill>
                  <a:srgbClr val="1E293B"/>
                </a:solidFill>
                <a:latin typeface="Calibri"/>
              </a:rPr>
              <a:t>Ôn tích vô hướng trong mặt phẳng (lớp 10); đọc trước mục 4b.</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5 (T32)</a:t>
            </a:r>
          </a:p>
          <a:p>
            <a:pPr>
              <a:spcAft>
                <a:spcPts val="600"/>
              </a:spcAft>
            </a:pPr>
            <a:r>
              <a:rPr sz="4000" b="1">
                <a:solidFill>
                  <a:srgbClr val="FFFFFF"/>
                </a:solidFill>
                <a:latin typeface="Cambria"/>
              </a:rPr>
              <a:t>Tích vô hướng của hai vectơ</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tích vô hướng theo định nghĩa; vận dụng tính chất.</a:t>
            </a:r>
          </a:p>
          <a:p>
            <a:pPr algn="l">
              <a:spcAft>
                <a:spcPts val="800"/>
              </a:spcAft>
            </a:pPr>
            <a:r>
              <a:rPr sz="2200">
                <a:solidFill>
                  <a:srgbClr val="E0E7FF"/>
                </a:solidFill>
                <a:latin typeface="Calibri"/>
              </a:rPr>
              <a:t>• Chứng minh vuông góc bằng tích vô hướng; giải thích bài toán công của lực.</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4B. TÍCH VÔ HƯỚNG CỦA HAI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62</a:t>
            </a:r>
          </a:p>
        </p:txBody>
      </p:sp>
      <p:sp>
        <p:nvSpPr>
          <p:cNvPr id="7" name="TextBox 6"/>
          <p:cNvSpPr txBox="1"/>
          <p:nvPr/>
        </p:nvSpPr>
        <p:spPr>
          <a:xfrm>
            <a:off x="548640" y="1371600"/>
            <a:ext cx="11064240" cy="73152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HĐ8.</a:t>
            </a:r>
            <a:r>
              <a:rPr sz="2200">
                <a:solidFill>
                  <a:srgbClr val="1E293B"/>
                </a:solidFill>
                <a:latin typeface="Calibri"/>
              </a:rPr>
              <a:t> Hãy nhắc lại công thức xác định tích vô hướng của hai vectơ trong mặt phẳng.</a:t>
            </a:r>
          </a:p>
        </p:txBody>
      </p:sp>
      <p:sp>
        <p:nvSpPr>
          <p:cNvPr id="8" name="s1_nen"/>
          <p:cNvSpPr/>
          <p:nvPr/>
        </p:nvSpPr>
        <p:spPr>
          <a:xfrm>
            <a:off x="548640" y="21031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969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oMath>
                </a14:m>
                <a:r>
                  <a:rPr sz="2200">
                    <a:solidFill>
                      <a:srgbClr val="1E293B"/>
                    </a:solidFill>
                    <a:latin typeface="Calibri"/>
                  </a:rPr>
                  <a:t> (lớp 10).</a:t>
                </a:r>
              </a:p>
            </p:txBody>
          </p:sp>
        </mc:Choice>
        <mc:Fallback>
          <p:sp>
            <p:nvSpPr>
              <p:cNvPr id="9" name="TextBox 8"/>
              <p:cNvSpPr txBox="1"/>
              <p:nvPr/>
            </p:nvSpPr>
            <p:spPr>
              <a:xfrm>
                <a:off x="713232" y="213969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\vec{a}\cdot\vec{b}=|\vec{a}|\cdot|\vec{b}|\cdot\cos(\vec{a},\vec{b})</a:t>
                </a:r>
                <a:r>
                  <a:rPr sz="2200">
                    <a:solidFill>
                      <a:srgbClr val="1E293B"/>
                    </a:solidFill>
                    <a:latin typeface="Calibri"/>
                  </a:rPr>
                  <a:t> (lớp 10).</a:t>
                </a:r>
              </a:p>
            </p:txBody>
          </p:sp>
        </mc:Fallback>
      </mc:AlternateContent>
      <p:sp>
        <p:nvSpPr>
          <p:cNvPr id="10" name="s2_nen"/>
          <p:cNvSpPr/>
          <p:nvPr/>
        </p:nvSpPr>
        <p:spPr>
          <a:xfrm>
            <a:off x="548640" y="3291840"/>
            <a:ext cx="11064240" cy="137160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28416"/>
                <a:ext cx="10735056" cy="1298448"/>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Trong không gian, cho hai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đều khác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a:t>
                </a:r>
                <a:r>
                  <a:rPr sz="2200" b="1">
                    <a:solidFill>
                      <a:srgbClr val="1E293B"/>
                    </a:solidFill>
                    <a:latin typeface="Calibri"/>
                  </a:rPr>
                  <a:t>Tích vô hướng</a:t>
                </a:r>
                <a:r>
                  <a:rPr sz="2200">
                    <a:solidFill>
                      <a:srgbClr val="1E293B"/>
                    </a:solidFill>
                    <a:latin typeface="Calibri"/>
                  </a:rPr>
                  <a:t> của hai vectơ </a:t>
                </a:r>
                <a14:m>
                  <m:oMath xmlns:m="http://schemas.openxmlformats.org/officeDocument/2006/math">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là một số, kí hiệu là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được xác định bởi công thức:</a:t>
                </a:r>
              </a:p>
              <a:p>
                <a:pPr algn="ctr">
                  <a:spcAft>
                    <a:spcPts val="800"/>
                  </a:spcAft>
                </a:pPr>
                <a:r>
                  <a:rPr sz="3000">
                    <a:solidFill>
                      <a:srgbClr val="1E293B"/>
                    </a:solidFill>
                    <a:latin typeface="Calibri"/>
                  </a:rPr>
                  <a:t> </a:t>
                </a:r>
                <a14:m>
                  <m:oMath xmlns:m="http://schemas.openxmlformats.org/officeDocument/2006/math">
                    <m:acc>
                      <m:accPr>
                        <m:chr m:val="⃗"/>
                      </m:accPr>
                      <m:e>
                        <m:r>
                          <a:rPr lang="vi-VN" sz="3000" b="0">
                            <a:solidFill>
                              <a:srgbClr val="1E293B"/>
                            </a:solidFill>
                            <a:latin typeface="Cambria Math" panose="02040503050406030204" pitchFamily="18" charset="0"/>
                          </a:rPr>
                          <m:t>a</m:t>
                        </m:r>
                      </m:e>
                    </m:acc>
                    <m:r>
                      <a:rPr lang="vi-VN" sz="3000" b="0">
                        <a:solidFill>
                          <a:srgbClr val="1E293B"/>
                        </a:solidFill>
                        <a:latin typeface="Cambria Math" panose="02040503050406030204" pitchFamily="18" charset="0"/>
                      </a:rPr>
                      <m:t>·</m:t>
                    </m:r>
                    <m:acc>
                      <m:accPr>
                        <m:chr m:val="⃗"/>
                      </m:accPr>
                      <m:e>
                        <m:r>
                          <a:rPr lang="vi-VN" sz="3000" b="0">
                            <a:solidFill>
                              <a:srgbClr val="1E293B"/>
                            </a:solidFill>
                            <a:latin typeface="Cambria Math" panose="02040503050406030204" pitchFamily="18" charset="0"/>
                          </a:rPr>
                          <m:t>b</m:t>
                        </m:r>
                      </m:e>
                    </m:acc>
                    <m:r>
                      <a:rPr lang="vi-VN" sz="3000" b="0">
                        <a:solidFill>
                          <a:srgbClr val="1E293B"/>
                        </a:solidFill>
                        <a:latin typeface="Cambria Math" panose="02040503050406030204" pitchFamily="18" charset="0"/>
                      </a:rPr>
                      <m:t>=|</m:t>
                    </m:r>
                    <m:acc>
                      <m:accPr>
                        <m:chr m:val="⃗"/>
                      </m:accPr>
                      <m:e>
                        <m:r>
                          <a:rPr lang="vi-VN" sz="3000" b="0">
                            <a:solidFill>
                              <a:srgbClr val="1E293B"/>
                            </a:solidFill>
                            <a:latin typeface="Cambria Math" panose="02040503050406030204" pitchFamily="18" charset="0"/>
                          </a:rPr>
                          <m:t>a</m:t>
                        </m:r>
                      </m:e>
                    </m:acc>
                    <m:r>
                      <a:rPr lang="vi-VN" sz="3000" b="0">
                        <a:solidFill>
                          <a:srgbClr val="1E293B"/>
                        </a:solidFill>
                        <a:latin typeface="Cambria Math" panose="02040503050406030204" pitchFamily="18" charset="0"/>
                      </a:rPr>
                      <m:t>|·|</m:t>
                    </m:r>
                    <m:acc>
                      <m:accPr>
                        <m:chr m:val="⃗"/>
                      </m:accPr>
                      <m:e>
                        <m:r>
                          <a:rPr lang="vi-VN" sz="3000" b="0">
                            <a:solidFill>
                              <a:srgbClr val="1E293B"/>
                            </a:solidFill>
                            <a:latin typeface="Cambria Math" panose="02040503050406030204" pitchFamily="18" charset="0"/>
                          </a:rPr>
                          <m:t>b</m:t>
                        </m:r>
                      </m:e>
                    </m:acc>
                    <m:r>
                      <a:rPr lang="vi-VN" sz="3000" b="0">
                        <a:solidFill>
                          <a:srgbClr val="1E293B"/>
                        </a:solidFill>
                        <a:latin typeface="Cambria Math" panose="02040503050406030204" pitchFamily="18" charset="0"/>
                      </a:rPr>
                      <m:t>|·</m:t>
                    </m:r>
                    <m:r>
                      <m:rPr>
                        <m:sty m:val="p"/>
                      </m:rPr>
                      <a:rPr lang="vi-VN" sz="3000" b="0">
                        <a:solidFill>
                          <a:srgbClr val="1E293B"/>
                        </a:solidFill>
                        <a:latin typeface="Cambria Math" panose="02040503050406030204" pitchFamily="18" charset="0"/>
                      </a:rPr>
                      <m:t>cos</m:t>
                    </m:r>
                    <m:r>
                      <a:rPr lang="vi-VN" sz="3000" b="0">
                        <a:solidFill>
                          <a:srgbClr val="1E293B"/>
                        </a:solidFill>
                        <a:latin typeface="Cambria Math" panose="02040503050406030204" pitchFamily="18" charset="0"/>
                      </a:rPr>
                      <m:t>(</m:t>
                    </m:r>
                    <m:acc>
                      <m:accPr>
                        <m:chr m:val="⃗"/>
                      </m:accPr>
                      <m:e>
                        <m:r>
                          <a:rPr lang="vi-VN" sz="3000" b="0">
                            <a:solidFill>
                              <a:srgbClr val="1E293B"/>
                            </a:solidFill>
                            <a:latin typeface="Cambria Math" panose="02040503050406030204" pitchFamily="18" charset="0"/>
                          </a:rPr>
                          <m:t>a</m:t>
                        </m:r>
                      </m:e>
                    </m:acc>
                    <m:r>
                      <a:rPr lang="vi-VN" sz="3000" b="0">
                        <a:solidFill>
                          <a:srgbClr val="1E293B"/>
                        </a:solidFill>
                        <a:latin typeface="Cambria Math" panose="02040503050406030204" pitchFamily="18" charset="0"/>
                      </a:rPr>
                      <m:t>,</m:t>
                    </m:r>
                    <m:acc>
                      <m:accPr>
                        <m:chr m:val="⃗"/>
                      </m:accPr>
                      <m:e>
                        <m:r>
                          <a:rPr lang="vi-VN" sz="3000" b="0">
                            <a:solidFill>
                              <a:srgbClr val="1E293B"/>
                            </a:solidFill>
                            <a:latin typeface="Cambria Math" panose="02040503050406030204" pitchFamily="18" charset="0"/>
                          </a:rPr>
                          <m:t>b</m:t>
                        </m:r>
                      </m:e>
                    </m:acc>
                    <m:r>
                      <a:rPr lang="vi-VN" sz="3000" b="0">
                        <a:solidFill>
                          <a:srgbClr val="1E293B"/>
                        </a:solidFill>
                        <a:latin typeface="Cambria Math" panose="02040503050406030204" pitchFamily="18" charset="0"/>
                      </a:rPr>
                      <m:t>)</m:t>
                    </m:r>
                  </m:oMath>
                </a14:m>
              </a:p>
            </p:txBody>
          </p:sp>
        </mc:Choice>
        <mc:Fallback>
          <p:sp>
            <p:nvSpPr>
              <p:cNvPr id="11" name="TextBox 10"/>
              <p:cNvSpPr txBox="1"/>
              <p:nvPr/>
            </p:nvSpPr>
            <p:spPr>
              <a:xfrm>
                <a:off x="713232" y="3328416"/>
                <a:ext cx="10735056" cy="1298448"/>
              </a:xfrm>
              <a:prstGeom prst="rect">
                <a:avLst/>
              </a:prstGeom>
              <a:noFill/>
            </p:spPr>
            <p:txBody>
              <a:bodyPr wrap="square" anchor="ctr" lIns="45720" rIns="45720">
                <a:spAutoFit/>
              </a:bodyPr>
              <a:lstStyle/>
              <a:p>
                <a:pPr algn="l">
                  <a:spcAft>
                    <a:spcPts val="800"/>
                  </a:spcAft>
                </a:pPr>
                <a:r>
                  <a:rPr sz="2200">
                    <a:solidFill>
                      <a:srgbClr val="1E293B"/>
                    </a:solidFill>
                    <a:latin typeface="Calibri"/>
                  </a:rPr>
                  <a:t>Trong không gian, cho hai vectơ </a:t>
                </a:r>
                <a:r>
                  <a:rPr lang="vi-VN"/>
                  <a:t>\vec{a},\ \vec{b}</a:t>
                </a:r>
                <a:r>
                  <a:rPr sz="2200">
                    <a:solidFill>
                      <a:srgbClr val="1E293B"/>
                    </a:solidFill>
                    <a:latin typeface="Calibri"/>
                  </a:rPr>
                  <a:t> đều khác </a:t>
                </a:r>
                <a:r>
                  <a:rPr lang="vi-VN"/>
                  <a:t>\vec{0}</a:t>
                </a:r>
                <a:r>
                  <a:rPr sz="2200">
                    <a:solidFill>
                      <a:srgbClr val="1E293B"/>
                    </a:solidFill>
                    <a:latin typeface="Calibri"/>
                  </a:rPr>
                  <a:t>. </a:t>
                </a:r>
                <a:r>
                  <a:rPr sz="2200" b="1">
                    <a:solidFill>
                      <a:srgbClr val="1E293B"/>
                    </a:solidFill>
                    <a:latin typeface="Calibri"/>
                  </a:rPr>
                  <a:t>Tích vô hướng</a:t>
                </a:r>
                <a:r>
                  <a:rPr sz="2200">
                    <a:solidFill>
                      <a:srgbClr val="1E293B"/>
                    </a:solidFill>
                    <a:latin typeface="Calibri"/>
                  </a:rPr>
                  <a:t> của hai vectơ </a:t>
                </a:r>
                <a:r>
                  <a:rPr lang="vi-VN"/>
                  <a:t>\vec{a}</a:t>
                </a:r>
                <a:r>
                  <a:rPr sz="2200">
                    <a:solidFill>
                      <a:srgbClr val="1E293B"/>
                    </a:solidFill>
                    <a:latin typeface="Calibri"/>
                  </a:rPr>
                  <a:t> và </a:t>
                </a:r>
                <a:r>
                  <a:rPr lang="vi-VN"/>
                  <a:t>\vec{b}</a:t>
                </a:r>
                <a:r>
                  <a:rPr sz="2200">
                    <a:solidFill>
                      <a:srgbClr val="1E293B"/>
                    </a:solidFill>
                    <a:latin typeface="Calibri"/>
                  </a:rPr>
                  <a:t> là một số, kí hiệu là </a:t>
                </a:r>
                <a:r>
                  <a:rPr lang="vi-VN"/>
                  <a:t>\vec{a}\cdot\vec{b}</a:t>
                </a:r>
                <a:r>
                  <a:rPr sz="2200">
                    <a:solidFill>
                      <a:srgbClr val="1E293B"/>
                    </a:solidFill>
                    <a:latin typeface="Calibri"/>
                  </a:rPr>
                  <a:t>, được xác định bởi công thức:</a:t>
                </a:r>
              </a:p>
              <a:p>
                <a:pPr algn="ctr">
                  <a:spcAft>
                    <a:spcPts val="800"/>
                  </a:spcAft>
                </a:pPr>
                <a:r>
                  <a:rPr sz="3000">
                    <a:solidFill>
                      <a:srgbClr val="1E293B"/>
                    </a:solidFill>
                    <a:latin typeface="Calibri"/>
                  </a:rPr>
                  <a:t> </a:t>
                </a:r>
                <a:r>
                  <a:rPr lang="vi-VN"/>
                  <a:t>\vec{a}\cdot\vec{b}=|\vec{a}|\cdot|\vec{b}|\cdot\cos(\vec{a},\vec{b})</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TÍCH VÔ HƯỚNG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63</a:t>
            </a:r>
          </a:p>
        </p:txBody>
      </p:sp>
      <p:sp>
        <p:nvSpPr>
          <p:cNvPr id="7" name="Rounded Rectangle 6"/>
          <p:cNvSpPr/>
          <p:nvPr/>
        </p:nvSpPr>
        <p:spPr>
          <a:xfrm>
            <a:off x="548640" y="1463040"/>
            <a:ext cx="11064240" cy="21945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212140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400">
                    <a:solidFill>
                      <a:srgbClr val="1E293B"/>
                    </a:solidFill>
                    <a:latin typeface="Calibri"/>
                  </a:rPr>
                  <a:t>Quy ước nếu </a:t>
                </a:r>
                <a14:m>
                  <m:oMath xmlns:m="http://schemas.openxmlformats.org/officeDocument/2006/math">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0</m:t>
                        </m:r>
                      </m:e>
                    </m:acc>
                  </m:oMath>
                </a14:m>
                <a:r>
                  <a:rPr sz="2400">
                    <a:solidFill>
                      <a:srgbClr val="1E293B"/>
                    </a:solidFill>
                    <a:latin typeface="Calibri"/>
                  </a:rPr>
                  <a:t> hoặc </a:t>
                </a:r>
                <a14:m>
                  <m:oMath xmlns:m="http://schemas.openxmlformats.org/officeDocument/2006/math">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0</m:t>
                        </m:r>
                      </m:e>
                    </m:acc>
                  </m:oMath>
                </a14:m>
                <a:r>
                  <a:rPr sz="2400">
                    <a:solidFill>
                      <a:srgbClr val="1E293B"/>
                    </a:solidFill>
                    <a:latin typeface="Calibri"/>
                  </a:rPr>
                  <a:t> thì </a:t>
                </a:r>
                <a14:m>
                  <m:oMath xmlns:m="http://schemas.openxmlformats.org/officeDocument/2006/math">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=0</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Cho hai vectơ </a:t>
                </a:r>
                <a14:m>
                  <m:oMath xmlns:m="http://schemas.openxmlformats.org/officeDocument/2006/math">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b</m:t>
                        </m:r>
                      </m:e>
                    </m:acc>
                  </m:oMath>
                </a14:m>
                <a:r>
                  <a:rPr sz="2400">
                    <a:solidFill>
                      <a:srgbClr val="1E293B"/>
                    </a:solidFill>
                    <a:latin typeface="Calibri"/>
                  </a:rPr>
                  <a:t> đều khác </a:t>
                </a:r>
                <a14:m>
                  <m:oMath xmlns:m="http://schemas.openxmlformats.org/officeDocument/2006/math">
                    <m:acc>
                      <m:accPr>
                        <m:chr m:val="⃗"/>
                      </m:accPr>
                      <m:e>
                        <m:r>
                          <a:rPr lang="vi-VN" sz="2400" b="0">
                            <a:solidFill>
                              <a:srgbClr val="1E293B"/>
                            </a:solidFill>
                            <a:latin typeface="Cambria Math" panose="02040503050406030204" pitchFamily="18" charset="0"/>
                          </a:rPr>
                          <m:t>0</m:t>
                        </m:r>
                      </m:e>
                    </m:acc>
                  </m:oMath>
                </a14:m>
                <a:r>
                  <a:rPr sz="2400">
                    <a:solidFill>
                      <a:srgbClr val="1E293B"/>
                    </a:solidFill>
                    <a:latin typeface="Calibri"/>
                  </a:rPr>
                  <a:t>. Khi đó: </a:t>
                </a:r>
                <a14:m>
                  <m:oMath xmlns:m="http://schemas.openxmlformats.org/officeDocument/2006/math">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=0</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Với mọi vectơ </a:t>
                </a:r>
                <a14:m>
                  <m:oMath xmlns:m="http://schemas.openxmlformats.org/officeDocument/2006/math">
                    <m:acc>
                      <m:accPr>
                        <m:chr m:val="⃗"/>
                      </m:accPr>
                      <m:e>
                        <m:r>
                          <a:rPr lang="vi-VN" sz="2400" b="0">
                            <a:solidFill>
                              <a:srgbClr val="1E293B"/>
                            </a:solidFill>
                            <a:latin typeface="Cambria Math" panose="02040503050406030204" pitchFamily="18" charset="0"/>
                          </a:rPr>
                          <m:t>a</m:t>
                        </m:r>
                      </m:e>
                    </m:acc>
                  </m:oMath>
                </a14:m>
                <a:r>
                  <a:rPr sz="2400">
                    <a:solidFill>
                      <a:srgbClr val="1E293B"/>
                    </a:solidFill>
                    <a:latin typeface="Calibri"/>
                  </a:rPr>
                  <a:t>, ta có </a:t>
                </a:r>
                <a14:m>
                  <m:oMath xmlns:m="http://schemas.openxmlformats.org/officeDocument/2006/math">
                    <m:sSup>
                      <m:e>
                        <m:acc>
                          <m:accPr>
                            <m:chr m:val="⃗"/>
                          </m:accPr>
                          <m:e>
                            <m:r>
                              <a:rPr lang="vi-VN" sz="2400" b="0">
                                <a:solidFill>
                                  <a:srgbClr val="1E293B"/>
                                </a:solidFill>
                                <a:latin typeface="Cambria Math" panose="02040503050406030204" pitchFamily="18" charset="0"/>
                              </a:rPr>
                              <m:t>a</m:t>
                            </m:r>
                          </m:e>
                        </m:acc>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Nếu </a:t>
                </a:r>
                <a14:m>
                  <m:oMath xmlns:m="http://schemas.openxmlformats.org/officeDocument/2006/math">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b</m:t>
                        </m:r>
                      </m:e>
                    </m:acc>
                  </m:oMath>
                </a14:m>
                <a:r>
                  <a:rPr sz="2400">
                    <a:solidFill>
                      <a:srgbClr val="1E293B"/>
                    </a:solidFill>
                    <a:latin typeface="Calibri"/>
                  </a:rPr>
                  <a:t> là hai vectơ khác </a:t>
                </a:r>
                <a14:m>
                  <m:oMath xmlns:m="http://schemas.openxmlformats.org/officeDocument/2006/math">
                    <m:acc>
                      <m:accPr>
                        <m:chr m:val="⃗"/>
                      </m:accPr>
                      <m:e>
                        <m:r>
                          <a:rPr lang="vi-VN" sz="2400" b="0">
                            <a:solidFill>
                              <a:srgbClr val="1E293B"/>
                            </a:solidFill>
                            <a:latin typeface="Cambria Math" panose="02040503050406030204" pitchFamily="18" charset="0"/>
                          </a:rPr>
                          <m:t>0</m:t>
                        </m:r>
                      </m:e>
                    </m:acc>
                  </m:oMath>
                </a14:m>
                <a:r>
                  <a:rPr sz="2400">
                    <a:solidFill>
                      <a:srgbClr val="1E293B"/>
                    </a:solidFill>
                    <a:latin typeface="Calibri"/>
                  </a:rPr>
                  <a:t> thì </a:t>
                </a:r>
                <a14:m>
                  <m:oMath xmlns:m="http://schemas.openxmlformats.org/officeDocument/2006/math">
                    <m:r>
                      <m:rPr>
                        <m:sty m:val="p"/>
                      </m:rPr>
                      <a:rPr lang="vi-VN" sz="2400" b="0">
                        <a:solidFill>
                          <a:srgbClr val="1E293B"/>
                        </a:solidFill>
                        <a:latin typeface="Cambria Math" panose="02040503050406030204" pitchFamily="18" charset="0"/>
                      </a:rPr>
                      <m:t>cos</m:t>
                    </m:r>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m:t>
                    </m:r>
                    <m:f>
                      <m:fPr>
                        <m:type m:val="bar"/>
                      </m:fPr>
                      <m:num>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num>
                      <m:den>
                        <m:d>
                          <m:dPr>
                            <m:begChr m:val="|"/>
                            <m:sepChr m:val=""/>
                            <m:endChr m:val="|"/>
                          </m:dPr>
                          <m:e>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e>
                        </m:d>
                      </m:den>
                    </m:f>
                  </m:oMath>
                </a14:m>
                <a:r>
                  <a:rPr sz="2400">
                    <a:solidFill>
                      <a:srgbClr val="1E293B"/>
                    </a:solidFill>
                    <a:latin typeface="Calibri"/>
                  </a:rPr>
                  <a:t>.</a:t>
                </a:r>
              </a:p>
            </p:txBody>
          </p:sp>
        </mc:Choice>
        <mc:Fallback>
          <p:sp>
            <p:nvSpPr>
              <p:cNvPr id="8" name="TextBox 7"/>
              <p:cNvSpPr txBox="1"/>
              <p:nvPr/>
            </p:nvSpPr>
            <p:spPr>
              <a:xfrm>
                <a:off x="713232" y="1499616"/>
                <a:ext cx="10735056" cy="212140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400">
                    <a:solidFill>
                      <a:srgbClr val="1E293B"/>
                    </a:solidFill>
                    <a:latin typeface="Calibri"/>
                  </a:rPr>
                  <a:t>Quy ước nếu </a:t>
                </a:r>
                <a:r>
                  <a:rPr lang="vi-VN"/>
                  <a:t>\vec{a}=\vec{0}</a:t>
                </a:r>
                <a:r>
                  <a:rPr sz="2400">
                    <a:solidFill>
                      <a:srgbClr val="1E293B"/>
                    </a:solidFill>
                    <a:latin typeface="Calibri"/>
                  </a:rPr>
                  <a:t> hoặc </a:t>
                </a:r>
                <a:r>
                  <a:rPr lang="vi-VN"/>
                  <a:t>\vec{b}=\vec{0}</a:t>
                </a:r>
                <a:r>
                  <a:rPr sz="2400">
                    <a:solidFill>
                      <a:srgbClr val="1E293B"/>
                    </a:solidFill>
                    <a:latin typeface="Calibri"/>
                  </a:rPr>
                  <a:t> thì </a:t>
                </a:r>
                <a:r>
                  <a:rPr lang="vi-VN"/>
                  <a:t>\vec{a}\cdot\vec{b}=0</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Cho hai vectơ </a:t>
                </a:r>
                <a:r>
                  <a:rPr lang="vi-VN"/>
                  <a:t>\vec{a},\ \vec{b}</a:t>
                </a:r>
                <a:r>
                  <a:rPr sz="2400">
                    <a:solidFill>
                      <a:srgbClr val="1E293B"/>
                    </a:solidFill>
                    <a:latin typeface="Calibri"/>
                  </a:rPr>
                  <a:t> đều khác </a:t>
                </a:r>
                <a:r>
                  <a:rPr lang="vi-VN"/>
                  <a:t>\vec{0}</a:t>
                </a:r>
                <a:r>
                  <a:rPr sz="2400">
                    <a:solidFill>
                      <a:srgbClr val="1E293B"/>
                    </a:solidFill>
                    <a:latin typeface="Calibri"/>
                  </a:rPr>
                  <a:t>. Khi đó: </a:t>
                </a:r>
                <a:r>
                  <a:rPr lang="vi-VN"/>
                  <a:t>\vec{a}\perp\vec{b}\Leftrightarrow\vec{a}\cdot\vec{b}=0</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Với mọi vectơ </a:t>
                </a:r>
                <a:r>
                  <a:rPr lang="vi-VN"/>
                  <a:t>\vec{a}</a:t>
                </a:r>
                <a:r>
                  <a:rPr sz="2400">
                    <a:solidFill>
                      <a:srgbClr val="1E293B"/>
                    </a:solidFill>
                    <a:latin typeface="Calibri"/>
                  </a:rPr>
                  <a:t>, ta có </a:t>
                </a:r>
                <a:r>
                  <a:rPr lang="vi-VN"/>
                  <a:t>\vec{a}^2=|\vec{a}|^2</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Nếu </a:t>
                </a:r>
                <a:r>
                  <a:rPr lang="vi-VN"/>
                  <a:t>\vec{a},\ \vec{b}</a:t>
                </a:r>
                <a:r>
                  <a:rPr sz="2400">
                    <a:solidFill>
                      <a:srgbClr val="1E293B"/>
                    </a:solidFill>
                    <a:latin typeface="Calibri"/>
                  </a:rPr>
                  <a:t> là hai vectơ khác </a:t>
                </a:r>
                <a:r>
                  <a:rPr lang="vi-VN"/>
                  <a:t>\vec{0}</a:t>
                </a:r>
                <a:r>
                  <a:rPr sz="2400">
                    <a:solidFill>
                      <a:srgbClr val="1E293B"/>
                    </a:solidFill>
                    <a:latin typeface="Calibri"/>
                  </a:rPr>
                  <a:t> thì </a:t>
                </a:r>
                <a:r>
                  <a:rPr lang="vi-VN"/>
                  <a:t>\cos(\vec{a},\vec{b})=\frac{\vec{a}\cdot\vec{b}}{|\vec{a}|\cdot|\vec{b}|}</a:t>
                </a:r>
                <a:r>
                  <a:rPr sz="2400">
                    <a:solidFill>
                      <a:srgbClr val="1E293B"/>
                    </a:solidFill>
                    <a:latin typeface="Calibri"/>
                  </a:rPr>
                  <a:t>.</a:t>
                </a: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10 (SGK TR.56 – 57)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778240" cy="118872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chóp tứ giác đều </a:t>
                </a:r>
                <a14:m>
                  <m:oMath xmlns:m="http://schemas.openxmlformats.org/officeDocument/2006/math">
                    <m:r>
                      <a:rPr lang="vi-VN" sz="2200" b="0">
                        <a:solidFill>
                          <a:srgbClr val="1E293B"/>
                        </a:solidFill>
                        <a:latin typeface="Cambria Math" panose="02040503050406030204" pitchFamily="18" charset="0"/>
                      </a:rPr>
                      <m:t>S.ABCD</m:t>
                    </m:r>
                  </m:oMath>
                </a14:m>
                <a:r>
                  <a:rPr sz="2200">
                    <a:solidFill>
                      <a:srgbClr val="1E293B"/>
                    </a:solidFill>
                    <a:latin typeface="Calibri"/>
                  </a:rPr>
                  <a:t> có độ dài tất cả các cạnh bằng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(H.2.26). Tính các tích vô hướng: a) </a:t>
                </a:r>
                <a14:m>
                  <m:oMath xmlns:m="http://schemas.openxmlformats.org/officeDocument/2006/math">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   b) </a:t>
                </a:r>
                <a14:m>
                  <m:oMath xmlns:m="http://schemas.openxmlformats.org/officeDocument/2006/math">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a:t>
                </a:r>
              </a:p>
            </p:txBody>
          </p:sp>
        </mc:Choice>
        <mc:Fallback>
          <p:sp>
            <p:nvSpPr>
              <p:cNvPr id="7" name="TextBox 6"/>
              <p:cNvSpPr txBox="1"/>
              <p:nvPr/>
            </p:nvSpPr>
            <p:spPr>
              <a:xfrm>
                <a:off x="548640" y="1371600"/>
                <a:ext cx="8778240" cy="118872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chóp tứ giác đều </a:t>
                </a:r>
                <a:r>
                  <a:rPr lang="vi-VN"/>
                  <a:t>S.ABCD</a:t>
                </a:r>
                <a:r>
                  <a:rPr sz="2200">
                    <a:solidFill>
                      <a:srgbClr val="1E293B"/>
                    </a:solidFill>
                    <a:latin typeface="Calibri"/>
                  </a:rPr>
                  <a:t> có độ dài tất cả các cạnh bằng </a:t>
                </a:r>
                <a:r>
                  <a:rPr lang="vi-VN"/>
                  <a:t>a</a:t>
                </a:r>
                <a:r>
                  <a:rPr sz="2200">
                    <a:solidFill>
                      <a:srgbClr val="1E293B"/>
                    </a:solidFill>
                    <a:latin typeface="Calibri"/>
                  </a:rPr>
                  <a:t> (H.2.26). Tính các tích vô hướng: a) </a:t>
                </a:r>
                <a:r>
                  <a:rPr lang="vi-VN"/>
                  <a:t>\overrightarrow{AS}\cdot\overrightarrow{BC}</a:t>
                </a:r>
                <a:r>
                  <a:rPr sz="2200">
                    <a:solidFill>
                      <a:srgbClr val="1E293B"/>
                    </a:solidFill>
                    <a:latin typeface="Calibri"/>
                  </a:rPr>
                  <a:t>;   b) </a:t>
                </a:r>
                <a:r>
                  <a:rPr lang="vi-VN"/>
                  <a:t>\overrightarrow{AS}\cdot\overrightarrow{AC}</a:t>
                </a:r>
                <a:r>
                  <a:rPr sz="2200">
                    <a:solidFill>
                      <a:srgbClr val="1E293B"/>
                    </a:solidFill>
                    <a:latin typeface="Calibri"/>
                  </a:rPr>
                  <a:t>.</a:t>
                </a:r>
              </a:p>
            </p:txBody>
          </p:sp>
        </mc:Fallback>
      </mc:AlternateContent>
      <p:sp>
        <p:nvSpPr>
          <p:cNvPr id="8" name="s1_nen"/>
          <p:cNvSpPr/>
          <p:nvPr/>
        </p:nvSpPr>
        <p:spPr>
          <a:xfrm>
            <a:off x="548640" y="2651760"/>
            <a:ext cx="8778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88336"/>
                <a:ext cx="8449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Tam giác </a:t>
                </a:r>
                <a14:m>
                  <m:oMath xmlns:m="http://schemas.openxmlformats.org/officeDocument/2006/math">
                    <m:r>
                      <a:rPr lang="vi-VN" sz="2100" b="0">
                        <a:solidFill>
                          <a:srgbClr val="1E293B"/>
                        </a:solidFill>
                        <a:latin typeface="Cambria Math" panose="02040503050406030204" pitchFamily="18" charset="0"/>
                      </a:rPr>
                      <m:t>SAD</m:t>
                    </m:r>
                  </m:oMath>
                </a14:m>
                <a:r>
                  <a:rPr sz="2100">
                    <a:solidFill>
                      <a:srgbClr val="1E293B"/>
                    </a:solidFill>
                    <a:latin typeface="Calibri"/>
                  </a:rPr>
                  <a:t> đều nên </a:t>
                </a:r>
                <a14:m>
                  <m:oMath xmlns:m="http://schemas.openxmlformats.org/officeDocument/2006/math">
                    <m:acc>
                      <m:accPr>
                        <m:chr m:val="̂"/>
                      </m:accPr>
                      <m:e>
                        <m:r>
                          <a:rPr lang="vi-VN" sz="2100" b="0">
                            <a:solidFill>
                              <a:srgbClr val="1E293B"/>
                            </a:solidFill>
                            <a:latin typeface="Cambria Math" panose="02040503050406030204" pitchFamily="18" charset="0"/>
                          </a:rPr>
                          <m:t>SAD</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AD</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BC</m:t>
                        </m:r>
                      </m:e>
                    </m:acc>
                  </m:oMath>
                </a14:m>
                <a:r>
                  <a:rPr sz="2100">
                    <a:solidFill>
                      <a:srgbClr val="1E293B"/>
                    </a:solidFill>
                    <a:latin typeface="Calibri"/>
                  </a:rPr>
                  <a:t> nên </a:t>
                </a:r>
                <a14:m>
                  <m:oMath xmlns:m="http://schemas.openxmlformats.org/officeDocument/2006/math">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AS</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SAD</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9" name="TextBox 8"/>
              <p:cNvSpPr txBox="1"/>
              <p:nvPr/>
            </p:nvSpPr>
            <p:spPr>
              <a:xfrm>
                <a:off x="713232" y="2688336"/>
                <a:ext cx="8449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Tam giác </a:t>
                </a:r>
                <a:r>
                  <a:rPr lang="vi-VN"/>
                  <a:t>SAD</a:t>
                </a:r>
                <a:r>
                  <a:rPr sz="2100">
                    <a:solidFill>
                      <a:srgbClr val="1E293B"/>
                    </a:solidFill>
                    <a:latin typeface="Calibri"/>
                  </a:rPr>
                  <a:t> đều nên </a:t>
                </a:r>
                <a:r>
                  <a:rPr lang="vi-VN"/>
                  <a:t>\widehat{SAD}=60^\circ</a:t>
                </a:r>
                <a:r>
                  <a:rPr sz="2100">
                    <a:solidFill>
                      <a:srgbClr val="1E293B"/>
                    </a:solidFill>
                    <a:latin typeface="Calibri"/>
                  </a:rPr>
                  <a:t>. </a:t>
                </a:r>
                <a:r>
                  <a:rPr lang="vi-VN"/>
                  <a:t>\overrightarrow{AD}=\overrightarrow{BC}</a:t>
                </a:r>
                <a:r>
                  <a:rPr sz="2100">
                    <a:solidFill>
                      <a:srgbClr val="1E293B"/>
                    </a:solidFill>
                    <a:latin typeface="Calibri"/>
                  </a:rPr>
                  <a:t> nên </a:t>
                </a:r>
                <a:r>
                  <a:rPr lang="vi-VN"/>
                  <a:t>(\overrightarrow{AS},\overrightarrow{BC})=\widehat{SAD}=60^\circ</a:t>
                </a:r>
                <a:r>
                  <a:rPr sz="2100">
                    <a:solidFill>
                      <a:srgbClr val="1E293B"/>
                    </a:solidFill>
                    <a:latin typeface="Calibri"/>
                  </a:rPr>
                  <a:t>.</a:t>
                </a:r>
              </a:p>
            </p:txBody>
          </p:sp>
        </mc:Fallback>
      </mc:AlternateContent>
      <p:sp>
        <p:nvSpPr>
          <p:cNvPr id="10" name="s2_nen"/>
          <p:cNvSpPr/>
          <p:nvPr/>
        </p:nvSpPr>
        <p:spPr>
          <a:xfrm>
            <a:off x="548640" y="3621023"/>
            <a:ext cx="877824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57599"/>
                <a:ext cx="84490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AS</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BC</m:t>
                        </m:r>
                      </m:e>
                    </m:acc>
                    <m:r>
                      <a:rPr lang="vi-VN" sz="2100" b="0">
                        <a:solidFill>
                          <a:srgbClr val="1E293B"/>
                        </a:solidFill>
                        <a:latin typeface="Cambria Math" panose="02040503050406030204" pitchFamily="18" charset="0"/>
                      </a:rPr>
                      <m:t>=a·a·</m:t>
                    </m:r>
                    <m:r>
                      <m:rPr>
                        <m:sty m:val="p"/>
                      </m:rPr>
                      <a:rPr lang="vi-VN" sz="2100" b="0">
                        <a:solidFill>
                          <a:srgbClr val="1E293B"/>
                        </a:solidFill>
                        <a:latin typeface="Cambria Math" panose="02040503050406030204" pitchFamily="18" charset="0"/>
                      </a:rPr>
                      <m:t>cos</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2</m:t>
                            </m:r>
                          </m:sup>
                        </m:sSup>
                      </m:num>
                      <m:den>
                        <m:r>
                          <a:rPr lang="vi-VN" sz="2100" b="0">
                            <a:solidFill>
                              <a:srgbClr val="1E293B"/>
                            </a:solidFill>
                            <a:latin typeface="Cambria Math" panose="02040503050406030204" pitchFamily="18" charset="0"/>
                          </a:rPr>
                          <m:t>2</m:t>
                        </m:r>
                      </m:den>
                    </m:f>
                  </m:oMath>
                </a14:m>
                <a:r>
                  <a:rPr sz="2100">
                    <a:solidFill>
                      <a:srgbClr val="1E293B"/>
                    </a:solidFill>
                    <a:latin typeface="Calibri"/>
                  </a:rPr>
                  <a:t>.</a:t>
                </a:r>
              </a:p>
            </p:txBody>
          </p:sp>
        </mc:Choice>
        <mc:Fallback>
          <p:sp>
            <p:nvSpPr>
              <p:cNvPr id="11" name="TextBox 10"/>
              <p:cNvSpPr txBox="1"/>
              <p:nvPr/>
            </p:nvSpPr>
            <p:spPr>
              <a:xfrm>
                <a:off x="713232" y="3657599"/>
                <a:ext cx="84490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\overrightarrow{AS}\cdot\overrightarrow{BC}=a\cdot a\cdot\cos 60^\circ=\frac{a^2}{2}</a:t>
                </a:r>
                <a:r>
                  <a:rPr sz="2100">
                    <a:solidFill>
                      <a:srgbClr val="1E293B"/>
                    </a:solidFill>
                    <a:latin typeface="Calibri"/>
                  </a:rPr>
                  <a:t>.</a:t>
                </a:r>
              </a:p>
            </p:txBody>
          </p:sp>
        </mc:Fallback>
      </mc:AlternateContent>
      <p:sp>
        <p:nvSpPr>
          <p:cNvPr id="12" name="s3_nen"/>
          <p:cNvSpPr/>
          <p:nvPr/>
        </p:nvSpPr>
        <p:spPr>
          <a:xfrm>
            <a:off x="548640" y="4414266"/>
            <a:ext cx="87782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450842"/>
                <a:ext cx="8449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r>
                      <a:rPr lang="vi-VN" sz="2100" b="0">
                        <a:solidFill>
                          <a:srgbClr val="1E293B"/>
                        </a:solidFill>
                        <a:latin typeface="Cambria Math" panose="02040503050406030204" pitchFamily="18" charset="0"/>
                      </a:rPr>
                      <m:t>AC=</m:t>
                    </m:r>
                    <m:rad>
                      <m:radPr>
                        <m:degHide m:val="on"/>
                      </m:radPr>
                      <m:deg/>
                      <m:e>
                        <m:r>
                          <a:rPr lang="vi-VN" sz="2100" b="0">
                            <a:solidFill>
                              <a:srgbClr val="1E293B"/>
                            </a:solidFill>
                            <a:latin typeface="Cambria Math" panose="02040503050406030204" pitchFamily="18" charset="0"/>
                          </a:rPr>
                          <m:t>2</m:t>
                        </m:r>
                      </m:e>
                    </m:rad>
                    <m:r>
                      <a:rPr lang="vi-VN" sz="2100" b="0">
                        <a:solidFill>
                          <a:srgbClr val="1E293B"/>
                        </a:solidFill>
                        <a:latin typeface="Cambria Math" panose="02040503050406030204" pitchFamily="18" charset="0"/>
                      </a:rPr>
                      <m:t>a</m:t>
                    </m:r>
                  </m:oMath>
                </a14:m>
                <a:r>
                  <a:rPr sz="2100">
                    <a:solidFill>
                      <a:srgbClr val="1E293B"/>
                    </a:solidFill>
                    <a:latin typeface="Calibri"/>
                  </a:rPr>
                  <a:t>; tam giác </a:t>
                </a:r>
                <a14:m>
                  <m:oMath xmlns:m="http://schemas.openxmlformats.org/officeDocument/2006/math">
                    <m:r>
                      <a:rPr lang="vi-VN" sz="2100" b="0">
                        <a:solidFill>
                          <a:srgbClr val="1E293B"/>
                        </a:solidFill>
                        <a:latin typeface="Cambria Math" panose="02040503050406030204" pitchFamily="18" charset="0"/>
                      </a:rPr>
                      <m:t>SAC</m:t>
                    </m:r>
                  </m:oMath>
                </a14:m>
                <a:r>
                  <a:rPr sz="2100">
                    <a:solidFill>
                      <a:srgbClr val="1E293B"/>
                    </a:solidFill>
                    <a:latin typeface="Calibri"/>
                  </a:rPr>
                  <a:t> có </a:t>
                </a:r>
                <a14:m>
                  <m:oMath xmlns:m="http://schemas.openxmlformats.org/officeDocument/2006/math">
                    <m:r>
                      <a:rPr lang="vi-VN" sz="2100" b="0">
                        <a:solidFill>
                          <a:srgbClr val="1E293B"/>
                        </a:solidFill>
                        <a:latin typeface="Cambria Math" panose="02040503050406030204" pitchFamily="18" charset="0"/>
                      </a:rPr>
                      <m:t>SA=SC=a</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AC=</m:t>
                    </m:r>
                    <m:rad>
                      <m:radPr>
                        <m:degHide m:val="on"/>
                      </m:radPr>
                      <m:deg/>
                      <m:e>
                        <m:r>
                          <a:rPr lang="vi-VN" sz="2100" b="0">
                            <a:solidFill>
                              <a:srgbClr val="1E293B"/>
                            </a:solidFill>
                            <a:latin typeface="Cambria Math" panose="02040503050406030204" pitchFamily="18" charset="0"/>
                          </a:rPr>
                          <m:t>2</m:t>
                        </m:r>
                      </m:e>
                    </m:rad>
                    <m:r>
                      <a:rPr lang="vi-VN" sz="2100" b="0">
                        <a:solidFill>
                          <a:srgbClr val="1E293B"/>
                        </a:solidFill>
                        <a:latin typeface="Cambria Math" panose="02040503050406030204" pitchFamily="18" charset="0"/>
                      </a:rPr>
                      <m:t>a</m:t>
                    </m:r>
                  </m:oMath>
                </a14:m>
                <a:r>
                  <a:rPr sz="2100">
                    <a:solidFill>
                      <a:srgbClr val="1E293B"/>
                    </a:solidFill>
                    <a:latin typeface="Calibri"/>
                  </a:rPr>
                  <a:t> nên vuông cân tại </a:t>
                </a:r>
                <a14:m>
                  <m:oMath xmlns:m="http://schemas.openxmlformats.org/officeDocument/2006/math">
                    <m:r>
                      <a:rPr lang="vi-VN" sz="2100" b="0">
                        <a:solidFill>
                          <a:srgbClr val="1E293B"/>
                        </a:solidFill>
                        <a:latin typeface="Cambria Math" panose="02040503050406030204" pitchFamily="18" charset="0"/>
                      </a:rPr>
                      <m:t>S</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SAC</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13" name="TextBox 12"/>
              <p:cNvSpPr txBox="1"/>
              <p:nvPr/>
            </p:nvSpPr>
            <p:spPr>
              <a:xfrm>
                <a:off x="713232" y="4450842"/>
                <a:ext cx="844905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AC=\sqrt{2}a</a:t>
                </a:r>
                <a:r>
                  <a:rPr sz="2100">
                    <a:solidFill>
                      <a:srgbClr val="1E293B"/>
                    </a:solidFill>
                    <a:latin typeface="Calibri"/>
                  </a:rPr>
                  <a:t>; tam giác </a:t>
                </a:r>
                <a:r>
                  <a:rPr lang="vi-VN"/>
                  <a:t>SAC</a:t>
                </a:r>
                <a:r>
                  <a:rPr sz="2100">
                    <a:solidFill>
                      <a:srgbClr val="1E293B"/>
                    </a:solidFill>
                    <a:latin typeface="Calibri"/>
                  </a:rPr>
                  <a:t> có </a:t>
                </a:r>
                <a:r>
                  <a:rPr lang="vi-VN"/>
                  <a:t>SA=SC=a</a:t>
                </a:r>
                <a:r>
                  <a:rPr sz="2100">
                    <a:solidFill>
                      <a:srgbClr val="1E293B"/>
                    </a:solidFill>
                    <a:latin typeface="Calibri"/>
                  </a:rPr>
                  <a:t>, </a:t>
                </a:r>
                <a:r>
                  <a:rPr lang="vi-VN"/>
                  <a:t>AC=\sqrt{2}a</a:t>
                </a:r>
                <a:r>
                  <a:rPr sz="2100">
                    <a:solidFill>
                      <a:srgbClr val="1E293B"/>
                    </a:solidFill>
                    <a:latin typeface="Calibri"/>
                  </a:rPr>
                  <a:t> nên vuông cân tại </a:t>
                </a:r>
                <a:r>
                  <a:rPr lang="vi-VN"/>
                  <a:t>S</a:t>
                </a:r>
                <a:r>
                  <a:rPr sz="2100">
                    <a:solidFill>
                      <a:srgbClr val="1E293B"/>
                    </a:solidFill>
                    <a:latin typeface="Calibri"/>
                  </a:rPr>
                  <a:t>, </a:t>
                </a:r>
                <a:r>
                  <a:rPr lang="vi-VN"/>
                  <a:t>\widehat{SAC}=45^\circ</a:t>
                </a:r>
                <a:r>
                  <a:rPr sz="2100">
                    <a:solidFill>
                      <a:srgbClr val="1E293B"/>
                    </a:solidFill>
                    <a:latin typeface="Calibri"/>
                  </a:rPr>
                  <a:t>.</a:t>
                </a:r>
              </a:p>
            </p:txBody>
          </p:sp>
        </mc:Fallback>
      </mc:AlternateContent>
      <p:sp>
        <p:nvSpPr>
          <p:cNvPr id="14" name="s4_nen"/>
          <p:cNvSpPr/>
          <p:nvPr/>
        </p:nvSpPr>
        <p:spPr>
          <a:xfrm>
            <a:off x="548640" y="5383530"/>
            <a:ext cx="8778240" cy="72923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4_chu"/>
              <p:cNvSpPr txBox="1"/>
              <p:nvPr/>
            </p:nvSpPr>
            <p:spPr>
              <a:xfrm>
                <a:off x="713232" y="5420106"/>
                <a:ext cx="84490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AS</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AC</m:t>
                        </m:r>
                      </m:e>
                    </m:acc>
                    <m:r>
                      <a:rPr lang="vi-VN" sz="2100" b="0">
                        <a:solidFill>
                          <a:srgbClr val="1E293B"/>
                        </a:solidFill>
                        <a:latin typeface="Cambria Math" panose="02040503050406030204" pitchFamily="18" charset="0"/>
                      </a:rPr>
                      <m:t>=a·</m:t>
                    </m:r>
                    <m:rad>
                      <m:radPr>
                        <m:degHide m:val="on"/>
                      </m:radPr>
                      <m:deg/>
                      <m:e>
                        <m:r>
                          <a:rPr lang="vi-VN" sz="2100" b="0">
                            <a:solidFill>
                              <a:srgbClr val="1E293B"/>
                            </a:solidFill>
                            <a:latin typeface="Cambria Math" panose="02040503050406030204" pitchFamily="18" charset="0"/>
                          </a:rPr>
                          <m:t>2</m:t>
                        </m:r>
                      </m:e>
                    </m:rad>
                    <m:r>
                      <a:rPr lang="vi-VN" sz="2100" b="0">
                        <a:solidFill>
                          <a:srgbClr val="1E293B"/>
                        </a:solidFill>
                        <a:latin typeface="Cambria Math" panose="02040503050406030204" pitchFamily="18" charset="0"/>
                      </a:rPr>
                      <m:t>a·</m:t>
                    </m:r>
                    <m:f>
                      <m:fPr>
                        <m:type m:val="bar"/>
                      </m:fPr>
                      <m:num>
                        <m:rad>
                          <m:radPr>
                            <m:degHide m:val="on"/>
                          </m:radPr>
                          <m:deg/>
                          <m:e>
                            <m:r>
                              <a:rPr lang="vi-VN" sz="2100" b="0">
                                <a:solidFill>
                                  <a:srgbClr val="1E293B"/>
                                </a:solidFill>
                                <a:latin typeface="Cambria Math" panose="02040503050406030204" pitchFamily="18" charset="0"/>
                              </a:rPr>
                              <m:t>2</m:t>
                            </m:r>
                          </m:e>
                        </m:rad>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2</m:t>
                        </m:r>
                      </m:sup>
                    </m:sSup>
                  </m:oMath>
                </a14:m>
                <a:r>
                  <a:rPr sz="2100">
                    <a:solidFill>
                      <a:srgbClr val="1E293B"/>
                    </a:solidFill>
                    <a:latin typeface="Calibri"/>
                  </a:rPr>
                  <a:t>.</a:t>
                </a:r>
              </a:p>
            </p:txBody>
          </p:sp>
        </mc:Choice>
        <mc:Fallback>
          <p:sp>
            <p:nvSpPr>
              <p:cNvPr id="15" name="TextBox 14"/>
              <p:cNvSpPr txBox="1"/>
              <p:nvPr/>
            </p:nvSpPr>
            <p:spPr>
              <a:xfrm>
                <a:off x="713232" y="5420106"/>
                <a:ext cx="8449056" cy="656081"/>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\overrightarrow{AS}\cdot\overrightarrow{AC}=a\cdot\sqrt{2}a\cdot\frac{\sqrt{2}}{2}=a^2</a:t>
                </a:r>
                <a:r>
                  <a:rPr sz="2100">
                    <a:solidFill>
                      <a:srgbClr val="1E293B"/>
                    </a:solidFill>
                    <a:latin typeface="Calibri"/>
                  </a:rPr>
                  <a:t>.</a:t>
                </a:r>
              </a:p>
            </p:txBody>
          </p:sp>
        </mc:Fallback>
      </mc:AlternateContent>
      <p:pic>
        <p:nvPicPr>
          <p:cNvPr id="16" name="Picture 15" descr="h226.png"/>
          <p:cNvPicPr>
            <a:picLocks noChangeAspect="1"/>
          </p:cNvPicPr>
          <p:nvPr/>
        </p:nvPicPr>
        <p:blipFill>
          <a:blip r:embed="rId3"/>
          <a:stretch>
            <a:fillRect/>
          </a:stretch>
        </p:blipFill>
        <p:spPr>
          <a:xfrm>
            <a:off x="9418320" y="1468892"/>
            <a:ext cx="2286000" cy="2274296"/>
          </a:xfrm>
          <a:prstGeom prst="rect">
            <a:avLst/>
          </a:prstGeom>
        </p:spPr>
      </p:pic>
      <p:sp>
        <p:nvSpPr>
          <p:cNvPr id="17" name="TextBox 16"/>
          <p:cNvSpPr txBox="1"/>
          <p:nvPr/>
        </p:nvSpPr>
        <p:spPr>
          <a:xfrm>
            <a:off x="9418320" y="3767327"/>
            <a:ext cx="22860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10 (SGK TR.57)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778240" cy="5090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Ví dụ 10, hãy tính các tích vô hướng </a:t>
                </a:r>
                <a14:m>
                  <m:oMath xmlns:m="http://schemas.openxmlformats.org/officeDocument/2006/math">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BD</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oMath>
                </a14:m>
                <a:r>
                  <a:rPr sz="2200">
                    <a:solidFill>
                      <a:srgbClr val="1E293B"/>
                    </a:solidFill>
                    <a:latin typeface="Calibri"/>
                  </a:rPr>
                  <a:t>.</a:t>
                </a:r>
              </a:p>
            </p:txBody>
          </p:sp>
        </mc:Choice>
        <mc:Fallback>
          <p:sp>
            <p:nvSpPr>
              <p:cNvPr id="7" name="TextBox 6"/>
              <p:cNvSpPr txBox="1"/>
              <p:nvPr/>
            </p:nvSpPr>
            <p:spPr>
              <a:xfrm>
                <a:off x="548640" y="1371600"/>
                <a:ext cx="8778240" cy="5090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Ví dụ 10, hãy tính các tích vô hướng </a:t>
                </a:r>
                <a:r>
                  <a:rPr lang="vi-VN"/>
                  <a:t>\overrightarrow{AS}\cdot\overrightarrow{BD}</a:t>
                </a:r>
                <a:r>
                  <a:rPr sz="2200">
                    <a:solidFill>
                      <a:srgbClr val="1E293B"/>
                    </a:solidFill>
                    <a:latin typeface="Calibri"/>
                  </a:rPr>
                  <a:t> và </a:t>
                </a:r>
                <a:r>
                  <a:rPr lang="vi-VN"/>
                  <a:t>\overrightarrow{AS}\cdot\overrightarrow{CD}</a:t>
                </a:r>
                <a:r>
                  <a:rPr sz="2200">
                    <a:solidFill>
                      <a:srgbClr val="1E293B"/>
                    </a:solidFill>
                    <a:latin typeface="Calibri"/>
                  </a:rPr>
                  <a:t>.</a:t>
                </a:r>
              </a:p>
            </p:txBody>
          </p:sp>
        </mc:Fallback>
      </mc:AlternateContent>
      <p:sp>
        <p:nvSpPr>
          <p:cNvPr id="8" name="s1_nen"/>
          <p:cNvSpPr/>
          <p:nvPr/>
        </p:nvSpPr>
        <p:spPr>
          <a:xfrm>
            <a:off x="548640" y="1972056"/>
            <a:ext cx="8778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008632"/>
                <a:ext cx="8449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m:rPr>
                        <m:sty m:val="p"/>
                      </m:rPr>
                      <a:rPr lang="vi-VN" sz="2200" b="0">
                        <a:solidFill>
                          <a:srgbClr val="1E293B"/>
                        </a:solidFill>
                        <a:latin typeface="Cambria Math" panose="02040503050406030204" pitchFamily="18" charset="0"/>
                      </a:rPr>
                      <m:t>cos</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60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r>
                      <m:rPr>
                        <m:sty m:val="p"/>
                      </m:rPr>
                      <a:rPr lang="vi-VN" sz="2200" b="0">
                        <a:solidFill>
                          <a:srgbClr val="1E293B"/>
                        </a:solidFill>
                        <a:latin typeface="Cambria Math" panose="02040503050406030204" pitchFamily="18" charset="0"/>
                      </a:rPr>
                      <m:t>cos</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60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m:t>
                    </m:r>
                  </m:oMath>
                </a14:m>
                <a:r>
                  <a:rPr sz="2200">
                    <a:solidFill>
                      <a:srgbClr val="1E293B"/>
                    </a:solidFill>
                    <a:latin typeface="Calibri"/>
                  </a:rPr>
                  <a:t>.</a:t>
                </a:r>
              </a:p>
            </p:txBody>
          </p:sp>
        </mc:Choice>
        <mc:Fallback>
          <p:sp>
            <p:nvSpPr>
              <p:cNvPr id="9" name="TextBox 8"/>
              <p:cNvSpPr txBox="1"/>
              <p:nvPr/>
            </p:nvSpPr>
            <p:spPr>
              <a:xfrm>
                <a:off x="713232" y="2008632"/>
                <a:ext cx="8449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\overrightarrow{AS}\cdot\overrightarrow{BD}=\overrightarrow{AS}\cdot(\overrightarrow{AD}-\overrightarrow{AB})=a^2\cos 60^\circ-a^2\cos 60^\circ=0</a:t>
                </a:r>
                <a:r>
                  <a:rPr sz="2200">
                    <a:solidFill>
                      <a:srgbClr val="1E293B"/>
                    </a:solidFill>
                    <a:latin typeface="Calibri"/>
                  </a:rPr>
                  <a:t>.</a:t>
                </a:r>
              </a:p>
            </p:txBody>
          </p:sp>
        </mc:Fallback>
      </mc:AlternateContent>
      <p:sp>
        <p:nvSpPr>
          <p:cNvPr id="10" name="s2_nen"/>
          <p:cNvSpPr/>
          <p:nvPr/>
        </p:nvSpPr>
        <p:spPr>
          <a:xfrm>
            <a:off x="548640" y="2663952"/>
            <a:ext cx="877824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700528"/>
                <a:ext cx="844905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60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CD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AS</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f>
                      <m:fPr>
                        <m:type m:val="bar"/>
                      </m:fPr>
                      <m:num>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num>
                      <m:den>
                        <m:r>
                          <a:rPr lang="vi-VN" sz="2200" b="0">
                            <a:solidFill>
                              <a:srgbClr val="1E293B"/>
                            </a:solidFill>
                            <a:latin typeface="Cambria Math" panose="02040503050406030204" pitchFamily="18" charset="0"/>
                          </a:rPr>
                          <m:t>2</m:t>
                        </m:r>
                      </m:den>
                    </m:f>
                  </m:oMath>
                </a14:m>
                <a:r>
                  <a:rPr sz="2200">
                    <a:solidFill>
                      <a:srgbClr val="1E293B"/>
                    </a:solidFill>
                    <a:latin typeface="Calibri"/>
                  </a:rPr>
                  <a:t>.</a:t>
                </a:r>
              </a:p>
            </p:txBody>
          </p:sp>
        </mc:Choice>
        <mc:Fallback>
          <p:sp>
            <p:nvSpPr>
              <p:cNvPr id="11" name="TextBox 10"/>
              <p:cNvSpPr txBox="1"/>
              <p:nvPr/>
            </p:nvSpPr>
            <p:spPr>
              <a:xfrm>
                <a:off x="713232" y="2700528"/>
                <a:ext cx="8449056" cy="678179"/>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\overrightarrow{CD}=-\overrightarrow{AB}</a:t>
                </a:r>
                <a:r>
                  <a:rPr sz="2200">
                    <a:solidFill>
                      <a:srgbClr val="1E293B"/>
                    </a:solidFill>
                    <a:latin typeface="Calibri"/>
                  </a:rPr>
                  <a:t>, </a:t>
                </a:r>
                <a:r>
                  <a:rPr lang="vi-VN"/>
                  <a:t>(\overrightarrow{AS},\overrightarrow{AB})=60^\circ</a:t>
                </a:r>
                <a:r>
                  <a:rPr sz="2200">
                    <a:solidFill>
                      <a:srgbClr val="1E293B"/>
                    </a:solidFill>
                    <a:latin typeface="Calibri"/>
                  </a:rPr>
                  <a:t> nên </a:t>
                </a:r>
                <a:r>
                  <a:rPr lang="vi-VN"/>
                  <a:t>\overrightarrow{AS}\cdot\overrightarrow{CD}=-\overrightarrow{AS}\cdot\overrightarrow{AB}=-\frac{a^2}{2}</a:t>
                </a:r>
                <a:r>
                  <a:rPr sz="2200">
                    <a:solidFill>
                      <a:srgbClr val="1E293B"/>
                    </a:solidFill>
                    <a:latin typeface="Calibri"/>
                  </a:rPr>
                  <a:t>.</a:t>
                </a:r>
              </a:p>
            </p:txBody>
          </p:sp>
        </mc:Fallback>
      </mc:AlternateContent>
      <p:sp>
        <p:nvSpPr>
          <p:cNvPr id="12" name="s3_nen"/>
          <p:cNvSpPr/>
          <p:nvPr/>
        </p:nvSpPr>
        <p:spPr>
          <a:xfrm>
            <a:off x="548640" y="3977640"/>
            <a:ext cx="11064240" cy="90525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014216"/>
                <a:ext cx="107350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Nhận xét</a:t>
                </a:r>
                <a:r>
                  <a:rPr sz="2100">
                    <a:solidFill>
                      <a:srgbClr val="1E293B"/>
                    </a:solidFill>
                    <a:latin typeface="Calibri"/>
                  </a:rPr>
                  <a:t> (SGK tr.57). Với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acc>
                      <m:accPr>
                        <m:chr m:val="⃗"/>
                      </m:accPr>
                      <m:e>
                        <m:r>
                          <a:rPr lang="vi-VN" sz="2100" b="0">
                            <a:solidFill>
                              <a:srgbClr val="1E293B"/>
                            </a:solidFill>
                            <a:latin typeface="Cambria Math" panose="02040503050406030204" pitchFamily="18" charset="0"/>
                          </a:rPr>
                          <m:t>c</m:t>
                        </m:r>
                      </m:e>
                    </m:acc>
                  </m:oMath>
                </a14:m>
                <a:r>
                  <a:rPr sz="2100">
                    <a:solidFill>
                      <a:srgbClr val="1E293B"/>
                    </a:solidFill>
                    <a:latin typeface="Calibri"/>
                  </a:rPr>
                  <a:t> và số thực </a:t>
                </a:r>
                <a14:m>
                  <m:oMath xmlns:m="http://schemas.openxmlformats.org/officeDocument/2006/math">
                    <m:r>
                      <a:rPr lang="vi-VN" sz="2100" b="0">
                        <a:solidFill>
                          <a:srgbClr val="1E293B"/>
                        </a:solidFill>
                        <a:latin typeface="Cambria Math" panose="02040503050406030204" pitchFamily="18" charset="0"/>
                      </a:rPr>
                      <m:t>k</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k(</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)=(k</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·(k</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m:t>
                        </m:r>
                      </m:e>
                    </m:acc>
                  </m:oMath>
                </a14:m>
                <a:r>
                  <a:rPr sz="2100">
                    <a:solidFill>
                      <a:srgbClr val="1E293B"/>
                    </a:solidFill>
                    <a:latin typeface="Calibri"/>
                  </a:rPr>
                  <a:t>.</a:t>
                </a:r>
              </a:p>
            </p:txBody>
          </p:sp>
        </mc:Choice>
        <mc:Fallback>
          <p:sp>
            <p:nvSpPr>
              <p:cNvPr id="13" name="TextBox 12"/>
              <p:cNvSpPr txBox="1"/>
              <p:nvPr/>
            </p:nvSpPr>
            <p:spPr>
              <a:xfrm>
                <a:off x="713232" y="4014216"/>
                <a:ext cx="107350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Nhận xét</a:t>
                </a:r>
                <a:r>
                  <a:rPr sz="2100">
                    <a:solidFill>
                      <a:srgbClr val="1E293B"/>
                    </a:solidFill>
                    <a:latin typeface="Calibri"/>
                  </a:rPr>
                  <a:t> (SGK tr.57). Với </a:t>
                </a:r>
                <a:r>
                  <a:rPr lang="vi-VN"/>
                  <a:t>\vec{a},\ \vec{b},\ \vec{c}</a:t>
                </a:r>
                <a:r>
                  <a:rPr sz="2100">
                    <a:solidFill>
                      <a:srgbClr val="1E293B"/>
                    </a:solidFill>
                    <a:latin typeface="Calibri"/>
                  </a:rPr>
                  <a:t> và số thực </a:t>
                </a:r>
                <a:r>
                  <a:rPr lang="vi-VN"/>
                  <a:t>k</a:t>
                </a:r>
                <a:r>
                  <a:rPr sz="2100">
                    <a:solidFill>
                      <a:srgbClr val="1E293B"/>
                    </a:solidFill>
                    <a:latin typeface="Calibri"/>
                  </a:rPr>
                  <a:t>: </a:t>
                </a:r>
                <a:r>
                  <a:rPr lang="vi-VN"/>
                  <a:t>\vec{a}\cdot\vec{b}=\vec{b}\cdot\vec{a}</a:t>
                </a:r>
                <a:r>
                  <a:rPr sz="2100">
                    <a:solidFill>
                      <a:srgbClr val="1E293B"/>
                    </a:solidFill>
                    <a:latin typeface="Calibri"/>
                  </a:rPr>
                  <a:t>; </a:t>
                </a:r>
                <a:r>
                  <a:rPr lang="vi-VN"/>
                  <a:t>k(\vec{a}\cdot\vec{b})=(k\vec{a})\cdot\vec{b}=\vec{a}\cdot(k\vec{b})</a:t>
                </a:r>
                <a:r>
                  <a:rPr sz="2100">
                    <a:solidFill>
                      <a:srgbClr val="1E293B"/>
                    </a:solidFill>
                    <a:latin typeface="Calibri"/>
                  </a:rPr>
                  <a:t>; </a:t>
                </a:r>
                <a:r>
                  <a:rPr lang="vi-VN"/>
                  <a:t>\vec{a}\cdot(\vec{b}+\vec{c})=\vec{a}\cdot\vec{b}+\vec{a}\cdot\vec{c}</a:t>
                </a:r>
                <a:r>
                  <a:rPr sz="2100">
                    <a:solidFill>
                      <a:srgbClr val="1E293B"/>
                    </a:solidFill>
                    <a:latin typeface="Calibri"/>
                  </a:rPr>
                  <a:t>.</a:t>
                </a:r>
              </a:p>
            </p:txBody>
          </p:sp>
        </mc:Fallback>
      </mc:AlternateContent>
      <p:pic>
        <p:nvPicPr>
          <p:cNvPr id="14" name="Picture 13" descr="h226.png"/>
          <p:cNvPicPr>
            <a:picLocks noChangeAspect="1"/>
          </p:cNvPicPr>
          <p:nvPr/>
        </p:nvPicPr>
        <p:blipFill>
          <a:blip r:embed="rId3"/>
          <a:stretch>
            <a:fillRect/>
          </a:stretch>
        </p:blipFill>
        <p:spPr>
          <a:xfrm>
            <a:off x="9418320" y="1468892"/>
            <a:ext cx="2286000" cy="2274296"/>
          </a:xfrm>
          <a:prstGeom prst="rect">
            <a:avLst/>
          </a:prstGeom>
        </p:spPr>
      </p:pic>
      <p:sp>
        <p:nvSpPr>
          <p:cNvPr id="15" name="TextBox 14"/>
          <p:cNvSpPr txBox="1"/>
          <p:nvPr/>
        </p:nvSpPr>
        <p:spPr>
          <a:xfrm>
            <a:off x="9418320" y="3767327"/>
            <a:ext cx="22860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11 (SGK TR.57)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778240" cy="1645920"/>
              </a:xfrm>
              <a:prstGeom prst="rect">
                <a:avLst/>
              </a:prstGeom>
              <a:noFill/>
            </p:spPr>
            <p:txBody>
              <a:bodyPr wrap="square" anchor="t" lIns="45720" rIns="45720">
                <a:spAutoFit/>
              </a:bodyPr>
              <a:lstStyle/>
              <a:p>
                <a:pPr algn="l">
                  <a:spcAft>
                    <a:spcPts val="800"/>
                  </a:spcAft>
                </a:pPr>
                <a:r>
                  <a:rPr sz="2100">
                    <a:solidFill>
                      <a:srgbClr val="1E293B"/>
                    </a:solidFill>
                    <a:latin typeface="Calibri"/>
                  </a:rPr>
                  <a:t>Cho tứ diện </a:t>
                </a:r>
                <a14:m>
                  <m:oMath xmlns:m="http://schemas.openxmlformats.org/officeDocument/2006/math">
                    <m:r>
                      <a:rPr lang="vi-VN" sz="2100" b="0">
                        <a:solidFill>
                          <a:srgbClr val="1E293B"/>
                        </a:solidFill>
                        <a:latin typeface="Cambria Math" panose="02040503050406030204" pitchFamily="18" charset="0"/>
                      </a:rPr>
                      <m:t>ABCD</m:t>
                    </m:r>
                  </m:oMath>
                </a14:m>
                <a:r>
                  <a:rPr sz="2100">
                    <a:solidFill>
                      <a:srgbClr val="1E293B"/>
                    </a:solidFill>
                    <a:latin typeface="Calibri"/>
                  </a:rPr>
                  <a:t> có </a:t>
                </a:r>
                <a14:m>
                  <m:oMath xmlns:m="http://schemas.openxmlformats.org/officeDocument/2006/math">
                    <m:r>
                      <a:rPr lang="vi-VN" sz="2100" b="0">
                        <a:solidFill>
                          <a:srgbClr val="1E293B"/>
                        </a:solidFill>
                        <a:latin typeface="Cambria Math" panose="02040503050406030204" pitchFamily="18" charset="0"/>
                      </a:rPr>
                      <m:t>AC</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BD</m:t>
                    </m:r>
                  </m:oMath>
                </a14:m>
                <a:r>
                  <a:rPr sz="2100">
                    <a:solidFill>
                      <a:srgbClr val="1E293B"/>
                    </a:solidFill>
                    <a:latin typeface="Calibri"/>
                  </a:rPr>
                  <a:t> cùng vuông góc với </a:t>
                </a:r>
                <a14:m>
                  <m:oMath xmlns:m="http://schemas.openxmlformats.org/officeDocument/2006/math">
                    <m:r>
                      <a:rPr lang="vi-VN" sz="2100" b="0">
                        <a:solidFill>
                          <a:srgbClr val="1E293B"/>
                        </a:solidFill>
                        <a:latin typeface="Cambria Math" panose="02040503050406030204" pitchFamily="18" charset="0"/>
                      </a:rPr>
                      <m:t>AB</m:t>
                    </m:r>
                  </m:oMath>
                </a14:m>
                <a:r>
                  <a:rPr sz="2100">
                    <a:solidFill>
                      <a:srgbClr val="1E293B"/>
                    </a:solidFill>
                    <a:latin typeface="Calibri"/>
                  </a:rPr>
                  <a:t>. Gọi </a:t>
                </a:r>
                <a14:m>
                  <m:oMath xmlns:m="http://schemas.openxmlformats.org/officeDocument/2006/math">
                    <m:r>
                      <a:rPr lang="vi-VN" sz="2100" b="0">
                        <a:solidFill>
                          <a:srgbClr val="1E293B"/>
                        </a:solidFill>
                        <a:latin typeface="Cambria Math" panose="02040503050406030204" pitchFamily="18" charset="0"/>
                      </a:rPr>
                      <m:t>M,</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N</m:t>
                    </m:r>
                  </m:oMath>
                </a14:m>
                <a:r>
                  <a:rPr sz="2100">
                    <a:solidFill>
                      <a:srgbClr val="1E293B"/>
                    </a:solidFill>
                    <a:latin typeface="Calibri"/>
                  </a:rPr>
                  <a:t> lần lượt là trung điểm của hai cạnh </a:t>
                </a:r>
                <a14:m>
                  <m:oMath xmlns:m="http://schemas.openxmlformats.org/officeDocument/2006/math">
                    <m:r>
                      <a:rPr lang="vi-VN" sz="2100" b="0">
                        <a:solidFill>
                          <a:srgbClr val="1E293B"/>
                        </a:solidFill>
                        <a:latin typeface="Cambria Math" panose="02040503050406030204" pitchFamily="18" charset="0"/>
                      </a:rPr>
                      <m:t>AB,</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CD</m:t>
                    </m:r>
                  </m:oMath>
                </a14:m>
                <a:r>
                  <a:rPr sz="2100">
                    <a:solidFill>
                      <a:srgbClr val="1E293B"/>
                    </a:solidFill>
                    <a:latin typeface="Calibri"/>
                  </a:rPr>
                  <a:t> (H.2.27). Chứng minh rằng:</a:t>
                </a:r>
              </a:p>
              <a:p>
                <a:pPr algn="l">
                  <a:spcAft>
                    <a:spcPts val="800"/>
                  </a:spcAft>
                </a:pPr>
                <a:r>
                  <a:rPr sz="2100">
                    <a:solidFill>
                      <a:srgbClr val="1E293B"/>
                    </a:solidFill>
                    <a:latin typeface="Calibri"/>
                  </a:rPr>
                  <a:t>a) </a:t>
                </a:r>
                <a14:m>
                  <m:oMath xmlns:m="http://schemas.openxmlformats.org/officeDocument/2006/math">
                    <m:acc>
                      <m:accPr>
                        <m:chr m:val="⃗"/>
                      </m:accPr>
                      <m:e>
                        <m:r>
                          <a:rPr lang="vi-VN" sz="2100" b="0">
                            <a:solidFill>
                              <a:srgbClr val="1E293B"/>
                            </a:solidFill>
                            <a:latin typeface="Cambria Math" panose="02040503050406030204" pitchFamily="18" charset="0"/>
                          </a:rPr>
                          <m:t>MN</m:t>
                        </m:r>
                      </m:e>
                    </m:acc>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AC</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BD</m:t>
                        </m:r>
                      </m:e>
                    </m:acc>
                    <m:r>
                      <a:rPr lang="vi-VN" sz="2100" b="0">
                        <a:solidFill>
                          <a:srgbClr val="1E293B"/>
                        </a:solidFill>
                        <a:latin typeface="Cambria Math" panose="02040503050406030204" pitchFamily="18" charset="0"/>
                      </a:rPr>
                      <m:t>)</m:t>
                    </m:r>
                  </m:oMath>
                </a14:m>
                <a:r>
                  <a:rPr sz="2100">
                    <a:solidFill>
                      <a:srgbClr val="1E293B"/>
                    </a:solidFill>
                    <a:latin typeface="Calibri"/>
                  </a:rPr>
                  <a:t>;   b) </a:t>
                </a:r>
                <a14:m>
                  <m:oMath xmlns:m="http://schemas.openxmlformats.org/officeDocument/2006/math">
                    <m:acc>
                      <m:accPr>
                        <m:chr m:val="⃗"/>
                      </m:accPr>
                      <m:e>
                        <m:r>
                          <a:rPr lang="vi-VN" sz="2100" b="0">
                            <a:solidFill>
                              <a:srgbClr val="1E293B"/>
                            </a:solidFill>
                            <a:latin typeface="Cambria Math" panose="02040503050406030204" pitchFamily="18" charset="0"/>
                          </a:rPr>
                          <m:t>MN</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AB</m:t>
                        </m:r>
                      </m:e>
                    </m:acc>
                    <m:r>
                      <a:rPr lang="vi-VN" sz="2100" b="0">
                        <a:solidFill>
                          <a:srgbClr val="1E293B"/>
                        </a:solidFill>
                        <a:latin typeface="Cambria Math" panose="02040503050406030204" pitchFamily="18" charset="0"/>
                      </a:rPr>
                      <m:t>=0</m:t>
                    </m:r>
                  </m:oMath>
                </a14:m>
                <a:r>
                  <a:rPr sz="2100">
                    <a:solidFill>
                      <a:srgbClr val="1E293B"/>
                    </a:solidFill>
                    <a:latin typeface="Calibri"/>
                  </a:rPr>
                  <a:t>.</a:t>
                </a:r>
              </a:p>
            </p:txBody>
          </p:sp>
        </mc:Choice>
        <mc:Fallback>
          <p:sp>
            <p:nvSpPr>
              <p:cNvPr id="7" name="TextBox 6"/>
              <p:cNvSpPr txBox="1"/>
              <p:nvPr/>
            </p:nvSpPr>
            <p:spPr>
              <a:xfrm>
                <a:off x="548640" y="1371600"/>
                <a:ext cx="8778240" cy="1645920"/>
              </a:xfrm>
              <a:prstGeom prst="rect">
                <a:avLst/>
              </a:prstGeom>
              <a:noFill/>
            </p:spPr>
            <p:txBody>
              <a:bodyPr wrap="square" anchor="t" lIns="45720" rIns="45720">
                <a:spAutoFit/>
              </a:bodyPr>
              <a:lstStyle/>
              <a:p>
                <a:pPr algn="l">
                  <a:spcAft>
                    <a:spcPts val="800"/>
                  </a:spcAft>
                </a:pPr>
                <a:r>
                  <a:rPr sz="2100">
                    <a:solidFill>
                      <a:srgbClr val="1E293B"/>
                    </a:solidFill>
                    <a:latin typeface="Calibri"/>
                  </a:rPr>
                  <a:t>Cho tứ diện </a:t>
                </a:r>
                <a:r>
                  <a:rPr lang="vi-VN"/>
                  <a:t>ABCD</a:t>
                </a:r>
                <a:r>
                  <a:rPr sz="2100">
                    <a:solidFill>
                      <a:srgbClr val="1E293B"/>
                    </a:solidFill>
                    <a:latin typeface="Calibri"/>
                  </a:rPr>
                  <a:t> có </a:t>
                </a:r>
                <a:r>
                  <a:rPr lang="vi-VN"/>
                  <a:t>AC</a:t>
                </a:r>
                <a:r>
                  <a:rPr sz="2100">
                    <a:solidFill>
                      <a:srgbClr val="1E293B"/>
                    </a:solidFill>
                    <a:latin typeface="Calibri"/>
                  </a:rPr>
                  <a:t> và </a:t>
                </a:r>
                <a:r>
                  <a:rPr lang="vi-VN"/>
                  <a:t>BD</a:t>
                </a:r>
                <a:r>
                  <a:rPr sz="2100">
                    <a:solidFill>
                      <a:srgbClr val="1E293B"/>
                    </a:solidFill>
                    <a:latin typeface="Calibri"/>
                  </a:rPr>
                  <a:t> cùng vuông góc với </a:t>
                </a:r>
                <a:r>
                  <a:rPr lang="vi-VN"/>
                  <a:t>AB</a:t>
                </a:r>
                <a:r>
                  <a:rPr sz="2100">
                    <a:solidFill>
                      <a:srgbClr val="1E293B"/>
                    </a:solidFill>
                    <a:latin typeface="Calibri"/>
                  </a:rPr>
                  <a:t>. Gọi </a:t>
                </a:r>
                <a:r>
                  <a:rPr lang="vi-VN"/>
                  <a:t>M,\ N</a:t>
                </a:r>
                <a:r>
                  <a:rPr sz="2100">
                    <a:solidFill>
                      <a:srgbClr val="1E293B"/>
                    </a:solidFill>
                    <a:latin typeface="Calibri"/>
                  </a:rPr>
                  <a:t> lần lượt là trung điểm của hai cạnh </a:t>
                </a:r>
                <a:r>
                  <a:rPr lang="vi-VN"/>
                  <a:t>AB,\ CD</a:t>
                </a:r>
                <a:r>
                  <a:rPr sz="2100">
                    <a:solidFill>
                      <a:srgbClr val="1E293B"/>
                    </a:solidFill>
                    <a:latin typeface="Calibri"/>
                  </a:rPr>
                  <a:t> (H.2.27). Chứng minh rằng:</a:t>
                </a:r>
              </a:p>
              <a:p>
                <a:pPr algn="l">
                  <a:spcAft>
                    <a:spcPts val="800"/>
                  </a:spcAft>
                </a:pPr>
                <a:r>
                  <a:rPr sz="2100">
                    <a:solidFill>
                      <a:srgbClr val="1E293B"/>
                    </a:solidFill>
                    <a:latin typeface="Calibri"/>
                  </a:rPr>
                  <a:t>a) </a:t>
                </a:r>
                <a:r>
                  <a:rPr lang="vi-VN"/>
                  <a:t>\overrightarrow{MN}=\frac{1}{2}(\overrightarrow{AC}+\overrightarrow{BD})</a:t>
                </a:r>
                <a:r>
                  <a:rPr sz="2100">
                    <a:solidFill>
                      <a:srgbClr val="1E293B"/>
                    </a:solidFill>
                    <a:latin typeface="Calibri"/>
                  </a:rPr>
                  <a:t>;   b) </a:t>
                </a:r>
                <a:r>
                  <a:rPr lang="vi-VN"/>
                  <a:t>\overrightarrow{MN}\cdot\overrightarrow{AB}=0</a:t>
                </a:r>
                <a:r>
                  <a:rPr sz="2100">
                    <a:solidFill>
                      <a:srgbClr val="1E293B"/>
                    </a:solidFill>
                    <a:latin typeface="Calibri"/>
                  </a:rPr>
                  <a:t>.</a:t>
                </a:r>
              </a:p>
            </p:txBody>
          </p:sp>
        </mc:Fallback>
      </mc:AlternateContent>
      <p:sp>
        <p:nvSpPr>
          <p:cNvPr id="8" name="s1_nen"/>
          <p:cNvSpPr/>
          <p:nvPr/>
        </p:nvSpPr>
        <p:spPr>
          <a:xfrm>
            <a:off x="548640" y="3108960"/>
            <a:ext cx="8778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45536"/>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CN</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DN</m:t>
                        </m:r>
                      </m:e>
                    </m:acc>
                  </m:oMath>
                </a14:m>
                <a:r>
                  <a:rPr sz="2000">
                    <a:solidFill>
                      <a:srgbClr val="1E293B"/>
                    </a:solidFill>
                    <a:latin typeface="Calibri"/>
                  </a:rPr>
                  <a:t>.</a:t>
                </a:r>
              </a:p>
            </p:txBody>
          </p:sp>
        </mc:Choice>
        <mc:Fallback>
          <p:sp>
            <p:nvSpPr>
              <p:cNvPr id="9" name="TextBox 8"/>
              <p:cNvSpPr txBox="1"/>
              <p:nvPr/>
            </p:nvSpPr>
            <p:spPr>
              <a:xfrm>
                <a:off x="713232" y="3145536"/>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\overrightarrow{MN}=\overrightarrow{MA}+\overrightarrow{AC}+\overrightarrow{CN}</a:t>
                </a:r>
                <a:r>
                  <a:rPr sz="2000">
                    <a:solidFill>
                      <a:srgbClr val="1E293B"/>
                    </a:solidFill>
                    <a:latin typeface="Calibri"/>
                  </a:rPr>
                  <a:t> và </a:t>
                </a:r>
                <a:r>
                  <a:rPr lang="vi-VN"/>
                  <a:t>\overrightarrow{MN}=\overrightarrow{MB}+\overrightarrow{BD}+\overrightarrow{DN}</a:t>
                </a:r>
                <a:r>
                  <a:rPr sz="2000">
                    <a:solidFill>
                      <a:srgbClr val="1E293B"/>
                    </a:solidFill>
                    <a:latin typeface="Calibri"/>
                  </a:rPr>
                  <a:t>.</a:t>
                </a:r>
              </a:p>
            </p:txBody>
          </p:sp>
        </mc:Fallback>
      </mc:AlternateContent>
      <p:sp>
        <p:nvSpPr>
          <p:cNvPr id="10" name="s2_nen"/>
          <p:cNvSpPr/>
          <p:nvPr/>
        </p:nvSpPr>
        <p:spPr>
          <a:xfrm>
            <a:off x="548640" y="3742944"/>
            <a:ext cx="8778240" cy="7071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779520"/>
                <a:ext cx="8449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2</m:t>
                    </m:r>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CN</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DN</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BD</m:t>
                        </m:r>
                      </m:e>
                    </m:acc>
                  </m:oMath>
                </a14:m>
                <a:r>
                  <a:rPr sz="2000">
                    <a:solidFill>
                      <a:srgbClr val="1E293B"/>
                    </a:solidFill>
                    <a:latin typeface="Calibri"/>
                  </a:rPr>
                  <a:t>, hay </a:t>
                </a:r>
                <a14:m>
                  <m:oMath xmlns:m="http://schemas.openxmlformats.org/officeDocument/2006/math">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BD</m:t>
                        </m:r>
                      </m:e>
                    </m:acc>
                    <m:r>
                      <a:rPr lang="vi-VN" sz="2000" b="0">
                        <a:solidFill>
                          <a:srgbClr val="1E293B"/>
                        </a:solidFill>
                        <a:latin typeface="Cambria Math" panose="02040503050406030204" pitchFamily="18" charset="0"/>
                      </a:rPr>
                      <m:t>)</m:t>
                    </m:r>
                  </m:oMath>
                </a14:m>
                <a:r>
                  <a:rPr sz="2000">
                    <a:solidFill>
                      <a:srgbClr val="1E293B"/>
                    </a:solidFill>
                    <a:latin typeface="Calibri"/>
                  </a:rPr>
                  <a:t>.</a:t>
                </a:r>
              </a:p>
            </p:txBody>
          </p:sp>
        </mc:Choice>
        <mc:Fallback>
          <p:sp>
            <p:nvSpPr>
              <p:cNvPr id="11" name="TextBox 10"/>
              <p:cNvSpPr txBox="1"/>
              <p:nvPr/>
            </p:nvSpPr>
            <p:spPr>
              <a:xfrm>
                <a:off x="713232" y="3779520"/>
                <a:ext cx="8449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2\overrightarrow{MN}=(\overrightarrow{MA}+\overrightarrow{MB})+(\overrightarrow{AC}+\overrightarrow{BD})+(\overrightarrow{CN}+\overrightarrow{DN})=\overrightarrow{AC}+\overrightarrow{BD}</a:t>
                </a:r>
                <a:r>
                  <a:rPr sz="2000">
                    <a:solidFill>
                      <a:srgbClr val="1E293B"/>
                    </a:solidFill>
                    <a:latin typeface="Calibri"/>
                  </a:rPr>
                  <a:t>, hay </a:t>
                </a:r>
                <a:r>
                  <a:rPr lang="vi-VN"/>
                  <a:t>\overrightarrow{MN}=\frac{1}{2}(\overrightarrow{AC}+\overrightarrow{BD})</a:t>
                </a:r>
                <a:r>
                  <a:rPr sz="2000">
                    <a:solidFill>
                      <a:srgbClr val="1E293B"/>
                    </a:solidFill>
                    <a:latin typeface="Calibri"/>
                  </a:rPr>
                  <a:t>.</a:t>
                </a:r>
              </a:p>
            </p:txBody>
          </p:sp>
        </mc:Fallback>
      </mc:AlternateContent>
      <p:sp>
        <p:nvSpPr>
          <p:cNvPr id="12" name="s3_nen"/>
          <p:cNvSpPr/>
          <p:nvPr/>
        </p:nvSpPr>
        <p:spPr>
          <a:xfrm>
            <a:off x="548640" y="4514088"/>
            <a:ext cx="8778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550664"/>
                <a:ext cx="8449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=0</m:t>
                    </m:r>
                  </m:oMath>
                </a14:m>
                <a:r>
                  <a:rPr sz="2000">
                    <a:solidFill>
                      <a:srgbClr val="1E293B"/>
                    </a:solidFill>
                    <a:latin typeface="Calibri"/>
                  </a:rPr>
                  <a:t> nên </a:t>
                </a:r>
                <a14:m>
                  <m:oMath xmlns:m="http://schemas.openxmlformats.org/officeDocument/2006/math">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acc>
                      <m:accPr>
                        <m:chr m:val="⃗"/>
                      </m:accPr>
                      <m:e>
                        <m:r>
                          <a:rPr lang="vi-VN" sz="2000" b="0">
                            <a:solidFill>
                              <a:srgbClr val="1E293B"/>
                            </a:solidFill>
                            <a:latin typeface="Cambria Math" panose="02040503050406030204" pitchFamily="18" charset="0"/>
                          </a:rPr>
                          <m:t>BD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=0</m:t>
                    </m:r>
                  </m:oMath>
                </a14:m>
                <a:r>
                  <a:rPr sz="2000">
                    <a:solidFill>
                      <a:srgbClr val="1E293B"/>
                    </a:solidFill>
                    <a:latin typeface="Calibri"/>
                  </a:rPr>
                  <a:t>.</a:t>
                </a:r>
              </a:p>
            </p:txBody>
          </p:sp>
        </mc:Choice>
        <mc:Fallback>
          <p:sp>
            <p:nvSpPr>
              <p:cNvPr id="13" name="TextBox 12"/>
              <p:cNvSpPr txBox="1"/>
              <p:nvPr/>
            </p:nvSpPr>
            <p:spPr>
              <a:xfrm>
                <a:off x="713232" y="4550664"/>
                <a:ext cx="8449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\overrightarrow{AC}\cdot\overrightarrow{AB}=\overrightarrow{BD}\cdot\overrightarrow{AB}=0</a:t>
                </a:r>
                <a:r>
                  <a:rPr sz="2000">
                    <a:solidFill>
                      <a:srgbClr val="1E293B"/>
                    </a:solidFill>
                    <a:latin typeface="Calibri"/>
                  </a:rPr>
                  <a:t> nên </a:t>
                </a:r>
                <a:r>
                  <a:rPr lang="vi-VN"/>
                  <a:t>\overrightarrow{MN}\cdot\overrightarrow{AB}=\frac{1}{2}\overrightarrow{AC}\cdot\overrightarrow{AB}+\frac{1}{2}\overrightarrow{BD}\cdot\overrightarrow{AB}=0</a:t>
                </a:r>
                <a:r>
                  <a:rPr sz="2000">
                    <a:solidFill>
                      <a:srgbClr val="1E293B"/>
                    </a:solidFill>
                    <a:latin typeface="Calibri"/>
                  </a:rPr>
                  <a:t>.</a:t>
                </a:r>
              </a:p>
            </p:txBody>
          </p:sp>
        </mc:Fallback>
      </mc:AlternateContent>
      <p:pic>
        <p:nvPicPr>
          <p:cNvPr id="14" name="Picture 13" descr="h227.png"/>
          <p:cNvPicPr>
            <a:picLocks noChangeAspect="1"/>
          </p:cNvPicPr>
          <p:nvPr/>
        </p:nvPicPr>
        <p:blipFill>
          <a:blip r:embed="rId3"/>
          <a:stretch>
            <a:fillRect/>
          </a:stretch>
        </p:blipFill>
        <p:spPr>
          <a:xfrm>
            <a:off x="9418320" y="1492171"/>
            <a:ext cx="2286000" cy="2593497"/>
          </a:xfrm>
          <a:prstGeom prst="rect">
            <a:avLst/>
          </a:prstGeom>
        </p:spPr>
      </p:pic>
      <p:sp>
        <p:nvSpPr>
          <p:cNvPr id="15" name="TextBox 14"/>
          <p:cNvSpPr txBox="1"/>
          <p:nvPr/>
        </p:nvSpPr>
        <p:spPr>
          <a:xfrm>
            <a:off x="9418320" y="4133087"/>
            <a:ext cx="22860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11 (SGK TR.57)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hình lập phương </a:t>
                </a:r>
                <a14:m>
                  <m:oMath xmlns:m="http://schemas.openxmlformats.org/officeDocument/2006/math">
                    <m:r>
                      <a:rPr lang="vi-VN" sz="2400" b="0">
                        <a:solidFill>
                          <a:srgbClr val="1E293B"/>
                        </a:solidFill>
                        <a:latin typeface="Cambria Math" panose="02040503050406030204" pitchFamily="18" charset="0"/>
                      </a:rPr>
                      <m:t>ABCD.</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Chứng minh rằng </a:t>
                </a:r>
                <a14:m>
                  <m:oMath xmlns:m="http://schemas.openxmlformats.org/officeDocument/2006/math">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C</m:t>
                        </m:r>
                      </m:e>
                    </m:acc>
                    <m:r>
                      <a:rPr lang="vi-VN" sz="2400" b="0">
                        <a:solidFill>
                          <a:srgbClr val="1E293B"/>
                        </a:solidFill>
                        <a:latin typeface="Cambria Math" panose="02040503050406030204" pitchFamily="18" charset="0"/>
                      </a:rPr>
                      <m:t>·</m:t>
                    </m:r>
                    <m:acc>
                      <m:accPr>
                        <m:chr m:val="⃗"/>
                      </m:accPr>
                      <m:e>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=0</m:t>
                    </m:r>
                  </m:oMath>
                </a14:m>
                <a:r>
                  <a:rPr sz="2400">
                    <a:solidFill>
                      <a:srgbClr val="1E293B"/>
                    </a:solidFill>
                    <a:latin typeface="Calibri"/>
                  </a:rPr>
                  <a:t>.</a:t>
                </a:r>
              </a:p>
            </p:txBody>
          </p:sp>
        </mc:Choice>
        <mc:Fallback>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hình lập phương </a:t>
                </a:r>
                <a:r>
                  <a:rPr lang="vi-VN"/>
                  <a:t>ABCD.A'B'C'D'</a:t>
                </a:r>
                <a:r>
                  <a:rPr sz="2400">
                    <a:solidFill>
                      <a:srgbClr val="1E293B"/>
                    </a:solidFill>
                    <a:latin typeface="Calibri"/>
                  </a:rPr>
                  <a:t>. Chứng minh rằng </a:t>
                </a:r>
                <a:r>
                  <a:rPr lang="vi-VN"/>
                  <a:t>\overrightarrow{A'C}\cdot\overrightarrow{B'D'}=0</a:t>
                </a:r>
                <a:r>
                  <a:rPr sz="2400">
                    <a:solidFill>
                      <a:srgbClr val="1E293B"/>
                    </a:solidFill>
                    <a:latin typeface="Calibri"/>
                  </a:rPr>
                  <a:t>.</a:t>
                </a:r>
              </a:p>
            </p:txBody>
          </p:sp>
        </mc:Fallback>
      </mc:AlternateContent>
      <p:sp>
        <p:nvSpPr>
          <p:cNvPr id="8" name="s1_nen"/>
          <p:cNvSpPr/>
          <p:nvPr/>
        </p:nvSpPr>
        <p:spPr>
          <a:xfrm>
            <a:off x="548640" y="2093976"/>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0552"/>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C</m:t>
                        </m:r>
                      </m:e>
                    </m:acc>
                    <m:r>
                      <a:rPr lang="vi-VN" sz="2400" b="0">
                        <a:solidFill>
                          <a:srgbClr val="1E293B"/>
                        </a:solidFill>
                        <a:latin typeface="Cambria Math" panose="02040503050406030204" pitchFamily="18" charset="0"/>
                      </a:rPr>
                      <m:t>=</m:t>
                    </m:r>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AC</m:t>
                        </m:r>
                      </m:e>
                    </m:acc>
                  </m:oMath>
                </a14:m>
                <a:r>
                  <a:rPr sz="2400">
                    <a:solidFill>
                      <a:srgbClr val="1E293B"/>
                    </a:solidFill>
                    <a:latin typeface="Calibri"/>
                  </a:rPr>
                  <a:t> và </a:t>
                </a:r>
                <a14:m>
                  <m:oMath xmlns:m="http://schemas.openxmlformats.org/officeDocument/2006/math">
                    <m:acc>
                      <m:accPr>
                        <m:chr m:val="⃗"/>
                      </m:accPr>
                      <m:e>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BD</m:t>
                        </m:r>
                      </m:e>
                    </m:acc>
                  </m:oMath>
                </a14:m>
                <a:r>
                  <a:rPr sz="2400">
                    <a:solidFill>
                      <a:srgbClr val="1E293B"/>
                    </a:solidFill>
                    <a:latin typeface="Calibri"/>
                  </a:rPr>
                  <a:t>.</a:t>
                </a:r>
              </a:p>
            </p:txBody>
          </p:sp>
        </mc:Choice>
        <mc:Fallback>
          <p:sp>
            <p:nvSpPr>
              <p:cNvPr id="9" name="TextBox 8"/>
              <p:cNvSpPr txBox="1"/>
              <p:nvPr/>
            </p:nvSpPr>
            <p:spPr>
              <a:xfrm>
                <a:off x="713232" y="2130552"/>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\overrightarrow{A'C}=\overrightarrow{A'A}+\overrightarrow{AC}</a:t>
                </a:r>
                <a:r>
                  <a:rPr sz="2400">
                    <a:solidFill>
                      <a:srgbClr val="1E293B"/>
                    </a:solidFill>
                    <a:latin typeface="Calibri"/>
                  </a:rPr>
                  <a:t> và </a:t>
                </a:r>
                <a:r>
                  <a:rPr lang="vi-VN"/>
                  <a:t>\overrightarrow{B'D'}=\overrightarrow{BD}</a:t>
                </a:r>
                <a:r>
                  <a:rPr sz="2400">
                    <a:solidFill>
                      <a:srgbClr val="1E293B"/>
                    </a:solidFill>
                    <a:latin typeface="Calibri"/>
                  </a:rPr>
                  <a:t>.</a:t>
                </a:r>
              </a:p>
            </p:txBody>
          </p:sp>
        </mc:Fallback>
      </mc:AlternateContent>
      <p:sp>
        <p:nvSpPr>
          <p:cNvPr id="10" name="s2_nen"/>
          <p:cNvSpPr/>
          <p:nvPr/>
        </p:nvSpPr>
        <p:spPr>
          <a:xfrm>
            <a:off x="548640" y="2907792"/>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44368"/>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C</m:t>
                        </m:r>
                      </m:e>
                    </m:acc>
                    <m:r>
                      <a:rPr lang="vi-VN" sz="2400" b="0">
                        <a:solidFill>
                          <a:srgbClr val="1E293B"/>
                        </a:solidFill>
                        <a:latin typeface="Cambria Math" panose="02040503050406030204" pitchFamily="18" charset="0"/>
                      </a:rPr>
                      <m:t>·</m:t>
                    </m:r>
                    <m:acc>
                      <m:accPr>
                        <m:chr m:val="⃗"/>
                      </m:accPr>
                      <m:e>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BD</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AC</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BD</m:t>
                        </m:r>
                      </m:e>
                    </m:acc>
                    <m:r>
                      <a:rPr lang="vi-VN" sz="2400" b="0">
                        <a:solidFill>
                          <a:srgbClr val="1E293B"/>
                        </a:solidFill>
                        <a:latin typeface="Cambria Math" panose="02040503050406030204" pitchFamily="18" charset="0"/>
                      </a:rPr>
                      <m:t>=0+0=0</m:t>
                    </m:r>
                  </m:oMath>
                </a14:m>
                <a:r>
                  <a:rPr sz="2400">
                    <a:solidFill>
                      <a:srgbClr val="1E293B"/>
                    </a:solidFill>
                    <a:latin typeface="Calibri"/>
                  </a:rPr>
                  <a:t> (vì </a:t>
                </a:r>
                <a14:m>
                  <m:oMath xmlns:m="http://schemas.openxmlformats.org/officeDocument/2006/math">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⟂BD</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AC⟂BD</m:t>
                    </m:r>
                  </m:oMath>
                </a14:m>
                <a:r>
                  <a:rPr sz="2400">
                    <a:solidFill>
                      <a:srgbClr val="1E293B"/>
                    </a:solidFill>
                    <a:latin typeface="Calibri"/>
                  </a:rPr>
                  <a:t>). Vậy </a:t>
                </a:r>
                <a14:m>
                  <m:oMath xmlns:m="http://schemas.openxmlformats.org/officeDocument/2006/math">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C⟂</m:t>
                    </m:r>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p:txBody>
          </p:sp>
        </mc:Choice>
        <mc:Fallback>
          <p:sp>
            <p:nvSpPr>
              <p:cNvPr id="11" name="TextBox 10"/>
              <p:cNvSpPr txBox="1"/>
              <p:nvPr/>
            </p:nvSpPr>
            <p:spPr>
              <a:xfrm>
                <a:off x="713232" y="2944368"/>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\overrightarrow{A'C}\cdot\overrightarrow{B'D'}=\overrightarrow{A'A}\cdot\overrightarrow{BD}+\overrightarrow{AC}\cdot\overrightarrow{BD}=0+0=0</a:t>
                </a:r>
                <a:r>
                  <a:rPr sz="2400">
                    <a:solidFill>
                      <a:srgbClr val="1E293B"/>
                    </a:solidFill>
                    <a:latin typeface="Calibri"/>
                  </a:rPr>
                  <a:t> (vì </a:t>
                </a:r>
                <a:r>
                  <a:rPr lang="vi-VN"/>
                  <a:t>AA'\perp BD</a:t>
                </a:r>
                <a:r>
                  <a:rPr sz="2400">
                    <a:solidFill>
                      <a:srgbClr val="1E293B"/>
                    </a:solidFill>
                    <a:latin typeface="Calibri"/>
                  </a:rPr>
                  <a:t>, </a:t>
                </a:r>
                <a:r>
                  <a:rPr lang="vi-VN"/>
                  <a:t>AC\perp BD</a:t>
                </a:r>
                <a:r>
                  <a:rPr sz="2400">
                    <a:solidFill>
                      <a:srgbClr val="1E293B"/>
                    </a:solidFill>
                    <a:latin typeface="Calibri"/>
                  </a:rPr>
                  <a:t>). Vậy </a:t>
                </a:r>
                <a:r>
                  <a:rPr lang="vi-VN"/>
                  <a:t>A'C\perp B'D'</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 3D</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GEOGEBRA 3D – TÍCH VÔ HƯỚNG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68</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Lập phương: </a:t>
                </a:r>
                <a14:m>
                  <m:oMath xmlns:m="http://schemas.openxmlformats.org/officeDocument/2006/math">
                    <m:acc>
                      <m:accPr>
                        <m:chr m:val="⃗"/>
                      </m:accPr>
                      <m:e>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C</m:t>
                        </m:r>
                      </m:e>
                    </m:acc>
                  </m:oMath>
                </a14:m>
                <a:r>
                  <a:rPr sz="2200">
                    <a:solidFill>
                      <a:srgbClr val="1E293B"/>
                    </a:solidFill>
                    <a:latin typeface="Calibri"/>
                  </a:rPr>
                  <a:t> (đỏ), </a:t>
                </a:r>
                <a14:m>
                  <m:oMath xmlns:m="http://schemas.openxmlformats.org/officeDocument/2006/math">
                    <m:acc>
                      <m:accPr>
                        <m:chr m:val="⃗"/>
                      </m:accPr>
                      <m:e>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(xanh), giá trị </a:t>
                </a:r>
                <a:r>
                  <a:rPr sz="2200" b="1">
                    <a:solidFill>
                      <a:srgbClr val="1E293B"/>
                    </a:solidFill>
                    <a:latin typeface="Calibri"/>
                  </a:rPr>
                  <a:t>tvh = 0</a:t>
                </a:r>
                <a:r>
                  <a:rPr sz="2200">
                    <a:solidFill>
                      <a:srgbClr val="1E293B"/>
                    </a:solidFill>
                    <a:latin typeface="Calibri"/>
                  </a:rPr>
                  <a:t> ⇒ vuông góc.</a:t>
                </a:r>
              </a:p>
              <a:p>
                <a:pPr algn="l" marL="365760" indent="-365760">
                  <a:spcAft>
                    <a:spcPts val="800"/>
                  </a:spcAft>
                  <a:buClr>
                    <a:srgbClr val="1E40AF"/>
                  </a:buClr>
                  <a:buFont typeface="Arial"/>
                  <a:buChar char="•"/>
                </a:pPr>
                <a:r>
                  <a:rPr sz="2200">
                    <a:solidFill>
                      <a:srgbClr val="1E293B"/>
                    </a:solidFill>
                    <a:latin typeface="Calibri"/>
                  </a:rPr>
                  <a:t>Bên phải: lực </a:t>
                </a:r>
                <a14:m>
                  <m:oMath xmlns:m="http://schemas.openxmlformats.org/officeDocument/2006/math">
                    <m:acc>
                      <m:accPr>
                        <m:chr m:val="⃗"/>
                      </m:accPr>
                      <m:e>
                        <m:r>
                          <a:rPr lang="vi-VN" sz="2200" b="0">
                            <a:solidFill>
                              <a:srgbClr val="1E293B"/>
                            </a:solidFill>
                            <a:latin typeface="Cambria Math" panose="02040503050406030204" pitchFamily="18" charset="0"/>
                          </a:rPr>
                          <m:t>F</m:t>
                        </m:r>
                      </m:e>
                    </m:acc>
                  </m:oMath>
                </a14:m>
                <a:r>
                  <a:rPr sz="2200">
                    <a:solidFill>
                      <a:srgbClr val="1E293B"/>
                    </a:solidFill>
                    <a:latin typeface="Calibri"/>
                  </a:rPr>
                  <a:t> hợp với quãng đường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 góc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Kéo thanh trượt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quan sát công </a:t>
                </a:r>
                <a:r>
                  <a:rPr sz="2200" b="1">
                    <a:solidFill>
                      <a:srgbClr val="1E293B"/>
                    </a:solidFill>
                    <a:latin typeface="Calibri"/>
                  </a:rPr>
                  <a:t>congA</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F</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Góc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bằng bao nhiêu thì công lớn nhất?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Lập phương: </a:t>
                </a:r>
                <a:r>
                  <a:rPr lang="vi-VN"/>
                  <a:t>\overrightarrow{A'C}</a:t>
                </a:r>
                <a:r>
                  <a:rPr sz="2200">
                    <a:solidFill>
                      <a:srgbClr val="1E293B"/>
                    </a:solidFill>
                    <a:latin typeface="Calibri"/>
                  </a:rPr>
                  <a:t> (đỏ), </a:t>
                </a:r>
                <a:r>
                  <a:rPr lang="vi-VN"/>
                  <a:t>\overrightarrow{B'D'}</a:t>
                </a:r>
                <a:r>
                  <a:rPr sz="2200">
                    <a:solidFill>
                      <a:srgbClr val="1E293B"/>
                    </a:solidFill>
                    <a:latin typeface="Calibri"/>
                  </a:rPr>
                  <a:t> (xanh), giá trị </a:t>
                </a:r>
                <a:r>
                  <a:rPr sz="2200" b="1">
                    <a:solidFill>
                      <a:srgbClr val="1E293B"/>
                    </a:solidFill>
                    <a:latin typeface="Calibri"/>
                  </a:rPr>
                  <a:t>tvh = 0</a:t>
                </a:r>
                <a:r>
                  <a:rPr sz="2200">
                    <a:solidFill>
                      <a:srgbClr val="1E293B"/>
                    </a:solidFill>
                    <a:latin typeface="Calibri"/>
                  </a:rPr>
                  <a:t> ⇒ vuông góc.</a:t>
                </a:r>
              </a:p>
              <a:p>
                <a:pPr algn="l" marL="365760" indent="-365760">
                  <a:spcAft>
                    <a:spcPts val="800"/>
                  </a:spcAft>
                  <a:buClr>
                    <a:srgbClr val="1E40AF"/>
                  </a:buClr>
                  <a:buFont typeface="Arial"/>
                  <a:buChar char="•"/>
                </a:pPr>
                <a:r>
                  <a:rPr sz="2200">
                    <a:solidFill>
                      <a:srgbClr val="1E293B"/>
                    </a:solidFill>
                    <a:latin typeface="Calibri"/>
                  </a:rPr>
                  <a:t>Bên phải: lực </a:t>
                </a:r>
                <a:r>
                  <a:rPr lang="vi-VN"/>
                  <a:t>\vec{F}</a:t>
                </a:r>
                <a:r>
                  <a:rPr sz="2200">
                    <a:solidFill>
                      <a:srgbClr val="1E293B"/>
                    </a:solidFill>
                    <a:latin typeface="Calibri"/>
                  </a:rPr>
                  <a:t> hợp với quãng đường </a:t>
                </a:r>
                <a:r>
                  <a:rPr lang="vi-VN"/>
                  <a:t>\overrightarrow{MN}</a:t>
                </a:r>
                <a:r>
                  <a:rPr sz="2200">
                    <a:solidFill>
                      <a:srgbClr val="1E293B"/>
                    </a:solidFill>
                    <a:latin typeface="Calibri"/>
                  </a:rPr>
                  <a:t> góc </a:t>
                </a:r>
                <a:r>
                  <a:rPr lang="vi-VN"/>
                  <a:t>\alpha</a:t>
                </a:r>
                <a:r>
                  <a:rPr sz="2200">
                    <a:solidFill>
                      <a:srgbClr val="1E293B"/>
                    </a:solidFill>
                    <a:latin typeface="Calibri"/>
                  </a:rPr>
                  <a:t>. Kéo thanh trượt </a:t>
                </a:r>
                <a:r>
                  <a:rPr lang="vi-VN"/>
                  <a:t>\alpha</a:t>
                </a:r>
                <a:r>
                  <a:rPr sz="2200">
                    <a:solidFill>
                      <a:srgbClr val="1E293B"/>
                    </a:solidFill>
                    <a:latin typeface="Calibri"/>
                  </a:rPr>
                  <a:t>, quan sát công </a:t>
                </a:r>
                <a:r>
                  <a:rPr sz="2200" b="1">
                    <a:solidFill>
                      <a:srgbClr val="1E293B"/>
                    </a:solidFill>
                    <a:latin typeface="Calibri"/>
                  </a:rPr>
                  <a:t>congA</a:t>
                </a:r>
                <a:r>
                  <a:rPr sz="2200">
                    <a:solidFill>
                      <a:srgbClr val="1E293B"/>
                    </a:solidFill>
                    <a:latin typeface="Calibri"/>
                  </a:rPr>
                  <a:t> </a:t>
                </a:r>
                <a:r>
                  <a:rPr lang="vi-VN"/>
                  <a:t>=\vec{F}\cdot\overrightarrow{MN}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Góc </a:t>
                </a:r>
                <a:r>
                  <a:rPr lang="vi-VN"/>
                  <a:t>\alpha</a:t>
                </a:r>
                <a:r>
                  <a:rPr sz="2200">
                    <a:solidFill>
                      <a:srgbClr val="1E293B"/>
                    </a:solidFill>
                    <a:latin typeface="Calibri"/>
                  </a:rPr>
                  <a:t> bằng bao nhiêu thì công lớn nhất?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 3D</a:t>
            </a:r>
          </a:p>
        </p:txBody>
      </p:sp>
      <p:pic>
        <p:nvPicPr>
          <p:cNvPr id="9" name="Picture 8" descr="qr_ggb_6.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để xoay hình, chụm/cuộn để phóng to.</a:t>
            </a:r>
          </a:p>
        </p:txBody>
      </p:sp>
      <p:pic>
        <p:nvPicPr>
          <p:cNvPr id="11" name="Picture 10" descr="h228.png"/>
          <p:cNvPicPr>
            <a:picLocks noChangeAspect="1"/>
          </p:cNvPicPr>
          <p:nvPr/>
        </p:nvPicPr>
        <p:blipFill>
          <a:blip r:embed="rId5"/>
          <a:stretch>
            <a:fillRect/>
          </a:stretch>
        </p:blipFill>
        <p:spPr>
          <a:xfrm>
            <a:off x="6858000" y="2197031"/>
            <a:ext cx="4846320" cy="3012577"/>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4 (SGK TR.57)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69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3200400"/>
              </a:xfrm>
              <a:prstGeom prst="rect">
                <a:avLst/>
              </a:prstGeom>
              <a:noFill/>
            </p:spPr>
            <p:txBody>
              <a:bodyPr wrap="square" anchor="t" lIns="45720" rIns="45720">
                <a:spAutoFit/>
              </a:bodyPr>
              <a:lstStyle/>
              <a:p>
                <a:pPr algn="l">
                  <a:spcAft>
                    <a:spcPts val="800"/>
                  </a:spcAft>
                </a:pPr>
                <a:r>
                  <a:rPr sz="1900">
                    <a:solidFill>
                      <a:srgbClr val="1E293B"/>
                    </a:solidFill>
                    <a:latin typeface="Calibri"/>
                  </a:rPr>
                  <a:t>Nếu có một lực </a:t>
                </a:r>
                <a14:m>
                  <m:oMath xmlns:m="http://schemas.openxmlformats.org/officeDocument/2006/math">
                    <m:acc>
                      <m:accPr>
                        <m:chr m:val="⃗"/>
                      </m:accPr>
                      <m:e>
                        <m:r>
                          <a:rPr lang="vi-VN" sz="1900" b="0">
                            <a:solidFill>
                              <a:srgbClr val="1E293B"/>
                            </a:solidFill>
                            <a:latin typeface="Cambria Math" panose="02040503050406030204" pitchFamily="18" charset="0"/>
                          </a:rPr>
                          <m:t>F</m:t>
                        </m:r>
                      </m:e>
                    </m:acc>
                  </m:oMath>
                </a14:m>
                <a:r>
                  <a:rPr sz="1900">
                    <a:solidFill>
                      <a:srgbClr val="1E293B"/>
                    </a:solidFill>
                    <a:latin typeface="Calibri"/>
                  </a:rPr>
                  <a:t> tác động vào một vật tại điểm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 và làm cho vật đó di chuyển một quãng đường </a:t>
                </a:r>
                <a14:m>
                  <m:oMath xmlns:m="http://schemas.openxmlformats.org/officeDocument/2006/math">
                    <m:r>
                      <a:rPr lang="vi-VN" sz="1900" b="0">
                        <a:solidFill>
                          <a:srgbClr val="1E293B"/>
                        </a:solidFill>
                        <a:latin typeface="Cambria Math" panose="02040503050406030204" pitchFamily="18" charset="0"/>
                      </a:rPr>
                      <m:t>MN</m:t>
                    </m:r>
                  </m:oMath>
                </a14:m>
                <a:r>
                  <a:rPr sz="1900">
                    <a:solidFill>
                      <a:srgbClr val="1E293B"/>
                    </a:solidFill>
                    <a:latin typeface="Calibri"/>
                  </a:rPr>
                  <a:t> thì công </a:t>
                </a:r>
                <a14:m>
                  <m:oMath xmlns:m="http://schemas.openxmlformats.org/officeDocument/2006/math">
                    <m:r>
                      <a:rPr lang="vi-VN" sz="1900" b="0">
                        <a:solidFill>
                          <a:srgbClr val="1E293B"/>
                        </a:solidFill>
                        <a:latin typeface="Cambria Math" panose="02040503050406030204" pitchFamily="18" charset="0"/>
                      </a:rPr>
                      <m:t>A</m:t>
                    </m:r>
                  </m:oMath>
                </a14:m>
                <a:r>
                  <a:rPr sz="1900">
                    <a:solidFill>
                      <a:srgbClr val="1E293B"/>
                    </a:solidFill>
                    <a:latin typeface="Calibri"/>
                  </a:rPr>
                  <a:t> sinh ra được tính theo công thức </a:t>
                </a:r>
                <a14:m>
                  <m:oMath xmlns:m="http://schemas.openxmlformats.org/officeDocument/2006/math">
                    <m:r>
                      <a:rPr lang="vi-VN" sz="1900" b="0">
                        <a:solidFill>
                          <a:srgbClr val="1E293B"/>
                        </a:solidFill>
                        <a:latin typeface="Cambria Math" panose="02040503050406030204" pitchFamily="18" charset="0"/>
                      </a:rPr>
                      <m:t>A=</m:t>
                    </m:r>
                    <m:acc>
                      <m:accPr>
                        <m:chr m:val="⃗"/>
                      </m:accPr>
                      <m:e>
                        <m:r>
                          <a:rPr lang="vi-VN" sz="1900" b="0">
                            <a:solidFill>
                              <a:srgbClr val="1E293B"/>
                            </a:solidFill>
                            <a:latin typeface="Cambria Math" panose="02040503050406030204" pitchFamily="18" charset="0"/>
                          </a:rPr>
                          <m:t>F</m:t>
                        </m:r>
                      </m:e>
                    </m:acc>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MN</m:t>
                        </m:r>
                      </m:e>
                    </m:acc>
                  </m:oMath>
                </a14:m>
                <a:r>
                  <a:rPr sz="1900">
                    <a:solidFill>
                      <a:srgbClr val="1E293B"/>
                    </a:solidFill>
                    <a:latin typeface="Calibri"/>
                  </a:rPr>
                  <a:t> (H.2.28). Do đó, nếu dùng một lực </a:t>
                </a:r>
                <a14:m>
                  <m:oMath xmlns:m="http://schemas.openxmlformats.org/officeDocument/2006/math">
                    <m:acc>
                      <m:accPr>
                        <m:chr m:val="⃗"/>
                      </m:accPr>
                      <m:e>
                        <m:r>
                          <a:rPr lang="vi-VN" sz="1900" b="0">
                            <a:solidFill>
                              <a:srgbClr val="1E293B"/>
                            </a:solidFill>
                            <a:latin typeface="Cambria Math" panose="02040503050406030204" pitchFamily="18" charset="0"/>
                          </a:rPr>
                          <m:t>F</m:t>
                        </m:r>
                      </m:e>
                    </m:acc>
                  </m:oMath>
                </a14:m>
                <a:r>
                  <a:rPr sz="1900">
                    <a:solidFill>
                      <a:srgbClr val="1E293B"/>
                    </a:solidFill>
                    <a:latin typeface="Calibri"/>
                  </a:rPr>
                  <a:t> có độ lớn không đổi để làm một vật di chuyển một quãng đường không đổi thì công sinh ra sẽ lớn nhất khi lực tác động cùng hướng với chuyển động của vật. Hãy giải thích vì sao. Kết quả trên có thể được áp dụng như thế nào khi kéo (hoặc đẩy) các vật nặng?</a:t>
                </a:r>
              </a:p>
            </p:txBody>
          </p:sp>
        </mc:Choice>
        <mc:Fallback>
          <p:sp>
            <p:nvSpPr>
              <p:cNvPr id="7" name="TextBox 6"/>
              <p:cNvSpPr txBox="1"/>
              <p:nvPr/>
            </p:nvSpPr>
            <p:spPr>
              <a:xfrm>
                <a:off x="548640" y="1371600"/>
                <a:ext cx="7863840" cy="3200400"/>
              </a:xfrm>
              <a:prstGeom prst="rect">
                <a:avLst/>
              </a:prstGeom>
              <a:noFill/>
            </p:spPr>
            <p:txBody>
              <a:bodyPr wrap="square" anchor="t" lIns="45720" rIns="45720">
                <a:spAutoFit/>
              </a:bodyPr>
              <a:lstStyle/>
              <a:p>
                <a:pPr algn="l">
                  <a:spcAft>
                    <a:spcPts val="800"/>
                  </a:spcAft>
                </a:pPr>
                <a:r>
                  <a:rPr sz="1900">
                    <a:solidFill>
                      <a:srgbClr val="1E293B"/>
                    </a:solidFill>
                    <a:latin typeface="Calibri"/>
                  </a:rPr>
                  <a:t>Nếu có một lực </a:t>
                </a:r>
                <a:r>
                  <a:rPr lang="vi-VN"/>
                  <a:t>\vec{F}</a:t>
                </a:r>
                <a:r>
                  <a:rPr sz="1900">
                    <a:solidFill>
                      <a:srgbClr val="1E293B"/>
                    </a:solidFill>
                    <a:latin typeface="Calibri"/>
                  </a:rPr>
                  <a:t> tác động vào một vật tại điểm </a:t>
                </a:r>
                <a:r>
                  <a:rPr lang="vi-VN"/>
                  <a:t>M</a:t>
                </a:r>
                <a:r>
                  <a:rPr sz="1900">
                    <a:solidFill>
                      <a:srgbClr val="1E293B"/>
                    </a:solidFill>
                    <a:latin typeface="Calibri"/>
                  </a:rPr>
                  <a:t> và làm cho vật đó di chuyển một quãng đường </a:t>
                </a:r>
                <a:r>
                  <a:rPr lang="vi-VN"/>
                  <a:t>MN</a:t>
                </a:r>
                <a:r>
                  <a:rPr sz="1900">
                    <a:solidFill>
                      <a:srgbClr val="1E293B"/>
                    </a:solidFill>
                    <a:latin typeface="Calibri"/>
                  </a:rPr>
                  <a:t> thì công </a:t>
                </a:r>
                <a:r>
                  <a:rPr lang="vi-VN"/>
                  <a:t>A</a:t>
                </a:r>
                <a:r>
                  <a:rPr sz="1900">
                    <a:solidFill>
                      <a:srgbClr val="1E293B"/>
                    </a:solidFill>
                    <a:latin typeface="Calibri"/>
                  </a:rPr>
                  <a:t> sinh ra được tính theo công thức </a:t>
                </a:r>
                <a:r>
                  <a:rPr lang="vi-VN"/>
                  <a:t>A=\vec{F}\cdot\overrightarrow{MN}</a:t>
                </a:r>
                <a:r>
                  <a:rPr sz="1900">
                    <a:solidFill>
                      <a:srgbClr val="1E293B"/>
                    </a:solidFill>
                    <a:latin typeface="Calibri"/>
                  </a:rPr>
                  <a:t> (H.2.28). Do đó, nếu dùng một lực </a:t>
                </a:r>
                <a:r>
                  <a:rPr lang="vi-VN"/>
                  <a:t>\vec{F}</a:t>
                </a:r>
                <a:r>
                  <a:rPr sz="1900">
                    <a:solidFill>
                      <a:srgbClr val="1E293B"/>
                    </a:solidFill>
                    <a:latin typeface="Calibri"/>
                  </a:rPr>
                  <a:t> có độ lớn không đổi để làm một vật di chuyển một quãng đường không đổi thì công sinh ra sẽ lớn nhất khi lực tác động cùng hướng với chuyển động của vật. Hãy giải thích vì sao. Kết quả trên có thể được áp dụng như thế nào khi kéo (hoặc đẩy) các vật nặng?</a:t>
                </a:r>
              </a:p>
            </p:txBody>
          </p:sp>
        </mc:Fallback>
      </mc:AlternateContent>
      <p:sp>
        <p:nvSpPr>
          <p:cNvPr id="8" name="s1_nen"/>
          <p:cNvSpPr/>
          <p:nvPr/>
        </p:nvSpPr>
        <p:spPr>
          <a:xfrm>
            <a:off x="548640" y="3657600"/>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694176"/>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m:t>
                    </m:r>
                    <m:acc>
                      <m:accPr>
                        <m:chr m:val="⃗"/>
                      </m:accPr>
                      <m:e>
                        <m:r>
                          <a:rPr lang="vi-VN" sz="2000" b="0">
                            <a:solidFill>
                              <a:srgbClr val="1E293B"/>
                            </a:solidFill>
                            <a:latin typeface="Cambria Math" panose="02040503050406030204" pitchFamily="18" charset="0"/>
                          </a:rPr>
                          <m:t>F</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F</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oMath>
                </a14:m>
                <a:r>
                  <a:rPr sz="2000">
                    <a:solidFill>
                      <a:srgbClr val="1E293B"/>
                    </a:solidFill>
                    <a:latin typeface="Calibri"/>
                  </a:rPr>
                  <a:t> lớn nhất khi </a:t>
                </a:r>
                <a14:m>
                  <m:oMath xmlns:m="http://schemas.openxmlformats.org/officeDocument/2006/math">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F</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)=1</m:t>
                    </m:r>
                  </m:oMath>
                </a14:m>
                <a:r>
                  <a:rPr sz="2000">
                    <a:solidFill>
                      <a:srgbClr val="1E293B"/>
                    </a:solidFill>
                    <a:latin typeface="Calibri"/>
                  </a:rPr>
                  <a:t>, tức góc bằng </a:t>
                </a:r>
                <a14:m>
                  <m:oMath xmlns:m="http://schemas.openxmlformats.org/officeDocument/2006/math">
                    <m:sSup>
                      <m:e>
                        <m:r>
                          <a:rPr lang="vi-VN" sz="2000" b="0">
                            <a:solidFill>
                              <a:srgbClr val="1E293B"/>
                            </a:solidFill>
                            <a:latin typeface="Cambria Math" panose="02040503050406030204" pitchFamily="18" charset="0"/>
                          </a:rPr>
                          <m:t>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9" name="TextBox 8"/>
              <p:cNvSpPr txBox="1"/>
              <p:nvPr/>
            </p:nvSpPr>
            <p:spPr>
              <a:xfrm>
                <a:off x="713232" y="3694176"/>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A=|\vec{F}|\cdot|\overrightarrow{MN}|\cdot\cos(\vec{F},\overrightarrow{MN})</a:t>
                </a:r>
                <a:r>
                  <a:rPr sz="2000">
                    <a:solidFill>
                      <a:srgbClr val="1E293B"/>
                    </a:solidFill>
                    <a:latin typeface="Calibri"/>
                  </a:rPr>
                  <a:t> lớn nhất khi </a:t>
                </a:r>
                <a:r>
                  <a:rPr lang="vi-VN"/>
                  <a:t>\cos(\vec{F},\overrightarrow{MN})=1</a:t>
                </a:r>
                <a:r>
                  <a:rPr sz="2000">
                    <a:solidFill>
                      <a:srgbClr val="1E293B"/>
                    </a:solidFill>
                    <a:latin typeface="Calibri"/>
                  </a:rPr>
                  <a:t>, tức góc bằng </a:t>
                </a:r>
                <a:r>
                  <a:rPr lang="vi-VN"/>
                  <a:t>0^\circ</a:t>
                </a:r>
                <a:r>
                  <a:rPr sz="2000">
                    <a:solidFill>
                      <a:srgbClr val="1E293B"/>
                    </a:solidFill>
                    <a:latin typeface="Calibri"/>
                  </a:rPr>
                  <a:t>.</a:t>
                </a:r>
              </a:p>
            </p:txBody>
          </p:sp>
        </mc:Fallback>
      </mc:AlternateContent>
      <p:sp>
        <p:nvSpPr>
          <p:cNvPr id="10" name="s2_nen"/>
          <p:cNvSpPr/>
          <p:nvPr/>
        </p:nvSpPr>
        <p:spPr>
          <a:xfrm>
            <a:off x="548640" y="4623816"/>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4660392"/>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Khi kéo (đẩy) vật nặng, nên kéo (đẩy) theo hướng song song với hướng chuyển động mong muốn của vật.</a:t>
            </a:r>
          </a:p>
        </p:txBody>
      </p:sp>
      <p:pic>
        <p:nvPicPr>
          <p:cNvPr id="12" name="Picture 11" descr="h228.png"/>
          <p:cNvPicPr>
            <a:picLocks noChangeAspect="1"/>
          </p:cNvPicPr>
          <p:nvPr/>
        </p:nvPicPr>
        <p:blipFill>
          <a:blip r:embed="rId3"/>
          <a:stretch>
            <a:fillRect/>
          </a:stretch>
        </p:blipFill>
        <p:spPr>
          <a:xfrm>
            <a:off x="8595360" y="1685462"/>
            <a:ext cx="3108960" cy="1932596"/>
          </a:xfrm>
          <a:prstGeom prst="rect">
            <a:avLst/>
          </a:prstGeom>
        </p:spPr>
      </p:pic>
      <p:sp>
        <p:nvSpPr>
          <p:cNvPr id="13" name="TextBox 12"/>
          <p:cNvSpPr txBox="1"/>
          <p:nvPr/>
        </p:nvSpPr>
        <p:spPr>
          <a:xfrm>
            <a:off x="8595360" y="3675887"/>
            <a:ext cx="31089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2.28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TRẢ LỜI CÂU HỎI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70</a:t>
            </a:r>
          </a:p>
        </p:txBody>
      </p:sp>
      <p:sp>
        <p:nvSpPr>
          <p:cNvPr id="7" name="TextBox 6"/>
          <p:cNvSpPr txBox="1"/>
          <p:nvPr/>
        </p:nvSpPr>
        <p:spPr>
          <a:xfrm>
            <a:off x="548640" y="1371600"/>
            <a:ext cx="11064240" cy="1280160"/>
          </a:xfrm>
          <a:prstGeom prst="rect">
            <a:avLst/>
          </a:prstGeom>
          <a:noFill/>
        </p:spPr>
        <p:txBody>
          <a:bodyPr wrap="square" anchor="t" lIns="45720" rIns="45720">
            <a:spAutoFit/>
          </a:bodyPr>
          <a:lstStyle/>
          <a:p>
            <a:pPr algn="l">
              <a:spcAft>
                <a:spcPts val="800"/>
              </a:spcAft>
            </a:pPr>
            <a:r>
              <a:rPr sz="2200">
                <a:solidFill>
                  <a:srgbClr val="1E293B"/>
                </a:solidFill>
                <a:latin typeface="Calibri"/>
              </a:rPr>
              <a:t>Đối với các đại lượng có hướng trong không gian, ta có thể sử dụng vectơ để biểu diễn chúng hay không? Các phép toán vectơ trong không gian giống và khác thế nào với các phép toán vectơ trong mặt phẳng?</a:t>
            </a:r>
          </a:p>
        </p:txBody>
      </p:sp>
      <p:sp>
        <p:nvSpPr>
          <p:cNvPr id="8" name="s1_nen"/>
          <p:cNvSpPr/>
          <p:nvPr/>
        </p:nvSpPr>
        <p:spPr>
          <a:xfrm>
            <a:off x="548640" y="2743200"/>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779776"/>
            <a:ext cx="10735056" cy="86258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Có:</a:t>
            </a:r>
            <a:r>
              <a:rPr sz="2200">
                <a:solidFill>
                  <a:srgbClr val="1E293B"/>
                </a:solidFill>
                <a:latin typeface="Calibri"/>
              </a:rPr>
              <a:t> lực, vận tốc, độ dịch chuyển trong không gian được biểu diễn bằng vectơ trong không gian.</a:t>
            </a:r>
          </a:p>
        </p:txBody>
      </p:sp>
      <p:sp>
        <p:nvSpPr>
          <p:cNvPr id="10" name="s2_nen"/>
          <p:cNvSpPr/>
          <p:nvPr/>
        </p:nvSpPr>
        <p:spPr>
          <a:xfrm>
            <a:off x="548640" y="3770375"/>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06952"/>
            <a:ext cx="10735056" cy="86258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Giống:</a:t>
            </a:r>
            <a:r>
              <a:rPr sz="2200">
                <a:solidFill>
                  <a:srgbClr val="1E293B"/>
                </a:solidFill>
                <a:latin typeface="Calibri"/>
              </a:rPr>
              <a:t> định nghĩa và tính chất của phép cộng, trừ, nhân số với vectơ, tích vô hướng.</a:t>
            </a:r>
          </a:p>
        </p:txBody>
      </p:sp>
      <p:sp>
        <p:nvSpPr>
          <p:cNvPr id="12" name="s3_nen"/>
          <p:cNvSpPr/>
          <p:nvPr/>
        </p:nvSpPr>
        <p:spPr>
          <a:xfrm>
            <a:off x="548640" y="4797551"/>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3_chu"/>
          <p:cNvSpPr txBox="1"/>
          <p:nvPr/>
        </p:nvSpPr>
        <p:spPr>
          <a:xfrm>
            <a:off x="713232" y="4834128"/>
            <a:ext cx="10735056" cy="86258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Khác:</a:t>
            </a:r>
            <a:r>
              <a:rPr sz="2200">
                <a:solidFill>
                  <a:srgbClr val="1E293B"/>
                </a:solidFill>
                <a:latin typeface="Calibri"/>
              </a:rPr>
              <a:t> các vectơ có thể không cùng nằm trong một mặt phẳng – có thêm </a:t>
            </a:r>
            <a:r>
              <a:rPr sz="2200" b="1">
                <a:solidFill>
                  <a:srgbClr val="1E293B"/>
                </a:solidFill>
                <a:latin typeface="Calibri"/>
              </a:rPr>
              <a:t>quy tắc hình hộp</a:t>
            </a:r>
            <a:r>
              <a:rPr sz="2200">
                <a:solidFill>
                  <a:srgbClr val="1E293B"/>
                </a:solidFill>
                <a:latin typeface="Calibri"/>
              </a:rPr>
              <a:t>; góc giữa hai vectơ phải đưa về chung gốc.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lập phương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có cạnh bằng 1. Tính nhanh:</a:t>
                </a:r>
              </a:p>
            </p:txBody>
          </p:sp>
        </mc:Choice>
        <mc:Fallback>
          <p:sp>
            <p:nvSpPr>
              <p:cNvPr id="7" name="TextBox 6"/>
              <p:cNvSpPr txBox="1"/>
              <p:nvPr/>
            </p:nvSpPr>
            <p:spPr>
              <a:xfrm>
                <a:off x="548640" y="1371600"/>
                <a:ext cx="768096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hình lập phương </a:t>
                </a:r>
                <a:r>
                  <a:rPr lang="vi-VN"/>
                  <a:t>ABCD.A'B'C'D'</a:t>
                </a:r>
                <a:r>
                  <a:rPr sz="2200">
                    <a:solidFill>
                      <a:srgbClr val="1E293B"/>
                    </a:solidFill>
                    <a:latin typeface="Calibri"/>
                  </a:rPr>
                  <a:t> có cạnh bằng 1. Tính nhanh:</a:t>
                </a:r>
              </a:p>
            </p:txBody>
          </p:sp>
        </mc:Fallback>
      </mc:AlternateContent>
      <p:sp>
        <p:nvSpPr>
          <p:cNvPr id="8" name="Rounded Rectangle 7"/>
          <p:cNvSpPr/>
          <p:nvPr/>
        </p:nvSpPr>
        <p:spPr>
          <a:xfrm>
            <a:off x="548640" y="2148840"/>
            <a:ext cx="4389120" cy="82296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185416"/>
                <a:ext cx="4059935" cy="749808"/>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1.</a:t>
                </a: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AB</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AC</m:t>
                        </m:r>
                      </m:e>
                    </m:acc>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m:t>
                    </m:r>
                  </m:oMath>
                </a14:m>
              </a:p>
            </p:txBody>
          </p:sp>
        </mc:Choice>
        <mc:Fallback>
          <p:sp>
            <p:nvSpPr>
              <p:cNvPr id="9" name="TextBox 8"/>
              <p:cNvSpPr txBox="1"/>
              <p:nvPr/>
            </p:nvSpPr>
            <p:spPr>
              <a:xfrm>
                <a:off x="713232" y="2185416"/>
                <a:ext cx="4059935" cy="749808"/>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1.</a:t>
                </a:r>
                <a:r>
                  <a:rPr sz="2600">
                    <a:solidFill>
                      <a:srgbClr val="1E293B"/>
                    </a:solidFill>
                    <a:latin typeface="Calibri"/>
                  </a:rPr>
                  <a:t> </a:t>
                </a:r>
                <a:r>
                  <a:rPr lang="vi-VN"/>
                  <a:t>\overrightarrow{AB}\cdot\overrightarrow{AC}</a:t>
                </a:r>
                <a:r>
                  <a:rPr sz="2600">
                    <a:solidFill>
                      <a:srgbClr val="1E293B"/>
                    </a:solidFill>
                    <a:latin typeface="Calibri"/>
                  </a:rPr>
                  <a:t> </a:t>
                </a:r>
                <a:r>
                  <a:rPr lang="vi-VN"/>
                  <a:t>=\ ?</a:t>
                </a:r>
              </a:p>
            </p:txBody>
          </p:sp>
        </mc:Fallback>
      </mc:AlternateContent>
      <p:sp>
        <p:nvSpPr>
          <p:cNvPr id="10" name="s1_nen"/>
          <p:cNvSpPr/>
          <p:nvPr/>
        </p:nvSpPr>
        <p:spPr>
          <a:xfrm>
            <a:off x="5212080" y="2148840"/>
            <a:ext cx="1828800" cy="82296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376672" y="2185416"/>
                <a:ext cx="1499616" cy="74980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1</m:t>
                    </m:r>
                  </m:oMath>
                </a14:m>
              </a:p>
            </p:txBody>
          </p:sp>
        </mc:Choice>
        <mc:Fallback>
          <p:sp>
            <p:nvSpPr>
              <p:cNvPr id="11" name="TextBox 10"/>
              <p:cNvSpPr txBox="1"/>
              <p:nvPr/>
            </p:nvSpPr>
            <p:spPr>
              <a:xfrm>
                <a:off x="5376672" y="2185416"/>
                <a:ext cx="1499616" cy="74980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 </a:t>
                </a:r>
                <a:r>
                  <a:rPr lang="vi-VN"/>
                  <a:t>1</a:t>
                </a:r>
              </a:p>
            </p:txBody>
          </p:sp>
        </mc:Fallback>
      </mc:AlternateContent>
      <p:sp>
        <p:nvSpPr>
          <p:cNvPr id="12" name="Rounded Rectangle 11"/>
          <p:cNvSpPr/>
          <p:nvPr/>
        </p:nvSpPr>
        <p:spPr>
          <a:xfrm>
            <a:off x="548640" y="3154680"/>
            <a:ext cx="4389120" cy="82296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191256"/>
                <a:ext cx="4059935" cy="749808"/>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2.</a:t>
                </a: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AB</m:t>
                        </m:r>
                      </m:e>
                    </m:acc>
                    <m:r>
                      <a:rPr lang="vi-VN" sz="2600" b="0">
                        <a:solidFill>
                          <a:srgbClr val="1E293B"/>
                        </a:solidFill>
                        <a:latin typeface="Cambria Math" panose="02040503050406030204" pitchFamily="18" charset="0"/>
                      </a:rPr>
                      <m:t>·</m:t>
                    </m:r>
                    <m:acc>
                      <m:accPr>
                        <m:chr m:val="⃗"/>
                      </m:accPr>
                      <m:e>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e>
                    </m:acc>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m:t>
                    </m:r>
                  </m:oMath>
                </a14:m>
              </a:p>
            </p:txBody>
          </p:sp>
        </mc:Choice>
        <mc:Fallback>
          <p:sp>
            <p:nvSpPr>
              <p:cNvPr id="13" name="TextBox 12"/>
              <p:cNvSpPr txBox="1"/>
              <p:nvPr/>
            </p:nvSpPr>
            <p:spPr>
              <a:xfrm>
                <a:off x="713232" y="3191256"/>
                <a:ext cx="4059935" cy="749808"/>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2.</a:t>
                </a:r>
                <a:r>
                  <a:rPr sz="2600">
                    <a:solidFill>
                      <a:srgbClr val="1E293B"/>
                    </a:solidFill>
                    <a:latin typeface="Calibri"/>
                  </a:rPr>
                  <a:t> </a:t>
                </a:r>
                <a:r>
                  <a:rPr lang="vi-VN"/>
                  <a:t>\overrightarrow{AB}\cdot\overrightarrow{C'D'}</a:t>
                </a:r>
                <a:r>
                  <a:rPr sz="2600">
                    <a:solidFill>
                      <a:srgbClr val="1E293B"/>
                    </a:solidFill>
                    <a:latin typeface="Calibri"/>
                  </a:rPr>
                  <a:t> </a:t>
                </a:r>
                <a:r>
                  <a:rPr lang="vi-VN"/>
                  <a:t>=\ ?</a:t>
                </a:r>
              </a:p>
            </p:txBody>
          </p:sp>
        </mc:Fallback>
      </mc:AlternateContent>
      <p:sp>
        <p:nvSpPr>
          <p:cNvPr id="14" name="s2_nen"/>
          <p:cNvSpPr/>
          <p:nvPr/>
        </p:nvSpPr>
        <p:spPr>
          <a:xfrm>
            <a:off x="5212080" y="3154680"/>
            <a:ext cx="1828800" cy="82296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2_chu"/>
              <p:cNvSpPr txBox="1"/>
              <p:nvPr/>
            </p:nvSpPr>
            <p:spPr>
              <a:xfrm>
                <a:off x="5376672" y="3191256"/>
                <a:ext cx="1499616" cy="74980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−1</m:t>
                    </m:r>
                  </m:oMath>
                </a14:m>
              </a:p>
            </p:txBody>
          </p:sp>
        </mc:Choice>
        <mc:Fallback>
          <p:sp>
            <p:nvSpPr>
              <p:cNvPr id="15" name="TextBox 14"/>
              <p:cNvSpPr txBox="1"/>
              <p:nvPr/>
            </p:nvSpPr>
            <p:spPr>
              <a:xfrm>
                <a:off x="5376672" y="3191256"/>
                <a:ext cx="1499616" cy="74980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 </a:t>
                </a:r>
                <a:r>
                  <a:rPr lang="vi-VN"/>
                  <a:t>-1</a:t>
                </a:r>
              </a:p>
            </p:txBody>
          </p:sp>
        </mc:Fallback>
      </mc:AlternateContent>
      <p:sp>
        <p:nvSpPr>
          <p:cNvPr id="16" name="Rounded Rectangle 15"/>
          <p:cNvSpPr/>
          <p:nvPr/>
        </p:nvSpPr>
        <p:spPr>
          <a:xfrm>
            <a:off x="548640" y="4160520"/>
            <a:ext cx="4389120" cy="82296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TextBox 16"/>
              <p:cNvSpPr txBox="1"/>
              <p:nvPr/>
            </p:nvSpPr>
            <p:spPr>
              <a:xfrm>
                <a:off x="713232" y="4197096"/>
                <a:ext cx="4059935" cy="749808"/>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3.</a:t>
                </a: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BD</m:t>
                        </m:r>
                      </m:e>
                    </m:acc>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m:t>
                    </m:r>
                  </m:oMath>
                </a14:m>
              </a:p>
            </p:txBody>
          </p:sp>
        </mc:Choice>
        <mc:Fallback>
          <p:sp>
            <p:nvSpPr>
              <p:cNvPr id="17" name="TextBox 16"/>
              <p:cNvSpPr txBox="1"/>
              <p:nvPr/>
            </p:nvSpPr>
            <p:spPr>
              <a:xfrm>
                <a:off x="713232" y="4197096"/>
                <a:ext cx="4059935" cy="749808"/>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3.</a:t>
                </a:r>
                <a:r>
                  <a:rPr sz="2600">
                    <a:solidFill>
                      <a:srgbClr val="1E293B"/>
                    </a:solidFill>
                    <a:latin typeface="Calibri"/>
                  </a:rPr>
                  <a:t> </a:t>
                </a:r>
                <a:r>
                  <a:rPr lang="vi-VN"/>
                  <a:t>\overrightarrow{AA'}\cdot\overrightarrow{BD}</a:t>
                </a:r>
                <a:r>
                  <a:rPr sz="2600">
                    <a:solidFill>
                      <a:srgbClr val="1E293B"/>
                    </a:solidFill>
                    <a:latin typeface="Calibri"/>
                  </a:rPr>
                  <a:t> </a:t>
                </a:r>
                <a:r>
                  <a:rPr lang="vi-VN"/>
                  <a:t>=\ ?</a:t>
                </a:r>
              </a:p>
            </p:txBody>
          </p:sp>
        </mc:Fallback>
      </mc:AlternateContent>
      <p:sp>
        <p:nvSpPr>
          <p:cNvPr id="18" name="s3_nen"/>
          <p:cNvSpPr/>
          <p:nvPr/>
        </p:nvSpPr>
        <p:spPr>
          <a:xfrm>
            <a:off x="5212080" y="4160520"/>
            <a:ext cx="1828800" cy="82296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9" name="s3_chu"/>
              <p:cNvSpPr txBox="1"/>
              <p:nvPr/>
            </p:nvSpPr>
            <p:spPr>
              <a:xfrm>
                <a:off x="5376672" y="4197096"/>
                <a:ext cx="1499616" cy="74980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0</m:t>
                    </m:r>
                  </m:oMath>
                </a14:m>
              </a:p>
            </p:txBody>
          </p:sp>
        </mc:Choice>
        <mc:Fallback>
          <p:sp>
            <p:nvSpPr>
              <p:cNvPr id="19" name="TextBox 18"/>
              <p:cNvSpPr txBox="1"/>
              <p:nvPr/>
            </p:nvSpPr>
            <p:spPr>
              <a:xfrm>
                <a:off x="5376672" y="4197096"/>
                <a:ext cx="1499616" cy="74980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 </a:t>
                </a:r>
                <a:r>
                  <a:rPr lang="vi-VN"/>
                  <a:t>0</a:t>
                </a:r>
              </a:p>
            </p:txBody>
          </p:sp>
        </mc:Fallback>
      </mc:AlternateContent>
      <p:sp>
        <p:nvSpPr>
          <p:cNvPr id="20" name="Rounded Rectangle 19"/>
          <p:cNvSpPr/>
          <p:nvPr/>
        </p:nvSpPr>
        <p:spPr>
          <a:xfrm>
            <a:off x="548640" y="5166360"/>
            <a:ext cx="4389120" cy="82296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1" name="TextBox 20"/>
              <p:cNvSpPr txBox="1"/>
              <p:nvPr/>
            </p:nvSpPr>
            <p:spPr>
              <a:xfrm>
                <a:off x="713232" y="5202936"/>
                <a:ext cx="4059935" cy="749808"/>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4.</a:t>
                </a:r>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AC</m:t>
                        </m:r>
                      </m:e>
                    </m:acc>
                    <m:r>
                      <a:rPr lang="vi-VN" sz="2600" b="0">
                        <a:solidFill>
                          <a:srgbClr val="1E293B"/>
                        </a:solidFill>
                        <a:latin typeface="Cambria Math" panose="02040503050406030204" pitchFamily="18" charset="0"/>
                      </a:rPr>
                      <m:t>·</m:t>
                    </m:r>
                    <m:acc>
                      <m:accPr>
                        <m:chr m:val="⃗"/>
                      </m:accPr>
                      <m:e>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e>
                    </m:acc>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m:t>
                    </m:r>
                  </m:oMath>
                </a14:m>
              </a:p>
            </p:txBody>
          </p:sp>
        </mc:Choice>
        <mc:Fallback>
          <p:sp>
            <p:nvSpPr>
              <p:cNvPr id="21" name="TextBox 20"/>
              <p:cNvSpPr txBox="1"/>
              <p:nvPr/>
            </p:nvSpPr>
            <p:spPr>
              <a:xfrm>
                <a:off x="713232" y="5202936"/>
                <a:ext cx="4059935" cy="749808"/>
              </a:xfrm>
              <a:prstGeom prst="rect">
                <a:avLst/>
              </a:prstGeom>
              <a:noFill/>
            </p:spPr>
            <p:txBody>
              <a:bodyPr wrap="square" anchor="ctr" lIns="45720" rIns="45720">
                <a:spAutoFit/>
              </a:bodyPr>
              <a:lstStyle/>
              <a:p>
                <a:pPr algn="l">
                  <a:spcAft>
                    <a:spcPts val="800"/>
                  </a:spcAft>
                </a:pPr>
                <a:r>
                  <a:rPr sz="2600" b="1">
                    <a:solidFill>
                      <a:srgbClr val="1E293B"/>
                    </a:solidFill>
                    <a:latin typeface="Calibri"/>
                  </a:rPr>
                  <a:t>4.</a:t>
                </a:r>
                <a:r>
                  <a:rPr sz="2600">
                    <a:solidFill>
                      <a:srgbClr val="1E293B"/>
                    </a:solidFill>
                    <a:latin typeface="Calibri"/>
                  </a:rPr>
                  <a:t> </a:t>
                </a:r>
                <a:r>
                  <a:rPr lang="vi-VN"/>
                  <a:t>\overrightarrow{AC}\cdot\overrightarrow{C'A'}</a:t>
                </a:r>
                <a:r>
                  <a:rPr sz="2600">
                    <a:solidFill>
                      <a:srgbClr val="1E293B"/>
                    </a:solidFill>
                    <a:latin typeface="Calibri"/>
                  </a:rPr>
                  <a:t> </a:t>
                </a:r>
                <a:r>
                  <a:rPr lang="vi-VN"/>
                  <a:t>=\ ?</a:t>
                </a:r>
              </a:p>
            </p:txBody>
          </p:sp>
        </mc:Fallback>
      </mc:AlternateContent>
      <p:sp>
        <p:nvSpPr>
          <p:cNvPr id="22" name="s4_nen"/>
          <p:cNvSpPr/>
          <p:nvPr/>
        </p:nvSpPr>
        <p:spPr>
          <a:xfrm>
            <a:off x="5212080" y="5166360"/>
            <a:ext cx="1828800" cy="82296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3" name="s4_chu"/>
              <p:cNvSpPr txBox="1"/>
              <p:nvPr/>
            </p:nvSpPr>
            <p:spPr>
              <a:xfrm>
                <a:off x="5376672" y="5202936"/>
                <a:ext cx="1499616" cy="74980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−2</m:t>
                    </m:r>
                  </m:oMath>
                </a14:m>
              </a:p>
            </p:txBody>
          </p:sp>
        </mc:Choice>
        <mc:Fallback>
          <p:sp>
            <p:nvSpPr>
              <p:cNvPr id="23" name="TextBox 22"/>
              <p:cNvSpPr txBox="1"/>
              <p:nvPr/>
            </p:nvSpPr>
            <p:spPr>
              <a:xfrm>
                <a:off x="5376672" y="5202936"/>
                <a:ext cx="1499616" cy="749808"/>
              </a:xfrm>
              <a:prstGeom prst="rect">
                <a:avLst/>
              </a:prstGeom>
              <a:noFill/>
            </p:spPr>
            <p:txBody>
              <a:bodyPr wrap="square" anchor="ctr" lIns="45720" rIns="45720">
                <a:spAutoFit/>
              </a:bodyPr>
              <a:lstStyle/>
              <a:p>
                <a:pPr algn="ctr">
                  <a:spcAft>
                    <a:spcPts val="800"/>
                  </a:spcAft>
                </a:pPr>
                <a:r>
                  <a:rPr sz="2600">
                    <a:solidFill>
                      <a:srgbClr val="1E293B"/>
                    </a:solidFill>
                    <a:latin typeface="Calibri"/>
                  </a:rPr>
                  <a:t> </a:t>
                </a:r>
                <a:r>
                  <a:rPr lang="vi-VN"/>
                  <a:t>-2</a:t>
                </a:r>
              </a:p>
            </p:txBody>
          </p:sp>
        </mc:Fallback>
      </mc:AlternateContent>
      <p:pic>
        <p:nvPicPr>
          <p:cNvPr id="24" name="Picture 23" descr="h26.png"/>
          <p:cNvPicPr>
            <a:picLocks noChangeAspect="1"/>
          </p:cNvPicPr>
          <p:nvPr/>
        </p:nvPicPr>
        <p:blipFill>
          <a:blip r:embed="rId3"/>
          <a:stretch>
            <a:fillRect/>
          </a:stretch>
        </p:blipFill>
        <p:spPr>
          <a:xfrm>
            <a:off x="7680960" y="1663765"/>
            <a:ext cx="4023360" cy="3439029"/>
          </a:xfrm>
          <a:prstGeom prst="rect">
            <a:avLst/>
          </a:prstGeom>
        </p:spPr>
      </p:pic>
      <p:sp>
        <p:nvSpPr>
          <p:cNvPr id="25" name="TextBox 24"/>
          <p:cNvSpPr txBox="1"/>
          <p:nvPr/>
        </p:nvSpPr>
        <p:spPr>
          <a:xfrm>
            <a:off x="7680960" y="5138927"/>
            <a:ext cx="402336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lập phương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72</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=0</m:t>
                    </m:r>
                  </m:oMath>
                </a14:m>
                <a:r>
                  <a:rPr sz="2200">
                    <a:solidFill>
                      <a:srgbClr val="1E293B"/>
                    </a:solidFill>
                    <a:latin typeface="Calibri"/>
                  </a:rPr>
                  <a:t>; </a:t>
                </a:r>
                <a14:m>
                  <m:oMath xmlns:m="http://schemas.openxmlformats.org/officeDocument/2006/math">
                    <m:sSup>
                      <m:e>
                        <m:acc>
                          <m:accPr>
                            <m:chr m:val="⃗"/>
                          </m:accPr>
                          <m:e>
                            <m:r>
                              <a:rPr lang="vi-VN" sz="2200" b="0">
                                <a:solidFill>
                                  <a:srgbClr val="1E293B"/>
                                </a:solidFill>
                                <a:latin typeface="Cambria Math" panose="02040503050406030204" pitchFamily="18" charset="0"/>
                              </a:rPr>
                              <m:t>a</m:t>
                            </m:r>
                          </m:e>
                        </m:acc>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Tính chất giao hoán, phân phối như trong mặt phẳng.</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\vec{a}\cdot\vec{b}=|\vec{a}|\cdot|\vec{b}|\cdot\cos(\vec{a},\vec{b})</a:t>
                </a:r>
                <a:r>
                  <a:rPr sz="2200">
                    <a:solidFill>
                      <a:srgbClr val="1E293B"/>
                    </a:solidFill>
                    <a:latin typeface="Calibri"/>
                  </a:rPr>
                  <a:t>; </a:t>
                </a:r>
                <a:r>
                  <a:rPr lang="vi-VN"/>
                  <a:t>\vec{a}\perp\vec{b}\Leftrightarrow\vec{a}\cdot\vec{b}=0</a:t>
                </a:r>
                <a:r>
                  <a:rPr sz="2200">
                    <a:solidFill>
                      <a:srgbClr val="1E293B"/>
                    </a:solidFill>
                    <a:latin typeface="Calibri"/>
                  </a:rPr>
                  <a:t>; </a:t>
                </a:r>
                <a:r>
                  <a:rPr lang="vi-VN"/>
                  <a:t>\vec{a}^2=|\vec{a}|^2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Tính chất giao hoán, phân phối như trong mặt phẳng.</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6453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2.10, 2.11, 2.12 (SGK tr.59).</a:t>
            </a:r>
          </a:p>
          <a:p>
            <a:pPr algn="l" marL="365760" indent="-365760">
              <a:spcAft>
                <a:spcPts val="800"/>
              </a:spcAft>
              <a:buClr>
                <a:srgbClr val="1E40AF"/>
              </a:buClr>
              <a:buFont typeface="Arial"/>
              <a:buChar char="•"/>
            </a:pPr>
            <a:r>
              <a:rPr sz="2200">
                <a:solidFill>
                  <a:srgbClr val="1E293B"/>
                </a:solidFill>
                <a:latin typeface="Calibri"/>
              </a:rPr>
              <a:t>Chuẩn bị tiết luyện tập: ôn toàn bài, mang bảng con.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6 (T33)</a:t>
            </a:r>
          </a:p>
          <a:p>
            <a:pPr>
              <a:spcAft>
                <a:spcPts val="600"/>
              </a:spcAft>
            </a:pPr>
            <a:r>
              <a:rPr sz="4000" b="1">
                <a:solidFill>
                  <a:srgbClr val="FFFFFF"/>
                </a:solidFill>
                <a:latin typeface="Cambria"/>
              </a:rPr>
              <a:t>Luyện tập – Bài tập</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Hệ thống kiến thức Bài 6 bằng sơ đồ tư duy.</a:t>
            </a:r>
          </a:p>
          <a:p>
            <a:pPr algn="l">
              <a:spcAft>
                <a:spcPts val="800"/>
              </a:spcAft>
            </a:pPr>
            <a:r>
              <a:rPr sz="2200">
                <a:solidFill>
                  <a:srgbClr val="E0E7FF"/>
                </a:solidFill>
                <a:latin typeface="Calibri"/>
              </a:rPr>
              <a:t>• Giải Bài tập 2.1 – 2.12; củng cố theo cấu trúc đề thi mới.</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74</a:t>
            </a:r>
          </a:p>
        </p:txBody>
      </p:sp>
      <p:pic>
        <p:nvPicPr>
          <p:cNvPr id="7" name="Picture 6" descr="SoDoTuDuy_TOAN12_Bai6_VectoTrongKhongGian_T28-33.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2.1 – 2.3 (SGK TR.58)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138160" cy="133197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a:t>
                </a:r>
                <a:r>
                  <a:rPr sz="1900">
                    <a:solidFill>
                      <a:srgbClr val="1E293B"/>
                    </a:solidFill>
                    <a:latin typeface="Calibri"/>
                  </a:rPr>
                  <a:t> Ba vectơ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phân biệt, khác </a:t>
                </a:r>
                <a14:m>
                  <m:oMath xmlns:m="http://schemas.openxmlformats.org/officeDocument/2006/math">
                    <m:acc>
                      <m:accPr>
                        <m:chr m:val="⃗"/>
                      </m:accPr>
                      <m:e>
                        <m:r>
                          <a:rPr lang="vi-VN" sz="1900" b="0">
                            <a:solidFill>
                              <a:srgbClr val="1E293B"/>
                            </a:solidFill>
                            <a:latin typeface="Cambria Math" panose="02040503050406030204" pitchFamily="18" charset="0"/>
                          </a:rPr>
                          <m:t>0</m:t>
                        </m:r>
                      </m:e>
                    </m:acc>
                  </m:oMath>
                </a14:m>
                <a:r>
                  <a:rPr sz="1900">
                    <a:solidFill>
                      <a:srgbClr val="1E293B"/>
                    </a:solidFill>
                    <a:latin typeface="Calibri"/>
                  </a:rPr>
                  <a:t>. Mệnh đề nào đúng? Nếu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oMath>
                </a14:m>
                <a:r>
                  <a:rPr sz="1900">
                    <a:solidFill>
                      <a:srgbClr val="1E293B"/>
                    </a:solidFill>
                    <a:latin typeface="Calibri"/>
                  </a:rPr>
                  <a:t> đều: a) cùng hướng với </a:t>
                </a:r>
                <a14:m>
                  <m:oMath xmlns:m="http://schemas.openxmlformats.org/officeDocument/2006/math">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 cùng hướng; b) ngược hướng với </a:t>
                </a:r>
                <a14:m>
                  <m:oMath xmlns:m="http://schemas.openxmlformats.org/officeDocument/2006/math">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 cùng hướng; c) cùng hướng với </a:t>
                </a:r>
                <a14:m>
                  <m:oMath xmlns:m="http://schemas.openxmlformats.org/officeDocument/2006/math">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 ngược hướng; d) ngược hướng với </a:t>
                </a:r>
                <a14:m>
                  <m:oMath xmlns:m="http://schemas.openxmlformats.org/officeDocument/2006/math">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 ngược hướng.</a:t>
                </a:r>
              </a:p>
            </p:txBody>
          </p:sp>
        </mc:Choice>
        <mc:Fallback>
          <p:sp>
            <p:nvSpPr>
              <p:cNvPr id="7" name="TextBox 6"/>
              <p:cNvSpPr txBox="1"/>
              <p:nvPr/>
            </p:nvSpPr>
            <p:spPr>
              <a:xfrm>
                <a:off x="548640" y="1371600"/>
                <a:ext cx="8138160" cy="133197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a:t>
                </a:r>
                <a:r>
                  <a:rPr sz="1900">
                    <a:solidFill>
                      <a:srgbClr val="1E293B"/>
                    </a:solidFill>
                    <a:latin typeface="Calibri"/>
                  </a:rPr>
                  <a:t> Ba vectơ </a:t>
                </a:r>
                <a:r>
                  <a:rPr lang="vi-VN"/>
                  <a:t>\vec{a},\ \vec{b},\ \vec{c}</a:t>
                </a:r>
                <a:r>
                  <a:rPr sz="1900">
                    <a:solidFill>
                      <a:srgbClr val="1E293B"/>
                    </a:solidFill>
                    <a:latin typeface="Calibri"/>
                  </a:rPr>
                  <a:t> phân biệt, khác </a:t>
                </a:r>
                <a:r>
                  <a:rPr lang="vi-VN"/>
                  <a:t>\vec{0}</a:t>
                </a:r>
                <a:r>
                  <a:rPr sz="1900">
                    <a:solidFill>
                      <a:srgbClr val="1E293B"/>
                    </a:solidFill>
                    <a:latin typeface="Calibri"/>
                  </a:rPr>
                  <a:t>. Mệnh đề nào đúng? Nếu </a:t>
                </a:r>
                <a:r>
                  <a:rPr lang="vi-VN"/>
                  <a:t>\vec{a},\ \vec{b}</a:t>
                </a:r>
                <a:r>
                  <a:rPr sz="1900">
                    <a:solidFill>
                      <a:srgbClr val="1E293B"/>
                    </a:solidFill>
                    <a:latin typeface="Calibri"/>
                  </a:rPr>
                  <a:t> đều: a) cùng hướng với </a:t>
                </a:r>
                <a:r>
                  <a:rPr lang="vi-VN"/>
                  <a:t>\vec{c}</a:t>
                </a:r>
                <a:r>
                  <a:rPr sz="1900">
                    <a:solidFill>
                      <a:srgbClr val="1E293B"/>
                    </a:solidFill>
                    <a:latin typeface="Calibri"/>
                  </a:rPr>
                  <a:t> ⇒ cùng hướng; b) ngược hướng với </a:t>
                </a:r>
                <a:r>
                  <a:rPr lang="vi-VN"/>
                  <a:t>\vec{c}</a:t>
                </a:r>
                <a:r>
                  <a:rPr sz="1900">
                    <a:solidFill>
                      <a:srgbClr val="1E293B"/>
                    </a:solidFill>
                    <a:latin typeface="Calibri"/>
                  </a:rPr>
                  <a:t> ⇒ cùng hướng; c) cùng hướng với </a:t>
                </a:r>
                <a:r>
                  <a:rPr lang="vi-VN"/>
                  <a:t>\vec{c}</a:t>
                </a:r>
                <a:r>
                  <a:rPr sz="1900">
                    <a:solidFill>
                      <a:srgbClr val="1E293B"/>
                    </a:solidFill>
                    <a:latin typeface="Calibri"/>
                  </a:rPr>
                  <a:t> ⇒ ngược hướng; d) ngược hướng với </a:t>
                </a:r>
                <a:r>
                  <a:rPr lang="vi-VN"/>
                  <a:t>\vec{c}</a:t>
                </a:r>
                <a:r>
                  <a:rPr sz="1900">
                    <a:solidFill>
                      <a:srgbClr val="1E293B"/>
                    </a:solidFill>
                    <a:latin typeface="Calibri"/>
                  </a:rPr>
                  <a:t> ⇒ ngược hướng.</a:t>
                </a:r>
              </a:p>
            </p:txBody>
          </p:sp>
        </mc:Fallback>
      </mc:AlternateContent>
      <p:sp>
        <p:nvSpPr>
          <p:cNvPr id="8" name="s1_nen"/>
          <p:cNvSpPr/>
          <p:nvPr/>
        </p:nvSpPr>
        <p:spPr>
          <a:xfrm>
            <a:off x="548640" y="2767584"/>
            <a:ext cx="813816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2804160"/>
            <a:ext cx="7808976" cy="48158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a:t>
            </a:r>
            <a:r>
              <a:rPr sz="1900">
                <a:solidFill>
                  <a:srgbClr val="1E293B"/>
                </a:solidFill>
                <a:latin typeface="Calibri"/>
              </a:rPr>
              <a:t> Các mệnh đề đúng là a, b.</a:t>
            </a:r>
          </a:p>
        </p:txBody>
      </p:sp>
      <mc:AlternateContent xmlns:mc="http://schemas.openxmlformats.org/markup-compatibility/2006">
        <mc:Choice xmlns:a14="http://schemas.microsoft.com/office/drawing/2010/main" Requires="a14">
          <p:sp>
            <p:nvSpPr>
              <p:cNvPr id="10" name="s2_chu"/>
              <p:cNvSpPr txBox="1"/>
              <p:nvPr/>
            </p:nvSpPr>
            <p:spPr>
              <a:xfrm>
                <a:off x="548640" y="3386328"/>
                <a:ext cx="813816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2.2.</a:t>
                </a:r>
                <a:r>
                  <a:rPr sz="1900">
                    <a:solidFill>
                      <a:srgbClr val="1E293B"/>
                    </a:solidFill>
                    <a:latin typeface="Calibri"/>
                  </a:rPr>
                  <a:t> Hình hộp chữ nhật </a:t>
                </a:r>
                <a14:m>
                  <m:oMath xmlns:m="http://schemas.openxmlformats.org/officeDocument/2006/math">
                    <m:r>
                      <a:rPr lang="vi-VN" sz="1900" b="0">
                        <a:solidFill>
                          <a:srgbClr val="1E293B"/>
                        </a:solidFill>
                        <a:latin typeface="Cambria Math" panose="02040503050406030204" pitchFamily="18" charset="0"/>
                      </a:rPr>
                      <m:t>AB=2,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AD=3,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A</m:t>
                    </m:r>
                    <m:sSup>
                      <m:e>
                        <m:r>
                          <a:rPr lang="vi-VN" sz="1900" b="0">
                            <a:solidFill>
                              <a:srgbClr val="1E293B"/>
                            </a:solidFill>
                            <a:latin typeface="Cambria Math" panose="02040503050406030204" pitchFamily="18" charset="0"/>
                          </a:rPr>
                          <m:t>A</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=4</m:t>
                    </m:r>
                  </m:oMath>
                </a14:m>
                <a:r>
                  <a:rPr sz="1900">
                    <a:solidFill>
                      <a:srgbClr val="1E293B"/>
                    </a:solidFill>
                    <a:latin typeface="Calibri"/>
                  </a:rPr>
                  <a:t>. Tính </a:t>
                </a:r>
                <a14:m>
                  <m:oMath xmlns:m="http://schemas.openxmlformats.org/officeDocument/2006/math">
                    <m:d>
                      <m:dPr>
                        <m:begChr m:val="|"/>
                        <m:sepChr m:val=""/>
                        <m:endChr m:val="|"/>
                      </m:dPr>
                      <m:e>
                        <m:acc>
                          <m:accPr>
                            <m:chr m:val="⃗"/>
                          </m:accPr>
                          <m:e>
                            <m:r>
                              <a:rPr lang="vi-VN" sz="1900" b="0">
                                <a:solidFill>
                                  <a:srgbClr val="1E293B"/>
                                </a:solidFill>
                                <a:latin typeface="Cambria Math" panose="02040503050406030204" pitchFamily="18" charset="0"/>
                              </a:rPr>
                              <m:t>B</m:t>
                            </m:r>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e>
                        </m:acc>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BD</m:t>
                            </m:r>
                          </m:e>
                        </m:acc>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B</m:t>
                            </m:r>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e>
                        </m:acc>
                      </m:e>
                    </m:d>
                  </m:oMath>
                </a14:m>
                <a:r>
                  <a:rPr sz="1900">
                    <a:solidFill>
                      <a:srgbClr val="1E293B"/>
                    </a:solidFill>
                    <a:latin typeface="Calibri"/>
                  </a:rPr>
                  <a:t>.</a:t>
                </a:r>
              </a:p>
            </p:txBody>
          </p:sp>
        </mc:Choice>
        <mc:Fallback>
          <p:sp>
            <p:nvSpPr>
              <p:cNvPr id="10" name="TextBox 9"/>
              <p:cNvSpPr txBox="1"/>
              <p:nvPr/>
            </p:nvSpPr>
            <p:spPr>
              <a:xfrm>
                <a:off x="548640" y="3386328"/>
                <a:ext cx="813816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2.2.</a:t>
                </a:r>
                <a:r>
                  <a:rPr sz="1900">
                    <a:solidFill>
                      <a:srgbClr val="1E293B"/>
                    </a:solidFill>
                    <a:latin typeface="Calibri"/>
                  </a:rPr>
                  <a:t> Hình hộp chữ nhật </a:t>
                </a:r>
                <a:r>
                  <a:rPr lang="vi-VN"/>
                  <a:t>AB=2,\ AD=3,\ AA'=4</a:t>
                </a:r>
                <a:r>
                  <a:rPr sz="1900">
                    <a:solidFill>
                      <a:srgbClr val="1E293B"/>
                    </a:solidFill>
                    <a:latin typeface="Calibri"/>
                  </a:rPr>
                  <a:t>. Tính </a:t>
                </a:r>
                <a:r>
                  <a:rPr lang="vi-VN"/>
                  <a:t>|\overrightarrow{BB'}|,\ |\overrightarrow{BD}|,\ |\overrightarrow{BD'}|</a:t>
                </a:r>
                <a:r>
                  <a:rPr sz="1900">
                    <a:solidFill>
                      <a:srgbClr val="1E293B"/>
                    </a:solidFill>
                    <a:latin typeface="Calibri"/>
                  </a:rPr>
                  <a:t>.</a:t>
                </a:r>
              </a:p>
            </p:txBody>
          </p:sp>
        </mc:Fallback>
      </mc:AlternateContent>
      <p:sp>
        <p:nvSpPr>
          <p:cNvPr id="11" name="s3_nen"/>
          <p:cNvSpPr/>
          <p:nvPr/>
        </p:nvSpPr>
        <p:spPr>
          <a:xfrm>
            <a:off x="548640" y="4203192"/>
            <a:ext cx="813816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239768"/>
                <a:ext cx="7808976" cy="48158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2.2.</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B</m:t>
                        </m:r>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e>
                    </m:acc>
                    <m:r>
                      <a:rPr lang="vi-VN" sz="1900" b="0">
                        <a:solidFill>
                          <a:srgbClr val="1E293B"/>
                        </a:solidFill>
                        <a:latin typeface="Cambria Math" panose="02040503050406030204" pitchFamily="18" charset="0"/>
                      </a:rPr>
                      <m:t>|=4</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BD</m:t>
                        </m:r>
                      </m:e>
                    </m:acc>
                    <m:r>
                      <a:rPr lang="vi-VN" sz="1900" b="0">
                        <a:solidFill>
                          <a:srgbClr val="1E293B"/>
                        </a:solidFill>
                        <a:latin typeface="Cambria Math" panose="02040503050406030204" pitchFamily="18" charset="0"/>
                      </a:rPr>
                      <m:t>|=</m:t>
                    </m:r>
                    <m:rad>
                      <m:radPr>
                        <m:degHide m:val="on"/>
                      </m:radPr>
                      <m:deg/>
                      <m:e>
                        <m:sSup>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m:t>
                        </m:r>
                        <m:sSup>
                          <m:e>
                            <m:r>
                              <a:rPr lang="vi-VN" sz="1900" b="0">
                                <a:solidFill>
                                  <a:srgbClr val="1E293B"/>
                                </a:solidFill>
                                <a:latin typeface="Cambria Math" panose="02040503050406030204" pitchFamily="18" charset="0"/>
                              </a:rPr>
                              <m:t>3</m:t>
                            </m:r>
                          </m:e>
                          <m:sup>
                            <m:r>
                              <a:rPr lang="vi-VN" sz="1900" b="0">
                                <a:solidFill>
                                  <a:srgbClr val="1E293B"/>
                                </a:solidFill>
                                <a:latin typeface="Cambria Math" panose="02040503050406030204" pitchFamily="18" charset="0"/>
                              </a:rPr>
                              <m:t>2</m:t>
                            </m:r>
                          </m:sup>
                        </m:sSup>
                      </m:e>
                    </m:rad>
                    <m:r>
                      <a:rPr lang="vi-VN" sz="1900" b="0">
                        <a:solidFill>
                          <a:srgbClr val="1E293B"/>
                        </a:solidFill>
                        <a:latin typeface="Cambria Math" panose="02040503050406030204" pitchFamily="18" charset="0"/>
                      </a:rPr>
                      <m:t>=</m:t>
                    </m:r>
                    <m:rad>
                      <m:radPr>
                        <m:degHide m:val="on"/>
                      </m:radPr>
                      <m:deg/>
                      <m:e>
                        <m:r>
                          <a:rPr lang="vi-VN" sz="1900" b="0">
                            <a:solidFill>
                              <a:srgbClr val="1E293B"/>
                            </a:solidFill>
                            <a:latin typeface="Cambria Math" panose="02040503050406030204" pitchFamily="18" charset="0"/>
                          </a:rPr>
                          <m:t>13</m:t>
                        </m:r>
                      </m:e>
                    </m:rad>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B</m:t>
                        </m:r>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e>
                    </m:acc>
                    <m:r>
                      <a:rPr lang="vi-VN" sz="1900" b="0">
                        <a:solidFill>
                          <a:srgbClr val="1E293B"/>
                        </a:solidFill>
                        <a:latin typeface="Cambria Math" panose="02040503050406030204" pitchFamily="18" charset="0"/>
                      </a:rPr>
                      <m:t>|=</m:t>
                    </m:r>
                    <m:rad>
                      <m:radPr>
                        <m:degHide m:val="on"/>
                      </m:radPr>
                      <m:deg/>
                      <m:e>
                        <m:r>
                          <a:rPr lang="vi-VN" sz="1900" b="0">
                            <a:solidFill>
                              <a:srgbClr val="1E293B"/>
                            </a:solidFill>
                            <a:latin typeface="Cambria Math" panose="02040503050406030204" pitchFamily="18" charset="0"/>
                          </a:rPr>
                          <m:t>13+</m:t>
                        </m:r>
                        <m:sSup>
                          <m:e>
                            <m:r>
                              <a:rPr lang="vi-VN" sz="1900" b="0">
                                <a:solidFill>
                                  <a:srgbClr val="1E293B"/>
                                </a:solidFill>
                                <a:latin typeface="Cambria Math" panose="02040503050406030204" pitchFamily="18" charset="0"/>
                              </a:rPr>
                              <m:t>4</m:t>
                            </m:r>
                          </m:e>
                          <m:sup>
                            <m:r>
                              <a:rPr lang="vi-VN" sz="1900" b="0">
                                <a:solidFill>
                                  <a:srgbClr val="1E293B"/>
                                </a:solidFill>
                                <a:latin typeface="Cambria Math" panose="02040503050406030204" pitchFamily="18" charset="0"/>
                              </a:rPr>
                              <m:t>2</m:t>
                            </m:r>
                          </m:sup>
                        </m:sSup>
                      </m:e>
                    </m:rad>
                    <m:r>
                      <a:rPr lang="vi-VN" sz="1900" b="0">
                        <a:solidFill>
                          <a:srgbClr val="1E293B"/>
                        </a:solidFill>
                        <a:latin typeface="Cambria Math" panose="02040503050406030204" pitchFamily="18" charset="0"/>
                      </a:rPr>
                      <m:t>=</m:t>
                    </m:r>
                    <m:rad>
                      <m:radPr>
                        <m:degHide m:val="on"/>
                      </m:radPr>
                      <m:deg/>
                      <m:e>
                        <m:r>
                          <a:rPr lang="vi-VN" sz="1900" b="0">
                            <a:solidFill>
                              <a:srgbClr val="1E293B"/>
                            </a:solidFill>
                            <a:latin typeface="Cambria Math" panose="02040503050406030204" pitchFamily="18" charset="0"/>
                          </a:rPr>
                          <m:t>29</m:t>
                        </m:r>
                      </m:e>
                    </m:rad>
                  </m:oMath>
                </a14:m>
                <a:r>
                  <a:rPr sz="1900">
                    <a:solidFill>
                      <a:srgbClr val="1E293B"/>
                    </a:solidFill>
                    <a:latin typeface="Calibri"/>
                  </a:rPr>
                  <a:t>.</a:t>
                </a:r>
              </a:p>
            </p:txBody>
          </p:sp>
        </mc:Choice>
        <mc:Fallback>
          <p:sp>
            <p:nvSpPr>
              <p:cNvPr id="12" name="TextBox 11"/>
              <p:cNvSpPr txBox="1"/>
              <p:nvPr/>
            </p:nvSpPr>
            <p:spPr>
              <a:xfrm>
                <a:off x="713232" y="4239768"/>
                <a:ext cx="7808976" cy="48158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2.2.</a:t>
                </a:r>
                <a:r>
                  <a:rPr sz="1900">
                    <a:solidFill>
                      <a:srgbClr val="1E293B"/>
                    </a:solidFill>
                    <a:latin typeface="Calibri"/>
                  </a:rPr>
                  <a:t> </a:t>
                </a:r>
                <a:r>
                  <a:rPr lang="vi-VN"/>
                  <a:t>|\overrightarrow{BB'}|=4</a:t>
                </a:r>
                <a:r>
                  <a:rPr sz="1900">
                    <a:solidFill>
                      <a:srgbClr val="1E293B"/>
                    </a:solidFill>
                    <a:latin typeface="Calibri"/>
                  </a:rPr>
                  <a:t>; </a:t>
                </a:r>
                <a:r>
                  <a:rPr lang="vi-VN"/>
                  <a:t>|\overrightarrow{BD}|=\sqrt{2^2+3^2}=\sqrt{13}</a:t>
                </a:r>
                <a:r>
                  <a:rPr sz="1900">
                    <a:solidFill>
                      <a:srgbClr val="1E293B"/>
                    </a:solidFill>
                    <a:latin typeface="Calibri"/>
                  </a:rPr>
                  <a:t>; </a:t>
                </a:r>
                <a:r>
                  <a:rPr lang="vi-VN"/>
                  <a:t>|\overrightarrow{BD'}|=\sqrt{13+4^2}=\sqrt{29}</a:t>
                </a:r>
                <a:r>
                  <a:rPr sz="19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3" name="s4_chu"/>
              <p:cNvSpPr txBox="1"/>
              <p:nvPr/>
            </p:nvSpPr>
            <p:spPr>
              <a:xfrm>
                <a:off x="548640" y="4821936"/>
                <a:ext cx="813816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2.3.</a:t>
                </a:r>
                <a:r>
                  <a:rPr sz="1900">
                    <a:solidFill>
                      <a:srgbClr val="1E293B"/>
                    </a:solidFill>
                    <a:latin typeface="Calibri"/>
                  </a:rPr>
                  <a:t> Bàn cân đối (H.2.29): quan hệ phương, hướng của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d</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e</m:t>
                        </m:r>
                      </m:e>
                    </m:acc>
                  </m:oMath>
                </a14:m>
                <a:r>
                  <a:rPr sz="1900">
                    <a:solidFill>
                      <a:srgbClr val="1E293B"/>
                    </a:solidFill>
                    <a:latin typeface="Calibri"/>
                  </a:rPr>
                  <a:t>; vì sao </a:t>
                </a:r>
                <a14:m>
                  <m:oMath xmlns:m="http://schemas.openxmlformats.org/officeDocument/2006/math">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d</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e</m:t>
                        </m:r>
                      </m:e>
                    </m:acc>
                  </m:oMath>
                </a14:m>
                <a:r>
                  <a:rPr sz="1900">
                    <a:solidFill>
                      <a:srgbClr val="1E293B"/>
                    </a:solidFill>
                    <a:latin typeface="Calibri"/>
                  </a:rPr>
                  <a:t> đôi một bằng nhau.</a:t>
                </a:r>
              </a:p>
            </p:txBody>
          </p:sp>
        </mc:Choice>
        <mc:Fallback>
          <p:sp>
            <p:nvSpPr>
              <p:cNvPr id="13" name="TextBox 12"/>
              <p:cNvSpPr txBox="1"/>
              <p:nvPr/>
            </p:nvSpPr>
            <p:spPr>
              <a:xfrm>
                <a:off x="548640" y="4821936"/>
                <a:ext cx="813816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2.3.</a:t>
                </a:r>
                <a:r>
                  <a:rPr sz="1900">
                    <a:solidFill>
                      <a:srgbClr val="1E293B"/>
                    </a:solidFill>
                    <a:latin typeface="Calibri"/>
                  </a:rPr>
                  <a:t> Bàn cân đối (H.2.29): quan hệ phương, hướng của </a:t>
                </a:r>
                <a:r>
                  <a:rPr lang="vi-VN"/>
                  <a:t>\vec{a},\ \vec{b},\ \vec{c},\ \vec{d},\ \vec{e}</a:t>
                </a:r>
                <a:r>
                  <a:rPr sz="1900">
                    <a:solidFill>
                      <a:srgbClr val="1E293B"/>
                    </a:solidFill>
                    <a:latin typeface="Calibri"/>
                  </a:rPr>
                  <a:t>; vì sao </a:t>
                </a:r>
                <a:r>
                  <a:rPr lang="vi-VN"/>
                  <a:t>\vec{b},\ \vec{c},\ \vec{d},\ \vec{e}</a:t>
                </a:r>
                <a:r>
                  <a:rPr sz="1900">
                    <a:solidFill>
                      <a:srgbClr val="1E293B"/>
                    </a:solidFill>
                    <a:latin typeface="Calibri"/>
                  </a:rPr>
                  <a:t> đôi một bằng nhau.</a:t>
                </a:r>
              </a:p>
            </p:txBody>
          </p:sp>
        </mc:Fallback>
      </mc:AlternateContent>
      <p:sp>
        <p:nvSpPr>
          <p:cNvPr id="14" name="s5_nen"/>
          <p:cNvSpPr/>
          <p:nvPr/>
        </p:nvSpPr>
        <p:spPr>
          <a:xfrm>
            <a:off x="548640" y="5638800"/>
            <a:ext cx="813816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5_chu"/>
              <p:cNvSpPr txBox="1"/>
              <p:nvPr/>
            </p:nvSpPr>
            <p:spPr>
              <a:xfrm>
                <a:off x="713232" y="5675376"/>
                <a:ext cx="780897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2.3.</a:t>
                </a:r>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d</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e</m:t>
                        </m:r>
                      </m:e>
                    </m:acc>
                  </m:oMath>
                </a14:m>
                <a:r>
                  <a:rPr sz="1900">
                    <a:solidFill>
                      <a:srgbClr val="1E293B"/>
                    </a:solidFill>
                    <a:latin typeface="Calibri"/>
                  </a:rPr>
                  <a:t> cùng phương, ngược hướng </a:t>
                </a:r>
                <a14:m>
                  <m:oMath xmlns:m="http://schemas.openxmlformats.org/officeDocument/2006/math">
                    <m:acc>
                      <m:accPr>
                        <m:chr m:val="⃗"/>
                      </m:accPr>
                      <m:e>
                        <m:r>
                          <a:rPr lang="vi-VN" sz="1900" b="0">
                            <a:solidFill>
                              <a:srgbClr val="1E293B"/>
                            </a:solidFill>
                            <a:latin typeface="Cambria Math" panose="02040503050406030204" pitchFamily="18" charset="0"/>
                          </a:rPr>
                          <m:t>a</m:t>
                        </m:r>
                      </m:e>
                    </m:acc>
                  </m:oMath>
                </a14:m>
                <a:r>
                  <a:rPr sz="1900">
                    <a:solidFill>
                      <a:srgbClr val="1E293B"/>
                    </a:solidFill>
                    <a:latin typeface="Calibri"/>
                  </a:rPr>
                  <a:t> ⇒ đôi một cùng hướng; trọng lực phân tán đều ⇒ cùng độ lớn ⇒ đôi một bằng nhau.</a:t>
                </a:r>
              </a:p>
            </p:txBody>
          </p:sp>
        </mc:Choice>
        <mc:Fallback>
          <p:sp>
            <p:nvSpPr>
              <p:cNvPr id="15" name="TextBox 14"/>
              <p:cNvSpPr txBox="1"/>
              <p:nvPr/>
            </p:nvSpPr>
            <p:spPr>
              <a:xfrm>
                <a:off x="713232" y="5675376"/>
                <a:ext cx="780897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2.3.</a:t>
                </a:r>
                <a:r>
                  <a:rPr sz="1900">
                    <a:solidFill>
                      <a:srgbClr val="1E293B"/>
                    </a:solidFill>
                    <a:latin typeface="Calibri"/>
                  </a:rPr>
                  <a:t> </a:t>
                </a:r>
                <a:r>
                  <a:rPr lang="vi-VN"/>
                  <a:t>\vec{b},\ \vec{c},\ \vec{d},\ \vec{e}</a:t>
                </a:r>
                <a:r>
                  <a:rPr sz="1900">
                    <a:solidFill>
                      <a:srgbClr val="1E293B"/>
                    </a:solidFill>
                    <a:latin typeface="Calibri"/>
                  </a:rPr>
                  <a:t> cùng phương, ngược hướng </a:t>
                </a:r>
                <a:r>
                  <a:rPr lang="vi-VN"/>
                  <a:t>\vec{a}</a:t>
                </a:r>
                <a:r>
                  <a:rPr sz="1900">
                    <a:solidFill>
                      <a:srgbClr val="1E293B"/>
                    </a:solidFill>
                    <a:latin typeface="Calibri"/>
                  </a:rPr>
                  <a:t> ⇒ đôi một cùng hướng; trọng lực phân tán đều ⇒ cùng độ lớn ⇒ đôi một bằng nhau.</a:t>
                </a:r>
              </a:p>
            </p:txBody>
          </p:sp>
        </mc:Fallback>
      </mc:AlternateContent>
      <p:pic>
        <p:nvPicPr>
          <p:cNvPr id="16" name="Picture 15" descr="h229.png"/>
          <p:cNvPicPr>
            <a:picLocks noChangeAspect="1"/>
          </p:cNvPicPr>
          <p:nvPr/>
        </p:nvPicPr>
        <p:blipFill>
          <a:blip r:embed="rId3"/>
          <a:stretch>
            <a:fillRect/>
          </a:stretch>
        </p:blipFill>
        <p:spPr>
          <a:xfrm>
            <a:off x="8869680" y="1655926"/>
            <a:ext cx="2834640" cy="235742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2.4 – 2.5 (SGK TR.58)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2.4.</a:t>
                </a:r>
                <a:r>
                  <a:rPr sz="2000">
                    <a:solidFill>
                      <a:srgbClr val="1E293B"/>
                    </a:solidFill>
                    <a:latin typeface="Calibri"/>
                  </a:rPr>
                  <a:t> Hình hộp </a:t>
                </a:r>
                <a14:m>
                  <m:oMath xmlns:m="http://schemas.openxmlformats.org/officeDocument/2006/math">
                    <m:r>
                      <a:rPr lang="vi-VN" sz="2000" b="0">
                        <a:solidFill>
                          <a:srgbClr val="1E293B"/>
                        </a:solidFill>
                        <a:latin typeface="Cambria Math" panose="02040503050406030204" pitchFamily="18" charset="0"/>
                      </a:rPr>
                      <m:t>ABCD.</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Chứng minh: a) </a:t>
                </a:r>
                <a14:m>
                  <m:oMath xmlns:m="http://schemas.openxmlformats.org/officeDocument/2006/math">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m:t>
                        </m:r>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c) </a:t>
                </a:r>
                <a14:m>
                  <m:oMath xmlns:m="http://schemas.openxmlformats.org/officeDocument/2006/math">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DC</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m:t>
                        </m:r>
                      </m:e>
                    </m:acc>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2.4.</a:t>
                </a:r>
                <a:r>
                  <a:rPr sz="2000">
                    <a:solidFill>
                      <a:srgbClr val="1E293B"/>
                    </a:solidFill>
                    <a:latin typeface="Calibri"/>
                  </a:rPr>
                  <a:t> Hình hộp </a:t>
                </a:r>
                <a:r>
                  <a:rPr lang="vi-VN"/>
                  <a:t>ABCD.A'B'C'D'</a:t>
                </a:r>
                <a:r>
                  <a:rPr sz="2000">
                    <a:solidFill>
                      <a:srgbClr val="1E293B"/>
                    </a:solidFill>
                    <a:latin typeface="Calibri"/>
                  </a:rPr>
                  <a:t>. Chứng minh: a) </a:t>
                </a:r>
                <a:r>
                  <a:rPr lang="vi-VN"/>
                  <a:t>\overrightarrow{AB}+\overrightarrow{DD'}+\overrightarrow{C'D'}=\overrightarrow{CC'}</a:t>
                </a:r>
                <a:r>
                  <a:rPr sz="2000">
                    <a:solidFill>
                      <a:srgbClr val="1E293B"/>
                    </a:solidFill>
                    <a:latin typeface="Calibri"/>
                  </a:rPr>
                  <a:t>; b) </a:t>
                </a:r>
                <a:r>
                  <a:rPr lang="vi-VN"/>
                  <a:t>\overrightarrow{AB}+\overrightarrow{CD'}-\overrightarrow{CC'}=\vec{0}</a:t>
                </a:r>
                <a:r>
                  <a:rPr sz="2000">
                    <a:solidFill>
                      <a:srgbClr val="1E293B"/>
                    </a:solidFill>
                    <a:latin typeface="Calibri"/>
                  </a:rPr>
                  <a:t>; c) </a:t>
                </a:r>
                <a:r>
                  <a:rPr lang="vi-VN"/>
                  <a:t>\overrightarrow{BC}-\overrightarrow{CC'}+\overrightarrow{DC}=\overrightarrow{A'C}</a:t>
                </a:r>
                <a:r>
                  <a:rPr sz="2000">
                    <a:solidFill>
                      <a:srgbClr val="1E293B"/>
                    </a:solidFill>
                    <a:latin typeface="Calibri"/>
                  </a:rPr>
                  <a:t>.</a:t>
                </a:r>
              </a:p>
            </p:txBody>
          </p:sp>
        </mc:Fallback>
      </mc:AlternateContent>
      <p:sp>
        <p:nvSpPr>
          <p:cNvPr id="8" name="s1_nen"/>
          <p:cNvSpPr/>
          <p:nvPr/>
        </p:nvSpPr>
        <p:spPr>
          <a:xfrm>
            <a:off x="548640" y="2218944"/>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2.4.</a:t>
                </a:r>
                <a:r>
                  <a:rPr sz="2000">
                    <a:solidFill>
                      <a:srgbClr val="1E293B"/>
                    </a:solidFill>
                    <a:latin typeface="Calibri"/>
                  </a:rPr>
                  <a:t> a)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m:t>
                        </m:r>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m:t>
                        </m:r>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m:t>
                        </m:r>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c)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m:t>
                        </m:r>
                      </m:e>
                    </m:acc>
                  </m:oMath>
                </a14:m>
                <a:r>
                  <a:rPr sz="2000">
                    <a:solidFill>
                      <a:srgbClr val="1E293B"/>
                    </a:solidFill>
                    <a:latin typeface="Calibri"/>
                  </a:rPr>
                  <a:t> (quy tắc hình hộp).</a:t>
                </a:r>
              </a:p>
            </p:txBody>
          </p:sp>
        </mc:Choice>
        <mc:Fallback>
          <p:sp>
            <p:nvSpPr>
              <p:cNvPr id="9" name="TextBox 8"/>
              <p:cNvSpPr txBox="1"/>
              <p:nvPr/>
            </p:nvSpPr>
            <p:spPr>
              <a:xfrm>
                <a:off x="713232" y="2255520"/>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2.4.</a:t>
                </a:r>
                <a:r>
                  <a:rPr sz="2000">
                    <a:solidFill>
                      <a:srgbClr val="1E293B"/>
                    </a:solidFill>
                    <a:latin typeface="Calibri"/>
                  </a:rPr>
                  <a:t> a) </a:t>
                </a:r>
                <a:r>
                  <a:rPr lang="vi-VN"/>
                  <a:t>=\overrightarrow{DC}+\overrightarrow{DD'}+\overrightarrow{CD}=\overrightarrow{DD'}=\overrightarrow{CC'}</a:t>
                </a:r>
                <a:r>
                  <a:rPr sz="2000">
                    <a:solidFill>
                      <a:srgbClr val="1E293B"/>
                    </a:solidFill>
                    <a:latin typeface="Calibri"/>
                  </a:rPr>
                  <a:t>; b) </a:t>
                </a:r>
                <a:r>
                  <a:rPr lang="vi-VN"/>
                  <a:t>=\overrightarrow{DC}+\overrightarrow{CD'}-\overrightarrow{CC'}=\overrightarrow{DD'}-\overrightarrow{CC'}=\vec{0}</a:t>
                </a:r>
                <a:r>
                  <a:rPr sz="2000">
                    <a:solidFill>
                      <a:srgbClr val="1E293B"/>
                    </a:solidFill>
                    <a:latin typeface="Calibri"/>
                  </a:rPr>
                  <a:t>; c) </a:t>
                </a:r>
                <a:r>
                  <a:rPr lang="vi-VN"/>
                  <a:t>=\overrightarrow{BC}+\overrightarrow{C'C}+\overrightarrow{DC}=-(\overrightarrow{CB}+\overrightarrow{CC'}+\overrightarrow{CD})=\overrightarrow{A'C}</a:t>
                </a:r>
                <a:r>
                  <a:rPr sz="2000">
                    <a:solidFill>
                      <a:srgbClr val="1E293B"/>
                    </a:solidFill>
                    <a:latin typeface="Calibri"/>
                  </a:rPr>
                  <a:t> (quy tắc hình hộp).</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157728"/>
                <a:ext cx="1106424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2.5.</a:t>
                </a:r>
                <a:r>
                  <a:rPr sz="2000">
                    <a:solidFill>
                      <a:srgbClr val="1E293B"/>
                    </a:solidFill>
                    <a:latin typeface="Calibri"/>
                  </a:rPr>
                  <a:t> Lăng trụ </a:t>
                </a:r>
                <a14:m>
                  <m:oMath xmlns:m="http://schemas.openxmlformats.org/officeDocument/2006/math">
                    <m:r>
                      <a:rPr lang="vi-VN" sz="2000" b="0">
                        <a:solidFill>
                          <a:srgbClr val="1E293B"/>
                        </a:solidFill>
                        <a:latin typeface="Cambria Math" panose="02040503050406030204" pitchFamily="18" charset="0"/>
                      </a:rPr>
                      <m:t>ABC.</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e>
                    </m:acc>
                  </m:oMath>
                </a14:m>
                <a:r>
                  <a:rPr sz="2000">
                    <a:solidFill>
                      <a:srgbClr val="1E293B"/>
                    </a:solidFill>
                    <a:latin typeface="Calibri"/>
                  </a:rPr>
                  <a:t>. Biểu diễn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a:t>
                </a:r>
              </a:p>
            </p:txBody>
          </p:sp>
        </mc:Choice>
        <mc:Fallback>
          <p:sp>
            <p:nvSpPr>
              <p:cNvPr id="10" name="TextBox 9"/>
              <p:cNvSpPr txBox="1"/>
              <p:nvPr/>
            </p:nvSpPr>
            <p:spPr>
              <a:xfrm>
                <a:off x="548640" y="3157728"/>
                <a:ext cx="1106424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2.5.</a:t>
                </a:r>
                <a:r>
                  <a:rPr sz="2000">
                    <a:solidFill>
                      <a:srgbClr val="1E293B"/>
                    </a:solidFill>
                    <a:latin typeface="Calibri"/>
                  </a:rPr>
                  <a:t> Lăng trụ </a:t>
                </a:r>
                <a:r>
                  <a:rPr lang="vi-VN"/>
                  <a:t>ABC.A'B'C'</a:t>
                </a:r>
                <a:r>
                  <a:rPr sz="2000">
                    <a:solidFill>
                      <a:srgbClr val="1E293B"/>
                    </a:solidFill>
                    <a:latin typeface="Calibri"/>
                  </a:rPr>
                  <a:t>, </a:t>
                </a:r>
                <a:r>
                  <a:rPr lang="vi-VN"/>
                  <a:t>\overrightarrow{AA'}=\vec{a},\ \overrightarrow{AB}=\vec{b},\ \overrightarrow{AC}=\vec{c}</a:t>
                </a:r>
                <a:r>
                  <a:rPr sz="2000">
                    <a:solidFill>
                      <a:srgbClr val="1E293B"/>
                    </a:solidFill>
                    <a:latin typeface="Calibri"/>
                  </a:rPr>
                  <a:t>. Biểu diễn </a:t>
                </a:r>
                <a:r>
                  <a:rPr lang="vi-VN"/>
                  <a:t>\overrightarrow{AB'},\ \overrightarrow{B'C},\ \overrightarrow{BC'}</a:t>
                </a:r>
                <a:r>
                  <a:rPr sz="2000">
                    <a:solidFill>
                      <a:srgbClr val="1E293B"/>
                    </a:solidFill>
                    <a:latin typeface="Calibri"/>
                  </a:rPr>
                  <a:t>.</a:t>
                </a:r>
              </a:p>
            </p:txBody>
          </p:sp>
        </mc:Fallback>
      </mc:AlternateContent>
      <p:sp>
        <p:nvSpPr>
          <p:cNvPr id="11" name="s3_nen"/>
          <p:cNvSpPr/>
          <p:nvPr/>
        </p:nvSpPr>
        <p:spPr>
          <a:xfrm>
            <a:off x="548640" y="3700272"/>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736848"/>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2.5.</a:t>
                </a:r>
                <a:r>
                  <a:rPr sz="2000">
                    <a:solidFill>
                      <a:srgbClr val="1E293B"/>
                    </a:solidFill>
                    <a:latin typeface="Calibri"/>
                  </a:rPr>
                  <a:t> a)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b) </a:t>
                </a:r>
                <a14:m>
                  <m:oMath xmlns:m="http://schemas.openxmlformats.org/officeDocument/2006/math">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c) </a:t>
                </a:r>
                <a14:m>
                  <m:oMath xmlns:m="http://schemas.openxmlformats.org/officeDocument/2006/math">
                    <m:acc>
                      <m:accPr>
                        <m:chr m:val="⃗"/>
                      </m:accPr>
                      <m:e>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a:t>
                </a:r>
              </a:p>
            </p:txBody>
          </p:sp>
        </mc:Choice>
        <mc:Fallback>
          <p:sp>
            <p:nvSpPr>
              <p:cNvPr id="12" name="TextBox 11"/>
              <p:cNvSpPr txBox="1"/>
              <p:nvPr/>
            </p:nvSpPr>
            <p:spPr>
              <a:xfrm>
                <a:off x="713232" y="3736848"/>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2.5.</a:t>
                </a:r>
                <a:r>
                  <a:rPr sz="2000">
                    <a:solidFill>
                      <a:srgbClr val="1E293B"/>
                    </a:solidFill>
                    <a:latin typeface="Calibri"/>
                  </a:rPr>
                  <a:t> a) </a:t>
                </a:r>
                <a:r>
                  <a:rPr lang="vi-VN"/>
                  <a:t>\overrightarrow{AB'}=\vec{a}+\vec{b}</a:t>
                </a:r>
                <a:r>
                  <a:rPr sz="2000">
                    <a:solidFill>
                      <a:srgbClr val="1E293B"/>
                    </a:solidFill>
                    <a:latin typeface="Calibri"/>
                  </a:rPr>
                  <a:t>; b) </a:t>
                </a:r>
                <a:r>
                  <a:rPr lang="vi-VN"/>
                  <a:t>\overrightarrow{B'C}=-\vec{a}+\vec{c}-\vec{b}</a:t>
                </a:r>
                <a:r>
                  <a:rPr sz="2000">
                    <a:solidFill>
                      <a:srgbClr val="1E293B"/>
                    </a:solidFill>
                    <a:latin typeface="Calibri"/>
                  </a:rPr>
                  <a:t>; c) </a:t>
                </a:r>
                <a:r>
                  <a:rPr lang="vi-VN"/>
                  <a:t>\overrightarrow{BC'}=\vec{a}+\vec{c}-\vec{b}</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2.6 – 2.7 (SGK TR.58)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2.6.</a:t>
                </a:r>
                <a:r>
                  <a:rPr sz="2000">
                    <a:solidFill>
                      <a:srgbClr val="1E293B"/>
                    </a:solidFill>
                    <a:latin typeface="Calibri"/>
                  </a:rPr>
                  <a:t> Hình chóp tứ giác </a:t>
                </a:r>
                <a14:m>
                  <m:oMath xmlns:m="http://schemas.openxmlformats.org/officeDocument/2006/math">
                    <m:r>
                      <a:rPr lang="vi-VN" sz="2000" b="0">
                        <a:solidFill>
                          <a:srgbClr val="1E293B"/>
                        </a:solidFill>
                        <a:latin typeface="Cambria Math" panose="02040503050406030204" pitchFamily="18" charset="0"/>
                      </a:rPr>
                      <m:t>S.ABCD</m:t>
                    </m:r>
                  </m:oMath>
                </a14:m>
                <a:r>
                  <a:rPr sz="2000">
                    <a:solidFill>
                      <a:srgbClr val="1E293B"/>
                    </a:solidFill>
                    <a:latin typeface="Calibri"/>
                  </a:rPr>
                  <a:t>. Chứng minh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là hình bình hành nếu và chỉ nếu </a:t>
                </a:r>
                <a14:m>
                  <m:oMath xmlns:m="http://schemas.openxmlformats.org/officeDocument/2006/math">
                    <m:acc>
                      <m:accPr>
                        <m:chr m:val="⃗"/>
                      </m:accPr>
                      <m:e>
                        <m:r>
                          <a:rPr lang="vi-VN" sz="2000" b="0">
                            <a:solidFill>
                              <a:srgbClr val="1E293B"/>
                            </a:solidFill>
                            <a:latin typeface="Cambria Math" panose="02040503050406030204" pitchFamily="18" charset="0"/>
                          </a:rPr>
                          <m:t>SA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SC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SB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SD</m:t>
                        </m:r>
                      </m:e>
                    </m:acc>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2.6.</a:t>
                </a:r>
                <a:r>
                  <a:rPr sz="2000">
                    <a:solidFill>
                      <a:srgbClr val="1E293B"/>
                    </a:solidFill>
                    <a:latin typeface="Calibri"/>
                  </a:rPr>
                  <a:t> Hình chóp tứ giác </a:t>
                </a:r>
                <a:r>
                  <a:rPr lang="vi-VN"/>
                  <a:t>S.ABCD</a:t>
                </a:r>
                <a:r>
                  <a:rPr sz="2000">
                    <a:solidFill>
                      <a:srgbClr val="1E293B"/>
                    </a:solidFill>
                    <a:latin typeface="Calibri"/>
                  </a:rPr>
                  <a:t>. Chứng minh </a:t>
                </a:r>
                <a:r>
                  <a:rPr lang="vi-VN"/>
                  <a:t>ABCD</a:t>
                </a:r>
                <a:r>
                  <a:rPr sz="2000">
                    <a:solidFill>
                      <a:srgbClr val="1E293B"/>
                    </a:solidFill>
                    <a:latin typeface="Calibri"/>
                  </a:rPr>
                  <a:t> là hình bình hành nếu và chỉ nếu </a:t>
                </a:r>
                <a:r>
                  <a:rPr lang="vi-VN"/>
                  <a:t>\overrightarrow{SA}+\overrightarrow{SC}=\overrightarrow{SB}+\overrightarrow{SD}</a:t>
                </a:r>
                <a:r>
                  <a:rPr sz="2000">
                    <a:solidFill>
                      <a:srgbClr val="1E293B"/>
                    </a:solidFill>
                    <a:latin typeface="Calibri"/>
                  </a:rPr>
                  <a:t>.</a:t>
                </a:r>
              </a:p>
            </p:txBody>
          </p:sp>
        </mc:Fallback>
      </mc:AlternateContent>
      <p:sp>
        <p:nvSpPr>
          <p:cNvPr id="8" name="s1_nen"/>
          <p:cNvSpPr/>
          <p:nvPr/>
        </p:nvSpPr>
        <p:spPr>
          <a:xfrm>
            <a:off x="548640" y="2218944"/>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2.6.</a:t>
                </a:r>
                <a:r>
                  <a:rPr sz="2000">
                    <a:solidFill>
                      <a:srgbClr val="1E293B"/>
                    </a:solidFill>
                    <a:latin typeface="Calibri"/>
                  </a:rPr>
                  <a:t> Đẳng thức ⇔ </a:t>
                </a:r>
                <a14:m>
                  <m:oMath xmlns:m="http://schemas.openxmlformats.org/officeDocument/2006/math">
                    <m:acc>
                      <m:accPr>
                        <m:chr m:val="⃗"/>
                      </m:accPr>
                      <m:e>
                        <m:r>
                          <a:rPr lang="vi-VN" sz="2000" b="0">
                            <a:solidFill>
                              <a:srgbClr val="1E293B"/>
                            </a:solidFill>
                            <a:latin typeface="Cambria Math" panose="02040503050406030204" pitchFamily="18" charset="0"/>
                          </a:rPr>
                          <m:t>SA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SB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SD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SC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là hình bình hành.</a:t>
                </a:r>
              </a:p>
            </p:txBody>
          </p:sp>
        </mc:Choice>
        <mc:Fallback>
          <p:sp>
            <p:nvSpPr>
              <p:cNvPr id="9" name="TextBox 8"/>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2.6.</a:t>
                </a:r>
                <a:r>
                  <a:rPr sz="2000">
                    <a:solidFill>
                      <a:srgbClr val="1E293B"/>
                    </a:solidFill>
                    <a:latin typeface="Calibri"/>
                  </a:rPr>
                  <a:t> Đẳng thức ⇔ </a:t>
                </a:r>
                <a:r>
                  <a:rPr lang="vi-VN"/>
                  <a:t>\overrightarrow{SA}-\overrightarrow{SB}=\overrightarrow{SD}-\overrightarrow{SC}</a:t>
                </a:r>
                <a:r>
                  <a:rPr sz="2000">
                    <a:solidFill>
                      <a:srgbClr val="1E293B"/>
                    </a:solidFill>
                    <a:latin typeface="Calibri"/>
                  </a:rPr>
                  <a:t> ⇔ </a:t>
                </a:r>
                <a:r>
                  <a:rPr lang="vi-VN"/>
                  <a:t>\overrightarrow{BA}=\overrightarrow{CD}</a:t>
                </a:r>
                <a:r>
                  <a:rPr sz="2000">
                    <a:solidFill>
                      <a:srgbClr val="1E293B"/>
                    </a:solidFill>
                    <a:latin typeface="Calibri"/>
                  </a:rPr>
                  <a:t> ⇔ </a:t>
                </a:r>
                <a:r>
                  <a:rPr lang="vi-VN"/>
                  <a:t>ABCD</a:t>
                </a:r>
                <a:r>
                  <a:rPr sz="2000">
                    <a:solidFill>
                      <a:srgbClr val="1E293B"/>
                    </a:solidFill>
                    <a:latin typeface="Calibri"/>
                  </a:rPr>
                  <a:t> là hình bình hành.</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2852927"/>
                <a:ext cx="1106424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2.7.</a:t>
                </a:r>
                <a:r>
                  <a:rPr sz="2000">
                    <a:solidFill>
                      <a:srgbClr val="1E293B"/>
                    </a:solidFill>
                    <a:latin typeface="Calibri"/>
                  </a:rPr>
                  <a:t> Hình chóp </a:t>
                </a:r>
                <a14:m>
                  <m:oMath xmlns:m="http://schemas.openxmlformats.org/officeDocument/2006/math">
                    <m:r>
                      <a:rPr lang="vi-VN" sz="2000" b="0">
                        <a:solidFill>
                          <a:srgbClr val="1E293B"/>
                        </a:solidFill>
                        <a:latin typeface="Cambria Math" panose="02040503050406030204" pitchFamily="18" charset="0"/>
                      </a:rPr>
                      <m:t>S.ABC</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trên </a:t>
                </a:r>
                <a14:m>
                  <m:oMath xmlns:m="http://schemas.openxmlformats.org/officeDocument/2006/math">
                    <m:r>
                      <a:rPr lang="vi-VN" sz="2000" b="0">
                        <a:solidFill>
                          <a:srgbClr val="1E293B"/>
                        </a:solidFill>
                        <a:latin typeface="Cambria Math" panose="02040503050406030204" pitchFamily="18" charset="0"/>
                      </a:rPr>
                      <m:t>SA</m:t>
                    </m:r>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SM=2AM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N</m:t>
                    </m:r>
                  </m:oMath>
                </a14:m>
                <a:r>
                  <a:rPr sz="2000">
                    <a:solidFill>
                      <a:srgbClr val="1E293B"/>
                    </a:solidFill>
                    <a:latin typeface="Calibri"/>
                  </a:rPr>
                  <a:t> trên </a:t>
                </a:r>
                <a14:m>
                  <m:oMath xmlns:m="http://schemas.openxmlformats.org/officeDocument/2006/math">
                    <m:r>
                      <a:rPr lang="vi-VN" sz="2000" b="0">
                        <a:solidFill>
                          <a:srgbClr val="1E293B"/>
                        </a:solidFill>
                        <a:latin typeface="Cambria Math" panose="02040503050406030204" pitchFamily="18" charset="0"/>
                      </a:rPr>
                      <m:t>BC</m:t>
                    </m:r>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CN=2BN</m:t>
                    </m:r>
                  </m:oMath>
                </a14:m>
                <a:r>
                  <a:rPr sz="2000">
                    <a:solidFill>
                      <a:srgbClr val="1E293B"/>
                    </a:solidFill>
                    <a:latin typeface="Calibri"/>
                  </a:rPr>
                  <a:t>. Chứng minh </a:t>
                </a:r>
                <a14:m>
                  <m:oMath xmlns:m="http://schemas.openxmlformats.org/officeDocument/2006/math">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3</m:t>
                        </m:r>
                      </m:den>
                    </m:f>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SA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a:t>
                </a:r>
              </a:p>
            </p:txBody>
          </p:sp>
        </mc:Choice>
        <mc:Fallback>
          <p:sp>
            <p:nvSpPr>
              <p:cNvPr id="10" name="TextBox 9"/>
              <p:cNvSpPr txBox="1"/>
              <p:nvPr/>
            </p:nvSpPr>
            <p:spPr>
              <a:xfrm>
                <a:off x="548640" y="2852927"/>
                <a:ext cx="1106424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2.7.</a:t>
                </a:r>
                <a:r>
                  <a:rPr sz="2000">
                    <a:solidFill>
                      <a:srgbClr val="1E293B"/>
                    </a:solidFill>
                    <a:latin typeface="Calibri"/>
                  </a:rPr>
                  <a:t> Hình chóp </a:t>
                </a:r>
                <a:r>
                  <a:rPr lang="vi-VN"/>
                  <a:t>S.ABC</a:t>
                </a:r>
                <a:r>
                  <a:rPr sz="2000">
                    <a:solidFill>
                      <a:srgbClr val="1E293B"/>
                    </a:solidFill>
                    <a:latin typeface="Calibri"/>
                  </a:rPr>
                  <a:t>, </a:t>
                </a:r>
                <a:r>
                  <a:rPr lang="vi-VN"/>
                  <a:t>M</a:t>
                </a:r>
                <a:r>
                  <a:rPr sz="2000">
                    <a:solidFill>
                      <a:srgbClr val="1E293B"/>
                    </a:solidFill>
                    <a:latin typeface="Calibri"/>
                  </a:rPr>
                  <a:t> trên </a:t>
                </a:r>
                <a:r>
                  <a:rPr lang="vi-VN"/>
                  <a:t>SA</a:t>
                </a:r>
                <a:r>
                  <a:rPr sz="2000">
                    <a:solidFill>
                      <a:srgbClr val="1E293B"/>
                    </a:solidFill>
                    <a:latin typeface="Calibri"/>
                  </a:rPr>
                  <a:t> với </a:t>
                </a:r>
                <a:r>
                  <a:rPr lang="vi-VN"/>
                  <a:t>SM=2AM</a:t>
                </a:r>
                <a:r>
                  <a:rPr sz="2000">
                    <a:solidFill>
                      <a:srgbClr val="1E293B"/>
                    </a:solidFill>
                    <a:latin typeface="Calibri"/>
                  </a:rPr>
                  <a:t>, </a:t>
                </a:r>
                <a:r>
                  <a:rPr lang="vi-VN"/>
                  <a:t>N</a:t>
                </a:r>
                <a:r>
                  <a:rPr sz="2000">
                    <a:solidFill>
                      <a:srgbClr val="1E293B"/>
                    </a:solidFill>
                    <a:latin typeface="Calibri"/>
                  </a:rPr>
                  <a:t> trên </a:t>
                </a:r>
                <a:r>
                  <a:rPr lang="vi-VN"/>
                  <a:t>BC</a:t>
                </a:r>
                <a:r>
                  <a:rPr sz="2000">
                    <a:solidFill>
                      <a:srgbClr val="1E293B"/>
                    </a:solidFill>
                    <a:latin typeface="Calibri"/>
                  </a:rPr>
                  <a:t> với </a:t>
                </a:r>
                <a:r>
                  <a:rPr lang="vi-VN"/>
                  <a:t>CN=2BN</a:t>
                </a:r>
                <a:r>
                  <a:rPr sz="2000">
                    <a:solidFill>
                      <a:srgbClr val="1E293B"/>
                    </a:solidFill>
                    <a:latin typeface="Calibri"/>
                  </a:rPr>
                  <a:t>. Chứng minh </a:t>
                </a:r>
                <a:r>
                  <a:rPr lang="vi-VN"/>
                  <a:t>\overrightarrow{MN}=\frac{1}{3}(\overrightarrow{SA}+\overrightarrow{BC})+\overrightarrow{AB}</a:t>
                </a:r>
                <a:r>
                  <a:rPr sz="2000">
                    <a:solidFill>
                      <a:srgbClr val="1E293B"/>
                    </a:solidFill>
                    <a:latin typeface="Calibri"/>
                  </a:rPr>
                  <a:t>.</a:t>
                </a:r>
              </a:p>
            </p:txBody>
          </p:sp>
        </mc:Fallback>
      </mc:AlternateContent>
      <p:sp>
        <p:nvSpPr>
          <p:cNvPr id="11" name="s3_nen"/>
          <p:cNvSpPr/>
          <p:nvPr/>
        </p:nvSpPr>
        <p:spPr>
          <a:xfrm>
            <a:off x="548640" y="3837431"/>
            <a:ext cx="11064240" cy="9814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874007"/>
                <a:ext cx="10735056" cy="90830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2.7.</a:t>
                </a: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MN</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MA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BN</m:t>
                        </m:r>
                      </m:e>
                    </m:acc>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3</m:t>
                        </m:r>
                      </m:den>
                    </m:f>
                    <m:acc>
                      <m:accPr>
                        <m:chr m:val="⃗"/>
                      </m:accPr>
                      <m:e>
                        <m:r>
                          <a:rPr lang="vi-VN" sz="2000" b="0">
                            <a:solidFill>
                              <a:srgbClr val="1E293B"/>
                            </a:solidFill>
                            <a:latin typeface="Cambria Math" panose="02040503050406030204" pitchFamily="18" charset="0"/>
                          </a:rPr>
                          <m:t>SA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3</m:t>
                        </m:r>
                      </m:den>
                    </m:f>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3</m:t>
                        </m:r>
                      </m:den>
                    </m:f>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SA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a:t>
                </a:r>
              </a:p>
            </p:txBody>
          </p:sp>
        </mc:Choice>
        <mc:Fallback>
          <p:sp>
            <p:nvSpPr>
              <p:cNvPr id="12" name="TextBox 11"/>
              <p:cNvSpPr txBox="1"/>
              <p:nvPr/>
            </p:nvSpPr>
            <p:spPr>
              <a:xfrm>
                <a:off x="713232" y="3874007"/>
                <a:ext cx="10735056" cy="90830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2.7.</a:t>
                </a:r>
                <a:r>
                  <a:rPr sz="2000">
                    <a:solidFill>
                      <a:srgbClr val="1E293B"/>
                    </a:solidFill>
                    <a:latin typeface="Calibri"/>
                  </a:rPr>
                  <a:t> </a:t>
                </a:r>
                <a:r>
                  <a:rPr lang="vi-VN"/>
                  <a:t>\overrightarrow{MN}=\overrightarrow{MA}+\overrightarrow{AB}+\overrightarrow{BN}=\frac{1}{3}\overrightarrow{SA}+\overrightarrow{AB}+\frac{1}{3}\overrightarrow{BC}=\frac{1}{3}(\overrightarrow{SA}+\overrightarrow{BC})+\overrightarrow{AB}</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2.8 – 2.9 (SGK TR.58 – 59)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13816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2.8.</a:t>
                </a:r>
                <a:r>
                  <a:rPr sz="1900">
                    <a:solidFill>
                      <a:srgbClr val="1E293B"/>
                    </a:solidFill>
                    <a:latin typeface="Calibri"/>
                  </a:rPr>
                  <a:t> Khối rubik hình tứ diện đều cao 8 cm (H.2.30). Dùng </a:t>
                </a:r>
                <a14:m>
                  <m:oMath xmlns:m="http://schemas.openxmlformats.org/officeDocument/2006/math">
                    <m:acc>
                      <m:accPr>
                        <m:chr m:val="⃗"/>
                      </m:accPr>
                      <m:e>
                        <m:r>
                          <a:rPr lang="vi-VN" sz="1900" b="0">
                            <a:solidFill>
                              <a:srgbClr val="1E293B"/>
                            </a:solidFill>
                            <a:latin typeface="Cambria Math" panose="02040503050406030204" pitchFamily="18" charset="0"/>
                          </a:rPr>
                          <m:t>AI</m:t>
                        </m:r>
                      </m:e>
                    </m:acc>
                    <m:r>
                      <a:rPr lang="vi-VN" sz="1900" b="0">
                        <a:solidFill>
                          <a:srgbClr val="1E293B"/>
                        </a:solidFill>
                        <a:latin typeface="Cambria Math" panose="02040503050406030204" pitchFamily="18" charset="0"/>
                      </a:rPr>
                      <m:t>=3</m:t>
                    </m:r>
                    <m:acc>
                      <m:accPr>
                        <m:chr m:val="⃗"/>
                      </m:accPr>
                      <m:e>
                        <m:r>
                          <a:rPr lang="vi-VN" sz="1900" b="0">
                            <a:solidFill>
                              <a:srgbClr val="1E293B"/>
                            </a:solidFill>
                            <a:latin typeface="Cambria Math" panose="02040503050406030204" pitchFamily="18" charset="0"/>
                          </a:rPr>
                          <m:t>IG</m:t>
                        </m:r>
                      </m:e>
                    </m:acc>
                  </m:oMath>
                </a14:m>
                <a:r>
                  <a:rPr sz="1900">
                    <a:solidFill>
                      <a:srgbClr val="1E293B"/>
                    </a:solidFill>
                    <a:latin typeface="Calibri"/>
                  </a:rPr>
                  <a:t>, tính khoảng cách từ trọng tâm đến một mặt.</a:t>
                </a:r>
              </a:p>
            </p:txBody>
          </p:sp>
        </mc:Choice>
        <mc:Fallback>
          <p:sp>
            <p:nvSpPr>
              <p:cNvPr id="7" name="TextBox 6"/>
              <p:cNvSpPr txBox="1"/>
              <p:nvPr/>
            </p:nvSpPr>
            <p:spPr>
              <a:xfrm>
                <a:off x="548640" y="1371600"/>
                <a:ext cx="813816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2.8.</a:t>
                </a:r>
                <a:r>
                  <a:rPr sz="1900">
                    <a:solidFill>
                      <a:srgbClr val="1E293B"/>
                    </a:solidFill>
                    <a:latin typeface="Calibri"/>
                  </a:rPr>
                  <a:t> Khối rubik hình tứ diện đều cao 8 cm (H.2.30). Dùng </a:t>
                </a:r>
                <a:r>
                  <a:rPr lang="vi-VN"/>
                  <a:t>\overrightarrow{AI}=3\overrightarrow{IG}</a:t>
                </a:r>
                <a:r>
                  <a:rPr sz="1900">
                    <a:solidFill>
                      <a:srgbClr val="1E293B"/>
                    </a:solidFill>
                    <a:latin typeface="Calibri"/>
                  </a:rPr>
                  <a:t>, tính khoảng cách từ trọng tâm đến một mặt.</a:t>
                </a:r>
              </a:p>
            </p:txBody>
          </p:sp>
        </mc:Fallback>
      </mc:AlternateContent>
      <p:sp>
        <p:nvSpPr>
          <p:cNvPr id="8" name="s1_nen"/>
          <p:cNvSpPr/>
          <p:nvPr/>
        </p:nvSpPr>
        <p:spPr>
          <a:xfrm>
            <a:off x="548640" y="2188464"/>
            <a:ext cx="8138160" cy="123520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25040"/>
                <a:ext cx="7808976" cy="1162050"/>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2.8.</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A,</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I,</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G</m:t>
                    </m:r>
                  </m:oMath>
                </a14:m>
                <a:r>
                  <a:rPr sz="1900">
                    <a:solidFill>
                      <a:srgbClr val="1E293B"/>
                    </a:solidFill>
                    <a:latin typeface="Calibri"/>
                  </a:rPr>
                  <a:t> thẳng hàng, </a:t>
                </a:r>
                <a14:m>
                  <m:oMath xmlns:m="http://schemas.openxmlformats.org/officeDocument/2006/math">
                    <m:r>
                      <a:rPr lang="vi-VN" sz="1900" b="0">
                        <a:solidFill>
                          <a:srgbClr val="1E293B"/>
                        </a:solidFill>
                        <a:latin typeface="Cambria Math" panose="02040503050406030204" pitchFamily="18" charset="0"/>
                      </a:rPr>
                      <m:t>AI=3IG</m:t>
                    </m:r>
                  </m:oMath>
                </a14:m>
                <a:r>
                  <a:rPr sz="1900">
                    <a:solidFill>
                      <a:srgbClr val="1E293B"/>
                    </a:solidFill>
                    <a:latin typeface="Calibri"/>
                  </a:rPr>
                  <a:t>. Gọi </a:t>
                </a:r>
                <a14:m>
                  <m:oMath xmlns:m="http://schemas.openxmlformats.org/officeDocument/2006/math">
                    <m:r>
                      <a:rPr lang="vi-VN" sz="1900" b="0">
                        <a:solidFill>
                          <a:srgbClr val="1E293B"/>
                        </a:solidFill>
                        <a:latin typeface="Cambria Math" panose="02040503050406030204" pitchFamily="18" charset="0"/>
                      </a:rPr>
                      <m:t>H,</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K</m:t>
                    </m:r>
                  </m:oMath>
                </a14:m>
                <a:r>
                  <a:rPr sz="1900">
                    <a:solidFill>
                      <a:srgbClr val="1E293B"/>
                    </a:solidFill>
                    <a:latin typeface="Calibri"/>
                  </a:rPr>
                  <a:t> là hình chiếu của </a:t>
                </a:r>
                <a14:m>
                  <m:oMath xmlns:m="http://schemas.openxmlformats.org/officeDocument/2006/math">
                    <m:r>
                      <a:rPr lang="vi-VN" sz="1900" b="0">
                        <a:solidFill>
                          <a:srgbClr val="1E293B"/>
                        </a:solidFill>
                        <a:latin typeface="Cambria Math" panose="02040503050406030204" pitchFamily="18" charset="0"/>
                      </a:rPr>
                      <m:t>A,</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I</m:t>
                    </m:r>
                  </m:oMath>
                </a14:m>
                <a:r>
                  <a:rPr sz="1900">
                    <a:solidFill>
                      <a:srgbClr val="1E293B"/>
                    </a:solidFill>
                    <a:latin typeface="Calibri"/>
                  </a:rPr>
                  <a:t> trên </a:t>
                </a:r>
                <a14:m>
                  <m:oMath xmlns:m="http://schemas.openxmlformats.org/officeDocument/2006/math">
                    <m:d>
                      <m:dPr>
                        <m:sepChr m:val=""/>
                      </m:dPr>
                      <m:e>
                        <m:r>
                          <a:rPr lang="vi-VN" sz="1900" b="0">
                            <a:solidFill>
                              <a:srgbClr val="1E293B"/>
                            </a:solidFill>
                            <a:latin typeface="Cambria Math" panose="02040503050406030204" pitchFamily="18" charset="0"/>
                          </a:rPr>
                          <m:t>B</m:t>
                        </m:r>
                        <m:r>
                          <a:rPr lang="vi-VN" sz="1900" b="0">
                            <a:solidFill>
                              <a:srgbClr val="1E293B"/>
                            </a:solidFill>
                            <a:latin typeface="Cambria Math" panose="02040503050406030204" pitchFamily="18" charset="0"/>
                          </a:rPr>
                          <m:t>C</m:t>
                        </m:r>
                        <m:r>
                          <a:rPr lang="vi-VN" sz="1900" b="0">
                            <a:solidFill>
                              <a:srgbClr val="1E293B"/>
                            </a:solidFill>
                            <a:latin typeface="Cambria Math" panose="02040503050406030204" pitchFamily="18" charset="0"/>
                          </a:rPr>
                          <m:t>D</m:t>
                        </m:r>
                      </m:e>
                    </m:d>
                  </m:oMath>
                </a14:m>
                <a:r>
                  <a:rPr sz="1900">
                    <a:solidFill>
                      <a:srgbClr val="1E293B"/>
                    </a:solidFill>
                    <a:latin typeface="Calibri"/>
                  </a:rPr>
                  <a:t>: </a:t>
                </a:r>
                <a14:m>
                  <m:oMath xmlns:m="http://schemas.openxmlformats.org/officeDocument/2006/math">
                    <m:f>
                      <m:fPr>
                        <m:type m:val="bar"/>
                      </m:fPr>
                      <m:num>
                        <m:r>
                          <a:rPr lang="vi-VN" sz="1900" b="0">
                            <a:solidFill>
                              <a:srgbClr val="1E293B"/>
                            </a:solidFill>
                            <a:latin typeface="Cambria Math" panose="02040503050406030204" pitchFamily="18" charset="0"/>
                          </a:rPr>
                          <m:t>IK</m:t>
                        </m:r>
                      </m:num>
                      <m:den>
                        <m:r>
                          <a:rPr lang="vi-VN" sz="1900" b="0">
                            <a:solidFill>
                              <a:srgbClr val="1E293B"/>
                            </a:solidFill>
                            <a:latin typeface="Cambria Math" panose="02040503050406030204" pitchFamily="18" charset="0"/>
                          </a:rPr>
                          <m:t>AH</m:t>
                        </m:r>
                      </m:den>
                    </m:f>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IG</m:t>
                        </m:r>
                      </m:num>
                      <m:den>
                        <m:r>
                          <a:rPr lang="vi-VN" sz="1900" b="0">
                            <a:solidFill>
                              <a:srgbClr val="1E293B"/>
                            </a:solidFill>
                            <a:latin typeface="Cambria Math" panose="02040503050406030204" pitchFamily="18" charset="0"/>
                          </a:rPr>
                          <m:t>AG</m:t>
                        </m:r>
                      </m:den>
                    </m:f>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4</m:t>
                        </m:r>
                      </m:den>
                    </m:f>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IK=</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4</m:t>
                        </m:r>
                      </m:den>
                    </m:f>
                    <m:r>
                      <a:rPr lang="vi-VN" sz="1900" b="0">
                        <a:solidFill>
                          <a:srgbClr val="1E293B"/>
                        </a:solidFill>
                        <a:latin typeface="Cambria Math" panose="02040503050406030204" pitchFamily="18" charset="0"/>
                      </a:rPr>
                      <m:t>·8=2</m:t>
                    </m:r>
                  </m:oMath>
                </a14:m>
                <a:r>
                  <a:rPr sz="1900">
                    <a:solidFill>
                      <a:srgbClr val="1E293B"/>
                    </a:solidFill>
                    <a:latin typeface="Calibri"/>
                  </a:rPr>
                  <a:t> (cm).</a:t>
                </a:r>
              </a:p>
            </p:txBody>
          </p:sp>
        </mc:Choice>
        <mc:Fallback>
          <p:sp>
            <p:nvSpPr>
              <p:cNvPr id="9" name="TextBox 8"/>
              <p:cNvSpPr txBox="1"/>
              <p:nvPr/>
            </p:nvSpPr>
            <p:spPr>
              <a:xfrm>
                <a:off x="713232" y="2225040"/>
                <a:ext cx="7808976" cy="1162050"/>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2.8.</a:t>
                </a:r>
                <a:r>
                  <a:rPr sz="1900">
                    <a:solidFill>
                      <a:srgbClr val="1E293B"/>
                    </a:solidFill>
                    <a:latin typeface="Calibri"/>
                  </a:rPr>
                  <a:t> </a:t>
                </a:r>
                <a:r>
                  <a:rPr lang="vi-VN"/>
                  <a:t>A,\ I,\ G</a:t>
                </a:r>
                <a:r>
                  <a:rPr sz="1900">
                    <a:solidFill>
                      <a:srgbClr val="1E293B"/>
                    </a:solidFill>
                    <a:latin typeface="Calibri"/>
                  </a:rPr>
                  <a:t> thẳng hàng, </a:t>
                </a:r>
                <a:r>
                  <a:rPr lang="vi-VN"/>
                  <a:t>AI=3IG</a:t>
                </a:r>
                <a:r>
                  <a:rPr sz="1900">
                    <a:solidFill>
                      <a:srgbClr val="1E293B"/>
                    </a:solidFill>
                    <a:latin typeface="Calibri"/>
                  </a:rPr>
                  <a:t>. Gọi </a:t>
                </a:r>
                <a:r>
                  <a:rPr lang="vi-VN"/>
                  <a:t>H,\ K</a:t>
                </a:r>
                <a:r>
                  <a:rPr sz="1900">
                    <a:solidFill>
                      <a:srgbClr val="1E293B"/>
                    </a:solidFill>
                    <a:latin typeface="Calibri"/>
                  </a:rPr>
                  <a:t> là hình chiếu của </a:t>
                </a:r>
                <a:r>
                  <a:rPr lang="vi-VN"/>
                  <a:t>A,\ I</a:t>
                </a:r>
                <a:r>
                  <a:rPr sz="1900">
                    <a:solidFill>
                      <a:srgbClr val="1E293B"/>
                    </a:solidFill>
                    <a:latin typeface="Calibri"/>
                  </a:rPr>
                  <a:t> trên </a:t>
                </a:r>
                <a:r>
                  <a:rPr lang="vi-VN"/>
                  <a:t>(BCD)</a:t>
                </a:r>
                <a:r>
                  <a:rPr sz="1900">
                    <a:solidFill>
                      <a:srgbClr val="1E293B"/>
                    </a:solidFill>
                    <a:latin typeface="Calibri"/>
                  </a:rPr>
                  <a:t>: </a:t>
                </a:r>
                <a:r>
                  <a:rPr lang="vi-VN"/>
                  <a:t>\frac{IK}{AH}=\frac{IG}{AG}=\frac{1}{4}</a:t>
                </a:r>
                <a:r>
                  <a:rPr sz="1900">
                    <a:solidFill>
                      <a:srgbClr val="1E293B"/>
                    </a:solidFill>
                    <a:latin typeface="Calibri"/>
                  </a:rPr>
                  <a:t> ⇒ </a:t>
                </a:r>
                <a:r>
                  <a:rPr lang="vi-VN"/>
                  <a:t>IK=\frac{1}{4}\cdot 8=2</a:t>
                </a:r>
                <a:r>
                  <a:rPr sz="1900">
                    <a:solidFill>
                      <a:srgbClr val="1E293B"/>
                    </a:solidFill>
                    <a:latin typeface="Calibri"/>
                  </a:rPr>
                  <a:t> (cm).</a:t>
                </a:r>
              </a:p>
            </p:txBody>
          </p:sp>
        </mc:Fallback>
      </mc:AlternateContent>
      <p:sp>
        <p:nvSpPr>
          <p:cNvPr id="10" name="s2_chu"/>
          <p:cNvSpPr txBox="1"/>
          <p:nvPr/>
        </p:nvSpPr>
        <p:spPr>
          <a:xfrm>
            <a:off x="548640" y="3487674"/>
            <a:ext cx="813816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2.9.</a:t>
            </a:r>
            <a:r>
              <a:rPr sz="1900">
                <a:solidFill>
                  <a:srgbClr val="1E293B"/>
                </a:solidFill>
                <a:latin typeface="Calibri"/>
              </a:rPr>
              <a:t> Ba sợi dây buộc chung một đầu, kéo căng về ba hướng (H.2.31), đứng yên. Vì sao ba sợi dây cùng nằm trên một mặt phẳng?</a:t>
            </a:r>
          </a:p>
        </p:txBody>
      </p:sp>
      <p:sp>
        <p:nvSpPr>
          <p:cNvPr id="11" name="s3_nen"/>
          <p:cNvSpPr/>
          <p:nvPr/>
        </p:nvSpPr>
        <p:spPr>
          <a:xfrm>
            <a:off x="548640" y="4304538"/>
            <a:ext cx="813816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341114"/>
                <a:ext cx="780897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2.9.</a:t>
                </a:r>
                <a:r>
                  <a:rPr sz="1900">
                    <a:solidFill>
                      <a:srgbClr val="1E293B"/>
                    </a:solidFill>
                    <a:latin typeface="Calibri"/>
                  </a:rPr>
                  <a:t> Cân bằng: </a:t>
                </a:r>
                <a14:m>
                  <m:oMath xmlns:m="http://schemas.openxmlformats.org/officeDocument/2006/math">
                    <m:acc>
                      <m:accPr>
                        <m:chr m:val="⃗"/>
                      </m:accPr>
                      <m:e>
                        <m:r>
                          <a:rPr lang="vi-VN" sz="1900" b="0">
                            <a:solidFill>
                              <a:srgbClr val="1E293B"/>
                            </a:solidFill>
                            <a:latin typeface="Cambria Math" panose="02040503050406030204" pitchFamily="18" charset="0"/>
                          </a:rPr>
                          <m:t>OA</m:t>
                        </m:r>
                      </m:e>
                    </m:acc>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OB</m:t>
                        </m:r>
                      </m:e>
                    </m:acc>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OC</m:t>
                        </m:r>
                      </m:e>
                    </m:acc>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0</m:t>
                        </m:r>
                      </m:e>
                    </m:acc>
                  </m:oMath>
                </a14:m>
                <a:r>
                  <a:rPr sz="1900">
                    <a:solidFill>
                      <a:srgbClr val="1E293B"/>
                    </a:solidFill>
                    <a:latin typeface="Calibri"/>
                  </a:rPr>
                  <a:t>. Dựng hình bình hành </a:t>
                </a:r>
                <a14:m>
                  <m:oMath xmlns:m="http://schemas.openxmlformats.org/officeDocument/2006/math">
                    <m:r>
                      <a:rPr lang="vi-VN" sz="1900" b="0">
                        <a:solidFill>
                          <a:srgbClr val="1E293B"/>
                        </a:solidFill>
                        <a:latin typeface="Cambria Math" panose="02040503050406030204" pitchFamily="18" charset="0"/>
                      </a:rPr>
                      <m:t>OADB</m:t>
                    </m:r>
                  </m:oMath>
                </a14:m>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OD</m:t>
                        </m:r>
                      </m:e>
                    </m:acc>
                    <m:r>
                      <a:rPr lang="vi-VN" sz="1900" b="0">
                        <a:solidFill>
                          <a:srgbClr val="1E293B"/>
                        </a:solidFill>
                        <a:latin typeface="Cambria Math" panose="02040503050406030204" pitchFamily="18" charset="0"/>
                      </a:rPr>
                      <m:t>=−</m:t>
                    </m:r>
                    <m:acc>
                      <m:accPr>
                        <m:chr m:val="⃗"/>
                      </m:accPr>
                      <m:e>
                        <m:r>
                          <a:rPr lang="vi-VN" sz="1900" b="0">
                            <a:solidFill>
                              <a:srgbClr val="1E293B"/>
                            </a:solidFill>
                            <a:latin typeface="Cambria Math" panose="02040503050406030204" pitchFamily="18" charset="0"/>
                          </a:rPr>
                          <m:t>OC</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O,</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A,</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B,</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C</m:t>
                    </m:r>
                  </m:oMath>
                </a14:m>
                <a:r>
                  <a:rPr sz="1900">
                    <a:solidFill>
                      <a:srgbClr val="1E293B"/>
                    </a:solidFill>
                    <a:latin typeface="Calibri"/>
                  </a:rPr>
                  <a:t> cùng thuộc mặt phẳng </a:t>
                </a:r>
                <a14:m>
                  <m:oMath xmlns:m="http://schemas.openxmlformats.org/officeDocument/2006/math">
                    <m:d>
                      <m:dPr>
                        <m:sepChr m:val=""/>
                      </m:dPr>
                      <m:e>
                        <m:r>
                          <a:rPr lang="vi-VN" sz="1900" b="0">
                            <a:solidFill>
                              <a:srgbClr val="1E293B"/>
                            </a:solidFill>
                            <a:latin typeface="Cambria Math" panose="02040503050406030204" pitchFamily="18" charset="0"/>
                          </a:rPr>
                          <m:t>O</m:t>
                        </m:r>
                        <m:r>
                          <a:rPr lang="vi-VN" sz="1900" b="0">
                            <a:solidFill>
                              <a:srgbClr val="1E293B"/>
                            </a:solidFill>
                            <a:latin typeface="Cambria Math" panose="02040503050406030204" pitchFamily="18" charset="0"/>
                          </a:rPr>
                          <m:t>A</m:t>
                        </m:r>
                        <m:r>
                          <a:rPr lang="vi-VN" sz="1900" b="0">
                            <a:solidFill>
                              <a:srgbClr val="1E293B"/>
                            </a:solidFill>
                            <a:latin typeface="Cambria Math" panose="02040503050406030204" pitchFamily="18" charset="0"/>
                          </a:rPr>
                          <m:t>D</m:t>
                        </m:r>
                        <m:r>
                          <a:rPr lang="vi-VN" sz="1900" b="0">
                            <a:solidFill>
                              <a:srgbClr val="1E293B"/>
                            </a:solidFill>
                            <a:latin typeface="Cambria Math" panose="02040503050406030204" pitchFamily="18" charset="0"/>
                          </a:rPr>
                          <m:t>B</m:t>
                        </m:r>
                      </m:e>
                    </m:d>
                  </m:oMath>
                </a14:m>
                <a:r>
                  <a:rPr sz="1900">
                    <a:solidFill>
                      <a:srgbClr val="1E293B"/>
                    </a:solidFill>
                    <a:latin typeface="Calibri"/>
                  </a:rPr>
                  <a:t>.</a:t>
                </a:r>
              </a:p>
            </p:txBody>
          </p:sp>
        </mc:Choice>
        <mc:Fallback>
          <p:sp>
            <p:nvSpPr>
              <p:cNvPr id="12" name="TextBox 11"/>
              <p:cNvSpPr txBox="1"/>
              <p:nvPr/>
            </p:nvSpPr>
            <p:spPr>
              <a:xfrm>
                <a:off x="713232" y="4341114"/>
                <a:ext cx="780897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2.9.</a:t>
                </a:r>
                <a:r>
                  <a:rPr sz="1900">
                    <a:solidFill>
                      <a:srgbClr val="1E293B"/>
                    </a:solidFill>
                    <a:latin typeface="Calibri"/>
                  </a:rPr>
                  <a:t> Cân bằng: </a:t>
                </a:r>
                <a:r>
                  <a:rPr lang="vi-VN"/>
                  <a:t>\overrightarrow{OA}+\overrightarrow{OB}+\overrightarrow{OC}=\vec{0}</a:t>
                </a:r>
                <a:r>
                  <a:rPr sz="1900">
                    <a:solidFill>
                      <a:srgbClr val="1E293B"/>
                    </a:solidFill>
                    <a:latin typeface="Calibri"/>
                  </a:rPr>
                  <a:t>. Dựng hình bình hành </a:t>
                </a:r>
                <a:r>
                  <a:rPr lang="vi-VN"/>
                  <a:t>OADB</a:t>
                </a:r>
                <a:r>
                  <a:rPr sz="1900">
                    <a:solidFill>
                      <a:srgbClr val="1E293B"/>
                    </a:solidFill>
                    <a:latin typeface="Calibri"/>
                  </a:rPr>
                  <a:t>: </a:t>
                </a:r>
                <a:r>
                  <a:rPr lang="vi-VN"/>
                  <a:t>\overrightarrow{OD}=-\overrightarrow{OC}</a:t>
                </a:r>
                <a:r>
                  <a:rPr sz="1900">
                    <a:solidFill>
                      <a:srgbClr val="1E293B"/>
                    </a:solidFill>
                    <a:latin typeface="Calibri"/>
                  </a:rPr>
                  <a:t> ⇒ </a:t>
                </a:r>
                <a:r>
                  <a:rPr lang="vi-VN"/>
                  <a:t>O,\ A,\ B,\ C</a:t>
                </a:r>
                <a:r>
                  <a:rPr sz="1900">
                    <a:solidFill>
                      <a:srgbClr val="1E293B"/>
                    </a:solidFill>
                    <a:latin typeface="Calibri"/>
                  </a:rPr>
                  <a:t> cùng thuộc mặt phẳng </a:t>
                </a:r>
                <a:r>
                  <a:rPr lang="vi-VN"/>
                  <a:t>(OADB)</a:t>
                </a:r>
                <a:r>
                  <a:rPr sz="1900">
                    <a:solidFill>
                      <a:srgbClr val="1E293B"/>
                    </a:solidFill>
                    <a:latin typeface="Calibri"/>
                  </a:rPr>
                  <a:t>.</a:t>
                </a:r>
              </a:p>
            </p:txBody>
          </p:sp>
        </mc:Fallback>
      </mc:AlternateContent>
      <p:pic>
        <p:nvPicPr>
          <p:cNvPr id="13" name="Picture 12" descr="h230.png"/>
          <p:cNvPicPr>
            <a:picLocks noChangeAspect="1"/>
          </p:cNvPicPr>
          <p:nvPr/>
        </p:nvPicPr>
        <p:blipFill>
          <a:blip r:embed="rId3"/>
          <a:stretch>
            <a:fillRect/>
          </a:stretch>
        </p:blipFill>
        <p:spPr>
          <a:xfrm>
            <a:off x="8869680" y="1677541"/>
            <a:ext cx="2834640" cy="23141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2.10 – 2.11 (SGK TR.59)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79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2.10.</a:t>
                </a:r>
                <a:r>
                  <a:rPr sz="2000">
                    <a:solidFill>
                      <a:srgbClr val="1E293B"/>
                    </a:solidFill>
                    <a:latin typeface="Calibri"/>
                  </a:rPr>
                  <a:t> Lăng trụ tứ giác đều, cạnh đáy 1, cạnh bên 2. Tính góc và tích vô hướng: a)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C</m:t>
                        </m:r>
                      </m:e>
                    </m:acc>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c) </a:t>
                </a:r>
                <a14:m>
                  <m:oMath xmlns:m="http://schemas.openxmlformats.org/officeDocument/2006/math">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2.10.</a:t>
                </a:r>
                <a:r>
                  <a:rPr sz="2000">
                    <a:solidFill>
                      <a:srgbClr val="1E293B"/>
                    </a:solidFill>
                    <a:latin typeface="Calibri"/>
                  </a:rPr>
                  <a:t> Lăng trụ tứ giác đều, cạnh đáy 1, cạnh bên 2. Tính góc và tích vô hướng: a) </a:t>
                </a:r>
                <a:r>
                  <a:rPr lang="vi-VN"/>
                  <a:t>\overrightarrow{AA'},\ \overrightarrow{C'C}</a:t>
                </a:r>
                <a:r>
                  <a:rPr sz="2000">
                    <a:solidFill>
                      <a:srgbClr val="1E293B"/>
                    </a:solidFill>
                    <a:latin typeface="Calibri"/>
                  </a:rPr>
                  <a:t>; b) </a:t>
                </a:r>
                <a:r>
                  <a:rPr lang="vi-VN"/>
                  <a:t>\overrightarrow{AA'},\ \overrightarrow{BC}</a:t>
                </a:r>
                <a:r>
                  <a:rPr sz="2000">
                    <a:solidFill>
                      <a:srgbClr val="1E293B"/>
                    </a:solidFill>
                    <a:latin typeface="Calibri"/>
                  </a:rPr>
                  <a:t>; c) </a:t>
                </a:r>
                <a:r>
                  <a:rPr lang="vi-VN"/>
                  <a:t>\overrightarrow{AC},\ \overrightarrow{B'A'}</a:t>
                </a:r>
                <a:r>
                  <a:rPr sz="2000">
                    <a:solidFill>
                      <a:srgbClr val="1E293B"/>
                    </a:solidFill>
                    <a:latin typeface="Calibri"/>
                  </a:rPr>
                  <a:t>.</a:t>
                </a:r>
              </a:p>
            </p:txBody>
          </p:sp>
        </mc:Fallback>
      </mc:AlternateContent>
      <p:sp>
        <p:nvSpPr>
          <p:cNvPr id="8" name="s1_nen"/>
          <p:cNvSpPr/>
          <p:nvPr/>
        </p:nvSpPr>
        <p:spPr>
          <a:xfrm>
            <a:off x="548640" y="2218944"/>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2.10.</a:t>
                </a:r>
                <a:r>
                  <a:rPr sz="2000">
                    <a:solidFill>
                      <a:srgbClr val="1E293B"/>
                    </a:solidFill>
                    <a:latin typeface="Calibri"/>
                  </a:rPr>
                  <a:t> a) </a:t>
                </a:r>
                <a14:m>
                  <m:oMath xmlns:m="http://schemas.openxmlformats.org/officeDocument/2006/math">
                    <m:sSup>
                      <m:e>
                        <m:r>
                          <a:rPr lang="vi-VN" sz="2000" b="0">
                            <a:solidFill>
                              <a:srgbClr val="1E293B"/>
                            </a:solidFill>
                            <a:latin typeface="Cambria Math" panose="02040503050406030204" pitchFamily="18" charset="0"/>
                          </a:rPr>
                          <m:t>180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−4</m:t>
                    </m:r>
                  </m:oMath>
                </a14:m>
                <a:r>
                  <a:rPr sz="2000">
                    <a:solidFill>
                      <a:srgbClr val="1E293B"/>
                    </a:solidFill>
                    <a:latin typeface="Calibri"/>
                  </a:rPr>
                  <a:t>; b) </a:t>
                </a:r>
                <a14:m>
                  <m:oMath xmlns:m="http://schemas.openxmlformats.org/officeDocument/2006/math">
                    <m:sSup>
                      <m:e>
                        <m:r>
                          <a:rPr lang="vi-VN" sz="2000" b="0">
                            <a:solidFill>
                              <a:srgbClr val="1E293B"/>
                            </a:solidFill>
                            <a:latin typeface="Cambria Math" panose="02040503050406030204" pitchFamily="18" charset="0"/>
                          </a:rPr>
                          <m:t>90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0</m:t>
                    </m:r>
                  </m:oMath>
                </a14:m>
                <a:r>
                  <a:rPr sz="2000">
                    <a:solidFill>
                      <a:srgbClr val="1E293B"/>
                    </a:solidFill>
                    <a:latin typeface="Calibri"/>
                  </a:rPr>
                  <a:t>; c)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BA</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135</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−1</m:t>
                    </m:r>
                  </m:oMath>
                </a14:m>
                <a:r>
                  <a:rPr sz="2000">
                    <a:solidFill>
                      <a:srgbClr val="1E293B"/>
                    </a:solidFill>
                    <a:latin typeface="Calibri"/>
                  </a:rPr>
                  <a:t>.</a:t>
                </a:r>
              </a:p>
            </p:txBody>
          </p:sp>
        </mc:Choice>
        <mc:Fallback>
          <p:sp>
            <p:nvSpPr>
              <p:cNvPr id="9" name="TextBox 8"/>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2.10.</a:t>
                </a:r>
                <a:r>
                  <a:rPr sz="2000">
                    <a:solidFill>
                      <a:srgbClr val="1E293B"/>
                    </a:solidFill>
                    <a:latin typeface="Calibri"/>
                  </a:rPr>
                  <a:t> a) </a:t>
                </a:r>
                <a:r>
                  <a:rPr lang="vi-VN"/>
                  <a:t>180^\circ</a:t>
                </a:r>
                <a:r>
                  <a:rPr sz="2000">
                    <a:solidFill>
                      <a:srgbClr val="1E293B"/>
                    </a:solidFill>
                    <a:latin typeface="Calibri"/>
                  </a:rPr>
                  <a:t>, </a:t>
                </a:r>
                <a:r>
                  <a:rPr lang="vi-VN"/>
                  <a:t>-4</a:t>
                </a:r>
                <a:r>
                  <a:rPr sz="2000">
                    <a:solidFill>
                      <a:srgbClr val="1E293B"/>
                    </a:solidFill>
                    <a:latin typeface="Calibri"/>
                  </a:rPr>
                  <a:t>; b) </a:t>
                </a:r>
                <a:r>
                  <a:rPr lang="vi-VN"/>
                  <a:t>90^\circ</a:t>
                </a:r>
                <a:r>
                  <a:rPr sz="2000">
                    <a:solidFill>
                      <a:srgbClr val="1E293B"/>
                    </a:solidFill>
                    <a:latin typeface="Calibri"/>
                  </a:rPr>
                  <a:t>, </a:t>
                </a:r>
                <a:r>
                  <a:rPr lang="vi-VN"/>
                  <a:t>0</a:t>
                </a:r>
                <a:r>
                  <a:rPr sz="2000">
                    <a:solidFill>
                      <a:srgbClr val="1E293B"/>
                    </a:solidFill>
                    <a:latin typeface="Calibri"/>
                  </a:rPr>
                  <a:t>; c) </a:t>
                </a:r>
                <a:r>
                  <a:rPr lang="vi-VN"/>
                  <a:t>(\overrightarrow{AC},\overrightarrow{BA})=135^\circ</a:t>
                </a:r>
                <a:r>
                  <a:rPr sz="2000">
                    <a:solidFill>
                      <a:srgbClr val="1E293B"/>
                    </a:solidFill>
                    <a:latin typeface="Calibri"/>
                  </a:rPr>
                  <a:t>, </a:t>
                </a:r>
                <a:r>
                  <a:rPr lang="vi-VN"/>
                  <a:t>-1</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2852927"/>
                <a:ext cx="1106424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2.11.</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|=1</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45</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Tính a)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b) </a:t>
                </a:r>
                <a14:m>
                  <m:oMath xmlns:m="http://schemas.openxmlformats.org/officeDocument/2006/math">
                    <m:d>
                      <m:dPr>
                        <m:sepChr m:val=""/>
                      </m:dPr>
                      <m:e>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acc>
                          <m:accPr>
                            <m:chr m:val="⃗"/>
                          </m:accPr>
                          <m:e>
                            <m:r>
                              <a:rPr lang="vi-VN" sz="2000" b="0">
                                <a:solidFill>
                                  <a:srgbClr val="1E293B"/>
                                </a:solidFill>
                                <a:latin typeface="Cambria Math" panose="02040503050406030204" pitchFamily="18" charset="0"/>
                              </a:rPr>
                              <m:t>b</m:t>
                            </m:r>
                          </m:e>
                        </m:acc>
                      </m:e>
                    </m:d>
                  </m:oMath>
                </a14:m>
                <a:r>
                  <a:rPr sz="2000">
                    <a:solidFill>
                      <a:srgbClr val="1E293B"/>
                    </a:solidFill>
                    <a:latin typeface="Calibri"/>
                  </a:rPr>
                  <a:t>; c) </a:t>
                </a:r>
                <a14:m>
                  <m:oMath xmlns:m="http://schemas.openxmlformats.org/officeDocument/2006/math">
                    <m:sSup>
                      <m:e>
                        <m:d>
                          <m:dPr>
                            <m:sepChr m:val=""/>
                          </m:dPr>
                          <m:e>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e>
                        </m:d>
                      </m:e>
                      <m:sup>
                        <m:r>
                          <a:rPr lang="vi-VN" sz="2000" b="0">
                            <a:solidFill>
                              <a:srgbClr val="1E293B"/>
                            </a:solidFill>
                            <a:latin typeface="Cambria Math" panose="02040503050406030204" pitchFamily="18" charset="0"/>
                          </a:rPr>
                          <m:t>2</m:t>
                        </m:r>
                      </m:sup>
                    </m:sSup>
                  </m:oMath>
                </a14:m>
                <a:r>
                  <a:rPr sz="2000">
                    <a:solidFill>
                      <a:srgbClr val="1E293B"/>
                    </a:solidFill>
                    <a:latin typeface="Calibri"/>
                  </a:rPr>
                  <a:t>.</a:t>
                </a:r>
              </a:p>
            </p:txBody>
          </p:sp>
        </mc:Choice>
        <mc:Fallback>
          <p:sp>
            <p:nvSpPr>
              <p:cNvPr id="10" name="TextBox 9"/>
              <p:cNvSpPr txBox="1"/>
              <p:nvPr/>
            </p:nvSpPr>
            <p:spPr>
              <a:xfrm>
                <a:off x="548640" y="2852927"/>
                <a:ext cx="1106424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2.11.</a:t>
                </a:r>
                <a:r>
                  <a:rPr sz="2000">
                    <a:solidFill>
                      <a:srgbClr val="1E293B"/>
                    </a:solidFill>
                    <a:latin typeface="Calibri"/>
                  </a:rPr>
                  <a:t> </a:t>
                </a:r>
                <a:r>
                  <a:rPr lang="vi-VN"/>
                  <a:t>|\vec{a}|=|\vec{b}|=1</a:t>
                </a:r>
                <a:r>
                  <a:rPr sz="2000">
                    <a:solidFill>
                      <a:srgbClr val="1E293B"/>
                    </a:solidFill>
                    <a:latin typeface="Calibri"/>
                  </a:rPr>
                  <a:t>, </a:t>
                </a:r>
                <a:r>
                  <a:rPr lang="vi-VN"/>
                  <a:t>(\vec{a},\vec{b})=45^\circ</a:t>
                </a:r>
                <a:r>
                  <a:rPr sz="2000">
                    <a:solidFill>
                      <a:srgbClr val="1E293B"/>
                    </a:solidFill>
                    <a:latin typeface="Calibri"/>
                  </a:rPr>
                  <a:t>. Tính a) </a:t>
                </a:r>
                <a:r>
                  <a:rPr lang="vi-VN"/>
                  <a:t>\vec{a}\cdot\vec{b}</a:t>
                </a:r>
                <a:r>
                  <a:rPr sz="2000">
                    <a:solidFill>
                      <a:srgbClr val="1E293B"/>
                    </a:solidFill>
                    <a:latin typeface="Calibri"/>
                  </a:rPr>
                  <a:t>; b) </a:t>
                </a:r>
                <a:r>
                  <a:rPr lang="vi-VN"/>
                  <a:t>(\vec{a}+3\vec{b})\cdot(\vec{a}-2\vec{b})</a:t>
                </a:r>
                <a:r>
                  <a:rPr sz="2000">
                    <a:solidFill>
                      <a:srgbClr val="1E293B"/>
                    </a:solidFill>
                    <a:latin typeface="Calibri"/>
                  </a:rPr>
                  <a:t>; c) </a:t>
                </a:r>
                <a:r>
                  <a:rPr lang="vi-VN"/>
                  <a:t>(\vec{a}+\vec{b})^2</a:t>
                </a:r>
                <a:r>
                  <a:rPr sz="2000">
                    <a:solidFill>
                      <a:srgbClr val="1E293B"/>
                    </a:solidFill>
                    <a:latin typeface="Calibri"/>
                  </a:rPr>
                  <a:t>.</a:t>
                </a:r>
              </a:p>
            </p:txBody>
          </p:sp>
        </mc:Fallback>
      </mc:AlternateContent>
      <p:sp>
        <p:nvSpPr>
          <p:cNvPr id="11" name="s3_nen"/>
          <p:cNvSpPr/>
          <p:nvPr/>
        </p:nvSpPr>
        <p:spPr>
          <a:xfrm>
            <a:off x="548640" y="3395471"/>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432047"/>
                <a:ext cx="10735056" cy="77114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2.11.</a:t>
                </a:r>
                <a:r>
                  <a:rPr sz="2000">
                    <a:solidFill>
                      <a:srgbClr val="1E293B"/>
                    </a:solidFill>
                    <a:latin typeface="Calibri"/>
                  </a:rPr>
                  <a:t> a) </a:t>
                </a:r>
                <a14:m>
                  <m:oMath xmlns:m="http://schemas.openxmlformats.org/officeDocument/2006/math">
                    <m:f>
                      <m:fPr>
                        <m:type m:val="bar"/>
                      </m:fPr>
                      <m:num>
                        <m:rad>
                          <m:radPr>
                            <m:degHide m:val="on"/>
                          </m:radPr>
                          <m:deg/>
                          <m:e>
                            <m:r>
                              <a:rPr lang="vi-VN" sz="2000" b="0">
                                <a:solidFill>
                                  <a:srgbClr val="1E293B"/>
                                </a:solidFill>
                                <a:latin typeface="Cambria Math" panose="02040503050406030204" pitchFamily="18" charset="0"/>
                              </a:rPr>
                              <m:t>2</m:t>
                            </m:r>
                          </m:e>
                        </m:rad>
                      </m:num>
                      <m:den>
                        <m:r>
                          <a:rPr lang="vi-VN" sz="2000" b="0">
                            <a:solidFill>
                              <a:srgbClr val="1E293B"/>
                            </a:solidFill>
                            <a:latin typeface="Cambria Math" panose="02040503050406030204" pitchFamily="18" charset="0"/>
                          </a:rPr>
                          <m:t>2</m:t>
                        </m:r>
                      </m:den>
                    </m:f>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1+</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−6=−5+</m:t>
                    </m:r>
                    <m:f>
                      <m:fPr>
                        <m:type m:val="bar"/>
                      </m:fPr>
                      <m:num>
                        <m:rad>
                          <m:radPr>
                            <m:degHide m:val="on"/>
                          </m:radPr>
                          <m:deg/>
                          <m:e>
                            <m:r>
                              <a:rPr lang="vi-VN" sz="2000" b="0">
                                <a:solidFill>
                                  <a:srgbClr val="1E293B"/>
                                </a:solidFill>
                                <a:latin typeface="Cambria Math" panose="02040503050406030204" pitchFamily="18" charset="0"/>
                              </a:rPr>
                              <m:t>2</m:t>
                            </m:r>
                          </m:e>
                        </m:rad>
                      </m:num>
                      <m:den>
                        <m:r>
                          <a:rPr lang="vi-VN" sz="2000" b="0">
                            <a:solidFill>
                              <a:srgbClr val="1E293B"/>
                            </a:solidFill>
                            <a:latin typeface="Cambria Math" panose="02040503050406030204" pitchFamily="18" charset="0"/>
                          </a:rPr>
                          <m:t>2</m:t>
                        </m:r>
                      </m:den>
                    </m:f>
                  </m:oMath>
                </a14:m>
                <a:r>
                  <a:rPr sz="2000">
                    <a:solidFill>
                      <a:srgbClr val="1E293B"/>
                    </a:solidFill>
                    <a:latin typeface="Calibri"/>
                  </a:rPr>
                  <a:t>; c) </a:t>
                </a:r>
                <a14:m>
                  <m:oMath xmlns:m="http://schemas.openxmlformats.org/officeDocument/2006/math">
                    <m:r>
                      <a:rPr lang="vi-VN" sz="2000" b="0">
                        <a:solidFill>
                          <a:srgbClr val="1E293B"/>
                        </a:solidFill>
                        <a:latin typeface="Cambria Math" panose="02040503050406030204" pitchFamily="18" charset="0"/>
                      </a:rPr>
                      <m:t>2+</m:t>
                    </m:r>
                    <m:rad>
                      <m:radPr>
                        <m:degHide m:val="on"/>
                      </m:radPr>
                      <m:deg/>
                      <m:e>
                        <m:r>
                          <a:rPr lang="vi-VN" sz="2000" b="0">
                            <a:solidFill>
                              <a:srgbClr val="1E293B"/>
                            </a:solidFill>
                            <a:latin typeface="Cambria Math" panose="02040503050406030204" pitchFamily="18" charset="0"/>
                          </a:rPr>
                          <m:t>2</m:t>
                        </m:r>
                      </m:e>
                    </m:rad>
                  </m:oMath>
                </a14:m>
                <a:r>
                  <a:rPr sz="2000">
                    <a:solidFill>
                      <a:srgbClr val="1E293B"/>
                    </a:solidFill>
                    <a:latin typeface="Calibri"/>
                  </a:rPr>
                  <a:t>.</a:t>
                </a:r>
              </a:p>
            </p:txBody>
          </p:sp>
        </mc:Choice>
        <mc:Fallback>
          <p:sp>
            <p:nvSpPr>
              <p:cNvPr id="12" name="TextBox 11"/>
              <p:cNvSpPr txBox="1"/>
              <p:nvPr/>
            </p:nvSpPr>
            <p:spPr>
              <a:xfrm>
                <a:off x="713232" y="3432047"/>
                <a:ext cx="10735056" cy="77114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2.11.</a:t>
                </a:r>
                <a:r>
                  <a:rPr sz="2000">
                    <a:solidFill>
                      <a:srgbClr val="1E293B"/>
                    </a:solidFill>
                    <a:latin typeface="Calibri"/>
                  </a:rPr>
                  <a:t> a) </a:t>
                </a:r>
                <a:r>
                  <a:rPr lang="vi-VN"/>
                  <a:t>\frac{\sqrt{2}}{2}</a:t>
                </a:r>
                <a:r>
                  <a:rPr sz="2000">
                    <a:solidFill>
                      <a:srgbClr val="1E293B"/>
                    </a:solidFill>
                    <a:latin typeface="Calibri"/>
                  </a:rPr>
                  <a:t>; b) </a:t>
                </a:r>
                <a:r>
                  <a:rPr lang="vi-VN"/>
                  <a:t>1+\vec{a}\cdot\vec{b}-6=-5+\frac{\sqrt{2}}{2}</a:t>
                </a:r>
                <a:r>
                  <a:rPr sz="2000">
                    <a:solidFill>
                      <a:srgbClr val="1E293B"/>
                    </a:solidFill>
                    <a:latin typeface="Calibri"/>
                  </a:rPr>
                  <a:t>; c) </a:t>
                </a:r>
                <a:r>
                  <a:rPr lang="vi-VN"/>
                  <a:t>2+\sqrt{2}</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2.12 (SGK TR.59)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2.12.</a:t>
                </a:r>
                <a:r>
                  <a:rPr sz="2000">
                    <a:solidFill>
                      <a:srgbClr val="1E293B"/>
                    </a:solidFill>
                    <a:latin typeface="Calibri"/>
                  </a:rPr>
                  <a:t> Cho tứ diện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Chứng minh rằng: a) </a:t>
                </a:r>
                <a14:m>
                  <m:oMath xmlns:m="http://schemas.openxmlformats.org/officeDocument/2006/math">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=0</m:t>
                    </m:r>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2.12.</a:t>
                </a:r>
                <a:r>
                  <a:rPr sz="2000">
                    <a:solidFill>
                      <a:srgbClr val="1E293B"/>
                    </a:solidFill>
                    <a:latin typeface="Calibri"/>
                  </a:rPr>
                  <a:t> Cho tứ diện </a:t>
                </a:r>
                <a:r>
                  <a:rPr lang="vi-VN"/>
                  <a:t>ABCD</a:t>
                </a:r>
                <a:r>
                  <a:rPr sz="2000">
                    <a:solidFill>
                      <a:srgbClr val="1E293B"/>
                    </a:solidFill>
                    <a:latin typeface="Calibri"/>
                  </a:rPr>
                  <a:t>. Chứng minh rằng: a) </a:t>
                </a:r>
                <a:r>
                  <a:rPr lang="vi-VN"/>
                  <a:t>\overrightarrow{AB}\cdot\overrightarrow{CD}=\overrightarrow{AC}\cdot\overrightarrow{CD}+\overrightarrow{BC}\cdot\overrightarrow{DC}</a:t>
                </a:r>
                <a:r>
                  <a:rPr sz="2000">
                    <a:solidFill>
                      <a:srgbClr val="1E293B"/>
                    </a:solidFill>
                    <a:latin typeface="Calibri"/>
                  </a:rPr>
                  <a:t>; b) </a:t>
                </a:r>
                <a:r>
                  <a:rPr lang="vi-VN"/>
                  <a:t>\overrightarrow{AB}\cdot\overrightarrow{CD}+\overrightarrow{AC}\cdot\overrightarrow{DB}+\overrightarrow{AD}\cdot\overrightarrow{BC}=0</a:t>
                </a:r>
                <a:r>
                  <a:rPr sz="2000">
                    <a:solidFill>
                      <a:srgbClr val="1E293B"/>
                    </a:solidFill>
                    <a:latin typeface="Calibri"/>
                  </a:rPr>
                  <a:t>.</a:t>
                </a:r>
              </a:p>
            </p:txBody>
          </p:sp>
        </mc:Fallback>
      </mc:AlternateContent>
      <p:sp>
        <p:nvSpPr>
          <p:cNvPr id="8" name="s1_nen"/>
          <p:cNvSpPr/>
          <p:nvPr/>
        </p:nvSpPr>
        <p:spPr>
          <a:xfrm>
            <a:off x="548640" y="2218944"/>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acc>
                      <m:accPr>
                        <m:chr m:val="⃗"/>
                      </m:accPr>
                      <m:e>
                        <m:r>
                          <a:rPr lang="vi-VN" sz="2000" b="0">
                            <a:solidFill>
                              <a:srgbClr val="1E293B"/>
                            </a:solidFill>
                            <a:latin typeface="Cambria Math" panose="02040503050406030204" pitchFamily="18" charset="0"/>
                          </a:rPr>
                          <m:t>AB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DC</m:t>
                        </m:r>
                      </m:e>
                    </m:acc>
                  </m:oMath>
                </a14:m>
                <a:r>
                  <a:rPr sz="2000">
                    <a:solidFill>
                      <a:srgbClr val="1E293B"/>
                    </a:solidFill>
                    <a:latin typeface="Calibri"/>
                  </a:rPr>
                  <a:t>.</a:t>
                </a:r>
              </a:p>
            </p:txBody>
          </p:sp>
        </mc:Choice>
        <mc:Fallback>
          <p:sp>
            <p:nvSpPr>
              <p:cNvPr id="9" name="TextBox 8"/>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\overrightarrow{AB}\cdot\overrightarrow{CD}=(\overrightarrow{AC}+\overrightarrow{CB})\cdot\overrightarrow{CD}=\overrightarrow{AC}\cdot\overrightarrow{CD}+\overrightarrow{BC}\cdot\overrightarrow{DC}</a:t>
                </a:r>
                <a:r>
                  <a:rPr sz="2000">
                    <a:solidFill>
                      <a:srgbClr val="1E293B"/>
                    </a:solidFill>
                    <a:latin typeface="Calibri"/>
                  </a:rPr>
                  <a:t>.</a:t>
                </a:r>
              </a:p>
            </p:txBody>
          </p:sp>
        </mc:Fallback>
      </mc:AlternateContent>
      <p:sp>
        <p:nvSpPr>
          <p:cNvPr id="10" name="s2_nen"/>
          <p:cNvSpPr/>
          <p:nvPr/>
        </p:nvSpPr>
        <p:spPr>
          <a:xfrm>
            <a:off x="548640" y="2852927"/>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889503"/>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Theo a: VT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DC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AD</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CB</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BC</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AC</m:t>
                        </m:r>
                      </m:e>
                    </m:acc>
                    <m:r>
                      <a:rPr lang="vi-VN" sz="2000" b="0">
                        <a:solidFill>
                          <a:srgbClr val="1E293B"/>
                        </a:solidFill>
                        <a:latin typeface="Cambria Math" panose="02040503050406030204" pitchFamily="18" charset="0"/>
                      </a:rPr>
                      <m:t>=0</m:t>
                    </m:r>
                  </m:oMath>
                </a14:m>
                <a:r>
                  <a:rPr sz="2000">
                    <a:solidFill>
                      <a:srgbClr val="1E293B"/>
                    </a:solidFill>
                    <a:latin typeface="Calibri"/>
                  </a:rPr>
                  <a:t>.</a:t>
                </a:r>
              </a:p>
            </p:txBody>
          </p:sp>
        </mc:Choice>
        <mc:Fallback>
          <p:sp>
            <p:nvSpPr>
              <p:cNvPr id="11" name="TextBox 10"/>
              <p:cNvSpPr txBox="1"/>
              <p:nvPr/>
            </p:nvSpPr>
            <p:spPr>
              <a:xfrm>
                <a:off x="713232" y="2889503"/>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Theo a: VT </a:t>
                </a:r>
                <a:r>
                  <a:rPr lang="vi-VN"/>
                  <a:t>=\overrightarrow{AC}\cdot(\overrightarrow{CD}+\overrightarrow{DB})+\overrightarrow{BC}\cdot(\overrightarrow{DC}+\overrightarrow{AD})=\overrightarrow{AC}\cdot\overrightarrow{CB}+\overrightarrow{BC}\cdot\overrightarrow{AC}=0</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EM CÓ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2651760"/>
              </a:xfrm>
              <a:prstGeom prst="rect">
                <a:avLst/>
              </a:prstGeom>
              <a:noFill/>
            </p:spPr>
            <p:txBody>
              <a:bodyPr wrap="square" anchor="t" lIns="45720" rIns="45720">
                <a:spAutoFit/>
              </a:bodyPr>
              <a:lstStyle/>
              <a:p>
                <a:pPr algn="l">
                  <a:spcAft>
                    <a:spcPts val="800"/>
                  </a:spcAft>
                </a:pPr>
                <a:r>
                  <a:rPr sz="2000">
                    <a:solidFill>
                      <a:srgbClr val="1E293B"/>
                    </a:solidFill>
                    <a:latin typeface="Calibri"/>
                  </a:rPr>
                  <a:t>Khi đi bộ, chân tạo một lực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lên mặt đất. Theo Định luật III Newton, mặt đất tác động ngược lại bàn chân lực </a:t>
                </a:r>
                <a14:m>
                  <m:oMath xmlns:m="http://schemas.openxmlformats.org/officeDocument/2006/math">
                    <m:acc>
                      <m:accPr>
                        <m:chr m:val="⃗"/>
                      </m:accPr>
                      <m:e>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phân tích thành </a:t>
                </a:r>
                <a14:m>
                  <m:oMath xmlns:m="http://schemas.openxmlformats.org/officeDocument/2006/math">
                    <m:acc>
                      <m:accPr>
                        <m:chr m:val="⃗"/>
                      </m:accPr>
                      <m:e>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e>
                    </m:acc>
                    <m:r>
                      <a:rPr lang="vi-VN" sz="2000" b="0">
                        <a:solidFill>
                          <a:srgbClr val="1E293B"/>
                        </a:solidFill>
                        <a:latin typeface="Cambria Math" panose="02040503050406030204" pitchFamily="18" charset="0"/>
                      </a:rPr>
                      <m:t>=</m:t>
                    </m:r>
                    <m:acc>
                      <m:accPr>
                        <m:chr m:val="⃗"/>
                      </m:accPr>
                      <m:e>
                        <m:sSubSup>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up>
                            <m:r>
                              <a:rPr lang="vi-VN" sz="2000" b="0">
                                <a:solidFill>
                                  <a:srgbClr val="1E293B"/>
                                </a:solidFill>
                                <a:latin typeface="Cambria Math" panose="02040503050406030204" pitchFamily="18" charset="0"/>
                              </a:rPr>
                              <m:t>′</m:t>
                            </m:r>
                          </m:sup>
                        </m:sSubSup>
                      </m:e>
                    </m:acc>
                    <m:r>
                      <a:rPr lang="vi-VN" sz="2000" b="0">
                        <a:solidFill>
                          <a:srgbClr val="1E293B"/>
                        </a:solidFill>
                        <a:latin typeface="Cambria Math" panose="02040503050406030204" pitchFamily="18" charset="0"/>
                      </a:rPr>
                      <m:t>+</m:t>
                    </m:r>
                    <m:acc>
                      <m:accPr>
                        <m:chr m:val="⃗"/>
                      </m:accPr>
                      <m:e>
                        <m:sSubSup>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up>
                            <m:r>
                              <a:rPr lang="vi-VN" sz="2000" b="0">
                                <a:solidFill>
                                  <a:srgbClr val="1E293B"/>
                                </a:solidFill>
                                <a:latin typeface="Cambria Math" panose="02040503050406030204" pitchFamily="18" charset="0"/>
                              </a:rPr>
                              <m:t>′</m:t>
                            </m:r>
                          </m:sup>
                        </m:sSubSup>
                      </m:e>
                    </m:acc>
                  </m:oMath>
                </a14:m>
                <a:r>
                  <a:rPr sz="2000">
                    <a:solidFill>
                      <a:srgbClr val="1E293B"/>
                    </a:solidFill>
                    <a:latin typeface="Calibri"/>
                  </a:rPr>
                  <a:t>: </a:t>
                </a:r>
                <a14:m>
                  <m:oMath xmlns:m="http://schemas.openxmlformats.org/officeDocument/2006/math">
                    <m:acc>
                      <m:accPr>
                        <m:chr m:val="⃗"/>
                      </m:accPr>
                      <m:e>
                        <m:sSubSup>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up>
                            <m:r>
                              <a:rPr lang="vi-VN" sz="2000" b="0">
                                <a:solidFill>
                                  <a:srgbClr val="1E293B"/>
                                </a:solidFill>
                                <a:latin typeface="Cambria Math" panose="02040503050406030204" pitchFamily="18" charset="0"/>
                              </a:rPr>
                              <m:t>′</m:t>
                            </m:r>
                          </m:sup>
                        </m:sSubSup>
                      </m:e>
                    </m:acc>
                  </m:oMath>
                </a14:m>
                <a:r>
                  <a:rPr sz="2000">
                    <a:solidFill>
                      <a:srgbClr val="1E293B"/>
                    </a:solidFill>
                    <a:latin typeface="Calibri"/>
                  </a:rPr>
                  <a:t> song song với mặt đất, </a:t>
                </a:r>
                <a14:m>
                  <m:oMath xmlns:m="http://schemas.openxmlformats.org/officeDocument/2006/math">
                    <m:acc>
                      <m:accPr>
                        <m:chr m:val="⃗"/>
                      </m:accPr>
                      <m:e>
                        <m:sSubSup>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2</m:t>
                            </m:r>
                          </m:sub>
                          <m:sup>
                            <m:r>
                              <a:rPr lang="vi-VN" sz="2000" b="0">
                                <a:solidFill>
                                  <a:srgbClr val="1E293B"/>
                                </a:solidFill>
                                <a:latin typeface="Cambria Math" panose="02040503050406030204" pitchFamily="18" charset="0"/>
                              </a:rPr>
                              <m:t>′</m:t>
                            </m:r>
                          </m:sup>
                        </m:sSubSup>
                      </m:e>
                    </m:acc>
                  </m:oMath>
                </a14:m>
                <a:r>
                  <a:rPr sz="2000">
                    <a:solidFill>
                      <a:srgbClr val="1E293B"/>
                    </a:solidFill>
                    <a:latin typeface="Calibri"/>
                  </a:rPr>
                  <a:t> vuông góc với mặt đất. Chỉ </a:t>
                </a:r>
                <a14:m>
                  <m:oMath xmlns:m="http://schemas.openxmlformats.org/officeDocument/2006/math">
                    <m:acc>
                      <m:accPr>
                        <m:chr m:val="⃗"/>
                      </m:accPr>
                      <m:e>
                        <m:sSubSup>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up>
                            <m:r>
                              <a:rPr lang="vi-VN" sz="2000" b="0">
                                <a:solidFill>
                                  <a:srgbClr val="1E293B"/>
                                </a:solidFill>
                                <a:latin typeface="Cambria Math" panose="02040503050406030204" pitchFamily="18" charset="0"/>
                              </a:rPr>
                              <m:t>′</m:t>
                            </m:r>
                          </m:sup>
                        </m:sSubSup>
                      </m:e>
                    </m:acc>
                  </m:oMath>
                </a14:m>
                <a:r>
                  <a:rPr sz="2000">
                    <a:solidFill>
                      <a:srgbClr val="1E293B"/>
                    </a:solidFill>
                    <a:latin typeface="Calibri"/>
                  </a:rPr>
                  <a:t> tạo nên chuyển động tiến về phía trước. Góc giữa giá của </a:t>
                </a:r>
                <a14:m>
                  <m:oMath xmlns:m="http://schemas.openxmlformats.org/officeDocument/2006/math">
                    <m:acc>
                      <m:accPr>
                        <m:chr m:val="⃗"/>
                      </m:accPr>
                      <m:e>
                        <m:r>
                          <a:rPr lang="vi-VN" sz="2000" b="0">
                            <a:solidFill>
                              <a:srgbClr val="1E293B"/>
                            </a:solidFill>
                            <a:latin typeface="Cambria Math" panose="02040503050406030204" pitchFamily="18" charset="0"/>
                          </a:rPr>
                          <m:t>F</m:t>
                        </m:r>
                      </m:e>
                    </m:acc>
                  </m:oMath>
                </a14:m>
                <a:r>
                  <a:rPr sz="2000">
                    <a:solidFill>
                      <a:srgbClr val="1E293B"/>
                    </a:solidFill>
                    <a:latin typeface="Calibri"/>
                  </a:rPr>
                  <a:t> và mặt đất càng nhỏ thì </a:t>
                </a:r>
                <a14:m>
                  <m:oMath xmlns:m="http://schemas.openxmlformats.org/officeDocument/2006/math">
                    <m:acc>
                      <m:accPr>
                        <m:chr m:val="⃗"/>
                      </m:accPr>
                      <m:e>
                        <m:sSubSup>
                          <m:e>
                            <m:r>
                              <a:rPr lang="vi-VN" sz="2000" b="0">
                                <a:solidFill>
                                  <a:srgbClr val="1E293B"/>
                                </a:solidFill>
                                <a:latin typeface="Cambria Math" panose="02040503050406030204" pitchFamily="18" charset="0"/>
                              </a:rPr>
                              <m:t>F</m:t>
                            </m:r>
                          </m:e>
                          <m:sub>
                            <m:r>
                              <a:rPr lang="vi-VN" sz="2000" b="0">
                                <a:solidFill>
                                  <a:srgbClr val="1E293B"/>
                                </a:solidFill>
                                <a:latin typeface="Cambria Math" panose="02040503050406030204" pitchFamily="18" charset="0"/>
                              </a:rPr>
                              <m:t>1</m:t>
                            </m:r>
                          </m:sub>
                          <m:sup>
                            <m:r>
                              <a:rPr lang="vi-VN" sz="2000" b="0">
                                <a:solidFill>
                                  <a:srgbClr val="1E293B"/>
                                </a:solidFill>
                                <a:latin typeface="Cambria Math" panose="02040503050406030204" pitchFamily="18" charset="0"/>
                              </a:rPr>
                              <m:t>′</m:t>
                            </m:r>
                          </m:sup>
                        </m:sSubSup>
                      </m:e>
                    </m:acc>
                  </m:oMath>
                </a14:m>
                <a:r>
                  <a:rPr sz="2000">
                    <a:solidFill>
                      <a:srgbClr val="1E293B"/>
                    </a:solidFill>
                    <a:latin typeface="Calibri"/>
                  </a:rPr>
                  <a:t> càng lớn.</a:t>
                </a:r>
              </a:p>
              <a:p>
                <a:pPr algn="l">
                  <a:spcAft>
                    <a:spcPts val="800"/>
                  </a:spcAft>
                </a:pPr>
                <a:r>
                  <a:rPr sz="2000">
                    <a:solidFill>
                      <a:srgbClr val="1E293B"/>
                    </a:solidFill>
                    <a:latin typeface="Calibri"/>
                  </a:rPr>
                  <a:t>⇒ Vận động viên điền kinh dùng </a:t>
                </a:r>
                <a:r>
                  <a:rPr sz="2000" b="1">
                    <a:solidFill>
                      <a:srgbClr val="1E293B"/>
                    </a:solidFill>
                    <a:latin typeface="Calibri"/>
                  </a:rPr>
                  <a:t>bàn đạp</a:t>
                </a:r>
                <a:r>
                  <a:rPr sz="2000">
                    <a:solidFill>
                      <a:srgbClr val="1E293B"/>
                    </a:solidFill>
                    <a:latin typeface="Calibri"/>
                  </a:rPr>
                  <a:t> để cẳng chân phát lực tạo với mặt đất góc nhỏ nhất, xuất phát nhanh nhất.</a:t>
                </a:r>
              </a:p>
            </p:txBody>
          </p:sp>
        </mc:Choice>
        <mc:Fallback>
          <p:sp>
            <p:nvSpPr>
              <p:cNvPr id="7" name="TextBox 6"/>
              <p:cNvSpPr txBox="1"/>
              <p:nvPr/>
            </p:nvSpPr>
            <p:spPr>
              <a:xfrm>
                <a:off x="548640" y="1371600"/>
                <a:ext cx="11064240" cy="2651760"/>
              </a:xfrm>
              <a:prstGeom prst="rect">
                <a:avLst/>
              </a:prstGeom>
              <a:noFill/>
            </p:spPr>
            <p:txBody>
              <a:bodyPr wrap="square" anchor="t" lIns="45720" rIns="45720">
                <a:spAutoFit/>
              </a:bodyPr>
              <a:lstStyle/>
              <a:p>
                <a:pPr algn="l">
                  <a:spcAft>
                    <a:spcPts val="800"/>
                  </a:spcAft>
                </a:pPr>
                <a:r>
                  <a:rPr sz="2000">
                    <a:solidFill>
                      <a:srgbClr val="1E293B"/>
                    </a:solidFill>
                    <a:latin typeface="Calibri"/>
                  </a:rPr>
                  <a:t>Khi đi bộ, chân tạo một lực </a:t>
                </a:r>
                <a:r>
                  <a:rPr lang="vi-VN"/>
                  <a:t>\vec{F}</a:t>
                </a:r>
                <a:r>
                  <a:rPr sz="2000">
                    <a:solidFill>
                      <a:srgbClr val="1E293B"/>
                    </a:solidFill>
                    <a:latin typeface="Calibri"/>
                  </a:rPr>
                  <a:t> lên mặt đất. Theo Định luật III Newton, mặt đất tác động ngược lại bàn chân lực </a:t>
                </a:r>
                <a:r>
                  <a:rPr lang="vi-VN"/>
                  <a:t>\vec{F'}=-\vec{F}</a:t>
                </a:r>
                <a:r>
                  <a:rPr sz="2000">
                    <a:solidFill>
                      <a:srgbClr val="1E293B"/>
                    </a:solidFill>
                    <a:latin typeface="Calibri"/>
                  </a:rPr>
                  <a:t>, phân tích thành </a:t>
                </a:r>
                <a:r>
                  <a:rPr lang="vi-VN"/>
                  <a:t>\vec{F'}=\vec{F'_1}+\vec{F'_2}</a:t>
                </a:r>
                <a:r>
                  <a:rPr sz="2000">
                    <a:solidFill>
                      <a:srgbClr val="1E293B"/>
                    </a:solidFill>
                    <a:latin typeface="Calibri"/>
                  </a:rPr>
                  <a:t>: </a:t>
                </a:r>
                <a:r>
                  <a:rPr lang="vi-VN"/>
                  <a:t>\vec{F'_1}</a:t>
                </a:r>
                <a:r>
                  <a:rPr sz="2000">
                    <a:solidFill>
                      <a:srgbClr val="1E293B"/>
                    </a:solidFill>
                    <a:latin typeface="Calibri"/>
                  </a:rPr>
                  <a:t> song song với mặt đất, </a:t>
                </a:r>
                <a:r>
                  <a:rPr lang="vi-VN"/>
                  <a:t>\vec{F'_2}</a:t>
                </a:r>
                <a:r>
                  <a:rPr sz="2000">
                    <a:solidFill>
                      <a:srgbClr val="1E293B"/>
                    </a:solidFill>
                    <a:latin typeface="Calibri"/>
                  </a:rPr>
                  <a:t> vuông góc với mặt đất. Chỉ </a:t>
                </a:r>
                <a:r>
                  <a:rPr lang="vi-VN"/>
                  <a:t>\vec{F'_1}</a:t>
                </a:r>
                <a:r>
                  <a:rPr sz="2000">
                    <a:solidFill>
                      <a:srgbClr val="1E293B"/>
                    </a:solidFill>
                    <a:latin typeface="Calibri"/>
                  </a:rPr>
                  <a:t> tạo nên chuyển động tiến về phía trước. Góc giữa giá của </a:t>
                </a:r>
                <a:r>
                  <a:rPr lang="vi-VN"/>
                  <a:t>\vec{F}</a:t>
                </a:r>
                <a:r>
                  <a:rPr sz="2000">
                    <a:solidFill>
                      <a:srgbClr val="1E293B"/>
                    </a:solidFill>
                    <a:latin typeface="Calibri"/>
                  </a:rPr>
                  <a:t> và mặt đất càng nhỏ thì </a:t>
                </a:r>
                <a:r>
                  <a:rPr lang="vi-VN"/>
                  <a:t>\vec{F'_1}</a:t>
                </a:r>
                <a:r>
                  <a:rPr sz="2000">
                    <a:solidFill>
                      <a:srgbClr val="1E293B"/>
                    </a:solidFill>
                    <a:latin typeface="Calibri"/>
                  </a:rPr>
                  <a:t> càng lớn.</a:t>
                </a:r>
              </a:p>
              <a:p>
                <a:pPr algn="l">
                  <a:spcAft>
                    <a:spcPts val="800"/>
                  </a:spcAft>
                </a:pPr>
                <a:r>
                  <a:rPr sz="2000">
                    <a:solidFill>
                      <a:srgbClr val="1E293B"/>
                    </a:solidFill>
                    <a:latin typeface="Calibri"/>
                  </a:rPr>
                  <a:t>⇒ Vận động viên điền kinh dùng </a:t>
                </a:r>
                <a:r>
                  <a:rPr sz="2000" b="1">
                    <a:solidFill>
                      <a:srgbClr val="1E293B"/>
                    </a:solidFill>
                    <a:latin typeface="Calibri"/>
                  </a:rPr>
                  <a:t>bàn đạp</a:t>
                </a:r>
                <a:r>
                  <a:rPr sz="2000">
                    <a:solidFill>
                      <a:srgbClr val="1E293B"/>
                    </a:solidFill>
                    <a:latin typeface="Calibri"/>
                  </a:rPr>
                  <a:t> để cẳng chân phát lực tạo với mặt đất góc nhỏ nhất, xuất phát nhanh nhất.</a:t>
                </a:r>
              </a:p>
            </p:txBody>
          </p:sp>
        </mc:Fallback>
      </mc:AlternateContent>
      <p:pic>
        <p:nvPicPr>
          <p:cNvPr id="8" name="Picture 7" descr="h232.png"/>
          <p:cNvPicPr>
            <a:picLocks noChangeAspect="1"/>
          </p:cNvPicPr>
          <p:nvPr/>
        </p:nvPicPr>
        <p:blipFill>
          <a:blip r:embed="rId3"/>
          <a:stretch>
            <a:fillRect/>
          </a:stretch>
        </p:blipFill>
        <p:spPr>
          <a:xfrm>
            <a:off x="1171832" y="3429000"/>
            <a:ext cx="4331455" cy="2514600"/>
          </a:xfrm>
          <a:prstGeom prst="rect">
            <a:avLst/>
          </a:prstGeom>
        </p:spPr>
      </p:pic>
      <p:sp>
        <p:nvSpPr>
          <p:cNvPr id="9" name="TextBox 8"/>
          <p:cNvSpPr txBox="1"/>
          <p:nvPr/>
        </p:nvSpPr>
        <p:spPr>
          <a:xfrm>
            <a:off x="822960" y="5961888"/>
            <a:ext cx="50292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2.32</a:t>
            </a:r>
          </a:p>
        </p:txBody>
      </p:sp>
      <p:pic>
        <p:nvPicPr>
          <p:cNvPr id="10" name="Picture 9" descr="h233.png"/>
          <p:cNvPicPr>
            <a:picLocks noChangeAspect="1"/>
          </p:cNvPicPr>
          <p:nvPr/>
        </p:nvPicPr>
        <p:blipFill>
          <a:blip r:embed="rId4"/>
          <a:stretch>
            <a:fillRect/>
          </a:stretch>
        </p:blipFill>
        <p:spPr>
          <a:xfrm>
            <a:off x="6810015" y="3429000"/>
            <a:ext cx="4027890" cy="2514600"/>
          </a:xfrm>
          <a:prstGeom prst="rect">
            <a:avLst/>
          </a:prstGeom>
        </p:spPr>
      </p:pic>
      <p:sp>
        <p:nvSpPr>
          <p:cNvPr id="11" name="TextBox 10"/>
          <p:cNvSpPr txBox="1"/>
          <p:nvPr/>
        </p:nvSpPr>
        <p:spPr>
          <a:xfrm>
            <a:off x="6309360" y="5961888"/>
            <a:ext cx="50292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2.33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82</a:t>
            </a:r>
          </a:p>
        </p:txBody>
      </p:sp>
      <p:sp>
        <p:nvSpPr>
          <p:cNvPr id="7" name="Rounded Rectangle 6"/>
          <p:cNvSpPr/>
          <p:nvPr/>
        </p:nvSpPr>
        <p:spPr>
          <a:xfrm>
            <a:off x="1371600" y="1554480"/>
            <a:ext cx="9418320" cy="332841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325526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1 – 4: chọn A, B, C, D (30 giây).</a:t>
            </a:r>
          </a:p>
          <a:p>
            <a:pPr algn="l" marL="365760" indent="-365760">
              <a:spcAft>
                <a:spcPts val="800"/>
              </a:spcAft>
              <a:buClr>
                <a:srgbClr val="1E40AF"/>
              </a:buClr>
              <a:buFont typeface="Arial"/>
              <a:buChar char="•"/>
            </a:pPr>
            <a:r>
              <a:rPr sz="2400">
                <a:solidFill>
                  <a:srgbClr val="1E293B"/>
                </a:solidFill>
                <a:latin typeface="Calibri"/>
              </a:rPr>
              <a:t>Câu 5: Đúng/Sai từng ý (60 giây).</a:t>
            </a:r>
          </a:p>
          <a:p>
            <a:pPr algn="l" marL="365760" indent="-365760">
              <a:spcAft>
                <a:spcPts val="800"/>
              </a:spcAft>
              <a:buClr>
                <a:srgbClr val="1E40AF"/>
              </a:buClr>
              <a:buFont typeface="Arial"/>
              <a:buChar char="•"/>
            </a:pPr>
            <a:r>
              <a:rPr sz="2400">
                <a:solidFill>
                  <a:srgbClr val="1E293B"/>
                </a:solidFill>
                <a:latin typeface="Calibri"/>
              </a:rPr>
              <a:t>Câu 6 – 7: trả lời ngắn – ghi một số; câu 8: bài toán thực tế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8872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a:t>
                </a:r>
                <a14:m>
                  <m:oMath xmlns:m="http://schemas.openxmlformats.org/officeDocument/2006/math">
                    <m:r>
                      <a:rPr lang="vi-VN" sz="2600" b="0">
                        <a:solidFill>
                          <a:srgbClr val="1E293B"/>
                        </a:solidFill>
                        <a:latin typeface="Cambria Math" panose="02040503050406030204" pitchFamily="18" charset="0"/>
                      </a:rPr>
                      <m:t>ABCD.</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Vectơ nào bằng vectơ </a:t>
                </a:r>
                <a14:m>
                  <m:oMath xmlns:m="http://schemas.openxmlformats.org/officeDocument/2006/math">
                    <m:acc>
                      <m:accPr>
                        <m:chr m:val="⃗"/>
                      </m:accPr>
                      <m:e>
                        <m:r>
                          <a:rPr lang="vi-VN" sz="2600" b="0">
                            <a:solidFill>
                              <a:srgbClr val="1E293B"/>
                            </a:solidFill>
                            <a:latin typeface="Cambria Math" panose="02040503050406030204" pitchFamily="18" charset="0"/>
                          </a:rPr>
                          <m:t>AB</m:t>
                        </m:r>
                      </m:e>
                    </m:acc>
                  </m:oMath>
                </a14:m>
                <a:r>
                  <a:rPr sz="2600">
                    <a:solidFill>
                      <a:srgbClr val="1E293B"/>
                    </a:solidFill>
                    <a:latin typeface="Calibri"/>
                  </a:rPr>
                  <a:t>?</a:t>
                </a:r>
              </a:p>
            </p:txBody>
          </p:sp>
        </mc:Choice>
        <mc:Fallback>
          <p:sp>
            <p:nvSpPr>
              <p:cNvPr id="7" name="TextBox 6"/>
              <p:cNvSpPr txBox="1"/>
              <p:nvPr/>
            </p:nvSpPr>
            <p:spPr>
              <a:xfrm>
                <a:off x="548640" y="1371600"/>
                <a:ext cx="11064240" cy="118872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a:t>
                </a:r>
                <a:r>
                  <a:rPr lang="vi-VN"/>
                  <a:t>ABCD.A'B'C'D'</a:t>
                </a:r>
                <a:r>
                  <a:rPr sz="2600">
                    <a:solidFill>
                      <a:srgbClr val="1E293B"/>
                    </a:solidFill>
                    <a:latin typeface="Calibri"/>
                  </a:rPr>
                  <a:t>. Vectơ nào bằng vectơ </a:t>
                </a:r>
                <a:r>
                  <a:rPr lang="vi-VN"/>
                  <a:t>\overrightarrow{AB}</a:t>
                </a:r>
                <a:r>
                  <a:rPr sz="2600">
                    <a:solidFill>
                      <a:srgbClr val="1E293B"/>
                    </a:solidFill>
                    <a:latin typeface="Calibri"/>
                  </a:rPr>
                  <a:t>?</a:t>
                </a:r>
              </a:p>
            </p:txBody>
          </p:sp>
        </mc:Fallback>
      </mc:AlternateContent>
      <p:sp>
        <p:nvSpPr>
          <p:cNvPr id="8" name="Rounded Rectangle 7"/>
          <p:cNvSpPr/>
          <p:nvPr/>
        </p:nvSpPr>
        <p:spPr>
          <a:xfrm>
            <a:off x="548640" y="265176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CD</m:t>
                        </m:r>
                      </m:e>
                    </m:acc>
                  </m:oMath>
                </a14:m>
              </a:p>
            </p:txBody>
          </p:sp>
        </mc:Choice>
        <mc:Fallback>
          <p:sp>
            <p:nvSpPr>
              <p:cNvPr id="9" name="TextBox 8"/>
              <p:cNvSpPr txBox="1"/>
              <p:nvPr/>
            </p:nvSpPr>
            <p:spPr>
              <a:xfrm>
                <a:off x="71323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\overrightarrow{CD}</a:t>
                </a:r>
              </a:p>
            </p:txBody>
          </p:sp>
        </mc:Fallback>
      </mc:AlternateContent>
      <p:sp>
        <p:nvSpPr>
          <p:cNvPr id="10" name="Rounded Rectangle 9"/>
          <p:cNvSpPr/>
          <p:nvPr/>
        </p:nvSpPr>
        <p:spPr>
          <a:xfrm>
            <a:off x="6172200" y="265176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acc>
                      <m:accPr>
                        <m:chr m:val="⃗"/>
                      </m:accPr>
                      <m:e>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11" name="TextBox 10"/>
              <p:cNvSpPr txBox="1"/>
              <p:nvPr/>
            </p:nvSpPr>
            <p:spPr>
              <a:xfrm>
                <a:off x="633679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\overrightarrow{D'C'}</a:t>
                </a:r>
              </a:p>
            </p:txBody>
          </p:sp>
        </mc:Fallback>
      </mc:AlternateContent>
      <p:sp>
        <p:nvSpPr>
          <p:cNvPr id="12" name="Rounded Rectangle 11"/>
          <p:cNvSpPr/>
          <p:nvPr/>
        </p:nvSpPr>
        <p:spPr>
          <a:xfrm>
            <a:off x="548640" y="370332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acc>
                      <m:accPr>
                        <m:chr m:val="⃗"/>
                      </m:accPr>
                      <m:e>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oMath>
                </a14:m>
              </a:p>
            </p:txBody>
          </p:sp>
        </mc:Choice>
        <mc:Fallback>
          <p:sp>
            <p:nvSpPr>
              <p:cNvPr id="13" name="TextBox 12"/>
              <p:cNvSpPr txBox="1"/>
              <p:nvPr/>
            </p:nvSpPr>
            <p:spPr>
              <a:xfrm>
                <a:off x="71323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\overrightarrow{B'A'}</a:t>
                </a:r>
              </a:p>
            </p:txBody>
          </p:sp>
        </mc:Fallback>
      </mc:AlternateContent>
      <p:sp>
        <p:nvSpPr>
          <p:cNvPr id="14" name="Rounded Rectangle 13"/>
          <p:cNvSpPr/>
          <p:nvPr/>
        </p:nvSpPr>
        <p:spPr>
          <a:xfrm>
            <a:off x="6172200" y="370332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15" name="TextBox 14"/>
              <p:cNvSpPr txBox="1"/>
              <p:nvPr/>
            </p:nvSpPr>
            <p:spPr>
              <a:xfrm>
                <a:off x="633679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\overrightarrow{A'C'}</a:t>
                </a:r>
              </a:p>
            </p:txBody>
          </p:sp>
        </mc:Fallback>
      </mc:AlternateContent>
      <p:sp>
        <p:nvSpPr>
          <p:cNvPr id="16" name="s1_nen"/>
          <p:cNvSpPr/>
          <p:nvPr/>
        </p:nvSpPr>
        <p:spPr>
          <a:xfrm>
            <a:off x="548640" y="4892040"/>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928616"/>
                <a:ext cx="10735056" cy="86258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acc>
                      <m:accPr>
                        <m:chr m:val="⃗"/>
                      </m:accPr>
                      <m:e>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cùng độ dài, cùng hướng với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AB</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là hình bình hành).</a:t>
                </a:r>
              </a:p>
            </p:txBody>
          </p:sp>
        </mc:Choice>
        <mc:Fallback>
          <p:sp>
            <p:nvSpPr>
              <p:cNvPr id="17" name="TextBox 16"/>
              <p:cNvSpPr txBox="1"/>
              <p:nvPr/>
            </p:nvSpPr>
            <p:spPr>
              <a:xfrm>
                <a:off x="713232" y="4928616"/>
                <a:ext cx="10735056" cy="86258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\overrightarrow{D'C'}</a:t>
                </a:r>
                <a:r>
                  <a:rPr sz="2200">
                    <a:solidFill>
                      <a:srgbClr val="1E293B"/>
                    </a:solidFill>
                    <a:latin typeface="Calibri"/>
                  </a:rPr>
                  <a:t> cùng độ dài, cùng hướng với </a:t>
                </a:r>
                <a:r>
                  <a:rPr lang="vi-VN"/>
                  <a:t>\overrightarrow{AB}</a:t>
                </a:r>
                <a:r>
                  <a:rPr sz="2200">
                    <a:solidFill>
                      <a:srgbClr val="1E293B"/>
                    </a:solidFill>
                    <a:latin typeface="Calibri"/>
                  </a:rPr>
                  <a:t> (</a:t>
                </a:r>
                <a:r>
                  <a:rPr lang="vi-VN"/>
                  <a:t>ABC'D'</a:t>
                </a:r>
                <a:r>
                  <a:rPr sz="2200">
                    <a:solidFill>
                      <a:srgbClr val="1E293B"/>
                    </a:solidFill>
                    <a:latin typeface="Calibri"/>
                  </a:rPr>
                  <a:t> là hình bình hành).</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8872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a:t>
                </a:r>
                <a14:m>
                  <m:oMath xmlns:m="http://schemas.openxmlformats.org/officeDocument/2006/math">
                    <m:r>
                      <a:rPr lang="vi-VN" sz="2600" b="0">
                        <a:solidFill>
                          <a:srgbClr val="1E293B"/>
                        </a:solidFill>
                        <a:latin typeface="Cambria Math" panose="02040503050406030204" pitchFamily="18" charset="0"/>
                      </a:rPr>
                      <m:t>ABCD.</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Khẳng định nào sau đây đúng?</a:t>
                </a:r>
              </a:p>
            </p:txBody>
          </p:sp>
        </mc:Choice>
        <mc:Fallback>
          <p:sp>
            <p:nvSpPr>
              <p:cNvPr id="7" name="TextBox 6"/>
              <p:cNvSpPr txBox="1"/>
              <p:nvPr/>
            </p:nvSpPr>
            <p:spPr>
              <a:xfrm>
                <a:off x="548640" y="1371600"/>
                <a:ext cx="11064240" cy="118872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a:t>
                </a:r>
                <a:r>
                  <a:rPr lang="vi-VN"/>
                  <a:t>ABCD.A'B'C'D'</a:t>
                </a:r>
                <a:r>
                  <a:rPr sz="2600">
                    <a:solidFill>
                      <a:srgbClr val="1E293B"/>
                    </a:solidFill>
                    <a:latin typeface="Calibri"/>
                  </a:rPr>
                  <a:t>. Khẳng định nào sau đây đúng?</a:t>
                </a:r>
              </a:p>
            </p:txBody>
          </p:sp>
        </mc:Fallback>
      </mc:AlternateContent>
      <p:sp>
        <p:nvSpPr>
          <p:cNvPr id="8" name="Rounded Rectangle 7"/>
          <p:cNvSpPr/>
          <p:nvPr/>
        </p:nvSpPr>
        <p:spPr>
          <a:xfrm>
            <a:off x="548640" y="265176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AD</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9" name="TextBox 8"/>
              <p:cNvSpPr txBox="1"/>
              <p:nvPr/>
            </p:nvSpPr>
            <p:spPr>
              <a:xfrm>
                <a:off x="71323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\overrightarrow{AB}+\overrightarrow{AD}+\overrightarrow{AA'}=\overrightarrow{AC'}</a:t>
                </a:r>
              </a:p>
            </p:txBody>
          </p:sp>
        </mc:Fallback>
      </mc:AlternateContent>
      <p:sp>
        <p:nvSpPr>
          <p:cNvPr id="10" name="Rounded Rectangle 9"/>
          <p:cNvSpPr/>
          <p:nvPr/>
        </p:nvSpPr>
        <p:spPr>
          <a:xfrm>
            <a:off x="6172200" y="265176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AD</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C</m:t>
                        </m:r>
                      </m:e>
                    </m:acc>
                  </m:oMath>
                </a14:m>
              </a:p>
            </p:txBody>
          </p:sp>
        </mc:Choice>
        <mc:Fallback>
          <p:sp>
            <p:nvSpPr>
              <p:cNvPr id="11" name="TextBox 10"/>
              <p:cNvSpPr txBox="1"/>
              <p:nvPr/>
            </p:nvSpPr>
            <p:spPr>
              <a:xfrm>
                <a:off x="633679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\overrightarrow{AB}+\overrightarrow{AD}+\overrightarrow{AA'}=\overrightarrow{A'C}</a:t>
                </a:r>
              </a:p>
            </p:txBody>
          </p:sp>
        </mc:Fallback>
      </mc:AlternateContent>
      <p:sp>
        <p:nvSpPr>
          <p:cNvPr id="12" name="Rounded Rectangle 11"/>
          <p:cNvSpPr/>
          <p:nvPr/>
        </p:nvSpPr>
        <p:spPr>
          <a:xfrm>
            <a:off x="548640" y="370332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AC</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13" name="TextBox 12"/>
              <p:cNvSpPr txBox="1"/>
              <p:nvPr/>
            </p:nvSpPr>
            <p:spPr>
              <a:xfrm>
                <a:off x="71323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\overrightarrow{AB}+\overrightarrow{AC}+\overrightarrow{AA'}=\overrightarrow{AC'}</a:t>
                </a:r>
              </a:p>
            </p:txBody>
          </p:sp>
        </mc:Fallback>
      </mc:AlternateContent>
      <p:sp>
        <p:nvSpPr>
          <p:cNvPr id="14" name="Rounded Rectangle 13"/>
          <p:cNvSpPr/>
          <p:nvPr/>
        </p:nvSpPr>
        <p:spPr>
          <a:xfrm>
            <a:off x="6172200" y="370332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AD</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C</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oMath>
                </a14:m>
              </a:p>
            </p:txBody>
          </p:sp>
        </mc:Choice>
        <mc:Fallback>
          <p:sp>
            <p:nvSpPr>
              <p:cNvPr id="15" name="TextBox 14"/>
              <p:cNvSpPr txBox="1"/>
              <p:nvPr/>
            </p:nvSpPr>
            <p:spPr>
              <a:xfrm>
                <a:off x="633679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\overrightarrow{AB}+\overrightarrow{AD}+\overrightarrow{AA'}=\overrightarrow{CA'}</a:t>
                </a:r>
              </a:p>
            </p:txBody>
          </p:sp>
        </mc:Fallback>
      </mc:AlternateContent>
      <p:sp>
        <p:nvSpPr>
          <p:cNvPr id="16" name="s1_nen"/>
          <p:cNvSpPr/>
          <p:nvPr/>
        </p:nvSpPr>
        <p:spPr>
          <a:xfrm>
            <a:off x="548640" y="489204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1_chu"/>
          <p:cNvSpPr txBox="1"/>
          <p:nvPr/>
        </p:nvSpPr>
        <p:spPr>
          <a:xfrm>
            <a:off x="713232" y="492861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Quy tắc hình hộp.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8872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tứ diện </a:t>
                </a:r>
                <a14:m>
                  <m:oMath xmlns:m="http://schemas.openxmlformats.org/officeDocument/2006/math">
                    <m:r>
                      <a:rPr lang="vi-VN" sz="2600" b="0">
                        <a:solidFill>
                          <a:srgbClr val="1E293B"/>
                        </a:solidFill>
                        <a:latin typeface="Cambria Math" panose="02040503050406030204" pitchFamily="18" charset="0"/>
                      </a:rPr>
                      <m:t>ABCD</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G</m:t>
                    </m:r>
                  </m:oMath>
                </a14:m>
                <a:r>
                  <a:rPr sz="2600">
                    <a:solidFill>
                      <a:srgbClr val="1E293B"/>
                    </a:solidFill>
                    <a:latin typeface="Calibri"/>
                  </a:rPr>
                  <a:t> là trọng tâm tam giác </a:t>
                </a:r>
                <a14:m>
                  <m:oMath xmlns:m="http://schemas.openxmlformats.org/officeDocument/2006/math">
                    <m:r>
                      <a:rPr lang="vi-VN" sz="2600" b="0">
                        <a:solidFill>
                          <a:srgbClr val="1E293B"/>
                        </a:solidFill>
                        <a:latin typeface="Cambria Math" panose="02040503050406030204" pitchFamily="18" charset="0"/>
                      </a:rPr>
                      <m:t>BCD</m:t>
                    </m:r>
                  </m:oMath>
                </a14:m>
                <a:r>
                  <a:rPr sz="2600">
                    <a:solidFill>
                      <a:srgbClr val="1E293B"/>
                    </a:solidFill>
                    <a:latin typeface="Calibri"/>
                  </a:rPr>
                  <a:t>. Khi đó </a:t>
                </a:r>
                <a14:m>
                  <m:oMath xmlns:m="http://schemas.openxmlformats.org/officeDocument/2006/math">
                    <m:acc>
                      <m:accPr>
                        <m:chr m:val="⃗"/>
                      </m:accPr>
                      <m:e>
                        <m:r>
                          <a:rPr lang="vi-VN" sz="2600" b="0">
                            <a:solidFill>
                              <a:srgbClr val="1E293B"/>
                            </a:solidFill>
                            <a:latin typeface="Cambria Math" panose="02040503050406030204" pitchFamily="18" charset="0"/>
                          </a:rPr>
                          <m:t>AB</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AC</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AD</m:t>
                        </m:r>
                      </m:e>
                    </m:acc>
                  </m:oMath>
                </a14:m>
                <a:r>
                  <a:rPr sz="2600">
                    <a:solidFill>
                      <a:srgbClr val="1E293B"/>
                    </a:solidFill>
                    <a:latin typeface="Calibri"/>
                  </a:rPr>
                  <a:t> bằng</a:t>
                </a:r>
              </a:p>
            </p:txBody>
          </p:sp>
        </mc:Choice>
        <mc:Fallback>
          <p:sp>
            <p:nvSpPr>
              <p:cNvPr id="7" name="TextBox 6"/>
              <p:cNvSpPr txBox="1"/>
              <p:nvPr/>
            </p:nvSpPr>
            <p:spPr>
              <a:xfrm>
                <a:off x="548640" y="1371600"/>
                <a:ext cx="11064240" cy="118872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tứ diện </a:t>
                </a:r>
                <a:r>
                  <a:rPr lang="vi-VN"/>
                  <a:t>ABCD</a:t>
                </a:r>
                <a:r>
                  <a:rPr sz="2600">
                    <a:solidFill>
                      <a:srgbClr val="1E293B"/>
                    </a:solidFill>
                    <a:latin typeface="Calibri"/>
                  </a:rPr>
                  <a:t>, </a:t>
                </a:r>
                <a:r>
                  <a:rPr lang="vi-VN"/>
                  <a:t>G</a:t>
                </a:r>
                <a:r>
                  <a:rPr sz="2600">
                    <a:solidFill>
                      <a:srgbClr val="1E293B"/>
                    </a:solidFill>
                    <a:latin typeface="Calibri"/>
                  </a:rPr>
                  <a:t> là trọng tâm tam giác </a:t>
                </a:r>
                <a:r>
                  <a:rPr lang="vi-VN"/>
                  <a:t>BCD</a:t>
                </a:r>
                <a:r>
                  <a:rPr sz="2600">
                    <a:solidFill>
                      <a:srgbClr val="1E293B"/>
                    </a:solidFill>
                    <a:latin typeface="Calibri"/>
                  </a:rPr>
                  <a:t>. Khi đó </a:t>
                </a:r>
                <a:r>
                  <a:rPr lang="vi-VN"/>
                  <a:t>\overrightarrow{AB}+\overrightarrow{AC}+\overrightarrow{AD}</a:t>
                </a:r>
                <a:r>
                  <a:rPr sz="2600">
                    <a:solidFill>
                      <a:srgbClr val="1E293B"/>
                    </a:solidFill>
                    <a:latin typeface="Calibri"/>
                  </a:rPr>
                  <a:t> bằng</a:t>
                </a:r>
              </a:p>
            </p:txBody>
          </p:sp>
        </mc:Fallback>
      </mc:AlternateContent>
      <p:sp>
        <p:nvSpPr>
          <p:cNvPr id="8" name="Rounded Rectangle 7"/>
          <p:cNvSpPr/>
          <p:nvPr/>
        </p:nvSpPr>
        <p:spPr>
          <a:xfrm>
            <a:off x="548640" y="265176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AG</m:t>
                        </m:r>
                      </m:e>
                    </m:acc>
                  </m:oMath>
                </a14:m>
              </a:p>
            </p:txBody>
          </p:sp>
        </mc:Choice>
        <mc:Fallback>
          <p:sp>
            <p:nvSpPr>
              <p:cNvPr id="9" name="TextBox 8"/>
              <p:cNvSpPr txBox="1"/>
              <p:nvPr/>
            </p:nvSpPr>
            <p:spPr>
              <a:xfrm>
                <a:off x="71323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\overrightarrow{AG}</a:t>
                </a:r>
              </a:p>
            </p:txBody>
          </p:sp>
        </mc:Fallback>
      </mc:AlternateContent>
      <p:sp>
        <p:nvSpPr>
          <p:cNvPr id="10" name="Rounded Rectangle 9"/>
          <p:cNvSpPr/>
          <p:nvPr/>
        </p:nvSpPr>
        <p:spPr>
          <a:xfrm>
            <a:off x="6172200" y="265176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acc>
                      <m:accPr>
                        <m:chr m:val="⃗"/>
                      </m:accPr>
                      <m:e>
                        <m:r>
                          <a:rPr lang="vi-VN" sz="2400" b="0">
                            <a:solidFill>
                              <a:srgbClr val="1E293B"/>
                            </a:solidFill>
                            <a:latin typeface="Cambria Math" panose="02040503050406030204" pitchFamily="18" charset="0"/>
                          </a:rPr>
                          <m:t>AG</m:t>
                        </m:r>
                      </m:e>
                    </m:acc>
                  </m:oMath>
                </a14:m>
              </a:p>
            </p:txBody>
          </p:sp>
        </mc:Choice>
        <mc:Fallback>
          <p:sp>
            <p:nvSpPr>
              <p:cNvPr id="11" name="TextBox 10"/>
              <p:cNvSpPr txBox="1"/>
              <p:nvPr/>
            </p:nvSpPr>
            <p:spPr>
              <a:xfrm>
                <a:off x="633679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3\overrightarrow{AG}</a:t>
                </a:r>
              </a:p>
            </p:txBody>
          </p:sp>
        </mc:Fallback>
      </mc:AlternateContent>
      <p:sp>
        <p:nvSpPr>
          <p:cNvPr id="12" name="Rounded Rectangle 11"/>
          <p:cNvSpPr/>
          <p:nvPr/>
        </p:nvSpPr>
        <p:spPr>
          <a:xfrm>
            <a:off x="548640" y="370332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acc>
                      <m:accPr>
                        <m:chr m:val="⃗"/>
                      </m:accPr>
                      <m:e>
                        <m:r>
                          <a:rPr lang="vi-VN" sz="2400" b="0">
                            <a:solidFill>
                              <a:srgbClr val="1E293B"/>
                            </a:solidFill>
                            <a:latin typeface="Cambria Math" panose="02040503050406030204" pitchFamily="18" charset="0"/>
                          </a:rPr>
                          <m:t>AG</m:t>
                        </m:r>
                      </m:e>
                    </m:acc>
                  </m:oMath>
                </a14:m>
              </a:p>
            </p:txBody>
          </p:sp>
        </mc:Choice>
        <mc:Fallback>
          <p:sp>
            <p:nvSpPr>
              <p:cNvPr id="13" name="TextBox 12"/>
              <p:cNvSpPr txBox="1"/>
              <p:nvPr/>
            </p:nvSpPr>
            <p:spPr>
              <a:xfrm>
                <a:off x="71323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2\overrightarrow{AG}</a:t>
                </a:r>
              </a:p>
            </p:txBody>
          </p:sp>
        </mc:Fallback>
      </mc:AlternateContent>
      <p:sp>
        <p:nvSpPr>
          <p:cNvPr id="14" name="Rounded Rectangle 13"/>
          <p:cNvSpPr/>
          <p:nvPr/>
        </p:nvSpPr>
        <p:spPr>
          <a:xfrm>
            <a:off x="6172200" y="370332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acc>
                      <m:accPr>
                        <m:chr m:val="⃗"/>
                      </m:accPr>
                      <m:e>
                        <m:r>
                          <a:rPr lang="vi-VN" sz="2400" b="0">
                            <a:solidFill>
                              <a:srgbClr val="1E293B"/>
                            </a:solidFill>
                            <a:latin typeface="Cambria Math" panose="02040503050406030204" pitchFamily="18" charset="0"/>
                          </a:rPr>
                          <m:t>GA</m:t>
                        </m:r>
                      </m:e>
                    </m:acc>
                  </m:oMath>
                </a14:m>
              </a:p>
            </p:txBody>
          </p:sp>
        </mc:Choice>
        <mc:Fallback>
          <p:sp>
            <p:nvSpPr>
              <p:cNvPr id="15" name="TextBox 14"/>
              <p:cNvSpPr txBox="1"/>
              <p:nvPr/>
            </p:nvSpPr>
            <p:spPr>
              <a:xfrm>
                <a:off x="633679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3\overrightarrow{GA}</a:t>
                </a:r>
              </a:p>
            </p:txBody>
          </p:sp>
        </mc:Fallback>
      </mc:AlternateContent>
      <p:sp>
        <p:nvSpPr>
          <p:cNvPr id="16" name="s1_nen"/>
          <p:cNvSpPr/>
          <p:nvPr/>
        </p:nvSpPr>
        <p:spPr>
          <a:xfrm>
            <a:off x="548640" y="489204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92861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Ví dụ 8: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AC</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AG</m:t>
                        </m:r>
                      </m:e>
                    </m:acc>
                  </m:oMath>
                </a14:m>
                <a:r>
                  <a:rPr sz="2200">
                    <a:solidFill>
                      <a:srgbClr val="1E293B"/>
                    </a:solidFill>
                    <a:latin typeface="Calibri"/>
                  </a:rPr>
                  <a:t>.</a:t>
                </a:r>
              </a:p>
            </p:txBody>
          </p:sp>
        </mc:Choice>
        <mc:Fallback>
          <p:sp>
            <p:nvSpPr>
              <p:cNvPr id="17" name="TextBox 16"/>
              <p:cNvSpPr txBox="1"/>
              <p:nvPr/>
            </p:nvSpPr>
            <p:spPr>
              <a:xfrm>
                <a:off x="713232" y="492861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Ví dụ 8: </a:t>
                </a:r>
                <a:r>
                  <a:rPr lang="vi-VN"/>
                  <a:t>\overrightarrow{AB}+\overrightarrow{AC}+\overrightarrow{AD}=3\overrightarrow{AG}</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8872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|=2</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|=3</m:t>
                    </m:r>
                  </m:oMath>
                </a14:m>
                <a:r>
                  <a:rPr sz="2600">
                    <a:solidFill>
                      <a:srgbClr val="1E293B"/>
                    </a:solidFill>
                    <a:latin typeface="Calibri"/>
                  </a:rPr>
                  <a:t> và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120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Tích vô hướng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oMath>
                </a14:m>
                <a:r>
                  <a:rPr sz="2600">
                    <a:solidFill>
                      <a:srgbClr val="1E293B"/>
                    </a:solidFill>
                    <a:latin typeface="Calibri"/>
                  </a:rPr>
                  <a:t> bằng</a:t>
                </a:r>
              </a:p>
            </p:txBody>
          </p:sp>
        </mc:Choice>
        <mc:Fallback>
          <p:sp>
            <p:nvSpPr>
              <p:cNvPr id="7" name="TextBox 6"/>
              <p:cNvSpPr txBox="1"/>
              <p:nvPr/>
            </p:nvSpPr>
            <p:spPr>
              <a:xfrm>
                <a:off x="548640" y="1371600"/>
                <a:ext cx="11064240" cy="118872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|\vec{a}|=2</a:t>
                </a:r>
                <a:r>
                  <a:rPr sz="2600">
                    <a:solidFill>
                      <a:srgbClr val="1E293B"/>
                    </a:solidFill>
                    <a:latin typeface="Calibri"/>
                  </a:rPr>
                  <a:t>, </a:t>
                </a:r>
                <a:r>
                  <a:rPr lang="vi-VN"/>
                  <a:t>|\vec{b}|=3</a:t>
                </a:r>
                <a:r>
                  <a:rPr sz="2600">
                    <a:solidFill>
                      <a:srgbClr val="1E293B"/>
                    </a:solidFill>
                    <a:latin typeface="Calibri"/>
                  </a:rPr>
                  <a:t> và </a:t>
                </a:r>
                <a:r>
                  <a:rPr lang="vi-VN"/>
                  <a:t>(\vec{a},\vec{b})=120^\circ</a:t>
                </a:r>
                <a:r>
                  <a:rPr sz="2600">
                    <a:solidFill>
                      <a:srgbClr val="1E293B"/>
                    </a:solidFill>
                    <a:latin typeface="Calibri"/>
                  </a:rPr>
                  <a:t>. Tích vô hướng </a:t>
                </a:r>
                <a:r>
                  <a:rPr lang="vi-VN"/>
                  <a:t>\vec{a}\cdot\vec{b}</a:t>
                </a:r>
                <a:r>
                  <a:rPr sz="2600">
                    <a:solidFill>
                      <a:srgbClr val="1E293B"/>
                    </a:solidFill>
                    <a:latin typeface="Calibri"/>
                  </a:rPr>
                  <a:t> bằng</a:t>
                </a:r>
              </a:p>
            </p:txBody>
          </p:sp>
        </mc:Fallback>
      </mc:AlternateContent>
      <p:sp>
        <p:nvSpPr>
          <p:cNvPr id="8" name="Rounded Rectangle 7"/>
          <p:cNvSpPr/>
          <p:nvPr/>
        </p:nvSpPr>
        <p:spPr>
          <a:xfrm>
            <a:off x="548640" y="265176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oMath>
                </a14:m>
              </a:p>
            </p:txBody>
          </p:sp>
        </mc:Choice>
        <mc:Fallback>
          <p:sp>
            <p:nvSpPr>
              <p:cNvPr id="9" name="TextBox 8"/>
              <p:cNvSpPr txBox="1"/>
              <p:nvPr/>
            </p:nvSpPr>
            <p:spPr>
              <a:xfrm>
                <a:off x="71323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3</a:t>
                </a:r>
              </a:p>
            </p:txBody>
          </p:sp>
        </mc:Fallback>
      </mc:AlternateContent>
      <p:sp>
        <p:nvSpPr>
          <p:cNvPr id="10" name="Rounded Rectangle 9"/>
          <p:cNvSpPr/>
          <p:nvPr/>
        </p:nvSpPr>
        <p:spPr>
          <a:xfrm>
            <a:off x="6172200" y="265176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oMath>
                </a14:m>
              </a:p>
            </p:txBody>
          </p:sp>
        </mc:Choice>
        <mc:Fallback>
          <p:sp>
            <p:nvSpPr>
              <p:cNvPr id="11" name="TextBox 10"/>
              <p:cNvSpPr txBox="1"/>
              <p:nvPr/>
            </p:nvSpPr>
            <p:spPr>
              <a:xfrm>
                <a:off x="6336792" y="268833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-3</a:t>
                </a:r>
              </a:p>
            </p:txBody>
          </p:sp>
        </mc:Fallback>
      </mc:AlternateContent>
      <p:sp>
        <p:nvSpPr>
          <p:cNvPr id="12" name="Rounded Rectangle 11"/>
          <p:cNvSpPr/>
          <p:nvPr/>
        </p:nvSpPr>
        <p:spPr>
          <a:xfrm>
            <a:off x="548640" y="370332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rad>
                      <m:radPr>
                        <m:degHide m:val="on"/>
                      </m:radPr>
                      <m:deg/>
                      <m:e>
                        <m:r>
                          <a:rPr lang="vi-VN" sz="2400" b="0">
                            <a:solidFill>
                              <a:srgbClr val="1E293B"/>
                            </a:solidFill>
                            <a:latin typeface="Cambria Math" panose="02040503050406030204" pitchFamily="18" charset="0"/>
                          </a:rPr>
                          <m:t>3</m:t>
                        </m:r>
                      </m:e>
                    </m:rad>
                  </m:oMath>
                </a14:m>
              </a:p>
            </p:txBody>
          </p:sp>
        </mc:Choice>
        <mc:Fallback>
          <p:sp>
            <p:nvSpPr>
              <p:cNvPr id="13" name="TextBox 12"/>
              <p:cNvSpPr txBox="1"/>
              <p:nvPr/>
            </p:nvSpPr>
            <p:spPr>
              <a:xfrm>
                <a:off x="71323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-3\sqrt{3}</a:t>
                </a:r>
              </a:p>
            </p:txBody>
          </p:sp>
        </mc:Fallback>
      </mc:AlternateContent>
      <p:sp>
        <p:nvSpPr>
          <p:cNvPr id="14" name="Rounded Rectangle 13"/>
          <p:cNvSpPr/>
          <p:nvPr/>
        </p:nvSpPr>
        <p:spPr>
          <a:xfrm>
            <a:off x="6172200" y="3703320"/>
            <a:ext cx="5440680" cy="86868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m:t>
                    </m:r>
                  </m:oMath>
                </a14:m>
              </a:p>
            </p:txBody>
          </p:sp>
        </mc:Choice>
        <mc:Fallback>
          <p:sp>
            <p:nvSpPr>
              <p:cNvPr id="15" name="TextBox 14"/>
              <p:cNvSpPr txBox="1"/>
              <p:nvPr/>
            </p:nvSpPr>
            <p:spPr>
              <a:xfrm>
                <a:off x="6336792" y="3739896"/>
                <a:ext cx="5111496" cy="795528"/>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6</a:t>
                </a:r>
              </a:p>
            </p:txBody>
          </p:sp>
        </mc:Fallback>
      </mc:AlternateContent>
      <p:sp>
        <p:nvSpPr>
          <p:cNvPr id="16" name="s1_nen"/>
          <p:cNvSpPr/>
          <p:nvPr/>
        </p:nvSpPr>
        <p:spPr>
          <a:xfrm>
            <a:off x="548640" y="489204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92861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=2·3·</m:t>
                    </m:r>
                    <m:r>
                      <m:rPr>
                        <m:sty m:val="p"/>
                      </m:rPr>
                      <a:rPr lang="vi-VN" sz="2200" b="0">
                        <a:solidFill>
                          <a:srgbClr val="1E293B"/>
                        </a:solidFill>
                        <a:latin typeface="Cambria Math" panose="02040503050406030204" pitchFamily="18" charset="0"/>
                      </a:rPr>
                      <m:t>cos</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120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=−3</m:t>
                    </m:r>
                  </m:oMath>
                </a14:m>
                <a:r>
                  <a:rPr sz="2200">
                    <a:solidFill>
                      <a:srgbClr val="1E293B"/>
                    </a:solidFill>
                    <a:latin typeface="Calibri"/>
                  </a:rPr>
                  <a:t>.</a:t>
                </a:r>
              </a:p>
            </p:txBody>
          </p:sp>
        </mc:Choice>
        <mc:Fallback>
          <p:sp>
            <p:nvSpPr>
              <p:cNvPr id="17" name="TextBox 16"/>
              <p:cNvSpPr txBox="1"/>
              <p:nvPr/>
            </p:nvSpPr>
            <p:spPr>
              <a:xfrm>
                <a:off x="713232" y="492861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\vec{a}\cdot\vec{b}=2\cdot 3\cdot\cos 120^\circ=-3</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31520"/>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hình lập phương </a:t>
                </a:r>
                <a14:m>
                  <m:oMath xmlns:m="http://schemas.openxmlformats.org/officeDocument/2006/math">
                    <m:r>
                      <a:rPr lang="vi-VN" sz="2400" b="0">
                        <a:solidFill>
                          <a:srgbClr val="1E293B"/>
                        </a:solidFill>
                        <a:latin typeface="Cambria Math" panose="02040503050406030204" pitchFamily="18" charset="0"/>
                      </a:rPr>
                      <m:t>ABCD.</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có cạnh bằng </a:t>
                </a:r>
                <a14:m>
                  <m:oMath xmlns:m="http://schemas.openxmlformats.org/officeDocument/2006/math">
                    <m:r>
                      <a:rPr lang="vi-VN" sz="2400" b="0">
                        <a:solidFill>
                          <a:srgbClr val="1E293B"/>
                        </a:solidFill>
                        <a:latin typeface="Cambria Math" panose="02040503050406030204" pitchFamily="18" charset="0"/>
                      </a:rPr>
                      <m:t>a</m:t>
                    </m:r>
                  </m:oMath>
                </a14:m>
                <a:r>
                  <a:rPr sz="2400">
                    <a:solidFill>
                      <a:srgbClr val="1E293B"/>
                    </a:solidFill>
                    <a:latin typeface="Calibri"/>
                  </a:rPr>
                  <a:t>. Xét tính đúng, sai của các khẳng định:</a:t>
                </a:r>
              </a:p>
            </p:txBody>
          </p:sp>
        </mc:Choice>
        <mc:Fallback>
          <p:sp>
            <p:nvSpPr>
              <p:cNvPr id="7" name="TextBox 6"/>
              <p:cNvSpPr txBox="1"/>
              <p:nvPr/>
            </p:nvSpPr>
            <p:spPr>
              <a:xfrm>
                <a:off x="548640" y="1371600"/>
                <a:ext cx="11064240" cy="731520"/>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hình lập phương </a:t>
                </a:r>
                <a:r>
                  <a:rPr lang="vi-VN"/>
                  <a:t>ABCD.A'B'C'D'</a:t>
                </a:r>
                <a:r>
                  <a:rPr sz="2400">
                    <a:solidFill>
                      <a:srgbClr val="1E293B"/>
                    </a:solidFill>
                    <a:latin typeface="Calibri"/>
                  </a:rPr>
                  <a:t> có cạnh bằng </a:t>
                </a:r>
                <a:r>
                  <a:rPr lang="vi-VN"/>
                  <a:t>a</a:t>
                </a:r>
                <a:r>
                  <a:rPr sz="2400">
                    <a:solidFill>
                      <a:srgbClr val="1E293B"/>
                    </a:solidFill>
                    <a:latin typeface="Calibri"/>
                  </a:rPr>
                  <a:t>. Xét tính đúng, sai của các khẳng định:</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240280"/>
                <a:ext cx="7680960" cy="822960"/>
              </a:xfrm>
              <a:prstGeom prst="rect">
                <a:avLst/>
              </a:prstGeom>
              <a:noFill/>
            </p:spPr>
            <p:txBody>
              <a:bodyPr wrap="square" anchor="t" lIns="45720" rIns="45720">
                <a:spAutoFit/>
              </a:bodyPr>
              <a:lstStyle/>
              <a:p>
                <a:pPr algn="l">
                  <a:spcAft>
                    <a:spcPts val="800"/>
                  </a:spcAft>
                </a:pPr>
                <a:r>
                  <a:rPr sz="2400">
                    <a:solidFill>
                      <a:srgbClr val="1E293B"/>
                    </a:solidFill>
                    <a:latin typeface="Calibri"/>
                  </a:rPr>
                  <a:t>a) </a:t>
                </a:r>
                <a14:m>
                  <m:oMath xmlns:m="http://schemas.openxmlformats.org/officeDocument/2006/math">
                    <m:acc>
                      <m:accPr>
                        <m:chr m:val="⃗"/>
                      </m:accPr>
                      <m:e>
                        <m:r>
                          <a:rPr lang="vi-VN" sz="2400" b="0">
                            <a:solidFill>
                              <a:srgbClr val="1E293B"/>
                            </a:solidFill>
                            <a:latin typeface="Cambria Math" panose="02040503050406030204" pitchFamily="18" charset="0"/>
                          </a:rPr>
                          <m:t>AD</m:t>
                        </m:r>
                      </m:e>
                    </m:acc>
                    <m:r>
                      <a:rPr lang="vi-VN" sz="2400" b="0">
                        <a:solidFill>
                          <a:srgbClr val="1E293B"/>
                        </a:solidFill>
                        <a:latin typeface="Cambria Math" panose="02040503050406030204" pitchFamily="18" charset="0"/>
                      </a:rPr>
                      <m:t>=</m:t>
                    </m:r>
                    <m:acc>
                      <m:accPr>
                        <m:chr m:val="⃗"/>
                      </m:accPr>
                      <m:e>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r>
                  <a:rPr sz="2400">
                    <a:solidFill>
                      <a:srgbClr val="1E293B"/>
                    </a:solidFill>
                    <a:latin typeface="Calibri"/>
                  </a:rPr>
                  <a:t>.</a:t>
                </a:r>
              </a:p>
            </p:txBody>
          </p:sp>
        </mc:Choice>
        <mc:Fallback>
          <p:sp>
            <p:nvSpPr>
              <p:cNvPr id="8" name="TextBox 7"/>
              <p:cNvSpPr txBox="1"/>
              <p:nvPr/>
            </p:nvSpPr>
            <p:spPr>
              <a:xfrm>
                <a:off x="548640" y="2240280"/>
                <a:ext cx="7680960" cy="822960"/>
              </a:xfrm>
              <a:prstGeom prst="rect">
                <a:avLst/>
              </a:prstGeom>
              <a:noFill/>
            </p:spPr>
            <p:txBody>
              <a:bodyPr wrap="square" anchor="t" lIns="45720" rIns="45720">
                <a:spAutoFit/>
              </a:bodyPr>
              <a:lstStyle/>
              <a:p>
                <a:pPr algn="l">
                  <a:spcAft>
                    <a:spcPts val="800"/>
                  </a:spcAft>
                </a:pPr>
                <a:r>
                  <a:rPr sz="2400">
                    <a:solidFill>
                      <a:srgbClr val="1E293B"/>
                    </a:solidFill>
                    <a:latin typeface="Calibri"/>
                  </a:rPr>
                  <a:t>a) </a:t>
                </a:r>
                <a:r>
                  <a:rPr lang="vi-VN"/>
                  <a:t>\overrightarrow{AD}=\overrightarrow{B'C'}</a:t>
                </a:r>
                <a:r>
                  <a:rPr sz="2400">
                    <a:solidFill>
                      <a:srgbClr val="1E293B"/>
                    </a:solidFill>
                    <a:latin typeface="Calibri"/>
                  </a:rPr>
                  <a:t>.</a:t>
                </a:r>
              </a:p>
            </p:txBody>
          </p:sp>
        </mc:Fallback>
      </mc:AlternateContent>
      <p:sp>
        <p:nvSpPr>
          <p:cNvPr id="9" name="s1_nen"/>
          <p:cNvSpPr/>
          <p:nvPr/>
        </p:nvSpPr>
        <p:spPr>
          <a:xfrm>
            <a:off x="8412480" y="2194560"/>
            <a:ext cx="3200400" cy="7772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231136"/>
            <a:ext cx="2871216" cy="704088"/>
          </a:xfrm>
          <a:prstGeom prst="rect">
            <a:avLst/>
          </a:prstGeom>
          <a:noFill/>
        </p:spPr>
        <p:txBody>
          <a:bodyPr wrap="square" anchor="ctr" lIns="45720" rIns="45720">
            <a:spAutoFit/>
          </a:bodyPr>
          <a:lstStyle/>
          <a:p>
            <a:pPr algn="ctr">
              <a:spcAft>
                <a:spcPts val="800"/>
              </a:spcAft>
            </a:pPr>
            <a:r>
              <a:rPr sz="22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3227832"/>
                <a:ext cx="7680960" cy="822960"/>
              </a:xfrm>
              <a:prstGeom prst="rect">
                <a:avLst/>
              </a:prstGeom>
              <a:noFill/>
            </p:spPr>
            <p:txBody>
              <a:bodyPr wrap="square" anchor="t" lIns="45720" rIns="45720">
                <a:spAutoFit/>
              </a:bodyPr>
              <a:lstStyle/>
              <a:p>
                <a:pPr algn="l">
                  <a:spcAft>
                    <a:spcPts val="800"/>
                  </a:spcAft>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|=a</m:t>
                    </m:r>
                    <m:rad>
                      <m:radPr>
                        <m:degHide m:val="on"/>
                      </m:radPr>
                      <m:deg/>
                      <m:e>
                        <m:r>
                          <a:rPr lang="vi-VN" sz="2400" b="0">
                            <a:solidFill>
                              <a:srgbClr val="1E293B"/>
                            </a:solidFill>
                            <a:latin typeface="Cambria Math" panose="02040503050406030204" pitchFamily="18" charset="0"/>
                          </a:rPr>
                          <m:t>2</m:t>
                        </m:r>
                      </m:e>
                    </m:rad>
                  </m:oMath>
                </a14:m>
                <a:r>
                  <a:rPr sz="2400">
                    <a:solidFill>
                      <a:srgbClr val="1E293B"/>
                    </a:solidFill>
                    <a:latin typeface="Calibri"/>
                  </a:rPr>
                  <a:t>.</a:t>
                </a:r>
              </a:p>
            </p:txBody>
          </p:sp>
        </mc:Choice>
        <mc:Fallback>
          <p:sp>
            <p:nvSpPr>
              <p:cNvPr id="11" name="TextBox 10"/>
              <p:cNvSpPr txBox="1"/>
              <p:nvPr/>
            </p:nvSpPr>
            <p:spPr>
              <a:xfrm>
                <a:off x="548640" y="3227832"/>
                <a:ext cx="7680960" cy="822960"/>
              </a:xfrm>
              <a:prstGeom prst="rect">
                <a:avLst/>
              </a:prstGeom>
              <a:noFill/>
            </p:spPr>
            <p:txBody>
              <a:bodyPr wrap="square" anchor="t" lIns="45720" rIns="45720">
                <a:spAutoFit/>
              </a:bodyPr>
              <a:lstStyle/>
              <a:p>
                <a:pPr algn="l">
                  <a:spcAft>
                    <a:spcPts val="800"/>
                  </a:spcAft>
                </a:pPr>
                <a:r>
                  <a:rPr sz="2400">
                    <a:solidFill>
                      <a:srgbClr val="1E293B"/>
                    </a:solidFill>
                    <a:latin typeface="Calibri"/>
                  </a:rPr>
                  <a:t>b) </a:t>
                </a:r>
                <a:r>
                  <a:rPr lang="vi-VN"/>
                  <a:t>|\overrightarrow{AC'}|=a\sqrt{2}</a:t>
                </a:r>
                <a:r>
                  <a:rPr sz="2400">
                    <a:solidFill>
                      <a:srgbClr val="1E293B"/>
                    </a:solidFill>
                    <a:latin typeface="Calibri"/>
                  </a:rPr>
                  <a:t>.</a:t>
                </a:r>
              </a:p>
            </p:txBody>
          </p:sp>
        </mc:Fallback>
      </mc:AlternateContent>
      <p:sp>
        <p:nvSpPr>
          <p:cNvPr id="12" name="s2_nen"/>
          <p:cNvSpPr/>
          <p:nvPr/>
        </p:nvSpPr>
        <p:spPr>
          <a:xfrm>
            <a:off x="8412480" y="3182112"/>
            <a:ext cx="3200400" cy="7772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2_chu"/>
              <p:cNvSpPr txBox="1"/>
              <p:nvPr/>
            </p:nvSpPr>
            <p:spPr>
              <a:xfrm>
                <a:off x="8577072" y="3218688"/>
                <a:ext cx="2871216" cy="704088"/>
              </a:xfrm>
              <a:prstGeom prst="rect">
                <a:avLst/>
              </a:prstGeom>
              <a:noFill/>
            </p:spPr>
            <p:txBody>
              <a:bodyPr wrap="square" anchor="ctr" lIns="45720" rIns="45720">
                <a:spAutoFit/>
              </a:bodyPr>
              <a:lstStyle/>
              <a:p>
                <a:pPr algn="ctr">
                  <a:spcAft>
                    <a:spcPts val="800"/>
                  </a:spcAft>
                </a:pPr>
                <a:r>
                  <a:rPr sz="2200" b="1">
                    <a:solidFill>
                      <a:srgbClr val="1E293B"/>
                    </a:solidFill>
                    <a:latin typeface="Calibri"/>
                  </a:rPr>
                  <a:t>SAI</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=a</m:t>
                    </m:r>
                    <m:rad>
                      <m:radPr>
                        <m:degHide m:val="on"/>
                      </m:radPr>
                      <m:deg/>
                      <m:e>
                        <m:r>
                          <a:rPr lang="vi-VN" sz="2200" b="0">
                            <a:solidFill>
                              <a:srgbClr val="1E293B"/>
                            </a:solidFill>
                            <a:latin typeface="Cambria Math" panose="02040503050406030204" pitchFamily="18" charset="0"/>
                          </a:rPr>
                          <m:t>3</m:t>
                        </m:r>
                      </m:e>
                    </m:rad>
                  </m:oMath>
                </a14:m>
                <a:r>
                  <a:rPr sz="2200">
                    <a:solidFill>
                      <a:srgbClr val="1E293B"/>
                    </a:solidFill>
                    <a:latin typeface="Calibri"/>
                  </a:rPr>
                  <a:t>)</a:t>
                </a:r>
              </a:p>
            </p:txBody>
          </p:sp>
        </mc:Choice>
        <mc:Fallback>
          <p:sp>
            <p:nvSpPr>
              <p:cNvPr id="13" name="TextBox 12"/>
              <p:cNvSpPr txBox="1"/>
              <p:nvPr/>
            </p:nvSpPr>
            <p:spPr>
              <a:xfrm>
                <a:off x="8577072" y="3218688"/>
                <a:ext cx="2871216" cy="704088"/>
              </a:xfrm>
              <a:prstGeom prst="rect">
                <a:avLst/>
              </a:prstGeom>
              <a:noFill/>
            </p:spPr>
            <p:txBody>
              <a:bodyPr wrap="square" anchor="ctr" lIns="45720" rIns="45720">
                <a:spAutoFit/>
              </a:bodyPr>
              <a:lstStyle/>
              <a:p>
                <a:pPr algn="ctr">
                  <a:spcAft>
                    <a:spcPts val="800"/>
                  </a:spcAft>
                </a:pPr>
                <a:r>
                  <a:rPr sz="2200" b="1">
                    <a:solidFill>
                      <a:srgbClr val="1E293B"/>
                    </a:solidFill>
                    <a:latin typeface="Calibri"/>
                  </a:rPr>
                  <a:t>SAI</a:t>
                </a:r>
                <a:r>
                  <a:rPr sz="2200">
                    <a:solidFill>
                      <a:srgbClr val="1E293B"/>
                    </a:solidFill>
                    <a:latin typeface="Calibri"/>
                  </a:rPr>
                  <a:t> (</a:t>
                </a:r>
                <a:r>
                  <a:rPr lang="vi-VN"/>
                  <a:t>=a\sqrt{3}</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548640" y="4215384"/>
                <a:ext cx="7680960" cy="822960"/>
              </a:xfrm>
              <a:prstGeom prst="rect">
                <a:avLst/>
              </a:prstGeom>
              <a:noFill/>
            </p:spPr>
            <p:txBody>
              <a:bodyPr wrap="square" anchor="t" lIns="45720" rIns="45720">
                <a:spAutoFit/>
              </a:bodyPr>
              <a:lstStyle/>
              <a:p>
                <a:pPr algn="l">
                  <a:spcAft>
                    <a:spcPts val="800"/>
                  </a:spcAft>
                </a:pPr>
                <a:r>
                  <a:rPr sz="2400">
                    <a:solidFill>
                      <a:srgbClr val="1E293B"/>
                    </a:solidFill>
                    <a:latin typeface="Calibri"/>
                  </a:rPr>
                  <a:t>c) </a:t>
                </a:r>
                <a14:m>
                  <m:oMath xmlns:m="http://schemas.openxmlformats.org/officeDocument/2006/math">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AC</m:t>
                        </m:r>
                      </m:e>
                    </m:acc>
                    <m:r>
                      <a:rPr lang="vi-VN" sz="2400" b="0">
                        <a:solidFill>
                          <a:srgbClr val="1E293B"/>
                        </a:solidFill>
                        <a:latin typeface="Cambria Math" panose="02040503050406030204" pitchFamily="18" charset="0"/>
                      </a:rPr>
                      <m:t>,</m:t>
                    </m:r>
                    <m:acc>
                      <m:accPr>
                        <m:chr m:val="⃗"/>
                      </m:accPr>
                      <m:e>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45</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p:txBody>
          </p:sp>
        </mc:Choice>
        <mc:Fallback>
          <p:sp>
            <p:nvSpPr>
              <p:cNvPr id="14" name="TextBox 13"/>
              <p:cNvSpPr txBox="1"/>
              <p:nvPr/>
            </p:nvSpPr>
            <p:spPr>
              <a:xfrm>
                <a:off x="548640" y="4215384"/>
                <a:ext cx="7680960" cy="822960"/>
              </a:xfrm>
              <a:prstGeom prst="rect">
                <a:avLst/>
              </a:prstGeom>
              <a:noFill/>
            </p:spPr>
            <p:txBody>
              <a:bodyPr wrap="square" anchor="t" lIns="45720" rIns="45720">
                <a:spAutoFit/>
              </a:bodyPr>
              <a:lstStyle/>
              <a:p>
                <a:pPr algn="l">
                  <a:spcAft>
                    <a:spcPts val="800"/>
                  </a:spcAft>
                </a:pPr>
                <a:r>
                  <a:rPr sz="2400">
                    <a:solidFill>
                      <a:srgbClr val="1E293B"/>
                    </a:solidFill>
                    <a:latin typeface="Calibri"/>
                  </a:rPr>
                  <a:t>c) </a:t>
                </a:r>
                <a:r>
                  <a:rPr lang="vi-VN"/>
                  <a:t>(\overrightarrow{AC},\overrightarrow{A'D'})=45^\circ</a:t>
                </a:r>
                <a:r>
                  <a:rPr sz="2400">
                    <a:solidFill>
                      <a:srgbClr val="1E293B"/>
                    </a:solidFill>
                    <a:latin typeface="Calibri"/>
                  </a:rPr>
                  <a:t>.</a:t>
                </a:r>
              </a:p>
            </p:txBody>
          </p:sp>
        </mc:Fallback>
      </mc:AlternateContent>
      <p:sp>
        <p:nvSpPr>
          <p:cNvPr id="15" name="s3_nen"/>
          <p:cNvSpPr/>
          <p:nvPr/>
        </p:nvSpPr>
        <p:spPr>
          <a:xfrm>
            <a:off x="8412480" y="4169664"/>
            <a:ext cx="3200400" cy="7772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4206240"/>
            <a:ext cx="2871216" cy="704088"/>
          </a:xfrm>
          <a:prstGeom prst="rect">
            <a:avLst/>
          </a:prstGeom>
          <a:noFill/>
        </p:spPr>
        <p:txBody>
          <a:bodyPr wrap="square" anchor="ctr" lIns="45720" rIns="45720">
            <a:spAutoFit/>
          </a:bodyPr>
          <a:lstStyle/>
          <a:p>
            <a:pPr algn="ctr">
              <a:spcAft>
                <a:spcPts val="800"/>
              </a:spcAft>
            </a:pPr>
            <a:r>
              <a:rPr sz="2200" b="1">
                <a:solidFill>
                  <a:srgbClr val="1E293B"/>
                </a:solidFill>
                <a:latin typeface="Calibri"/>
              </a:rPr>
              <a:t>ĐÚNG</a:t>
            </a:r>
          </a:p>
        </p:txBody>
      </p:sp>
      <mc:AlternateContent xmlns:mc="http://schemas.openxmlformats.org/markup-compatibility/2006">
        <mc:Choice xmlns:a14="http://schemas.microsoft.com/office/drawing/2010/main" Requires="a14">
          <p:sp>
            <p:nvSpPr>
              <p:cNvPr id="17" name="TextBox 16"/>
              <p:cNvSpPr txBox="1"/>
              <p:nvPr/>
            </p:nvSpPr>
            <p:spPr>
              <a:xfrm>
                <a:off x="548640" y="5202936"/>
                <a:ext cx="7680960" cy="822960"/>
              </a:xfrm>
              <a:prstGeom prst="rect">
                <a:avLst/>
              </a:prstGeom>
              <a:noFill/>
            </p:spPr>
            <p:txBody>
              <a:bodyPr wrap="square" anchor="t" lIns="45720" rIns="45720">
                <a:spAutoFit/>
              </a:bodyPr>
              <a:lstStyle/>
              <a:p>
                <a:pPr algn="l">
                  <a:spcAft>
                    <a:spcPts val="800"/>
                  </a:spcAft>
                </a:pPr>
                <a:r>
                  <a:rPr sz="2400">
                    <a:solidFill>
                      <a:srgbClr val="1E293B"/>
                    </a:solidFill>
                    <a:latin typeface="Calibri"/>
                  </a:rPr>
                  <a:t>d)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BD</m:t>
                        </m:r>
                      </m:e>
                    </m:acc>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a:t>
                </a:r>
              </a:p>
            </p:txBody>
          </p:sp>
        </mc:Choice>
        <mc:Fallback>
          <p:sp>
            <p:nvSpPr>
              <p:cNvPr id="17" name="TextBox 16"/>
              <p:cNvSpPr txBox="1"/>
              <p:nvPr/>
            </p:nvSpPr>
            <p:spPr>
              <a:xfrm>
                <a:off x="548640" y="5202936"/>
                <a:ext cx="7680960" cy="822960"/>
              </a:xfrm>
              <a:prstGeom prst="rect">
                <a:avLst/>
              </a:prstGeom>
              <a:noFill/>
            </p:spPr>
            <p:txBody>
              <a:bodyPr wrap="square" anchor="t" lIns="45720" rIns="45720">
                <a:spAutoFit/>
              </a:bodyPr>
              <a:lstStyle/>
              <a:p>
                <a:pPr algn="l">
                  <a:spcAft>
                    <a:spcPts val="800"/>
                  </a:spcAft>
                </a:pPr>
                <a:r>
                  <a:rPr sz="2400">
                    <a:solidFill>
                      <a:srgbClr val="1E293B"/>
                    </a:solidFill>
                    <a:latin typeface="Calibri"/>
                  </a:rPr>
                  <a:t>d) </a:t>
                </a:r>
                <a:r>
                  <a:rPr lang="vi-VN"/>
                  <a:t>\overrightarrow{AA'}\cdot\overrightarrow{BD}=a^2</a:t>
                </a:r>
                <a:r>
                  <a:rPr sz="2400">
                    <a:solidFill>
                      <a:srgbClr val="1E293B"/>
                    </a:solidFill>
                    <a:latin typeface="Calibri"/>
                  </a:rPr>
                  <a:t>.</a:t>
                </a:r>
              </a:p>
            </p:txBody>
          </p:sp>
        </mc:Fallback>
      </mc:AlternateContent>
      <p:sp>
        <p:nvSpPr>
          <p:cNvPr id="18" name="s4_nen"/>
          <p:cNvSpPr/>
          <p:nvPr/>
        </p:nvSpPr>
        <p:spPr>
          <a:xfrm>
            <a:off x="8412480" y="5157216"/>
            <a:ext cx="3200400" cy="7772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9" name="s4_chu"/>
              <p:cNvSpPr txBox="1"/>
              <p:nvPr/>
            </p:nvSpPr>
            <p:spPr>
              <a:xfrm>
                <a:off x="8577072" y="5193792"/>
                <a:ext cx="2871216" cy="704088"/>
              </a:xfrm>
              <a:prstGeom prst="rect">
                <a:avLst/>
              </a:prstGeom>
              <a:noFill/>
            </p:spPr>
            <p:txBody>
              <a:bodyPr wrap="square" anchor="ctr" lIns="45720" rIns="45720">
                <a:spAutoFit/>
              </a:bodyPr>
              <a:lstStyle/>
              <a:p>
                <a:pPr algn="ctr">
                  <a:spcAft>
                    <a:spcPts val="800"/>
                  </a:spcAft>
                </a:pPr>
                <a:r>
                  <a:rPr sz="2200" b="1">
                    <a:solidFill>
                      <a:srgbClr val="1E293B"/>
                    </a:solidFill>
                    <a:latin typeface="Calibri"/>
                  </a:rPr>
                  <a:t>SAI</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=0</m:t>
                    </m:r>
                  </m:oMath>
                </a14:m>
                <a:r>
                  <a:rPr sz="2200">
                    <a:solidFill>
                      <a:srgbClr val="1E293B"/>
                    </a:solidFill>
                    <a:latin typeface="Calibri"/>
                  </a:rPr>
                  <a:t>)</a:t>
                </a:r>
              </a:p>
            </p:txBody>
          </p:sp>
        </mc:Choice>
        <mc:Fallback>
          <p:sp>
            <p:nvSpPr>
              <p:cNvPr id="19" name="TextBox 18"/>
              <p:cNvSpPr txBox="1"/>
              <p:nvPr/>
            </p:nvSpPr>
            <p:spPr>
              <a:xfrm>
                <a:off x="8577072" y="5193792"/>
                <a:ext cx="2871216" cy="704088"/>
              </a:xfrm>
              <a:prstGeom prst="rect">
                <a:avLst/>
              </a:prstGeom>
              <a:noFill/>
            </p:spPr>
            <p:txBody>
              <a:bodyPr wrap="square" anchor="ctr" lIns="45720" rIns="45720">
                <a:spAutoFit/>
              </a:bodyPr>
              <a:lstStyle/>
              <a:p>
                <a:pPr algn="ctr">
                  <a:spcAft>
                    <a:spcPts val="800"/>
                  </a:spcAft>
                </a:pPr>
                <a:r>
                  <a:rPr sz="2200" b="1">
                    <a:solidFill>
                      <a:srgbClr val="1E293B"/>
                    </a:solidFill>
                    <a:latin typeface="Calibri"/>
                  </a:rPr>
                  <a:t>SAI</a:t>
                </a:r>
                <a:r>
                  <a:rPr sz="2200">
                    <a:solidFill>
                      <a:srgbClr val="1E293B"/>
                    </a:solidFill>
                    <a:latin typeface="Calibri"/>
                  </a:rPr>
                  <a:t> (</a:t>
                </a:r>
                <a:r>
                  <a:rPr lang="vi-VN"/>
                  <a:t>=0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6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88</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219456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hai vectơ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acc>
                      <m:accPr>
                        <m:chr m:val="⃗"/>
                      </m:accPr>
                      <m:e>
                        <m:r>
                          <a:rPr lang="vi-VN" sz="2600" b="0">
                            <a:solidFill>
                              <a:srgbClr val="1E293B"/>
                            </a:solidFill>
                            <a:latin typeface="Cambria Math" panose="02040503050406030204" pitchFamily="18" charset="0"/>
                          </a:rPr>
                          <m:t>b</m:t>
                        </m:r>
                      </m:e>
                    </m:acc>
                  </m:oMath>
                </a14:m>
                <a:r>
                  <a:rPr sz="2600">
                    <a:solidFill>
                      <a:srgbClr val="1E293B"/>
                    </a:solidFill>
                    <a:latin typeface="Calibri"/>
                  </a:rPr>
                  <a:t> có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|=1</m:t>
                    </m:r>
                  </m:oMath>
                </a14:m>
                <a:r>
                  <a:rPr sz="2600">
                    <a:solidFill>
                      <a:srgbClr val="1E293B"/>
                    </a:solidFill>
                    <a:latin typeface="Calibri"/>
                  </a:rPr>
                  <a:t> và </a:t>
                </a:r>
                <a14:m>
                  <m:oMath xmlns:m="http://schemas.openxmlformats.org/officeDocument/2006/math">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60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Tính </a:t>
                </a:r>
                <a14:m>
                  <m:oMath xmlns:m="http://schemas.openxmlformats.org/officeDocument/2006/math">
                    <m:sSup>
                      <m:e>
                        <m:d>
                          <m:dPr>
                            <m:begChr m:val="|"/>
                            <m:sepChr m:val=""/>
                            <m:endChr m:val="|"/>
                          </m:dPr>
                          <m:e>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e>
                        </m:d>
                      </m:e>
                      <m:sup>
                        <m:r>
                          <a:rPr lang="vi-VN" sz="2600" b="0">
                            <a:solidFill>
                              <a:srgbClr val="1E293B"/>
                            </a:solidFill>
                            <a:latin typeface="Cambria Math" panose="02040503050406030204" pitchFamily="18" charset="0"/>
                          </a:rPr>
                          <m:t>2</m:t>
                        </m:r>
                      </m:sup>
                    </m:sSup>
                  </m:oMath>
                </a14:m>
                <a:r>
                  <a:rPr sz="2600">
                    <a:solidFill>
                      <a:srgbClr val="1E293B"/>
                    </a:solidFill>
                    <a:latin typeface="Calibri"/>
                  </a:rPr>
                  <a:t>.</a:t>
                </a:r>
              </a:p>
            </p:txBody>
          </p:sp>
        </mc:Choice>
        <mc:Fallback>
          <p:sp>
            <p:nvSpPr>
              <p:cNvPr id="7" name="TextBox 6"/>
              <p:cNvSpPr txBox="1"/>
              <p:nvPr/>
            </p:nvSpPr>
            <p:spPr>
              <a:xfrm>
                <a:off x="548640" y="1463040"/>
                <a:ext cx="11064240" cy="219456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hai vectơ </a:t>
                </a:r>
                <a:r>
                  <a:rPr lang="vi-VN"/>
                  <a:t>\vec{a},\ \vec{b}</a:t>
                </a:r>
                <a:r>
                  <a:rPr sz="2600">
                    <a:solidFill>
                      <a:srgbClr val="1E293B"/>
                    </a:solidFill>
                    <a:latin typeface="Calibri"/>
                  </a:rPr>
                  <a:t> có </a:t>
                </a:r>
                <a:r>
                  <a:rPr lang="vi-VN"/>
                  <a:t>|\vec{a}|=|\vec{b}|=1</a:t>
                </a:r>
                <a:r>
                  <a:rPr sz="2600">
                    <a:solidFill>
                      <a:srgbClr val="1E293B"/>
                    </a:solidFill>
                    <a:latin typeface="Calibri"/>
                  </a:rPr>
                  <a:t> và </a:t>
                </a:r>
                <a:r>
                  <a:rPr lang="vi-VN"/>
                  <a:t>(\vec{a},\vec{b})=60^\circ</a:t>
                </a:r>
                <a:r>
                  <a:rPr sz="2600">
                    <a:solidFill>
                      <a:srgbClr val="1E293B"/>
                    </a:solidFill>
                    <a:latin typeface="Calibri"/>
                  </a:rPr>
                  <a:t>. Tính </a:t>
                </a:r>
                <a:r>
                  <a:rPr lang="vi-VN"/>
                  <a:t>|\vec{a}+\vec{b}|^2</a:t>
                </a:r>
                <a:r>
                  <a:rPr sz="2600">
                    <a:solidFill>
                      <a:srgbClr val="1E293B"/>
                    </a:solidFill>
                    <a:latin typeface="Calibri"/>
                  </a:rPr>
                  <a:t>.</a:t>
                </a:r>
              </a:p>
            </p:txBody>
          </p:sp>
        </mc:Fallback>
      </mc:AlternateContent>
      <p:sp>
        <p:nvSpPr>
          <p:cNvPr id="8" name="s1_nen"/>
          <p:cNvSpPr/>
          <p:nvPr/>
        </p:nvSpPr>
        <p:spPr>
          <a:xfrm>
            <a:off x="548640" y="3931920"/>
            <a:ext cx="11064240" cy="79552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3.</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acc>
                          <m:accPr>
                            <m:chr m:val="⃗"/>
                          </m:accPr>
                          <m:e>
                            <m:r>
                              <a:rPr lang="vi-VN" sz="2400" b="0">
                                <a:solidFill>
                                  <a:srgbClr val="1E293B"/>
                                </a:solidFill>
                                <a:latin typeface="Cambria Math" panose="02040503050406030204" pitchFamily="18" charset="0"/>
                              </a:rPr>
                              <m:t>a</m:t>
                            </m:r>
                          </m:e>
                        </m:acc>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m:t>
                    </m:r>
                    <m:sSup>
                      <m:e>
                        <m:acc>
                          <m:accPr>
                            <m:chr m:val="⃗"/>
                          </m:accPr>
                          <m:e>
                            <m:r>
                              <a:rPr lang="vi-VN" sz="2400" b="0">
                                <a:solidFill>
                                  <a:srgbClr val="1E293B"/>
                                </a:solidFill>
                                <a:latin typeface="Cambria Math" panose="02040503050406030204" pitchFamily="18" charset="0"/>
                              </a:rPr>
                              <m:t>b</m:t>
                            </m:r>
                          </m:e>
                        </m:acc>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=1+2·</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+1=3</m:t>
                    </m:r>
                  </m:oMath>
                </a14:m>
                <a:r>
                  <a:rPr sz="2400">
                    <a:solidFill>
                      <a:srgbClr val="1E293B"/>
                    </a:solidFill>
                    <a:latin typeface="Calibri"/>
                  </a:rPr>
                  <a:t>.</a:t>
                </a:r>
              </a:p>
            </p:txBody>
          </p:sp>
        </mc:Choice>
        <mc:Fallback>
          <p:sp>
            <p:nvSpPr>
              <p:cNvPr id="9" name="TextBox 8"/>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3.</a:t>
                </a:r>
                <a:r>
                  <a:rPr sz="2400">
                    <a:solidFill>
                      <a:srgbClr val="1E293B"/>
                    </a:solidFill>
                    <a:latin typeface="Calibri"/>
                  </a:rPr>
                  <a:t> </a:t>
                </a:r>
                <a:r>
                  <a:rPr lang="vi-VN"/>
                  <a:t>|\vec{a}+\vec{b}|^2=\vec{a}^2+2\vec{a}\cdot\vec{b}+\vec{b}^2=1+2\cdot\frac{1}{2}+1=3</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7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89</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219456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chữ nhật </a:t>
                </a:r>
                <a14:m>
                  <m:oMath xmlns:m="http://schemas.openxmlformats.org/officeDocument/2006/math">
                    <m:r>
                      <a:rPr lang="vi-VN" sz="2600" b="0">
                        <a:solidFill>
                          <a:srgbClr val="1E293B"/>
                        </a:solidFill>
                        <a:latin typeface="Cambria Math" panose="02040503050406030204" pitchFamily="18" charset="0"/>
                      </a:rPr>
                      <m:t>ABCD.</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có </a:t>
                </a:r>
                <a14:m>
                  <m:oMath xmlns:m="http://schemas.openxmlformats.org/officeDocument/2006/math">
                    <m:r>
                      <a:rPr lang="vi-VN" sz="2600" b="0">
                        <a:solidFill>
                          <a:srgbClr val="1E293B"/>
                        </a:solidFill>
                        <a:latin typeface="Cambria Math" panose="02040503050406030204" pitchFamily="18" charset="0"/>
                      </a:rPr>
                      <m:t>AB=3</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AD=4</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A</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=12</m:t>
                    </m:r>
                  </m:oMath>
                </a14:m>
                <a:r>
                  <a:rPr sz="2600">
                    <a:solidFill>
                      <a:srgbClr val="1E293B"/>
                    </a:solidFill>
                    <a:latin typeface="Calibri"/>
                  </a:rPr>
                  <a:t>. Tính </a:t>
                </a:r>
                <a14:m>
                  <m:oMath xmlns:m="http://schemas.openxmlformats.org/officeDocument/2006/math">
                    <m:d>
                      <m:dPr>
                        <m:begChr m:val="|"/>
                        <m:sepChr m:val="+"/>
                        <m:endChr m:val="|"/>
                      </m:dPr>
                      <m:e>
                        <m:acc>
                          <m:accPr>
                            <m:chr m:val="⃗"/>
                          </m:accPr>
                          <m:e>
                            <m:r>
                              <a:rPr lang="vi-VN" sz="2600" b="0">
                                <a:solidFill>
                                  <a:srgbClr val="1E293B"/>
                                </a:solidFill>
                                <a:latin typeface="Cambria Math" panose="02040503050406030204" pitchFamily="18" charset="0"/>
                              </a:rPr>
                              <m:t>AB</m:t>
                            </m:r>
                          </m:e>
                        </m:acc>
                      </m:e>
                      <m:e>
                        <m:acc>
                          <m:accPr>
                            <m:chr m:val="⃗"/>
                          </m:accPr>
                          <m:e>
                            <m:r>
                              <a:rPr lang="vi-VN" sz="2600" b="0">
                                <a:solidFill>
                                  <a:srgbClr val="1E293B"/>
                                </a:solidFill>
                                <a:latin typeface="Cambria Math" panose="02040503050406030204" pitchFamily="18" charset="0"/>
                              </a:rPr>
                              <m:t>AD</m:t>
                            </m:r>
                          </m:e>
                        </m:acc>
                      </m:e>
                      <m:e>
                        <m:acc>
                          <m:accPr>
                            <m:chr m:val="⃗"/>
                          </m:accPr>
                          <m:e>
                            <m:r>
                              <a:rPr lang="vi-VN" sz="2600" b="0">
                                <a:solidFill>
                                  <a:srgbClr val="1E293B"/>
                                </a:solidFill>
                                <a:latin typeface="Cambria Math" panose="02040503050406030204" pitchFamily="18" charset="0"/>
                              </a:rPr>
                              <m:t>A</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e>
                        </m:acc>
                      </m:e>
                    </m:d>
                  </m:oMath>
                </a14:m>
                <a:r>
                  <a:rPr sz="2600">
                    <a:solidFill>
                      <a:srgbClr val="1E293B"/>
                    </a:solidFill>
                    <a:latin typeface="Calibri"/>
                  </a:rPr>
                  <a:t>.</a:t>
                </a:r>
              </a:p>
            </p:txBody>
          </p:sp>
        </mc:Choice>
        <mc:Fallback>
          <p:sp>
            <p:nvSpPr>
              <p:cNvPr id="7" name="TextBox 6"/>
              <p:cNvSpPr txBox="1"/>
              <p:nvPr/>
            </p:nvSpPr>
            <p:spPr>
              <a:xfrm>
                <a:off x="548640" y="1463040"/>
                <a:ext cx="11064240" cy="2194560"/>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chữ nhật </a:t>
                </a:r>
                <a:r>
                  <a:rPr lang="vi-VN"/>
                  <a:t>ABCD.A'B'C'D'</a:t>
                </a:r>
                <a:r>
                  <a:rPr sz="2600">
                    <a:solidFill>
                      <a:srgbClr val="1E293B"/>
                    </a:solidFill>
                    <a:latin typeface="Calibri"/>
                  </a:rPr>
                  <a:t> có </a:t>
                </a:r>
                <a:r>
                  <a:rPr lang="vi-VN"/>
                  <a:t>AB=3</a:t>
                </a:r>
                <a:r>
                  <a:rPr sz="2600">
                    <a:solidFill>
                      <a:srgbClr val="1E293B"/>
                    </a:solidFill>
                    <a:latin typeface="Calibri"/>
                  </a:rPr>
                  <a:t>, </a:t>
                </a:r>
                <a:r>
                  <a:rPr lang="vi-VN"/>
                  <a:t>AD=4</a:t>
                </a:r>
                <a:r>
                  <a:rPr sz="2600">
                    <a:solidFill>
                      <a:srgbClr val="1E293B"/>
                    </a:solidFill>
                    <a:latin typeface="Calibri"/>
                  </a:rPr>
                  <a:t>, </a:t>
                </a:r>
                <a:r>
                  <a:rPr lang="vi-VN"/>
                  <a:t>AA'=12</a:t>
                </a:r>
                <a:r>
                  <a:rPr sz="2600">
                    <a:solidFill>
                      <a:srgbClr val="1E293B"/>
                    </a:solidFill>
                    <a:latin typeface="Calibri"/>
                  </a:rPr>
                  <a:t>. Tính </a:t>
                </a:r>
                <a:r>
                  <a:rPr lang="vi-VN"/>
                  <a:t>|\overrightarrow{AB}+\overrightarrow{AD}+\overrightarrow{AA'}|</a:t>
                </a:r>
                <a:r>
                  <a:rPr sz="2600">
                    <a:solidFill>
                      <a:srgbClr val="1E293B"/>
                    </a:solidFill>
                    <a:latin typeface="Calibri"/>
                  </a:rPr>
                  <a:t>.</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13.</a:t>
                </a:r>
                <a:r>
                  <a:rPr sz="2400">
                    <a:solidFill>
                      <a:srgbClr val="1E293B"/>
                    </a:solidFill>
                    <a:latin typeface="Calibri"/>
                  </a:rPr>
                  <a:t> Quy tắc hình hộp: </a:t>
                </a:r>
                <a14:m>
                  <m:oMath xmlns:m="http://schemas.openxmlformats.org/officeDocument/2006/math">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r>
                      <a:rPr lang="vi-VN" sz="2400" b="0">
                        <a:solidFill>
                          <a:srgbClr val="1E293B"/>
                        </a:solidFill>
                        <a:latin typeface="Cambria Math" panose="02040503050406030204" pitchFamily="18" charset="0"/>
                      </a:rPr>
                      <m:t>|=</m:t>
                    </m:r>
                    <m:rad>
                      <m:radPr>
                        <m:degHide m:val="on"/>
                      </m:radPr>
                      <m:deg/>
                      <m:e>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4</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12</m:t>
                            </m:r>
                          </m:e>
                          <m:sup>
                            <m:r>
                              <a:rPr lang="vi-VN" sz="2400" b="0">
                                <a:solidFill>
                                  <a:srgbClr val="1E293B"/>
                                </a:solidFill>
                                <a:latin typeface="Cambria Math" panose="02040503050406030204" pitchFamily="18" charset="0"/>
                              </a:rPr>
                              <m:t>2</m:t>
                            </m:r>
                          </m:sup>
                        </m:sSup>
                      </m:e>
                    </m:rad>
                    <m:r>
                      <a:rPr lang="vi-VN" sz="2400" b="0">
                        <a:solidFill>
                          <a:srgbClr val="1E293B"/>
                        </a:solidFill>
                        <a:latin typeface="Cambria Math" panose="02040503050406030204" pitchFamily="18" charset="0"/>
                      </a:rPr>
                      <m:t>=13</m:t>
                    </m:r>
                  </m:oMath>
                </a14:m>
                <a:r>
                  <a:rPr sz="2400">
                    <a:solidFill>
                      <a:srgbClr val="1E293B"/>
                    </a:solidFill>
                    <a:latin typeface="Calibri"/>
                  </a:rPr>
                  <a:t>.</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13.</a:t>
                </a:r>
                <a:r>
                  <a:rPr sz="2400">
                    <a:solidFill>
                      <a:srgbClr val="1E293B"/>
                    </a:solidFill>
                    <a:latin typeface="Calibri"/>
                  </a:rPr>
                  <a:t> Quy tắc hình hộp: </a:t>
                </a:r>
                <a:r>
                  <a:rPr lang="vi-VN"/>
                  <a:t>|\overrightarrow{AC'}|=\sqrt{3^2+4^2+12^2}=13</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8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90</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2194560"/>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người kéo thùng hàng bằng một lực </a:t>
                </a:r>
                <a14:m>
                  <m:oMath xmlns:m="http://schemas.openxmlformats.org/officeDocument/2006/math">
                    <m:acc>
                      <m:accPr>
                        <m:chr m:val="⃗"/>
                      </m:accPr>
                      <m:e>
                        <m:r>
                          <a:rPr lang="vi-VN" sz="2600" b="0">
                            <a:solidFill>
                              <a:srgbClr val="1E293B"/>
                            </a:solidFill>
                            <a:latin typeface="Cambria Math" panose="02040503050406030204" pitchFamily="18" charset="0"/>
                          </a:rPr>
                          <m:t>F</m:t>
                        </m:r>
                      </m:e>
                    </m:acc>
                  </m:oMath>
                </a14:m>
                <a:r>
                  <a:rPr sz="2600">
                    <a:solidFill>
                      <a:srgbClr val="1E293B"/>
                    </a:solidFill>
                    <a:latin typeface="Calibri"/>
                  </a:rPr>
                  <a:t> có độ lớn 50 N, hướng của lực hợp với phương ngang một góc </a:t>
                </a:r>
                <a14:m>
                  <m:oMath xmlns:m="http://schemas.openxmlformats.org/officeDocument/2006/math">
                    <m:sSup>
                      <m:e>
                        <m:r>
                          <a:rPr lang="vi-VN" sz="2600" b="0">
                            <a:solidFill>
                              <a:srgbClr val="1E293B"/>
                            </a:solidFill>
                            <a:latin typeface="Cambria Math" panose="02040503050406030204" pitchFamily="18" charset="0"/>
                          </a:rPr>
                          <m:t>30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làm thùng di chuyển 10 m theo phương ngang. Tính công </a:t>
                </a:r>
                <a14:m>
                  <m:oMath xmlns:m="http://schemas.openxmlformats.org/officeDocument/2006/math">
                    <m:r>
                      <a:rPr lang="vi-VN" sz="2600" b="0">
                        <a:solidFill>
                          <a:srgbClr val="1E293B"/>
                        </a:solidFill>
                        <a:latin typeface="Cambria Math" panose="02040503050406030204" pitchFamily="18" charset="0"/>
                      </a:rPr>
                      <m:t>A</m:t>
                    </m:r>
                  </m:oMath>
                </a14:m>
                <a:r>
                  <a:rPr sz="2600">
                    <a:solidFill>
                      <a:srgbClr val="1E293B"/>
                    </a:solidFill>
                    <a:latin typeface="Calibri"/>
                  </a:rPr>
                  <a:t> của lực </a:t>
                </a:r>
                <a14:m>
                  <m:oMath xmlns:m="http://schemas.openxmlformats.org/officeDocument/2006/math">
                    <m:acc>
                      <m:accPr>
                        <m:chr m:val="⃗"/>
                      </m:accPr>
                      <m:e>
                        <m:r>
                          <a:rPr lang="vi-VN" sz="2600" b="0">
                            <a:solidFill>
                              <a:srgbClr val="1E293B"/>
                            </a:solidFill>
                            <a:latin typeface="Cambria Math" panose="02040503050406030204" pitchFamily="18" charset="0"/>
                          </a:rPr>
                          <m:t>F</m:t>
                        </m:r>
                      </m:e>
                    </m:acc>
                  </m:oMath>
                </a14:m>
                <a:r>
                  <a:rPr sz="2600">
                    <a:solidFill>
                      <a:srgbClr val="1E293B"/>
                    </a:solidFill>
                    <a:latin typeface="Calibri"/>
                  </a:rPr>
                  <a:t> (đơn vị J, làm tròn đến hàng đơn vị).</a:t>
                </a:r>
              </a:p>
            </p:txBody>
          </p:sp>
        </mc:Choice>
        <mc:Fallback>
          <p:sp>
            <p:nvSpPr>
              <p:cNvPr id="7" name="TextBox 6"/>
              <p:cNvSpPr txBox="1"/>
              <p:nvPr/>
            </p:nvSpPr>
            <p:spPr>
              <a:xfrm>
                <a:off x="548640" y="1463040"/>
                <a:ext cx="11064240" cy="2194560"/>
              </a:xfrm>
              <a:prstGeom prst="rect">
                <a:avLst/>
              </a:prstGeom>
              <a:noFill/>
            </p:spPr>
            <p:txBody>
              <a:bodyPr wrap="square" anchor="t" lIns="45720" rIns="45720">
                <a:spAutoFit/>
              </a:bodyPr>
              <a:lstStyle/>
              <a:p>
                <a:pPr algn="l">
                  <a:spcAft>
                    <a:spcPts val="800"/>
                  </a:spcAft>
                </a:pPr>
                <a:r>
                  <a:rPr sz="2600">
                    <a:solidFill>
                      <a:srgbClr val="1E293B"/>
                    </a:solidFill>
                    <a:latin typeface="Calibri"/>
                  </a:rPr>
                  <a:t>Một người kéo thùng hàng bằng một lực </a:t>
                </a:r>
                <a:r>
                  <a:rPr lang="vi-VN"/>
                  <a:t>\vec{F}</a:t>
                </a:r>
                <a:r>
                  <a:rPr sz="2600">
                    <a:solidFill>
                      <a:srgbClr val="1E293B"/>
                    </a:solidFill>
                    <a:latin typeface="Calibri"/>
                  </a:rPr>
                  <a:t> có độ lớn 50 N, hướng của lực hợp với phương ngang một góc </a:t>
                </a:r>
                <a:r>
                  <a:rPr lang="vi-VN"/>
                  <a:t>30^\circ</a:t>
                </a:r>
                <a:r>
                  <a:rPr sz="2600">
                    <a:solidFill>
                      <a:srgbClr val="1E293B"/>
                    </a:solidFill>
                    <a:latin typeface="Calibri"/>
                  </a:rPr>
                  <a:t>, làm thùng di chuyển 10 m theo phương ngang. Tính công </a:t>
                </a:r>
                <a:r>
                  <a:rPr lang="vi-VN"/>
                  <a:t>A</a:t>
                </a:r>
                <a:r>
                  <a:rPr sz="2600">
                    <a:solidFill>
                      <a:srgbClr val="1E293B"/>
                    </a:solidFill>
                    <a:latin typeface="Calibri"/>
                  </a:rPr>
                  <a:t> của lực </a:t>
                </a:r>
                <a:r>
                  <a:rPr lang="vi-VN"/>
                  <a:t>\vec{F}</a:t>
                </a:r>
                <a:r>
                  <a:rPr sz="2600">
                    <a:solidFill>
                      <a:srgbClr val="1E293B"/>
                    </a:solidFill>
                    <a:latin typeface="Calibri"/>
                  </a:rPr>
                  <a:t> (đơn vị J, làm tròn đến hàng đơn vị).</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433.</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m:t>
                    </m:r>
                    <m:acc>
                      <m:accPr>
                        <m:chr m:val="⃗"/>
                      </m:accPr>
                      <m:e>
                        <m:r>
                          <a:rPr lang="vi-VN" sz="2400" b="0">
                            <a:solidFill>
                              <a:srgbClr val="1E293B"/>
                            </a:solidFill>
                            <a:latin typeface="Cambria Math" panose="02040503050406030204" pitchFamily="18" charset="0"/>
                          </a:rPr>
                          <m:t>F</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MN</m:t>
                        </m:r>
                      </m:e>
                    </m:acc>
                    <m:r>
                      <a:rPr lang="vi-VN" sz="2400" b="0">
                        <a:solidFill>
                          <a:srgbClr val="1E293B"/>
                        </a:solidFill>
                        <a:latin typeface="Cambria Math" panose="02040503050406030204" pitchFamily="18" charset="0"/>
                      </a:rPr>
                      <m:t>=50·10·</m:t>
                    </m:r>
                    <m:r>
                      <m:rPr>
                        <m:sty m:val="p"/>
                      </m:rPr>
                      <a:rPr lang="vi-VN" sz="2400" b="0">
                        <a:solidFill>
                          <a:srgbClr val="1E293B"/>
                        </a:solidFill>
                        <a:latin typeface="Cambria Math" panose="02040503050406030204" pitchFamily="18" charset="0"/>
                      </a:rPr>
                      <m:t>cos</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30</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=250</m:t>
                    </m:r>
                    <m:rad>
                      <m:radPr>
                        <m:degHide m:val="on"/>
                      </m:radPr>
                      <m:deg/>
                      <m:e>
                        <m:r>
                          <a:rPr lang="vi-VN" sz="2400" b="0">
                            <a:solidFill>
                              <a:srgbClr val="1E293B"/>
                            </a:solidFill>
                            <a:latin typeface="Cambria Math" panose="02040503050406030204" pitchFamily="18" charset="0"/>
                          </a:rPr>
                          <m:t>3</m:t>
                        </m:r>
                      </m:e>
                    </m:rad>
                    <m:r>
                      <a:rPr lang="vi-VN" sz="2400" b="0">
                        <a:solidFill>
                          <a:srgbClr val="1E293B"/>
                        </a:solidFill>
                        <a:latin typeface="Cambria Math" panose="02040503050406030204" pitchFamily="18" charset="0"/>
                      </a:rPr>
                      <m:t>≈433</m:t>
                    </m:r>
                  </m:oMath>
                </a14:m>
                <a:r>
                  <a:rPr sz="2400">
                    <a:solidFill>
                      <a:srgbClr val="1E293B"/>
                    </a:solidFill>
                    <a:latin typeface="Calibri"/>
                  </a:rPr>
                  <a:t> (J).</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433.</a:t>
                </a:r>
                <a:r>
                  <a:rPr sz="2400">
                    <a:solidFill>
                      <a:srgbClr val="1E293B"/>
                    </a:solidFill>
                    <a:latin typeface="Calibri"/>
                  </a:rPr>
                  <a:t> </a:t>
                </a:r>
                <a:r>
                  <a:rPr lang="vi-VN"/>
                  <a:t>A=\vec{F}\cdot\overrightarrow{MN}=50\cdot 10\cdot\cos 30^\circ=250\sqrt{3}\approx 433</a:t>
                </a:r>
                <a:r>
                  <a:rPr sz="2400">
                    <a:solidFill>
                      <a:srgbClr val="1E293B"/>
                    </a:solidFill>
                    <a:latin typeface="Calibri"/>
                  </a:rPr>
                  <a:t> (J).</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91</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https://trangtu66.github.io/Taode_thi_online/cc_bai6_t12.html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các bài tập còn lại (2.1 – 2.12).</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7. Hệ trục toạ độ trong không gian</a:t>
            </a:r>
            <a:r>
              <a:rPr sz="2200">
                <a:solidFill>
                  <a:srgbClr val="1E293B"/>
                </a:solidFill>
                <a:latin typeface="Calibri"/>
              </a:rPr>
              <a:t> (SGK tr.60).</a:t>
            </a:r>
          </a:p>
          <a:p>
            <a:pPr algn="l" marL="365760" indent="-365760">
              <a:spcAft>
                <a:spcPts val="800"/>
              </a:spcAft>
              <a:buClr>
                <a:srgbClr val="1E40AF"/>
              </a:buClr>
              <a:buFont typeface="Arial"/>
              <a:buChar char="•"/>
            </a:pPr>
            <a:r>
              <a:rPr sz="2200">
                <a:solidFill>
                  <a:srgbClr val="1E293B"/>
                </a:solidFill>
                <a:latin typeface="Calibri"/>
              </a:rPr>
              <a:t>Nhóm: tìm 2 ví dụ thực tế dùng vectơ trong không gian, chụp ảnh và vẽ vectơ, nộp Padlet/Classroom.</a:t>
            </a:r>
          </a:p>
        </p:txBody>
      </p:sp>
      <p:pic>
        <p:nvPicPr>
          <p:cNvPr id="8" name="Picture 7" descr="QR_CungCo_Bai6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92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Nhầm </a:t>
                </a:r>
                <a:r>
                  <a:rPr sz="2100" b="1">
                    <a:solidFill>
                      <a:srgbClr val="1E293B"/>
                    </a:solidFill>
                    <a:latin typeface="Calibri"/>
                  </a:rPr>
                  <a:t>cùng phương</a:t>
                </a:r>
                <a:r>
                  <a:rPr sz="2100">
                    <a:solidFill>
                      <a:srgbClr val="1E293B"/>
                    </a:solidFill>
                    <a:latin typeface="Calibri"/>
                  </a:rPr>
                  <a:t> với </a:t>
                </a:r>
                <a:r>
                  <a:rPr sz="2100" b="1">
                    <a:solidFill>
                      <a:srgbClr val="1E293B"/>
                    </a:solidFill>
                    <a:latin typeface="Calibri"/>
                  </a:rPr>
                  <a:t>cùng hướng</a:t>
                </a:r>
                <a:r>
                  <a:rPr sz="2100">
                    <a:solidFill>
                      <a:srgbClr val="1E293B"/>
                    </a:solidFill>
                    <a:latin typeface="Calibri"/>
                  </a:rPr>
                  <a:t> / </a:t>
                </a:r>
                <a:r>
                  <a:rPr sz="2100" b="1">
                    <a:solidFill>
                      <a:srgbClr val="1E293B"/>
                    </a:solidFill>
                    <a:latin typeface="Calibri"/>
                  </a:rPr>
                  <a:t>bằng nhau</a:t>
                </a:r>
                <a:r>
                  <a:rPr sz="2100">
                    <a:solidFill>
                      <a:srgbClr val="1E293B"/>
                    </a:solidFill>
                    <a:latin typeface="Calibri"/>
                  </a:rPr>
                  <a:t> → hỏi lại: cùng độ dài? cùng hướng?</a:t>
                </a:r>
              </a:p>
              <a:p>
                <a:pPr algn="l" marL="365760" indent="-365760">
                  <a:spcAft>
                    <a:spcPts val="800"/>
                  </a:spcAft>
                  <a:buClr>
                    <a:srgbClr val="1E40AF"/>
                  </a:buClr>
                  <a:buFont typeface="Arial"/>
                  <a:buChar char="•"/>
                </a:pPr>
                <a:r>
                  <a:rPr sz="2100">
                    <a:solidFill>
                      <a:srgbClr val="1E293B"/>
                    </a:solidFill>
                    <a:latin typeface="Calibri"/>
                  </a:rPr>
                  <a:t>Tính góc giữa hai vectơ không chung gốc bằng cách lấy luôn góc giữa hai đường thẳng → luôn tịnh tiến về chung gốc (vd </a:t>
                </a:r>
                <a14:m>
                  <m:oMath xmlns:m="http://schemas.openxmlformats.org/officeDocument/2006/math">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AS</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CD</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120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không phải </a:t>
                </a:r>
                <a14:m>
                  <m:oMath xmlns:m="http://schemas.openxmlformats.org/officeDocument/2006/math">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Viết </a:t>
                </a:r>
                <a14:m>
                  <m:oMath xmlns:m="http://schemas.openxmlformats.org/officeDocument/2006/math">
                    <m:d>
                      <m:dPr>
                        <m:begChr m:val="|"/>
                        <m:sepChr m:val=""/>
                        <m:endChr m:val="|"/>
                      </m:dPr>
                      <m:e>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e>
                    </m:d>
                  </m:oMath>
                </a14:m>
                <a:r>
                  <a:rPr sz="2100">
                    <a:solidFill>
                      <a:srgbClr val="1E293B"/>
                    </a:solidFill>
                    <a:latin typeface="Calibri"/>
                  </a:rPr>
                  <a:t> → bình phương vô hướng </a:t>
                </a:r>
                <a14:m>
                  <m:oMath xmlns:m="http://schemas.openxmlformats.org/officeDocument/2006/math">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sSup>
                      <m:e>
                        <m:r>
                          <a:rPr lang="vi-VN" sz="2100" b="0">
                            <a:solidFill>
                              <a:srgbClr val="1E293B"/>
                            </a:solidFill>
                            <a:latin typeface="Cambria Math" panose="02040503050406030204" pitchFamily="18" charset="0"/>
                          </a:rPr>
                          <m:t>|</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b</m:t>
                        </m:r>
                      </m:e>
                    </m:acc>
                    <m:sSup>
                      <m:e>
                        <m:r>
                          <a:rPr lang="vi-VN" sz="2100" b="0">
                            <a:solidFill>
                              <a:srgbClr val="1E293B"/>
                            </a:solidFill>
                            <a:latin typeface="Cambria Math" panose="02040503050406030204" pitchFamily="18" charset="0"/>
                          </a:rPr>
                          <m:t>)</m:t>
                        </m:r>
                      </m:e>
                      <m:sup>
                        <m:r>
                          <a:rPr lang="vi-VN" sz="2100" b="0">
                            <a:solidFill>
                              <a:srgbClr val="1E293B"/>
                            </a:solidFill>
                            <a:latin typeface="Cambria Math" panose="02040503050406030204" pitchFamily="18" charset="0"/>
                          </a:rPr>
                          <m:t>2</m:t>
                        </m:r>
                      </m:sup>
                    </m:sSup>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Quy tắc hình hộp áp dụng cho ba vectơ </a:t>
                </a:r>
                <a:r>
                  <a:rPr sz="2100" b="1">
                    <a:solidFill>
                      <a:srgbClr val="1E293B"/>
                    </a:solidFill>
                    <a:latin typeface="Calibri"/>
                  </a:rPr>
                  <a:t>không chung gốc</a:t>
                </a:r>
                <a:r>
                  <a:rPr sz="2100">
                    <a:solidFill>
                      <a:srgbClr val="1E293B"/>
                    </a:solidFill>
                    <a:latin typeface="Calibri"/>
                  </a:rPr>
                  <a:t> → phải thay bằng các vectơ bằng nó, chung gốc.</a:t>
                </a:r>
              </a:p>
              <a:p>
                <a:pPr algn="l" marL="365760" indent="-365760">
                  <a:spcAft>
                    <a:spcPts val="800"/>
                  </a:spcAft>
                  <a:buClr>
                    <a:srgbClr val="1E40AF"/>
                  </a:buClr>
                  <a:buFont typeface="Arial"/>
                  <a:buChar char="•"/>
                </a:pPr>
                <a:r>
                  <a:rPr sz="2100">
                    <a:solidFill>
                      <a:srgbClr val="1E293B"/>
                    </a:solidFill>
                    <a:latin typeface="Calibri"/>
                  </a:rPr>
                  <a:t>Quên điều kiện </a:t>
                </a:r>
                <a14:m>
                  <m:oMath xmlns:m="http://schemas.openxmlformats.org/officeDocument/2006/math">
                    <m:acc>
                      <m:accPr>
                        <m:chr m:val="⃗"/>
                      </m:accPr>
                      <m:e>
                        <m:r>
                          <a:rPr lang="vi-VN" sz="2100" b="0">
                            <a:solidFill>
                              <a:srgbClr val="1E293B"/>
                            </a:solidFill>
                            <a:latin typeface="Cambria Math" panose="02040503050406030204" pitchFamily="18" charset="0"/>
                          </a:rPr>
                          <m:t>b</m:t>
                        </m:r>
                      </m:e>
                    </m:acc>
                    <m:r>
                      <a:rPr lang="vi-VN" sz="2100" b="0">
                        <a:solidFill>
                          <a:srgbClr val="1E293B"/>
                        </a:solidFill>
                        <a:latin typeface="Cambria Math" panose="02040503050406030204" pitchFamily="18" charset="0"/>
                      </a:rPr>
                      <m:t>≠</m:t>
                    </m:r>
                    <m:acc>
                      <m:accPr>
                        <m:chr m:val="⃗"/>
                      </m:accPr>
                      <m:e>
                        <m:r>
                          <a:rPr lang="vi-VN" sz="2100" b="0">
                            <a:solidFill>
                              <a:srgbClr val="1E293B"/>
                            </a:solidFill>
                            <a:latin typeface="Cambria Math" panose="02040503050406030204" pitchFamily="18" charset="0"/>
                          </a:rPr>
                          <m:t>0</m:t>
                        </m:r>
                      </m:e>
                    </m:acc>
                  </m:oMath>
                </a14:m>
                <a:r>
                  <a:rPr sz="2100">
                    <a:solidFill>
                      <a:srgbClr val="1E293B"/>
                    </a:solidFill>
                    <a:latin typeface="Calibri"/>
                  </a:rPr>
                  <a:t> trong điều kiện cùng phương </a:t>
                </a:r>
                <a14:m>
                  <m:oMath xmlns:m="http://schemas.openxmlformats.org/officeDocument/2006/math">
                    <m:acc>
                      <m:accPr>
                        <m:chr m:val="⃗"/>
                      </m:accPr>
                      <m:e>
                        <m:r>
                          <a:rPr lang="vi-VN" sz="2100" b="0">
                            <a:solidFill>
                              <a:srgbClr val="1E293B"/>
                            </a:solidFill>
                            <a:latin typeface="Cambria Math" panose="02040503050406030204" pitchFamily="18" charset="0"/>
                          </a:rPr>
                          <m:t>a</m:t>
                        </m:r>
                      </m:e>
                    </m:acc>
                    <m:r>
                      <a:rPr lang="vi-VN" sz="2100" b="0">
                        <a:solidFill>
                          <a:srgbClr val="1E293B"/>
                        </a:solidFill>
                        <a:latin typeface="Cambria Math" panose="02040503050406030204" pitchFamily="18" charset="0"/>
                      </a:rPr>
                      <m:t>=k</m:t>
                    </m:r>
                    <m:acc>
                      <m:accPr>
                        <m:chr m:val="⃗"/>
                      </m:accPr>
                      <m:e>
                        <m:r>
                          <a:rPr lang="vi-VN" sz="2100" b="0">
                            <a:solidFill>
                              <a:srgbClr val="1E293B"/>
                            </a:solidFill>
                            <a:latin typeface="Cambria Math" panose="02040503050406030204" pitchFamily="18" charset="0"/>
                          </a:rPr>
                          <m:t>b</m:t>
                        </m:r>
                      </m:e>
                    </m:acc>
                  </m:oMath>
                </a14:m>
                <a:r>
                  <a:rPr sz="2100">
                    <a:solidFill>
                      <a:srgbClr val="1E293B"/>
                    </a:solidFill>
                    <a:latin typeface="Calibri"/>
                  </a:rPr>
                  <a:t>.</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Nhầm </a:t>
                </a:r>
                <a:r>
                  <a:rPr sz="2100" b="1">
                    <a:solidFill>
                      <a:srgbClr val="1E293B"/>
                    </a:solidFill>
                    <a:latin typeface="Calibri"/>
                  </a:rPr>
                  <a:t>cùng phương</a:t>
                </a:r>
                <a:r>
                  <a:rPr sz="2100">
                    <a:solidFill>
                      <a:srgbClr val="1E293B"/>
                    </a:solidFill>
                    <a:latin typeface="Calibri"/>
                  </a:rPr>
                  <a:t> với </a:t>
                </a:r>
                <a:r>
                  <a:rPr sz="2100" b="1">
                    <a:solidFill>
                      <a:srgbClr val="1E293B"/>
                    </a:solidFill>
                    <a:latin typeface="Calibri"/>
                  </a:rPr>
                  <a:t>cùng hướng</a:t>
                </a:r>
                <a:r>
                  <a:rPr sz="2100">
                    <a:solidFill>
                      <a:srgbClr val="1E293B"/>
                    </a:solidFill>
                    <a:latin typeface="Calibri"/>
                  </a:rPr>
                  <a:t> / </a:t>
                </a:r>
                <a:r>
                  <a:rPr sz="2100" b="1">
                    <a:solidFill>
                      <a:srgbClr val="1E293B"/>
                    </a:solidFill>
                    <a:latin typeface="Calibri"/>
                  </a:rPr>
                  <a:t>bằng nhau</a:t>
                </a:r>
                <a:r>
                  <a:rPr sz="2100">
                    <a:solidFill>
                      <a:srgbClr val="1E293B"/>
                    </a:solidFill>
                    <a:latin typeface="Calibri"/>
                  </a:rPr>
                  <a:t> → hỏi lại: cùng độ dài? cùng hướng?</a:t>
                </a:r>
              </a:p>
              <a:p>
                <a:pPr algn="l" marL="365760" indent="-365760">
                  <a:spcAft>
                    <a:spcPts val="800"/>
                  </a:spcAft>
                  <a:buClr>
                    <a:srgbClr val="1E40AF"/>
                  </a:buClr>
                  <a:buFont typeface="Arial"/>
                  <a:buChar char="•"/>
                </a:pPr>
                <a:r>
                  <a:rPr sz="2100">
                    <a:solidFill>
                      <a:srgbClr val="1E293B"/>
                    </a:solidFill>
                    <a:latin typeface="Calibri"/>
                  </a:rPr>
                  <a:t>Tính góc giữa hai vectơ không chung gốc bằng cách lấy luôn góc giữa hai đường thẳng → luôn tịnh tiến về chung gốc (vd </a:t>
                </a:r>
                <a:r>
                  <a:rPr lang="vi-VN"/>
                  <a:t>(\overrightarrow{AS},\overrightarrow{CD})=120^\circ</a:t>
                </a:r>
                <a:r>
                  <a:rPr sz="2100">
                    <a:solidFill>
                      <a:srgbClr val="1E293B"/>
                    </a:solidFill>
                    <a:latin typeface="Calibri"/>
                  </a:rPr>
                  <a:t>, không phải </a:t>
                </a:r>
                <a:r>
                  <a:rPr lang="vi-VN"/>
                  <a:t>60^\circ</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Viết </a:t>
                </a:r>
                <a:r>
                  <a:rPr lang="vi-VN"/>
                  <a:t>|\vec{a}+\vec{b}|=|\vec{a}|+|\vec{b}|</a:t>
                </a:r>
                <a:r>
                  <a:rPr sz="2100">
                    <a:solidFill>
                      <a:srgbClr val="1E293B"/>
                    </a:solidFill>
                    <a:latin typeface="Calibri"/>
                  </a:rPr>
                  <a:t> → bình phương vô hướng </a:t>
                </a:r>
                <a:r>
                  <a:rPr lang="vi-VN"/>
                  <a:t>|\vec{a}+\vec{b}|^2=(\vec{a}+\vec{b})^2</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Quy tắc hình hộp áp dụng cho ba vectơ </a:t>
                </a:r>
                <a:r>
                  <a:rPr sz="2100" b="1">
                    <a:solidFill>
                      <a:srgbClr val="1E293B"/>
                    </a:solidFill>
                    <a:latin typeface="Calibri"/>
                  </a:rPr>
                  <a:t>không chung gốc</a:t>
                </a:r>
                <a:r>
                  <a:rPr sz="2100">
                    <a:solidFill>
                      <a:srgbClr val="1E293B"/>
                    </a:solidFill>
                    <a:latin typeface="Calibri"/>
                  </a:rPr>
                  <a:t> → phải thay bằng các vectơ bằng nó, chung gốc.</a:t>
                </a:r>
              </a:p>
              <a:p>
                <a:pPr algn="l" marL="365760" indent="-365760">
                  <a:spcAft>
                    <a:spcPts val="800"/>
                  </a:spcAft>
                  <a:buClr>
                    <a:srgbClr val="1E40AF"/>
                  </a:buClr>
                  <a:buFont typeface="Arial"/>
                  <a:buChar char="•"/>
                </a:pPr>
                <a:r>
                  <a:rPr sz="2100">
                    <a:solidFill>
                      <a:srgbClr val="1E293B"/>
                    </a:solidFill>
                    <a:latin typeface="Calibri"/>
                  </a:rPr>
                  <a:t>Quên điều kiện </a:t>
                </a:r>
                <a:r>
                  <a:rPr lang="vi-VN"/>
                  <a:t>\vec{b}\ne\vec{0}</a:t>
                </a:r>
                <a:r>
                  <a:rPr sz="2100">
                    <a:solidFill>
                      <a:srgbClr val="1E293B"/>
                    </a:solidFill>
                    <a:latin typeface="Calibri"/>
                  </a:rPr>
                  <a:t> trong điều kiện cùng phương </a:t>
                </a:r>
                <a:r>
                  <a:rPr lang="vi-VN"/>
                  <a:t>\vec{a}=k\vec{b}</a:t>
                </a:r>
                <a:r>
                  <a:rPr sz="2100">
                    <a:solidFill>
                      <a:srgbClr val="1E293B"/>
                    </a:solidFill>
                    <a:latin typeface="Calibri"/>
                  </a:rPr>
                  <a:t>.</a:t>
                </a: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6. Vectơ trong không gian – Toán 12          93</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dùng mô hình khung hình hộp, que tính làm vectơ; giao Luyện tập 1, 2, 3; Bài 2.1, 2.2, 2.4a.</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Bài 2.6, 2.9, 2.12; chứng minh trọng tâm tứ diện là giao điểm các đoạn nối trung điểm cạnh đối.</a:t>
            </a:r>
          </a:p>
          <a:p>
            <a:pPr algn="l" marL="365760" indent="-365760">
              <a:spcAft>
                <a:spcPts val="800"/>
              </a:spcAft>
              <a:buClr>
                <a:srgbClr val="1E40AF"/>
              </a:buClr>
              <a:buFont typeface="Arial"/>
              <a:buChar char="•"/>
            </a:pPr>
            <a:r>
              <a:rPr sz="2000" b="1">
                <a:solidFill>
                  <a:srgbClr val="1E293B"/>
                </a:solidFill>
                <a:latin typeface="Calibri"/>
              </a:rPr>
              <a:t>HS khiếm thị (12A2, 12A7):</a:t>
            </a:r>
            <a:r>
              <a:rPr sz="2000">
                <a:solidFill>
                  <a:srgbClr val="1E293B"/>
                </a:solidFill>
                <a:latin typeface="Calibri"/>
              </a:rPr>
              <a:t> chữ ≥ 20pt, GV đọc to từng công thức, cho sờ mô hình khung; </a:t>
            </a:r>
            <a:r>
              <a:rPr sz="2000" b="1">
                <a:solidFill>
                  <a:srgbClr val="1E293B"/>
                </a:solidFill>
                <a:latin typeface="Calibri"/>
              </a:rPr>
              <a:t>HS khuyết tật vận động (12A3, 12A5, 12A7):</a:t>
            </a:r>
            <a:r>
              <a:rPr sz="2000">
                <a:solidFill>
                  <a:srgbClr val="1E293B"/>
                </a:solidFill>
                <a:latin typeface="Calibri"/>
              </a:rPr>
              <a:t> không yêu cầu lên bảng – trả lời tại chỗ, bảng con.</a:t>
            </a:r>
          </a:p>
          <a:p>
            <a:pPr algn="l" marL="365760" indent="-365760">
              <a:spcAft>
                <a:spcPts val="800"/>
              </a:spcAft>
              <a:buClr>
                <a:srgbClr val="1E40AF"/>
              </a:buClr>
              <a:buFont typeface="Arial"/>
              <a:buChar char="•"/>
            </a:pPr>
            <a:r>
              <a:rPr sz="2000" b="1">
                <a:solidFill>
                  <a:srgbClr val="1E293B"/>
                </a:solidFill>
                <a:latin typeface="Calibri"/>
              </a:rPr>
              <a:t>Mất điện:</a:t>
            </a:r>
            <a:r>
              <a:rPr sz="2000">
                <a:solidFill>
                  <a:srgbClr val="1E293B"/>
                </a:solidFill>
                <a:latin typeface="Calibri"/>
              </a:rPr>
              <a:t> dùng KHBD in + mô hình, viết bảng. </a:t>
            </a:r>
            <a:r>
              <a:rPr sz="2000" b="1">
                <a:solidFill>
                  <a:srgbClr val="1E293B"/>
                </a:solidFill>
                <a:latin typeface="Calibri"/>
              </a:rPr>
              <a:t>Mất mạng:</a:t>
            </a:r>
            <a:r>
              <a:rPr sz="2000">
                <a:solidFill>
                  <a:srgbClr val="1E293B"/>
                </a:solidFill>
                <a:latin typeface="Calibri"/>
              </a:rPr>
              <a:t> GeoGebra không chạy – dùng mô hình, ảnh chụp sẵn trong slide; video mở đầu: tải trước từ link về máy.</a:t>
            </a:r>
          </a:p>
          <a:p>
            <a:pPr algn="l" marL="365760" indent="-365760">
              <a:spcAft>
                <a:spcPts val="800"/>
              </a:spcAft>
              <a:buClr>
                <a:srgbClr val="1E40AF"/>
              </a:buClr>
              <a:buFont typeface="Arial"/>
              <a:buChar char="•"/>
            </a:pPr>
            <a:r>
              <a:rPr sz="2000">
                <a:solidFill>
                  <a:srgbClr val="1E293B"/>
                </a:solidFill>
                <a:latin typeface="Calibri"/>
              </a:rPr>
              <a:t>Lời giải SGV tr.82 – 102 đã đối chiếu; riêng 2.11b SGV in sai (xem ghi chú slide bài tập 2.10 – 2.11).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