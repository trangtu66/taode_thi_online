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đó mời 1 nhóm trình chiếu sơ đồ tư duy số Chương 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đó mời 1 nhóm trình chiếu sơ đồ tư duy số Chương 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đó mời 1 nhóm trình chiếu sơ đồ tư duy số Chương 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trangtu66.github.io/Taode_thi_online/cc_ontapgk1_t12.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15600" cy="1371600"/>
          </a:xfrm>
          <a:prstGeom prst="rect">
            <a:avLst/>
          </a:prstGeom>
          <a:noFill/>
        </p:spPr>
        <p:txBody>
          <a:bodyPr wrap="square">
            <a:spAutoFit/>
          </a:bodyPr>
          <a:lstStyle/>
          <a:p>
            <a:r>
              <a:rPr sz="4000" b="1">
                <a:solidFill>
                  <a:srgbClr val="1E40AF"/>
                </a:solidFill>
                <a:latin typeface="Arial"/>
              </a:rPr>
              <a:t>ÔN TẬP GIỮA KÌ I</a:t>
            </a:r>
          </a:p>
        </p:txBody>
      </p:sp>
      <p:sp>
        <p:nvSpPr>
          <p:cNvPr id="4" name="TextBox 3"/>
          <p:cNvSpPr txBox="1"/>
          <p:nvPr/>
        </p:nvSpPr>
        <p:spPr>
          <a:xfrm>
            <a:off x="822960" y="2560320"/>
            <a:ext cx="10515600" cy="822960"/>
          </a:xfrm>
          <a:prstGeom prst="rect">
            <a:avLst/>
          </a:prstGeom>
          <a:noFill/>
        </p:spPr>
        <p:txBody>
          <a:bodyPr wrap="square" anchor="t" lIns="45720" rIns="45720">
            <a:spAutoFit/>
          </a:bodyPr>
          <a:lstStyle/>
          <a:p>
            <a:pPr algn="l">
              <a:spcAft>
                <a:spcPts val="800"/>
              </a:spcAft>
            </a:pPr>
            <a:r>
              <a:rPr sz="2800" b="1">
                <a:solidFill>
                  <a:srgbClr val="1E293B"/>
                </a:solidFill>
                <a:latin typeface="Calibri"/>
              </a:rPr>
              <a:t>Chương I. Ứng dụng đạo hàm để khảo sát và vẽ đồ thị hàm số</a:t>
            </a:r>
          </a:p>
        </p:txBody>
      </p:sp>
      <p:sp>
        <p:nvSpPr>
          <p:cNvPr id="5" name="Rectangle 4"/>
          <p:cNvSpPr/>
          <p:nvPr/>
        </p:nvSpPr>
        <p:spPr>
          <a:xfrm>
            <a:off x="868680" y="3474720"/>
            <a:ext cx="2286000" cy="36576"/>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749039"/>
            <a:ext cx="10515600" cy="2011680"/>
          </a:xfrm>
          <a:prstGeom prst="rect">
            <a:avLst/>
          </a:prstGeom>
          <a:noFill/>
        </p:spPr>
        <p:txBody>
          <a:bodyPr wrap="square" anchor="t" lIns="45720" rIns="45720">
            <a:spAutoFit/>
          </a:bodyPr>
          <a:lstStyle/>
          <a:p>
            <a:pPr algn="l">
              <a:spcAft>
                <a:spcPts val="800"/>
              </a:spcAft>
            </a:pPr>
            <a:r>
              <a:rPr sz="2200">
                <a:solidFill>
                  <a:srgbClr val="1E293B"/>
                </a:solidFill>
                <a:latin typeface="Calibri"/>
              </a:rPr>
              <a:t>Môn Toán – Lớp 12 (Kết nối tri thức với cuộc sống)</a:t>
            </a:r>
          </a:p>
          <a:p>
            <a:pPr algn="l">
              <a:spcAft>
                <a:spcPts val="800"/>
              </a:spcAft>
            </a:pPr>
            <a:r>
              <a:rPr sz="2200">
                <a:solidFill>
                  <a:srgbClr val="1E293B"/>
                </a:solidFill>
                <a:latin typeface="Calibri"/>
              </a:rPr>
              <a:t>Tiết 25 theo PPCT · Năm học 2026 – 2027</a:t>
            </a:r>
          </a:p>
          <a:p>
            <a:pPr algn="l">
              <a:spcAft>
                <a:spcPts val="800"/>
              </a:spcAft>
            </a:pPr>
            <a:r>
              <a:rPr sz="2200">
                <a:solidFill>
                  <a:srgbClr val="1E293B"/>
                </a:solidFill>
                <a:latin typeface="Calibri"/>
              </a:rPr>
              <a:t>Trường THPT – Tổ Toán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CẤU TRÚC ĐỀ KIỂM TRA GIỮA KÌ I</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2</a:t>
            </a:r>
          </a:p>
        </p:txBody>
      </p:sp>
      <p:sp>
        <p:nvSpPr>
          <p:cNvPr id="6" name="TextBox 5"/>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Thời gian 90 phút; phạm vi Bài 1 – Bài 5 và Bài tập cuối chương I</a:t>
            </a:r>
          </a:p>
          <a:p>
            <a:pPr algn="l" marL="365760" indent="-365760">
              <a:spcAft>
                <a:spcPts val="800"/>
              </a:spcAft>
              <a:buClr>
                <a:srgbClr val="1E40AF"/>
              </a:buClr>
              <a:buFont typeface="Arial"/>
              <a:buChar char="•"/>
            </a:pPr>
            <a:r>
              <a:rPr sz="2400">
                <a:solidFill>
                  <a:srgbClr val="1E293B"/>
                </a:solidFill>
                <a:latin typeface="Calibri"/>
              </a:rPr>
              <a:t>Phần I: 12 câu nhiều lựa chọn – 3 điểm (0,25 điểm/câu)</a:t>
            </a:r>
          </a:p>
          <a:p>
            <a:pPr algn="l" marL="365760" indent="-365760">
              <a:spcAft>
                <a:spcPts val="800"/>
              </a:spcAft>
              <a:buClr>
                <a:srgbClr val="1E40AF"/>
              </a:buClr>
              <a:buFont typeface="Arial"/>
              <a:buChar char="•"/>
            </a:pPr>
            <a:r>
              <a:rPr sz="2400">
                <a:solidFill>
                  <a:srgbClr val="1E293B"/>
                </a:solidFill>
                <a:latin typeface="Calibri"/>
              </a:rPr>
              <a:t>Phần II: 4 câu đúng – sai – 4 điểm (0,25 điểm/ý)</a:t>
            </a:r>
          </a:p>
          <a:p>
            <a:pPr algn="l" marL="365760" indent="-365760">
              <a:spcAft>
                <a:spcPts val="800"/>
              </a:spcAft>
              <a:buClr>
                <a:srgbClr val="1E40AF"/>
              </a:buClr>
              <a:buFont typeface="Arial"/>
              <a:buChar char="•"/>
            </a:pPr>
            <a:r>
              <a:rPr sz="2400">
                <a:solidFill>
                  <a:srgbClr val="1E293B"/>
                </a:solidFill>
                <a:latin typeface="Calibri"/>
              </a:rPr>
              <a:t>Phần III: 6 câu trả lời ngắn – 3 điểm (0,5 điểm/câu)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KHỞI ĐỘNG: ĐÚNG HAY SAI?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14528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Nếu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200" b="0">
                            <a:solidFill>
                              <a:srgbClr val="1E293B"/>
                            </a:solidFill>
                            <a:latin typeface="Cambria Math" panose="02040503050406030204" pitchFamily="18" charset="0"/>
                          </a:rPr>
                          <m:t>f</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0</m:t>
                        </m:r>
                      </m:sub>
                    </m:sSub>
                    <m:r>
                      <a:rPr lang="vi-VN" sz="2200" b="0">
                        <a:solidFill>
                          <a:srgbClr val="1E293B"/>
                        </a:solidFill>
                        <a:latin typeface="Cambria Math" panose="02040503050406030204" pitchFamily="18" charset="0"/>
                      </a:rPr>
                      <m:t>)=0</m:t>
                    </m:r>
                  </m:oMath>
                </a14:m>
                <a:r>
                  <a:rPr sz="2200">
                    <a:solidFill>
                      <a:srgbClr val="1E293B"/>
                    </a:solidFill>
                    <a:latin typeface="Calibri"/>
                  </a:rPr>
                  <a:t> thì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0</m:t>
                        </m:r>
                      </m:sub>
                    </m:sSub>
                  </m:oMath>
                </a14:m>
                <a:r>
                  <a:rPr sz="2200">
                    <a:solidFill>
                      <a:srgbClr val="1E293B"/>
                    </a:solidFill>
                    <a:latin typeface="Calibri"/>
                  </a:rPr>
                  <a:t> là điểm cực trị của hàm số.</a:t>
                </a:r>
              </a:p>
              <a:p>
                <a:pPr algn="l" marL="365760" indent="-365760">
                  <a:spcAft>
                    <a:spcPts val="800"/>
                  </a:spcAft>
                  <a:buClr>
                    <a:srgbClr val="1E40AF"/>
                  </a:buClr>
                  <a:buFont typeface="Arial"/>
                  <a:buChar char="•"/>
                </a:pPr>
                <a:r>
                  <a:rPr sz="2200">
                    <a:solidFill>
                      <a:srgbClr val="1E293B"/>
                    </a:solidFill>
                    <a:latin typeface="Calibri"/>
                  </a:rPr>
                  <a:t>Hàm số liên tục trên đoạn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begChr m:val="["/>
                        <m:sepChr m:val=""/>
                        <m:endChr m:val="]"/>
                      </m:dPr>
                      <m:e>
                        <m:r>
                          <a:rPr lang="vi-VN" sz="2200" b="0">
                            <a:solidFill>
                              <a:srgbClr val="1E293B"/>
                            </a:solidFill>
                            <a:latin typeface="Cambria Math" panose="02040503050406030204" pitchFamily="18" charset="0"/>
                          </a:rPr>
                          <m:t>a</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b</m:t>
                        </m:r>
                      </m:e>
                    </m:d>
                  </m:oMath>
                </a14:m>
                <a:r>
                  <a:rPr sz="2200">
                    <a:solidFill>
                      <a:srgbClr val="1E293B"/>
                    </a:solidFill>
                    <a:latin typeface="Calibri"/>
                  </a:rPr>
                  <a:t> luôn có giá trị lớn nhất và giá trị nhỏ nhất trên đoạn đó.</a:t>
                </a:r>
              </a:p>
              <a:p>
                <a:pPr algn="l" marL="365760" indent="-365760">
                  <a:spcAft>
                    <a:spcPts val="800"/>
                  </a:spcAft>
                  <a:buClr>
                    <a:srgbClr val="1E40AF"/>
                  </a:buClr>
                  <a:buFont typeface="Arial"/>
                  <a:buChar char="•"/>
                </a:pPr>
                <a:r>
                  <a:rPr sz="2200">
                    <a:solidFill>
                      <a:srgbClr val="1E293B"/>
                    </a:solidFill>
                    <a:latin typeface="Calibri"/>
                  </a:rPr>
                  <a:t>Nếu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lim</m:t>
                        </m:r>
                      </m:e>
                      <m:sub>
                        <m:r>
                          <a:rPr lang="vi-VN" sz="2200" b="0">
                            <a:solidFill>
                              <a:srgbClr val="1E293B"/>
                            </a:solidFill>
                            <a:latin typeface="Cambria Math" panose="02040503050406030204" pitchFamily="18" charset="0"/>
                          </a:rPr>
                          <m:t>x→</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0</m:t>
                            </m:r>
                          </m:sub>
                        </m:sSub>
                      </m:sub>
                    </m:sSub>
                    <m:r>
                      <a:rPr lang="vi-VN" sz="2200" b="0">
                        <a:solidFill>
                          <a:srgbClr val="1E293B"/>
                        </a:solidFill>
                        <a:latin typeface="Cambria Math" panose="02040503050406030204" pitchFamily="18" charset="0"/>
                      </a:rPr>
                      <m:t>f(x)</m:t>
                    </m:r>
                  </m:oMath>
                </a14:m>
                <a:r>
                  <a:rPr sz="2200">
                    <a:solidFill>
                      <a:srgbClr val="1E293B"/>
                    </a:solidFill>
                    <a:latin typeface="Calibri"/>
                  </a:rPr>
                  <a:t> là một số thực thì đường thẳng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x=</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0</m:t>
                        </m:r>
                      </m:sub>
                    </m:sSub>
                  </m:oMath>
                </a14:m>
                <a:r>
                  <a:rPr sz="2200">
                    <a:solidFill>
                      <a:srgbClr val="1E293B"/>
                    </a:solidFill>
                    <a:latin typeface="Calibri"/>
                  </a:rPr>
                  <a:t> không là tiệm cận đứng của đồ thị hàm số.</a:t>
                </a:r>
              </a:p>
            </p:txBody>
          </p:sp>
        </mc:Choice>
        <mc:Fallback>
          <p:sp>
            <p:nvSpPr>
              <p:cNvPr id="7" name="TextBox 6"/>
              <p:cNvSpPr txBox="1"/>
              <p:nvPr/>
            </p:nvSpPr>
            <p:spPr>
              <a:xfrm>
                <a:off x="731520" y="1463040"/>
                <a:ext cx="10789920" cy="214528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Nếu </a:t>
                </a:r>
                <a:r>
                  <a:rPr lang="vi-VN"/>
                  <a:t>f^′(x_0)=0</a:t>
                </a:r>
                <a:r>
                  <a:rPr sz="2200">
                    <a:solidFill>
                      <a:srgbClr val="1E293B"/>
                    </a:solidFill>
                    <a:latin typeface="Calibri"/>
                  </a:rPr>
                  <a:t> thì </a:t>
                </a:r>
                <a:r>
                  <a:rPr lang="vi-VN"/>
                  <a:t>x_0</a:t>
                </a:r>
                <a:r>
                  <a:rPr sz="2200">
                    <a:solidFill>
                      <a:srgbClr val="1E293B"/>
                    </a:solidFill>
                    <a:latin typeface="Calibri"/>
                  </a:rPr>
                  <a:t> là điểm cực trị của hàm số.</a:t>
                </a:r>
              </a:p>
              <a:p>
                <a:pPr algn="l" marL="365760" indent="-365760">
                  <a:spcAft>
                    <a:spcPts val="800"/>
                  </a:spcAft>
                  <a:buClr>
                    <a:srgbClr val="1E40AF"/>
                  </a:buClr>
                  <a:buFont typeface="Arial"/>
                  <a:buChar char="•"/>
                </a:pPr>
                <a:r>
                  <a:rPr sz="2200">
                    <a:solidFill>
                      <a:srgbClr val="1E293B"/>
                    </a:solidFill>
                    <a:latin typeface="Calibri"/>
                  </a:rPr>
                  <a:t>Hàm số liên tục trên đoạn </a:t>
                </a:r>
                <a:r>
                  <a:rPr lang="vi-VN"/>
                  <a:t>[a;b]</a:t>
                </a:r>
                <a:r>
                  <a:rPr sz="2200">
                    <a:solidFill>
                      <a:srgbClr val="1E293B"/>
                    </a:solidFill>
                    <a:latin typeface="Calibri"/>
                  </a:rPr>
                  <a:t> luôn có giá trị lớn nhất và giá trị nhỏ nhất trên đoạn đó.</a:t>
                </a:r>
              </a:p>
              <a:p>
                <a:pPr algn="l" marL="365760" indent="-365760">
                  <a:spcAft>
                    <a:spcPts val="800"/>
                  </a:spcAft>
                  <a:buClr>
                    <a:srgbClr val="1E40AF"/>
                  </a:buClr>
                  <a:buFont typeface="Arial"/>
                  <a:buChar char="•"/>
                </a:pPr>
                <a:r>
                  <a:rPr sz="2200">
                    <a:solidFill>
                      <a:srgbClr val="1E293B"/>
                    </a:solidFill>
                    <a:latin typeface="Calibri"/>
                  </a:rPr>
                  <a:t>Nếu </a:t>
                </a:r>
                <a:r>
                  <a:rPr lang="vi-VN"/>
                  <a:t>lim_(x→x_0)f(x)</a:t>
                </a:r>
                <a:r>
                  <a:rPr sz="2200">
                    <a:solidFill>
                      <a:srgbClr val="1E293B"/>
                    </a:solidFill>
                    <a:latin typeface="Calibri"/>
                  </a:rPr>
                  <a:t> là một số thực thì đường thẳng </a:t>
                </a:r>
                <a:r>
                  <a:rPr lang="vi-VN"/>
                  <a:t>x=x_0</a:t>
                </a:r>
                <a:r>
                  <a:rPr sz="2200">
                    <a:solidFill>
                      <a:srgbClr val="1E293B"/>
                    </a:solidFill>
                    <a:latin typeface="Calibri"/>
                  </a:rPr>
                  <a:t> không là tiệm cận đứng của đồ thị hàm số.</a:t>
                </a:r>
              </a:p>
            </p:txBody>
          </p:sp>
        </mc:Fallback>
      </mc:AlternateContent>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KHỞI ĐỘNG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4</a:t>
            </a:r>
          </a:p>
        </p:txBody>
      </p:sp>
      <p:sp>
        <p:nvSpPr>
          <p:cNvPr id="7" name="TextBox 6"/>
          <p:cNvSpPr txBox="1"/>
          <p:nvPr/>
        </p:nvSpPr>
        <p:spPr>
          <a:xfrm>
            <a:off x="731520" y="1463040"/>
            <a:ext cx="10789920" cy="94589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Đồ thị hàm số bậc ba luôn có tâm đối xứng.</a:t>
            </a:r>
          </a:p>
          <a:p>
            <a:pPr algn="l">
              <a:spcAft>
                <a:spcPts val="800"/>
              </a:spcAft>
            </a:pPr>
            <a:r>
              <a:rPr sz="2200" b="1">
                <a:solidFill>
                  <a:srgbClr val="1E40AF"/>
                </a:solidFill>
                <a:latin typeface="Calibri"/>
              </a:rPr>
              <a:t>Gợi mở: Giơ thẻ Đ/S; khẳng định sai cần một phản ví dụ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KHỞI ĐỘNG: ĐÚNG HAY SAI?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Sai: </a:t>
                </a:r>
                <a14:m>
                  <m:oMath xmlns:m="http://schemas.openxmlformats.org/officeDocument/2006/math">
                    <m:r>
                      <a:rPr lang="vi-VN" sz="2400" b="0">
                        <a:solidFill>
                          <a:srgbClr val="1E293B"/>
                        </a:solidFill>
                        <a:latin typeface="Cambria Math" panose="02040503050406030204" pitchFamily="18" charset="0"/>
                      </a:rPr>
                      <m:t>y=</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3</m:t>
                        </m:r>
                      </m:sup>
                    </m:sSup>
                  </m:oMath>
                </a14:m>
                <a:r>
                  <a:rPr sz="2400">
                    <a:solidFill>
                      <a:srgbClr val="1E293B"/>
                    </a:solidFill>
                    <a:latin typeface="Calibri"/>
                  </a:rPr>
                  <a:t> có </a:t>
                </a: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(0)=0</m:t>
                    </m:r>
                  </m:oMath>
                </a14:m>
                <a:r>
                  <a:rPr sz="2400">
                    <a:solidFill>
                      <a:srgbClr val="1E293B"/>
                    </a:solidFill>
                    <a:latin typeface="Calibri"/>
                  </a:rPr>
                  <a:t> nhưng </a:t>
                </a:r>
                <a14:m>
                  <m:oMath xmlns:m="http://schemas.openxmlformats.org/officeDocument/2006/math">
                    <m:r>
                      <a:rPr lang="vi-VN" sz="2400" b="0">
                        <a:solidFill>
                          <a:srgbClr val="1E293B"/>
                        </a:solidFill>
                        <a:latin typeface="Cambria Math" panose="02040503050406030204" pitchFamily="18" charset="0"/>
                      </a:rPr>
                      <m:t>x=0</m:t>
                    </m:r>
                  </m:oMath>
                </a14:m>
                <a:r>
                  <a:rPr sz="2400">
                    <a:solidFill>
                      <a:srgbClr val="1E293B"/>
                    </a:solidFill>
                    <a:latin typeface="Calibri"/>
                  </a:rPr>
                  <a:t> không là điểm cực trị</a:t>
                </a:r>
              </a:p>
              <a:p>
                <a:pPr algn="l" marL="365760" indent="-365760">
                  <a:spcAft>
                    <a:spcPts val="800"/>
                  </a:spcAft>
                  <a:buClr>
                    <a:srgbClr val="1E40AF"/>
                  </a:buClr>
                  <a:buFont typeface="Arial"/>
                  <a:buChar char="•"/>
                </a:pPr>
                <a:r>
                  <a:rPr sz="2400">
                    <a:solidFill>
                      <a:srgbClr val="1E293B"/>
                    </a:solidFill>
                    <a:latin typeface="Calibri"/>
                  </a:rPr>
                  <a:t>Đúng: hàm số liên tục trên đoạn luôn có GTLN, GTNN</a:t>
                </a:r>
              </a:p>
              <a:p>
                <a:pPr algn="l" marL="365760" indent="-365760">
                  <a:spcAft>
                    <a:spcPts val="800"/>
                  </a:spcAft>
                  <a:buClr>
                    <a:srgbClr val="1E40AF"/>
                  </a:buClr>
                  <a:buFont typeface="Arial"/>
                  <a:buChar char="•"/>
                </a:pPr>
                <a:r>
                  <a:rPr sz="2400">
                    <a:solidFill>
                      <a:srgbClr val="1E293B"/>
                    </a:solidFill>
                    <a:latin typeface="Calibri"/>
                  </a:rPr>
                  <a:t>Đúng: giới hạn hữu hạn thì không có tiệm cận đứng</a:t>
                </a:r>
              </a:p>
              <a:p>
                <a:pPr algn="l" marL="365760" indent="-365760">
                  <a:spcAft>
                    <a:spcPts val="800"/>
                  </a:spcAft>
                  <a:buClr>
                    <a:srgbClr val="1E40AF"/>
                  </a:buClr>
                  <a:buFont typeface="Arial"/>
                  <a:buChar char="•"/>
                </a:pPr>
                <a:r>
                  <a:rPr sz="2400">
                    <a:solidFill>
                      <a:srgbClr val="1E293B"/>
                    </a:solidFill>
                    <a:latin typeface="Calibri"/>
                  </a:rPr>
                  <a:t>Đúng: tâm đối xứng có hoành độ là nghiệm của </a:t>
                </a: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=0</m:t>
                    </m:r>
                  </m:oMath>
                </a14:m>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Sai: </a:t>
                </a:r>
                <a:r>
                  <a:rPr lang="vi-VN"/>
                  <a:t>y=x^3</a:t>
                </a:r>
                <a:r>
                  <a:rPr sz="2400">
                    <a:solidFill>
                      <a:srgbClr val="1E293B"/>
                    </a:solidFill>
                    <a:latin typeface="Calibri"/>
                  </a:rPr>
                  <a:t> có </a:t>
                </a:r>
                <a:r>
                  <a:rPr lang="vi-VN"/>
                  <a:t>y'(0)=0</a:t>
                </a:r>
                <a:r>
                  <a:rPr sz="2400">
                    <a:solidFill>
                      <a:srgbClr val="1E293B"/>
                    </a:solidFill>
                    <a:latin typeface="Calibri"/>
                  </a:rPr>
                  <a:t> nhưng </a:t>
                </a:r>
                <a:r>
                  <a:rPr lang="vi-VN"/>
                  <a:t>x=0</a:t>
                </a:r>
                <a:r>
                  <a:rPr sz="2400">
                    <a:solidFill>
                      <a:srgbClr val="1E293B"/>
                    </a:solidFill>
                    <a:latin typeface="Calibri"/>
                  </a:rPr>
                  <a:t> không là điểm cực trị</a:t>
                </a:r>
              </a:p>
              <a:p>
                <a:pPr algn="l" marL="365760" indent="-365760">
                  <a:spcAft>
                    <a:spcPts val="800"/>
                  </a:spcAft>
                  <a:buClr>
                    <a:srgbClr val="1E40AF"/>
                  </a:buClr>
                  <a:buFont typeface="Arial"/>
                  <a:buChar char="•"/>
                </a:pPr>
                <a:r>
                  <a:rPr sz="2400">
                    <a:solidFill>
                      <a:srgbClr val="1E293B"/>
                    </a:solidFill>
                    <a:latin typeface="Calibri"/>
                  </a:rPr>
                  <a:t>Đúng: hàm số liên tục trên đoạn luôn có GTLN, GTNN</a:t>
                </a:r>
              </a:p>
              <a:p>
                <a:pPr algn="l" marL="365760" indent="-365760">
                  <a:spcAft>
                    <a:spcPts val="800"/>
                  </a:spcAft>
                  <a:buClr>
                    <a:srgbClr val="1E40AF"/>
                  </a:buClr>
                  <a:buFont typeface="Arial"/>
                  <a:buChar char="•"/>
                </a:pPr>
                <a:r>
                  <a:rPr sz="2400">
                    <a:solidFill>
                      <a:srgbClr val="1E293B"/>
                    </a:solidFill>
                    <a:latin typeface="Calibri"/>
                  </a:rPr>
                  <a:t>Đúng: giới hạn hữu hạn thì không có tiệm cận đứng</a:t>
                </a:r>
              </a:p>
              <a:p>
                <a:pPr algn="l" marL="365760" indent="-365760">
                  <a:spcAft>
                    <a:spcPts val="800"/>
                  </a:spcAft>
                  <a:buClr>
                    <a:srgbClr val="1E40AF"/>
                  </a:buClr>
                  <a:buFont typeface="Arial"/>
                  <a:buChar char="•"/>
                </a:pPr>
                <a:r>
                  <a:rPr sz="2400">
                    <a:solidFill>
                      <a:srgbClr val="1E293B"/>
                    </a:solidFill>
                    <a:latin typeface="Calibri"/>
                  </a:rPr>
                  <a:t>Đúng: tâm đối xứng có hoành độ là nghiệm của </a:t>
                </a:r>
                <a:r>
                  <a:rPr lang="vi-VN"/>
                  <a:t>y''=0</a:t>
                </a:r>
              </a:p>
            </p:txBody>
          </p:sp>
        </mc:Fallback>
      </mc:AlternateContent>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PHẦN I – NHIỀU PHƯƠNG ÁN LỰA CHỌN</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Hoạt động 2 (12 phút)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CÂU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Câu 1 (Bài 1 – Biết).</a:t>
                </a:r>
                <a:r>
                  <a:rPr sz="2400">
                    <a:solidFill>
                      <a:srgbClr val="1E293B"/>
                    </a:solidFill>
                    <a:latin typeface="Calibri"/>
                  </a:rPr>
                  <a:t>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y=</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3</m:t>
                        </m:r>
                      </m:sup>
                    </m:sSup>
                    <m:r>
                      <a:rPr lang="vi-VN" sz="2400" b="0">
                        <a:solidFill>
                          <a:srgbClr val="1E293B"/>
                        </a:solidFill>
                        <a:latin typeface="Cambria Math" panose="02040503050406030204" pitchFamily="18" charset="0"/>
                      </a:rPr>
                      <m:t>−3</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oMath>
                </a14:m>
                <a:r>
                  <a:rPr sz="2400">
                    <a:solidFill>
                      <a:srgbClr val="1E293B"/>
                    </a:solidFill>
                    <a:latin typeface="Calibri"/>
                  </a:rPr>
                  <a:t> nghịch biến trên khoảng nào dưới đây?</a:t>
                </a:r>
              </a:p>
              <a:p>
                <a:pPr algn="l">
                  <a:spcAft>
                    <a:spcPts val="800"/>
                  </a:spcAft>
                </a:pPr>
                <a:r>
                  <a:rPr sz="2400">
                    <a:solidFill>
                      <a:srgbClr val="1E293B"/>
                    </a:solidFill>
                    <a:latin typeface="Calibri"/>
                  </a:rPr>
                  <a:t>A. </a:t>
                </a:r>
                <a14:m>
                  <m:oMath xmlns:m="http://schemas.openxmlformats.org/officeDocument/2006/math">
                    <m:d>
                      <m:dPr>
                        <m:sepChr m:val="∞"/>
                      </m:dPr>
                      <m:e>
                        <m:r>
                          <a:rPr lang="vi-VN" sz="2400" b="0">
                            <a:solidFill>
                              <a:srgbClr val="1E293B"/>
                            </a:solidFill>
                            <a:latin typeface="Cambria Math" panose="02040503050406030204" pitchFamily="18" charset="0"/>
                          </a:rPr>
                          <m:t>−</m:t>
                        </m:r>
                      </m:e>
                      <m:e>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m:t>
                        </m:r>
                      </m:e>
                    </m:d>
                  </m:oMath>
                </a14:m>
                <a:r>
                  <a:rPr sz="2400">
                    <a:solidFill>
                      <a:srgbClr val="1E293B"/>
                    </a:solidFill>
                    <a:latin typeface="Calibri"/>
                  </a:rPr>
                  <a:t>.    B. </a:t>
                </a:r>
                <a14:m>
                  <m:oMath xmlns:m="http://schemas.openxmlformats.org/officeDocument/2006/math">
                    <m:d>
                      <m:dPr>
                        <m:sepChr m:val=""/>
                      </m:dPr>
                      <m:e>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e>
                    </m:d>
                  </m:oMath>
                </a14:m>
                <a:r>
                  <a:rPr sz="2400">
                    <a:solidFill>
                      <a:srgbClr val="1E293B"/>
                    </a:solidFill>
                    <a:latin typeface="Calibri"/>
                  </a:rPr>
                  <a:t>.    C. </a:t>
                </a:r>
                <a14:m>
                  <m:oMath xmlns:m="http://schemas.openxmlformats.org/officeDocument/2006/math">
                    <m:d>
                      <m:dPr>
                        <m:sepChr m:val=""/>
                      </m:dPr>
                      <m:e>
                        <m:r>
                          <a:rPr lang="vi-VN" sz="2400" b="0">
                            <a:solidFill>
                              <a:srgbClr val="1E293B"/>
                            </a:solidFill>
                            <a:latin typeface="Cambria Math" panose="02040503050406030204" pitchFamily="18" charset="0"/>
                          </a:rPr>
                          <m:t>2</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e>
                    </m:d>
                  </m:oMath>
                </a14:m>
                <a:r>
                  <a:rPr sz="2400">
                    <a:solidFill>
                      <a:srgbClr val="1E293B"/>
                    </a:solidFill>
                    <a:latin typeface="Calibri"/>
                  </a:rPr>
                  <a:t>.    D. </a:t>
                </a:r>
                <a14:m>
                  <m:oMath xmlns:m="http://schemas.openxmlformats.org/officeDocument/2006/math">
                    <m:d>
                      <m:dPr>
                        <m:sepChr m:val=""/>
                      </m:dPr>
                      <m:e>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m:t>
                        </m:r>
                      </m:e>
                    </m:d>
                  </m:oMath>
                </a14:m>
                <a:r>
                  <a:rPr sz="2400">
                    <a:solidFill>
                      <a:srgbClr val="1E293B"/>
                    </a:solidFill>
                    <a:latin typeface="Calibri"/>
                  </a:rPr>
                  <a:t>.</a:t>
                </a:r>
              </a:p>
              <a:p>
                <a:pPr algn="l">
                  <a:spcAft>
                    <a:spcPts val="800"/>
                  </a:spcAft>
                </a:pPr>
                <a:r>
                  <a:rPr sz="2400" b="1">
                    <a:solidFill>
                      <a:srgbClr val="1E40AF"/>
                    </a:solidFill>
                    <a:latin typeface="Calibri"/>
                  </a:rPr>
                  <a:t>Gợi mở: Xét dấu </a:t>
                </a:r>
                <a14:m>
                  <m:oMath xmlns:m="http://schemas.openxmlformats.org/officeDocument/2006/math">
                    <m:sSup>
                      <m:e>
                        <m:r>
                          <a:rPr lang="vi-VN" sz="2400" b="1">
                            <a:solidFill>
                              <a:srgbClr val="1E40AF"/>
                            </a:solidFill>
                            <a:latin typeface="Cambria Math" panose="02040503050406030204" pitchFamily="18" charset="0"/>
                          </a:rPr>
                          <m:t>y</m:t>
                        </m:r>
                      </m:e>
                      <m:sup>
                        <m:r>
                          <a:rPr lang="vi-VN" sz="2400" b="1">
                            <a:solidFill>
                              <a:srgbClr val="1E40AF"/>
                            </a:solidFill>
                            <a:latin typeface="Cambria Math" panose="02040503050406030204" pitchFamily="18" charset="0"/>
                          </a:rPr>
                          <m:t>′</m:t>
                        </m:r>
                      </m:sup>
                    </m:sSup>
                  </m:oMath>
                </a14:m>
              </a:p>
            </p:txBody>
          </p:sp>
        </mc:Choice>
        <mc:Fallback>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Câu 1 (Bài 1 – Biết).</a:t>
                </a:r>
                <a:r>
                  <a:rPr sz="2400">
                    <a:solidFill>
                      <a:srgbClr val="1E293B"/>
                    </a:solidFill>
                    <a:latin typeface="Calibri"/>
                  </a:rPr>
                  <a:t> Hàm số </a:t>
                </a:r>
                <a:r>
                  <a:rPr lang="vi-VN"/>
                  <a:t>y=x^3−3x^2</a:t>
                </a:r>
                <a:r>
                  <a:rPr sz="2400">
                    <a:solidFill>
                      <a:srgbClr val="1E293B"/>
                    </a:solidFill>
                    <a:latin typeface="Calibri"/>
                  </a:rPr>
                  <a:t> nghịch biến trên khoảng nào dưới đây?</a:t>
                </a:r>
              </a:p>
              <a:p>
                <a:pPr algn="l">
                  <a:spcAft>
                    <a:spcPts val="800"/>
                  </a:spcAft>
                </a:pPr>
                <a:r>
                  <a:rPr sz="2400">
                    <a:solidFill>
                      <a:srgbClr val="1E293B"/>
                    </a:solidFill>
                    <a:latin typeface="Calibri"/>
                  </a:rPr>
                  <a:t>A. </a:t>
                </a:r>
                <a:r>
                  <a:rPr lang="vi-VN"/>
                  <a:t>(-\infty;0)</a:t>
                </a:r>
                <a:r>
                  <a:rPr sz="2400">
                    <a:solidFill>
                      <a:srgbClr val="1E293B"/>
                    </a:solidFill>
                    <a:latin typeface="Calibri"/>
                  </a:rPr>
                  <a:t>.    B. </a:t>
                </a:r>
                <a:r>
                  <a:rPr lang="vi-VN"/>
                  <a:t>(0;2)</a:t>
                </a:r>
                <a:r>
                  <a:rPr sz="2400">
                    <a:solidFill>
                      <a:srgbClr val="1E293B"/>
                    </a:solidFill>
                    <a:latin typeface="Calibri"/>
                  </a:rPr>
                  <a:t>.    C. </a:t>
                </a:r>
                <a:r>
                  <a:rPr lang="vi-VN"/>
                  <a:t>(2;+\infty)</a:t>
                </a:r>
                <a:r>
                  <a:rPr sz="2400">
                    <a:solidFill>
                      <a:srgbClr val="1E293B"/>
                    </a:solidFill>
                    <a:latin typeface="Calibri"/>
                  </a:rPr>
                  <a:t>.    D. </a:t>
                </a:r>
                <a:r>
                  <a:rPr lang="vi-VN"/>
                  <a:t>(-2;0)</a:t>
                </a:r>
                <a:r>
                  <a:rPr sz="2400">
                    <a:solidFill>
                      <a:srgbClr val="1E293B"/>
                    </a:solidFill>
                    <a:latin typeface="Calibri"/>
                  </a:rPr>
                  <a:t>.</a:t>
                </a:r>
              </a:p>
              <a:p>
                <a:pPr algn="l">
                  <a:spcAft>
                    <a:spcPts val="800"/>
                  </a:spcAft>
                </a:pPr>
                <a:r>
                  <a:rPr sz="2400" b="1">
                    <a:solidFill>
                      <a:srgbClr val="1E40AF"/>
                    </a:solidFill>
                    <a:latin typeface="Calibri"/>
                  </a:rPr>
                  <a:t>Gợi mở: Xét dấu </a:t>
                </a:r>
                <a:r>
                  <a:rPr lang="vi-VN"/>
                  <a:t>y'</a:t>
                </a: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CÂU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=3</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−6x=3x(x−2)</m:t>
                    </m:r>
                  </m:oMath>
                </a14:m>
              </a:p>
              <a:p>
                <a:pPr algn="l" marL="365760" indent="-365760">
                  <a:spcAft>
                    <a:spcPts val="800"/>
                  </a:spcAft>
                  <a:buClr>
                    <a:srgbClr val="1E40AF"/>
                  </a:buClr>
                  <a:buFont typeface="Arial"/>
                  <a:buChar char="•"/>
                </a:pP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&lt;0⇔0&lt;x&lt;2</m:t>
                    </m:r>
                  </m:oMath>
                </a14:m>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y'=3x^2-6x=3x(x-2)</a:t>
                </a:r>
              </a:p>
              <a:p>
                <a:pPr algn="l" marL="365760" indent="-365760">
                  <a:spcAft>
                    <a:spcPts val="800"/>
                  </a:spcAft>
                  <a:buClr>
                    <a:srgbClr val="1E40AF"/>
                  </a:buClr>
                  <a:buFont typeface="Arial"/>
                  <a:buChar char="•"/>
                </a:pPr>
                <a:r>
                  <a:rPr lang="vi-VN"/>
                  <a:t>y'&lt;0\Leftrightarrow 0&lt;x&lt;2</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Chọn 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CÂU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Câu 2 (Bài 1 – Biết).</a:t>
                </a:r>
                <a:r>
                  <a:rPr sz="2400">
                    <a:solidFill>
                      <a:srgbClr val="1E293B"/>
                    </a:solidFill>
                    <a:latin typeface="Calibri"/>
                  </a:rPr>
                  <a:t> Điểm cực đại của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y=</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3</m:t>
                        </m:r>
                      </m:sup>
                    </m:sSup>
                    <m:r>
                      <a:rPr lang="vi-VN" sz="2400" b="0">
                        <a:solidFill>
                          <a:srgbClr val="1E293B"/>
                        </a:solidFill>
                        <a:latin typeface="Cambria Math" panose="02040503050406030204" pitchFamily="18" charset="0"/>
                      </a:rPr>
                      <m:t>−3x+2</m:t>
                    </m:r>
                  </m:oMath>
                </a14:m>
                <a:r>
                  <a:rPr sz="2400">
                    <a:solidFill>
                      <a:srgbClr val="1E293B"/>
                    </a:solidFill>
                    <a:latin typeface="Calibri"/>
                  </a:rPr>
                  <a:t> là</a:t>
                </a:r>
              </a:p>
              <a:p>
                <a:pPr algn="l">
                  <a:spcAft>
                    <a:spcPts val="800"/>
                  </a:spcAft>
                </a:pPr>
                <a:r>
                  <a:rPr sz="2400">
                    <a:solidFill>
                      <a:srgbClr val="1E293B"/>
                    </a:solidFill>
                    <a:latin typeface="Calibri"/>
                  </a:rPr>
                  <a:t>A. </a:t>
                </a:r>
                <a14:m>
                  <m:oMath xmlns:m="http://schemas.openxmlformats.org/officeDocument/2006/math">
                    <m:r>
                      <a:rPr lang="vi-VN" sz="2400" b="0">
                        <a:solidFill>
                          <a:srgbClr val="1E293B"/>
                        </a:solidFill>
                        <a:latin typeface="Cambria Math" panose="02040503050406030204" pitchFamily="18" charset="0"/>
                      </a:rPr>
                      <m:t>x=4</m:t>
                    </m:r>
                  </m:oMath>
                </a14:m>
                <a:r>
                  <a:rPr sz="2400">
                    <a:solidFill>
                      <a:srgbClr val="1E293B"/>
                    </a:solidFill>
                    <a:latin typeface="Calibri"/>
                  </a:rPr>
                  <a:t>.    B. </a:t>
                </a:r>
                <a14:m>
                  <m:oMath xmlns:m="http://schemas.openxmlformats.org/officeDocument/2006/math">
                    <m:r>
                      <a:rPr lang="vi-VN" sz="2400" b="0">
                        <a:solidFill>
                          <a:srgbClr val="1E293B"/>
                        </a:solidFill>
                        <a:latin typeface="Cambria Math" panose="02040503050406030204" pitchFamily="18" charset="0"/>
                      </a:rPr>
                      <m:t>x=1</m:t>
                    </m:r>
                  </m:oMath>
                </a14:m>
                <a:r>
                  <a:rPr sz="2400">
                    <a:solidFill>
                      <a:srgbClr val="1E293B"/>
                    </a:solidFill>
                    <a:latin typeface="Calibri"/>
                  </a:rPr>
                  <a:t>.    C. </a:t>
                </a:r>
                <a14:m>
                  <m:oMath xmlns:m="http://schemas.openxmlformats.org/officeDocument/2006/math">
                    <m:r>
                      <a:rPr lang="vi-VN" sz="2400" b="0">
                        <a:solidFill>
                          <a:srgbClr val="1E293B"/>
                        </a:solidFill>
                        <a:latin typeface="Cambria Math" panose="02040503050406030204" pitchFamily="18" charset="0"/>
                      </a:rPr>
                      <m:t>x=−1</m:t>
                    </m:r>
                  </m:oMath>
                </a14:m>
                <a:r>
                  <a:rPr sz="2400">
                    <a:solidFill>
                      <a:srgbClr val="1E293B"/>
                    </a:solidFill>
                    <a:latin typeface="Calibri"/>
                  </a:rPr>
                  <a:t>.    D. </a:t>
                </a:r>
                <a14:m>
                  <m:oMath xmlns:m="http://schemas.openxmlformats.org/officeDocument/2006/math">
                    <m:r>
                      <a:rPr lang="vi-VN" sz="2400" b="0">
                        <a:solidFill>
                          <a:srgbClr val="1E293B"/>
                        </a:solidFill>
                        <a:latin typeface="Cambria Math" panose="02040503050406030204" pitchFamily="18" charset="0"/>
                      </a:rPr>
                      <m:t>x=0</m:t>
                    </m:r>
                  </m:oMath>
                </a14:m>
                <a:r>
                  <a:rPr sz="2400">
                    <a:solidFill>
                      <a:srgbClr val="1E293B"/>
                    </a:solidFill>
                    <a:latin typeface="Calibri"/>
                  </a:rPr>
                  <a:t>.</a:t>
                </a:r>
              </a:p>
              <a:p>
                <a:pPr algn="l">
                  <a:spcAft>
                    <a:spcPts val="800"/>
                  </a:spcAft>
                </a:pPr>
                <a:r>
                  <a:rPr sz="2400" b="1">
                    <a:solidFill>
                      <a:srgbClr val="1E40AF"/>
                    </a:solidFill>
                    <a:latin typeface="Calibri"/>
                  </a:rPr>
                  <a:t>Gợi mở: Điểm cực đại là giá trị </a:t>
                </a:r>
                <a14:m>
                  <m:oMath xmlns:m="http://schemas.openxmlformats.org/officeDocument/2006/math">
                    <m:r>
                      <a:rPr lang="vi-VN" sz="2400" b="1">
                        <a:solidFill>
                          <a:srgbClr val="1E40AF"/>
                        </a:solidFill>
                        <a:latin typeface="Cambria Math" panose="02040503050406030204" pitchFamily="18" charset="0"/>
                      </a:rPr>
                      <m:t>x</m:t>
                    </m:r>
                  </m:oMath>
                </a14:m>
                <a:r>
                  <a:rPr sz="2400" b="1">
                    <a:solidFill>
                      <a:srgbClr val="1E40AF"/>
                    </a:solidFill>
                    <a:latin typeface="Calibri"/>
                  </a:rPr>
                  <a:t>, không phải giá trị </a:t>
                </a:r>
                <a14:m>
                  <m:oMath xmlns:m="http://schemas.openxmlformats.org/officeDocument/2006/math">
                    <m:r>
                      <a:rPr lang="vi-VN" sz="2400" b="1">
                        <a:solidFill>
                          <a:srgbClr val="1E40AF"/>
                        </a:solidFill>
                        <a:latin typeface="Cambria Math" panose="02040503050406030204" pitchFamily="18" charset="0"/>
                      </a:rPr>
                      <m:t>y</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Câu 2 (Bài 1 – Biết).</a:t>
                </a:r>
                <a:r>
                  <a:rPr sz="2400">
                    <a:solidFill>
                      <a:srgbClr val="1E293B"/>
                    </a:solidFill>
                    <a:latin typeface="Calibri"/>
                  </a:rPr>
                  <a:t> Điểm cực đại của hàm số </a:t>
                </a:r>
                <a:r>
                  <a:rPr lang="vi-VN"/>
                  <a:t>y=x^3−3x+2</a:t>
                </a:r>
                <a:r>
                  <a:rPr sz="2400">
                    <a:solidFill>
                      <a:srgbClr val="1E293B"/>
                    </a:solidFill>
                    <a:latin typeface="Calibri"/>
                  </a:rPr>
                  <a:t> là</a:t>
                </a:r>
              </a:p>
              <a:p>
                <a:pPr algn="l">
                  <a:spcAft>
                    <a:spcPts val="800"/>
                  </a:spcAft>
                </a:pPr>
                <a:r>
                  <a:rPr sz="2400">
                    <a:solidFill>
                      <a:srgbClr val="1E293B"/>
                    </a:solidFill>
                    <a:latin typeface="Calibri"/>
                  </a:rPr>
                  <a:t>A. </a:t>
                </a:r>
                <a:r>
                  <a:rPr lang="vi-VN"/>
                  <a:t>x=4</a:t>
                </a:r>
                <a:r>
                  <a:rPr sz="2400">
                    <a:solidFill>
                      <a:srgbClr val="1E293B"/>
                    </a:solidFill>
                    <a:latin typeface="Calibri"/>
                  </a:rPr>
                  <a:t>.    B. </a:t>
                </a:r>
                <a:r>
                  <a:rPr lang="vi-VN"/>
                  <a:t>x=1</a:t>
                </a:r>
                <a:r>
                  <a:rPr sz="2400">
                    <a:solidFill>
                      <a:srgbClr val="1E293B"/>
                    </a:solidFill>
                    <a:latin typeface="Calibri"/>
                  </a:rPr>
                  <a:t>.    C. </a:t>
                </a:r>
                <a:r>
                  <a:rPr lang="vi-VN"/>
                  <a:t>x=-1</a:t>
                </a:r>
                <a:r>
                  <a:rPr sz="2400">
                    <a:solidFill>
                      <a:srgbClr val="1E293B"/>
                    </a:solidFill>
                    <a:latin typeface="Calibri"/>
                  </a:rPr>
                  <a:t>.    D. </a:t>
                </a:r>
                <a:r>
                  <a:rPr lang="vi-VN"/>
                  <a:t>x=0</a:t>
                </a:r>
                <a:r>
                  <a:rPr sz="2400">
                    <a:solidFill>
                      <a:srgbClr val="1E293B"/>
                    </a:solidFill>
                    <a:latin typeface="Calibri"/>
                  </a:rPr>
                  <a:t>.</a:t>
                </a:r>
              </a:p>
              <a:p>
                <a:pPr algn="l">
                  <a:spcAft>
                    <a:spcPts val="800"/>
                  </a:spcAft>
                </a:pPr>
                <a:r>
                  <a:rPr sz="2400" b="1">
                    <a:solidFill>
                      <a:srgbClr val="1E40AF"/>
                    </a:solidFill>
                    <a:latin typeface="Calibri"/>
                  </a:rPr>
                  <a:t>Gợi mở: Điểm cực đại là giá trị </a:t>
                </a:r>
                <a:r>
                  <a:rPr lang="vi-VN"/>
                  <a:t>x</a:t>
                </a:r>
                <a:r>
                  <a:rPr sz="2400" b="1">
                    <a:solidFill>
                      <a:srgbClr val="1E40AF"/>
                    </a:solidFill>
                    <a:latin typeface="Calibri"/>
                  </a:rPr>
                  <a:t>, không phải giá trị </a:t>
                </a:r>
                <a:r>
                  <a:rPr lang="vi-VN"/>
                  <a:t>y</a:t>
                </a:r>
              </a:p>
            </p:txBody>
          </p:sp>
        </mc:Fallback>
      </mc:AlternateContent>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CÂU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10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=3</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−3=0⇔x=±1</m:t>
                    </m:r>
                  </m:oMath>
                </a14:m>
              </a:p>
              <a:p>
                <a:pPr algn="l" marL="365760" indent="-365760">
                  <a:spcAft>
                    <a:spcPts val="800"/>
                  </a:spcAft>
                  <a:buClr>
                    <a:srgbClr val="1E40AF"/>
                  </a:buClr>
                  <a:buFont typeface="Arial"/>
                  <a:buChar char="•"/>
                </a:pP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=6x</m:t>
                    </m:r>
                  </m:oMath>
                </a14:m>
                <a:r>
                  <a:rPr sz="2400">
                    <a:solidFill>
                      <a:srgbClr val="1E293B"/>
                    </a:solidFill>
                    <a:latin typeface="Calibri"/>
                  </a:rPr>
                  <a:t>, </a:t>
                </a: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(−1)=−6&lt;0</m:t>
                    </m:r>
                  </m:oMath>
                </a14:m>
                <a:r>
                  <a:rPr sz="2400">
                    <a:solidFill>
                      <a:srgbClr val="1E293B"/>
                    </a:solidFill>
                    <a:latin typeface="Calibri"/>
                  </a:rPr>
                  <a:t> ⇒ </a:t>
                </a:r>
                <a14:m>
                  <m:oMath xmlns:m="http://schemas.openxmlformats.org/officeDocument/2006/math">
                    <m:r>
                      <a:rPr lang="vi-VN" sz="2400" b="0">
                        <a:solidFill>
                          <a:srgbClr val="1E293B"/>
                        </a:solidFill>
                        <a:latin typeface="Cambria Math" panose="02040503050406030204" pitchFamily="18" charset="0"/>
                      </a:rPr>
                      <m:t>x=−1</m:t>
                    </m:r>
                  </m:oMath>
                </a14:m>
                <a:r>
                  <a:rPr sz="2400">
                    <a:solidFill>
                      <a:srgbClr val="1E293B"/>
                    </a:solidFill>
                    <a:latin typeface="Calibri"/>
                  </a:rPr>
                  <a:t> là điểm cực đại</a:t>
                </a:r>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y</m:t>
                        </m:r>
                      </m:e>
                      <m:sub>
                        <m:r>
                          <a:rPr lang="vi-VN" sz="2400" b="0">
                            <a:solidFill>
                              <a:srgbClr val="1E293B"/>
                            </a:solidFill>
                            <a:latin typeface="Cambria Math" panose="02040503050406030204" pitchFamily="18" charset="0"/>
                          </a:rPr>
                          <m:t>CĐ</m:t>
                        </m:r>
                      </m:sub>
                    </m:sSub>
                    <m:r>
                      <a:rPr lang="vi-VN" sz="2400" b="0">
                        <a:solidFill>
                          <a:srgbClr val="1E293B"/>
                        </a:solidFill>
                        <a:latin typeface="Cambria Math" panose="02040503050406030204" pitchFamily="18" charset="0"/>
                      </a:rPr>
                      <m:t>=y(−1)=4</m:t>
                    </m:r>
                  </m:oMath>
                </a14:m>
                <a:r>
                  <a:rPr sz="2400">
                    <a:solidFill>
                      <a:srgbClr val="1E293B"/>
                    </a:solidFill>
                    <a:latin typeface="Calibri"/>
                  </a:rPr>
                  <a:t> (phương án </a:t>
                </a:r>
                <a14:m>
                  <m:oMath xmlns:m="http://schemas.openxmlformats.org/officeDocument/2006/math">
                    <m:r>
                      <a:rPr lang="vi-VN" sz="2400" b="0">
                        <a:solidFill>
                          <a:srgbClr val="1E293B"/>
                        </a:solidFill>
                        <a:latin typeface="Cambria Math" panose="02040503050406030204" pitchFamily="18" charset="0"/>
                      </a:rPr>
                      <m:t>x=4</m:t>
                    </m:r>
                  </m:oMath>
                </a14:m>
                <a:r>
                  <a:rPr sz="2400">
                    <a:solidFill>
                      <a:srgbClr val="1E293B"/>
                    </a:solidFill>
                    <a:latin typeface="Calibri"/>
                  </a:rPr>
                  <a:t> là nhiễu)</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y'=3x^2-3=0\Leftrightarrow x=\pm 1</a:t>
                </a:r>
              </a:p>
              <a:p>
                <a:pPr algn="l" marL="365760" indent="-365760">
                  <a:spcAft>
                    <a:spcPts val="800"/>
                  </a:spcAft>
                  <a:buClr>
                    <a:srgbClr val="1E40AF"/>
                  </a:buClr>
                  <a:buFont typeface="Arial"/>
                  <a:buChar char="•"/>
                </a:pPr>
                <a:r>
                  <a:rPr lang="vi-VN"/>
                  <a:t>y''=6x</a:t>
                </a:r>
                <a:r>
                  <a:rPr sz="2400">
                    <a:solidFill>
                      <a:srgbClr val="1E293B"/>
                    </a:solidFill>
                    <a:latin typeface="Calibri"/>
                  </a:rPr>
                  <a:t>, </a:t>
                </a:r>
                <a:r>
                  <a:rPr lang="vi-VN"/>
                  <a:t>y''(-1)=-6&lt;0</a:t>
                </a:r>
                <a:r>
                  <a:rPr sz="2400">
                    <a:solidFill>
                      <a:srgbClr val="1E293B"/>
                    </a:solidFill>
                    <a:latin typeface="Calibri"/>
                  </a:rPr>
                  <a:t> ⇒ </a:t>
                </a:r>
                <a:r>
                  <a:rPr lang="vi-VN"/>
                  <a:t>x=-1</a:t>
                </a:r>
                <a:r>
                  <a:rPr sz="2400">
                    <a:solidFill>
                      <a:srgbClr val="1E293B"/>
                    </a:solidFill>
                    <a:latin typeface="Calibri"/>
                  </a:rPr>
                  <a:t> là điểm cực đại</a:t>
                </a:r>
              </a:p>
              <a:p>
                <a:pPr algn="l" marL="365760" indent="-365760">
                  <a:spcAft>
                    <a:spcPts val="800"/>
                  </a:spcAft>
                  <a:buClr>
                    <a:srgbClr val="1E40AF"/>
                  </a:buClr>
                  <a:buFont typeface="Arial"/>
                  <a:buChar char="•"/>
                </a:pPr>
                <a:r>
                  <a:rPr lang="vi-VN"/>
                  <a:t>y_{CĐ}=y(-1)=4</a:t>
                </a:r>
                <a:r>
                  <a:rPr sz="2400">
                    <a:solidFill>
                      <a:srgbClr val="1E293B"/>
                    </a:solidFill>
                    <a:latin typeface="Calibri"/>
                  </a:rPr>
                  <a:t> (phương án </a:t>
                </a:r>
                <a:r>
                  <a:rPr lang="vi-VN"/>
                  <a:t>x=4</a:t>
                </a:r>
                <a:r>
                  <a:rPr sz="2400">
                    <a:solidFill>
                      <a:srgbClr val="1E293B"/>
                    </a:solidFill>
                    <a:latin typeface="Calibri"/>
                  </a:rPr>
                  <a:t> là nhiễu)</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Chọn 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CÂU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11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Câu 3 (Bài 2 – Biết).</a:t>
                </a:r>
                <a:r>
                  <a:rPr sz="2400">
                    <a:solidFill>
                      <a:srgbClr val="1E293B"/>
                    </a:solidFill>
                    <a:latin typeface="Calibri"/>
                  </a:rPr>
                  <a:t> Giá trị nhỏ nhất của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y=</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4</m:t>
                        </m:r>
                      </m:sup>
                    </m:sSup>
                    <m:r>
                      <a:rPr lang="vi-VN" sz="2400" b="0">
                        <a:solidFill>
                          <a:srgbClr val="1E293B"/>
                        </a:solidFill>
                        <a:latin typeface="Cambria Math" panose="02040503050406030204" pitchFamily="18" charset="0"/>
                      </a:rPr>
                      <m:t>−2</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+3</m:t>
                    </m:r>
                  </m:oMath>
                </a14:m>
                <a:r>
                  <a:rPr sz="2400">
                    <a:solidFill>
                      <a:srgbClr val="1E293B"/>
                    </a:solidFill>
                    <a:latin typeface="Calibri"/>
                  </a:rPr>
                  <a:t> trên đoạn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begChr m:val="["/>
                        <m:sepChr m:val=""/>
                        <m:endChr m:val="]"/>
                      </m:dPr>
                      <m:e>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e>
                    </m:d>
                  </m:oMath>
                </a14:m>
                <a:r>
                  <a:rPr sz="2400">
                    <a:solidFill>
                      <a:srgbClr val="1E293B"/>
                    </a:solidFill>
                    <a:latin typeface="Calibri"/>
                  </a:rPr>
                  <a:t> là</a:t>
                </a:r>
              </a:p>
              <a:p>
                <a:pPr algn="l">
                  <a:spcAft>
                    <a:spcPts val="800"/>
                  </a:spcAft>
                </a:pPr>
                <a:r>
                  <a:rPr sz="2400">
                    <a:solidFill>
                      <a:srgbClr val="1E293B"/>
                    </a:solidFill>
                    <a:latin typeface="Calibri"/>
                  </a:rPr>
                  <a:t>A. </a:t>
                </a:r>
                <a14:m>
                  <m:oMath xmlns:m="http://schemas.openxmlformats.org/officeDocument/2006/math">
                    <m:r>
                      <a:rPr lang="vi-VN" sz="2400" b="0">
                        <a:solidFill>
                          <a:srgbClr val="1E293B"/>
                        </a:solidFill>
                        <a:latin typeface="Cambria Math" panose="02040503050406030204" pitchFamily="18" charset="0"/>
                      </a:rPr>
                      <m:t>2</m:t>
                    </m:r>
                  </m:oMath>
                </a14:m>
                <a:r>
                  <a:rPr sz="2400">
                    <a:solidFill>
                      <a:srgbClr val="1E293B"/>
                    </a:solidFill>
                    <a:latin typeface="Calibri"/>
                  </a:rPr>
                  <a:t>.    B. </a:t>
                </a:r>
                <a14:m>
                  <m:oMath xmlns:m="http://schemas.openxmlformats.org/officeDocument/2006/math">
                    <m:r>
                      <a:rPr lang="vi-VN" sz="2400" b="0">
                        <a:solidFill>
                          <a:srgbClr val="1E293B"/>
                        </a:solidFill>
                        <a:latin typeface="Cambria Math" panose="02040503050406030204" pitchFamily="18" charset="0"/>
                      </a:rPr>
                      <m:t>3</m:t>
                    </m:r>
                  </m:oMath>
                </a14:m>
                <a:r>
                  <a:rPr sz="2400">
                    <a:solidFill>
                      <a:srgbClr val="1E293B"/>
                    </a:solidFill>
                    <a:latin typeface="Calibri"/>
                  </a:rPr>
                  <a:t>.    C. </a:t>
                </a:r>
                <a14:m>
                  <m:oMath xmlns:m="http://schemas.openxmlformats.org/officeDocument/2006/math">
                    <m:r>
                      <a:rPr lang="vi-VN" sz="2400" b="0">
                        <a:solidFill>
                          <a:srgbClr val="1E293B"/>
                        </a:solidFill>
                        <a:latin typeface="Cambria Math" panose="02040503050406030204" pitchFamily="18" charset="0"/>
                      </a:rPr>
                      <m:t>11</m:t>
                    </m:r>
                  </m:oMath>
                </a14:m>
                <a:r>
                  <a:rPr sz="2400">
                    <a:solidFill>
                      <a:srgbClr val="1E293B"/>
                    </a:solidFill>
                    <a:latin typeface="Calibri"/>
                  </a:rPr>
                  <a:t>.    D. </a:t>
                </a:r>
                <a14:m>
                  <m:oMath xmlns:m="http://schemas.openxmlformats.org/officeDocument/2006/math">
                    <m:r>
                      <a:rPr lang="vi-VN" sz="2400" b="0">
                        <a:solidFill>
                          <a:srgbClr val="1E293B"/>
                        </a:solidFill>
                        <a:latin typeface="Cambria Math" panose="02040503050406030204" pitchFamily="18" charset="0"/>
                      </a:rPr>
                      <m:t>1</m:t>
                    </m:r>
                  </m:oMath>
                </a14:m>
                <a:r>
                  <a:rPr sz="2400">
                    <a:solidFill>
                      <a:srgbClr val="1E293B"/>
                    </a:solidFill>
                    <a:latin typeface="Calibri"/>
                  </a:rPr>
                  <a:t>.</a:t>
                </a:r>
              </a:p>
              <a:p>
                <a:pPr algn="l">
                  <a:spcAft>
                    <a:spcPts val="800"/>
                  </a:spcAft>
                </a:pPr>
                <a:r>
                  <a:rPr sz="2400" b="1">
                    <a:solidFill>
                      <a:srgbClr val="1E40AF"/>
                    </a:solidFill>
                    <a:latin typeface="Calibri"/>
                  </a:rPr>
                  <a:t>Gợi mở: So sánh giá trị tại điểm tới hạn và hai đầu mút</a:t>
                </a:r>
              </a:p>
            </p:txBody>
          </p:sp>
        </mc:Choice>
        <mc:Fallback>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Câu 3 (Bài 2 – Biết).</a:t>
                </a:r>
                <a:r>
                  <a:rPr sz="2400">
                    <a:solidFill>
                      <a:srgbClr val="1E293B"/>
                    </a:solidFill>
                    <a:latin typeface="Calibri"/>
                  </a:rPr>
                  <a:t> Giá trị nhỏ nhất của hàm số </a:t>
                </a:r>
                <a:r>
                  <a:rPr lang="vi-VN"/>
                  <a:t>y=x^4−2x^2+3</a:t>
                </a:r>
                <a:r>
                  <a:rPr sz="2400">
                    <a:solidFill>
                      <a:srgbClr val="1E293B"/>
                    </a:solidFill>
                    <a:latin typeface="Calibri"/>
                  </a:rPr>
                  <a:t> trên đoạn </a:t>
                </a:r>
                <a:r>
                  <a:rPr lang="vi-VN"/>
                  <a:t>[0;2]</a:t>
                </a:r>
                <a:r>
                  <a:rPr sz="2400">
                    <a:solidFill>
                      <a:srgbClr val="1E293B"/>
                    </a:solidFill>
                    <a:latin typeface="Calibri"/>
                  </a:rPr>
                  <a:t> là</a:t>
                </a:r>
              </a:p>
              <a:p>
                <a:pPr algn="l">
                  <a:spcAft>
                    <a:spcPts val="800"/>
                  </a:spcAft>
                </a:pPr>
                <a:r>
                  <a:rPr sz="2400">
                    <a:solidFill>
                      <a:srgbClr val="1E293B"/>
                    </a:solidFill>
                    <a:latin typeface="Calibri"/>
                  </a:rPr>
                  <a:t>A. </a:t>
                </a:r>
                <a:r>
                  <a:rPr lang="vi-VN"/>
                  <a:t>2</a:t>
                </a:r>
                <a:r>
                  <a:rPr sz="2400">
                    <a:solidFill>
                      <a:srgbClr val="1E293B"/>
                    </a:solidFill>
                    <a:latin typeface="Calibri"/>
                  </a:rPr>
                  <a:t>.    B. </a:t>
                </a:r>
                <a:r>
                  <a:rPr lang="vi-VN"/>
                  <a:t>3</a:t>
                </a:r>
                <a:r>
                  <a:rPr sz="2400">
                    <a:solidFill>
                      <a:srgbClr val="1E293B"/>
                    </a:solidFill>
                    <a:latin typeface="Calibri"/>
                  </a:rPr>
                  <a:t>.    C. </a:t>
                </a:r>
                <a:r>
                  <a:rPr lang="vi-VN"/>
                  <a:t>11</a:t>
                </a:r>
                <a:r>
                  <a:rPr sz="2400">
                    <a:solidFill>
                      <a:srgbClr val="1E293B"/>
                    </a:solidFill>
                    <a:latin typeface="Calibri"/>
                  </a:rPr>
                  <a:t>.    D. </a:t>
                </a:r>
                <a:r>
                  <a:rPr lang="vi-VN"/>
                  <a:t>1</a:t>
                </a:r>
                <a:r>
                  <a:rPr sz="2400">
                    <a:solidFill>
                      <a:srgbClr val="1E293B"/>
                    </a:solidFill>
                    <a:latin typeface="Calibri"/>
                  </a:rPr>
                  <a:t>.</a:t>
                </a:r>
              </a:p>
              <a:p>
                <a:pPr algn="l">
                  <a:spcAft>
                    <a:spcPts val="800"/>
                  </a:spcAft>
                </a:pPr>
                <a:r>
                  <a:rPr sz="2400" b="1">
                    <a:solidFill>
                      <a:srgbClr val="1E40AF"/>
                    </a:solidFill>
                    <a:latin typeface="Calibri"/>
                  </a:rPr>
                  <a:t>Gợi mở: So sánh giá trị tại điểm tới hạn và hai đầu mút</a:t>
                </a:r>
              </a:p>
            </p:txBody>
          </p:sp>
        </mc:Fallback>
      </mc:AlternateContent>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CÂU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12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=4</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3</m:t>
                        </m:r>
                      </m:sup>
                    </m:sSup>
                    <m:r>
                      <a:rPr lang="vi-VN" sz="2400" b="0">
                        <a:solidFill>
                          <a:srgbClr val="1E293B"/>
                        </a:solidFill>
                        <a:latin typeface="Cambria Math" panose="02040503050406030204" pitchFamily="18" charset="0"/>
                      </a:rPr>
                      <m:t>−4x=4x(x−1)(x+1)</m:t>
                    </m:r>
                  </m:oMath>
                </a14:m>
                <a:r>
                  <a:rPr sz="2400">
                    <a:solidFill>
                      <a:srgbClr val="1E293B"/>
                    </a:solidFill>
                    <a:latin typeface="Calibri"/>
                  </a:rPr>
                  <a:t>; trên </a:t>
                </a:r>
                <a14:m>
                  <m:oMath xmlns:m="http://schemas.openxmlformats.org/officeDocument/2006/math">
                    <m:d>
                      <m:dPr>
                        <m:begChr m:val="["/>
                        <m:sepChr m:val=""/>
                        <m:endChr m:val="]"/>
                      </m:dPr>
                      <m:e>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e>
                    </m:d>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x=0</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x=1</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y(0)=3</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y(1)=2</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y(2)=11</m:t>
                    </m:r>
                  </m:oMath>
                </a14:m>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y'=4x^3-4x=4x(x-1)(x+1)</a:t>
                </a:r>
                <a:r>
                  <a:rPr sz="2400">
                    <a:solidFill>
                      <a:srgbClr val="1E293B"/>
                    </a:solidFill>
                    <a:latin typeface="Calibri"/>
                  </a:rPr>
                  <a:t>; trên </a:t>
                </a:r>
                <a:r>
                  <a:rPr lang="vi-VN"/>
                  <a:t>[0;2]</a:t>
                </a:r>
                <a:r>
                  <a:rPr sz="2400">
                    <a:solidFill>
                      <a:srgbClr val="1E293B"/>
                    </a:solidFill>
                    <a:latin typeface="Calibri"/>
                  </a:rPr>
                  <a:t>: </a:t>
                </a:r>
                <a:r>
                  <a:rPr lang="vi-VN"/>
                  <a:t>x=0</a:t>
                </a:r>
                <a:r>
                  <a:rPr sz="2400">
                    <a:solidFill>
                      <a:srgbClr val="1E293B"/>
                    </a:solidFill>
                    <a:latin typeface="Calibri"/>
                  </a:rPr>
                  <a:t>, </a:t>
                </a:r>
                <a:r>
                  <a:rPr lang="vi-VN"/>
                  <a:t>x=1</a:t>
                </a:r>
              </a:p>
              <a:p>
                <a:pPr algn="l" marL="365760" indent="-365760">
                  <a:spcAft>
                    <a:spcPts val="800"/>
                  </a:spcAft>
                  <a:buClr>
                    <a:srgbClr val="1E40AF"/>
                  </a:buClr>
                  <a:buFont typeface="Arial"/>
                  <a:buChar char="•"/>
                </a:pPr>
                <a:r>
                  <a:rPr lang="vi-VN"/>
                  <a:t>y(0)=3</a:t>
                </a:r>
                <a:r>
                  <a:rPr sz="2400">
                    <a:solidFill>
                      <a:srgbClr val="1E293B"/>
                    </a:solidFill>
                    <a:latin typeface="Calibri"/>
                  </a:rPr>
                  <a:t>, </a:t>
                </a:r>
                <a:r>
                  <a:rPr lang="vi-VN"/>
                  <a:t>y(1)=2</a:t>
                </a:r>
                <a:r>
                  <a:rPr sz="2400">
                    <a:solidFill>
                      <a:srgbClr val="1E293B"/>
                    </a:solidFill>
                    <a:latin typeface="Calibri"/>
                  </a:rPr>
                  <a:t>, </a:t>
                </a:r>
                <a:r>
                  <a:rPr lang="vi-VN"/>
                  <a:t>y(2)=11</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r>
                      <a:rPr lang="vi-VN" sz="2400" b="1">
                        <a:solidFill>
                          <a:srgbClr val="991B1B"/>
                        </a:solidFill>
                        <a:latin typeface="Cambria Math" panose="02040503050406030204" pitchFamily="18" charset="0"/>
                      </a:rPr>
                      <m:t>miny=2</m:t>
                    </m:r>
                  </m:oMath>
                </a14:m>
                <a:r>
                  <a:rPr sz="2400" b="1">
                    <a:solidFill>
                      <a:srgbClr val="991B1B"/>
                    </a:solidFill>
                    <a:latin typeface="Calibri"/>
                  </a:rPr>
                  <a:t> – Chọn A</a:t>
                </a:r>
              </a:p>
            </p:txBody>
          </p:sp>
        </mc:Choice>
        <mc:Fallback>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\min y=2</a:t>
                </a:r>
                <a:r>
                  <a:rPr sz="2400" b="1">
                    <a:solidFill>
                      <a:srgbClr val="991B1B"/>
                    </a:solidFill>
                    <a:latin typeface="Calibri"/>
                  </a:rPr>
                  <a:t> – Chọn A</a:t>
                </a: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CÂU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13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27076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Câu 4 (Bài 3 – Biết).</a:t>
                </a:r>
                <a:r>
                  <a:rPr sz="2400">
                    <a:solidFill>
                      <a:srgbClr val="1E293B"/>
                    </a:solidFill>
                    <a:latin typeface="Calibri"/>
                  </a:rPr>
                  <a:t> Tiệm cận đứng của đồ thị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y=</m:t>
                    </m:r>
                    <m:f>
                      <m:fPr>
                        <m:type m:val="bar"/>
                      </m:fPr>
                      <m:num>
                        <m:r>
                          <a:rPr lang="vi-VN" sz="2400" b="0">
                            <a:solidFill>
                              <a:srgbClr val="1E293B"/>
                            </a:solidFill>
                            <a:latin typeface="Cambria Math" panose="02040503050406030204" pitchFamily="18" charset="0"/>
                          </a:rPr>
                          <m:t>2x+1</m:t>
                        </m:r>
                      </m:num>
                      <m:den>
                        <m:r>
                          <a:rPr lang="vi-VN" sz="2400" b="0">
                            <a:solidFill>
                              <a:srgbClr val="1E293B"/>
                            </a:solidFill>
                            <a:latin typeface="Cambria Math" panose="02040503050406030204" pitchFamily="18" charset="0"/>
                          </a:rPr>
                          <m:t>x−3</m:t>
                        </m:r>
                      </m:den>
                    </m:f>
                  </m:oMath>
                </a14:m>
                <a:r>
                  <a:rPr sz="2400">
                    <a:solidFill>
                      <a:srgbClr val="1E293B"/>
                    </a:solidFill>
                    <a:latin typeface="Calibri"/>
                  </a:rPr>
                  <a:t> là đường thẳng</a:t>
                </a:r>
              </a:p>
              <a:p>
                <a:pPr algn="l">
                  <a:spcAft>
                    <a:spcPts val="800"/>
                  </a:spcAft>
                </a:pPr>
                <a:r>
                  <a:rPr sz="2400">
                    <a:solidFill>
                      <a:srgbClr val="1E293B"/>
                    </a:solidFill>
                    <a:latin typeface="Calibri"/>
                  </a:rPr>
                  <a:t>A. </a:t>
                </a:r>
                <a14:m>
                  <m:oMath xmlns:m="http://schemas.openxmlformats.org/officeDocument/2006/math">
                    <m:r>
                      <a:rPr lang="vi-VN" sz="2400" b="0">
                        <a:solidFill>
                          <a:srgbClr val="1E293B"/>
                        </a:solidFill>
                        <a:latin typeface="Cambria Math" panose="02040503050406030204" pitchFamily="18" charset="0"/>
                      </a:rPr>
                      <m:t>y=3</m:t>
                    </m:r>
                  </m:oMath>
                </a14:m>
                <a:r>
                  <a:rPr sz="2400">
                    <a:solidFill>
                      <a:srgbClr val="1E293B"/>
                    </a:solidFill>
                    <a:latin typeface="Calibri"/>
                  </a:rPr>
                  <a:t>.    B. </a:t>
                </a:r>
                <a14:m>
                  <m:oMath xmlns:m="http://schemas.openxmlformats.org/officeDocument/2006/math">
                    <m:r>
                      <a:rPr lang="vi-VN" sz="2400" b="0">
                        <a:solidFill>
                          <a:srgbClr val="1E293B"/>
                        </a:solidFill>
                        <a:latin typeface="Cambria Math" panose="02040503050406030204" pitchFamily="18" charset="0"/>
                      </a:rPr>
                      <m:t>y=2</m:t>
                    </m:r>
                  </m:oMath>
                </a14:m>
                <a:r>
                  <a:rPr sz="2400">
                    <a:solidFill>
                      <a:srgbClr val="1E293B"/>
                    </a:solidFill>
                    <a:latin typeface="Calibri"/>
                  </a:rPr>
                  <a:t>.    C. </a:t>
                </a:r>
                <a14:m>
                  <m:oMath xmlns:m="http://schemas.openxmlformats.org/officeDocument/2006/math">
                    <m:r>
                      <a:rPr lang="vi-VN" sz="2400" b="0">
                        <a:solidFill>
                          <a:srgbClr val="1E293B"/>
                        </a:solidFill>
                        <a:latin typeface="Cambria Math" panose="02040503050406030204" pitchFamily="18" charset="0"/>
                      </a:rPr>
                      <m:t>x=−</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    D. </a:t>
                </a:r>
                <a14:m>
                  <m:oMath xmlns:m="http://schemas.openxmlformats.org/officeDocument/2006/math">
                    <m:r>
                      <a:rPr lang="vi-VN" sz="2400" b="0">
                        <a:solidFill>
                          <a:srgbClr val="1E293B"/>
                        </a:solidFill>
                        <a:latin typeface="Cambria Math" panose="02040503050406030204" pitchFamily="18" charset="0"/>
                      </a:rPr>
                      <m:t>x=3</m:t>
                    </m:r>
                  </m:oMath>
                </a14:m>
                <a:r>
                  <a:rPr sz="2400">
                    <a:solidFill>
                      <a:srgbClr val="1E293B"/>
                    </a:solidFill>
                    <a:latin typeface="Calibri"/>
                  </a:rPr>
                  <a:t>.</a:t>
                </a:r>
              </a:p>
              <a:p>
                <a:pPr algn="l">
                  <a:spcAft>
                    <a:spcPts val="800"/>
                  </a:spcAft>
                </a:pPr>
                <a:r>
                  <a:rPr sz="2400" b="1">
                    <a:solidFill>
                      <a:srgbClr val="1E40AF"/>
                    </a:solidFill>
                    <a:latin typeface="Calibri"/>
                  </a:rPr>
                  <a:t>Gợi mở: Tìm </a:t>
                </a:r>
                <a14:m>
                  <m:oMath xmlns:m="http://schemas.openxmlformats.org/officeDocument/2006/math">
                    <m:sSub>
                      <m:e>
                        <m:r>
                          <a:rPr lang="vi-VN" sz="2400" b="1">
                            <a:solidFill>
                              <a:srgbClr val="1E40AF"/>
                            </a:solidFill>
                            <a:latin typeface="Cambria Math" panose="02040503050406030204" pitchFamily="18" charset="0"/>
                          </a:rPr>
                          <m:t>x</m:t>
                        </m:r>
                      </m:e>
                      <m:sub>
                        <m:r>
                          <a:rPr lang="vi-VN" sz="2400" b="1">
                            <a:solidFill>
                              <a:srgbClr val="1E40AF"/>
                            </a:solidFill>
                            <a:latin typeface="Cambria Math" panose="02040503050406030204" pitchFamily="18" charset="0"/>
                          </a:rPr>
                          <m:t>0</m:t>
                        </m:r>
                      </m:sub>
                    </m:sSub>
                  </m:oMath>
                </a14:m>
                <a:r>
                  <a:rPr sz="2400" b="1">
                    <a:solidFill>
                      <a:srgbClr val="1E40AF"/>
                    </a:solidFill>
                    <a:latin typeface="Calibri"/>
                  </a:rPr>
                  <a:t> để </a:t>
                </a:r>
                <a14:m>
                  <m:oMath xmlns:m="http://schemas.openxmlformats.org/officeDocument/2006/math">
                    <m:limLow>
                      <m:e>
                        <m:r>
                          <m:rPr>
                            <m:sty m:val="p"/>
                          </m:rPr>
                          <a:rPr lang="vi-VN" sz="2400" b="1">
                            <a:solidFill>
                              <a:srgbClr val="1E40AF"/>
                            </a:solidFill>
                            <a:latin typeface="Cambria Math" panose="02040503050406030204" pitchFamily="18" charset="0"/>
                          </a:rPr>
                          <m:t>lim</m:t>
                        </m:r>
                      </m:e>
                      <m:lim>
                        <m:r>
                          <a:rPr lang="vi-VN" sz="2400" b="1">
                            <a:solidFill>
                              <a:srgbClr val="1E40AF"/>
                            </a:solidFill>
                            <a:latin typeface="Cambria Math" panose="02040503050406030204" pitchFamily="18" charset="0"/>
                          </a:rPr>
                          <m:t>x→</m:t>
                        </m:r>
                        <m:sSub>
                          <m:e>
                            <m:r>
                              <a:rPr lang="vi-VN" sz="2400" b="1">
                                <a:solidFill>
                                  <a:srgbClr val="1E40AF"/>
                                </a:solidFill>
                                <a:latin typeface="Cambria Math" panose="02040503050406030204" pitchFamily="18" charset="0"/>
                              </a:rPr>
                              <m:t>x</m:t>
                            </m:r>
                          </m:e>
                          <m:sub>
                            <m:r>
                              <a:rPr lang="vi-VN" sz="2400" b="1">
                                <a:solidFill>
                                  <a:srgbClr val="1E40AF"/>
                                </a:solidFill>
                                <a:latin typeface="Cambria Math" panose="02040503050406030204" pitchFamily="18" charset="0"/>
                              </a:rPr>
                              <m:t>0</m:t>
                            </m:r>
                          </m:sub>
                        </m:sSub>
                      </m:lim>
                    </m:limLow>
                    <m:r>
                      <a:rPr lang="vi-VN" sz="2400" b="1">
                        <a:solidFill>
                          <a:srgbClr val="1E40AF"/>
                        </a:solidFill>
                        <a:latin typeface="Cambria Math" panose="02040503050406030204" pitchFamily="18" charset="0"/>
                      </a:rPr>
                      <m:t>y=±∞</m:t>
                    </m:r>
                  </m:oMath>
                </a14:m>
              </a:p>
            </p:txBody>
          </p:sp>
        </mc:Choice>
        <mc:Fallback>
          <p:sp>
            <p:nvSpPr>
              <p:cNvPr id="7" name="TextBox 6"/>
              <p:cNvSpPr txBox="1"/>
              <p:nvPr/>
            </p:nvSpPr>
            <p:spPr>
              <a:xfrm>
                <a:off x="731520" y="1463040"/>
                <a:ext cx="10789920" cy="227076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Câu 4 (Bài 3 – Biết).</a:t>
                </a:r>
                <a:r>
                  <a:rPr sz="2400">
                    <a:solidFill>
                      <a:srgbClr val="1E293B"/>
                    </a:solidFill>
                    <a:latin typeface="Calibri"/>
                  </a:rPr>
                  <a:t> Tiệm cận đứng của đồ thị hàm số </a:t>
                </a:r>
                <a:r>
                  <a:rPr lang="vi-VN"/>
                  <a:t>y=(2x+1)/(x−3)</a:t>
                </a:r>
                <a:r>
                  <a:rPr sz="2400">
                    <a:solidFill>
                      <a:srgbClr val="1E293B"/>
                    </a:solidFill>
                    <a:latin typeface="Calibri"/>
                  </a:rPr>
                  <a:t> là đường thẳng</a:t>
                </a:r>
              </a:p>
              <a:p>
                <a:pPr algn="l">
                  <a:spcAft>
                    <a:spcPts val="800"/>
                  </a:spcAft>
                </a:pPr>
                <a:r>
                  <a:rPr sz="2400">
                    <a:solidFill>
                      <a:srgbClr val="1E293B"/>
                    </a:solidFill>
                    <a:latin typeface="Calibri"/>
                  </a:rPr>
                  <a:t>A. </a:t>
                </a:r>
                <a:r>
                  <a:rPr lang="vi-VN"/>
                  <a:t>y=3</a:t>
                </a:r>
                <a:r>
                  <a:rPr sz="2400">
                    <a:solidFill>
                      <a:srgbClr val="1E293B"/>
                    </a:solidFill>
                    <a:latin typeface="Calibri"/>
                  </a:rPr>
                  <a:t>.    B. </a:t>
                </a:r>
                <a:r>
                  <a:rPr lang="vi-VN"/>
                  <a:t>y=2</a:t>
                </a:r>
                <a:r>
                  <a:rPr sz="2400">
                    <a:solidFill>
                      <a:srgbClr val="1E293B"/>
                    </a:solidFill>
                    <a:latin typeface="Calibri"/>
                  </a:rPr>
                  <a:t>.    C. </a:t>
                </a:r>
                <a:r>
                  <a:rPr lang="vi-VN"/>
                  <a:t>x=-\frac{1}{2}</a:t>
                </a:r>
                <a:r>
                  <a:rPr sz="2400">
                    <a:solidFill>
                      <a:srgbClr val="1E293B"/>
                    </a:solidFill>
                    <a:latin typeface="Calibri"/>
                  </a:rPr>
                  <a:t>.    D. </a:t>
                </a:r>
                <a:r>
                  <a:rPr lang="vi-VN"/>
                  <a:t>x=3</a:t>
                </a:r>
                <a:r>
                  <a:rPr sz="2400">
                    <a:solidFill>
                      <a:srgbClr val="1E293B"/>
                    </a:solidFill>
                    <a:latin typeface="Calibri"/>
                  </a:rPr>
                  <a:t>.</a:t>
                </a:r>
              </a:p>
              <a:p>
                <a:pPr algn="l">
                  <a:spcAft>
                    <a:spcPts val="800"/>
                  </a:spcAft>
                </a:pPr>
                <a:r>
                  <a:rPr sz="2400" b="1">
                    <a:solidFill>
                      <a:srgbClr val="1E40AF"/>
                    </a:solidFill>
                    <a:latin typeface="Calibri"/>
                  </a:rPr>
                  <a:t>Gợi mở: Tìm </a:t>
                </a:r>
                <a:r>
                  <a:rPr lang="vi-VN"/>
                  <a:t>x_0</a:t>
                </a:r>
                <a:r>
                  <a:rPr sz="2400" b="1">
                    <a:solidFill>
                      <a:srgbClr val="1E40AF"/>
                    </a:solidFill>
                    <a:latin typeface="Calibri"/>
                  </a:rPr>
                  <a:t> để </a:t>
                </a:r>
                <a:r>
                  <a:rPr lang="vi-VN"/>
                  <a:t>\lim_{x\to x_0}y=\pm\infty</a:t>
                </a:r>
              </a:p>
            </p:txBody>
          </p:sp>
        </mc:Fallback>
      </mc:AlternateContent>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CÂU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14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862583"/>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limLow>
                      <m:e>
                        <m:r>
                          <m:rPr>
                            <m:sty m:val="p"/>
                          </m:rPr>
                          <a:rPr lang="vi-VN" sz="2400" b="0">
                            <a:solidFill>
                              <a:srgbClr val="1E293B"/>
                            </a:solidFill>
                            <a:latin typeface="Cambria Math" panose="02040503050406030204" pitchFamily="18" charset="0"/>
                          </a:rPr>
                          <m:t>lim</m:t>
                        </m:r>
                      </m:e>
                      <m:lim>
                        <m:r>
                          <a:rPr lang="vi-VN" sz="2400" b="0">
                            <a:solidFill>
                              <a:srgbClr val="1E293B"/>
                            </a:solidFill>
                            <a:latin typeface="Cambria Math" panose="02040503050406030204" pitchFamily="18" charset="0"/>
                          </a:rPr>
                          <m:t>x→</m:t>
                        </m:r>
                        <m:sSup>
                          <m:e>
                            <m:r>
                              <a:rPr lang="vi-VN" sz="2400" b="0">
                                <a:solidFill>
                                  <a:srgbClr val="1E293B"/>
                                </a:solidFill>
                                <a:latin typeface="Cambria Math" panose="02040503050406030204" pitchFamily="18" charset="0"/>
                              </a:rPr>
                              <m:t>3</m:t>
                            </m:r>
                          </m:e>
                          <m:sup>
                            <m:r>
                              <a:rPr lang="vi-VN" sz="2400" b="0">
                                <a:solidFill>
                                  <a:srgbClr val="1E293B"/>
                                </a:solidFill>
                                <a:latin typeface="Cambria Math" panose="02040503050406030204" pitchFamily="18" charset="0"/>
                              </a:rPr>
                              <m:t>+</m:t>
                            </m:r>
                          </m:sup>
                        </m:sSup>
                      </m:lim>
                    </m:limLow>
                    <m:f>
                      <m:fPr>
                        <m:type m:val="bar"/>
                      </m:fPr>
                      <m:num>
                        <m:r>
                          <a:rPr lang="vi-VN" sz="2400" b="0">
                            <a:solidFill>
                              <a:srgbClr val="1E293B"/>
                            </a:solidFill>
                            <a:latin typeface="Cambria Math" panose="02040503050406030204" pitchFamily="18" charset="0"/>
                          </a:rPr>
                          <m:t>2x+1</m:t>
                        </m:r>
                      </m:num>
                      <m:den>
                        <m:r>
                          <a:rPr lang="vi-VN" sz="2400" b="0">
                            <a:solidFill>
                              <a:srgbClr val="1E293B"/>
                            </a:solidFill>
                            <a:latin typeface="Cambria Math" panose="02040503050406030204" pitchFamily="18" charset="0"/>
                          </a:rPr>
                          <m:t>x−3</m:t>
                        </m:r>
                      </m:den>
                    </m:f>
                    <m:r>
                      <a:rPr lang="vi-VN" sz="2400" b="0">
                        <a:solidFill>
                          <a:srgbClr val="1E293B"/>
                        </a:solidFill>
                        <a:latin typeface="Cambria Math" panose="02040503050406030204" pitchFamily="18" charset="0"/>
                      </a:rPr>
                      <m:t>=+∞</m:t>
                    </m:r>
                  </m:oMath>
                </a14:m>
                <a:r>
                  <a:rPr sz="2400">
                    <a:solidFill>
                      <a:srgbClr val="1E293B"/>
                    </a:solidFill>
                    <a:latin typeface="Calibri"/>
                  </a:rPr>
                  <a:t>, </a:t>
                </a:r>
                <a14:m>
                  <m:oMath xmlns:m="http://schemas.openxmlformats.org/officeDocument/2006/math">
                    <m:limLow>
                      <m:e>
                        <m:r>
                          <m:rPr>
                            <m:sty m:val="p"/>
                          </m:rPr>
                          <a:rPr lang="vi-VN" sz="2400" b="0">
                            <a:solidFill>
                              <a:srgbClr val="1E293B"/>
                            </a:solidFill>
                            <a:latin typeface="Cambria Math" panose="02040503050406030204" pitchFamily="18" charset="0"/>
                          </a:rPr>
                          <m:t>lim</m:t>
                        </m:r>
                      </m:e>
                      <m:lim>
                        <m:r>
                          <a:rPr lang="vi-VN" sz="2400" b="0">
                            <a:solidFill>
                              <a:srgbClr val="1E293B"/>
                            </a:solidFill>
                            <a:latin typeface="Cambria Math" panose="02040503050406030204" pitchFamily="18" charset="0"/>
                          </a:rPr>
                          <m:t>x→</m:t>
                        </m:r>
                        <m:sSup>
                          <m:e>
                            <m:r>
                              <a:rPr lang="vi-VN" sz="2400" b="0">
                                <a:solidFill>
                                  <a:srgbClr val="1E293B"/>
                                </a:solidFill>
                                <a:latin typeface="Cambria Math" panose="02040503050406030204" pitchFamily="18" charset="0"/>
                              </a:rPr>
                              <m:t>3</m:t>
                            </m:r>
                          </m:e>
                          <m:sup>
                            <m:r>
                              <a:rPr lang="vi-VN" sz="2400" b="0">
                                <a:solidFill>
                                  <a:srgbClr val="1E293B"/>
                                </a:solidFill>
                                <a:latin typeface="Cambria Math" panose="02040503050406030204" pitchFamily="18" charset="0"/>
                              </a:rPr>
                              <m:t>−</m:t>
                            </m:r>
                          </m:sup>
                        </m:sSup>
                      </m:lim>
                    </m:limLow>
                    <m:f>
                      <m:fPr>
                        <m:type m:val="bar"/>
                      </m:fPr>
                      <m:num>
                        <m:r>
                          <a:rPr lang="vi-VN" sz="2400" b="0">
                            <a:solidFill>
                              <a:srgbClr val="1E293B"/>
                            </a:solidFill>
                            <a:latin typeface="Cambria Math" panose="02040503050406030204" pitchFamily="18" charset="0"/>
                          </a:rPr>
                          <m:t>2x+1</m:t>
                        </m:r>
                      </m:num>
                      <m:den>
                        <m:r>
                          <a:rPr lang="vi-VN" sz="2400" b="0">
                            <a:solidFill>
                              <a:srgbClr val="1E293B"/>
                            </a:solidFill>
                            <a:latin typeface="Cambria Math" panose="02040503050406030204" pitchFamily="18" charset="0"/>
                          </a:rPr>
                          <m:t>x−3</m:t>
                        </m:r>
                      </m:den>
                    </m:f>
                    <m:r>
                      <a:rPr lang="vi-VN" sz="2400" b="0">
                        <a:solidFill>
                          <a:srgbClr val="1E293B"/>
                        </a:solidFill>
                        <a:latin typeface="Cambria Math" panose="02040503050406030204" pitchFamily="18" charset="0"/>
                      </a:rPr>
                      <m:t>=−∞</m:t>
                    </m:r>
                  </m:oMath>
                </a14:m>
              </a:p>
            </p:txBody>
          </p:sp>
        </mc:Choice>
        <mc:Fallback>
          <p:sp>
            <p:nvSpPr>
              <p:cNvPr id="7" name="TextBox 6"/>
              <p:cNvSpPr txBox="1"/>
              <p:nvPr/>
            </p:nvSpPr>
            <p:spPr>
              <a:xfrm>
                <a:off x="731520" y="1463040"/>
                <a:ext cx="10789920" cy="862583"/>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\lim_{x\to 3^+}\frac{2x+1}{x-3}=+\infty</a:t>
                </a:r>
                <a:r>
                  <a:rPr sz="2400">
                    <a:solidFill>
                      <a:srgbClr val="1E293B"/>
                    </a:solidFill>
                    <a:latin typeface="Calibri"/>
                  </a:rPr>
                  <a:t>, </a:t>
                </a:r>
                <a:r>
                  <a:rPr lang="vi-VN"/>
                  <a:t>\lim_{x\to 3^-}\frac{2x+1}{x-3}=-\infty</a:t>
                </a:r>
              </a:p>
            </p:txBody>
          </p:sp>
        </mc:Fallback>
      </mc:AlternateContent>
      <p:sp>
        <p:nvSpPr>
          <p:cNvPr id="8" name="Rounded Rectangle 7"/>
          <p:cNvSpPr/>
          <p:nvPr/>
        </p:nvSpPr>
        <p:spPr>
          <a:xfrm>
            <a:off x="731520" y="2462783"/>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462783"/>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Tiệm cận đứng </a:t>
                </a:r>
                <a14:m>
                  <m:oMath xmlns:m="http://schemas.openxmlformats.org/officeDocument/2006/math">
                    <m:r>
                      <a:rPr lang="vi-VN" sz="2400" b="1">
                        <a:solidFill>
                          <a:srgbClr val="991B1B"/>
                        </a:solidFill>
                        <a:latin typeface="Cambria Math" panose="02040503050406030204" pitchFamily="18" charset="0"/>
                      </a:rPr>
                      <m:t>x=3</m:t>
                    </m:r>
                  </m:oMath>
                </a14:m>
                <a:r>
                  <a:rPr sz="2400" b="1">
                    <a:solidFill>
                      <a:srgbClr val="991B1B"/>
                    </a:solidFill>
                    <a:latin typeface="Calibri"/>
                  </a:rPr>
                  <a:t> – Chọn D</a:t>
                </a:r>
              </a:p>
            </p:txBody>
          </p:sp>
        </mc:Choice>
        <mc:Fallback>
          <p:sp>
            <p:nvSpPr>
              <p:cNvPr id="9" name="TextBox 8"/>
              <p:cNvSpPr txBox="1"/>
              <p:nvPr/>
            </p:nvSpPr>
            <p:spPr>
              <a:xfrm>
                <a:off x="914400" y="2462783"/>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Tiệm cận đứng </a:t>
                </a:r>
                <a:r>
                  <a:rPr lang="vi-VN"/>
                  <a:t>x=3</a:t>
                </a:r>
                <a:r>
                  <a:rPr sz="2400" b="1">
                    <a:solidFill>
                      <a:srgbClr val="991B1B"/>
                    </a:solidFill>
                    <a:latin typeface="Calibri"/>
                  </a:rPr>
                  <a:t> – Chọn D</a:t>
                </a: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CÂU 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15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92452"/>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Câu 5 (Bài 3 – Hiểu).</a:t>
                </a:r>
                <a:r>
                  <a:rPr sz="2400">
                    <a:solidFill>
                      <a:srgbClr val="1E293B"/>
                    </a:solidFill>
                    <a:latin typeface="Calibri"/>
                  </a:rPr>
                  <a:t> Đồ thị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y=</m:t>
                    </m:r>
                    <m:f>
                      <m:fPr>
                        <m:type m:val="bar"/>
                      </m:fPr>
                      <m:num>
                        <m:r>
                          <a:rPr lang="vi-VN" sz="2400" b="0">
                            <a:solidFill>
                              <a:srgbClr val="1E293B"/>
                            </a:solidFill>
                            <a:latin typeface="Cambria Math" panose="02040503050406030204" pitchFamily="18" charset="0"/>
                          </a:rPr>
                          <m:t>x+1</m:t>
                        </m:r>
                      </m:num>
                      <m:den>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−1</m:t>
                        </m:r>
                      </m:den>
                    </m:f>
                  </m:oMath>
                </a14:m>
                <a:r>
                  <a:rPr sz="2400">
                    <a:solidFill>
                      <a:srgbClr val="1E293B"/>
                    </a:solidFill>
                    <a:latin typeface="Calibri"/>
                  </a:rPr>
                  <a:t> có bao nhiêu đường tiệm cận (đứng và ngang)?</a:t>
                </a:r>
              </a:p>
              <a:p>
                <a:pPr algn="l">
                  <a:spcAft>
                    <a:spcPts val="800"/>
                  </a:spcAft>
                </a:pPr>
                <a:r>
                  <a:rPr sz="2400">
                    <a:solidFill>
                      <a:srgbClr val="1E293B"/>
                    </a:solidFill>
                    <a:latin typeface="Calibri"/>
                  </a:rPr>
                  <a:t>A. </a:t>
                </a:r>
                <a14:m>
                  <m:oMath xmlns:m="http://schemas.openxmlformats.org/officeDocument/2006/math">
                    <m:r>
                      <a:rPr lang="vi-VN" sz="2400" b="0">
                        <a:solidFill>
                          <a:srgbClr val="1E293B"/>
                        </a:solidFill>
                        <a:latin typeface="Cambria Math" panose="02040503050406030204" pitchFamily="18" charset="0"/>
                      </a:rPr>
                      <m:t>3</m:t>
                    </m:r>
                  </m:oMath>
                </a14:m>
                <a:r>
                  <a:rPr sz="2400">
                    <a:solidFill>
                      <a:srgbClr val="1E293B"/>
                    </a:solidFill>
                    <a:latin typeface="Calibri"/>
                  </a:rPr>
                  <a:t>.    B. </a:t>
                </a:r>
                <a14:m>
                  <m:oMath xmlns:m="http://schemas.openxmlformats.org/officeDocument/2006/math">
                    <m:r>
                      <a:rPr lang="vi-VN" sz="2400" b="0">
                        <a:solidFill>
                          <a:srgbClr val="1E293B"/>
                        </a:solidFill>
                        <a:latin typeface="Cambria Math" panose="02040503050406030204" pitchFamily="18" charset="0"/>
                      </a:rPr>
                      <m:t>2</m:t>
                    </m:r>
                  </m:oMath>
                </a14:m>
                <a:r>
                  <a:rPr sz="2400">
                    <a:solidFill>
                      <a:srgbClr val="1E293B"/>
                    </a:solidFill>
                    <a:latin typeface="Calibri"/>
                  </a:rPr>
                  <a:t>.    C. </a:t>
                </a:r>
                <a14:m>
                  <m:oMath xmlns:m="http://schemas.openxmlformats.org/officeDocument/2006/math">
                    <m:r>
                      <a:rPr lang="vi-VN" sz="2400" b="0">
                        <a:solidFill>
                          <a:srgbClr val="1E293B"/>
                        </a:solidFill>
                        <a:latin typeface="Cambria Math" panose="02040503050406030204" pitchFamily="18" charset="0"/>
                      </a:rPr>
                      <m:t>1</m:t>
                    </m:r>
                  </m:oMath>
                </a14:m>
                <a:r>
                  <a:rPr sz="2400">
                    <a:solidFill>
                      <a:srgbClr val="1E293B"/>
                    </a:solidFill>
                    <a:latin typeface="Calibri"/>
                  </a:rPr>
                  <a:t>.    D. </a:t>
                </a:r>
                <a14:m>
                  <m:oMath xmlns:m="http://schemas.openxmlformats.org/officeDocument/2006/math">
                    <m:r>
                      <a:rPr lang="vi-VN" sz="2400" b="0">
                        <a:solidFill>
                          <a:srgbClr val="1E293B"/>
                        </a:solidFill>
                        <a:latin typeface="Cambria Math" panose="02040503050406030204" pitchFamily="18" charset="0"/>
                      </a:rPr>
                      <m:t>4</m:t>
                    </m:r>
                  </m:oMath>
                </a14:m>
                <a:r>
                  <a:rPr sz="2400">
                    <a:solidFill>
                      <a:srgbClr val="1E293B"/>
                    </a:solidFill>
                    <a:latin typeface="Calibri"/>
                  </a:rPr>
                  <a:t>.</a:t>
                </a:r>
              </a:p>
              <a:p>
                <a:pPr algn="l">
                  <a:spcAft>
                    <a:spcPts val="800"/>
                  </a:spcAft>
                </a:pPr>
                <a:r>
                  <a:rPr sz="2400" b="1">
                    <a:solidFill>
                      <a:srgbClr val="1E40AF"/>
                    </a:solidFill>
                    <a:latin typeface="Calibri"/>
                  </a:rPr>
                  <a:t>Gợi mở: Rút gọn phân thức trước khi kết luận</a:t>
                </a:r>
              </a:p>
            </p:txBody>
          </p:sp>
        </mc:Choice>
        <mc:Fallback>
          <p:sp>
            <p:nvSpPr>
              <p:cNvPr id="7" name="TextBox 6"/>
              <p:cNvSpPr txBox="1"/>
              <p:nvPr/>
            </p:nvSpPr>
            <p:spPr>
              <a:xfrm>
                <a:off x="731520" y="1463040"/>
                <a:ext cx="10789920" cy="2092452"/>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Câu 5 (Bài 3 – Hiểu).</a:t>
                </a:r>
                <a:r>
                  <a:rPr sz="2400">
                    <a:solidFill>
                      <a:srgbClr val="1E293B"/>
                    </a:solidFill>
                    <a:latin typeface="Calibri"/>
                  </a:rPr>
                  <a:t> Đồ thị hàm số </a:t>
                </a:r>
                <a:r>
                  <a:rPr lang="vi-VN"/>
                  <a:t>y=(x+1)/(x^2−1)</a:t>
                </a:r>
                <a:r>
                  <a:rPr sz="2400">
                    <a:solidFill>
                      <a:srgbClr val="1E293B"/>
                    </a:solidFill>
                    <a:latin typeface="Calibri"/>
                  </a:rPr>
                  <a:t> có bao nhiêu đường tiệm cận (đứng và ngang)?</a:t>
                </a:r>
              </a:p>
              <a:p>
                <a:pPr algn="l">
                  <a:spcAft>
                    <a:spcPts val="800"/>
                  </a:spcAft>
                </a:pPr>
                <a:r>
                  <a:rPr sz="2400">
                    <a:solidFill>
                      <a:srgbClr val="1E293B"/>
                    </a:solidFill>
                    <a:latin typeface="Calibri"/>
                  </a:rPr>
                  <a:t>A. </a:t>
                </a:r>
                <a:r>
                  <a:rPr lang="vi-VN"/>
                  <a:t>3</a:t>
                </a:r>
                <a:r>
                  <a:rPr sz="2400">
                    <a:solidFill>
                      <a:srgbClr val="1E293B"/>
                    </a:solidFill>
                    <a:latin typeface="Calibri"/>
                  </a:rPr>
                  <a:t>.    B. </a:t>
                </a:r>
                <a:r>
                  <a:rPr lang="vi-VN"/>
                  <a:t>2</a:t>
                </a:r>
                <a:r>
                  <a:rPr sz="2400">
                    <a:solidFill>
                      <a:srgbClr val="1E293B"/>
                    </a:solidFill>
                    <a:latin typeface="Calibri"/>
                  </a:rPr>
                  <a:t>.    C. </a:t>
                </a:r>
                <a:r>
                  <a:rPr lang="vi-VN"/>
                  <a:t>1</a:t>
                </a:r>
                <a:r>
                  <a:rPr sz="2400">
                    <a:solidFill>
                      <a:srgbClr val="1E293B"/>
                    </a:solidFill>
                    <a:latin typeface="Calibri"/>
                  </a:rPr>
                  <a:t>.    D. </a:t>
                </a:r>
                <a:r>
                  <a:rPr lang="vi-VN"/>
                  <a:t>4</a:t>
                </a:r>
                <a:r>
                  <a:rPr sz="2400">
                    <a:solidFill>
                      <a:srgbClr val="1E293B"/>
                    </a:solidFill>
                    <a:latin typeface="Calibri"/>
                  </a:rPr>
                  <a:t>.</a:t>
                </a:r>
              </a:p>
              <a:p>
                <a:pPr algn="l">
                  <a:spcAft>
                    <a:spcPts val="800"/>
                  </a:spcAft>
                </a:pPr>
                <a:r>
                  <a:rPr sz="2400" b="1">
                    <a:solidFill>
                      <a:srgbClr val="1E40AF"/>
                    </a:solidFill>
                    <a:latin typeface="Calibri"/>
                  </a:rPr>
                  <a:t>Gợi mở: Rút gọn phân thức trước khi kết luận</a:t>
                </a:r>
              </a:p>
            </p:txBody>
          </p:sp>
        </mc:Fallback>
      </mc:AlternateContent>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CÂU 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16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5282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Với </a:t>
                </a:r>
                <a14:m>
                  <m:oMath xmlns:m="http://schemas.openxmlformats.org/officeDocument/2006/math">
                    <m:r>
                      <a:rPr lang="vi-VN" sz="2400" b="0">
                        <a:solidFill>
                          <a:srgbClr val="1E293B"/>
                        </a:solidFill>
                        <a:latin typeface="Cambria Math" panose="02040503050406030204" pitchFamily="18" charset="0"/>
                      </a:rPr>
                      <m:t>x≠−1</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y=</m:t>
                    </m:r>
                    <m:f>
                      <m:fPr>
                        <m:type m:val="bar"/>
                      </m:fPr>
                      <m:num>
                        <m:r>
                          <a:rPr lang="vi-VN" sz="2400" b="0">
                            <a:solidFill>
                              <a:srgbClr val="1E293B"/>
                            </a:solidFill>
                            <a:latin typeface="Cambria Math" panose="02040503050406030204" pitchFamily="18" charset="0"/>
                          </a:rPr>
                          <m:t>x+1</m:t>
                        </m:r>
                      </m:num>
                      <m:den>
                        <m:d>
                          <m:dPr>
                            <m:sepChr m:val=""/>
                          </m:dPr>
                          <m:e>
                            <m:r>
                              <a:rPr lang="vi-VN" sz="2400" b="0">
                                <a:solidFill>
                                  <a:srgbClr val="1E293B"/>
                                </a:solidFill>
                                <a:latin typeface="Cambria Math" panose="02040503050406030204" pitchFamily="18" charset="0"/>
                              </a:rPr>
                              <m:t>x</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x</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den>
                    </m:f>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x−1</m:t>
                        </m:r>
                      </m:den>
                    </m:f>
                  </m:oMath>
                </a14:m>
              </a:p>
              <a:p>
                <a:pPr algn="l" marL="365760" indent="-365760">
                  <a:spcAft>
                    <a:spcPts val="800"/>
                  </a:spcAft>
                  <a:buClr>
                    <a:srgbClr val="1E40AF"/>
                  </a:buClr>
                  <a:buFont typeface="Arial"/>
                  <a:buChar char="•"/>
                </a:pPr>
                <a14:m>
                  <m:oMath xmlns:m="http://schemas.openxmlformats.org/officeDocument/2006/math">
                    <m:limLow>
                      <m:e>
                        <m:r>
                          <m:rPr>
                            <m:sty m:val="p"/>
                          </m:rPr>
                          <a:rPr lang="vi-VN" sz="2400" b="0">
                            <a:solidFill>
                              <a:srgbClr val="1E293B"/>
                            </a:solidFill>
                            <a:latin typeface="Cambria Math" panose="02040503050406030204" pitchFamily="18" charset="0"/>
                          </a:rPr>
                          <m:t>lim</m:t>
                        </m:r>
                      </m:e>
                      <m:lim>
                        <m:r>
                          <a:rPr lang="vi-VN" sz="2400" b="0">
                            <a:solidFill>
                              <a:srgbClr val="1E293B"/>
                            </a:solidFill>
                            <a:latin typeface="Cambria Math" panose="02040503050406030204" pitchFamily="18" charset="0"/>
                          </a:rPr>
                          <m:t>x→−1</m:t>
                        </m:r>
                      </m:lim>
                    </m:limLow>
                    <m:r>
                      <a:rPr lang="vi-VN" sz="2400" b="0">
                        <a:solidFill>
                          <a:srgbClr val="1E293B"/>
                        </a:solidFill>
                        <a:latin typeface="Cambria Math" panose="02040503050406030204" pitchFamily="18" charset="0"/>
                      </a:rPr>
                      <m:t>y=−</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 hữu hạn ⇒ </a:t>
                </a:r>
                <a14:m>
                  <m:oMath xmlns:m="http://schemas.openxmlformats.org/officeDocument/2006/math">
                    <m:r>
                      <a:rPr lang="vi-VN" sz="2400" b="0">
                        <a:solidFill>
                          <a:srgbClr val="1E293B"/>
                        </a:solidFill>
                        <a:latin typeface="Cambria Math" panose="02040503050406030204" pitchFamily="18" charset="0"/>
                      </a:rPr>
                      <m:t>x=−1</m:t>
                    </m:r>
                  </m:oMath>
                </a14:m>
                <a:r>
                  <a:rPr sz="2400">
                    <a:solidFill>
                      <a:srgbClr val="1E293B"/>
                    </a:solidFill>
                    <a:latin typeface="Calibri"/>
                  </a:rPr>
                  <a:t> không là tiệm cận đứng</a:t>
                </a:r>
              </a:p>
              <a:p>
                <a:pPr algn="l" marL="365760" indent="-365760">
                  <a:spcAft>
                    <a:spcPts val="800"/>
                  </a:spcAft>
                  <a:buClr>
                    <a:srgbClr val="1E40AF"/>
                  </a:buClr>
                  <a:buFont typeface="Arial"/>
                  <a:buChar char="•"/>
                </a:pPr>
                <a:r>
                  <a:rPr sz="2400">
                    <a:solidFill>
                      <a:srgbClr val="1E293B"/>
                    </a:solidFill>
                    <a:latin typeface="Calibri"/>
                  </a:rPr>
                  <a:t>Tiệm cận đứng </a:t>
                </a:r>
                <a14:m>
                  <m:oMath xmlns:m="http://schemas.openxmlformats.org/officeDocument/2006/math">
                    <m:r>
                      <a:rPr lang="vi-VN" sz="2400" b="0">
                        <a:solidFill>
                          <a:srgbClr val="1E293B"/>
                        </a:solidFill>
                        <a:latin typeface="Cambria Math" panose="02040503050406030204" pitchFamily="18" charset="0"/>
                      </a:rPr>
                      <m:t>x=1</m:t>
                    </m:r>
                  </m:oMath>
                </a14:m>
                <a:r>
                  <a:rPr sz="2400">
                    <a:solidFill>
                      <a:srgbClr val="1E293B"/>
                    </a:solidFill>
                    <a:latin typeface="Calibri"/>
                  </a:rPr>
                  <a:t>; tiệm cận ngang </a:t>
                </a:r>
                <a14:m>
                  <m:oMath xmlns:m="http://schemas.openxmlformats.org/officeDocument/2006/math">
                    <m:r>
                      <a:rPr lang="vi-VN" sz="2400" b="0">
                        <a:solidFill>
                          <a:srgbClr val="1E293B"/>
                        </a:solidFill>
                        <a:latin typeface="Cambria Math" panose="02040503050406030204" pitchFamily="18" charset="0"/>
                      </a:rPr>
                      <m:t>y=0</m:t>
                    </m:r>
                  </m:oMath>
                </a14:m>
              </a:p>
            </p:txBody>
          </p:sp>
        </mc:Choice>
        <mc:Fallback>
          <p:sp>
            <p:nvSpPr>
              <p:cNvPr id="7" name="TextBox 6"/>
              <p:cNvSpPr txBox="1"/>
              <p:nvPr/>
            </p:nvSpPr>
            <p:spPr>
              <a:xfrm>
                <a:off x="731520" y="1463040"/>
                <a:ext cx="10789920" cy="205282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Với </a:t>
                </a:r>
                <a:r>
                  <a:rPr lang="vi-VN"/>
                  <a:t>x\ne -1</a:t>
                </a:r>
                <a:r>
                  <a:rPr sz="2400">
                    <a:solidFill>
                      <a:srgbClr val="1E293B"/>
                    </a:solidFill>
                    <a:latin typeface="Calibri"/>
                  </a:rPr>
                  <a:t>: </a:t>
                </a:r>
                <a:r>
                  <a:rPr lang="vi-VN"/>
                  <a:t>y=\frac{x+1}{(x-1)(x+1)}=\frac{1}{x-1}</a:t>
                </a:r>
              </a:p>
              <a:p>
                <a:pPr algn="l" marL="365760" indent="-365760">
                  <a:spcAft>
                    <a:spcPts val="800"/>
                  </a:spcAft>
                  <a:buClr>
                    <a:srgbClr val="1E40AF"/>
                  </a:buClr>
                  <a:buFont typeface="Arial"/>
                  <a:buChar char="•"/>
                </a:pPr>
                <a:r>
                  <a:rPr lang="vi-VN"/>
                  <a:t>\lim_{x\to -1}y=-\frac{1}{2}</a:t>
                </a:r>
                <a:r>
                  <a:rPr sz="2400">
                    <a:solidFill>
                      <a:srgbClr val="1E293B"/>
                    </a:solidFill>
                    <a:latin typeface="Calibri"/>
                  </a:rPr>
                  <a:t> hữu hạn ⇒ </a:t>
                </a:r>
                <a:r>
                  <a:rPr lang="vi-VN"/>
                  <a:t>x=-1</a:t>
                </a:r>
                <a:r>
                  <a:rPr sz="2400">
                    <a:solidFill>
                      <a:srgbClr val="1E293B"/>
                    </a:solidFill>
                    <a:latin typeface="Calibri"/>
                  </a:rPr>
                  <a:t> không là tiệm cận đứng</a:t>
                </a:r>
              </a:p>
              <a:p>
                <a:pPr algn="l" marL="365760" indent="-365760">
                  <a:spcAft>
                    <a:spcPts val="800"/>
                  </a:spcAft>
                  <a:buClr>
                    <a:srgbClr val="1E40AF"/>
                  </a:buClr>
                  <a:buFont typeface="Arial"/>
                  <a:buChar char="•"/>
                </a:pPr>
                <a:r>
                  <a:rPr sz="2400">
                    <a:solidFill>
                      <a:srgbClr val="1E293B"/>
                    </a:solidFill>
                    <a:latin typeface="Calibri"/>
                  </a:rPr>
                  <a:t>Tiệm cận đứng </a:t>
                </a:r>
                <a:r>
                  <a:rPr lang="vi-VN"/>
                  <a:t>x=1</a:t>
                </a:r>
                <a:r>
                  <a:rPr sz="2400">
                    <a:solidFill>
                      <a:srgbClr val="1E293B"/>
                    </a:solidFill>
                    <a:latin typeface="Calibri"/>
                  </a:rPr>
                  <a:t>; tiệm cận ngang </a:t>
                </a:r>
                <a:r>
                  <a:rPr lang="vi-VN"/>
                  <a:t>y=0</a:t>
                </a:r>
              </a:p>
            </p:txBody>
          </p:sp>
        </mc:Fallback>
      </mc:AlternateContent>
      <p:sp>
        <p:nvSpPr>
          <p:cNvPr id="8" name="Rounded Rectangle 7"/>
          <p:cNvSpPr/>
          <p:nvPr/>
        </p:nvSpPr>
        <p:spPr>
          <a:xfrm>
            <a:off x="731520" y="365302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65302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2 đường tiệm cận – Chọn 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CÂU 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17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696212"/>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Câu 6 (Bài 4 – Biết).</a:t>
                </a:r>
                <a:r>
                  <a:rPr sz="2400">
                    <a:solidFill>
                      <a:srgbClr val="1E293B"/>
                    </a:solidFill>
                    <a:latin typeface="Calibri"/>
                  </a:rPr>
                  <a:t> Đồ thị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y=</m:t>
                    </m:r>
                    <m:f>
                      <m:fPr>
                        <m:type m:val="bar"/>
                      </m:fPr>
                      <m:num>
                        <m:r>
                          <a:rPr lang="vi-VN" sz="2400" b="0">
                            <a:solidFill>
                              <a:srgbClr val="1E293B"/>
                            </a:solidFill>
                            <a:latin typeface="Cambria Math" panose="02040503050406030204" pitchFamily="18" charset="0"/>
                          </a:rPr>
                          <m:t>x−1</m:t>
                        </m:r>
                      </m:num>
                      <m:den>
                        <m:r>
                          <a:rPr lang="vi-VN" sz="2400" b="0">
                            <a:solidFill>
                              <a:srgbClr val="1E293B"/>
                            </a:solidFill>
                            <a:latin typeface="Cambria Math" panose="02040503050406030204" pitchFamily="18" charset="0"/>
                          </a:rPr>
                          <m:t>x+1</m:t>
                        </m:r>
                      </m:den>
                    </m:f>
                  </m:oMath>
                </a14:m>
                <a:r>
                  <a:rPr sz="2400">
                    <a:solidFill>
                      <a:srgbClr val="1E293B"/>
                    </a:solidFill>
                    <a:latin typeface="Calibri"/>
                  </a:rPr>
                  <a:t> cắt trục tung tại điểm</a:t>
                </a:r>
              </a:p>
              <a:p>
                <a:pPr algn="l">
                  <a:spcAft>
                    <a:spcPts val="800"/>
                  </a:spcAft>
                </a:pPr>
                <a:r>
                  <a:rPr sz="2400">
                    <a:solidFill>
                      <a:srgbClr val="1E293B"/>
                    </a:solidFill>
                    <a:latin typeface="Calibri"/>
                  </a:rPr>
                  <a:t>A. </a:t>
                </a:r>
                <a14:m>
                  <m:oMath xmlns:m="http://schemas.openxmlformats.org/officeDocument/2006/math">
                    <m:d>
                      <m:dPr>
                        <m:sepChr m:val=""/>
                      </m:dPr>
                      <m:e>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oMath>
                </a14:m>
                <a:r>
                  <a:rPr sz="2400">
                    <a:solidFill>
                      <a:srgbClr val="1E293B"/>
                    </a:solidFill>
                    <a:latin typeface="Calibri"/>
                  </a:rPr>
                  <a:t>.    B. </a:t>
                </a:r>
                <a14:m>
                  <m:oMath xmlns:m="http://schemas.openxmlformats.org/officeDocument/2006/math">
                    <m:d>
                      <m:dPr>
                        <m:sepChr m:val=""/>
                      </m:dPr>
                      <m:e>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m:t>
                        </m:r>
                      </m:e>
                    </m:d>
                  </m:oMath>
                </a14:m>
                <a:r>
                  <a:rPr sz="2400">
                    <a:solidFill>
                      <a:srgbClr val="1E293B"/>
                    </a:solidFill>
                    <a:latin typeface="Calibri"/>
                  </a:rPr>
                  <a:t>.    C. </a:t>
                </a:r>
                <a14:m>
                  <m:oMath xmlns:m="http://schemas.openxmlformats.org/officeDocument/2006/math">
                    <m:d>
                      <m:dPr>
                        <m:sepChr m:val=""/>
                      </m:dPr>
                      <m:e>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oMath>
                </a14:m>
                <a:r>
                  <a:rPr sz="2400">
                    <a:solidFill>
                      <a:srgbClr val="1E293B"/>
                    </a:solidFill>
                    <a:latin typeface="Calibri"/>
                  </a:rPr>
                  <a:t>.    D. </a:t>
                </a:r>
                <a14:m>
                  <m:oMath xmlns:m="http://schemas.openxmlformats.org/officeDocument/2006/math">
                    <m:d>
                      <m:dPr>
                        <m:sepChr m:val=""/>
                      </m:dPr>
                      <m:e>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m:t>
                        </m:r>
                      </m:e>
                    </m:d>
                  </m:oMath>
                </a14:m>
                <a:r>
                  <a:rPr sz="2400">
                    <a:solidFill>
                      <a:srgbClr val="1E293B"/>
                    </a:solidFill>
                    <a:latin typeface="Calibri"/>
                  </a:rPr>
                  <a:t>.</a:t>
                </a:r>
              </a:p>
              <a:p>
                <a:pPr algn="l">
                  <a:spcAft>
                    <a:spcPts val="800"/>
                  </a:spcAft>
                </a:pPr>
                <a:r>
                  <a:rPr sz="2400" b="1">
                    <a:solidFill>
                      <a:srgbClr val="1E40AF"/>
                    </a:solidFill>
                    <a:latin typeface="Calibri"/>
                  </a:rPr>
                  <a:t>Gợi mở: Giao với trục tung: cho </a:t>
                </a:r>
                <a14:m>
                  <m:oMath xmlns:m="http://schemas.openxmlformats.org/officeDocument/2006/math">
                    <m:r>
                      <a:rPr lang="vi-VN" sz="2400" b="1">
                        <a:solidFill>
                          <a:srgbClr val="1E40AF"/>
                        </a:solidFill>
                        <a:latin typeface="Cambria Math" panose="02040503050406030204" pitchFamily="18" charset="0"/>
                      </a:rPr>
                      <m:t>x=0</m:t>
                    </m:r>
                  </m:oMath>
                </a14:m>
              </a:p>
            </p:txBody>
          </p:sp>
        </mc:Choice>
        <mc:Fallback>
          <p:sp>
            <p:nvSpPr>
              <p:cNvPr id="7" name="TextBox 6"/>
              <p:cNvSpPr txBox="1"/>
              <p:nvPr/>
            </p:nvSpPr>
            <p:spPr>
              <a:xfrm>
                <a:off x="731520" y="1463040"/>
                <a:ext cx="10789920" cy="1696212"/>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Câu 6 (Bài 4 – Biết).</a:t>
                </a:r>
                <a:r>
                  <a:rPr sz="2400">
                    <a:solidFill>
                      <a:srgbClr val="1E293B"/>
                    </a:solidFill>
                    <a:latin typeface="Calibri"/>
                  </a:rPr>
                  <a:t> Đồ thị hàm số </a:t>
                </a:r>
                <a:r>
                  <a:rPr lang="vi-VN"/>
                  <a:t>y=(x−1)/(x+1)</a:t>
                </a:r>
                <a:r>
                  <a:rPr sz="2400">
                    <a:solidFill>
                      <a:srgbClr val="1E293B"/>
                    </a:solidFill>
                    <a:latin typeface="Calibri"/>
                  </a:rPr>
                  <a:t> cắt trục tung tại điểm</a:t>
                </a:r>
              </a:p>
              <a:p>
                <a:pPr algn="l">
                  <a:spcAft>
                    <a:spcPts val="800"/>
                  </a:spcAft>
                </a:pPr>
                <a:r>
                  <a:rPr sz="2400">
                    <a:solidFill>
                      <a:srgbClr val="1E293B"/>
                    </a:solidFill>
                    <a:latin typeface="Calibri"/>
                  </a:rPr>
                  <a:t>A. </a:t>
                </a:r>
                <a:r>
                  <a:rPr lang="vi-VN"/>
                  <a:t>(0;-1)</a:t>
                </a:r>
                <a:r>
                  <a:rPr sz="2400">
                    <a:solidFill>
                      <a:srgbClr val="1E293B"/>
                    </a:solidFill>
                    <a:latin typeface="Calibri"/>
                  </a:rPr>
                  <a:t>.    B. </a:t>
                </a:r>
                <a:r>
                  <a:rPr lang="vi-VN"/>
                  <a:t>(1;0)</a:t>
                </a:r>
                <a:r>
                  <a:rPr sz="2400">
                    <a:solidFill>
                      <a:srgbClr val="1E293B"/>
                    </a:solidFill>
                    <a:latin typeface="Calibri"/>
                  </a:rPr>
                  <a:t>.    C. </a:t>
                </a:r>
                <a:r>
                  <a:rPr lang="vi-VN"/>
                  <a:t>(0;1)</a:t>
                </a:r>
                <a:r>
                  <a:rPr sz="2400">
                    <a:solidFill>
                      <a:srgbClr val="1E293B"/>
                    </a:solidFill>
                    <a:latin typeface="Calibri"/>
                  </a:rPr>
                  <a:t>.    D. </a:t>
                </a:r>
                <a:r>
                  <a:rPr lang="vi-VN"/>
                  <a:t>(-1;0)</a:t>
                </a:r>
                <a:r>
                  <a:rPr sz="2400">
                    <a:solidFill>
                      <a:srgbClr val="1E293B"/>
                    </a:solidFill>
                    <a:latin typeface="Calibri"/>
                  </a:rPr>
                  <a:t>.</a:t>
                </a:r>
              </a:p>
              <a:p>
                <a:pPr algn="l">
                  <a:spcAft>
                    <a:spcPts val="800"/>
                  </a:spcAft>
                </a:pPr>
                <a:r>
                  <a:rPr sz="2400" b="1">
                    <a:solidFill>
                      <a:srgbClr val="1E40AF"/>
                    </a:solidFill>
                    <a:latin typeface="Calibri"/>
                  </a:rPr>
                  <a:t>Gợi mở: Giao với trục tung: cho </a:t>
                </a:r>
                <a:r>
                  <a:rPr lang="vi-VN"/>
                  <a:t>x=0</a:t>
                </a:r>
              </a:p>
            </p:txBody>
          </p:sp>
        </mc:Fallback>
      </mc:AlternateContent>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CÂU 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18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68427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x=0⇒y=</m:t>
                    </m:r>
                    <m:f>
                      <m:fPr>
                        <m:type m:val="bar"/>
                      </m:fPr>
                      <m:num>
                        <m:r>
                          <a:rPr lang="vi-VN" sz="2400" b="0">
                            <a:solidFill>
                              <a:srgbClr val="1E293B"/>
                            </a:solidFill>
                            <a:latin typeface="Cambria Math" panose="02040503050406030204" pitchFamily="18" charset="0"/>
                          </a:rPr>
                          <m:t>0−1</m:t>
                        </m:r>
                      </m:num>
                      <m:den>
                        <m:r>
                          <a:rPr lang="vi-VN" sz="2400" b="0">
                            <a:solidFill>
                              <a:srgbClr val="1E293B"/>
                            </a:solidFill>
                            <a:latin typeface="Cambria Math" panose="02040503050406030204" pitchFamily="18" charset="0"/>
                          </a:rPr>
                          <m:t>0+1</m:t>
                        </m:r>
                      </m:den>
                    </m:f>
                    <m:r>
                      <a:rPr lang="vi-VN" sz="2400" b="0">
                        <a:solidFill>
                          <a:srgbClr val="1E293B"/>
                        </a:solidFill>
                        <a:latin typeface="Cambria Math" panose="02040503050406030204" pitchFamily="18" charset="0"/>
                      </a:rPr>
                      <m:t>=−1</m:t>
                    </m:r>
                  </m:oMath>
                </a14:m>
              </a:p>
            </p:txBody>
          </p:sp>
        </mc:Choice>
        <mc:Fallback>
          <p:sp>
            <p:nvSpPr>
              <p:cNvPr id="7" name="TextBox 6"/>
              <p:cNvSpPr txBox="1"/>
              <p:nvPr/>
            </p:nvSpPr>
            <p:spPr>
              <a:xfrm>
                <a:off x="731520" y="1463040"/>
                <a:ext cx="10789920" cy="68427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x=0\Rightarrow y=\frac{0-1}{0+1}=-1</a:t>
                </a:r>
              </a:p>
            </p:txBody>
          </p:sp>
        </mc:Fallback>
      </mc:AlternateContent>
      <p:sp>
        <p:nvSpPr>
          <p:cNvPr id="8" name="Rounded Rectangle 7"/>
          <p:cNvSpPr/>
          <p:nvPr/>
        </p:nvSpPr>
        <p:spPr>
          <a:xfrm>
            <a:off x="731520" y="228447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8447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Chọn 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CÂU 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19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Câu 7 (Bài 4 – Hiểu).</a:t>
                </a:r>
                <a:r>
                  <a:rPr sz="2400">
                    <a:solidFill>
                      <a:srgbClr val="1E293B"/>
                    </a:solidFill>
                    <a:latin typeface="Calibri"/>
                  </a:rPr>
                  <a:t> Tâm đối xứng của đồ thị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y=</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3</m:t>
                        </m:r>
                      </m:sup>
                    </m:sSup>
                    <m:r>
                      <a:rPr lang="vi-VN" sz="2400" b="0">
                        <a:solidFill>
                          <a:srgbClr val="1E293B"/>
                        </a:solidFill>
                        <a:latin typeface="Cambria Math" panose="02040503050406030204" pitchFamily="18" charset="0"/>
                      </a:rPr>
                      <m:t>−3</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+2</m:t>
                    </m:r>
                  </m:oMath>
                </a14:m>
                <a:r>
                  <a:rPr sz="2400">
                    <a:solidFill>
                      <a:srgbClr val="1E293B"/>
                    </a:solidFill>
                    <a:latin typeface="Calibri"/>
                  </a:rPr>
                  <a:t> là điểm</a:t>
                </a:r>
              </a:p>
              <a:p>
                <a:pPr algn="l">
                  <a:spcAft>
                    <a:spcPts val="800"/>
                  </a:spcAft>
                </a:pPr>
                <a:r>
                  <a:rPr sz="2400">
                    <a:solidFill>
                      <a:srgbClr val="1E293B"/>
                    </a:solidFill>
                    <a:latin typeface="Calibri"/>
                  </a:rPr>
                  <a:t>A. </a:t>
                </a:r>
                <a14:m>
                  <m:oMath xmlns:m="http://schemas.openxmlformats.org/officeDocument/2006/math">
                    <m:r>
                      <a:rPr lang="vi-VN" sz="2400" b="0">
                        <a:solidFill>
                          <a:srgbClr val="1E293B"/>
                        </a:solidFill>
                        <a:latin typeface="Cambria Math" panose="02040503050406030204" pitchFamily="18" charset="0"/>
                      </a:rPr>
                      <m:t>I(2;−2)</m:t>
                    </m:r>
                  </m:oMath>
                </a14:m>
                <a:r>
                  <a:rPr sz="2400">
                    <a:solidFill>
                      <a:srgbClr val="1E293B"/>
                    </a:solidFill>
                    <a:latin typeface="Calibri"/>
                  </a:rPr>
                  <a:t>.    B. </a:t>
                </a:r>
                <a14:m>
                  <m:oMath xmlns:m="http://schemas.openxmlformats.org/officeDocument/2006/math">
                    <m:r>
                      <a:rPr lang="vi-VN" sz="2400" b="0">
                        <a:solidFill>
                          <a:srgbClr val="1E293B"/>
                        </a:solidFill>
                        <a:latin typeface="Cambria Math" panose="02040503050406030204" pitchFamily="18" charset="0"/>
                      </a:rPr>
                      <m:t>I(0;2)</m:t>
                    </m:r>
                  </m:oMath>
                </a14:m>
                <a:r>
                  <a:rPr sz="2400">
                    <a:solidFill>
                      <a:srgbClr val="1E293B"/>
                    </a:solidFill>
                    <a:latin typeface="Calibri"/>
                  </a:rPr>
                  <a:t>.    C. </a:t>
                </a:r>
                <a14:m>
                  <m:oMath xmlns:m="http://schemas.openxmlformats.org/officeDocument/2006/math">
                    <m:r>
                      <a:rPr lang="vi-VN" sz="2400" b="0">
                        <a:solidFill>
                          <a:srgbClr val="1E293B"/>
                        </a:solidFill>
                        <a:latin typeface="Cambria Math" panose="02040503050406030204" pitchFamily="18" charset="0"/>
                      </a:rPr>
                      <m:t>I(1;0)</m:t>
                    </m:r>
                  </m:oMath>
                </a14:m>
                <a:r>
                  <a:rPr sz="2400">
                    <a:solidFill>
                      <a:srgbClr val="1E293B"/>
                    </a:solidFill>
                    <a:latin typeface="Calibri"/>
                  </a:rPr>
                  <a:t>.    D. </a:t>
                </a:r>
                <a14:m>
                  <m:oMath xmlns:m="http://schemas.openxmlformats.org/officeDocument/2006/math">
                    <m:r>
                      <a:rPr lang="vi-VN" sz="2400" b="0">
                        <a:solidFill>
                          <a:srgbClr val="1E293B"/>
                        </a:solidFill>
                        <a:latin typeface="Cambria Math" panose="02040503050406030204" pitchFamily="18" charset="0"/>
                      </a:rPr>
                      <m:t>I(1;2)</m:t>
                    </m:r>
                  </m:oMath>
                </a14:m>
                <a:r>
                  <a:rPr sz="2400">
                    <a:solidFill>
                      <a:srgbClr val="1E293B"/>
                    </a:solidFill>
                    <a:latin typeface="Calibri"/>
                  </a:rPr>
                  <a:t>.</a:t>
                </a:r>
              </a:p>
              <a:p>
                <a:pPr algn="l">
                  <a:spcAft>
                    <a:spcPts val="800"/>
                  </a:spcAft>
                </a:pPr>
                <a:r>
                  <a:rPr sz="2400" b="1">
                    <a:solidFill>
                      <a:srgbClr val="1E40AF"/>
                    </a:solidFill>
                    <a:latin typeface="Calibri"/>
                  </a:rPr>
                  <a:t>Gợi mở: Hoành độ tâm đối xứng là nghiệm của </a:t>
                </a:r>
                <a14:m>
                  <m:oMath xmlns:m="http://schemas.openxmlformats.org/officeDocument/2006/math">
                    <m:sSup>
                      <m:e>
                        <m:r>
                          <a:rPr lang="vi-VN" sz="2400" b="1">
                            <a:solidFill>
                              <a:srgbClr val="1E40AF"/>
                            </a:solidFill>
                            <a:latin typeface="Cambria Math" panose="02040503050406030204" pitchFamily="18" charset="0"/>
                          </a:rPr>
                          <m:t>y</m:t>
                        </m:r>
                      </m:e>
                      <m:sup>
                        <m:r>
                          <a:rPr lang="vi-VN" sz="2400" b="1">
                            <a:solidFill>
                              <a:srgbClr val="1E40AF"/>
                            </a:solidFill>
                            <a:latin typeface="Cambria Math" panose="02040503050406030204" pitchFamily="18" charset="0"/>
                          </a:rPr>
                          <m:t>″</m:t>
                        </m:r>
                      </m:sup>
                    </m:sSup>
                    <m:r>
                      <a:rPr lang="vi-VN" sz="2400" b="1">
                        <a:solidFill>
                          <a:srgbClr val="1E40AF"/>
                        </a:solidFill>
                        <a:latin typeface="Cambria Math" panose="02040503050406030204" pitchFamily="18" charset="0"/>
                      </a:rPr>
                      <m:t>=0</m:t>
                    </m:r>
                  </m:oMath>
                </a14:m>
              </a:p>
            </p:txBody>
          </p:sp>
        </mc:Choice>
        <mc:Fallback>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Câu 7 (Bài 4 – Hiểu).</a:t>
                </a:r>
                <a:r>
                  <a:rPr sz="2400">
                    <a:solidFill>
                      <a:srgbClr val="1E293B"/>
                    </a:solidFill>
                    <a:latin typeface="Calibri"/>
                  </a:rPr>
                  <a:t> Tâm đối xứng của đồ thị hàm số </a:t>
                </a:r>
                <a:r>
                  <a:rPr lang="vi-VN"/>
                  <a:t>y=x^3−3x^2+2</a:t>
                </a:r>
                <a:r>
                  <a:rPr sz="2400">
                    <a:solidFill>
                      <a:srgbClr val="1E293B"/>
                    </a:solidFill>
                    <a:latin typeface="Calibri"/>
                  </a:rPr>
                  <a:t> là điểm</a:t>
                </a:r>
              </a:p>
              <a:p>
                <a:pPr algn="l">
                  <a:spcAft>
                    <a:spcPts val="800"/>
                  </a:spcAft>
                </a:pPr>
                <a:r>
                  <a:rPr sz="2400">
                    <a:solidFill>
                      <a:srgbClr val="1E293B"/>
                    </a:solidFill>
                    <a:latin typeface="Calibri"/>
                  </a:rPr>
                  <a:t>A. </a:t>
                </a:r>
                <a:r>
                  <a:rPr lang="vi-VN"/>
                  <a:t>I(2;-2)</a:t>
                </a:r>
                <a:r>
                  <a:rPr sz="2400">
                    <a:solidFill>
                      <a:srgbClr val="1E293B"/>
                    </a:solidFill>
                    <a:latin typeface="Calibri"/>
                  </a:rPr>
                  <a:t>.    B. </a:t>
                </a:r>
                <a:r>
                  <a:rPr lang="vi-VN"/>
                  <a:t>I(0;2)</a:t>
                </a:r>
                <a:r>
                  <a:rPr sz="2400">
                    <a:solidFill>
                      <a:srgbClr val="1E293B"/>
                    </a:solidFill>
                    <a:latin typeface="Calibri"/>
                  </a:rPr>
                  <a:t>.    C. </a:t>
                </a:r>
                <a:r>
                  <a:rPr lang="vi-VN"/>
                  <a:t>I(1;0)</a:t>
                </a:r>
                <a:r>
                  <a:rPr sz="2400">
                    <a:solidFill>
                      <a:srgbClr val="1E293B"/>
                    </a:solidFill>
                    <a:latin typeface="Calibri"/>
                  </a:rPr>
                  <a:t>.    D. </a:t>
                </a:r>
                <a:r>
                  <a:rPr lang="vi-VN"/>
                  <a:t>I(1;2)</a:t>
                </a:r>
                <a:r>
                  <a:rPr sz="2400">
                    <a:solidFill>
                      <a:srgbClr val="1E293B"/>
                    </a:solidFill>
                    <a:latin typeface="Calibri"/>
                  </a:rPr>
                  <a:t>.</a:t>
                </a:r>
              </a:p>
              <a:p>
                <a:pPr algn="l">
                  <a:spcAft>
                    <a:spcPts val="800"/>
                  </a:spcAft>
                </a:pPr>
                <a:r>
                  <a:rPr sz="2400" b="1">
                    <a:solidFill>
                      <a:srgbClr val="1E40AF"/>
                    </a:solidFill>
                    <a:latin typeface="Calibri"/>
                  </a:rPr>
                  <a:t>Gợi mở: Hoành độ tâm đối xứng là nghiệm của </a:t>
                </a:r>
                <a:r>
                  <a:rPr lang="vi-VN"/>
                  <a:t>y''=0</a:t>
                </a:r>
              </a:p>
            </p:txBody>
          </p:sp>
        </mc:Fallback>
      </mc:AlternateContent>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CÂU 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20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=3</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−6x</m:t>
                    </m:r>
                  </m:oMath>
                </a14:m>
                <a:r>
                  <a:rPr sz="2400">
                    <a:solidFill>
                      <a:srgbClr val="1E293B"/>
                    </a:solidFill>
                    <a:latin typeface="Calibri"/>
                  </a:rPr>
                  <a:t>, </a:t>
                </a: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=6x−6=0⇔x=1</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y(1)=1−3+2=0</m:t>
                    </m:r>
                  </m:oMath>
                </a14:m>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y'=3x^2-6x</a:t>
                </a:r>
                <a:r>
                  <a:rPr sz="2400">
                    <a:solidFill>
                      <a:srgbClr val="1E293B"/>
                    </a:solidFill>
                    <a:latin typeface="Calibri"/>
                  </a:rPr>
                  <a:t>, </a:t>
                </a:r>
                <a:r>
                  <a:rPr lang="vi-VN"/>
                  <a:t>y''=6x-6=0\Leftrightarrow x=1</a:t>
                </a:r>
              </a:p>
              <a:p>
                <a:pPr algn="l" marL="365760" indent="-365760">
                  <a:spcAft>
                    <a:spcPts val="800"/>
                  </a:spcAft>
                  <a:buClr>
                    <a:srgbClr val="1E40AF"/>
                  </a:buClr>
                  <a:buFont typeface="Arial"/>
                  <a:buChar char="•"/>
                </a:pPr>
                <a:r>
                  <a:rPr lang="vi-VN"/>
                  <a:t>y(1)=1-3+2=0</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Chọn 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CÂU 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21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310383"/>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Câu 8 (Bài 5 – Hiểu).</a:t>
                </a:r>
                <a:r>
                  <a:rPr sz="2400">
                    <a:solidFill>
                      <a:srgbClr val="1E293B"/>
                    </a:solidFill>
                    <a:latin typeface="Calibri"/>
                  </a:rPr>
                  <a:t> Một chất điểm chuyển động theo phương trình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s(t)=</m:t>
                    </m:r>
                    <m:sSup>
                      <m:e>
                        <m:r>
                          <a:rPr lang="vi-VN" sz="2400" b="0">
                            <a:solidFill>
                              <a:srgbClr val="1E293B"/>
                            </a:solidFill>
                            <a:latin typeface="Cambria Math" panose="02040503050406030204" pitchFamily="18" charset="0"/>
                          </a:rPr>
                          <m:t>t</m:t>
                        </m:r>
                      </m:e>
                      <m:sup>
                        <m:r>
                          <a:rPr lang="vi-VN" sz="2400" b="0">
                            <a:solidFill>
                              <a:srgbClr val="1E293B"/>
                            </a:solidFill>
                            <a:latin typeface="Cambria Math" panose="02040503050406030204" pitchFamily="18" charset="0"/>
                          </a:rPr>
                          <m:t>3</m:t>
                        </m:r>
                      </m:sup>
                    </m:sSup>
                    <m:r>
                      <a:rPr lang="vi-VN" sz="2400" b="0">
                        <a:solidFill>
                          <a:srgbClr val="1E293B"/>
                        </a:solidFill>
                        <a:latin typeface="Cambria Math" panose="02040503050406030204" pitchFamily="18" charset="0"/>
                      </a:rPr>
                      <m:t>−6</m:t>
                    </m:r>
                    <m:sSup>
                      <m:e>
                        <m:r>
                          <a:rPr lang="vi-VN" sz="2400" b="0">
                            <a:solidFill>
                              <a:srgbClr val="1E293B"/>
                            </a:solidFill>
                            <a:latin typeface="Cambria Math" panose="02040503050406030204" pitchFamily="18" charset="0"/>
                          </a:rPr>
                          <m:t>t</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+9t</m:t>
                    </m:r>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s</m:t>
                    </m:r>
                  </m:oMath>
                </a14:m>
                <a:r>
                  <a:rPr sz="2400">
                    <a:solidFill>
                      <a:srgbClr val="1E293B"/>
                    </a:solidFill>
                    <a:latin typeface="Calibri"/>
                  </a:rPr>
                  <a:t> tính bằng mét,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t</m:t>
                    </m:r>
                  </m:oMath>
                </a14:m>
                <a:r>
                  <a:rPr sz="2400">
                    <a:solidFill>
                      <a:srgbClr val="1E293B"/>
                    </a:solidFill>
                    <a:latin typeface="Calibri"/>
                  </a:rPr>
                  <a:t> tính bằng giây). Vận tốc của chất điểm tại thời điểm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t=2</m:t>
                    </m:r>
                  </m:oMath>
                </a14:m>
                <a:r>
                  <a:rPr sz="2400">
                    <a:solidFill>
                      <a:srgbClr val="1E293B"/>
                    </a:solidFill>
                    <a:latin typeface="Calibri"/>
                  </a:rPr>
                  <a:t> là</a:t>
                </a:r>
              </a:p>
              <a:p>
                <a:pPr algn="l">
                  <a:spcAft>
                    <a:spcPts val="800"/>
                  </a:spcAft>
                </a:pPr>
                <a:r>
                  <a:rPr sz="2400">
                    <a:solidFill>
                      <a:srgbClr val="1E293B"/>
                    </a:solidFill>
                    <a:latin typeface="Calibri"/>
                  </a:rPr>
                  <a:t>A. </a:t>
                </a:r>
                <a14:m>
                  <m:oMath xmlns:m="http://schemas.openxmlformats.org/officeDocument/2006/math">
                    <m:r>
                      <a:rPr lang="vi-VN" sz="2400" b="0">
                        <a:solidFill>
                          <a:srgbClr val="1E293B"/>
                        </a:solidFill>
                        <a:latin typeface="Cambria Math" panose="02040503050406030204" pitchFamily="18" charset="0"/>
                      </a:rPr>
                      <m:t>3</m:t>
                    </m:r>
                  </m:oMath>
                </a14:m>
                <a:r>
                  <a:rPr sz="2400">
                    <a:solidFill>
                      <a:srgbClr val="1E293B"/>
                    </a:solidFill>
                    <a:latin typeface="Calibri"/>
                  </a:rPr>
                  <a:t> m/s.    B. </a:t>
                </a:r>
                <a14:m>
                  <m:oMath xmlns:m="http://schemas.openxmlformats.org/officeDocument/2006/math">
                    <m:r>
                      <a:rPr lang="vi-VN" sz="2400" b="0">
                        <a:solidFill>
                          <a:srgbClr val="1E293B"/>
                        </a:solidFill>
                        <a:latin typeface="Cambria Math" panose="02040503050406030204" pitchFamily="18" charset="0"/>
                      </a:rPr>
                      <m:t>2</m:t>
                    </m:r>
                  </m:oMath>
                </a14:m>
                <a:r>
                  <a:rPr sz="2400">
                    <a:solidFill>
                      <a:srgbClr val="1E293B"/>
                    </a:solidFill>
                    <a:latin typeface="Calibri"/>
                  </a:rPr>
                  <a:t> m/s.    C. </a:t>
                </a:r>
                <a14:m>
                  <m:oMath xmlns:m="http://schemas.openxmlformats.org/officeDocument/2006/math">
                    <m:r>
                      <a:rPr lang="vi-VN" sz="2400" b="0">
                        <a:solidFill>
                          <a:srgbClr val="1E293B"/>
                        </a:solidFill>
                        <a:latin typeface="Cambria Math" panose="02040503050406030204" pitchFamily="18" charset="0"/>
                      </a:rPr>
                      <m:t>9</m:t>
                    </m:r>
                  </m:oMath>
                </a14:m>
                <a:r>
                  <a:rPr sz="2400">
                    <a:solidFill>
                      <a:srgbClr val="1E293B"/>
                    </a:solidFill>
                    <a:latin typeface="Calibri"/>
                  </a:rPr>
                  <a:t> m/s.    D. </a:t>
                </a:r>
                <a14:m>
                  <m:oMath xmlns:m="http://schemas.openxmlformats.org/officeDocument/2006/math">
                    <m:r>
                      <a:rPr lang="vi-VN" sz="2400" b="0">
                        <a:solidFill>
                          <a:srgbClr val="1E293B"/>
                        </a:solidFill>
                        <a:latin typeface="Cambria Math" panose="02040503050406030204" pitchFamily="18" charset="0"/>
                      </a:rPr>
                      <m:t>−3</m:t>
                    </m:r>
                  </m:oMath>
                </a14:m>
                <a:r>
                  <a:rPr sz="2400">
                    <a:solidFill>
                      <a:srgbClr val="1E293B"/>
                    </a:solidFill>
                    <a:latin typeface="Calibri"/>
                  </a:rPr>
                  <a:t> m/s.</a:t>
                </a:r>
              </a:p>
              <a:p>
                <a:pPr algn="l">
                  <a:spcAft>
                    <a:spcPts val="800"/>
                  </a:spcAft>
                </a:pPr>
                <a:r>
                  <a:rPr sz="2400" b="1">
                    <a:solidFill>
                      <a:srgbClr val="1E40AF"/>
                    </a:solidFill>
                    <a:latin typeface="Calibri"/>
                  </a:rPr>
                  <a:t>Gợi mở: Vận tốc là đạo hàm của quãng đường</a:t>
                </a:r>
              </a:p>
            </p:txBody>
          </p:sp>
        </mc:Choice>
        <mc:Fallback>
          <p:sp>
            <p:nvSpPr>
              <p:cNvPr id="7" name="TextBox 6"/>
              <p:cNvSpPr txBox="1"/>
              <p:nvPr/>
            </p:nvSpPr>
            <p:spPr>
              <a:xfrm>
                <a:off x="731520" y="1463040"/>
                <a:ext cx="10789920" cy="2310383"/>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Câu 8 (Bài 5 – Hiểu).</a:t>
                </a:r>
                <a:r>
                  <a:rPr sz="2400">
                    <a:solidFill>
                      <a:srgbClr val="1E293B"/>
                    </a:solidFill>
                    <a:latin typeface="Calibri"/>
                  </a:rPr>
                  <a:t> Một chất điểm chuyển động theo phương trình </a:t>
                </a:r>
                <a:r>
                  <a:rPr lang="vi-VN"/>
                  <a:t>s(t)=t^3−6t^2+9t</a:t>
                </a:r>
                <a:r>
                  <a:rPr sz="2400">
                    <a:solidFill>
                      <a:srgbClr val="1E293B"/>
                    </a:solidFill>
                    <a:latin typeface="Calibri"/>
                  </a:rPr>
                  <a:t> (</a:t>
                </a:r>
                <a:r>
                  <a:rPr lang="vi-VN"/>
                  <a:t>s</a:t>
                </a:r>
                <a:r>
                  <a:rPr sz="2400">
                    <a:solidFill>
                      <a:srgbClr val="1E293B"/>
                    </a:solidFill>
                    <a:latin typeface="Calibri"/>
                  </a:rPr>
                  <a:t> tính bằng mét, </a:t>
                </a:r>
                <a:r>
                  <a:rPr lang="vi-VN"/>
                  <a:t>t</a:t>
                </a:r>
                <a:r>
                  <a:rPr sz="2400">
                    <a:solidFill>
                      <a:srgbClr val="1E293B"/>
                    </a:solidFill>
                    <a:latin typeface="Calibri"/>
                  </a:rPr>
                  <a:t> tính bằng giây). Vận tốc của chất điểm tại thời điểm </a:t>
                </a:r>
                <a:r>
                  <a:rPr lang="vi-VN"/>
                  <a:t>t=2</a:t>
                </a:r>
                <a:r>
                  <a:rPr sz="2400">
                    <a:solidFill>
                      <a:srgbClr val="1E293B"/>
                    </a:solidFill>
                    <a:latin typeface="Calibri"/>
                  </a:rPr>
                  <a:t> là</a:t>
                </a:r>
              </a:p>
              <a:p>
                <a:pPr algn="l">
                  <a:spcAft>
                    <a:spcPts val="800"/>
                  </a:spcAft>
                </a:pPr>
                <a:r>
                  <a:rPr sz="2400">
                    <a:solidFill>
                      <a:srgbClr val="1E293B"/>
                    </a:solidFill>
                    <a:latin typeface="Calibri"/>
                  </a:rPr>
                  <a:t>A. </a:t>
                </a:r>
                <a:r>
                  <a:rPr lang="vi-VN"/>
                  <a:t>3</a:t>
                </a:r>
                <a:r>
                  <a:rPr sz="2400">
                    <a:solidFill>
                      <a:srgbClr val="1E293B"/>
                    </a:solidFill>
                    <a:latin typeface="Calibri"/>
                  </a:rPr>
                  <a:t> m/s.    B. </a:t>
                </a:r>
                <a:r>
                  <a:rPr lang="vi-VN"/>
                  <a:t>2</a:t>
                </a:r>
                <a:r>
                  <a:rPr sz="2400">
                    <a:solidFill>
                      <a:srgbClr val="1E293B"/>
                    </a:solidFill>
                    <a:latin typeface="Calibri"/>
                  </a:rPr>
                  <a:t> m/s.    C. </a:t>
                </a:r>
                <a:r>
                  <a:rPr lang="vi-VN"/>
                  <a:t>9</a:t>
                </a:r>
                <a:r>
                  <a:rPr sz="2400">
                    <a:solidFill>
                      <a:srgbClr val="1E293B"/>
                    </a:solidFill>
                    <a:latin typeface="Calibri"/>
                  </a:rPr>
                  <a:t> m/s.    D. </a:t>
                </a:r>
                <a:r>
                  <a:rPr lang="vi-VN"/>
                  <a:t>-3</a:t>
                </a:r>
                <a:r>
                  <a:rPr sz="2400">
                    <a:solidFill>
                      <a:srgbClr val="1E293B"/>
                    </a:solidFill>
                    <a:latin typeface="Calibri"/>
                  </a:rPr>
                  <a:t> m/s.</a:t>
                </a:r>
              </a:p>
              <a:p>
                <a:pPr algn="l">
                  <a:spcAft>
                    <a:spcPts val="800"/>
                  </a:spcAft>
                </a:pPr>
                <a:r>
                  <a:rPr sz="2400" b="1">
                    <a:solidFill>
                      <a:srgbClr val="1E40AF"/>
                    </a:solidFill>
                    <a:latin typeface="Calibri"/>
                  </a:rPr>
                  <a:t>Gợi mở: Vận tốc là đạo hàm của quãng đường</a:t>
                </a:r>
              </a:p>
            </p:txBody>
          </p:sp>
        </mc:Fallback>
      </mc:AlternateContent>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CÂU 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22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v(t)=</m:t>
                    </m:r>
                    <m:sSup>
                      <m:e>
                        <m:r>
                          <a:rPr lang="vi-VN" sz="2400" b="0">
                            <a:solidFill>
                              <a:srgbClr val="1E293B"/>
                            </a:solidFill>
                            <a:latin typeface="Cambria Math" panose="02040503050406030204" pitchFamily="18" charset="0"/>
                          </a:rPr>
                          <m:t>s</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(t)=3</m:t>
                    </m:r>
                    <m:sSup>
                      <m:e>
                        <m:r>
                          <a:rPr lang="vi-VN" sz="2400" b="0">
                            <a:solidFill>
                              <a:srgbClr val="1E293B"/>
                            </a:solidFill>
                            <a:latin typeface="Cambria Math" panose="02040503050406030204" pitchFamily="18" charset="0"/>
                          </a:rPr>
                          <m:t>t</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−12t+9</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v(2)=12−24+9=−3</m:t>
                    </m:r>
                  </m:oMath>
                </a14:m>
                <a:r>
                  <a:rPr sz="2400">
                    <a:solidFill>
                      <a:srgbClr val="1E293B"/>
                    </a:solidFill>
                    <a:latin typeface="Calibri"/>
                  </a:rPr>
                  <a:t> (m/s): chất điểm đang chuyển động ngược chiều dương</a:t>
                </a:r>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v(t)=s'(t)=3t^2-12t+9</a:t>
                </a:r>
              </a:p>
              <a:p>
                <a:pPr algn="l" marL="365760" indent="-365760">
                  <a:spcAft>
                    <a:spcPts val="800"/>
                  </a:spcAft>
                  <a:buClr>
                    <a:srgbClr val="1E40AF"/>
                  </a:buClr>
                  <a:buFont typeface="Arial"/>
                  <a:buChar char="•"/>
                </a:pPr>
                <a:r>
                  <a:rPr lang="vi-VN"/>
                  <a:t>v(2)=12-24+9=-3</a:t>
                </a:r>
                <a:r>
                  <a:rPr sz="2400">
                    <a:solidFill>
                      <a:srgbClr val="1E293B"/>
                    </a:solidFill>
                    <a:latin typeface="Calibri"/>
                  </a:rPr>
                  <a:t> (m/s): chất điểm đang chuyển động ngược chiều dương</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Chọn 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PHẦN II – ĐÚNG SAI</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Hoạt động 3 (8 phút)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CÂU 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24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3035808"/>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y=f(x)=−</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3</m:t>
                        </m:r>
                      </m:sup>
                    </m:sSup>
                    <m:r>
                      <a:rPr lang="vi-VN" sz="2400" b="0">
                        <a:solidFill>
                          <a:srgbClr val="1E293B"/>
                        </a:solidFill>
                        <a:latin typeface="Cambria Math" panose="02040503050406030204" pitchFamily="18" charset="0"/>
                      </a:rPr>
                      <m:t>+3</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+1</m:t>
                    </m:r>
                  </m:oMath>
                </a14:m>
                <a:r>
                  <a:rPr sz="2400">
                    <a:solidFill>
                      <a:srgbClr val="1E293B"/>
                    </a:solidFill>
                    <a:latin typeface="Calibri"/>
                  </a:rPr>
                  <a:t>. Xét tính đúng, sai của các khẳng định sau:</a:t>
                </a:r>
              </a:p>
              <a:p>
                <a:pPr algn="l">
                  <a:spcAft>
                    <a:spcPts val="800"/>
                  </a:spcAft>
                </a:pPr>
                <a:r>
                  <a:rPr sz="2400">
                    <a:solidFill>
                      <a:srgbClr val="1E293B"/>
                    </a:solidFill>
                    <a:latin typeface="Calibri"/>
                  </a:rPr>
                  <a:t>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400" b="0">
                            <a:solidFill>
                              <a:srgbClr val="1E293B"/>
                            </a:solidFill>
                            <a:latin typeface="Cambria Math" panose="02040503050406030204" pitchFamily="18" charset="0"/>
                          </a:rPr>
                          <m:t>f</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(x)=−3</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+6x</m:t>
                    </m:r>
                  </m:oMath>
                </a14:m>
                <a:r>
                  <a:rPr sz="2400">
                    <a:solidFill>
                      <a:srgbClr val="1E293B"/>
                    </a:solidFill>
                    <a:latin typeface="Calibri"/>
                  </a:rPr>
                  <a:t>.</a:t>
                </a:r>
              </a:p>
              <a:p>
                <a:pPr algn="l">
                  <a:spcAft>
                    <a:spcPts val="800"/>
                  </a:spcAft>
                </a:pPr>
                <a:r>
                  <a:rPr sz="2400">
                    <a:solidFill>
                      <a:srgbClr val="1E293B"/>
                    </a:solidFill>
                    <a:latin typeface="Calibri"/>
                  </a:rPr>
                  <a:t>b) Hàm số đồng biến trên khoảng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e>
                    </m:d>
                  </m:oMath>
                </a14:m>
                <a:r>
                  <a:rPr sz="2400">
                    <a:solidFill>
                      <a:srgbClr val="1E293B"/>
                    </a:solidFill>
                    <a:latin typeface="Calibri"/>
                  </a:rPr>
                  <a:t>.</a:t>
                </a:r>
              </a:p>
              <a:p>
                <a:pPr algn="l">
                  <a:spcAft>
                    <a:spcPts val="800"/>
                  </a:spcAft>
                </a:pPr>
                <a:r>
                  <a:rPr sz="2400">
                    <a:solidFill>
                      <a:srgbClr val="1E293B"/>
                    </a:solidFill>
                    <a:latin typeface="Calibri"/>
                  </a:rPr>
                  <a:t>c) Giá trị cực đại của hàm số bằng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3</m:t>
                    </m:r>
                  </m:oMath>
                </a14:m>
                <a:r>
                  <a:rPr sz="2400">
                    <a:solidFill>
                      <a:srgbClr val="1E293B"/>
                    </a:solidFill>
                    <a:latin typeface="Calibri"/>
                  </a:rPr>
                  <a:t>.</a:t>
                </a:r>
              </a:p>
              <a:p>
                <a:pPr algn="l">
                  <a:spcAft>
                    <a:spcPts val="800"/>
                  </a:spcAft>
                </a:pPr>
                <a:r>
                  <a:rPr sz="2400">
                    <a:solidFill>
                      <a:srgbClr val="1E293B"/>
                    </a:solidFill>
                    <a:latin typeface="Calibri"/>
                  </a:rPr>
                  <a:t>d) Giá trị nhỏ nhất của hàm số trên đoạn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begChr m:val="["/>
                        <m:sepChr m:val="−"/>
                        <m:endChr m:val="]"/>
                      </m:dPr>
                      <m:e/>
                      <m:e>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3</m:t>
                        </m:r>
                      </m:e>
                    </m:d>
                  </m:oMath>
                </a14:m>
                <a:r>
                  <a:rPr sz="2400">
                    <a:solidFill>
                      <a:srgbClr val="1E293B"/>
                    </a:solidFill>
                    <a:latin typeface="Calibri"/>
                  </a:rPr>
                  <a:t> bằng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1</m:t>
                    </m:r>
                  </m:oMath>
                </a14:m>
                <a:r>
                  <a:rPr sz="2400">
                    <a:solidFill>
                      <a:srgbClr val="1E293B"/>
                    </a:solidFill>
                    <a:latin typeface="Calibri"/>
                  </a:rPr>
                  <a:t>.</a:t>
                </a:r>
              </a:p>
              <a:p>
                <a:pPr algn="l">
                  <a:spcAft>
                    <a:spcPts val="800"/>
                  </a:spcAft>
                </a:pPr>
                <a:r>
                  <a:rPr sz="2400" b="1">
                    <a:solidFill>
                      <a:srgbClr val="1E40AF"/>
                    </a:solidFill>
                    <a:latin typeface="Calibri"/>
                  </a:rPr>
                  <a:t>Gợi mở: Lập bảng biến thiên; nhớ tính giá trị tại hai đầu mút</a:t>
                </a:r>
              </a:p>
            </p:txBody>
          </p:sp>
        </mc:Choice>
        <mc:Fallback>
          <p:sp>
            <p:nvSpPr>
              <p:cNvPr id="7" name="TextBox 6"/>
              <p:cNvSpPr txBox="1"/>
              <p:nvPr/>
            </p:nvSpPr>
            <p:spPr>
              <a:xfrm>
                <a:off x="731520" y="1463040"/>
                <a:ext cx="10789920" cy="3035808"/>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hàm số </a:t>
                </a:r>
                <a:r>
                  <a:rPr lang="vi-VN"/>
                  <a:t>y=f(x)=−x^3+3x^2+1</a:t>
                </a:r>
                <a:r>
                  <a:rPr sz="2400">
                    <a:solidFill>
                      <a:srgbClr val="1E293B"/>
                    </a:solidFill>
                    <a:latin typeface="Calibri"/>
                  </a:rPr>
                  <a:t>. Xét tính đúng, sai của các khẳng định sau:</a:t>
                </a:r>
              </a:p>
              <a:p>
                <a:pPr algn="l">
                  <a:spcAft>
                    <a:spcPts val="800"/>
                  </a:spcAft>
                </a:pPr>
                <a:r>
                  <a:rPr sz="2400">
                    <a:solidFill>
                      <a:srgbClr val="1E293B"/>
                    </a:solidFill>
                    <a:latin typeface="Calibri"/>
                  </a:rPr>
                  <a:t>a) </a:t>
                </a:r>
                <a:r>
                  <a:rPr lang="vi-VN"/>
                  <a:t>f^′(x)=−3x^2+6x</a:t>
                </a:r>
                <a:r>
                  <a:rPr sz="2400">
                    <a:solidFill>
                      <a:srgbClr val="1E293B"/>
                    </a:solidFill>
                    <a:latin typeface="Calibri"/>
                  </a:rPr>
                  <a:t>.</a:t>
                </a:r>
              </a:p>
              <a:p>
                <a:pPr algn="l">
                  <a:spcAft>
                    <a:spcPts val="800"/>
                  </a:spcAft>
                </a:pPr>
                <a:r>
                  <a:rPr sz="2400">
                    <a:solidFill>
                      <a:srgbClr val="1E293B"/>
                    </a:solidFill>
                    <a:latin typeface="Calibri"/>
                  </a:rPr>
                  <a:t>b) Hàm số đồng biến trên khoảng </a:t>
                </a:r>
                <a:r>
                  <a:rPr lang="vi-VN"/>
                  <a:t>(0;2)</a:t>
                </a:r>
                <a:r>
                  <a:rPr sz="2400">
                    <a:solidFill>
                      <a:srgbClr val="1E293B"/>
                    </a:solidFill>
                    <a:latin typeface="Calibri"/>
                  </a:rPr>
                  <a:t>.</a:t>
                </a:r>
              </a:p>
              <a:p>
                <a:pPr algn="l">
                  <a:spcAft>
                    <a:spcPts val="800"/>
                  </a:spcAft>
                </a:pPr>
                <a:r>
                  <a:rPr sz="2400">
                    <a:solidFill>
                      <a:srgbClr val="1E293B"/>
                    </a:solidFill>
                    <a:latin typeface="Calibri"/>
                  </a:rPr>
                  <a:t>c) Giá trị cực đại của hàm số bằng </a:t>
                </a:r>
                <a:r>
                  <a:rPr lang="vi-VN"/>
                  <a:t>3</a:t>
                </a:r>
                <a:r>
                  <a:rPr sz="2400">
                    <a:solidFill>
                      <a:srgbClr val="1E293B"/>
                    </a:solidFill>
                    <a:latin typeface="Calibri"/>
                  </a:rPr>
                  <a:t>.</a:t>
                </a:r>
              </a:p>
              <a:p>
                <a:pPr algn="l">
                  <a:spcAft>
                    <a:spcPts val="800"/>
                  </a:spcAft>
                </a:pPr>
                <a:r>
                  <a:rPr sz="2400">
                    <a:solidFill>
                      <a:srgbClr val="1E293B"/>
                    </a:solidFill>
                    <a:latin typeface="Calibri"/>
                  </a:rPr>
                  <a:t>d) Giá trị nhỏ nhất của hàm số trên đoạn </a:t>
                </a:r>
                <a:r>
                  <a:rPr lang="vi-VN"/>
                  <a:t>[ 1;3]</a:t>
                </a:r>
                <a:r>
                  <a:rPr sz="2400">
                    <a:solidFill>
                      <a:srgbClr val="1E293B"/>
                    </a:solidFill>
                    <a:latin typeface="Calibri"/>
                  </a:rPr>
                  <a:t> bằng </a:t>
                </a:r>
                <a:r>
                  <a:rPr lang="vi-VN"/>
                  <a:t>1</a:t>
                </a:r>
                <a:r>
                  <a:rPr sz="2400">
                    <a:solidFill>
                      <a:srgbClr val="1E293B"/>
                    </a:solidFill>
                    <a:latin typeface="Calibri"/>
                  </a:rPr>
                  <a:t>.</a:t>
                </a:r>
              </a:p>
              <a:p>
                <a:pPr algn="l">
                  <a:spcAft>
                    <a:spcPts val="800"/>
                  </a:spcAft>
                </a:pPr>
                <a:r>
                  <a:rPr sz="2400" b="1">
                    <a:solidFill>
                      <a:srgbClr val="1E40AF"/>
                    </a:solidFill>
                    <a:latin typeface="Calibri"/>
                  </a:rPr>
                  <a:t>Gợi mở: Lập bảng biến thiên; nhớ tính giá trị tại hai đầu mút</a:t>
                </a:r>
              </a:p>
            </p:txBody>
          </p:sp>
        </mc:Fallback>
      </mc:AlternateContent>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CÂU 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25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Đúng: </a:t>
                </a:r>
                <a14:m>
                  <m:oMath xmlns:m="http://schemas.openxmlformats.org/officeDocument/2006/math">
                    <m:sSup>
                      <m:e>
                        <m:r>
                          <a:rPr lang="vi-VN" sz="2400" b="0">
                            <a:solidFill>
                              <a:srgbClr val="1E293B"/>
                            </a:solidFill>
                            <a:latin typeface="Cambria Math" panose="02040503050406030204" pitchFamily="18" charset="0"/>
                          </a:rPr>
                          <m:t>f</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(x)=−3</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+6x</m:t>
                    </m:r>
                  </m:oMath>
                </a14:m>
              </a:p>
              <a:p>
                <a:pPr algn="l" marL="365760" indent="-365760">
                  <a:spcAft>
                    <a:spcPts val="800"/>
                  </a:spcAft>
                  <a:buClr>
                    <a:srgbClr val="1E40AF"/>
                  </a:buClr>
                  <a:buFont typeface="Arial"/>
                  <a:buChar char="•"/>
                </a:pPr>
                <a:r>
                  <a:rPr sz="2400">
                    <a:solidFill>
                      <a:srgbClr val="1E293B"/>
                    </a:solidFill>
                    <a:latin typeface="Calibri"/>
                  </a:rPr>
                  <a:t>b) Đúng: </a:t>
                </a:r>
                <a14:m>
                  <m:oMath xmlns:m="http://schemas.openxmlformats.org/officeDocument/2006/math">
                    <m:sSup>
                      <m:e>
                        <m:r>
                          <a:rPr lang="vi-VN" sz="2400" b="0">
                            <a:solidFill>
                              <a:srgbClr val="1E293B"/>
                            </a:solidFill>
                            <a:latin typeface="Cambria Math" panose="02040503050406030204" pitchFamily="18" charset="0"/>
                          </a:rPr>
                          <m:t>f</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(x)=−3x(x−2)&gt;0⇔0&lt;x&lt;2</m:t>
                    </m:r>
                  </m:oMath>
                </a14:m>
              </a:p>
              <a:p>
                <a:pPr algn="l" marL="365760" indent="-365760">
                  <a:spcAft>
                    <a:spcPts val="800"/>
                  </a:spcAft>
                  <a:buClr>
                    <a:srgbClr val="1E40AF"/>
                  </a:buClr>
                  <a:buFont typeface="Arial"/>
                  <a:buChar char="•"/>
                </a:pPr>
                <a:r>
                  <a:rPr sz="2400">
                    <a:solidFill>
                      <a:srgbClr val="1E293B"/>
                    </a:solidFill>
                    <a:latin typeface="Calibri"/>
                  </a:rPr>
                  <a:t>c) Sai: </a:t>
                </a:r>
                <a14:m>
                  <m:oMath xmlns:m="http://schemas.openxmlformats.org/officeDocument/2006/math">
                    <m:sSub>
                      <m:e>
                        <m:r>
                          <a:rPr lang="vi-VN" sz="2400" b="0">
                            <a:solidFill>
                              <a:srgbClr val="1E293B"/>
                            </a:solidFill>
                            <a:latin typeface="Cambria Math" panose="02040503050406030204" pitchFamily="18" charset="0"/>
                          </a:rPr>
                          <m:t>y</m:t>
                        </m:r>
                      </m:e>
                      <m:sub>
                        <m:r>
                          <a:rPr lang="vi-VN" sz="2400" b="0">
                            <a:solidFill>
                              <a:srgbClr val="1E293B"/>
                            </a:solidFill>
                            <a:latin typeface="Cambria Math" panose="02040503050406030204" pitchFamily="18" charset="0"/>
                          </a:rPr>
                          <m:t>CĐ</m:t>
                        </m:r>
                      </m:sub>
                    </m:sSub>
                    <m:r>
                      <a:rPr lang="vi-VN" sz="2400" b="0">
                        <a:solidFill>
                          <a:srgbClr val="1E293B"/>
                        </a:solidFill>
                        <a:latin typeface="Cambria Math" panose="02040503050406030204" pitchFamily="18" charset="0"/>
                      </a:rPr>
                      <m:t>=f(2)=5</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f(0)=1</m:t>
                    </m:r>
                  </m:oMath>
                </a14:m>
                <a:r>
                  <a:rPr sz="2400">
                    <a:solidFill>
                      <a:srgbClr val="1E293B"/>
                    </a:solidFill>
                    <a:latin typeface="Calibri"/>
                  </a:rPr>
                  <a:t> là giá trị cực tiểu)</a:t>
                </a:r>
              </a:p>
              <a:p>
                <a:pPr algn="l" marL="365760" indent="-365760">
                  <a:spcAft>
                    <a:spcPts val="800"/>
                  </a:spcAft>
                  <a:buClr>
                    <a:srgbClr val="1E40AF"/>
                  </a:buClr>
                  <a:buFont typeface="Arial"/>
                  <a:buChar char="•"/>
                </a:pPr>
                <a:r>
                  <a:rPr sz="2400">
                    <a:solidFill>
                      <a:srgbClr val="1E293B"/>
                    </a:solidFill>
                    <a:latin typeface="Calibri"/>
                  </a:rPr>
                  <a:t>d) Đúng: </a:t>
                </a:r>
                <a14:m>
                  <m:oMath xmlns:m="http://schemas.openxmlformats.org/officeDocument/2006/math">
                    <m:r>
                      <a:rPr lang="vi-VN" sz="2400" b="0">
                        <a:solidFill>
                          <a:srgbClr val="1E293B"/>
                        </a:solidFill>
                        <a:latin typeface="Cambria Math" panose="02040503050406030204" pitchFamily="18" charset="0"/>
                      </a:rPr>
                      <m:t>f(−1)=5</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f(0)=1</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f(2)=5</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f(3)=1</m:t>
                    </m:r>
                  </m:oMath>
                </a14:m>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Đúng: </a:t>
                </a:r>
                <a:r>
                  <a:rPr lang="vi-VN"/>
                  <a:t>f'(x)=-3x^2+6x</a:t>
                </a:r>
              </a:p>
              <a:p>
                <a:pPr algn="l" marL="365760" indent="-365760">
                  <a:spcAft>
                    <a:spcPts val="800"/>
                  </a:spcAft>
                  <a:buClr>
                    <a:srgbClr val="1E40AF"/>
                  </a:buClr>
                  <a:buFont typeface="Arial"/>
                  <a:buChar char="•"/>
                </a:pPr>
                <a:r>
                  <a:rPr sz="2400">
                    <a:solidFill>
                      <a:srgbClr val="1E293B"/>
                    </a:solidFill>
                    <a:latin typeface="Calibri"/>
                  </a:rPr>
                  <a:t>b) Đúng: </a:t>
                </a:r>
                <a:r>
                  <a:rPr lang="vi-VN"/>
                  <a:t>f'(x)=-3x(x-2)&gt;0\Leftrightarrow 0&lt;x&lt;2</a:t>
                </a:r>
              </a:p>
              <a:p>
                <a:pPr algn="l" marL="365760" indent="-365760">
                  <a:spcAft>
                    <a:spcPts val="800"/>
                  </a:spcAft>
                  <a:buClr>
                    <a:srgbClr val="1E40AF"/>
                  </a:buClr>
                  <a:buFont typeface="Arial"/>
                  <a:buChar char="•"/>
                </a:pPr>
                <a:r>
                  <a:rPr sz="2400">
                    <a:solidFill>
                      <a:srgbClr val="1E293B"/>
                    </a:solidFill>
                    <a:latin typeface="Calibri"/>
                  </a:rPr>
                  <a:t>c) Sai: </a:t>
                </a:r>
                <a:r>
                  <a:rPr lang="vi-VN"/>
                  <a:t>y_{CĐ}=f(2)=5</a:t>
                </a:r>
                <a:r>
                  <a:rPr sz="2400">
                    <a:solidFill>
                      <a:srgbClr val="1E293B"/>
                    </a:solidFill>
                    <a:latin typeface="Calibri"/>
                  </a:rPr>
                  <a:t> (</a:t>
                </a:r>
                <a:r>
                  <a:rPr lang="vi-VN"/>
                  <a:t>f(0)=1</a:t>
                </a:r>
                <a:r>
                  <a:rPr sz="2400">
                    <a:solidFill>
                      <a:srgbClr val="1E293B"/>
                    </a:solidFill>
                    <a:latin typeface="Calibri"/>
                  </a:rPr>
                  <a:t> là giá trị cực tiểu)</a:t>
                </a:r>
              </a:p>
              <a:p>
                <a:pPr algn="l" marL="365760" indent="-365760">
                  <a:spcAft>
                    <a:spcPts val="800"/>
                  </a:spcAft>
                  <a:buClr>
                    <a:srgbClr val="1E40AF"/>
                  </a:buClr>
                  <a:buFont typeface="Arial"/>
                  <a:buChar char="•"/>
                </a:pPr>
                <a:r>
                  <a:rPr sz="2400">
                    <a:solidFill>
                      <a:srgbClr val="1E293B"/>
                    </a:solidFill>
                    <a:latin typeface="Calibri"/>
                  </a:rPr>
                  <a:t>d) Đúng: </a:t>
                </a:r>
                <a:r>
                  <a:rPr lang="vi-VN"/>
                  <a:t>f(-1)=5</a:t>
                </a:r>
                <a:r>
                  <a:rPr sz="2400">
                    <a:solidFill>
                      <a:srgbClr val="1E293B"/>
                    </a:solidFill>
                    <a:latin typeface="Calibri"/>
                  </a:rPr>
                  <a:t>, </a:t>
                </a:r>
                <a:r>
                  <a:rPr lang="vi-VN"/>
                  <a:t>f(0)=1</a:t>
                </a:r>
                <a:r>
                  <a:rPr sz="2400">
                    <a:solidFill>
                      <a:srgbClr val="1E293B"/>
                    </a:solidFill>
                    <a:latin typeface="Calibri"/>
                  </a:rPr>
                  <a:t>, </a:t>
                </a:r>
                <a:r>
                  <a:rPr lang="vi-VN"/>
                  <a:t>f(2)=5</a:t>
                </a:r>
                <a:r>
                  <a:rPr sz="2400">
                    <a:solidFill>
                      <a:srgbClr val="1E293B"/>
                    </a:solidFill>
                    <a:latin typeface="Calibri"/>
                  </a:rPr>
                  <a:t>, </a:t>
                </a:r>
                <a:r>
                  <a:rPr lang="vi-VN"/>
                  <a:t>f(3)=1</a:t>
                </a:r>
              </a:p>
            </p:txBody>
          </p:sp>
        </mc:Fallback>
      </mc:AlternateContent>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PHẦN III – TRẢ LỜI NGẮN</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Hoạt động 4: Tiếp sức (13 phút)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CÂU 10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27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190244"/>
              </a:xfrm>
              <a:prstGeom prst="rect">
                <a:avLst/>
              </a:prstGeom>
              <a:noFill/>
            </p:spPr>
            <p:txBody>
              <a:bodyPr wrap="square" anchor="t" lIns="45720" rIns="45720">
                <a:spAutoFit/>
              </a:bodyPr>
              <a:lstStyle/>
              <a:p>
                <a:pPr algn="l">
                  <a:spcAft>
                    <a:spcPts val="800"/>
                  </a:spcAft>
                </a:pPr>
                <a:r>
                  <a:rPr sz="2400">
                    <a:solidFill>
                      <a:srgbClr val="1E293B"/>
                    </a:solidFill>
                    <a:latin typeface="Calibri"/>
                  </a:rPr>
                  <a:t>Đồ thị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y=</m:t>
                    </m:r>
                    <m:f>
                      <m:fPr>
                        <m:type m:val="bar"/>
                      </m:fPr>
                      <m:num>
                        <m:r>
                          <a:rPr lang="vi-VN" sz="2400" b="0">
                            <a:solidFill>
                              <a:srgbClr val="1E293B"/>
                            </a:solidFill>
                            <a:latin typeface="Cambria Math" panose="02040503050406030204" pitchFamily="18" charset="0"/>
                          </a:rPr>
                          <m:t>2</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+3x−1</m:t>
                        </m:r>
                      </m:num>
                      <m:den>
                        <m:r>
                          <a:rPr lang="vi-VN" sz="2400" b="0">
                            <a:solidFill>
                              <a:srgbClr val="1E293B"/>
                            </a:solidFill>
                            <a:latin typeface="Cambria Math" panose="02040503050406030204" pitchFamily="18" charset="0"/>
                          </a:rPr>
                          <m:t>x+2</m:t>
                        </m:r>
                      </m:den>
                    </m:f>
                  </m:oMath>
                </a14:m>
                <a:r>
                  <a:rPr sz="2400">
                    <a:solidFill>
                      <a:srgbClr val="1E293B"/>
                    </a:solidFill>
                    <a:latin typeface="Calibri"/>
                  </a:rPr>
                  <a:t> có tiệm cận xiên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y=ax+b</m:t>
                    </m:r>
                  </m:oMath>
                </a14:m>
                <a:r>
                  <a:rPr sz="2400">
                    <a:solidFill>
                      <a:srgbClr val="1E293B"/>
                    </a:solidFill>
                    <a:latin typeface="Calibri"/>
                  </a:rPr>
                  <a:t>. Tính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a+b</m:t>
                    </m:r>
                  </m:oMath>
                </a14:m>
                <a:r>
                  <a:rPr sz="2400">
                    <a:solidFill>
                      <a:srgbClr val="1E293B"/>
                    </a:solidFill>
                    <a:latin typeface="Calibri"/>
                  </a:rPr>
                  <a:t>.</a:t>
                </a:r>
              </a:p>
              <a:p>
                <a:pPr algn="l">
                  <a:spcAft>
                    <a:spcPts val="800"/>
                  </a:spcAft>
                </a:pPr>
                <a:r>
                  <a:rPr sz="2400" b="1">
                    <a:solidFill>
                      <a:srgbClr val="1E40AF"/>
                    </a:solidFill>
                    <a:latin typeface="Calibri"/>
                  </a:rPr>
                  <a:t>Gợi mở: Chia đa thức tử cho mẫu</a:t>
                </a:r>
              </a:p>
            </p:txBody>
          </p:sp>
        </mc:Choice>
        <mc:Fallback>
          <p:sp>
            <p:nvSpPr>
              <p:cNvPr id="7" name="TextBox 6"/>
              <p:cNvSpPr txBox="1"/>
              <p:nvPr/>
            </p:nvSpPr>
            <p:spPr>
              <a:xfrm>
                <a:off x="731520" y="1463040"/>
                <a:ext cx="10789920" cy="1190244"/>
              </a:xfrm>
              <a:prstGeom prst="rect">
                <a:avLst/>
              </a:prstGeom>
              <a:noFill/>
            </p:spPr>
            <p:txBody>
              <a:bodyPr wrap="square" anchor="t" lIns="45720" rIns="45720">
                <a:spAutoFit/>
              </a:bodyPr>
              <a:lstStyle/>
              <a:p>
                <a:pPr algn="l">
                  <a:spcAft>
                    <a:spcPts val="800"/>
                  </a:spcAft>
                </a:pPr>
                <a:r>
                  <a:rPr sz="2400">
                    <a:solidFill>
                      <a:srgbClr val="1E293B"/>
                    </a:solidFill>
                    <a:latin typeface="Calibri"/>
                  </a:rPr>
                  <a:t>Đồ thị hàm số </a:t>
                </a:r>
                <a:r>
                  <a:rPr lang="vi-VN"/>
                  <a:t>y=(2x^2+3x−1)/(x+2)</a:t>
                </a:r>
                <a:r>
                  <a:rPr sz="2400">
                    <a:solidFill>
                      <a:srgbClr val="1E293B"/>
                    </a:solidFill>
                    <a:latin typeface="Calibri"/>
                  </a:rPr>
                  <a:t> có tiệm cận xiên </a:t>
                </a:r>
                <a:r>
                  <a:rPr lang="vi-VN"/>
                  <a:t>y=ax+b</a:t>
                </a:r>
                <a:r>
                  <a:rPr sz="2400">
                    <a:solidFill>
                      <a:srgbClr val="1E293B"/>
                    </a:solidFill>
                    <a:latin typeface="Calibri"/>
                  </a:rPr>
                  <a:t>. Tính </a:t>
                </a:r>
                <a:r>
                  <a:rPr lang="vi-VN"/>
                  <a:t>a+b</a:t>
                </a:r>
                <a:r>
                  <a:rPr sz="2400">
                    <a:solidFill>
                      <a:srgbClr val="1E293B"/>
                    </a:solidFill>
                    <a:latin typeface="Calibri"/>
                  </a:rPr>
                  <a:t>.</a:t>
                </a:r>
              </a:p>
              <a:p>
                <a:pPr algn="l">
                  <a:spcAft>
                    <a:spcPts val="800"/>
                  </a:spcAft>
                </a:pPr>
                <a:r>
                  <a:rPr sz="2400" b="1">
                    <a:solidFill>
                      <a:srgbClr val="1E40AF"/>
                    </a:solidFill>
                    <a:latin typeface="Calibri"/>
                  </a:rPr>
                  <a:t>Gợi mở: Chia đa thức tử cho mẫu</a:t>
                </a:r>
              </a:p>
            </p:txBody>
          </p:sp>
        </mc:Fallback>
      </mc:AlternateContent>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CÂU 10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28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19024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2</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+3x−1=(x+2)(2x−1)+1</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y=2x−1+</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x+2</m:t>
                        </m:r>
                      </m:den>
                    </m:f>
                  </m:oMath>
                </a14:m>
                <a:r>
                  <a:rPr sz="2400">
                    <a:solidFill>
                      <a:srgbClr val="1E293B"/>
                    </a:solidFill>
                    <a:latin typeface="Calibri"/>
                  </a:rPr>
                  <a:t> ⇒ tiệm cận xiên </a:t>
                </a:r>
                <a14:m>
                  <m:oMath xmlns:m="http://schemas.openxmlformats.org/officeDocument/2006/math">
                    <m:r>
                      <a:rPr lang="vi-VN" sz="2400" b="0">
                        <a:solidFill>
                          <a:srgbClr val="1E293B"/>
                        </a:solidFill>
                        <a:latin typeface="Cambria Math" panose="02040503050406030204" pitchFamily="18" charset="0"/>
                      </a:rPr>
                      <m:t>y=2x−1</m:t>
                    </m:r>
                  </m:oMath>
                </a14:m>
              </a:p>
            </p:txBody>
          </p:sp>
        </mc:Choice>
        <mc:Fallback>
          <p:sp>
            <p:nvSpPr>
              <p:cNvPr id="7" name="TextBox 6"/>
              <p:cNvSpPr txBox="1"/>
              <p:nvPr/>
            </p:nvSpPr>
            <p:spPr>
              <a:xfrm>
                <a:off x="731520" y="1463040"/>
                <a:ext cx="10789920" cy="119024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2x^2+3x-1=(x+2)(2x-1)+1</a:t>
                </a:r>
              </a:p>
              <a:p>
                <a:pPr algn="l" marL="365760" indent="-365760">
                  <a:spcAft>
                    <a:spcPts val="800"/>
                  </a:spcAft>
                  <a:buClr>
                    <a:srgbClr val="1E40AF"/>
                  </a:buClr>
                  <a:buFont typeface="Arial"/>
                  <a:buChar char="•"/>
                </a:pPr>
                <a:r>
                  <a:rPr lang="vi-VN"/>
                  <a:t>y=2x-1+\frac{1}{x+2}</a:t>
                </a:r>
                <a:r>
                  <a:rPr sz="2400">
                    <a:solidFill>
                      <a:srgbClr val="1E293B"/>
                    </a:solidFill>
                    <a:latin typeface="Calibri"/>
                  </a:rPr>
                  <a:t> ⇒ tiệm cận xiên </a:t>
                </a:r>
                <a:r>
                  <a:rPr lang="vi-VN"/>
                  <a:t>y=2x-1</a:t>
                </a:r>
              </a:p>
            </p:txBody>
          </p:sp>
        </mc:Fallback>
      </mc:AlternateContent>
      <p:sp>
        <p:nvSpPr>
          <p:cNvPr id="8" name="Rounded Rectangle 7"/>
          <p:cNvSpPr/>
          <p:nvPr/>
        </p:nvSpPr>
        <p:spPr>
          <a:xfrm>
            <a:off x="731520" y="279044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79044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r>
                      <a:rPr lang="vi-VN" sz="2400" b="1">
                        <a:solidFill>
                          <a:srgbClr val="991B1B"/>
                        </a:solidFill>
                        <a:latin typeface="Cambria Math" panose="02040503050406030204" pitchFamily="18" charset="0"/>
                      </a:rPr>
                      <m:t>a+b=2+(−1)=1</m:t>
                    </m:r>
                  </m:oMath>
                </a14:m>
              </a:p>
            </p:txBody>
          </p:sp>
        </mc:Choice>
        <mc:Fallback>
          <p:sp>
            <p:nvSpPr>
              <p:cNvPr id="9" name="TextBox 8"/>
              <p:cNvSpPr txBox="1"/>
              <p:nvPr/>
            </p:nvSpPr>
            <p:spPr>
              <a:xfrm>
                <a:off x="914400" y="279044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a+b=2+(-1)=1</a:t>
                </a: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CÂU 11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29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a:spcAft>
                    <a:spcPts val="800"/>
                  </a:spcAft>
                </a:pPr>
                <a:r>
                  <a:rPr sz="2400">
                    <a:solidFill>
                      <a:srgbClr val="1E293B"/>
                    </a:solidFill>
                    <a:latin typeface="Calibri"/>
                  </a:rPr>
                  <a:t>Tìm giá trị lớn nhất của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y=−</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3</m:t>
                        </m:r>
                      </m:sup>
                    </m:sSup>
                    <m:r>
                      <a:rPr lang="vi-VN" sz="2400" b="0">
                        <a:solidFill>
                          <a:srgbClr val="1E293B"/>
                        </a:solidFill>
                        <a:latin typeface="Cambria Math" panose="02040503050406030204" pitchFamily="18" charset="0"/>
                      </a:rPr>
                      <m:t>+3x+1</m:t>
                    </m:r>
                  </m:oMath>
                </a14:m>
                <a:r>
                  <a:rPr sz="2400">
                    <a:solidFill>
                      <a:srgbClr val="1E293B"/>
                    </a:solidFill>
                    <a:latin typeface="Calibri"/>
                  </a:rPr>
                  <a:t> trên đoạn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begChr m:val="["/>
                        <m:sepChr m:val=""/>
                        <m:endChr m:val="]"/>
                      </m:dPr>
                      <m:e>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e>
                    </m:d>
                  </m:oMath>
                </a14:m>
                <a:r>
                  <a:rPr sz="2400">
                    <a:solidFill>
                      <a:srgbClr val="1E293B"/>
                    </a:solidFill>
                    <a:latin typeface="Calibri"/>
                  </a:rPr>
                  <a:t>.</a:t>
                </a:r>
              </a:p>
              <a:p>
                <a:pPr algn="l">
                  <a:spcAft>
                    <a:spcPts val="800"/>
                  </a:spcAft>
                </a:pPr>
                <a:r>
                  <a:rPr sz="2400" b="1">
                    <a:solidFill>
                      <a:srgbClr val="1E40AF"/>
                    </a:solidFill>
                    <a:latin typeface="Calibri"/>
                  </a:rPr>
                  <a:t>Gợi mở: Điểm tới hạn trong </a:t>
                </a:r>
                <a14:m>
                  <m:oMath xmlns:m="http://schemas.openxmlformats.org/officeDocument/2006/math">
                    <m:d>
                      <m:dPr>
                        <m:begChr m:val="["/>
                        <m:sepChr m:val=""/>
                        <m:endChr m:val="]"/>
                      </m:dPr>
                      <m:e>
                        <m:r>
                          <a:rPr lang="vi-VN" sz="2400" b="1">
                            <a:solidFill>
                              <a:srgbClr val="1E40AF"/>
                            </a:solidFill>
                            <a:latin typeface="Cambria Math" panose="02040503050406030204" pitchFamily="18" charset="0"/>
                          </a:rPr>
                          <m:t>0</m:t>
                        </m:r>
                        <m:r>
                          <a:rPr lang="vi-VN" sz="2400" b="1">
                            <a:solidFill>
                              <a:srgbClr val="1E40AF"/>
                            </a:solidFill>
                            <a:latin typeface="Cambria Math" panose="02040503050406030204" pitchFamily="18" charset="0"/>
                          </a:rPr>
                          <m:t>;</m:t>
                        </m:r>
                        <m:r>
                          <a:rPr lang="vi-VN" sz="2400" b="1">
                            <a:solidFill>
                              <a:srgbClr val="1E40AF"/>
                            </a:solidFill>
                            <a:latin typeface="Cambria Math" panose="02040503050406030204" pitchFamily="18" charset="0"/>
                          </a:rPr>
                          <m:t>2</m:t>
                        </m:r>
                      </m:e>
                    </m:d>
                  </m:oMath>
                </a14:m>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a:spcAft>
                    <a:spcPts val="800"/>
                  </a:spcAft>
                </a:pPr>
                <a:r>
                  <a:rPr sz="2400">
                    <a:solidFill>
                      <a:srgbClr val="1E293B"/>
                    </a:solidFill>
                    <a:latin typeface="Calibri"/>
                  </a:rPr>
                  <a:t>Tìm giá trị lớn nhất của hàm số </a:t>
                </a:r>
                <a:r>
                  <a:rPr lang="vi-VN"/>
                  <a:t>y=−x^3+3x+1</a:t>
                </a:r>
                <a:r>
                  <a:rPr sz="2400">
                    <a:solidFill>
                      <a:srgbClr val="1E293B"/>
                    </a:solidFill>
                    <a:latin typeface="Calibri"/>
                  </a:rPr>
                  <a:t> trên đoạn </a:t>
                </a:r>
                <a:r>
                  <a:rPr lang="vi-VN"/>
                  <a:t>[0;2]</a:t>
                </a:r>
                <a:r>
                  <a:rPr sz="2400">
                    <a:solidFill>
                      <a:srgbClr val="1E293B"/>
                    </a:solidFill>
                    <a:latin typeface="Calibri"/>
                  </a:rPr>
                  <a:t>.</a:t>
                </a:r>
              </a:p>
              <a:p>
                <a:pPr algn="l">
                  <a:spcAft>
                    <a:spcPts val="800"/>
                  </a:spcAft>
                </a:pPr>
                <a:r>
                  <a:rPr sz="2400" b="1">
                    <a:solidFill>
                      <a:srgbClr val="1E40AF"/>
                    </a:solidFill>
                    <a:latin typeface="Calibri"/>
                  </a:rPr>
                  <a:t>Gợi mở: Điểm tới hạn trong </a:t>
                </a:r>
                <a:r>
                  <a:rPr lang="vi-VN"/>
                  <a:t>[0;2]</a:t>
                </a:r>
              </a:p>
            </p:txBody>
          </p:sp>
        </mc:Fallback>
      </mc:AlternateContent>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CÂU 11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30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=−3</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+3=0⇔x=±1</m:t>
                    </m:r>
                  </m:oMath>
                </a14:m>
                <a:r>
                  <a:rPr sz="2400">
                    <a:solidFill>
                      <a:srgbClr val="1E293B"/>
                    </a:solidFill>
                    <a:latin typeface="Calibri"/>
                  </a:rPr>
                  <a:t>; trên </a:t>
                </a:r>
                <a14:m>
                  <m:oMath xmlns:m="http://schemas.openxmlformats.org/officeDocument/2006/math">
                    <m:d>
                      <m:dPr>
                        <m:begChr m:val="["/>
                        <m:sepChr m:val=""/>
                        <m:endChr m:val="]"/>
                      </m:dPr>
                      <m:e>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e>
                    </m:d>
                  </m:oMath>
                </a14:m>
                <a:r>
                  <a:rPr sz="2400">
                    <a:solidFill>
                      <a:srgbClr val="1E293B"/>
                    </a:solidFill>
                    <a:latin typeface="Calibri"/>
                  </a:rPr>
                  <a:t> lấy </a:t>
                </a:r>
                <a14:m>
                  <m:oMath xmlns:m="http://schemas.openxmlformats.org/officeDocument/2006/math">
                    <m:r>
                      <a:rPr lang="vi-VN" sz="2400" b="0">
                        <a:solidFill>
                          <a:srgbClr val="1E293B"/>
                        </a:solidFill>
                        <a:latin typeface="Cambria Math" panose="02040503050406030204" pitchFamily="18" charset="0"/>
                      </a:rPr>
                      <m:t>x=1</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y(0)=1</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y(1)=3</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y(2)=−1</m:t>
                    </m:r>
                  </m:oMath>
                </a14:m>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y'=-3x^2+3=0\Leftrightarrow x=\pm 1</a:t>
                </a:r>
                <a:r>
                  <a:rPr sz="2400">
                    <a:solidFill>
                      <a:srgbClr val="1E293B"/>
                    </a:solidFill>
                    <a:latin typeface="Calibri"/>
                  </a:rPr>
                  <a:t>; trên </a:t>
                </a:r>
                <a:r>
                  <a:rPr lang="vi-VN"/>
                  <a:t>[0;2]</a:t>
                </a:r>
                <a:r>
                  <a:rPr sz="2400">
                    <a:solidFill>
                      <a:srgbClr val="1E293B"/>
                    </a:solidFill>
                    <a:latin typeface="Calibri"/>
                  </a:rPr>
                  <a:t> lấy </a:t>
                </a:r>
                <a:r>
                  <a:rPr lang="vi-VN"/>
                  <a:t>x=1</a:t>
                </a:r>
              </a:p>
              <a:p>
                <a:pPr algn="l" marL="365760" indent="-365760">
                  <a:spcAft>
                    <a:spcPts val="800"/>
                  </a:spcAft>
                  <a:buClr>
                    <a:srgbClr val="1E40AF"/>
                  </a:buClr>
                  <a:buFont typeface="Arial"/>
                  <a:buChar char="•"/>
                </a:pPr>
                <a:r>
                  <a:rPr lang="vi-VN"/>
                  <a:t>y(0)=1</a:t>
                </a:r>
                <a:r>
                  <a:rPr sz="2400">
                    <a:solidFill>
                      <a:srgbClr val="1E293B"/>
                    </a:solidFill>
                    <a:latin typeface="Calibri"/>
                  </a:rPr>
                  <a:t>, </a:t>
                </a:r>
                <a:r>
                  <a:rPr lang="vi-VN"/>
                  <a:t>y(1)=3</a:t>
                </a:r>
                <a:r>
                  <a:rPr sz="2400">
                    <a:solidFill>
                      <a:srgbClr val="1E293B"/>
                    </a:solidFill>
                    <a:latin typeface="Calibri"/>
                  </a:rPr>
                  <a:t>, </a:t>
                </a:r>
                <a:r>
                  <a:rPr lang="vi-VN"/>
                  <a:t>y(2)=-1</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Đáp số: 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CÂU 12: RÀO VƯỜN RAU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31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804416"/>
              </a:xfrm>
              <a:prstGeom prst="rect">
                <a:avLst/>
              </a:prstGeom>
              <a:noFill/>
            </p:spPr>
            <p:txBody>
              <a:bodyPr wrap="square" anchor="t" lIns="45720" rIns="45720">
                <a:spAutoFit/>
              </a:bodyPr>
              <a:lstStyle/>
              <a:p>
                <a:pPr algn="l">
                  <a:spcAft>
                    <a:spcPts val="800"/>
                  </a:spcAft>
                </a:pPr>
                <a:r>
                  <a:rPr sz="2400">
                    <a:solidFill>
                      <a:srgbClr val="1E293B"/>
                    </a:solidFill>
                    <a:latin typeface="Calibri"/>
                  </a:rPr>
                  <a:t>Bác An có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60</m:t>
                    </m:r>
                  </m:oMath>
                </a14:m>
                <a:r>
                  <a:rPr sz="2400">
                    <a:solidFill>
                      <a:srgbClr val="1E293B"/>
                    </a:solidFill>
                    <a:latin typeface="Calibri"/>
                  </a:rPr>
                  <a:t> m lưới để rào một mảnh vườn hình chữ nhật trồng rau, một cạnh dựa vào bức tường có sẵn (không phải rào). Diện tích lớn nhất của mảnh vườn là bao nhiêu mét vuông?</a:t>
                </a:r>
              </a:p>
              <a:p>
                <a:pPr algn="l">
                  <a:spcAft>
                    <a:spcPts val="800"/>
                  </a:spcAft>
                </a:pPr>
                <a:r>
                  <a:rPr sz="2400" b="1">
                    <a:solidFill>
                      <a:srgbClr val="1E40AF"/>
                    </a:solidFill>
                    <a:latin typeface="Calibri"/>
                  </a:rPr>
                  <a:t>Gợi mở: Chỉ rào ba cạnh; đặt cạnh vuông góc với tường là </a:t>
                </a:r>
                <a14:m>
                  <m:oMath xmlns:m="http://schemas.openxmlformats.org/officeDocument/2006/math">
                    <m:r>
                      <a:rPr lang="vi-VN" sz="2400" b="1">
                        <a:solidFill>
                          <a:srgbClr val="1E40AF"/>
                        </a:solidFill>
                        <a:latin typeface="Cambria Math" panose="02040503050406030204" pitchFamily="18" charset="0"/>
                      </a:rPr>
                      <m:t>x</m:t>
                    </m:r>
                  </m:oMath>
                </a14:m>
              </a:p>
            </p:txBody>
          </p:sp>
        </mc:Choice>
        <mc:Fallback>
          <p:sp>
            <p:nvSpPr>
              <p:cNvPr id="7" name="TextBox 6"/>
              <p:cNvSpPr txBox="1"/>
              <p:nvPr/>
            </p:nvSpPr>
            <p:spPr>
              <a:xfrm>
                <a:off x="731520" y="1463040"/>
                <a:ext cx="10789920" cy="1804416"/>
              </a:xfrm>
              <a:prstGeom prst="rect">
                <a:avLst/>
              </a:prstGeom>
              <a:noFill/>
            </p:spPr>
            <p:txBody>
              <a:bodyPr wrap="square" anchor="t" lIns="45720" rIns="45720">
                <a:spAutoFit/>
              </a:bodyPr>
              <a:lstStyle/>
              <a:p>
                <a:pPr algn="l">
                  <a:spcAft>
                    <a:spcPts val="800"/>
                  </a:spcAft>
                </a:pPr>
                <a:r>
                  <a:rPr sz="2400">
                    <a:solidFill>
                      <a:srgbClr val="1E293B"/>
                    </a:solidFill>
                    <a:latin typeface="Calibri"/>
                  </a:rPr>
                  <a:t>Bác An có </a:t>
                </a:r>
                <a:r>
                  <a:rPr lang="vi-VN"/>
                  <a:t>60</a:t>
                </a:r>
                <a:r>
                  <a:rPr sz="2400">
                    <a:solidFill>
                      <a:srgbClr val="1E293B"/>
                    </a:solidFill>
                    <a:latin typeface="Calibri"/>
                  </a:rPr>
                  <a:t> m lưới để rào một mảnh vườn hình chữ nhật trồng rau, một cạnh dựa vào bức tường có sẵn (không phải rào). Diện tích lớn nhất của mảnh vườn là bao nhiêu mét vuông?</a:t>
                </a:r>
              </a:p>
              <a:p>
                <a:pPr algn="l">
                  <a:spcAft>
                    <a:spcPts val="800"/>
                  </a:spcAft>
                </a:pPr>
                <a:r>
                  <a:rPr sz="2400" b="1">
                    <a:solidFill>
                      <a:srgbClr val="1E40AF"/>
                    </a:solidFill>
                    <a:latin typeface="Calibri"/>
                  </a:rPr>
                  <a:t>Gợi mở: Chỉ rào ba cạnh; đặt cạnh vuông góc với tường là </a:t>
                </a:r>
                <a:r>
                  <a:rPr lang="vi-VN"/>
                  <a:t>x</a:t>
                </a:r>
              </a:p>
            </p:txBody>
          </p:sp>
        </mc:Fallback>
      </mc:AlternateContent>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CÂU 12: RÀO VƯỜN RAU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32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Cạnh vuông góc với tường </a:t>
                </a:r>
                <a14:m>
                  <m:oMath xmlns:m="http://schemas.openxmlformats.org/officeDocument/2006/math">
                    <m:r>
                      <a:rPr lang="vi-VN" sz="2400" b="0">
                        <a:solidFill>
                          <a:srgbClr val="1E293B"/>
                        </a:solidFill>
                        <a:latin typeface="Cambria Math" panose="02040503050406030204" pitchFamily="18" charset="0"/>
                      </a:rPr>
                      <m:t>x</m:t>
                    </m:r>
                  </m:oMath>
                </a14:m>
                <a:r>
                  <a:rPr sz="2400">
                    <a:solidFill>
                      <a:srgbClr val="1E293B"/>
                    </a:solidFill>
                    <a:latin typeface="Calibri"/>
                  </a:rPr>
                  <a:t> (m), cạnh song song </a:t>
                </a:r>
                <a14:m>
                  <m:oMath xmlns:m="http://schemas.openxmlformats.org/officeDocument/2006/math">
                    <m:r>
                      <a:rPr lang="vi-VN" sz="2400" b="0">
                        <a:solidFill>
                          <a:srgbClr val="1E293B"/>
                        </a:solidFill>
                        <a:latin typeface="Cambria Math" panose="02040503050406030204" pitchFamily="18" charset="0"/>
                      </a:rPr>
                      <m:t>60−2x</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0&lt;x&lt;30</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S(x)=x(60−2x)</m:t>
                    </m:r>
                  </m:oMath>
                </a14:m>
                <a:r>
                  <a:rPr sz="2400">
                    <a:solidFill>
                      <a:srgbClr val="1E293B"/>
                    </a:solidFill>
                    <a:latin typeface="Calibri"/>
                  </a:rPr>
                  <a:t>; </a:t>
                </a:r>
                <a14:m>
                  <m:oMath xmlns:m="http://schemas.openxmlformats.org/officeDocument/2006/math">
                    <m:sSup>
                      <m:e>
                        <m:r>
                          <a:rPr lang="vi-VN" sz="2400" b="0">
                            <a:solidFill>
                              <a:srgbClr val="1E293B"/>
                            </a:solidFill>
                            <a:latin typeface="Cambria Math" panose="02040503050406030204" pitchFamily="18" charset="0"/>
                          </a:rPr>
                          <m:t>S</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(x)=60−4x=0⇔x=15</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S</m:t>
                    </m:r>
                  </m:oMath>
                </a14:m>
                <a:r>
                  <a:rPr sz="2400">
                    <a:solidFill>
                      <a:srgbClr val="1E293B"/>
                    </a:solidFill>
                    <a:latin typeface="Calibri"/>
                  </a:rPr>
                  <a:t> đồng biến trên </a:t>
                </a:r>
                <a14:m>
                  <m:oMath xmlns:m="http://schemas.openxmlformats.org/officeDocument/2006/math">
                    <m:d>
                      <m:dPr>
                        <m:sepChr m:val=""/>
                      </m:dPr>
                      <m:e>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15</m:t>
                        </m:r>
                      </m:e>
                    </m:d>
                  </m:oMath>
                </a14:m>
                <a:r>
                  <a:rPr sz="2400">
                    <a:solidFill>
                      <a:srgbClr val="1E293B"/>
                    </a:solidFill>
                    <a:latin typeface="Calibri"/>
                  </a:rPr>
                  <a:t>, nghịch biến trên </a:t>
                </a:r>
                <a14:m>
                  <m:oMath xmlns:m="http://schemas.openxmlformats.org/officeDocument/2006/math">
                    <m:d>
                      <m:dPr>
                        <m:sepChr m:val=""/>
                      </m:dPr>
                      <m:e>
                        <m:r>
                          <a:rPr lang="vi-VN" sz="2400" b="0">
                            <a:solidFill>
                              <a:srgbClr val="1E293B"/>
                            </a:solidFill>
                            <a:latin typeface="Cambria Math" panose="02040503050406030204" pitchFamily="18" charset="0"/>
                          </a:rPr>
                          <m:t>15</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30</m:t>
                        </m:r>
                      </m:e>
                    </m:d>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S(15)=15·30</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Cạnh vuông góc với tường </a:t>
                </a:r>
                <a:r>
                  <a:rPr lang="vi-VN"/>
                  <a:t>x</a:t>
                </a:r>
                <a:r>
                  <a:rPr sz="2400">
                    <a:solidFill>
                      <a:srgbClr val="1E293B"/>
                    </a:solidFill>
                    <a:latin typeface="Calibri"/>
                  </a:rPr>
                  <a:t> (m), cạnh song song </a:t>
                </a:r>
                <a:r>
                  <a:rPr lang="vi-VN"/>
                  <a:t>60-2x</a:t>
                </a:r>
                <a:r>
                  <a:rPr sz="2400">
                    <a:solidFill>
                      <a:srgbClr val="1E293B"/>
                    </a:solidFill>
                    <a:latin typeface="Calibri"/>
                  </a:rPr>
                  <a:t>, </a:t>
                </a:r>
                <a:r>
                  <a:rPr lang="vi-VN"/>
                  <a:t>0&lt;x&lt;30</a:t>
                </a:r>
              </a:p>
              <a:p>
                <a:pPr algn="l" marL="365760" indent="-365760">
                  <a:spcAft>
                    <a:spcPts val="800"/>
                  </a:spcAft>
                  <a:buClr>
                    <a:srgbClr val="1E40AF"/>
                  </a:buClr>
                  <a:buFont typeface="Arial"/>
                  <a:buChar char="•"/>
                </a:pPr>
                <a:r>
                  <a:rPr lang="vi-VN"/>
                  <a:t>S(x)=x(60-2x)</a:t>
                </a:r>
                <a:r>
                  <a:rPr sz="2400">
                    <a:solidFill>
                      <a:srgbClr val="1E293B"/>
                    </a:solidFill>
                    <a:latin typeface="Calibri"/>
                  </a:rPr>
                  <a:t>; </a:t>
                </a:r>
                <a:r>
                  <a:rPr lang="vi-VN"/>
                  <a:t>S'(x)=60-4x=0\Leftrightarrow x=15</a:t>
                </a:r>
              </a:p>
              <a:p>
                <a:pPr algn="l" marL="365760" indent="-365760">
                  <a:spcAft>
                    <a:spcPts val="800"/>
                  </a:spcAft>
                  <a:buClr>
                    <a:srgbClr val="1E40AF"/>
                  </a:buClr>
                  <a:buFont typeface="Arial"/>
                  <a:buChar char="•"/>
                </a:pPr>
                <a:r>
                  <a:rPr lang="vi-VN"/>
                  <a:t>S</a:t>
                </a:r>
                <a:r>
                  <a:rPr sz="2400">
                    <a:solidFill>
                      <a:srgbClr val="1E293B"/>
                    </a:solidFill>
                    <a:latin typeface="Calibri"/>
                  </a:rPr>
                  <a:t> đồng biến trên </a:t>
                </a:r>
                <a:r>
                  <a:rPr lang="vi-VN"/>
                  <a:t>(0;15)</a:t>
                </a:r>
                <a:r>
                  <a:rPr sz="2400">
                    <a:solidFill>
                      <a:srgbClr val="1E293B"/>
                    </a:solidFill>
                    <a:latin typeface="Calibri"/>
                  </a:rPr>
                  <a:t>, nghịch biến trên </a:t>
                </a:r>
                <a:r>
                  <a:rPr lang="vi-VN"/>
                  <a:t>(15;30)</a:t>
                </a:r>
                <a:r>
                  <a:rPr sz="2400">
                    <a:solidFill>
                      <a:srgbClr val="1E293B"/>
                    </a:solidFill>
                    <a:latin typeface="Calibri"/>
                  </a:rPr>
                  <a:t>; </a:t>
                </a:r>
                <a:r>
                  <a:rPr lang="vi-VN"/>
                  <a:t>S(15)=15\cdot 30</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Đáp số: 450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CÂU 13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33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Có bao nhiêu giá trị nguyên của tham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m</m:t>
                    </m:r>
                  </m:oMath>
                </a14:m>
                <a:r>
                  <a:rPr sz="2400">
                    <a:solidFill>
                      <a:srgbClr val="1E293B"/>
                    </a:solidFill>
                    <a:latin typeface="Calibri"/>
                  </a:rPr>
                  <a:t> thuộc đoạn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begChr m:val="["/>
                        <m:sepChr m:val="−"/>
                        <m:endChr m:val="]"/>
                      </m:dPr>
                      <m:e/>
                      <m:e>
                        <m:r>
                          <a:rPr lang="vi-VN" sz="2400" b="0">
                            <a:solidFill>
                              <a:srgbClr val="1E293B"/>
                            </a:solidFill>
                            <a:latin typeface="Cambria Math" panose="02040503050406030204" pitchFamily="18" charset="0"/>
                          </a:rPr>
                          <m:t>10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10</m:t>
                        </m:r>
                      </m:e>
                    </m:d>
                  </m:oMath>
                </a14:m>
                <a:r>
                  <a:rPr sz="2400">
                    <a:solidFill>
                      <a:srgbClr val="1E293B"/>
                    </a:solidFill>
                    <a:latin typeface="Calibri"/>
                  </a:rPr>
                  <a:t> để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y=</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3</m:t>
                        </m:r>
                      </m:sup>
                    </m:sSup>
                    <m:r>
                      <a:rPr lang="vi-VN" sz="2400" b="0">
                        <a:solidFill>
                          <a:srgbClr val="1E293B"/>
                        </a:solidFill>
                        <a:latin typeface="Cambria Math" panose="02040503050406030204" pitchFamily="18" charset="0"/>
                      </a:rPr>
                      <m:t>−3</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+mx</m:t>
                    </m:r>
                  </m:oMath>
                </a14:m>
                <a:r>
                  <a:rPr sz="2400">
                    <a:solidFill>
                      <a:srgbClr val="1E293B"/>
                    </a:solidFill>
                    <a:latin typeface="Calibri"/>
                  </a:rPr>
                  <a:t> đồng biến trên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ℝ</m:t>
                    </m:r>
                  </m:oMath>
                </a14:m>
                <a:r>
                  <a:rPr sz="2400">
                    <a:solidFill>
                      <a:srgbClr val="1E293B"/>
                    </a:solidFill>
                    <a:latin typeface="Calibri"/>
                  </a:rPr>
                  <a:t>?</a:t>
                </a:r>
              </a:p>
              <a:p>
                <a:pPr algn="l">
                  <a:spcAft>
                    <a:spcPts val="800"/>
                  </a:spcAft>
                </a:pPr>
                <a:r>
                  <a:rPr sz="2400" b="1">
                    <a:solidFill>
                      <a:srgbClr val="1E40AF"/>
                    </a:solidFill>
                    <a:latin typeface="Calibri"/>
                  </a:rPr>
                  <a:t>Gợi mở: Đồng biến trên </a:t>
                </a:r>
                <a14:m>
                  <m:oMath xmlns:m="http://schemas.openxmlformats.org/officeDocument/2006/math">
                    <m:r>
                      <a:rPr lang="vi-VN" sz="2400" b="1">
                        <a:solidFill>
                          <a:srgbClr val="1E40AF"/>
                        </a:solidFill>
                        <a:latin typeface="Cambria Math" panose="02040503050406030204" pitchFamily="18" charset="0"/>
                      </a:rPr>
                      <m:t>ℝ</m:t>
                    </m:r>
                  </m:oMath>
                </a14:m>
                <a:r>
                  <a:rPr sz="2400" b="1">
                    <a:solidFill>
                      <a:srgbClr val="1E40AF"/>
                    </a:solidFill>
                    <a:latin typeface="Calibri"/>
                  </a:rPr>
                  <a:t> ⇔ </a:t>
                </a:r>
                <a14:m>
                  <m:oMath xmlns:m="http://schemas.openxmlformats.org/officeDocument/2006/math">
                    <m:sSup>
                      <m:e>
                        <m:r>
                          <a:rPr lang="vi-VN" sz="2400" b="1">
                            <a:solidFill>
                              <a:srgbClr val="1E40AF"/>
                            </a:solidFill>
                            <a:latin typeface="Cambria Math" panose="02040503050406030204" pitchFamily="18" charset="0"/>
                          </a:rPr>
                          <m:t>y</m:t>
                        </m:r>
                      </m:e>
                      <m:sup>
                        <m:r>
                          <a:rPr lang="vi-VN" sz="2400" b="1">
                            <a:solidFill>
                              <a:srgbClr val="1E40AF"/>
                            </a:solidFill>
                            <a:latin typeface="Cambria Math" panose="02040503050406030204" pitchFamily="18" charset="0"/>
                          </a:rPr>
                          <m:t>′</m:t>
                        </m:r>
                      </m:sup>
                    </m:sSup>
                    <m:r>
                      <a:rPr lang="vi-VN" sz="2400" b="1">
                        <a:solidFill>
                          <a:srgbClr val="1E40AF"/>
                        </a:solidFill>
                        <a:latin typeface="Cambria Math" panose="02040503050406030204" pitchFamily="18" charset="0"/>
                      </a:rPr>
                      <m:t>≥0</m:t>
                    </m:r>
                  </m:oMath>
                </a14:m>
                <a:r>
                  <a:rPr sz="2400" b="1">
                    <a:solidFill>
                      <a:srgbClr val="1E40AF"/>
                    </a:solidFill>
                    <a:latin typeface="Calibri"/>
                  </a:rPr>
                  <a:t> với mọi </a:t>
                </a:r>
                <a14:m>
                  <m:oMath xmlns:m="http://schemas.openxmlformats.org/officeDocument/2006/math">
                    <m:r>
                      <a:rPr lang="vi-VN" sz="2400" b="1">
                        <a:solidFill>
                          <a:srgbClr val="1E40AF"/>
                        </a:solidFill>
                        <a:latin typeface="Cambria Math" panose="02040503050406030204" pitchFamily="18" charset="0"/>
                      </a:rPr>
                      <m:t>x</m:t>
                    </m:r>
                  </m:oMath>
                </a14:m>
              </a:p>
            </p:txBody>
          </p:sp>
        </mc:Choice>
        <mc:Fallback>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Có bao nhiêu giá trị nguyên của tham số </a:t>
                </a:r>
                <a:r>
                  <a:rPr lang="vi-VN"/>
                  <a:t>m</a:t>
                </a:r>
                <a:r>
                  <a:rPr sz="2400">
                    <a:solidFill>
                      <a:srgbClr val="1E293B"/>
                    </a:solidFill>
                    <a:latin typeface="Calibri"/>
                  </a:rPr>
                  <a:t> thuộc đoạn </a:t>
                </a:r>
                <a:r>
                  <a:rPr lang="vi-VN"/>
                  <a:t>[ 10;10]</a:t>
                </a:r>
                <a:r>
                  <a:rPr sz="2400">
                    <a:solidFill>
                      <a:srgbClr val="1E293B"/>
                    </a:solidFill>
                    <a:latin typeface="Calibri"/>
                  </a:rPr>
                  <a:t> để hàm số </a:t>
                </a:r>
                <a:r>
                  <a:rPr lang="vi-VN"/>
                  <a:t>y=x^3−3x^2+mx</a:t>
                </a:r>
                <a:r>
                  <a:rPr sz="2400">
                    <a:solidFill>
                      <a:srgbClr val="1E293B"/>
                    </a:solidFill>
                    <a:latin typeface="Calibri"/>
                  </a:rPr>
                  <a:t> đồng biến trên </a:t>
                </a:r>
                <a:r>
                  <a:rPr lang="vi-VN"/>
                  <a:t>ℝ</a:t>
                </a:r>
                <a:r>
                  <a:rPr sz="2400">
                    <a:solidFill>
                      <a:srgbClr val="1E293B"/>
                    </a:solidFill>
                    <a:latin typeface="Calibri"/>
                  </a:rPr>
                  <a:t>?</a:t>
                </a:r>
              </a:p>
              <a:p>
                <a:pPr algn="l">
                  <a:spcAft>
                    <a:spcPts val="800"/>
                  </a:spcAft>
                </a:pPr>
                <a:r>
                  <a:rPr sz="2400" b="1">
                    <a:solidFill>
                      <a:srgbClr val="1E40AF"/>
                    </a:solidFill>
                    <a:latin typeface="Calibri"/>
                  </a:rPr>
                  <a:t>Gợi mở: Đồng biến trên </a:t>
                </a:r>
                <a:r>
                  <a:rPr lang="vi-VN"/>
                  <a:t>\mathbb{R}</a:t>
                </a:r>
                <a:r>
                  <a:rPr sz="2400" b="1">
                    <a:solidFill>
                      <a:srgbClr val="1E40AF"/>
                    </a:solidFill>
                    <a:latin typeface="Calibri"/>
                  </a:rPr>
                  <a:t> ⇔ </a:t>
                </a:r>
                <a:r>
                  <a:rPr lang="vi-VN"/>
                  <a:t>y'\ge 0</a:t>
                </a:r>
                <a:r>
                  <a:rPr sz="2400" b="1">
                    <a:solidFill>
                      <a:srgbClr val="1E40AF"/>
                    </a:solidFill>
                    <a:latin typeface="Calibri"/>
                  </a:rPr>
                  <a:t> với mọi </a:t>
                </a:r>
                <a:r>
                  <a:rPr lang="vi-VN"/>
                  <a:t>x</a:t>
                </a:r>
              </a:p>
            </p:txBody>
          </p:sp>
        </mc:Fallback>
      </mc:AlternateContent>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CÂU 13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34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=3</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−6x+m≥0</m:t>
                    </m:r>
                  </m:oMath>
                </a14:m>
                <a:r>
                  <a:rPr sz="2400">
                    <a:solidFill>
                      <a:srgbClr val="1E293B"/>
                    </a:solidFill>
                    <a:latin typeface="Calibri"/>
                  </a:rPr>
                  <a:t> với mọi </a:t>
                </a:r>
                <a14:m>
                  <m:oMath xmlns:m="http://schemas.openxmlformats.org/officeDocument/2006/math">
                    <m:r>
                      <a:rPr lang="vi-VN" sz="2400" b="0">
                        <a:solidFill>
                          <a:srgbClr val="1E293B"/>
                        </a:solidFill>
                        <a:latin typeface="Cambria Math" panose="02040503050406030204" pitchFamily="18" charset="0"/>
                      </a:rPr>
                      <m:t>x</m:t>
                    </m:r>
                  </m:oMath>
                </a14:m>
                <a:r>
                  <a:rPr sz="2400">
                    <a:solidFill>
                      <a:srgbClr val="1E293B"/>
                    </a:solidFill>
                    <a:latin typeface="Calibri"/>
                  </a:rPr>
                  <a:t> ⇔ </a:t>
                </a:r>
                <a14:m>
                  <m:oMath xmlns:m="http://schemas.openxmlformats.org/officeDocument/2006/math">
                    <m:sSup>
                      <m:e>
                        <m:r>
                          <a:rPr lang="vi-VN" sz="2400" b="0">
                            <a:solidFill>
                              <a:srgbClr val="1E293B"/>
                            </a:solidFill>
                            <a:latin typeface="Cambria Math" panose="02040503050406030204" pitchFamily="18" charset="0"/>
                          </a:rPr>
                          <m:t>Δ</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=9−3m≤0</m:t>
                    </m:r>
                  </m:oMath>
                </a14:m>
                <a:r>
                  <a:rPr sz="2400">
                    <a:solidFill>
                      <a:srgbClr val="1E293B"/>
                    </a:solidFill>
                    <a:latin typeface="Calibri"/>
                  </a:rPr>
                  <a:t> ⇔ </a:t>
                </a:r>
                <a14:m>
                  <m:oMath xmlns:m="http://schemas.openxmlformats.org/officeDocument/2006/math">
                    <m:r>
                      <a:rPr lang="vi-VN" sz="2400" b="0">
                        <a:solidFill>
                          <a:srgbClr val="1E293B"/>
                        </a:solidFill>
                        <a:latin typeface="Cambria Math" panose="02040503050406030204" pitchFamily="18" charset="0"/>
                      </a:rPr>
                      <m:t>m≥3</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m</m:t>
                    </m:r>
                  </m:oMath>
                </a14:m>
                <a:r>
                  <a:rPr sz="2400">
                    <a:solidFill>
                      <a:srgbClr val="1E293B"/>
                    </a:solidFill>
                    <a:latin typeface="Calibri"/>
                  </a:rPr>
                  <a:t> nguyên thuộc </a:t>
                </a:r>
                <a14:m>
                  <m:oMath xmlns:m="http://schemas.openxmlformats.org/officeDocument/2006/math">
                    <m:d>
                      <m:dPr>
                        <m:begChr m:val="["/>
                        <m:sepChr m:val=""/>
                        <m:endChr m:val="]"/>
                      </m:dPr>
                      <m:e>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10</m:t>
                        </m:r>
                      </m:e>
                    </m:d>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m∈{3;4;…;10}</m:t>
                    </m:r>
                  </m:oMath>
                </a14:m>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y'=3x^2-6x+m\ge 0</a:t>
                </a:r>
                <a:r>
                  <a:rPr sz="2400">
                    <a:solidFill>
                      <a:srgbClr val="1E293B"/>
                    </a:solidFill>
                    <a:latin typeface="Calibri"/>
                  </a:rPr>
                  <a:t> với mọi </a:t>
                </a:r>
                <a:r>
                  <a:rPr lang="vi-VN"/>
                  <a:t>x</a:t>
                </a:r>
                <a:r>
                  <a:rPr sz="2400">
                    <a:solidFill>
                      <a:srgbClr val="1E293B"/>
                    </a:solidFill>
                    <a:latin typeface="Calibri"/>
                  </a:rPr>
                  <a:t> ⇔ </a:t>
                </a:r>
                <a:r>
                  <a:rPr lang="vi-VN"/>
                  <a:t>\Delta'=9-3m\le 0</a:t>
                </a:r>
                <a:r>
                  <a:rPr sz="2400">
                    <a:solidFill>
                      <a:srgbClr val="1E293B"/>
                    </a:solidFill>
                    <a:latin typeface="Calibri"/>
                  </a:rPr>
                  <a:t> ⇔ </a:t>
                </a:r>
                <a:r>
                  <a:rPr lang="vi-VN"/>
                  <a:t>m\ge 3</a:t>
                </a:r>
              </a:p>
              <a:p>
                <a:pPr algn="l" marL="365760" indent="-365760">
                  <a:spcAft>
                    <a:spcPts val="800"/>
                  </a:spcAft>
                  <a:buClr>
                    <a:srgbClr val="1E40AF"/>
                  </a:buClr>
                  <a:buFont typeface="Arial"/>
                  <a:buChar char="•"/>
                </a:pPr>
                <a:r>
                  <a:rPr lang="vi-VN"/>
                  <a:t>m</a:t>
                </a:r>
                <a:r>
                  <a:rPr sz="2400">
                    <a:solidFill>
                      <a:srgbClr val="1E293B"/>
                    </a:solidFill>
                    <a:latin typeface="Calibri"/>
                  </a:rPr>
                  <a:t> nguyên thuộc </a:t>
                </a:r>
                <a:r>
                  <a:rPr lang="vi-VN"/>
                  <a:t>[-10;10]</a:t>
                </a:r>
                <a:r>
                  <a:rPr sz="2400">
                    <a:solidFill>
                      <a:srgbClr val="1E293B"/>
                    </a:solidFill>
                    <a:latin typeface="Calibri"/>
                  </a:rPr>
                  <a:t>: </a:t>
                </a:r>
                <a:r>
                  <a:rPr lang="vi-VN"/>
                  <a:t>m\in\{3;4;\ldots;10\}</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Đáp số: 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VỀ NHÀ</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ÔN LUYỆN Ở NHÀ</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35</a:t>
            </a:r>
          </a:p>
        </p:txBody>
      </p:sp>
      <p:sp>
        <p:nvSpPr>
          <p:cNvPr id="7" name="TextBox 6"/>
          <p:cNvSpPr txBox="1"/>
          <p:nvPr/>
        </p:nvSpPr>
        <p:spPr>
          <a:xfrm>
            <a:off x="731520" y="1463040"/>
            <a:ext cx="10789920" cy="24201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Làm đề </a:t>
            </a:r>
            <a:r>
              <a:rPr sz="2400" b="1">
                <a:solidFill>
                  <a:srgbClr val="1E293B"/>
                </a:solidFill>
                <a:latin typeface="Calibri"/>
              </a:rPr>
              <a:t>Ôn luyện kiểm tra giữa kì I – Toán 12</a:t>
            </a:r>
            <a:r>
              <a:rPr sz="2400">
                <a:solidFill>
                  <a:srgbClr val="1E293B"/>
                </a:solidFill>
                <a:latin typeface="Calibri"/>
              </a:rPr>
              <a:t> (đủ 3 phần, có chấm điểm):</a:t>
            </a:r>
          </a:p>
          <a:p>
            <a:pPr algn="l">
              <a:spcAft>
                <a:spcPts val="800"/>
              </a:spcAft>
            </a:pPr>
            <a:r>
              <a:rPr sz="2400" b="1">
                <a:solidFill>
                  <a:srgbClr val="1E40AF"/>
                </a:solidFill>
                <a:latin typeface="Calibri"/>
              </a:rPr>
              <a:t>trangtu66.github.io/Taode_thi_online/kt_toan12_gki.html</a:t>
            </a:r>
          </a:p>
          <a:p>
            <a:pPr algn="l" marL="365760" indent="-365760">
              <a:spcAft>
                <a:spcPts val="800"/>
              </a:spcAft>
              <a:buClr>
                <a:srgbClr val="1E40AF"/>
              </a:buClr>
              <a:buFont typeface="Arial"/>
              <a:buChar char="•"/>
            </a:pPr>
            <a:r>
              <a:rPr sz="2400">
                <a:solidFill>
                  <a:srgbClr val="1E293B"/>
                </a:solidFill>
                <a:latin typeface="Calibri"/>
              </a:rPr>
              <a:t>HS chưa vững làm thêm đề Ôn tập Chương I:</a:t>
            </a:r>
          </a:p>
          <a:p>
            <a:pPr algn="l">
              <a:spcAft>
                <a:spcPts val="800"/>
              </a:spcAft>
            </a:pPr>
            <a:r>
              <a:rPr sz="2400" b="1">
                <a:solidFill>
                  <a:srgbClr val="1E40AF"/>
                </a:solidFill>
                <a:latin typeface="Calibri"/>
              </a:rPr>
              <a:t>trangtu66.github.io/Taode_thi_online/oc_toan12_chuong1.html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SƠ ĐỒ TƯ DUY ÔN TẬP</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36</a:t>
            </a:r>
          </a:p>
        </p:txBody>
      </p:sp>
      <p:pic>
        <p:nvPicPr>
          <p:cNvPr id="6" name="Picture 5" descr="img02.png"/>
          <p:cNvPicPr>
            <a:picLocks noChangeAspect="1"/>
          </p:cNvPicPr>
          <p:nvPr/>
        </p:nvPicPr>
        <p:blipFill>
          <a:blip r:embed="rId2"/>
          <a:stretch>
            <a:fillRect/>
          </a:stretch>
        </p:blipFill>
        <p:spPr>
          <a:xfrm>
            <a:off x="2213218" y="1417320"/>
            <a:ext cx="7735084" cy="4343400"/>
          </a:xfrm>
          <a:prstGeom prst="rect">
            <a:avLst/>
          </a:prstGeom>
        </p:spPr>
      </p:pic>
      <p:sp>
        <p:nvSpPr>
          <p:cNvPr id="7" name="TextBox 6"/>
          <p:cNvSpPr txBox="1"/>
          <p:nvPr/>
        </p:nvSpPr>
        <p:spPr>
          <a:xfrm>
            <a:off x="731520" y="5806440"/>
            <a:ext cx="10698480" cy="457200"/>
          </a:xfrm>
          <a:prstGeom prst="rect">
            <a:avLst/>
          </a:prstGeom>
          <a:noFill/>
        </p:spPr>
        <p:txBody>
          <a:bodyPr wrap="square" anchor="t" lIns="45720" rIns="45720">
            <a:spAutoFit/>
          </a:bodyPr>
          <a:lstStyle/>
          <a:p>
            <a:pPr algn="ctr">
              <a:spcAft>
                <a:spcPts val="800"/>
              </a:spcAft>
            </a:pPr>
            <a:r>
              <a:rPr sz="2000" b="1">
                <a:solidFill>
                  <a:srgbClr val="1E40AF"/>
                </a:solidFill>
                <a:latin typeface="Calibri"/>
              </a:rPr>
              <a:t>Nêu nội dung từng nhánh</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CHUẨN BỊ KIỂM TRA GIỮA KÌ I</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37</a:t>
            </a:r>
          </a:p>
        </p:txBody>
      </p:sp>
      <p:sp>
        <p:nvSpPr>
          <p:cNvPr id="6" name="TextBox 5"/>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b="1">
                <a:solidFill>
                  <a:srgbClr val="1E293B"/>
                </a:solidFill>
                <a:latin typeface="Calibri"/>
              </a:rPr>
              <a:t>Kiểm tra giữa kì I</a:t>
            </a:r>
            <a:r>
              <a:rPr sz="2400">
                <a:solidFill>
                  <a:srgbClr val="1E293B"/>
                </a:solidFill>
                <a:latin typeface="Calibri"/>
              </a:rPr>
              <a:t> (T26, T27 – 90 phút)</a:t>
            </a:r>
          </a:p>
          <a:p>
            <a:pPr algn="l" marL="365760" indent="-365760">
              <a:spcAft>
                <a:spcPts val="800"/>
              </a:spcAft>
              <a:buClr>
                <a:srgbClr val="1E40AF"/>
              </a:buClr>
              <a:buFont typeface="Arial"/>
              <a:buChar char="•"/>
            </a:pPr>
            <a:r>
              <a:rPr sz="2400">
                <a:solidFill>
                  <a:srgbClr val="1E293B"/>
                </a:solidFill>
                <a:latin typeface="Calibri"/>
              </a:rPr>
              <a:t>Ôn theo sơ đồ tư duy và phiếu luyện tập</a:t>
            </a:r>
          </a:p>
          <a:p>
            <a:pPr algn="l" marL="365760" indent="-365760">
              <a:spcAft>
                <a:spcPts val="800"/>
              </a:spcAft>
              <a:buClr>
                <a:srgbClr val="1E40AF"/>
              </a:buClr>
              <a:buFont typeface="Arial"/>
              <a:buChar char="•"/>
            </a:pPr>
            <a:r>
              <a:rPr sz="2400">
                <a:solidFill>
                  <a:srgbClr val="1E293B"/>
                </a:solidFill>
                <a:latin typeface="Calibri"/>
              </a:rPr>
              <a:t>Mang máy tính cầm tay, thước kẻ, bút chì</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BÀI TẬP CỦA BẠN</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Ôn tập giữa kì I          38</a:t>
            </a:r>
          </a:p>
        </p:txBody>
      </p:sp>
      <p:sp>
        <p:nvSpPr>
          <p:cNvPr id="6" name="Rectangle 5"/>
          <p:cNvSpPr/>
          <p:nvPr/>
        </p:nvSpPr>
        <p:spPr>
          <a:xfrm>
            <a:off x="731520" y="1463040"/>
            <a:ext cx="4572000" cy="4572000"/>
          </a:xfrm>
          <a:prstGeom prst="rect">
            <a:avLst/>
          </a:prstGeom>
          <a:solidFill>
            <a:srgbClr val="F8FAFC"/>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R_CungCo_OnTapGK1_Toan12.png"/>
          <p:cNvPicPr>
            <a:picLocks noChangeAspect="1"/>
          </p:cNvPicPr>
          <p:nvPr/>
        </p:nvPicPr>
        <p:blipFill>
          <a:blip r:embed="rId2"/>
          <a:stretch>
            <a:fillRect/>
          </a:stretch>
        </p:blipFill>
        <p:spPr>
          <a:xfrm>
            <a:off x="960120" y="1691640"/>
            <a:ext cx="4114800" cy="4114800"/>
          </a:xfrm>
          <a:prstGeom prst="rect">
            <a:avLst/>
          </a:prstGeom>
        </p:spPr>
      </p:pic>
      <p:sp>
        <p:nvSpPr>
          <p:cNvPr id="8" name="TextBox 7"/>
          <p:cNvSpPr txBox="1"/>
          <p:nvPr/>
        </p:nvSpPr>
        <p:spPr>
          <a:xfrm>
            <a:off x="5760720" y="1554480"/>
            <a:ext cx="6035040" cy="31089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600">
                <a:solidFill>
                  <a:srgbClr val="1E293B"/>
                </a:solidFill>
                <a:latin typeface="Calibri"/>
              </a:rPr>
              <a:t>Quét mã QR bằng điện thoại</a:t>
            </a:r>
          </a:p>
          <a:p>
            <a:pPr algn="l" marL="365760" indent="-365760">
              <a:spcAft>
                <a:spcPts val="800"/>
              </a:spcAft>
              <a:buClr>
                <a:srgbClr val="1E40AF"/>
              </a:buClr>
              <a:buFont typeface="Arial"/>
              <a:buChar char="•"/>
            </a:pPr>
            <a:r>
              <a:rPr sz="2600">
                <a:solidFill>
                  <a:srgbClr val="1E293B"/>
                </a:solidFill>
                <a:latin typeface="Calibri"/>
              </a:rPr>
              <a:t>Nhập họ tên và lớp</a:t>
            </a:r>
          </a:p>
          <a:p>
            <a:pPr algn="l" marL="365760" indent="-365760">
              <a:spcAft>
                <a:spcPts val="800"/>
              </a:spcAft>
              <a:buClr>
                <a:srgbClr val="1E40AF"/>
              </a:buClr>
              <a:buFont typeface="Arial"/>
              <a:buChar char="•"/>
            </a:pPr>
            <a:r>
              <a:rPr sz="2600">
                <a:solidFill>
                  <a:srgbClr val="1E293B"/>
                </a:solidFill>
                <a:latin typeface="Calibri"/>
              </a:rPr>
              <a:t>7 câu – làm trong 7 phút</a:t>
            </a:r>
          </a:p>
          <a:p>
            <a:pPr algn="l" marL="365760" indent="-365760">
              <a:spcAft>
                <a:spcPts val="800"/>
              </a:spcAft>
              <a:buClr>
                <a:srgbClr val="1E40AF"/>
              </a:buClr>
              <a:buFont typeface="Arial"/>
              <a:buChar char="•"/>
            </a:pPr>
            <a:r>
              <a:rPr sz="2600">
                <a:solidFill>
                  <a:srgbClr val="1E293B"/>
                </a:solidFill>
                <a:latin typeface="Calibri"/>
              </a:rPr>
              <a:t>Nộp bài, xem lời giải</a:t>
            </a:r>
          </a:p>
        </p:txBody>
      </p:sp>
      <p:sp>
        <p:nvSpPr>
          <p:cNvPr id="9" name="TextBox 8"/>
          <p:cNvSpPr txBox="1"/>
          <p:nvPr/>
        </p:nvSpPr>
        <p:spPr>
          <a:xfrm>
            <a:off x="5760720" y="4754880"/>
            <a:ext cx="6035040" cy="1188720"/>
          </a:xfrm>
          <a:prstGeom prst="rect">
            <a:avLst/>
          </a:prstGeom>
          <a:noFill/>
        </p:spPr>
        <p:txBody>
          <a:bodyPr wrap="square" anchor="t" lIns="45720" rIns="45720">
            <a:spAutoFit/>
          </a:bodyPr>
          <a:lstStyle/>
          <a:p>
            <a:pPr algn="l">
              <a:spcAft>
                <a:spcPts val="800"/>
              </a:spcAft>
            </a:pPr>
            <a:r>
              <a:rPr sz="1800" b="1">
                <a:solidFill>
                  <a:srgbClr val="1E40AF"/>
                </a:solidFill>
                <a:latin typeface="Calibri"/>
                <a:hlinkClick r:id="rId3"/>
              </a:rPr>
              <a:t>trangtu66.github.io/Taode_thi_online/cc_ontapgk1_t12.html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