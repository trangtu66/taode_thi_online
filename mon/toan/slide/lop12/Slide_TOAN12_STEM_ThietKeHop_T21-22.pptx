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HS quan sát 3 hộp gấp sẵn x = 2, 4, 7 cm; ghi lại dự đoán, chưa công bố đáp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HS quan sát 3 hộp gấp sẵn x = 2, 4, 7 cm; ghi lại dự đoán, chưa công bố đáp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thành viên nhập bảng tính (bước 0,1 cm), 1 thành viên vẽ GeoGebra.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thành viên nhập bảng tính (bước 0,1 cm), 1 thành viên vẽ GeoGebra.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thành viên nhập bảng tính (bước 0,1 cm), 1 thành viên vẽ GeoGebra.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duyệt và ký bản thiết kế của từng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an toàn khi dùng kéo, dao rọc giấy; nộp ảnh, video lên Classroom/Padlet.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an toàn khi dùng kéo, dao rọc giấy; nộp ảnh, video lên Classroom/Padlet.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nhóm 3 phút trình bày, 1 – 2 phút trả lời; đánh giá vòng tròn theo thang 10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stem_hop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STEM: THIẾT KẾ HỘP CÓ THỂ TÍCH LỚN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với lượng vật liệu cho trước – Bài 5. Ứng dụng đạo hàm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06240"/>
            <a:ext cx="2286000" cy="36576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59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21, 22 theo PPCT · Năm học 2026 – 2027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Trường THPT – Tổ Toán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YÊU CẦU CẦN ĐẠT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202387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 thể tích hộp, tìm tập xác định phù hợp thực tế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đạo hàm, bảng biến thiên tìm kích thước cho thể tích lớn nhất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Thiết kế, chế tạo, thử nghiệm hộp từ một tấm bìa A4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sai số giữa thể tích thiết kế và thể tích đo thực tế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38967" y="457200"/>
            <a:ext cx="7040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2687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QUY TRÌNH THIẾT KẾ KĨ THUẬT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2529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HĐ1. Xác định vấn đề và tiêu chí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HĐ2. Nghiên cứu kiến thức nền, đề xuất giải pháp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HĐ3. Lựa chọn giải pháp (bản thiết kế)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HĐ4. Chế tạo, thử nghiệm, đánh giá (ngoài giờ)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HĐ5. Chia sẻ, thảo luận, điều chỉnh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HOẠT ĐỘNG 1: XÁC ĐỊNH 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(T21)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ĐẶT VẤN ĐỀ: HỘP ĐỰNG CÀ PHÊ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7589520" cy="23103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Hợp tác xã cà phê làm hộp giấy không nắp từ tấm bìa A4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21×29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cm): cắt bỏ ở bốn góc bốn hình vuông bằng nhau rồi gập lên.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40AF"/>
                    </a:solidFill>
                    <a:latin typeface="Calibri"/>
                  </a:rPr>
                  <a:t>Cần cắt góc bao nhiêu để hộp đựng được nhiều cà phê nhất?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40AF"/>
                    </a:solidFill>
                    <a:latin typeface="Calibri"/>
                  </a:rPr>
                  <a:t>Gợi mở: Cắt góc lớn: hộp cao nhưng đáy nhỏ; cắt góc nhỏ: đáy rộng nhưng thấp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7589520" cy="23103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Hợp tác xã cà phê làm hộp giấy không nắp từ tấm bìa A4 (</a:t>
                </a:r>
                <a:r>
                  <a:rPr lang="vi-VN"/>
                  <a:t>21\times 29{,}7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cm): cắt bỏ ở bốn góc bốn hình vuông bằng nhau rồi gập lên.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40AF"/>
                    </a:solidFill>
                    <a:latin typeface="Calibri"/>
                  </a:rPr>
                  <a:t>Cần cắt góc bao nhiêu để hộp đựng được nhiều cà phê nhất?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40AF"/>
                    </a:solidFill>
                    <a:latin typeface="Calibri"/>
                  </a:rPr>
                  <a:t>Gợi mở: Cắt góc lớn: hộp cao nhưng đáy nhỏ; cắt góc nhỏ: đáy rộng nhưng thấp</a:t>
                </a:r>
              </a:p>
            </p:txBody>
          </p:sp>
        </mc:Fallback>
      </mc:AlternateContent>
      <p:pic>
        <p:nvPicPr>
          <p:cNvPr id="8" name="Picture 7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583180"/>
            <a:ext cx="32918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ĐẶT VẤN ĐỀ: HỘP ĐỰNG CÀ PHÊ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là một hàm số của cạnh cắt bỏ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Cần tìm giá trị lớn nhất của hàm số – dùng đạo hàm (Bài 5)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Kết quả được giải ở Hoạt động 2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là một hàm số của cạnh cắt bỏ </a:t>
                </a:r>
                <a:r>
                  <a:rPr lang="vi-VN"/>
                  <a:t>x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Cần tìm giá trị lớn nhất của hàm số – dùng đạo hàm (Bài 5)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Kết quả được giải ở Hoạt động 2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TIÊU CHÍ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3698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236981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Tiêu chí 1 (vật liệu): làm từ đúng một tấm bìa A4, không ghép thêm bìa (được dùng băng dính để cố định góc).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Tiêu chí 2 (thể tích): kích thước được tính toán để thể tích lớn nhất; thể tích đo thực tế sai lệch không quá 10% so với thiết kế.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TIÊU CHÍ SẢN PHẨM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1950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9235440" cy="1950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Tiêu chí 3 (độ bền): hộp đứng vững, chứa đầy gạo không bị bung, biến dạng.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Tiêu chí 4 (thẩm mĩ, thông tin): có nhãn sản phẩm, ghi kích thước và thể tích.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HỌC TẬP SỐ 1: DỰ ĐOÁN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thể tích hộp với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thay đổi thế nào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tăng?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Đáy hộp: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chiều cao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Tính thể tích hộp với </a:t>
                </a:r>
                <a:r>
                  <a:rPr lang="vi-VN"/>
                  <a:t>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7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(cm)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thay đổi thế nào khi </a:t>
                </a:r>
                <a:r>
                  <a:rPr lang="vi-VN"/>
                  <a:t>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tăng?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Đáy hộp: </a:t>
                </a:r>
                <a:r>
                  <a:rPr lang="vi-VN"/>
                  <a:t>(21-2x)\times(29{,}7-2x)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chiều cao </a:t>
                </a:r>
                <a:r>
                  <a:rPr lang="vi-VN"/>
                  <a:t>x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HỌC TẬP SỐ 1: DỰ ĐOÁN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V(2)=2·17·25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7=873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V(3)=3·15·23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066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V(5)=5·11·19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083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V(7)=7·7·15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7=769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tăng rồi giảm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V(2)=2\cdot 17\cdot 25{,}7=873{,}8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V(3)=3\cdot 15\cdot 23{,}7=1\,066{,}5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V(5)=5\cdot 11\cdot 19{,}7=1\,083{,}5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V(7)=7\cdot 7\cdot 15{,}7=769{,}3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\mathrm{cm^3}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Thể tích tăng rồi giảm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118104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18104"/>
            <a:ext cx="92354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Giá trị lớn nhất nằm trong khoảng từ 3 đến 5 cm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HOẠT ĐỘNG 2: KIẾN THỨC NỀN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82351" y="457200"/>
            <a:ext cx="106070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91209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QUY TRÌNH GIẢI BÀI TOÁN TỐI ƯU HOÁ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9601200" cy="2103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031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1. Xác định đại lượng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cần lớn nhất (nhỏ nhất), biểu diễn qua các đại lượng khác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2. Chọn biến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biểu diễn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Q=Q(x)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tìm tập xác định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3. Tìm GTLN (GTNN) của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Q(x)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và kết luận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1463040"/>
                <a:ext cx="9235440" cy="21031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1. Xác định đại lượng </a:t>
                </a:r>
                <a:r>
                  <a:rPr lang="vi-VN"/>
                  <a:t>Q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cần lớn nhất (nhỏ nhất), biểu diễn qua các đại lượng khác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2. Chọn biến </a:t>
                </a:r>
                <a:r>
                  <a:rPr lang="vi-VN"/>
                  <a:t>x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biểu diễn </a:t>
                </a:r>
                <a:r>
                  <a:rPr lang="vi-VN"/>
                  <a:t>Q=Q(x)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tìm tập xác định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Bước 3. Tìm GTLN (GTNN) của </a:t>
                </a:r>
                <a:r>
                  <a:rPr lang="vi-VN"/>
                  <a:t>Q(x)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và kết luận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SỐ 2: TẤM BÌA HÌNH VUÔNG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452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Bài toán hộp không nắp từ tấm bìa hình vuông (Phiếu học tập số 2).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một tấm bìa hình vuông cạnh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cắt bỏ ở bốn góc bốn hình vuông bằng nhau cạnh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rồi gập thành hộp không nắp. Tìm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thể tích hộp lớn nhất.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Lập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điều kiện của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Tìm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lớn nhất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452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Bài toán hộp không nắp từ tấm bìa hình vuông (Phiếu học tập số 2).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một tấm bìa hình vuông cạnh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cắt bỏ ở bốn góc bốn hình vuông bằng nhau cạnh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rồi gập thành hộp không nắp. Tìm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thể tích hộp lớn nhất.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Lập </a:t>
                </a: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theo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điều kiện của </a:t>
                </a:r>
                <a:r>
                  <a:rPr lang="vi-VN"/>
                  <a:t>x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Tìm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lớn nhất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SỐ 2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45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Áp dụng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a=30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Phân tích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(x)</m:t>
                    </m:r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thành nhân tử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945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Áp dụng </a:t>
                </a:r>
                <a:r>
                  <a:rPr lang="vi-VN"/>
                  <a:t>a=30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Phân tích </a:t>
                </a:r>
                <a:r>
                  <a:rPr lang="vi-VN"/>
                  <a:t>V'(x)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thành nhân tử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SỐ 2: TẤM BÌA HÌNH VUÔNG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35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V=x(a−2x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(x)=(a−2x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−4x(a−2x)=(a−2x)(a−6x)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(loại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358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V=x(a-2x)^2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0&lt;x&lt;\frac{a}{2}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V'(x)=(a-2x)^2-4x(a-2x)=(a-2x)(a-6x)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V'(x)=0\Leftrightarrow x=\frac{a}{6}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(loại </a:t>
                </a:r>
                <a:r>
                  <a:rPr lang="vi-VN"/>
                  <a:t>x=\frac{a}{2}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\left(0;\frac{a}{6}\right)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:r>
                  <a:rPr lang="vi-VN"/>
                  <a:t>\left(\frac{a}{6};\frac{a}{2}\right)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SỐ 2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p>
                      <m:e>
                        <m:d>
                          <m:dPr>
                            <m:sepChr m:val=""/>
                          </m:dPr>
                          <m:e>
                            <m:f>
                              <m:fPr>
                                <m:type m:val="bar"/>
                              </m:fPr>
                              <m:num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2a</m:t>
                                </m:r>
                              </m:num>
                              <m:den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a=30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3624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V_{max}=\frac{a}{6}\cdot\left(\frac{2a}{3}\right)^2=\frac{2a^3}{27}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a=30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cm, </a:t>
                </a:r>
                <a:r>
                  <a:rPr lang="vi-VN"/>
                  <a:t>V_{max}=2\,000\ \mathrm{cm^3}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036442"/>
            <a:ext cx="9601200" cy="107060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036442"/>
                <a:ext cx="9235440" cy="107060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Tấm vuông: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036442"/>
                <a:ext cx="9235440" cy="107060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Tấm vuông: </a:t>
                </a:r>
                <a:r>
                  <a:rPr lang="vi-VN"/>
                  <a:t>x=\frac{a}{6}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, </a:t>
                </a:r>
                <a:r>
                  <a:rPr lang="vi-VN"/>
                  <a:t>V_{max}=\frac{2a^3}{27}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NỘI DUNG 3: TẤM BÌA A4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Lập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cho tấm A4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cm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×29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để thể tích lớn nhất; kiểm chứng bằng bảng tính, GeoGebra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V(x)=x(21−2x)(29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7−2x)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0&lt;x&lt;10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Lập </a:t>
                </a:r>
                <a:r>
                  <a:rPr lang="vi-VN"/>
                  <a:t>V(x)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cho tấm A4 </a:t>
                </a:r>
                <a:r>
                  <a:rPr lang="vi-VN"/>
                  <a:t>21\ \mathrm{cm}\times 29{,}7\ \mathrm{cm}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</a:t>
                </a:r>
                <a:r>
                  <a:rPr lang="vi-VN"/>
                  <a:t>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để thể tích lớn nhất; kiểm chứng bằng bảng tính, GeoGebra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:r>
                  <a:rPr lang="vi-VN"/>
                  <a:t>V(x)=x(21-2x)(29{,}7-2x)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</a:t>
                </a:r>
                <a:r>
                  <a:rPr lang="vi-VN"/>
                  <a:t>0&lt;x&lt;10{,}5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NỘI DUNG 3: TẤM BÌA A4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452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V(x)=4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−101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+623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7x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(x)=12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−202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8x+623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7=0⇔x≈4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x≈12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86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(loại)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04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04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214528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V(x)=4x^3-101{,}4x^2+623{,}7x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V'(x)=12x^2-202{,}8x+623{,}7=0\Leftrightarrow x\approx 4{,}04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x\approx 12{,}86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(loại)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(0;4{,}04)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:r>
                  <a:rPr lang="vi-VN"/>
                  <a:t>(4{,}04;10{,}5)</a:t>
                </a:r>
              </a:p>
            </p:txBody>
          </p:sp>
        </mc:Fallback>
      </mc:AlternateContent>
      <p:pic>
        <p:nvPicPr>
          <p:cNvPr id="8" name="Picture 7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15540"/>
            <a:ext cx="4389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NỘI DUNG 3: TẤM BÌA A4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cắt thực tế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V(4)≈1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6400800" cy="8361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V_{max}\approx 1\,128{,}5\ \mathrm{cm^3}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cắt thực tế </a:t>
                </a:r>
                <a:r>
                  <a:rPr lang="vi-VN"/>
                  <a:t>x=4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cm: </a:t>
                </a:r>
                <a:r>
                  <a:rPr lang="vi-VN"/>
                  <a:t>V(4)\approx 1\,128{,}4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2436368"/>
            <a:ext cx="6400800" cy="6934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x≈4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cm, thể tích khoảng 1,13 lít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2436368"/>
                <a:ext cx="6035040" cy="6934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x\approx 4{,}04</a:t>
                </a: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 cm, thể tích khoảng 1,13 lít</a:t>
                </a:r>
              </a:p>
            </p:txBody>
          </p:sp>
        </mc:Fallback>
      </mc:AlternateContent>
      <p:pic>
        <p:nvPicPr>
          <p:cNvPr id="10" name="Picture 9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15540"/>
            <a:ext cx="438912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HOẠT ĐỘNG 3: LỰA CHỌN 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1 (T21)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PHIẾU HỌC TẬP SỐ 3 – BẢN THIẾT KẾ HỘP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Hình khai triển trên tấm A4 (tỉ lệ 1 : 2), nét gấp, mép dán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Giá trị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được chọn, kích thước đáy, chiều cao, thể tích dự kiến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Phân công: đo kẻ – cắt – gấp dán – thử nghiệm – ghi hình – slide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151790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Hình khai triển trên tấm A4 (tỉ lệ 1 : 2), nét gấp, mép dán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Giá trị </a:t>
                </a:r>
                <a:r>
                  <a:rPr lang="vi-VN"/>
                  <a:t>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được chọn, kích thước đáy, chiều cao, thể tích dự kiến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Phân công: đo kẻ – cắt – gấp dán – thử nghiệm – ghi hình – slide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CỦA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089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Chatbot AI trả lời bài toán hộp từ tấm A4: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"Cạnh cắt bỏ tối ưu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cm, thể tích lớn nhất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5·14·22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7=1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Lời giải đúng hay sai?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10896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Chatbot AI trả lời bài toán hộp từ tấm A4: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"Cạnh cắt bỏ tối ưu là </a:t>
                </a:r>
                <a:r>
                  <a:rPr lang="vi-VN"/>
                  <a:t>x=\frac{a}{6}=\frac{21}{6}=3{,}5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cm, thể tích lớn nhất là </a:t>
                </a:r>
                <a:r>
                  <a:rPr lang="vi-VN"/>
                  <a:t>3{,}5\cdot 14\cdot 22{,}7=1\,112{,}3\ \mathrm{cm^3}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."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Lời giải đúng hay sai?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0934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Vì sao?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Công thức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được chứng minh cho loại tấm bìa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10934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Vì sao?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Gợi mở: Công thức </a:t>
                </a:r>
                <a:r>
                  <a:rPr lang="vi-VN"/>
                  <a:t>x=\frac{a}{6}</a:t>
                </a: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 được chứng minh cho loại tấm bìa nào?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AI: LỜI GIẢI CỦA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962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Công thức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chỉ đúng với tấm bìa hình vuông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Tấm A4 là hình chữ nhật: phải lập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V(x)=x(21−2x)(29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7−2x)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giải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V(3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5)≈1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3&lt;V(4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04)≈1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962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Công thức </a:t>
                </a:r>
                <a:r>
                  <a:rPr lang="vi-VN"/>
                  <a:t>x=\frac{a}{6}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chỉ đúng với tấm bìa hình vuông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Tấm A4 là hình chữ nhật: phải lập </a:t>
                </a:r>
                <a:r>
                  <a:rPr lang="vi-VN"/>
                  <a:t>V(x)=x(21-2x)(29{,}7-2x)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giải </a:t>
                </a:r>
                <a:r>
                  <a:rPr lang="vi-VN"/>
                  <a:t>V'(x)=0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V(3{,}5)\approx 1\,112{,}3&lt;V(4{,}04)\approx 1\,128{,}5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296412"/>
            <a:ext cx="9601200" cy="11887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6412"/>
            <a:ext cx="923544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tra điều kiện áp dụng công thức; không chép kết quả AI khi chưa kiểm chứng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HĐ4: CHẾ TẠO, THỬ NGHIỆM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1846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Đo, kẻ, cắt bốn góc hình vuông cạnh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đã chọn; gấp theo nét đứt, dán góc hộp bằng băng dính.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Đổ đầy gạo, đong lại để đo thể tích thực tế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tt</m:t>
                        </m:r>
                      </m:sub>
                    </m:sSub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Sai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δ=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tt</m:t>
                                </m:r>
                              </m:sub>
                            </m:s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tk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tk</m:t>
                            </m:r>
                          </m:sub>
                        </m:sSub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·100%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(đạt nếu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≤10%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Làm hộp đối chứng thứ hai với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khác (ví dụ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cm) để so sánh.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418461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Đo, kẻ, cắt bốn góc hình vuông cạnh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đã chọn; gấp theo nét đứt, dán góc hộp bằng băng dính.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Đổ đầy gạo, đong lại để đo thể tích thực tế </a:t>
                </a:r>
                <a:r>
                  <a:rPr lang="vi-VN"/>
                  <a:t>V_{tt}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Sai số </a:t>
                </a:r>
                <a:r>
                  <a:rPr lang="vi-VN"/>
                  <a:t>\delta=\frac{|V_{tt}-V_{tk}|}{V_{tk}}\cdot 100\%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(đạt nếu </a:t>
                </a:r>
                <a:r>
                  <a:rPr lang="vi-VN"/>
                  <a:t>\le 10\%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Làm hộp đối chứng thứ hai với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khác (ví dụ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cm) để so sánh.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VỀ NHÀ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HĐ4 (TIẾP)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83616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Trang trí nhãn sản phẩm; làm 3 – 5 slide báo cáo; ghi Nhật ký sử dụng AI (nếu có).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THỬ NGHIỆM MẪU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Đại lượng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Thiết kế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Thực tế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Sai lệch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Cạnh cắt bỏ x (cm)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Kích thước đáy (cm)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13×21,7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12,8×21,5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Thể tích (mL)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1 128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1 050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6,9%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Hộp đối chứng x=2 cm (mL)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128016" cy="13716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HOẠT ĐỘNG 5: CHIA SẺ, ĐIỀU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64748B"/>
                </a:solidFill>
                <a:latin typeface="Calibri"/>
              </a:rPr>
              <a:t>Tiết 2 (T22)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TRƯNG BÀY, THUYẾT TRÌNH SẢN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Giới thiệu hộp, mô hình toán học (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bảng biến thiên, giá trị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được chọn), đồ thị GeoGebra.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Kết quả thử nghiệm: thể tích thực tế, sai số, so sánh với hộp đối chứng; những điều chỉnh đã làm.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học kinh nghiệm, đề xuất cải tiến (gấp mép chồng để chắc hơn, làm thêm nắp từ tấm bìa thứ hai…).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463040"/>
                <a:ext cx="10789920" cy="27066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Giới thiệu hộp, mô hình toán học (</a:t>
                </a:r>
                <a:r>
                  <a:rPr lang="vi-VN"/>
                  <a:t>V(x)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bảng biến thiên, giá trị </a:t>
                </a:r>
                <a:r>
                  <a:rPr lang="vi-VN"/>
                  <a:t>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được chọn), đồ thị GeoGebra.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Kết quả thử nghiệm: thể tích thực tế, sai số, so sánh với hộp đối chứng; những điều chỉnh đã làm.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Bài học kinh nghiệm, đề xuất cải tiến (gấp mép chồng để chắc hơn, làm thêm nắp từ tấm bìa thứ hai…).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HỘP CÓ NẮP ĐÁY VUÔNG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hộp có nắp dạng hình hộp chữ nhật đáy vuông được làm từ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600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bìa. Tìm kích thước của hộp để thể tích lớn nhất.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Gọi cạnh đáy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chiều cao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biểu diễn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theo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hộp có nắp dạng hình hộp chữ nhật đáy vuông được làm từ </a:t>
                </a:r>
                <a:r>
                  <a:rPr lang="vi-VN"/>
                  <a:t>600 cm^2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bìa. Tìm kích thước của hộp để thể tích lớn nhất.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Gọi cạnh đáy </a:t>
                </a:r>
                <a:r>
                  <a:rPr lang="vi-VN"/>
                  <a:t>x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chiều cao </a:t>
                </a:r>
                <a:r>
                  <a:rPr lang="vi-VN"/>
                  <a:t>h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; biểu diễn </a:t>
                </a:r>
                <a:r>
                  <a:rPr lang="vi-VN"/>
                  <a:t>h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theo </a:t>
                </a:r>
                <a:r>
                  <a:rPr lang="vi-VN"/>
                  <a:t>x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HỘP CÓ NẮP ĐÁY VUÔNG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282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+4xh=600⇒h=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0&lt;x&lt;10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300x−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300−3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=0⇔x=10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h=10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205282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2x^2+4xh=600\Rightarrow h=\frac{300-x^2}{2x}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0&lt;x&lt;10\sqrt 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V=x^2h=\frac{300x-x^3}{2}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V'=\frac{300-3x^2}{2}=0\Leftrightarrow x=10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(0;10)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nghịch biến trên </a:t>
                </a:r>
                <a:r>
                  <a:rPr lang="vi-VN"/>
                  <a:t>(10;10\sqrt 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h=10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653028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653028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Hình lập phương cạnh 10 cm,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000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653028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Hình lập phương cạnh 10 cm, </a:t>
                </a:r>
                <a:r>
                  <a:rPr lang="vi-VN"/>
                  <a:t>V_{max}=1\,000\ \mathrm{cm^3}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2: LON HÌNH TRỤ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lon hình trụ có nắp được làm từ </a:t>
                </a:r>
                <a14:m>
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54π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vật liệu. Tìm bán kính đáy và chiều cao để lon có thể tích lớn nhất (so sánh với Chú ý, SGK tr.37).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tp</m:t>
                        </m:r>
                      </m:sub>
                    </m:sSub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=2π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+2πrh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8044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Một lon hình trụ có nắp được làm từ </a:t>
                </a:r>
                <a:r>
                  <a:rPr lang="vi-VN"/>
                  <a:t>54π cm^2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vật liệu. Tìm bán kính đáy và chiều cao để lon có thể tích lớn nhất (so sánh với Chú ý, SGK tr.37).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</a:t>
                </a:r>
                <a:r>
                  <a:rPr lang="vi-VN"/>
                  <a:t>S_{tp}=2\pi r^2+2\pi rh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2: LON HÌNH TRỤ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962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+2πrh=54π⇒h=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0&lt;r&lt;3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V=π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h=π(27r−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=π(27−3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)=0⇔r=3</m:t>
                    </m:r>
                  </m:oMath>
                </a14:m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h=6=2r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chiều cao bằng đường kính đáy (Chú ý, SGK tr.37)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169621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2\pi r^2+2\pi rh=54\pi\Rightarrow h=\frac{27-r^2}{r}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0&lt;r&lt;3\sqrt 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V=\pi r^2h=\pi(27r-r^3)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V'=\pi(27-3r^2)=0\Leftrightarrow r=3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h=6=2r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chiều cao bằng đường kính đáy (Chú ý, SGK tr.37)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731520" y="3296412"/>
            <a:ext cx="960120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914400" y="32964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r=3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cm,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h=6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=54π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914400" y="3296412"/>
                <a:ext cx="9235440" cy="73152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 </a:t>
                </a:r>
                <a:r>
                  <a:rPr lang="vi-VN"/>
                  <a:t>r=3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cm, </a:t>
                </a:r>
                <a:r>
                  <a:rPr lang="vi-VN"/>
                  <a:t>h=6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cm, </a:t>
                </a:r>
                <a:r>
                  <a:rPr lang="vi-VN"/>
                  <a:t>V_{max}=54\pi\ \mathrm{cm^3}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34</a:t>
            </a:r>
          </a:p>
        </p:txBody>
      </p:sp>
      <p:pic>
        <p:nvPicPr>
          <p:cNvPr id="6" name="Picture 5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218" y="1417320"/>
            <a:ext cx="7735084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40AF"/>
                </a:solidFill>
                <a:latin typeface="Calibri"/>
              </a:rPr>
              <a:t>Nêu nội dung từng nhánh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CHUẨN BỊ TIẾT SAU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151790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Bài tập cuối chương I</a:t>
            </a:r>
            <a:r>
              <a:rPr sz="2400">
                <a:solidFill>
                  <a:srgbClr val="1E293B"/>
                </a:solidFill>
                <a:latin typeface="Calibri"/>
              </a:rPr>
              <a:t> (T23, T24)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Ôn lại Bài 1 – Bài 5; làm trước Bài 1.30 – 1.39 (SGK tr.42 – 43)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nhóm hoàn thiện một nhánh sơ đồ tư duy số Chương 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STEM: Thiết kế hộp có thể tích lớn nhất          36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STEM_Hop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trangtu66.github.io/Taode_thi_online/cc_stem_hop_t12.html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