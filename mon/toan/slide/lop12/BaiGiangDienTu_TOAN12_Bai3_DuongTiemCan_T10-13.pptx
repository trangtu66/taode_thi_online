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 mở trang online (cần Internet).</a:t>
            </a:r>
          </a:p>
          <a:p>
            <a:r>
              <a:t>Lớp có HS khuyết tật: 12A2, 12A7 (khiếm thị) – GV đọc to công thức, bảng biến thiên, mô tả đồ thị; 12A3, 12A5, 12A7 (vận động) – HS trả lời tại chỗ, không cần lên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tr.20.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để HS nắm lộ trình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1 (45'): Khởi động 5' – HĐ1, khung, Hình 1.20: 12' – Ví dụ 1, 2: 12' – LT1, Vận dụng 1: 8' – Đúng hay sai? 5' – Tổng kết 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5'. HS dự đoán: khối lượng giảm dần, tiến về 0; đồ thị tiến sát trục hoành. Giải ở Vận dụng 1 cùng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HĐ1 – 4'. Click 1, 2. Khung định nghĩa ở slide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Chốt khung. Đồ thị có thể cắt tiệm cận ngang; chỉ cần tiến sát đường y = y0 khi x → +∞ hoặc x → −∞.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trình bày (click 1, 2). Ví dụ 2: chú ý dấu khi đưa x vào căn với x &lt; 0 (sai lầm phổ biến).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LT1: HS làm 3' (click 1). Vận dụng 1: giải tình huống mở đầu (click 2,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5'. Click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2 (45'): Ai nhanh hơn 5' – HĐ2, khung, Hình 1.23: 12' – Ví dụ 3, 4: 10' – LT2: 7' – Vận dụng 2: 8' – Tổng kết 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5'. Ôn giới hạn một bên – dẫn vào tiệm cận đứng. Click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HĐ2 – 4'. Click 1, 2. Khung định nghĩa ở slide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Chốt khung. Hình 1.23: a), c): x → x0⁻; b), d): x → x0⁺.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3, 4: GV trình bày (click 1, 2). LT2: HS làm 3' (click 3). Tiệm cận đứng: tìm tại nghiệm của mẫu (không là nghiệm của tử).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8'. Thảo luận cặp. Click 1, 2. Liên hệ: xử lí ô nhiễm hồ, ao nuôi thuỷ sản ở địa phương.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3 (45'): HĐ3, khung, Hình 1.25: 12' – Ví dụ 5, Chú ý 10' – Ví dụ 6, Nhận xét 10' – LT3: 6' – Ghép đôi 4' – Tổng kết 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HĐ3 – 5'. Click 1, 2. Khung định nghĩa ở slide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Chốt khung, quan sát Hình 1.25.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5: click 1. Chú ý: GV dẫn dắt (click 2). Nếu a = 0 thì đồ thị có tiệm cận ngang.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6: cách dùng công thức (click 1, 2). Nhận xét: chia đa thức – cách nhanh trong thực hành (click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cá nhân 6'. Click 1, 2 (đã kiểm tra bằng sympy). Chú ý dấu khi chia cho (1 − 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Click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Lệnh: H=ClosestPoint(d1,M), MH=Distance(M,d1). Trang 1 (tiệm cận ngang, đứng) dùng ở Tiết 1, 2 nếu có thời gian.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4 (45'): 1.16, 1.17: 8' – 1.18: 7' – 1.19, 1.20: 10' – Rung chuông vàng 15' – Củng cố online 5'.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8'. Chữa bài: HS trình bày, click hiện đáp án (đối chiếu SGV tr.55 – 56; 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12'. Chữa bài: HS trình bày, click hiện đáp án (đối chiếu SGV tr.55 – 56; 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5'. Chữa bài: HS trình bày, click hiện đáp án (đối chiếu SGV tr.55 – 56; 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HS một bảng con. Mỗi câu 30 giây (Đ/S, trả lời ngắn, thực tế: 60 giây). Sai rời sàn thi; có thể 'cứu trợ' 1 lần. Cấu trúc 8 câu theo đề thi từ 2025: nhiều lựa chọn, Đúng/Sai, trả lời ngắn, thực tế. Đáp án đã kiểm tra bằng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B: tiệm cận đứng; C: giá trị tại x =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A: nghiệm của tử; C: tiệm cận ngang.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C: tính cả x = −1 (sai lầm phổ biến).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A: chỉ lấy a, quên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1–4. Đáp án đã kiểm tra bằng sympy: Đ – Đ – S – 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quét QR làm bài củng cố online ở nhà.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 cuối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trangtu66.github.io/Taode_thi_online/GGB_T12_Bai3_2_Xien.html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Relationship Id="rId4" Type="http://schemas.openxmlformats.org/officeDocument/2006/relationships/hyperlink" Target="https://trangtu66.github.io/Taode_thi_online/cc_bai3_t12.html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CD34D"/>
                </a:solidFill>
                <a:latin typeface="Cambria"/>
              </a:rPr>
              <a:t>CHƯƠNG I. ỨNG DỤNG ĐẠO HÀM ĐỂ KHẢO SÁT VÀ VẼ ĐỒ THỊ HÀM SỐ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BÀI 3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ĐƯỜNG TIỆM CẬN CỦA ĐỒ THỊ HÀM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4 tiết: T10 – T13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3896"/>
            <a:ext cx="10735056" cy="12984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Yêu cầu cần đạt</a:t>
            </a:r>
            <a:r>
              <a:rPr sz="2200">
                <a:solidFill>
                  <a:srgbClr val="1E293B"/>
                </a:solidFill>
                <a:latin typeface="Calibri"/>
              </a:rPr>
              <a:t> (SGK tr.20)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 hình ảnh hình học của đường tiệm cận ngang, đường tiệm cận đứng, đường tiệm cận xiên của đồ thị hàm số.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 (giới hạn → tiệm cận); mô hình hoá (chất phóng xạ, chi phí loại bỏ tảo, chi phí trung bình); giải quyết vấn đề; sử dụng công cụ (GeoGebra, máy tính cầm tay).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thực, trách nhiệm.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LỘ TRÌNH 4 TIẾT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4592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1. Đường tiệm cận ngang; Vận dụng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Đúng hay sai? · GeoGebra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0604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2. Đường tiệm cận đứng; Vận dụng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0604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Ai nhanh hơn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4787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56616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3. Đường tiệm cận xiên; Chú ý, Nhận xét; Luyện tập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56616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Ghép đôi · GeoGebra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0799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52628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Chữa bài tập 1.16 – 1.20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52628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Rung chuông vàng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1 (T10)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Đường tiệm cận ngang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Nhận biết đường tiệm cận ngang của đồ thị hàm số.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Tìm tiệm cận ngang bằng giới hạn tại vô cực.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CHẤT PHÓNG XẠ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766560" cy="43891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Giả sử khối lượng còn lại của một chất phóng xạ (gam) sau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ngày phân rã được cho bởi hàm số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y=m(t)=15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Khối lượng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m(t)</m:t>
                    </m:r>
                  </m:oMath>
                </a14:m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 thay đổi ra sao khi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t→+∞</m:t>
                    </m:r>
                  </m:oMath>
                </a14:m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? Điều này thể hiện trên Hình 1.18 như thế nào?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(SGK Toán 12 tập một, tr.20)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766560" cy="43891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Giả sử khối lượng còn lại của một chất phóng xạ (gam) sau </a:t>
                </a:r>
                <a:r>
                  <a:rPr lang="vi-VN"/>
                  <a:t>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ngày phân rã được cho bởi hàm số </a:t>
                </a:r>
                <a:r>
                  <a:rPr lang="vi-VN"/>
                  <a:t>y=m(t)=15e^{-0{,}012t}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Khối lượng </a:t>
                </a:r>
                <a:r>
                  <a:rPr lang="vi-VN"/>
                  <a:t>m(t)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 thay đổi ra sao khi </a:t>
                </a:r>
                <a:r>
                  <a:rPr lang="vi-VN"/>
                  <a:t>t\to+\infty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? Điều này thể hiện trên Hình 1.18 như thế nào?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(SGK Toán 12 tập một, tr.20)</a:t>
                </a:r>
              </a:p>
            </p:txBody>
          </p:sp>
        </mc:Fallback>
      </mc:AlternateContent>
      <p:pic>
        <p:nvPicPr>
          <p:cNvPr id="8" name="Picture 7" descr="b3_h1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313296"/>
            <a:ext cx="4206240" cy="2322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5413248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1.18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1. ĐƯỜNG TIỆM CẬN NGANG – HĐ1 (SGK TR.20)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680960" cy="191795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đồ thị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Với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xét điểm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M(x;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Gọi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hình chiếu vuông góc của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đường thẳng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(H.1.19). a) Tính khoảng cách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Có nhận xét gì về khoảng cách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x→+∞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680960" cy="191795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hàm số </a:t>
                </a:r>
                <a:r>
                  <a:rPr lang="vi-VN"/>
                  <a:t>y=f(x)=\frac{2x+1}{x}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đồ thị </a:t>
                </a:r>
                <a:r>
                  <a:rPr lang="vi-VN"/>
                  <a:t>(C)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Với </a:t>
                </a:r>
                <a:r>
                  <a:rPr lang="vi-VN"/>
                  <a:t>x&gt;0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xét điểm </a:t>
                </a:r>
                <a:r>
                  <a:rPr lang="vi-VN"/>
                  <a:t>M(x;\ f(x))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(C)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Gọi </a:t>
                </a:r>
                <a:r>
                  <a:rPr lang="vi-VN"/>
                  <a:t>H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hình chiếu vuông góc của </a:t>
                </a:r>
                <a:r>
                  <a:rPr lang="vi-VN"/>
                  <a:t>M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đường thẳng </a:t>
                </a:r>
                <a:r>
                  <a:rPr lang="vi-VN"/>
                  <a:t>y=2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(H.1.19). a) Tính khoảng cách </a:t>
                </a:r>
                <a:r>
                  <a:rPr lang="vi-VN"/>
                  <a:t>MH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Có nhận xét gì về khoảng cách </a:t>
                </a:r>
                <a:r>
                  <a:rPr lang="vi-VN"/>
                  <a:t>MH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x\to+\infty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380994"/>
            <a:ext cx="7680960" cy="87325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417570"/>
                <a:ext cx="735177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MH=|f(x)−2|=</m:t>
                    </m:r>
                    <m:d>
                      <m:dPr>
                        <m:begChr m:val="|"/>
                        <m:sepChr m:val=""/>
                        <m:endChr m:val="|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den>
                        </m:f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417570"/>
                <a:ext cx="735177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MH=|f(x)-2|=\left|\frac{1}{x}\right|=\frac{1}{x}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(vì </a:t>
                </a:r>
                <a:r>
                  <a:rPr lang="vi-VN"/>
                  <a:t>x&gt;0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4345686"/>
            <a:ext cx="7680960" cy="104927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4382262"/>
                <a:ext cx="7351776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x→+∞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điểm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tiến sát đường thẳng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4382262"/>
                <a:ext cx="7351776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MH=\frac{1}{x}\to 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x\to+\infty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điểm </a:t>
                </a:r>
                <a:r>
                  <a:rPr lang="vi-VN"/>
                  <a:t>M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tiến sát đường thẳng </a:t>
                </a:r>
                <a:r>
                  <a:rPr lang="vi-VN"/>
                  <a:t>y=2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2" name="Picture 11" descr="b3_h1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07172"/>
            <a:ext cx="3108959" cy="2803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0" y="4773168"/>
            <a:ext cx="310895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1.19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ĐỊNH NGHĨA TIỆM CẬN NGANG (SGK TR.20)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93573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362456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Đường thẳng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gọi là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đường tiệm cận ngang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(gọi tắt là tiệm cận ngang) của đồ thị hàm số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362456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Đường thẳng </a:t>
                </a:r>
                <a:r>
                  <a:rPr lang="vi-VN"/>
                  <a:t>y=y_0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gọi là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đường tiệm cận ngang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(gọi tắt là tiệm cận ngang) của đồ thị hàm số </a:t>
                </a:r>
                <a:r>
                  <a:rPr lang="vi-VN"/>
                  <a:t>y=f(x)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\lim\limits_{x\to+\infty}f(x)=y_0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\lim\limits_{x\to-\infty}f(x)=y_0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9" name="Picture 8" descr="b3_h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450923"/>
            <a:ext cx="9966960" cy="38520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1 – VÍ DỤ 2 (SGK TR.21)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786384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tiệm cận ngang của đồ thị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3x−2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786384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tiệm cận ngang của đồ thị hàm số </a:t>
                </a:r>
                <a:r>
                  <a:rPr lang="vi-VN"/>
                  <a:t>y=f(x)=\frac{3x-2}{x+1}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319528"/>
            <a:ext cx="7863840" cy="12862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56104"/>
                <a:ext cx="753465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den>
                        </m:f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den>
                        </m:f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Tương tự,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tiệm cận ngang là đường thẳng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56104"/>
                <a:ext cx="753465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\lim\limits_{x\to+\infty}f(x)=\lim\limits_{x\to+\infty}\frac{3-\frac{2}{x}}{1+\frac{1}{x}}=3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Tương tự, </a:t>
                </a:r>
                <a:r>
                  <a:rPr lang="vi-VN"/>
                  <a:t>\lim\limits_{x\to-\infty}f(x)=3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tiệm cận ngang là đường thẳng </a:t>
                </a:r>
                <a:r>
                  <a:rPr lang="vi-VN"/>
                  <a:t>y=3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678936"/>
                <a:ext cx="786384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các tiệm cận ngang của đồ thị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678936"/>
                <a:ext cx="786384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các tiệm cận ngang của đồ thị hàm số </a:t>
                </a:r>
                <a:r>
                  <a:rPr lang="vi-VN"/>
                  <a:t>y=f(x)=\frac{\sqrt{x^2+1}}{x}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672584"/>
            <a:ext cx="7863840" cy="14538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709160"/>
                <a:ext cx="7534656" cy="13807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vi-VN" sz="20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vi-VN" sz="20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e>
                    </m:d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Đồ thị có hai tiệm cận ngang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(H.1.21).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709160"/>
                <a:ext cx="7534656" cy="13807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\lim\limits_{x\to+\infty}f(x)=\lim\limits_{x\to+\infty}\sqrt{1+\frac{1}{x^2}}=1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\lim\limits_{x\to-\infty}f(x)=\lim\limits_{x\to-\infty}\left(-\sqrt{1+\frac{1}{x^2}}\right)=-1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Đồ thị có hai tiệm cận ngang </a:t>
                </a:r>
                <a:r>
                  <a:rPr lang="vi-VN"/>
                  <a:t>y=1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y=-1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(H.1.21).</a:t>
                </a:r>
              </a:p>
            </p:txBody>
          </p:sp>
        </mc:Fallback>
      </mc:AlternateContent>
      <p:pic>
        <p:nvPicPr>
          <p:cNvPr id="13" name="Picture 12" descr="b3_h1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707171"/>
            <a:ext cx="3108960" cy="28035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95360" y="468172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1.21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LUYỆN TẬP 1 – VẬN DỤNG 1 (SGK TR.21)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69494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tiệm cận ngang của đồ thị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69494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tiệm cận ngang của đồ thị hàm số </a:t>
                </a:r>
                <a:r>
                  <a:rPr lang="vi-VN"/>
                  <a:t>y=f(x)=\frac{2x-1}{x-1}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439162"/>
            <a:ext cx="6949440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475738"/>
                <a:ext cx="6620255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tiệm cận ngang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475738"/>
                <a:ext cx="6620255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\lim\limits_{x\to+\infty}f(x)=\lim\limits_{x\to-\infty}f(x)=2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tiệm cận ngang </a:t>
                </a:r>
                <a:r>
                  <a:rPr lang="vi-VN"/>
                  <a:t>y=2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454146"/>
                <a:ext cx="69494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Vận dụng 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Giải bài toán trong tình huống mở đầu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m(t)=15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454146"/>
                <a:ext cx="69494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Vận dụng 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Giải bài toán trong tình huống mở đầu (</a:t>
                </a:r>
                <a:r>
                  <a:rPr lang="vi-VN"/>
                  <a:t>m(t)=15e^{-0{,}012t}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377690"/>
            <a:ext cx="6949440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414266"/>
                <a:ext cx="6620255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t→+∞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m(t)=</m:t>
                    </m:r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t→+∞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khối lượng chất phóng xạ giảm dần và tiến về 0.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414266"/>
                <a:ext cx="6620255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\lim\limits_{t\to+\infty}m(t)=\lim\limits_{t\to+\infty}15e^{-0{,}012t}=0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khối lượng chất phóng xạ giảm dần và tiến về 0.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5392674"/>
            <a:ext cx="6949440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5429250"/>
                <a:ext cx="6620255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Trên Hình 1.18: đồ thị tiến sát trục hoành – đường thẳng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tiệm cận ngang của đồ thị.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5429250"/>
                <a:ext cx="6620255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Trên Hình 1.18: đồ thị tiến sát trục hoành – đường thẳng </a:t>
                </a:r>
                <a:r>
                  <a:rPr lang="vi-VN"/>
                  <a:t>y=0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tiệm cận ngang của đồ thị.</a:t>
                </a:r>
              </a:p>
            </p:txBody>
          </p:sp>
        </mc:Fallback>
      </mc:AlternateContent>
      <p:pic>
        <p:nvPicPr>
          <p:cNvPr id="15" name="Picture 14" descr="b3_h1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464" y="2194560"/>
            <a:ext cx="3808352" cy="2103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80960" y="4315967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1.18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ĐÚNG HAY SAI?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Cả lớp giơ thẻ Đ/S trong 20 giây mỗi câu.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18288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Đồ thị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4x+1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2x−3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tiệm cận ngang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18288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Đồ thị </a:t>
                </a:r>
                <a:r>
                  <a:rPr lang="vi-VN"/>
                  <a:t>y=\frac{4x+1}{2x-3}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tiệm cận ngang </a:t>
                </a:r>
                <a:r>
                  <a:rPr lang="vi-VN"/>
                  <a:t>y=2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961120" y="1828800"/>
            <a:ext cx="2651759" cy="6858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961120" y="1883664"/>
            <a:ext cx="265175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27432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Đồ thị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tiệm cận ngang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27432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Đồ thị </a:t>
                </a:r>
                <a:r>
                  <a:rPr lang="vi-VN"/>
                  <a:t>y=\frac{x+1}{x^2+1}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tiệm cận ngang </a:t>
                </a:r>
                <a:r>
                  <a:rPr lang="vi-VN"/>
                  <a:t>y=1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961120" y="2743200"/>
            <a:ext cx="2651759" cy="6858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961120" y="2798064"/>
            <a:ext cx="265175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SAI</a:t>
            </a:r>
            <a:r>
              <a:rPr sz="1700">
                <a:solidFill>
                  <a:srgbClr val="FFFFFF"/>
                </a:solidFill>
                <a:latin typeface="Calibri"/>
              </a:rPr>
              <a:t> (y = 0)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8640" y="36576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Đồ thị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tiệm cận ngang.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3657600"/>
                <a:ext cx="8229600" cy="8686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Đồ thị </a:t>
                </a:r>
                <a:r>
                  <a:rPr lang="vi-VN"/>
                  <a:t>y=x^2+1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tiệm cận ngang.</a:t>
                </a:r>
              </a:p>
            </p:txBody>
          </p:sp>
        </mc:Fallback>
      </mc:AlternateContent>
      <p:sp>
        <p:nvSpPr>
          <p:cNvPr id="15" name="s3_nen"/>
          <p:cNvSpPr/>
          <p:nvPr/>
        </p:nvSpPr>
        <p:spPr>
          <a:xfrm>
            <a:off x="8961120" y="3657600"/>
            <a:ext cx="2651759" cy="6858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961120" y="3712463"/>
            <a:ext cx="265175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SAI</a:t>
            </a:r>
            <a:r>
              <a:rPr sz="1700">
                <a:solidFill>
                  <a:srgbClr val="FFFFFF"/>
                </a:solidFill>
                <a:latin typeface="Calibri"/>
              </a:rPr>
              <a:t> (không có)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82296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4.</a:t>
            </a:r>
            <a:r>
              <a:rPr sz="2100">
                <a:solidFill>
                  <a:srgbClr val="1E293B"/>
                </a:solidFill>
                <a:latin typeface="Calibri"/>
              </a:rPr>
              <a:t> Đồ thị có thể cắt đường tiệm cận ngang của nó.</a:t>
            </a:r>
          </a:p>
        </p:txBody>
      </p:sp>
      <p:sp>
        <p:nvSpPr>
          <p:cNvPr id="18" name="s4_nen"/>
          <p:cNvSpPr/>
          <p:nvPr/>
        </p:nvSpPr>
        <p:spPr>
          <a:xfrm>
            <a:off x="8961120" y="4572000"/>
            <a:ext cx="2651759" cy="6858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961120" y="4626864"/>
            <a:ext cx="265175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ĐÚNG</a:t>
            </a:r>
            <a:r>
              <a:rPr sz="1700">
                <a:solidFill>
                  <a:srgbClr val="FFFFFF"/>
                </a:solidFill>
                <a:latin typeface="Calibri"/>
              </a:rPr>
              <a:t> (Hình 1.20)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TỔNG KẾT TIẾT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2984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tiệm cận ngang ⇔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Xét cả hai giới hạn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– có thể có hai tiệm cận ngang (Ví dụ 2).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2984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y=y_0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tiệm cận ngang ⇔ </a:t>
                </a:r>
                <a:r>
                  <a:rPr lang="vi-VN"/>
                  <a:t>\lim\limits_{x\to+\infty}f(x)=y_0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\lim\limits_{x\to-\infty}f(x)=y_0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Xét cả hai giới hạn tại </a:t>
                </a:r>
                <a:r>
                  <a:rPr lang="vi-VN"/>
                  <a:t>+\infty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-\infty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– có thể có hai tiệm cận ngang (Ví dụ 2).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" y="3063240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99816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Ôn giới hạn một bên (lớp 11).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mục 2. Đường tiệm cận đứng (SGK tr.21 – 22).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2 (T11)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Đường tiệm cận đứng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Nhận biết đường tiệm cận đứng của đồ thị hàm số.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Tìm tiệm cận đứng bằng giới hạn một bên; ý nghĩa thực tiễn.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ĐỘNG: AI NHANH HƠN?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Từng cặp ghi đáp án lên bảng con. Mỗi câu 20 giây.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1783080"/>
                <a:ext cx="7589520" cy="6400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Tính các giới hạn của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1783080"/>
                <a:ext cx="7589520" cy="6400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Tính các giới hạn của </a:t>
                </a:r>
                <a:r>
                  <a:rPr lang="vi-VN"/>
                  <a:t>f(x)=\frac{x}{x-1}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48640" y="2468879"/>
                <a:ext cx="420624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548640" y="2468879"/>
                <a:ext cx="420624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\lim\limits_{x\to+\infty}f(x)</a:t>
                </a:r>
              </a:p>
            </p:txBody>
          </p:sp>
        </mc:Fallback>
      </mc:AlternateContent>
      <p:sp>
        <p:nvSpPr>
          <p:cNvPr id="10" name="s1_nen"/>
          <p:cNvSpPr/>
          <p:nvPr/>
        </p:nvSpPr>
        <p:spPr>
          <a:xfrm>
            <a:off x="4846320" y="2423160"/>
            <a:ext cx="256032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1_chu"/>
              <p:cNvSpPr txBox="1"/>
              <p:nvPr/>
            </p:nvSpPr>
            <p:spPr>
              <a:xfrm>
                <a:off x="5010912" y="2459736"/>
                <a:ext cx="223113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010912" y="2459736"/>
                <a:ext cx="223113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1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48640" y="3417570"/>
                <a:ext cx="420624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417570"/>
                <a:ext cx="420624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\lim\limits_{x\to 1^+}f(x)</a:t>
                </a:r>
              </a:p>
            </p:txBody>
          </p:sp>
        </mc:Fallback>
      </mc:AlternateContent>
      <p:sp>
        <p:nvSpPr>
          <p:cNvPr id="13" name="s2_nen"/>
          <p:cNvSpPr/>
          <p:nvPr/>
        </p:nvSpPr>
        <p:spPr>
          <a:xfrm>
            <a:off x="4846320" y="3371850"/>
            <a:ext cx="256032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2_chu"/>
              <p:cNvSpPr txBox="1"/>
              <p:nvPr/>
            </p:nvSpPr>
            <p:spPr>
              <a:xfrm>
                <a:off x="5010912" y="3408426"/>
                <a:ext cx="223113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+∞</m:t>
                    </m:r>
                  </m:oMath>
                </a14:m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010912" y="3408426"/>
                <a:ext cx="223113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+\infty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48640" y="4366259"/>
                <a:ext cx="420624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548640" y="4366259"/>
                <a:ext cx="420624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\lim\limits_{x\to 1^-}f(x)</a:t>
                </a:r>
              </a:p>
            </p:txBody>
          </p:sp>
        </mc:Fallback>
      </mc:AlternateContent>
      <p:sp>
        <p:nvSpPr>
          <p:cNvPr id="16" name="s3_nen"/>
          <p:cNvSpPr/>
          <p:nvPr/>
        </p:nvSpPr>
        <p:spPr>
          <a:xfrm>
            <a:off x="4846320" y="4320540"/>
            <a:ext cx="256032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3_chu"/>
              <p:cNvSpPr txBox="1"/>
              <p:nvPr/>
            </p:nvSpPr>
            <p:spPr>
              <a:xfrm>
                <a:off x="5010912" y="4357116"/>
                <a:ext cx="223113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010912" y="4357116"/>
                <a:ext cx="223113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-\infty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48640" y="5314950"/>
            <a:ext cx="4206240" cy="85725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4.</a:t>
            </a:r>
            <a:r>
              <a:rPr sz="2400">
                <a:solidFill>
                  <a:srgbClr val="1E293B"/>
                </a:solidFill>
                <a:latin typeface="Calibri"/>
              </a:rPr>
              <a:t> Tiệm cận ngang?</a:t>
            </a:r>
          </a:p>
        </p:txBody>
      </p:sp>
      <p:sp>
        <p:nvSpPr>
          <p:cNvPr id="19" name="s4_nen"/>
          <p:cNvSpPr/>
          <p:nvPr/>
        </p:nvSpPr>
        <p:spPr>
          <a:xfrm>
            <a:off x="4846320" y="5269230"/>
            <a:ext cx="256032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s4_chu"/>
              <p:cNvSpPr txBox="1"/>
              <p:nvPr/>
            </p:nvSpPr>
            <p:spPr>
              <a:xfrm>
                <a:off x="5010912" y="5305806"/>
                <a:ext cx="223113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</a:p>
            </p:txBody>
          </p:sp>
        </mc:Choice>
        <mc:Fallback>
          <p:sp>
            <p:nvSpPr>
              <p:cNvPr id="20" name="TextBox 19"/>
              <p:cNvSpPr txBox="1"/>
              <p:nvPr/>
            </p:nvSpPr>
            <p:spPr>
              <a:xfrm>
                <a:off x="5010912" y="5305806"/>
                <a:ext cx="223113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y=1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2. ĐƯỜNG TIỆM CẬN ĐỨNG – HĐ2 (SGK TR.21)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680960" cy="18348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đồ thị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xét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M(x;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Gọi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hình chiếu vuông góc của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đường thẳng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(H.1.22). a) Tính khoảng cách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thay đổi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sao cho khoảng cách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dần đến 0, có nhận xét gì về tung độ của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680960" cy="18348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hàm số </a:t>
                </a:r>
                <a:r>
                  <a:rPr lang="vi-VN"/>
                  <a:t>y=f(x)=\frac{x}{x-1}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đồ thị </a:t>
                </a:r>
                <a:r>
                  <a:rPr lang="vi-VN"/>
                  <a:t>(C)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Với </a:t>
                </a:r>
                <a:r>
                  <a:rPr lang="vi-VN"/>
                  <a:t>x&gt;1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xét điểm </a:t>
                </a:r>
                <a:r>
                  <a:rPr lang="vi-VN"/>
                  <a:t>M(x;\ f(x))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(C)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Gọi </a:t>
                </a:r>
                <a:r>
                  <a:rPr lang="vi-VN"/>
                  <a:t>H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hình chiếu vuông góc của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đường thẳng </a:t>
                </a:r>
                <a:r>
                  <a:rPr lang="vi-VN"/>
                  <a:t>x=1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(H.1.22). a) Tính khoảng cách </a:t>
                </a:r>
                <a:r>
                  <a:rPr lang="vi-VN"/>
                  <a:t>MH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Khi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thay đổi trên </a:t>
                </a:r>
                <a:r>
                  <a:rPr lang="vi-VN"/>
                  <a:t>(C)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sao cho khoảng cách </a:t>
                </a:r>
                <a:r>
                  <a:rPr lang="vi-VN"/>
                  <a:t>MH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dần đến 0, có nhận xét gì về tung độ của điểm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297936"/>
            <a:ext cx="7680960" cy="5699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334512"/>
                <a:ext cx="735177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MH=|x−1|=x−1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334512"/>
                <a:ext cx="735177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MH=|x-1|=x-1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(vì </a:t>
                </a:r>
                <a:r>
                  <a:rPr lang="vi-VN"/>
                  <a:t>x&gt;1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959351"/>
            <a:ext cx="7680960" cy="1011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995927"/>
                <a:ext cx="7351776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MH→0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khi đó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→+∞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tung độ của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tăng lên vô cùng.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995927"/>
                <a:ext cx="7351776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MH\to 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 1^+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khi đó </a:t>
                </a:r>
                <a:r>
                  <a:rPr lang="vi-VN"/>
                  <a:t>f(x)=\frac{x}{x-1}\to+\infty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tung độ của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tăng lên vô cùng.</a:t>
                </a:r>
              </a:p>
            </p:txBody>
          </p:sp>
        </mc:Fallback>
      </mc:AlternateContent>
      <p:pic>
        <p:nvPicPr>
          <p:cNvPr id="12" name="Picture 11" descr="b3_h1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07172"/>
            <a:ext cx="3108959" cy="2803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0" y="4773168"/>
            <a:ext cx="310895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1.22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ĐỊNH NGHĨA TIỆM CẬN ĐỨNG (SGK TR.21 – 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17957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362456"/>
                <a:ext cx="10735056" cy="11064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Đường thẳng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gọi là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đường tiệm cận đứng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(gọi tắt là tiệm cận đứng) của đồ thị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nếu ít nhất một trong các điều kiện sau được thoả mãn: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b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f(x)=+∞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b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f(x)=−∞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b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f(x)=−∞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b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f(x)=+∞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362456"/>
                <a:ext cx="10735056" cy="11064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Đường thẳng </a:t>
                </a:r>
                <a:r>
                  <a:rPr lang="vi-VN"/>
                  <a:t>x=x_0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gọi là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đường tiệm cận đứng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(gọi tắt là tiệm cận đứng) của đồ thị hàm số </a:t>
                </a:r>
                <a:r>
                  <a:rPr lang="vi-VN"/>
                  <a:t>y=f(x)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nếu ít nhất một trong các điều kiện sau được thoả mãn: </a:t>
                </a:r>
                <a:r>
                  <a:rPr lang="vi-VN"/>
                  <a:t>\lim\limits_{x\to x_0^+}f(x)=+\infty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 x_0^-}f(x)=-\infty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 x_0^+}f(x)=-\infty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 x_0^-}f(x)=+\infty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9" name="Picture 8" descr="b3_h1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93" y="2642616"/>
            <a:ext cx="4462133" cy="36667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3 – VÍ DỤ 4 – LUYỆN TẬP 2 (SGK TR.22)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6156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tiệm cận đứng của đồ thị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6156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tiệm cận đứng của đồ thị hàm số </a:t>
                </a:r>
                <a:r>
                  <a:rPr lang="vi-VN"/>
                  <a:t>y=f(x)=\frac{3-x}{x+2}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005584"/>
            <a:ext cx="11064240" cy="7071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042160"/>
                <a:ext cx="10735056" cy="6339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=+∞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tương tự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f(x)=−∞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Tiệm cận đứng là đường thẳng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042160"/>
                <a:ext cx="10735056" cy="6339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\lim\limits_{x\to-2^+}\frac{3-x}{x+2}=+\infty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tương tự </a:t>
                </a:r>
                <a:r>
                  <a:rPr lang="vi-VN"/>
                  <a:t>\lim\limits_{x\to-2^-}f(x)=-\infty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Tiệm cận đứng là đường thẳng </a:t>
                </a:r>
                <a:r>
                  <a:rPr lang="vi-VN"/>
                  <a:t>x=-2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2776728"/>
                <a:ext cx="11064240" cy="6156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tiệm cận đứng của đồ thị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2776728"/>
                <a:ext cx="11064240" cy="6156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tiệm cận đứng của đồ thị hàm số </a:t>
                </a:r>
                <a:r>
                  <a:rPr lang="vi-VN"/>
                  <a:t>y=f(x)=\frac{x^2+2}{x}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3456432"/>
            <a:ext cx="11064240" cy="7071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3493008"/>
                <a:ext cx="10735056" cy="6339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=+∞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tương tự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f(x)=−∞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Tiệm cận đứng là đường thẳng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3493008"/>
                <a:ext cx="10735056" cy="6339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\lim\limits_{x\to 0^+}\frac{x^2+2}{x}=+\infty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tương tự </a:t>
                </a:r>
                <a:r>
                  <a:rPr lang="vi-VN"/>
                  <a:t>\lim\limits_{x\to 0^-}f(x)=-\infty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Tiệm cận đứng là đường thẳng </a:t>
                </a:r>
                <a:r>
                  <a:rPr lang="vi-VN"/>
                  <a:t>x=0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4_chu"/>
              <p:cNvSpPr txBox="1"/>
              <p:nvPr/>
            </p:nvSpPr>
            <p:spPr>
              <a:xfrm>
                <a:off x="548640" y="4227576"/>
                <a:ext cx="1106424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Luyện tập 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các tiệm cận ngang và tiệm cận đứng của đồ thị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x−4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548640" y="4227576"/>
                <a:ext cx="1106424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Luyện tập 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các tiệm cận ngang và tiệm cận đứng của đồ thị hàm số </a:t>
                </a:r>
                <a:r>
                  <a:rPr lang="vi-VN"/>
                  <a:t>y=f(x)=\frac{2x+1}{x-4}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4" name="s5_nen"/>
          <p:cNvSpPr/>
          <p:nvPr/>
        </p:nvSpPr>
        <p:spPr>
          <a:xfrm>
            <a:off x="548640" y="5212079"/>
            <a:ext cx="11064240" cy="5699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s5_chu"/>
              <p:cNvSpPr txBox="1"/>
              <p:nvPr/>
            </p:nvSpPr>
            <p:spPr>
              <a:xfrm>
                <a:off x="713232" y="5248655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tiệm cận ngang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f(x)=+∞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tiệm cận đứng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713232" y="5248655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\lim\limits_{x\to\pm\infty}f(x)=2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tiệm cận ngang </a:t>
                </a:r>
                <a:r>
                  <a:rPr lang="vi-VN"/>
                  <a:t>y=2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 4^+}f(x)=+\infty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tiệm cận đứng </a:t>
                </a:r>
                <a:r>
                  <a:rPr lang="vi-VN"/>
                  <a:t>x=4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VẬN DỤNG 2 – CHI PHÍ LOẠI BỎ TẢO ĐỘC (SGK TR.22)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498079" cy="159791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Vận dụng 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loại bỏ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p%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một loài tảo độc khỏi một hồ nước, chi phí bỏ ra là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C(p)=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45p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100−p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(triệu đồng), với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0≤p&lt;100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Tìm tiệm cận đứng của đồ thị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C(p)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nêu ý nghĩa thực tiễn của đường tiệm cận này.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498079" cy="159791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Vận dụng 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loại bỏ </a:t>
                </a:r>
                <a:r>
                  <a:rPr lang="vi-VN"/>
                  <a:t>p\%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một loài tảo độc khỏi một hồ nước, chi phí bỏ ra là </a:t>
                </a:r>
                <a:r>
                  <a:rPr lang="vi-VN"/>
                  <a:t>C(p)=\frac{45p}{100-p}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(triệu đồng), với </a:t>
                </a:r>
                <a:r>
                  <a:rPr lang="vi-VN"/>
                  <a:t>0\le p&lt;100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Tìm tiệm cận đứng của đồ thị hàm số </a:t>
                </a:r>
                <a:r>
                  <a:rPr lang="vi-VN"/>
                  <a:t>C(p)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nêu ý nghĩa thực tiễn của đường tiệm cận này.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060954"/>
            <a:ext cx="7498079" cy="104927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097530"/>
                <a:ext cx="7168895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p→</m:t>
                        </m:r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45p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100−p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=+∞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tiệm cận đứng là đường thẳng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p=100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097530"/>
                <a:ext cx="7168895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\lim\limits_{p\to 100^-}\frac{45p}{100-p}=+\infty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tiệm cận đứng là đường thẳng </a:t>
                </a:r>
                <a:r>
                  <a:rPr lang="vi-VN"/>
                  <a:t>p=100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4201668"/>
            <a:ext cx="7498079" cy="12252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2_chu"/>
          <p:cNvSpPr txBox="1"/>
          <p:nvPr/>
        </p:nvSpPr>
        <p:spPr>
          <a:xfrm>
            <a:off x="713232" y="4238244"/>
            <a:ext cx="7168895" cy="11521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1E293B"/>
                </a:solidFill>
                <a:latin typeface="Calibri"/>
              </a:rPr>
              <a:t>Ý nghĩa: muốn loại bỏ gần hết (gần 100%) tảo độc thì chi phí tăng lên rất lớn (vô hạn) – không thể loại bỏ hoàn toàn loài tảo này.</a:t>
            </a:r>
          </a:p>
        </p:txBody>
      </p:sp>
      <p:pic>
        <p:nvPicPr>
          <p:cNvPr id="12" name="Picture 11" descr="b3_t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06616"/>
            <a:ext cx="3291840" cy="3004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TỔNG KẾT TIẾT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70688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6337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tiệm cận đứng nếu ít nhất một giới hạn một bên tại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bằng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Hàm phân thức: xét tại nghiệm của mẫu mà không là nghiệm của tử (Bài 1.17).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6337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x=x_0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tiệm cận đứng nếu ít nhất một giới hạn một bên tại </a:t>
                </a:r>
                <a:r>
                  <a:rPr lang="vi-VN"/>
                  <a:t>x_0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bằng </a:t>
                </a:r>
                <a:r>
                  <a:rPr lang="vi-VN"/>
                  <a:t>+\infty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-\infty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Hàm phân thức: xét tại nghiệm của mẫu mà không là nghiệm của tử (Bài 1.17).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" y="3398520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435096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Làm Bài tập 1.16, 1.17 (SGK tr.25).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mục 3. Đường tiệm cận xiên (SGK tr.23 – 24).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3 (T12)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Đường tiệm cận xiên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Nhận biết đường tiệm cận xiên của đồ thị hàm số.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Tìm tiệm cận xiên bằng công thức a, b hoặc chia đa thức.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3. ĐƯỜNG TIỆM CẬN XIÊN – HĐ3 (SGK TR.23)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680960" cy="21396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y=f(x)=x−1+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đồ thị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đường thẳng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(H.1.24). a)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xét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M(x;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Gọi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hình chiếu vuông góc của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đường thẳng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Có nhận xét gì về khoảng cách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x→+∞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? b) Chứng tỏ rằng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[f(x)−(x−1)]=0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Tính chất này thể hiện trên Hình 1.24 như thế nào?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680960" cy="21396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hàm số </a:t>
                </a:r>
                <a:r>
                  <a:rPr lang="vi-VN"/>
                  <a:t>y=f(x)=x-1+\frac{2}{x+1}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đồ thị </a:t>
                </a:r>
                <a:r>
                  <a:rPr lang="vi-VN"/>
                  <a:t>(C)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đường thẳng </a:t>
                </a:r>
                <a:r>
                  <a:rPr lang="vi-VN"/>
                  <a:t>y=x-1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(H.1.24). a) Với </a:t>
                </a:r>
                <a:r>
                  <a:rPr lang="vi-VN"/>
                  <a:t>x&gt;-1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xét điểm </a:t>
                </a:r>
                <a:r>
                  <a:rPr lang="vi-VN"/>
                  <a:t>M(x;\ f(x))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(C)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Gọi </a:t>
                </a:r>
                <a:r>
                  <a:rPr lang="vi-VN"/>
                  <a:t>H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hình chiếu vuông góc của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đường thẳng </a:t>
                </a:r>
                <a:r>
                  <a:rPr lang="vi-VN"/>
                  <a:t>y=x-1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Có nhận xét gì về khoảng cách </a:t>
                </a:r>
                <a:r>
                  <a:rPr lang="vi-VN"/>
                  <a:t>MH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x\to+\infty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? b) Chứng tỏ rằng </a:t>
                </a:r>
                <a:r>
                  <a:rPr lang="vi-VN"/>
                  <a:t>\lim\limits_{x\to+\infty}[f(x)-(x-1)]=0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Tính chất này thể hiện trên Hình 1.24 như thế nào?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602736"/>
            <a:ext cx="768096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639312"/>
                <a:ext cx="735177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MH=</m:t>
                    </m:r>
                    <m:f>
                      <m:fPr>
                        <m:type m:val="bar"/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x→+∞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639312"/>
                <a:ext cx="735177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MH=\frac{|f(x)-(x-1)|}{\sqrt{2}}=\frac{\sqrt{2}}{x+1}\to 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x\to+\infty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4538472"/>
            <a:ext cx="7680960" cy="1011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4575048"/>
                <a:ext cx="7351776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x→+∞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đồ thị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tiến sát đường thẳng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4575048"/>
                <a:ext cx="7351776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\lim\limits_{x\to+\infty}\frac{2}{x+1}=0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khi </a:t>
                </a:r>
                <a:r>
                  <a:rPr lang="vi-VN"/>
                  <a:t>x\to+\infty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đồ thị </a:t>
                </a:r>
                <a:r>
                  <a:rPr lang="vi-VN"/>
                  <a:t>(C)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tiến sát đường thẳng </a:t>
                </a:r>
                <a:r>
                  <a:rPr lang="vi-VN"/>
                  <a:t>y=x-1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2" name="Picture 11" descr="b3_h1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07172"/>
            <a:ext cx="3108959" cy="28035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0" y="4773168"/>
            <a:ext cx="310895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1.24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ĐỊNH NGHĨA TIỆM CẬN XIÊN (SGK TR.23)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22529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362456"/>
                <a:ext cx="10735056" cy="11521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Đường thẳng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y=ax+b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a≠0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 gọi là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đường tiệm cận xiên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(gọi tắt là tiệm cận xiên) của đồ thị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[f(x)−(ax+b)]=0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[f(x)−(ax+b)]=0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362456"/>
                <a:ext cx="10735056" cy="11521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Đường thẳng </a:t>
                </a:r>
                <a:r>
                  <a:rPr lang="vi-VN"/>
                  <a:t>y=ax+b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a\ne 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 gọi là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đường tiệm cận xiên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(gọi tắt là tiệm cận xiên) của đồ thị hàm số </a:t>
                </a:r>
                <a:r>
                  <a:rPr lang="vi-VN"/>
                  <a:t>y=f(x)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\lim\limits_{x\to+\infty}[f(x)-(ax+b)]=0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\lim\limits_{x\to-\infty}[f(x)-(ax+b)]=0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9" name="Picture 8" descr="b3_h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479" y="2688336"/>
            <a:ext cx="7366562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5 – CHÚ Ý: CÔNG THỨC a, b (SGK TR.23 – 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63779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Tìm tiệm cận xiên của đồ thị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63779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hàm số </a:t>
                </a:r>
                <a:r>
                  <a:rPr lang="vi-VN"/>
                  <a:t>y=f(x)=x+\frac{1}{x+2}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Tìm tiệm cận xiên của đồ thị hàm số </a:t>
                </a:r>
                <a:r>
                  <a:rPr lang="vi-VN"/>
                  <a:t>f(x)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119122"/>
            <a:ext cx="11064240" cy="104927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155698"/>
                <a:ext cx="10735056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[f(x)−x]=</m:t>
                    </m:r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Tương tự,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[f(x)−x]=0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Vậy tiệm cận xiên là đường thẳng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155698"/>
                <a:ext cx="10735056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\lim\limits_{x\to+\infty}[f(x)-x]=\lim\limits_{x\to+\infty}\frac{1}{x+2}=0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Tương tự, </a:t>
                </a:r>
                <a:r>
                  <a:rPr lang="vi-VN"/>
                  <a:t>\lim\limits_{x\to-\infty}[f(x)-x]=0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Vậy tiệm cận xiên là đường thẳng </a:t>
                </a:r>
                <a:r>
                  <a:rPr lang="vi-VN"/>
                  <a:t>y=x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278124"/>
            <a:ext cx="11064240" cy="225399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314700"/>
                <a:ext cx="10735056" cy="21808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y=ax+b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a≠0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 là tiệm cận xiên của đồ thị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thì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[f(x)−(ax+b)]·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từ đó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f(x)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[f(x)−ax]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(hoặc các giới hạn tại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Ngược lại, với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xác định như trên, đường thẳng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y=ax+b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a≠0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 là một tiệm cận xiên. Đặc biệt, nếu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thì đồ thị hàm số có tiệm cận ngang.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314700"/>
                <a:ext cx="10735056" cy="21808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y=ax+b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a\ne 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 là tiệm cận xiên của đồ thị hàm số </a:t>
                </a:r>
                <a:r>
                  <a:rPr lang="vi-VN"/>
                  <a:t>y=f(x)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thì </a:t>
                </a:r>
                <a:r>
                  <a:rPr lang="vi-VN"/>
                  <a:t>\lim\limits_{x\to+\infty}[f(x)-(ax+b)]\cdot\frac{1}{x}=0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từ đó </a:t>
                </a:r>
                <a:r>
                  <a:rPr lang="vi-VN"/>
                  <a:t>a=\lim\limits_{x\to+\infty}\frac{f(x)}{x}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b=\lim\limits_{x\to+\infty}[f(x)-ax]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(hoặc các giới hạn tại </a:t>
                </a:r>
                <a:r>
                  <a:rPr lang="vi-VN"/>
                  <a:t>-\infty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Ngược lại, với </a:t>
                </a:r>
                <a:r>
                  <a:rPr lang="vi-VN"/>
                  <a:t>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xác định như trên, đường thẳng </a:t>
                </a:r>
                <a:r>
                  <a:rPr lang="vi-VN"/>
                  <a:t>y=ax+b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a\ne 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 là một tiệm cận xiên. Đặc biệt, nếu </a:t>
                </a:r>
                <a:r>
                  <a:rPr lang="vi-VN"/>
                  <a:t>a=0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thì đồ thị hàm số có tiệm cận ngang.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6 – NHẬN XÉT (SGK TR.24)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8638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tiệm cận xiên của đồ thị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8638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tiệm cận xiên của đồ thị hàm số </a:t>
                </a:r>
                <a:r>
                  <a:rPr lang="vi-VN"/>
                  <a:t>y=f(x)=\frac{x^2-x+2}{x+1}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439162"/>
            <a:ext cx="7863840" cy="133731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475738"/>
                <a:ext cx="75346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f(x)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[f(x)−x]=</m:t>
                    </m:r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−2x+2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475738"/>
                <a:ext cx="75346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a=\lim\limits_{x\to+\infty}\frac{f(x)}{x}=\lim\limits_{x\to+\infty}\frac{x^2-x+2}{x^2+x}=1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b=\lim\limits_{x\to+\infty}[f(x)-x]=\lim\limits_{x\to+\infty}\frac{-2x+2}{x+1}=-2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886200"/>
            <a:ext cx="7863840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922776"/>
                <a:ext cx="753465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Tương tự tại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Vậy tiệm cận xiên là đường thẳng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922776"/>
                <a:ext cx="753465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Tương tự tại </a:t>
                </a:r>
                <a:r>
                  <a:rPr lang="vi-VN"/>
                  <a:t>-\infty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Vậy tiệm cận xiên là đường thẳng </a:t>
                </a:r>
                <a:r>
                  <a:rPr lang="vi-VN"/>
                  <a:t>y=x-2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4901184"/>
            <a:ext cx="7863840" cy="133731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937760"/>
                <a:ext cx="75346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Nhận xét.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Viết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[f(x)−(x−2)]=</m:t>
                    </m:r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⇒ tiệm cận xiên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937760"/>
                <a:ext cx="75346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Nhận xét.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Viết </a:t>
                </a:r>
                <a:r>
                  <a:rPr lang="vi-VN"/>
                  <a:t>f(x)=\frac{x^2-x+2}{x+1}=x-2+\frac{4}{x+1}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\lim\limits_{x\to\pm\infty}[f(x)-(x-2)]=\lim\limits_{x\to\pm\infty}\frac{4}{x+1}=0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⇒ tiệm cận xiên </a:t>
                </a:r>
                <a:r>
                  <a:rPr lang="vi-VN"/>
                  <a:t>y=x-2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4" name="Picture 13" descr="b3_v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707171"/>
            <a:ext cx="3108960" cy="28035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LUYỆN TẬP 3 (SGK TR.24)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10698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các tiệm cận đứng và tiệm cận xiên của đồ thị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−4x+2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10698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các tiệm cận đứng và tiệm cận xiên của đồ thị hàm số </a:t>
                </a:r>
                <a:r>
                  <a:rPr lang="vi-VN"/>
                  <a:t>y=f(x)=\frac{x^2-4x+2}{1-x}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852928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889504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f(x)=−∞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(hoặc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f(x)=+∞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): tiệm cận đứng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889504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\lim\limits_{x\to 1^+}f(x)=-\infty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(hoặc </a:t>
                </a:r>
                <a:r>
                  <a:rPr lang="vi-VN"/>
                  <a:t>\lim\limits_{x\to 1^-}f(x)=+\infty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): tiệm cận đứng </a:t>
                </a:r>
                <a:r>
                  <a:rPr lang="vi-VN"/>
                  <a:t>x=1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712464"/>
            <a:ext cx="11064240" cy="79552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749040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f(x)=−x+3+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[f(x)−(−x+3)]=0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tiệm cận xiên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y=−x+3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749040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f(x)=-x+3+\frac{1}{x-1}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\lim\limits_{x\to\pm\infty}[f(x)-(-x+3)]=0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tiệm cận xiên </a:t>
                </a:r>
                <a:r>
                  <a:rPr lang="vi-VN"/>
                  <a:t>y=-x+3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GHÉP ĐÔI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Mỗi nhóm ghép trong 1 phút, ghi vào bảng con.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64240" cy="5090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Ghép mỗi hàm số với một tiệm cận của đồ thị.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9255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13232" y="2465831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13232" y="2465831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y=\frac{2x+1}{x-4}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3200400" y="2429255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364992" y="2465831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y=x−2</m:t>
                    </m:r>
                  </m:oMath>
                </a14:m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3364992" y="2465831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y=x-2</a:t>
                </a:r>
              </a:p>
            </p:txBody>
          </p:sp>
        </mc:Fallback>
      </mc:AlternateContent>
      <p:sp>
        <p:nvSpPr>
          <p:cNvPr id="13" name="s1_nen"/>
          <p:cNvSpPr/>
          <p:nvPr/>
        </p:nvSpPr>
        <p:spPr>
          <a:xfrm>
            <a:off x="5852160" y="2429255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1_chu"/>
          <p:cNvSpPr txBox="1"/>
          <p:nvPr/>
        </p:nvSpPr>
        <p:spPr>
          <a:xfrm>
            <a:off x="6016752" y="2465831"/>
            <a:ext cx="1133856" cy="7040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1 –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61943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13232" y="3398519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6" name="TextBox 15"/>
              <p:cNvSpPr txBox="1"/>
              <p:nvPr/>
            </p:nvSpPr>
            <p:spPr>
              <a:xfrm>
                <a:off x="713232" y="3398519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y=x+\frac{1}{x+2}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3200400" y="3361943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364992" y="3398519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x=4</m:t>
                    </m:r>
                  </m:oMath>
                </a14:m>
              </a:p>
            </p:txBody>
          </p:sp>
        </mc:Choice>
        <mc:Fallback>
          <p:sp>
            <p:nvSpPr>
              <p:cNvPr id="18" name="TextBox 17"/>
              <p:cNvSpPr txBox="1"/>
              <p:nvPr/>
            </p:nvSpPr>
            <p:spPr>
              <a:xfrm>
                <a:off x="3364992" y="3398519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x=4</a:t>
                </a:r>
              </a:p>
            </p:txBody>
          </p:sp>
        </mc:Fallback>
      </mc:AlternateContent>
      <p:sp>
        <p:nvSpPr>
          <p:cNvPr id="19" name="s2_nen"/>
          <p:cNvSpPr/>
          <p:nvPr/>
        </p:nvSpPr>
        <p:spPr>
          <a:xfrm>
            <a:off x="5852160" y="3361943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2_chu"/>
          <p:cNvSpPr txBox="1"/>
          <p:nvPr/>
        </p:nvSpPr>
        <p:spPr>
          <a:xfrm>
            <a:off x="6016752" y="3398519"/>
            <a:ext cx="1133856" cy="7040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2 – 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94632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13232" y="4331208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2" name="TextBox 21"/>
              <p:cNvSpPr txBox="1"/>
              <p:nvPr/>
            </p:nvSpPr>
            <p:spPr>
              <a:xfrm>
                <a:off x="713232" y="4331208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y=\frac{x^2-x+2}{x+1}</a:t>
                </a:r>
              </a:p>
            </p:txBody>
          </p:sp>
        </mc:Fallback>
      </mc:AlternateContent>
      <p:sp>
        <p:nvSpPr>
          <p:cNvPr id="23" name="Rounded Rectangle 22"/>
          <p:cNvSpPr/>
          <p:nvPr/>
        </p:nvSpPr>
        <p:spPr>
          <a:xfrm>
            <a:off x="3200400" y="4294632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364992" y="4331208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y=0</m:t>
                    </m:r>
                  </m:oMath>
                </a14:m>
              </a:p>
            </p:txBody>
          </p:sp>
        </mc:Choice>
        <mc:Fallback>
          <p:sp>
            <p:nvSpPr>
              <p:cNvPr id="24" name="TextBox 23"/>
              <p:cNvSpPr txBox="1"/>
              <p:nvPr/>
            </p:nvSpPr>
            <p:spPr>
              <a:xfrm>
                <a:off x="3364992" y="4331208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y=0</a:t>
                </a:r>
              </a:p>
            </p:txBody>
          </p:sp>
        </mc:Fallback>
      </mc:AlternateContent>
      <p:sp>
        <p:nvSpPr>
          <p:cNvPr id="25" name="s3_nen"/>
          <p:cNvSpPr/>
          <p:nvPr/>
        </p:nvSpPr>
        <p:spPr>
          <a:xfrm>
            <a:off x="5852160" y="4294632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3_chu"/>
          <p:cNvSpPr txBox="1"/>
          <p:nvPr/>
        </p:nvSpPr>
        <p:spPr>
          <a:xfrm>
            <a:off x="6016752" y="4331208"/>
            <a:ext cx="1133856" cy="7040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3 – 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2732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713232" y="5263896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y=15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012x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28" name="TextBox 27"/>
              <p:cNvSpPr txBox="1"/>
              <p:nvPr/>
            </p:nvSpPr>
            <p:spPr>
              <a:xfrm>
                <a:off x="713232" y="5263896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y=15e^{-0{,}012x}</a:t>
                </a:r>
              </a:p>
            </p:txBody>
          </p:sp>
        </mc:Fallback>
      </mc:AlternateContent>
      <p:sp>
        <p:nvSpPr>
          <p:cNvPr id="29" name="Rounded Rectangle 28"/>
          <p:cNvSpPr/>
          <p:nvPr/>
        </p:nvSpPr>
        <p:spPr>
          <a:xfrm>
            <a:off x="3200400" y="522732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364992" y="5263896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</m:t>
                    </m:r>
                  </m:oMath>
                </a14:m>
              </a:p>
            </p:txBody>
          </p:sp>
        </mc:Choice>
        <mc:Fallback>
          <p:sp>
            <p:nvSpPr>
              <p:cNvPr id="30" name="TextBox 29"/>
              <p:cNvSpPr txBox="1"/>
              <p:nvPr/>
            </p:nvSpPr>
            <p:spPr>
              <a:xfrm>
                <a:off x="3364992" y="5263896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</a:t>
                </a:r>
              </a:p>
            </p:txBody>
          </p:sp>
        </mc:Fallback>
      </mc:AlternateContent>
      <p:sp>
        <p:nvSpPr>
          <p:cNvPr id="31" name="s4_nen"/>
          <p:cNvSpPr/>
          <p:nvPr/>
        </p:nvSpPr>
        <p:spPr>
          <a:xfrm>
            <a:off x="5852160" y="5227320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4_chu"/>
          <p:cNvSpPr txBox="1"/>
          <p:nvPr/>
        </p:nvSpPr>
        <p:spPr>
          <a:xfrm>
            <a:off x="6016752" y="5263896"/>
            <a:ext cx="1133856" cy="7040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4 –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GEOGEBRA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GEOGEBRA – TIỆM CẬN XIÊN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đường thẳng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(HĐ3).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thanh trượt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M(a;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f(a))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hình chiếu trên đường thẳng.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Khoảng cách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dần về 0 khi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a→+∞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:r>
                  <a:rPr lang="vi-VN"/>
                  <a:t>y=x-1+\frac{2}{x+1}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đường thẳng </a:t>
                </a:r>
                <a:r>
                  <a:rPr lang="vi-VN"/>
                  <a:t>y=x-1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(HĐ3).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thanh trượt </a:t>
                </a:r>
                <a:r>
                  <a:rPr lang="vi-VN"/>
                  <a:t>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điểm </a:t>
                </a:r>
                <a:r>
                  <a:rPr lang="vi-VN"/>
                  <a:t>M(a;\ f(a))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H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hình chiếu trên đường thẳng.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Khoảng cách </a:t>
                </a:r>
                <a:r>
                  <a:rPr lang="vi-VN"/>
                  <a:t>MH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dần về 0 khi </a:t>
                </a:r>
                <a:r>
                  <a:rPr lang="vi-VN"/>
                  <a:t>a\to+\infty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074920"/>
            <a:ext cx="3840480" cy="685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▶  MỞ GEOGEBRA</a:t>
            </a:r>
          </a:p>
        </p:txBody>
      </p:sp>
      <p:pic>
        <p:nvPicPr>
          <p:cNvPr id="9" name="Picture 8" descr="qr_ggb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0"/>
            <a:ext cx="1325880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064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Quét QR mở trên điện thoại. Kéo điểm để thay đổi hình.</a:t>
            </a:r>
          </a:p>
        </p:txBody>
      </p:sp>
      <p:pic>
        <p:nvPicPr>
          <p:cNvPr id="11" name="Picture 10" descr="b3_h1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518178"/>
            <a:ext cx="4846320" cy="437028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TỔNG KẾT TIẾT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857756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7846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y=ax+b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a≠0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 là tiệm cận xiên ⇔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[f(x)−(ax+b)]=0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a=lim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f(x)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b=lim[f(x)−ax]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Hàm phân thức bậc hai trên bậc nhất: chia đa thức để đọc nhanh tiệm cận xiên.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7846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y=ax+b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a\ne 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 là tiệm cận xiên ⇔ </a:t>
                </a:r>
                <a:r>
                  <a:rPr lang="vi-VN"/>
                  <a:t>\lim\limits_{x\to\pm\infty}[f(x)-(ax+b)]=0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a=\lim\frac{f(x)}{x}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b=\lim[f(x)-ax]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Hàm phân thức bậc hai trên bậc nhất: chia đa thức để đọc nhanh tiệm cận xiên.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" y="3549396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85972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Làm Bài tập 1.18 – 1.20 (SGK tr.25).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Tiết sau chữa bài tập.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4 (T13)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Chữa bài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Đọc giới hạn, tiệm cận từ đồ thị; tìm các tiệm cận (Bài 1.16 – 1.18).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Ý nghĩa thực tiễn của tiệm cận (Bài 1.19, 1.20).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1.16 – 1.17 (SGK TR.25)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7680960" cy="15300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1.16.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Hình 1.26 là đồ thị của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Viết kết quả các giới hạn: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Chỉ ra các tiệm cận của đồ thị.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7680960" cy="15300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1.16.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Hình 1.26 là đồ thị của hàm số </a:t>
                </a:r>
                <a:r>
                  <a:rPr lang="vi-VN"/>
                  <a:t>y=f(x)=\frac{2x^2}{x^2-1}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Viết kết quả các giới hạn: </a:t>
                </a:r>
                <a:r>
                  <a:rPr lang="vi-VN"/>
                  <a:t>\lim\limits_{x\to-\infty}f(x)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\lim\limits_{x\to+\infty}f(x)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 1^-}f(x)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\lim\limits_{x\to-1^+}f(x)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Chỉ ra các tiệm cận của đồ thị.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929128"/>
            <a:ext cx="7680960" cy="87477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965704"/>
                <a:ext cx="735177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Tiệm cận ngang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tiệm cận đứng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965704"/>
                <a:ext cx="735177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-\infty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-\infty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Tiệm cận ngang </a:t>
                </a:r>
                <a:r>
                  <a:rPr lang="vi-VN"/>
                  <a:t>y=2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tiệm cận đứng </a:t>
                </a:r>
                <a:r>
                  <a:rPr lang="vi-VN"/>
                  <a:t>x=1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x=-1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877056"/>
                <a:ext cx="768096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1.17.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Đường thẳng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phải là tiệm cận đứng của đồ thị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+2x−3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không?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877056"/>
                <a:ext cx="768096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1.17.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Đường thẳng </a:t>
                </a:r>
                <a:r>
                  <a:rPr lang="vi-VN"/>
                  <a:t>x=1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phải là tiệm cận đứng của đồ thị hàm số </a:t>
                </a:r>
                <a:r>
                  <a:rPr lang="vi-VN"/>
                  <a:t>y=\frac{x^2+2x-3}{x-1}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không?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870704"/>
            <a:ext cx="7680960" cy="87477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907280"/>
                <a:ext cx="735177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Không.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x→1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(hữu hạn)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không là tiệm cận đứng.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907280"/>
                <a:ext cx="735177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Không. Với </a:t>
                </a:r>
                <a:r>
                  <a:rPr lang="vi-VN"/>
                  <a:t>x\ne 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y=x+3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\lim\limits_{x\to 1}y=4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(hữu hạn) nên </a:t>
                </a:r>
                <a:r>
                  <a:rPr lang="vi-VN"/>
                  <a:t>x=1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không là tiệm cận đứng.</a:t>
                </a:r>
              </a:p>
            </p:txBody>
          </p:sp>
        </mc:Fallback>
      </mc:AlternateContent>
      <p:pic>
        <p:nvPicPr>
          <p:cNvPr id="13" name="Picture 12" descr="b3_h1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624713"/>
            <a:ext cx="3291840" cy="29684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0" y="477316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1.26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1.18 – 1.19 (SGK TR.25)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528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1.18.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các tiệm cận của đồ thị các hàm số: 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528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1.18.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các tiệm cận của đồ thị các hàm số: a) </a:t>
                </a:r>
                <a:r>
                  <a:rPr lang="vi-VN"/>
                  <a:t>y=\frac{3-x}{2x+1}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y=\frac{2x^2+x-1}{x+2}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188464"/>
            <a:ext cx="11064240" cy="12862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225040"/>
                <a:ext cx="1073505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Tiệm cận ngang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tiệm cận đứng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y=2x−3+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tiệm cận đứng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tiệm cận xiên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y=2x−3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25040"/>
                <a:ext cx="1073505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Tiệm cận ngang </a:t>
                </a:r>
                <a:r>
                  <a:rPr lang="vi-VN"/>
                  <a:t>y=-\frac{1}{2}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tiệm cận đứng </a:t>
                </a:r>
                <a:r>
                  <a:rPr lang="vi-VN"/>
                  <a:t>x=-\frac{1}{2}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y=2x-3+\frac{5}{x+2}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tiệm cận đứng </a:t>
                </a:r>
                <a:r>
                  <a:rPr lang="vi-VN"/>
                  <a:t>x=-2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tiệm cận xiên </a:t>
                </a:r>
                <a:r>
                  <a:rPr lang="vi-VN"/>
                  <a:t>y=2x-3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538728"/>
                <a:ext cx="11064240" cy="12252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1.19.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Chi phí sản xuất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sản phẩm là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C(x)=2x+50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(triệu đồng). Khi đó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C(x)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chi phí trung bình cho mỗi sản phẩm. Chứng tỏ rằng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giảm và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Tính chất này nói lên điều gì?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538728"/>
                <a:ext cx="11064240" cy="12252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1.19.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Chi phí sản xuất </a:t>
                </a:r>
                <a:r>
                  <a:rPr lang="vi-VN"/>
                  <a:t>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sản phẩm là </a:t>
                </a:r>
                <a:r>
                  <a:rPr lang="vi-VN"/>
                  <a:t>C(x)=2x+50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(triệu đồng). Khi đó </a:t>
                </a:r>
                <a:r>
                  <a:rPr lang="vi-VN"/>
                  <a:t>f(x)=\frac{C(x)}{x}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chi phí trung bình cho mỗi sản phẩm. Chứng tỏ rằng hàm số </a:t>
                </a:r>
                <a:r>
                  <a:rPr lang="vi-VN"/>
                  <a:t>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giảm và </a:t>
                </a:r>
                <a:r>
                  <a:rPr lang="vi-VN"/>
                  <a:t>\lim\limits_{x\to+\infty}f(x)=2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Tính chất này nói lên điều gì?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828032"/>
            <a:ext cx="11064240" cy="14538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864608"/>
                <a:ext cx="10735056" cy="13807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giảm;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Sản xuất càng nhiều thì chi phí trung bình mỗi sản phẩm càng giảm và tiến tới 2 triệu đồng (nhưng không thấp hơn).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864608"/>
                <a:ext cx="10735056" cy="13807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f(x)=2+\frac{50}{x}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f'(x)=-\frac{50}{x^2}&lt;0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f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giảm; </a:t>
                </a:r>
                <a:r>
                  <a:rPr lang="vi-VN"/>
                  <a:t>\lim\limits_{x\to+\infty}f(x)=2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Sản xuất càng nhiều thì chi phí trung bình mỗi sản phẩm càng giảm và tiến tới 2 triệu đồng (nhưng không thấp hơn).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1.20 (SGK TR.25)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5148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1.20.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Một mảnh vườn hình chữ nhật có diện tích bằng 144 m². Biết độ dài một cạnh của mảnh vườn là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(m). a) Viết biểu thức tính chu vi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(mét) của mảnh vườn. b) Tìm các tiệm cận của đồ thị hàm số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y=P(x)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Giải thích ý nghĩa thực tiễn của các kết quả này.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5148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1.20.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Một mảnh vườn hình chữ nhật có diện tích bằng 144 m². Biết độ dài một cạnh của mảnh vườn là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(m). a) Viết biểu thức tính chu vi </a:t>
                </a:r>
                <a:r>
                  <a:rPr lang="vi-VN"/>
                  <a:t>P(x)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(mét) của mảnh vườn. b) Tìm các tiệm cận của đồ thị hàm số </a:t>
                </a:r>
                <a:r>
                  <a:rPr lang="vi-VN"/>
                  <a:t>y=P(x)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Giải thích ý nghĩa thực tiễn của các kết quả này.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115056"/>
            <a:ext cx="11064240" cy="90220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151632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Cạnh kia dài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m: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P(x)=2</m:t>
                    </m:r>
                    <m:d>
                      <m:dPr>
                        <m:sepChr m:val="+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den>
                        </m:f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151632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Cạnh kia dài </a:t>
                </a:r>
                <a:r>
                  <a:rPr lang="vi-VN"/>
                  <a:t>\frac{144}{x}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m: </a:t>
                </a:r>
                <a:r>
                  <a:rPr lang="vi-VN"/>
                  <a:t>P(x)=2\left(x+\frac{144}{x}\right)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x&gt;0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4154424"/>
            <a:ext cx="11064240" cy="935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4191000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P(x)=+∞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tiệm cận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[P(x)−2x]=0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tiệm cận xiên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4191000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\lim\limits_{x\to 0^+}P(x)=+\infty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tiệm cận đứng </a:t>
                </a:r>
                <a:r>
                  <a:rPr lang="vi-VN"/>
                  <a:t>x=0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\lim\limits_{x\to+\infty}[P(x)-2x]=0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tiệm cận xiên </a:t>
                </a:r>
                <a:r>
                  <a:rPr lang="vi-VN"/>
                  <a:t>y=2x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5227320"/>
            <a:ext cx="11064240" cy="935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5263896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Ý nghĩa: cạnh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càng nhỏ thì chu vi càng lớn (vô hạn); khi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rất lớn, chu vi xấp xỉ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(cạnh kia rất nhỏ).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5263896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Ý nghĩa: cạnh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càng nhỏ thì chu vi càng lớn (vô hạn); khi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rất lớn, chu vi xấp xỉ </a:t>
                </a:r>
                <a:r>
                  <a:rPr lang="vi-VN"/>
                  <a:t>2x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(cạnh kia rất nhỏ).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RUNG CHUÔNG VÀNG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9626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889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bảng con – viết đáp án khi hết giờ.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nhiều lựa chọn: ghi A, B, C hoặc D (30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Đúng/Sai: ghi Đ hoặc S cho từng ý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trả lời ngắn, thực tế: ghi một số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thi. 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1 (BIẾT)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Tiệm cận ngang của đồ thị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x−3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Tiệm cận ngang của đồ thị hàm số </a:t>
                </a:r>
                <a:r>
                  <a:rPr lang="vi-VN"/>
                  <a:t>y=\frac{2x+1}{x-3}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y=2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x=3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y=-\frac{1}{3}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y=\frac{1}{2}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\lim\limits_{x\to\pm\infty}y=2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2 (BIẾT)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Tiệm cận đứng của đồ thị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Tiệm cận đứng của đồ thị hàm số </a:t>
                </a:r>
                <a:r>
                  <a:rPr lang="vi-VN"/>
                  <a:t>y=\frac{x+2}{x-1}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x=−2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x=-2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x=1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y=1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x=-1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\lim\limits_{x\to 1^+}y=+\infty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3 (HIỂU)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1445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Tổng số đường tiệm cận đứng và tiệm cận ngang của đồ thị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sSup>
                          <m:e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1445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Tổng số đường tiệm cận đứng và tiệm cận ngang của đồ thị hàm số </a:t>
                </a:r>
                <a:r>
                  <a:rPr lang="vi-VN"/>
                  <a:t>y=\frac{x+1}{x^2-1}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607564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644140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644140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607564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644140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644140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613404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649980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649980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3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613404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649980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649980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4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756404"/>
            <a:ext cx="11064240" cy="123748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792980"/>
                <a:ext cx="10735056" cy="116433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x≠−1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): tiệm cận đứng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tiệm cận ngang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giới hạn bằng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792980"/>
                <a:ext cx="10735056" cy="116433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y=\frac{1}{x-1}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x\ne-1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): tiệm cận đứng </a:t>
                </a:r>
                <a:r>
                  <a:rPr lang="vi-VN"/>
                  <a:t>x=1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tiệm cận ngang </a:t>
                </a:r>
                <a:r>
                  <a:rPr lang="vi-VN"/>
                  <a:t>y=0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tại </a:t>
                </a:r>
                <a:r>
                  <a:rPr lang="vi-VN"/>
                  <a:t>x=-1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giới hạn bằng </a:t>
                </a:r>
                <a:r>
                  <a:rPr lang="vi-VN"/>
                  <a:t>-\frac{1}{2}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4 (HIỂU)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36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Tiệm cận xiên của đồ thị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+x+1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Tiệm cận xiên của đồ thị hàm số </a:t>
                </a:r>
                <a:r>
                  <a:rPr lang="vi-VN"/>
                  <a:t>y=\frac{x^2+x+1}{x}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y=x+1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y=x+1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y=x−1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y=x-1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x=0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y=x+1+\frac{1}{x}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5 (ĐÚNG/SAI)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37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0408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−3x+2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0408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:r>
                  <a:rPr lang="vi-VN"/>
                  <a:t>y=\frac{2x^2-3x+2}{x-1}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216712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Đồ thị có tiệm cận đứng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216712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Đồ thị có tiệm cận đứng </a:t>
                </a:r>
                <a:r>
                  <a:rPr lang="vi-VN"/>
                  <a:t>x=1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412480" y="2139696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176272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7680960" cy="9418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b) Đồ thị không có tiệm cận ngang.</a:t>
            </a:r>
          </a:p>
        </p:txBody>
      </p:sp>
      <p:sp>
        <p:nvSpPr>
          <p:cNvPr id="12" name="s2_nen"/>
          <p:cNvSpPr/>
          <p:nvPr/>
        </p:nvSpPr>
        <p:spPr>
          <a:xfrm>
            <a:off x="8412480" y="3127248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3163824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8640" y="4142232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Tiệm cận xiên là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y=2x+1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4142232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Tiệm cận xiên là </a:t>
                </a:r>
                <a:r>
                  <a:rPr lang="vi-VN"/>
                  <a:t>y=2x+1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5" name="s3_nen"/>
          <p:cNvSpPr/>
          <p:nvPr/>
        </p:nvSpPr>
        <p:spPr>
          <a:xfrm>
            <a:off x="8412480" y="4114800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4151376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(y = 2x − 1)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48640" y="5129784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48640" y="5129784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</a:t>
                </a:r>
                <a:r>
                  <a:rPr lang="vi-VN"/>
                  <a:t>\lim\limits_{x\to 1^+}y=+\infty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8" name="s4_nen"/>
          <p:cNvSpPr/>
          <p:nvPr/>
        </p:nvSpPr>
        <p:spPr>
          <a:xfrm>
            <a:off x="8412480" y="5102352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5138928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6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38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1445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Đồ thị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ax+1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x−b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có tiệm cận đứng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và tiệm cận ngang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y=3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a+b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1445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Đồ thị hàm số </a:t>
                </a:r>
                <a:r>
                  <a:rPr lang="vi-VN"/>
                  <a:t>y=\frac{ax+1}{x-b}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có tiệm cận đứng </a:t>
                </a:r>
                <a:r>
                  <a:rPr lang="vi-VN"/>
                  <a:t>x=2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và tiệm cận ngang </a:t>
                </a:r>
                <a:r>
                  <a:rPr lang="vi-VN"/>
                  <a:t>y=3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</a:t>
                </a:r>
                <a:r>
                  <a:rPr lang="vi-VN"/>
                  <a:t>a+b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Tiệm cận đứng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x=b=2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tiệm cận ngang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a+b=5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Tiệm cận đứng </a:t>
                </a:r>
                <a:r>
                  <a:rPr lang="vi-VN"/>
                  <a:t>x=b=2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tiệm cận ngang </a:t>
                </a:r>
                <a:r>
                  <a:rPr lang="vi-VN"/>
                  <a:t>y=a=3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a+b=5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7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39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Đồ thị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6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có tiệm cận xiên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y=ax+b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a+b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Đồ thị hàm số </a:t>
                </a:r>
                <a:r>
                  <a:rPr lang="vi-VN"/>
                  <a:t>y=\frac{3x^2-x+2}{x+1}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có tiệm cận xiên </a:t>
                </a:r>
                <a:r>
                  <a:rPr lang="vi-VN"/>
                  <a:t>y=ax+b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</a:t>
                </a:r>
                <a:r>
                  <a:rPr lang="vi-VN"/>
                  <a:t>a+b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79552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−1.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y=3x−4+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b=−4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−1.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y=3x-4+\frac{6}{x+1}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a=3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b=-4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8 (THỰC TẾ)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40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9370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Bể chứa 200 lít nước tinh khiết. Bơm vào bể nước muối nồng độ 25 g/l với tốc độ 10 lít/phút; nồng độ muối sau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phút là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25t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20+t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(g/l). Khi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rất lớn, nồng độ muối trong bể tiến tới bao nhiêu g/l?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9370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Bể chứa 200 lít nước tinh khiết. Bơm vào bể nước muối nồng độ 25 g/l với tốc độ 10 lít/phút; nồng độ muối sau </a:t>
                </a:r>
                <a:r>
                  <a:rPr lang="vi-VN"/>
                  <a:t>t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phút là </a:t>
                </a:r>
                <a:r>
                  <a:rPr lang="vi-VN"/>
                  <a:t>C(t)=\frac{25t}{20+t}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(g/l). Khi </a:t>
                </a:r>
                <a:r>
                  <a:rPr lang="vi-VN"/>
                  <a:t>t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rất lớn, nồng độ muối trong bể tiến tới bao nhiêu g/l?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79552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t→+∞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25t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20+t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tiệm cận ngang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C=25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72237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\lim\limits_{t\to+\infty}\frac{25t}{20+t}=25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tiệm cận ngang </a:t>
                </a:r>
                <a:r>
                  <a:rPr lang="vi-VN"/>
                  <a:t>C=25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https://trangtu66.github.io/Taode_thi_online/cc_bai3_t12.html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thành Bài tập 1.16 – 1.20.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</a:t>
            </a:r>
            <a:r>
              <a:rPr sz="2200" b="1">
                <a:solidFill>
                  <a:srgbClr val="1E293B"/>
                </a:solidFill>
                <a:latin typeface="Calibri"/>
              </a:rPr>
              <a:t>Bài 4. Khảo sát sự biến thiên và vẽ đồ thị của hàm số</a:t>
            </a:r>
            <a:r>
              <a:rPr sz="2200">
                <a:solidFill>
                  <a:srgbClr val="1E293B"/>
                </a:solidFill>
                <a:latin typeface="Calibri"/>
              </a:rPr>
              <a:t> (SGK tr.26).</a:t>
            </a:r>
          </a:p>
        </p:txBody>
      </p:sp>
      <p:pic>
        <p:nvPicPr>
          <p:cNvPr id="8" name="Picture 7" descr="QR_CungCo_Bai3_Toan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BÀI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42</a:t>
            </a:r>
          </a:p>
        </p:txBody>
      </p:sp>
      <p:pic>
        <p:nvPicPr>
          <p:cNvPr id="7" name="Picture 6" descr="SoDoTuDuy_TOAN12_Bai3_DuongTiem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43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Kết luận tiệm cận đứng tại mọi nghiệm của mẫu, không kiểm tra giới hạn (Bài 1.17, câu 3 trò chơi).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Đưa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vào căn khi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x&lt;0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quên dấu trừ (Ví dụ 2) – bỏ sót tiệm cận ngang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Tiệm cận xiên: chỉ tính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quên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chia đa thức sai dấu khi mẫu là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1−x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(Luyện tập 3).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Viết tiệm cận ngang dạng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tiệm cận đứng dạng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Kết luận tiệm cận đứng tại mọi nghiệm của mẫu, không kiểm tra giới hạn (Bài 1.17, câu 3 trò chơi).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Đưa </a:t>
                </a:r>
                <a:r>
                  <a:rPr lang="vi-VN"/>
                  <a:t>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vào căn khi </a:t>
                </a:r>
                <a:r>
                  <a:rPr lang="vi-VN"/>
                  <a:t>x&lt;0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quên dấu trừ (Ví dụ 2) – bỏ sót tiệm cận ngang </a:t>
                </a:r>
                <a:r>
                  <a:rPr lang="vi-VN"/>
                  <a:t>y=-1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Tiệm cận xiên: chỉ tính </a:t>
                </a:r>
                <a:r>
                  <a:rPr lang="vi-VN"/>
                  <a:t>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quên </a:t>
                </a:r>
                <a:r>
                  <a:rPr lang="vi-VN"/>
                  <a:t>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chia đa thức sai dấu khi mẫu là </a:t>
                </a:r>
                <a:r>
                  <a:rPr lang="vi-VN"/>
                  <a:t>1-x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(Luyện tập 3).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Viết tiệm cận ngang dạng </a:t>
                </a:r>
                <a:r>
                  <a:rPr lang="vi-VN"/>
                  <a:t>x=y_0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tiệm cận đứng dạng </a:t>
                </a:r>
                <a:r>
                  <a:rPr lang="vi-VN"/>
                  <a:t>y=x_0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3. Đường tiệm cận của đồ thị hàm số – Toán 12          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cần hỗ trợ:</a:t>
            </a:r>
            <a:r>
              <a:rPr sz="2000">
                <a:solidFill>
                  <a:srgbClr val="1E293B"/>
                </a:solidFill>
                <a:latin typeface="Calibri"/>
              </a:rPr>
              <a:t> hàm bậc nhất trên bậc nhất – đọc nhanh tiệm cận ngang (tỉ số hệ số), tiệm cận đứng (nghiệm của mẫu).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khá, giỏi:</a:t>
            </a:r>
            <a:r>
              <a:rPr sz="2000">
                <a:solidFill>
                  <a:srgbClr val="1E293B"/>
                </a:solidFill>
                <a:latin typeface="Calibri"/>
              </a:rPr>
              <a:t> Ví dụ 2, Luyện tập 3, Bài 1.18b, 1.20; GeoGebra trang 2.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12A2, 12A7 (khiếm thị):</a:t>
            </a:r>
            <a:r>
              <a:rPr sz="2000">
                <a:solidFill>
                  <a:srgbClr val="1E293B"/>
                </a:solidFill>
                <a:latin typeface="Calibri"/>
              </a:rPr>
              <a:t> GV mô tả "đồ thị tiến sát đường thẳng" và đọc to giới hạn; </a:t>
            </a:r>
            <a:r>
              <a:rPr sz="2000" b="1">
                <a:solidFill>
                  <a:srgbClr val="1E293B"/>
                </a:solidFill>
                <a:latin typeface="Calibri"/>
              </a:rPr>
              <a:t>12A3, 12A5, 12A7 (vận động):</a:t>
            </a:r>
            <a:r>
              <a:rPr sz="2000">
                <a:solidFill>
                  <a:srgbClr val="1E293B"/>
                </a:solidFill>
                <a:latin typeface="Calibri"/>
              </a:rPr>
              <a:t> trả lời tại chỗ.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Mất điện/mạng:</a:t>
            </a:r>
            <a:r>
              <a:rPr sz="2000">
                <a:solidFill>
                  <a:srgbClr val="1E293B"/>
                </a:solidFill>
                <a:latin typeface="Calibri"/>
              </a:rPr>
              <a:t> KHBD in, vẽ đồ thị phác trên bảng; máy tính cầm tay tính giá trị khi x rất lớn.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