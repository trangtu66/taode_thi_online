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Bìa. Đáp án, lời giải hiện theo click. Nút GeoGebra mở trang online (cần Internet).</a:t>
            </a:r>
          </a:p>
          <a:p>
            <a:r>
              <a:t>Lớp có HS khuyết tật: 12A2, 12A7 (khiếm thị) – GV đọc to công thức, bảng biến thiên, mô tả đồ thị; 12A3, 12A5, 12A7 (vận động) – HS trả lời tại chỗ, không cần lên bảng.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1'. Yêu cầu cần đạt lấy từ khung 'Kiến thức, kĩ năng' SGK tr.20.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Chiếu để HS nắm lộ trình bài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Tiết 1 (45'): Khởi động 5' – HĐ1, khung, Hình 1.20: 12' – Ví dụ 1, 2: 12' – LT1, Vận dụng 1: 8' – Đúng hay sai? 5' – Tổng kết 3'.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Chiếu video mở đầu (ảnh thật, lồng tiếng, phụ đề – không nói đáp án), HS quét QR xem lại. 5'. HS dự đoán: khối lượng giảm dần, tiến về 0; đồ thị tiến sát trục hoành. Giải ở Vận dụng 1 cùng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HĐ1 – 4'. Click 1, 2. Khung định nghĩa ở slide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3'. Chốt khung. Đồ thị có thể cắt tiệm cận ngang; chỉ cần tiến sát đường y = y0 khi x → +∞ hoặc x → −∞.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trình bày (click 1, 2). Ví dụ 2: chú ý dấu khi đưa x vào căn với x &lt; 0 (sai lầm phổ biến).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LT1: HS làm 3' (click 1). Vận dụng 1: giải tình huống mở đầu (click 2,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5'. Click 1–4.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Tiết 2 (45'): Ai nhanh hơn 5' – HĐ2, khung, Hình 1.23: 12' – Ví dụ 3, 4: 10' – LT2: 7' – Vận dụng 2: 8' – Tổng kết 3'.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5'. Ôn giới hạn một bên – dẫn vào tiệm cận đứng. Click 1–4.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HĐ2 – 4'. Click 1, 2. Khung định nghĩa ở slide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3'. Chốt khung. Hình 1.23: a), c): x → x0⁻; b), d): x → x0⁺.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Ví dụ 3, 4: GV trình bày (click 1, 2). LT2: HS làm 3' (click 3). Tiệm cận đứng: tìm tại nghiệm của mẫu (không là nghiệm của tử).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8'. Thảo luận cặp. Click 1, 2. Liên hệ: xử lí ô nhiễm hồ, ao nuôi thuỷ sản ở địa phương.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Tiết 3 (45'): HĐ3, khung, Hình 1.25: 12' – Ví dụ 5, Chú ý 10' – Ví dụ 6, Nhận xét 10' – LT3: 6' – Ghép đôi 4' – Tổng kết 3'.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HĐ3 – 5'. Click 1, 2. Khung định nghĩa ở slide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3'. Chốt khung, quan sát Hình 1.25.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Ví dụ 5: click 1. Chú ý: GV dẫn dắt (click 2). Nếu a = 0 thì đồ thị có tiệm cận ngang.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Ví dụ 6: cách dùng công thức (click 1, 2). Nhận xét: chia đa thức – cách nhanh trong thực hành (click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làm cá nhân 6'. Click 1, 2 (đã kiểm tra bằng sympy). Chú ý dấu khi chia cho (1 − 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4'. Click 1–4.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2'. Lệnh: H=ClosestPoint(d1,M), MH=Distance(M,d1). Trang 1 (tiệm cận ngang, đứng) dùng ở Tiết 1, 2 nếu có thời gian.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Tiết 4 (45'): 1.16, 1.17: 8' – 1.18: 7' – 1.19, 1.20: 10' – Rung chuông vàng 15' – Củng cố online 5'.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8'. Chữa bài: HS trình bày, click hiện đáp án (đối chiếu SGV tr.55 – 56; đã kiểm tra bằng sympy).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12'. Chữa bài: HS trình bày, click hiện đáp án (đối chiếu SGV tr.55 – 56; đã kiểm tra bằng sympy).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5'. Chữa bài: HS trình bày, click hiện đáp án (đối chiếu SGV tr.55 – 56; đã kiểm tra bằng sympy).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Mỗi HS một bảng con. Mỗi câu 30 giây (Đ/S, trả lời ngắn, thực tế: 60 giây). Sai rời sàn thi; có thể 'cứu trợ' 1 lần. Cấu trúc 8 câu theo đề thi từ 2025: nhiều lựa chọn, Đúng/Sai, trả lời ngắn, thực tế. Đáp án đã kiểm tra bằng Python.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Nhiễu B: tiệm cận đứng; C: giá trị tại x =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Nhiễu A: nghiệm của tử; C: tiệm cận ngang.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Nhiễu C: tính cả x = −1 (sai lầm phổ biến).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Nhiễu A: chỉ lấy a, quên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giây. Click 1–4. Đáp án đã kiểm tra bằng sympy: Đ – Đ – S – 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giây. Click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giây. Click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giây. Click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3'. HS quét QR làm bài củng cố online ở nhà. Đáp án chỉ mở khi GV cho phép.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Củng cố cuối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ẩn – chỉ GV xem khi chuẩn bị.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ẩn – chỉ GV xem khi chuẩn bị.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trangtu66.github.io/Taode_thi_online/mon/toan/video/lop12/VIDEO_MoDau_TOAN12_Bai3_DuongTiemCan.mp4" TargetMode="Externa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trangtu66.github.io/Taode_thi_online/GGB_T12_Bai3_2_Xien.html" TargetMode="External"/><Relationship Id="rId4" Type="http://schemas.openxmlformats.org/officeDocument/2006/relationships/image" Target="../media/image12.png"/><Relationship Id="rId5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4.png"/><Relationship Id="rId4" Type="http://schemas.openxmlformats.org/officeDocument/2006/relationships/hyperlink" Target="https://trangtu66.github.io/Taode_thi_online/cc_bai3_t12.html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72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332720" cy="3291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FCD34D"/>
                </a:solidFill>
                <a:latin typeface="Cambria"/>
              </a:rPr>
              <a:t>CHƯƠNG I. ỨNG DỤNG ĐẠO HÀM ĐỂ KHẢO SÁT VÀ VẼ ĐỒ THỊ HÀM SỐ</a:t>
            </a:r>
          </a:p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BÀI 3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ĐƯỜNG TIỆM CẬN CỦA ĐỒ THỊ HÀM SỐ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4340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4 tiết: T10 – T13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7D2FE"/>
                </a:solidFill>
              </a:rPr>
              <a:t>GV Trương Tử Trang – THPT Vĩnh Thạnh       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453896"/>
            <a:ext cx="10735056" cy="12984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Yêu cầu cần đạt</a:t>
            </a:r>
            <a:r>
              <a:rPr sz="2200">
                <a:solidFill>
                  <a:srgbClr val="1E293B"/>
                </a:solidFill>
                <a:latin typeface="Calibri"/>
              </a:rPr>
              <a:t> (SGK tr.20)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 hình ảnh hình học của đường tiệm cận ngang, đường tiệm cận đứng, đường tiệm cận xiên của đồ thị hàm số.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17520"/>
            <a:ext cx="1106424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 b="1">
                <a:solidFill>
                  <a:srgbClr val="1E293B"/>
                </a:solidFill>
                <a:latin typeface="Calibri"/>
              </a:rPr>
              <a:t>Năng lực toán học:</a:t>
            </a:r>
            <a:r>
              <a:rPr sz="2200">
                <a:solidFill>
                  <a:srgbClr val="1E293B"/>
                </a:solidFill>
                <a:latin typeface="Calibri"/>
              </a:rPr>
              <a:t> tư duy và lập luận (giới hạn → tiệm cận); mô hình hoá (chất phóng xạ, chi phí loại bỏ tảo, chi phí trung bình); giải quyết vấn đề; sử dụng công cụ (GeoGebra, máy tính cầm tay).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 b="1">
                <a:solidFill>
                  <a:srgbClr val="1E293B"/>
                </a:solidFill>
                <a:latin typeface="Calibri"/>
              </a:rPr>
              <a:t>Phẩm chất:</a:t>
            </a:r>
            <a:r>
              <a:rPr sz="2200">
                <a:solidFill>
                  <a:srgbClr val="1E293B"/>
                </a:solidFill>
                <a:latin typeface="Calibri"/>
              </a:rPr>
              <a:t> chăm chỉ, trung thực, trách nhiệm.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LỘ TRÌNH 4 TIẾT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118872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887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T10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64592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1. Đường tiệm cận ngang; Vận dụng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645920"/>
            <a:ext cx="3749039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E293B"/>
                </a:solidFill>
                <a:latin typeface="Calibri"/>
              </a:rPr>
              <a:t>🎮 Đúng hay sai? · GeoGebra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14600"/>
            <a:ext cx="118872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587752"/>
            <a:ext cx="11887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T11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60604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2. Đường tiệm cận đứng; Vận dụng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606040"/>
            <a:ext cx="3749039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E293B"/>
                </a:solidFill>
                <a:latin typeface="Calibri"/>
              </a:rPr>
              <a:t>🎮 Ai nhanh hơn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474720"/>
            <a:ext cx="118872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547872"/>
            <a:ext cx="11887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T12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56616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3. Đường tiệm cận xiên; Chú ý, Nhận xét; Luyện tập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749039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E293B"/>
                </a:solidFill>
                <a:latin typeface="Calibri"/>
              </a:rPr>
              <a:t>🎮 Ghép đôi · GeoGebra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434840"/>
            <a:ext cx="118872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507992"/>
            <a:ext cx="11887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T13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452628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Chữa bài tập 1.16 – 1.20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4526280"/>
            <a:ext cx="3749039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E293B"/>
                </a:solidFill>
                <a:latin typeface="Calibri"/>
              </a:rPr>
              <a:t>🎮 Rung chuông vàng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72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332720" cy="3291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FCD34D"/>
                </a:solidFill>
                <a:latin typeface="Cambria"/>
              </a:rPr>
              <a:t>TIẾT 1 (T10)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Đường tiệm cận ngang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4340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Mục tiêu tiết học: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Nhận biết đường tiệm cận ngang của đồ thị hàm số.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Tìm tiệm cận ngang bằng giới hạn tại vô cực.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7D2FE"/>
                </a:solidFill>
              </a:rPr>
              <a:t>GV Trương Tử Trang – THPT Vĩnh Thạnh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KHỞI ĐỘNG – CHẤT PHÓNG XẠ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583680" cy="38404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Giả sử khối lượng còn lại của một chất phóng xạ (gam) sau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ngày phân rã được cho bởi hàm số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y=m(t)=15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−0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012t</m:t>
                        </m:r>
                      </m:sup>
                    </m:sSup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Khối lượng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m(t)</m:t>
                    </m:r>
                  </m:oMath>
                </a14:m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 thay đổi ra sao khi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t→+∞</m:t>
                    </m:r>
                  </m:oMath>
                </a14:m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? Điều này thể hiện trên Hình 1.18 như thế nào?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64748B"/>
                    </a:solidFill>
                    <a:latin typeface="Calibri"/>
                  </a:rPr>
                  <a:t>(SGK Toán 12 tập một, tr.20)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583680" cy="38404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Giả sử khối lượng còn lại của một chất phóng xạ (gam) sau </a:t>
                </a:r>
                <a:r>
                  <a:rPr lang="vi-VN"/>
                  <a:t>t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ngày phân rã được cho bởi hàm số </a:t>
                </a:r>
                <a:r>
                  <a:rPr lang="vi-VN"/>
                  <a:t>y=m(t)=15e^{-0{,}012t}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Khối lượng </a:t>
                </a:r>
                <a:r>
                  <a:rPr lang="vi-VN"/>
                  <a:t>m(t)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 thay đổi ra sao khi </a:t>
                </a:r>
                <a:r>
                  <a:rPr lang="vi-VN"/>
                  <a:t>t\to+\infty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? Điều này thể hiện trên Hình 1.18 như thế nào?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64748B"/>
                    </a:solidFill>
                    <a:latin typeface="Calibri"/>
                  </a:rPr>
                  <a:t>(SGK Toán 12 tập một, tr.20)</a:t>
                </a:r>
              </a:p>
            </p:txBody>
          </p:sp>
        </mc:Fallback>
      </mc:AlternateContent>
      <p:sp>
        <p:nvSpPr>
          <p:cNvPr id="8" name="Rounded Rectangle 7">
            <a:hlinkClick r:id="rId3"/>
          </p:cNvPr>
          <p:cNvSpPr/>
          <p:nvPr/>
        </p:nvSpPr>
        <p:spPr>
          <a:xfrm>
            <a:off x="548640" y="5349240"/>
            <a:ext cx="3931920" cy="6400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▶  VIDEO MỞ ĐẦU</a:t>
            </a:r>
          </a:p>
        </p:txBody>
      </p:sp>
      <p:pic>
        <p:nvPicPr>
          <p:cNvPr id="9" name="Picture 8" descr="qr_vid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5074920"/>
            <a:ext cx="1188720" cy="1188720"/>
          </a:xfrm>
          <a:prstGeom prst="rect">
            <a:avLst/>
          </a:prstGeom>
        </p:spPr>
      </p:pic>
      <p:pic>
        <p:nvPicPr>
          <p:cNvPr id="10" name="Picture 9" descr="b3_h1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2262799"/>
            <a:ext cx="4389120" cy="24238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0" y="5504688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Hình 1.18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1. ĐƯỜNG TIỆM CẬN NGANG – HĐ1 (SGK TR.20)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680960" cy="191795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HĐ1.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Cho hàm số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2x+1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có đồ thị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Với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x&gt;0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xét điểm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M(x;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f(x))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thuộc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Gọi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là hình chiếu vuông góc của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trên đường thẳng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(H.1.19). a) Tính khoảng cách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MH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b) Có nhận xét gì về khoảng cách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MH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khi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x→+∞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680960" cy="191795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HĐ1.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Cho hàm số </a:t>
                </a:r>
                <a:r>
                  <a:rPr lang="vi-VN"/>
                  <a:t>y=f(x)=\frac{2x+1}{x}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có đồ thị </a:t>
                </a:r>
                <a:r>
                  <a:rPr lang="vi-VN"/>
                  <a:t>(C)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Với </a:t>
                </a:r>
                <a:r>
                  <a:rPr lang="vi-VN"/>
                  <a:t>x&gt;0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xét điểm </a:t>
                </a:r>
                <a:r>
                  <a:rPr lang="vi-VN"/>
                  <a:t>M(x;\ f(x))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thuộc </a:t>
                </a:r>
                <a:r>
                  <a:rPr lang="vi-VN"/>
                  <a:t>(C)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Gọi </a:t>
                </a:r>
                <a:r>
                  <a:rPr lang="vi-VN"/>
                  <a:t>H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là hình chiếu vuông góc của </a:t>
                </a:r>
                <a:r>
                  <a:rPr lang="vi-VN"/>
                  <a:t>M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trên đường thẳng </a:t>
                </a:r>
                <a:r>
                  <a:rPr lang="vi-VN"/>
                  <a:t>y=2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(H.1.19). a) Tính khoảng cách </a:t>
                </a:r>
                <a:r>
                  <a:rPr lang="vi-VN"/>
                  <a:t>MH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b) Có nhận xét gì về khoảng cách </a:t>
                </a:r>
                <a:r>
                  <a:rPr lang="vi-VN"/>
                  <a:t>MH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khi </a:t>
                </a:r>
                <a:r>
                  <a:rPr lang="vi-VN"/>
                  <a:t>x\to+\infty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3380994"/>
            <a:ext cx="7680960" cy="873251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3417570"/>
                <a:ext cx="7351776" cy="800099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MH=|f(x)−2|=</m:t>
                    </m:r>
                    <m:d>
                      <m:dPr>
                        <m:begChr m:val="|"/>
                        <m:sepChr m:val=""/>
                        <m:endChr m:val="|"/>
                      </m:dPr>
                      <m:e>
                        <m:f>
                          <m:fPr>
                            <m:type m:val="bar"/>
                          </m:fPr>
                          <m:num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den>
                        </m:f>
                      </m:e>
                    </m:d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(vì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x&gt;0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3417570"/>
                <a:ext cx="7351776" cy="800099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MH=|f(x)-2|=\left|\frac{1}{x}\right|=\frac{1}{x}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(vì </a:t>
                </a:r>
                <a:r>
                  <a:rPr lang="vi-VN"/>
                  <a:t>x&gt;0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4345686"/>
            <a:ext cx="7680960" cy="1049274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4382262"/>
                <a:ext cx="7351776" cy="976122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MH=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khi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x→+∞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: điểm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tiến sát đường thẳng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4382262"/>
                <a:ext cx="7351776" cy="976122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MH=\frac{1}{x}\to 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khi </a:t>
                </a:r>
                <a:r>
                  <a:rPr lang="vi-VN"/>
                  <a:t>x\to+\infty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: điểm </a:t>
                </a:r>
                <a:r>
                  <a:rPr lang="vi-VN"/>
                  <a:t>M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tiến sát đường thẳng </a:t>
                </a:r>
                <a:r>
                  <a:rPr lang="vi-VN"/>
                  <a:t>y=2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pic>
        <p:nvPicPr>
          <p:cNvPr id="12" name="Picture 11" descr="b3_h1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707172"/>
            <a:ext cx="3108959" cy="2803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03920" y="4773168"/>
            <a:ext cx="3108959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Hình 1.19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ĐỊNH NGHĨA TIỆM CẬN NGANG (SGK TR.20)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11064240" cy="935735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713232" y="1362456"/>
                <a:ext cx="10735056" cy="862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Đường thẳng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gọi là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đường tiệm cận ngang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(gọi tắt là tiệm cận ngang) của đồ thị hàm số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nếu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x→−∞</m:t>
                        </m:r>
                      </m:lim>
                    </m:limLow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713232" y="1362456"/>
                <a:ext cx="10735056" cy="862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Đường thẳng </a:t>
                </a:r>
                <a:r>
                  <a:rPr lang="vi-VN"/>
                  <a:t>y=y_0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gọi là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đường tiệm cận ngang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(gọi tắt là tiệm cận ngang) của đồ thị hàm số </a:t>
                </a:r>
                <a:r>
                  <a:rPr lang="vi-VN"/>
                  <a:t>y=f(x)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nếu </a:t>
                </a:r>
                <a:r>
                  <a:rPr lang="vi-VN"/>
                  <a:t>\lim\limits_{x\to+\infty}f(x)=y_0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\lim\limits_{x\to-\infty}f(x)=y_0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pic>
        <p:nvPicPr>
          <p:cNvPr id="9" name="Picture 8" descr="b3_h1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450923"/>
            <a:ext cx="9966960" cy="385200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VÍ DỤ 1 – VÍ DỤ 2 (SGK TR.21)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25880"/>
                <a:ext cx="7863840" cy="9204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Ví dụ 1.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Tìm tiệm cận ngang của đồ thị hàm số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3x−2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25880"/>
                <a:ext cx="7863840" cy="9204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Ví dụ 1.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Tìm tiệm cận ngang của đồ thị hàm số </a:t>
                </a:r>
                <a:r>
                  <a:rPr lang="vi-VN"/>
                  <a:t>y=f(x)=\frac{3x-2}{x+1}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319528"/>
            <a:ext cx="7863840" cy="128625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356104"/>
                <a:ext cx="7534656" cy="12131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den>
                        </m:f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den>
                        </m:f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Tương tự,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x→−∞</m:t>
                        </m:r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Vậy tiệm cận ngang là đường thẳng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356104"/>
                <a:ext cx="7534656" cy="12131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\lim\limits_{x\to+\infty}f(x)=\lim\limits_{x\to+\infty}\frac{3-\frac{2}{x}}{1+\frac{1}{x}}=3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Tương tự, </a:t>
                </a:r>
                <a:r>
                  <a:rPr lang="vi-VN"/>
                  <a:t>\lim\limits_{x\to-\infty}f(x)=3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Vậy tiệm cận ngang là đường thẳng </a:t>
                </a:r>
                <a:r>
                  <a:rPr lang="vi-VN"/>
                  <a:t>y=3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s2_chu"/>
              <p:cNvSpPr txBox="1"/>
              <p:nvPr/>
            </p:nvSpPr>
            <p:spPr>
              <a:xfrm>
                <a:off x="548640" y="3678936"/>
                <a:ext cx="7863840" cy="9204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Ví dụ 2.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Tìm các tiệm cận ngang của đồ thị hàm số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rad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0" name="TextBox 9"/>
              <p:cNvSpPr txBox="1"/>
              <p:nvPr/>
            </p:nvSpPr>
            <p:spPr>
              <a:xfrm>
                <a:off x="548640" y="3678936"/>
                <a:ext cx="7863840" cy="9204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Ví dụ 2.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Tìm các tiệm cận ngang của đồ thị hàm số </a:t>
                </a:r>
                <a:r>
                  <a:rPr lang="vi-VN"/>
                  <a:t>y=f(x)=\frac{\sqrt{x^2+1}}{x}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1" name="s3_nen"/>
          <p:cNvSpPr/>
          <p:nvPr/>
        </p:nvSpPr>
        <p:spPr>
          <a:xfrm>
            <a:off x="548640" y="4672584"/>
            <a:ext cx="7863840" cy="145389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3_chu"/>
              <p:cNvSpPr txBox="1"/>
              <p:nvPr/>
            </p:nvSpPr>
            <p:spPr>
              <a:xfrm>
                <a:off x="713232" y="4709160"/>
                <a:ext cx="7534656" cy="138074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e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x→−∞</m:t>
                        </m:r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x→−∞</m:t>
                        </m:r>
                      </m:lim>
                    </m:limLow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a:rPr lang="vi-VN" sz="20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sSup>
                                  <m:e>
                                    <m:r>
                                      <a:rPr lang="vi-VN" sz="2000" b="0">
                                        <a:solidFill>
                                          <a:srgbClr val="1E2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p>
                                    <m:r>
                                      <a:rPr lang="vi-VN" sz="2000" b="0">
                                        <a:solidFill>
                                          <a:srgbClr val="1E2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rad>
                      </m:e>
                    </m:d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Đồ thị có hai tiệm cận ngang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(H.1.21).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713232" y="4709160"/>
                <a:ext cx="7534656" cy="138074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\lim\limits_{x\to+\infty}f(x)=\lim\limits_{x\to+\infty}\sqrt{1+\frac{1}{x^2}}=1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\lim\limits_{x\to-\infty}f(x)=\lim\limits_{x\to-\infty}\left(-\sqrt{1+\frac{1}{x^2}}\right)=-1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Đồ thị có hai tiệm cận ngang </a:t>
                </a:r>
                <a:r>
                  <a:rPr lang="vi-VN"/>
                  <a:t>y=1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y=-1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(H.1.21).</a:t>
                </a:r>
              </a:p>
            </p:txBody>
          </p:sp>
        </mc:Fallback>
      </mc:AlternateContent>
      <p:pic>
        <p:nvPicPr>
          <p:cNvPr id="13" name="Picture 12" descr="b3_h1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707171"/>
            <a:ext cx="3108960" cy="280357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95360" y="4681727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Hình 1.21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LUYỆN TẬP 1 – VẬN DỤNG 1 (SGK TR.21)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6949440" cy="95783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Luyện tập 1.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Tìm tiệm cận ngang của đồ thị hàm số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2x−1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6949440" cy="95783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Luyện tập 1.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Tìm tiệm cận ngang của đồ thị hàm số </a:t>
                </a:r>
                <a:r>
                  <a:rPr lang="vi-VN"/>
                  <a:t>y=f(x)=\frac{2x-1}{x-1}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439162"/>
            <a:ext cx="6949440" cy="90525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475738"/>
                <a:ext cx="6620255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x→−∞</m:t>
                        </m:r>
                      </m:lim>
                    </m:limLow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f(x)=2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: tiệm cận ngang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475738"/>
                <a:ext cx="6620255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\lim\limits_{x\to+\infty}f(x)=\lim\limits_{x\to-\infty}f(x)=2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: tiệm cận ngang </a:t>
                </a:r>
                <a:r>
                  <a:rPr lang="vi-VN"/>
                  <a:t>y=2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s2_chu"/>
              <p:cNvSpPr txBox="1"/>
              <p:nvPr/>
            </p:nvSpPr>
            <p:spPr>
              <a:xfrm>
                <a:off x="548640" y="3454146"/>
                <a:ext cx="6949440" cy="81381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Vận dụng 1.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Giải bài toán trong tình huống mở đầu (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m(t)=15</m:t>
                    </m:r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−0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012t</m:t>
                        </m:r>
                      </m:sup>
                    </m:sSup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Choice>
        <mc:Fallback>
          <p:sp>
            <p:nvSpPr>
              <p:cNvPr id="10" name="TextBox 9"/>
              <p:cNvSpPr txBox="1"/>
              <p:nvPr/>
            </p:nvSpPr>
            <p:spPr>
              <a:xfrm>
                <a:off x="548640" y="3454146"/>
                <a:ext cx="6949440" cy="81381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Vận dụng 1.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Giải bài toán trong tình huống mở đầu (</a:t>
                </a:r>
                <a:r>
                  <a:rPr lang="vi-VN"/>
                  <a:t>m(t)=15e^{-0{,}012t}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Fallback>
      </mc:AlternateContent>
      <p:sp>
        <p:nvSpPr>
          <p:cNvPr id="11" name="s3_nen"/>
          <p:cNvSpPr/>
          <p:nvPr/>
        </p:nvSpPr>
        <p:spPr>
          <a:xfrm>
            <a:off x="548640" y="4377690"/>
            <a:ext cx="6949440" cy="90525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3_chu"/>
              <p:cNvSpPr txBox="1"/>
              <p:nvPr/>
            </p:nvSpPr>
            <p:spPr>
              <a:xfrm>
                <a:off x="713232" y="4414266"/>
                <a:ext cx="6620255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t→+∞</m:t>
                        </m:r>
                      </m:lim>
                    </m:limLow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m(t)=</m:t>
                    </m:r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t→+∞</m:t>
                        </m:r>
                      </m:lim>
                    </m:limLow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15</m:t>
                    </m:r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−0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012t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: khối lượng chất phóng xạ giảm dần và tiến về 0.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713232" y="4414266"/>
                <a:ext cx="6620255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\lim\limits_{t\to+\infty}m(t)=\lim\limits_{t\to+\infty}15e^{-0{,}012t}=0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: khối lượng chất phóng xạ giảm dần và tiến về 0.</a:t>
                </a:r>
              </a:p>
            </p:txBody>
          </p:sp>
        </mc:Fallback>
      </mc:AlternateContent>
      <p:sp>
        <p:nvSpPr>
          <p:cNvPr id="13" name="s4_nen"/>
          <p:cNvSpPr/>
          <p:nvPr/>
        </p:nvSpPr>
        <p:spPr>
          <a:xfrm>
            <a:off x="548640" y="5392674"/>
            <a:ext cx="6949440" cy="90525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s4_chu"/>
              <p:cNvSpPr txBox="1"/>
              <p:nvPr/>
            </p:nvSpPr>
            <p:spPr>
              <a:xfrm>
                <a:off x="713232" y="5429250"/>
                <a:ext cx="6620255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Trên Hình 1.18: đồ thị tiến sát trục hoành – đường thẳng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là tiệm cận ngang của đồ thị.</a:t>
                </a:r>
              </a:p>
            </p:txBody>
          </p:sp>
        </mc:Choice>
        <mc:Fallback>
          <p:sp>
            <p:nvSpPr>
              <p:cNvPr id="14" name="TextBox 13"/>
              <p:cNvSpPr txBox="1"/>
              <p:nvPr/>
            </p:nvSpPr>
            <p:spPr>
              <a:xfrm>
                <a:off x="713232" y="5429250"/>
                <a:ext cx="6620255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Trên Hình 1.18: đồ thị tiến sát trục hoành – đường thẳng </a:t>
                </a:r>
                <a:r>
                  <a:rPr lang="vi-VN"/>
                  <a:t>y=0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là tiệm cận ngang của đồ thị.</a:t>
                </a:r>
              </a:p>
            </p:txBody>
          </p:sp>
        </mc:Fallback>
      </mc:AlternateContent>
      <p:pic>
        <p:nvPicPr>
          <p:cNvPr id="15" name="Picture 14" descr="b3_h1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8464" y="2194560"/>
            <a:ext cx="3808352" cy="21031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80960" y="4315967"/>
            <a:ext cx="40233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Hình 1.18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TRÒ CHƠI: ĐÚNG HAY SAI?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64748B"/>
                </a:solidFill>
                <a:latin typeface="Calibri"/>
              </a:rPr>
              <a:t>📋 Cả lớp giơ thẻ Đ/S trong 20 giây mỗi câu.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548640" y="1828800"/>
                <a:ext cx="8229600" cy="8686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1.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Đồ thị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4x+1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2x−3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có tiệm cận ngang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548640" y="1828800"/>
                <a:ext cx="8229600" cy="8686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1.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Đồ thị </a:t>
                </a:r>
                <a:r>
                  <a:rPr lang="vi-VN"/>
                  <a:t>y=\frac{4x+1}{2x-3}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có tiệm cận ngang </a:t>
                </a:r>
                <a:r>
                  <a:rPr lang="vi-VN"/>
                  <a:t>y=2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9" name="s1_nen"/>
          <p:cNvSpPr/>
          <p:nvPr/>
        </p:nvSpPr>
        <p:spPr>
          <a:xfrm>
            <a:off x="8961120" y="1828800"/>
            <a:ext cx="2651759" cy="6858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1_chu"/>
          <p:cNvSpPr txBox="1"/>
          <p:nvPr/>
        </p:nvSpPr>
        <p:spPr>
          <a:xfrm>
            <a:off x="8961120" y="1883664"/>
            <a:ext cx="2651759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ĐÚNG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548640" y="2743200"/>
                <a:ext cx="8229600" cy="8686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Đồ thị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num>
                      <m:den>
                        <m:sSup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có tiệm cận ngang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y=1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548640" y="2743200"/>
                <a:ext cx="8229600" cy="8686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Đồ thị </a:t>
                </a:r>
                <a:r>
                  <a:rPr lang="vi-VN"/>
                  <a:t>y=\frac{x+1}{x^2+1}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có tiệm cận ngang </a:t>
                </a:r>
                <a:r>
                  <a:rPr lang="vi-VN"/>
                  <a:t>y=1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2" name="s2_nen"/>
          <p:cNvSpPr/>
          <p:nvPr/>
        </p:nvSpPr>
        <p:spPr>
          <a:xfrm>
            <a:off x="8961120" y="2743200"/>
            <a:ext cx="2651759" cy="6858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2_chu"/>
          <p:cNvSpPr txBox="1"/>
          <p:nvPr/>
        </p:nvSpPr>
        <p:spPr>
          <a:xfrm>
            <a:off x="8961120" y="2798064"/>
            <a:ext cx="2651759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SAI</a:t>
            </a:r>
            <a:r>
              <a:rPr sz="1700">
                <a:solidFill>
                  <a:srgbClr val="FFFFFF"/>
                </a:solidFill>
                <a:latin typeface="Calibri"/>
              </a:rPr>
              <a:t> (y = 0)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548640" y="3657600"/>
                <a:ext cx="8229600" cy="8686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3.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Đồ thị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có tiệm cận ngang.</a:t>
                </a:r>
              </a:p>
            </p:txBody>
          </p:sp>
        </mc:Choice>
        <mc:Fallback>
          <p:sp>
            <p:nvSpPr>
              <p:cNvPr id="14" name="TextBox 13"/>
              <p:cNvSpPr txBox="1"/>
              <p:nvPr/>
            </p:nvSpPr>
            <p:spPr>
              <a:xfrm>
                <a:off x="548640" y="3657600"/>
                <a:ext cx="8229600" cy="8686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3.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Đồ thị </a:t>
                </a:r>
                <a:r>
                  <a:rPr lang="vi-VN"/>
                  <a:t>y=x^2+1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có tiệm cận ngang.</a:t>
                </a:r>
              </a:p>
            </p:txBody>
          </p:sp>
        </mc:Fallback>
      </mc:AlternateContent>
      <p:sp>
        <p:nvSpPr>
          <p:cNvPr id="15" name="s3_nen"/>
          <p:cNvSpPr/>
          <p:nvPr/>
        </p:nvSpPr>
        <p:spPr>
          <a:xfrm>
            <a:off x="8961120" y="3657600"/>
            <a:ext cx="2651759" cy="6858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3_chu"/>
          <p:cNvSpPr txBox="1"/>
          <p:nvPr/>
        </p:nvSpPr>
        <p:spPr>
          <a:xfrm>
            <a:off x="8961120" y="3712463"/>
            <a:ext cx="2651759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SAI</a:t>
            </a:r>
            <a:r>
              <a:rPr sz="1700">
                <a:solidFill>
                  <a:srgbClr val="FFFFFF"/>
                </a:solidFill>
                <a:latin typeface="Calibri"/>
              </a:rPr>
              <a:t> (không có)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572000"/>
            <a:ext cx="822960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>
                <a:solidFill>
                  <a:srgbClr val="1E293B"/>
                </a:solidFill>
                <a:latin typeface="Calibri"/>
              </a:rPr>
              <a:t>4.</a:t>
            </a:r>
            <a:r>
              <a:rPr sz="2100">
                <a:solidFill>
                  <a:srgbClr val="1E293B"/>
                </a:solidFill>
                <a:latin typeface="Calibri"/>
              </a:rPr>
              <a:t> Đồ thị có thể cắt đường tiệm cận ngang của nó.</a:t>
            </a:r>
          </a:p>
        </p:txBody>
      </p:sp>
      <p:sp>
        <p:nvSpPr>
          <p:cNvPr id="18" name="s4_nen"/>
          <p:cNvSpPr/>
          <p:nvPr/>
        </p:nvSpPr>
        <p:spPr>
          <a:xfrm>
            <a:off x="8961120" y="4572000"/>
            <a:ext cx="2651759" cy="6858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4_chu"/>
          <p:cNvSpPr txBox="1"/>
          <p:nvPr/>
        </p:nvSpPr>
        <p:spPr>
          <a:xfrm>
            <a:off x="8961120" y="4626864"/>
            <a:ext cx="2651759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ĐÚNG</a:t>
            </a:r>
            <a:r>
              <a:rPr sz="1700">
                <a:solidFill>
                  <a:srgbClr val="FFFFFF"/>
                </a:solidFill>
                <a:latin typeface="Calibri"/>
              </a:rPr>
              <a:t> (Hình 1.20)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TỔNG KẾT TIẾT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713232" y="1499616"/>
                <a:ext cx="10735056" cy="129844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là tiệm cận ngang ⇔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x→−∞</m:t>
                        </m:r>
                      </m:lim>
                    </m:limLow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Xét cả hai giới hạn tại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+∞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– có thể có hai tiệm cận ngang (Ví dụ 2).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713232" y="1499616"/>
                <a:ext cx="10735056" cy="129844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y=y_0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là tiệm cận ngang ⇔ </a:t>
                </a:r>
                <a:r>
                  <a:rPr lang="vi-VN"/>
                  <a:t>\lim\limits_{x\to+\infty}f(x)=y_0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\lim\limits_{x\to-\infty}f(x)=y_0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Xét cả hai giới hạn tại </a:t>
                </a:r>
                <a:r>
                  <a:rPr lang="vi-VN"/>
                  <a:t>+\infty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-\infty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– có thể có hai tiệm cận ngang (Ví dụ 2).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548640" y="3063240"/>
            <a:ext cx="11064240" cy="1472184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099816"/>
            <a:ext cx="10735056" cy="13990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Nhiệm vụ về nhà: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Ôn giới hạn một bên (lớp 11).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Đọc trước mục 2. Đường tiệm cận đứng (SGK tr.21 – 22).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72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332720" cy="3291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FCD34D"/>
                </a:solidFill>
                <a:latin typeface="Cambria"/>
              </a:rPr>
              <a:t>TIẾT 2 (T11)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Đường tiệm cận đứng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4340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Mục tiêu tiết học: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Nhận biết đường tiệm cận đứng của đồ thị hàm số.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Tìm tiệm cận đứng bằng giới hạn một bên; ý nghĩa thực tiễn.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7D2FE"/>
                </a:solidFill>
              </a:rPr>
              <a:t>GV Trương Tử Trang – THPT Vĩnh Thạnh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KHỞI ĐỘNG: AI NHANH HƠN?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64748B"/>
                </a:solidFill>
                <a:latin typeface="Calibri"/>
              </a:rPr>
              <a:t>📋 Từng cặp ghi đáp án lên bảng con. Mỗi câu 20 giây.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548640" y="1783080"/>
                <a:ext cx="7589520" cy="6400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Tính các giới hạn của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548640" y="1783080"/>
                <a:ext cx="7589520" cy="6400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Tính các giới hạn của </a:t>
                </a:r>
                <a:r>
                  <a:rPr lang="vi-VN"/>
                  <a:t>f(x)=\frac{x}{x-1}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548640" y="2468879"/>
                <a:ext cx="420624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1.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548640" y="2468879"/>
                <a:ext cx="420624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1.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\lim\limits_{x\to+\infty}f(x)</a:t>
                </a:r>
              </a:p>
            </p:txBody>
          </p:sp>
        </mc:Fallback>
      </mc:AlternateContent>
      <p:sp>
        <p:nvSpPr>
          <p:cNvPr id="10" name="s1_nen"/>
          <p:cNvSpPr/>
          <p:nvPr/>
        </p:nvSpPr>
        <p:spPr>
          <a:xfrm>
            <a:off x="4846320" y="2423160"/>
            <a:ext cx="2560320" cy="81153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1_chu"/>
              <p:cNvSpPr txBox="1"/>
              <p:nvPr/>
            </p:nvSpPr>
            <p:spPr>
              <a:xfrm>
                <a:off x="5010912" y="2459736"/>
                <a:ext cx="223113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5010912" y="2459736"/>
                <a:ext cx="223113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1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548640" y="3417570"/>
                <a:ext cx="420624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2.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lim>
                    </m:limLow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</m:t>
                    </m:r>
                  </m:oMath>
                </a14:m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548640" y="3417570"/>
                <a:ext cx="420624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2.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\lim\limits_{x\to 1^+}f(x)</a:t>
                </a:r>
              </a:p>
            </p:txBody>
          </p:sp>
        </mc:Fallback>
      </mc:AlternateContent>
      <p:sp>
        <p:nvSpPr>
          <p:cNvPr id="13" name="s2_nen"/>
          <p:cNvSpPr/>
          <p:nvPr/>
        </p:nvSpPr>
        <p:spPr>
          <a:xfrm>
            <a:off x="4846320" y="3371850"/>
            <a:ext cx="2560320" cy="81153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s2_chu"/>
              <p:cNvSpPr txBox="1"/>
              <p:nvPr/>
            </p:nvSpPr>
            <p:spPr>
              <a:xfrm>
                <a:off x="5010912" y="3408426"/>
                <a:ext cx="223113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+∞</m:t>
                    </m:r>
                  </m:oMath>
                </a14:m>
              </a:p>
            </p:txBody>
          </p:sp>
        </mc:Choice>
        <mc:Fallback>
          <p:sp>
            <p:nvSpPr>
              <p:cNvPr id="14" name="TextBox 13"/>
              <p:cNvSpPr txBox="1"/>
              <p:nvPr/>
            </p:nvSpPr>
            <p:spPr>
              <a:xfrm>
                <a:off x="5010912" y="3408426"/>
                <a:ext cx="223113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+\infty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548640" y="4366259"/>
                <a:ext cx="420624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3.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</m:lim>
                    </m:limLow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</m:t>
                    </m:r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548640" y="4366259"/>
                <a:ext cx="420624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3.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\lim\limits_{x\to 1^-}f(x)</a:t>
                </a:r>
              </a:p>
            </p:txBody>
          </p:sp>
        </mc:Fallback>
      </mc:AlternateContent>
      <p:sp>
        <p:nvSpPr>
          <p:cNvPr id="16" name="s3_nen"/>
          <p:cNvSpPr/>
          <p:nvPr/>
        </p:nvSpPr>
        <p:spPr>
          <a:xfrm>
            <a:off x="4846320" y="4320540"/>
            <a:ext cx="2560320" cy="81153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3_chu"/>
              <p:cNvSpPr txBox="1"/>
              <p:nvPr/>
            </p:nvSpPr>
            <p:spPr>
              <a:xfrm>
                <a:off x="5010912" y="4357116"/>
                <a:ext cx="223113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−∞</m:t>
                    </m:r>
                  </m:oMath>
                </a14:m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5010912" y="4357116"/>
                <a:ext cx="223113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-\infty</a:t>
                </a:r>
              </a:p>
            </p:txBody>
          </p:sp>
        </mc:Fallback>
      </mc:AlternateContent>
      <p:sp>
        <p:nvSpPr>
          <p:cNvPr id="18" name="TextBox 17"/>
          <p:cNvSpPr txBox="1"/>
          <p:nvPr/>
        </p:nvSpPr>
        <p:spPr>
          <a:xfrm>
            <a:off x="548640" y="5314950"/>
            <a:ext cx="4206240" cy="85725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E293B"/>
                </a:solidFill>
                <a:latin typeface="Calibri"/>
              </a:rPr>
              <a:t>4.</a:t>
            </a:r>
            <a:r>
              <a:rPr sz="2400">
                <a:solidFill>
                  <a:srgbClr val="1E293B"/>
                </a:solidFill>
                <a:latin typeface="Calibri"/>
              </a:rPr>
              <a:t> Tiệm cận ngang?</a:t>
            </a:r>
          </a:p>
        </p:txBody>
      </p:sp>
      <p:sp>
        <p:nvSpPr>
          <p:cNvPr id="19" name="s4_nen"/>
          <p:cNvSpPr/>
          <p:nvPr/>
        </p:nvSpPr>
        <p:spPr>
          <a:xfrm>
            <a:off x="4846320" y="5269230"/>
            <a:ext cx="2560320" cy="81153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s4_chu"/>
              <p:cNvSpPr txBox="1"/>
              <p:nvPr/>
            </p:nvSpPr>
            <p:spPr>
              <a:xfrm>
                <a:off x="5010912" y="5305806"/>
                <a:ext cx="223113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y=1</m:t>
                    </m:r>
                  </m:oMath>
                </a14:m>
              </a:p>
            </p:txBody>
          </p:sp>
        </mc:Choice>
        <mc:Fallback>
          <p:sp>
            <p:nvSpPr>
              <p:cNvPr id="20" name="TextBox 19"/>
              <p:cNvSpPr txBox="1"/>
              <p:nvPr/>
            </p:nvSpPr>
            <p:spPr>
              <a:xfrm>
                <a:off x="5010912" y="5305806"/>
                <a:ext cx="223113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y=1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2. ĐƯỜNG TIỆM CẬN ĐỨNG – HĐ2 (SGK TR.21)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14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680960" cy="18348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HĐ2.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hàm số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có đồ thị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Với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x&gt;1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xét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M(x;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thuộc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Gọi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hình chiếu vuông góc của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trên đường thẳng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(H.1.22). a) Tính khoảng cách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MH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Khi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thay đổi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sao cho khoảng cách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MH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dần đến 0, có nhận xét gì về tung độ của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680960" cy="18348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HĐ2.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hàm số </a:t>
                </a:r>
                <a:r>
                  <a:rPr lang="vi-VN"/>
                  <a:t>y=f(x)=\frac{x}{x-1}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có đồ thị </a:t>
                </a:r>
                <a:r>
                  <a:rPr lang="vi-VN"/>
                  <a:t>(C)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Với </a:t>
                </a:r>
                <a:r>
                  <a:rPr lang="vi-VN"/>
                  <a:t>x&gt;1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xét điểm </a:t>
                </a:r>
                <a:r>
                  <a:rPr lang="vi-VN"/>
                  <a:t>M(x;\ f(x))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thuộc </a:t>
                </a:r>
                <a:r>
                  <a:rPr lang="vi-VN"/>
                  <a:t>(C)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Gọi </a:t>
                </a:r>
                <a:r>
                  <a:rPr lang="vi-VN"/>
                  <a:t>H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hình chiếu vuông góc của </a:t>
                </a:r>
                <a:r>
                  <a:rPr lang="vi-VN"/>
                  <a:t>M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trên đường thẳng </a:t>
                </a:r>
                <a:r>
                  <a:rPr lang="vi-VN"/>
                  <a:t>x=1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(H.1.22). a) Tính khoảng cách </a:t>
                </a:r>
                <a:r>
                  <a:rPr lang="vi-VN"/>
                  <a:t>MH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Khi </a:t>
                </a:r>
                <a:r>
                  <a:rPr lang="vi-VN"/>
                  <a:t>M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thay đổi trên </a:t>
                </a:r>
                <a:r>
                  <a:rPr lang="vi-VN"/>
                  <a:t>(C)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sao cho khoảng cách </a:t>
                </a:r>
                <a:r>
                  <a:rPr lang="vi-VN"/>
                  <a:t>MH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dần đến 0, có nhận xét gì về tung độ của điểm </a:t>
                </a:r>
                <a:r>
                  <a:rPr lang="vi-VN"/>
                  <a:t>M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3297936"/>
            <a:ext cx="7680960" cy="56997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3334512"/>
                <a:ext cx="7351776" cy="4968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MH=|x−1|=x−1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(vì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x&gt;1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3334512"/>
                <a:ext cx="7351776" cy="4968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MH=|x-1|=x-1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(vì </a:t>
                </a:r>
                <a:r>
                  <a:rPr lang="vi-VN"/>
                  <a:t>x&gt;1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3959351"/>
            <a:ext cx="7680960" cy="101193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3995927"/>
                <a:ext cx="7351776" cy="9387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MH→0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x→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khi đó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→+∞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tung độ của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tăng lên vô cùng.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3995927"/>
                <a:ext cx="7351776" cy="9387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MH\to 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khi </a:t>
                </a:r>
                <a:r>
                  <a:rPr lang="vi-VN"/>
                  <a:t>x\to 1^+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khi đó </a:t>
                </a:r>
                <a:r>
                  <a:rPr lang="vi-VN"/>
                  <a:t>f(x)=\frac{x}{x-1}\to+\infty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tung độ của </a:t>
                </a:r>
                <a:r>
                  <a:rPr lang="vi-VN"/>
                  <a:t>M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tăng lên vô cùng.</a:t>
                </a:r>
              </a:p>
            </p:txBody>
          </p:sp>
        </mc:Fallback>
      </mc:AlternateContent>
      <p:pic>
        <p:nvPicPr>
          <p:cNvPr id="12" name="Picture 11" descr="b3_h1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707172"/>
            <a:ext cx="3108959" cy="2803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03920" y="4773168"/>
            <a:ext cx="3108959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Hình 1.22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ĐỊNH NGHĨA TIỆM CẬN ĐỨNG (SGK TR.21 – 22)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11064240" cy="1179576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713232" y="1362456"/>
                <a:ext cx="10735056" cy="11064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Đường thẳng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sSub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gọi là 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đường tiệm cận đứng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(gọi tắt là tiệm cận đứng) của đồ thị hàm số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nếu ít nhất một trong các điều kiện sau được thoả mãn: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b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f(x)=+∞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b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f(x)=−∞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b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f(x)=−∞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b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f(x)=+∞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713232" y="1362456"/>
                <a:ext cx="10735056" cy="11064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Đường thẳng </a:t>
                </a:r>
                <a:r>
                  <a:rPr lang="vi-VN"/>
                  <a:t>x=x_0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gọi là </a:t>
                </a: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đường tiệm cận đứng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(gọi tắt là tiệm cận đứng) của đồ thị hàm số </a:t>
                </a:r>
                <a:r>
                  <a:rPr lang="vi-VN"/>
                  <a:t>y=f(x)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nếu ít nhất một trong các điều kiện sau được thoả mãn: </a:t>
                </a:r>
                <a:r>
                  <a:rPr lang="vi-VN"/>
                  <a:t>\lim\limits_{x\to x_0^+}f(x)=+\infty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\lim\limits_{x\to x_0^-}f(x)=-\infty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\lim\limits_{x\to x_0^+}f(x)=-\infty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\lim\limits_{x\to x_0^-}f(x)=+\infty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pic>
        <p:nvPicPr>
          <p:cNvPr id="9" name="Picture 8" descr="b3_h1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693" y="2642616"/>
            <a:ext cx="4462133" cy="366674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VÍ DỤ 3 – VÍ DỤ 4 – LUYỆN TẬP 2 (SGK TR.22)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16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25880"/>
                <a:ext cx="11064240" cy="6156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Ví dụ 3.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Tìm tiệm cận đứng của đồ thị hàm số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3−x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x+2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25880"/>
                <a:ext cx="11064240" cy="6156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Ví dụ 3.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Tìm tiệm cận đứng của đồ thị hàm số </a:t>
                </a:r>
                <a:r>
                  <a:rPr lang="vi-VN"/>
                  <a:t>y=f(x)=\frac{3-x}{x+2}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005584"/>
            <a:ext cx="11064240" cy="70713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042160"/>
                <a:ext cx="10735056" cy="6339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x→−</m:t>
                        </m:r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lim>
                    </m:limLow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3−x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x+2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=+∞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tương tự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x→−</m:t>
                        </m:r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f(x)=−∞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Tiệm cận đứng là đường thẳng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042160"/>
                <a:ext cx="10735056" cy="6339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\lim\limits_{x\to-2^+}\frac{3-x}{x+2}=+\infty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tương tự </a:t>
                </a:r>
                <a:r>
                  <a:rPr lang="vi-VN"/>
                  <a:t>\lim\limits_{x\to-2^-}f(x)=-\infty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Tiệm cận đứng là đường thẳng </a:t>
                </a:r>
                <a:r>
                  <a:rPr lang="vi-VN"/>
                  <a:t>x=-2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s2_chu"/>
              <p:cNvSpPr txBox="1"/>
              <p:nvPr/>
            </p:nvSpPr>
            <p:spPr>
              <a:xfrm>
                <a:off x="548640" y="2776728"/>
                <a:ext cx="11064240" cy="6156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Ví dụ 4.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Tìm tiệm cận đứng của đồ thị hàm số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0" name="TextBox 9"/>
              <p:cNvSpPr txBox="1"/>
              <p:nvPr/>
            </p:nvSpPr>
            <p:spPr>
              <a:xfrm>
                <a:off x="548640" y="2776728"/>
                <a:ext cx="11064240" cy="6156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Ví dụ 4.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Tìm tiệm cận đứng của đồ thị hàm số </a:t>
                </a:r>
                <a:r>
                  <a:rPr lang="vi-VN"/>
                  <a:t>y=f(x)=\frac{x^2+2}{x}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1" name="s3_nen"/>
          <p:cNvSpPr/>
          <p:nvPr/>
        </p:nvSpPr>
        <p:spPr>
          <a:xfrm>
            <a:off x="548640" y="3456432"/>
            <a:ext cx="11064240" cy="70713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3_chu"/>
              <p:cNvSpPr txBox="1"/>
              <p:nvPr/>
            </p:nvSpPr>
            <p:spPr>
              <a:xfrm>
                <a:off x="713232" y="3493008"/>
                <a:ext cx="10735056" cy="6339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lim>
                    </m:limLow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=+∞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tương tự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f(x)=−∞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Tiệm cận đứng là đường thẳng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713232" y="3493008"/>
                <a:ext cx="10735056" cy="6339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\lim\limits_{x\to 0^+}\frac{x^2+2}{x}=+\infty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tương tự </a:t>
                </a:r>
                <a:r>
                  <a:rPr lang="vi-VN"/>
                  <a:t>\lim\limits_{x\to 0^-}f(x)=-\infty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Tiệm cận đứng là đường thẳng </a:t>
                </a:r>
                <a:r>
                  <a:rPr lang="vi-VN"/>
                  <a:t>x=0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s4_chu"/>
              <p:cNvSpPr txBox="1"/>
              <p:nvPr/>
            </p:nvSpPr>
            <p:spPr>
              <a:xfrm>
                <a:off x="548640" y="4227576"/>
                <a:ext cx="11064240" cy="9204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Luyện tập 2.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Tìm các tiệm cận ngang và tiệm cận đứng của đồ thị hàm số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2x+1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x−4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548640" y="4227576"/>
                <a:ext cx="11064240" cy="9204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Luyện tập 2.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Tìm các tiệm cận ngang và tiệm cận đứng của đồ thị hàm số </a:t>
                </a:r>
                <a:r>
                  <a:rPr lang="vi-VN"/>
                  <a:t>y=f(x)=\frac{2x+1}{x-4}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4" name="s5_nen"/>
          <p:cNvSpPr/>
          <p:nvPr/>
        </p:nvSpPr>
        <p:spPr>
          <a:xfrm>
            <a:off x="548640" y="5212079"/>
            <a:ext cx="11064240" cy="56997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s5_chu"/>
              <p:cNvSpPr txBox="1"/>
              <p:nvPr/>
            </p:nvSpPr>
            <p:spPr>
              <a:xfrm>
                <a:off x="713232" y="5248655"/>
                <a:ext cx="10735056" cy="4968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x→±∞</m:t>
                        </m:r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tiệm cận ngang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f(x)=+∞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tiệm cận đứng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x=4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713232" y="5248655"/>
                <a:ext cx="10735056" cy="4968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\lim\limits_{x\to\pm\infty}f(x)=2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tiệm cận ngang </a:t>
                </a:r>
                <a:r>
                  <a:rPr lang="vi-VN"/>
                  <a:t>y=2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\lim\limits_{x\to 4^+}f(x)=+\infty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tiệm cận đứng </a:t>
                </a:r>
                <a:r>
                  <a:rPr lang="vi-VN"/>
                  <a:t>x=4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VẬN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VẬN DỤNG 2 – CHI PHÍ LOẠI BỎ TẢO ĐỘC (SGK TR.22)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17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498079" cy="159791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Vận dụng 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Để loại bỏ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p%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một loài tảo độc khỏi một hồ nước, chi phí bỏ ra là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C(p)=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45p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100−p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(triệu đồng), với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0≤p&lt;100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Tìm tiệm cận đứng của đồ thị hàm số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C(p)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và nêu ý nghĩa thực tiễn của đường tiệm cận này.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498079" cy="159791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Vận dụng 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Để loại bỏ </a:t>
                </a:r>
                <a:r>
                  <a:rPr lang="vi-VN"/>
                  <a:t>p\%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một loài tảo độc khỏi một hồ nước, chi phí bỏ ra là </a:t>
                </a:r>
                <a:r>
                  <a:rPr lang="vi-VN"/>
                  <a:t>C(p)=\frac{45p}{100-p}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(triệu đồng), với </a:t>
                </a:r>
                <a:r>
                  <a:rPr lang="vi-VN"/>
                  <a:t>0\le p&lt;100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Tìm tiệm cận đứng của đồ thị hàm số </a:t>
                </a:r>
                <a:r>
                  <a:rPr lang="vi-VN"/>
                  <a:t>C(p)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và nêu ý nghĩa thực tiễn của đường tiệm cận này.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3060954"/>
            <a:ext cx="7498079" cy="1049274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3097530"/>
                <a:ext cx="7168895" cy="976122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p→</m:t>
                        </m:r>
                        <m:sSup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100</m:t>
                            </m:r>
                          </m:e>
                          <m:sup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</m:lim>
                    </m:limLow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45p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100−p</m:t>
                        </m:r>
                      </m:den>
                    </m:f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=+∞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: tiệm cận đứng là đường thẳng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p=100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3097530"/>
                <a:ext cx="7168895" cy="976122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\lim\limits_{p\to 100^-}\frac{45p}{100-p}=+\infty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: tiệm cận đứng là đường thẳng </a:t>
                </a:r>
                <a:r>
                  <a:rPr lang="vi-VN"/>
                  <a:t>p=100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4201668"/>
            <a:ext cx="7498079" cy="122529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2_chu"/>
          <p:cNvSpPr txBox="1"/>
          <p:nvPr/>
        </p:nvSpPr>
        <p:spPr>
          <a:xfrm>
            <a:off x="713232" y="4238244"/>
            <a:ext cx="7168895" cy="115214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100">
                <a:solidFill>
                  <a:srgbClr val="1E293B"/>
                </a:solidFill>
                <a:latin typeface="Calibri"/>
              </a:rPr>
              <a:t>Ý nghĩa: muốn loại bỏ gần hết (gần 100%) tảo độc thì chi phí tăng lên rất lớn (vô hạn) – không thể loại bỏ hoàn toàn loài tảo này.</a:t>
            </a:r>
          </a:p>
        </p:txBody>
      </p:sp>
      <p:pic>
        <p:nvPicPr>
          <p:cNvPr id="12" name="Picture 11" descr="b3_t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606616"/>
            <a:ext cx="3291840" cy="300468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TỔNG KẾT TIẾT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1064240" cy="170688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713232" y="1499616"/>
                <a:ext cx="10735056" cy="163372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là tiệm cận đứng nếu ít nhất một giới hạn một bên tại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bằng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+∞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Hàm phân thức: xét tại nghiệm của mẫu mà không là nghiệm của tử (Bài 1.17).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713232" y="1499616"/>
                <a:ext cx="10735056" cy="163372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x=x_0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là tiệm cận đứng nếu ít nhất một giới hạn một bên tại </a:t>
                </a:r>
                <a:r>
                  <a:rPr lang="vi-VN"/>
                  <a:t>x_0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bằng </a:t>
                </a:r>
                <a:r>
                  <a:rPr lang="vi-VN"/>
                  <a:t>+\infty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-\infty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Hàm phân thức: xét tại nghiệm của mẫu mà không là nghiệm của tử (Bài 1.17).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548640" y="3398520"/>
            <a:ext cx="11064240" cy="1472184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435096"/>
            <a:ext cx="10735056" cy="13990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Nhiệm vụ về nhà: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Làm Bài tập 1.16, 1.17 (SGK tr.25).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Đọc trước mục 3. Đường tiệm cận xiên (SGK tr.23 – 24).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72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332720" cy="3291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FCD34D"/>
                </a:solidFill>
                <a:latin typeface="Cambria"/>
              </a:rPr>
              <a:t>TIẾT 3 (T12)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Đường tiệm cận xiên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4340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Mục tiêu tiết học: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Nhận biết đường tiệm cận xiên của đồ thị hàm số.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Tìm tiệm cận xiên bằng công thức a, b hoặc chia đa thức.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7D2FE"/>
                </a:solidFill>
              </a:rPr>
              <a:t>GV Trương Tử Trang – THPT Vĩnh Thạnh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3. ĐƯỜNG TIỆM CẬN XIÊN – HĐ3 (SGK TR.23)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20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680960" cy="213969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HĐ3.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hàm số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y=f(x)=x−1+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có đồ thị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đường thẳng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y=x−1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(H.1.24). a) Với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x&gt;−1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xét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M(x;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thuộc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Gọi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hình chiếu vuông góc của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trên đường thẳng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y=x−1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Có nhận xét gì về khoảng cách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MH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x→+∞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? b) Chứng tỏ rằng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[f(x)−(x−1)]=0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Tính chất này thể hiện trên Hình 1.24 như thế nào?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680960" cy="213969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HĐ3.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Cho hàm số </a:t>
                </a:r>
                <a:r>
                  <a:rPr lang="vi-VN"/>
                  <a:t>y=f(x)=x-1+\frac{2}{x+1}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có đồ thị </a:t>
                </a:r>
                <a:r>
                  <a:rPr lang="vi-VN"/>
                  <a:t>(C)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đường thẳng </a:t>
                </a:r>
                <a:r>
                  <a:rPr lang="vi-VN"/>
                  <a:t>y=x-1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(H.1.24). a) Với </a:t>
                </a:r>
                <a:r>
                  <a:rPr lang="vi-VN"/>
                  <a:t>x&gt;-1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xét điểm </a:t>
                </a:r>
                <a:r>
                  <a:rPr lang="vi-VN"/>
                  <a:t>M(x;\ f(x))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thuộc </a:t>
                </a:r>
                <a:r>
                  <a:rPr lang="vi-VN"/>
                  <a:t>(C)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Gọi </a:t>
                </a:r>
                <a:r>
                  <a:rPr lang="vi-VN"/>
                  <a:t>H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hình chiếu vuông góc của </a:t>
                </a:r>
                <a:r>
                  <a:rPr lang="vi-VN"/>
                  <a:t>M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trên đường thẳng </a:t>
                </a:r>
                <a:r>
                  <a:rPr lang="vi-VN"/>
                  <a:t>y=x-1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Có nhận xét gì về khoảng cách </a:t>
                </a:r>
                <a:r>
                  <a:rPr lang="vi-VN"/>
                  <a:t>MH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khi </a:t>
                </a:r>
                <a:r>
                  <a:rPr lang="vi-VN"/>
                  <a:t>x\to+\infty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? b) Chứng tỏ rằng </a:t>
                </a:r>
                <a:r>
                  <a:rPr lang="vi-VN"/>
                  <a:t>\lim\limits_{x\to+\infty}[f(x)-(x-1)]=0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Tính chất này thể hiện trên Hình 1.24 như thế nào?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3602736"/>
            <a:ext cx="7680960" cy="84429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3639312"/>
                <a:ext cx="7351776" cy="7711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MH=</m:t>
                    </m:r>
                    <m:f>
                      <m:fPr>
                        <m:type m:val="bar"/>
                      </m:fPr>
                      <m:num>
                        <m:d>
                          <m:dPr>
                            <m:begChr m:val="|"/>
                            <m:sepChr m:val=""/>
                            <m:endChr m:val="|"/>
                          </m:d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f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x→+∞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3639312"/>
                <a:ext cx="7351776" cy="7711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MH=\frac{|f(x)-(x-1)|}{\sqrt{2}}=\frac{\sqrt{2}}{x+1}\to 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khi </a:t>
                </a:r>
                <a:r>
                  <a:rPr lang="vi-VN"/>
                  <a:t>x\to+\infty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4538472"/>
            <a:ext cx="7680960" cy="101193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4575048"/>
                <a:ext cx="7351776" cy="9387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khi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x→+∞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đồ thị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tiến sát đường thẳng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y=x−1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4575048"/>
                <a:ext cx="7351776" cy="9387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\lim\limits_{x\to+\infty}\frac{2}{x+1}=0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khi </a:t>
                </a:r>
                <a:r>
                  <a:rPr lang="vi-VN"/>
                  <a:t>x\to+\infty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đồ thị </a:t>
                </a:r>
                <a:r>
                  <a:rPr lang="vi-VN"/>
                  <a:t>(C)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tiến sát đường thẳng </a:t>
                </a:r>
                <a:r>
                  <a:rPr lang="vi-VN"/>
                  <a:t>y=x-1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pic>
        <p:nvPicPr>
          <p:cNvPr id="12" name="Picture 11" descr="b3_h1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707172"/>
            <a:ext cx="3108959" cy="2803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03920" y="4773168"/>
            <a:ext cx="3108959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Hình 1.24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ĐỊNH NGHĨA TIỆM CẬN XIÊN (SGK TR.23)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11064240" cy="1225296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713232" y="1362456"/>
                <a:ext cx="10735056" cy="115214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Đường thẳng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y=ax+b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a≠0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 gọi là </a:t>
                </a: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đường tiệm cận xiên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(gọi tắt là tiệm cận xiên) của đồ thị hàm số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nếu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[f(x)−(ax+b)]=0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x→−∞</m:t>
                        </m:r>
                      </m:lim>
                    </m:limLow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[f(x)−(ax+b)]=0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713232" y="1362456"/>
                <a:ext cx="10735056" cy="115214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Đường thẳng </a:t>
                </a:r>
                <a:r>
                  <a:rPr lang="vi-VN"/>
                  <a:t>y=ax+b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a\ne 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 gọi là </a:t>
                </a: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đường tiệm cận xiên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(gọi tắt là tiệm cận xiên) của đồ thị hàm số </a:t>
                </a:r>
                <a:r>
                  <a:rPr lang="vi-VN"/>
                  <a:t>y=f(x)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nếu </a:t>
                </a:r>
                <a:r>
                  <a:rPr lang="vi-VN"/>
                  <a:t>\lim\limits_{x\to+\infty}[f(x)-(ax+b)]=0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\lim\limits_{x\to-\infty}[f(x)-(ax+b)]=0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pic>
        <p:nvPicPr>
          <p:cNvPr id="9" name="Picture 8" descr="b3_h1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7479" y="2688336"/>
            <a:ext cx="7366562" cy="362102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VÍ DỤ 5 – CHÚ Ý: CÔNG THỨC a, b (SGK TR.23 – 24)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22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63779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Ví dụ 5.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Cho hàm số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y=f(x)=x+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x+2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Tìm tiệm cận xiên của đồ thị hàm số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63779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Ví dụ 5.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Cho hàm số </a:t>
                </a:r>
                <a:r>
                  <a:rPr lang="vi-VN"/>
                  <a:t>y=f(x)=x+\frac{1}{x+2}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Tìm tiệm cận xiên của đồ thị hàm số </a:t>
                </a:r>
                <a:r>
                  <a:rPr lang="vi-VN"/>
                  <a:t>f(x)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119122"/>
            <a:ext cx="11064240" cy="1049274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155698"/>
                <a:ext cx="10735056" cy="976122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[f(x)−x]=</m:t>
                    </m:r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x+2</m:t>
                        </m:r>
                      </m:den>
                    </m:f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Tương tự,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x→−∞</m:t>
                        </m:r>
                      </m:lim>
                    </m:limLow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[f(x)−x]=0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Vậy tiệm cận xiên là đường thẳng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155698"/>
                <a:ext cx="10735056" cy="976122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\lim\limits_{x\to+\infty}[f(x)-x]=\lim\limits_{x\to+\infty}\frac{1}{x+2}=0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Tương tự, </a:t>
                </a:r>
                <a:r>
                  <a:rPr lang="vi-VN"/>
                  <a:t>\lim\limits_{x\to-\infty}[f(x)-x]=0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Vậy tiệm cận xiên là đường thẳng </a:t>
                </a:r>
                <a:r>
                  <a:rPr lang="vi-VN"/>
                  <a:t>y=x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3278124"/>
            <a:ext cx="11064240" cy="2253996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3314700"/>
                <a:ext cx="10735056" cy="218084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Chú ý.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Nếu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y=ax+b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a≠0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 là tiệm cận xiên của đồ thị hàm số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thì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[f(x)−(ax+b)]·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từ đó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</m:t>
                    </m:r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f(x)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b=</m:t>
                    </m:r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[f(x)−ax]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(hoặc các giới hạn tại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Ngược lại, với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xác định như trên, đường thẳng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y=ax+b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a≠0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 là một tiệm cận xiên. Đặc biệt, nếu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thì đồ thị hàm số có tiệm cận ngang.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3314700"/>
                <a:ext cx="10735056" cy="218084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Chú ý.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Nếu </a:t>
                </a:r>
                <a:r>
                  <a:rPr lang="vi-VN"/>
                  <a:t>y=ax+b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a\ne 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 là tiệm cận xiên của đồ thị hàm số </a:t>
                </a:r>
                <a:r>
                  <a:rPr lang="vi-VN"/>
                  <a:t>y=f(x)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thì </a:t>
                </a:r>
                <a:r>
                  <a:rPr lang="vi-VN"/>
                  <a:t>\lim\limits_{x\to+\infty}[f(x)-(ax+b)]\cdot\frac{1}{x}=0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từ đó </a:t>
                </a:r>
                <a:r>
                  <a:rPr lang="vi-VN"/>
                  <a:t>a=\lim\limits_{x\to+\infty}\frac{f(x)}{x}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b=\lim\limits_{x\to+\infty}[f(x)-ax]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(hoặc các giới hạn tại </a:t>
                </a:r>
                <a:r>
                  <a:rPr lang="vi-VN"/>
                  <a:t>-\infty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Ngược lại, với </a:t>
                </a:r>
                <a:r>
                  <a:rPr lang="vi-VN"/>
                  <a:t>a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b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xác định như trên, đường thẳng </a:t>
                </a:r>
                <a:r>
                  <a:rPr lang="vi-VN"/>
                  <a:t>y=ax+b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a\ne 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 là một tiệm cận xiên. Đặc biệt, nếu </a:t>
                </a:r>
                <a:r>
                  <a:rPr lang="vi-VN"/>
                  <a:t>a=0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thì đồ thị hàm số có tiệm cận ngang.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VÍ DỤ 6 – NHẬN XÉT (SGK TR.24)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23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863840" cy="95783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Ví dụ 6.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Tìm tiệm cận xiên của đồ thị hàm số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−x+2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863840" cy="95783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Ví dụ 6.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Tìm tiệm cận xiên của đồ thị hàm số </a:t>
                </a:r>
                <a:r>
                  <a:rPr lang="vi-VN"/>
                  <a:t>y=f(x)=\frac{x^2-x+2}{x+1}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439162"/>
            <a:ext cx="7863840" cy="133731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475738"/>
                <a:ext cx="7534656" cy="126415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</m:t>
                    </m:r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f(x)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−x+2</m:t>
                        </m:r>
                      </m:num>
                      <m:den>
                        <m:sSup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+x</m:t>
                        </m:r>
                      </m:den>
                    </m:f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b=</m:t>
                    </m:r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[f(x)−x]=</m:t>
                    </m:r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−2x+2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=−2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475738"/>
                <a:ext cx="7534656" cy="126415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a=\lim\limits_{x\to+\infty}\frac{f(x)}{x}=\lim\limits_{x\to+\infty}\frac{x^2-x+2}{x^2+x}=1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b=\lim\limits_{x\to+\infty}[f(x)-x]=\lim\limits_{x\to+\infty}\frac{-2x+2}{x+1}=-2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3886200"/>
            <a:ext cx="7863840" cy="90525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3922776"/>
                <a:ext cx="7534656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Tương tự tại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Vậy tiệm cận xiên là đường thẳng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y=x−2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3922776"/>
                <a:ext cx="7534656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Tương tự tại </a:t>
                </a:r>
                <a:r>
                  <a:rPr lang="vi-VN"/>
                  <a:t>-\infty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Vậy tiệm cận xiên là đường thẳng </a:t>
                </a:r>
                <a:r>
                  <a:rPr lang="vi-VN"/>
                  <a:t>y=x-2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2" name="s3_nen"/>
          <p:cNvSpPr/>
          <p:nvPr/>
        </p:nvSpPr>
        <p:spPr>
          <a:xfrm>
            <a:off x="548640" y="4901184"/>
            <a:ext cx="7863840" cy="133731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s3_chu"/>
              <p:cNvSpPr txBox="1"/>
              <p:nvPr/>
            </p:nvSpPr>
            <p:spPr>
              <a:xfrm>
                <a:off x="713232" y="4937760"/>
                <a:ext cx="7534656" cy="126415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Nhận xét.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Viết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−x+2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=x−2+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x→±∞</m:t>
                        </m:r>
                      </m:lim>
                    </m:limLow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[f(x)−(x−2)]=</m:t>
                    </m:r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x→±∞</m:t>
                        </m:r>
                      </m:lim>
                    </m:limLow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⇒ tiệm cận xiên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y=x−2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4937760"/>
                <a:ext cx="7534656" cy="126415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Nhận xét.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Viết </a:t>
                </a:r>
                <a:r>
                  <a:rPr lang="vi-VN"/>
                  <a:t>f(x)=\frac{x^2-x+2}{x+1}=x-2+\frac{4}{x+1}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\lim\limits_{x\to\pm\infty}[f(x)-(x-2)]=\lim\limits_{x\to\pm\infty}\frac{4}{x+1}=0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⇒ tiệm cận xiên </a:t>
                </a:r>
                <a:r>
                  <a:rPr lang="vi-VN"/>
                  <a:t>y=x-2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pic>
        <p:nvPicPr>
          <p:cNvPr id="14" name="Picture 13" descr="b3_v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707171"/>
            <a:ext cx="3108960" cy="28035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LUYỆN TẬP 3 (SGK TR.24)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24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554480"/>
                <a:ext cx="11064240" cy="106984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các tiệm cận đứng và tiệm cận xiên của đồ thị hàm số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−4x+2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1−x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554480"/>
                <a:ext cx="11064240" cy="1069848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các tiệm cận đứng và tiệm cận xiên của đồ thị hàm số </a:t>
                </a:r>
                <a:r>
                  <a:rPr lang="vi-VN"/>
                  <a:t>y=f(x)=\frac{x^2-4x+2}{1-x}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852928"/>
            <a:ext cx="11064240" cy="63093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889504"/>
                <a:ext cx="10735056" cy="5577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lim>
                    </m:limLow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f(x)=−∞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(hoặc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</m:lim>
                    </m:limLow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f(x)=+∞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): tiệm cận đứng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889504"/>
                <a:ext cx="10735056" cy="5577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\lim\limits_{x\to 1^+}f(x)=-\infty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(hoặc </a:t>
                </a:r>
                <a:r>
                  <a:rPr lang="vi-VN"/>
                  <a:t>\lim\limits_{x\to 1^-}f(x)=+\infty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): tiệm cận đứng </a:t>
                </a:r>
                <a:r>
                  <a:rPr lang="vi-VN"/>
                  <a:t>x=1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3712464"/>
            <a:ext cx="11064240" cy="795527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3749040"/>
                <a:ext cx="10735056" cy="722375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f(x)=−x+3+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x→±∞</m:t>
                        </m:r>
                      </m:lim>
                    </m:limLow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[f(x)−(−x+3)]=0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tiệm cận xiên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y=−x+3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3749040"/>
                <a:ext cx="10735056" cy="722375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f(x)=-x+3+\frac{1}{x-1}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\lim\limits_{x\to\pm\infty}[f(x)-(-x+3)]=0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tiệm cận xiên </a:t>
                </a:r>
                <a:r>
                  <a:rPr lang="vi-VN"/>
                  <a:t>y=-x+3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TRÒ CHƠI: GHÉP ĐÔI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64748B"/>
                </a:solidFill>
                <a:latin typeface="Calibri"/>
              </a:rPr>
              <a:t>📋 Mỗi nhóm ghép trong 1 phút, ghi vào bảng con.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11064240" cy="5090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Ghép mỗi hàm số với một tiệm cận của đồ thị.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29255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713232" y="2465831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1.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2x+1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x−4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10" name="TextBox 9"/>
              <p:cNvSpPr txBox="1"/>
              <p:nvPr/>
            </p:nvSpPr>
            <p:spPr>
              <a:xfrm>
                <a:off x="713232" y="2465831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1.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y=\frac{2x+1}{x-4}</a:t>
                </a:r>
              </a:p>
            </p:txBody>
          </p:sp>
        </mc:Fallback>
      </mc:AlternateContent>
      <p:sp>
        <p:nvSpPr>
          <p:cNvPr id="11" name="Rounded Rectangle 10"/>
          <p:cNvSpPr/>
          <p:nvPr/>
        </p:nvSpPr>
        <p:spPr>
          <a:xfrm>
            <a:off x="3200400" y="2429255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3364992" y="2465831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y=x−2</m:t>
                    </m:r>
                  </m:oMath>
                </a14:m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3364992" y="2465831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y=x-2</a:t>
                </a:r>
              </a:p>
            </p:txBody>
          </p:sp>
        </mc:Fallback>
      </mc:AlternateContent>
      <p:sp>
        <p:nvSpPr>
          <p:cNvPr id="13" name="s1_nen"/>
          <p:cNvSpPr/>
          <p:nvPr/>
        </p:nvSpPr>
        <p:spPr>
          <a:xfrm>
            <a:off x="5852160" y="2429255"/>
            <a:ext cx="1463040" cy="77724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1_chu"/>
          <p:cNvSpPr txBox="1"/>
          <p:nvPr/>
        </p:nvSpPr>
        <p:spPr>
          <a:xfrm>
            <a:off x="6016752" y="2465831"/>
            <a:ext cx="1133856" cy="7040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1 – 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61943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/>
              <p:cNvSpPr txBox="1"/>
              <p:nvPr/>
            </p:nvSpPr>
            <p:spPr>
              <a:xfrm>
                <a:off x="713232" y="3398519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2.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y=x+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x+2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16" name="TextBox 15"/>
              <p:cNvSpPr txBox="1"/>
              <p:nvPr/>
            </p:nvSpPr>
            <p:spPr>
              <a:xfrm>
                <a:off x="713232" y="3398519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2.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y=x+\frac{1}{x+2}</a:t>
                </a:r>
              </a:p>
            </p:txBody>
          </p:sp>
        </mc:Fallback>
      </mc:AlternateContent>
      <p:sp>
        <p:nvSpPr>
          <p:cNvPr id="17" name="Rounded Rectangle 16"/>
          <p:cNvSpPr/>
          <p:nvPr/>
        </p:nvSpPr>
        <p:spPr>
          <a:xfrm>
            <a:off x="3200400" y="3361943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/>
              <p:cNvSpPr txBox="1"/>
              <p:nvPr/>
            </p:nvSpPr>
            <p:spPr>
              <a:xfrm>
                <a:off x="3364992" y="3398519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x=4</m:t>
                    </m:r>
                  </m:oMath>
                </a14:m>
              </a:p>
            </p:txBody>
          </p:sp>
        </mc:Choice>
        <mc:Fallback>
          <p:sp>
            <p:nvSpPr>
              <p:cNvPr id="18" name="TextBox 17"/>
              <p:cNvSpPr txBox="1"/>
              <p:nvPr/>
            </p:nvSpPr>
            <p:spPr>
              <a:xfrm>
                <a:off x="3364992" y="3398519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x=4</a:t>
                </a:r>
              </a:p>
            </p:txBody>
          </p:sp>
        </mc:Fallback>
      </mc:AlternateContent>
      <p:sp>
        <p:nvSpPr>
          <p:cNvPr id="19" name="s2_nen"/>
          <p:cNvSpPr/>
          <p:nvPr/>
        </p:nvSpPr>
        <p:spPr>
          <a:xfrm>
            <a:off x="5852160" y="3361943"/>
            <a:ext cx="1463040" cy="77724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2_chu"/>
          <p:cNvSpPr txBox="1"/>
          <p:nvPr/>
        </p:nvSpPr>
        <p:spPr>
          <a:xfrm>
            <a:off x="6016752" y="3398519"/>
            <a:ext cx="1133856" cy="7040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2 – 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94632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/>
              <p:cNvSpPr txBox="1"/>
              <p:nvPr/>
            </p:nvSpPr>
            <p:spPr>
              <a:xfrm>
                <a:off x="713232" y="4331208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3.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−x+2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22" name="TextBox 21"/>
              <p:cNvSpPr txBox="1"/>
              <p:nvPr/>
            </p:nvSpPr>
            <p:spPr>
              <a:xfrm>
                <a:off x="713232" y="4331208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3.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y=\frac{x^2-x+2}{x+1}</a:t>
                </a:r>
              </a:p>
            </p:txBody>
          </p:sp>
        </mc:Fallback>
      </mc:AlternateContent>
      <p:sp>
        <p:nvSpPr>
          <p:cNvPr id="23" name="Rounded Rectangle 22"/>
          <p:cNvSpPr/>
          <p:nvPr/>
        </p:nvSpPr>
        <p:spPr>
          <a:xfrm>
            <a:off x="3200400" y="4294632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/>
              <p:cNvSpPr txBox="1"/>
              <p:nvPr/>
            </p:nvSpPr>
            <p:spPr>
              <a:xfrm>
                <a:off x="3364992" y="4331208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y=0</m:t>
                    </m:r>
                  </m:oMath>
                </a14:m>
              </a:p>
            </p:txBody>
          </p:sp>
        </mc:Choice>
        <mc:Fallback>
          <p:sp>
            <p:nvSpPr>
              <p:cNvPr id="24" name="TextBox 23"/>
              <p:cNvSpPr txBox="1"/>
              <p:nvPr/>
            </p:nvSpPr>
            <p:spPr>
              <a:xfrm>
                <a:off x="3364992" y="4331208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y=0</a:t>
                </a:r>
              </a:p>
            </p:txBody>
          </p:sp>
        </mc:Fallback>
      </mc:AlternateContent>
      <p:sp>
        <p:nvSpPr>
          <p:cNvPr id="25" name="s3_nen"/>
          <p:cNvSpPr/>
          <p:nvPr/>
        </p:nvSpPr>
        <p:spPr>
          <a:xfrm>
            <a:off x="5852160" y="4294632"/>
            <a:ext cx="1463040" cy="77724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3_chu"/>
          <p:cNvSpPr txBox="1"/>
          <p:nvPr/>
        </p:nvSpPr>
        <p:spPr>
          <a:xfrm>
            <a:off x="6016752" y="4331208"/>
            <a:ext cx="1133856" cy="7040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3 – 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227320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/>
              <p:cNvSpPr txBox="1"/>
              <p:nvPr/>
            </p:nvSpPr>
            <p:spPr>
              <a:xfrm>
                <a:off x="713232" y="5263896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4.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y=15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−0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012x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28" name="TextBox 27"/>
              <p:cNvSpPr txBox="1"/>
              <p:nvPr/>
            </p:nvSpPr>
            <p:spPr>
              <a:xfrm>
                <a:off x="713232" y="5263896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4.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y=15e^{-0{,}012x}</a:t>
                </a:r>
              </a:p>
            </p:txBody>
          </p:sp>
        </mc:Fallback>
      </mc:AlternateContent>
      <p:sp>
        <p:nvSpPr>
          <p:cNvPr id="29" name="Rounded Rectangle 28"/>
          <p:cNvSpPr/>
          <p:nvPr/>
        </p:nvSpPr>
        <p:spPr>
          <a:xfrm>
            <a:off x="3200400" y="5227320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/>
              <p:cNvSpPr txBox="1"/>
              <p:nvPr/>
            </p:nvSpPr>
            <p:spPr>
              <a:xfrm>
                <a:off x="3364992" y="5263896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</m:t>
                    </m:r>
                  </m:oMath>
                </a14:m>
              </a:p>
            </p:txBody>
          </p:sp>
        </mc:Choice>
        <mc:Fallback>
          <p:sp>
            <p:nvSpPr>
              <p:cNvPr id="30" name="TextBox 29"/>
              <p:cNvSpPr txBox="1"/>
              <p:nvPr/>
            </p:nvSpPr>
            <p:spPr>
              <a:xfrm>
                <a:off x="3364992" y="5263896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y=x</a:t>
                </a:r>
              </a:p>
            </p:txBody>
          </p:sp>
        </mc:Fallback>
      </mc:AlternateContent>
      <p:sp>
        <p:nvSpPr>
          <p:cNvPr id="31" name="s4_nen"/>
          <p:cNvSpPr/>
          <p:nvPr/>
        </p:nvSpPr>
        <p:spPr>
          <a:xfrm>
            <a:off x="5852160" y="5227320"/>
            <a:ext cx="1463040" cy="77724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s4_chu"/>
          <p:cNvSpPr txBox="1"/>
          <p:nvPr/>
        </p:nvSpPr>
        <p:spPr>
          <a:xfrm>
            <a:off x="6016752" y="5263896"/>
            <a:ext cx="1133856" cy="7040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4 – C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GEOGEBRA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GEOGEBRA – TIỆM CẬN XIÊN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26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035040" cy="356616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Đồ thị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y=x−1+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đường thẳng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y=x−1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(HĐ3).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Kéo thanh trượt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điểm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M(a;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f(a))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là hình chiếu trên đường thẳng.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Khoảng cách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MH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dần về 0 khi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a→+∞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035040" cy="356616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Đồ thị </a:t>
                </a:r>
                <a:r>
                  <a:rPr lang="vi-VN"/>
                  <a:t>y=x-1+\frac{2}{x+1}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đường thẳng </a:t>
                </a:r>
                <a:r>
                  <a:rPr lang="vi-VN"/>
                  <a:t>y=x-1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(HĐ3).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Kéo thanh trượt </a:t>
                </a:r>
                <a:r>
                  <a:rPr lang="vi-VN"/>
                  <a:t>a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điểm </a:t>
                </a:r>
                <a:r>
                  <a:rPr lang="vi-VN"/>
                  <a:t>M(a;\ f(a))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H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là hình chiếu trên đường thẳng.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Khoảng cách </a:t>
                </a:r>
                <a:r>
                  <a:rPr lang="vi-VN"/>
                  <a:t>MH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dần về 0 khi </a:t>
                </a:r>
                <a:r>
                  <a:rPr lang="vi-VN"/>
                  <a:t>a\to+\infty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Rounded Rectangle 7">
            <a:hlinkClick r:id="rId3"/>
          </p:cNvPr>
          <p:cNvSpPr/>
          <p:nvPr/>
        </p:nvSpPr>
        <p:spPr>
          <a:xfrm>
            <a:off x="548640" y="5074920"/>
            <a:ext cx="3840480" cy="6858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▶  MỞ GEOGEBRA</a:t>
            </a:r>
          </a:p>
        </p:txBody>
      </p:sp>
      <p:pic>
        <p:nvPicPr>
          <p:cNvPr id="9" name="Picture 8" descr="qr_ggb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4572000"/>
            <a:ext cx="1325880" cy="1325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80644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Quét QR mở trên điện thoại. Kéo điểm để thay đổi hình.</a:t>
            </a:r>
          </a:p>
        </p:txBody>
      </p:sp>
      <p:pic>
        <p:nvPicPr>
          <p:cNvPr id="11" name="Picture 10" descr="b3_h1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1518178"/>
            <a:ext cx="4846320" cy="437028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TỔNG KẾT TIẾT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1064240" cy="1857756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713232" y="1499616"/>
                <a:ext cx="10735056" cy="17846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y=ax+b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a≠0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) là tiệm cận xiên ⇔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x→±∞</m:t>
                        </m:r>
                      </m:lim>
                    </m:limLow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[f(x)−(ax+b)]=0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a=lim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f(x)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b=lim[f(x)−ax]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Hàm phân thức bậc hai trên bậc nhất: chia đa thức để đọc nhanh tiệm cận xiên.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713232" y="1499616"/>
                <a:ext cx="10735056" cy="17846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y=ax+b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a\ne 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) là tiệm cận xiên ⇔ </a:t>
                </a:r>
                <a:r>
                  <a:rPr lang="vi-VN"/>
                  <a:t>\lim\limits_{x\to\pm\infty}[f(x)-(ax+b)]=0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a=\lim\frac{f(x)}{x}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b=\lim[f(x)-ax]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Hàm phân thức bậc hai trên bậc nhất: chia đa thức để đọc nhanh tiệm cận xiên.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548640" y="3549396"/>
            <a:ext cx="11064240" cy="1472184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585972"/>
            <a:ext cx="10735056" cy="13990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Nhiệm vụ về nhà: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Làm Bài tập 1.18 – 1.20 (SGK tr.25).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Tiết sau chữa bài tập.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72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332720" cy="3291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FCD34D"/>
                </a:solidFill>
                <a:latin typeface="Cambria"/>
              </a:rPr>
              <a:t>TIẾT 4 (T13)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Chữa bài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4340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Mục tiêu tiết học: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Đọc giới hạn, tiệm cận từ đồ thị; tìm các tiệm cận (Bài 1.16 – 1.18).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Ý nghĩa thực tiễn của tiệm cận (Bài 1.19, 1.20).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7D2FE"/>
                </a:solidFill>
              </a:rPr>
              <a:t>GV Trương Tử Trang – THPT Vĩnh Thạnh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BÀI TẬP 1.16 – 1.17 (SGK TR.25)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29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25880"/>
                <a:ext cx="7680960" cy="153009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1.16.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Hình 1.26 là đồ thị của hàm số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a) Viết kết quả các giới hạn: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x→−∞</m:t>
                        </m:r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x→−</m:t>
                        </m:r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Chỉ ra các tiệm cận của đồ thị.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25880"/>
                <a:ext cx="7680960" cy="153009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1.16.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Hình 1.26 là đồ thị của hàm số </a:t>
                </a:r>
                <a:r>
                  <a:rPr lang="vi-VN"/>
                  <a:t>y=f(x)=\frac{2x^2}{x^2-1}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a) Viết kết quả các giới hạn: </a:t>
                </a:r>
                <a:r>
                  <a:rPr lang="vi-VN"/>
                  <a:t>\lim\limits_{x\to-\infty}f(x)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\lim\limits_{x\to+\infty}f(x)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\lim\limits_{x\to 1^-}f(x)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\lim\limits_{x\to-1^+}f(x)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Chỉ ra các tiệm cận của đồ thị.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929128"/>
            <a:ext cx="7680960" cy="87477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965704"/>
                <a:ext cx="7351776" cy="80162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Tiệm cận ngang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tiệm cận đứng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965704"/>
                <a:ext cx="7351776" cy="80162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-\infty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-\infty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Tiệm cận ngang </a:t>
                </a:r>
                <a:r>
                  <a:rPr lang="vi-VN"/>
                  <a:t>y=2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tiệm cận đứng </a:t>
                </a:r>
                <a:r>
                  <a:rPr lang="vi-VN"/>
                  <a:t>x=1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x=-1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s2_chu"/>
              <p:cNvSpPr txBox="1"/>
              <p:nvPr/>
            </p:nvSpPr>
            <p:spPr>
              <a:xfrm>
                <a:off x="548640" y="3877056"/>
                <a:ext cx="7680960" cy="9204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1.17.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Đường thẳng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có phải là tiệm cận đứng của đồ thị hàm số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+2x−3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không?</a:t>
                </a:r>
              </a:p>
            </p:txBody>
          </p:sp>
        </mc:Choice>
        <mc:Fallback>
          <p:sp>
            <p:nvSpPr>
              <p:cNvPr id="10" name="TextBox 9"/>
              <p:cNvSpPr txBox="1"/>
              <p:nvPr/>
            </p:nvSpPr>
            <p:spPr>
              <a:xfrm>
                <a:off x="548640" y="3877056"/>
                <a:ext cx="7680960" cy="9204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1.17.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Đường thẳng </a:t>
                </a:r>
                <a:r>
                  <a:rPr lang="vi-VN"/>
                  <a:t>x=1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có phải là tiệm cận đứng của đồ thị hàm số </a:t>
                </a:r>
                <a:r>
                  <a:rPr lang="vi-VN"/>
                  <a:t>y=\frac{x^2+2x-3}{x-1}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không?</a:t>
                </a:r>
              </a:p>
            </p:txBody>
          </p:sp>
        </mc:Fallback>
      </mc:AlternateContent>
      <p:sp>
        <p:nvSpPr>
          <p:cNvPr id="11" name="s3_nen"/>
          <p:cNvSpPr/>
          <p:nvPr/>
        </p:nvSpPr>
        <p:spPr>
          <a:xfrm>
            <a:off x="548640" y="4870704"/>
            <a:ext cx="7680960" cy="87477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3_chu"/>
              <p:cNvSpPr txBox="1"/>
              <p:nvPr/>
            </p:nvSpPr>
            <p:spPr>
              <a:xfrm>
                <a:off x="713232" y="4907280"/>
                <a:ext cx="7351776" cy="80162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Không. Với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x≠1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y=x+3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x→1</m:t>
                        </m:r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y=4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(hữu hạn) nên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không là tiệm cận đứng.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713232" y="4907280"/>
                <a:ext cx="7351776" cy="80162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Không. Với </a:t>
                </a:r>
                <a:r>
                  <a:rPr lang="vi-VN"/>
                  <a:t>x\ne 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y=x+3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\lim\limits_{x\to 1}y=4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(hữu hạn) nên </a:t>
                </a:r>
                <a:r>
                  <a:rPr lang="vi-VN"/>
                  <a:t>x=1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không là tiệm cận đứng.</a:t>
                </a:r>
              </a:p>
            </p:txBody>
          </p:sp>
        </mc:Fallback>
      </mc:AlternateContent>
      <p:pic>
        <p:nvPicPr>
          <p:cNvPr id="13" name="Picture 12" descr="b3_h1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624713"/>
            <a:ext cx="3291840" cy="296849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0" y="477316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Hình 1.26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BÀI TẬP 1.18 – 1.19 (SGK TR.25)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30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5285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1.18.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Tìm các tiệm cận của đồ thị các hàm số: a)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3−x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2x+1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b)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+x−1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x+2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5285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1.18.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Tìm các tiệm cận của đồ thị các hàm số: a) </a:t>
                </a:r>
                <a:r>
                  <a:rPr lang="vi-VN"/>
                  <a:t>y=\frac{3-x}{2x+1}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b) </a:t>
                </a:r>
                <a:r>
                  <a:rPr lang="vi-VN"/>
                  <a:t>y=\frac{2x^2+x-1}{x+2}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188464"/>
            <a:ext cx="11064240" cy="128625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225040"/>
                <a:ext cx="10735056" cy="12131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Tiệm cận ngang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tiệm cận đứng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y=2x−3+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x+2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: tiệm cận đứng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tiệm cận xiên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y=2x−3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225040"/>
                <a:ext cx="10735056" cy="12131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Tiệm cận ngang </a:t>
                </a:r>
                <a:r>
                  <a:rPr lang="vi-VN"/>
                  <a:t>y=-\frac{1}{2}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tiệm cận đứng </a:t>
                </a:r>
                <a:r>
                  <a:rPr lang="vi-VN"/>
                  <a:t>x=-\frac{1}{2}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</a:t>
                </a:r>
                <a:r>
                  <a:rPr lang="vi-VN"/>
                  <a:t>y=2x-3+\frac{5}{x+2}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: tiệm cận đứng </a:t>
                </a:r>
                <a:r>
                  <a:rPr lang="vi-VN"/>
                  <a:t>x=-2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tiệm cận xiên </a:t>
                </a:r>
                <a:r>
                  <a:rPr lang="vi-VN"/>
                  <a:t>y=2x-3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s2_chu"/>
              <p:cNvSpPr txBox="1"/>
              <p:nvPr/>
            </p:nvSpPr>
            <p:spPr>
              <a:xfrm>
                <a:off x="548640" y="3538728"/>
                <a:ext cx="11064240" cy="122529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1.19.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Chi phí sản xuất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sản phẩm là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C(x)=2x+50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(triệu đồng). Khi đó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C(x)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chi phí trung bình cho mỗi sản phẩm. Chứng tỏ rằng hàm số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giảm và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Tính chất này nói lên điều gì?</a:t>
                </a:r>
              </a:p>
            </p:txBody>
          </p:sp>
        </mc:Choice>
        <mc:Fallback>
          <p:sp>
            <p:nvSpPr>
              <p:cNvPr id="10" name="TextBox 9"/>
              <p:cNvSpPr txBox="1"/>
              <p:nvPr/>
            </p:nvSpPr>
            <p:spPr>
              <a:xfrm>
                <a:off x="548640" y="3538728"/>
                <a:ext cx="11064240" cy="122529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1.19.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Chi phí sản xuất </a:t>
                </a:r>
                <a:r>
                  <a:rPr lang="vi-VN"/>
                  <a:t>x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sản phẩm là </a:t>
                </a:r>
                <a:r>
                  <a:rPr lang="vi-VN"/>
                  <a:t>C(x)=2x+50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(triệu đồng). Khi đó </a:t>
                </a:r>
                <a:r>
                  <a:rPr lang="vi-VN"/>
                  <a:t>f(x)=\frac{C(x)}{x}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là chi phí trung bình cho mỗi sản phẩm. Chứng tỏ rằng hàm số </a:t>
                </a:r>
                <a:r>
                  <a:rPr lang="vi-VN"/>
                  <a:t>f(x)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giảm và </a:t>
                </a:r>
                <a:r>
                  <a:rPr lang="vi-VN"/>
                  <a:t>\lim\limits_{x\to+\infty}f(x)=2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Tính chất này nói lên điều gì?</a:t>
                </a:r>
              </a:p>
            </p:txBody>
          </p:sp>
        </mc:Fallback>
      </mc:AlternateContent>
      <p:sp>
        <p:nvSpPr>
          <p:cNvPr id="11" name="s3_nen"/>
          <p:cNvSpPr/>
          <p:nvPr/>
        </p:nvSpPr>
        <p:spPr>
          <a:xfrm>
            <a:off x="548640" y="4828032"/>
            <a:ext cx="11064240" cy="145389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3_chu"/>
              <p:cNvSpPr txBox="1"/>
              <p:nvPr/>
            </p:nvSpPr>
            <p:spPr>
              <a:xfrm>
                <a:off x="713232" y="4864608"/>
                <a:ext cx="10735056" cy="138074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f(x)=2+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num>
                      <m:den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giảm;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Sản xuất càng nhiều thì chi phí trung bình mỗi sản phẩm càng giảm và tiến tới 2 triệu đồng (nhưng không thấp hơn).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713232" y="4864608"/>
                <a:ext cx="10735056" cy="138074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f(x)=2+\frac{50}{x}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f'(x)=-\frac{50}{x^2}&lt;0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nên </a:t>
                </a:r>
                <a:r>
                  <a:rPr lang="vi-VN"/>
                  <a:t>f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giảm; </a:t>
                </a:r>
                <a:r>
                  <a:rPr lang="vi-VN"/>
                  <a:t>\lim\limits_{x\to+\infty}f(x)=2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Sản xuất càng nhiều thì chi phí trung bình mỗi sản phẩm càng giảm và tiến tới 2 triệu đồng (nhưng không thấp hơn).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VẬN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BÀI TẬP 1.20 (SGK TR.25)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31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463040"/>
                <a:ext cx="11064240" cy="151485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1.20.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Một mảnh vườn hình chữ nhật có diện tích bằng 144 m². Biết độ dài một cạnh của mảnh vườn là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(m). a) Viết biểu thức tính chu vi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P(x)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(mét) của mảnh vườn. b) Tìm các tiệm cận của đồ thị hàm số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y=P(x)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 Giải thích ý nghĩa thực tiễn của các kết quả này.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463040"/>
                <a:ext cx="11064240" cy="151485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1.20.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Một mảnh vườn hình chữ nhật có diện tích bằng 144 m². Biết độ dài một cạnh của mảnh vườn là </a:t>
                </a:r>
                <a:r>
                  <a:rPr lang="vi-VN"/>
                  <a:t>x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(m). a) Viết biểu thức tính chu vi </a:t>
                </a:r>
                <a:r>
                  <a:rPr lang="vi-VN"/>
                  <a:t>P(x)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(mét) của mảnh vườn. b) Tìm các tiệm cận của đồ thị hàm số </a:t>
                </a:r>
                <a:r>
                  <a:rPr lang="vi-VN"/>
                  <a:t>y=P(x)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 Giải thích ý nghĩa thực tiễn của các kết quả này.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3115056"/>
            <a:ext cx="11064240" cy="902207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3151632"/>
                <a:ext cx="10735056" cy="82905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a) Cạnh kia dài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144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m: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P(x)=2</m:t>
                    </m:r>
                    <m:d>
                      <m:dPr>
                        <m:sepChr m:val="+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e>
                        <m:f>
                          <m:fPr>
                            <m:type m:val="bar"/>
                          </m:fPr>
                          <m:num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144</m:t>
                            </m:r>
                          </m:num>
                          <m:den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den>
                        </m:f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x&gt;0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3151632"/>
                <a:ext cx="10735056" cy="82905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a) Cạnh kia dài </a:t>
                </a:r>
                <a:r>
                  <a:rPr lang="vi-VN"/>
                  <a:t>\frac{144}{x}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m: </a:t>
                </a:r>
                <a:r>
                  <a:rPr lang="vi-VN"/>
                  <a:t>P(x)=2\left(x+\frac{144}{x}\right)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x&gt;0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4154424"/>
            <a:ext cx="11064240" cy="93573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4191000"/>
                <a:ext cx="10735056" cy="862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lim>
                    </m:limLow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P(x)=+∞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tiệm cận đứng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[P(x)−2x]=0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tiệm cận xiên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y=2x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4191000"/>
                <a:ext cx="10735056" cy="862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\lim\limits_{x\to 0^+}P(x)=+\infty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tiệm cận đứng </a:t>
                </a:r>
                <a:r>
                  <a:rPr lang="vi-VN"/>
                  <a:t>x=0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\lim\limits_{x\to+\infty}[P(x)-2x]=0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tiệm cận xiên </a:t>
                </a:r>
                <a:r>
                  <a:rPr lang="vi-VN"/>
                  <a:t>y=2x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2" name="s3_nen"/>
          <p:cNvSpPr/>
          <p:nvPr/>
        </p:nvSpPr>
        <p:spPr>
          <a:xfrm>
            <a:off x="548640" y="5227320"/>
            <a:ext cx="11064240" cy="93573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s3_chu"/>
              <p:cNvSpPr txBox="1"/>
              <p:nvPr/>
            </p:nvSpPr>
            <p:spPr>
              <a:xfrm>
                <a:off x="713232" y="5263896"/>
                <a:ext cx="10735056" cy="862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Ý nghĩa: cạnh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càng nhỏ thì chu vi càng lớn (vô hạn); khi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rất lớn, chu vi xấp xỉ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2x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(cạnh kia rất nhỏ).</a:t>
                </a:r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5263896"/>
                <a:ext cx="10735056" cy="862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Ý nghĩa: cạnh </a:t>
                </a:r>
                <a:r>
                  <a:rPr lang="vi-VN"/>
                  <a:t>x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càng nhỏ thì chu vi càng lớn (vô hạn); khi </a:t>
                </a:r>
                <a:r>
                  <a:rPr lang="vi-VN"/>
                  <a:t>x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rất lớn, chu vi xấp xỉ </a:t>
                </a:r>
                <a:r>
                  <a:rPr lang="vi-VN"/>
                  <a:t>2x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(cạnh kia rất nhỏ).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TRÒ CHƠI: RUNG CHUÔNG VÀNG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554480"/>
            <a:ext cx="9418320" cy="2962656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36192" y="1591056"/>
            <a:ext cx="9089136" cy="2889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>
                <a:solidFill>
                  <a:srgbClr val="1E293B"/>
                </a:solidFill>
                <a:latin typeface="Calibri"/>
              </a:rPr>
              <a:t>🔔 </a:t>
            </a:r>
            <a:r>
              <a:rPr sz="3000" b="1">
                <a:solidFill>
                  <a:srgbClr val="1E293B"/>
                </a:solidFill>
                <a:latin typeface="Calibri"/>
              </a:rPr>
              <a:t>Luật chơi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Mỗi bạn một bảng con – viết đáp án khi hết giờ.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Câu nhiều lựa chọn: ghi A, B, C hoặc D (30 giây).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Câu Đúng/Sai: ghi Đ hoặc S cho từng ý (60 giây).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Câu trả lời ngắn, thực tế: ghi một số (60 giây).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Sai: rời sàn thi. Bạn trụ lại cuối cùng </a:t>
            </a:r>
            <a:r>
              <a:rPr sz="2400" b="1">
                <a:solidFill>
                  <a:srgbClr val="1E293B"/>
                </a:solidFill>
                <a:latin typeface="Calibri"/>
              </a:rPr>
              <a:t>rung chuông vàng</a:t>
            </a:r>
            <a:r>
              <a:rPr sz="2400">
                <a:solidFill>
                  <a:srgbClr val="1E293B"/>
                </a:solidFill>
                <a:latin typeface="Calibri"/>
              </a:rPr>
              <a:t>!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CÂU 1 (BIẾT)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33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4828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Tiệm cận ngang của đồ thị hàm số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2x+1</m:t>
                        </m:r>
                      </m:num>
                      <m:den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x−3</m:t>
                        </m:r>
                      </m:den>
                    </m:f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4828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Tiệm cận ngang của đồ thị hàm số </a:t>
                </a:r>
                <a:r>
                  <a:rPr lang="vi-VN"/>
                  <a:t>y=\frac{2x+1}{x-3}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y=2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x=3</m:t>
                    </m:r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x=3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y=-\frac{1}{3}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y=\frac{1}{2}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60045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654296"/>
                <a:ext cx="10735056" cy="527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A.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x→±∞</m:t>
                        </m:r>
                      </m:lim>
                    </m:limLow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654296"/>
                <a:ext cx="10735056" cy="527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A.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\lim\limits_{x\to\pm\infty}y=2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CÂU 2 (BIẾT)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34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4828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Tiệm cận đứng của đồ thị hàm số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x+2</m:t>
                        </m:r>
                      </m:num>
                      <m:den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4828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Tiệm cận đứng của đồ thị hàm số </a:t>
                </a:r>
                <a:r>
                  <a:rPr lang="vi-VN"/>
                  <a:t>y=\frac{x+2}{x-1}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x=−2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x=-2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x=1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y=1</m:t>
                    </m:r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y=1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x=−1</m:t>
                    </m:r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x=-1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60045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654296"/>
                <a:ext cx="10735056" cy="527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B.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lim>
                    </m:limLow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y=+∞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654296"/>
                <a:ext cx="10735056" cy="527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B.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\lim\limits_{x\to 1^+}y=+\infty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CÂU 3 (HIỂU)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35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114452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Tổng số đường tiệm cận đứng và tiệm cận ngang của đồ thị hàm số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num>
                      <m:den>
                        <m:sSup>
                          <m:e>
                            <m:r>
                              <a:rPr lang="vi-VN" sz="26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6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114452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Tổng số đường tiệm cận đứng và tiệm cận ngang của đồ thị hàm số </a:t>
                </a:r>
                <a:r>
                  <a:rPr lang="vi-VN"/>
                  <a:t>y=\frac{x+1}{x^2-1}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548640" y="2607564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644140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644140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1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607564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644140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644140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2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613404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649980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649980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3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613404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649980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649980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4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756404"/>
            <a:ext cx="11064240" cy="1237488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792980"/>
                <a:ext cx="10735056" cy="116433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B.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x≠−1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): tiệm cận đứng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tiệm cận ngang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tại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giới hạn bằng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792980"/>
                <a:ext cx="10735056" cy="116433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B.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y=\frac{1}{x-1}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x\ne-1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): tiệm cận đứng </a:t>
                </a:r>
                <a:r>
                  <a:rPr lang="vi-VN"/>
                  <a:t>x=1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tiệm cận ngang </a:t>
                </a:r>
                <a:r>
                  <a:rPr lang="vi-VN"/>
                  <a:t>y=0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tại </a:t>
                </a:r>
                <a:r>
                  <a:rPr lang="vi-VN"/>
                  <a:t>x=-1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giới hạn bằng </a:t>
                </a:r>
                <a:r>
                  <a:rPr lang="vi-VN"/>
                  <a:t>-\frac{1}{2}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CÂU 4 (HIỂU)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36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4828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Tiệm cận xiên của đồ thị hàm số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6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6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+x+1</m:t>
                        </m:r>
                      </m:num>
                      <m:den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4828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Tiệm cận xiên của đồ thị hàm số </a:t>
                </a:r>
                <a:r>
                  <a:rPr lang="vi-VN"/>
                  <a:t>y=\frac{x^2+x+1}{x}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y=x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y=x+1</m:t>
                    </m:r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y=x+1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y=x−1</m:t>
                    </m:r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y=x-1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x=0</m:t>
                    </m:r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x=0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751331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654296"/>
                <a:ext cx="10735056" cy="678179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B.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y=x+1+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654296"/>
                <a:ext cx="10735056" cy="678179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B.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y=x+1+\frac{1}{x}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CÂU 5 (ĐÚNG/SAI)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37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0408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Cho hàm số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−3x+2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 Xét tính đúng, sai: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04087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Cho hàm số </a:t>
                </a:r>
                <a:r>
                  <a:rPr lang="vi-VN"/>
                  <a:t>y=\frac{2x^2-3x+2}{x-1}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 Xét tính đúng, sai: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548640" y="2167128"/>
                <a:ext cx="7680960" cy="9418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a) Đồ thị có tiệm cận đứng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548640" y="2167128"/>
                <a:ext cx="7680960" cy="9418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a) Đồ thị có tiệm cận đứng </a:t>
                </a:r>
                <a:r>
                  <a:rPr lang="vi-VN"/>
                  <a:t>x=1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9" name="s1_nen"/>
          <p:cNvSpPr/>
          <p:nvPr/>
        </p:nvSpPr>
        <p:spPr>
          <a:xfrm>
            <a:off x="8412480" y="2139696"/>
            <a:ext cx="3200400" cy="804672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1_chu"/>
          <p:cNvSpPr txBox="1"/>
          <p:nvPr/>
        </p:nvSpPr>
        <p:spPr>
          <a:xfrm>
            <a:off x="8577072" y="2176272"/>
            <a:ext cx="2871216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100" b="1">
                <a:solidFill>
                  <a:srgbClr val="1E293B"/>
                </a:solidFill>
                <a:latin typeface="Calibri"/>
              </a:rPr>
              <a:t>ĐÚNG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54680"/>
            <a:ext cx="7680960" cy="9418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300">
                <a:solidFill>
                  <a:srgbClr val="1E293B"/>
                </a:solidFill>
                <a:latin typeface="Calibri"/>
              </a:rPr>
              <a:t>b) Đồ thị không có tiệm cận ngang.</a:t>
            </a:r>
          </a:p>
        </p:txBody>
      </p:sp>
      <p:sp>
        <p:nvSpPr>
          <p:cNvPr id="12" name="s2_nen"/>
          <p:cNvSpPr/>
          <p:nvPr/>
        </p:nvSpPr>
        <p:spPr>
          <a:xfrm>
            <a:off x="8412480" y="3127248"/>
            <a:ext cx="3200400" cy="804672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2_chu"/>
          <p:cNvSpPr txBox="1"/>
          <p:nvPr/>
        </p:nvSpPr>
        <p:spPr>
          <a:xfrm>
            <a:off x="8577072" y="3163824"/>
            <a:ext cx="2871216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100" b="1">
                <a:solidFill>
                  <a:srgbClr val="1E293B"/>
                </a:solidFill>
                <a:latin typeface="Calibri"/>
              </a:rPr>
              <a:t>ĐÚNG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548640" y="4142232"/>
                <a:ext cx="7680960" cy="9418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c) Tiệm cận xiên là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y=2x+1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4" name="TextBox 13"/>
              <p:cNvSpPr txBox="1"/>
              <p:nvPr/>
            </p:nvSpPr>
            <p:spPr>
              <a:xfrm>
                <a:off x="548640" y="4142232"/>
                <a:ext cx="7680960" cy="9418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c) Tiệm cận xiên là </a:t>
                </a:r>
                <a:r>
                  <a:rPr lang="vi-VN"/>
                  <a:t>y=2x+1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5" name="s3_nen"/>
          <p:cNvSpPr/>
          <p:nvPr/>
        </p:nvSpPr>
        <p:spPr>
          <a:xfrm>
            <a:off x="8412480" y="4114800"/>
            <a:ext cx="3200400" cy="804672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3_chu"/>
          <p:cNvSpPr txBox="1"/>
          <p:nvPr/>
        </p:nvSpPr>
        <p:spPr>
          <a:xfrm>
            <a:off x="8577072" y="4151376"/>
            <a:ext cx="2871216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100" b="1">
                <a:solidFill>
                  <a:srgbClr val="1E293B"/>
                </a:solidFill>
                <a:latin typeface="Calibri"/>
              </a:rPr>
              <a:t>SAI</a:t>
            </a:r>
            <a:r>
              <a:rPr sz="2100">
                <a:solidFill>
                  <a:srgbClr val="1E293B"/>
                </a:solidFill>
                <a:latin typeface="Calibri"/>
              </a:rPr>
              <a:t> (y = 2x − 1)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/>
              <p:cNvSpPr txBox="1"/>
              <p:nvPr/>
            </p:nvSpPr>
            <p:spPr>
              <a:xfrm>
                <a:off x="548640" y="5129784"/>
                <a:ext cx="7680960" cy="9418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d)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p>
                          <m:e>
                            <m: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sup>
                            <m: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lim>
                    </m:limLow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y=+∞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548640" y="5129784"/>
                <a:ext cx="7680960" cy="9418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d) </a:t>
                </a:r>
                <a:r>
                  <a:rPr lang="vi-VN"/>
                  <a:t>\lim\limits_{x\to 1^+}y=+\infty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8" name="s4_nen"/>
          <p:cNvSpPr/>
          <p:nvPr/>
        </p:nvSpPr>
        <p:spPr>
          <a:xfrm>
            <a:off x="8412480" y="5102352"/>
            <a:ext cx="3200400" cy="804672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4_chu"/>
          <p:cNvSpPr txBox="1"/>
          <p:nvPr/>
        </p:nvSpPr>
        <p:spPr>
          <a:xfrm>
            <a:off x="8577072" y="5138928"/>
            <a:ext cx="2871216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100" b="1">
                <a:solidFill>
                  <a:srgbClr val="1E293B"/>
                </a:solidFill>
                <a:latin typeface="Calibri"/>
              </a:rPr>
              <a:t>ĐÚNG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CÂU 6 (TRẢ LỜI NGẮN)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38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463040"/>
                <a:ext cx="11064240" cy="114452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Đồ thị hàm số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ax+1</m:t>
                        </m:r>
                      </m:num>
                      <m:den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x−b</m:t>
                        </m:r>
                      </m:den>
                    </m:f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có tiệm cận đứng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và tiệm cận ngang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y=3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. Tính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a+b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463040"/>
                <a:ext cx="11064240" cy="114452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Đồ thị hàm số </a:t>
                </a:r>
                <a:r>
                  <a:rPr lang="vi-VN"/>
                  <a:t>y=\frac{ax+1}{x-b}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có tiệm cận đứng </a:t>
                </a:r>
                <a:r>
                  <a:rPr lang="vi-VN"/>
                  <a:t>x=2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và tiệm cận ngang </a:t>
                </a:r>
                <a:r>
                  <a:rPr lang="vi-VN"/>
                  <a:t>y=3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. Tính </a:t>
                </a:r>
                <a:r>
                  <a:rPr lang="vi-VN"/>
                  <a:t>a+b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3931920"/>
            <a:ext cx="11064240" cy="63093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3968496"/>
                <a:ext cx="10735056" cy="5577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Đáp số: 5.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Tiệm cận đứng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x=b=2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tiệm cận ngang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y=a=3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a+b=5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3968496"/>
                <a:ext cx="10735056" cy="5577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Đáp số: 5.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Tiệm cận đứng </a:t>
                </a:r>
                <a:r>
                  <a:rPr lang="vi-VN"/>
                  <a:t>x=b=2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tiệm cận ngang </a:t>
                </a:r>
                <a:r>
                  <a:rPr lang="vi-VN"/>
                  <a:t>y=a=3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a+b=5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CÂU 7 (TRẢ LỜI NGẮN)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39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463040"/>
                <a:ext cx="11064240" cy="74828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Đồ thị hàm số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sSup>
                          <m:e>
                            <m:r>
                              <a:rPr lang="vi-VN" sz="26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6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−x+2</m:t>
                        </m:r>
                      </m:num>
                      <m:den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có tiệm cận xiên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y=ax+b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. Tính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a+b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463040"/>
                <a:ext cx="11064240" cy="74828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Đồ thị hàm số </a:t>
                </a:r>
                <a:r>
                  <a:rPr lang="vi-VN"/>
                  <a:t>y=\frac{3x^2-x+2}{x+1}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có tiệm cận xiên </a:t>
                </a:r>
                <a:r>
                  <a:rPr lang="vi-VN"/>
                  <a:t>y=ax+b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. Tính </a:t>
                </a:r>
                <a:r>
                  <a:rPr lang="vi-VN"/>
                  <a:t>a+b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3931920"/>
            <a:ext cx="11064240" cy="795527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3968496"/>
                <a:ext cx="10735056" cy="722375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Đáp số: −1.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y=3x−4+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a=3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b=−4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3968496"/>
                <a:ext cx="10735056" cy="722375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Đáp số: −1.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y=3x-4+\frac{6}{x+1}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a=3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b=-4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CÂU 8 (THỰC TẾ)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40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463040"/>
                <a:ext cx="11064240" cy="193700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Bể chứa 200 lít nước tinh khiết. Bơm vào bể nước muối nồng độ 25 g/l với tốc độ 10 lít/phút; nồng độ muối sau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phút là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C(t)=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25t</m:t>
                        </m:r>
                      </m:num>
                      <m:den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20+t</m:t>
                        </m:r>
                      </m:den>
                    </m:f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(g/l). Khi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rất lớn, nồng độ muối trong bể tiến tới bao nhiêu g/l?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463040"/>
                <a:ext cx="11064240" cy="193700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Bể chứa 200 lít nước tinh khiết. Bơm vào bể nước muối nồng độ 25 g/l với tốc độ 10 lít/phút; nồng độ muối sau </a:t>
                </a:r>
                <a:r>
                  <a:rPr lang="vi-VN"/>
                  <a:t>t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phút là </a:t>
                </a:r>
                <a:r>
                  <a:rPr lang="vi-VN"/>
                  <a:t>C(t)=\frac{25t}{20+t}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(g/l). Khi </a:t>
                </a:r>
                <a:r>
                  <a:rPr lang="vi-VN"/>
                  <a:t>t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rất lớn, nồng độ muối trong bể tiến tới bao nhiêu g/l?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3931920"/>
            <a:ext cx="11064240" cy="795527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3968496"/>
                <a:ext cx="10735056" cy="722375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Đáp số: 25.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t→+∞</m:t>
                        </m:r>
                      </m:lim>
                    </m:limLow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25t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20+t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=25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tiệm cận ngang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C=25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3968496"/>
                <a:ext cx="10735056" cy="722375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Đáp số: 25.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\lim\limits_{t\to+\infty}\frac{25t}{20+t}=25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tiệm cận ngang </a:t>
                </a:r>
                <a:r>
                  <a:rPr lang="vi-VN"/>
                  <a:t>C=25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CỦNG CỐ TRỰC TUYẾN – NHIỆM VỤ VỀ NHÀ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75895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Bài củng cố trực tuyến</a:t>
            </a:r>
            <a:r>
              <a:rPr sz="2200">
                <a:solidFill>
                  <a:srgbClr val="1E293B"/>
                </a:solidFill>
                <a:latin typeface="Calibri"/>
              </a:rPr>
              <a:t> – quét mã QR hoặc mở đường link: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https://trangtu66.github.io/Taode_thi_online/cc_bai3_t12.html</a:t>
            </a:r>
          </a:p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Nhiệm vụ về nhà: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Hoàn thành Bài tập 1.16 – 1.20.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Đọc trước </a:t>
            </a:r>
            <a:r>
              <a:rPr sz="2200" b="1">
                <a:solidFill>
                  <a:srgbClr val="1E293B"/>
                </a:solidFill>
                <a:latin typeface="Calibri"/>
              </a:rPr>
              <a:t>Bài 4. Khảo sát sự biến thiên và vẽ đồ thị của hàm số</a:t>
            </a:r>
            <a:r>
              <a:rPr sz="2200">
                <a:solidFill>
                  <a:srgbClr val="1E293B"/>
                </a:solidFill>
                <a:latin typeface="Calibri"/>
              </a:rPr>
              <a:t> (SGK tr.26).</a:t>
            </a:r>
          </a:p>
        </p:txBody>
      </p:sp>
      <p:pic>
        <p:nvPicPr>
          <p:cNvPr id="8" name="Picture 7" descr="QR_CungCo_Bai3_Toan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554480"/>
            <a:ext cx="3291840" cy="3291840"/>
          </a:xfrm>
          <a:prstGeom prst="rect">
            <a:avLst/>
          </a:prstGeom>
        </p:spPr>
      </p:pic>
      <p:sp>
        <p:nvSpPr>
          <p:cNvPr id="9" name="Rounded Rectangle 8">
            <a:hlinkClick r:id="rId4"/>
          </p:cNvPr>
          <p:cNvSpPr/>
          <p:nvPr/>
        </p:nvSpPr>
        <p:spPr>
          <a:xfrm>
            <a:off x="8412480" y="5029200"/>
            <a:ext cx="3291840" cy="59436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▶  MỞ BÀI CỦNG CỐ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SƠ ĐỒ TƯ DUY – BÀI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42</a:t>
            </a:r>
          </a:p>
        </p:txBody>
      </p:sp>
      <p:pic>
        <p:nvPicPr>
          <p:cNvPr id="7" name="Picture 6" descr="SoDoTuDuy_TOAN12_Bai3_DuongTiem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5397" y="1371600"/>
            <a:ext cx="863072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06863" y="457200"/>
            <a:ext cx="1536192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DÀNH CHO GV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3660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PHỤ LỤC 1 – SAI LẦM THƯỜNG GẶP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43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484632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Kết luận tiệm cận đứng tại mọi nghiệm của mẫu, không kiểm tra giới hạn (Bài 1.17, câu 3 trò chơi).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Đưa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vào căn khi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x&lt;0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quên dấu trừ (Ví dụ 2) – bỏ sót tiệm cận ngang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y=−1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Tiệm cận xiên: chỉ tính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quên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; chia đa thức sai dấu khi mẫu là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1−x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(Luyện tập 3).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Viết tiệm cận ngang dạng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sSub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hoặc tiệm cận đứng dạng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b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484632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Kết luận tiệm cận đứng tại mọi nghiệm của mẫu, không kiểm tra giới hạn (Bài 1.17, câu 3 trò chơi).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Đưa </a:t>
                </a:r>
                <a:r>
                  <a:rPr lang="vi-VN"/>
                  <a:t>x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vào căn khi </a:t>
                </a:r>
                <a:r>
                  <a:rPr lang="vi-VN"/>
                  <a:t>x&lt;0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quên dấu trừ (Ví dụ 2) – bỏ sót tiệm cận ngang </a:t>
                </a:r>
                <a:r>
                  <a:rPr lang="vi-VN"/>
                  <a:t>y=-1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Tiệm cận xiên: chỉ tính </a:t>
                </a:r>
                <a:r>
                  <a:rPr lang="vi-VN"/>
                  <a:t>a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quên </a:t>
                </a:r>
                <a:r>
                  <a:rPr lang="vi-VN"/>
                  <a:t>b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; chia đa thức sai dấu khi mẫu là </a:t>
                </a:r>
                <a:r>
                  <a:rPr lang="vi-VN"/>
                  <a:t>1-x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(Luyện tập 3).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Viết tiệm cận ngang dạng </a:t>
                </a:r>
                <a:r>
                  <a:rPr lang="vi-VN"/>
                  <a:t>x=y_0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hoặc tiệm cận đứng dạng </a:t>
                </a:r>
                <a:r>
                  <a:rPr lang="vi-VN"/>
                  <a:t>y=x_0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06863" y="457200"/>
            <a:ext cx="1536192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DÀNH CHO GV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3660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PHỤ LỤC 2 – PHÂN HOÁ, DỰ PHÒNG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3. Đường tiệm cận của đồ thị hàm số – Toán 12          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 b="1">
                <a:solidFill>
                  <a:srgbClr val="1E293B"/>
                </a:solidFill>
                <a:latin typeface="Calibri"/>
              </a:rPr>
              <a:t>HS cần hỗ trợ:</a:t>
            </a:r>
            <a:r>
              <a:rPr sz="2000">
                <a:solidFill>
                  <a:srgbClr val="1E293B"/>
                </a:solidFill>
                <a:latin typeface="Calibri"/>
              </a:rPr>
              <a:t> hàm bậc nhất trên bậc nhất – đọc nhanh tiệm cận ngang (tỉ số hệ số), tiệm cận đứng (nghiệm của mẫu).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 b="1">
                <a:solidFill>
                  <a:srgbClr val="1E293B"/>
                </a:solidFill>
                <a:latin typeface="Calibri"/>
              </a:rPr>
              <a:t>HS khá, giỏi:</a:t>
            </a:r>
            <a:r>
              <a:rPr sz="2000">
                <a:solidFill>
                  <a:srgbClr val="1E293B"/>
                </a:solidFill>
                <a:latin typeface="Calibri"/>
              </a:rPr>
              <a:t> Ví dụ 2, Luyện tập 3, Bài 1.18b, 1.20; GeoGebra trang 2.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 b="1">
                <a:solidFill>
                  <a:srgbClr val="1E293B"/>
                </a:solidFill>
                <a:latin typeface="Calibri"/>
              </a:rPr>
              <a:t>12A2, 12A7 (khiếm thị):</a:t>
            </a:r>
            <a:r>
              <a:rPr sz="2000">
                <a:solidFill>
                  <a:srgbClr val="1E293B"/>
                </a:solidFill>
                <a:latin typeface="Calibri"/>
              </a:rPr>
              <a:t> GV mô tả "đồ thị tiến sát đường thẳng" và đọc to giới hạn; </a:t>
            </a:r>
            <a:r>
              <a:rPr sz="2000" b="1">
                <a:solidFill>
                  <a:srgbClr val="1E293B"/>
                </a:solidFill>
                <a:latin typeface="Calibri"/>
              </a:rPr>
              <a:t>12A3, 12A5, 12A7 (vận động):</a:t>
            </a:r>
            <a:r>
              <a:rPr sz="2000">
                <a:solidFill>
                  <a:srgbClr val="1E293B"/>
                </a:solidFill>
                <a:latin typeface="Calibri"/>
              </a:rPr>
              <a:t> trả lời tại chỗ.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 b="1">
                <a:solidFill>
                  <a:srgbClr val="1E293B"/>
                </a:solidFill>
                <a:latin typeface="Calibri"/>
              </a:rPr>
              <a:t>Mất điện/mạng:</a:t>
            </a:r>
            <a:r>
              <a:rPr sz="2000">
                <a:solidFill>
                  <a:srgbClr val="1E293B"/>
                </a:solidFill>
                <a:latin typeface="Calibri"/>
              </a:rPr>
              <a:t> KHBD in, vẽ đồ thị phác trên bảng; máy tính cầm tay tính giá trị khi x rất lớn.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