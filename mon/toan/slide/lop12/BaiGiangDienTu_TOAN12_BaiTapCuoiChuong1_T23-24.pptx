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Bìa. Đáp án, lời giải hiện theo click. Nút GeoGebra mở trang online (cần Internet).</a:t>
            </a:r>
          </a:p>
          <a:p>
            <a:r>
              <a:t>Lớp có HS khuyết tật: 12A2, 12A7 (khiếm thị) – GV đọc to công thức, bảng biến thiên, mô tả đồ thị; 12A3, 12A5, 12A7 (vận động) – HS trả lời tại chỗ, không cần lên bảng.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1'. Yêu cầu cần đạt lấy từ khung 'Kiến thức, kĩ năng' SGK tr.42 – 44 (SGV tr.77).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Chiếu để HS nắm lộ trình bài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Tiết 1 (45'): Hệ thống kiến thức 7' – Trắc nghiệm 1.30 – 1.39 (Rung chuông vàng) 20' – Tự luận 1.40 – 1.42: 15' – Giao việc 3'.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7'. HS nhắc lại trước khi GV hiện từng khung (click).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Mỗi câu 30 giây; HS giơ thẻ A/B/C/D. Đáp án theo SGV tr.77 – 78, đã kiểm tra bằng sympy.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C: không xác định trên 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A: cực tiểu tại 0 dù không có đạo hàm.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1. Đọc giới hạn từ bảng biến thiên.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7'. 4 HS lên bảng. Chữa bài: HS trình bày, click hiện đáp án (đối chiếu SGV tr.77 – 80; đã kiểm tra bằng sympy).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8'. Chữa bài: HS trình bày, click hiện đáp án (đối chiếu SGV tr.77 – 80; đã kiểm tra bằng sympy).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Tiết 2 (45'): 1.43: 15' (chia 3 nhóm) – 1.44: 7' – 1.45: 6' – 1.46: 7' – Thử thách củng cố 7' – Giao việc 3'.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15'. Mỗi nhóm khảo sát một hàm, trình bày trên bảng phụ. Chữa bài: HS trình bày, click hiện đáp án (đối chiếu SGV tr.77 – 80; đã kiểm tra bằng sympy).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7'. Chữa bài: HS trình bày, click hiện đáp án (đối chiếu SGV tr.77 – 80; đã kiểm tra bằng sympy).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13'. Chữa bài: HS trình bày, click hiện đáp án (đối chiếu SGV tr.77 – 80; đã kiểm tra bằng sympy).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Mỗi HS một bảng con. Mỗi câu 30 giây (Đ/S, trả lời ngắn, thực tế: 60 giây). Sai rời sàn thi; có thể 'cứu trợ' 1 lần. Cấu trúc 6 câu theo đề thi từ 2025: nhiều lựa chọn, Đúng/Sai, trả lời ngắn, thực tế. Đáp án đã kiểm tra bằng Python.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giây. Click 1–4. Đ – S – Đ – 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giây. Click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3'. HS quét QR làm bài củng cố online ở nhà. Đáp án chỉ mở khi GV cho phép.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Củng cố cuối chương.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ẩn – chỉ GV xem khi chuẩn bị.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ẩn – chỉ GV xem khi chuẩn bị.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Relationship Id="rId4" Type="http://schemas.openxmlformats.org/officeDocument/2006/relationships/hyperlink" Target="https://trangtu66.github.io/Taode_thi_online/cc_chuong1_t12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33272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FCD34D"/>
                </a:solidFill>
                <a:latin typeface="Cambria"/>
              </a:rPr>
              <a:t>CHƯƠNG I. ỨNG DỤNG ĐẠO HÀM ĐỂ KHẢO SÁT VÀ VẼ ĐỒ THỊ HÀM SỐ</a:t>
            </a:r>
          </a:p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ÔN TẬP CHƯƠNG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BÀI TẬP CUỐI CHƯƠNG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4340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2 tiết: T23 – T24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7D2FE"/>
                </a:solidFill>
              </a:rPr>
              <a:t>GV Trương Tử Trang – THPT Vĩnh Thạnh       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064240" cy="1807464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53896"/>
            <a:ext cx="10735056" cy="17343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Yêu cầu cần đạt</a:t>
            </a:r>
            <a:r>
              <a:rPr sz="2200">
                <a:solidFill>
                  <a:srgbClr val="1E293B"/>
                </a:solidFill>
                <a:latin typeface="Calibri"/>
              </a:rPr>
              <a:t> (SGK tr.42 – 44 (SGV tr.77))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Hệ thống kiến thức Chương I: tính đơn điệu, cực trị, GTLN – GTNN, tiệm cận, khảo sát và vẽ đồ thị hàm số, ứng dụng đạo hàm vào thực tiễn.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Giải được các bài tập tổng hợp trong SGK (Bài 1.30 – 1.46).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53384"/>
            <a:ext cx="1106424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 b="1">
                <a:solidFill>
                  <a:srgbClr val="1E293B"/>
                </a:solidFill>
                <a:latin typeface="Calibri"/>
              </a:rPr>
              <a:t>Năng lực toán học:</a:t>
            </a:r>
            <a:r>
              <a:rPr sz="2200">
                <a:solidFill>
                  <a:srgbClr val="1E293B"/>
                </a:solidFill>
                <a:latin typeface="Calibri"/>
              </a:rPr>
              <a:t> tư duy và lập luận; mô hình hoá (thấu kính, dân số, đường dây điện); giải quyết vấn đề; sử dụng công cụ (máy tính cầm tay).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 b="1">
                <a:solidFill>
                  <a:srgbClr val="1E293B"/>
                </a:solidFill>
                <a:latin typeface="Calibri"/>
              </a:rPr>
              <a:t>Phẩm chất:</a:t>
            </a:r>
            <a:r>
              <a:rPr sz="2200">
                <a:solidFill>
                  <a:srgbClr val="1E293B"/>
                </a:solidFill>
                <a:latin typeface="Calibri"/>
              </a:rPr>
              <a:t> chăm chỉ, trung thực, trách nhiệm.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LỘ TRÌNH 2 TIẾT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18872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887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64592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Hệ thống kiến thức; Trắc nghiệm 1.30 – 1.39; Tự luận 1.40 – 1.42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645920"/>
            <a:ext cx="374903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E293B"/>
                </a:solidFill>
                <a:latin typeface="Calibri"/>
              </a:rPr>
              <a:t>🎮 Rung chuông vàng (trắc nghiệm SGK)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14600"/>
            <a:ext cx="118872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587752"/>
            <a:ext cx="11887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60604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Tự luận 1.43 – 1.46; củng cố theo cấu trúc đề thi mới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606040"/>
            <a:ext cx="374903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E293B"/>
                </a:solidFill>
                <a:latin typeface="Calibri"/>
              </a:rPr>
              <a:t>🎮 Thử thách củng cố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33272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FCD34D"/>
                </a:solidFill>
                <a:latin typeface="Cambria"/>
              </a:rPr>
              <a:t>TIẾT 1 (T23)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Hệ thống kiến thức – Trắc nghiệm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4340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Mục tiêu tiết học: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Hệ thống kiến thức Chương I.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Giải các câu trắc nghiệm 1.30 – 1.39, tự luận 1.40 – 1.42.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7D2FE"/>
                </a:solidFill>
              </a:rPr>
              <a:t>GV Trương Tử Trang – THPT Vĩnh Thạnh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HỆ THỐNG KIẾN THỨC CHƯƠNG 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713232" y="1362456"/>
                <a:ext cx="10735056" cy="11612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Đơn điệu: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(x)&gt;0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(hoặc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bằng 0 tại hữu hạn điểm) trên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⇒ đồng biến;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(x)&lt;0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⇒ nghịch biến.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Cực trị: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đổi dấu từ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sang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qua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: cực đại; từ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sang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: cực tiểu.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713232" y="1362456"/>
                <a:ext cx="10735056" cy="11612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Đơn điệu: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f'(x)&gt;0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(hoặc </a:t>
                </a:r>
                <a:r>
                  <a:rPr lang="vi-VN"/>
                  <a:t>\ge 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bằng 0 tại hữu hạn điểm) trên </a:t>
                </a:r>
                <a:r>
                  <a:rPr lang="vi-VN"/>
                  <a:t>K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⇒ đồng biến; </a:t>
                </a:r>
                <a:r>
                  <a:rPr lang="vi-VN"/>
                  <a:t>f'(x)&lt;0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⇒ nghịch biến.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Cực trị: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f'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đổi dấu từ </a:t>
                </a:r>
                <a:r>
                  <a:rPr lang="vi-VN"/>
                  <a:t>+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sang </a:t>
                </a:r>
                <a:r>
                  <a:rPr lang="vi-VN"/>
                  <a:t>-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qua </a:t>
                </a:r>
                <a:r>
                  <a:rPr lang="vi-VN"/>
                  <a:t>x_0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: cực đại; từ </a:t>
                </a:r>
                <a:r>
                  <a:rPr lang="vi-VN"/>
                  <a:t>-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sang </a:t>
                </a:r>
                <a:r>
                  <a:rPr lang="vi-VN"/>
                  <a:t>+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: cực tiểu.</a:t>
                </a:r>
              </a:p>
            </p:txBody>
          </p:sp>
        </mc:Fallback>
      </mc:AlternateContent>
      <p:sp>
        <p:nvSpPr>
          <p:cNvPr id="9" name="s1_nen"/>
          <p:cNvSpPr/>
          <p:nvPr/>
        </p:nvSpPr>
        <p:spPr>
          <a:xfrm>
            <a:off x="548640" y="2651760"/>
            <a:ext cx="11064240" cy="844295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s1_chu"/>
              <p:cNvSpPr txBox="1"/>
              <p:nvPr/>
            </p:nvSpPr>
            <p:spPr>
              <a:xfrm>
                <a:off x="713232" y="2688336"/>
                <a:ext cx="10735056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GTLN, GTNN trên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</m:oMath>
                </a14:m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: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so sánh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tại các điểm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(hoặc không xác định) thuộc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tại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Trên khoảng: dùng bảng biến thiên.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713232" y="2688336"/>
                <a:ext cx="10735056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GTLN, GTNN trên </a:t>
                </a:r>
                <a:r>
                  <a:rPr lang="vi-VN"/>
                  <a:t>[a;\ b]</a:t>
                </a: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: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so sánh </a:t>
                </a:r>
                <a:r>
                  <a:rPr lang="vi-VN"/>
                  <a:t>f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tại các điểm </a:t>
                </a:r>
                <a:r>
                  <a:rPr lang="vi-VN"/>
                  <a:t>f'=0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(hoặc không xác định) thuộc </a:t>
                </a:r>
                <a:r>
                  <a:rPr lang="vi-VN"/>
                  <a:t>(a;\ b)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tại </a:t>
                </a:r>
                <a:r>
                  <a:rPr lang="vi-VN"/>
                  <a:t>a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b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Trên khoảng: dùng bảng biến thiên.</a:t>
                </a:r>
              </a:p>
            </p:txBody>
          </p:sp>
        </mc:Fallback>
      </mc:AlternateContent>
      <p:sp>
        <p:nvSpPr>
          <p:cNvPr id="11" name="s2_nen"/>
          <p:cNvSpPr/>
          <p:nvPr/>
        </p:nvSpPr>
        <p:spPr>
          <a:xfrm>
            <a:off x="548640" y="3587496"/>
            <a:ext cx="11064240" cy="97459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2_chu"/>
              <p:cNvSpPr txBox="1"/>
              <p:nvPr/>
            </p:nvSpPr>
            <p:spPr>
              <a:xfrm>
                <a:off x="713232" y="3624072"/>
                <a:ext cx="10735056" cy="90144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Tiệm cận: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ngang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x→±∞</m:t>
                        </m:r>
                      </m:lim>
                    </m:limLow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); đứng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(giới hạn một bên vô cực); xiên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y=ax+b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a=lim</m:t>
                    </m:r>
                    <m:f>
                      <m:fPr>
                        <m:type m:val="bar"/>
                      </m:fPr>
                      <m:num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f(x)</m:t>
                        </m:r>
                      </m:num>
                      <m:den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b=lim[f(x)−ax]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713232" y="3624072"/>
                <a:ext cx="10735056" cy="90144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Tiệm cận: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ngang </a:t>
                </a:r>
                <a:r>
                  <a:rPr lang="vi-VN"/>
                  <a:t>y=y_0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\lim\limits_{x\to\pm\infty}f(x)=y_0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); đứng </a:t>
                </a:r>
                <a:r>
                  <a:rPr lang="vi-VN"/>
                  <a:t>x=x_0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(giới hạn một bên vô cực); xiên </a:t>
                </a:r>
                <a:r>
                  <a:rPr lang="vi-VN"/>
                  <a:t>y=ax+b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a=\lim\frac{f(x)}{x}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b=\lim[f(x)-ax]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3" name="s3_nen"/>
          <p:cNvSpPr/>
          <p:nvPr/>
        </p:nvSpPr>
        <p:spPr>
          <a:xfrm>
            <a:off x="548640" y="4653534"/>
            <a:ext cx="11064240" cy="1654302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s3_chu"/>
              <p:cNvSpPr txBox="1"/>
              <p:nvPr/>
            </p:nvSpPr>
            <p:spPr>
              <a:xfrm>
                <a:off x="713232" y="4690110"/>
                <a:ext cx="10735056" cy="158115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Khảo sát: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tập xác định → sự biến thiên → đồ thị. Bậc ba: tâm đối xứng tại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num>
                      <m:den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3a</m:t>
                        </m:r>
                      </m:den>
                    </m:f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; phân thức: tâm là giao điểm hai tiệm cận.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Thực tiễn: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đạo hàm là tốc độ thay đổi tức thời; bài toán tối ưu: lập hàm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Q(x)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tìm GTLN/GTNN.</a:t>
                </a:r>
              </a:p>
            </p:txBody>
          </p:sp>
        </mc:Choice>
        <mc:Fallback>
          <p:sp>
            <p:nvSpPr>
              <p:cNvPr id="14" name="TextBox 13"/>
              <p:cNvSpPr txBox="1"/>
              <p:nvPr/>
            </p:nvSpPr>
            <p:spPr>
              <a:xfrm>
                <a:off x="713232" y="4690110"/>
                <a:ext cx="10735056" cy="158115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Khảo sát: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tập xác định → sự biến thiên → đồ thị. Bậc ba: tâm đối xứng tại </a:t>
                </a:r>
                <a:r>
                  <a:rPr lang="vi-VN"/>
                  <a:t>x=-\frac{b}{3a}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; phân thức: tâm là giao điểm hai tiệm cận.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Thực tiễn: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đạo hàm là tốc độ thay đổi tức thời; bài toán tối ưu: lập hàm </a:t>
                </a:r>
                <a:r>
                  <a:rPr lang="vi-VN"/>
                  <a:t>Q(x)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tìm GTLN/GTNN.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TRẮC NGHIỆM SGK (1.30 – 1.39)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554480"/>
            <a:ext cx="9418320" cy="2962656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6192" y="1591056"/>
            <a:ext cx="9089136" cy="2889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>
                <a:solidFill>
                  <a:srgbClr val="1E293B"/>
                </a:solidFill>
                <a:latin typeface="Calibri"/>
              </a:rPr>
              <a:t>🔔 </a:t>
            </a:r>
            <a:r>
              <a:rPr sz="3000" b="1">
                <a:solidFill>
                  <a:srgbClr val="1E293B"/>
                </a:solidFill>
                <a:latin typeface="Calibri"/>
              </a:rPr>
              <a:t>Luật chơi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Mỗi bạn một bộ thẻ A, B, C, D hoặc bảng con.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Mỗi câu 30 giây – hết giờ cùng giơ đáp án.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Sai: rời sàn thi (được cứu trợ 1 lần).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10 câu trắc nghiệm SGK (Bài 1.30 – 1.39).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Bạn trụ lại cuối cùng </a:t>
            </a:r>
            <a:r>
              <a:rPr sz="2400" b="1">
                <a:solidFill>
                  <a:srgbClr val="1E293B"/>
                </a:solidFill>
                <a:latin typeface="Calibri"/>
              </a:rPr>
              <a:t>rung chuông vàng</a:t>
            </a:r>
            <a:r>
              <a:rPr sz="2400">
                <a:solidFill>
                  <a:srgbClr val="1E293B"/>
                </a:solidFill>
                <a:latin typeface="Calibri"/>
              </a:rPr>
              <a:t>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BÀI 1.30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96621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Cho hàm số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có đạo hàm trên khoảng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. Phát biểu nào sau đây là đúng?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96621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Cho hàm số </a:t>
                </a:r>
                <a:r>
                  <a:rPr lang="vi-VN"/>
                  <a:t>y=f(x)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có đạo hàm trên khoảng </a:t>
                </a:r>
                <a:r>
                  <a:rPr lang="vi-VN"/>
                  <a:t>(a;\ b)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. Phát biểu nào sau đây là đúng?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Nếu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(x)≥0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∀x∈(a;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thì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đồng biến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Nếu </a:t>
                </a:r>
                <a:r>
                  <a:rPr lang="vi-VN"/>
                  <a:t>f'(x)\ge 0\ \forall x\in(a;\ b)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thì </a:t>
                </a:r>
                <a:r>
                  <a:rPr lang="vi-VN"/>
                  <a:t>f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đồng biến trên </a:t>
                </a:r>
                <a:r>
                  <a:rPr lang="vi-VN"/>
                  <a:t>(a;\ b)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Nếu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(x)&gt;0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∀x∈(a;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thì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đồng biến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Nếu </a:t>
                </a:r>
                <a:r>
                  <a:rPr lang="vi-VN"/>
                  <a:t>f'(x)&gt;0\ \forall x\in(a;\ b)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thì </a:t>
                </a:r>
                <a:r>
                  <a:rPr lang="vi-VN"/>
                  <a:t>f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đồng biến trên </a:t>
                </a:r>
                <a:r>
                  <a:rPr lang="vi-VN"/>
                  <a:t>(a;\ b)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đồng biến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⇔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(x)≥0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∀x∈(a;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b)</m:t>
                    </m:r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f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đồng biến trên </a:t>
                </a:r>
                <a:r>
                  <a:rPr lang="vi-VN"/>
                  <a:t>(a;\ b)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⇔ </a:t>
                </a:r>
                <a:r>
                  <a:rPr lang="vi-VN"/>
                  <a:t>f'(x)\ge 0\ \forall x\in(a;\ b)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đồng biến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⇔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(x)&gt;0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∀x∈(a;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b)</m:t>
                    </m:r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f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đồng biến trên </a:t>
                </a:r>
                <a:r>
                  <a:rPr lang="vi-VN"/>
                  <a:t>(a;\ b)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⇔ </a:t>
                </a:r>
                <a:r>
                  <a:rPr lang="vi-VN"/>
                  <a:t>f'(x)&gt;0\ \forall x\in(a;\ b)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9357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Định lí (SGK tr.7). A sai: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≡0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thì hàm hằng; D sai: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đồng biến nhưng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(0)=0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Định lí (SGK tr.7). A sai: </a:t>
                </a:r>
                <a:r>
                  <a:rPr lang="vi-VN"/>
                  <a:t>f'\equiv 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thì hàm hằng; D sai: </a:t>
                </a:r>
                <a:r>
                  <a:rPr lang="vi-VN"/>
                  <a:t>y=x^3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đồng biến nhưng </a:t>
                </a:r>
                <a:r>
                  <a:rPr lang="vi-VN"/>
                  <a:t>f'(0)=0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BÀI 1.31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Hàm số nào sau đây nghịch biến trên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Hàm số nào sau đây nghịch biến trên </a:t>
                </a:r>
                <a:r>
                  <a:rPr lang="vi-VN"/>
                  <a:t>\mathbb{R}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−9x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y=-x^3+3x^2-9x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+x+1</m:t>
                    </m:r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y=-x^3+x+1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x−2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y=\frac{x-1}{x-2}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+3x+2</m:t>
                    </m:r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y=2x^2+3x+2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60045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A.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=−3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+6x−9=−3(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−2x+3)&lt;0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A.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y'=-3x^2+6x-9=-3(x^2-2x+3)&lt;0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:r>
                  <a:rPr lang="vi-VN"/>
                  <a:t>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BÀI 1.32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56997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>
                <a:solidFill>
                  <a:srgbClr val="1E293B"/>
                </a:solidFill>
                <a:latin typeface="Calibri"/>
              </a:rPr>
              <a:t>Hàm số nào dưới đây không có cực trị?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y=|x|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y=|x|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y=x^4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+x</m:t>
                    </m:r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y=-x^3+x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2x−1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y=\frac{2x-1}{x+1}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751331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67817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D.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– không đổi dấu.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67817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D.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y'=\frac{3}{(x+1)^2}&gt;0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– không đổi dấu.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BÀI 1.33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Giá trị cực tiểu của hàm số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ln</m:t>
                    </m:r>
                    <m:r>
                      <m:rPr>
                        <m:sty m:val="p"/>
                      </m:rP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Giá trị cực tiểu của hàm số </a:t>
                </a:r>
                <a:r>
                  <a:rPr lang="vi-VN"/>
                  <a:t>y=x^2\ln x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\frac{1}{e}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-\frac{1}{e}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2e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-\frac{1}{2e}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2e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\frac{1}{2e}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1053084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979932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C.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=x(2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ln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x+1)=0⇔x=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CT</m:t>
                        </m:r>
                      </m:sub>
                    </m:sSub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2e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979932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C.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y'=x(2\ln x+1)=0\Leftrightarrow x=e^{-\frac{1}{2}}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y_{CT}=e^{-1}\cdot\left(-\frac{1}{2}\right)=-\frac{1}{2e}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BÀI 1.34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Giá trị lớn nhất của hàm số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y=(x−2</m:t>
                    </m:r>
                    <m:sSup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sSup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sup>
                    </m:sSup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Giá trị lớn nhất của hàm số </a:t>
                </a:r>
                <a:r>
                  <a:rPr lang="vi-VN"/>
                  <a:t>y=(x-2)^2\cdot e^x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:r>
                  <a:rPr lang="vi-VN"/>
                  <a:t>[1;\ 3]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0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e^3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e^4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e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60045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=x(x−2)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);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y(1)=e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y(2)=0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y(3)=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y'=x(x-2)e^x=0\Leftrightarrow x=2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(trên </a:t>
                </a:r>
                <a:r>
                  <a:rPr lang="vi-VN"/>
                  <a:t>(1;\ 3)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); </a:t>
                </a:r>
                <a:r>
                  <a:rPr lang="vi-VN"/>
                  <a:t>y(1)=e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y(2)=0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y(3)=e^3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BÀI 1.35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12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96621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p>
                          <m:e>
                            <m:r>
                              <a:rPr lang="vi-VN" sz="26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vi-VN" sz="26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lim>
                    </m:limLow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f(x)=1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p>
                          <m:e>
                            <m:r>
                              <a:rPr lang="vi-VN" sz="26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vi-VN" sz="26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lim>
                    </m:limLow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f(x)=1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x→−∞</m:t>
                        </m:r>
                      </m:lim>
                    </m:limLow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f(x)=2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f(x)=2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. Khẳng định nào đúng?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96621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\lim\limits_{x\to 2^+}f(x)=1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\lim\limits_{x\to 2^-}f(x)=1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\lim\limits_{x\to-\infty}f(x)=2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\lim\limits_{x\to+\infty}f(x)=2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. Khẳng định nào đúng?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là tiệm cận đứng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x=2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là tiệm cận đứng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là tiệm cận ngang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là tiệm cận ngang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y=1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là tiệm cận ngang</a:t>
                </a:r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y=1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là tiệm cận ngang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là tiệm cận ngang</a:t>
                </a:r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x=2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là tiệm cận ngang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9357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Giới hạn tại vô cực bằng 2; giới hạn tại 2 hữu hạn nên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không là tiệm cận đứng.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Giới hạn tại vô cực bằng 2; giới hạn tại 2 hữu hạn nên </a:t>
                </a:r>
                <a:r>
                  <a:rPr lang="vi-VN"/>
                  <a:t>x=2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không là tiệm cận đứng.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BÀI 1.36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4828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Tiệm cận xiên của đồ thị hàm số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6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6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+2x−2</m:t>
                        </m:r>
                      </m:num>
                      <m:den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den>
                    </m:f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4828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Tiệm cận xiên của đồ thị hàm số </a:t>
                </a:r>
                <a:r>
                  <a:rPr lang="vi-VN"/>
                  <a:t>y=\frac{x^2+2x-2}{x+2}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y=−2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y=-2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y=1</m:t>
                    </m:r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y=1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y=x+2</m:t>
                    </m:r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y=x+2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</m:t>
                    </m:r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y=x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751331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67817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D.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67817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D.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y=x-\frac{2}{x+2}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BÀI 1.37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8442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Hàm số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xác định trên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ℝ⧵{1;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3}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có bảng biến thiên như sau. Khẳng định nào sau đây là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sai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8442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Hàm số </a:t>
                </a:r>
                <a:r>
                  <a:rPr lang="vi-VN"/>
                  <a:t>y=f(x)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xác định trên </a:t>
                </a:r>
                <a:r>
                  <a:rPr lang="vi-VN"/>
                  <a:t>\mathbb{R}\setminus\{1;\ 3\}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có bảng biến thiên như sau. Khẳng định nào sau đây là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sai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Fallback>
      </mc:AlternateContent>
      <p:pic>
        <p:nvPicPr>
          <p:cNvPr id="8" name="Picture 7" descr="c1_bbt1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2369493"/>
            <a:ext cx="9235440" cy="170448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4181856"/>
            <a:ext cx="5440680" cy="59436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713232" y="4218432"/>
                <a:ext cx="5111496" cy="52120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tiệm cận ngang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713232" y="4218432"/>
                <a:ext cx="5111496" cy="52120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tiệm cận ngang</a:t>
                </a:r>
              </a:p>
            </p:txBody>
          </p:sp>
        </mc:Fallback>
      </mc:AlternateContent>
      <p:sp>
        <p:nvSpPr>
          <p:cNvPr id="11" name="Rounded Rectangle 10"/>
          <p:cNvSpPr/>
          <p:nvPr/>
        </p:nvSpPr>
        <p:spPr>
          <a:xfrm>
            <a:off x="6172200" y="4181856"/>
            <a:ext cx="5440680" cy="59436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6336792" y="4218432"/>
                <a:ext cx="5111496" cy="52120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tiệm cận ngang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6336792" y="4218432"/>
                <a:ext cx="5111496" cy="52120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y=-1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tiệm cận ngang</a:t>
                </a:r>
              </a:p>
            </p:txBody>
          </p:sp>
        </mc:Fallback>
      </mc:AlternateContent>
      <p:sp>
        <p:nvSpPr>
          <p:cNvPr id="13" name="Rounded Rectangle 12"/>
          <p:cNvSpPr/>
          <p:nvPr/>
        </p:nvSpPr>
        <p:spPr>
          <a:xfrm>
            <a:off x="548640" y="4867656"/>
            <a:ext cx="5440680" cy="59436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713232" y="4904232"/>
                <a:ext cx="5111496" cy="52120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tiệm cận đứng</a:t>
                </a:r>
              </a:p>
            </p:txBody>
          </p:sp>
        </mc:Choice>
        <mc:Fallback>
          <p:sp>
            <p:nvSpPr>
              <p:cNvPr id="14" name="TextBox 13"/>
              <p:cNvSpPr txBox="1"/>
              <p:nvPr/>
            </p:nvSpPr>
            <p:spPr>
              <a:xfrm>
                <a:off x="713232" y="4904232"/>
                <a:ext cx="5111496" cy="52120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x=3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tiệm cận đứng</a:t>
                </a:r>
              </a:p>
            </p:txBody>
          </p:sp>
        </mc:Fallback>
      </mc:AlternateContent>
      <p:sp>
        <p:nvSpPr>
          <p:cNvPr id="15" name="Rounded Rectangle 14"/>
          <p:cNvSpPr/>
          <p:nvPr/>
        </p:nvSpPr>
        <p:spPr>
          <a:xfrm>
            <a:off x="6172200" y="4867656"/>
            <a:ext cx="5440680" cy="59436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/>
              <p:cNvSpPr txBox="1"/>
              <p:nvPr/>
            </p:nvSpPr>
            <p:spPr>
              <a:xfrm>
                <a:off x="6336792" y="4904232"/>
                <a:ext cx="5111496" cy="52120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tiệm cận đứng</a:t>
                </a:r>
              </a:p>
            </p:txBody>
          </p:sp>
        </mc:Choice>
        <mc:Fallback>
          <p:sp>
            <p:nvSpPr>
              <p:cNvPr id="16" name="TextBox 15"/>
              <p:cNvSpPr txBox="1"/>
              <p:nvPr/>
            </p:nvSpPr>
            <p:spPr>
              <a:xfrm>
                <a:off x="6336792" y="4904232"/>
                <a:ext cx="5111496" cy="52120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x=1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tiệm cận đứng</a:t>
                </a:r>
              </a:p>
            </p:txBody>
          </p:sp>
        </mc:Fallback>
      </mc:AlternateContent>
      <p:sp>
        <p:nvSpPr>
          <p:cNvPr id="17" name="s1_nen"/>
          <p:cNvSpPr/>
          <p:nvPr/>
        </p:nvSpPr>
        <p:spPr>
          <a:xfrm>
            <a:off x="548640" y="5599176"/>
            <a:ext cx="11064240" cy="84429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s1_chu"/>
              <p:cNvSpPr txBox="1"/>
              <p:nvPr/>
            </p:nvSpPr>
            <p:spPr>
              <a:xfrm>
                <a:off x="713232" y="5635752"/>
                <a:ext cx="10735056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Đáp án D.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Giới hạn của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khi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x→</m:t>
                    </m:r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khi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x→</m:t>
                    </m:r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(hữu hạn) nên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không là tiệm cận đứng.</a:t>
                </a:r>
              </a:p>
            </p:txBody>
          </p:sp>
        </mc:Choice>
        <mc:Fallback>
          <p:sp>
            <p:nvSpPr>
              <p:cNvPr id="18" name="TextBox 17"/>
              <p:cNvSpPr txBox="1"/>
              <p:nvPr/>
            </p:nvSpPr>
            <p:spPr>
              <a:xfrm>
                <a:off x="713232" y="5635752"/>
                <a:ext cx="10735056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Đáp án D.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Giới hạn của </a:t>
                </a:r>
                <a:r>
                  <a:rPr lang="vi-VN"/>
                  <a:t>f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khi </a:t>
                </a:r>
                <a:r>
                  <a:rPr lang="vi-VN"/>
                  <a:t>x\to 1^-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</a:t>
                </a:r>
                <a:r>
                  <a:rPr lang="vi-VN"/>
                  <a:t>-1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khi </a:t>
                </a:r>
                <a:r>
                  <a:rPr lang="vi-VN"/>
                  <a:t>x\to 1^+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</a:t>
                </a:r>
                <a:r>
                  <a:rPr lang="vi-VN"/>
                  <a:t>7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(hữu hạn) nên </a:t>
                </a:r>
                <a:r>
                  <a:rPr lang="vi-VN"/>
                  <a:t>x=1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không là tiệm cận đứng.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BÀI 1.38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7680960" cy="5394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>
                <a:solidFill>
                  <a:srgbClr val="1E293B"/>
                </a:solidFill>
                <a:latin typeface="Calibri"/>
              </a:rPr>
              <a:t>Đồ thị trong Hình 1.37 là đồ thị của hàm số: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3657600" cy="86868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231136"/>
                <a:ext cx="3328416" cy="79552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231136"/>
                <a:ext cx="3328416" cy="79552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y=\frac{x+2}{x+1}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4389120" y="2194560"/>
            <a:ext cx="3657600" cy="86868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4553712" y="2231136"/>
                <a:ext cx="3328416" cy="79552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2x+1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4553712" y="2231136"/>
                <a:ext cx="3328416" cy="79552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y=\frac{2x+1}{x+1}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246120"/>
            <a:ext cx="3657600" cy="86868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282696"/>
                <a:ext cx="3328416" cy="79552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282696"/>
                <a:ext cx="3328416" cy="79552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y=\frac{x-1}{x+1}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4389120" y="3246120"/>
            <a:ext cx="3657600" cy="86868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4553712" y="3282696"/>
                <a:ext cx="3328416" cy="79552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x+3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1−x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4553712" y="3282696"/>
                <a:ext cx="3328416" cy="79552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y=\frac{x+3}{1-x}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480560"/>
            <a:ext cx="7498079" cy="90525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517136"/>
                <a:ext cx="7168895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Tiệm cận đứng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x=−1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tiệm cận ngang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đồ thị đi qua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517136"/>
                <a:ext cx="7168895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Tiệm cận đứng </a:t>
                </a:r>
                <a:r>
                  <a:rPr lang="vi-VN"/>
                  <a:t>x=-1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tiệm cận ngang </a:t>
                </a:r>
                <a:r>
                  <a:rPr lang="vi-VN"/>
                  <a:t>y=2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đồ thị đi qua </a:t>
                </a:r>
                <a:r>
                  <a:rPr lang="vi-VN"/>
                  <a:t>(0;\ 1)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18" name="Picture 17" descr="c1_h1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8277"/>
            <a:ext cx="3108960" cy="38271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BÀI 1.39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7680960" cy="5394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>
                <a:solidFill>
                  <a:srgbClr val="1E293B"/>
                </a:solidFill>
                <a:latin typeface="Calibri"/>
              </a:rPr>
              <a:t>Đồ thị trong Hình 1.38 là đồ thị của hàm số: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3657600" cy="86868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231136"/>
                <a:ext cx="3328416" cy="79552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231136"/>
                <a:ext cx="3328416" cy="79552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y=x-\frac{1}{x+1}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4389120" y="2194560"/>
            <a:ext cx="3657600" cy="86868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4553712" y="2231136"/>
                <a:ext cx="3328416" cy="79552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2x+1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4553712" y="2231136"/>
                <a:ext cx="3328416" cy="79552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y=\frac{2x+1}{x+1}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246120"/>
            <a:ext cx="3657600" cy="86868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282696"/>
                <a:ext cx="3328416" cy="79552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−x+1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282696"/>
                <a:ext cx="3328416" cy="79552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y=\frac{x^2-x+1}{x+1}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4389120" y="3246120"/>
            <a:ext cx="3657600" cy="86868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4553712" y="3282696"/>
                <a:ext cx="3328416" cy="79552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+x+1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4553712" y="3282696"/>
                <a:ext cx="3328416" cy="79552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y=\frac{x^2+x+1}{x+1}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480560"/>
            <a:ext cx="7498079" cy="1049274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517136"/>
                <a:ext cx="7168895" cy="976122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Đáp án D.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y=x+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: tiệm cận đứng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x=−1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xiên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; qua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cực đại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517136"/>
                <a:ext cx="7168895" cy="976122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Đáp án D.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y=x+\frac{1}{x+1}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: tiệm cận đứng </a:t>
                </a:r>
                <a:r>
                  <a:rPr lang="vi-VN"/>
                  <a:t>x=-1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xiên </a:t>
                </a:r>
                <a:r>
                  <a:rPr lang="vi-VN"/>
                  <a:t>y=x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; qua </a:t>
                </a:r>
                <a:r>
                  <a:rPr lang="vi-VN"/>
                  <a:t>(0;\ 1)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cực đại </a:t>
                </a:r>
                <a:r>
                  <a:rPr lang="vi-VN"/>
                  <a:t>(-2;\ -3)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18" name="Picture 17" descr="c1_h1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9328" y="1371600"/>
            <a:ext cx="2998144" cy="3840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1.40 (SGK TR.43)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105765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1.40.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Xét chiều biến thiên và tìm các cực trị (nếu có): a)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+3x−1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b)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c)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2x−1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3x+1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d)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+2x+2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105765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1.40.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Xét chiều biến thiên và tìm các cực trị (nếu có): a) </a:t>
                </a:r>
                <a:r>
                  <a:rPr lang="vi-VN"/>
                  <a:t>y=x^3-3x^2+3x-1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b) </a:t>
                </a:r>
                <a:r>
                  <a:rPr lang="vi-VN"/>
                  <a:t>y=x^4-2x^2-1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c) </a:t>
                </a:r>
                <a:r>
                  <a:rPr lang="vi-VN"/>
                  <a:t>y=\frac{2x-1}{3x+1}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d) </a:t>
                </a:r>
                <a:r>
                  <a:rPr lang="vi-VN"/>
                  <a:t>y=\frac{x^2+2x+2}{x+1}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520696"/>
            <a:ext cx="11064240" cy="56997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557272"/>
                <a:ext cx="1073505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=3(x−1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đồng biến trên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không có cực trị.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57272"/>
                <a:ext cx="1073505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y'=3(x-1)^2\ge 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đồng biến trên </a:t>
                </a:r>
                <a:r>
                  <a:rPr lang="vi-VN"/>
                  <a:t>\mathbb{R}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không có cực trị.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182112"/>
            <a:ext cx="11064240" cy="87477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3218688"/>
                <a:ext cx="10735056" cy="80162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=4x(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đồng biến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nghịch biến trên </a:t>
                </a:r>
                <a14:m>
                  <m:oMath xmlns:m="http://schemas.openxmlformats.org/officeDocument/2006/math">
                    <m:d>
                      <m:dPr>
                        <m:sepChr m:val="∞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CĐ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CT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±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3218688"/>
                <a:ext cx="10735056" cy="80162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y'=4x(x^2-1)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đồng biến trên </a:t>
                </a:r>
                <a:r>
                  <a:rPr lang="vi-VN"/>
                  <a:t>(-1;\ 0)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(1;\ +\infty)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nghịch biến trên </a:t>
                </a:r>
                <a:r>
                  <a:rPr lang="vi-VN"/>
                  <a:t>(-\infty;\ -1)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(0;\ 1)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CĐ </a:t>
                </a:r>
                <a:r>
                  <a:rPr lang="vi-VN"/>
                  <a:t>(0;\ -1)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CT </a:t>
                </a:r>
                <a:r>
                  <a:rPr lang="vi-VN"/>
                  <a:t>(\pm 1;\ -2)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2" name="s3_nen"/>
          <p:cNvSpPr/>
          <p:nvPr/>
        </p:nvSpPr>
        <p:spPr>
          <a:xfrm>
            <a:off x="548640" y="4148327"/>
            <a:ext cx="11064240" cy="98145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s3_chu"/>
              <p:cNvSpPr txBox="1"/>
              <p:nvPr/>
            </p:nvSpPr>
            <p:spPr>
              <a:xfrm>
                <a:off x="713232" y="4184903"/>
                <a:ext cx="10735056" cy="908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đồng biến trên </a:t>
                </a:r>
                <a14:m>
                  <m:oMath xmlns:m="http://schemas.openxmlformats.org/officeDocument/2006/math">
                    <m:d>
                      <m:dPr>
                        <m:sepChr m:val="∞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không có cực trị.</a:t>
                </a:r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4184903"/>
                <a:ext cx="10735056" cy="908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</a:t>
                </a:r>
                <a:r>
                  <a:rPr lang="vi-VN"/>
                  <a:t>y'=\frac{5}{(3x+1)^2}&gt;0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đồng biến trên </a:t>
                </a:r>
                <a:r>
                  <a:rPr lang="vi-VN"/>
                  <a:t>\left(-\infty;\ -\frac{1}{3}\right)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\left(-\frac{1}{3};\ +\infty\right)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không có cực trị.</a:t>
                </a:r>
              </a:p>
            </p:txBody>
          </p:sp>
        </mc:Fallback>
      </mc:AlternateContent>
      <p:sp>
        <p:nvSpPr>
          <p:cNvPr id="14" name="s4_nen"/>
          <p:cNvSpPr/>
          <p:nvPr/>
        </p:nvSpPr>
        <p:spPr>
          <a:xfrm>
            <a:off x="548640" y="5221223"/>
            <a:ext cx="11064240" cy="101193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s4_chu"/>
              <p:cNvSpPr txBox="1"/>
              <p:nvPr/>
            </p:nvSpPr>
            <p:spPr>
              <a:xfrm>
                <a:off x="713232" y="5257799"/>
                <a:ext cx="10735056" cy="938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+2x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đồng biến trên </a:t>
                </a:r>
                <a14:m>
                  <m:oMath xmlns:m="http://schemas.openxmlformats.org/officeDocument/2006/math">
                    <m:d>
                      <m:dPr>
                        <m:sepChr m:val="∞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nghịch biến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CĐ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CT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713232" y="5257799"/>
                <a:ext cx="10735056" cy="938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d) </a:t>
                </a:r>
                <a:r>
                  <a:rPr lang="vi-VN"/>
                  <a:t>y'=\frac{x^2+2x}{(x+1)^2}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đồng biến trên </a:t>
                </a:r>
                <a:r>
                  <a:rPr lang="vi-VN"/>
                  <a:t>(-\infty;\ -2)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(0;\ +\infty)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nghịch biến trên </a:t>
                </a:r>
                <a:r>
                  <a:rPr lang="vi-VN"/>
                  <a:t>(-2;\ -1)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(-1;\ 0)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CĐ </a:t>
                </a:r>
                <a:r>
                  <a:rPr lang="vi-VN"/>
                  <a:t>(-2;\ -2)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CT </a:t>
                </a:r>
                <a:r>
                  <a:rPr lang="vi-VN"/>
                  <a:t>(0;\ 2)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1.41 – 1.42 (SGK TR.44)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18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63779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1.41.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Tìm GTLN, GTNN (nếu có): a)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2x+1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3x−2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trên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[2;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+∞)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; b)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2−</m:t>
                        </m:r>
                        <m:sSup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63779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1.41.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Tìm GTLN, GTNN (nếu có): a) </a:t>
                </a:r>
                <a:r>
                  <a:rPr lang="vi-VN"/>
                  <a:t>y=\frac{2x+1}{3x-2}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trên </a:t>
                </a:r>
                <a:r>
                  <a:rPr lang="vi-VN"/>
                  <a:t>[2;\ +\infty)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; b) </a:t>
                </a:r>
                <a:r>
                  <a:rPr lang="vi-VN"/>
                  <a:t>y=\sqrt{2-x^2}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073402"/>
            <a:ext cx="11064240" cy="133731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109978"/>
                <a:ext cx="10735056" cy="126415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1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  <m:r>
                                  <a:rPr lang="vi-VN" sz="21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1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vi-VN" sz="21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d>
                          </m:e>
                          <m:sup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maxy=y(2)=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nhưng không đạt được – không có GTNN. b)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maxy=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),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miny=0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x=±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109978"/>
                <a:ext cx="10735056" cy="126415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y'=-\frac{7}{(3x-2)^2}&lt;0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\max y=y(2)=\frac{5}{4}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\lim\limits_{x\to+\infty}y=\frac{2}{3}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nhưng không đạt được – không có GTNN. b) </a:t>
                </a:r>
                <a:r>
                  <a:rPr lang="vi-VN"/>
                  <a:t>\max y=\sqrt{2}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x=0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), </a:t>
                </a:r>
                <a:r>
                  <a:rPr lang="vi-VN"/>
                  <a:t>\min y=0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x=\pm\sqrt{2}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s2_chu"/>
              <p:cNvSpPr txBox="1"/>
              <p:nvPr/>
            </p:nvSpPr>
            <p:spPr>
              <a:xfrm>
                <a:off x="548640" y="3474720"/>
                <a:ext cx="11064240" cy="781811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1.42.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Tìm các tiệm cận của đồ thị: a)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3x−2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; b)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+2x−1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2x−1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548640" y="3474720"/>
                <a:ext cx="11064240" cy="781811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1.42.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Tìm các tiệm cận của đồ thị: a) </a:t>
                </a:r>
                <a:r>
                  <a:rPr lang="vi-VN"/>
                  <a:t>y=\frac{3x-2}{x+1}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; b) </a:t>
                </a:r>
                <a:r>
                  <a:rPr lang="vi-VN"/>
                  <a:t>y=\frac{x^2+2x-1}{2x-1}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1" name="s3_nen"/>
          <p:cNvSpPr/>
          <p:nvPr/>
        </p:nvSpPr>
        <p:spPr>
          <a:xfrm>
            <a:off x="548640" y="4320540"/>
            <a:ext cx="11064240" cy="133731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3_chu"/>
              <p:cNvSpPr txBox="1"/>
              <p:nvPr/>
            </p:nvSpPr>
            <p:spPr>
              <a:xfrm>
                <a:off x="713232" y="4357116"/>
                <a:ext cx="10735056" cy="126415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a) Tiệm cận đứng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x=−1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tiệm cận ngang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y=3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b)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4(2x−1)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: tiệm cận đứng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tiệm cận xiên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x+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713232" y="4357116"/>
                <a:ext cx="10735056" cy="126415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a) Tiệm cận đứng </a:t>
                </a:r>
                <a:r>
                  <a:rPr lang="vi-VN"/>
                  <a:t>x=-1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tiệm cận ngang </a:t>
                </a:r>
                <a:r>
                  <a:rPr lang="vi-VN"/>
                  <a:t>y=3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b) </a:t>
                </a:r>
                <a:r>
                  <a:rPr lang="vi-VN"/>
                  <a:t>y=\frac{x}{2}+\frac{5}{4}+\frac{1}{4(2x-1)}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: tiệm cận đứng </a:t>
                </a:r>
                <a:r>
                  <a:rPr lang="vi-VN"/>
                  <a:t>x=\frac{1}{2}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tiệm cận xiên </a:t>
                </a:r>
                <a:r>
                  <a:rPr lang="vi-VN"/>
                  <a:t>y=\frac{1}{2}x+\frac{5}{4}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TỔNG KẾT TIẾT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713232" y="1499616"/>
                <a:ext cx="10735056" cy="129844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Phân biệt điều kiện đủ (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⇒ đồng biến) và điều kiện cần.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Tiệm cận đứng: kiểm tra giới hạn một bên, không chỉ nhìn nghiệm của mẫu (Bài 1.37).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713232" y="1499616"/>
                <a:ext cx="10735056" cy="129844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Phân biệt điều kiện đủ (</a:t>
                </a:r>
                <a:r>
                  <a:rPr lang="vi-VN"/>
                  <a:t>f'&gt;0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⇒ đồng biến) và điều kiện cần.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Tiệm cận đứng: kiểm tra giới hạn một bên, không chỉ nhìn nghiệm của mẫu (Bài 1.37).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548640" y="3063240"/>
            <a:ext cx="11064240" cy="1472184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099816"/>
            <a:ext cx="10735056" cy="13990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Nhiệm vụ về nhà: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Hoàn thiện Bài 1.40 – 1.42.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Chuẩn bị Bài 1.43 – 1.46 cho tiết sau.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33272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FCD34D"/>
                </a:solidFill>
                <a:latin typeface="Cambria"/>
              </a:rPr>
              <a:t>TIẾT 2 (T24)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Tự luận – Vận dụng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4340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Mục tiêu tiết học: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Khảo sát và vẽ đồ thị (Bài 1.43).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Giải bài toán thực tiễn: thấu kính, dân số, đường dây điện (Bài 1.44 – 1.46).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7D2FE"/>
                </a:solidFill>
              </a:rPr>
              <a:t>GV Trương Tử Trang – THPT Vĩnh Thạnh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1.43 (SGK TR.44)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21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5285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1.43.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Khảo sát và vẽ đồ thị: a)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+6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−9x+12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b)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2x−1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c)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−2x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5285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1.43.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Khảo sát và vẽ đồ thị: a) </a:t>
                </a:r>
                <a:r>
                  <a:rPr lang="vi-VN"/>
                  <a:t>y=-x^3+6x^2-9x+12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b) </a:t>
                </a:r>
                <a:r>
                  <a:rPr lang="vi-VN"/>
                  <a:t>y=\frac{2x-1}{x+1}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c) </a:t>
                </a:r>
                <a:r>
                  <a:rPr lang="vi-VN"/>
                  <a:t>y=\frac{x^2-2x}{x-1}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215896"/>
            <a:ext cx="11064240" cy="114909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252472"/>
                <a:ext cx="10735056" cy="10759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CT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CĐ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tâm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tiệm cận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tâm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c)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y=x−1−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tiệm cận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y=x−1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tâm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252472"/>
                <a:ext cx="10735056" cy="10759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CT </a:t>
                </a:r>
                <a:r>
                  <a:rPr lang="vi-VN"/>
                  <a:t>(1;\ 8)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CĐ </a:t>
                </a:r>
                <a:r>
                  <a:rPr lang="vi-VN"/>
                  <a:t>(3;\ 12)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tâm </a:t>
                </a:r>
                <a:r>
                  <a:rPr lang="vi-VN"/>
                  <a:t>(2;\ 10)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</a:t>
                </a:r>
                <a:r>
                  <a:rPr lang="vi-VN"/>
                  <a:t>y'=\frac{3}{(x+1)^2}&gt;0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tiệm cận </a:t>
                </a:r>
                <a:r>
                  <a:rPr lang="vi-VN"/>
                  <a:t>x=-1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y=2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tâm </a:t>
                </a:r>
                <a:r>
                  <a:rPr lang="vi-VN"/>
                  <a:t>(-1;\ 2)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c) </a:t>
                </a:r>
                <a:r>
                  <a:rPr lang="vi-VN"/>
                  <a:t>y=x-1-\frac{1}{x-1}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y'&gt;0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tiệm cận </a:t>
                </a:r>
                <a:r>
                  <a:rPr lang="vi-VN"/>
                  <a:t>x=1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y=x-1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tâm </a:t>
                </a:r>
                <a:r>
                  <a:rPr lang="vi-VN"/>
                  <a:t>(1;\ 0)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10" name="s2_hinh" descr="c1_14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836" y="3429000"/>
            <a:ext cx="2530647" cy="2560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6007607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1.43a</a:t>
            </a:r>
          </a:p>
        </p:txBody>
      </p:sp>
      <p:pic>
        <p:nvPicPr>
          <p:cNvPr id="12" name="s3_hinh" descr="c1_14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3577" y="3429000"/>
            <a:ext cx="2734366" cy="2560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80560" y="6007607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1.43b</a:t>
            </a:r>
          </a:p>
        </p:txBody>
      </p:sp>
      <p:pic>
        <p:nvPicPr>
          <p:cNvPr id="14" name="s4_hinh" descr="c1_143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1177" y="3429000"/>
            <a:ext cx="2734366" cy="2560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38160" y="6007607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1.43c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VẬN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1.44 – THẤU KÍNH HỘI TỤ (SGK TR.44)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22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6949440" cy="180441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1.44.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Thấu kính hội tụ tiêu cự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(H.1.39):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a) Viết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q=g(p)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p∈(f;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+∞)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Tính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p→+∞</m:t>
                        </m:r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g(p)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p→</m:t>
                        </m:r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g(p)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giải thích ý nghĩa. c) Lập bảng biến thiên của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q=g(p)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6949440" cy="180441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1.44.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Thấu kính hội tụ tiêu cự </a:t>
                </a:r>
                <a:r>
                  <a:rPr lang="vi-VN"/>
                  <a:t>f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(H.1.39): </a:t>
                </a:r>
                <a:r>
                  <a:rPr lang="vi-VN"/>
                  <a:t>\frac{1}{p}+\frac{1}{q}=\frac{1}{f}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a) Viết </a:t>
                </a:r>
                <a:r>
                  <a:rPr lang="vi-VN"/>
                  <a:t>q=g(p)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p\in(f;\ +\infty)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Tính </a:t>
                </a:r>
                <a:r>
                  <a:rPr lang="vi-VN"/>
                  <a:t>\lim\limits_{p\to+\infty}g(p)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\lim\limits_{p\to f^+}g(p)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giải thích ý nghĩa. c) Lập bảng biến thiên của </a:t>
                </a:r>
                <a:r>
                  <a:rPr lang="vi-VN"/>
                  <a:t>q=g(p)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trên </a:t>
                </a:r>
                <a:r>
                  <a:rPr lang="vi-VN"/>
                  <a:t>(f;\ +\infty)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267456"/>
            <a:ext cx="6949440" cy="7071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304032"/>
                <a:ext cx="6620255" cy="6339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q=g(p)=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pf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p−f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304032"/>
                <a:ext cx="6620255" cy="6339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q=g(p)=\frac{pf}{p-f}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4066031"/>
            <a:ext cx="6949440" cy="117957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4102607"/>
                <a:ext cx="6620255" cy="11064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p→+∞</m:t>
                        </m:r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g(p)=f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vật ở rất xa thì ảnh ở tiêu điểm;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p→</m:t>
                        </m:r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g(p)=+∞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vật gần tiêu điểm thì ảnh ở rất xa.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4102607"/>
                <a:ext cx="6620255" cy="11064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\lim\limits_{p\to+\infty}g(p)=f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vật ở rất xa thì ảnh ở tiêu điểm; </a:t>
                </a:r>
                <a:r>
                  <a:rPr lang="vi-VN"/>
                  <a:t>\lim\limits_{p\to f^+}g(p)=+\infty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vật gần tiêu điểm thì ảnh ở rất xa.</a:t>
                </a:r>
              </a:p>
            </p:txBody>
          </p:sp>
        </mc:Fallback>
      </mc:AlternateContent>
      <p:sp>
        <p:nvSpPr>
          <p:cNvPr id="12" name="s3_nen"/>
          <p:cNvSpPr/>
          <p:nvPr/>
        </p:nvSpPr>
        <p:spPr>
          <a:xfrm>
            <a:off x="548640" y="5337047"/>
            <a:ext cx="6949440" cy="101193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s3_chu"/>
              <p:cNvSpPr txBox="1"/>
              <p:nvPr/>
            </p:nvSpPr>
            <p:spPr>
              <a:xfrm>
                <a:off x="713232" y="5373623"/>
                <a:ext cx="6620255" cy="938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(p)=−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e>
                            </m:d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g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nghịch biến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giảm từ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+∞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về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5373623"/>
                <a:ext cx="6620255" cy="938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</a:t>
                </a:r>
                <a:r>
                  <a:rPr lang="vi-VN"/>
                  <a:t>g'(p)=-\frac{f^2}{(p-f)^2}&lt;0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g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nghịch biến trên </a:t>
                </a:r>
                <a:r>
                  <a:rPr lang="vi-VN"/>
                  <a:t>(f;\ +\infty)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giảm từ </a:t>
                </a:r>
                <a:r>
                  <a:rPr lang="vi-VN"/>
                  <a:t>+\infty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về </a:t>
                </a:r>
                <a:r>
                  <a:rPr lang="vi-VN"/>
                  <a:t>f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14" name="Picture 13" descr="c1_h1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852840"/>
            <a:ext cx="4023360" cy="159783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VẬN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1.45 – 1.46 (SGK TR.44)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23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8595360" cy="104241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1.45.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Dân số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N(t)=100</m:t>
                    </m:r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012t</m:t>
                        </m:r>
                      </m:sup>
                    </m:sSup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(triệu người,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năm kể từ 2023,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0≤t≤50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). a) Ước tính dân số năm 2030, 2035. b) Xét chiều biến thiên. c) Năm nào tốc độ tăng dân số là 1,6 triệu người/năm?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8595360" cy="104241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1.45.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Dân số </a:t>
                </a:r>
                <a:r>
                  <a:rPr lang="vi-VN"/>
                  <a:t>N(t)=100e^{0{,}012t}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(triệu người, </a:t>
                </a:r>
                <a:r>
                  <a:rPr lang="vi-VN"/>
                  <a:t>t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năm kể từ 2023, </a:t>
                </a:r>
                <a:r>
                  <a:rPr lang="vi-VN"/>
                  <a:t>0\le t\le 50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). a) Ước tính dân số năm 2030, 2035. b) Xét chiều biến thiên. c) Năm nào tốc độ tăng dân số là 1,6 triệu người/năm?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505456"/>
            <a:ext cx="8595360" cy="84429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542032"/>
                <a:ext cx="8266176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N(7)≈108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763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N(12)≈115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488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(triệu người). b)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(t)=1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012t</m:t>
                        </m:r>
                      </m:sup>
                    </m:sSup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: đồng biến. c)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012t</m:t>
                        </m:r>
                      </m:sup>
                    </m:sSup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6⇔t≈23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97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: năm 2047.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42032"/>
                <a:ext cx="8266176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N(7)\approx 108{,}763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N(12)\approx 115{,}488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(triệu người). b) </a:t>
                </a:r>
                <a:r>
                  <a:rPr lang="vi-VN"/>
                  <a:t>N'(t)=1{,}2e^{0{,}012t}&gt;0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: đồng biến. c) </a:t>
                </a:r>
                <a:r>
                  <a:rPr lang="vi-VN"/>
                  <a:t>1{,}2e^{0{,}012t}=1{,}6\Leftrightarrow t\approx 23{,}97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: năm 2047.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s2_chu"/>
              <p:cNvSpPr txBox="1"/>
              <p:nvPr/>
            </p:nvSpPr>
            <p:spPr>
              <a:xfrm>
                <a:off x="548640" y="3441192"/>
                <a:ext cx="8595360" cy="104241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1.46.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Dây điện từ nhà máy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ra đảo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(H.1.40):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CB=4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km,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AB=10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km; chi phí 50 triệu đồng/km dưới biển, 30 triệu đồng/km trên đất liền. Xác định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trên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để chi phí nhỏ nhất.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548640" y="3441192"/>
                <a:ext cx="8595360" cy="104241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1.46.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Dây điện từ nhà máy </a:t>
                </a:r>
                <a:r>
                  <a:rPr lang="vi-VN"/>
                  <a:t>A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ra đảo </a:t>
                </a:r>
                <a:r>
                  <a:rPr lang="vi-VN"/>
                  <a:t>C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(H.1.40): </a:t>
                </a:r>
                <a:r>
                  <a:rPr lang="vi-VN"/>
                  <a:t>CB=4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km, </a:t>
                </a:r>
                <a:r>
                  <a:rPr lang="vi-VN"/>
                  <a:t>AB=10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km; chi phí 50 triệu đồng/km dưới biển, 30 triệu đồng/km trên đất liền. Xác định </a:t>
                </a:r>
                <a:r>
                  <a:rPr lang="vi-VN"/>
                  <a:t>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trên </a:t>
                </a:r>
                <a:r>
                  <a:rPr lang="vi-VN"/>
                  <a:t>AB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để chi phí nhỏ nhất.</a:t>
                </a:r>
              </a:p>
            </p:txBody>
          </p:sp>
        </mc:Fallback>
      </mc:AlternateContent>
      <p:sp>
        <p:nvSpPr>
          <p:cNvPr id="11" name="s3_nen"/>
          <p:cNvSpPr/>
          <p:nvPr/>
        </p:nvSpPr>
        <p:spPr>
          <a:xfrm>
            <a:off x="548640" y="4575048"/>
            <a:ext cx="8595360" cy="1264158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3_chu"/>
              <p:cNvSpPr txBox="1"/>
              <p:nvPr/>
            </p:nvSpPr>
            <p:spPr>
              <a:xfrm>
                <a:off x="713232" y="4611624"/>
                <a:ext cx="8266176" cy="119100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BM=x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0≤x≤10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):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T(x)=50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16+</m:t>
                        </m:r>
                        <m:sSup>
                          <m:e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+30(10−x)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50x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16+</m:t>
                            </m:r>
                            <m:sSup>
                              <m:e>
                                <m:r>
                                  <a:rPr lang="vi-VN" sz="19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a:rPr lang="vi-VN" sz="19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−30=0⇔x=3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T(3)=460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T(0)=500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T(10)≈538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: chọn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cách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3 km, chi phí 460 triệu đồng.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713232" y="4611624"/>
                <a:ext cx="8266176" cy="119100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BM=x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0\le x\le 10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): </a:t>
                </a:r>
                <a:r>
                  <a:rPr lang="vi-VN"/>
                  <a:t>T(x)=50\sqrt{16+x^2}+30(10-x)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T'(x)=\frac{50x}{\sqrt{16+x^2}}-30=0\Leftrightarrow x=3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</a:t>
                </a:r>
                <a:r>
                  <a:rPr lang="vi-VN"/>
                  <a:t>T(3)=460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T(0)=500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T(10)\approx 538{,}5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: chọn </a:t>
                </a:r>
                <a:r>
                  <a:rPr lang="vi-VN"/>
                  <a:t>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cách </a:t>
                </a:r>
                <a:r>
                  <a:rPr lang="vi-VN"/>
                  <a:t>B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3 km, chi phí 460 triệu đồng.</a:t>
                </a:r>
              </a:p>
            </p:txBody>
          </p:sp>
        </mc:Fallback>
      </mc:AlternateContent>
      <p:pic>
        <p:nvPicPr>
          <p:cNvPr id="13" name="Picture 12" descr="c1_h1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140945"/>
            <a:ext cx="2377440" cy="185626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TRÒ CHƠI: RUNG CHUÔNG VÀNG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554480"/>
            <a:ext cx="9418320" cy="2962656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6192" y="1591056"/>
            <a:ext cx="9089136" cy="2889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>
                <a:solidFill>
                  <a:srgbClr val="1E293B"/>
                </a:solidFill>
                <a:latin typeface="Calibri"/>
              </a:rPr>
              <a:t>🔔 </a:t>
            </a:r>
            <a:r>
              <a:rPr sz="3000" b="1">
                <a:solidFill>
                  <a:srgbClr val="1E293B"/>
                </a:solidFill>
                <a:latin typeface="Calibri"/>
              </a:rPr>
              <a:t>Luật chơi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Mỗi bạn một bảng con – viết đáp án khi hết giờ.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Câu nhiều lựa chọn: ghi A, B, C hoặc D (30 giây).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Câu Đúng/Sai: ghi Đ hoặc S cho từng ý (60 giây).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Câu trả lời ngắn, thực tế: ghi một số (60 giây).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Sai: rời sàn thi. Bạn trụ lại cuối cùng </a:t>
            </a:r>
            <a:r>
              <a:rPr sz="2400" b="1">
                <a:solidFill>
                  <a:srgbClr val="1E293B"/>
                </a:solidFill>
                <a:latin typeface="Calibri"/>
              </a:rPr>
              <a:t>rung chuông vàng</a:t>
            </a:r>
            <a:r>
              <a:rPr sz="2400">
                <a:solidFill>
                  <a:srgbClr val="1E293B"/>
                </a:solidFill>
                <a:latin typeface="Calibri"/>
              </a:rPr>
              <a:t>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THỬ THÁCH – CÂU 1 (BIẾT)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25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Hàm số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−3x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nghịch biến trên khoảng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Hàm số </a:t>
                </a:r>
                <a:r>
                  <a:rPr lang="vi-VN"/>
                  <a:t>y=x^3-3x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nghịch biến trên khoảng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sepChr m:val="∞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(-\infty;\ -1)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(-1;\ 1)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(1;\ +\infty)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(0;\ 2)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60045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=3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−3&lt;0⇔−1&lt;x&lt;1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y'=3x^2-3&lt;0\Leftrightarrow-1&lt;x&lt;1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THỬ THÁCH – CÂU 2 (ĐÚNG/SAI)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26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0408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Cho hàm số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2x−4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 Xét tính đúng, sai: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0408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Cho hàm số </a:t>
                </a:r>
                <a:r>
                  <a:rPr lang="vi-VN"/>
                  <a:t>y=\frac{x+1}{2x-4}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 Xét tính đúng, sai: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548640" y="2167128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a) Tiệm cận đứng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548640" y="2167128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a) Tiệm cận đứng </a:t>
                </a:r>
                <a:r>
                  <a:rPr lang="vi-VN"/>
                  <a:t>x=2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9" name="s1_nen"/>
          <p:cNvSpPr/>
          <p:nvPr/>
        </p:nvSpPr>
        <p:spPr>
          <a:xfrm>
            <a:off x="8412480" y="2139696"/>
            <a:ext cx="3200400" cy="804672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1_chu"/>
          <p:cNvSpPr txBox="1"/>
          <p:nvPr/>
        </p:nvSpPr>
        <p:spPr>
          <a:xfrm>
            <a:off x="8577072" y="2176272"/>
            <a:ext cx="2871216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100" b="1">
                <a:solidFill>
                  <a:srgbClr val="1E293B"/>
                </a:solidFill>
                <a:latin typeface="Calibri"/>
              </a:rPr>
              <a:t>ĐÚNG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548640" y="3154680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b) Tiệm cận ngang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y=1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548640" y="3154680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b) Tiệm cận ngang </a:t>
                </a:r>
                <a:r>
                  <a:rPr lang="vi-VN"/>
                  <a:t>y=1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2" name="s2_nen"/>
          <p:cNvSpPr/>
          <p:nvPr/>
        </p:nvSpPr>
        <p:spPr>
          <a:xfrm>
            <a:off x="8412480" y="3127248"/>
            <a:ext cx="3200400" cy="804672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2_chu"/>
          <p:cNvSpPr txBox="1"/>
          <p:nvPr/>
        </p:nvSpPr>
        <p:spPr>
          <a:xfrm>
            <a:off x="8577072" y="3163824"/>
            <a:ext cx="2871216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100" b="1">
                <a:solidFill>
                  <a:srgbClr val="1E293B"/>
                </a:solidFill>
                <a:latin typeface="Calibri"/>
              </a:rPr>
              <a:t>SAI</a:t>
            </a:r>
            <a:r>
              <a:rPr sz="2100">
                <a:solidFill>
                  <a:srgbClr val="1E293B"/>
                </a:solidFill>
                <a:latin typeface="Calibri"/>
              </a:rPr>
              <a:t> (y = 1/2)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42232"/>
            <a:ext cx="7680960" cy="9418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300">
                <a:solidFill>
                  <a:srgbClr val="1E293B"/>
                </a:solidFill>
                <a:latin typeface="Calibri"/>
              </a:rPr>
              <a:t>c) Hàm số nghịch biến trên từng khoảng xác định.</a:t>
            </a:r>
          </a:p>
        </p:txBody>
      </p:sp>
      <p:sp>
        <p:nvSpPr>
          <p:cNvPr id="15" name="s3_nen"/>
          <p:cNvSpPr/>
          <p:nvPr/>
        </p:nvSpPr>
        <p:spPr>
          <a:xfrm>
            <a:off x="8412480" y="4114800"/>
            <a:ext cx="3200400" cy="804672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3_chu"/>
          <p:cNvSpPr txBox="1"/>
          <p:nvPr/>
        </p:nvSpPr>
        <p:spPr>
          <a:xfrm>
            <a:off x="8577072" y="4151376"/>
            <a:ext cx="2871216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100" b="1">
                <a:solidFill>
                  <a:srgbClr val="1E293B"/>
                </a:solidFill>
                <a:latin typeface="Calibri"/>
              </a:rPr>
              <a:t>ĐÚNG</a:t>
            </a:r>
            <a:r>
              <a:rPr sz="2100">
                <a:solidFill>
                  <a:srgbClr val="1E293B"/>
                </a:solidFill>
                <a:latin typeface="Calibri"/>
              </a:rPr>
              <a:t> (y' = −6/(2x−4)²)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548640" y="5129784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d) Tâm đối xứng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I</m:t>
                    </m:r>
                    <m:d>
                      <m:dPr>
                        <m:sepChr m:val=""/>
                      </m:dPr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548640" y="5129784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d) Tâm đối xứng </a:t>
                </a:r>
                <a:r>
                  <a:rPr lang="vi-VN"/>
                  <a:t>I\left(2;\ \frac{1}{2}\right)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8" name="s4_nen"/>
          <p:cNvSpPr/>
          <p:nvPr/>
        </p:nvSpPr>
        <p:spPr>
          <a:xfrm>
            <a:off x="8412480" y="5102352"/>
            <a:ext cx="3200400" cy="804672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4_chu"/>
          <p:cNvSpPr txBox="1"/>
          <p:nvPr/>
        </p:nvSpPr>
        <p:spPr>
          <a:xfrm>
            <a:off x="8577072" y="5138928"/>
            <a:ext cx="2871216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100" b="1">
                <a:solidFill>
                  <a:srgbClr val="1E293B"/>
                </a:solidFill>
                <a:latin typeface="Calibri"/>
              </a:rPr>
              <a:t>ĐÚNG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THỬ THÁCH – CÂU 3 (TRẢ LỜI NGẮN)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27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Tìm giá trị nhỏ nhất của hàm số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−3x+2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Tìm giá trị nhỏ nhất của hàm số </a:t>
                </a:r>
                <a:r>
                  <a:rPr lang="vi-VN"/>
                  <a:t>y=x^3-3x+2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:r>
                  <a:rPr lang="vi-VN"/>
                  <a:t>[0;\ 2]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931920"/>
            <a:ext cx="11064240" cy="63093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968496"/>
                <a:ext cx="10735056" cy="557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Đáp số: 0.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=0⇔x=1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y(0)=2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y(1)=0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y(2)=4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968496"/>
                <a:ext cx="10735056" cy="557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Đáp số: 0.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y'=0\Leftrightarrow x=1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y(0)=2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y(1)=0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y(2)=4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CỦNG CỐ TRỰC TUYẾN – NHIỆM VỤ VỀ NHÀ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75895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Bài củng cố trực tuyến</a:t>
            </a:r>
            <a:r>
              <a:rPr sz="2200">
                <a:solidFill>
                  <a:srgbClr val="1E293B"/>
                </a:solidFill>
                <a:latin typeface="Calibri"/>
              </a:rPr>
              <a:t> – quét mã QR hoặc mở đường link: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https://trangtu66.github.io/Taode_thi_online/cc_chuong1_t12.html</a:t>
            </a:r>
          </a:p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Nhiệm vụ về nhà: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Hoàn thiện Bài 1.40 – 1.46.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Ôn tập giữa kì I; chuẩn bị </a:t>
            </a:r>
            <a:r>
              <a:rPr sz="2200" b="1">
                <a:solidFill>
                  <a:srgbClr val="1E293B"/>
                </a:solidFill>
                <a:latin typeface="Calibri"/>
              </a:rPr>
              <a:t>Chương II. Vectơ và hệ trục toạ độ trong không gian</a:t>
            </a:r>
            <a:r>
              <a:rPr sz="2200">
                <a:solidFill>
                  <a:srgbClr val="1E293B"/>
                </a:solidFill>
                <a:latin typeface="Calibri"/>
              </a:rPr>
              <a:t>.</a:t>
            </a:r>
          </a:p>
        </p:txBody>
      </p:sp>
      <p:pic>
        <p:nvPicPr>
          <p:cNvPr id="8" name="Picture 7" descr="QR_CungCo_Chuong1_Toan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554480"/>
            <a:ext cx="3291840" cy="3291840"/>
          </a:xfrm>
          <a:prstGeom prst="rect">
            <a:avLst/>
          </a:prstGeom>
        </p:spPr>
      </p:pic>
      <p:sp>
        <p:nvSpPr>
          <p:cNvPr id="9" name="Rounded Rectangle 8">
            <a:hlinkClick r:id="rId4"/>
          </p:cNvPr>
          <p:cNvSpPr/>
          <p:nvPr/>
        </p:nvSpPr>
        <p:spPr>
          <a:xfrm>
            <a:off x="8412480" y="5029200"/>
            <a:ext cx="3291840" cy="59436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▶  MỞ BÀI CỦNG CỐ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SƠ ĐỒ TƯ DUY – CHƯƠNG 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29</a:t>
            </a:r>
          </a:p>
        </p:txBody>
      </p:sp>
      <p:pic>
        <p:nvPicPr>
          <p:cNvPr id="7" name="Picture 6" descr="min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5397" y="1371600"/>
            <a:ext cx="863072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06863" y="457200"/>
            <a:ext cx="1536192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DÀNH CHO GV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3660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PHỤ LỤC 1 – SAI LẦM THƯỜNG GẶP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30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484632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Chọn A ở Bài 1.30 (thiếu điều kiện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tại hữu hạn điểm); chọn D ở Bài 1.32 nhầm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không có cực trị.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Bài 1.37: kết luận tiệm cận đứng tại mọi điểm không xác định mà không xét giới hạn.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Bài 1.41a: kết luận GTNN bằng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(giới hạn không đạt được).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Bài 1.46: chỉ xét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quên so sánh tại đầu mút.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484632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Chọn A ở Bài 1.30 (thiếu điều kiện </a:t>
                </a:r>
                <a:r>
                  <a:rPr lang="vi-VN"/>
                  <a:t>f'=0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tại hữu hạn điểm); chọn D ở Bài 1.32 nhầm </a:t>
                </a:r>
                <a:r>
                  <a:rPr lang="vi-VN"/>
                  <a:t>|x|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không có cực trị.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Bài 1.37: kết luận tiệm cận đứng tại mọi điểm không xác định mà không xét giới hạn.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Bài 1.41a: kết luận GTNN bằng </a:t>
                </a:r>
                <a:r>
                  <a:rPr lang="vi-VN"/>
                  <a:t>\frac{2}{3}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(giới hạn không đạt được).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Bài 1.46: chỉ xét </a:t>
                </a:r>
                <a:r>
                  <a:rPr lang="vi-VN"/>
                  <a:t>T'=0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quên so sánh tại đầu mút.</a:t>
                </a:r>
              </a:p>
            </p:txBody>
          </p:sp>
        </mc:Fallback>
      </mc:AlternateContent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06863" y="457200"/>
            <a:ext cx="1536192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DÀNH CHO GV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3660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PHỤ LỤC 2 – PHÂN HOÁ, DỰ PHÒNG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 – Toán 12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 b="1">
                <a:solidFill>
                  <a:srgbClr val="1E293B"/>
                </a:solidFill>
                <a:latin typeface="Calibri"/>
              </a:rPr>
              <a:t>HS cần hỗ trợ:</a:t>
            </a:r>
            <a:r>
              <a:rPr sz="2000">
                <a:solidFill>
                  <a:srgbClr val="1E293B"/>
                </a:solidFill>
                <a:latin typeface="Calibri"/>
              </a:rPr>
              <a:t> trắc nghiệm 1.30 – 1.36, tự luận 1.40a, b, 1.42a; bảng hệ thống kiến thức in sẵn.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 b="1">
                <a:solidFill>
                  <a:srgbClr val="1E293B"/>
                </a:solidFill>
                <a:latin typeface="Calibri"/>
              </a:rPr>
              <a:t>HS khá, giỏi:</a:t>
            </a:r>
            <a:r>
              <a:rPr sz="2000">
                <a:solidFill>
                  <a:srgbClr val="1E293B"/>
                </a:solidFill>
                <a:latin typeface="Calibri"/>
              </a:rPr>
              <a:t> 1.41a, 1.43c, 1.44 – 1.46.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 b="1">
                <a:solidFill>
                  <a:srgbClr val="1E293B"/>
                </a:solidFill>
                <a:latin typeface="Calibri"/>
              </a:rPr>
              <a:t>12A2, 12A7 (khiếm thị):</a:t>
            </a:r>
            <a:r>
              <a:rPr sz="2000">
                <a:solidFill>
                  <a:srgbClr val="1E293B"/>
                </a:solidFill>
                <a:latin typeface="Calibri"/>
              </a:rPr>
              <a:t> GV đọc to đề và phương án; </a:t>
            </a:r>
            <a:r>
              <a:rPr sz="2000" b="1">
                <a:solidFill>
                  <a:srgbClr val="1E293B"/>
                </a:solidFill>
                <a:latin typeface="Calibri"/>
              </a:rPr>
              <a:t>12A3, 12A5, 12A7 (vận động):</a:t>
            </a:r>
            <a:r>
              <a:rPr sz="2000">
                <a:solidFill>
                  <a:srgbClr val="1E293B"/>
                </a:solidFill>
                <a:latin typeface="Calibri"/>
              </a:rPr>
              <a:t> giơ thẻ, trả lời tại chỗ.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 b="1">
                <a:solidFill>
                  <a:srgbClr val="1E293B"/>
                </a:solidFill>
                <a:latin typeface="Calibri"/>
              </a:rPr>
              <a:t>Mất điện/mạng:</a:t>
            </a:r>
            <a:r>
              <a:rPr sz="2000">
                <a:solidFill>
                  <a:srgbClr val="1E293B"/>
                </a:solidFill>
                <a:latin typeface="Calibri"/>
              </a:rPr>
              <a:t> phiếu trắc nghiệm in; thẻ A/B/C/D; máy tính cầm tay.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