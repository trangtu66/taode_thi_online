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83" r:id="rId34"/>
    <p:sldId id="261" r:id="rId12"/>
    <p:sldId id="262" r:id="rId13"/>
    <p:sldId id="263" r:id="rId14"/>
    <p:sldId id="282" r:id="rId33"/>
    <p:sldId id="264" r:id="rId15"/>
    <p:sldId id="281" r:id="rId32"/>
    <p:sldId id="265" r:id="rId16"/>
    <p:sldId id="266" r:id="rId17"/>
    <p:sldId id="267" r:id="rId18"/>
    <p:sldId id="268" r:id="rId19"/>
    <p:sldId id="280" r:id="rId31"/>
    <p:sldId id="269" r:id="rId20"/>
    <p:sldId id="279" r:id="rId30"/>
    <p:sldId id="270" r:id="rId21"/>
    <p:sldId id="278" r:id="rId29"/>
    <p:sldId id="271" r:id="rId22"/>
    <p:sldId id="277" r:id="rId28"/>
    <p:sldId id="272" r:id="rId23"/>
    <p:sldId id="276" r:id="rId27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1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8.xml"/><Relationship Id="rId21" Type="http://schemas.openxmlformats.org/officeDocument/2006/relationships/slide" Target="slides/slide20.xml"/><Relationship Id="rId22" Type="http://schemas.openxmlformats.org/officeDocument/2006/relationships/slide" Target="slides/slide22.xml"/><Relationship Id="rId23" Type="http://schemas.openxmlformats.org/officeDocument/2006/relationships/slide" Target="slides/slide24.xml"/><Relationship Id="rId24" Type="http://schemas.openxmlformats.org/officeDocument/2006/relationships/slide" Target="slides/slide26.xml"/><Relationship Id="rId25" Type="http://schemas.openxmlformats.org/officeDocument/2006/relationships/slide" Target="slides/slide27.xml"/><Relationship Id="rId26" Type="http://schemas.openxmlformats.org/officeDocument/2006/relationships/slide" Target="slides/slide28.xml"/><Relationship Id="rId27" Type="http://schemas.openxmlformats.org/officeDocument/2006/relationships/slide" Target="slides/slide25.xml"/><Relationship Id="rId28" Type="http://schemas.openxmlformats.org/officeDocument/2006/relationships/slide" Target="slides/slide23.xml"/><Relationship Id="rId29" Type="http://schemas.openxmlformats.org/officeDocument/2006/relationships/slide" Target="slides/slide21.xml"/><Relationship Id="rId30" Type="http://schemas.openxmlformats.org/officeDocument/2006/relationships/slide" Target="slides/slide19.xml"/><Relationship Id="rId31" Type="http://schemas.openxmlformats.org/officeDocument/2006/relationships/slide" Target="slides/slide17.xml"/><Relationship Id="rId32" Type="http://schemas.openxmlformats.org/officeDocument/2006/relationships/slide" Target="slides/slide12.xml"/><Relationship Id="rId33" Type="http://schemas.openxmlformats.org/officeDocument/2006/relationships/slide" Target="slides/slide10.xml"/><Relationship Id="rId34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1_t12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1. TÍNH ĐƠN ĐIỆU VÀ CỰC TRỊ CỦA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 – 6 theo PPCT (T1 – T6)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TTT – Trường THPT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đồng biến, nghịch biến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Dùng dấu đạo hàm xét đơn điệu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Tìm cực trị của hàm số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Đọc cực trị từ đồ thị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bài toán chuyển động, dân số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CHẤT ĐIỂM CHUYỂN ĐỘNG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Vị trí chất điểm: </a:t>
                </a: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đi sang trái?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biết khi nào s(t) tăng, giảm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197311"/>
            <a:ext cx="10698480" cy="19929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TÍNH ĐƠN ĐIỆU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Đồng biến: đồ thị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biến: đồ thị đi xuống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)&lt;f(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⇒f(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)&gt;f(</m:t>
                    </m:r>
                    <m:sSub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Đồng biến: </a:t>
                </a:r>
                <a:r>
                  <a:rPr lang="vi-VN"/>
                  <a:t>x_1&lt;x_2\Rightarrow f(x_1)&lt;f(x_2)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Nghịch biến: </a:t>
                </a:r>
                <a:r>
                  <a:rPr lang="vi-VN"/>
                  <a:t>x_1&lt;x_2\Rightarrow f(x_1)&gt;f(x_2)</a:t>
                </a:r>
              </a:p>
            </p:txBody>
          </p:sp>
        </mc:Fallback>
      </mc:AlternateContent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5510" y="4059936"/>
            <a:ext cx="82505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5</a:t>
            </a:r>
          </a:p>
        </p:txBody>
      </p:sp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31520" y="1508760"/>
                <a:ext cx="640080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y=x^3−3x^2+2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khoảng đồng biến, nghịch biến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y=x^3−3x^2+2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  (Hình 1.5)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Đồng biến: (−∞; 0) và (2; +∞)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Nghịch biến: (0; 2)</a:t>
                </a:r>
              </a:p>
            </p:txBody>
          </p:sp>
        </mc:Fallback>
      </mc:AlternateContent>
      <p:pic>
        <p:nvPicPr>
          <p:cNvPr id="7" name="Picture 6" descr="rI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806620"/>
            <a:ext cx="4389120" cy="402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ĐƠN ĐIỆU VÀ DẤU CỦA ĐẠO HÀM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=2x−4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tại hữu hạn điểm: vẫn đúng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K ⇒ f không đổi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2: </a:t>
                </a:r>
                <a:r>
                  <a:rPr lang="vi-VN"/>
                  <a:t>y=x^2−4x+2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y'=2x−4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(x)&gt;0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(x)&lt;0</m:t>
                    </m:r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114300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f'(x)&gt;0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đồng biến trên K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f'(x)&lt;0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trên K ⇒ f nghịch biến trên K</a:t>
                </a: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CÁC BƯỚC XÉT TÍNH ĐƠN ĐIỆU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f′(x);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Kết luận khoảng đồng biến, nghịch biến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Xét tính đơn điệu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y=\frac{x^2−2x+5}{x−1}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Tập xác định? Dấu của y′?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−2x+5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−2x−3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y=\frac{x^2−2x+5}{x−1}</a:t>
                </a: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,   D = ℝ \ {1}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y'=\frac{x^2−2x−3}{(x−1)^2}=0\Leftrightarrow x=−1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28415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Đồng biến: (−∞; −1), (3; +∞);  nghịch biến: (−1; 1), (1; 3)</a:t>
            </a:r>
          </a:p>
        </p:txBody>
      </p:sp>
      <p:pic>
        <p:nvPicPr>
          <p:cNvPr id="9" name="Picture 8" descr="rI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735" y="4113274"/>
            <a:ext cx="8818049" cy="21046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s(t)=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+15t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677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s(t)=t^3−9t^2+15t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phải?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chất điểm sang trái?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Xét dấu v(t) = s′(t)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v(t)=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(t)=3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−18t+15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v(t)=s'(t)=3t^2−18t+15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v(t) = 0 ⇔ t = 1 hoặc t = 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47699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476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991B1B"/>
                </a:solidFill>
                <a:latin typeface="Calibri"/>
              </a:rPr>
              <a:t>Sang phải: 0 &lt; t &lt; 1 và t &gt; 5;  sang trái: 1 &lt; t &lt; 5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234" y="3564635"/>
            <a:ext cx="8967051" cy="265328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CỰC TRỊ CỦA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Kí hiệu: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CĐ</a:t>
            </a:r>
            <a:r>
              <a:rPr sz="2400">
                <a:solidFill>
                  <a:srgbClr val="1E293B"/>
                </a:solidFill>
                <a:latin typeface="Calibri"/>
              </a:rPr>
              <a:t>,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CĐ tại x = 0; CT tại x = ±1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&lt;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f(x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) gần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 tại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</a:p>
        </p:txBody>
      </p:sp>
      <p:pic>
        <p:nvPicPr>
          <p:cNvPr id="9" name="Picture 8" descr="rId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7634" y="1463040"/>
            <a:ext cx="4207132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ĐỊNH LÍ VỀ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f'(x_0)=0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chưa đủ: xét đổi dấu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dụ: y = x³, x = 0 không là cực trị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− sang +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tiểu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f′ đổi dấu + sang − qua x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0</a:t>
            </a:r>
            <a:r>
              <a:rPr sz="2400" b="1">
                <a:solidFill>
                  <a:srgbClr val="991B1B"/>
                </a:solidFill>
                <a:latin typeface="Calibri"/>
              </a:rPr>
              <a:t>: cực đại</a:t>
            </a:r>
          </a:p>
        </p:txBody>
      </p:sp>
      <p:pic>
        <p:nvPicPr>
          <p:cNvPr id="9" name="Picture 8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8560" y="4059936"/>
            <a:ext cx="4464400" cy="2157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CÁC BƯỚC TÌM CỰC TRỊ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Tính f′(x), tìm điểm f′ = 0 hoặc không tồn tại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B4. Suy ra các cực trị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y=x^3−6x^2+9x+30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−6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+9x+30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−12x+9=0⇔x=1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y=x^3−6x^2+9x+30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y'=3x^2−12x+9=0\Leftrightarrow x=1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CĐ tại x = 1: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  <a:r>
              <a:rPr sz="2400" b="1">
                <a:solidFill>
                  <a:srgbClr val="991B1B"/>
                </a:solidFill>
                <a:latin typeface="Calibri"/>
              </a:rPr>
              <a:t> = 34;   CT tại x = 3: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= 30</a:t>
            </a:r>
          </a:p>
        </p:txBody>
      </p:sp>
      <p:pic>
        <p:nvPicPr>
          <p:cNvPr id="9" name="Picture 8" descr="rId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618" y="3602736"/>
            <a:ext cx="8838284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y=\frac{x^2−2x+9}{x−2}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y=\frac{x+1}{x−1}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7 – VÍ DỤ 8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−2x+9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682495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y=\frac{x^2−2x+9}{x−2}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−1 (y = −4), CT tại x = 5 (y = 8)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y=\frac{x+1}{x−1}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 </a:t>
                </a:r>
                <a:r>
                  <a:rPr lang="vi-VN"/>
                  <a:t>y'=\frac{−2}{(x−1)^2}&lt;0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28415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28415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Hàm </a:t>
                </a:r>
                <a:r>
                  <a:rPr lang="vi-VN"/>
                  <a:t>y=\frac{ax+b}{cx+d}</a:t>
                </a: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 không có cực trị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Tìm cực trị của hàm số: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y=\frac{−x^2+2x−1}{x+2}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y=x^4−3x^2+1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CĐ tại x = 0; CT tại </a:t>
                </a:r>
                <a:r>
                  <a:rPr lang="vi-VN"/>
                  <a:t>x=\pm\frac{\sqrt{6}}{2}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CT tại x = −5 (y = 12); CĐ tại x = 1 (y =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CT</a:t>
            </a:r>
            <a:r>
              <a:rPr sz="2400" b="1">
                <a:solidFill>
                  <a:srgbClr val="991B1B"/>
                </a:solidFill>
                <a:latin typeface="Calibri"/>
              </a:rPr>
              <a:t> có thể lớn hơn y</a:t>
            </a:r>
            <a:r>
              <a:rPr sz="2400" b="1" baseline="-25000">
                <a:solidFill>
                  <a:srgbClr val="991B1B"/>
                </a:solidFill>
                <a:latin typeface="Calibri"/>
              </a:rPr>
              <a:t>CĐ</a:t>
            </a:r>
          </a:p>
        </p:txBody>
      </p:sp>
      <p:pic>
        <p:nvPicPr>
          <p:cNvPr id="9" name="Picture 8" descr="rId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882" y="3877056"/>
            <a:ext cx="9807755" cy="234086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∪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</a:t>
                </a:r>
                <a:r>
                  <a:rPr lang="vi-VN"/>
                  <a:t>(−\infty;1)\cup(1;+\infty)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y=x^4−2x^3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CĐ tại x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nghịch biến trên (−∞; 1) ∪ (1; +∞)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y′ không đổi dấu qua 0: không cực trị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Chỉ nghịch biến trên từng khoảng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h(t)=2+24{,}5t−4{,}9t^2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(m)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Khi nào vật lên cao nhất?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Độ cao lớn nhất bằng bao nhiêu?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VẬT NÉM LÊN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h(t)=2+24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5t−4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h(t)=2+24{,}5t−4{,}9t^2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h′(t) = 24,5 − 9,8t = 0 ⇔ t = 2,5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2779776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Cao nhất tại t = 2,5 s: h = 32,625 m</a:t>
            </a:r>
          </a:p>
        </p:txBody>
      </p:sp>
      <p:pic>
        <p:nvPicPr>
          <p:cNvPr id="9" name="Picture 8" descr="rId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1026" y="3602736"/>
            <a:ext cx="6719467" cy="261518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dân số thị trấn N(t)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doanh số logistic f(t)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tự đề xuất ở địa phương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Giải bằng đạo hàm, vẽ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27</a:t>
            </a:r>
          </a:p>
        </p:txBody>
      </p:sp>
      <p:cxnSp>
        <p:nvCxnSpPr>
          <p:cNvPr id="6" name="Connector 5"/>
          <p:cNvCxnSpPr/>
          <p:nvPr/>
        </p:nvCxnSpPr>
        <p:spPr>
          <a:xfrm flipH="1" flipV="1">
            <a:off x="4338888" y="2670962"/>
            <a:ext cx="1688379" cy="1283818"/>
          </a:xfrm>
          <a:prstGeom prst="line">
            <a:avLst/>
          </a:prstGeom>
          <a:ln w="444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 flipV="1">
            <a:off x="2850629" y="1830405"/>
            <a:ext cx="1488259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762012" y="1554093"/>
            <a:ext cx="2088617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Đồng biến trên (a;b):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y'&gt;0</a:t>
            </a:r>
          </a:p>
        </p:txBody>
      </p:sp>
      <p:cxnSp>
        <p:nvCxnSpPr>
          <p:cNvPr id="9" name="Connector 8"/>
          <p:cNvCxnSpPr/>
          <p:nvPr/>
        </p:nvCxnSpPr>
        <p:spPr>
          <a:xfrm flipH="1" flipV="1">
            <a:off x="2936481" y="2457917"/>
            <a:ext cx="1402407" cy="213045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76160" y="2181606"/>
            <a:ext cx="2260321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Nghịch biến trên (a;b):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y'&lt;0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764777" y="2670962"/>
            <a:ext cx="1574111" cy="313756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47864" y="2809118"/>
            <a:ext cx="1916913" cy="351200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Lập bảng biến thiên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2807703" y="2670962"/>
            <a:ext cx="1531185" cy="840557"/>
          </a:xfrm>
          <a:prstGeom prst="line">
            <a:avLst/>
          </a:prstGeom>
          <a:ln w="15875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04938" y="3235208"/>
            <a:ext cx="2002765" cy="552622"/>
          </a:xfrm>
          <a:prstGeom prst="roundRect">
            <a:avLst>
              <a:gd name="adj" fmla="val 50000"/>
            </a:avLst>
          </a:prstGeom>
          <a:solidFill>
            <a:srgbClr val="EDF5E8"/>
          </a:solidFill>
          <a:ln w="158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khoảng đơn điệu: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giải y'=0</a:t>
            </a:r>
          </a:p>
        </p:txBody>
      </p:sp>
      <p:sp>
        <p:nvSpPr>
          <p:cNvPr id="15" name="Oval 14"/>
          <p:cNvSpPr/>
          <p:nvPr/>
        </p:nvSpPr>
        <p:spPr>
          <a:xfrm>
            <a:off x="3294580" y="2259078"/>
            <a:ext cx="2088617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Tính đơn điệu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hàm số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6027267" y="2670962"/>
            <a:ext cx="1688379" cy="1283818"/>
          </a:xfrm>
          <a:prstGeom prst="line">
            <a:avLst/>
          </a:prstGeom>
          <a:ln w="44450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7715646" y="2043450"/>
            <a:ext cx="1745815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461461" y="1767138"/>
            <a:ext cx="1573505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Cực đại: y' đổi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dấu + → 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15646" y="2670962"/>
            <a:ext cx="1702889" cy="0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418535" y="2394651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Cực tiểu: y' đổi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dấu − → +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15646" y="2670962"/>
            <a:ext cx="1659963" cy="627512"/>
          </a:xfrm>
          <a:prstGeom prst="line">
            <a:avLst/>
          </a:prstGeom>
          <a:ln w="15875">
            <a:solidFill>
              <a:srgbClr val="BF8F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375609" y="3022163"/>
            <a:ext cx="1745209" cy="552622"/>
          </a:xfrm>
          <a:prstGeom prst="roundRect">
            <a:avLst>
              <a:gd name="adj" fmla="val 50000"/>
            </a:avLst>
          </a:prstGeom>
          <a:solidFill>
            <a:srgbClr val="FFF8E1"/>
          </a:solidFill>
          <a:ln w="15875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 không đổi dấu: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không cực trị</a:t>
            </a:r>
          </a:p>
        </p:txBody>
      </p:sp>
      <p:sp>
        <p:nvSpPr>
          <p:cNvPr id="23" name="Oval 22"/>
          <p:cNvSpPr/>
          <p:nvPr/>
        </p:nvSpPr>
        <p:spPr>
          <a:xfrm>
            <a:off x="6810021" y="2259078"/>
            <a:ext cx="1811249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Cực trị hàm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số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4338888" y="3954780"/>
            <a:ext cx="1688379" cy="1283817"/>
          </a:xfrm>
          <a:prstGeom prst="line">
            <a:avLst/>
          </a:prstGeom>
          <a:ln w="44450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2550147" y="4824130"/>
            <a:ext cx="1788741" cy="414467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062494" y="4547819"/>
            <a:ext cx="1487653" cy="552622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Quy tắc 1 (dấu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y'): BBT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3022333" y="5238597"/>
            <a:ext cx="1316555" cy="313756"/>
          </a:xfrm>
          <a:prstGeom prst="line">
            <a:avLst/>
          </a:prstGeom>
          <a:ln w="15875">
            <a:solidFill>
              <a:srgbClr val="2F559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90308" y="5175331"/>
            <a:ext cx="2432025" cy="754044"/>
          </a:xfrm>
          <a:prstGeom prst="roundRect">
            <a:avLst>
              <a:gd name="adj" fmla="val 50000"/>
            </a:avLst>
          </a:prstGeom>
          <a:solidFill>
            <a:srgbClr val="E3EEF9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Quy tắc 2 (y''):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y'(x₀)=0, y''(x₀)&gt;0 → Cực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tiểu</a:t>
            </a:r>
          </a:p>
        </p:txBody>
      </p:sp>
      <p:sp>
        <p:nvSpPr>
          <p:cNvPr id="29" name="Oval 28"/>
          <p:cNvSpPr/>
          <p:nvPr/>
        </p:nvSpPr>
        <p:spPr>
          <a:xfrm>
            <a:off x="3433264" y="4826713"/>
            <a:ext cx="1811249" cy="823767"/>
          </a:xfrm>
          <a:prstGeom prst="ellipse">
            <a:avLst/>
          </a:prstGeom>
          <a:solidFill>
            <a:srgbClr val="E2EFDA"/>
          </a:solidFill>
          <a:ln w="31750">
            <a:solidFill>
              <a:srgbClr val="3756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Quy tắc tìm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cực trị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27267" y="3954780"/>
            <a:ext cx="1688379" cy="1283817"/>
          </a:xfrm>
          <a:prstGeom prst="line">
            <a:avLst/>
          </a:prstGeom>
          <a:ln w="444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7715646" y="4824130"/>
            <a:ext cx="1702889" cy="414467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418535" y="4547819"/>
            <a:ext cx="1659357" cy="552622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Bài toán tối ưu: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hộp, bể chứa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15646" y="5238597"/>
            <a:ext cx="1617037" cy="313756"/>
          </a:xfrm>
          <a:prstGeom prst="line">
            <a:avLst/>
          </a:prstGeom>
          <a:ln w="15875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9332683" y="5175331"/>
            <a:ext cx="1831061" cy="754044"/>
          </a:xfrm>
          <a:prstGeom prst="roundRect">
            <a:avLst>
              <a:gd name="adj" fmla="val 50000"/>
            </a:avLst>
          </a:prstGeom>
          <a:solidFill>
            <a:srgbClr val="F3E8F7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Tìm m để hàm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số có/không có cực</a:t>
            </a:r>
          </a:p>
          <a:p>
            <a:pPr algn="ctr"/>
            <a:r>
              <a:rPr sz="1300" b="0">
                <a:solidFill>
                  <a:srgbClr val="000000"/>
                </a:solidFill>
                <a:latin typeface="Calibri"/>
              </a:rPr>
              <a:t>trị</a:t>
            </a:r>
          </a:p>
        </p:txBody>
      </p:sp>
      <p:sp>
        <p:nvSpPr>
          <p:cNvPr id="35" name="Oval 34"/>
          <p:cNvSpPr/>
          <p:nvPr/>
        </p:nvSpPr>
        <p:spPr>
          <a:xfrm>
            <a:off x="6671337" y="4826713"/>
            <a:ext cx="2088617" cy="823767"/>
          </a:xfrm>
          <a:prstGeom prst="ellipse">
            <a:avLst/>
          </a:prstGeom>
          <a:solidFill>
            <a:srgbClr val="FFF2CC"/>
          </a:solidFill>
          <a:ln w="31750">
            <a:solidFill>
              <a:srgbClr val="BF8F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Ứng dụng thực</a:t>
            </a:r>
          </a:p>
          <a:p>
            <a:pPr algn="ctr"/>
            <a:r>
              <a:rPr sz="1500" b="1">
                <a:solidFill>
                  <a:srgbClr val="000000"/>
                </a:solidFill>
                <a:latin typeface="Calibri"/>
              </a:rPr>
              <a:t>tiễn</a:t>
            </a:r>
          </a:p>
        </p:txBody>
      </p:sp>
      <p:sp>
        <p:nvSpPr>
          <p:cNvPr id="36" name="Oval 35"/>
          <p:cNvSpPr/>
          <p:nvPr/>
        </p:nvSpPr>
        <p:spPr>
          <a:xfrm>
            <a:off x="4862765" y="3484793"/>
            <a:ext cx="2329003" cy="939972"/>
          </a:xfrm>
          <a:prstGeom prst="ellipse">
            <a:avLst/>
          </a:prstGeom>
          <a:solidFill>
            <a:srgbClr val="002060"/>
          </a:solidFill>
          <a:ln w="25400">
            <a:solidFill>
              <a:srgbClr val="000B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64000" rIns="64000" tIns="25400" bIns="25400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TÍNH ĐƠN ĐIỆU</a:t>
            </a:r>
          </a:p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&amp; CỰC TRỊ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1. Tính đơn điệu và cực trị của hàm số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1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trangtu66.github.io/Taode_thi_online/cc_bai1_t12.html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TTT</dc:creator>
  <cp:keywords/>
  <dc:description>generated using python-pptx</dc:description>
  <cp:lastModifiedBy>TTT</cp:lastModifiedBy>
  <cp:revision>1</cp:revision>
  <dcterms:created xsi:type="dcterms:W3CDTF">2013-01-27T09:14:16Z</dcterms:created>
  <dcterms:modified xsi:type="dcterms:W3CDTF">2013-01-27T09:15:58Z</dcterms:modified>
  <cp:category/>
</cp:coreProperties>
</file>