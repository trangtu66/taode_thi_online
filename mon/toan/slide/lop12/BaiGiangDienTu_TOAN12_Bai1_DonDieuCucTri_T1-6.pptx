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mở trang online (cần Internet).</a:t>
            </a:r>
          </a:p>
          <a:p>
            <a:r>
              <a:t>Lớp có HS khuyết tật: 12A2, 12A7 (khiếm thị) – GV đọc to công thức, bảng biến thiên, mô tả đồ thị; 12A3, 12A5, 12A7 (vận động) – HS trả lời tại chỗ, không cần lên bảng.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6' – HĐ1, khung, Chú ý 12' – Ví dụ 1, LT1: 10' – HĐ2, khung dấu đạo hàm 10' – Đúng hay sai? 5' – Tổng kết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HS dự đoán (thử vài giá trị t: s(0)=0, s(1)=7, s(5)=−25...). Chưa chốt – giải ở Vận dụng 1 (Tiết 2) bằng dấu của v(t) = 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HĐ1 (SGK tr.6) – 3'. Click 1. Chốt khung định nghĩa (click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GV giảng giải. Nhấn mạnh: đồ thị đi lên/đi xuống từ trái sang phải; xét trên tập xác định khi không chỉ rõ 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1: GV trình bày (click 1). Luyện tập 1: HS làm 3' (click 2). Nhìn đồ thị từ trái sang phải.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HĐ2 (SGK tr.7) – 4'. Click 1, 2. Chốt khung (click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Click 1–4. Câu 4: lấy x1 = −0,1 và x2 = 2,5 thì x1 &lt; x2 nhưng f(x1) ≈ 1,97 &gt; f(x2) = −1,125 – không đồng biến trên hợp hai khoảng.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Chú ý, Ví dụ 2, LT2: 8' – HĐ3, các bước 8' – Ví dụ 3, Ví dụ 4: 10' – LT3: 8' – Vận dụng 1: 5' – GeoGebra, tổng kết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 ý: GV giảng giải. Ví dụ 2: click 1. LT2: HS làm 2' (click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HĐ3 – 5'. Click 1: đạo hàm; click 2: bảng biến thiên; click 3: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chép 4 bước – dùng xuyên suốt chương.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trình bày theo 4 bước. Click 1–3. Chú ý: x = 1 không thuộc tập xác định – vạch kép trong bảng.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1–3. Việc tìm các khoảng đồng biến, nghịch biến còn được nói gọn là xét chiều biến thiên của hàm số.</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cá nhân 6' (2 HS lên bảng). Click 1–4. Đáp số đã kiểm tra bằng sympy, khớp SGV tr.31.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HS làm cặp. Click 1–3. Chất điểm chuyển động theo chiều dương khi v(t) &gt; 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Lệnh: g=Derivative(f), tt=Tangent(A,f).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3 (45'): Ai nhanh hơn 5' – HĐ4: 8' – khung định nghĩa, Chú ý 10' – Ví dụ 5: 6' – LT4: 8' – Tổng kết 3' (dư 5' cho HS yếu luyện thêm Bài 1.1).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Ôn Tiết 2, dẫn vào cực trị: tại x = ±1 hàm số đổi chiều biến thiên. Click 1–4.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HS hoàn thành hai bảng vào vở (click 1, 2). Dẫn: tại x = −2 đồ thị đạt 'đỉnh', tại x = 0 đạt 'đáy'.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GV chốt khung định nghĩa.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Phân biệt: điểm cực đại của hàm số (x0), giá trị cực đại (f(x0)), điểm cực đại của đồ thị (M0).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5: GV trình bày (click 1). Luyện tập 4: HS làm 3' (click 2). Hình 1.8, 1.9 vẽ lại theo SGK.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4 (45'): HĐ5, khung, câu hỏi 8' – các bước, Ví dụ 6, Chú ý 8' – Ví dụ 7, Ví dụ 8: 9' – LT5: 9' – Vận dụng 2: 5' – GeoGebra, tổng kết 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HĐ5 – 4'. Click 1–3.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Chốt khung + hai bảng biến thiên viết gọn. Câu hỏi: click (sau khung).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HS chép 4 bước.</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trình bày. Click 1–3. Chú ý (SGK): f'(x0) = 0 nhưng f' không đổi dấu thì x0 không là cực trị – vd y = x^3 (H.1.10), click 4.</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1–3. Lưu ý: y_CĐ = −4 &lt; y_CT = 8 – giá trị cực đại có thể nhỏ hơn giá trị cực tiểu.</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cá nhân 7'. Click 1–4. Đáp số khớp SGV tr.33 – 34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HS làm cặp, bấm máy. Click 1–3. SGV tr.35: t = 2,5 giây.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Lệnh: CD=Max(f,-0.5,0.5), CT1=Min(f,-2,-0.5).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5 (45'): 1.1: 6' – 1.2: 8' – 1.3: 10' – 1.4: 10' – 1.5: 8' – giao việc 3'. Gọi HS lên bảng, click hiện đáp án (SGV tr.36 – 38).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Chữa bài: HS trình bày, click hiện đáp án (đối chiếu SGV tr.36 – 40;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Chữa bài: HS trình bày, click hiện đáp án (đối chiếu SGV tr.36 – 40;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1.4a: chú ý tập xác định [−2; 2]. Chữa bài: HS trình bày, click hiện đáp án (đối chiếu SGV tr.36 – 40;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6 (45'): 1.6: 6' – 1.7: 10' – 1.8, 1.9: 7' – Rung chuông vàng 17' – Củng cố online, giao việc 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Đọc dấu của f'(x) từ đồ thị y = f'(x): phần trên trục hoành f' &gt; 0. Chữa bài: HS trình bày, click hiện đáp án (đối chiếu SGV tr.36 – 40;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4 HS lên bảng. Chữa bài: HS trình bày, click hiện đáp án (đối chiếu SGV tr.36 – 40;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1.8: hàm số không có đạo hàm tại 0 nhưng vẫn có cực tiểu. 1.9: SGV tr.40 – khoảng 1,6 năm. Chữa bài: HS trình bày, click hiện đáp án (đối chiếu SGV tr.36 – 40;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HS một bảng con. Mỗi câu 30 giây (Đ/S, trả lời ngắn, thực tế: 60 giây). Sai rời sàn thi; có thể 'cứu trợ' 1 lần. Cấu trúc 8 câu theo đề thi từ 2025: nhiều lựa chọn, Đúng/Sai, trả lời ngắn,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A: khoảng nghịch biến; C: quên xét dấu.</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−1 là điểm cực đại (nhầm điểm với giá trị); 0 là giá trị cực tiểu.</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C: đếm số nghiệm của f' = 0.</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A: dùng sai tập (sai lầm phổ biến).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1–4. Đáp án đã kiểm tra bằng sympy: Đ – Đ – S – Đ.</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trangtu66.github.io/Taode_thi_online/GGB_T12_Bai1_1_DonDieu.html" TargetMode="External"/><Relationship Id="rId4" Type="http://schemas.openxmlformats.org/officeDocument/2006/relationships/image" Target="../media/image12.png"/><Relationship Id="rId5"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4.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3.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hyperlink" Target="https://trangtu66.github.io/Taode_thi_online/GGB_T12_Bai1_2_CucTri.html" TargetMode="External"/><Relationship Id="rId4" Type="http://schemas.openxmlformats.org/officeDocument/2006/relationships/image" Target="../media/image26.png"/><Relationship Id="rId5"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7.png"/><Relationship Id="rId4"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30.png"/><Relationship Id="rId4" Type="http://schemas.openxmlformats.org/officeDocument/2006/relationships/hyperlink" Target="https://trangtu66.github.io/Taode_thi_online/cc_bai1_t12.html"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3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000" b="1">
                <a:solidFill>
                  <a:srgbClr val="FCD34D"/>
                </a:solidFill>
                <a:latin typeface="Cambria"/>
              </a:rPr>
              <a:t>CHƯƠNG I. ỨNG DỤNG ĐẠO HÀM ĐỂ KHẢO SÁT VÀ VẼ ĐỒ THỊ HÀM SỐ</a:t>
            </a:r>
          </a:p>
          <a:p>
            <a:pPr>
              <a:spcAft>
                <a:spcPts val="600"/>
              </a:spcAft>
            </a:pPr>
            <a:r>
              <a:rPr sz="3000" b="1">
                <a:solidFill>
                  <a:srgbClr val="FFFFFF"/>
                </a:solidFill>
                <a:latin typeface="Cambria"/>
              </a:rPr>
              <a:t>BÀI 1</a:t>
            </a:r>
          </a:p>
          <a:p>
            <a:pPr>
              <a:spcAft>
                <a:spcPts val="600"/>
              </a:spcAft>
            </a:pPr>
            <a:r>
              <a:rPr sz="4000" b="1">
                <a:solidFill>
                  <a:srgbClr val="FFFFFF"/>
                </a:solidFill>
                <a:latin typeface="Cambria"/>
              </a:rPr>
              <a:t>TÍNH ĐƠN ĐIỆU VÀ CỰC TRỊ CỦA HÀM SỐ</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6 tiết: T1 – T6</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2</a:t>
            </a:r>
          </a:p>
        </p:txBody>
      </p:sp>
      <p:sp>
        <p:nvSpPr>
          <p:cNvPr id="7" name="Rounded Rectangle 6"/>
          <p:cNvSpPr/>
          <p:nvPr/>
        </p:nvSpPr>
        <p:spPr>
          <a:xfrm>
            <a:off x="548640" y="1417320"/>
            <a:ext cx="11064240" cy="2578608"/>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250545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tr.5)</a:t>
            </a:r>
          </a:p>
          <a:p>
            <a:pPr algn="l" marL="365760" indent="-365760">
              <a:spcAft>
                <a:spcPts val="800"/>
              </a:spcAft>
              <a:buClr>
                <a:srgbClr val="1E40AF"/>
              </a:buClr>
              <a:buFont typeface="Arial"/>
              <a:buChar char="•"/>
            </a:pPr>
            <a:r>
              <a:rPr sz="2200">
                <a:solidFill>
                  <a:srgbClr val="1E293B"/>
                </a:solidFill>
                <a:latin typeface="Calibri"/>
              </a:rPr>
              <a:t>Nhận biết tính đồng biến, nghịch biến của một hàm số trên một khoảng dựa vào dấu đạo hàm cấp một của nó.</a:t>
            </a:r>
          </a:p>
          <a:p>
            <a:pPr algn="l" marL="365760" indent="-365760">
              <a:spcAft>
                <a:spcPts val="800"/>
              </a:spcAft>
              <a:buClr>
                <a:srgbClr val="1E40AF"/>
              </a:buClr>
              <a:buFont typeface="Arial"/>
              <a:buChar char="•"/>
            </a:pPr>
            <a:r>
              <a:rPr sz="2200">
                <a:solidFill>
                  <a:srgbClr val="1E293B"/>
                </a:solidFill>
                <a:latin typeface="Calibri"/>
              </a:rPr>
              <a:t>Thể hiện tính đồng biến, nghịch biến của hàm số trong bảng biến thiên.</a:t>
            </a:r>
          </a:p>
          <a:p>
            <a:pPr algn="l" marL="365760" indent="-365760">
              <a:spcAft>
                <a:spcPts val="800"/>
              </a:spcAft>
              <a:buClr>
                <a:srgbClr val="1E40AF"/>
              </a:buClr>
              <a:buFont typeface="Arial"/>
              <a:buChar char="•"/>
            </a:pPr>
            <a:r>
              <a:rPr sz="2200">
                <a:solidFill>
                  <a:srgbClr val="1E293B"/>
                </a:solidFill>
                <a:latin typeface="Calibri"/>
              </a:rPr>
              <a:t>Nhận biết tính đơn điệu, điểm cực trị, giá trị cực trị của hàm số thông qua bảng biến thiên hoặc đồ thị hàm số.</a:t>
            </a:r>
          </a:p>
        </p:txBody>
      </p:sp>
      <p:sp>
        <p:nvSpPr>
          <p:cNvPr id="9" name="TextBox 8"/>
          <p:cNvSpPr txBox="1"/>
          <p:nvPr/>
        </p:nvSpPr>
        <p:spPr>
          <a:xfrm>
            <a:off x="548640" y="4224528"/>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mô hình hoá (chuyển động, độ cao của vật); giải quyết vấn đề; sử dụng công cụ (GeoGebra).</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trách nhiệm.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3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T1–T2</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1. Tính đơn điệu: khái niệm; dấu đạo hàm; bảng biến thiên; Vận dụng 1</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Đúng hay sai? · GeoGebra</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T3–T4</a:t>
            </a:r>
          </a:p>
        </p:txBody>
      </p:sp>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2. Cực trị: khái niệm; cách tìm cực trị; Vận dụng 2</a:t>
            </a:r>
          </a:p>
        </p:txBody>
      </p:sp>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Ai nhanh hơn · GeoGebra</a:t>
            </a:r>
          </a:p>
        </p:txBody>
      </p:sp>
      <p:sp>
        <p:nvSpPr>
          <p:cNvPr id="15" name="Rounded Rectangle 14"/>
          <p:cNvSpPr/>
          <p:nvPr/>
        </p:nvSpPr>
        <p:spPr>
          <a:xfrm>
            <a:off x="548640" y="347472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54787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T5–T6</a:t>
            </a:r>
          </a:p>
        </p:txBody>
      </p:sp>
      <p:sp>
        <p:nvSpPr>
          <p:cNvPr id="17" name="TextBox 16"/>
          <p:cNvSpPr txBox="1"/>
          <p:nvPr/>
        </p:nvSpPr>
        <p:spPr>
          <a:xfrm>
            <a:off x="1920240" y="356616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Chữa bài tập 1.1 – 1.9</a:t>
            </a:r>
          </a:p>
        </p:txBody>
      </p:sp>
      <p:sp>
        <p:nvSpPr>
          <p:cNvPr id="18" name="TextBox 17"/>
          <p:cNvSpPr txBox="1"/>
          <p:nvPr/>
        </p:nvSpPr>
        <p:spPr>
          <a:xfrm>
            <a:off x="8046720" y="356616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Rung chuông vàng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(T1)</a:t>
            </a:r>
          </a:p>
          <a:p>
            <a:pPr>
              <a:spcAft>
                <a:spcPts val="600"/>
              </a:spcAft>
            </a:pPr>
            <a:r>
              <a:rPr sz="4000" b="1">
                <a:solidFill>
                  <a:srgbClr val="FFFFFF"/>
                </a:solidFill>
                <a:latin typeface="Cambria"/>
              </a:rPr>
              <a:t>Khái niệm tính đơn điệu của hàm số</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Nhận biết hàm số đồng biến, nghịch biến trên một khoảng.</a:t>
            </a:r>
          </a:p>
          <a:p>
            <a:pPr algn="l">
              <a:spcAft>
                <a:spcPts val="800"/>
              </a:spcAft>
            </a:pPr>
            <a:r>
              <a:rPr sz="2200">
                <a:solidFill>
                  <a:srgbClr val="E0E7FF"/>
                </a:solidFill>
                <a:latin typeface="Calibri"/>
              </a:rPr>
              <a:t>• Đọc khoảng đồng biến, nghịch biến từ đồ thị.</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CHẤT ĐIỂM CHUYỂN ĐỘNG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5</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766560" cy="4389120"/>
              </a:xfrm>
              <a:prstGeom prst="rect">
                <a:avLst/>
              </a:prstGeom>
              <a:noFill/>
            </p:spPr>
            <p:txBody>
              <a:bodyPr wrap="square" anchor="t" lIns="45720" rIns="45720">
                <a:spAutoFit/>
              </a:bodyPr>
              <a:lstStyle/>
              <a:p>
                <a:pPr algn="l">
                  <a:spcAft>
                    <a:spcPts val="800"/>
                  </a:spcAft>
                </a:pPr>
                <a:r>
                  <a:rPr sz="2200">
                    <a:solidFill>
                      <a:srgbClr val="1E293B"/>
                    </a:solidFill>
                    <a:latin typeface="Calibri"/>
                  </a:rPr>
                  <a:t>Xét một chất điểm chuyển động trên một trục số nằm ngang, chiều dương từ trái sang phải (H.1.1). Giả sử vị trí </a:t>
                </a:r>
                <a14:m>
                  <m:oMath xmlns:m="http://schemas.openxmlformats.org/officeDocument/2006/math">
                    <m:r>
                      <a:rPr lang="vi-VN" sz="2200" b="0">
                        <a:solidFill>
                          <a:srgbClr val="1E293B"/>
                        </a:solidFill>
                        <a:latin typeface="Cambria Math" panose="02040503050406030204" pitchFamily="18" charset="0"/>
                      </a:rPr>
                      <m:t>s(t)</m:t>
                    </m:r>
                  </m:oMath>
                </a14:m>
                <a:r>
                  <a:rPr sz="2200">
                    <a:solidFill>
                      <a:srgbClr val="1E293B"/>
                    </a:solidFill>
                    <a:latin typeface="Calibri"/>
                  </a:rPr>
                  <a:t> (mét) của chất điểm tại thời điểm </a:t>
                </a:r>
                <a14:m>
                  <m:oMath xmlns:m="http://schemas.openxmlformats.org/officeDocument/2006/math">
                    <m:r>
                      <a:rPr lang="vi-VN" sz="2200" b="0">
                        <a:solidFill>
                          <a:srgbClr val="1E293B"/>
                        </a:solidFill>
                        <a:latin typeface="Cambria Math" panose="02040503050406030204" pitchFamily="18" charset="0"/>
                      </a:rPr>
                      <m:t>t</m:t>
                    </m:r>
                  </m:oMath>
                </a14:m>
                <a:r>
                  <a:rPr sz="2200">
                    <a:solidFill>
                      <a:srgbClr val="1E293B"/>
                    </a:solidFill>
                    <a:latin typeface="Calibri"/>
                  </a:rPr>
                  <a:t> (giây) được cho bởi công thức </a:t>
                </a:r>
                <a14:m>
                  <m:oMath xmlns:m="http://schemas.openxmlformats.org/officeDocument/2006/math">
                    <m:r>
                      <a:rPr lang="vi-VN" sz="2200" b="0">
                        <a:solidFill>
                          <a:srgbClr val="1E293B"/>
                        </a:solidFill>
                        <a:latin typeface="Cambria Math" panose="02040503050406030204" pitchFamily="18" charset="0"/>
                      </a:rPr>
                      <m:t>s(t)=</m:t>
                    </m:r>
                    <m:sSup>
                      <m:e>
                        <m:r>
                          <a:rPr lang="vi-VN" sz="2200" b="0">
                            <a:solidFill>
                              <a:srgbClr val="1E293B"/>
                            </a:solidFill>
                            <a:latin typeface="Cambria Math" panose="02040503050406030204" pitchFamily="18" charset="0"/>
                          </a:rPr>
                          <m:t>t</m:t>
                        </m:r>
                      </m:e>
                      <m:sup>
                        <m:r>
                          <a:rPr lang="vi-VN" sz="2200" b="0">
                            <a:solidFill>
                              <a:srgbClr val="1E293B"/>
                            </a:solidFill>
                            <a:latin typeface="Cambria Math" panose="02040503050406030204" pitchFamily="18" charset="0"/>
                          </a:rPr>
                          <m:t>3</m:t>
                        </m:r>
                      </m:sup>
                    </m:sSup>
                    <m:r>
                      <a:rPr lang="vi-VN" sz="2200" b="0">
                        <a:solidFill>
                          <a:srgbClr val="1E293B"/>
                        </a:solidFill>
                        <a:latin typeface="Cambria Math" panose="02040503050406030204" pitchFamily="18" charset="0"/>
                      </a:rPr>
                      <m:t>−9</m:t>
                    </m:r>
                    <m:sSup>
                      <m:e>
                        <m:r>
                          <a:rPr lang="vi-VN" sz="2200" b="0">
                            <a:solidFill>
                              <a:srgbClr val="1E293B"/>
                            </a:solidFill>
                            <a:latin typeface="Cambria Math" panose="02040503050406030204" pitchFamily="18" charset="0"/>
                          </a:rPr>
                          <m:t>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+15t,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t≥0</m:t>
                    </m:r>
                  </m:oMath>
                </a14:m>
                <a:r>
                  <a:rPr sz="2200">
                    <a:solidFill>
                      <a:srgbClr val="1E293B"/>
                    </a:solidFill>
                    <a:latin typeface="Calibri"/>
                  </a:rPr>
                  <a:t>. </a:t>
                </a:r>
                <a:r>
                  <a:rPr sz="2200" b="1">
                    <a:solidFill>
                      <a:srgbClr val="1E293B"/>
                    </a:solidFill>
                    <a:latin typeface="Calibri"/>
                  </a:rPr>
                  <a:t>Hỏi trong khoảng thời gian nào thì chất điểm chuyển động sang phải, trong khoảng thời gian nào thì chất điểm chuyển động sang trái?</a:t>
                </a:r>
              </a:p>
              <a:p>
                <a:pPr algn="l">
                  <a:spcAft>
                    <a:spcPts val="800"/>
                  </a:spcAft>
                </a:pPr>
                <a:r>
                  <a:rPr sz="2000">
                    <a:solidFill>
                      <a:srgbClr val="64748B"/>
                    </a:solidFill>
                    <a:latin typeface="Calibri"/>
                  </a:rPr>
                  <a:t>(SGK Toán 12 tập một, tr.5)</a:t>
                </a:r>
              </a:p>
            </p:txBody>
          </p:sp>
        </mc:Choice>
        <mc:Fallback>
          <p:sp>
            <p:nvSpPr>
              <p:cNvPr id="7" name="TextBox 6"/>
              <p:cNvSpPr txBox="1"/>
              <p:nvPr/>
            </p:nvSpPr>
            <p:spPr>
              <a:xfrm>
                <a:off x="548640" y="1417320"/>
                <a:ext cx="6766560" cy="4389120"/>
              </a:xfrm>
              <a:prstGeom prst="rect">
                <a:avLst/>
              </a:prstGeom>
              <a:noFill/>
            </p:spPr>
            <p:txBody>
              <a:bodyPr wrap="square" anchor="t" lIns="45720" rIns="45720">
                <a:spAutoFit/>
              </a:bodyPr>
              <a:lstStyle/>
              <a:p>
                <a:pPr algn="l">
                  <a:spcAft>
                    <a:spcPts val="800"/>
                  </a:spcAft>
                </a:pPr>
                <a:r>
                  <a:rPr sz="2200">
                    <a:solidFill>
                      <a:srgbClr val="1E293B"/>
                    </a:solidFill>
                    <a:latin typeface="Calibri"/>
                  </a:rPr>
                  <a:t>Xét một chất điểm chuyển động trên một trục số nằm ngang, chiều dương từ trái sang phải (H.1.1). Giả sử vị trí </a:t>
                </a:r>
                <a:r>
                  <a:rPr lang="vi-VN"/>
                  <a:t>s(t)</a:t>
                </a:r>
                <a:r>
                  <a:rPr sz="2200">
                    <a:solidFill>
                      <a:srgbClr val="1E293B"/>
                    </a:solidFill>
                    <a:latin typeface="Calibri"/>
                  </a:rPr>
                  <a:t> (mét) của chất điểm tại thời điểm </a:t>
                </a:r>
                <a:r>
                  <a:rPr lang="vi-VN"/>
                  <a:t>t</a:t>
                </a:r>
                <a:r>
                  <a:rPr sz="2200">
                    <a:solidFill>
                      <a:srgbClr val="1E293B"/>
                    </a:solidFill>
                    <a:latin typeface="Calibri"/>
                  </a:rPr>
                  <a:t> (giây) được cho bởi công thức </a:t>
                </a:r>
                <a:r>
                  <a:rPr lang="vi-VN"/>
                  <a:t>s(t)=t^3-9t^2+15t,\ t\ge 0</a:t>
                </a:r>
                <a:r>
                  <a:rPr sz="2200">
                    <a:solidFill>
                      <a:srgbClr val="1E293B"/>
                    </a:solidFill>
                    <a:latin typeface="Calibri"/>
                  </a:rPr>
                  <a:t>. </a:t>
                </a:r>
                <a:r>
                  <a:rPr sz="2200" b="1">
                    <a:solidFill>
                      <a:srgbClr val="1E293B"/>
                    </a:solidFill>
                    <a:latin typeface="Calibri"/>
                  </a:rPr>
                  <a:t>Hỏi trong khoảng thời gian nào thì chất điểm chuyển động sang phải, trong khoảng thời gian nào thì chất điểm chuyển động sang trái?</a:t>
                </a:r>
              </a:p>
              <a:p>
                <a:pPr algn="l">
                  <a:spcAft>
                    <a:spcPts val="800"/>
                  </a:spcAft>
                </a:pPr>
                <a:r>
                  <a:rPr sz="2000">
                    <a:solidFill>
                      <a:srgbClr val="64748B"/>
                    </a:solidFill>
                    <a:latin typeface="Calibri"/>
                  </a:rPr>
                  <a:t>(SGK Toán 12 tập một, tr.5)</a:t>
                </a:r>
              </a:p>
            </p:txBody>
          </p:sp>
        </mc:Fallback>
      </mc:AlternateContent>
      <p:pic>
        <p:nvPicPr>
          <p:cNvPr id="8" name="Picture 7" descr="b1_h11.png"/>
          <p:cNvPicPr>
            <a:picLocks noChangeAspect="1"/>
          </p:cNvPicPr>
          <p:nvPr/>
        </p:nvPicPr>
        <p:blipFill>
          <a:blip r:embed="rId3"/>
          <a:stretch>
            <a:fillRect/>
          </a:stretch>
        </p:blipFill>
        <p:spPr>
          <a:xfrm>
            <a:off x="7498079" y="2976880"/>
            <a:ext cx="4206240" cy="995680"/>
          </a:xfrm>
          <a:prstGeom prst="rect">
            <a:avLst/>
          </a:prstGeom>
        </p:spPr>
      </p:pic>
      <p:sp>
        <p:nvSpPr>
          <p:cNvPr id="9" name="TextBox 8"/>
          <p:cNvSpPr txBox="1"/>
          <p:nvPr/>
        </p:nvSpPr>
        <p:spPr>
          <a:xfrm>
            <a:off x="7498079" y="5413248"/>
            <a:ext cx="42062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TÍNH ĐƠN ĐIỆU CỦA HÀM SỐ – HĐ1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HĐ1.</a:t>
                </a:r>
                <a:r>
                  <a:rPr sz="2100">
                    <a:solidFill>
                      <a:srgbClr val="1E293B"/>
                    </a:solidFill>
                    <a:latin typeface="Calibri"/>
                  </a:rPr>
                  <a:t> Quan sát đồ thị của hàm số </a:t>
                </a:r>
                <a14:m>
                  <m:oMath xmlns:m="http://schemas.openxmlformats.org/officeDocument/2006/math">
                    <m:r>
                      <a:rPr lang="vi-VN" sz="2100" b="0">
                        <a:solidFill>
                          <a:srgbClr val="1E293B"/>
                        </a:solidFill>
                        <a:latin typeface="Cambria Math" panose="02040503050406030204" pitchFamily="18" charset="0"/>
                      </a:rPr>
                      <m:t>y=</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oMath>
                </a14:m>
                <a:r>
                  <a:rPr sz="2100">
                    <a:solidFill>
                      <a:srgbClr val="1E293B"/>
                    </a:solidFill>
                    <a:latin typeface="Calibri"/>
                  </a:rPr>
                  <a:t> (H.1.2). a) Hàm số đồng biến trên khoảng nào? b) Hàm số nghịch biến trên khoảng nào?</a:t>
                </a:r>
              </a:p>
            </p:txBody>
          </p:sp>
        </mc:Choice>
        <mc:Fallback>
          <p:sp>
            <p:nvSpPr>
              <p:cNvPr id="7" name="TextBox 6"/>
              <p:cNvSpPr txBox="1"/>
              <p:nvPr/>
            </p:nvSpPr>
            <p:spPr>
              <a:xfrm>
                <a:off x="548640" y="1371600"/>
                <a:ext cx="78638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HĐ1.</a:t>
                </a:r>
                <a:r>
                  <a:rPr sz="2100">
                    <a:solidFill>
                      <a:srgbClr val="1E293B"/>
                    </a:solidFill>
                    <a:latin typeface="Calibri"/>
                  </a:rPr>
                  <a:t> Quan sát đồ thị của hàm số </a:t>
                </a:r>
                <a:r>
                  <a:rPr lang="vi-VN"/>
                  <a:t>y=x^2</a:t>
                </a:r>
                <a:r>
                  <a:rPr sz="2100">
                    <a:solidFill>
                      <a:srgbClr val="1E293B"/>
                    </a:solidFill>
                    <a:latin typeface="Calibri"/>
                  </a:rPr>
                  <a:t> (H.1.2). a) Hàm số đồng biến trên khoảng nào? b) Hàm số nghịch biến trên khoảng nào?</a:t>
                </a:r>
              </a:p>
            </p:txBody>
          </p:sp>
        </mc:Fallback>
      </mc:AlternateContent>
      <p:sp>
        <p:nvSpPr>
          <p:cNvPr id="8" name="s1_nen"/>
          <p:cNvSpPr/>
          <p:nvPr/>
        </p:nvSpPr>
        <p:spPr>
          <a:xfrm>
            <a:off x="548640" y="2596896"/>
            <a:ext cx="78638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33472"/>
                <a:ext cx="75346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Đồng biến trên </a:t>
                </a:r>
                <a14:m>
                  <m:oMath xmlns:m="http://schemas.openxmlformats.org/officeDocument/2006/math">
                    <m:d>
                      <m:dPr>
                        <m:sepChr m:val=""/>
                      </m:dPr>
                      <m:e>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 b) Nghịch biến trên </a:t>
                </a:r>
                <a14:m>
                  <m:oMath xmlns:m="http://schemas.openxmlformats.org/officeDocument/2006/math">
                    <m:d>
                      <m:dPr>
                        <m:sepChr m:val="∞"/>
                      </m:dPr>
                      <m:e>
                        <m:r>
                          <a:rPr lang="vi-VN" sz="2100" b="0">
                            <a:solidFill>
                              <a:srgbClr val="1E293B"/>
                            </a:solidFill>
                            <a:latin typeface="Cambria Math" panose="02040503050406030204" pitchFamily="18" charset="0"/>
                          </a:rPr>
                          <m:t>−</m:t>
                        </m:r>
                      </m:e>
                      <m:e>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m:t>
                        </m:r>
                      </m:e>
                    </m:d>
                  </m:oMath>
                </a14:m>
                <a:r>
                  <a:rPr sz="2100">
                    <a:solidFill>
                      <a:srgbClr val="1E293B"/>
                    </a:solidFill>
                    <a:latin typeface="Calibri"/>
                  </a:rPr>
                  <a:t>.</a:t>
                </a:r>
              </a:p>
            </p:txBody>
          </p:sp>
        </mc:Choice>
        <mc:Fallback>
          <p:sp>
            <p:nvSpPr>
              <p:cNvPr id="9" name="TextBox 8"/>
              <p:cNvSpPr txBox="1"/>
              <p:nvPr/>
            </p:nvSpPr>
            <p:spPr>
              <a:xfrm>
                <a:off x="713232" y="2633472"/>
                <a:ext cx="75346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Đồng biến trên </a:t>
                </a:r>
                <a:r>
                  <a:rPr lang="vi-VN"/>
                  <a:t>(0;\ +\infty)</a:t>
                </a:r>
                <a:r>
                  <a:rPr sz="2100">
                    <a:solidFill>
                      <a:srgbClr val="1E293B"/>
                    </a:solidFill>
                    <a:latin typeface="Calibri"/>
                  </a:rPr>
                  <a:t>. b) Nghịch biến trên </a:t>
                </a:r>
                <a:r>
                  <a:rPr lang="vi-VN"/>
                  <a:t>(-\infty;\ 0)</a:t>
                </a:r>
                <a:r>
                  <a:rPr sz="2100">
                    <a:solidFill>
                      <a:srgbClr val="1E293B"/>
                    </a:solidFill>
                    <a:latin typeface="Calibri"/>
                  </a:rPr>
                  <a:t>.</a:t>
                </a:r>
              </a:p>
            </p:txBody>
          </p:sp>
        </mc:Fallback>
      </mc:AlternateContent>
      <p:sp>
        <p:nvSpPr>
          <p:cNvPr id="10" name="s2_nen"/>
          <p:cNvSpPr/>
          <p:nvPr/>
        </p:nvSpPr>
        <p:spPr>
          <a:xfrm>
            <a:off x="548640" y="3593591"/>
            <a:ext cx="7863840" cy="238658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630168"/>
                <a:ext cx="7534656" cy="231343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Giả sử </a:t>
                </a:r>
                <a14:m>
                  <m:oMath xmlns:m="http://schemas.openxmlformats.org/officeDocument/2006/math">
                    <m:r>
                      <a:rPr lang="vi-VN" sz="2100" b="0">
                        <a:solidFill>
                          <a:srgbClr val="1E293B"/>
                        </a:solidFill>
                        <a:latin typeface="Cambria Math" panose="02040503050406030204" pitchFamily="18" charset="0"/>
                      </a:rPr>
                      <m:t>K</m:t>
                    </m:r>
                  </m:oMath>
                </a14:m>
                <a:r>
                  <a:rPr sz="2100">
                    <a:solidFill>
                      <a:srgbClr val="1E293B"/>
                    </a:solidFill>
                    <a:latin typeface="Calibri"/>
                  </a:rPr>
                  <a:t> là một khoảng, một đoạn hoặc một nửa khoảng và </a:t>
                </a:r>
                <a14:m>
                  <m:oMath xmlns:m="http://schemas.openxmlformats.org/officeDocument/2006/math">
                    <m:r>
                      <a:rPr lang="vi-VN" sz="2100" b="0">
                        <a:solidFill>
                          <a:srgbClr val="1E293B"/>
                        </a:solidFill>
                        <a:latin typeface="Cambria Math" panose="02040503050406030204" pitchFamily="18" charset="0"/>
                      </a:rPr>
                      <m:t>y=f(x)</m:t>
                    </m:r>
                  </m:oMath>
                </a14:m>
                <a:r>
                  <a:rPr sz="2100">
                    <a:solidFill>
                      <a:srgbClr val="1E293B"/>
                    </a:solidFill>
                    <a:latin typeface="Calibri"/>
                  </a:rPr>
                  <a:t> là hàm số xác định trên </a:t>
                </a:r>
                <a14:m>
                  <m:oMath xmlns:m="http://schemas.openxmlformats.org/officeDocument/2006/math">
                    <m:r>
                      <a:rPr lang="vi-VN" sz="2100" b="0">
                        <a:solidFill>
                          <a:srgbClr val="1E293B"/>
                        </a:solidFill>
                        <a:latin typeface="Cambria Math" panose="02040503050406030204" pitchFamily="18" charset="0"/>
                      </a:rPr>
                      <m:t>K</m:t>
                    </m:r>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Hàm số </a:t>
                </a:r>
                <a14:m>
                  <m:oMath xmlns:m="http://schemas.openxmlformats.org/officeDocument/2006/math">
                    <m:r>
                      <a:rPr lang="vi-VN" sz="2100" b="0">
                        <a:solidFill>
                          <a:srgbClr val="1E293B"/>
                        </a:solidFill>
                        <a:latin typeface="Cambria Math" panose="02040503050406030204" pitchFamily="18" charset="0"/>
                      </a:rPr>
                      <m:t>y=f(x)</m:t>
                    </m:r>
                  </m:oMath>
                </a14:m>
                <a:r>
                  <a:rPr sz="2100">
                    <a:solidFill>
                      <a:srgbClr val="1E293B"/>
                    </a:solidFill>
                    <a:latin typeface="Calibri"/>
                  </a:rPr>
                  <a:t> được gọi là </a:t>
                </a:r>
                <a:r>
                  <a:rPr sz="2100" b="1">
                    <a:solidFill>
                      <a:srgbClr val="1E293B"/>
                    </a:solidFill>
                    <a:latin typeface="Calibri"/>
                  </a:rPr>
                  <a:t>đồng biến</a:t>
                </a:r>
                <a:r>
                  <a:rPr sz="2100">
                    <a:solidFill>
                      <a:srgbClr val="1E293B"/>
                    </a:solidFill>
                    <a:latin typeface="Calibri"/>
                  </a:rPr>
                  <a:t> trên </a:t>
                </a:r>
                <a14:m>
                  <m:oMath xmlns:m="http://schemas.openxmlformats.org/officeDocument/2006/math">
                    <m:r>
                      <a:rPr lang="vi-VN" sz="2100" b="0">
                        <a:solidFill>
                          <a:srgbClr val="1E293B"/>
                        </a:solidFill>
                        <a:latin typeface="Cambria Math" panose="02040503050406030204" pitchFamily="18" charset="0"/>
                      </a:rPr>
                      <m:t>K</m:t>
                    </m:r>
                  </m:oMath>
                </a14:m>
                <a:r>
                  <a:rPr sz="2100">
                    <a:solidFill>
                      <a:srgbClr val="1E293B"/>
                    </a:solidFill>
                    <a:latin typeface="Calibri"/>
                  </a:rPr>
                  <a:t> nếu </a:t>
                </a:r>
                <a14:m>
                  <m:oMath xmlns:m="http://schemas.openxmlformats.org/officeDocument/2006/math">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2</m:t>
                        </m:r>
                      </m:sub>
                    </m:sSub>
                    <m:r>
                      <a:rPr lang="vi-VN" sz="2100" b="0">
                        <a:solidFill>
                          <a:srgbClr val="1E293B"/>
                        </a:solidFill>
                        <a:latin typeface="Cambria Math" panose="02040503050406030204" pitchFamily="18" charset="0"/>
                      </a:rPr>
                      <m:t>∈K,</m:t>
                    </m:r>
                    <m:r>
                      <m:rPr>
                        <m:sty m:val="p"/>
                      </m:rPr>
                      <a:rPr lang="vi-VN" sz="2100" b="0">
                        <a:solidFill>
                          <a:srgbClr val="1E293B"/>
                        </a:solidFill>
                        <a:latin typeface="Cambria Math" panose="02040503050406030204" pitchFamily="18" charset="0"/>
                      </a:rPr>
                      <m:t> </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&lt;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2</m:t>
                        </m:r>
                      </m:sub>
                    </m:sSub>
                    <m:r>
                      <a:rPr lang="vi-VN" sz="2100" b="0">
                        <a:solidFill>
                          <a:srgbClr val="1E293B"/>
                        </a:solidFill>
                        <a:latin typeface="Cambria Math" panose="02040503050406030204" pitchFamily="18" charset="0"/>
                      </a:rPr>
                      <m:t>⇒f(</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)&lt;f(</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2</m:t>
                        </m:r>
                      </m:sub>
                    </m:sSub>
                    <m:r>
                      <a:rPr lang="vi-VN" sz="2100" b="0">
                        <a:solidFill>
                          <a:srgbClr val="1E293B"/>
                        </a:solidFill>
                        <a:latin typeface="Cambria Math" panose="02040503050406030204" pitchFamily="18" charset="0"/>
                      </a:rPr>
                      <m:t>)</m:t>
                    </m:r>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Hàm số </a:t>
                </a:r>
                <a14:m>
                  <m:oMath xmlns:m="http://schemas.openxmlformats.org/officeDocument/2006/math">
                    <m:r>
                      <a:rPr lang="vi-VN" sz="2100" b="0">
                        <a:solidFill>
                          <a:srgbClr val="1E293B"/>
                        </a:solidFill>
                        <a:latin typeface="Cambria Math" panose="02040503050406030204" pitchFamily="18" charset="0"/>
                      </a:rPr>
                      <m:t>y=f(x)</m:t>
                    </m:r>
                  </m:oMath>
                </a14:m>
                <a:r>
                  <a:rPr sz="2100">
                    <a:solidFill>
                      <a:srgbClr val="1E293B"/>
                    </a:solidFill>
                    <a:latin typeface="Calibri"/>
                  </a:rPr>
                  <a:t> được gọi là </a:t>
                </a:r>
                <a:r>
                  <a:rPr sz="2100" b="1">
                    <a:solidFill>
                      <a:srgbClr val="1E293B"/>
                    </a:solidFill>
                    <a:latin typeface="Calibri"/>
                  </a:rPr>
                  <a:t>nghịch biến</a:t>
                </a:r>
                <a:r>
                  <a:rPr sz="2100">
                    <a:solidFill>
                      <a:srgbClr val="1E293B"/>
                    </a:solidFill>
                    <a:latin typeface="Calibri"/>
                  </a:rPr>
                  <a:t> trên </a:t>
                </a:r>
                <a14:m>
                  <m:oMath xmlns:m="http://schemas.openxmlformats.org/officeDocument/2006/math">
                    <m:r>
                      <a:rPr lang="vi-VN" sz="2100" b="0">
                        <a:solidFill>
                          <a:srgbClr val="1E293B"/>
                        </a:solidFill>
                        <a:latin typeface="Cambria Math" panose="02040503050406030204" pitchFamily="18" charset="0"/>
                      </a:rPr>
                      <m:t>K</m:t>
                    </m:r>
                  </m:oMath>
                </a14:m>
                <a:r>
                  <a:rPr sz="2100">
                    <a:solidFill>
                      <a:srgbClr val="1E293B"/>
                    </a:solidFill>
                    <a:latin typeface="Calibri"/>
                  </a:rPr>
                  <a:t> nếu </a:t>
                </a:r>
                <a14:m>
                  <m:oMath xmlns:m="http://schemas.openxmlformats.org/officeDocument/2006/math">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2</m:t>
                        </m:r>
                      </m:sub>
                    </m:sSub>
                    <m:r>
                      <a:rPr lang="vi-VN" sz="2100" b="0">
                        <a:solidFill>
                          <a:srgbClr val="1E293B"/>
                        </a:solidFill>
                        <a:latin typeface="Cambria Math" panose="02040503050406030204" pitchFamily="18" charset="0"/>
                      </a:rPr>
                      <m:t>∈K,</m:t>
                    </m:r>
                    <m:r>
                      <m:rPr>
                        <m:sty m:val="p"/>
                      </m:rPr>
                      <a:rPr lang="vi-VN" sz="2100" b="0">
                        <a:solidFill>
                          <a:srgbClr val="1E293B"/>
                        </a:solidFill>
                        <a:latin typeface="Cambria Math" panose="02040503050406030204" pitchFamily="18" charset="0"/>
                      </a:rPr>
                      <m:t> </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&lt;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2</m:t>
                        </m:r>
                      </m:sub>
                    </m:sSub>
                    <m:r>
                      <a:rPr lang="vi-VN" sz="2100" b="0">
                        <a:solidFill>
                          <a:srgbClr val="1E293B"/>
                        </a:solidFill>
                        <a:latin typeface="Cambria Math" panose="02040503050406030204" pitchFamily="18" charset="0"/>
                      </a:rPr>
                      <m:t>⇒f(</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)&gt;f(</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2</m:t>
                        </m:r>
                      </m:sub>
                    </m:sSub>
                    <m:r>
                      <a:rPr lang="vi-VN" sz="2100" b="0">
                        <a:solidFill>
                          <a:srgbClr val="1E293B"/>
                        </a:solidFill>
                        <a:latin typeface="Cambria Math" panose="02040503050406030204" pitchFamily="18" charset="0"/>
                      </a:rPr>
                      <m:t>)</m:t>
                    </m:r>
                  </m:oMath>
                </a14:m>
                <a:r>
                  <a:rPr sz="2100">
                    <a:solidFill>
                      <a:srgbClr val="1E293B"/>
                    </a:solidFill>
                    <a:latin typeface="Calibri"/>
                  </a:rPr>
                  <a:t>.</a:t>
                </a:r>
              </a:p>
            </p:txBody>
          </p:sp>
        </mc:Choice>
        <mc:Fallback>
          <p:sp>
            <p:nvSpPr>
              <p:cNvPr id="11" name="TextBox 10"/>
              <p:cNvSpPr txBox="1"/>
              <p:nvPr/>
            </p:nvSpPr>
            <p:spPr>
              <a:xfrm>
                <a:off x="713232" y="3630168"/>
                <a:ext cx="7534656" cy="231343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Giả sử </a:t>
                </a:r>
                <a:r>
                  <a:rPr lang="vi-VN"/>
                  <a:t>K</a:t>
                </a:r>
                <a:r>
                  <a:rPr sz="2100">
                    <a:solidFill>
                      <a:srgbClr val="1E293B"/>
                    </a:solidFill>
                    <a:latin typeface="Calibri"/>
                  </a:rPr>
                  <a:t> là một khoảng, một đoạn hoặc một nửa khoảng và </a:t>
                </a:r>
                <a:r>
                  <a:rPr lang="vi-VN"/>
                  <a:t>y=f(x)</a:t>
                </a:r>
                <a:r>
                  <a:rPr sz="2100">
                    <a:solidFill>
                      <a:srgbClr val="1E293B"/>
                    </a:solidFill>
                    <a:latin typeface="Calibri"/>
                  </a:rPr>
                  <a:t> là hàm số xác định trên </a:t>
                </a:r>
                <a:r>
                  <a:rPr lang="vi-VN"/>
                  <a:t>K</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Hàm số </a:t>
                </a:r>
                <a:r>
                  <a:rPr lang="vi-VN"/>
                  <a:t>y=f(x)</a:t>
                </a:r>
                <a:r>
                  <a:rPr sz="2100">
                    <a:solidFill>
                      <a:srgbClr val="1E293B"/>
                    </a:solidFill>
                    <a:latin typeface="Calibri"/>
                  </a:rPr>
                  <a:t> được gọi là </a:t>
                </a:r>
                <a:r>
                  <a:rPr sz="2100" b="1">
                    <a:solidFill>
                      <a:srgbClr val="1E293B"/>
                    </a:solidFill>
                    <a:latin typeface="Calibri"/>
                  </a:rPr>
                  <a:t>đồng biến</a:t>
                </a:r>
                <a:r>
                  <a:rPr sz="2100">
                    <a:solidFill>
                      <a:srgbClr val="1E293B"/>
                    </a:solidFill>
                    <a:latin typeface="Calibri"/>
                  </a:rPr>
                  <a:t> trên </a:t>
                </a:r>
                <a:r>
                  <a:rPr lang="vi-VN"/>
                  <a:t>K</a:t>
                </a:r>
                <a:r>
                  <a:rPr sz="2100">
                    <a:solidFill>
                      <a:srgbClr val="1E293B"/>
                    </a:solidFill>
                    <a:latin typeface="Calibri"/>
                  </a:rPr>
                  <a:t> nếu </a:t>
                </a:r>
                <a:r>
                  <a:rPr lang="vi-VN"/>
                  <a:t>\forall x_1,\ x_2\in K,\ x_1&lt;x_2\Rightarrow f(x_1)&lt;f(x_2)</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Hàm số </a:t>
                </a:r>
                <a:r>
                  <a:rPr lang="vi-VN"/>
                  <a:t>y=f(x)</a:t>
                </a:r>
                <a:r>
                  <a:rPr sz="2100">
                    <a:solidFill>
                      <a:srgbClr val="1E293B"/>
                    </a:solidFill>
                    <a:latin typeface="Calibri"/>
                  </a:rPr>
                  <a:t> được gọi là </a:t>
                </a:r>
                <a:r>
                  <a:rPr sz="2100" b="1">
                    <a:solidFill>
                      <a:srgbClr val="1E293B"/>
                    </a:solidFill>
                    <a:latin typeface="Calibri"/>
                  </a:rPr>
                  <a:t>nghịch biến</a:t>
                </a:r>
                <a:r>
                  <a:rPr sz="2100">
                    <a:solidFill>
                      <a:srgbClr val="1E293B"/>
                    </a:solidFill>
                    <a:latin typeface="Calibri"/>
                  </a:rPr>
                  <a:t> trên </a:t>
                </a:r>
                <a:r>
                  <a:rPr lang="vi-VN"/>
                  <a:t>K</a:t>
                </a:r>
                <a:r>
                  <a:rPr sz="2100">
                    <a:solidFill>
                      <a:srgbClr val="1E293B"/>
                    </a:solidFill>
                    <a:latin typeface="Calibri"/>
                  </a:rPr>
                  <a:t> nếu </a:t>
                </a:r>
                <a:r>
                  <a:rPr lang="vi-VN"/>
                  <a:t>\forall x_1,\ x_2\in K,\ x_1&lt;x_2\Rightarrow f(x_1)&gt;f(x_2)</a:t>
                </a:r>
                <a:r>
                  <a:rPr sz="2100">
                    <a:solidFill>
                      <a:srgbClr val="1E293B"/>
                    </a:solidFill>
                    <a:latin typeface="Calibri"/>
                  </a:rPr>
                  <a:t>.</a:t>
                </a:r>
              </a:p>
            </p:txBody>
          </p:sp>
        </mc:Fallback>
      </mc:AlternateContent>
      <p:pic>
        <p:nvPicPr>
          <p:cNvPr id="12" name="Picture 11" descr="b1_h12.png"/>
          <p:cNvPicPr>
            <a:picLocks noChangeAspect="1"/>
          </p:cNvPicPr>
          <p:nvPr/>
        </p:nvPicPr>
        <p:blipFill>
          <a:blip r:embed="rId3"/>
          <a:stretch>
            <a:fillRect/>
          </a:stretch>
        </p:blipFill>
        <p:spPr>
          <a:xfrm>
            <a:off x="8686800" y="1777653"/>
            <a:ext cx="2926080" cy="2662613"/>
          </a:xfrm>
          <a:prstGeom prst="rect">
            <a:avLst/>
          </a:prstGeom>
        </p:spPr>
      </p:pic>
      <p:sp>
        <p:nvSpPr>
          <p:cNvPr id="13" name="TextBox 12"/>
          <p:cNvSpPr txBox="1"/>
          <p:nvPr/>
        </p:nvSpPr>
        <p:spPr>
          <a:xfrm>
            <a:off x="8686800" y="4773168"/>
            <a:ext cx="29260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CHÚ Ý (SGK TR.6)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7</a:t>
            </a:r>
          </a:p>
        </p:txBody>
      </p:sp>
      <p:sp>
        <p:nvSpPr>
          <p:cNvPr id="7" name="Rounded Rectangle 6"/>
          <p:cNvSpPr/>
          <p:nvPr/>
        </p:nvSpPr>
        <p:spPr>
          <a:xfrm>
            <a:off x="548640" y="1371600"/>
            <a:ext cx="11064240" cy="2599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10735056" cy="252679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000">
                    <a:solidFill>
                      <a:srgbClr val="1E293B"/>
                    </a:solidFill>
                    <a:latin typeface="Calibri"/>
                  </a:rPr>
                  <a:t>Nếu hàm số đồng biến trên </a:t>
                </a:r>
                <a14:m>
                  <m:oMath xmlns:m="http://schemas.openxmlformats.org/officeDocument/2006/math">
                    <m:r>
                      <a:rPr lang="vi-VN" sz="2000" b="0">
                        <a:solidFill>
                          <a:srgbClr val="1E293B"/>
                        </a:solidFill>
                        <a:latin typeface="Cambria Math" panose="02040503050406030204" pitchFamily="18" charset="0"/>
                      </a:rPr>
                      <m:t>K</m:t>
                    </m:r>
                  </m:oMath>
                </a14:m>
                <a:r>
                  <a:rPr sz="2000">
                    <a:solidFill>
                      <a:srgbClr val="1E293B"/>
                    </a:solidFill>
                    <a:latin typeface="Calibri"/>
                  </a:rPr>
                  <a:t> thì đồ thị của hàm số đi lên từ trái sang phải (H.1.3a). Nếu hàm số nghịch biến trên </a:t>
                </a:r>
                <a14:m>
                  <m:oMath xmlns:m="http://schemas.openxmlformats.org/officeDocument/2006/math">
                    <m:r>
                      <a:rPr lang="vi-VN" sz="2000" b="0">
                        <a:solidFill>
                          <a:srgbClr val="1E293B"/>
                        </a:solidFill>
                        <a:latin typeface="Cambria Math" panose="02040503050406030204" pitchFamily="18" charset="0"/>
                      </a:rPr>
                      <m:t>K</m:t>
                    </m:r>
                  </m:oMath>
                </a14:m>
                <a:r>
                  <a:rPr sz="2000">
                    <a:solidFill>
                      <a:srgbClr val="1E293B"/>
                    </a:solidFill>
                    <a:latin typeface="Calibri"/>
                  </a:rPr>
                  <a:t> thì đồ thị đi xuống từ trái sang phải (H.1.3b).</a:t>
                </a:r>
              </a:p>
              <a:p>
                <a:pPr algn="l" marL="365760" indent="-365760">
                  <a:spcAft>
                    <a:spcPts val="800"/>
                  </a:spcAft>
                  <a:buClr>
                    <a:srgbClr val="1E40AF"/>
                  </a:buClr>
                  <a:buFont typeface="Arial"/>
                  <a:buChar char="•"/>
                </a:pPr>
                <a:r>
                  <a:rPr sz="2000">
                    <a:solidFill>
                      <a:srgbClr val="1E293B"/>
                    </a:solidFill>
                    <a:latin typeface="Calibri"/>
                  </a:rPr>
                  <a:t>Hàm số đồng biến hay nghịch biến trên </a:t>
                </a:r>
                <a14:m>
                  <m:oMath xmlns:m="http://schemas.openxmlformats.org/officeDocument/2006/math">
                    <m:r>
                      <a:rPr lang="vi-VN" sz="2000" b="0">
                        <a:solidFill>
                          <a:srgbClr val="1E293B"/>
                        </a:solidFill>
                        <a:latin typeface="Cambria Math" panose="02040503050406030204" pitchFamily="18" charset="0"/>
                      </a:rPr>
                      <m:t>K</m:t>
                    </m:r>
                  </m:oMath>
                </a14:m>
                <a:r>
                  <a:rPr sz="2000">
                    <a:solidFill>
                      <a:srgbClr val="1E293B"/>
                    </a:solidFill>
                    <a:latin typeface="Calibri"/>
                  </a:rPr>
                  <a:t> còn được gọi chung là </a:t>
                </a:r>
                <a:r>
                  <a:rPr sz="2000" b="1">
                    <a:solidFill>
                      <a:srgbClr val="1E293B"/>
                    </a:solidFill>
                    <a:latin typeface="Calibri"/>
                  </a:rPr>
                  <a:t>đơn điệu</a:t>
                </a:r>
                <a:r>
                  <a:rPr sz="2000">
                    <a:solidFill>
                      <a:srgbClr val="1E293B"/>
                    </a:solidFill>
                    <a:latin typeface="Calibri"/>
                  </a:rPr>
                  <a:t> trên </a:t>
                </a:r>
                <a14:m>
                  <m:oMath xmlns:m="http://schemas.openxmlformats.org/officeDocument/2006/math">
                    <m:r>
                      <a:rPr lang="vi-VN" sz="2000" b="0">
                        <a:solidFill>
                          <a:srgbClr val="1E293B"/>
                        </a:solidFill>
                        <a:latin typeface="Cambria Math" panose="02040503050406030204" pitchFamily="18" charset="0"/>
                      </a:rPr>
                      <m:t>K</m:t>
                    </m:r>
                  </m:oMath>
                </a14:m>
                <a:r>
                  <a:rPr sz="2000">
                    <a:solidFill>
                      <a:srgbClr val="1E293B"/>
                    </a:solidFill>
                    <a:latin typeface="Calibri"/>
                  </a:rPr>
                  <a:t>. Việc tìm các khoảng đồng biến, nghịch biến của hàm số còn được gọi là tìm các khoảng đơn điệu (hay xét tính đơn điệu) của hàm số.</a:t>
                </a:r>
              </a:p>
              <a:p>
                <a:pPr algn="l" marL="365760" indent="-365760">
                  <a:spcAft>
                    <a:spcPts val="800"/>
                  </a:spcAft>
                  <a:buClr>
                    <a:srgbClr val="1E40AF"/>
                  </a:buClr>
                  <a:buFont typeface="Arial"/>
                  <a:buChar char="•"/>
                </a:pPr>
                <a:r>
                  <a:rPr sz="2000">
                    <a:solidFill>
                      <a:srgbClr val="1E293B"/>
                    </a:solidFill>
                    <a:latin typeface="Calibri"/>
                  </a:rPr>
                  <a:t>Khi xét tính đơn điệu của hàm số mà không chỉ rõ tập </a:t>
                </a:r>
                <a14:m>
                  <m:oMath xmlns:m="http://schemas.openxmlformats.org/officeDocument/2006/math">
                    <m:r>
                      <a:rPr lang="vi-VN" sz="2000" b="0">
                        <a:solidFill>
                          <a:srgbClr val="1E293B"/>
                        </a:solidFill>
                        <a:latin typeface="Cambria Math" panose="02040503050406030204" pitchFamily="18" charset="0"/>
                      </a:rPr>
                      <m:t>K</m:t>
                    </m:r>
                  </m:oMath>
                </a14:m>
                <a:r>
                  <a:rPr sz="2000">
                    <a:solidFill>
                      <a:srgbClr val="1E293B"/>
                    </a:solidFill>
                    <a:latin typeface="Calibri"/>
                  </a:rPr>
                  <a:t> thì ta hiểu là xét trên tập xác định của hàm số đó.</a:t>
                </a:r>
              </a:p>
            </p:txBody>
          </p:sp>
        </mc:Choice>
        <mc:Fallback>
          <p:sp>
            <p:nvSpPr>
              <p:cNvPr id="8" name="TextBox 7"/>
              <p:cNvSpPr txBox="1"/>
              <p:nvPr/>
            </p:nvSpPr>
            <p:spPr>
              <a:xfrm>
                <a:off x="713232" y="1408176"/>
                <a:ext cx="10735056" cy="252679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000">
                    <a:solidFill>
                      <a:srgbClr val="1E293B"/>
                    </a:solidFill>
                    <a:latin typeface="Calibri"/>
                  </a:rPr>
                  <a:t>Nếu hàm số đồng biến trên </a:t>
                </a:r>
                <a:r>
                  <a:rPr lang="vi-VN"/>
                  <a:t>K</a:t>
                </a:r>
                <a:r>
                  <a:rPr sz="2000">
                    <a:solidFill>
                      <a:srgbClr val="1E293B"/>
                    </a:solidFill>
                    <a:latin typeface="Calibri"/>
                  </a:rPr>
                  <a:t> thì đồ thị của hàm số đi lên từ trái sang phải (H.1.3a). Nếu hàm số nghịch biến trên </a:t>
                </a:r>
                <a:r>
                  <a:rPr lang="vi-VN"/>
                  <a:t>K</a:t>
                </a:r>
                <a:r>
                  <a:rPr sz="2000">
                    <a:solidFill>
                      <a:srgbClr val="1E293B"/>
                    </a:solidFill>
                    <a:latin typeface="Calibri"/>
                  </a:rPr>
                  <a:t> thì đồ thị đi xuống từ trái sang phải (H.1.3b).</a:t>
                </a:r>
              </a:p>
              <a:p>
                <a:pPr algn="l" marL="365760" indent="-365760">
                  <a:spcAft>
                    <a:spcPts val="800"/>
                  </a:spcAft>
                  <a:buClr>
                    <a:srgbClr val="1E40AF"/>
                  </a:buClr>
                  <a:buFont typeface="Arial"/>
                  <a:buChar char="•"/>
                </a:pPr>
                <a:r>
                  <a:rPr sz="2000">
                    <a:solidFill>
                      <a:srgbClr val="1E293B"/>
                    </a:solidFill>
                    <a:latin typeface="Calibri"/>
                  </a:rPr>
                  <a:t>Hàm số đồng biến hay nghịch biến trên </a:t>
                </a:r>
                <a:r>
                  <a:rPr lang="vi-VN"/>
                  <a:t>K</a:t>
                </a:r>
                <a:r>
                  <a:rPr sz="2000">
                    <a:solidFill>
                      <a:srgbClr val="1E293B"/>
                    </a:solidFill>
                    <a:latin typeface="Calibri"/>
                  </a:rPr>
                  <a:t> còn được gọi chung là </a:t>
                </a:r>
                <a:r>
                  <a:rPr sz="2000" b="1">
                    <a:solidFill>
                      <a:srgbClr val="1E293B"/>
                    </a:solidFill>
                    <a:latin typeface="Calibri"/>
                  </a:rPr>
                  <a:t>đơn điệu</a:t>
                </a:r>
                <a:r>
                  <a:rPr sz="2000">
                    <a:solidFill>
                      <a:srgbClr val="1E293B"/>
                    </a:solidFill>
                    <a:latin typeface="Calibri"/>
                  </a:rPr>
                  <a:t> trên </a:t>
                </a:r>
                <a:r>
                  <a:rPr lang="vi-VN"/>
                  <a:t>K</a:t>
                </a:r>
                <a:r>
                  <a:rPr sz="2000">
                    <a:solidFill>
                      <a:srgbClr val="1E293B"/>
                    </a:solidFill>
                    <a:latin typeface="Calibri"/>
                  </a:rPr>
                  <a:t>. Việc tìm các khoảng đồng biến, nghịch biến của hàm số còn được gọi là tìm các khoảng đơn điệu (hay xét tính đơn điệu) của hàm số.</a:t>
                </a:r>
              </a:p>
              <a:p>
                <a:pPr algn="l" marL="365760" indent="-365760">
                  <a:spcAft>
                    <a:spcPts val="800"/>
                  </a:spcAft>
                  <a:buClr>
                    <a:srgbClr val="1E40AF"/>
                  </a:buClr>
                  <a:buFont typeface="Arial"/>
                  <a:buChar char="•"/>
                </a:pPr>
                <a:r>
                  <a:rPr sz="2000">
                    <a:solidFill>
                      <a:srgbClr val="1E293B"/>
                    </a:solidFill>
                    <a:latin typeface="Calibri"/>
                  </a:rPr>
                  <a:t>Khi xét tính đơn điệu của hàm số mà không chỉ rõ tập </a:t>
                </a:r>
                <a:r>
                  <a:rPr lang="vi-VN"/>
                  <a:t>K</a:t>
                </a:r>
                <a:r>
                  <a:rPr sz="2000">
                    <a:solidFill>
                      <a:srgbClr val="1E293B"/>
                    </a:solidFill>
                    <a:latin typeface="Calibri"/>
                  </a:rPr>
                  <a:t> thì ta hiểu là xét trên tập xác định của hàm số đó.</a:t>
                </a:r>
              </a:p>
            </p:txBody>
          </p:sp>
        </mc:Fallback>
      </mc:AlternateContent>
      <p:pic>
        <p:nvPicPr>
          <p:cNvPr id="9" name="Picture 8" descr="b1_h13.png"/>
          <p:cNvPicPr>
            <a:picLocks noChangeAspect="1"/>
          </p:cNvPicPr>
          <p:nvPr/>
        </p:nvPicPr>
        <p:blipFill>
          <a:blip r:embed="rId3"/>
          <a:stretch>
            <a:fillRect/>
          </a:stretch>
        </p:blipFill>
        <p:spPr>
          <a:xfrm>
            <a:off x="3711126" y="4023360"/>
            <a:ext cx="4739268" cy="2286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 LUYỆN TẬP 1 (SGK TR.6)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676656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1.</a:t>
                </a:r>
                <a:r>
                  <a:rPr sz="2100">
                    <a:solidFill>
                      <a:srgbClr val="1E293B"/>
                    </a:solidFill>
                    <a:latin typeface="Calibri"/>
                  </a:rPr>
                  <a:t> Hình 1.4 là đồ thị của hàm số </a:t>
                </a:r>
                <a14:m>
                  <m:oMath xmlns:m="http://schemas.openxmlformats.org/officeDocument/2006/math">
                    <m:r>
                      <a:rPr lang="vi-VN" sz="2100" b="0">
                        <a:solidFill>
                          <a:srgbClr val="1E293B"/>
                        </a:solidFill>
                        <a:latin typeface="Cambria Math" panose="02040503050406030204" pitchFamily="18" charset="0"/>
                      </a:rPr>
                      <m:t>y=f(x)=|x|</m:t>
                    </m:r>
                  </m:oMath>
                </a14:m>
                <a:r>
                  <a:rPr sz="2100">
                    <a:solidFill>
                      <a:srgbClr val="1E293B"/>
                    </a:solidFill>
                    <a:latin typeface="Calibri"/>
                  </a:rPr>
                  <a:t>. Hãy tìm các khoảng đồng biến, khoảng nghịch biến của hàm số.</a:t>
                </a:r>
              </a:p>
            </p:txBody>
          </p:sp>
        </mc:Choice>
        <mc:Fallback>
          <p:sp>
            <p:nvSpPr>
              <p:cNvPr id="7" name="TextBox 6"/>
              <p:cNvSpPr txBox="1"/>
              <p:nvPr/>
            </p:nvSpPr>
            <p:spPr>
              <a:xfrm>
                <a:off x="548640" y="1371600"/>
                <a:ext cx="676656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1.</a:t>
                </a:r>
                <a:r>
                  <a:rPr sz="2100">
                    <a:solidFill>
                      <a:srgbClr val="1E293B"/>
                    </a:solidFill>
                    <a:latin typeface="Calibri"/>
                  </a:rPr>
                  <a:t> Hình 1.4 là đồ thị của hàm số </a:t>
                </a:r>
                <a:r>
                  <a:rPr lang="vi-VN"/>
                  <a:t>y=f(x)=|x|</a:t>
                </a:r>
                <a:r>
                  <a:rPr sz="2100">
                    <a:solidFill>
                      <a:srgbClr val="1E293B"/>
                    </a:solidFill>
                    <a:latin typeface="Calibri"/>
                  </a:rPr>
                  <a:t>. Hãy tìm các khoảng đồng biến, khoảng nghịch biến của hàm số.</a:t>
                </a:r>
              </a:p>
            </p:txBody>
          </p:sp>
        </mc:Fallback>
      </mc:AlternateContent>
      <p:sp>
        <p:nvSpPr>
          <p:cNvPr id="8" name="s1_nen"/>
          <p:cNvSpPr/>
          <p:nvPr/>
        </p:nvSpPr>
        <p:spPr>
          <a:xfrm>
            <a:off x="548640" y="2615184"/>
            <a:ext cx="6766560" cy="12252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51760"/>
                <a:ext cx="64373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là </a:t>
                </a:r>
                <a14:m>
                  <m:oMath xmlns:m="http://schemas.openxmlformats.org/officeDocument/2006/math">
                    <m:r>
                      <a:rPr lang="vi-VN" sz="2100" b="0">
                        <a:solidFill>
                          <a:srgbClr val="1E293B"/>
                        </a:solidFill>
                        <a:latin typeface="Cambria Math" panose="02040503050406030204" pitchFamily="18" charset="0"/>
                      </a:rPr>
                      <m:t>ℝ</m:t>
                    </m:r>
                  </m:oMath>
                </a14:m>
                <a:r>
                  <a:rPr sz="2100">
                    <a:solidFill>
                      <a:srgbClr val="1E293B"/>
                    </a:solidFill>
                    <a:latin typeface="Calibri"/>
                  </a:rPr>
                  <a:t>. Từ đồ thị: hàm số đồng biến trên khoảng </a:t>
                </a:r>
                <a14:m>
                  <m:oMath xmlns:m="http://schemas.openxmlformats.org/officeDocument/2006/math">
                    <m:d>
                      <m:dPr>
                        <m:sepChr m:val=""/>
                      </m:dPr>
                      <m:e>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 nghịch biến trên khoảng </a:t>
                </a:r>
                <a14:m>
                  <m:oMath xmlns:m="http://schemas.openxmlformats.org/officeDocument/2006/math">
                    <m:d>
                      <m:dPr>
                        <m:sepChr m:val="∞"/>
                      </m:dPr>
                      <m:e>
                        <m:r>
                          <a:rPr lang="vi-VN" sz="2100" b="0">
                            <a:solidFill>
                              <a:srgbClr val="1E293B"/>
                            </a:solidFill>
                            <a:latin typeface="Cambria Math" panose="02040503050406030204" pitchFamily="18" charset="0"/>
                          </a:rPr>
                          <m:t>−</m:t>
                        </m:r>
                      </m:e>
                      <m:e>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m:t>
                        </m:r>
                      </m:e>
                    </m:d>
                  </m:oMath>
                </a14:m>
                <a:r>
                  <a:rPr sz="2100">
                    <a:solidFill>
                      <a:srgbClr val="1E293B"/>
                    </a:solidFill>
                    <a:latin typeface="Calibri"/>
                  </a:rPr>
                  <a:t>.</a:t>
                </a:r>
              </a:p>
            </p:txBody>
          </p:sp>
        </mc:Choice>
        <mc:Fallback>
          <p:sp>
            <p:nvSpPr>
              <p:cNvPr id="9" name="TextBox 8"/>
              <p:cNvSpPr txBox="1"/>
              <p:nvPr/>
            </p:nvSpPr>
            <p:spPr>
              <a:xfrm>
                <a:off x="713232" y="2651760"/>
                <a:ext cx="64373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là </a:t>
                </a:r>
                <a:r>
                  <a:rPr lang="vi-VN"/>
                  <a:t>\mathbb{R}</a:t>
                </a:r>
                <a:r>
                  <a:rPr sz="2100">
                    <a:solidFill>
                      <a:srgbClr val="1E293B"/>
                    </a:solidFill>
                    <a:latin typeface="Calibri"/>
                  </a:rPr>
                  <a:t>. Từ đồ thị: hàm số đồng biến trên khoảng </a:t>
                </a:r>
                <a:r>
                  <a:rPr lang="vi-VN"/>
                  <a:t>(0;\ +\infty)</a:t>
                </a:r>
                <a:r>
                  <a:rPr sz="2100">
                    <a:solidFill>
                      <a:srgbClr val="1E293B"/>
                    </a:solidFill>
                    <a:latin typeface="Calibri"/>
                  </a:rPr>
                  <a:t>, nghịch biến trên khoảng </a:t>
                </a:r>
                <a:r>
                  <a:rPr lang="vi-VN"/>
                  <a:t>(-\infty;\ 0)</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950208"/>
                <a:ext cx="676656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1.</a:t>
                </a:r>
                <a:r>
                  <a:rPr sz="2100">
                    <a:solidFill>
                      <a:srgbClr val="1E293B"/>
                    </a:solidFill>
                    <a:latin typeface="Calibri"/>
                  </a:rPr>
                  <a:t> Hình 1.5 là đồ thị của hàm số </a:t>
                </a:r>
                <a14:m>
                  <m:oMath xmlns:m="http://schemas.openxmlformats.org/officeDocument/2006/math">
                    <m:r>
                      <a:rPr lang="vi-VN" sz="2100" b="0">
                        <a:solidFill>
                          <a:srgbClr val="1E293B"/>
                        </a:solidFill>
                        <a:latin typeface="Cambria Math" panose="02040503050406030204" pitchFamily="18" charset="0"/>
                      </a:rPr>
                      <m:t>y=</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3</m:t>
                        </m:r>
                      </m:sup>
                    </m:sSup>
                    <m:r>
                      <a:rPr lang="vi-VN" sz="2100" b="0">
                        <a:solidFill>
                          <a:srgbClr val="1E293B"/>
                        </a:solidFill>
                        <a:latin typeface="Cambria Math" panose="02040503050406030204" pitchFamily="18" charset="0"/>
                      </a:rPr>
                      <m:t>−3</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+2</m:t>
                    </m:r>
                  </m:oMath>
                </a14:m>
                <a:r>
                  <a:rPr sz="2100">
                    <a:solidFill>
                      <a:srgbClr val="1E293B"/>
                    </a:solidFill>
                    <a:latin typeface="Calibri"/>
                  </a:rPr>
                  <a:t>. Hãy tìm các khoảng đồng biến, khoảng nghịch biến của hàm số.</a:t>
                </a:r>
              </a:p>
            </p:txBody>
          </p:sp>
        </mc:Choice>
        <mc:Fallback>
          <p:sp>
            <p:nvSpPr>
              <p:cNvPr id="10" name="TextBox 9"/>
              <p:cNvSpPr txBox="1"/>
              <p:nvPr/>
            </p:nvSpPr>
            <p:spPr>
              <a:xfrm>
                <a:off x="548640" y="3950208"/>
                <a:ext cx="676656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1.</a:t>
                </a:r>
                <a:r>
                  <a:rPr sz="2100">
                    <a:solidFill>
                      <a:srgbClr val="1E293B"/>
                    </a:solidFill>
                    <a:latin typeface="Calibri"/>
                  </a:rPr>
                  <a:t> Hình 1.5 là đồ thị của hàm số </a:t>
                </a:r>
                <a:r>
                  <a:rPr lang="vi-VN"/>
                  <a:t>y=x^3-3x^2+2</a:t>
                </a:r>
                <a:r>
                  <a:rPr sz="2100">
                    <a:solidFill>
                      <a:srgbClr val="1E293B"/>
                    </a:solidFill>
                    <a:latin typeface="Calibri"/>
                  </a:rPr>
                  <a:t>. Hãy tìm các khoảng đồng biến, khoảng nghịch biến của hàm số.</a:t>
                </a:r>
              </a:p>
            </p:txBody>
          </p:sp>
        </mc:Fallback>
      </mc:AlternateContent>
      <p:sp>
        <p:nvSpPr>
          <p:cNvPr id="11" name="s3_nen"/>
          <p:cNvSpPr/>
          <p:nvPr/>
        </p:nvSpPr>
        <p:spPr>
          <a:xfrm>
            <a:off x="548640" y="5193792"/>
            <a:ext cx="676656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5230368"/>
                <a:ext cx="64373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Đồng biến trên các khoảng </a:t>
                </a:r>
                <a14:m>
                  <m:oMath xmlns:m="http://schemas.openxmlformats.org/officeDocument/2006/math">
                    <m:d>
                      <m:dPr>
                        <m:sepChr m:val="∞"/>
                      </m:dPr>
                      <m:e>
                        <m:r>
                          <a:rPr lang="vi-VN" sz="2100" b="0">
                            <a:solidFill>
                              <a:srgbClr val="1E293B"/>
                            </a:solidFill>
                            <a:latin typeface="Cambria Math" panose="02040503050406030204" pitchFamily="18" charset="0"/>
                          </a:rPr>
                          <m:t>−</m:t>
                        </m:r>
                      </m:e>
                      <m:e>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 nghịch biến trên khoảng </a:t>
                </a:r>
                <a14:m>
                  <m:oMath xmlns:m="http://schemas.openxmlformats.org/officeDocument/2006/math">
                    <m:d>
                      <m:dPr>
                        <m:sepChr m:val=""/>
                      </m:dPr>
                      <m:e>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2</m:t>
                        </m:r>
                      </m:e>
                    </m:d>
                  </m:oMath>
                </a14:m>
                <a:r>
                  <a:rPr sz="2100">
                    <a:solidFill>
                      <a:srgbClr val="1E293B"/>
                    </a:solidFill>
                    <a:latin typeface="Calibri"/>
                  </a:rPr>
                  <a:t>.</a:t>
                </a:r>
              </a:p>
            </p:txBody>
          </p:sp>
        </mc:Choice>
        <mc:Fallback>
          <p:sp>
            <p:nvSpPr>
              <p:cNvPr id="12" name="TextBox 11"/>
              <p:cNvSpPr txBox="1"/>
              <p:nvPr/>
            </p:nvSpPr>
            <p:spPr>
              <a:xfrm>
                <a:off x="713232" y="5230368"/>
                <a:ext cx="64373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Đồng biến trên các khoảng </a:t>
                </a:r>
                <a:r>
                  <a:rPr lang="vi-VN"/>
                  <a:t>(-\infty;\ 0)</a:t>
                </a:r>
                <a:r>
                  <a:rPr sz="2100">
                    <a:solidFill>
                      <a:srgbClr val="1E293B"/>
                    </a:solidFill>
                    <a:latin typeface="Calibri"/>
                  </a:rPr>
                  <a:t> và </a:t>
                </a:r>
                <a:r>
                  <a:rPr lang="vi-VN"/>
                  <a:t>(2;\ +\infty)</a:t>
                </a:r>
                <a:r>
                  <a:rPr sz="2100">
                    <a:solidFill>
                      <a:srgbClr val="1E293B"/>
                    </a:solidFill>
                    <a:latin typeface="Calibri"/>
                  </a:rPr>
                  <a:t>; nghịch biến trên khoảng </a:t>
                </a:r>
                <a:r>
                  <a:rPr lang="vi-VN"/>
                  <a:t>(0;\ 2)</a:t>
                </a:r>
                <a:r>
                  <a:rPr sz="2100">
                    <a:solidFill>
                      <a:srgbClr val="1E293B"/>
                    </a:solidFill>
                    <a:latin typeface="Calibri"/>
                  </a:rPr>
                  <a:t>.</a:t>
                </a:r>
              </a:p>
            </p:txBody>
          </p:sp>
        </mc:Fallback>
      </mc:AlternateContent>
      <p:pic>
        <p:nvPicPr>
          <p:cNvPr id="13" name="Picture 12" descr="b1_h14.png"/>
          <p:cNvPicPr>
            <a:picLocks noChangeAspect="1"/>
          </p:cNvPicPr>
          <p:nvPr/>
        </p:nvPicPr>
        <p:blipFill>
          <a:blip r:embed="rId3"/>
          <a:stretch>
            <a:fillRect/>
          </a:stretch>
        </p:blipFill>
        <p:spPr>
          <a:xfrm>
            <a:off x="7680960" y="1511629"/>
            <a:ext cx="1920240" cy="1731621"/>
          </a:xfrm>
          <a:prstGeom prst="rect">
            <a:avLst/>
          </a:prstGeom>
        </p:spPr>
      </p:pic>
      <p:sp>
        <p:nvSpPr>
          <p:cNvPr id="14" name="TextBox 13"/>
          <p:cNvSpPr txBox="1"/>
          <p:nvPr/>
        </p:nvSpPr>
        <p:spPr>
          <a:xfrm>
            <a:off x="7680960" y="3401568"/>
            <a:ext cx="19202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1.4</a:t>
            </a:r>
          </a:p>
        </p:txBody>
      </p:sp>
      <p:pic>
        <p:nvPicPr>
          <p:cNvPr id="15" name="Picture 14" descr="b1_h15.png"/>
          <p:cNvPicPr>
            <a:picLocks noChangeAspect="1"/>
          </p:cNvPicPr>
          <p:nvPr/>
        </p:nvPicPr>
        <p:blipFill>
          <a:blip r:embed="rId4"/>
          <a:stretch>
            <a:fillRect/>
          </a:stretch>
        </p:blipFill>
        <p:spPr>
          <a:xfrm>
            <a:off x="9692640" y="1612051"/>
            <a:ext cx="2103120" cy="1896537"/>
          </a:xfrm>
          <a:prstGeom prst="rect">
            <a:avLst/>
          </a:prstGeom>
        </p:spPr>
      </p:pic>
      <p:sp>
        <p:nvSpPr>
          <p:cNvPr id="16" name="TextBox 15"/>
          <p:cNvSpPr txBox="1"/>
          <p:nvPr/>
        </p:nvSpPr>
        <p:spPr>
          <a:xfrm>
            <a:off x="9692640" y="3767327"/>
            <a:ext cx="21031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b) DẤU ĐẠO HÀM VÀ TÍNH ĐƠN ĐIỆU – HĐ2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621536"/>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HĐ2.</a:t>
                </a:r>
                <a:r>
                  <a:rPr sz="1900">
                    <a:solidFill>
                      <a:srgbClr val="1E293B"/>
                    </a:solidFill>
                    <a:latin typeface="Calibri"/>
                  </a:rPr>
                  <a:t> Xét hàm số </a:t>
                </a:r>
                <a14:m>
                  <m:oMath xmlns:m="http://schemas.openxmlformats.org/officeDocument/2006/math">
                    <m:r>
                      <a:rPr lang="vi-VN" sz="1900" b="0">
                        <a:solidFill>
                          <a:srgbClr val="1E293B"/>
                        </a:solidFill>
                        <a:latin typeface="Cambria Math" panose="02040503050406030204" pitchFamily="18" charset="0"/>
                      </a:rPr>
                      <m:t>y=−x</m:t>
                    </m:r>
                  </m:oMath>
                </a14:m>
                <a:r>
                  <a:rPr sz="1900">
                    <a:solidFill>
                      <a:srgbClr val="1E293B"/>
                    </a:solidFill>
                    <a:latin typeface="Calibri"/>
                  </a:rPr>
                  <a:t> nếu </a:t>
                </a:r>
                <a14:m>
                  <m:oMath xmlns:m="http://schemas.openxmlformats.org/officeDocument/2006/math">
                    <m:r>
                      <a:rPr lang="vi-VN" sz="1900" b="0">
                        <a:solidFill>
                          <a:srgbClr val="1E293B"/>
                        </a:solidFill>
                        <a:latin typeface="Cambria Math" panose="02040503050406030204" pitchFamily="18" charset="0"/>
                      </a:rPr>
                      <m:t>x&lt;−1</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y=1</m:t>
                    </m:r>
                  </m:oMath>
                </a14:m>
                <a:r>
                  <a:rPr sz="1900">
                    <a:solidFill>
                      <a:srgbClr val="1E293B"/>
                    </a:solidFill>
                    <a:latin typeface="Calibri"/>
                  </a:rPr>
                  <a:t> nếu </a:t>
                </a:r>
                <a14:m>
                  <m:oMath xmlns:m="http://schemas.openxmlformats.org/officeDocument/2006/math">
                    <m:r>
                      <a:rPr lang="vi-VN" sz="1900" b="0">
                        <a:solidFill>
                          <a:srgbClr val="1E293B"/>
                        </a:solidFill>
                        <a:latin typeface="Cambria Math" panose="02040503050406030204" pitchFamily="18" charset="0"/>
                      </a:rPr>
                      <m:t>−1≤x≤1</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y=x</m:t>
                    </m:r>
                  </m:oMath>
                </a14:m>
                <a:r>
                  <a:rPr sz="1900">
                    <a:solidFill>
                      <a:srgbClr val="1E293B"/>
                    </a:solidFill>
                    <a:latin typeface="Calibri"/>
                  </a:rPr>
                  <a:t> nếu </a:t>
                </a:r>
                <a14:m>
                  <m:oMath xmlns:m="http://schemas.openxmlformats.org/officeDocument/2006/math">
                    <m:r>
                      <a:rPr lang="vi-VN" sz="1900" b="0">
                        <a:solidFill>
                          <a:srgbClr val="1E293B"/>
                        </a:solidFill>
                        <a:latin typeface="Cambria Math" panose="02040503050406030204" pitchFamily="18" charset="0"/>
                      </a:rPr>
                      <m:t>x&gt;1</m:t>
                    </m:r>
                  </m:oMath>
                </a14:m>
                <a:r>
                  <a:rPr sz="1900">
                    <a:solidFill>
                      <a:srgbClr val="1E293B"/>
                    </a:solidFill>
                    <a:latin typeface="Calibri"/>
                  </a:rPr>
                  <a:t> (H.1.6). a) Xét dấu đạo hàm trên các khoảng </a:t>
                </a:r>
                <a14:m>
                  <m:oMath xmlns:m="http://schemas.openxmlformats.org/officeDocument/2006/math">
                    <m:d>
                      <m:dPr>
                        <m:sepChr m:val="∞"/>
                      </m:dPr>
                      <m:e>
                        <m:r>
                          <a:rPr lang="vi-VN" sz="1900" b="0">
                            <a:solidFill>
                              <a:srgbClr val="1E293B"/>
                            </a:solidFill>
                            <a:latin typeface="Cambria Math" panose="02040503050406030204" pitchFamily="18" charset="0"/>
                          </a:rPr>
                          <m:t>−</m:t>
                        </m:r>
                      </m:e>
                      <m:e>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m:t>
                        </m:r>
                      </m:e>
                    </m:d>
                  </m:oMath>
                </a14:m>
                <a:r>
                  <a:rPr sz="1900">
                    <a:solidFill>
                      <a:srgbClr val="1E293B"/>
                    </a:solidFill>
                    <a:latin typeface="Calibri"/>
                  </a:rPr>
                  <a:t>, </a:t>
                </a:r>
                <a14:m>
                  <m:oMath xmlns:m="http://schemas.openxmlformats.org/officeDocument/2006/math">
                    <m:d>
                      <m:dPr>
                        <m:sepChr m:val=""/>
                      </m:dPr>
                      <m:e>
                        <m:r>
                          <a:rPr lang="vi-VN" sz="1900" b="0">
                            <a:solidFill>
                              <a:srgbClr val="1E293B"/>
                            </a:solidFill>
                            <a:latin typeface="Cambria Math" panose="02040503050406030204" pitchFamily="18" charset="0"/>
                          </a:rPr>
                          <m:t>1</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e>
                    </m:d>
                  </m:oMath>
                </a14:m>
                <a:r>
                  <a:rPr sz="1900">
                    <a:solidFill>
                      <a:srgbClr val="1E293B"/>
                    </a:solidFill>
                    <a:latin typeface="Calibri"/>
                  </a:rPr>
                  <a:t>. Nêu nhận xét về mối quan hệ giữa tính đồng biến, nghịch biến và dấu đạo hàm. b) Có nhận xét gì về </a:t>
                </a:r>
                <a14:m>
                  <m:oMath xmlns:m="http://schemas.openxmlformats.org/officeDocument/2006/math">
                    <m:sSup>
                      <m:e>
                        <m:r>
                          <a:rPr lang="vi-VN" sz="1900" b="0">
                            <a:solidFill>
                              <a:srgbClr val="1E293B"/>
                            </a:solidFill>
                            <a:latin typeface="Cambria Math" panose="02040503050406030204" pitchFamily="18" charset="0"/>
                          </a:rPr>
                          <m:t>y</m:t>
                        </m:r>
                      </m:e>
                      <m:sup>
                        <m:r>
                          <a:rPr lang="vi-VN" sz="1900" b="0">
                            <a:solidFill>
                              <a:srgbClr val="1E293B"/>
                            </a:solidFill>
                            <a:latin typeface="Cambria Math" panose="02040503050406030204" pitchFamily="18" charset="0"/>
                          </a:rPr>
                          <m:t>′</m:t>
                        </m:r>
                      </m:sup>
                    </m:sSup>
                  </m:oMath>
                </a14:m>
                <a:r>
                  <a:rPr sz="1900">
                    <a:solidFill>
                      <a:srgbClr val="1E293B"/>
                    </a:solidFill>
                    <a:latin typeface="Calibri"/>
                  </a:rPr>
                  <a:t> và </a:t>
                </a:r>
                <a14:m>
                  <m:oMath xmlns:m="http://schemas.openxmlformats.org/officeDocument/2006/math">
                    <m:r>
                      <a:rPr lang="vi-VN" sz="1900" b="0">
                        <a:solidFill>
                          <a:srgbClr val="1E293B"/>
                        </a:solidFill>
                        <a:latin typeface="Cambria Math" panose="02040503050406030204" pitchFamily="18" charset="0"/>
                      </a:rPr>
                      <m:t>y</m:t>
                    </m:r>
                  </m:oMath>
                </a14:m>
                <a:r>
                  <a:rPr sz="1900">
                    <a:solidFill>
                      <a:srgbClr val="1E293B"/>
                    </a:solidFill>
                    <a:latin typeface="Calibri"/>
                  </a:rPr>
                  <a:t> trên khoảng </a:t>
                </a:r>
                <a14:m>
                  <m:oMath xmlns:m="http://schemas.openxmlformats.org/officeDocument/2006/math">
                    <m:d>
                      <m:dPr>
                        <m:sepChr m:val=""/>
                      </m:dPr>
                      <m:e>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m:t>
                        </m:r>
                      </m:e>
                    </m:d>
                  </m:oMath>
                </a14:m>
                <a:r>
                  <a:rPr sz="1900">
                    <a:solidFill>
                      <a:srgbClr val="1E293B"/>
                    </a:solidFill>
                    <a:latin typeface="Calibri"/>
                  </a:rPr>
                  <a:t>?</a:t>
                </a:r>
              </a:p>
            </p:txBody>
          </p:sp>
        </mc:Choice>
        <mc:Fallback>
          <p:sp>
            <p:nvSpPr>
              <p:cNvPr id="7" name="TextBox 6"/>
              <p:cNvSpPr txBox="1"/>
              <p:nvPr/>
            </p:nvSpPr>
            <p:spPr>
              <a:xfrm>
                <a:off x="548640" y="1371600"/>
                <a:ext cx="7863840" cy="1621536"/>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HĐ2.</a:t>
                </a:r>
                <a:r>
                  <a:rPr sz="1900">
                    <a:solidFill>
                      <a:srgbClr val="1E293B"/>
                    </a:solidFill>
                    <a:latin typeface="Calibri"/>
                  </a:rPr>
                  <a:t> Xét hàm số </a:t>
                </a:r>
                <a:r>
                  <a:rPr lang="vi-VN"/>
                  <a:t>y=-x</a:t>
                </a:r>
                <a:r>
                  <a:rPr sz="1900">
                    <a:solidFill>
                      <a:srgbClr val="1E293B"/>
                    </a:solidFill>
                    <a:latin typeface="Calibri"/>
                  </a:rPr>
                  <a:t> nếu </a:t>
                </a:r>
                <a:r>
                  <a:rPr lang="vi-VN"/>
                  <a:t>x&lt;-1</a:t>
                </a:r>
                <a:r>
                  <a:rPr sz="1900">
                    <a:solidFill>
                      <a:srgbClr val="1E293B"/>
                    </a:solidFill>
                    <a:latin typeface="Calibri"/>
                  </a:rPr>
                  <a:t>; </a:t>
                </a:r>
                <a:r>
                  <a:rPr lang="vi-VN"/>
                  <a:t>y=1</a:t>
                </a:r>
                <a:r>
                  <a:rPr sz="1900">
                    <a:solidFill>
                      <a:srgbClr val="1E293B"/>
                    </a:solidFill>
                    <a:latin typeface="Calibri"/>
                  </a:rPr>
                  <a:t> nếu </a:t>
                </a:r>
                <a:r>
                  <a:rPr lang="vi-VN"/>
                  <a:t>-1\le x\le 1</a:t>
                </a:r>
                <a:r>
                  <a:rPr sz="1900">
                    <a:solidFill>
                      <a:srgbClr val="1E293B"/>
                    </a:solidFill>
                    <a:latin typeface="Calibri"/>
                  </a:rPr>
                  <a:t>; </a:t>
                </a:r>
                <a:r>
                  <a:rPr lang="vi-VN"/>
                  <a:t>y=x</a:t>
                </a:r>
                <a:r>
                  <a:rPr sz="1900">
                    <a:solidFill>
                      <a:srgbClr val="1E293B"/>
                    </a:solidFill>
                    <a:latin typeface="Calibri"/>
                  </a:rPr>
                  <a:t> nếu </a:t>
                </a:r>
                <a:r>
                  <a:rPr lang="vi-VN"/>
                  <a:t>x&gt;1</a:t>
                </a:r>
                <a:r>
                  <a:rPr sz="1900">
                    <a:solidFill>
                      <a:srgbClr val="1E293B"/>
                    </a:solidFill>
                    <a:latin typeface="Calibri"/>
                  </a:rPr>
                  <a:t> (H.1.6). a) Xét dấu đạo hàm trên các khoảng </a:t>
                </a:r>
                <a:r>
                  <a:rPr lang="vi-VN"/>
                  <a:t>(-\infty;\ -1)</a:t>
                </a:r>
                <a:r>
                  <a:rPr sz="1900">
                    <a:solidFill>
                      <a:srgbClr val="1E293B"/>
                    </a:solidFill>
                    <a:latin typeface="Calibri"/>
                  </a:rPr>
                  <a:t>, </a:t>
                </a:r>
                <a:r>
                  <a:rPr lang="vi-VN"/>
                  <a:t>(1;\ +\infty)</a:t>
                </a:r>
                <a:r>
                  <a:rPr sz="1900">
                    <a:solidFill>
                      <a:srgbClr val="1E293B"/>
                    </a:solidFill>
                    <a:latin typeface="Calibri"/>
                  </a:rPr>
                  <a:t>. Nêu nhận xét về mối quan hệ giữa tính đồng biến, nghịch biến và dấu đạo hàm. b) Có nhận xét gì về </a:t>
                </a:r>
                <a:r>
                  <a:rPr lang="vi-VN"/>
                  <a:t>y'</a:t>
                </a:r>
                <a:r>
                  <a:rPr sz="1900">
                    <a:solidFill>
                      <a:srgbClr val="1E293B"/>
                    </a:solidFill>
                    <a:latin typeface="Calibri"/>
                  </a:rPr>
                  <a:t> và </a:t>
                </a:r>
                <a:r>
                  <a:rPr lang="vi-VN"/>
                  <a:t>y</a:t>
                </a:r>
                <a:r>
                  <a:rPr sz="1900">
                    <a:solidFill>
                      <a:srgbClr val="1E293B"/>
                    </a:solidFill>
                    <a:latin typeface="Calibri"/>
                  </a:rPr>
                  <a:t> trên khoảng </a:t>
                </a:r>
                <a:r>
                  <a:rPr lang="vi-VN"/>
                  <a:t>(-1;\ 1)</a:t>
                </a:r>
                <a:r>
                  <a:rPr sz="1900">
                    <a:solidFill>
                      <a:srgbClr val="1E293B"/>
                    </a:solidFill>
                    <a:latin typeface="Calibri"/>
                  </a:rPr>
                  <a:t>?</a:t>
                </a:r>
              </a:p>
            </p:txBody>
          </p:sp>
        </mc:Fallback>
      </mc:AlternateContent>
      <p:sp>
        <p:nvSpPr>
          <p:cNvPr id="8" name="s1_nen"/>
          <p:cNvSpPr/>
          <p:nvPr/>
        </p:nvSpPr>
        <p:spPr>
          <a:xfrm>
            <a:off x="548640" y="3048000"/>
            <a:ext cx="7863840" cy="11338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84576"/>
                <a:ext cx="7534656" cy="1060704"/>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Trên </a:t>
                </a:r>
                <a14:m>
                  <m:oMath xmlns:m="http://schemas.openxmlformats.org/officeDocument/2006/math">
                    <m:d>
                      <m:dPr>
                        <m:sepChr m:val="∞"/>
                      </m:dPr>
                      <m:e>
                        <m:r>
                          <a:rPr lang="vi-VN" sz="1900" b="0">
                            <a:solidFill>
                              <a:srgbClr val="1E293B"/>
                            </a:solidFill>
                            <a:latin typeface="Cambria Math" panose="02040503050406030204" pitchFamily="18" charset="0"/>
                          </a:rPr>
                          <m:t>−</m:t>
                        </m:r>
                      </m:e>
                      <m:e>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m:t>
                        </m:r>
                      </m:e>
                    </m:d>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y</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=−1&lt;0</m:t>
                    </m:r>
                  </m:oMath>
                </a14:m>
                <a:r>
                  <a:rPr sz="1900">
                    <a:solidFill>
                      <a:srgbClr val="1E293B"/>
                    </a:solidFill>
                    <a:latin typeface="Calibri"/>
                  </a:rPr>
                  <a:t>, hàm số nghịch biến; trên </a:t>
                </a:r>
                <a14:m>
                  <m:oMath xmlns:m="http://schemas.openxmlformats.org/officeDocument/2006/math">
                    <m:d>
                      <m:dPr>
                        <m:sepChr m:val=""/>
                      </m:dPr>
                      <m:e>
                        <m:r>
                          <a:rPr lang="vi-VN" sz="1900" b="0">
                            <a:solidFill>
                              <a:srgbClr val="1E293B"/>
                            </a:solidFill>
                            <a:latin typeface="Cambria Math" panose="02040503050406030204" pitchFamily="18" charset="0"/>
                          </a:rPr>
                          <m:t>1</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e>
                    </m:d>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y</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=1&gt;0</m:t>
                    </m:r>
                  </m:oMath>
                </a14:m>
                <a:r>
                  <a:rPr sz="1900">
                    <a:solidFill>
                      <a:srgbClr val="1E293B"/>
                    </a:solidFill>
                    <a:latin typeface="Calibri"/>
                  </a:rPr>
                  <a:t>, hàm số đồng biến. b) Trên </a:t>
                </a:r>
                <a14:m>
                  <m:oMath xmlns:m="http://schemas.openxmlformats.org/officeDocument/2006/math">
                    <m:d>
                      <m:dPr>
                        <m:sepChr m:val=""/>
                      </m:dPr>
                      <m:e>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m:t>
                        </m:r>
                      </m:e>
                    </m:d>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y</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=0</m:t>
                    </m:r>
                  </m:oMath>
                </a14:m>
                <a:r>
                  <a:rPr sz="1900">
                    <a:solidFill>
                      <a:srgbClr val="1E293B"/>
                    </a:solidFill>
                    <a:latin typeface="Calibri"/>
                  </a:rPr>
                  <a:t>, hàm số không đổi (</a:t>
                </a:r>
                <a14:m>
                  <m:oMath xmlns:m="http://schemas.openxmlformats.org/officeDocument/2006/math">
                    <m:r>
                      <a:rPr lang="vi-VN" sz="1900" b="0">
                        <a:solidFill>
                          <a:srgbClr val="1E293B"/>
                        </a:solidFill>
                        <a:latin typeface="Cambria Math" panose="02040503050406030204" pitchFamily="18" charset="0"/>
                      </a:rPr>
                      <m:t>y=1</m:t>
                    </m:r>
                  </m:oMath>
                </a14:m>
                <a:r>
                  <a:rPr sz="1900">
                    <a:solidFill>
                      <a:srgbClr val="1E293B"/>
                    </a:solidFill>
                    <a:latin typeface="Calibri"/>
                  </a:rPr>
                  <a:t>).</a:t>
                </a:r>
              </a:p>
            </p:txBody>
          </p:sp>
        </mc:Choice>
        <mc:Fallback>
          <p:sp>
            <p:nvSpPr>
              <p:cNvPr id="9" name="TextBox 8"/>
              <p:cNvSpPr txBox="1"/>
              <p:nvPr/>
            </p:nvSpPr>
            <p:spPr>
              <a:xfrm>
                <a:off x="713232" y="3084576"/>
                <a:ext cx="7534656" cy="1060704"/>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Trên </a:t>
                </a:r>
                <a:r>
                  <a:rPr lang="vi-VN"/>
                  <a:t>(-\infty;\ -1)</a:t>
                </a:r>
                <a:r>
                  <a:rPr sz="1900">
                    <a:solidFill>
                      <a:srgbClr val="1E293B"/>
                    </a:solidFill>
                    <a:latin typeface="Calibri"/>
                  </a:rPr>
                  <a:t>: </a:t>
                </a:r>
                <a:r>
                  <a:rPr lang="vi-VN"/>
                  <a:t>y'=-1&lt;0</a:t>
                </a:r>
                <a:r>
                  <a:rPr sz="1900">
                    <a:solidFill>
                      <a:srgbClr val="1E293B"/>
                    </a:solidFill>
                    <a:latin typeface="Calibri"/>
                  </a:rPr>
                  <a:t>, hàm số nghịch biến; trên </a:t>
                </a:r>
                <a:r>
                  <a:rPr lang="vi-VN"/>
                  <a:t>(1;\ +\infty)</a:t>
                </a:r>
                <a:r>
                  <a:rPr sz="1900">
                    <a:solidFill>
                      <a:srgbClr val="1E293B"/>
                    </a:solidFill>
                    <a:latin typeface="Calibri"/>
                  </a:rPr>
                  <a:t>: </a:t>
                </a:r>
                <a:r>
                  <a:rPr lang="vi-VN"/>
                  <a:t>y'=1&gt;0</a:t>
                </a:r>
                <a:r>
                  <a:rPr sz="1900">
                    <a:solidFill>
                      <a:srgbClr val="1E293B"/>
                    </a:solidFill>
                    <a:latin typeface="Calibri"/>
                  </a:rPr>
                  <a:t>, hàm số đồng biến. b) Trên </a:t>
                </a:r>
                <a:r>
                  <a:rPr lang="vi-VN"/>
                  <a:t>(-1;\ 1)</a:t>
                </a:r>
                <a:r>
                  <a:rPr sz="1900">
                    <a:solidFill>
                      <a:srgbClr val="1E293B"/>
                    </a:solidFill>
                    <a:latin typeface="Calibri"/>
                  </a:rPr>
                  <a:t>: </a:t>
                </a:r>
                <a:r>
                  <a:rPr lang="vi-VN"/>
                  <a:t>y'=0</a:t>
                </a:r>
                <a:r>
                  <a:rPr sz="1900">
                    <a:solidFill>
                      <a:srgbClr val="1E293B"/>
                    </a:solidFill>
                    <a:latin typeface="Calibri"/>
                  </a:rPr>
                  <a:t>, hàm số không đổi (</a:t>
                </a:r>
                <a:r>
                  <a:rPr lang="vi-VN"/>
                  <a:t>y=1</a:t>
                </a:r>
                <a:r>
                  <a:rPr sz="1900">
                    <a:solidFill>
                      <a:srgbClr val="1E293B"/>
                    </a:solidFill>
                    <a:latin typeface="Calibri"/>
                  </a:rPr>
                  <a:t>).</a:t>
                </a:r>
              </a:p>
            </p:txBody>
          </p:sp>
        </mc:Fallback>
      </mc:AlternateContent>
      <p:sp>
        <p:nvSpPr>
          <p:cNvPr id="10" name="s2_nen"/>
          <p:cNvSpPr/>
          <p:nvPr/>
        </p:nvSpPr>
        <p:spPr>
          <a:xfrm>
            <a:off x="548640" y="4236720"/>
            <a:ext cx="7863840" cy="191414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273296"/>
                <a:ext cx="7534656" cy="1840991"/>
              </a:xfrm>
              <a:prstGeom prst="rect">
                <a:avLst/>
              </a:prstGeom>
              <a:noFill/>
            </p:spPr>
            <p:txBody>
              <a:bodyPr wrap="square" anchor="ctr" lIns="45720" rIns="45720">
                <a:spAutoFit/>
              </a:bodyPr>
              <a:lstStyle/>
              <a:p>
                <a:pPr algn="l">
                  <a:spcAft>
                    <a:spcPts val="800"/>
                  </a:spcAft>
                </a:pPr>
                <a:r>
                  <a:rPr sz="1900">
                    <a:solidFill>
                      <a:srgbClr val="1E293B"/>
                    </a:solidFill>
                    <a:latin typeface="Calibri"/>
                  </a:rPr>
                  <a:t>Cho hàm số </a:t>
                </a:r>
                <a14:m>
                  <m:oMath xmlns:m="http://schemas.openxmlformats.org/officeDocument/2006/math">
                    <m:r>
                      <a:rPr lang="vi-VN" sz="1900" b="0">
                        <a:solidFill>
                          <a:srgbClr val="1E293B"/>
                        </a:solidFill>
                        <a:latin typeface="Cambria Math" panose="02040503050406030204" pitchFamily="18" charset="0"/>
                      </a:rPr>
                      <m:t>y=f(x)</m:t>
                    </m:r>
                  </m:oMath>
                </a14:m>
                <a:r>
                  <a:rPr sz="1900">
                    <a:solidFill>
                      <a:srgbClr val="1E293B"/>
                    </a:solidFill>
                    <a:latin typeface="Calibri"/>
                  </a:rPr>
                  <a:t> có đạo hàm trên khoảng </a:t>
                </a:r>
                <a14:m>
                  <m:oMath xmlns:m="http://schemas.openxmlformats.org/officeDocument/2006/math">
                    <m:r>
                      <a:rPr lang="vi-VN" sz="1900" b="0">
                        <a:solidFill>
                          <a:srgbClr val="1E293B"/>
                        </a:solidFill>
                        <a:latin typeface="Cambria Math" panose="02040503050406030204" pitchFamily="18" charset="0"/>
                      </a:rPr>
                      <m:t>K</m:t>
                    </m:r>
                  </m:oMath>
                </a14:m>
                <a:r>
                  <a:rPr sz="1900">
                    <a:solidFill>
                      <a:srgbClr val="1E293B"/>
                    </a:solidFill>
                    <a:latin typeface="Calibri"/>
                  </a:rPr>
                  <a:t>.</a:t>
                </a:r>
              </a:p>
              <a:p>
                <a:pPr algn="l">
                  <a:spcAft>
                    <a:spcPts val="800"/>
                  </a:spcAft>
                </a:pPr>
                <a:r>
                  <a:rPr sz="1900">
                    <a:solidFill>
                      <a:srgbClr val="1E293B"/>
                    </a:solidFill>
                    <a:latin typeface="Calibri"/>
                  </a:rPr>
                  <a:t>a) Nếu </a:t>
                </a:r>
                <a14:m>
                  <m:oMath xmlns:m="http://schemas.openxmlformats.org/officeDocument/2006/math">
                    <m:sSup>
                      <m:e>
                        <m:r>
                          <a:rPr lang="vi-VN" sz="1900" b="0">
                            <a:solidFill>
                              <a:srgbClr val="1E293B"/>
                            </a:solidFill>
                            <a:latin typeface="Cambria Math" panose="02040503050406030204" pitchFamily="18" charset="0"/>
                          </a:rPr>
                          <m:t>f</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(x)&gt;0</m:t>
                    </m:r>
                  </m:oMath>
                </a14:m>
                <a:r>
                  <a:rPr sz="1900">
                    <a:solidFill>
                      <a:srgbClr val="1E293B"/>
                    </a:solidFill>
                    <a:latin typeface="Calibri"/>
                  </a:rPr>
                  <a:t> với mọi </a:t>
                </a:r>
                <a14:m>
                  <m:oMath xmlns:m="http://schemas.openxmlformats.org/officeDocument/2006/math">
                    <m:r>
                      <a:rPr lang="vi-VN" sz="1900" b="0">
                        <a:solidFill>
                          <a:srgbClr val="1E293B"/>
                        </a:solidFill>
                        <a:latin typeface="Cambria Math" panose="02040503050406030204" pitchFamily="18" charset="0"/>
                      </a:rPr>
                      <m:t>x∈K</m:t>
                    </m:r>
                  </m:oMath>
                </a14:m>
                <a:r>
                  <a:rPr sz="1900">
                    <a:solidFill>
                      <a:srgbClr val="1E293B"/>
                    </a:solidFill>
                    <a:latin typeface="Calibri"/>
                  </a:rPr>
                  <a:t> thì hàm số </a:t>
                </a:r>
                <a14:m>
                  <m:oMath xmlns:m="http://schemas.openxmlformats.org/officeDocument/2006/math">
                    <m:r>
                      <a:rPr lang="vi-VN" sz="1900" b="0">
                        <a:solidFill>
                          <a:srgbClr val="1E293B"/>
                        </a:solidFill>
                        <a:latin typeface="Cambria Math" panose="02040503050406030204" pitchFamily="18" charset="0"/>
                      </a:rPr>
                      <m:t>f(x)</m:t>
                    </m:r>
                  </m:oMath>
                </a14:m>
                <a:r>
                  <a:rPr sz="1900">
                    <a:solidFill>
                      <a:srgbClr val="1E293B"/>
                    </a:solidFill>
                    <a:latin typeface="Calibri"/>
                  </a:rPr>
                  <a:t> đồng biến trên khoảng </a:t>
                </a:r>
                <a14:m>
                  <m:oMath xmlns:m="http://schemas.openxmlformats.org/officeDocument/2006/math">
                    <m:r>
                      <a:rPr lang="vi-VN" sz="1900" b="0">
                        <a:solidFill>
                          <a:srgbClr val="1E293B"/>
                        </a:solidFill>
                        <a:latin typeface="Cambria Math" panose="02040503050406030204" pitchFamily="18" charset="0"/>
                      </a:rPr>
                      <m:t>K</m:t>
                    </m:r>
                  </m:oMath>
                </a14:m>
                <a:r>
                  <a:rPr sz="1900">
                    <a:solidFill>
                      <a:srgbClr val="1E293B"/>
                    </a:solidFill>
                    <a:latin typeface="Calibri"/>
                  </a:rPr>
                  <a:t>.</a:t>
                </a:r>
              </a:p>
              <a:p>
                <a:pPr algn="l">
                  <a:spcAft>
                    <a:spcPts val="800"/>
                  </a:spcAft>
                </a:pPr>
                <a:r>
                  <a:rPr sz="1900">
                    <a:solidFill>
                      <a:srgbClr val="1E293B"/>
                    </a:solidFill>
                    <a:latin typeface="Calibri"/>
                  </a:rPr>
                  <a:t>b) Nếu </a:t>
                </a:r>
                <a14:m>
                  <m:oMath xmlns:m="http://schemas.openxmlformats.org/officeDocument/2006/math">
                    <m:sSup>
                      <m:e>
                        <m:r>
                          <a:rPr lang="vi-VN" sz="1900" b="0">
                            <a:solidFill>
                              <a:srgbClr val="1E293B"/>
                            </a:solidFill>
                            <a:latin typeface="Cambria Math" panose="02040503050406030204" pitchFamily="18" charset="0"/>
                          </a:rPr>
                          <m:t>f</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(x)&lt;0</m:t>
                    </m:r>
                  </m:oMath>
                </a14:m>
                <a:r>
                  <a:rPr sz="1900">
                    <a:solidFill>
                      <a:srgbClr val="1E293B"/>
                    </a:solidFill>
                    <a:latin typeface="Calibri"/>
                  </a:rPr>
                  <a:t> với mọi </a:t>
                </a:r>
                <a14:m>
                  <m:oMath xmlns:m="http://schemas.openxmlformats.org/officeDocument/2006/math">
                    <m:r>
                      <a:rPr lang="vi-VN" sz="1900" b="0">
                        <a:solidFill>
                          <a:srgbClr val="1E293B"/>
                        </a:solidFill>
                        <a:latin typeface="Cambria Math" panose="02040503050406030204" pitchFamily="18" charset="0"/>
                      </a:rPr>
                      <m:t>x∈K</m:t>
                    </m:r>
                  </m:oMath>
                </a14:m>
                <a:r>
                  <a:rPr sz="1900">
                    <a:solidFill>
                      <a:srgbClr val="1E293B"/>
                    </a:solidFill>
                    <a:latin typeface="Calibri"/>
                  </a:rPr>
                  <a:t> thì hàm số </a:t>
                </a:r>
                <a14:m>
                  <m:oMath xmlns:m="http://schemas.openxmlformats.org/officeDocument/2006/math">
                    <m:r>
                      <a:rPr lang="vi-VN" sz="1900" b="0">
                        <a:solidFill>
                          <a:srgbClr val="1E293B"/>
                        </a:solidFill>
                        <a:latin typeface="Cambria Math" panose="02040503050406030204" pitchFamily="18" charset="0"/>
                      </a:rPr>
                      <m:t>f(x)</m:t>
                    </m:r>
                  </m:oMath>
                </a14:m>
                <a:r>
                  <a:rPr sz="1900">
                    <a:solidFill>
                      <a:srgbClr val="1E293B"/>
                    </a:solidFill>
                    <a:latin typeface="Calibri"/>
                  </a:rPr>
                  <a:t> nghịch biến trên khoảng </a:t>
                </a:r>
                <a14:m>
                  <m:oMath xmlns:m="http://schemas.openxmlformats.org/officeDocument/2006/math">
                    <m:r>
                      <a:rPr lang="vi-VN" sz="1900" b="0">
                        <a:solidFill>
                          <a:srgbClr val="1E293B"/>
                        </a:solidFill>
                        <a:latin typeface="Cambria Math" panose="02040503050406030204" pitchFamily="18" charset="0"/>
                      </a:rPr>
                      <m:t>K</m:t>
                    </m:r>
                  </m:oMath>
                </a14:m>
                <a:r>
                  <a:rPr sz="1900">
                    <a:solidFill>
                      <a:srgbClr val="1E293B"/>
                    </a:solidFill>
                    <a:latin typeface="Calibri"/>
                  </a:rPr>
                  <a:t>.</a:t>
                </a:r>
              </a:p>
            </p:txBody>
          </p:sp>
        </mc:Choice>
        <mc:Fallback>
          <p:sp>
            <p:nvSpPr>
              <p:cNvPr id="11" name="TextBox 10"/>
              <p:cNvSpPr txBox="1"/>
              <p:nvPr/>
            </p:nvSpPr>
            <p:spPr>
              <a:xfrm>
                <a:off x="713232" y="4273296"/>
                <a:ext cx="7534656" cy="1840991"/>
              </a:xfrm>
              <a:prstGeom prst="rect">
                <a:avLst/>
              </a:prstGeom>
              <a:noFill/>
            </p:spPr>
            <p:txBody>
              <a:bodyPr wrap="square" anchor="ctr" lIns="45720" rIns="45720">
                <a:spAutoFit/>
              </a:bodyPr>
              <a:lstStyle/>
              <a:p>
                <a:pPr algn="l">
                  <a:spcAft>
                    <a:spcPts val="800"/>
                  </a:spcAft>
                </a:pPr>
                <a:r>
                  <a:rPr sz="1900">
                    <a:solidFill>
                      <a:srgbClr val="1E293B"/>
                    </a:solidFill>
                    <a:latin typeface="Calibri"/>
                  </a:rPr>
                  <a:t>Cho hàm số </a:t>
                </a:r>
                <a:r>
                  <a:rPr lang="vi-VN"/>
                  <a:t>y=f(x)</a:t>
                </a:r>
                <a:r>
                  <a:rPr sz="1900">
                    <a:solidFill>
                      <a:srgbClr val="1E293B"/>
                    </a:solidFill>
                    <a:latin typeface="Calibri"/>
                  </a:rPr>
                  <a:t> có đạo hàm trên khoảng </a:t>
                </a:r>
                <a:r>
                  <a:rPr lang="vi-VN"/>
                  <a:t>K</a:t>
                </a:r>
                <a:r>
                  <a:rPr sz="1900">
                    <a:solidFill>
                      <a:srgbClr val="1E293B"/>
                    </a:solidFill>
                    <a:latin typeface="Calibri"/>
                  </a:rPr>
                  <a:t>.</a:t>
                </a:r>
              </a:p>
              <a:p>
                <a:pPr algn="l">
                  <a:spcAft>
                    <a:spcPts val="800"/>
                  </a:spcAft>
                </a:pPr>
                <a:r>
                  <a:rPr sz="1900">
                    <a:solidFill>
                      <a:srgbClr val="1E293B"/>
                    </a:solidFill>
                    <a:latin typeface="Calibri"/>
                  </a:rPr>
                  <a:t>a) Nếu </a:t>
                </a:r>
                <a:r>
                  <a:rPr lang="vi-VN"/>
                  <a:t>f'(x)&gt;0</a:t>
                </a:r>
                <a:r>
                  <a:rPr sz="1900">
                    <a:solidFill>
                      <a:srgbClr val="1E293B"/>
                    </a:solidFill>
                    <a:latin typeface="Calibri"/>
                  </a:rPr>
                  <a:t> với mọi </a:t>
                </a:r>
                <a:r>
                  <a:rPr lang="vi-VN"/>
                  <a:t>x\in K</a:t>
                </a:r>
                <a:r>
                  <a:rPr sz="1900">
                    <a:solidFill>
                      <a:srgbClr val="1E293B"/>
                    </a:solidFill>
                    <a:latin typeface="Calibri"/>
                  </a:rPr>
                  <a:t> thì hàm số </a:t>
                </a:r>
                <a:r>
                  <a:rPr lang="vi-VN"/>
                  <a:t>f(x)</a:t>
                </a:r>
                <a:r>
                  <a:rPr sz="1900">
                    <a:solidFill>
                      <a:srgbClr val="1E293B"/>
                    </a:solidFill>
                    <a:latin typeface="Calibri"/>
                  </a:rPr>
                  <a:t> đồng biến trên khoảng </a:t>
                </a:r>
                <a:r>
                  <a:rPr lang="vi-VN"/>
                  <a:t>K</a:t>
                </a:r>
                <a:r>
                  <a:rPr sz="1900">
                    <a:solidFill>
                      <a:srgbClr val="1E293B"/>
                    </a:solidFill>
                    <a:latin typeface="Calibri"/>
                  </a:rPr>
                  <a:t>.</a:t>
                </a:r>
              </a:p>
              <a:p>
                <a:pPr algn="l">
                  <a:spcAft>
                    <a:spcPts val="800"/>
                  </a:spcAft>
                </a:pPr>
                <a:r>
                  <a:rPr sz="1900">
                    <a:solidFill>
                      <a:srgbClr val="1E293B"/>
                    </a:solidFill>
                    <a:latin typeface="Calibri"/>
                  </a:rPr>
                  <a:t>b) Nếu </a:t>
                </a:r>
                <a:r>
                  <a:rPr lang="vi-VN"/>
                  <a:t>f'(x)&lt;0</a:t>
                </a:r>
                <a:r>
                  <a:rPr sz="1900">
                    <a:solidFill>
                      <a:srgbClr val="1E293B"/>
                    </a:solidFill>
                    <a:latin typeface="Calibri"/>
                  </a:rPr>
                  <a:t> với mọi </a:t>
                </a:r>
                <a:r>
                  <a:rPr lang="vi-VN"/>
                  <a:t>x\in K</a:t>
                </a:r>
                <a:r>
                  <a:rPr sz="1900">
                    <a:solidFill>
                      <a:srgbClr val="1E293B"/>
                    </a:solidFill>
                    <a:latin typeface="Calibri"/>
                  </a:rPr>
                  <a:t> thì hàm số </a:t>
                </a:r>
                <a:r>
                  <a:rPr lang="vi-VN"/>
                  <a:t>f(x)</a:t>
                </a:r>
                <a:r>
                  <a:rPr sz="1900">
                    <a:solidFill>
                      <a:srgbClr val="1E293B"/>
                    </a:solidFill>
                    <a:latin typeface="Calibri"/>
                  </a:rPr>
                  <a:t> nghịch biến trên khoảng </a:t>
                </a:r>
                <a:r>
                  <a:rPr lang="vi-VN"/>
                  <a:t>K</a:t>
                </a:r>
                <a:r>
                  <a:rPr sz="1900">
                    <a:solidFill>
                      <a:srgbClr val="1E293B"/>
                    </a:solidFill>
                    <a:latin typeface="Calibri"/>
                  </a:rPr>
                  <a:t>.</a:t>
                </a:r>
              </a:p>
            </p:txBody>
          </p:sp>
        </mc:Fallback>
      </mc:AlternateContent>
      <p:pic>
        <p:nvPicPr>
          <p:cNvPr id="12" name="Picture 11" descr="b1_h16.png"/>
          <p:cNvPicPr>
            <a:picLocks noChangeAspect="1"/>
          </p:cNvPicPr>
          <p:nvPr/>
        </p:nvPicPr>
        <p:blipFill>
          <a:blip r:embed="rId3"/>
          <a:stretch>
            <a:fillRect/>
          </a:stretch>
        </p:blipFill>
        <p:spPr>
          <a:xfrm>
            <a:off x="8686800" y="1765678"/>
            <a:ext cx="2926080" cy="2686564"/>
          </a:xfrm>
          <a:prstGeom prst="rect">
            <a:avLst/>
          </a:prstGeom>
        </p:spPr>
      </p:pic>
      <p:sp>
        <p:nvSpPr>
          <p:cNvPr id="13" name="TextBox 12"/>
          <p:cNvSpPr txBox="1"/>
          <p:nvPr/>
        </p:nvSpPr>
        <p:spPr>
          <a:xfrm>
            <a:off x="8686800" y="4773168"/>
            <a:ext cx="29260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ĐÚNG HAY 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10</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Cả lớp giơ thẻ Đ/S trong 15 giây mỗi câu.</a:t>
            </a:r>
          </a:p>
        </p:txBody>
      </p:sp>
      <mc:AlternateContent xmlns:mc="http://schemas.openxmlformats.org/markup-compatibility/2006">
        <mc:Choice xmlns:a14="http://schemas.microsoft.com/office/drawing/2010/main" Requires="a14">
          <p:sp>
            <p:nvSpPr>
              <p:cNvPr id="8" name="TextBox 7"/>
              <p:cNvSpPr txBox="1"/>
              <p:nvPr/>
            </p:nvSpPr>
            <p:spPr>
              <a:xfrm>
                <a:off x="548640" y="1828800"/>
                <a:ext cx="539496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Quan sát đồ thị </a:t>
                </a:r>
                <a14:m>
                  <m:oMath xmlns:m="http://schemas.openxmlformats.org/officeDocument/2006/math">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3</m:t>
                        </m:r>
                      </m:sup>
                    </m:sSup>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+2</m:t>
                    </m:r>
                  </m:oMath>
                </a14:m>
                <a:r>
                  <a:rPr sz="2200">
                    <a:solidFill>
                      <a:srgbClr val="1E293B"/>
                    </a:solidFill>
                    <a:latin typeface="Calibri"/>
                  </a:rPr>
                  <a:t> (Hình 1.5).</a:t>
                </a:r>
              </a:p>
            </p:txBody>
          </p:sp>
        </mc:Choice>
        <mc:Fallback>
          <p:sp>
            <p:nvSpPr>
              <p:cNvPr id="8" name="TextBox 7"/>
              <p:cNvSpPr txBox="1"/>
              <p:nvPr/>
            </p:nvSpPr>
            <p:spPr>
              <a:xfrm>
                <a:off x="548640" y="1828800"/>
                <a:ext cx="539496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Quan sát đồ thị </a:t>
                </a:r>
                <a:r>
                  <a:rPr lang="vi-VN"/>
                  <a:t>y=x^3-3x^2+2</a:t>
                </a:r>
                <a:r>
                  <a:rPr sz="2200">
                    <a:solidFill>
                      <a:srgbClr val="1E293B"/>
                    </a:solidFill>
                    <a:latin typeface="Calibri"/>
                  </a:rPr>
                  <a:t> (Hình 1.5).</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810256"/>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Hàm số đồng biến trên </a:t>
                </a:r>
                <a14:m>
                  <m:oMath xmlns:m="http://schemas.openxmlformats.org/officeDocument/2006/math">
                    <m:d>
                      <m:dPr>
                        <m:sepChr m:val="∞"/>
                      </m:dPr>
                      <m:e>
                        <m:r>
                          <a:rPr lang="vi-VN" sz="2100" b="0">
                            <a:solidFill>
                              <a:srgbClr val="1E293B"/>
                            </a:solidFill>
                            <a:latin typeface="Cambria Math" panose="02040503050406030204" pitchFamily="18" charset="0"/>
                          </a:rPr>
                          <m:t>−</m:t>
                        </m:r>
                      </m:e>
                      <m:e>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m:t>
                        </m:r>
                      </m:e>
                    </m:d>
                  </m:oMath>
                </a14:m>
                <a:r>
                  <a:rPr sz="2100">
                    <a:solidFill>
                      <a:srgbClr val="1E293B"/>
                    </a:solidFill>
                    <a:latin typeface="Calibri"/>
                  </a:rPr>
                  <a:t>.</a:t>
                </a:r>
              </a:p>
            </p:txBody>
          </p:sp>
        </mc:Choice>
        <mc:Fallback>
          <p:sp>
            <p:nvSpPr>
              <p:cNvPr id="9" name="TextBox 8"/>
              <p:cNvSpPr txBox="1"/>
              <p:nvPr/>
            </p:nvSpPr>
            <p:spPr>
              <a:xfrm>
                <a:off x="548640" y="2810256"/>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Hàm số đồng biến trên </a:t>
                </a:r>
                <a:r>
                  <a:rPr lang="vi-VN"/>
                  <a:t>(-\infty;\ 0)</a:t>
                </a:r>
                <a:r>
                  <a:rPr sz="2100">
                    <a:solidFill>
                      <a:srgbClr val="1E293B"/>
                    </a:solidFill>
                    <a:latin typeface="Calibri"/>
                  </a:rPr>
                  <a:t>.</a:t>
                </a:r>
              </a:p>
            </p:txBody>
          </p:sp>
        </mc:Fallback>
      </mc:AlternateContent>
      <p:sp>
        <p:nvSpPr>
          <p:cNvPr id="10" name="s1_nen"/>
          <p:cNvSpPr/>
          <p:nvPr/>
        </p:nvSpPr>
        <p:spPr>
          <a:xfrm>
            <a:off x="6126480" y="2810256"/>
            <a:ext cx="2377440"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1_chu"/>
          <p:cNvSpPr txBox="1"/>
          <p:nvPr/>
        </p:nvSpPr>
        <p:spPr>
          <a:xfrm>
            <a:off x="6126480" y="2865120"/>
            <a:ext cx="2377440"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mc:AlternateContent xmlns:mc="http://schemas.openxmlformats.org/markup-compatibility/2006">
        <mc:Choice xmlns:a14="http://schemas.microsoft.com/office/drawing/2010/main" Requires="a14">
          <p:sp>
            <p:nvSpPr>
              <p:cNvPr id="12" name="TextBox 11"/>
              <p:cNvSpPr txBox="1"/>
              <p:nvPr/>
            </p:nvSpPr>
            <p:spPr>
              <a:xfrm>
                <a:off x="548640" y="3650741"/>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Hàm số nghịch biến trên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2</m:t>
                        </m:r>
                      </m:e>
                    </m:d>
                  </m:oMath>
                </a14:m>
                <a:r>
                  <a:rPr sz="2100">
                    <a:solidFill>
                      <a:srgbClr val="1E293B"/>
                    </a:solidFill>
                    <a:latin typeface="Calibri"/>
                  </a:rPr>
                  <a:t>.</a:t>
                </a:r>
              </a:p>
            </p:txBody>
          </p:sp>
        </mc:Choice>
        <mc:Fallback>
          <p:sp>
            <p:nvSpPr>
              <p:cNvPr id="12" name="TextBox 11"/>
              <p:cNvSpPr txBox="1"/>
              <p:nvPr/>
            </p:nvSpPr>
            <p:spPr>
              <a:xfrm>
                <a:off x="548640" y="3650741"/>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Hàm số nghịch biến trên </a:t>
                </a:r>
                <a:r>
                  <a:rPr lang="vi-VN"/>
                  <a:t>(-1;\ 2)</a:t>
                </a:r>
                <a:r>
                  <a:rPr sz="2100">
                    <a:solidFill>
                      <a:srgbClr val="1E293B"/>
                    </a:solidFill>
                    <a:latin typeface="Calibri"/>
                  </a:rPr>
                  <a:t>.</a:t>
                </a:r>
              </a:p>
            </p:txBody>
          </p:sp>
        </mc:Fallback>
      </mc:AlternateContent>
      <p:sp>
        <p:nvSpPr>
          <p:cNvPr id="13" name="s2_nen"/>
          <p:cNvSpPr/>
          <p:nvPr/>
        </p:nvSpPr>
        <p:spPr>
          <a:xfrm>
            <a:off x="6126480" y="3650741"/>
            <a:ext cx="2377440"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2_chu"/>
          <p:cNvSpPr txBox="1"/>
          <p:nvPr/>
        </p:nvSpPr>
        <p:spPr>
          <a:xfrm>
            <a:off x="6126480" y="3705605"/>
            <a:ext cx="2377440"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(chỉ trên (0; 2))</a:t>
            </a:r>
          </a:p>
        </p:txBody>
      </p:sp>
      <mc:AlternateContent xmlns:mc="http://schemas.openxmlformats.org/markup-compatibility/2006">
        <mc:Choice xmlns:a14="http://schemas.microsoft.com/office/drawing/2010/main" Requires="a14">
          <p:sp>
            <p:nvSpPr>
              <p:cNvPr id="15" name="TextBox 14"/>
              <p:cNvSpPr txBox="1"/>
              <p:nvPr/>
            </p:nvSpPr>
            <p:spPr>
              <a:xfrm>
                <a:off x="548640" y="4491228"/>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Hàm số đồng biến trên </a:t>
                </a:r>
                <a14:m>
                  <m:oMath xmlns:m="http://schemas.openxmlformats.org/officeDocument/2006/math">
                    <m:d>
                      <m:dPr>
                        <m:sepChr m:val=""/>
                      </m:dPr>
                      <m:e>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a:t>
                </a:r>
              </a:p>
            </p:txBody>
          </p:sp>
        </mc:Choice>
        <mc:Fallback>
          <p:sp>
            <p:nvSpPr>
              <p:cNvPr id="15" name="TextBox 14"/>
              <p:cNvSpPr txBox="1"/>
              <p:nvPr/>
            </p:nvSpPr>
            <p:spPr>
              <a:xfrm>
                <a:off x="548640" y="4491228"/>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Hàm số đồng biến trên </a:t>
                </a:r>
                <a:r>
                  <a:rPr lang="vi-VN"/>
                  <a:t>(2;\ +\infty)</a:t>
                </a:r>
                <a:r>
                  <a:rPr sz="2100">
                    <a:solidFill>
                      <a:srgbClr val="1E293B"/>
                    </a:solidFill>
                    <a:latin typeface="Calibri"/>
                  </a:rPr>
                  <a:t>.</a:t>
                </a:r>
              </a:p>
            </p:txBody>
          </p:sp>
        </mc:Fallback>
      </mc:AlternateContent>
      <p:sp>
        <p:nvSpPr>
          <p:cNvPr id="16" name="s3_nen"/>
          <p:cNvSpPr/>
          <p:nvPr/>
        </p:nvSpPr>
        <p:spPr>
          <a:xfrm>
            <a:off x="6126480" y="4491228"/>
            <a:ext cx="2377440"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3_chu"/>
          <p:cNvSpPr txBox="1"/>
          <p:nvPr/>
        </p:nvSpPr>
        <p:spPr>
          <a:xfrm>
            <a:off x="6126480" y="4546092"/>
            <a:ext cx="2377440"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mc:AlternateContent xmlns:mc="http://schemas.openxmlformats.org/markup-compatibility/2006">
        <mc:Choice xmlns:a14="http://schemas.microsoft.com/office/drawing/2010/main" Requires="a14">
          <p:sp>
            <p:nvSpPr>
              <p:cNvPr id="18" name="TextBox 17"/>
              <p:cNvSpPr txBox="1"/>
              <p:nvPr/>
            </p:nvSpPr>
            <p:spPr>
              <a:xfrm>
                <a:off x="548640" y="5331714"/>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a:t>
                </a:r>
                <a:r>
                  <a:rPr sz="2100">
                    <a:solidFill>
                      <a:srgbClr val="1E293B"/>
                    </a:solidFill>
                    <a:latin typeface="Calibri"/>
                  </a:rPr>
                  <a:t> Hàm số đồng biến trên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a:t>
                </a:r>
              </a:p>
            </p:txBody>
          </p:sp>
        </mc:Choice>
        <mc:Fallback>
          <p:sp>
            <p:nvSpPr>
              <p:cNvPr id="18" name="TextBox 17"/>
              <p:cNvSpPr txBox="1"/>
              <p:nvPr/>
            </p:nvSpPr>
            <p:spPr>
              <a:xfrm>
                <a:off x="548640" y="5331714"/>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a:t>
                </a:r>
                <a:r>
                  <a:rPr sz="2100">
                    <a:solidFill>
                      <a:srgbClr val="1E293B"/>
                    </a:solidFill>
                    <a:latin typeface="Calibri"/>
                  </a:rPr>
                  <a:t> Hàm số đồng biến trên </a:t>
                </a:r>
                <a:r>
                  <a:rPr lang="vi-VN"/>
                  <a:t>(-\infty;\ 0)\cup(2;\ +\infty)</a:t>
                </a:r>
                <a:r>
                  <a:rPr sz="2100">
                    <a:solidFill>
                      <a:srgbClr val="1E293B"/>
                    </a:solidFill>
                    <a:latin typeface="Calibri"/>
                  </a:rPr>
                  <a:t>.</a:t>
                </a:r>
              </a:p>
            </p:txBody>
          </p:sp>
        </mc:Fallback>
      </mc:AlternateContent>
      <p:sp>
        <p:nvSpPr>
          <p:cNvPr id="19" name="s4_nen"/>
          <p:cNvSpPr/>
          <p:nvPr/>
        </p:nvSpPr>
        <p:spPr>
          <a:xfrm>
            <a:off x="6126480" y="5331714"/>
            <a:ext cx="2377440"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4_chu"/>
          <p:cNvSpPr txBox="1"/>
          <p:nvPr/>
        </p:nvSpPr>
        <p:spPr>
          <a:xfrm>
            <a:off x="6126480" y="5386578"/>
            <a:ext cx="2377440"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(viết 'và')</a:t>
            </a:r>
          </a:p>
        </p:txBody>
      </p:sp>
      <p:pic>
        <p:nvPicPr>
          <p:cNvPr id="21" name="Picture 20" descr="b1_h15.png"/>
          <p:cNvPicPr>
            <a:picLocks noChangeAspect="1"/>
          </p:cNvPicPr>
          <p:nvPr/>
        </p:nvPicPr>
        <p:blipFill>
          <a:blip r:embed="rId3"/>
          <a:stretch>
            <a:fillRect/>
          </a:stretch>
        </p:blipFill>
        <p:spPr>
          <a:xfrm>
            <a:off x="8778240" y="2338269"/>
            <a:ext cx="2926080" cy="26386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11</a:t>
            </a:r>
          </a:p>
        </p:txBody>
      </p:sp>
      <p:sp>
        <p:nvSpPr>
          <p:cNvPr id="7" name="Rounded Rectangle 6"/>
          <p:cNvSpPr/>
          <p:nvPr/>
        </p:nvSpPr>
        <p:spPr>
          <a:xfrm>
            <a:off x="548640" y="1463040"/>
            <a:ext cx="11064240" cy="13716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Đồng biến: </a:t>
                </a:r>
                <a14:m>
                  <m:oMath xmlns:m="http://schemas.openxmlformats.org/officeDocument/2006/math">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&lt;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⇒f(</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)&lt;f(</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oMath>
                </a14:m>
                <a:r>
                  <a:rPr sz="2200">
                    <a:solidFill>
                      <a:srgbClr val="1E293B"/>
                    </a:solidFill>
                    <a:latin typeface="Calibri"/>
                  </a:rPr>
                  <a:t> – đồ thị đi lên; nghịch biến: đồ thị đi xuống (nhìn từ trái sang phải).</a:t>
                </a:r>
              </a:p>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(x)&gt;0</m:t>
                    </m:r>
                  </m:oMath>
                </a14:m>
                <a:r>
                  <a:rPr sz="2200">
                    <a:solidFill>
                      <a:srgbClr val="1E293B"/>
                    </a:solidFill>
                    <a:latin typeface="Calibri"/>
                  </a:rPr>
                  <a:t> trên </a:t>
                </a:r>
                <a14:m>
                  <m:oMath xmlns:m="http://schemas.openxmlformats.org/officeDocument/2006/math">
                    <m:r>
                      <a:rPr lang="vi-VN" sz="2200" b="0">
                        <a:solidFill>
                          <a:srgbClr val="1E293B"/>
                        </a:solidFill>
                        <a:latin typeface="Cambria Math" panose="02040503050406030204" pitchFamily="18" charset="0"/>
                      </a:rPr>
                      <m:t>K</m:t>
                    </m:r>
                  </m:oMath>
                </a14:m>
                <a:r>
                  <a:rPr sz="2200">
                    <a:solidFill>
                      <a:srgbClr val="1E293B"/>
                    </a:solidFill>
                    <a:latin typeface="Calibri"/>
                  </a:rPr>
                  <a:t> ⇒ đồng biến; </a:t>
                </a:r>
                <a14:m>
                  <m:oMath xmlns:m="http://schemas.openxmlformats.org/officeDocument/2006/math">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(x)&lt;0</m:t>
                    </m:r>
                  </m:oMath>
                </a14:m>
                <a:r>
                  <a:rPr sz="2200">
                    <a:solidFill>
                      <a:srgbClr val="1E293B"/>
                    </a:solidFill>
                    <a:latin typeface="Calibri"/>
                  </a:rPr>
                  <a:t> trên </a:t>
                </a:r>
                <a14:m>
                  <m:oMath xmlns:m="http://schemas.openxmlformats.org/officeDocument/2006/math">
                    <m:r>
                      <a:rPr lang="vi-VN" sz="2200" b="0">
                        <a:solidFill>
                          <a:srgbClr val="1E293B"/>
                        </a:solidFill>
                        <a:latin typeface="Cambria Math" panose="02040503050406030204" pitchFamily="18" charset="0"/>
                      </a:rPr>
                      <m:t>K</m:t>
                    </m:r>
                  </m:oMath>
                </a14:m>
                <a:r>
                  <a:rPr sz="2200">
                    <a:solidFill>
                      <a:srgbClr val="1E293B"/>
                    </a:solidFill>
                    <a:latin typeface="Calibri"/>
                  </a:rPr>
                  <a:t> ⇒ nghịch biến.</a:t>
                </a:r>
              </a:p>
            </p:txBody>
          </p:sp>
        </mc:Choice>
        <mc:Fallback>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Đồng biến: </a:t>
                </a:r>
                <a:r>
                  <a:rPr lang="vi-VN"/>
                  <a:t>x_1&lt;x_2\Rightarrow f(x_1)&lt;f(x_2)</a:t>
                </a:r>
                <a:r>
                  <a:rPr sz="2200">
                    <a:solidFill>
                      <a:srgbClr val="1E293B"/>
                    </a:solidFill>
                    <a:latin typeface="Calibri"/>
                  </a:rPr>
                  <a:t> – đồ thị đi lên; nghịch biến: đồ thị đi xuống (nhìn từ trái sang phải).</a:t>
                </a:r>
              </a:p>
              <a:p>
                <a:pPr algn="l" marL="365760" indent="-365760">
                  <a:spcAft>
                    <a:spcPts val="800"/>
                  </a:spcAft>
                  <a:buClr>
                    <a:srgbClr val="1E40AF"/>
                  </a:buClr>
                  <a:buFont typeface="Arial"/>
                  <a:buChar char="•"/>
                </a:pPr>
                <a:r>
                  <a:rPr lang="vi-VN"/>
                  <a:t>f'(x)&gt;0</a:t>
                </a:r>
                <a:r>
                  <a:rPr sz="2200">
                    <a:solidFill>
                      <a:srgbClr val="1E293B"/>
                    </a:solidFill>
                    <a:latin typeface="Calibri"/>
                  </a:rPr>
                  <a:t> trên </a:t>
                </a:r>
                <a:r>
                  <a:rPr lang="vi-VN"/>
                  <a:t>K</a:t>
                </a:r>
                <a:r>
                  <a:rPr sz="2200">
                    <a:solidFill>
                      <a:srgbClr val="1E293B"/>
                    </a:solidFill>
                    <a:latin typeface="Calibri"/>
                  </a:rPr>
                  <a:t> ⇒ đồng biến; </a:t>
                </a:r>
                <a:r>
                  <a:rPr lang="vi-VN"/>
                  <a:t>f'(x)&lt;0</a:t>
                </a:r>
                <a:r>
                  <a:rPr sz="2200">
                    <a:solidFill>
                      <a:srgbClr val="1E293B"/>
                    </a:solidFill>
                    <a:latin typeface="Calibri"/>
                  </a:rPr>
                  <a:t> trên </a:t>
                </a:r>
                <a:r>
                  <a:rPr lang="vi-VN"/>
                  <a:t>K</a:t>
                </a:r>
                <a:r>
                  <a:rPr sz="2200">
                    <a:solidFill>
                      <a:srgbClr val="1E293B"/>
                    </a:solidFill>
                    <a:latin typeface="Calibri"/>
                  </a:rPr>
                  <a:t> ⇒ nghịch biến.</a:t>
                </a:r>
              </a:p>
            </p:txBody>
          </p:sp>
        </mc:Fallback>
      </mc:AlternateContent>
      <p:sp>
        <p:nvSpPr>
          <p:cNvPr id="9" name="Rounded Rectangle 8"/>
          <p:cNvSpPr/>
          <p:nvPr/>
        </p:nvSpPr>
        <p:spPr>
          <a:xfrm>
            <a:off x="548640" y="306324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09981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Ôn lại công thức đạo hàm (lớp 11).</a:t>
            </a:r>
          </a:p>
          <a:p>
            <a:pPr algn="l" marL="365760" indent="-365760">
              <a:spcAft>
                <a:spcPts val="800"/>
              </a:spcAft>
              <a:buClr>
                <a:srgbClr val="1E40AF"/>
              </a:buClr>
              <a:buFont typeface="Arial"/>
              <a:buChar char="•"/>
            </a:pPr>
            <a:r>
              <a:rPr sz="2200">
                <a:solidFill>
                  <a:srgbClr val="1E293B"/>
                </a:solidFill>
                <a:latin typeface="Calibri"/>
              </a:rPr>
              <a:t>Đọc trước Chú ý, Ví dụ 2 – Ví dụ 4, HĐ3 (SGK tr.7 – 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(T2)</a:t>
            </a:r>
          </a:p>
          <a:p>
            <a:pPr>
              <a:spcAft>
                <a:spcPts val="600"/>
              </a:spcAft>
            </a:pPr>
            <a:r>
              <a:rPr sz="4000" b="1">
                <a:solidFill>
                  <a:srgbClr val="FFFFFF"/>
                </a:solidFill>
                <a:latin typeface="Cambria"/>
              </a:rPr>
              <a:t>Xét tính đơn điệu bằng bảng biến thiên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Xét dấu đạo hàm, lập bảng biến thiên để tìm khoảng đơn điệu.</a:t>
            </a:r>
          </a:p>
          <a:p>
            <a:pPr algn="l">
              <a:spcAft>
                <a:spcPts val="800"/>
              </a:spcAft>
            </a:pPr>
            <a:r>
              <a:rPr sz="2200">
                <a:solidFill>
                  <a:srgbClr val="E0E7FF"/>
                </a:solidFill>
                <a:latin typeface="Calibri"/>
              </a:rPr>
              <a:t>• Giải bài toán chuyển động của chất điểm (Vận dụng 1).</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CHÚ Ý – VÍ DỤ 2 – LUYỆN TẬP 2 (SGK TR.7)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13</a:t>
            </a:r>
          </a:p>
        </p:txBody>
      </p:sp>
      <p:sp>
        <p:nvSpPr>
          <p:cNvPr id="7" name="Rounded Rectangle 6"/>
          <p:cNvSpPr/>
          <p:nvPr/>
        </p:nvSpPr>
        <p:spPr>
          <a:xfrm>
            <a:off x="548640" y="1371600"/>
            <a:ext cx="11064240" cy="13258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10735056" cy="125272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100" b="1">
                    <a:solidFill>
                      <a:srgbClr val="1E293B"/>
                    </a:solidFill>
                    <a:latin typeface="Calibri"/>
                  </a:rPr>
                  <a:t>Chú ý.</a:t>
                </a:r>
                <a:r>
                  <a:rPr sz="2100">
                    <a:solidFill>
                      <a:srgbClr val="1E293B"/>
                    </a:solidFill>
                    <a:latin typeface="Calibri"/>
                  </a:rPr>
                  <a:t> Nếu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(x)≥0</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(x)≤0</m:t>
                    </m:r>
                  </m:oMath>
                </a14:m>
                <a:r>
                  <a:rPr sz="2100">
                    <a:solidFill>
                      <a:srgbClr val="1E293B"/>
                    </a:solidFill>
                    <a:latin typeface="Calibri"/>
                  </a:rPr>
                  <a:t>) với mọi </a:t>
                </a:r>
                <a14:m>
                  <m:oMath xmlns:m="http://schemas.openxmlformats.org/officeDocument/2006/math">
                    <m:r>
                      <a:rPr lang="vi-VN" sz="2100" b="0">
                        <a:solidFill>
                          <a:srgbClr val="1E293B"/>
                        </a:solidFill>
                        <a:latin typeface="Cambria Math" panose="02040503050406030204" pitchFamily="18" charset="0"/>
                      </a:rPr>
                      <m:t>x∈K</m:t>
                    </m:r>
                  </m:oMath>
                </a14:m>
                <a:r>
                  <a:rPr sz="2100">
                    <a:solidFill>
                      <a:srgbClr val="1E293B"/>
                    </a:solidFill>
                    <a:latin typeface="Calibri"/>
                  </a:rPr>
                  <a:t> và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(x)=0</m:t>
                    </m:r>
                  </m:oMath>
                </a14:m>
                <a:r>
                  <a:rPr sz="2100">
                    <a:solidFill>
                      <a:srgbClr val="1E293B"/>
                    </a:solidFill>
                    <a:latin typeface="Calibri"/>
                  </a:rPr>
                  <a:t> chỉ tại một số hữu hạn điểm của </a:t>
                </a:r>
                <a14:m>
                  <m:oMath xmlns:m="http://schemas.openxmlformats.org/officeDocument/2006/math">
                    <m:r>
                      <a:rPr lang="vi-VN" sz="2100" b="0">
                        <a:solidFill>
                          <a:srgbClr val="1E293B"/>
                        </a:solidFill>
                        <a:latin typeface="Cambria Math" panose="02040503050406030204" pitchFamily="18" charset="0"/>
                      </a:rPr>
                      <m:t>K</m:t>
                    </m:r>
                  </m:oMath>
                </a14:m>
                <a:r>
                  <a:rPr sz="2100">
                    <a:solidFill>
                      <a:srgbClr val="1E293B"/>
                    </a:solidFill>
                    <a:latin typeface="Calibri"/>
                  </a:rPr>
                  <a:t> thì hàm số </a:t>
                </a:r>
                <a14:m>
                  <m:oMath xmlns:m="http://schemas.openxmlformats.org/officeDocument/2006/math">
                    <m:r>
                      <a:rPr lang="vi-VN" sz="2100" b="0">
                        <a:solidFill>
                          <a:srgbClr val="1E293B"/>
                        </a:solidFill>
                        <a:latin typeface="Cambria Math" panose="02040503050406030204" pitchFamily="18" charset="0"/>
                      </a:rPr>
                      <m:t>f(x)</m:t>
                    </m:r>
                  </m:oMath>
                </a14:m>
                <a:r>
                  <a:rPr sz="2100">
                    <a:solidFill>
                      <a:srgbClr val="1E293B"/>
                    </a:solidFill>
                    <a:latin typeface="Calibri"/>
                  </a:rPr>
                  <a:t> đồng biến (nghịch biến) trên khoảng </a:t>
                </a:r>
                <a14:m>
                  <m:oMath xmlns:m="http://schemas.openxmlformats.org/officeDocument/2006/math">
                    <m:r>
                      <a:rPr lang="vi-VN" sz="2100" b="0">
                        <a:solidFill>
                          <a:srgbClr val="1E293B"/>
                        </a:solidFill>
                        <a:latin typeface="Cambria Math" panose="02040503050406030204" pitchFamily="18" charset="0"/>
                      </a:rPr>
                      <m:t>K</m:t>
                    </m:r>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Nếu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(x)=0</m:t>
                    </m:r>
                  </m:oMath>
                </a14:m>
                <a:r>
                  <a:rPr sz="2100">
                    <a:solidFill>
                      <a:srgbClr val="1E293B"/>
                    </a:solidFill>
                    <a:latin typeface="Calibri"/>
                  </a:rPr>
                  <a:t> với mọi </a:t>
                </a:r>
                <a14:m>
                  <m:oMath xmlns:m="http://schemas.openxmlformats.org/officeDocument/2006/math">
                    <m:r>
                      <a:rPr lang="vi-VN" sz="2100" b="0">
                        <a:solidFill>
                          <a:srgbClr val="1E293B"/>
                        </a:solidFill>
                        <a:latin typeface="Cambria Math" panose="02040503050406030204" pitchFamily="18" charset="0"/>
                      </a:rPr>
                      <m:t>x∈K</m:t>
                    </m:r>
                  </m:oMath>
                </a14:m>
                <a:r>
                  <a:rPr sz="2100">
                    <a:solidFill>
                      <a:srgbClr val="1E293B"/>
                    </a:solidFill>
                    <a:latin typeface="Calibri"/>
                  </a:rPr>
                  <a:t> thì hàm số </a:t>
                </a:r>
                <a14:m>
                  <m:oMath xmlns:m="http://schemas.openxmlformats.org/officeDocument/2006/math">
                    <m:r>
                      <a:rPr lang="vi-VN" sz="2100" b="0">
                        <a:solidFill>
                          <a:srgbClr val="1E293B"/>
                        </a:solidFill>
                        <a:latin typeface="Cambria Math" panose="02040503050406030204" pitchFamily="18" charset="0"/>
                      </a:rPr>
                      <m:t>f(x)</m:t>
                    </m:r>
                  </m:oMath>
                </a14:m>
                <a:r>
                  <a:rPr sz="2100">
                    <a:solidFill>
                      <a:srgbClr val="1E293B"/>
                    </a:solidFill>
                    <a:latin typeface="Calibri"/>
                  </a:rPr>
                  <a:t> không đổi trên khoảng </a:t>
                </a:r>
                <a14:m>
                  <m:oMath xmlns:m="http://schemas.openxmlformats.org/officeDocument/2006/math">
                    <m:r>
                      <a:rPr lang="vi-VN" sz="2100" b="0">
                        <a:solidFill>
                          <a:srgbClr val="1E293B"/>
                        </a:solidFill>
                        <a:latin typeface="Cambria Math" panose="02040503050406030204" pitchFamily="18" charset="0"/>
                      </a:rPr>
                      <m:t>K</m:t>
                    </m:r>
                  </m:oMath>
                </a14:m>
                <a:r>
                  <a:rPr sz="2100">
                    <a:solidFill>
                      <a:srgbClr val="1E293B"/>
                    </a:solidFill>
                    <a:latin typeface="Calibri"/>
                  </a:rPr>
                  <a:t>.</a:t>
                </a:r>
              </a:p>
            </p:txBody>
          </p:sp>
        </mc:Choice>
        <mc:Fallback>
          <p:sp>
            <p:nvSpPr>
              <p:cNvPr id="8" name="TextBox 7"/>
              <p:cNvSpPr txBox="1"/>
              <p:nvPr/>
            </p:nvSpPr>
            <p:spPr>
              <a:xfrm>
                <a:off x="713232" y="1408176"/>
                <a:ext cx="10735056" cy="125272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100" b="1">
                    <a:solidFill>
                      <a:srgbClr val="1E293B"/>
                    </a:solidFill>
                    <a:latin typeface="Calibri"/>
                  </a:rPr>
                  <a:t>Chú ý.</a:t>
                </a:r>
                <a:r>
                  <a:rPr sz="2100">
                    <a:solidFill>
                      <a:srgbClr val="1E293B"/>
                    </a:solidFill>
                    <a:latin typeface="Calibri"/>
                  </a:rPr>
                  <a:t> Nếu </a:t>
                </a:r>
                <a:r>
                  <a:rPr lang="vi-VN"/>
                  <a:t>f'(x)\ge 0</a:t>
                </a:r>
                <a:r>
                  <a:rPr sz="2100">
                    <a:solidFill>
                      <a:srgbClr val="1E293B"/>
                    </a:solidFill>
                    <a:latin typeface="Calibri"/>
                  </a:rPr>
                  <a:t> (</a:t>
                </a:r>
                <a:r>
                  <a:rPr lang="vi-VN"/>
                  <a:t>f'(x)\le 0</a:t>
                </a:r>
                <a:r>
                  <a:rPr sz="2100">
                    <a:solidFill>
                      <a:srgbClr val="1E293B"/>
                    </a:solidFill>
                    <a:latin typeface="Calibri"/>
                  </a:rPr>
                  <a:t>) với mọi </a:t>
                </a:r>
                <a:r>
                  <a:rPr lang="vi-VN"/>
                  <a:t>x\in K</a:t>
                </a:r>
                <a:r>
                  <a:rPr sz="2100">
                    <a:solidFill>
                      <a:srgbClr val="1E293B"/>
                    </a:solidFill>
                    <a:latin typeface="Calibri"/>
                  </a:rPr>
                  <a:t> và </a:t>
                </a:r>
                <a:r>
                  <a:rPr lang="vi-VN"/>
                  <a:t>f'(x)=0</a:t>
                </a:r>
                <a:r>
                  <a:rPr sz="2100">
                    <a:solidFill>
                      <a:srgbClr val="1E293B"/>
                    </a:solidFill>
                    <a:latin typeface="Calibri"/>
                  </a:rPr>
                  <a:t> chỉ tại một số hữu hạn điểm của </a:t>
                </a:r>
                <a:r>
                  <a:rPr lang="vi-VN"/>
                  <a:t>K</a:t>
                </a:r>
                <a:r>
                  <a:rPr sz="2100">
                    <a:solidFill>
                      <a:srgbClr val="1E293B"/>
                    </a:solidFill>
                    <a:latin typeface="Calibri"/>
                  </a:rPr>
                  <a:t> thì hàm số </a:t>
                </a:r>
                <a:r>
                  <a:rPr lang="vi-VN"/>
                  <a:t>f(x)</a:t>
                </a:r>
                <a:r>
                  <a:rPr sz="2100">
                    <a:solidFill>
                      <a:srgbClr val="1E293B"/>
                    </a:solidFill>
                    <a:latin typeface="Calibri"/>
                  </a:rPr>
                  <a:t> đồng biến (nghịch biến) trên khoảng </a:t>
                </a:r>
                <a:r>
                  <a:rPr lang="vi-VN"/>
                  <a:t>K</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Nếu </a:t>
                </a:r>
                <a:r>
                  <a:rPr lang="vi-VN"/>
                  <a:t>f'(x)=0</a:t>
                </a:r>
                <a:r>
                  <a:rPr sz="2100">
                    <a:solidFill>
                      <a:srgbClr val="1E293B"/>
                    </a:solidFill>
                    <a:latin typeface="Calibri"/>
                  </a:rPr>
                  <a:t> với mọi </a:t>
                </a:r>
                <a:r>
                  <a:rPr lang="vi-VN"/>
                  <a:t>x\in K</a:t>
                </a:r>
                <a:r>
                  <a:rPr sz="2100">
                    <a:solidFill>
                      <a:srgbClr val="1E293B"/>
                    </a:solidFill>
                    <a:latin typeface="Calibri"/>
                  </a:rPr>
                  <a:t> thì hàm số </a:t>
                </a:r>
                <a:r>
                  <a:rPr lang="vi-VN"/>
                  <a:t>f(x)</a:t>
                </a:r>
                <a:r>
                  <a:rPr sz="2100">
                    <a:solidFill>
                      <a:srgbClr val="1E293B"/>
                    </a:solidFill>
                    <a:latin typeface="Calibri"/>
                  </a:rPr>
                  <a:t> không đổi trên khoảng </a:t>
                </a:r>
                <a:r>
                  <a:rPr lang="vi-VN"/>
                  <a:t>K</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s1_chu"/>
              <p:cNvSpPr txBox="1"/>
              <p:nvPr/>
            </p:nvSpPr>
            <p:spPr>
              <a:xfrm>
                <a:off x="548640" y="2788920"/>
                <a:ext cx="11064240" cy="49377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2.</a:t>
                </a:r>
                <a:r>
                  <a:rPr sz="2100">
                    <a:solidFill>
                      <a:srgbClr val="1E293B"/>
                    </a:solidFill>
                    <a:latin typeface="Calibri"/>
                  </a:rPr>
                  <a:t> Tìm các khoảng đồng biến, khoảng nghịch biến của hàm số </a:t>
                </a:r>
                <a14:m>
                  <m:oMath xmlns:m="http://schemas.openxmlformats.org/officeDocument/2006/math">
                    <m:r>
                      <a:rPr lang="vi-VN" sz="2100" b="0">
                        <a:solidFill>
                          <a:srgbClr val="1E293B"/>
                        </a:solidFill>
                        <a:latin typeface="Cambria Math" panose="02040503050406030204" pitchFamily="18" charset="0"/>
                      </a:rPr>
                      <m:t>y=</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−4x+2</m:t>
                    </m:r>
                  </m:oMath>
                </a14:m>
                <a:r>
                  <a:rPr sz="2100">
                    <a:solidFill>
                      <a:srgbClr val="1E293B"/>
                    </a:solidFill>
                    <a:latin typeface="Calibri"/>
                  </a:rPr>
                  <a:t>.</a:t>
                </a:r>
              </a:p>
            </p:txBody>
          </p:sp>
        </mc:Choice>
        <mc:Fallback>
          <p:sp>
            <p:nvSpPr>
              <p:cNvPr id="9" name="TextBox 8"/>
              <p:cNvSpPr txBox="1"/>
              <p:nvPr/>
            </p:nvSpPr>
            <p:spPr>
              <a:xfrm>
                <a:off x="548640" y="2788920"/>
                <a:ext cx="11064240" cy="49377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2.</a:t>
                </a:r>
                <a:r>
                  <a:rPr sz="2100">
                    <a:solidFill>
                      <a:srgbClr val="1E293B"/>
                    </a:solidFill>
                    <a:latin typeface="Calibri"/>
                  </a:rPr>
                  <a:t> Tìm các khoảng đồng biến, khoảng nghịch biến của hàm số </a:t>
                </a:r>
                <a:r>
                  <a:rPr lang="vi-VN"/>
                  <a:t>y=x^2-4x+2</a:t>
                </a:r>
                <a:r>
                  <a:rPr sz="2100">
                    <a:solidFill>
                      <a:srgbClr val="1E293B"/>
                    </a:solidFill>
                    <a:latin typeface="Calibri"/>
                  </a:rPr>
                  <a:t>.</a:t>
                </a:r>
              </a:p>
            </p:txBody>
          </p:sp>
        </mc:Fallback>
      </mc:AlternateContent>
      <p:sp>
        <p:nvSpPr>
          <p:cNvPr id="10" name="s2_nen"/>
          <p:cNvSpPr/>
          <p:nvPr/>
        </p:nvSpPr>
        <p:spPr>
          <a:xfrm>
            <a:off x="548640" y="3374136"/>
            <a:ext cx="11064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410712"/>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a:t>
                </a:r>
                <a14:m>
                  <m:oMath xmlns:m="http://schemas.openxmlformats.org/officeDocument/2006/math">
                    <m:r>
                      <a:rPr lang="vi-VN" sz="2100" b="0">
                        <a:solidFill>
                          <a:srgbClr val="1E293B"/>
                        </a:solidFill>
                        <a:latin typeface="Cambria Math" panose="02040503050406030204" pitchFamily="18" charset="0"/>
                      </a:rPr>
                      <m:t>ℝ</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=2x−4</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&gt;0</m:t>
                    </m:r>
                  </m:oMath>
                </a14:m>
                <a:r>
                  <a:rPr sz="2100">
                    <a:solidFill>
                      <a:srgbClr val="1E293B"/>
                    </a:solidFill>
                    <a:latin typeface="Calibri"/>
                  </a:rPr>
                  <a:t> với </a:t>
                </a:r>
                <a14:m>
                  <m:oMath xmlns:m="http://schemas.openxmlformats.org/officeDocument/2006/math">
                    <m:r>
                      <a:rPr lang="vi-VN" sz="2100" b="0">
                        <a:solidFill>
                          <a:srgbClr val="1E293B"/>
                        </a:solidFill>
                        <a:latin typeface="Cambria Math" panose="02040503050406030204" pitchFamily="18" charset="0"/>
                      </a:rPr>
                      <m:t>x∈(2;</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&lt;0</m:t>
                    </m:r>
                  </m:oMath>
                </a14:m>
                <a:r>
                  <a:rPr sz="2100">
                    <a:solidFill>
                      <a:srgbClr val="1E293B"/>
                    </a:solidFill>
                    <a:latin typeface="Calibri"/>
                  </a:rPr>
                  <a:t> với </a:t>
                </a:r>
                <a14:m>
                  <m:oMath xmlns:m="http://schemas.openxmlformats.org/officeDocument/2006/math">
                    <m:r>
                      <a:rPr lang="vi-VN" sz="2100" b="0">
                        <a:solidFill>
                          <a:srgbClr val="1E293B"/>
                        </a:solidFill>
                        <a:latin typeface="Cambria Math" panose="02040503050406030204" pitchFamily="18" charset="0"/>
                      </a:rPr>
                      <m:t>x∈(−∞;</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2)</m:t>
                    </m:r>
                  </m:oMath>
                </a14:m>
                <a:r>
                  <a:rPr sz="2100">
                    <a:solidFill>
                      <a:srgbClr val="1E293B"/>
                    </a:solidFill>
                    <a:latin typeface="Calibri"/>
                  </a:rPr>
                  <a:t>. Hàm số đồng biến trên </a:t>
                </a:r>
                <a14:m>
                  <m:oMath xmlns:m="http://schemas.openxmlformats.org/officeDocument/2006/math">
                    <m:d>
                      <m:dPr>
                        <m:sepChr m:val=""/>
                      </m:dPr>
                      <m:e>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 nghịch biến trên </a:t>
                </a:r>
                <a14:m>
                  <m:oMath xmlns:m="http://schemas.openxmlformats.org/officeDocument/2006/math">
                    <m:d>
                      <m:dPr>
                        <m:sepChr m:val="∞"/>
                      </m:dPr>
                      <m:e>
                        <m:r>
                          <a:rPr lang="vi-VN" sz="2100" b="0">
                            <a:solidFill>
                              <a:srgbClr val="1E293B"/>
                            </a:solidFill>
                            <a:latin typeface="Cambria Math" panose="02040503050406030204" pitchFamily="18" charset="0"/>
                          </a:rPr>
                          <m:t>−</m:t>
                        </m:r>
                      </m:e>
                      <m:e>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2</m:t>
                        </m:r>
                      </m:e>
                    </m:d>
                  </m:oMath>
                </a14:m>
                <a:r>
                  <a:rPr sz="2100">
                    <a:solidFill>
                      <a:srgbClr val="1E293B"/>
                    </a:solidFill>
                    <a:latin typeface="Calibri"/>
                  </a:rPr>
                  <a:t>.</a:t>
                </a:r>
              </a:p>
            </p:txBody>
          </p:sp>
        </mc:Choice>
        <mc:Fallback>
          <p:sp>
            <p:nvSpPr>
              <p:cNvPr id="11" name="TextBox 10"/>
              <p:cNvSpPr txBox="1"/>
              <p:nvPr/>
            </p:nvSpPr>
            <p:spPr>
              <a:xfrm>
                <a:off x="713232" y="3410712"/>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a:t>
                </a:r>
                <a:r>
                  <a:rPr lang="vi-VN"/>
                  <a:t>\mathbb{R}</a:t>
                </a:r>
                <a:r>
                  <a:rPr sz="2100">
                    <a:solidFill>
                      <a:srgbClr val="1E293B"/>
                    </a:solidFill>
                    <a:latin typeface="Calibri"/>
                  </a:rPr>
                  <a:t>. </a:t>
                </a:r>
                <a:r>
                  <a:rPr lang="vi-VN"/>
                  <a:t>y'=2x-4</a:t>
                </a:r>
                <a:r>
                  <a:rPr sz="2100">
                    <a:solidFill>
                      <a:srgbClr val="1E293B"/>
                    </a:solidFill>
                    <a:latin typeface="Calibri"/>
                  </a:rPr>
                  <a:t>; </a:t>
                </a:r>
                <a:r>
                  <a:rPr lang="vi-VN"/>
                  <a:t>y'&gt;0</a:t>
                </a:r>
                <a:r>
                  <a:rPr sz="2100">
                    <a:solidFill>
                      <a:srgbClr val="1E293B"/>
                    </a:solidFill>
                    <a:latin typeface="Calibri"/>
                  </a:rPr>
                  <a:t> với </a:t>
                </a:r>
                <a:r>
                  <a:rPr lang="vi-VN"/>
                  <a:t>x\in(2;\ +\infty)</a:t>
                </a:r>
                <a:r>
                  <a:rPr sz="2100">
                    <a:solidFill>
                      <a:srgbClr val="1E293B"/>
                    </a:solidFill>
                    <a:latin typeface="Calibri"/>
                  </a:rPr>
                  <a:t>; </a:t>
                </a:r>
                <a:r>
                  <a:rPr lang="vi-VN"/>
                  <a:t>y'&lt;0</a:t>
                </a:r>
                <a:r>
                  <a:rPr sz="2100">
                    <a:solidFill>
                      <a:srgbClr val="1E293B"/>
                    </a:solidFill>
                    <a:latin typeface="Calibri"/>
                  </a:rPr>
                  <a:t> với </a:t>
                </a:r>
                <a:r>
                  <a:rPr lang="vi-VN"/>
                  <a:t>x\in(-\infty;\ 2)</a:t>
                </a:r>
                <a:r>
                  <a:rPr sz="2100">
                    <a:solidFill>
                      <a:srgbClr val="1E293B"/>
                    </a:solidFill>
                    <a:latin typeface="Calibri"/>
                  </a:rPr>
                  <a:t>. Hàm số đồng biến trên </a:t>
                </a:r>
                <a:r>
                  <a:rPr lang="vi-VN"/>
                  <a:t>(2;\ +\infty)</a:t>
                </a:r>
                <a:r>
                  <a:rPr sz="2100">
                    <a:solidFill>
                      <a:srgbClr val="1E293B"/>
                    </a:solidFill>
                    <a:latin typeface="Calibri"/>
                  </a:rPr>
                  <a:t>, nghịch biến trên </a:t>
                </a:r>
                <a:r>
                  <a:rPr lang="vi-VN"/>
                  <a:t>(-\infty;\ 2)</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4370832"/>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2.</a:t>
                </a:r>
                <a:r>
                  <a:rPr sz="2100">
                    <a:solidFill>
                      <a:srgbClr val="1E293B"/>
                    </a:solidFill>
                    <a:latin typeface="Calibri"/>
                  </a:rPr>
                  <a:t> Tìm các khoảng đồng biến, khoảng nghịch biến của hàm số </a:t>
                </a:r>
                <a14:m>
                  <m:oMath xmlns:m="http://schemas.openxmlformats.org/officeDocument/2006/math">
                    <m:r>
                      <a:rPr lang="vi-VN" sz="2100" b="0">
                        <a:solidFill>
                          <a:srgbClr val="1E293B"/>
                        </a:solidFill>
                        <a:latin typeface="Cambria Math" panose="02040503050406030204" pitchFamily="18" charset="0"/>
                      </a:rPr>
                      <m:t>y=−</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+2x+3</m:t>
                    </m:r>
                  </m:oMath>
                </a14:m>
                <a:r>
                  <a:rPr sz="2100">
                    <a:solidFill>
                      <a:srgbClr val="1E293B"/>
                    </a:solidFill>
                    <a:latin typeface="Calibri"/>
                  </a:rPr>
                  <a:t>.</a:t>
                </a:r>
              </a:p>
            </p:txBody>
          </p:sp>
        </mc:Choice>
        <mc:Fallback>
          <p:sp>
            <p:nvSpPr>
              <p:cNvPr id="12" name="TextBox 11"/>
              <p:cNvSpPr txBox="1"/>
              <p:nvPr/>
            </p:nvSpPr>
            <p:spPr>
              <a:xfrm>
                <a:off x="548640" y="4370832"/>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2.</a:t>
                </a:r>
                <a:r>
                  <a:rPr sz="2100">
                    <a:solidFill>
                      <a:srgbClr val="1E293B"/>
                    </a:solidFill>
                    <a:latin typeface="Calibri"/>
                  </a:rPr>
                  <a:t> Tìm các khoảng đồng biến, khoảng nghịch biến của hàm số </a:t>
                </a:r>
                <a:r>
                  <a:rPr lang="vi-VN"/>
                  <a:t>y=-x^2+2x+3</a:t>
                </a:r>
                <a:r>
                  <a:rPr sz="2100">
                    <a:solidFill>
                      <a:srgbClr val="1E293B"/>
                    </a:solidFill>
                    <a:latin typeface="Calibri"/>
                  </a:rPr>
                  <a:t>.</a:t>
                </a:r>
              </a:p>
            </p:txBody>
          </p:sp>
        </mc:Fallback>
      </mc:AlternateContent>
      <p:sp>
        <p:nvSpPr>
          <p:cNvPr id="13" name="s4_nen"/>
          <p:cNvSpPr/>
          <p:nvPr/>
        </p:nvSpPr>
        <p:spPr>
          <a:xfrm>
            <a:off x="548640" y="5276088"/>
            <a:ext cx="11064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312664"/>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=−2x+2</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&gt;0</m:t>
                    </m:r>
                  </m:oMath>
                </a14:m>
                <a:r>
                  <a:rPr sz="2100">
                    <a:solidFill>
                      <a:srgbClr val="1E293B"/>
                    </a:solidFill>
                    <a:latin typeface="Calibri"/>
                  </a:rPr>
                  <a:t> khi </a:t>
                </a:r>
                <a14:m>
                  <m:oMath xmlns:m="http://schemas.openxmlformats.org/officeDocument/2006/math">
                    <m:r>
                      <a:rPr lang="vi-VN" sz="2100" b="0">
                        <a:solidFill>
                          <a:srgbClr val="1E293B"/>
                        </a:solidFill>
                        <a:latin typeface="Cambria Math" panose="02040503050406030204" pitchFamily="18" charset="0"/>
                      </a:rPr>
                      <m:t>x&lt;1</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&lt;0</m:t>
                    </m:r>
                  </m:oMath>
                </a14:m>
                <a:r>
                  <a:rPr sz="2100">
                    <a:solidFill>
                      <a:srgbClr val="1E293B"/>
                    </a:solidFill>
                    <a:latin typeface="Calibri"/>
                  </a:rPr>
                  <a:t> khi </a:t>
                </a:r>
                <a14:m>
                  <m:oMath xmlns:m="http://schemas.openxmlformats.org/officeDocument/2006/math">
                    <m:r>
                      <a:rPr lang="vi-VN" sz="2100" b="0">
                        <a:solidFill>
                          <a:srgbClr val="1E293B"/>
                        </a:solidFill>
                        <a:latin typeface="Cambria Math" panose="02040503050406030204" pitchFamily="18" charset="0"/>
                      </a:rPr>
                      <m:t>x&gt;1</m:t>
                    </m:r>
                  </m:oMath>
                </a14:m>
                <a:r>
                  <a:rPr sz="2100">
                    <a:solidFill>
                      <a:srgbClr val="1E293B"/>
                    </a:solidFill>
                    <a:latin typeface="Calibri"/>
                  </a:rPr>
                  <a:t>: đồng biến trên </a:t>
                </a:r>
                <a14:m>
                  <m:oMath xmlns:m="http://schemas.openxmlformats.org/officeDocument/2006/math">
                    <m:d>
                      <m:dPr>
                        <m:sepChr m:val="∞"/>
                      </m:dPr>
                      <m:e>
                        <m:r>
                          <a:rPr lang="vi-VN" sz="2100" b="0">
                            <a:solidFill>
                              <a:srgbClr val="1E293B"/>
                            </a:solidFill>
                            <a:latin typeface="Cambria Math" panose="02040503050406030204" pitchFamily="18" charset="0"/>
                          </a:rPr>
                          <m:t>−</m:t>
                        </m:r>
                      </m:e>
                      <m:e>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m:t>
                        </m:r>
                      </m:e>
                    </m:d>
                  </m:oMath>
                </a14:m>
                <a:r>
                  <a:rPr sz="2100">
                    <a:solidFill>
                      <a:srgbClr val="1E293B"/>
                    </a:solidFill>
                    <a:latin typeface="Calibri"/>
                  </a:rPr>
                  <a:t>, nghịch biến trên </a:t>
                </a:r>
                <a14:m>
                  <m:oMath xmlns:m="http://schemas.openxmlformats.org/officeDocument/2006/math">
                    <m:d>
                      <m:dPr>
                        <m:sepChr m:val=""/>
                      </m:dPr>
                      <m:e>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a:t>
                </a:r>
              </a:p>
            </p:txBody>
          </p:sp>
        </mc:Choice>
        <mc:Fallback>
          <p:sp>
            <p:nvSpPr>
              <p:cNvPr id="14" name="TextBox 13"/>
              <p:cNvSpPr txBox="1"/>
              <p:nvPr/>
            </p:nvSpPr>
            <p:spPr>
              <a:xfrm>
                <a:off x="713232" y="5312664"/>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y'=-2x+2</a:t>
                </a:r>
                <a:r>
                  <a:rPr sz="2100">
                    <a:solidFill>
                      <a:srgbClr val="1E293B"/>
                    </a:solidFill>
                    <a:latin typeface="Calibri"/>
                  </a:rPr>
                  <a:t>; </a:t>
                </a:r>
                <a:r>
                  <a:rPr lang="vi-VN"/>
                  <a:t>y'&gt;0</a:t>
                </a:r>
                <a:r>
                  <a:rPr sz="2100">
                    <a:solidFill>
                      <a:srgbClr val="1E293B"/>
                    </a:solidFill>
                    <a:latin typeface="Calibri"/>
                  </a:rPr>
                  <a:t> khi </a:t>
                </a:r>
                <a:r>
                  <a:rPr lang="vi-VN"/>
                  <a:t>x&lt;1</a:t>
                </a:r>
                <a:r>
                  <a:rPr sz="2100">
                    <a:solidFill>
                      <a:srgbClr val="1E293B"/>
                    </a:solidFill>
                    <a:latin typeface="Calibri"/>
                  </a:rPr>
                  <a:t>, </a:t>
                </a:r>
                <a:r>
                  <a:rPr lang="vi-VN"/>
                  <a:t>y'&lt;0</a:t>
                </a:r>
                <a:r>
                  <a:rPr sz="2100">
                    <a:solidFill>
                      <a:srgbClr val="1E293B"/>
                    </a:solidFill>
                    <a:latin typeface="Calibri"/>
                  </a:rPr>
                  <a:t> khi </a:t>
                </a:r>
                <a:r>
                  <a:rPr lang="vi-VN"/>
                  <a:t>x&gt;1</a:t>
                </a:r>
                <a:r>
                  <a:rPr sz="2100">
                    <a:solidFill>
                      <a:srgbClr val="1E293B"/>
                    </a:solidFill>
                    <a:latin typeface="Calibri"/>
                  </a:rPr>
                  <a:t>: đồng biến trên </a:t>
                </a:r>
                <a:r>
                  <a:rPr lang="vi-VN"/>
                  <a:t>(-\infty;\ 1)</a:t>
                </a:r>
                <a:r>
                  <a:rPr sz="2100">
                    <a:solidFill>
                      <a:srgbClr val="1E293B"/>
                    </a:solidFill>
                    <a:latin typeface="Calibri"/>
                  </a:rPr>
                  <a:t>, nghịch biến trên </a:t>
                </a:r>
                <a:r>
                  <a:rPr lang="vi-VN"/>
                  <a:t>(1;\ +\infty)</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HĐ3 – XÉT TÍNH ĐƠN ĐIỆU BẰNG BẢNG BIẾN THIÊN (SGK TR.7)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14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HĐ3.</a:t>
                </a:r>
                <a:r>
                  <a:rPr sz="2100">
                    <a:solidFill>
                      <a:srgbClr val="1E293B"/>
                    </a:solidFill>
                    <a:latin typeface="Calibri"/>
                  </a:rPr>
                  <a:t> Cho hàm số </a:t>
                </a:r>
                <a14:m>
                  <m:oMath xmlns:m="http://schemas.openxmlformats.org/officeDocument/2006/math">
                    <m:r>
                      <a:rPr lang="vi-VN" sz="2100" b="0">
                        <a:solidFill>
                          <a:srgbClr val="1E293B"/>
                        </a:solidFill>
                        <a:latin typeface="Cambria Math" panose="02040503050406030204" pitchFamily="18" charset="0"/>
                      </a:rPr>
                      <m:t>y=f(x)=</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3</m:t>
                        </m:r>
                      </m:sup>
                    </m:sSup>
                    <m:r>
                      <a:rPr lang="vi-VN" sz="2100" b="0">
                        <a:solidFill>
                          <a:srgbClr val="1E293B"/>
                        </a:solidFill>
                        <a:latin typeface="Cambria Math" panose="02040503050406030204" pitchFamily="18" charset="0"/>
                      </a:rPr>
                      <m:t>−3</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+2x+1</m:t>
                    </m:r>
                  </m:oMath>
                </a14:m>
                <a:r>
                  <a:rPr sz="2100">
                    <a:solidFill>
                      <a:srgbClr val="1E293B"/>
                    </a:solidFill>
                    <a:latin typeface="Calibri"/>
                  </a:rPr>
                  <a:t>. a) Tính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m:t>
                    </m:r>
                  </m:oMath>
                </a14:m>
                <a:r>
                  <a:rPr sz="2100">
                    <a:solidFill>
                      <a:srgbClr val="1E293B"/>
                    </a:solidFill>
                    <a:latin typeface="Calibri"/>
                  </a:rPr>
                  <a:t> và tìm các điểm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mà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(x)=0</m:t>
                    </m:r>
                  </m:oMath>
                </a14:m>
                <a:r>
                  <a:rPr sz="2100">
                    <a:solidFill>
                      <a:srgbClr val="1E293B"/>
                    </a:solidFill>
                    <a:latin typeface="Calibri"/>
                  </a:rPr>
                  <a:t>. b) Lập bảng biến thiên của hàm số. c) Nêu kết luận về khoảng đồng biến, khoảng nghịch biến của hàm số.</a:t>
                </a:r>
              </a:p>
            </p:txBody>
          </p:sp>
        </mc:Choice>
        <mc:Fallback>
          <p:sp>
            <p:nvSpPr>
              <p:cNvPr id="7" name="TextBox 6"/>
              <p:cNvSpPr txBox="1"/>
              <p:nvPr/>
            </p:nvSpPr>
            <p:spPr>
              <a:xfrm>
                <a:off x="548640" y="1371600"/>
                <a:ext cx="110642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HĐ3.</a:t>
                </a:r>
                <a:r>
                  <a:rPr sz="2100">
                    <a:solidFill>
                      <a:srgbClr val="1E293B"/>
                    </a:solidFill>
                    <a:latin typeface="Calibri"/>
                  </a:rPr>
                  <a:t> Cho hàm số </a:t>
                </a:r>
                <a:r>
                  <a:rPr lang="vi-VN"/>
                  <a:t>y=f(x)=x^3-3x^2+2x+1</a:t>
                </a:r>
                <a:r>
                  <a:rPr sz="2100">
                    <a:solidFill>
                      <a:srgbClr val="1E293B"/>
                    </a:solidFill>
                    <a:latin typeface="Calibri"/>
                  </a:rPr>
                  <a:t>. a) Tính </a:t>
                </a:r>
                <a:r>
                  <a:rPr lang="vi-VN"/>
                  <a:t>f'(x)</a:t>
                </a:r>
                <a:r>
                  <a:rPr sz="2100">
                    <a:solidFill>
                      <a:srgbClr val="1E293B"/>
                    </a:solidFill>
                    <a:latin typeface="Calibri"/>
                  </a:rPr>
                  <a:t> và tìm các điểm </a:t>
                </a:r>
                <a:r>
                  <a:rPr lang="vi-VN"/>
                  <a:t>x</a:t>
                </a:r>
                <a:r>
                  <a:rPr sz="2100">
                    <a:solidFill>
                      <a:srgbClr val="1E293B"/>
                    </a:solidFill>
                    <a:latin typeface="Calibri"/>
                  </a:rPr>
                  <a:t> mà </a:t>
                </a:r>
                <a:r>
                  <a:rPr lang="vi-VN"/>
                  <a:t>f'(x)=0</a:t>
                </a:r>
                <a:r>
                  <a:rPr sz="2100">
                    <a:solidFill>
                      <a:srgbClr val="1E293B"/>
                    </a:solidFill>
                    <a:latin typeface="Calibri"/>
                  </a:rPr>
                  <a:t>. b) Lập bảng biến thiên của hàm số. c) Nêu kết luận về khoảng đồng biến, khoảng nghịch biến của hàm số.</a:t>
                </a:r>
              </a:p>
            </p:txBody>
          </p:sp>
        </mc:Fallback>
      </mc:AlternateContent>
      <p:sp>
        <p:nvSpPr>
          <p:cNvPr id="8" name="s1_nen"/>
          <p:cNvSpPr/>
          <p:nvPr/>
        </p:nvSpPr>
        <p:spPr>
          <a:xfrm>
            <a:off x="548640" y="2596896"/>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33472"/>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(x)=3</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−6x+2</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(x)=0⇔x=1−</m:t>
                    </m:r>
                    <m:f>
                      <m:fPr>
                        <m:type m:val="bar"/>
                      </m:fPr>
                      <m:num>
                        <m:rad>
                          <m:radPr>
                            <m:degHide m:val="on"/>
                          </m:radPr>
                          <m:deg/>
                          <m:e>
                            <m:r>
                              <a:rPr lang="vi-VN" sz="2100" b="0">
                                <a:solidFill>
                                  <a:srgbClr val="1E293B"/>
                                </a:solidFill>
                                <a:latin typeface="Cambria Math" panose="02040503050406030204" pitchFamily="18" charset="0"/>
                              </a:rPr>
                              <m:t>3</m:t>
                            </m:r>
                          </m:e>
                        </m:rad>
                      </m:num>
                      <m:den>
                        <m:r>
                          <a:rPr lang="vi-VN" sz="2100" b="0">
                            <a:solidFill>
                              <a:srgbClr val="1E293B"/>
                            </a:solidFill>
                            <a:latin typeface="Cambria Math" panose="02040503050406030204" pitchFamily="18" charset="0"/>
                          </a:rPr>
                          <m:t>3</m:t>
                        </m:r>
                      </m:den>
                    </m:f>
                  </m:oMath>
                </a14:m>
                <a:r>
                  <a:rPr sz="2100">
                    <a:solidFill>
                      <a:srgbClr val="1E293B"/>
                    </a:solidFill>
                    <a:latin typeface="Calibri"/>
                  </a:rPr>
                  <a:t> hoặc </a:t>
                </a:r>
                <a14:m>
                  <m:oMath xmlns:m="http://schemas.openxmlformats.org/officeDocument/2006/math">
                    <m:r>
                      <a:rPr lang="vi-VN" sz="2100" b="0">
                        <a:solidFill>
                          <a:srgbClr val="1E293B"/>
                        </a:solidFill>
                        <a:latin typeface="Cambria Math" panose="02040503050406030204" pitchFamily="18" charset="0"/>
                      </a:rPr>
                      <m:t>x=1+</m:t>
                    </m:r>
                    <m:f>
                      <m:fPr>
                        <m:type m:val="bar"/>
                      </m:fPr>
                      <m:num>
                        <m:rad>
                          <m:radPr>
                            <m:degHide m:val="on"/>
                          </m:radPr>
                          <m:deg/>
                          <m:e>
                            <m:r>
                              <a:rPr lang="vi-VN" sz="2100" b="0">
                                <a:solidFill>
                                  <a:srgbClr val="1E293B"/>
                                </a:solidFill>
                                <a:latin typeface="Cambria Math" panose="02040503050406030204" pitchFamily="18" charset="0"/>
                              </a:rPr>
                              <m:t>3</m:t>
                            </m:r>
                          </m:e>
                        </m:rad>
                      </m:num>
                      <m:den>
                        <m:r>
                          <a:rPr lang="vi-VN" sz="2100" b="0">
                            <a:solidFill>
                              <a:srgbClr val="1E293B"/>
                            </a:solidFill>
                            <a:latin typeface="Cambria Math" panose="02040503050406030204" pitchFamily="18" charset="0"/>
                          </a:rPr>
                          <m:t>3</m:t>
                        </m:r>
                      </m:den>
                    </m:f>
                  </m:oMath>
                </a14:m>
                <a:r>
                  <a:rPr sz="2100">
                    <a:solidFill>
                      <a:srgbClr val="1E293B"/>
                    </a:solidFill>
                    <a:latin typeface="Calibri"/>
                  </a:rPr>
                  <a:t>. b) Bảng biến thiên:</a:t>
                </a:r>
              </a:p>
            </p:txBody>
          </p:sp>
        </mc:Choice>
        <mc:Fallback>
          <p:sp>
            <p:nvSpPr>
              <p:cNvPr id="9" name="TextBox 8"/>
              <p:cNvSpPr txBox="1"/>
              <p:nvPr/>
            </p:nvSpPr>
            <p:spPr>
              <a:xfrm>
                <a:off x="713232" y="2633472"/>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f'(x)=3x^2-6x+2</a:t>
                </a:r>
                <a:r>
                  <a:rPr sz="2100">
                    <a:solidFill>
                      <a:srgbClr val="1E293B"/>
                    </a:solidFill>
                    <a:latin typeface="Calibri"/>
                  </a:rPr>
                  <a:t>; </a:t>
                </a:r>
                <a:r>
                  <a:rPr lang="vi-VN"/>
                  <a:t>f'(x)=0\Leftrightarrow x=1-\frac{\sqrt{3}}{3}</a:t>
                </a:r>
                <a:r>
                  <a:rPr sz="2100">
                    <a:solidFill>
                      <a:srgbClr val="1E293B"/>
                    </a:solidFill>
                    <a:latin typeface="Calibri"/>
                  </a:rPr>
                  <a:t> hoặc </a:t>
                </a:r>
                <a:r>
                  <a:rPr lang="vi-VN"/>
                  <a:t>x=1+\frac{\sqrt{3}}{3}</a:t>
                </a:r>
                <a:r>
                  <a:rPr sz="2100">
                    <a:solidFill>
                      <a:srgbClr val="1E293B"/>
                    </a:solidFill>
                    <a:latin typeface="Calibri"/>
                  </a:rPr>
                  <a:t>. b) Bảng biến thiên:</a:t>
                </a:r>
              </a:p>
            </p:txBody>
          </p:sp>
        </mc:Fallback>
      </mc:AlternateContent>
      <p:pic>
        <p:nvPicPr>
          <p:cNvPr id="10" name="s2_bbt" descr="b1_hd3.png"/>
          <p:cNvPicPr>
            <a:picLocks noChangeAspect="1"/>
          </p:cNvPicPr>
          <p:nvPr/>
        </p:nvPicPr>
        <p:blipFill>
          <a:blip r:embed="rId3"/>
          <a:stretch>
            <a:fillRect/>
          </a:stretch>
        </p:blipFill>
        <p:spPr>
          <a:xfrm>
            <a:off x="4084906" y="3579876"/>
            <a:ext cx="3991707" cy="1463040"/>
          </a:xfrm>
          <a:prstGeom prst="rect">
            <a:avLst/>
          </a:prstGeom>
        </p:spPr>
      </p:pic>
      <p:sp>
        <p:nvSpPr>
          <p:cNvPr id="11" name="s3_nen"/>
          <p:cNvSpPr/>
          <p:nvPr/>
        </p:nvSpPr>
        <p:spPr>
          <a:xfrm>
            <a:off x="548640" y="5116068"/>
            <a:ext cx="11064240" cy="101727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5152644"/>
                <a:ext cx="10735056" cy="94411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 Đồng biến trên </a:t>
                </a:r>
                <a14:m>
                  <m:oMath xmlns:m="http://schemas.openxmlformats.org/officeDocument/2006/math">
                    <m:d>
                      <m:dPr>
                        <m:sepChr m:val="∞"/>
                      </m:dPr>
                      <m:e>
                        <m:r>
                          <a:rPr lang="vi-VN" sz="2100" b="0">
                            <a:solidFill>
                              <a:srgbClr val="1E293B"/>
                            </a:solidFill>
                            <a:latin typeface="Cambria Math" panose="02040503050406030204" pitchFamily="18" charset="0"/>
                          </a:rPr>
                          <m:t>−</m:t>
                        </m:r>
                      </m:e>
                      <m:e>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f>
                          <m:fPr>
                            <m:type m:val="bar"/>
                          </m:fPr>
                          <m:num>
                            <m:rad>
                              <m:radPr>
                                <m:degHide m:val="on"/>
                              </m:radPr>
                              <m:deg/>
                              <m:e>
                                <m:r>
                                  <a:rPr lang="vi-VN" sz="2100" b="0">
                                    <a:solidFill>
                                      <a:srgbClr val="1E293B"/>
                                    </a:solidFill>
                                    <a:latin typeface="Cambria Math" panose="02040503050406030204" pitchFamily="18" charset="0"/>
                                  </a:rPr>
                                  <m:t>3</m:t>
                                </m:r>
                              </m:e>
                            </m:rad>
                          </m:num>
                          <m:den>
                            <m:r>
                              <a:rPr lang="vi-VN" sz="2100" b="0">
                                <a:solidFill>
                                  <a:srgbClr val="1E293B"/>
                                </a:solidFill>
                                <a:latin typeface="Cambria Math" panose="02040503050406030204" pitchFamily="18" charset="0"/>
                              </a:rPr>
                              <m:t>3</m:t>
                            </m:r>
                          </m:den>
                        </m:f>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f>
                          <m:fPr>
                            <m:type m:val="bar"/>
                          </m:fPr>
                          <m:num>
                            <m:rad>
                              <m:radPr>
                                <m:degHide m:val="on"/>
                              </m:radPr>
                              <m:deg/>
                              <m:e>
                                <m:r>
                                  <a:rPr lang="vi-VN" sz="2100" b="0">
                                    <a:solidFill>
                                      <a:srgbClr val="1E293B"/>
                                    </a:solidFill>
                                    <a:latin typeface="Cambria Math" panose="02040503050406030204" pitchFamily="18" charset="0"/>
                                  </a:rPr>
                                  <m:t>3</m:t>
                                </m:r>
                              </m:e>
                            </m:rad>
                          </m:num>
                          <m:den>
                            <m:r>
                              <a:rPr lang="vi-VN" sz="2100" b="0">
                                <a:solidFill>
                                  <a:srgbClr val="1E293B"/>
                                </a:solidFill>
                                <a:latin typeface="Cambria Math" panose="02040503050406030204" pitchFamily="18" charset="0"/>
                              </a:rPr>
                              <m:t>3</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 nghịch biến trên </a:t>
                </a:r>
                <a14:m>
                  <m:oMath xmlns:m="http://schemas.openxmlformats.org/officeDocument/2006/math">
                    <m:d>
                      <m:dPr>
                        <m:sepChr m:val="+"/>
                      </m:dPr>
                      <m:e>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f>
                          <m:fPr>
                            <m:type m:val="bar"/>
                          </m:fPr>
                          <m:num>
                            <m:rad>
                              <m:radPr>
                                <m:degHide m:val="on"/>
                              </m:radPr>
                              <m:deg/>
                              <m:e>
                                <m:r>
                                  <a:rPr lang="vi-VN" sz="2100" b="0">
                                    <a:solidFill>
                                      <a:srgbClr val="1E293B"/>
                                    </a:solidFill>
                                    <a:latin typeface="Cambria Math" panose="02040503050406030204" pitchFamily="18" charset="0"/>
                                  </a:rPr>
                                  <m:t>3</m:t>
                                </m:r>
                              </m:e>
                            </m:rad>
                          </m:num>
                          <m:den>
                            <m:r>
                              <a:rPr lang="vi-VN" sz="2100" b="0">
                                <a:solidFill>
                                  <a:srgbClr val="1E293B"/>
                                </a:solidFill>
                                <a:latin typeface="Cambria Math" panose="02040503050406030204" pitchFamily="18" charset="0"/>
                              </a:rPr>
                              <m:t>3</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m:t>
                        </m:r>
                      </m:e>
                      <m:e>
                        <m:f>
                          <m:fPr>
                            <m:type m:val="bar"/>
                          </m:fPr>
                          <m:num>
                            <m:rad>
                              <m:radPr>
                                <m:degHide m:val="on"/>
                              </m:radPr>
                              <m:deg/>
                              <m:e>
                                <m:r>
                                  <a:rPr lang="vi-VN" sz="2100" b="0">
                                    <a:solidFill>
                                      <a:srgbClr val="1E293B"/>
                                    </a:solidFill>
                                    <a:latin typeface="Cambria Math" panose="02040503050406030204" pitchFamily="18" charset="0"/>
                                  </a:rPr>
                                  <m:t>3</m:t>
                                </m:r>
                              </m:e>
                            </m:rad>
                          </m:num>
                          <m:den>
                            <m:r>
                              <a:rPr lang="vi-VN" sz="2100" b="0">
                                <a:solidFill>
                                  <a:srgbClr val="1E293B"/>
                                </a:solidFill>
                                <a:latin typeface="Cambria Math" panose="02040503050406030204" pitchFamily="18" charset="0"/>
                              </a:rPr>
                              <m:t>3</m:t>
                            </m:r>
                          </m:den>
                        </m:f>
                      </m:e>
                    </m:d>
                  </m:oMath>
                </a14:m>
                <a:r>
                  <a:rPr sz="2100">
                    <a:solidFill>
                      <a:srgbClr val="1E293B"/>
                    </a:solidFill>
                    <a:latin typeface="Calibri"/>
                  </a:rPr>
                  <a:t>.</a:t>
                </a:r>
              </a:p>
            </p:txBody>
          </p:sp>
        </mc:Choice>
        <mc:Fallback>
          <p:sp>
            <p:nvSpPr>
              <p:cNvPr id="12" name="TextBox 11"/>
              <p:cNvSpPr txBox="1"/>
              <p:nvPr/>
            </p:nvSpPr>
            <p:spPr>
              <a:xfrm>
                <a:off x="713232" y="5152644"/>
                <a:ext cx="10735056" cy="94411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 Đồng biến trên </a:t>
                </a:r>
                <a:r>
                  <a:rPr lang="vi-VN"/>
                  <a:t>\left(-\infty;\ 1-\frac{\sqrt{3}}{3}\right)</a:t>
                </a:r>
                <a:r>
                  <a:rPr sz="2100">
                    <a:solidFill>
                      <a:srgbClr val="1E293B"/>
                    </a:solidFill>
                    <a:latin typeface="Calibri"/>
                  </a:rPr>
                  <a:t> và </a:t>
                </a:r>
                <a:r>
                  <a:rPr lang="vi-VN"/>
                  <a:t>\left(1+\frac{\sqrt{3}}{3};\ +\infty\right)</a:t>
                </a:r>
                <a:r>
                  <a:rPr sz="2100">
                    <a:solidFill>
                      <a:srgbClr val="1E293B"/>
                    </a:solidFill>
                    <a:latin typeface="Calibri"/>
                  </a:rPr>
                  <a:t>; nghịch biến trên </a:t>
                </a:r>
                <a:r>
                  <a:rPr lang="vi-VN"/>
                  <a:t>\left(1-\frac{\sqrt{3}}{3};\ 1+\frac{\sqrt{3}}{3}\right)</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CÁC BƯỚC XÉT TÍNH ĐƠN ĐIỆU (SGK TR.8)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15</a:t>
            </a:r>
          </a:p>
        </p:txBody>
      </p:sp>
      <p:sp>
        <p:nvSpPr>
          <p:cNvPr id="7" name="Rounded Rectangle 6"/>
          <p:cNvSpPr/>
          <p:nvPr/>
        </p:nvSpPr>
        <p:spPr>
          <a:xfrm>
            <a:off x="548640" y="1645920"/>
            <a:ext cx="11064240" cy="3837431"/>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682496"/>
                <a:ext cx="10735056" cy="3764279"/>
              </a:xfrm>
              <a:prstGeom prst="rect">
                <a:avLst/>
              </a:prstGeom>
              <a:noFill/>
            </p:spPr>
            <p:txBody>
              <a:bodyPr wrap="square" anchor="ctr" lIns="45720" rIns="45720">
                <a:spAutoFit/>
              </a:bodyPr>
              <a:lstStyle/>
              <a:p>
                <a:pPr algn="l">
                  <a:spcAft>
                    <a:spcPts val="800"/>
                  </a:spcAft>
                </a:pPr>
                <a:r>
                  <a:rPr sz="2600" b="1">
                    <a:solidFill>
                      <a:srgbClr val="1E293B"/>
                    </a:solidFill>
                    <a:latin typeface="Calibri"/>
                  </a:rPr>
                  <a:t>Chú ý.</a:t>
                </a:r>
                <a:r>
                  <a:rPr sz="2600">
                    <a:solidFill>
                      <a:srgbClr val="1E293B"/>
                    </a:solidFill>
                    <a:latin typeface="Calibri"/>
                  </a:rPr>
                  <a:t> Các bước để xét tính đơn điệu của hàm số </a:t>
                </a:r>
                <a14:m>
                  <m:oMath xmlns:m="http://schemas.openxmlformats.org/officeDocument/2006/math">
                    <m:r>
                      <a:rPr lang="vi-VN" sz="2600" b="0">
                        <a:solidFill>
                          <a:srgbClr val="1E293B"/>
                        </a:solidFill>
                        <a:latin typeface="Cambria Math" panose="02040503050406030204" pitchFamily="18" charset="0"/>
                      </a:rPr>
                      <m:t>y=f(x)</m:t>
                    </m:r>
                  </m:oMath>
                </a14:m>
                <a:r>
                  <a:rPr sz="2600">
                    <a:solidFill>
                      <a:srgbClr val="1E293B"/>
                    </a:solidFill>
                    <a:latin typeface="Calibri"/>
                  </a:rPr>
                  <a:t>:</a:t>
                </a:r>
              </a:p>
              <a:p>
                <a:pPr algn="l">
                  <a:spcAft>
                    <a:spcPts val="800"/>
                  </a:spcAft>
                </a:pPr>
                <a:r>
                  <a:rPr sz="2600">
                    <a:solidFill>
                      <a:srgbClr val="1E293B"/>
                    </a:solidFill>
                    <a:latin typeface="Calibri"/>
                  </a:rPr>
                  <a:t>1. Tìm tập xác định của hàm số.</a:t>
                </a:r>
              </a:p>
              <a:p>
                <a:pPr algn="l">
                  <a:spcAft>
                    <a:spcPts val="800"/>
                  </a:spcAft>
                </a:pPr>
                <a:r>
                  <a:rPr sz="2600">
                    <a:solidFill>
                      <a:srgbClr val="1E293B"/>
                    </a:solidFill>
                    <a:latin typeface="Calibri"/>
                  </a:rPr>
                  <a:t>2. Tính đạo hàm </a:t>
                </a:r>
                <a14:m>
                  <m:oMath xmlns:m="http://schemas.openxmlformats.org/officeDocument/2006/math">
                    <m:sSup>
                      <m:e>
                        <m:r>
                          <a:rPr lang="vi-VN" sz="2600" b="0">
                            <a:solidFill>
                              <a:srgbClr val="1E293B"/>
                            </a:solidFill>
                            <a:latin typeface="Cambria Math" panose="02040503050406030204" pitchFamily="18" charset="0"/>
                          </a:rPr>
                          <m:t>f</m:t>
                        </m:r>
                      </m:e>
                      <m:sup>
                        <m:r>
                          <a:rPr lang="vi-VN" sz="2600" b="0">
                            <a:solidFill>
                              <a:srgbClr val="1E293B"/>
                            </a:solidFill>
                            <a:latin typeface="Cambria Math" panose="02040503050406030204" pitchFamily="18" charset="0"/>
                          </a:rPr>
                          <m:t>′</m:t>
                        </m:r>
                      </m:sup>
                    </m:sSup>
                    <m:r>
                      <a:rPr lang="vi-VN" sz="2600" b="0">
                        <a:solidFill>
                          <a:srgbClr val="1E293B"/>
                        </a:solidFill>
                        <a:latin typeface="Cambria Math" panose="02040503050406030204" pitchFamily="18" charset="0"/>
                      </a:rPr>
                      <m:t>(x)</m:t>
                    </m:r>
                  </m:oMath>
                </a14:m>
                <a:r>
                  <a:rPr sz="2600">
                    <a:solidFill>
                      <a:srgbClr val="1E293B"/>
                    </a:solidFill>
                    <a:latin typeface="Calibri"/>
                  </a:rPr>
                  <a:t>. Tìm các điểm </a:t>
                </a:r>
                <a14:m>
                  <m:oMath xmlns:m="http://schemas.openxmlformats.org/officeDocument/2006/math">
                    <m:sSub>
                      <m:e>
                        <m:r>
                          <a:rPr lang="vi-VN" sz="2600" b="0">
                            <a:solidFill>
                              <a:srgbClr val="1E293B"/>
                            </a:solidFill>
                            <a:latin typeface="Cambria Math" panose="02040503050406030204" pitchFamily="18" charset="0"/>
                          </a:rPr>
                          <m:t>x</m:t>
                        </m:r>
                      </m:e>
                      <m:sub>
                        <m:r>
                          <a:rPr lang="vi-VN" sz="2600" b="0">
                            <a:solidFill>
                              <a:srgbClr val="1E293B"/>
                            </a:solidFill>
                            <a:latin typeface="Cambria Math" panose="02040503050406030204" pitchFamily="18" charset="0"/>
                          </a:rPr>
                          <m:t>i</m:t>
                        </m:r>
                      </m:sub>
                    </m:sSub>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i=1,</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2,…</m:t>
                    </m:r>
                  </m:oMath>
                </a14:m>
                <a:r>
                  <a:rPr sz="2600">
                    <a:solidFill>
                      <a:srgbClr val="1E293B"/>
                    </a:solidFill>
                    <a:latin typeface="Calibri"/>
                  </a:rPr>
                  <a:t>) mà tại đó đạo hàm bằng 0 hoặc không tồn tại.</a:t>
                </a:r>
              </a:p>
              <a:p>
                <a:pPr algn="l">
                  <a:spcAft>
                    <a:spcPts val="800"/>
                  </a:spcAft>
                </a:pPr>
                <a:r>
                  <a:rPr sz="2600">
                    <a:solidFill>
                      <a:srgbClr val="1E293B"/>
                    </a:solidFill>
                    <a:latin typeface="Calibri"/>
                  </a:rPr>
                  <a:t>3. Sắp xếp các điểm </a:t>
                </a:r>
                <a14:m>
                  <m:oMath xmlns:m="http://schemas.openxmlformats.org/officeDocument/2006/math">
                    <m:sSub>
                      <m:e>
                        <m:r>
                          <a:rPr lang="vi-VN" sz="2600" b="0">
                            <a:solidFill>
                              <a:srgbClr val="1E293B"/>
                            </a:solidFill>
                            <a:latin typeface="Cambria Math" panose="02040503050406030204" pitchFamily="18" charset="0"/>
                          </a:rPr>
                          <m:t>x</m:t>
                        </m:r>
                      </m:e>
                      <m:sub>
                        <m:r>
                          <a:rPr lang="vi-VN" sz="2600" b="0">
                            <a:solidFill>
                              <a:srgbClr val="1E293B"/>
                            </a:solidFill>
                            <a:latin typeface="Cambria Math" panose="02040503050406030204" pitchFamily="18" charset="0"/>
                          </a:rPr>
                          <m:t>i</m:t>
                        </m:r>
                      </m:sub>
                    </m:sSub>
                  </m:oMath>
                </a14:m>
                <a:r>
                  <a:rPr sz="2600">
                    <a:solidFill>
                      <a:srgbClr val="1E293B"/>
                    </a:solidFill>
                    <a:latin typeface="Calibri"/>
                  </a:rPr>
                  <a:t> theo thứ tự tăng dần và lập bảng biến thiên của hàm số.</a:t>
                </a:r>
              </a:p>
              <a:p>
                <a:pPr algn="l">
                  <a:spcAft>
                    <a:spcPts val="800"/>
                  </a:spcAft>
                </a:pPr>
                <a:r>
                  <a:rPr sz="2600">
                    <a:solidFill>
                      <a:srgbClr val="1E293B"/>
                    </a:solidFill>
                    <a:latin typeface="Calibri"/>
                  </a:rPr>
                  <a:t>4. Nêu kết luận về khoảng đồng biến, khoảng nghịch biến của hàm số.</a:t>
                </a:r>
              </a:p>
            </p:txBody>
          </p:sp>
        </mc:Choice>
        <mc:Fallback>
          <p:sp>
            <p:nvSpPr>
              <p:cNvPr id="8" name="TextBox 7"/>
              <p:cNvSpPr txBox="1"/>
              <p:nvPr/>
            </p:nvSpPr>
            <p:spPr>
              <a:xfrm>
                <a:off x="713232" y="1682496"/>
                <a:ext cx="10735056" cy="3764279"/>
              </a:xfrm>
              <a:prstGeom prst="rect">
                <a:avLst/>
              </a:prstGeom>
              <a:noFill/>
            </p:spPr>
            <p:txBody>
              <a:bodyPr wrap="square" anchor="ctr" lIns="45720" rIns="45720">
                <a:spAutoFit/>
              </a:bodyPr>
              <a:lstStyle/>
              <a:p>
                <a:pPr algn="l">
                  <a:spcAft>
                    <a:spcPts val="800"/>
                  </a:spcAft>
                </a:pPr>
                <a:r>
                  <a:rPr sz="2600" b="1">
                    <a:solidFill>
                      <a:srgbClr val="1E293B"/>
                    </a:solidFill>
                    <a:latin typeface="Calibri"/>
                  </a:rPr>
                  <a:t>Chú ý.</a:t>
                </a:r>
                <a:r>
                  <a:rPr sz="2600">
                    <a:solidFill>
                      <a:srgbClr val="1E293B"/>
                    </a:solidFill>
                    <a:latin typeface="Calibri"/>
                  </a:rPr>
                  <a:t> Các bước để xét tính đơn điệu của hàm số </a:t>
                </a:r>
                <a:r>
                  <a:rPr lang="vi-VN"/>
                  <a:t>y=f(x)</a:t>
                </a:r>
                <a:r>
                  <a:rPr sz="2600">
                    <a:solidFill>
                      <a:srgbClr val="1E293B"/>
                    </a:solidFill>
                    <a:latin typeface="Calibri"/>
                  </a:rPr>
                  <a:t>:</a:t>
                </a:r>
              </a:p>
              <a:p>
                <a:pPr algn="l">
                  <a:spcAft>
                    <a:spcPts val="800"/>
                  </a:spcAft>
                </a:pPr>
                <a:r>
                  <a:rPr sz="2600">
                    <a:solidFill>
                      <a:srgbClr val="1E293B"/>
                    </a:solidFill>
                    <a:latin typeface="Calibri"/>
                  </a:rPr>
                  <a:t>1. Tìm tập xác định của hàm số.</a:t>
                </a:r>
              </a:p>
              <a:p>
                <a:pPr algn="l">
                  <a:spcAft>
                    <a:spcPts val="800"/>
                  </a:spcAft>
                </a:pPr>
                <a:r>
                  <a:rPr sz="2600">
                    <a:solidFill>
                      <a:srgbClr val="1E293B"/>
                    </a:solidFill>
                    <a:latin typeface="Calibri"/>
                  </a:rPr>
                  <a:t>2. Tính đạo hàm </a:t>
                </a:r>
                <a:r>
                  <a:rPr lang="vi-VN"/>
                  <a:t>f'(x)</a:t>
                </a:r>
                <a:r>
                  <a:rPr sz="2600">
                    <a:solidFill>
                      <a:srgbClr val="1E293B"/>
                    </a:solidFill>
                    <a:latin typeface="Calibri"/>
                  </a:rPr>
                  <a:t>. Tìm các điểm </a:t>
                </a:r>
                <a:r>
                  <a:rPr lang="vi-VN"/>
                  <a:t>x_i</a:t>
                </a:r>
                <a:r>
                  <a:rPr sz="2600">
                    <a:solidFill>
                      <a:srgbClr val="1E293B"/>
                    </a:solidFill>
                    <a:latin typeface="Calibri"/>
                  </a:rPr>
                  <a:t> (</a:t>
                </a:r>
                <a:r>
                  <a:rPr lang="vi-VN"/>
                  <a:t>i=1,\ 2,\ldots</a:t>
                </a:r>
                <a:r>
                  <a:rPr sz="2600">
                    <a:solidFill>
                      <a:srgbClr val="1E293B"/>
                    </a:solidFill>
                    <a:latin typeface="Calibri"/>
                  </a:rPr>
                  <a:t>) mà tại đó đạo hàm bằng 0 hoặc không tồn tại.</a:t>
                </a:r>
              </a:p>
              <a:p>
                <a:pPr algn="l">
                  <a:spcAft>
                    <a:spcPts val="800"/>
                  </a:spcAft>
                </a:pPr>
                <a:r>
                  <a:rPr sz="2600">
                    <a:solidFill>
                      <a:srgbClr val="1E293B"/>
                    </a:solidFill>
                    <a:latin typeface="Calibri"/>
                  </a:rPr>
                  <a:t>3. Sắp xếp các điểm </a:t>
                </a:r>
                <a:r>
                  <a:rPr lang="vi-VN"/>
                  <a:t>x_i</a:t>
                </a:r>
                <a:r>
                  <a:rPr sz="2600">
                    <a:solidFill>
                      <a:srgbClr val="1E293B"/>
                    </a:solidFill>
                    <a:latin typeface="Calibri"/>
                  </a:rPr>
                  <a:t> theo thứ tự tăng dần và lập bảng biến thiên của hàm số.</a:t>
                </a:r>
              </a:p>
              <a:p>
                <a:pPr algn="l">
                  <a:spcAft>
                    <a:spcPts val="800"/>
                  </a:spcAft>
                </a:pPr>
                <a:r>
                  <a:rPr sz="2600">
                    <a:solidFill>
                      <a:srgbClr val="1E293B"/>
                    </a:solidFill>
                    <a:latin typeface="Calibri"/>
                  </a:rPr>
                  <a:t>4. Nêu kết luận về khoảng đồng biến, khoảng nghịch biến của hàm số.</a:t>
                </a: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(SGK TR.8)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16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3.</a:t>
                </a:r>
                <a:r>
                  <a:rPr sz="2100">
                    <a:solidFill>
                      <a:srgbClr val="1E293B"/>
                    </a:solidFill>
                    <a:latin typeface="Calibri"/>
                  </a:rPr>
                  <a:t> Tìm các khoảng đơn điệu của hàm số </a:t>
                </a:r>
                <a14:m>
                  <m:oMath xmlns:m="http://schemas.openxmlformats.org/officeDocument/2006/math">
                    <m:r>
                      <a:rPr lang="vi-VN" sz="2100" b="0">
                        <a:solidFill>
                          <a:srgbClr val="1E293B"/>
                        </a:solidFill>
                        <a:latin typeface="Cambria Math" panose="02040503050406030204" pitchFamily="18" charset="0"/>
                      </a:rPr>
                      <m:t>y=</m:t>
                    </m:r>
                    <m:f>
                      <m:fPr>
                        <m:type m:val="bar"/>
                      </m:fPr>
                      <m:num>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−2x+5</m:t>
                        </m:r>
                      </m:num>
                      <m:den>
                        <m:r>
                          <a:rPr lang="vi-VN" sz="2100" b="0">
                            <a:solidFill>
                              <a:srgbClr val="1E293B"/>
                            </a:solidFill>
                            <a:latin typeface="Cambria Math" panose="02040503050406030204" pitchFamily="18" charset="0"/>
                          </a:rPr>
                          <m:t>x−1</m:t>
                        </m:r>
                      </m:den>
                    </m:f>
                  </m:oMath>
                </a14:m>
                <a:r>
                  <a:rPr sz="2100">
                    <a:solidFill>
                      <a:srgbClr val="1E293B"/>
                    </a:solidFill>
                    <a:latin typeface="Calibri"/>
                  </a:rPr>
                  <a:t>.</a:t>
                </a:r>
              </a:p>
            </p:txBody>
          </p:sp>
        </mc:Choice>
        <mc:Fallback>
          <p:sp>
            <p:nvSpPr>
              <p:cNvPr id="7" name="TextBox 6"/>
              <p:cNvSpPr txBox="1"/>
              <p:nvPr/>
            </p:nvSpPr>
            <p:spPr>
              <a:xfrm>
                <a:off x="548640" y="1371600"/>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3.</a:t>
                </a:r>
                <a:r>
                  <a:rPr sz="2100">
                    <a:solidFill>
                      <a:srgbClr val="1E293B"/>
                    </a:solidFill>
                    <a:latin typeface="Calibri"/>
                  </a:rPr>
                  <a:t> Tìm các khoảng đơn điệu của hàm số </a:t>
                </a:r>
                <a:r>
                  <a:rPr lang="vi-VN"/>
                  <a:t>y=\frac{x^2-2x+5}{x-1}</a:t>
                </a:r>
                <a:r>
                  <a:rPr sz="2100">
                    <a:solidFill>
                      <a:srgbClr val="1E293B"/>
                    </a:solidFill>
                    <a:latin typeface="Calibri"/>
                  </a:rPr>
                  <a:t>.</a:t>
                </a:r>
              </a:p>
            </p:txBody>
          </p:sp>
        </mc:Fallback>
      </mc:AlternateContent>
      <p:sp>
        <p:nvSpPr>
          <p:cNvPr id="8" name="s1_nen"/>
          <p:cNvSpPr/>
          <p:nvPr/>
        </p:nvSpPr>
        <p:spPr>
          <a:xfrm>
            <a:off x="548640" y="2100834"/>
            <a:ext cx="1106424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37410"/>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a:t>
                </a:r>
                <a14:m>
                  <m:oMath xmlns:m="http://schemas.openxmlformats.org/officeDocument/2006/math">
                    <m:r>
                      <a:rPr lang="vi-VN" sz="2100" b="0">
                        <a:solidFill>
                          <a:srgbClr val="1E293B"/>
                        </a:solidFill>
                        <a:latin typeface="Cambria Math" panose="02040503050406030204" pitchFamily="18" charset="0"/>
                      </a:rPr>
                      <m:t>ℝ⧵{1}</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d>
                          <m:dPr>
                            <m:sepChr m:val=""/>
                          </m:dPr>
                          <m:e>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e>
                        </m:d>
                      </m:num>
                      <m:den>
                        <m:sSup>
                          <m:e>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m:t>
                    </m:r>
                    <m:f>
                      <m:fPr>
                        <m:type m:val="bar"/>
                      </m:fPr>
                      <m:num>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−2x−3</m:t>
                        </m:r>
                      </m:num>
                      <m:den>
                        <m:sSup>
                          <m:e>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e>
                          <m:sup>
                            <m:r>
                              <a:rPr lang="vi-VN" sz="2100" b="0">
                                <a:solidFill>
                                  <a:srgbClr val="1E293B"/>
                                </a:solidFill>
                                <a:latin typeface="Cambria Math" panose="02040503050406030204" pitchFamily="18" charset="0"/>
                              </a:rPr>
                              <m:t>2</m:t>
                            </m:r>
                          </m:sup>
                        </m:sSup>
                      </m:den>
                    </m:f>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=0⇔x=−1</m:t>
                    </m:r>
                  </m:oMath>
                </a14:m>
                <a:r>
                  <a:rPr sz="2100">
                    <a:solidFill>
                      <a:srgbClr val="1E293B"/>
                    </a:solidFill>
                    <a:latin typeface="Calibri"/>
                  </a:rPr>
                  <a:t> hoặc </a:t>
                </a:r>
                <a14:m>
                  <m:oMath xmlns:m="http://schemas.openxmlformats.org/officeDocument/2006/math">
                    <m:r>
                      <a:rPr lang="vi-VN" sz="2100" b="0">
                        <a:solidFill>
                          <a:srgbClr val="1E293B"/>
                        </a:solidFill>
                        <a:latin typeface="Cambria Math" panose="02040503050406030204" pitchFamily="18" charset="0"/>
                      </a:rPr>
                      <m:t>x=3</m:t>
                    </m:r>
                  </m:oMath>
                </a14:m>
                <a:r>
                  <a:rPr sz="2100">
                    <a:solidFill>
                      <a:srgbClr val="1E293B"/>
                    </a:solidFill>
                    <a:latin typeface="Calibri"/>
                  </a:rPr>
                  <a:t>.</a:t>
                </a:r>
              </a:p>
            </p:txBody>
          </p:sp>
        </mc:Choice>
        <mc:Fallback>
          <p:sp>
            <p:nvSpPr>
              <p:cNvPr id="9" name="TextBox 8"/>
              <p:cNvSpPr txBox="1"/>
              <p:nvPr/>
            </p:nvSpPr>
            <p:spPr>
              <a:xfrm>
                <a:off x="713232" y="2137410"/>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a:t>
                </a:r>
                <a:r>
                  <a:rPr lang="vi-VN"/>
                  <a:t>\mathbb{R}\setminus\{1\}</a:t>
                </a:r>
                <a:r>
                  <a:rPr sz="2100">
                    <a:solidFill>
                      <a:srgbClr val="1E293B"/>
                    </a:solidFill>
                    <a:latin typeface="Calibri"/>
                  </a:rPr>
                  <a:t>. </a:t>
                </a:r>
                <a:r>
                  <a:rPr lang="vi-VN"/>
                  <a:t>y'=\frac{(2x-2)(x-1)-(x^2-2x+5)}{(x-1)^2}=\frac{x^2-2x-3}{(x-1)^2}</a:t>
                </a:r>
                <a:r>
                  <a:rPr sz="2100">
                    <a:solidFill>
                      <a:srgbClr val="1E293B"/>
                    </a:solidFill>
                    <a:latin typeface="Calibri"/>
                  </a:rPr>
                  <a:t>; </a:t>
                </a:r>
                <a:r>
                  <a:rPr lang="vi-VN"/>
                  <a:t>y'=0\Leftrightarrow x=-1</a:t>
                </a:r>
                <a:r>
                  <a:rPr sz="2100">
                    <a:solidFill>
                      <a:srgbClr val="1E293B"/>
                    </a:solidFill>
                    <a:latin typeface="Calibri"/>
                  </a:rPr>
                  <a:t> hoặc </a:t>
                </a:r>
                <a:r>
                  <a:rPr lang="vi-VN"/>
                  <a:t>x=3</a:t>
                </a:r>
                <a:r>
                  <a:rPr sz="2100">
                    <a:solidFill>
                      <a:srgbClr val="1E293B"/>
                    </a:solidFill>
                    <a:latin typeface="Calibri"/>
                  </a:rPr>
                  <a:t>.</a:t>
                </a:r>
              </a:p>
            </p:txBody>
          </p:sp>
        </mc:Fallback>
      </mc:AlternateContent>
      <p:pic>
        <p:nvPicPr>
          <p:cNvPr id="10" name="s2_bbt" descr="b1_vd3.png"/>
          <p:cNvPicPr>
            <a:picLocks noChangeAspect="1"/>
          </p:cNvPicPr>
          <p:nvPr/>
        </p:nvPicPr>
        <p:blipFill>
          <a:blip r:embed="rId3"/>
          <a:stretch>
            <a:fillRect/>
          </a:stretch>
        </p:blipFill>
        <p:spPr>
          <a:xfrm>
            <a:off x="3140612" y="3403854"/>
            <a:ext cx="5880295" cy="1737360"/>
          </a:xfrm>
          <a:prstGeom prst="rect">
            <a:avLst/>
          </a:prstGeom>
        </p:spPr>
      </p:pic>
      <p:sp>
        <p:nvSpPr>
          <p:cNvPr id="11" name="s3_nen"/>
          <p:cNvSpPr/>
          <p:nvPr/>
        </p:nvSpPr>
        <p:spPr>
          <a:xfrm>
            <a:off x="548640" y="5214366"/>
            <a:ext cx="11064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5250942"/>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Hàm số đồng biến trên các khoảng </a:t>
                </a:r>
                <a14:m>
                  <m:oMath xmlns:m="http://schemas.openxmlformats.org/officeDocument/2006/math">
                    <m:d>
                      <m:dPr>
                        <m:sepChr m:val="∞"/>
                      </m:dPr>
                      <m:e>
                        <m:r>
                          <a:rPr lang="vi-VN" sz="2100" b="0">
                            <a:solidFill>
                              <a:srgbClr val="1E293B"/>
                            </a:solidFill>
                            <a:latin typeface="Cambria Math" panose="02040503050406030204" pitchFamily="18" charset="0"/>
                          </a:rPr>
                          <m:t>−</m:t>
                        </m:r>
                      </m:e>
                      <m:e>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3</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 nghịch biến trên các khoảng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3</m:t>
                        </m:r>
                      </m:e>
                    </m:d>
                  </m:oMath>
                </a14:m>
                <a:r>
                  <a:rPr sz="2100">
                    <a:solidFill>
                      <a:srgbClr val="1E293B"/>
                    </a:solidFill>
                    <a:latin typeface="Calibri"/>
                  </a:rPr>
                  <a:t>.</a:t>
                </a:r>
              </a:p>
            </p:txBody>
          </p:sp>
        </mc:Choice>
        <mc:Fallback>
          <p:sp>
            <p:nvSpPr>
              <p:cNvPr id="12" name="TextBox 11"/>
              <p:cNvSpPr txBox="1"/>
              <p:nvPr/>
            </p:nvSpPr>
            <p:spPr>
              <a:xfrm>
                <a:off x="713232" y="5250942"/>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Hàm số đồng biến trên các khoảng </a:t>
                </a:r>
                <a:r>
                  <a:rPr lang="vi-VN"/>
                  <a:t>(-\infty;\ -1)</a:t>
                </a:r>
                <a:r>
                  <a:rPr sz="2100">
                    <a:solidFill>
                      <a:srgbClr val="1E293B"/>
                    </a:solidFill>
                    <a:latin typeface="Calibri"/>
                  </a:rPr>
                  <a:t> và </a:t>
                </a:r>
                <a:r>
                  <a:rPr lang="vi-VN"/>
                  <a:t>(3;\ +\infty)</a:t>
                </a:r>
                <a:r>
                  <a:rPr sz="2100">
                    <a:solidFill>
                      <a:srgbClr val="1E293B"/>
                    </a:solidFill>
                    <a:latin typeface="Calibri"/>
                  </a:rPr>
                  <a:t>; nghịch biến trên các khoảng </a:t>
                </a:r>
                <a:r>
                  <a:rPr lang="vi-VN"/>
                  <a:t>(-1;\ 1)</a:t>
                </a:r>
                <a:r>
                  <a:rPr sz="2100">
                    <a:solidFill>
                      <a:srgbClr val="1E293B"/>
                    </a:solidFill>
                    <a:latin typeface="Calibri"/>
                  </a:rPr>
                  <a:t> và </a:t>
                </a:r>
                <a:r>
                  <a:rPr lang="vi-VN"/>
                  <a:t>(1;\ 3)</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4 (SGK TR.8)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17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4.</a:t>
                </a:r>
                <a:r>
                  <a:rPr sz="2100">
                    <a:solidFill>
                      <a:srgbClr val="1E293B"/>
                    </a:solidFill>
                    <a:latin typeface="Calibri"/>
                  </a:rPr>
                  <a:t> Xét chiều biến thiên của hàm số </a:t>
                </a:r>
                <a14:m>
                  <m:oMath xmlns:m="http://schemas.openxmlformats.org/officeDocument/2006/math">
                    <m:r>
                      <a:rPr lang="vi-VN" sz="2100" b="0">
                        <a:solidFill>
                          <a:srgbClr val="1E293B"/>
                        </a:solidFill>
                        <a:latin typeface="Cambria Math" panose="02040503050406030204" pitchFamily="18" charset="0"/>
                      </a:rPr>
                      <m:t>y=</m:t>
                    </m:r>
                    <m:f>
                      <m:fPr>
                        <m:type m:val="bar"/>
                      </m:fPr>
                      <m:num>
                        <m:r>
                          <a:rPr lang="vi-VN" sz="2100" b="0">
                            <a:solidFill>
                              <a:srgbClr val="1E293B"/>
                            </a:solidFill>
                            <a:latin typeface="Cambria Math" panose="02040503050406030204" pitchFamily="18" charset="0"/>
                          </a:rPr>
                          <m:t>x−2</m:t>
                        </m:r>
                      </m:num>
                      <m:den>
                        <m:r>
                          <a:rPr lang="vi-VN" sz="2100" b="0">
                            <a:solidFill>
                              <a:srgbClr val="1E293B"/>
                            </a:solidFill>
                            <a:latin typeface="Cambria Math" panose="02040503050406030204" pitchFamily="18" charset="0"/>
                          </a:rPr>
                          <m:t>x+1</m:t>
                        </m:r>
                      </m:den>
                    </m:f>
                  </m:oMath>
                </a14:m>
                <a:r>
                  <a:rPr sz="2100">
                    <a:solidFill>
                      <a:srgbClr val="1E293B"/>
                    </a:solidFill>
                    <a:latin typeface="Calibri"/>
                  </a:rPr>
                  <a:t>.</a:t>
                </a:r>
              </a:p>
            </p:txBody>
          </p:sp>
        </mc:Choice>
        <mc:Fallback>
          <p:sp>
            <p:nvSpPr>
              <p:cNvPr id="7" name="TextBox 6"/>
              <p:cNvSpPr txBox="1"/>
              <p:nvPr/>
            </p:nvSpPr>
            <p:spPr>
              <a:xfrm>
                <a:off x="548640" y="1371600"/>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4.</a:t>
                </a:r>
                <a:r>
                  <a:rPr sz="2100">
                    <a:solidFill>
                      <a:srgbClr val="1E293B"/>
                    </a:solidFill>
                    <a:latin typeface="Calibri"/>
                  </a:rPr>
                  <a:t> Xét chiều biến thiên của hàm số </a:t>
                </a:r>
                <a:r>
                  <a:rPr lang="vi-VN"/>
                  <a:t>y=\frac{x-2}{x+1}</a:t>
                </a:r>
                <a:r>
                  <a:rPr sz="2100">
                    <a:solidFill>
                      <a:srgbClr val="1E293B"/>
                    </a:solidFill>
                    <a:latin typeface="Calibri"/>
                  </a:rPr>
                  <a:t>.</a:t>
                </a:r>
              </a:p>
            </p:txBody>
          </p:sp>
        </mc:Fallback>
      </mc:AlternateContent>
      <p:sp>
        <p:nvSpPr>
          <p:cNvPr id="8" name="s1_nen"/>
          <p:cNvSpPr/>
          <p:nvPr/>
        </p:nvSpPr>
        <p:spPr>
          <a:xfrm>
            <a:off x="548640" y="2100834"/>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37410"/>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a:t>
                </a:r>
                <a14:m>
                  <m:oMath xmlns:m="http://schemas.openxmlformats.org/officeDocument/2006/math">
                    <m:r>
                      <a:rPr lang="vi-VN" sz="2100" b="0">
                        <a:solidFill>
                          <a:srgbClr val="1E293B"/>
                        </a:solidFill>
                        <a:latin typeface="Cambria Math" panose="02040503050406030204" pitchFamily="18" charset="0"/>
                      </a:rPr>
                      <m:t>ℝ⧵{−1}</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e>
                        </m:d>
                      </m:num>
                      <m:den>
                        <m:sSup>
                          <m:e>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3</m:t>
                        </m:r>
                      </m:num>
                      <m:den>
                        <m:sSup>
                          <m:e>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&gt;0</m:t>
                    </m:r>
                  </m:oMath>
                </a14:m>
                <a:r>
                  <a:rPr sz="2100">
                    <a:solidFill>
                      <a:srgbClr val="1E293B"/>
                    </a:solidFill>
                    <a:latin typeface="Calibri"/>
                  </a:rPr>
                  <a:t>, với mọi </a:t>
                </a:r>
                <a14:m>
                  <m:oMath xmlns:m="http://schemas.openxmlformats.org/officeDocument/2006/math">
                    <m:r>
                      <a:rPr lang="vi-VN" sz="2100" b="0">
                        <a:solidFill>
                          <a:srgbClr val="1E293B"/>
                        </a:solidFill>
                        <a:latin typeface="Cambria Math" panose="02040503050406030204" pitchFamily="18" charset="0"/>
                      </a:rPr>
                      <m:t>x≠−1</m:t>
                    </m:r>
                  </m:oMath>
                </a14:m>
                <a:r>
                  <a:rPr sz="2100">
                    <a:solidFill>
                      <a:srgbClr val="1E293B"/>
                    </a:solidFill>
                    <a:latin typeface="Calibri"/>
                  </a:rPr>
                  <a:t>.</a:t>
                </a:r>
              </a:p>
            </p:txBody>
          </p:sp>
        </mc:Choice>
        <mc:Fallback>
          <p:sp>
            <p:nvSpPr>
              <p:cNvPr id="9" name="TextBox 8"/>
              <p:cNvSpPr txBox="1"/>
              <p:nvPr/>
            </p:nvSpPr>
            <p:spPr>
              <a:xfrm>
                <a:off x="713232" y="2137410"/>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a:t>
                </a:r>
                <a:r>
                  <a:rPr lang="vi-VN"/>
                  <a:t>\mathbb{R}\setminus\{-1\}</a:t>
                </a:r>
                <a:r>
                  <a:rPr sz="2100">
                    <a:solidFill>
                      <a:srgbClr val="1E293B"/>
                    </a:solidFill>
                    <a:latin typeface="Calibri"/>
                  </a:rPr>
                  <a:t>. </a:t>
                </a:r>
                <a:r>
                  <a:rPr lang="vi-VN"/>
                  <a:t>y'=\frac{(x+1)-(x-2)}{(x+1)^2}=\frac{3}{(x+1)^2}&gt;0</a:t>
                </a:r>
                <a:r>
                  <a:rPr sz="2100">
                    <a:solidFill>
                      <a:srgbClr val="1E293B"/>
                    </a:solidFill>
                    <a:latin typeface="Calibri"/>
                  </a:rPr>
                  <a:t>, với mọi </a:t>
                </a:r>
                <a:r>
                  <a:rPr lang="vi-VN"/>
                  <a:t>x\ne -1</a:t>
                </a:r>
                <a:r>
                  <a:rPr sz="2100">
                    <a:solidFill>
                      <a:srgbClr val="1E293B"/>
                    </a:solidFill>
                    <a:latin typeface="Calibri"/>
                  </a:rPr>
                  <a:t>.</a:t>
                </a:r>
              </a:p>
            </p:txBody>
          </p:sp>
        </mc:Fallback>
      </mc:AlternateContent>
      <p:pic>
        <p:nvPicPr>
          <p:cNvPr id="10" name="s2_bbt" descr="b1_vd4.png"/>
          <p:cNvPicPr>
            <a:picLocks noChangeAspect="1"/>
          </p:cNvPicPr>
          <p:nvPr/>
        </p:nvPicPr>
        <p:blipFill>
          <a:blip r:embed="rId3"/>
          <a:stretch>
            <a:fillRect/>
          </a:stretch>
        </p:blipFill>
        <p:spPr>
          <a:xfrm>
            <a:off x="4138759" y="3083813"/>
            <a:ext cx="3884001" cy="1737360"/>
          </a:xfrm>
          <a:prstGeom prst="rect">
            <a:avLst/>
          </a:prstGeom>
        </p:spPr>
      </p:pic>
      <p:sp>
        <p:nvSpPr>
          <p:cNvPr id="11" name="s3_nen"/>
          <p:cNvSpPr/>
          <p:nvPr/>
        </p:nvSpPr>
        <p:spPr>
          <a:xfrm>
            <a:off x="548640" y="4894325"/>
            <a:ext cx="11064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930901"/>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Hàm số đồng biến trên các khoảng </a:t>
                </a:r>
                <a14:m>
                  <m:oMath xmlns:m="http://schemas.openxmlformats.org/officeDocument/2006/math">
                    <m:d>
                      <m:dPr>
                        <m:sepChr m:val="∞"/>
                      </m:dPr>
                      <m:e>
                        <m:r>
                          <a:rPr lang="vi-VN" sz="2100" b="0">
                            <a:solidFill>
                              <a:srgbClr val="1E293B"/>
                            </a:solidFill>
                            <a:latin typeface="Cambria Math" panose="02040503050406030204" pitchFamily="18" charset="0"/>
                          </a:rPr>
                          <m:t>−</m:t>
                        </m:r>
                      </m:e>
                      <m:e>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 (Không viết "đồng biến trên </a:t>
                </a:r>
                <a14:m>
                  <m:oMath xmlns:m="http://schemas.openxmlformats.org/officeDocument/2006/math">
                    <m:r>
                      <a:rPr lang="vi-VN" sz="2100" b="0">
                        <a:solidFill>
                          <a:srgbClr val="1E293B"/>
                        </a:solidFill>
                        <a:latin typeface="Cambria Math" panose="02040503050406030204" pitchFamily="18" charset="0"/>
                      </a:rPr>
                      <m:t>ℝ⧵{−1}</m:t>
                    </m:r>
                  </m:oMath>
                </a14:m>
                <a:r>
                  <a:rPr sz="2100">
                    <a:solidFill>
                      <a:srgbClr val="1E293B"/>
                    </a:solidFill>
                    <a:latin typeface="Calibri"/>
                  </a:rPr>
                  <a:t>".)</a:t>
                </a:r>
              </a:p>
            </p:txBody>
          </p:sp>
        </mc:Choice>
        <mc:Fallback>
          <p:sp>
            <p:nvSpPr>
              <p:cNvPr id="12" name="TextBox 11"/>
              <p:cNvSpPr txBox="1"/>
              <p:nvPr/>
            </p:nvSpPr>
            <p:spPr>
              <a:xfrm>
                <a:off x="713232" y="4930901"/>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Hàm số đồng biến trên các khoảng </a:t>
                </a:r>
                <a:r>
                  <a:rPr lang="vi-VN"/>
                  <a:t>(-\infty;\ -1)</a:t>
                </a:r>
                <a:r>
                  <a:rPr sz="2100">
                    <a:solidFill>
                      <a:srgbClr val="1E293B"/>
                    </a:solidFill>
                    <a:latin typeface="Calibri"/>
                  </a:rPr>
                  <a:t> và </a:t>
                </a:r>
                <a:r>
                  <a:rPr lang="vi-VN"/>
                  <a:t>(-1;\ +\infty)</a:t>
                </a:r>
                <a:r>
                  <a:rPr sz="2100">
                    <a:solidFill>
                      <a:srgbClr val="1E293B"/>
                    </a:solidFill>
                    <a:latin typeface="Calibri"/>
                  </a:rPr>
                  <a:t>. (Không viết "đồng biến trên </a:t>
                </a:r>
                <a:r>
                  <a:rPr lang="vi-VN"/>
                  <a:t>\mathbb{R}\setminus\{-1\}</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3 (SGK TR.9)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18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146048"/>
              </a:xfrm>
              <a:prstGeom prst="rect">
                <a:avLst/>
              </a:prstGeom>
              <a:noFill/>
            </p:spPr>
            <p:txBody>
              <a:bodyPr wrap="square" anchor="t" lIns="45720" rIns="45720">
                <a:spAutoFit/>
              </a:bodyPr>
              <a:lstStyle/>
              <a:p>
                <a:pPr algn="l">
                  <a:spcAft>
                    <a:spcPts val="800"/>
                  </a:spcAft>
                </a:pPr>
                <a:r>
                  <a:rPr sz="2200">
                    <a:solidFill>
                      <a:srgbClr val="1E293B"/>
                    </a:solidFill>
                    <a:latin typeface="Calibri"/>
                  </a:rPr>
                  <a:t>Tìm các khoảng đơn điệu của các hàm số sau: a) </a:t>
                </a: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3</m:t>
                        </m:r>
                      </m:den>
                    </m:f>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3</m:t>
                        </m:r>
                      </m:sup>
                    </m:sSup>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+5x+2</m:t>
                    </m:r>
                  </m:oMath>
                </a14:m>
                <a:r>
                  <a:rPr sz="2200">
                    <a:solidFill>
                      <a:srgbClr val="1E293B"/>
                    </a:solidFill>
                    <a:latin typeface="Calibri"/>
                  </a:rPr>
                  <a:t>; b) </a:t>
                </a: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+5x−7</m:t>
                        </m:r>
                      </m:num>
                      <m:den>
                        <m:r>
                          <a:rPr lang="vi-VN" sz="2200" b="0">
                            <a:solidFill>
                              <a:srgbClr val="1E293B"/>
                            </a:solidFill>
                            <a:latin typeface="Cambria Math" panose="02040503050406030204" pitchFamily="18" charset="0"/>
                          </a:rPr>
                          <m:t>x−2</m:t>
                        </m:r>
                      </m:den>
                    </m:f>
                  </m:oMath>
                </a14:m>
                <a:r>
                  <a:rPr sz="2200">
                    <a:solidFill>
                      <a:srgbClr val="1E293B"/>
                    </a:solidFill>
                    <a:latin typeface="Calibri"/>
                  </a:rPr>
                  <a:t>.</a:t>
                </a:r>
              </a:p>
            </p:txBody>
          </p:sp>
        </mc:Choice>
        <mc:Fallback>
          <p:sp>
            <p:nvSpPr>
              <p:cNvPr id="7" name="TextBox 6"/>
              <p:cNvSpPr txBox="1"/>
              <p:nvPr/>
            </p:nvSpPr>
            <p:spPr>
              <a:xfrm>
                <a:off x="548640" y="1371600"/>
                <a:ext cx="11064240" cy="1146048"/>
              </a:xfrm>
              <a:prstGeom prst="rect">
                <a:avLst/>
              </a:prstGeom>
              <a:noFill/>
            </p:spPr>
            <p:txBody>
              <a:bodyPr wrap="square" anchor="t" lIns="45720" rIns="45720">
                <a:spAutoFit/>
              </a:bodyPr>
              <a:lstStyle/>
              <a:p>
                <a:pPr algn="l">
                  <a:spcAft>
                    <a:spcPts val="800"/>
                  </a:spcAft>
                </a:pPr>
                <a:r>
                  <a:rPr sz="2200">
                    <a:solidFill>
                      <a:srgbClr val="1E293B"/>
                    </a:solidFill>
                    <a:latin typeface="Calibri"/>
                  </a:rPr>
                  <a:t>Tìm các khoảng đơn điệu của các hàm số sau: a) </a:t>
                </a:r>
                <a:r>
                  <a:rPr lang="vi-VN"/>
                  <a:t>y=\frac{1}{3}x^3+3x^2+5x+2</a:t>
                </a:r>
                <a:r>
                  <a:rPr sz="2200">
                    <a:solidFill>
                      <a:srgbClr val="1E293B"/>
                    </a:solidFill>
                    <a:latin typeface="Calibri"/>
                  </a:rPr>
                  <a:t>; b) </a:t>
                </a:r>
                <a:r>
                  <a:rPr lang="vi-VN"/>
                  <a:t>y=\frac{-x^2+5x-7}{x-2}</a:t>
                </a:r>
                <a:r>
                  <a:rPr sz="2200">
                    <a:solidFill>
                      <a:srgbClr val="1E293B"/>
                    </a:solidFill>
                    <a:latin typeface="Calibri"/>
                  </a:rPr>
                  <a:t>.</a:t>
                </a:r>
              </a:p>
            </p:txBody>
          </p:sp>
        </mc:Fallback>
      </mc:AlternateContent>
      <p:sp>
        <p:nvSpPr>
          <p:cNvPr id="8" name="s1_nen"/>
          <p:cNvSpPr/>
          <p:nvPr/>
        </p:nvSpPr>
        <p:spPr>
          <a:xfrm>
            <a:off x="548640" y="2103120"/>
            <a:ext cx="5440680" cy="11795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39696"/>
                <a:ext cx="511149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+6x+5=0⇔x=−5</m:t>
                    </m:r>
                  </m:oMath>
                </a14:m>
                <a:r>
                  <a:rPr sz="2000">
                    <a:solidFill>
                      <a:srgbClr val="1E293B"/>
                    </a:solidFill>
                    <a:latin typeface="Calibri"/>
                  </a:rPr>
                  <a:t> hoặc </a:t>
                </a:r>
                <a14:m>
                  <m:oMath xmlns:m="http://schemas.openxmlformats.org/officeDocument/2006/math">
                    <m:r>
                      <a:rPr lang="vi-VN" sz="2000" b="0">
                        <a:solidFill>
                          <a:srgbClr val="1E293B"/>
                        </a:solidFill>
                        <a:latin typeface="Cambria Math" panose="02040503050406030204" pitchFamily="18" charset="0"/>
                      </a:rPr>
                      <m:t>x=−1</m:t>
                    </m:r>
                  </m:oMath>
                </a14:m>
                <a:r>
                  <a:rPr sz="2000">
                    <a:solidFill>
                      <a:srgbClr val="1E293B"/>
                    </a:solidFill>
                    <a:latin typeface="Calibri"/>
                  </a:rPr>
                  <a:t>. Đồng biến trên </a:t>
                </a:r>
                <a14:m>
                  <m:oMath xmlns:m="http://schemas.openxmlformats.org/officeDocument/2006/math">
                    <m:d>
                      <m:dPr>
                        <m:sepChr m:val="∞"/>
                      </m:dPr>
                      <m:e>
                        <m:r>
                          <a:rPr lang="vi-VN" sz="2000" b="0">
                            <a:solidFill>
                              <a:srgbClr val="1E293B"/>
                            </a:solidFill>
                            <a:latin typeface="Cambria Math" panose="02040503050406030204" pitchFamily="18" charset="0"/>
                          </a:rPr>
                          <m:t>−</m:t>
                        </m:r>
                      </m:e>
                      <m:e>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e>
                    </m:d>
                  </m:oMath>
                </a14:m>
                <a:r>
                  <a:rPr sz="2000">
                    <a:solidFill>
                      <a:srgbClr val="1E293B"/>
                    </a:solidFill>
                    <a:latin typeface="Calibri"/>
                  </a:rPr>
                  <a:t> và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e>
                    </m:d>
                  </m:oMath>
                </a14:m>
                <a:r>
                  <a:rPr sz="2000">
                    <a:solidFill>
                      <a:srgbClr val="1E293B"/>
                    </a:solidFill>
                    <a:latin typeface="Calibri"/>
                  </a:rPr>
                  <a:t>; nghịch biến trên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oMath>
                </a14:m>
                <a:r>
                  <a:rPr sz="2000">
                    <a:solidFill>
                      <a:srgbClr val="1E293B"/>
                    </a:solidFill>
                    <a:latin typeface="Calibri"/>
                  </a:rPr>
                  <a:t>.</a:t>
                </a:r>
              </a:p>
            </p:txBody>
          </p:sp>
        </mc:Choice>
        <mc:Fallback>
          <p:sp>
            <p:nvSpPr>
              <p:cNvPr id="9" name="TextBox 8"/>
              <p:cNvSpPr txBox="1"/>
              <p:nvPr/>
            </p:nvSpPr>
            <p:spPr>
              <a:xfrm>
                <a:off x="713232" y="2139696"/>
                <a:ext cx="511149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y'=x^2+6x+5=0\Leftrightarrow x=-5</a:t>
                </a:r>
                <a:r>
                  <a:rPr sz="2000">
                    <a:solidFill>
                      <a:srgbClr val="1E293B"/>
                    </a:solidFill>
                    <a:latin typeface="Calibri"/>
                  </a:rPr>
                  <a:t> hoặc </a:t>
                </a:r>
                <a:r>
                  <a:rPr lang="vi-VN"/>
                  <a:t>x=-1</a:t>
                </a:r>
                <a:r>
                  <a:rPr sz="2000">
                    <a:solidFill>
                      <a:srgbClr val="1E293B"/>
                    </a:solidFill>
                    <a:latin typeface="Calibri"/>
                  </a:rPr>
                  <a:t>. Đồng biến trên </a:t>
                </a:r>
                <a:r>
                  <a:rPr lang="vi-VN"/>
                  <a:t>(-\infty;\ -5)</a:t>
                </a:r>
                <a:r>
                  <a:rPr sz="2000">
                    <a:solidFill>
                      <a:srgbClr val="1E293B"/>
                    </a:solidFill>
                    <a:latin typeface="Calibri"/>
                  </a:rPr>
                  <a:t> và </a:t>
                </a:r>
                <a:r>
                  <a:rPr lang="vi-VN"/>
                  <a:t>(-1;\ +\infty)</a:t>
                </a:r>
                <a:r>
                  <a:rPr sz="2000">
                    <a:solidFill>
                      <a:srgbClr val="1E293B"/>
                    </a:solidFill>
                    <a:latin typeface="Calibri"/>
                  </a:rPr>
                  <a:t>; nghịch biến trên </a:t>
                </a:r>
                <a:r>
                  <a:rPr lang="vi-VN"/>
                  <a:t>(-5;\ -1)</a:t>
                </a:r>
                <a:r>
                  <a:rPr sz="2000">
                    <a:solidFill>
                      <a:srgbClr val="1E293B"/>
                    </a:solidFill>
                    <a:latin typeface="Calibri"/>
                  </a:rPr>
                  <a:t>.</a:t>
                </a:r>
              </a:p>
            </p:txBody>
          </p:sp>
        </mc:Fallback>
      </mc:AlternateContent>
      <p:pic>
        <p:nvPicPr>
          <p:cNvPr id="10" name="s2_bbt" descr="b1_lt3a.png"/>
          <p:cNvPicPr>
            <a:picLocks noChangeAspect="1"/>
          </p:cNvPicPr>
          <p:nvPr/>
        </p:nvPicPr>
        <p:blipFill>
          <a:blip r:embed="rId3"/>
          <a:stretch>
            <a:fillRect/>
          </a:stretch>
        </p:blipFill>
        <p:spPr>
          <a:xfrm>
            <a:off x="898904" y="3355848"/>
            <a:ext cx="4740152" cy="1737360"/>
          </a:xfrm>
          <a:prstGeom prst="rect">
            <a:avLst/>
          </a:prstGeom>
        </p:spPr>
      </p:pic>
      <p:sp>
        <p:nvSpPr>
          <p:cNvPr id="11" name="s3_nen"/>
          <p:cNvSpPr/>
          <p:nvPr/>
        </p:nvSpPr>
        <p:spPr>
          <a:xfrm>
            <a:off x="6172200" y="2103120"/>
            <a:ext cx="5440680" cy="13167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6336792" y="2139696"/>
                <a:ext cx="5111496" cy="12435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+4x−3</m:t>
                        </m:r>
                      </m:num>
                      <m:den>
                        <m:sSup>
                          <m:e>
                            <m:d>
                              <m:dPr>
                                <m:sepChr m:val=""/>
                              </m:dPr>
                              <m:e>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e>
                            </m:d>
                          </m:e>
                          <m:sup>
                            <m:r>
                              <a:rPr lang="vi-VN" sz="2000" b="0">
                                <a:solidFill>
                                  <a:srgbClr val="1E293B"/>
                                </a:solidFill>
                                <a:latin typeface="Cambria Math" panose="02040503050406030204" pitchFamily="18" charset="0"/>
                              </a:rPr>
                              <m:t>2</m:t>
                            </m:r>
                          </m:sup>
                        </m:sSup>
                      </m:den>
                    </m:f>
                    <m:r>
                      <a:rPr lang="vi-VN" sz="2000" b="0">
                        <a:solidFill>
                          <a:srgbClr val="1E293B"/>
                        </a:solidFill>
                        <a:latin typeface="Cambria Math" panose="02040503050406030204" pitchFamily="18" charset="0"/>
                      </a:rPr>
                      <m:t>=0⇔x=1</m:t>
                    </m:r>
                  </m:oMath>
                </a14:m>
                <a:r>
                  <a:rPr sz="2000">
                    <a:solidFill>
                      <a:srgbClr val="1E293B"/>
                    </a:solidFill>
                    <a:latin typeface="Calibri"/>
                  </a:rPr>
                  <a:t> hoặc </a:t>
                </a:r>
                <a14:m>
                  <m:oMath xmlns:m="http://schemas.openxmlformats.org/officeDocument/2006/math">
                    <m:r>
                      <a:rPr lang="vi-VN" sz="2000" b="0">
                        <a:solidFill>
                          <a:srgbClr val="1E293B"/>
                        </a:solidFill>
                        <a:latin typeface="Cambria Math" panose="02040503050406030204" pitchFamily="18" charset="0"/>
                      </a:rPr>
                      <m:t>x=3</m:t>
                    </m:r>
                  </m:oMath>
                </a14:m>
                <a:r>
                  <a:rPr sz="2000">
                    <a:solidFill>
                      <a:srgbClr val="1E293B"/>
                    </a:solidFill>
                    <a:latin typeface="Calibri"/>
                  </a:rPr>
                  <a:t>. Đồng biến trên </a:t>
                </a:r>
                <a14:m>
                  <m:oMath xmlns:m="http://schemas.openxmlformats.org/officeDocument/2006/math">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m:t>
                        </m:r>
                      </m:e>
                    </m:d>
                  </m:oMath>
                </a14:m>
                <a:r>
                  <a:rPr sz="2000">
                    <a:solidFill>
                      <a:srgbClr val="1E293B"/>
                    </a:solidFill>
                    <a:latin typeface="Calibri"/>
                  </a:rPr>
                  <a:t> và </a:t>
                </a:r>
                <a14:m>
                  <m:oMath xmlns:m="http://schemas.openxmlformats.org/officeDocument/2006/math">
                    <m:d>
                      <m:dPr>
                        <m:sepChr m:val=""/>
                      </m:dPr>
                      <m:e>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3</m:t>
                        </m:r>
                      </m:e>
                    </m:d>
                  </m:oMath>
                </a14:m>
                <a:r>
                  <a:rPr sz="2000">
                    <a:solidFill>
                      <a:srgbClr val="1E293B"/>
                    </a:solidFill>
                    <a:latin typeface="Calibri"/>
                  </a:rPr>
                  <a:t>; nghịch biến trên </a:t>
                </a:r>
                <a14:m>
                  <m:oMath xmlns:m="http://schemas.openxmlformats.org/officeDocument/2006/math">
                    <m:d>
                      <m:dPr>
                        <m:sepChr m:val="∞"/>
                      </m:dPr>
                      <m:e>
                        <m:r>
                          <a:rPr lang="vi-VN" sz="2000" b="0">
                            <a:solidFill>
                              <a:srgbClr val="1E293B"/>
                            </a:solidFill>
                            <a:latin typeface="Cambria Math" panose="02040503050406030204" pitchFamily="18" charset="0"/>
                          </a:rPr>
                          <m:t>−</m:t>
                        </m:r>
                      </m:e>
                      <m:e>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m:t>
                        </m:r>
                      </m:e>
                    </m:d>
                  </m:oMath>
                </a14:m>
                <a:r>
                  <a:rPr sz="2000">
                    <a:solidFill>
                      <a:srgbClr val="1E293B"/>
                    </a:solidFill>
                    <a:latin typeface="Calibri"/>
                  </a:rPr>
                  <a:t> và </a:t>
                </a:r>
                <a14:m>
                  <m:oMath xmlns:m="http://schemas.openxmlformats.org/officeDocument/2006/math">
                    <m:d>
                      <m:dPr>
                        <m:sepChr m:val=""/>
                      </m:dPr>
                      <m:e>
                        <m:r>
                          <a:rPr lang="vi-VN" sz="2000" b="0">
                            <a:solidFill>
                              <a:srgbClr val="1E293B"/>
                            </a:solidFill>
                            <a:latin typeface="Cambria Math" panose="02040503050406030204" pitchFamily="18" charset="0"/>
                          </a:rPr>
                          <m:t>3</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e>
                    </m:d>
                  </m:oMath>
                </a14:m>
                <a:r>
                  <a:rPr sz="2000">
                    <a:solidFill>
                      <a:srgbClr val="1E293B"/>
                    </a:solidFill>
                    <a:latin typeface="Calibri"/>
                  </a:rPr>
                  <a:t>.</a:t>
                </a:r>
              </a:p>
            </p:txBody>
          </p:sp>
        </mc:Choice>
        <mc:Fallback>
          <p:sp>
            <p:nvSpPr>
              <p:cNvPr id="12" name="TextBox 11"/>
              <p:cNvSpPr txBox="1"/>
              <p:nvPr/>
            </p:nvSpPr>
            <p:spPr>
              <a:xfrm>
                <a:off x="6336792" y="2139696"/>
                <a:ext cx="5111496" cy="12435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y'=\frac{-x^2+4x-3}{(x-2)^2}=0\Leftrightarrow x=1</a:t>
                </a:r>
                <a:r>
                  <a:rPr sz="2000">
                    <a:solidFill>
                      <a:srgbClr val="1E293B"/>
                    </a:solidFill>
                    <a:latin typeface="Calibri"/>
                  </a:rPr>
                  <a:t> hoặc </a:t>
                </a:r>
                <a:r>
                  <a:rPr lang="vi-VN"/>
                  <a:t>x=3</a:t>
                </a:r>
                <a:r>
                  <a:rPr sz="2000">
                    <a:solidFill>
                      <a:srgbClr val="1E293B"/>
                    </a:solidFill>
                    <a:latin typeface="Calibri"/>
                  </a:rPr>
                  <a:t>. Đồng biến trên </a:t>
                </a:r>
                <a:r>
                  <a:rPr lang="vi-VN"/>
                  <a:t>(1;\ 2)</a:t>
                </a:r>
                <a:r>
                  <a:rPr sz="2000">
                    <a:solidFill>
                      <a:srgbClr val="1E293B"/>
                    </a:solidFill>
                    <a:latin typeface="Calibri"/>
                  </a:rPr>
                  <a:t> và </a:t>
                </a:r>
                <a:r>
                  <a:rPr lang="vi-VN"/>
                  <a:t>(2;\ 3)</a:t>
                </a:r>
                <a:r>
                  <a:rPr sz="2000">
                    <a:solidFill>
                      <a:srgbClr val="1E293B"/>
                    </a:solidFill>
                    <a:latin typeface="Calibri"/>
                  </a:rPr>
                  <a:t>; nghịch biến trên </a:t>
                </a:r>
                <a:r>
                  <a:rPr lang="vi-VN"/>
                  <a:t>(-\infty;\ 1)</a:t>
                </a:r>
                <a:r>
                  <a:rPr sz="2000">
                    <a:solidFill>
                      <a:srgbClr val="1E293B"/>
                    </a:solidFill>
                    <a:latin typeface="Calibri"/>
                  </a:rPr>
                  <a:t> và </a:t>
                </a:r>
                <a:r>
                  <a:rPr lang="vi-VN"/>
                  <a:t>(3;\ +\infty)</a:t>
                </a:r>
                <a:r>
                  <a:rPr sz="2000">
                    <a:solidFill>
                      <a:srgbClr val="1E293B"/>
                    </a:solidFill>
                    <a:latin typeface="Calibri"/>
                  </a:rPr>
                  <a:t>.</a:t>
                </a:r>
              </a:p>
            </p:txBody>
          </p:sp>
        </mc:Fallback>
      </mc:AlternateContent>
      <p:pic>
        <p:nvPicPr>
          <p:cNvPr id="13" name="s4_bbt" descr="b1_lt3b.png"/>
          <p:cNvPicPr>
            <a:picLocks noChangeAspect="1"/>
          </p:cNvPicPr>
          <p:nvPr/>
        </p:nvPicPr>
        <p:blipFill>
          <a:blip r:embed="rId4"/>
          <a:stretch>
            <a:fillRect/>
          </a:stretch>
        </p:blipFill>
        <p:spPr>
          <a:xfrm>
            <a:off x="6172200" y="3557951"/>
            <a:ext cx="5440680" cy="16074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1 – GIẢI TÌNH HUỐNG MỞ ĐẦU (SGK TR.9)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19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680960" cy="177393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Vận dụng 1.</a:t>
                </a:r>
                <a:r>
                  <a:rPr sz="2100">
                    <a:solidFill>
                      <a:srgbClr val="1E293B"/>
                    </a:solidFill>
                    <a:latin typeface="Calibri"/>
                  </a:rPr>
                  <a:t> Giải bài toán trong tình huống mở đầu (</a:t>
                </a:r>
                <a14:m>
                  <m:oMath xmlns:m="http://schemas.openxmlformats.org/officeDocument/2006/math">
                    <m:r>
                      <a:rPr lang="vi-VN" sz="2100" b="0">
                        <a:solidFill>
                          <a:srgbClr val="1E293B"/>
                        </a:solidFill>
                        <a:latin typeface="Cambria Math" panose="02040503050406030204" pitchFamily="18" charset="0"/>
                      </a:rPr>
                      <m:t>s(t)=</m:t>
                    </m:r>
                    <m:sSup>
                      <m:e>
                        <m:r>
                          <a:rPr lang="vi-VN" sz="2100" b="0">
                            <a:solidFill>
                              <a:srgbClr val="1E293B"/>
                            </a:solidFill>
                            <a:latin typeface="Cambria Math" panose="02040503050406030204" pitchFamily="18" charset="0"/>
                          </a:rPr>
                          <m:t>t</m:t>
                        </m:r>
                      </m:e>
                      <m:sup>
                        <m:r>
                          <a:rPr lang="vi-VN" sz="2100" b="0">
                            <a:solidFill>
                              <a:srgbClr val="1E293B"/>
                            </a:solidFill>
                            <a:latin typeface="Cambria Math" panose="02040503050406030204" pitchFamily="18" charset="0"/>
                          </a:rPr>
                          <m:t>3</m:t>
                        </m:r>
                      </m:sup>
                    </m:sSup>
                    <m:r>
                      <a:rPr lang="vi-VN" sz="2100" b="0">
                        <a:solidFill>
                          <a:srgbClr val="1E293B"/>
                        </a:solidFill>
                        <a:latin typeface="Cambria Math" panose="02040503050406030204" pitchFamily="18" charset="0"/>
                      </a:rPr>
                      <m:t>−9</m:t>
                    </m:r>
                    <m:sSup>
                      <m:e>
                        <m:r>
                          <a:rPr lang="vi-VN" sz="2100" b="0">
                            <a:solidFill>
                              <a:srgbClr val="1E293B"/>
                            </a:solidFill>
                            <a:latin typeface="Cambria Math" panose="02040503050406030204" pitchFamily="18" charset="0"/>
                          </a:rPr>
                          <m:t>t</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+15t,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t≥0</m:t>
                    </m:r>
                  </m:oMath>
                </a14:m>
                <a:r>
                  <a:rPr sz="2100">
                    <a:solidFill>
                      <a:srgbClr val="1E293B"/>
                    </a:solidFill>
                    <a:latin typeface="Calibri"/>
                  </a:rPr>
                  <a:t>): a) Theo ý nghĩa cơ học của đạo hàm, vận tốc </a:t>
                </a:r>
                <a14:m>
                  <m:oMath xmlns:m="http://schemas.openxmlformats.org/officeDocument/2006/math">
                    <m:r>
                      <a:rPr lang="vi-VN" sz="2100" b="0">
                        <a:solidFill>
                          <a:srgbClr val="1E293B"/>
                        </a:solidFill>
                        <a:latin typeface="Cambria Math" panose="02040503050406030204" pitchFamily="18" charset="0"/>
                      </a:rPr>
                      <m:t>v(t)</m:t>
                    </m:r>
                  </m:oMath>
                </a14:m>
                <a:r>
                  <a:rPr sz="2100">
                    <a:solidFill>
                      <a:srgbClr val="1E293B"/>
                    </a:solidFill>
                    <a:latin typeface="Calibri"/>
                  </a:rPr>
                  <a:t> là đạo hàm của </a:t>
                </a:r>
                <a14:m>
                  <m:oMath xmlns:m="http://schemas.openxmlformats.org/officeDocument/2006/math">
                    <m:r>
                      <a:rPr lang="vi-VN" sz="2100" b="0">
                        <a:solidFill>
                          <a:srgbClr val="1E293B"/>
                        </a:solidFill>
                        <a:latin typeface="Cambria Math" panose="02040503050406030204" pitchFamily="18" charset="0"/>
                      </a:rPr>
                      <m:t>s(t)</m:t>
                    </m:r>
                  </m:oMath>
                </a14:m>
                <a:r>
                  <a:rPr sz="2100">
                    <a:solidFill>
                      <a:srgbClr val="1E293B"/>
                    </a:solidFill>
                    <a:latin typeface="Calibri"/>
                  </a:rPr>
                  <a:t>. Hãy tìm vận tốc </a:t>
                </a:r>
                <a14:m>
                  <m:oMath xmlns:m="http://schemas.openxmlformats.org/officeDocument/2006/math">
                    <m:r>
                      <a:rPr lang="vi-VN" sz="2100" b="0">
                        <a:solidFill>
                          <a:srgbClr val="1E293B"/>
                        </a:solidFill>
                        <a:latin typeface="Cambria Math" panose="02040503050406030204" pitchFamily="18" charset="0"/>
                      </a:rPr>
                      <m:t>v(t)</m:t>
                    </m:r>
                  </m:oMath>
                </a14:m>
                <a:r>
                  <a:rPr sz="2100">
                    <a:solidFill>
                      <a:srgbClr val="1E293B"/>
                    </a:solidFill>
                    <a:latin typeface="Calibri"/>
                  </a:rPr>
                  <a:t>. b) Xét dấu của hàm </a:t>
                </a:r>
                <a14:m>
                  <m:oMath xmlns:m="http://schemas.openxmlformats.org/officeDocument/2006/math">
                    <m:r>
                      <a:rPr lang="vi-VN" sz="2100" b="0">
                        <a:solidFill>
                          <a:srgbClr val="1E293B"/>
                        </a:solidFill>
                        <a:latin typeface="Cambria Math" panose="02040503050406030204" pitchFamily="18" charset="0"/>
                      </a:rPr>
                      <m:t>v(t)</m:t>
                    </m:r>
                  </m:oMath>
                </a14:m>
                <a:r>
                  <a:rPr sz="2100">
                    <a:solidFill>
                      <a:srgbClr val="1E293B"/>
                    </a:solidFill>
                    <a:latin typeface="Calibri"/>
                  </a:rPr>
                  <a:t>, từ đó suy ra câu trả lời.</a:t>
                </a:r>
              </a:p>
            </p:txBody>
          </p:sp>
        </mc:Choice>
        <mc:Fallback>
          <p:sp>
            <p:nvSpPr>
              <p:cNvPr id="7" name="TextBox 6"/>
              <p:cNvSpPr txBox="1"/>
              <p:nvPr/>
            </p:nvSpPr>
            <p:spPr>
              <a:xfrm>
                <a:off x="548640" y="1371600"/>
                <a:ext cx="7680960" cy="177393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Vận dụng 1.</a:t>
                </a:r>
                <a:r>
                  <a:rPr sz="2100">
                    <a:solidFill>
                      <a:srgbClr val="1E293B"/>
                    </a:solidFill>
                    <a:latin typeface="Calibri"/>
                  </a:rPr>
                  <a:t> Giải bài toán trong tình huống mở đầu (</a:t>
                </a:r>
                <a:r>
                  <a:rPr lang="vi-VN"/>
                  <a:t>s(t)=t^3-9t^2+15t,\ t\ge 0</a:t>
                </a:r>
                <a:r>
                  <a:rPr sz="2100">
                    <a:solidFill>
                      <a:srgbClr val="1E293B"/>
                    </a:solidFill>
                    <a:latin typeface="Calibri"/>
                  </a:rPr>
                  <a:t>): a) Theo ý nghĩa cơ học của đạo hàm, vận tốc </a:t>
                </a:r>
                <a:r>
                  <a:rPr lang="vi-VN"/>
                  <a:t>v(t)</a:t>
                </a:r>
                <a:r>
                  <a:rPr sz="2100">
                    <a:solidFill>
                      <a:srgbClr val="1E293B"/>
                    </a:solidFill>
                    <a:latin typeface="Calibri"/>
                  </a:rPr>
                  <a:t> là đạo hàm của </a:t>
                </a:r>
                <a:r>
                  <a:rPr lang="vi-VN"/>
                  <a:t>s(t)</a:t>
                </a:r>
                <a:r>
                  <a:rPr sz="2100">
                    <a:solidFill>
                      <a:srgbClr val="1E293B"/>
                    </a:solidFill>
                    <a:latin typeface="Calibri"/>
                  </a:rPr>
                  <a:t>. Hãy tìm vận tốc </a:t>
                </a:r>
                <a:r>
                  <a:rPr lang="vi-VN"/>
                  <a:t>v(t)</a:t>
                </a:r>
                <a:r>
                  <a:rPr sz="2100">
                    <a:solidFill>
                      <a:srgbClr val="1E293B"/>
                    </a:solidFill>
                    <a:latin typeface="Calibri"/>
                  </a:rPr>
                  <a:t>. b) Xét dấu của hàm </a:t>
                </a:r>
                <a:r>
                  <a:rPr lang="vi-VN"/>
                  <a:t>v(t)</a:t>
                </a:r>
                <a:r>
                  <a:rPr sz="2100">
                    <a:solidFill>
                      <a:srgbClr val="1E293B"/>
                    </a:solidFill>
                    <a:latin typeface="Calibri"/>
                  </a:rPr>
                  <a:t>, từ đó suy ra câu trả lời.</a:t>
                </a:r>
              </a:p>
            </p:txBody>
          </p:sp>
        </mc:Fallback>
      </mc:AlternateContent>
      <p:sp>
        <p:nvSpPr>
          <p:cNvPr id="8" name="s1_nen"/>
          <p:cNvSpPr/>
          <p:nvPr/>
        </p:nvSpPr>
        <p:spPr>
          <a:xfrm>
            <a:off x="548640" y="3236976"/>
            <a:ext cx="768096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273552"/>
                <a:ext cx="735177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r>
                      <a:rPr lang="vi-VN" sz="2100" b="0">
                        <a:solidFill>
                          <a:srgbClr val="1E293B"/>
                        </a:solidFill>
                        <a:latin typeface="Cambria Math" panose="02040503050406030204" pitchFamily="18" charset="0"/>
                      </a:rPr>
                      <m:t>v(t)=</m:t>
                    </m:r>
                    <m:sSup>
                      <m:e>
                        <m:r>
                          <a:rPr lang="vi-VN" sz="2100" b="0">
                            <a:solidFill>
                              <a:srgbClr val="1E293B"/>
                            </a:solidFill>
                            <a:latin typeface="Cambria Math" panose="02040503050406030204" pitchFamily="18" charset="0"/>
                          </a:rPr>
                          <m:t>s</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(t)=3</m:t>
                    </m:r>
                    <m:sSup>
                      <m:e>
                        <m:r>
                          <a:rPr lang="vi-VN" sz="2100" b="0">
                            <a:solidFill>
                              <a:srgbClr val="1E293B"/>
                            </a:solidFill>
                            <a:latin typeface="Cambria Math" panose="02040503050406030204" pitchFamily="18" charset="0"/>
                          </a:rPr>
                          <m:t>t</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−18t+15=3(t−1)(t−5)</m:t>
                    </m:r>
                  </m:oMath>
                </a14:m>
                <a:r>
                  <a:rPr sz="2100">
                    <a:solidFill>
                      <a:srgbClr val="1E293B"/>
                    </a:solidFill>
                    <a:latin typeface="Calibri"/>
                  </a:rPr>
                  <a:t>.</a:t>
                </a:r>
              </a:p>
            </p:txBody>
          </p:sp>
        </mc:Choice>
        <mc:Fallback>
          <p:sp>
            <p:nvSpPr>
              <p:cNvPr id="9" name="TextBox 8"/>
              <p:cNvSpPr txBox="1"/>
              <p:nvPr/>
            </p:nvSpPr>
            <p:spPr>
              <a:xfrm>
                <a:off x="713232" y="3273552"/>
                <a:ext cx="735177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v(t)=s'(t)=3t^2-18t+15=3(t-1)(t-5)</a:t>
                </a:r>
                <a:r>
                  <a:rPr sz="2100">
                    <a:solidFill>
                      <a:srgbClr val="1E293B"/>
                    </a:solidFill>
                    <a:latin typeface="Calibri"/>
                  </a:rPr>
                  <a:t>.</a:t>
                </a:r>
              </a:p>
            </p:txBody>
          </p:sp>
        </mc:Fallback>
      </mc:AlternateContent>
      <p:sp>
        <p:nvSpPr>
          <p:cNvPr id="10" name="s2_nen"/>
          <p:cNvSpPr/>
          <p:nvPr/>
        </p:nvSpPr>
        <p:spPr>
          <a:xfrm>
            <a:off x="548640" y="3913631"/>
            <a:ext cx="768096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950207"/>
                <a:ext cx="735177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14:m>
                  <m:oMath xmlns:m="http://schemas.openxmlformats.org/officeDocument/2006/math">
                    <m:r>
                      <a:rPr lang="vi-VN" sz="2100" b="0">
                        <a:solidFill>
                          <a:srgbClr val="1E293B"/>
                        </a:solidFill>
                        <a:latin typeface="Cambria Math" panose="02040503050406030204" pitchFamily="18" charset="0"/>
                      </a:rPr>
                      <m:t>v(t)&gt;0</m:t>
                    </m:r>
                  </m:oMath>
                </a14:m>
                <a:r>
                  <a:rPr sz="2100">
                    <a:solidFill>
                      <a:srgbClr val="1E293B"/>
                    </a:solidFill>
                    <a:latin typeface="Calibri"/>
                  </a:rPr>
                  <a:t> khi </a:t>
                </a:r>
                <a14:m>
                  <m:oMath xmlns:m="http://schemas.openxmlformats.org/officeDocument/2006/math">
                    <m:r>
                      <a:rPr lang="vi-VN" sz="2100" b="0">
                        <a:solidFill>
                          <a:srgbClr val="1E293B"/>
                        </a:solidFill>
                        <a:latin typeface="Cambria Math" panose="02040503050406030204" pitchFamily="18" charset="0"/>
                      </a:rPr>
                      <m:t>0≤t&lt;1</m:t>
                    </m:r>
                  </m:oMath>
                </a14:m>
                <a:r>
                  <a:rPr sz="2100">
                    <a:solidFill>
                      <a:srgbClr val="1E293B"/>
                    </a:solidFill>
                    <a:latin typeface="Calibri"/>
                  </a:rPr>
                  <a:t> hoặc </a:t>
                </a:r>
                <a14:m>
                  <m:oMath xmlns:m="http://schemas.openxmlformats.org/officeDocument/2006/math">
                    <m:r>
                      <a:rPr lang="vi-VN" sz="2100" b="0">
                        <a:solidFill>
                          <a:srgbClr val="1E293B"/>
                        </a:solidFill>
                        <a:latin typeface="Cambria Math" panose="02040503050406030204" pitchFamily="18" charset="0"/>
                      </a:rPr>
                      <m:t>t&gt;5</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v(t)&lt;0</m:t>
                    </m:r>
                  </m:oMath>
                </a14:m>
                <a:r>
                  <a:rPr sz="2100">
                    <a:solidFill>
                      <a:srgbClr val="1E293B"/>
                    </a:solidFill>
                    <a:latin typeface="Calibri"/>
                  </a:rPr>
                  <a:t> khi </a:t>
                </a:r>
                <a14:m>
                  <m:oMath xmlns:m="http://schemas.openxmlformats.org/officeDocument/2006/math">
                    <m:r>
                      <a:rPr lang="vi-VN" sz="2100" b="0">
                        <a:solidFill>
                          <a:srgbClr val="1E293B"/>
                        </a:solidFill>
                        <a:latin typeface="Cambria Math" panose="02040503050406030204" pitchFamily="18" charset="0"/>
                      </a:rPr>
                      <m:t>1&lt;t&lt;5</m:t>
                    </m:r>
                  </m:oMath>
                </a14:m>
                <a:r>
                  <a:rPr sz="2100">
                    <a:solidFill>
                      <a:srgbClr val="1E293B"/>
                    </a:solidFill>
                    <a:latin typeface="Calibri"/>
                  </a:rPr>
                  <a:t>.</a:t>
                </a:r>
              </a:p>
            </p:txBody>
          </p:sp>
        </mc:Choice>
        <mc:Fallback>
          <p:sp>
            <p:nvSpPr>
              <p:cNvPr id="11" name="TextBox 10"/>
              <p:cNvSpPr txBox="1"/>
              <p:nvPr/>
            </p:nvSpPr>
            <p:spPr>
              <a:xfrm>
                <a:off x="713232" y="3950207"/>
                <a:ext cx="735177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v(t)&gt;0</a:t>
                </a:r>
                <a:r>
                  <a:rPr sz="2100">
                    <a:solidFill>
                      <a:srgbClr val="1E293B"/>
                    </a:solidFill>
                    <a:latin typeface="Calibri"/>
                  </a:rPr>
                  <a:t> khi </a:t>
                </a:r>
                <a:r>
                  <a:rPr lang="vi-VN"/>
                  <a:t>0\le t&lt;1</a:t>
                </a:r>
                <a:r>
                  <a:rPr sz="2100">
                    <a:solidFill>
                      <a:srgbClr val="1E293B"/>
                    </a:solidFill>
                    <a:latin typeface="Calibri"/>
                  </a:rPr>
                  <a:t> hoặc </a:t>
                </a:r>
                <a:r>
                  <a:rPr lang="vi-VN"/>
                  <a:t>t&gt;5</a:t>
                </a:r>
                <a:r>
                  <a:rPr sz="2100">
                    <a:solidFill>
                      <a:srgbClr val="1E293B"/>
                    </a:solidFill>
                    <a:latin typeface="Calibri"/>
                  </a:rPr>
                  <a:t>; </a:t>
                </a:r>
                <a:r>
                  <a:rPr lang="vi-VN"/>
                  <a:t>v(t)&lt;0</a:t>
                </a:r>
                <a:r>
                  <a:rPr sz="2100">
                    <a:solidFill>
                      <a:srgbClr val="1E293B"/>
                    </a:solidFill>
                    <a:latin typeface="Calibri"/>
                  </a:rPr>
                  <a:t> khi </a:t>
                </a:r>
                <a:r>
                  <a:rPr lang="vi-VN"/>
                  <a:t>1&lt;t&lt;5</a:t>
                </a:r>
                <a:r>
                  <a:rPr sz="2100">
                    <a:solidFill>
                      <a:srgbClr val="1E293B"/>
                    </a:solidFill>
                    <a:latin typeface="Calibri"/>
                  </a:rPr>
                  <a:t>.</a:t>
                </a:r>
              </a:p>
            </p:txBody>
          </p:sp>
        </mc:Fallback>
      </mc:AlternateContent>
      <p:sp>
        <p:nvSpPr>
          <p:cNvPr id="12" name="s3_nen"/>
          <p:cNvSpPr/>
          <p:nvPr/>
        </p:nvSpPr>
        <p:spPr>
          <a:xfrm>
            <a:off x="548640" y="4590287"/>
            <a:ext cx="7680960" cy="12252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3_chu"/>
          <p:cNvSpPr txBox="1"/>
          <p:nvPr/>
        </p:nvSpPr>
        <p:spPr>
          <a:xfrm>
            <a:off x="713232" y="4626863"/>
            <a:ext cx="73517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Chất điểm chuyển động sang phải trong khoảng thời gian từ 0 đến 1 giây và sau 5 giây; sang trái trong khoảng từ 1 đến 5 giây.</a:t>
            </a:r>
          </a:p>
        </p:txBody>
      </p:sp>
      <p:pic>
        <p:nvPicPr>
          <p:cNvPr id="14" name="Picture 13" descr="b1_h11.png"/>
          <p:cNvPicPr>
            <a:picLocks noChangeAspect="1"/>
          </p:cNvPicPr>
          <p:nvPr/>
        </p:nvPicPr>
        <p:blipFill>
          <a:blip r:embed="rId3"/>
          <a:stretch>
            <a:fillRect/>
          </a:stretch>
        </p:blipFill>
        <p:spPr>
          <a:xfrm>
            <a:off x="8503920" y="1643711"/>
            <a:ext cx="3108959" cy="735937"/>
          </a:xfrm>
          <a:prstGeom prst="rect">
            <a:avLst/>
          </a:prstGeom>
        </p:spPr>
      </p:pic>
      <p:sp>
        <p:nvSpPr>
          <p:cNvPr id="15" name="TextBox 14"/>
          <p:cNvSpPr txBox="1"/>
          <p:nvPr/>
        </p:nvSpPr>
        <p:spPr>
          <a:xfrm>
            <a:off x="8503920" y="2578608"/>
            <a:ext cx="3108959"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DẤU ĐẠO HÀM VÀ TÍNH ĐƠN ĐIỆU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20</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Đồ thị </a:t>
                </a:r>
                <a14:m>
                  <m:oMath xmlns:m="http://schemas.openxmlformats.org/officeDocument/2006/math">
                    <m:r>
                      <a:rPr lang="vi-VN" sz="2200" b="0">
                        <a:solidFill>
                          <a:srgbClr val="1E293B"/>
                        </a:solidFill>
                        <a:latin typeface="Cambria Math" panose="02040503050406030204" pitchFamily="18" charset="0"/>
                      </a:rPr>
                      <m:t>y=f(x)=</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3</m:t>
                        </m:r>
                      </m:sup>
                    </m:sSup>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+2</m:t>
                    </m:r>
                  </m:oMath>
                </a14:m>
                <a:r>
                  <a:rPr sz="2200">
                    <a:solidFill>
                      <a:srgbClr val="1E293B"/>
                    </a:solidFill>
                    <a:latin typeface="Calibri"/>
                  </a:rPr>
                  <a:t> (cam) và </a:t>
                </a:r>
                <a14:m>
                  <m:oMath xmlns:m="http://schemas.openxmlformats.org/officeDocument/2006/math">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m:t>
                    </m:r>
                  </m:oMath>
                </a14:m>
                <a:r>
                  <a:rPr sz="2200">
                    <a:solidFill>
                      <a:srgbClr val="1E293B"/>
                    </a:solidFill>
                    <a:latin typeface="Calibri"/>
                  </a:rPr>
                  <a:t> (xanh, nét đứt).</a:t>
                </a:r>
              </a:p>
              <a:p>
                <a:pPr algn="l" marL="365760" indent="-365760">
                  <a:spcAft>
                    <a:spcPts val="800"/>
                  </a:spcAft>
                  <a:buClr>
                    <a:srgbClr val="1E40AF"/>
                  </a:buClr>
                  <a:buFont typeface="Arial"/>
                  <a:buChar char="•"/>
                </a:pPr>
                <a:r>
                  <a:rPr sz="2200">
                    <a:solidFill>
                      <a:srgbClr val="1E293B"/>
                    </a:solidFill>
                    <a:latin typeface="Calibri"/>
                  </a:rPr>
                  <a:t>Kéo điểm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trên đồ thị: quan sát tiếp tuyến và giá trị </a:t>
                </a:r>
                <a14:m>
                  <m:oMath xmlns:m="http://schemas.openxmlformats.org/officeDocument/2006/math">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A</m:t>
                        </m:r>
                      </m:sub>
                    </m:sSub>
                    <m:r>
                      <a:rPr lang="vi-VN" sz="2200" b="0">
                        <a:solidFill>
                          <a:srgbClr val="1E293B"/>
                        </a:solidFill>
                        <a:latin typeface="Cambria Math" panose="02040503050406030204" pitchFamily="18" charset="0"/>
                      </a:rPr>
                      <m:t>)</m:t>
                    </m:r>
                  </m:oMath>
                </a14:m>
                <a:r>
                  <a:rPr sz="2200">
                    <a:solidFill>
                      <a:srgbClr val="1E293B"/>
                    </a:solidFill>
                    <a:latin typeface="Calibri"/>
                  </a:rPr>
                  <a:t>.</a:t>
                </a:r>
              </a:p>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A</m:t>
                        </m:r>
                      </m:sub>
                    </m:sSub>
                    <m:r>
                      <a:rPr lang="vi-VN" sz="2200" b="0">
                        <a:solidFill>
                          <a:srgbClr val="1E293B"/>
                        </a:solidFill>
                        <a:latin typeface="Cambria Math" panose="02040503050406030204" pitchFamily="18" charset="0"/>
                      </a:rPr>
                      <m:t>)&gt;0</m:t>
                    </m:r>
                  </m:oMath>
                </a14:m>
                <a:r>
                  <a:rPr sz="2200">
                    <a:solidFill>
                      <a:srgbClr val="1E293B"/>
                    </a:solidFill>
                    <a:latin typeface="Calibri"/>
                  </a:rPr>
                  <a:t>: đồ thị đi lên; </a:t>
                </a:r>
                <a14:m>
                  <m:oMath xmlns:m="http://schemas.openxmlformats.org/officeDocument/2006/math">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A</m:t>
                        </m:r>
                      </m:sub>
                    </m:sSub>
                    <m:r>
                      <a:rPr lang="vi-VN" sz="2200" b="0">
                        <a:solidFill>
                          <a:srgbClr val="1E293B"/>
                        </a:solidFill>
                        <a:latin typeface="Cambria Math" panose="02040503050406030204" pitchFamily="18" charset="0"/>
                      </a:rPr>
                      <m:t>)&lt;0</m:t>
                    </m:r>
                  </m:oMath>
                </a14:m>
                <a:r>
                  <a:rPr sz="2200">
                    <a:solidFill>
                      <a:srgbClr val="1E293B"/>
                    </a:solidFill>
                    <a:latin typeface="Calibri"/>
                  </a:rPr>
                  <a:t>: đồ thị đi xuống.</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Đồ thị </a:t>
                </a:r>
                <a:r>
                  <a:rPr lang="vi-VN"/>
                  <a:t>y=f(x)=x^3-3x^2+2</a:t>
                </a:r>
                <a:r>
                  <a:rPr sz="2200">
                    <a:solidFill>
                      <a:srgbClr val="1E293B"/>
                    </a:solidFill>
                    <a:latin typeface="Calibri"/>
                  </a:rPr>
                  <a:t> (cam) và </a:t>
                </a:r>
                <a:r>
                  <a:rPr lang="vi-VN"/>
                  <a:t>y=f'(x)</a:t>
                </a:r>
                <a:r>
                  <a:rPr sz="2200">
                    <a:solidFill>
                      <a:srgbClr val="1E293B"/>
                    </a:solidFill>
                    <a:latin typeface="Calibri"/>
                  </a:rPr>
                  <a:t> (xanh, nét đứt).</a:t>
                </a:r>
              </a:p>
              <a:p>
                <a:pPr algn="l" marL="365760" indent="-365760">
                  <a:spcAft>
                    <a:spcPts val="800"/>
                  </a:spcAft>
                  <a:buClr>
                    <a:srgbClr val="1E40AF"/>
                  </a:buClr>
                  <a:buFont typeface="Arial"/>
                  <a:buChar char="•"/>
                </a:pPr>
                <a:r>
                  <a:rPr sz="2200">
                    <a:solidFill>
                      <a:srgbClr val="1E293B"/>
                    </a:solidFill>
                    <a:latin typeface="Calibri"/>
                  </a:rPr>
                  <a:t>Kéo điểm </a:t>
                </a:r>
                <a:r>
                  <a:rPr lang="vi-VN"/>
                  <a:t>A</a:t>
                </a:r>
                <a:r>
                  <a:rPr sz="2200">
                    <a:solidFill>
                      <a:srgbClr val="1E293B"/>
                    </a:solidFill>
                    <a:latin typeface="Calibri"/>
                  </a:rPr>
                  <a:t> trên đồ thị: quan sát tiếp tuyến và giá trị </a:t>
                </a:r>
                <a:r>
                  <a:rPr lang="vi-VN"/>
                  <a:t>f'(x_A)</a:t>
                </a:r>
                <a:r>
                  <a:rPr sz="2200">
                    <a:solidFill>
                      <a:srgbClr val="1E293B"/>
                    </a:solidFill>
                    <a:latin typeface="Calibri"/>
                  </a:rPr>
                  <a:t>.</a:t>
                </a:r>
              </a:p>
              <a:p>
                <a:pPr algn="l" marL="365760" indent="-365760">
                  <a:spcAft>
                    <a:spcPts val="800"/>
                  </a:spcAft>
                  <a:buClr>
                    <a:srgbClr val="1E40AF"/>
                  </a:buClr>
                  <a:buFont typeface="Arial"/>
                  <a:buChar char="•"/>
                </a:pPr>
                <a:r>
                  <a:rPr lang="vi-VN"/>
                  <a:t>f'(x_A)&gt;0</a:t>
                </a:r>
                <a:r>
                  <a:rPr sz="2200">
                    <a:solidFill>
                      <a:srgbClr val="1E293B"/>
                    </a:solidFill>
                    <a:latin typeface="Calibri"/>
                  </a:rPr>
                  <a:t>: đồ thị đi lên; </a:t>
                </a:r>
                <a:r>
                  <a:rPr lang="vi-VN"/>
                  <a:t>f'(x_A)&lt;0</a:t>
                </a:r>
                <a:r>
                  <a:rPr sz="2200">
                    <a:solidFill>
                      <a:srgbClr val="1E293B"/>
                    </a:solidFill>
                    <a:latin typeface="Calibri"/>
                  </a:rPr>
                  <a:t>: đồ thị đi xuống.</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b1_h15.png"/>
          <p:cNvPicPr>
            <a:picLocks noChangeAspect="1"/>
          </p:cNvPicPr>
          <p:nvPr/>
        </p:nvPicPr>
        <p:blipFill>
          <a:blip r:embed="rId5"/>
          <a:stretch>
            <a:fillRect/>
          </a:stretch>
        </p:blipFill>
        <p:spPr>
          <a:xfrm>
            <a:off x="6858000" y="1518178"/>
            <a:ext cx="4846320" cy="437028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21</a:t>
            </a:r>
          </a:p>
        </p:txBody>
      </p:sp>
      <p:sp>
        <p:nvSpPr>
          <p:cNvPr id="7" name="Rounded Rectangle 6"/>
          <p:cNvSpPr/>
          <p:nvPr/>
        </p:nvSpPr>
        <p:spPr>
          <a:xfrm>
            <a:off x="548640" y="1463040"/>
            <a:ext cx="11064240" cy="17068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63372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4 bước: tập xác định → đạo hàm, điểm </a:t>
                </a:r>
                <a14:m>
                  <m:oMath xmlns:m="http://schemas.openxmlformats.org/officeDocument/2006/math">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=0</m:t>
                    </m:r>
                  </m:oMath>
                </a14:m>
                <a:r>
                  <a:rPr sz="2200">
                    <a:solidFill>
                      <a:srgbClr val="1E293B"/>
                    </a:solidFill>
                    <a:latin typeface="Calibri"/>
                  </a:rPr>
                  <a:t> hoặc không xác định → bảng biến thiên → kết luận.</a:t>
                </a:r>
              </a:p>
              <a:p>
                <a:pPr algn="l" marL="365760" indent="-365760">
                  <a:spcAft>
                    <a:spcPts val="800"/>
                  </a:spcAft>
                  <a:buClr>
                    <a:srgbClr val="1E40AF"/>
                  </a:buClr>
                  <a:buFont typeface="Arial"/>
                  <a:buChar char="•"/>
                </a:pPr>
                <a:r>
                  <a:rPr sz="2200">
                    <a:solidFill>
                      <a:srgbClr val="1E293B"/>
                    </a:solidFill>
                    <a:latin typeface="Calibri"/>
                  </a:rPr>
                  <a:t>Khoảng đơn điệu viết rời: "trên </a:t>
                </a:r>
                <a14:m>
                  <m:oMath xmlns:m="http://schemas.openxmlformats.org/officeDocument/2006/math">
                    <m:d>
                      <m:dPr>
                        <m:sepChr m:val="∞"/>
                      </m:dPr>
                      <m:e>
                        <m:r>
                          <a:rPr lang="vi-VN" sz="2200" b="0">
                            <a:solidFill>
                              <a:srgbClr val="1E293B"/>
                            </a:solidFill>
                            <a:latin typeface="Cambria Math" panose="02040503050406030204" pitchFamily="18" charset="0"/>
                          </a:rPr>
                          <m:t>−</m:t>
                        </m:r>
                      </m:e>
                      <m:e>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oMath>
                </a14:m>
                <a:r>
                  <a:rPr sz="2200">
                    <a:solidFill>
                      <a:srgbClr val="1E293B"/>
                    </a:solidFill>
                    <a:latin typeface="Calibri"/>
                  </a:rPr>
                  <a:t> và </a:t>
                </a:r>
                <a14:m>
                  <m:oMath xmlns:m="http://schemas.openxmlformats.org/officeDocument/2006/math">
                    <m:d>
                      <m:dPr>
                        <m:sepChr m:val=""/>
                      </m:dPr>
                      <m:e>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e>
                    </m:d>
                  </m:oMath>
                </a14:m>
                <a:r>
                  <a:rPr sz="2200">
                    <a:solidFill>
                      <a:srgbClr val="1E293B"/>
                    </a:solidFill>
                    <a:latin typeface="Calibri"/>
                  </a:rPr>
                  <a:t>", không dùng kí hiệu hợp.</a:t>
                </a:r>
              </a:p>
            </p:txBody>
          </p:sp>
        </mc:Choice>
        <mc:Fallback>
          <p:sp>
            <p:nvSpPr>
              <p:cNvPr id="8" name="TextBox 7"/>
              <p:cNvSpPr txBox="1"/>
              <p:nvPr/>
            </p:nvSpPr>
            <p:spPr>
              <a:xfrm>
                <a:off x="713232" y="1499616"/>
                <a:ext cx="10735056" cy="163372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4 bước: tập xác định → đạo hàm, điểm </a:t>
                </a:r>
                <a:r>
                  <a:rPr lang="vi-VN"/>
                  <a:t>f'=0</a:t>
                </a:r>
                <a:r>
                  <a:rPr sz="2200">
                    <a:solidFill>
                      <a:srgbClr val="1E293B"/>
                    </a:solidFill>
                    <a:latin typeface="Calibri"/>
                  </a:rPr>
                  <a:t> hoặc không xác định → bảng biến thiên → kết luận.</a:t>
                </a:r>
              </a:p>
              <a:p>
                <a:pPr algn="l" marL="365760" indent="-365760">
                  <a:spcAft>
                    <a:spcPts val="800"/>
                  </a:spcAft>
                  <a:buClr>
                    <a:srgbClr val="1E40AF"/>
                  </a:buClr>
                  <a:buFont typeface="Arial"/>
                  <a:buChar char="•"/>
                </a:pPr>
                <a:r>
                  <a:rPr sz="2200">
                    <a:solidFill>
                      <a:srgbClr val="1E293B"/>
                    </a:solidFill>
                    <a:latin typeface="Calibri"/>
                  </a:rPr>
                  <a:t>Khoảng đơn điệu viết rời: "trên </a:t>
                </a:r>
                <a:r>
                  <a:rPr lang="vi-VN"/>
                  <a:t>(-\infty;\ -1)</a:t>
                </a:r>
                <a:r>
                  <a:rPr sz="2200">
                    <a:solidFill>
                      <a:srgbClr val="1E293B"/>
                    </a:solidFill>
                    <a:latin typeface="Calibri"/>
                  </a:rPr>
                  <a:t> và </a:t>
                </a:r>
                <a:r>
                  <a:rPr lang="vi-VN"/>
                  <a:t>(-1;\ +\infty)</a:t>
                </a:r>
                <a:r>
                  <a:rPr sz="2200">
                    <a:solidFill>
                      <a:srgbClr val="1E293B"/>
                    </a:solidFill>
                    <a:latin typeface="Calibri"/>
                  </a:rPr>
                  <a:t>", không dùng kí hiệu hợp.</a:t>
                </a:r>
              </a:p>
            </p:txBody>
          </p:sp>
        </mc:Fallback>
      </mc:AlternateContent>
      <p:sp>
        <p:nvSpPr>
          <p:cNvPr id="9" name="Rounded Rectangle 8"/>
          <p:cNvSpPr/>
          <p:nvPr/>
        </p:nvSpPr>
        <p:spPr>
          <a:xfrm>
            <a:off x="548640" y="339852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43509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1.2, 1.3 (SGK tr.13).</a:t>
            </a:r>
          </a:p>
          <a:p>
            <a:pPr algn="l" marL="365760" indent="-365760">
              <a:spcAft>
                <a:spcPts val="800"/>
              </a:spcAft>
              <a:buClr>
                <a:srgbClr val="1E40AF"/>
              </a:buClr>
              <a:buFont typeface="Arial"/>
              <a:buChar char="•"/>
            </a:pPr>
            <a:r>
              <a:rPr sz="2200">
                <a:solidFill>
                  <a:srgbClr val="1E293B"/>
                </a:solidFill>
                <a:latin typeface="Calibri"/>
              </a:rPr>
              <a:t>Đọc trước mục 2. Cực trị của hàm số (SGK tr.9 – 12).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3 (T3)</a:t>
            </a:r>
          </a:p>
          <a:p>
            <a:pPr>
              <a:spcAft>
                <a:spcPts val="600"/>
              </a:spcAft>
            </a:pPr>
            <a:r>
              <a:rPr sz="4000" b="1">
                <a:solidFill>
                  <a:srgbClr val="FFFFFF"/>
                </a:solidFill>
                <a:latin typeface="Cambria"/>
              </a:rPr>
              <a:t>Khái niệm cực trị của hàm số</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Nhận biết điểm cực đại, cực tiểu, giá trị cực trị của hàm số.</a:t>
            </a:r>
          </a:p>
          <a:p>
            <a:pPr algn="l">
              <a:spcAft>
                <a:spcPts val="800"/>
              </a:spcAft>
            </a:pPr>
            <a:r>
              <a:rPr sz="2200">
                <a:solidFill>
                  <a:srgbClr val="E0E7FF"/>
                </a:solidFill>
                <a:latin typeface="Calibri"/>
              </a:rPr>
              <a:t>• Đọc cực trị từ đồ thị và bảng biến thiên.</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KHỞI ĐỘNG: AI NHANH HƠN?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23</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Từng cặp ghi đáp án lên bảng con. Mỗi câu 20 giây.</a:t>
            </a:r>
          </a:p>
        </p:txBody>
      </p:sp>
      <mc:AlternateContent xmlns:mc="http://schemas.openxmlformats.org/markup-compatibility/2006">
        <mc:Choice xmlns:a14="http://schemas.microsoft.com/office/drawing/2010/main" Requires="a14">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Hàm số </a:t>
                </a:r>
                <a14:m>
                  <m:oMath xmlns:m="http://schemas.openxmlformats.org/officeDocument/2006/math">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3</m:t>
                        </m:r>
                      </m:sup>
                    </m:sSup>
                    <m:r>
                      <a:rPr lang="vi-VN" sz="2200" b="0">
                        <a:solidFill>
                          <a:srgbClr val="1E293B"/>
                        </a:solidFill>
                        <a:latin typeface="Cambria Math" panose="02040503050406030204" pitchFamily="18" charset="0"/>
                      </a:rPr>
                      <m:t>−3x</m:t>
                    </m:r>
                  </m:oMath>
                </a14:m>
                <a:r>
                  <a:rPr sz="2200">
                    <a:solidFill>
                      <a:srgbClr val="1E293B"/>
                    </a:solidFill>
                    <a:latin typeface="Calibri"/>
                  </a:rPr>
                  <a:t> có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−3</m:t>
                    </m:r>
                  </m:oMath>
                </a14:m>
                <a:r>
                  <a:rPr sz="2200">
                    <a:solidFill>
                      <a:srgbClr val="1E293B"/>
                    </a:solidFill>
                    <a:latin typeface="Calibri"/>
                  </a:rPr>
                  <a:t>.</a:t>
                </a:r>
              </a:p>
            </p:txBody>
          </p:sp>
        </mc:Choice>
        <mc:Fallback>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Hàm số </a:t>
                </a:r>
                <a:r>
                  <a:rPr lang="vi-VN"/>
                  <a:t>y=x^3-3x</a:t>
                </a:r>
                <a:r>
                  <a:rPr sz="2200">
                    <a:solidFill>
                      <a:srgbClr val="1E293B"/>
                    </a:solidFill>
                    <a:latin typeface="Calibri"/>
                  </a:rPr>
                  <a:t> có </a:t>
                </a:r>
                <a:r>
                  <a:rPr lang="vi-VN"/>
                  <a:t>y'=3x^2-3</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46887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Nghiệm của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=0</m:t>
                    </m:r>
                  </m:oMath>
                </a14:m>
                <a:r>
                  <a:rPr sz="2400">
                    <a:solidFill>
                      <a:srgbClr val="1E293B"/>
                    </a:solidFill>
                    <a:latin typeface="Calibri"/>
                  </a:rPr>
                  <a:t>?</a:t>
                </a:r>
              </a:p>
            </p:txBody>
          </p:sp>
        </mc:Choice>
        <mc:Fallback>
          <p:sp>
            <p:nvSpPr>
              <p:cNvPr id="9" name="TextBox 8"/>
              <p:cNvSpPr txBox="1"/>
              <p:nvPr/>
            </p:nvSpPr>
            <p:spPr>
              <a:xfrm>
                <a:off x="548640" y="246887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Nghiệm của </a:t>
                </a:r>
                <a:r>
                  <a:rPr lang="vi-VN"/>
                  <a:t>y'=0</a:t>
                </a:r>
                <a:r>
                  <a:rPr sz="2400">
                    <a:solidFill>
                      <a:srgbClr val="1E293B"/>
                    </a:solidFill>
                    <a:latin typeface="Calibri"/>
                  </a:rPr>
                  <a:t>?</a:t>
                </a:r>
              </a:p>
            </p:txBody>
          </p:sp>
        </mc:Fallback>
      </mc:AlternateContent>
      <p:sp>
        <p:nvSpPr>
          <p:cNvPr id="10" name="s1_nen"/>
          <p:cNvSpPr/>
          <p:nvPr/>
        </p:nvSpPr>
        <p:spPr>
          <a:xfrm>
            <a:off x="4846320" y="2423160"/>
            <a:ext cx="384048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1_chu"/>
              <p:cNvSpPr txBox="1"/>
              <p:nvPr/>
            </p:nvSpPr>
            <p:spPr>
              <a:xfrm>
                <a:off x="5010912" y="2459736"/>
                <a:ext cx="351129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x=±1</m:t>
                    </m:r>
                  </m:oMath>
                </a14:m>
              </a:p>
            </p:txBody>
          </p:sp>
        </mc:Choice>
        <mc:Fallback>
          <p:sp>
            <p:nvSpPr>
              <p:cNvPr id="11" name="TextBox 10"/>
              <p:cNvSpPr txBox="1"/>
              <p:nvPr/>
            </p:nvSpPr>
            <p:spPr>
              <a:xfrm>
                <a:off x="5010912" y="2459736"/>
                <a:ext cx="351129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x=\pm 1</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48640" y="341757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Dấu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trên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m:t>
                        </m:r>
                      </m:e>
                    </m:d>
                  </m:oMath>
                </a14:m>
                <a:r>
                  <a:rPr sz="2400">
                    <a:solidFill>
                      <a:srgbClr val="1E293B"/>
                    </a:solidFill>
                    <a:latin typeface="Calibri"/>
                  </a:rPr>
                  <a:t>?</a:t>
                </a:r>
              </a:p>
            </p:txBody>
          </p:sp>
        </mc:Choice>
        <mc:Fallback>
          <p:sp>
            <p:nvSpPr>
              <p:cNvPr id="12" name="TextBox 11"/>
              <p:cNvSpPr txBox="1"/>
              <p:nvPr/>
            </p:nvSpPr>
            <p:spPr>
              <a:xfrm>
                <a:off x="548640" y="341757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Dấu </a:t>
                </a:r>
                <a:r>
                  <a:rPr lang="vi-VN"/>
                  <a:t>y'</a:t>
                </a:r>
                <a:r>
                  <a:rPr sz="2400">
                    <a:solidFill>
                      <a:srgbClr val="1E293B"/>
                    </a:solidFill>
                    <a:latin typeface="Calibri"/>
                  </a:rPr>
                  <a:t> trên </a:t>
                </a:r>
                <a:r>
                  <a:rPr lang="vi-VN"/>
                  <a:t>(-1;\ 1)</a:t>
                </a:r>
                <a:r>
                  <a:rPr sz="2400">
                    <a:solidFill>
                      <a:srgbClr val="1E293B"/>
                    </a:solidFill>
                    <a:latin typeface="Calibri"/>
                  </a:rPr>
                  <a:t>?</a:t>
                </a:r>
              </a:p>
            </p:txBody>
          </p:sp>
        </mc:Fallback>
      </mc:AlternateContent>
      <p:sp>
        <p:nvSpPr>
          <p:cNvPr id="13" name="s2_nen"/>
          <p:cNvSpPr/>
          <p:nvPr/>
        </p:nvSpPr>
        <p:spPr>
          <a:xfrm>
            <a:off x="4846320" y="3371850"/>
            <a:ext cx="384048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2_chu"/>
          <p:cNvSpPr txBox="1"/>
          <p:nvPr/>
        </p:nvSpPr>
        <p:spPr>
          <a:xfrm>
            <a:off x="5010912" y="3408426"/>
            <a:ext cx="351129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âm</a:t>
            </a:r>
          </a:p>
        </p:txBody>
      </p:sp>
      <p:sp>
        <p:nvSpPr>
          <p:cNvPr id="15" name="TextBox 14"/>
          <p:cNvSpPr txBox="1"/>
          <p:nvPr/>
        </p:nvSpPr>
        <p:spPr>
          <a:xfrm>
            <a:off x="548640" y="436625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Hàm số nghịch biến trên?</a:t>
            </a:r>
          </a:p>
        </p:txBody>
      </p:sp>
      <p:sp>
        <p:nvSpPr>
          <p:cNvPr id="16" name="s3_nen"/>
          <p:cNvSpPr/>
          <p:nvPr/>
        </p:nvSpPr>
        <p:spPr>
          <a:xfrm>
            <a:off x="4846320" y="4320540"/>
            <a:ext cx="384048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3_chu"/>
              <p:cNvSpPr txBox="1"/>
              <p:nvPr/>
            </p:nvSpPr>
            <p:spPr>
              <a:xfrm>
                <a:off x="5010912" y="4357116"/>
                <a:ext cx="351129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m:t>
                        </m:r>
                      </m:e>
                    </m:d>
                  </m:oMath>
                </a14:m>
              </a:p>
            </p:txBody>
          </p:sp>
        </mc:Choice>
        <mc:Fallback>
          <p:sp>
            <p:nvSpPr>
              <p:cNvPr id="17" name="TextBox 16"/>
              <p:cNvSpPr txBox="1"/>
              <p:nvPr/>
            </p:nvSpPr>
            <p:spPr>
              <a:xfrm>
                <a:off x="5010912" y="4357116"/>
                <a:ext cx="351129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(-1;\ 1)</a:t>
                </a:r>
              </a:p>
            </p:txBody>
          </p:sp>
        </mc:Fallback>
      </mc:AlternateContent>
      <p:sp>
        <p:nvSpPr>
          <p:cNvPr id="18" name="TextBox 17"/>
          <p:cNvSpPr txBox="1"/>
          <p:nvPr/>
        </p:nvSpPr>
        <p:spPr>
          <a:xfrm>
            <a:off x="548640" y="531495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Hàm số đồng biến trên?</a:t>
            </a:r>
          </a:p>
        </p:txBody>
      </p:sp>
      <p:sp>
        <p:nvSpPr>
          <p:cNvPr id="19" name="s4_nen"/>
          <p:cNvSpPr/>
          <p:nvPr/>
        </p:nvSpPr>
        <p:spPr>
          <a:xfrm>
            <a:off x="4846320" y="5269230"/>
            <a:ext cx="384048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0" name="s4_chu"/>
              <p:cNvSpPr txBox="1"/>
              <p:nvPr/>
            </p:nvSpPr>
            <p:spPr>
              <a:xfrm>
                <a:off x="5010912" y="5305806"/>
                <a:ext cx="351129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m:t>
                        </m:r>
                      </m:e>
                      <m:e>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r>
                  <a:rPr sz="2400">
                    <a:solidFill>
                      <a:srgbClr val="1E293B"/>
                    </a:solidFill>
                    <a:latin typeface="Calibri"/>
                  </a:rPr>
                  <a:t> và </a:t>
                </a:r>
                <a14:m>
                  <m:oMath xmlns:m="http://schemas.openxmlformats.org/officeDocument/2006/math">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e>
                    </m:d>
                  </m:oMath>
                </a14:m>
              </a:p>
            </p:txBody>
          </p:sp>
        </mc:Choice>
        <mc:Fallback>
          <p:sp>
            <p:nvSpPr>
              <p:cNvPr id="20" name="TextBox 19"/>
              <p:cNvSpPr txBox="1"/>
              <p:nvPr/>
            </p:nvSpPr>
            <p:spPr>
              <a:xfrm>
                <a:off x="5010912" y="5305806"/>
                <a:ext cx="351129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(-\infty;\ -1)</a:t>
                </a:r>
                <a:r>
                  <a:rPr sz="2400">
                    <a:solidFill>
                      <a:srgbClr val="1E293B"/>
                    </a:solidFill>
                    <a:latin typeface="Calibri"/>
                  </a:rPr>
                  <a:t> và </a:t>
                </a:r>
                <a:r>
                  <a:rPr lang="vi-VN"/>
                  <a:t>(1;\ +\infty)</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CỰC TRỊ CỦA HÀM SỐ – HĐ4 (SGK TR.9)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24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68096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HĐ4.</a:t>
                </a:r>
                <a:r>
                  <a:rPr sz="2100">
                    <a:solidFill>
                      <a:srgbClr val="1E293B"/>
                    </a:solidFill>
                    <a:latin typeface="Calibri"/>
                  </a:rPr>
                  <a:t> Quan sát đồ thị của hàm số </a:t>
                </a:r>
                <a14:m>
                  <m:oMath xmlns:m="http://schemas.openxmlformats.org/officeDocument/2006/math">
                    <m:r>
                      <a:rPr lang="vi-VN" sz="2100" b="0">
                        <a:solidFill>
                          <a:srgbClr val="1E293B"/>
                        </a:solidFill>
                        <a:latin typeface="Cambria Math" panose="02040503050406030204" pitchFamily="18" charset="0"/>
                      </a:rPr>
                      <m:t>y=</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3</m:t>
                        </m:r>
                      </m:sup>
                    </m:sSup>
                    <m:r>
                      <a:rPr lang="vi-VN" sz="2100" b="0">
                        <a:solidFill>
                          <a:srgbClr val="1E293B"/>
                        </a:solidFill>
                        <a:latin typeface="Cambria Math" panose="02040503050406030204" pitchFamily="18" charset="0"/>
                      </a:rPr>
                      <m:t>+3</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−4</m:t>
                    </m:r>
                  </m:oMath>
                </a14:m>
                <a:r>
                  <a:rPr sz="2100">
                    <a:solidFill>
                      <a:srgbClr val="1E293B"/>
                    </a:solidFill>
                    <a:latin typeface="Calibri"/>
                  </a:rPr>
                  <a:t> (H.1.7). Xét dấu đạo hàm và hoàn thành các bảng: trên </a:t>
                </a:r>
                <a14:m>
                  <m:oMath xmlns:m="http://schemas.openxmlformats.org/officeDocument/2006/math">
                    <m:d>
                      <m:dPr>
                        <m:begChr m:val="["/>
                        <m:sepChr m:val=""/>
                        <m:end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3</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oMath>
                </a14:m>
                <a:r>
                  <a:rPr sz="2100">
                    <a:solidFill>
                      <a:srgbClr val="1E293B"/>
                    </a:solidFill>
                    <a:latin typeface="Calibri"/>
                  </a:rPr>
                  <a:t> và trên </a:t>
                </a:r>
                <a14:m>
                  <m:oMath xmlns:m="http://schemas.openxmlformats.org/officeDocument/2006/math">
                    <m:d>
                      <m:dPr>
                        <m:begChr m:val="["/>
                        <m:sepChr m:val=""/>
                        <m:end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m:t>
                        </m:r>
                      </m:e>
                    </m:d>
                  </m:oMath>
                </a14:m>
                <a:r>
                  <a:rPr sz="2100">
                    <a:solidFill>
                      <a:srgbClr val="1E293B"/>
                    </a:solidFill>
                    <a:latin typeface="Calibri"/>
                  </a:rPr>
                  <a:t>.</a:t>
                </a:r>
              </a:p>
            </p:txBody>
          </p:sp>
        </mc:Choice>
        <mc:Fallback>
          <p:sp>
            <p:nvSpPr>
              <p:cNvPr id="7" name="TextBox 6"/>
              <p:cNvSpPr txBox="1"/>
              <p:nvPr/>
            </p:nvSpPr>
            <p:spPr>
              <a:xfrm>
                <a:off x="548640" y="1371600"/>
                <a:ext cx="768096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HĐ4.</a:t>
                </a:r>
                <a:r>
                  <a:rPr sz="2100">
                    <a:solidFill>
                      <a:srgbClr val="1E293B"/>
                    </a:solidFill>
                    <a:latin typeface="Calibri"/>
                  </a:rPr>
                  <a:t> Quan sát đồ thị của hàm số </a:t>
                </a:r>
                <a:r>
                  <a:rPr lang="vi-VN"/>
                  <a:t>y=x^3+3x^2-4</a:t>
                </a:r>
                <a:r>
                  <a:rPr sz="2100">
                    <a:solidFill>
                      <a:srgbClr val="1E293B"/>
                    </a:solidFill>
                    <a:latin typeface="Calibri"/>
                  </a:rPr>
                  <a:t> (H.1.7). Xét dấu đạo hàm và hoàn thành các bảng: trên </a:t>
                </a:r>
                <a:r>
                  <a:rPr lang="vi-VN"/>
                  <a:t>[-3;\ -1]</a:t>
                </a:r>
                <a:r>
                  <a:rPr sz="2100">
                    <a:solidFill>
                      <a:srgbClr val="1E293B"/>
                    </a:solidFill>
                    <a:latin typeface="Calibri"/>
                  </a:rPr>
                  <a:t> và trên </a:t>
                </a:r>
                <a:r>
                  <a:rPr lang="vi-VN"/>
                  <a:t>[-1;\ 1]</a:t>
                </a:r>
                <a:r>
                  <a:rPr sz="2100">
                    <a:solidFill>
                      <a:srgbClr val="1E293B"/>
                    </a:solidFill>
                    <a:latin typeface="Calibri"/>
                  </a:rPr>
                  <a:t>.</a:t>
                </a:r>
              </a:p>
            </p:txBody>
          </p:sp>
        </mc:Fallback>
      </mc:AlternateContent>
      <p:sp>
        <p:nvSpPr>
          <p:cNvPr id="8" name="s1_nen"/>
          <p:cNvSpPr/>
          <p:nvPr/>
        </p:nvSpPr>
        <p:spPr>
          <a:xfrm>
            <a:off x="548640" y="2642615"/>
            <a:ext cx="7680960" cy="12252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79191"/>
                <a:ext cx="73517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Trên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3</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&gt;0</m:t>
                    </m:r>
                  </m:oMath>
                </a14:m>
                <a:r>
                  <a:rPr sz="2100">
                    <a:solidFill>
                      <a:srgbClr val="1E293B"/>
                    </a:solidFill>
                    <a:latin typeface="Calibri"/>
                  </a:rPr>
                  <a:t> trên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3</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e>
                    </m:d>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(−2)=0</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&lt;0</m:t>
                    </m:r>
                  </m:oMath>
                </a14:m>
                <a:r>
                  <a:rPr sz="2100">
                    <a:solidFill>
                      <a:srgbClr val="1E293B"/>
                    </a:solidFill>
                    <a:latin typeface="Calibri"/>
                  </a:rPr>
                  <a:t> trên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oMath>
                </a14:m>
                <a:r>
                  <a:rPr sz="2100">
                    <a:solidFill>
                      <a:srgbClr val="1E293B"/>
                    </a:solidFill>
                    <a:latin typeface="Calibri"/>
                  </a:rPr>
                  <a:t>; giá trị tại </a:t>
                </a:r>
                <a14:m>
                  <m:oMath xmlns:m="http://schemas.openxmlformats.org/officeDocument/2006/math">
                    <m:r>
                      <a:rPr lang="vi-VN" sz="2100" b="0">
                        <a:solidFill>
                          <a:srgbClr val="1E293B"/>
                        </a:solidFill>
                        <a:latin typeface="Cambria Math" panose="02040503050406030204" pitchFamily="18" charset="0"/>
                      </a:rPr>
                      <m:t>x=−2</m:t>
                    </m:r>
                  </m:oMath>
                </a14:m>
                <a:r>
                  <a:rPr sz="2100">
                    <a:solidFill>
                      <a:srgbClr val="1E293B"/>
                    </a:solidFill>
                    <a:latin typeface="Calibri"/>
                  </a:rPr>
                  <a:t> là </a:t>
                </a:r>
                <a14:m>
                  <m:oMath xmlns:m="http://schemas.openxmlformats.org/officeDocument/2006/math">
                    <m:r>
                      <a:rPr lang="vi-VN" sz="2100" b="0">
                        <a:solidFill>
                          <a:srgbClr val="1E293B"/>
                        </a:solidFill>
                        <a:latin typeface="Cambria Math" panose="02040503050406030204" pitchFamily="18" charset="0"/>
                      </a:rPr>
                      <m:t>y=0</m:t>
                    </m:r>
                  </m:oMath>
                </a14:m>
                <a:r>
                  <a:rPr sz="2100">
                    <a:solidFill>
                      <a:srgbClr val="1E293B"/>
                    </a:solidFill>
                    <a:latin typeface="Calibri"/>
                  </a:rPr>
                  <a:t> (lớn nhất trong khoảng).</a:t>
                </a:r>
              </a:p>
            </p:txBody>
          </p:sp>
        </mc:Choice>
        <mc:Fallback>
          <p:sp>
            <p:nvSpPr>
              <p:cNvPr id="9" name="TextBox 8"/>
              <p:cNvSpPr txBox="1"/>
              <p:nvPr/>
            </p:nvSpPr>
            <p:spPr>
              <a:xfrm>
                <a:off x="713232" y="2679191"/>
                <a:ext cx="73517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Trên </a:t>
                </a:r>
                <a:r>
                  <a:rPr lang="vi-VN"/>
                  <a:t>(-3;\ -1)</a:t>
                </a:r>
                <a:r>
                  <a:rPr sz="2100">
                    <a:solidFill>
                      <a:srgbClr val="1E293B"/>
                    </a:solidFill>
                    <a:latin typeface="Calibri"/>
                  </a:rPr>
                  <a:t>: </a:t>
                </a:r>
                <a:r>
                  <a:rPr lang="vi-VN"/>
                  <a:t>y'&gt;0</a:t>
                </a:r>
                <a:r>
                  <a:rPr sz="2100">
                    <a:solidFill>
                      <a:srgbClr val="1E293B"/>
                    </a:solidFill>
                    <a:latin typeface="Calibri"/>
                  </a:rPr>
                  <a:t> trên </a:t>
                </a:r>
                <a:r>
                  <a:rPr lang="vi-VN"/>
                  <a:t>(-3;\ -2)</a:t>
                </a:r>
                <a:r>
                  <a:rPr sz="2100">
                    <a:solidFill>
                      <a:srgbClr val="1E293B"/>
                    </a:solidFill>
                    <a:latin typeface="Calibri"/>
                  </a:rPr>
                  <a:t>, </a:t>
                </a:r>
                <a:r>
                  <a:rPr lang="vi-VN"/>
                  <a:t>y'(-2)=0</a:t>
                </a:r>
                <a:r>
                  <a:rPr sz="2100">
                    <a:solidFill>
                      <a:srgbClr val="1E293B"/>
                    </a:solidFill>
                    <a:latin typeface="Calibri"/>
                  </a:rPr>
                  <a:t>, </a:t>
                </a:r>
                <a:r>
                  <a:rPr lang="vi-VN"/>
                  <a:t>y'&lt;0</a:t>
                </a:r>
                <a:r>
                  <a:rPr sz="2100">
                    <a:solidFill>
                      <a:srgbClr val="1E293B"/>
                    </a:solidFill>
                    <a:latin typeface="Calibri"/>
                  </a:rPr>
                  <a:t> trên </a:t>
                </a:r>
                <a:r>
                  <a:rPr lang="vi-VN"/>
                  <a:t>(-2;\ -1)</a:t>
                </a:r>
                <a:r>
                  <a:rPr sz="2100">
                    <a:solidFill>
                      <a:srgbClr val="1E293B"/>
                    </a:solidFill>
                    <a:latin typeface="Calibri"/>
                  </a:rPr>
                  <a:t>; giá trị tại </a:t>
                </a:r>
                <a:r>
                  <a:rPr lang="vi-VN"/>
                  <a:t>x=-2</a:t>
                </a:r>
                <a:r>
                  <a:rPr sz="2100">
                    <a:solidFill>
                      <a:srgbClr val="1E293B"/>
                    </a:solidFill>
                    <a:latin typeface="Calibri"/>
                  </a:rPr>
                  <a:t> là </a:t>
                </a:r>
                <a:r>
                  <a:rPr lang="vi-VN"/>
                  <a:t>y=0</a:t>
                </a:r>
                <a:r>
                  <a:rPr sz="2100">
                    <a:solidFill>
                      <a:srgbClr val="1E293B"/>
                    </a:solidFill>
                    <a:latin typeface="Calibri"/>
                  </a:rPr>
                  <a:t> (lớn nhất trong khoảng).</a:t>
                </a:r>
              </a:p>
            </p:txBody>
          </p:sp>
        </mc:Fallback>
      </mc:AlternateContent>
      <p:sp>
        <p:nvSpPr>
          <p:cNvPr id="10" name="s2_nen"/>
          <p:cNvSpPr/>
          <p:nvPr/>
        </p:nvSpPr>
        <p:spPr>
          <a:xfrm>
            <a:off x="548640" y="4005072"/>
            <a:ext cx="7680960" cy="12252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041648"/>
                <a:ext cx="73517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Trên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m:t>
                        </m:r>
                      </m:e>
                    </m:d>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&lt;0</m:t>
                    </m:r>
                  </m:oMath>
                </a14:m>
                <a:r>
                  <a:rPr sz="2100">
                    <a:solidFill>
                      <a:srgbClr val="1E293B"/>
                    </a:solidFill>
                    <a:latin typeface="Calibri"/>
                  </a:rPr>
                  <a:t> trên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m:t>
                        </m:r>
                      </m:e>
                    </m:d>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(0)=0</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&gt;0</m:t>
                    </m:r>
                  </m:oMath>
                </a14:m>
                <a:r>
                  <a:rPr sz="2100">
                    <a:solidFill>
                      <a:srgbClr val="1E293B"/>
                    </a:solidFill>
                    <a:latin typeface="Calibri"/>
                  </a:rPr>
                  <a:t> trên </a:t>
                </a:r>
                <a14:m>
                  <m:oMath xmlns:m="http://schemas.openxmlformats.org/officeDocument/2006/math">
                    <m:d>
                      <m:dPr>
                        <m:sepChr m:val=""/>
                      </m:dPr>
                      <m:e>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m:t>
                        </m:r>
                      </m:e>
                    </m:d>
                  </m:oMath>
                </a14:m>
                <a:r>
                  <a:rPr sz="2100">
                    <a:solidFill>
                      <a:srgbClr val="1E293B"/>
                    </a:solidFill>
                    <a:latin typeface="Calibri"/>
                  </a:rPr>
                  <a:t>; giá trị tại </a:t>
                </a:r>
                <a14:m>
                  <m:oMath xmlns:m="http://schemas.openxmlformats.org/officeDocument/2006/math">
                    <m:r>
                      <a:rPr lang="vi-VN" sz="2100" b="0">
                        <a:solidFill>
                          <a:srgbClr val="1E293B"/>
                        </a:solidFill>
                        <a:latin typeface="Cambria Math" panose="02040503050406030204" pitchFamily="18" charset="0"/>
                      </a:rPr>
                      <m:t>x=0</m:t>
                    </m:r>
                  </m:oMath>
                </a14:m>
                <a:r>
                  <a:rPr sz="2100">
                    <a:solidFill>
                      <a:srgbClr val="1E293B"/>
                    </a:solidFill>
                    <a:latin typeface="Calibri"/>
                  </a:rPr>
                  <a:t> là </a:t>
                </a:r>
                <a14:m>
                  <m:oMath xmlns:m="http://schemas.openxmlformats.org/officeDocument/2006/math">
                    <m:r>
                      <a:rPr lang="vi-VN" sz="2100" b="0">
                        <a:solidFill>
                          <a:srgbClr val="1E293B"/>
                        </a:solidFill>
                        <a:latin typeface="Cambria Math" panose="02040503050406030204" pitchFamily="18" charset="0"/>
                      </a:rPr>
                      <m:t>y=−4</m:t>
                    </m:r>
                  </m:oMath>
                </a14:m>
                <a:r>
                  <a:rPr sz="2100">
                    <a:solidFill>
                      <a:srgbClr val="1E293B"/>
                    </a:solidFill>
                    <a:latin typeface="Calibri"/>
                  </a:rPr>
                  <a:t> (nhỏ nhất trong khoảng).</a:t>
                </a:r>
              </a:p>
            </p:txBody>
          </p:sp>
        </mc:Choice>
        <mc:Fallback>
          <p:sp>
            <p:nvSpPr>
              <p:cNvPr id="11" name="TextBox 10"/>
              <p:cNvSpPr txBox="1"/>
              <p:nvPr/>
            </p:nvSpPr>
            <p:spPr>
              <a:xfrm>
                <a:off x="713232" y="4041648"/>
                <a:ext cx="73517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Trên </a:t>
                </a:r>
                <a:r>
                  <a:rPr lang="vi-VN"/>
                  <a:t>(-1;\ 1)</a:t>
                </a:r>
                <a:r>
                  <a:rPr sz="2100">
                    <a:solidFill>
                      <a:srgbClr val="1E293B"/>
                    </a:solidFill>
                    <a:latin typeface="Calibri"/>
                  </a:rPr>
                  <a:t>: </a:t>
                </a:r>
                <a:r>
                  <a:rPr lang="vi-VN"/>
                  <a:t>y'&lt;0</a:t>
                </a:r>
                <a:r>
                  <a:rPr sz="2100">
                    <a:solidFill>
                      <a:srgbClr val="1E293B"/>
                    </a:solidFill>
                    <a:latin typeface="Calibri"/>
                  </a:rPr>
                  <a:t> trên </a:t>
                </a:r>
                <a:r>
                  <a:rPr lang="vi-VN"/>
                  <a:t>(-1;\ 0)</a:t>
                </a:r>
                <a:r>
                  <a:rPr sz="2100">
                    <a:solidFill>
                      <a:srgbClr val="1E293B"/>
                    </a:solidFill>
                    <a:latin typeface="Calibri"/>
                  </a:rPr>
                  <a:t>, </a:t>
                </a:r>
                <a:r>
                  <a:rPr lang="vi-VN"/>
                  <a:t>y'(0)=0</a:t>
                </a:r>
                <a:r>
                  <a:rPr sz="2100">
                    <a:solidFill>
                      <a:srgbClr val="1E293B"/>
                    </a:solidFill>
                    <a:latin typeface="Calibri"/>
                  </a:rPr>
                  <a:t>, </a:t>
                </a:r>
                <a:r>
                  <a:rPr lang="vi-VN"/>
                  <a:t>y'&gt;0</a:t>
                </a:r>
                <a:r>
                  <a:rPr sz="2100">
                    <a:solidFill>
                      <a:srgbClr val="1E293B"/>
                    </a:solidFill>
                    <a:latin typeface="Calibri"/>
                  </a:rPr>
                  <a:t> trên </a:t>
                </a:r>
                <a:r>
                  <a:rPr lang="vi-VN"/>
                  <a:t>(0;\ 1)</a:t>
                </a:r>
                <a:r>
                  <a:rPr sz="2100">
                    <a:solidFill>
                      <a:srgbClr val="1E293B"/>
                    </a:solidFill>
                    <a:latin typeface="Calibri"/>
                  </a:rPr>
                  <a:t>; giá trị tại </a:t>
                </a:r>
                <a:r>
                  <a:rPr lang="vi-VN"/>
                  <a:t>x=0</a:t>
                </a:r>
                <a:r>
                  <a:rPr sz="2100">
                    <a:solidFill>
                      <a:srgbClr val="1E293B"/>
                    </a:solidFill>
                    <a:latin typeface="Calibri"/>
                  </a:rPr>
                  <a:t> là </a:t>
                </a:r>
                <a:r>
                  <a:rPr lang="vi-VN"/>
                  <a:t>y=-4</a:t>
                </a:r>
                <a:r>
                  <a:rPr sz="2100">
                    <a:solidFill>
                      <a:srgbClr val="1E293B"/>
                    </a:solidFill>
                    <a:latin typeface="Calibri"/>
                  </a:rPr>
                  <a:t> (nhỏ nhất trong khoảng).</a:t>
                </a:r>
              </a:p>
            </p:txBody>
          </p:sp>
        </mc:Fallback>
      </mc:AlternateContent>
      <p:pic>
        <p:nvPicPr>
          <p:cNvPr id="12" name="Picture 11" descr="b1_h17.png"/>
          <p:cNvPicPr>
            <a:picLocks noChangeAspect="1"/>
          </p:cNvPicPr>
          <p:nvPr/>
        </p:nvPicPr>
        <p:blipFill>
          <a:blip r:embed="rId3"/>
          <a:stretch>
            <a:fillRect/>
          </a:stretch>
        </p:blipFill>
        <p:spPr>
          <a:xfrm>
            <a:off x="8503920" y="1757382"/>
            <a:ext cx="3200400" cy="2886036"/>
          </a:xfrm>
          <a:prstGeom prst="rect">
            <a:avLst/>
          </a:prstGeom>
        </p:spPr>
      </p:pic>
      <p:sp>
        <p:nvSpPr>
          <p:cNvPr id="13" name="TextBox 12"/>
          <p:cNvSpPr txBox="1"/>
          <p:nvPr/>
        </p:nvSpPr>
        <p:spPr>
          <a:xfrm>
            <a:off x="8503920" y="5047488"/>
            <a:ext cx="32004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KHÁI NIỆM CỰC TRỊ (SGK TR.9)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25</a:t>
            </a:r>
          </a:p>
        </p:txBody>
      </p:sp>
      <p:sp>
        <p:nvSpPr>
          <p:cNvPr id="7" name="Rounded Rectangle 6"/>
          <p:cNvSpPr/>
          <p:nvPr/>
        </p:nvSpPr>
        <p:spPr>
          <a:xfrm>
            <a:off x="548640" y="1554480"/>
            <a:ext cx="11064240" cy="266090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591056"/>
                <a:ext cx="10735056" cy="2587752"/>
              </a:xfrm>
              <a:prstGeom prst="rect">
                <a:avLst/>
              </a:prstGeom>
              <a:noFill/>
            </p:spPr>
            <p:txBody>
              <a:bodyPr wrap="square" anchor="ctr" lIns="45720" rIns="45720">
                <a:spAutoFit/>
              </a:bodyPr>
              <a:lstStyle/>
              <a:p>
                <a:pPr algn="l">
                  <a:spcAft>
                    <a:spcPts val="800"/>
                  </a:spcAft>
                </a:pPr>
                <a:r>
                  <a:rPr sz="2400">
                    <a:solidFill>
                      <a:srgbClr val="1E293B"/>
                    </a:solidFill>
                    <a:latin typeface="Calibri"/>
                  </a:rPr>
                  <a:t>Cho hàm số </a:t>
                </a:r>
                <a14:m>
                  <m:oMath xmlns:m="http://schemas.openxmlformats.org/officeDocument/2006/math">
                    <m:r>
                      <a:rPr lang="vi-VN" sz="2400" b="0">
                        <a:solidFill>
                          <a:srgbClr val="1E293B"/>
                        </a:solidFill>
                        <a:latin typeface="Cambria Math" panose="02040503050406030204" pitchFamily="18" charset="0"/>
                      </a:rPr>
                      <m:t>y=f(x)</m:t>
                    </m:r>
                  </m:oMath>
                </a14:m>
                <a:r>
                  <a:rPr sz="2400">
                    <a:solidFill>
                      <a:srgbClr val="1E293B"/>
                    </a:solidFill>
                    <a:latin typeface="Calibri"/>
                  </a:rPr>
                  <a:t> xác định và liên tục trên khoảng </a:t>
                </a:r>
                <a14:m>
                  <m:oMath xmlns:m="http://schemas.openxmlformats.org/officeDocument/2006/math">
                    <m:d>
                      <m:dPr>
                        <m:sepChr m:val=""/>
                      </m:dPr>
                      <m:e>
                        <m:r>
                          <a:rPr lang="vi-VN" sz="2400" b="0">
                            <a:solidFill>
                              <a:srgbClr val="1E293B"/>
                            </a:solidFill>
                            <a:latin typeface="Cambria Math" panose="02040503050406030204" pitchFamily="18" charset="0"/>
                          </a:rPr>
                          <m:t>a</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b</m:t>
                        </m:r>
                      </m:e>
                    </m:d>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m:t>
                    </m:r>
                  </m:oMath>
                </a14:m>
                <a:r>
                  <a:rPr sz="2400">
                    <a:solidFill>
                      <a:srgbClr val="1E293B"/>
                    </a:solidFill>
                    <a:latin typeface="Calibri"/>
                  </a:rPr>
                  <a:t> có thể là </a:t>
                </a:r>
                <a14:m>
                  <m:oMath xmlns:m="http://schemas.openxmlformats.org/officeDocument/2006/math">
                    <m:r>
                      <a:rPr lang="vi-VN" sz="2400" b="0">
                        <a:solidFill>
                          <a:srgbClr val="1E293B"/>
                        </a:solidFill>
                        <a:latin typeface="Cambria Math" panose="02040503050406030204" pitchFamily="18" charset="0"/>
                      </a:rPr>
                      <m:t>−∞</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b</m:t>
                    </m:r>
                  </m:oMath>
                </a14:m>
                <a:r>
                  <a:rPr sz="2400">
                    <a:solidFill>
                      <a:srgbClr val="1E293B"/>
                    </a:solidFill>
                    <a:latin typeface="Calibri"/>
                  </a:rPr>
                  <a:t> có thể là </a:t>
                </a:r>
                <a14:m>
                  <m:oMath xmlns:m="http://schemas.openxmlformats.org/officeDocument/2006/math">
                    <m:r>
                      <a:rPr lang="vi-VN" sz="2400" b="0">
                        <a:solidFill>
                          <a:srgbClr val="1E293B"/>
                        </a:solidFill>
                        <a:latin typeface="Cambria Math" panose="02040503050406030204" pitchFamily="18" charset="0"/>
                      </a:rPr>
                      <m:t>+∞</m:t>
                    </m:r>
                  </m:oMath>
                </a14:m>
                <a:r>
                  <a:rPr sz="2400">
                    <a:solidFill>
                      <a:srgbClr val="1E293B"/>
                    </a:solidFill>
                    <a:latin typeface="Calibri"/>
                  </a:rPr>
                  <a:t>) và điểm </a:t>
                </a:r>
                <a14:m>
                  <m:oMath xmlns:m="http://schemas.openxmlformats.org/officeDocument/2006/math">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0</m:t>
                        </m:r>
                      </m:sub>
                    </m:sSub>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b)</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Nếu tồn tại số </a:t>
                </a:r>
                <a14:m>
                  <m:oMath xmlns:m="http://schemas.openxmlformats.org/officeDocument/2006/math">
                    <m:r>
                      <a:rPr lang="vi-VN" sz="2400" b="0">
                        <a:solidFill>
                          <a:srgbClr val="1E293B"/>
                        </a:solidFill>
                        <a:latin typeface="Cambria Math" panose="02040503050406030204" pitchFamily="18" charset="0"/>
                      </a:rPr>
                      <m:t>h&gt;0</m:t>
                    </m:r>
                  </m:oMath>
                </a14:m>
                <a:r>
                  <a:rPr sz="2400">
                    <a:solidFill>
                      <a:srgbClr val="1E293B"/>
                    </a:solidFill>
                    <a:latin typeface="Calibri"/>
                  </a:rPr>
                  <a:t> sao cho </a:t>
                </a:r>
                <a14:m>
                  <m:oMath xmlns:m="http://schemas.openxmlformats.org/officeDocument/2006/math">
                    <m:r>
                      <a:rPr lang="vi-VN" sz="2400" b="0">
                        <a:solidFill>
                          <a:srgbClr val="1E293B"/>
                        </a:solidFill>
                        <a:latin typeface="Cambria Math" panose="02040503050406030204" pitchFamily="18" charset="0"/>
                      </a:rPr>
                      <m:t>f(x)&lt;f(</m:t>
                    </m:r>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0</m:t>
                        </m:r>
                      </m:sub>
                    </m:sSub>
                    <m:r>
                      <a:rPr lang="vi-VN" sz="2400" b="0">
                        <a:solidFill>
                          <a:srgbClr val="1E293B"/>
                        </a:solidFill>
                        <a:latin typeface="Cambria Math" panose="02040503050406030204" pitchFamily="18" charset="0"/>
                      </a:rPr>
                      <m:t>)</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x∈(</m:t>
                    </m:r>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0</m:t>
                        </m:r>
                      </m:sub>
                    </m:sSub>
                    <m:r>
                      <a:rPr lang="vi-VN" sz="2400" b="0">
                        <a:solidFill>
                          <a:srgbClr val="1E293B"/>
                        </a:solidFill>
                        <a:latin typeface="Cambria Math" panose="02040503050406030204" pitchFamily="18" charset="0"/>
                      </a:rPr>
                      <m:t>−h;</m:t>
                    </m:r>
                    <m:r>
                      <m:rPr>
                        <m:sty m:val="p"/>
                      </m:rPr>
                      <a:rPr lang="vi-VN" sz="2400" b="0">
                        <a:solidFill>
                          <a:srgbClr val="1E293B"/>
                        </a:solidFill>
                        <a:latin typeface="Cambria Math" panose="02040503050406030204" pitchFamily="18" charset="0"/>
                      </a:rPr>
                      <m:t> </m:t>
                    </m:r>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0</m:t>
                        </m:r>
                      </m:sub>
                    </m:sSub>
                    <m:r>
                      <a:rPr lang="vi-VN" sz="2400" b="0">
                        <a:solidFill>
                          <a:srgbClr val="1E293B"/>
                        </a:solidFill>
                        <a:latin typeface="Cambria Math" panose="02040503050406030204" pitchFamily="18" charset="0"/>
                      </a:rPr>
                      <m:t>+h)⊂(a;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b)</m:t>
                    </m:r>
                  </m:oMath>
                </a14:m>
                <a:r>
                  <a:rPr sz="2400">
                    <a:solidFill>
                      <a:srgbClr val="1E293B"/>
                    </a:solidFill>
                    <a:latin typeface="Calibri"/>
                  </a:rPr>
                  <a:t> và </a:t>
                </a:r>
                <a14:m>
                  <m:oMath xmlns:m="http://schemas.openxmlformats.org/officeDocument/2006/math">
                    <m:r>
                      <a:rPr lang="vi-VN" sz="2400" b="0">
                        <a:solidFill>
                          <a:srgbClr val="1E293B"/>
                        </a:solidFill>
                        <a:latin typeface="Cambria Math" panose="02040503050406030204" pitchFamily="18" charset="0"/>
                      </a:rPr>
                      <m:t>x≠</m:t>
                    </m:r>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0</m:t>
                        </m:r>
                      </m:sub>
                    </m:sSub>
                  </m:oMath>
                </a14:m>
                <a:r>
                  <a:rPr sz="2400">
                    <a:solidFill>
                      <a:srgbClr val="1E293B"/>
                    </a:solidFill>
                    <a:latin typeface="Calibri"/>
                  </a:rPr>
                  <a:t> thì ta nói hàm số </a:t>
                </a:r>
                <a14:m>
                  <m:oMath xmlns:m="http://schemas.openxmlformats.org/officeDocument/2006/math">
                    <m:r>
                      <a:rPr lang="vi-VN" sz="2400" b="0">
                        <a:solidFill>
                          <a:srgbClr val="1E293B"/>
                        </a:solidFill>
                        <a:latin typeface="Cambria Math" panose="02040503050406030204" pitchFamily="18" charset="0"/>
                      </a:rPr>
                      <m:t>f(x)</m:t>
                    </m:r>
                  </m:oMath>
                </a14:m>
                <a:r>
                  <a:rPr sz="2400">
                    <a:solidFill>
                      <a:srgbClr val="1E293B"/>
                    </a:solidFill>
                    <a:latin typeface="Calibri"/>
                  </a:rPr>
                  <a:t> đạt </a:t>
                </a:r>
                <a:r>
                  <a:rPr sz="2400" b="1">
                    <a:solidFill>
                      <a:srgbClr val="1E293B"/>
                    </a:solidFill>
                    <a:latin typeface="Calibri"/>
                  </a:rPr>
                  <a:t>cực đại</a:t>
                </a:r>
                <a:r>
                  <a:rPr sz="2400">
                    <a:solidFill>
                      <a:srgbClr val="1E293B"/>
                    </a:solidFill>
                    <a:latin typeface="Calibri"/>
                  </a:rPr>
                  <a:t> tại </a:t>
                </a:r>
                <a14:m>
                  <m:oMath xmlns:m="http://schemas.openxmlformats.org/officeDocument/2006/math">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0</m:t>
                        </m:r>
                      </m:sub>
                    </m:sSub>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Nếu tồn tại số </a:t>
                </a:r>
                <a14:m>
                  <m:oMath xmlns:m="http://schemas.openxmlformats.org/officeDocument/2006/math">
                    <m:r>
                      <a:rPr lang="vi-VN" sz="2400" b="0">
                        <a:solidFill>
                          <a:srgbClr val="1E293B"/>
                        </a:solidFill>
                        <a:latin typeface="Cambria Math" panose="02040503050406030204" pitchFamily="18" charset="0"/>
                      </a:rPr>
                      <m:t>h&gt;0</m:t>
                    </m:r>
                  </m:oMath>
                </a14:m>
                <a:r>
                  <a:rPr sz="2400">
                    <a:solidFill>
                      <a:srgbClr val="1E293B"/>
                    </a:solidFill>
                    <a:latin typeface="Calibri"/>
                  </a:rPr>
                  <a:t> sao cho </a:t>
                </a:r>
                <a14:m>
                  <m:oMath xmlns:m="http://schemas.openxmlformats.org/officeDocument/2006/math">
                    <m:r>
                      <a:rPr lang="vi-VN" sz="2400" b="0">
                        <a:solidFill>
                          <a:srgbClr val="1E293B"/>
                        </a:solidFill>
                        <a:latin typeface="Cambria Math" panose="02040503050406030204" pitchFamily="18" charset="0"/>
                      </a:rPr>
                      <m:t>f(x)&gt;f(</m:t>
                    </m:r>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0</m:t>
                        </m:r>
                      </m:sub>
                    </m:sSub>
                    <m:r>
                      <a:rPr lang="vi-VN" sz="2400" b="0">
                        <a:solidFill>
                          <a:srgbClr val="1E293B"/>
                        </a:solidFill>
                        <a:latin typeface="Cambria Math" panose="02040503050406030204" pitchFamily="18" charset="0"/>
                      </a:rPr>
                      <m:t>)</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x∈(</m:t>
                    </m:r>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0</m:t>
                        </m:r>
                      </m:sub>
                    </m:sSub>
                    <m:r>
                      <a:rPr lang="vi-VN" sz="2400" b="0">
                        <a:solidFill>
                          <a:srgbClr val="1E293B"/>
                        </a:solidFill>
                        <a:latin typeface="Cambria Math" panose="02040503050406030204" pitchFamily="18" charset="0"/>
                      </a:rPr>
                      <m:t>−h;</m:t>
                    </m:r>
                    <m:r>
                      <m:rPr>
                        <m:sty m:val="p"/>
                      </m:rPr>
                      <a:rPr lang="vi-VN" sz="2400" b="0">
                        <a:solidFill>
                          <a:srgbClr val="1E293B"/>
                        </a:solidFill>
                        <a:latin typeface="Cambria Math" panose="02040503050406030204" pitchFamily="18" charset="0"/>
                      </a:rPr>
                      <m:t> </m:t>
                    </m:r>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0</m:t>
                        </m:r>
                      </m:sub>
                    </m:sSub>
                    <m:r>
                      <a:rPr lang="vi-VN" sz="2400" b="0">
                        <a:solidFill>
                          <a:srgbClr val="1E293B"/>
                        </a:solidFill>
                        <a:latin typeface="Cambria Math" panose="02040503050406030204" pitchFamily="18" charset="0"/>
                      </a:rPr>
                      <m:t>+h)⊂(a;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b)</m:t>
                    </m:r>
                  </m:oMath>
                </a14:m>
                <a:r>
                  <a:rPr sz="2400">
                    <a:solidFill>
                      <a:srgbClr val="1E293B"/>
                    </a:solidFill>
                    <a:latin typeface="Calibri"/>
                  </a:rPr>
                  <a:t> và </a:t>
                </a:r>
                <a14:m>
                  <m:oMath xmlns:m="http://schemas.openxmlformats.org/officeDocument/2006/math">
                    <m:r>
                      <a:rPr lang="vi-VN" sz="2400" b="0">
                        <a:solidFill>
                          <a:srgbClr val="1E293B"/>
                        </a:solidFill>
                        <a:latin typeface="Cambria Math" panose="02040503050406030204" pitchFamily="18" charset="0"/>
                      </a:rPr>
                      <m:t>x≠</m:t>
                    </m:r>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0</m:t>
                        </m:r>
                      </m:sub>
                    </m:sSub>
                  </m:oMath>
                </a14:m>
                <a:r>
                  <a:rPr sz="2400">
                    <a:solidFill>
                      <a:srgbClr val="1E293B"/>
                    </a:solidFill>
                    <a:latin typeface="Calibri"/>
                  </a:rPr>
                  <a:t> thì ta nói hàm số </a:t>
                </a:r>
                <a14:m>
                  <m:oMath xmlns:m="http://schemas.openxmlformats.org/officeDocument/2006/math">
                    <m:r>
                      <a:rPr lang="vi-VN" sz="2400" b="0">
                        <a:solidFill>
                          <a:srgbClr val="1E293B"/>
                        </a:solidFill>
                        <a:latin typeface="Cambria Math" panose="02040503050406030204" pitchFamily="18" charset="0"/>
                      </a:rPr>
                      <m:t>f(x)</m:t>
                    </m:r>
                  </m:oMath>
                </a14:m>
                <a:r>
                  <a:rPr sz="2400">
                    <a:solidFill>
                      <a:srgbClr val="1E293B"/>
                    </a:solidFill>
                    <a:latin typeface="Calibri"/>
                  </a:rPr>
                  <a:t> đạt </a:t>
                </a:r>
                <a:r>
                  <a:rPr sz="2400" b="1">
                    <a:solidFill>
                      <a:srgbClr val="1E293B"/>
                    </a:solidFill>
                    <a:latin typeface="Calibri"/>
                  </a:rPr>
                  <a:t>cực tiểu</a:t>
                </a:r>
                <a:r>
                  <a:rPr sz="2400">
                    <a:solidFill>
                      <a:srgbClr val="1E293B"/>
                    </a:solidFill>
                    <a:latin typeface="Calibri"/>
                  </a:rPr>
                  <a:t> tại </a:t>
                </a:r>
                <a14:m>
                  <m:oMath xmlns:m="http://schemas.openxmlformats.org/officeDocument/2006/math">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0</m:t>
                        </m:r>
                      </m:sub>
                    </m:sSub>
                  </m:oMath>
                </a14:m>
                <a:r>
                  <a:rPr sz="2400">
                    <a:solidFill>
                      <a:srgbClr val="1E293B"/>
                    </a:solidFill>
                    <a:latin typeface="Calibri"/>
                  </a:rPr>
                  <a:t>.</a:t>
                </a:r>
              </a:p>
            </p:txBody>
          </p:sp>
        </mc:Choice>
        <mc:Fallback>
          <p:sp>
            <p:nvSpPr>
              <p:cNvPr id="8" name="TextBox 7"/>
              <p:cNvSpPr txBox="1"/>
              <p:nvPr/>
            </p:nvSpPr>
            <p:spPr>
              <a:xfrm>
                <a:off x="713232" y="1591056"/>
                <a:ext cx="10735056" cy="2587752"/>
              </a:xfrm>
              <a:prstGeom prst="rect">
                <a:avLst/>
              </a:prstGeom>
              <a:noFill/>
            </p:spPr>
            <p:txBody>
              <a:bodyPr wrap="square" anchor="ctr" lIns="45720" rIns="45720">
                <a:spAutoFit/>
              </a:bodyPr>
              <a:lstStyle/>
              <a:p>
                <a:pPr algn="l">
                  <a:spcAft>
                    <a:spcPts val="800"/>
                  </a:spcAft>
                </a:pPr>
                <a:r>
                  <a:rPr sz="2400">
                    <a:solidFill>
                      <a:srgbClr val="1E293B"/>
                    </a:solidFill>
                    <a:latin typeface="Calibri"/>
                  </a:rPr>
                  <a:t>Cho hàm số </a:t>
                </a:r>
                <a:r>
                  <a:rPr lang="vi-VN"/>
                  <a:t>y=f(x)</a:t>
                </a:r>
                <a:r>
                  <a:rPr sz="2400">
                    <a:solidFill>
                      <a:srgbClr val="1E293B"/>
                    </a:solidFill>
                    <a:latin typeface="Calibri"/>
                  </a:rPr>
                  <a:t> xác định và liên tục trên khoảng </a:t>
                </a:r>
                <a:r>
                  <a:rPr lang="vi-VN"/>
                  <a:t>(a;\ b)</a:t>
                </a:r>
                <a:r>
                  <a:rPr sz="2400">
                    <a:solidFill>
                      <a:srgbClr val="1E293B"/>
                    </a:solidFill>
                    <a:latin typeface="Calibri"/>
                  </a:rPr>
                  <a:t> (</a:t>
                </a:r>
                <a:r>
                  <a:rPr lang="vi-VN"/>
                  <a:t>a</a:t>
                </a:r>
                <a:r>
                  <a:rPr sz="2400">
                    <a:solidFill>
                      <a:srgbClr val="1E293B"/>
                    </a:solidFill>
                    <a:latin typeface="Calibri"/>
                  </a:rPr>
                  <a:t> có thể là </a:t>
                </a:r>
                <a:r>
                  <a:rPr lang="vi-VN"/>
                  <a:t>-\infty</a:t>
                </a:r>
                <a:r>
                  <a:rPr sz="2400">
                    <a:solidFill>
                      <a:srgbClr val="1E293B"/>
                    </a:solidFill>
                    <a:latin typeface="Calibri"/>
                  </a:rPr>
                  <a:t>, </a:t>
                </a:r>
                <a:r>
                  <a:rPr lang="vi-VN"/>
                  <a:t>b</a:t>
                </a:r>
                <a:r>
                  <a:rPr sz="2400">
                    <a:solidFill>
                      <a:srgbClr val="1E293B"/>
                    </a:solidFill>
                    <a:latin typeface="Calibri"/>
                  </a:rPr>
                  <a:t> có thể là </a:t>
                </a:r>
                <a:r>
                  <a:rPr lang="vi-VN"/>
                  <a:t>+\infty</a:t>
                </a:r>
                <a:r>
                  <a:rPr sz="2400">
                    <a:solidFill>
                      <a:srgbClr val="1E293B"/>
                    </a:solidFill>
                    <a:latin typeface="Calibri"/>
                  </a:rPr>
                  <a:t>) và điểm </a:t>
                </a:r>
                <a:r>
                  <a:rPr lang="vi-VN"/>
                  <a:t>x_0\in(a;\ b)</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Nếu tồn tại số </a:t>
                </a:r>
                <a:r>
                  <a:rPr lang="vi-VN"/>
                  <a:t>h&gt;0</a:t>
                </a:r>
                <a:r>
                  <a:rPr sz="2400">
                    <a:solidFill>
                      <a:srgbClr val="1E293B"/>
                    </a:solidFill>
                    <a:latin typeface="Calibri"/>
                  </a:rPr>
                  <a:t> sao cho </a:t>
                </a:r>
                <a:r>
                  <a:rPr lang="vi-VN"/>
                  <a:t>f(x)&lt;f(x_0)</a:t>
                </a:r>
                <a:r>
                  <a:rPr sz="2400">
                    <a:solidFill>
                      <a:srgbClr val="1E293B"/>
                    </a:solidFill>
                    <a:latin typeface="Calibri"/>
                  </a:rPr>
                  <a:t> với mọi </a:t>
                </a:r>
                <a:r>
                  <a:rPr lang="vi-VN"/>
                  <a:t>x\in(x_0-h;\ x_0+h)\subset(a;\ b)</a:t>
                </a:r>
                <a:r>
                  <a:rPr sz="2400">
                    <a:solidFill>
                      <a:srgbClr val="1E293B"/>
                    </a:solidFill>
                    <a:latin typeface="Calibri"/>
                  </a:rPr>
                  <a:t> và </a:t>
                </a:r>
                <a:r>
                  <a:rPr lang="vi-VN"/>
                  <a:t>x\ne x_0</a:t>
                </a:r>
                <a:r>
                  <a:rPr sz="2400">
                    <a:solidFill>
                      <a:srgbClr val="1E293B"/>
                    </a:solidFill>
                    <a:latin typeface="Calibri"/>
                  </a:rPr>
                  <a:t> thì ta nói hàm số </a:t>
                </a:r>
                <a:r>
                  <a:rPr lang="vi-VN"/>
                  <a:t>f(x)</a:t>
                </a:r>
                <a:r>
                  <a:rPr sz="2400">
                    <a:solidFill>
                      <a:srgbClr val="1E293B"/>
                    </a:solidFill>
                    <a:latin typeface="Calibri"/>
                  </a:rPr>
                  <a:t> đạt </a:t>
                </a:r>
                <a:r>
                  <a:rPr sz="2400" b="1">
                    <a:solidFill>
                      <a:srgbClr val="1E293B"/>
                    </a:solidFill>
                    <a:latin typeface="Calibri"/>
                  </a:rPr>
                  <a:t>cực đại</a:t>
                </a:r>
                <a:r>
                  <a:rPr sz="2400">
                    <a:solidFill>
                      <a:srgbClr val="1E293B"/>
                    </a:solidFill>
                    <a:latin typeface="Calibri"/>
                  </a:rPr>
                  <a:t> tại </a:t>
                </a:r>
                <a:r>
                  <a:rPr lang="vi-VN"/>
                  <a:t>x_0</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Nếu tồn tại số </a:t>
                </a:r>
                <a:r>
                  <a:rPr lang="vi-VN"/>
                  <a:t>h&gt;0</a:t>
                </a:r>
                <a:r>
                  <a:rPr sz="2400">
                    <a:solidFill>
                      <a:srgbClr val="1E293B"/>
                    </a:solidFill>
                    <a:latin typeface="Calibri"/>
                  </a:rPr>
                  <a:t> sao cho </a:t>
                </a:r>
                <a:r>
                  <a:rPr lang="vi-VN"/>
                  <a:t>f(x)&gt;f(x_0)</a:t>
                </a:r>
                <a:r>
                  <a:rPr sz="2400">
                    <a:solidFill>
                      <a:srgbClr val="1E293B"/>
                    </a:solidFill>
                    <a:latin typeface="Calibri"/>
                  </a:rPr>
                  <a:t> với mọi </a:t>
                </a:r>
                <a:r>
                  <a:rPr lang="vi-VN"/>
                  <a:t>x\in(x_0-h;\ x_0+h)\subset(a;\ b)</a:t>
                </a:r>
                <a:r>
                  <a:rPr sz="2400">
                    <a:solidFill>
                      <a:srgbClr val="1E293B"/>
                    </a:solidFill>
                    <a:latin typeface="Calibri"/>
                  </a:rPr>
                  <a:t> và </a:t>
                </a:r>
                <a:r>
                  <a:rPr lang="vi-VN"/>
                  <a:t>x\ne x_0</a:t>
                </a:r>
                <a:r>
                  <a:rPr sz="2400">
                    <a:solidFill>
                      <a:srgbClr val="1E293B"/>
                    </a:solidFill>
                    <a:latin typeface="Calibri"/>
                  </a:rPr>
                  <a:t> thì ta nói hàm số </a:t>
                </a:r>
                <a:r>
                  <a:rPr lang="vi-VN"/>
                  <a:t>f(x)</a:t>
                </a:r>
                <a:r>
                  <a:rPr sz="2400">
                    <a:solidFill>
                      <a:srgbClr val="1E293B"/>
                    </a:solidFill>
                    <a:latin typeface="Calibri"/>
                  </a:rPr>
                  <a:t> đạt </a:t>
                </a:r>
                <a:r>
                  <a:rPr sz="2400" b="1">
                    <a:solidFill>
                      <a:srgbClr val="1E293B"/>
                    </a:solidFill>
                    <a:latin typeface="Calibri"/>
                  </a:rPr>
                  <a:t>cực tiểu</a:t>
                </a:r>
                <a:r>
                  <a:rPr sz="2400">
                    <a:solidFill>
                      <a:srgbClr val="1E293B"/>
                    </a:solidFill>
                    <a:latin typeface="Calibri"/>
                  </a:rPr>
                  <a:t> tại </a:t>
                </a:r>
                <a:r>
                  <a:rPr lang="vi-VN"/>
                  <a:t>x_0</a:t>
                </a:r>
                <a:r>
                  <a:rPr sz="2400">
                    <a:solidFill>
                      <a:srgbClr val="1E293B"/>
                    </a:solidFill>
                    <a:latin typeface="Calibri"/>
                  </a:rPr>
                  <a:t>.</a:t>
                </a: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CHÚ Ý – THUẬT NGỮ CỰC TRỊ (SGK TR.9)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26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Nếu hàm số </a:t>
                </a:r>
                <a14:m>
                  <m:oMath xmlns:m="http://schemas.openxmlformats.org/officeDocument/2006/math">
                    <m:r>
                      <a:rPr lang="vi-VN" sz="2200" b="0">
                        <a:solidFill>
                          <a:srgbClr val="1E293B"/>
                        </a:solidFill>
                        <a:latin typeface="Cambria Math" panose="02040503050406030204" pitchFamily="18" charset="0"/>
                      </a:rPr>
                      <m:t>y=f(x)</m:t>
                    </m:r>
                  </m:oMath>
                </a14:m>
                <a:r>
                  <a:rPr sz="2200">
                    <a:solidFill>
                      <a:srgbClr val="1E293B"/>
                    </a:solidFill>
                    <a:latin typeface="Calibri"/>
                  </a:rPr>
                  <a:t> đạt cực đại tại </a:t>
                </a:r>
                <a14:m>
                  <m:oMath xmlns:m="http://schemas.openxmlformats.org/officeDocument/2006/math">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thì </a:t>
                </a:r>
                <a14:m>
                  <m:oMath xmlns:m="http://schemas.openxmlformats.org/officeDocument/2006/math">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được gọi là điểm cực đại của hàm số </a:t>
                </a:r>
                <a14:m>
                  <m:oMath xmlns:m="http://schemas.openxmlformats.org/officeDocument/2006/math">
                    <m:r>
                      <a:rPr lang="vi-VN" sz="2200" b="0">
                        <a:solidFill>
                          <a:srgbClr val="1E293B"/>
                        </a:solidFill>
                        <a:latin typeface="Cambria Math" panose="02040503050406030204" pitchFamily="18" charset="0"/>
                      </a:rPr>
                      <m:t>f(x)</m:t>
                    </m:r>
                  </m:oMath>
                </a14:m>
                <a:r>
                  <a:rPr sz="2200">
                    <a:solidFill>
                      <a:srgbClr val="1E293B"/>
                    </a:solidFill>
                    <a:latin typeface="Calibri"/>
                  </a:rPr>
                  <a:t>. Khi đó, </a:t>
                </a:r>
                <a14:m>
                  <m:oMath xmlns:m="http://schemas.openxmlformats.org/officeDocument/2006/math">
                    <m:r>
                      <a:rPr lang="vi-VN" sz="2200" b="0">
                        <a:solidFill>
                          <a:srgbClr val="1E293B"/>
                        </a:solidFill>
                        <a:latin typeface="Cambria Math" panose="02040503050406030204" pitchFamily="18" charset="0"/>
                      </a:rPr>
                      <m:t>f(</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oMath>
                </a14:m>
                <a:r>
                  <a:rPr sz="2200">
                    <a:solidFill>
                      <a:srgbClr val="1E293B"/>
                    </a:solidFill>
                    <a:latin typeface="Calibri"/>
                  </a:rPr>
                  <a:t> được gọi là giá trị cực đại của hàm số, kí hiệu là </a:t>
                </a:r>
                <a14:m>
                  <m:oMath xmlns:m="http://schemas.openxmlformats.org/officeDocument/2006/math">
                    <m:sSub>
                      <m:e>
                        <m:r>
                          <a:rPr lang="vi-VN" sz="2200" b="0">
                            <a:solidFill>
                              <a:srgbClr val="1E293B"/>
                            </a:solidFill>
                            <a:latin typeface="Cambria Math" panose="02040503050406030204" pitchFamily="18" charset="0"/>
                          </a:rPr>
                          <m:t>f</m:t>
                        </m:r>
                      </m:e>
                      <m:sub>
                        <m:r>
                          <a:rPr lang="vi-VN" sz="2200" b="0">
                            <a:solidFill>
                              <a:srgbClr val="1E293B"/>
                            </a:solidFill>
                            <a:latin typeface="Cambria Math" panose="02040503050406030204" pitchFamily="18" charset="0"/>
                          </a:rPr>
                          <m:t>CĐ</m:t>
                        </m:r>
                      </m:sub>
                    </m:sSub>
                  </m:oMath>
                </a14:m>
                <a:r>
                  <a:rPr sz="2200">
                    <a:solidFill>
                      <a:srgbClr val="1E293B"/>
                    </a:solidFill>
                    <a:latin typeface="Calibri"/>
                  </a:rPr>
                  <a:t> hay </a:t>
                </a:r>
                <a14:m>
                  <m:oMath xmlns:m="http://schemas.openxmlformats.org/officeDocument/2006/math">
                    <m:sSub>
                      <m:e>
                        <m:r>
                          <a:rPr lang="vi-VN" sz="2200" b="0">
                            <a:solidFill>
                              <a:srgbClr val="1E293B"/>
                            </a:solidFill>
                            <a:latin typeface="Cambria Math" panose="02040503050406030204" pitchFamily="18" charset="0"/>
                          </a:rPr>
                          <m:t>y</m:t>
                        </m:r>
                      </m:e>
                      <m:sub>
                        <m:r>
                          <a:rPr lang="vi-VN" sz="2200" b="0">
                            <a:solidFill>
                              <a:srgbClr val="1E293B"/>
                            </a:solidFill>
                            <a:latin typeface="Cambria Math" panose="02040503050406030204" pitchFamily="18" charset="0"/>
                          </a:rPr>
                          <m:t>CĐ</m:t>
                        </m:r>
                      </m:sub>
                    </m:sSub>
                  </m:oMath>
                </a14:m>
                <a:r>
                  <a:rPr sz="2200">
                    <a:solidFill>
                      <a:srgbClr val="1E293B"/>
                    </a:solidFill>
                    <a:latin typeface="Calibri"/>
                  </a:rPr>
                  <a:t>. Điểm </a:t>
                </a:r>
                <a14:m>
                  <m:oMath xmlns:m="http://schemas.openxmlformats.org/officeDocument/2006/math">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f(</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oMath>
                </a14:m>
                <a:r>
                  <a:rPr sz="2200">
                    <a:solidFill>
                      <a:srgbClr val="1E293B"/>
                    </a:solidFill>
                    <a:latin typeface="Calibri"/>
                  </a:rPr>
                  <a:t> được gọi là điểm cực đại của đồ thị hàm số.</a:t>
                </a:r>
              </a:p>
              <a:p>
                <a:pPr algn="l" marL="365760" indent="-365760">
                  <a:spcAft>
                    <a:spcPts val="800"/>
                  </a:spcAft>
                  <a:buClr>
                    <a:srgbClr val="1E40AF"/>
                  </a:buClr>
                  <a:buFont typeface="Arial"/>
                  <a:buChar char="•"/>
                </a:pPr>
                <a:r>
                  <a:rPr sz="2200">
                    <a:solidFill>
                      <a:srgbClr val="1E293B"/>
                    </a:solidFill>
                    <a:latin typeface="Calibri"/>
                  </a:rPr>
                  <a:t>Nếu hàm số </a:t>
                </a:r>
                <a14:m>
                  <m:oMath xmlns:m="http://schemas.openxmlformats.org/officeDocument/2006/math">
                    <m:r>
                      <a:rPr lang="vi-VN" sz="2200" b="0">
                        <a:solidFill>
                          <a:srgbClr val="1E293B"/>
                        </a:solidFill>
                        <a:latin typeface="Cambria Math" panose="02040503050406030204" pitchFamily="18" charset="0"/>
                      </a:rPr>
                      <m:t>y=f(x)</m:t>
                    </m:r>
                  </m:oMath>
                </a14:m>
                <a:r>
                  <a:rPr sz="2200">
                    <a:solidFill>
                      <a:srgbClr val="1E293B"/>
                    </a:solidFill>
                    <a:latin typeface="Calibri"/>
                  </a:rPr>
                  <a:t> đạt cực tiểu tại </a:t>
                </a:r>
                <a14:m>
                  <m:oMath xmlns:m="http://schemas.openxmlformats.org/officeDocument/2006/math">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thì </a:t>
                </a:r>
                <a14:m>
                  <m:oMath xmlns:m="http://schemas.openxmlformats.org/officeDocument/2006/math">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được gọi là điểm cực tiểu của hàm số </a:t>
                </a:r>
                <a14:m>
                  <m:oMath xmlns:m="http://schemas.openxmlformats.org/officeDocument/2006/math">
                    <m:r>
                      <a:rPr lang="vi-VN" sz="2200" b="0">
                        <a:solidFill>
                          <a:srgbClr val="1E293B"/>
                        </a:solidFill>
                        <a:latin typeface="Cambria Math" panose="02040503050406030204" pitchFamily="18" charset="0"/>
                      </a:rPr>
                      <m:t>f(x)</m:t>
                    </m:r>
                  </m:oMath>
                </a14:m>
                <a:r>
                  <a:rPr sz="2200">
                    <a:solidFill>
                      <a:srgbClr val="1E293B"/>
                    </a:solidFill>
                    <a:latin typeface="Calibri"/>
                  </a:rPr>
                  <a:t>. Khi đó, </a:t>
                </a:r>
                <a14:m>
                  <m:oMath xmlns:m="http://schemas.openxmlformats.org/officeDocument/2006/math">
                    <m:r>
                      <a:rPr lang="vi-VN" sz="2200" b="0">
                        <a:solidFill>
                          <a:srgbClr val="1E293B"/>
                        </a:solidFill>
                        <a:latin typeface="Cambria Math" panose="02040503050406030204" pitchFamily="18" charset="0"/>
                      </a:rPr>
                      <m:t>f(</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oMath>
                </a14:m>
                <a:r>
                  <a:rPr sz="2200">
                    <a:solidFill>
                      <a:srgbClr val="1E293B"/>
                    </a:solidFill>
                    <a:latin typeface="Calibri"/>
                  </a:rPr>
                  <a:t> được gọi là giá trị cực tiểu của hàm số, kí hiệu là </a:t>
                </a:r>
                <a14:m>
                  <m:oMath xmlns:m="http://schemas.openxmlformats.org/officeDocument/2006/math">
                    <m:sSub>
                      <m:e>
                        <m:r>
                          <a:rPr lang="vi-VN" sz="2200" b="0">
                            <a:solidFill>
                              <a:srgbClr val="1E293B"/>
                            </a:solidFill>
                            <a:latin typeface="Cambria Math" panose="02040503050406030204" pitchFamily="18" charset="0"/>
                          </a:rPr>
                          <m:t>f</m:t>
                        </m:r>
                      </m:e>
                      <m:sub>
                        <m:r>
                          <a:rPr lang="vi-VN" sz="2200" b="0">
                            <a:solidFill>
                              <a:srgbClr val="1E293B"/>
                            </a:solidFill>
                            <a:latin typeface="Cambria Math" panose="02040503050406030204" pitchFamily="18" charset="0"/>
                          </a:rPr>
                          <m:t>CT</m:t>
                        </m:r>
                      </m:sub>
                    </m:sSub>
                  </m:oMath>
                </a14:m>
                <a:r>
                  <a:rPr sz="2200">
                    <a:solidFill>
                      <a:srgbClr val="1E293B"/>
                    </a:solidFill>
                    <a:latin typeface="Calibri"/>
                  </a:rPr>
                  <a:t> hay </a:t>
                </a:r>
                <a14:m>
                  <m:oMath xmlns:m="http://schemas.openxmlformats.org/officeDocument/2006/math">
                    <m:sSub>
                      <m:e>
                        <m:r>
                          <a:rPr lang="vi-VN" sz="2200" b="0">
                            <a:solidFill>
                              <a:srgbClr val="1E293B"/>
                            </a:solidFill>
                            <a:latin typeface="Cambria Math" panose="02040503050406030204" pitchFamily="18" charset="0"/>
                          </a:rPr>
                          <m:t>y</m:t>
                        </m:r>
                      </m:e>
                      <m:sub>
                        <m:r>
                          <a:rPr lang="vi-VN" sz="2200" b="0">
                            <a:solidFill>
                              <a:srgbClr val="1E293B"/>
                            </a:solidFill>
                            <a:latin typeface="Cambria Math" panose="02040503050406030204" pitchFamily="18" charset="0"/>
                          </a:rPr>
                          <m:t>CT</m:t>
                        </m:r>
                      </m:sub>
                    </m:sSub>
                  </m:oMath>
                </a14:m>
                <a:r>
                  <a:rPr sz="2200">
                    <a:solidFill>
                      <a:srgbClr val="1E293B"/>
                    </a:solidFill>
                    <a:latin typeface="Calibri"/>
                  </a:rPr>
                  <a:t>. Điểm </a:t>
                </a:r>
                <a14:m>
                  <m:oMath xmlns:m="http://schemas.openxmlformats.org/officeDocument/2006/math">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f(</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oMath>
                </a14:m>
                <a:r>
                  <a:rPr sz="2200">
                    <a:solidFill>
                      <a:srgbClr val="1E293B"/>
                    </a:solidFill>
                    <a:latin typeface="Calibri"/>
                  </a:rPr>
                  <a:t> được gọi là điểm cực tiểu của đồ thị hàm số.</a:t>
                </a:r>
              </a:p>
              <a:p>
                <a:pPr algn="l" marL="365760" indent="-365760">
                  <a:spcAft>
                    <a:spcPts val="800"/>
                  </a:spcAft>
                  <a:buClr>
                    <a:srgbClr val="1E40AF"/>
                  </a:buClr>
                  <a:buFont typeface="Arial"/>
                  <a:buChar char="•"/>
                </a:pPr>
                <a:r>
                  <a:rPr sz="2200">
                    <a:solidFill>
                      <a:srgbClr val="1E293B"/>
                    </a:solidFill>
                    <a:latin typeface="Calibri"/>
                  </a:rPr>
                  <a:t>Các điểm cực đại và điểm cực tiểu được gọi chung là điểm cực trị. Giá trị cực đại và giá trị cực tiểu được gọi chung là giá trị cực trị (hay cực trị) của hàm số.</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Nếu hàm số </a:t>
                </a:r>
                <a:r>
                  <a:rPr lang="vi-VN"/>
                  <a:t>y=f(x)</a:t>
                </a:r>
                <a:r>
                  <a:rPr sz="2200">
                    <a:solidFill>
                      <a:srgbClr val="1E293B"/>
                    </a:solidFill>
                    <a:latin typeface="Calibri"/>
                  </a:rPr>
                  <a:t> đạt cực đại tại </a:t>
                </a:r>
                <a:r>
                  <a:rPr lang="vi-VN"/>
                  <a:t>x_0</a:t>
                </a:r>
                <a:r>
                  <a:rPr sz="2200">
                    <a:solidFill>
                      <a:srgbClr val="1E293B"/>
                    </a:solidFill>
                    <a:latin typeface="Calibri"/>
                  </a:rPr>
                  <a:t> thì </a:t>
                </a:r>
                <a:r>
                  <a:rPr lang="vi-VN"/>
                  <a:t>x_0</a:t>
                </a:r>
                <a:r>
                  <a:rPr sz="2200">
                    <a:solidFill>
                      <a:srgbClr val="1E293B"/>
                    </a:solidFill>
                    <a:latin typeface="Calibri"/>
                  </a:rPr>
                  <a:t> được gọi là điểm cực đại của hàm số </a:t>
                </a:r>
                <a:r>
                  <a:rPr lang="vi-VN"/>
                  <a:t>f(x)</a:t>
                </a:r>
                <a:r>
                  <a:rPr sz="2200">
                    <a:solidFill>
                      <a:srgbClr val="1E293B"/>
                    </a:solidFill>
                    <a:latin typeface="Calibri"/>
                  </a:rPr>
                  <a:t>. Khi đó, </a:t>
                </a:r>
                <a:r>
                  <a:rPr lang="vi-VN"/>
                  <a:t>f(x_0)</a:t>
                </a:r>
                <a:r>
                  <a:rPr sz="2200">
                    <a:solidFill>
                      <a:srgbClr val="1E293B"/>
                    </a:solidFill>
                    <a:latin typeface="Calibri"/>
                  </a:rPr>
                  <a:t> được gọi là giá trị cực đại của hàm số, kí hiệu là </a:t>
                </a:r>
                <a:r>
                  <a:rPr lang="vi-VN"/>
                  <a:t>f_{CĐ}</a:t>
                </a:r>
                <a:r>
                  <a:rPr sz="2200">
                    <a:solidFill>
                      <a:srgbClr val="1E293B"/>
                    </a:solidFill>
                    <a:latin typeface="Calibri"/>
                  </a:rPr>
                  <a:t> hay </a:t>
                </a:r>
                <a:r>
                  <a:rPr lang="vi-VN"/>
                  <a:t>y_{CĐ}</a:t>
                </a:r>
                <a:r>
                  <a:rPr sz="2200">
                    <a:solidFill>
                      <a:srgbClr val="1E293B"/>
                    </a:solidFill>
                    <a:latin typeface="Calibri"/>
                  </a:rPr>
                  <a:t>. Điểm </a:t>
                </a:r>
                <a:r>
                  <a:rPr lang="vi-VN"/>
                  <a:t>M_0(x_0;\ f(x_0))</a:t>
                </a:r>
                <a:r>
                  <a:rPr sz="2200">
                    <a:solidFill>
                      <a:srgbClr val="1E293B"/>
                    </a:solidFill>
                    <a:latin typeface="Calibri"/>
                  </a:rPr>
                  <a:t> được gọi là điểm cực đại của đồ thị hàm số.</a:t>
                </a:r>
              </a:p>
              <a:p>
                <a:pPr algn="l" marL="365760" indent="-365760">
                  <a:spcAft>
                    <a:spcPts val="800"/>
                  </a:spcAft>
                  <a:buClr>
                    <a:srgbClr val="1E40AF"/>
                  </a:buClr>
                  <a:buFont typeface="Arial"/>
                  <a:buChar char="•"/>
                </a:pPr>
                <a:r>
                  <a:rPr sz="2200">
                    <a:solidFill>
                      <a:srgbClr val="1E293B"/>
                    </a:solidFill>
                    <a:latin typeface="Calibri"/>
                  </a:rPr>
                  <a:t>Nếu hàm số </a:t>
                </a:r>
                <a:r>
                  <a:rPr lang="vi-VN"/>
                  <a:t>y=f(x)</a:t>
                </a:r>
                <a:r>
                  <a:rPr sz="2200">
                    <a:solidFill>
                      <a:srgbClr val="1E293B"/>
                    </a:solidFill>
                    <a:latin typeface="Calibri"/>
                  </a:rPr>
                  <a:t> đạt cực tiểu tại </a:t>
                </a:r>
                <a:r>
                  <a:rPr lang="vi-VN"/>
                  <a:t>x_0</a:t>
                </a:r>
                <a:r>
                  <a:rPr sz="2200">
                    <a:solidFill>
                      <a:srgbClr val="1E293B"/>
                    </a:solidFill>
                    <a:latin typeface="Calibri"/>
                  </a:rPr>
                  <a:t> thì </a:t>
                </a:r>
                <a:r>
                  <a:rPr lang="vi-VN"/>
                  <a:t>x_0</a:t>
                </a:r>
                <a:r>
                  <a:rPr sz="2200">
                    <a:solidFill>
                      <a:srgbClr val="1E293B"/>
                    </a:solidFill>
                    <a:latin typeface="Calibri"/>
                  </a:rPr>
                  <a:t> được gọi là điểm cực tiểu của hàm số </a:t>
                </a:r>
                <a:r>
                  <a:rPr lang="vi-VN"/>
                  <a:t>f(x)</a:t>
                </a:r>
                <a:r>
                  <a:rPr sz="2200">
                    <a:solidFill>
                      <a:srgbClr val="1E293B"/>
                    </a:solidFill>
                    <a:latin typeface="Calibri"/>
                  </a:rPr>
                  <a:t>. Khi đó, </a:t>
                </a:r>
                <a:r>
                  <a:rPr lang="vi-VN"/>
                  <a:t>f(x_0)</a:t>
                </a:r>
                <a:r>
                  <a:rPr sz="2200">
                    <a:solidFill>
                      <a:srgbClr val="1E293B"/>
                    </a:solidFill>
                    <a:latin typeface="Calibri"/>
                  </a:rPr>
                  <a:t> được gọi là giá trị cực tiểu của hàm số, kí hiệu là </a:t>
                </a:r>
                <a:r>
                  <a:rPr lang="vi-VN"/>
                  <a:t>f_{CT}</a:t>
                </a:r>
                <a:r>
                  <a:rPr sz="2200">
                    <a:solidFill>
                      <a:srgbClr val="1E293B"/>
                    </a:solidFill>
                    <a:latin typeface="Calibri"/>
                  </a:rPr>
                  <a:t> hay </a:t>
                </a:r>
                <a:r>
                  <a:rPr lang="vi-VN"/>
                  <a:t>y_{CT}</a:t>
                </a:r>
                <a:r>
                  <a:rPr sz="2200">
                    <a:solidFill>
                      <a:srgbClr val="1E293B"/>
                    </a:solidFill>
                    <a:latin typeface="Calibri"/>
                  </a:rPr>
                  <a:t>. Điểm </a:t>
                </a:r>
                <a:r>
                  <a:rPr lang="vi-VN"/>
                  <a:t>M_0(x_0;\ f(x_0))</a:t>
                </a:r>
                <a:r>
                  <a:rPr sz="2200">
                    <a:solidFill>
                      <a:srgbClr val="1E293B"/>
                    </a:solidFill>
                    <a:latin typeface="Calibri"/>
                  </a:rPr>
                  <a:t> được gọi là điểm cực tiểu của đồ thị hàm số.</a:t>
                </a:r>
              </a:p>
              <a:p>
                <a:pPr algn="l" marL="365760" indent="-365760">
                  <a:spcAft>
                    <a:spcPts val="800"/>
                  </a:spcAft>
                  <a:buClr>
                    <a:srgbClr val="1E40AF"/>
                  </a:buClr>
                  <a:buFont typeface="Arial"/>
                  <a:buChar char="•"/>
                </a:pPr>
                <a:r>
                  <a:rPr sz="2200">
                    <a:solidFill>
                      <a:srgbClr val="1E293B"/>
                    </a:solidFill>
                    <a:latin typeface="Calibri"/>
                  </a:rPr>
                  <a:t>Các điểm cực đại và điểm cực tiểu được gọi chung là điểm cực trị. Giá trị cực đại và giá trị cực tiểu được gọi chung là giá trị cực trị (hay cực trị) của hàm số.</a:t>
                </a: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5 – LUYỆN TẬP 4 (SGK TR.10)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27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676656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5.</a:t>
                </a:r>
                <a:r>
                  <a:rPr sz="2100">
                    <a:solidFill>
                      <a:srgbClr val="1E293B"/>
                    </a:solidFill>
                    <a:latin typeface="Calibri"/>
                  </a:rPr>
                  <a:t> Hình 1.8 là đồ thị của hàm số </a:t>
                </a:r>
                <a14:m>
                  <m:oMath xmlns:m="http://schemas.openxmlformats.org/officeDocument/2006/math">
                    <m:r>
                      <a:rPr lang="vi-VN" sz="2100" b="0">
                        <a:solidFill>
                          <a:srgbClr val="1E293B"/>
                        </a:solidFill>
                        <a:latin typeface="Cambria Math" panose="02040503050406030204" pitchFamily="18" charset="0"/>
                      </a:rPr>
                      <m:t>y=f(x)</m:t>
                    </m:r>
                  </m:oMath>
                </a14:m>
                <a:r>
                  <a:rPr sz="2100">
                    <a:solidFill>
                      <a:srgbClr val="1E293B"/>
                    </a:solidFill>
                    <a:latin typeface="Calibri"/>
                  </a:rPr>
                  <a:t>. Hãy tìm các cực trị của hàm số.</a:t>
                </a:r>
              </a:p>
            </p:txBody>
          </p:sp>
        </mc:Choice>
        <mc:Fallback>
          <p:sp>
            <p:nvSpPr>
              <p:cNvPr id="7" name="TextBox 6"/>
              <p:cNvSpPr txBox="1"/>
              <p:nvPr/>
            </p:nvSpPr>
            <p:spPr>
              <a:xfrm>
                <a:off x="548640" y="1371600"/>
                <a:ext cx="676656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5.</a:t>
                </a:r>
                <a:r>
                  <a:rPr sz="2100">
                    <a:solidFill>
                      <a:srgbClr val="1E293B"/>
                    </a:solidFill>
                    <a:latin typeface="Calibri"/>
                  </a:rPr>
                  <a:t> Hình 1.8 là đồ thị của hàm số </a:t>
                </a:r>
                <a:r>
                  <a:rPr lang="vi-VN"/>
                  <a:t>y=f(x)</a:t>
                </a:r>
                <a:r>
                  <a:rPr sz="2100">
                    <a:solidFill>
                      <a:srgbClr val="1E293B"/>
                    </a:solidFill>
                    <a:latin typeface="Calibri"/>
                  </a:rPr>
                  <a:t>. Hãy tìm các cực trị của hàm số.</a:t>
                </a:r>
              </a:p>
            </p:txBody>
          </p:sp>
        </mc:Fallback>
      </mc:AlternateContent>
      <p:sp>
        <p:nvSpPr>
          <p:cNvPr id="8" name="s1_nen"/>
          <p:cNvSpPr/>
          <p:nvPr/>
        </p:nvSpPr>
        <p:spPr>
          <a:xfrm>
            <a:off x="548640" y="2322576"/>
            <a:ext cx="6766560" cy="12252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59152"/>
                <a:ext cx="64373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Hàm số đạt cực tiểu tại </a:t>
                </a:r>
                <a14:m>
                  <m:oMath xmlns:m="http://schemas.openxmlformats.org/officeDocument/2006/math">
                    <m:r>
                      <a:rPr lang="vi-VN" sz="2100" b="0">
                        <a:solidFill>
                          <a:srgbClr val="1E293B"/>
                        </a:solidFill>
                        <a:latin typeface="Cambria Math" panose="02040503050406030204" pitchFamily="18" charset="0"/>
                      </a:rPr>
                      <m:t>x=−1</m:t>
                    </m:r>
                  </m:oMath>
                </a14:m>
                <a:r>
                  <a:rPr sz="2100">
                    <a:solidFill>
                      <a:srgbClr val="1E293B"/>
                    </a:solidFill>
                    <a:latin typeface="Calibri"/>
                  </a:rPr>
                  <a:t> và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CT</m:t>
                        </m:r>
                      </m:sub>
                    </m:sSub>
                    <m:r>
                      <a:rPr lang="vi-VN" sz="2100" b="0">
                        <a:solidFill>
                          <a:srgbClr val="1E293B"/>
                        </a:solidFill>
                        <a:latin typeface="Cambria Math" panose="02040503050406030204" pitchFamily="18" charset="0"/>
                      </a:rPr>
                      <m:t>=y(−1)=2</m:t>
                    </m:r>
                  </m:oMath>
                </a14:m>
                <a:r>
                  <a:rPr sz="2100">
                    <a:solidFill>
                      <a:srgbClr val="1E293B"/>
                    </a:solidFill>
                    <a:latin typeface="Calibri"/>
                  </a:rPr>
                  <a:t>; đạt cực đại tại </a:t>
                </a:r>
                <a14:m>
                  <m:oMath xmlns:m="http://schemas.openxmlformats.org/officeDocument/2006/math">
                    <m:r>
                      <a:rPr lang="vi-VN" sz="2100" b="0">
                        <a:solidFill>
                          <a:srgbClr val="1E293B"/>
                        </a:solidFill>
                        <a:latin typeface="Cambria Math" panose="02040503050406030204" pitchFamily="18" charset="0"/>
                      </a:rPr>
                      <m:t>x=0</m:t>
                    </m:r>
                  </m:oMath>
                </a14:m>
                <a:r>
                  <a:rPr sz="2100">
                    <a:solidFill>
                      <a:srgbClr val="1E293B"/>
                    </a:solidFill>
                    <a:latin typeface="Calibri"/>
                  </a:rPr>
                  <a:t> và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CĐ</m:t>
                        </m:r>
                      </m:sub>
                    </m:sSub>
                    <m:r>
                      <a:rPr lang="vi-VN" sz="2100" b="0">
                        <a:solidFill>
                          <a:srgbClr val="1E293B"/>
                        </a:solidFill>
                        <a:latin typeface="Cambria Math" panose="02040503050406030204" pitchFamily="18" charset="0"/>
                      </a:rPr>
                      <m:t>=y(0)=3</m:t>
                    </m:r>
                  </m:oMath>
                </a14:m>
                <a:r>
                  <a:rPr sz="2100">
                    <a:solidFill>
                      <a:srgbClr val="1E293B"/>
                    </a:solidFill>
                    <a:latin typeface="Calibri"/>
                  </a:rPr>
                  <a:t>; đạt cực tiểu tại </a:t>
                </a:r>
                <a14:m>
                  <m:oMath xmlns:m="http://schemas.openxmlformats.org/officeDocument/2006/math">
                    <m:r>
                      <a:rPr lang="vi-VN" sz="2100" b="0">
                        <a:solidFill>
                          <a:srgbClr val="1E293B"/>
                        </a:solidFill>
                        <a:latin typeface="Cambria Math" panose="02040503050406030204" pitchFamily="18" charset="0"/>
                      </a:rPr>
                      <m:t>x=1</m:t>
                    </m:r>
                  </m:oMath>
                </a14:m>
                <a:r>
                  <a:rPr sz="2100">
                    <a:solidFill>
                      <a:srgbClr val="1E293B"/>
                    </a:solidFill>
                    <a:latin typeface="Calibri"/>
                  </a:rPr>
                  <a:t> và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CT</m:t>
                        </m:r>
                      </m:sub>
                    </m:sSub>
                    <m:r>
                      <a:rPr lang="vi-VN" sz="2100" b="0">
                        <a:solidFill>
                          <a:srgbClr val="1E293B"/>
                        </a:solidFill>
                        <a:latin typeface="Cambria Math" panose="02040503050406030204" pitchFamily="18" charset="0"/>
                      </a:rPr>
                      <m:t>=y(1)=2</m:t>
                    </m:r>
                  </m:oMath>
                </a14:m>
                <a:r>
                  <a:rPr sz="2100">
                    <a:solidFill>
                      <a:srgbClr val="1E293B"/>
                    </a:solidFill>
                    <a:latin typeface="Calibri"/>
                  </a:rPr>
                  <a:t>.</a:t>
                </a:r>
              </a:p>
            </p:txBody>
          </p:sp>
        </mc:Choice>
        <mc:Fallback>
          <p:sp>
            <p:nvSpPr>
              <p:cNvPr id="9" name="TextBox 8"/>
              <p:cNvSpPr txBox="1"/>
              <p:nvPr/>
            </p:nvSpPr>
            <p:spPr>
              <a:xfrm>
                <a:off x="713232" y="2359152"/>
                <a:ext cx="64373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Hàm số đạt cực tiểu tại </a:t>
                </a:r>
                <a:r>
                  <a:rPr lang="vi-VN"/>
                  <a:t>x=-1</a:t>
                </a:r>
                <a:r>
                  <a:rPr sz="2100">
                    <a:solidFill>
                      <a:srgbClr val="1E293B"/>
                    </a:solidFill>
                    <a:latin typeface="Calibri"/>
                  </a:rPr>
                  <a:t> và </a:t>
                </a:r>
                <a:r>
                  <a:rPr lang="vi-VN"/>
                  <a:t>y_{CT}=y(-1)=2</a:t>
                </a:r>
                <a:r>
                  <a:rPr sz="2100">
                    <a:solidFill>
                      <a:srgbClr val="1E293B"/>
                    </a:solidFill>
                    <a:latin typeface="Calibri"/>
                  </a:rPr>
                  <a:t>; đạt cực đại tại </a:t>
                </a:r>
                <a:r>
                  <a:rPr lang="vi-VN"/>
                  <a:t>x=0</a:t>
                </a:r>
                <a:r>
                  <a:rPr sz="2100">
                    <a:solidFill>
                      <a:srgbClr val="1E293B"/>
                    </a:solidFill>
                    <a:latin typeface="Calibri"/>
                  </a:rPr>
                  <a:t> và </a:t>
                </a:r>
                <a:r>
                  <a:rPr lang="vi-VN"/>
                  <a:t>y_{CĐ}=y(0)=3</a:t>
                </a:r>
                <a:r>
                  <a:rPr sz="2100">
                    <a:solidFill>
                      <a:srgbClr val="1E293B"/>
                    </a:solidFill>
                    <a:latin typeface="Calibri"/>
                  </a:rPr>
                  <a:t>; đạt cực tiểu tại </a:t>
                </a:r>
                <a:r>
                  <a:rPr lang="vi-VN"/>
                  <a:t>x=1</a:t>
                </a:r>
                <a:r>
                  <a:rPr sz="2100">
                    <a:solidFill>
                      <a:srgbClr val="1E293B"/>
                    </a:solidFill>
                    <a:latin typeface="Calibri"/>
                  </a:rPr>
                  <a:t> và </a:t>
                </a:r>
                <a:r>
                  <a:rPr lang="vi-VN"/>
                  <a:t>y_{CT}=y(1)=2</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685032"/>
                <a:ext cx="676656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4.</a:t>
                </a:r>
                <a:r>
                  <a:rPr sz="2100">
                    <a:solidFill>
                      <a:srgbClr val="1E293B"/>
                    </a:solidFill>
                    <a:latin typeface="Calibri"/>
                  </a:rPr>
                  <a:t> Hình 1.9 là đồ thị của hàm số </a:t>
                </a:r>
                <a14:m>
                  <m:oMath xmlns:m="http://schemas.openxmlformats.org/officeDocument/2006/math">
                    <m:r>
                      <a:rPr lang="vi-VN" sz="2100" b="0">
                        <a:solidFill>
                          <a:srgbClr val="1E293B"/>
                        </a:solidFill>
                        <a:latin typeface="Cambria Math" panose="02040503050406030204" pitchFamily="18" charset="0"/>
                      </a:rPr>
                      <m:t>y=f(x)</m:t>
                    </m:r>
                  </m:oMath>
                </a14:m>
                <a:r>
                  <a:rPr sz="2100">
                    <a:solidFill>
                      <a:srgbClr val="1E293B"/>
                    </a:solidFill>
                    <a:latin typeface="Calibri"/>
                  </a:rPr>
                  <a:t>. Hãy tìm các cực trị của hàm số.</a:t>
                </a:r>
              </a:p>
            </p:txBody>
          </p:sp>
        </mc:Choice>
        <mc:Fallback>
          <p:sp>
            <p:nvSpPr>
              <p:cNvPr id="10" name="TextBox 9"/>
              <p:cNvSpPr txBox="1"/>
              <p:nvPr/>
            </p:nvSpPr>
            <p:spPr>
              <a:xfrm>
                <a:off x="548640" y="3685032"/>
                <a:ext cx="676656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4.</a:t>
                </a:r>
                <a:r>
                  <a:rPr sz="2100">
                    <a:solidFill>
                      <a:srgbClr val="1E293B"/>
                    </a:solidFill>
                    <a:latin typeface="Calibri"/>
                  </a:rPr>
                  <a:t> Hình 1.9 là đồ thị của hàm số </a:t>
                </a:r>
                <a:r>
                  <a:rPr lang="vi-VN"/>
                  <a:t>y=f(x)</a:t>
                </a:r>
                <a:r>
                  <a:rPr sz="2100">
                    <a:solidFill>
                      <a:srgbClr val="1E293B"/>
                    </a:solidFill>
                    <a:latin typeface="Calibri"/>
                  </a:rPr>
                  <a:t>. Hãy tìm các cực trị của hàm số.</a:t>
                </a:r>
              </a:p>
            </p:txBody>
          </p:sp>
        </mc:Fallback>
      </mc:AlternateContent>
      <p:sp>
        <p:nvSpPr>
          <p:cNvPr id="11" name="s3_nen"/>
          <p:cNvSpPr/>
          <p:nvPr/>
        </p:nvSpPr>
        <p:spPr>
          <a:xfrm>
            <a:off x="548640" y="4636008"/>
            <a:ext cx="676656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672584"/>
                <a:ext cx="64373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Hàm số đạt cực đại tại </a:t>
                </a:r>
                <a14:m>
                  <m:oMath xmlns:m="http://schemas.openxmlformats.org/officeDocument/2006/math">
                    <m:r>
                      <a:rPr lang="vi-VN" sz="2100" b="0">
                        <a:solidFill>
                          <a:srgbClr val="1E293B"/>
                        </a:solidFill>
                        <a:latin typeface="Cambria Math" panose="02040503050406030204" pitchFamily="18" charset="0"/>
                      </a:rPr>
                      <m:t>x=−1</m:t>
                    </m:r>
                  </m:oMath>
                </a14:m>
                <a:r>
                  <a:rPr sz="2100">
                    <a:solidFill>
                      <a:srgbClr val="1E293B"/>
                    </a:solidFill>
                    <a:latin typeface="Calibri"/>
                  </a:rPr>
                  <a:t> và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CĐ</m:t>
                        </m:r>
                      </m:sub>
                    </m:sSub>
                    <m:r>
                      <a:rPr lang="vi-VN" sz="2100" b="0">
                        <a:solidFill>
                          <a:srgbClr val="1E293B"/>
                        </a:solidFill>
                        <a:latin typeface="Cambria Math" panose="02040503050406030204" pitchFamily="18" charset="0"/>
                      </a:rPr>
                      <m:t>=5</m:t>
                    </m:r>
                  </m:oMath>
                </a14:m>
                <a:r>
                  <a:rPr sz="2100">
                    <a:solidFill>
                      <a:srgbClr val="1E293B"/>
                    </a:solidFill>
                    <a:latin typeface="Calibri"/>
                  </a:rPr>
                  <a:t>; đạt cực tiểu tại </a:t>
                </a:r>
                <a14:m>
                  <m:oMath xmlns:m="http://schemas.openxmlformats.org/officeDocument/2006/math">
                    <m:r>
                      <a:rPr lang="vi-VN" sz="2100" b="0">
                        <a:solidFill>
                          <a:srgbClr val="1E293B"/>
                        </a:solidFill>
                        <a:latin typeface="Cambria Math" panose="02040503050406030204" pitchFamily="18" charset="0"/>
                      </a:rPr>
                      <m:t>x=1</m:t>
                    </m:r>
                  </m:oMath>
                </a14:m>
                <a:r>
                  <a:rPr sz="2100">
                    <a:solidFill>
                      <a:srgbClr val="1E293B"/>
                    </a:solidFill>
                    <a:latin typeface="Calibri"/>
                  </a:rPr>
                  <a:t> và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CT</m:t>
                        </m:r>
                      </m:sub>
                    </m:sSub>
                    <m:r>
                      <a:rPr lang="vi-VN" sz="2100" b="0">
                        <a:solidFill>
                          <a:srgbClr val="1E293B"/>
                        </a:solidFill>
                        <a:latin typeface="Cambria Math" panose="02040503050406030204" pitchFamily="18" charset="0"/>
                      </a:rPr>
                      <m:t>=1</m:t>
                    </m:r>
                  </m:oMath>
                </a14:m>
                <a:r>
                  <a:rPr sz="2100">
                    <a:solidFill>
                      <a:srgbClr val="1E293B"/>
                    </a:solidFill>
                    <a:latin typeface="Calibri"/>
                  </a:rPr>
                  <a:t>.</a:t>
                </a:r>
              </a:p>
            </p:txBody>
          </p:sp>
        </mc:Choice>
        <mc:Fallback>
          <p:sp>
            <p:nvSpPr>
              <p:cNvPr id="12" name="TextBox 11"/>
              <p:cNvSpPr txBox="1"/>
              <p:nvPr/>
            </p:nvSpPr>
            <p:spPr>
              <a:xfrm>
                <a:off x="713232" y="4672584"/>
                <a:ext cx="64373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Hàm số đạt cực đại tại </a:t>
                </a:r>
                <a:r>
                  <a:rPr lang="vi-VN"/>
                  <a:t>x=-1</a:t>
                </a:r>
                <a:r>
                  <a:rPr sz="2100">
                    <a:solidFill>
                      <a:srgbClr val="1E293B"/>
                    </a:solidFill>
                    <a:latin typeface="Calibri"/>
                  </a:rPr>
                  <a:t> và </a:t>
                </a:r>
                <a:r>
                  <a:rPr lang="vi-VN"/>
                  <a:t>y_{CĐ}=5</a:t>
                </a:r>
                <a:r>
                  <a:rPr sz="2100">
                    <a:solidFill>
                      <a:srgbClr val="1E293B"/>
                    </a:solidFill>
                    <a:latin typeface="Calibri"/>
                  </a:rPr>
                  <a:t>; đạt cực tiểu tại </a:t>
                </a:r>
                <a:r>
                  <a:rPr lang="vi-VN"/>
                  <a:t>x=1</a:t>
                </a:r>
                <a:r>
                  <a:rPr sz="2100">
                    <a:solidFill>
                      <a:srgbClr val="1E293B"/>
                    </a:solidFill>
                    <a:latin typeface="Calibri"/>
                  </a:rPr>
                  <a:t> và </a:t>
                </a:r>
                <a:r>
                  <a:rPr lang="vi-VN"/>
                  <a:t>y_{CT}=1</a:t>
                </a:r>
                <a:r>
                  <a:rPr sz="2100">
                    <a:solidFill>
                      <a:srgbClr val="1E293B"/>
                    </a:solidFill>
                    <a:latin typeface="Calibri"/>
                  </a:rPr>
                  <a:t>.</a:t>
                </a:r>
              </a:p>
            </p:txBody>
          </p:sp>
        </mc:Fallback>
      </mc:AlternateContent>
      <p:pic>
        <p:nvPicPr>
          <p:cNvPr id="13" name="Picture 12" descr="b1_h18.png"/>
          <p:cNvPicPr>
            <a:picLocks noChangeAspect="1"/>
          </p:cNvPicPr>
          <p:nvPr/>
        </p:nvPicPr>
        <p:blipFill>
          <a:blip r:embed="rId3"/>
          <a:stretch>
            <a:fillRect/>
          </a:stretch>
        </p:blipFill>
        <p:spPr>
          <a:xfrm>
            <a:off x="7589520" y="1778303"/>
            <a:ext cx="2011680" cy="1929793"/>
          </a:xfrm>
          <a:prstGeom prst="rect">
            <a:avLst/>
          </a:prstGeom>
        </p:spPr>
      </p:pic>
      <p:sp>
        <p:nvSpPr>
          <p:cNvPr id="14" name="TextBox 13"/>
          <p:cNvSpPr txBox="1"/>
          <p:nvPr/>
        </p:nvSpPr>
        <p:spPr>
          <a:xfrm>
            <a:off x="7589520" y="4133087"/>
            <a:ext cx="20116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1.8</a:t>
            </a:r>
          </a:p>
        </p:txBody>
      </p:sp>
      <p:pic>
        <p:nvPicPr>
          <p:cNvPr id="15" name="Picture 14" descr="b1_h19.png"/>
          <p:cNvPicPr>
            <a:picLocks noChangeAspect="1"/>
          </p:cNvPicPr>
          <p:nvPr/>
        </p:nvPicPr>
        <p:blipFill>
          <a:blip r:embed="rId4"/>
          <a:stretch>
            <a:fillRect/>
          </a:stretch>
        </p:blipFill>
        <p:spPr>
          <a:xfrm>
            <a:off x="9692640" y="1841083"/>
            <a:ext cx="2011680" cy="1804234"/>
          </a:xfrm>
          <a:prstGeom prst="rect">
            <a:avLst/>
          </a:prstGeom>
        </p:spPr>
      </p:pic>
      <p:sp>
        <p:nvSpPr>
          <p:cNvPr id="16" name="TextBox 15"/>
          <p:cNvSpPr txBox="1"/>
          <p:nvPr/>
        </p:nvSpPr>
        <p:spPr>
          <a:xfrm>
            <a:off x="9692640" y="4133087"/>
            <a:ext cx="20116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28</a:t>
            </a:r>
          </a:p>
        </p:txBody>
      </p:sp>
      <p:sp>
        <p:nvSpPr>
          <p:cNvPr id="7" name="Rounded Rectangle 6"/>
          <p:cNvSpPr/>
          <p:nvPr/>
        </p:nvSpPr>
        <p:spPr>
          <a:xfrm>
            <a:off x="548640" y="1463040"/>
            <a:ext cx="11064240" cy="13716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Cực đại tại </a:t>
                </a:r>
                <a14:m>
                  <m:oMath xmlns:m="http://schemas.openxmlformats.org/officeDocument/2006/math">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f(x)&lt;f(</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oMath>
                </a14:m>
                <a:r>
                  <a:rPr sz="2200">
                    <a:solidFill>
                      <a:srgbClr val="1E293B"/>
                    </a:solidFill>
                    <a:latin typeface="Calibri"/>
                  </a:rPr>
                  <a:t> với </a:t>
                </a:r>
                <a14:m>
                  <m:oMath xmlns:m="http://schemas.openxmlformats.org/officeDocument/2006/math">
                    <m:r>
                      <a:rPr lang="vi-VN" sz="2200" b="0">
                        <a:solidFill>
                          <a:srgbClr val="1E293B"/>
                        </a:solidFill>
                        <a:latin typeface="Cambria Math" panose="02040503050406030204" pitchFamily="18" charset="0"/>
                      </a:rPr>
                      <m:t>x</m:t>
                    </m:r>
                  </m:oMath>
                </a14:m>
                <a:r>
                  <a:rPr sz="2200">
                    <a:solidFill>
                      <a:srgbClr val="1E293B"/>
                    </a:solidFill>
                    <a:latin typeface="Calibri"/>
                  </a:rPr>
                  <a:t> gần </a:t>
                </a:r>
                <a14:m>
                  <m:oMath xmlns:m="http://schemas.openxmlformats.org/officeDocument/2006/math">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cực tiểu: </a:t>
                </a:r>
                <a14:m>
                  <m:oMath xmlns:m="http://schemas.openxmlformats.org/officeDocument/2006/math">
                    <m:r>
                      <a:rPr lang="vi-VN" sz="2200" b="0">
                        <a:solidFill>
                          <a:srgbClr val="1E293B"/>
                        </a:solidFill>
                        <a:latin typeface="Cambria Math" panose="02040503050406030204" pitchFamily="18" charset="0"/>
                      </a:rPr>
                      <m:t>f(x)&gt;f(</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Phân biệt: điểm cực trị của hàm số (</a:t>
                </a:r>
                <a14:m>
                  <m:oMath xmlns:m="http://schemas.openxmlformats.org/officeDocument/2006/math">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giá trị cực trị (</a:t>
                </a:r>
                <a14:m>
                  <m:oMath xmlns:m="http://schemas.openxmlformats.org/officeDocument/2006/math">
                    <m:r>
                      <a:rPr lang="vi-VN" sz="2200" b="0">
                        <a:solidFill>
                          <a:srgbClr val="1E293B"/>
                        </a:solidFill>
                        <a:latin typeface="Cambria Math" panose="02040503050406030204" pitchFamily="18" charset="0"/>
                      </a:rPr>
                      <m:t>f(</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oMath>
                </a14:m>
                <a:r>
                  <a:rPr sz="2200">
                    <a:solidFill>
                      <a:srgbClr val="1E293B"/>
                    </a:solidFill>
                    <a:latin typeface="Calibri"/>
                  </a:rPr>
                  <a:t>), điểm cực trị của đồ thị (</a:t>
                </a:r>
                <a14:m>
                  <m:oMath xmlns:m="http://schemas.openxmlformats.org/officeDocument/2006/math">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f(</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m:t>
                    </m:r>
                  </m:oMath>
                </a14:m>
                <a:r>
                  <a:rPr sz="2200">
                    <a:solidFill>
                      <a:srgbClr val="1E293B"/>
                    </a:solidFill>
                    <a:latin typeface="Calibri"/>
                  </a:rPr>
                  <a:t>).</a:t>
                </a:r>
              </a:p>
            </p:txBody>
          </p:sp>
        </mc:Choice>
        <mc:Fallback>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Cực đại tại </a:t>
                </a:r>
                <a:r>
                  <a:rPr lang="vi-VN"/>
                  <a:t>x_0</a:t>
                </a:r>
                <a:r>
                  <a:rPr sz="2200">
                    <a:solidFill>
                      <a:srgbClr val="1E293B"/>
                    </a:solidFill>
                    <a:latin typeface="Calibri"/>
                  </a:rPr>
                  <a:t>: </a:t>
                </a:r>
                <a:r>
                  <a:rPr lang="vi-VN"/>
                  <a:t>f(x)&lt;f(x_0)</a:t>
                </a:r>
                <a:r>
                  <a:rPr sz="2200">
                    <a:solidFill>
                      <a:srgbClr val="1E293B"/>
                    </a:solidFill>
                    <a:latin typeface="Calibri"/>
                  </a:rPr>
                  <a:t> với </a:t>
                </a:r>
                <a:r>
                  <a:rPr lang="vi-VN"/>
                  <a:t>x</a:t>
                </a:r>
                <a:r>
                  <a:rPr sz="2200">
                    <a:solidFill>
                      <a:srgbClr val="1E293B"/>
                    </a:solidFill>
                    <a:latin typeface="Calibri"/>
                  </a:rPr>
                  <a:t> gần </a:t>
                </a:r>
                <a:r>
                  <a:rPr lang="vi-VN"/>
                  <a:t>x_0</a:t>
                </a:r>
                <a:r>
                  <a:rPr sz="2200">
                    <a:solidFill>
                      <a:srgbClr val="1E293B"/>
                    </a:solidFill>
                    <a:latin typeface="Calibri"/>
                  </a:rPr>
                  <a:t>; cực tiểu: </a:t>
                </a:r>
                <a:r>
                  <a:rPr lang="vi-VN"/>
                  <a:t>f(x)&gt;f(x_0)</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Phân biệt: điểm cực trị của hàm số (</a:t>
                </a:r>
                <a:r>
                  <a:rPr lang="vi-VN"/>
                  <a:t>x_0</a:t>
                </a:r>
                <a:r>
                  <a:rPr sz="2200">
                    <a:solidFill>
                      <a:srgbClr val="1E293B"/>
                    </a:solidFill>
                    <a:latin typeface="Calibri"/>
                  </a:rPr>
                  <a:t>), giá trị cực trị (</a:t>
                </a:r>
                <a:r>
                  <a:rPr lang="vi-VN"/>
                  <a:t>f(x_0)</a:t>
                </a:r>
                <a:r>
                  <a:rPr sz="2200">
                    <a:solidFill>
                      <a:srgbClr val="1E293B"/>
                    </a:solidFill>
                    <a:latin typeface="Calibri"/>
                  </a:rPr>
                  <a:t>), điểm cực trị của đồ thị (</a:t>
                </a:r>
                <a:r>
                  <a:rPr lang="vi-VN"/>
                  <a:t>M_0(x_0;\ f(x_0))</a:t>
                </a:r>
                <a:r>
                  <a:rPr sz="2200">
                    <a:solidFill>
                      <a:srgbClr val="1E293B"/>
                    </a:solidFill>
                    <a:latin typeface="Calibri"/>
                  </a:rPr>
                  <a:t>).</a:t>
                </a:r>
              </a:p>
            </p:txBody>
          </p:sp>
        </mc:Fallback>
      </mc:AlternateContent>
      <p:sp>
        <p:nvSpPr>
          <p:cNvPr id="9" name="Rounded Rectangle 8"/>
          <p:cNvSpPr/>
          <p:nvPr/>
        </p:nvSpPr>
        <p:spPr>
          <a:xfrm>
            <a:off x="548640" y="306324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09981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1.1 (SGK tr.13).</a:t>
            </a:r>
          </a:p>
          <a:p>
            <a:pPr algn="l" marL="365760" indent="-365760">
              <a:spcAft>
                <a:spcPts val="800"/>
              </a:spcAft>
              <a:buClr>
                <a:srgbClr val="1E40AF"/>
              </a:buClr>
              <a:buFont typeface="Arial"/>
              <a:buChar char="•"/>
            </a:pPr>
            <a:r>
              <a:rPr sz="2200">
                <a:solidFill>
                  <a:srgbClr val="1E293B"/>
                </a:solidFill>
                <a:latin typeface="Calibri"/>
              </a:rPr>
              <a:t>Đọc trước HĐ5, Ví dụ 6 – 8 (SGK tr.10 – 12).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4 (T4)</a:t>
            </a:r>
          </a:p>
          <a:p>
            <a:pPr>
              <a:spcAft>
                <a:spcPts val="600"/>
              </a:spcAft>
            </a:pPr>
            <a:r>
              <a:rPr sz="4000" b="1">
                <a:solidFill>
                  <a:srgbClr val="FFFFFF"/>
                </a:solidFill>
                <a:latin typeface="Cambria"/>
              </a:rPr>
              <a:t>Cách tìm cực trị của hàm số</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Tìm cực trị của hàm số bằng bảng biến thiên.</a:t>
            </a:r>
          </a:p>
          <a:p>
            <a:pPr algn="l">
              <a:spcAft>
                <a:spcPts val="800"/>
              </a:spcAft>
            </a:pPr>
            <a:r>
              <a:rPr sz="2200">
                <a:solidFill>
                  <a:srgbClr val="E0E7FF"/>
                </a:solidFill>
                <a:latin typeface="Calibri"/>
              </a:rPr>
              <a:t>• Giải bài toán độ cao lớn nhất của vật (Vận dụng 2).</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b) CÁCH TÌM CỰC TRỊ – HĐ5 (SGK TR.10)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30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27787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HĐ5.</a:t>
                </a:r>
                <a:r>
                  <a:rPr sz="2100">
                    <a:solidFill>
                      <a:srgbClr val="1E293B"/>
                    </a:solidFill>
                    <a:latin typeface="Calibri"/>
                  </a:rPr>
                  <a:t> Cho hàm số </a:t>
                </a:r>
                <a14:m>
                  <m:oMath xmlns:m="http://schemas.openxmlformats.org/officeDocument/2006/math">
                    <m:r>
                      <a:rPr lang="vi-VN" sz="2100" b="0">
                        <a:solidFill>
                          <a:srgbClr val="1E293B"/>
                        </a:solidFill>
                        <a:latin typeface="Cambria Math" panose="02040503050406030204" pitchFamily="18" charset="0"/>
                      </a:rPr>
                      <m:t>y=</m:t>
                    </m:r>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3</m:t>
                        </m:r>
                      </m:den>
                    </m:f>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3</m:t>
                        </m:r>
                      </m:sup>
                    </m:sSup>
                    <m:r>
                      <a:rPr lang="vi-VN" sz="2100" b="0">
                        <a:solidFill>
                          <a:srgbClr val="1E293B"/>
                        </a:solidFill>
                        <a:latin typeface="Cambria Math" panose="02040503050406030204" pitchFamily="18" charset="0"/>
                      </a:rPr>
                      <m:t>−3</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+8x+1</m:t>
                    </m:r>
                  </m:oMath>
                </a14:m>
                <a:r>
                  <a:rPr sz="2100">
                    <a:solidFill>
                      <a:srgbClr val="1E293B"/>
                    </a:solidFill>
                    <a:latin typeface="Calibri"/>
                  </a:rPr>
                  <a:t>. a) Tính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m:t>
                    </m:r>
                  </m:oMath>
                </a14:m>
                <a:r>
                  <a:rPr sz="2100">
                    <a:solidFill>
                      <a:srgbClr val="1E293B"/>
                    </a:solidFill>
                    <a:latin typeface="Calibri"/>
                  </a:rPr>
                  <a:t> và tìm các điểm mà tại đó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m:t>
                    </m:r>
                  </m:oMath>
                </a14:m>
                <a:r>
                  <a:rPr sz="2100">
                    <a:solidFill>
                      <a:srgbClr val="1E293B"/>
                    </a:solidFill>
                    <a:latin typeface="Calibri"/>
                  </a:rPr>
                  <a:t> bằng 0. b) Lập bảng biến thiên của hàm số. c) Từ bảng biến thiên suy ra các điểm cực trị của hàm số.</a:t>
                </a:r>
              </a:p>
            </p:txBody>
          </p:sp>
        </mc:Choice>
        <mc:Fallback>
          <p:sp>
            <p:nvSpPr>
              <p:cNvPr id="7" name="TextBox 6"/>
              <p:cNvSpPr txBox="1"/>
              <p:nvPr/>
            </p:nvSpPr>
            <p:spPr>
              <a:xfrm>
                <a:off x="548640" y="1371600"/>
                <a:ext cx="11064240" cy="127787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HĐ5.</a:t>
                </a:r>
                <a:r>
                  <a:rPr sz="2100">
                    <a:solidFill>
                      <a:srgbClr val="1E293B"/>
                    </a:solidFill>
                    <a:latin typeface="Calibri"/>
                  </a:rPr>
                  <a:t> Cho hàm số </a:t>
                </a:r>
                <a:r>
                  <a:rPr lang="vi-VN"/>
                  <a:t>y=\frac{1}{3}x^3-3x^2+8x+1</a:t>
                </a:r>
                <a:r>
                  <a:rPr sz="2100">
                    <a:solidFill>
                      <a:srgbClr val="1E293B"/>
                    </a:solidFill>
                    <a:latin typeface="Calibri"/>
                  </a:rPr>
                  <a:t>. a) Tính </a:t>
                </a:r>
                <a:r>
                  <a:rPr lang="vi-VN"/>
                  <a:t>f'(x)</a:t>
                </a:r>
                <a:r>
                  <a:rPr sz="2100">
                    <a:solidFill>
                      <a:srgbClr val="1E293B"/>
                    </a:solidFill>
                    <a:latin typeface="Calibri"/>
                  </a:rPr>
                  <a:t> và tìm các điểm mà tại đó </a:t>
                </a:r>
                <a:r>
                  <a:rPr lang="vi-VN"/>
                  <a:t>f'(x)</a:t>
                </a:r>
                <a:r>
                  <a:rPr sz="2100">
                    <a:solidFill>
                      <a:srgbClr val="1E293B"/>
                    </a:solidFill>
                    <a:latin typeface="Calibri"/>
                  </a:rPr>
                  <a:t> bằng 0. b) Lập bảng biến thiên của hàm số. c) Từ bảng biến thiên suy ra các điểm cực trị của hàm số.</a:t>
                </a:r>
              </a:p>
            </p:txBody>
          </p:sp>
        </mc:Fallback>
      </mc:AlternateContent>
      <p:sp>
        <p:nvSpPr>
          <p:cNvPr id="8" name="s1_nen"/>
          <p:cNvSpPr/>
          <p:nvPr/>
        </p:nvSpPr>
        <p:spPr>
          <a:xfrm>
            <a:off x="548640" y="2740914"/>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77490"/>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−6x+8=0⇔x=2</m:t>
                    </m:r>
                  </m:oMath>
                </a14:m>
                <a:r>
                  <a:rPr sz="2100">
                    <a:solidFill>
                      <a:srgbClr val="1E293B"/>
                    </a:solidFill>
                    <a:latin typeface="Calibri"/>
                  </a:rPr>
                  <a:t> hoặc </a:t>
                </a:r>
                <a14:m>
                  <m:oMath xmlns:m="http://schemas.openxmlformats.org/officeDocument/2006/math">
                    <m:r>
                      <a:rPr lang="vi-VN" sz="2100" b="0">
                        <a:solidFill>
                          <a:srgbClr val="1E293B"/>
                        </a:solidFill>
                        <a:latin typeface="Cambria Math" panose="02040503050406030204" pitchFamily="18" charset="0"/>
                      </a:rPr>
                      <m:t>x=4</m:t>
                    </m:r>
                  </m:oMath>
                </a14:m>
                <a:r>
                  <a:rPr sz="2100">
                    <a:solidFill>
                      <a:srgbClr val="1E293B"/>
                    </a:solidFill>
                    <a:latin typeface="Calibri"/>
                  </a:rPr>
                  <a:t>. b) Bảng biến thiên:</a:t>
                </a:r>
              </a:p>
            </p:txBody>
          </p:sp>
        </mc:Choice>
        <mc:Fallback>
          <p:sp>
            <p:nvSpPr>
              <p:cNvPr id="9" name="TextBox 8"/>
              <p:cNvSpPr txBox="1"/>
              <p:nvPr/>
            </p:nvSpPr>
            <p:spPr>
              <a:xfrm>
                <a:off x="713232" y="2777490"/>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f'(x)=x^2-6x+8=0\Leftrightarrow x=2</a:t>
                </a:r>
                <a:r>
                  <a:rPr sz="2100">
                    <a:solidFill>
                      <a:srgbClr val="1E293B"/>
                    </a:solidFill>
                    <a:latin typeface="Calibri"/>
                  </a:rPr>
                  <a:t> hoặc </a:t>
                </a:r>
                <a:r>
                  <a:rPr lang="vi-VN"/>
                  <a:t>x=4</a:t>
                </a:r>
                <a:r>
                  <a:rPr sz="2100">
                    <a:solidFill>
                      <a:srgbClr val="1E293B"/>
                    </a:solidFill>
                    <a:latin typeface="Calibri"/>
                  </a:rPr>
                  <a:t>. b) Bảng biến thiên:</a:t>
                </a:r>
              </a:p>
            </p:txBody>
          </p:sp>
        </mc:Fallback>
      </mc:AlternateContent>
      <p:pic>
        <p:nvPicPr>
          <p:cNvPr id="10" name="s2_bbt" descr="b1_hd5.png"/>
          <p:cNvPicPr>
            <a:picLocks noChangeAspect="1"/>
          </p:cNvPicPr>
          <p:nvPr/>
        </p:nvPicPr>
        <p:blipFill>
          <a:blip r:embed="rId3"/>
          <a:stretch>
            <a:fillRect/>
          </a:stretch>
        </p:blipFill>
        <p:spPr>
          <a:xfrm>
            <a:off x="3710684" y="3435858"/>
            <a:ext cx="4740152" cy="1737360"/>
          </a:xfrm>
          <a:prstGeom prst="rect">
            <a:avLst/>
          </a:prstGeom>
        </p:spPr>
      </p:pic>
      <p:sp>
        <p:nvSpPr>
          <p:cNvPr id="11" name="s3_nen"/>
          <p:cNvSpPr/>
          <p:nvPr/>
        </p:nvSpPr>
        <p:spPr>
          <a:xfrm>
            <a:off x="548640" y="5246370"/>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5282946"/>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 Điểm cực đại </a:t>
                </a:r>
                <a14:m>
                  <m:oMath xmlns:m="http://schemas.openxmlformats.org/officeDocument/2006/math">
                    <m:r>
                      <a:rPr lang="vi-VN" sz="2100" b="0">
                        <a:solidFill>
                          <a:srgbClr val="1E293B"/>
                        </a:solidFill>
                        <a:latin typeface="Cambria Math" panose="02040503050406030204" pitchFamily="18" charset="0"/>
                      </a:rPr>
                      <m:t>x=2</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CĐ</m:t>
                        </m:r>
                      </m:sub>
                    </m:sSub>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23</m:t>
                        </m:r>
                      </m:num>
                      <m:den>
                        <m:r>
                          <a:rPr lang="vi-VN" sz="2100" b="0">
                            <a:solidFill>
                              <a:srgbClr val="1E293B"/>
                            </a:solidFill>
                            <a:latin typeface="Cambria Math" panose="02040503050406030204" pitchFamily="18" charset="0"/>
                          </a:rPr>
                          <m:t>3</m:t>
                        </m:r>
                      </m:den>
                    </m:f>
                  </m:oMath>
                </a14:m>
                <a:r>
                  <a:rPr sz="2100">
                    <a:solidFill>
                      <a:srgbClr val="1E293B"/>
                    </a:solidFill>
                    <a:latin typeface="Calibri"/>
                  </a:rPr>
                  <a:t>); điểm cực tiểu </a:t>
                </a:r>
                <a14:m>
                  <m:oMath xmlns:m="http://schemas.openxmlformats.org/officeDocument/2006/math">
                    <m:r>
                      <a:rPr lang="vi-VN" sz="2100" b="0">
                        <a:solidFill>
                          <a:srgbClr val="1E293B"/>
                        </a:solidFill>
                        <a:latin typeface="Cambria Math" panose="02040503050406030204" pitchFamily="18" charset="0"/>
                      </a:rPr>
                      <m:t>x=4</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CT</m:t>
                        </m:r>
                      </m:sub>
                    </m:sSub>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19</m:t>
                        </m:r>
                      </m:num>
                      <m:den>
                        <m:r>
                          <a:rPr lang="vi-VN" sz="2100" b="0">
                            <a:solidFill>
                              <a:srgbClr val="1E293B"/>
                            </a:solidFill>
                            <a:latin typeface="Cambria Math" panose="02040503050406030204" pitchFamily="18" charset="0"/>
                          </a:rPr>
                          <m:t>3</m:t>
                        </m:r>
                      </m:den>
                    </m:f>
                  </m:oMath>
                </a14:m>
                <a:r>
                  <a:rPr sz="2100">
                    <a:solidFill>
                      <a:srgbClr val="1E293B"/>
                    </a:solidFill>
                    <a:latin typeface="Calibri"/>
                  </a:rPr>
                  <a:t>).</a:t>
                </a:r>
              </a:p>
            </p:txBody>
          </p:sp>
        </mc:Choice>
        <mc:Fallback>
          <p:sp>
            <p:nvSpPr>
              <p:cNvPr id="12" name="TextBox 11"/>
              <p:cNvSpPr txBox="1"/>
              <p:nvPr/>
            </p:nvSpPr>
            <p:spPr>
              <a:xfrm>
                <a:off x="713232" y="5282946"/>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 Điểm cực đại </a:t>
                </a:r>
                <a:r>
                  <a:rPr lang="vi-VN"/>
                  <a:t>x=2</a:t>
                </a:r>
                <a:r>
                  <a:rPr sz="2100">
                    <a:solidFill>
                      <a:srgbClr val="1E293B"/>
                    </a:solidFill>
                    <a:latin typeface="Calibri"/>
                  </a:rPr>
                  <a:t> (</a:t>
                </a:r>
                <a:r>
                  <a:rPr lang="vi-VN"/>
                  <a:t>y_{CĐ}=\frac{23}{3}</a:t>
                </a:r>
                <a:r>
                  <a:rPr sz="2100">
                    <a:solidFill>
                      <a:srgbClr val="1E293B"/>
                    </a:solidFill>
                    <a:latin typeface="Calibri"/>
                  </a:rPr>
                  <a:t>); điểm cực tiểu </a:t>
                </a:r>
                <a:r>
                  <a:rPr lang="vi-VN"/>
                  <a:t>x=4</a:t>
                </a:r>
                <a:r>
                  <a:rPr sz="2100">
                    <a:solidFill>
                      <a:srgbClr val="1E293B"/>
                    </a:solidFill>
                    <a:latin typeface="Calibri"/>
                  </a:rPr>
                  <a:t> (</a:t>
                </a:r>
                <a:r>
                  <a:rPr lang="vi-VN"/>
                  <a:t>y_{CT}=\frac{19}{3}</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DẤU HIỆU NHẬN BIẾT CỰC TRỊ (SGK TR.10 – 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31</a:t>
            </a:r>
          </a:p>
        </p:txBody>
      </p:sp>
      <p:sp>
        <p:nvSpPr>
          <p:cNvPr id="7" name="Rounded Rectangle 6"/>
          <p:cNvSpPr/>
          <p:nvPr/>
        </p:nvSpPr>
        <p:spPr>
          <a:xfrm>
            <a:off x="548640" y="1371600"/>
            <a:ext cx="11064240" cy="229514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10735056" cy="2221992"/>
              </a:xfrm>
              <a:prstGeom prst="rect">
                <a:avLst/>
              </a:prstGeom>
              <a:noFill/>
            </p:spPr>
            <p:txBody>
              <a:bodyPr wrap="square" anchor="ctr" lIns="45720" rIns="45720">
                <a:spAutoFit/>
              </a:bodyPr>
              <a:lstStyle/>
              <a:p>
                <a:pPr algn="l">
                  <a:spcAft>
                    <a:spcPts val="800"/>
                  </a:spcAft>
                </a:pPr>
                <a:r>
                  <a:rPr sz="2000">
                    <a:solidFill>
                      <a:srgbClr val="1E293B"/>
                    </a:solidFill>
                    <a:latin typeface="Calibri"/>
                  </a:rPr>
                  <a:t>Giả sử hàm số </a:t>
                </a:r>
                <a14:m>
                  <m:oMath xmlns:m="http://schemas.openxmlformats.org/officeDocument/2006/math">
                    <m:r>
                      <a:rPr lang="vi-VN" sz="2000" b="0">
                        <a:solidFill>
                          <a:srgbClr val="1E293B"/>
                        </a:solidFill>
                        <a:latin typeface="Cambria Math" panose="02040503050406030204" pitchFamily="18" charset="0"/>
                      </a:rPr>
                      <m:t>y=f(x)</m:t>
                    </m:r>
                  </m:oMath>
                </a14:m>
                <a:r>
                  <a:rPr sz="2000">
                    <a:solidFill>
                      <a:srgbClr val="1E293B"/>
                    </a:solidFill>
                    <a:latin typeface="Calibri"/>
                  </a:rPr>
                  <a:t> liên tục trên khoảng </a:t>
                </a:r>
                <a14:m>
                  <m:oMath xmlns:m="http://schemas.openxmlformats.org/officeDocument/2006/math">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m:t>
                        </m:r>
                      </m:e>
                    </m:d>
                  </m:oMath>
                </a14:m>
                <a:r>
                  <a:rPr sz="2000">
                    <a:solidFill>
                      <a:srgbClr val="1E293B"/>
                    </a:solidFill>
                    <a:latin typeface="Calibri"/>
                  </a:rPr>
                  <a:t> chứa điểm </a:t>
                </a:r>
                <a14:m>
                  <m:oMath xmlns:m="http://schemas.openxmlformats.org/officeDocument/2006/math">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0</m:t>
                        </m:r>
                      </m:sub>
                    </m:sSub>
                  </m:oMath>
                </a14:m>
                <a:r>
                  <a:rPr sz="2000">
                    <a:solidFill>
                      <a:srgbClr val="1E293B"/>
                    </a:solidFill>
                    <a:latin typeface="Calibri"/>
                  </a:rPr>
                  <a:t> và có đạo hàm trên các khoảng </a:t>
                </a:r>
                <a14:m>
                  <m:oMath xmlns:m="http://schemas.openxmlformats.org/officeDocument/2006/math">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0</m:t>
                            </m:r>
                          </m:sub>
                        </m:sSub>
                      </m:e>
                    </m:d>
                  </m:oMath>
                </a14:m>
                <a:r>
                  <a:rPr sz="2000">
                    <a:solidFill>
                      <a:srgbClr val="1E293B"/>
                    </a:solidFill>
                    <a:latin typeface="Calibri"/>
                  </a:rPr>
                  <a:t> và </a:t>
                </a:r>
                <a14:m>
                  <m:oMath xmlns:m="http://schemas.openxmlformats.org/officeDocument/2006/math">
                    <m:d>
                      <m:dPr>
                        <m:sepChr m:val=""/>
                      </m:dPr>
                      <m:e>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m:t>
                        </m:r>
                      </m:e>
                    </m:d>
                  </m:oMath>
                </a14:m>
                <a:r>
                  <a:rPr sz="2000">
                    <a:solidFill>
                      <a:srgbClr val="1E293B"/>
                    </a:solidFill>
                    <a:latin typeface="Calibri"/>
                  </a:rPr>
                  <a:t>. Khi đó:</a:t>
                </a:r>
              </a:p>
              <a:p>
                <a:pPr algn="l">
                  <a:spcAft>
                    <a:spcPts val="800"/>
                  </a:spcAft>
                </a:pPr>
                <a:r>
                  <a:rPr sz="2000">
                    <a:solidFill>
                      <a:srgbClr val="1E293B"/>
                    </a:solidFill>
                    <a:latin typeface="Calibri"/>
                  </a:rPr>
                  <a:t>a) Nếu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(x)&lt;0</m:t>
                    </m:r>
                  </m:oMath>
                </a14:m>
                <a:r>
                  <a:rPr sz="2000">
                    <a:solidFill>
                      <a:srgbClr val="1E293B"/>
                    </a:solidFill>
                    <a:latin typeface="Calibri"/>
                  </a:rPr>
                  <a:t> với mọi </a:t>
                </a:r>
                <a14:m>
                  <m:oMath xmlns:m="http://schemas.openxmlformats.org/officeDocument/2006/math">
                    <m:r>
                      <a:rPr lang="vi-VN" sz="2000" b="0">
                        <a:solidFill>
                          <a:srgbClr val="1E293B"/>
                        </a:solidFill>
                        <a:latin typeface="Cambria Math" panose="02040503050406030204" pitchFamily="18" charset="0"/>
                      </a:rPr>
                      <m:t>x∈(a;</m:t>
                    </m:r>
                    <m:r>
                      <m:rPr>
                        <m:sty m:val="p"/>
                      </m:rPr>
                      <a:rPr lang="vi-VN" sz="2000" b="0">
                        <a:solidFill>
                          <a:srgbClr val="1E293B"/>
                        </a:solidFill>
                        <a:latin typeface="Cambria Math" panose="02040503050406030204" pitchFamily="18" charset="0"/>
                      </a:rPr>
                      <m:t> </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m:t>
                    </m:r>
                  </m:oMath>
                </a14:m>
                <a:r>
                  <a:rPr sz="2000">
                    <a:solidFill>
                      <a:srgbClr val="1E293B"/>
                    </a:solidFill>
                    <a:latin typeface="Calibri"/>
                  </a:rPr>
                  <a:t> và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(x)&gt;0</m:t>
                    </m:r>
                  </m:oMath>
                </a14:m>
                <a:r>
                  <a:rPr sz="2000">
                    <a:solidFill>
                      <a:srgbClr val="1E293B"/>
                    </a:solidFill>
                    <a:latin typeface="Calibri"/>
                  </a:rPr>
                  <a:t> với mọi </a:t>
                </a:r>
                <a14:m>
                  <m:oMath xmlns:m="http://schemas.openxmlformats.org/officeDocument/2006/math">
                    <m:r>
                      <a:rPr lang="vi-VN" sz="2000" b="0">
                        <a:solidFill>
                          <a:srgbClr val="1E293B"/>
                        </a:solidFill>
                        <a:latin typeface="Cambria Math" panose="02040503050406030204" pitchFamily="18" charset="0"/>
                      </a:rPr>
                      <m:t>x∈(</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m:t>
                    </m:r>
                  </m:oMath>
                </a14:m>
                <a:r>
                  <a:rPr sz="2000">
                    <a:solidFill>
                      <a:srgbClr val="1E293B"/>
                    </a:solidFill>
                    <a:latin typeface="Calibri"/>
                  </a:rPr>
                  <a:t> thì </a:t>
                </a:r>
                <a14:m>
                  <m:oMath xmlns:m="http://schemas.openxmlformats.org/officeDocument/2006/math">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0</m:t>
                        </m:r>
                      </m:sub>
                    </m:sSub>
                  </m:oMath>
                </a14:m>
                <a:r>
                  <a:rPr sz="2000">
                    <a:solidFill>
                      <a:srgbClr val="1E293B"/>
                    </a:solidFill>
                    <a:latin typeface="Calibri"/>
                  </a:rPr>
                  <a:t> là một điểm cực tiểu của hàm số </a:t>
                </a:r>
                <a14:m>
                  <m:oMath xmlns:m="http://schemas.openxmlformats.org/officeDocument/2006/math">
                    <m:r>
                      <a:rPr lang="vi-VN" sz="2000" b="0">
                        <a:solidFill>
                          <a:srgbClr val="1E293B"/>
                        </a:solidFill>
                        <a:latin typeface="Cambria Math" panose="02040503050406030204" pitchFamily="18" charset="0"/>
                      </a:rPr>
                      <m:t>f(x)</m:t>
                    </m:r>
                  </m:oMath>
                </a14:m>
                <a:r>
                  <a:rPr sz="2000">
                    <a:solidFill>
                      <a:srgbClr val="1E293B"/>
                    </a:solidFill>
                    <a:latin typeface="Calibri"/>
                  </a:rPr>
                  <a:t>.</a:t>
                </a:r>
              </a:p>
              <a:p>
                <a:pPr algn="l">
                  <a:spcAft>
                    <a:spcPts val="800"/>
                  </a:spcAft>
                </a:pPr>
                <a:r>
                  <a:rPr sz="2000">
                    <a:solidFill>
                      <a:srgbClr val="1E293B"/>
                    </a:solidFill>
                    <a:latin typeface="Calibri"/>
                  </a:rPr>
                  <a:t>b) Nếu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(x)&gt;0</m:t>
                    </m:r>
                  </m:oMath>
                </a14:m>
                <a:r>
                  <a:rPr sz="2000">
                    <a:solidFill>
                      <a:srgbClr val="1E293B"/>
                    </a:solidFill>
                    <a:latin typeface="Calibri"/>
                  </a:rPr>
                  <a:t> với mọi </a:t>
                </a:r>
                <a14:m>
                  <m:oMath xmlns:m="http://schemas.openxmlformats.org/officeDocument/2006/math">
                    <m:r>
                      <a:rPr lang="vi-VN" sz="2000" b="0">
                        <a:solidFill>
                          <a:srgbClr val="1E293B"/>
                        </a:solidFill>
                        <a:latin typeface="Cambria Math" panose="02040503050406030204" pitchFamily="18" charset="0"/>
                      </a:rPr>
                      <m:t>x∈(a;</m:t>
                    </m:r>
                    <m:r>
                      <m:rPr>
                        <m:sty m:val="p"/>
                      </m:rPr>
                      <a:rPr lang="vi-VN" sz="2000" b="0">
                        <a:solidFill>
                          <a:srgbClr val="1E293B"/>
                        </a:solidFill>
                        <a:latin typeface="Cambria Math" panose="02040503050406030204" pitchFamily="18" charset="0"/>
                      </a:rPr>
                      <m:t> </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m:t>
                    </m:r>
                  </m:oMath>
                </a14:m>
                <a:r>
                  <a:rPr sz="2000">
                    <a:solidFill>
                      <a:srgbClr val="1E293B"/>
                    </a:solidFill>
                    <a:latin typeface="Calibri"/>
                  </a:rPr>
                  <a:t> và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(x)&lt;0</m:t>
                    </m:r>
                  </m:oMath>
                </a14:m>
                <a:r>
                  <a:rPr sz="2000">
                    <a:solidFill>
                      <a:srgbClr val="1E293B"/>
                    </a:solidFill>
                    <a:latin typeface="Calibri"/>
                  </a:rPr>
                  <a:t> với mọi </a:t>
                </a:r>
                <a14:m>
                  <m:oMath xmlns:m="http://schemas.openxmlformats.org/officeDocument/2006/math">
                    <m:r>
                      <a:rPr lang="vi-VN" sz="2000" b="0">
                        <a:solidFill>
                          <a:srgbClr val="1E293B"/>
                        </a:solidFill>
                        <a:latin typeface="Cambria Math" panose="02040503050406030204" pitchFamily="18" charset="0"/>
                      </a:rPr>
                      <m:t>x∈(</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m:t>
                    </m:r>
                  </m:oMath>
                </a14:m>
                <a:r>
                  <a:rPr sz="2000">
                    <a:solidFill>
                      <a:srgbClr val="1E293B"/>
                    </a:solidFill>
                    <a:latin typeface="Calibri"/>
                  </a:rPr>
                  <a:t> thì </a:t>
                </a:r>
                <a14:m>
                  <m:oMath xmlns:m="http://schemas.openxmlformats.org/officeDocument/2006/math">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0</m:t>
                        </m:r>
                      </m:sub>
                    </m:sSub>
                  </m:oMath>
                </a14:m>
                <a:r>
                  <a:rPr sz="2000">
                    <a:solidFill>
                      <a:srgbClr val="1E293B"/>
                    </a:solidFill>
                    <a:latin typeface="Calibri"/>
                  </a:rPr>
                  <a:t> là một điểm cực đại của hàm số </a:t>
                </a:r>
                <a14:m>
                  <m:oMath xmlns:m="http://schemas.openxmlformats.org/officeDocument/2006/math">
                    <m:r>
                      <a:rPr lang="vi-VN" sz="2000" b="0">
                        <a:solidFill>
                          <a:srgbClr val="1E293B"/>
                        </a:solidFill>
                        <a:latin typeface="Cambria Math" panose="02040503050406030204" pitchFamily="18" charset="0"/>
                      </a:rPr>
                      <m:t>f(x)</m:t>
                    </m:r>
                  </m:oMath>
                </a14:m>
                <a:r>
                  <a:rPr sz="2000">
                    <a:solidFill>
                      <a:srgbClr val="1E293B"/>
                    </a:solidFill>
                    <a:latin typeface="Calibri"/>
                  </a:rPr>
                  <a:t>.</a:t>
                </a:r>
              </a:p>
            </p:txBody>
          </p:sp>
        </mc:Choice>
        <mc:Fallback>
          <p:sp>
            <p:nvSpPr>
              <p:cNvPr id="8" name="TextBox 7"/>
              <p:cNvSpPr txBox="1"/>
              <p:nvPr/>
            </p:nvSpPr>
            <p:spPr>
              <a:xfrm>
                <a:off x="713232" y="1408176"/>
                <a:ext cx="10735056" cy="2221992"/>
              </a:xfrm>
              <a:prstGeom prst="rect">
                <a:avLst/>
              </a:prstGeom>
              <a:noFill/>
            </p:spPr>
            <p:txBody>
              <a:bodyPr wrap="square" anchor="ctr" lIns="45720" rIns="45720">
                <a:spAutoFit/>
              </a:bodyPr>
              <a:lstStyle/>
              <a:p>
                <a:pPr algn="l">
                  <a:spcAft>
                    <a:spcPts val="800"/>
                  </a:spcAft>
                </a:pPr>
                <a:r>
                  <a:rPr sz="2000">
                    <a:solidFill>
                      <a:srgbClr val="1E293B"/>
                    </a:solidFill>
                    <a:latin typeface="Calibri"/>
                  </a:rPr>
                  <a:t>Giả sử hàm số </a:t>
                </a:r>
                <a:r>
                  <a:rPr lang="vi-VN"/>
                  <a:t>y=f(x)</a:t>
                </a:r>
                <a:r>
                  <a:rPr sz="2000">
                    <a:solidFill>
                      <a:srgbClr val="1E293B"/>
                    </a:solidFill>
                    <a:latin typeface="Calibri"/>
                  </a:rPr>
                  <a:t> liên tục trên khoảng </a:t>
                </a:r>
                <a:r>
                  <a:rPr lang="vi-VN"/>
                  <a:t>(a;\ b)</a:t>
                </a:r>
                <a:r>
                  <a:rPr sz="2000">
                    <a:solidFill>
                      <a:srgbClr val="1E293B"/>
                    </a:solidFill>
                    <a:latin typeface="Calibri"/>
                  </a:rPr>
                  <a:t> chứa điểm </a:t>
                </a:r>
                <a:r>
                  <a:rPr lang="vi-VN"/>
                  <a:t>x_0</a:t>
                </a:r>
                <a:r>
                  <a:rPr sz="2000">
                    <a:solidFill>
                      <a:srgbClr val="1E293B"/>
                    </a:solidFill>
                    <a:latin typeface="Calibri"/>
                  </a:rPr>
                  <a:t> và có đạo hàm trên các khoảng </a:t>
                </a:r>
                <a:r>
                  <a:rPr lang="vi-VN"/>
                  <a:t>(a;\ x_0)</a:t>
                </a:r>
                <a:r>
                  <a:rPr sz="2000">
                    <a:solidFill>
                      <a:srgbClr val="1E293B"/>
                    </a:solidFill>
                    <a:latin typeface="Calibri"/>
                  </a:rPr>
                  <a:t> và </a:t>
                </a:r>
                <a:r>
                  <a:rPr lang="vi-VN"/>
                  <a:t>(x_0;\ b)</a:t>
                </a:r>
                <a:r>
                  <a:rPr sz="2000">
                    <a:solidFill>
                      <a:srgbClr val="1E293B"/>
                    </a:solidFill>
                    <a:latin typeface="Calibri"/>
                  </a:rPr>
                  <a:t>. Khi đó:</a:t>
                </a:r>
              </a:p>
              <a:p>
                <a:pPr algn="l">
                  <a:spcAft>
                    <a:spcPts val="800"/>
                  </a:spcAft>
                </a:pPr>
                <a:r>
                  <a:rPr sz="2000">
                    <a:solidFill>
                      <a:srgbClr val="1E293B"/>
                    </a:solidFill>
                    <a:latin typeface="Calibri"/>
                  </a:rPr>
                  <a:t>a) Nếu </a:t>
                </a:r>
                <a:r>
                  <a:rPr lang="vi-VN"/>
                  <a:t>f'(x)&lt;0</a:t>
                </a:r>
                <a:r>
                  <a:rPr sz="2000">
                    <a:solidFill>
                      <a:srgbClr val="1E293B"/>
                    </a:solidFill>
                    <a:latin typeface="Calibri"/>
                  </a:rPr>
                  <a:t> với mọi </a:t>
                </a:r>
                <a:r>
                  <a:rPr lang="vi-VN"/>
                  <a:t>x\in(a;\ x_0)</a:t>
                </a:r>
                <a:r>
                  <a:rPr sz="2000">
                    <a:solidFill>
                      <a:srgbClr val="1E293B"/>
                    </a:solidFill>
                    <a:latin typeface="Calibri"/>
                  </a:rPr>
                  <a:t> và </a:t>
                </a:r>
                <a:r>
                  <a:rPr lang="vi-VN"/>
                  <a:t>f'(x)&gt;0</a:t>
                </a:r>
                <a:r>
                  <a:rPr sz="2000">
                    <a:solidFill>
                      <a:srgbClr val="1E293B"/>
                    </a:solidFill>
                    <a:latin typeface="Calibri"/>
                  </a:rPr>
                  <a:t> với mọi </a:t>
                </a:r>
                <a:r>
                  <a:rPr lang="vi-VN"/>
                  <a:t>x\in(x_0;\ b)</a:t>
                </a:r>
                <a:r>
                  <a:rPr sz="2000">
                    <a:solidFill>
                      <a:srgbClr val="1E293B"/>
                    </a:solidFill>
                    <a:latin typeface="Calibri"/>
                  </a:rPr>
                  <a:t> thì </a:t>
                </a:r>
                <a:r>
                  <a:rPr lang="vi-VN"/>
                  <a:t>x_0</a:t>
                </a:r>
                <a:r>
                  <a:rPr sz="2000">
                    <a:solidFill>
                      <a:srgbClr val="1E293B"/>
                    </a:solidFill>
                    <a:latin typeface="Calibri"/>
                  </a:rPr>
                  <a:t> là một điểm cực tiểu của hàm số </a:t>
                </a:r>
                <a:r>
                  <a:rPr lang="vi-VN"/>
                  <a:t>f(x)</a:t>
                </a:r>
                <a:r>
                  <a:rPr sz="2000">
                    <a:solidFill>
                      <a:srgbClr val="1E293B"/>
                    </a:solidFill>
                    <a:latin typeface="Calibri"/>
                  </a:rPr>
                  <a:t>.</a:t>
                </a:r>
              </a:p>
              <a:p>
                <a:pPr algn="l">
                  <a:spcAft>
                    <a:spcPts val="800"/>
                  </a:spcAft>
                </a:pPr>
                <a:r>
                  <a:rPr sz="2000">
                    <a:solidFill>
                      <a:srgbClr val="1E293B"/>
                    </a:solidFill>
                    <a:latin typeface="Calibri"/>
                  </a:rPr>
                  <a:t>b) Nếu </a:t>
                </a:r>
                <a:r>
                  <a:rPr lang="vi-VN"/>
                  <a:t>f'(x)&gt;0</a:t>
                </a:r>
                <a:r>
                  <a:rPr sz="2000">
                    <a:solidFill>
                      <a:srgbClr val="1E293B"/>
                    </a:solidFill>
                    <a:latin typeface="Calibri"/>
                  </a:rPr>
                  <a:t> với mọi </a:t>
                </a:r>
                <a:r>
                  <a:rPr lang="vi-VN"/>
                  <a:t>x\in(a;\ x_0)</a:t>
                </a:r>
                <a:r>
                  <a:rPr sz="2000">
                    <a:solidFill>
                      <a:srgbClr val="1E293B"/>
                    </a:solidFill>
                    <a:latin typeface="Calibri"/>
                  </a:rPr>
                  <a:t> và </a:t>
                </a:r>
                <a:r>
                  <a:rPr lang="vi-VN"/>
                  <a:t>f'(x)&lt;0</a:t>
                </a:r>
                <a:r>
                  <a:rPr sz="2000">
                    <a:solidFill>
                      <a:srgbClr val="1E293B"/>
                    </a:solidFill>
                    <a:latin typeface="Calibri"/>
                  </a:rPr>
                  <a:t> với mọi </a:t>
                </a:r>
                <a:r>
                  <a:rPr lang="vi-VN"/>
                  <a:t>x\in(x_0;\ b)</a:t>
                </a:r>
                <a:r>
                  <a:rPr sz="2000">
                    <a:solidFill>
                      <a:srgbClr val="1E293B"/>
                    </a:solidFill>
                    <a:latin typeface="Calibri"/>
                  </a:rPr>
                  <a:t> thì </a:t>
                </a:r>
                <a:r>
                  <a:rPr lang="vi-VN"/>
                  <a:t>x_0</a:t>
                </a:r>
                <a:r>
                  <a:rPr sz="2000">
                    <a:solidFill>
                      <a:srgbClr val="1E293B"/>
                    </a:solidFill>
                    <a:latin typeface="Calibri"/>
                  </a:rPr>
                  <a:t> là một điểm cực đại của hàm số </a:t>
                </a:r>
                <a:r>
                  <a:rPr lang="vi-VN"/>
                  <a:t>f(x)</a:t>
                </a:r>
                <a:r>
                  <a:rPr sz="2000">
                    <a:solidFill>
                      <a:srgbClr val="1E293B"/>
                    </a:solidFill>
                    <a:latin typeface="Calibri"/>
                  </a:rPr>
                  <a:t>.</a:t>
                </a:r>
              </a:p>
            </p:txBody>
          </p:sp>
        </mc:Fallback>
      </mc:AlternateContent>
      <p:pic>
        <p:nvPicPr>
          <p:cNvPr id="9" name="Picture 8" descr="b1_ct.png"/>
          <p:cNvPicPr>
            <a:picLocks noChangeAspect="1"/>
          </p:cNvPicPr>
          <p:nvPr/>
        </p:nvPicPr>
        <p:blipFill>
          <a:blip r:embed="rId3"/>
          <a:stretch>
            <a:fillRect/>
          </a:stretch>
        </p:blipFill>
        <p:spPr>
          <a:xfrm>
            <a:off x="703495" y="3657600"/>
            <a:ext cx="5085250" cy="1600200"/>
          </a:xfrm>
          <a:prstGeom prst="rect">
            <a:avLst/>
          </a:prstGeom>
        </p:spPr>
      </p:pic>
      <p:pic>
        <p:nvPicPr>
          <p:cNvPr id="10" name="Picture 9" descr="b1_cd.png"/>
          <p:cNvPicPr>
            <a:picLocks noChangeAspect="1"/>
          </p:cNvPicPr>
          <p:nvPr/>
        </p:nvPicPr>
        <p:blipFill>
          <a:blip r:embed="rId4"/>
          <a:stretch>
            <a:fillRect/>
          </a:stretch>
        </p:blipFill>
        <p:spPr>
          <a:xfrm>
            <a:off x="6372775" y="3657600"/>
            <a:ext cx="5085250" cy="1600200"/>
          </a:xfrm>
          <a:prstGeom prst="rect">
            <a:avLst/>
          </a:prstGeom>
        </p:spPr>
      </p:pic>
      <p:sp>
        <p:nvSpPr>
          <p:cNvPr id="11" name="s1_nen"/>
          <p:cNvSpPr/>
          <p:nvPr/>
        </p:nvSpPr>
        <p:spPr>
          <a:xfrm>
            <a:off x="548640" y="5394960"/>
            <a:ext cx="11064240" cy="8138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1_chu"/>
              <p:cNvSpPr txBox="1"/>
              <p:nvPr/>
            </p:nvSpPr>
            <p:spPr>
              <a:xfrm>
                <a:off x="713232" y="5431536"/>
                <a:ext cx="10735056" cy="74066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 Vì sao nếu </a:t>
                </a:r>
                <a14:m>
                  <m:oMath xmlns:m="http://schemas.openxmlformats.org/officeDocument/2006/math">
                    <m:sSup>
                      <m:e>
                        <m:r>
                          <a:rPr lang="vi-VN" sz="1800" b="0">
                            <a:solidFill>
                              <a:srgbClr val="1E293B"/>
                            </a:solidFill>
                            <a:latin typeface="Cambria Math" panose="02040503050406030204" pitchFamily="18" charset="0"/>
                          </a:rPr>
                          <m:t>f</m:t>
                        </m:r>
                      </m:e>
                      <m:sup>
                        <m:r>
                          <a:rPr lang="vi-VN" sz="1800" b="0">
                            <a:solidFill>
                              <a:srgbClr val="1E293B"/>
                            </a:solidFill>
                            <a:latin typeface="Cambria Math" panose="02040503050406030204" pitchFamily="18" charset="0"/>
                          </a:rPr>
                          <m:t>′</m:t>
                        </m:r>
                      </m:sup>
                    </m:sSup>
                    <m:r>
                      <a:rPr lang="vi-VN" sz="1800" b="0">
                        <a:solidFill>
                          <a:srgbClr val="1E293B"/>
                        </a:solidFill>
                        <a:latin typeface="Cambria Math" panose="02040503050406030204" pitchFamily="18" charset="0"/>
                      </a:rPr>
                      <m:t>(x)</m:t>
                    </m:r>
                  </m:oMath>
                </a14:m>
                <a:r>
                  <a:rPr sz="1800">
                    <a:solidFill>
                      <a:srgbClr val="1E293B"/>
                    </a:solidFill>
                    <a:latin typeface="Calibri"/>
                  </a:rPr>
                  <a:t> không đổi dấu khi </a:t>
                </a:r>
                <a14:m>
                  <m:oMath xmlns:m="http://schemas.openxmlformats.org/officeDocument/2006/math">
                    <m:r>
                      <a:rPr lang="vi-VN" sz="1800" b="0">
                        <a:solidFill>
                          <a:srgbClr val="1E293B"/>
                        </a:solidFill>
                        <a:latin typeface="Cambria Math" panose="02040503050406030204" pitchFamily="18" charset="0"/>
                      </a:rPr>
                      <m:t>x</m:t>
                    </m:r>
                  </m:oMath>
                </a14:m>
                <a:r>
                  <a:rPr sz="1800">
                    <a:solidFill>
                      <a:srgbClr val="1E293B"/>
                    </a:solidFill>
                    <a:latin typeface="Calibri"/>
                  </a:rPr>
                  <a:t> qua </a:t>
                </a:r>
                <a14:m>
                  <m:oMath xmlns:m="http://schemas.openxmlformats.org/officeDocument/2006/math">
                    <m:sSub>
                      <m:e>
                        <m:r>
                          <a:rPr lang="vi-VN" sz="1800" b="0">
                            <a:solidFill>
                              <a:srgbClr val="1E293B"/>
                            </a:solidFill>
                            <a:latin typeface="Cambria Math" panose="02040503050406030204" pitchFamily="18" charset="0"/>
                          </a:rPr>
                          <m:t>x</m:t>
                        </m:r>
                      </m:e>
                      <m:sub>
                        <m:r>
                          <a:rPr lang="vi-VN" sz="1800" b="0">
                            <a:solidFill>
                              <a:srgbClr val="1E293B"/>
                            </a:solidFill>
                            <a:latin typeface="Cambria Math" panose="02040503050406030204" pitchFamily="18" charset="0"/>
                          </a:rPr>
                          <m:t>0</m:t>
                        </m:r>
                      </m:sub>
                    </m:sSub>
                  </m:oMath>
                </a14:m>
                <a:r>
                  <a:rPr sz="1800">
                    <a:solidFill>
                      <a:srgbClr val="1E293B"/>
                    </a:solidFill>
                    <a:latin typeface="Calibri"/>
                  </a:rPr>
                  <a:t> thì </a:t>
                </a:r>
                <a14:m>
                  <m:oMath xmlns:m="http://schemas.openxmlformats.org/officeDocument/2006/math">
                    <m:sSub>
                      <m:e>
                        <m:r>
                          <a:rPr lang="vi-VN" sz="1800" b="0">
                            <a:solidFill>
                              <a:srgbClr val="1E293B"/>
                            </a:solidFill>
                            <a:latin typeface="Cambria Math" panose="02040503050406030204" pitchFamily="18" charset="0"/>
                          </a:rPr>
                          <m:t>x</m:t>
                        </m:r>
                      </m:e>
                      <m:sub>
                        <m:r>
                          <a:rPr lang="vi-VN" sz="1800" b="0">
                            <a:solidFill>
                              <a:srgbClr val="1E293B"/>
                            </a:solidFill>
                            <a:latin typeface="Cambria Math" panose="02040503050406030204" pitchFamily="18" charset="0"/>
                          </a:rPr>
                          <m:t>0</m:t>
                        </m:r>
                      </m:sub>
                    </m:sSub>
                  </m:oMath>
                </a14:m>
                <a:r>
                  <a:rPr sz="1800">
                    <a:solidFill>
                      <a:srgbClr val="1E293B"/>
                    </a:solidFill>
                    <a:latin typeface="Calibri"/>
                  </a:rPr>
                  <a:t> không phải điểm cực trị? → Khi đó hàm số đơn điệu trên một lân cận của </a:t>
                </a:r>
                <a14:m>
                  <m:oMath xmlns:m="http://schemas.openxmlformats.org/officeDocument/2006/math">
                    <m:sSub>
                      <m:e>
                        <m:r>
                          <a:rPr lang="vi-VN" sz="1800" b="0">
                            <a:solidFill>
                              <a:srgbClr val="1E293B"/>
                            </a:solidFill>
                            <a:latin typeface="Cambria Math" panose="02040503050406030204" pitchFamily="18" charset="0"/>
                          </a:rPr>
                          <m:t>x</m:t>
                        </m:r>
                      </m:e>
                      <m:sub>
                        <m:r>
                          <a:rPr lang="vi-VN" sz="1800" b="0">
                            <a:solidFill>
                              <a:srgbClr val="1E293B"/>
                            </a:solidFill>
                            <a:latin typeface="Cambria Math" panose="02040503050406030204" pitchFamily="18" charset="0"/>
                          </a:rPr>
                          <m:t>0</m:t>
                        </m:r>
                      </m:sub>
                    </m:sSub>
                  </m:oMath>
                </a14:m>
                <a:r>
                  <a:rPr sz="1800">
                    <a:solidFill>
                      <a:srgbClr val="1E293B"/>
                    </a:solidFill>
                    <a:latin typeface="Calibri"/>
                  </a:rPr>
                  <a:t>, không có "đỉnh" hay "đáy" tại </a:t>
                </a:r>
                <a14:m>
                  <m:oMath xmlns:m="http://schemas.openxmlformats.org/officeDocument/2006/math">
                    <m:sSub>
                      <m:e>
                        <m:r>
                          <a:rPr lang="vi-VN" sz="1800" b="0">
                            <a:solidFill>
                              <a:srgbClr val="1E293B"/>
                            </a:solidFill>
                            <a:latin typeface="Cambria Math" panose="02040503050406030204" pitchFamily="18" charset="0"/>
                          </a:rPr>
                          <m:t>x</m:t>
                        </m:r>
                      </m:e>
                      <m:sub>
                        <m:r>
                          <a:rPr lang="vi-VN" sz="1800" b="0">
                            <a:solidFill>
                              <a:srgbClr val="1E293B"/>
                            </a:solidFill>
                            <a:latin typeface="Cambria Math" panose="02040503050406030204" pitchFamily="18" charset="0"/>
                          </a:rPr>
                          <m:t>0</m:t>
                        </m:r>
                      </m:sub>
                    </m:sSub>
                  </m:oMath>
                </a14:m>
                <a:r>
                  <a:rPr sz="1800">
                    <a:solidFill>
                      <a:srgbClr val="1E293B"/>
                    </a:solidFill>
                    <a:latin typeface="Calibri"/>
                  </a:rPr>
                  <a:t>.</a:t>
                </a:r>
              </a:p>
            </p:txBody>
          </p:sp>
        </mc:Choice>
        <mc:Fallback>
          <p:sp>
            <p:nvSpPr>
              <p:cNvPr id="12" name="TextBox 11"/>
              <p:cNvSpPr txBox="1"/>
              <p:nvPr/>
            </p:nvSpPr>
            <p:spPr>
              <a:xfrm>
                <a:off x="713232" y="5431536"/>
                <a:ext cx="10735056" cy="74066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 Vì sao nếu </a:t>
                </a:r>
                <a:r>
                  <a:rPr lang="vi-VN"/>
                  <a:t>f'(x)</a:t>
                </a:r>
                <a:r>
                  <a:rPr sz="1800">
                    <a:solidFill>
                      <a:srgbClr val="1E293B"/>
                    </a:solidFill>
                    <a:latin typeface="Calibri"/>
                  </a:rPr>
                  <a:t> không đổi dấu khi </a:t>
                </a:r>
                <a:r>
                  <a:rPr lang="vi-VN"/>
                  <a:t>x</a:t>
                </a:r>
                <a:r>
                  <a:rPr sz="1800">
                    <a:solidFill>
                      <a:srgbClr val="1E293B"/>
                    </a:solidFill>
                    <a:latin typeface="Calibri"/>
                  </a:rPr>
                  <a:t> qua </a:t>
                </a:r>
                <a:r>
                  <a:rPr lang="vi-VN"/>
                  <a:t>x_0</a:t>
                </a:r>
                <a:r>
                  <a:rPr sz="1800">
                    <a:solidFill>
                      <a:srgbClr val="1E293B"/>
                    </a:solidFill>
                    <a:latin typeface="Calibri"/>
                  </a:rPr>
                  <a:t> thì </a:t>
                </a:r>
                <a:r>
                  <a:rPr lang="vi-VN"/>
                  <a:t>x_0</a:t>
                </a:r>
                <a:r>
                  <a:rPr sz="1800">
                    <a:solidFill>
                      <a:srgbClr val="1E293B"/>
                    </a:solidFill>
                    <a:latin typeface="Calibri"/>
                  </a:rPr>
                  <a:t> không phải điểm cực trị? → Khi đó hàm số đơn điệu trên một lân cận của </a:t>
                </a:r>
                <a:r>
                  <a:rPr lang="vi-VN"/>
                  <a:t>x_0</a:t>
                </a:r>
                <a:r>
                  <a:rPr sz="1800">
                    <a:solidFill>
                      <a:srgbClr val="1E293B"/>
                    </a:solidFill>
                    <a:latin typeface="Calibri"/>
                  </a:rPr>
                  <a:t>, không có "đỉnh" hay "đáy" tại </a:t>
                </a:r>
                <a:r>
                  <a:rPr lang="vi-VN"/>
                  <a:t>x_0</a:t>
                </a:r>
                <a:r>
                  <a:rPr sz="18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CÁC BƯỚC TÌM CỰC TRỊ (SGK TR.11)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32</a:t>
            </a:r>
          </a:p>
        </p:txBody>
      </p:sp>
      <p:sp>
        <p:nvSpPr>
          <p:cNvPr id="7" name="Rounded Rectangle 6"/>
          <p:cNvSpPr/>
          <p:nvPr/>
        </p:nvSpPr>
        <p:spPr>
          <a:xfrm>
            <a:off x="548640" y="1645920"/>
            <a:ext cx="11064240" cy="3044951"/>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682496"/>
                <a:ext cx="10735056" cy="2971799"/>
              </a:xfrm>
              <a:prstGeom prst="rect">
                <a:avLst/>
              </a:prstGeom>
              <a:noFill/>
            </p:spPr>
            <p:txBody>
              <a:bodyPr wrap="square" anchor="ctr" lIns="45720" rIns="45720">
                <a:spAutoFit/>
              </a:bodyPr>
              <a:lstStyle/>
              <a:p>
                <a:pPr algn="l">
                  <a:spcAft>
                    <a:spcPts val="800"/>
                  </a:spcAft>
                </a:pPr>
                <a:r>
                  <a:rPr sz="2600" b="1">
                    <a:solidFill>
                      <a:srgbClr val="1E293B"/>
                    </a:solidFill>
                    <a:latin typeface="Calibri"/>
                  </a:rPr>
                  <a:t>Chú ý.</a:t>
                </a:r>
                <a:r>
                  <a:rPr sz="2600">
                    <a:solidFill>
                      <a:srgbClr val="1E293B"/>
                    </a:solidFill>
                    <a:latin typeface="Calibri"/>
                  </a:rPr>
                  <a:t> Các bước tìm cực trị của hàm số </a:t>
                </a:r>
                <a14:m>
                  <m:oMath xmlns:m="http://schemas.openxmlformats.org/officeDocument/2006/math">
                    <m:r>
                      <a:rPr lang="vi-VN" sz="2600" b="0">
                        <a:solidFill>
                          <a:srgbClr val="1E293B"/>
                        </a:solidFill>
                        <a:latin typeface="Cambria Math" panose="02040503050406030204" pitchFamily="18" charset="0"/>
                      </a:rPr>
                      <m:t>y=f(x)</m:t>
                    </m:r>
                  </m:oMath>
                </a14:m>
                <a:r>
                  <a:rPr sz="2600">
                    <a:solidFill>
                      <a:srgbClr val="1E293B"/>
                    </a:solidFill>
                    <a:latin typeface="Calibri"/>
                  </a:rPr>
                  <a:t>:</a:t>
                </a:r>
              </a:p>
              <a:p>
                <a:pPr algn="l">
                  <a:spcAft>
                    <a:spcPts val="800"/>
                  </a:spcAft>
                </a:pPr>
                <a:r>
                  <a:rPr sz="2600">
                    <a:solidFill>
                      <a:srgbClr val="1E293B"/>
                    </a:solidFill>
                    <a:latin typeface="Calibri"/>
                  </a:rPr>
                  <a:t>1. Tìm tập xác định của hàm số.</a:t>
                </a:r>
              </a:p>
              <a:p>
                <a:pPr algn="l">
                  <a:spcAft>
                    <a:spcPts val="800"/>
                  </a:spcAft>
                </a:pPr>
                <a:r>
                  <a:rPr sz="2600">
                    <a:solidFill>
                      <a:srgbClr val="1E293B"/>
                    </a:solidFill>
                    <a:latin typeface="Calibri"/>
                  </a:rPr>
                  <a:t>2. Tính đạo hàm </a:t>
                </a:r>
                <a14:m>
                  <m:oMath xmlns:m="http://schemas.openxmlformats.org/officeDocument/2006/math">
                    <m:sSup>
                      <m:e>
                        <m:r>
                          <a:rPr lang="vi-VN" sz="2600" b="0">
                            <a:solidFill>
                              <a:srgbClr val="1E293B"/>
                            </a:solidFill>
                            <a:latin typeface="Cambria Math" panose="02040503050406030204" pitchFamily="18" charset="0"/>
                          </a:rPr>
                          <m:t>f</m:t>
                        </m:r>
                      </m:e>
                      <m:sup>
                        <m:r>
                          <a:rPr lang="vi-VN" sz="2600" b="0">
                            <a:solidFill>
                              <a:srgbClr val="1E293B"/>
                            </a:solidFill>
                            <a:latin typeface="Cambria Math" panose="02040503050406030204" pitchFamily="18" charset="0"/>
                          </a:rPr>
                          <m:t>′</m:t>
                        </m:r>
                      </m:sup>
                    </m:sSup>
                    <m:r>
                      <a:rPr lang="vi-VN" sz="2600" b="0">
                        <a:solidFill>
                          <a:srgbClr val="1E293B"/>
                        </a:solidFill>
                        <a:latin typeface="Cambria Math" panose="02040503050406030204" pitchFamily="18" charset="0"/>
                      </a:rPr>
                      <m:t>(x)</m:t>
                    </m:r>
                  </m:oMath>
                </a14:m>
                <a:r>
                  <a:rPr sz="2600">
                    <a:solidFill>
                      <a:srgbClr val="1E293B"/>
                    </a:solidFill>
                    <a:latin typeface="Calibri"/>
                  </a:rPr>
                  <a:t>. Tìm các điểm mà tại đó đạo hàm </a:t>
                </a:r>
                <a14:m>
                  <m:oMath xmlns:m="http://schemas.openxmlformats.org/officeDocument/2006/math">
                    <m:sSup>
                      <m:e>
                        <m:r>
                          <a:rPr lang="vi-VN" sz="2600" b="0">
                            <a:solidFill>
                              <a:srgbClr val="1E293B"/>
                            </a:solidFill>
                            <a:latin typeface="Cambria Math" panose="02040503050406030204" pitchFamily="18" charset="0"/>
                          </a:rPr>
                          <m:t>f</m:t>
                        </m:r>
                      </m:e>
                      <m:sup>
                        <m:r>
                          <a:rPr lang="vi-VN" sz="2600" b="0">
                            <a:solidFill>
                              <a:srgbClr val="1E293B"/>
                            </a:solidFill>
                            <a:latin typeface="Cambria Math" panose="02040503050406030204" pitchFamily="18" charset="0"/>
                          </a:rPr>
                          <m:t>′</m:t>
                        </m:r>
                      </m:sup>
                    </m:sSup>
                    <m:r>
                      <a:rPr lang="vi-VN" sz="2600" b="0">
                        <a:solidFill>
                          <a:srgbClr val="1E293B"/>
                        </a:solidFill>
                        <a:latin typeface="Cambria Math" panose="02040503050406030204" pitchFamily="18" charset="0"/>
                      </a:rPr>
                      <m:t>(x)</m:t>
                    </m:r>
                  </m:oMath>
                </a14:m>
                <a:r>
                  <a:rPr sz="2600">
                    <a:solidFill>
                      <a:srgbClr val="1E293B"/>
                    </a:solidFill>
                    <a:latin typeface="Calibri"/>
                  </a:rPr>
                  <a:t> bằng 0 hoặc đạo hàm không tồn tại.</a:t>
                </a:r>
              </a:p>
              <a:p>
                <a:pPr algn="l">
                  <a:spcAft>
                    <a:spcPts val="800"/>
                  </a:spcAft>
                </a:pPr>
                <a:r>
                  <a:rPr sz="2600">
                    <a:solidFill>
                      <a:srgbClr val="1E293B"/>
                    </a:solidFill>
                    <a:latin typeface="Calibri"/>
                  </a:rPr>
                  <a:t>3. Lập bảng biến thiên của hàm số.</a:t>
                </a:r>
              </a:p>
              <a:p>
                <a:pPr algn="l">
                  <a:spcAft>
                    <a:spcPts val="800"/>
                  </a:spcAft>
                </a:pPr>
                <a:r>
                  <a:rPr sz="2600">
                    <a:solidFill>
                      <a:srgbClr val="1E293B"/>
                    </a:solidFill>
                    <a:latin typeface="Calibri"/>
                  </a:rPr>
                  <a:t>4. Từ bảng biến thiên suy ra các cực trị của hàm số.</a:t>
                </a:r>
              </a:p>
            </p:txBody>
          </p:sp>
        </mc:Choice>
        <mc:Fallback>
          <p:sp>
            <p:nvSpPr>
              <p:cNvPr id="8" name="TextBox 7"/>
              <p:cNvSpPr txBox="1"/>
              <p:nvPr/>
            </p:nvSpPr>
            <p:spPr>
              <a:xfrm>
                <a:off x="713232" y="1682496"/>
                <a:ext cx="10735056" cy="2971799"/>
              </a:xfrm>
              <a:prstGeom prst="rect">
                <a:avLst/>
              </a:prstGeom>
              <a:noFill/>
            </p:spPr>
            <p:txBody>
              <a:bodyPr wrap="square" anchor="ctr" lIns="45720" rIns="45720">
                <a:spAutoFit/>
              </a:bodyPr>
              <a:lstStyle/>
              <a:p>
                <a:pPr algn="l">
                  <a:spcAft>
                    <a:spcPts val="800"/>
                  </a:spcAft>
                </a:pPr>
                <a:r>
                  <a:rPr sz="2600" b="1">
                    <a:solidFill>
                      <a:srgbClr val="1E293B"/>
                    </a:solidFill>
                    <a:latin typeface="Calibri"/>
                  </a:rPr>
                  <a:t>Chú ý.</a:t>
                </a:r>
                <a:r>
                  <a:rPr sz="2600">
                    <a:solidFill>
                      <a:srgbClr val="1E293B"/>
                    </a:solidFill>
                    <a:latin typeface="Calibri"/>
                  </a:rPr>
                  <a:t> Các bước tìm cực trị của hàm số </a:t>
                </a:r>
                <a:r>
                  <a:rPr lang="vi-VN"/>
                  <a:t>y=f(x)</a:t>
                </a:r>
                <a:r>
                  <a:rPr sz="2600">
                    <a:solidFill>
                      <a:srgbClr val="1E293B"/>
                    </a:solidFill>
                    <a:latin typeface="Calibri"/>
                  </a:rPr>
                  <a:t>:</a:t>
                </a:r>
              </a:p>
              <a:p>
                <a:pPr algn="l">
                  <a:spcAft>
                    <a:spcPts val="800"/>
                  </a:spcAft>
                </a:pPr>
                <a:r>
                  <a:rPr sz="2600">
                    <a:solidFill>
                      <a:srgbClr val="1E293B"/>
                    </a:solidFill>
                    <a:latin typeface="Calibri"/>
                  </a:rPr>
                  <a:t>1. Tìm tập xác định của hàm số.</a:t>
                </a:r>
              </a:p>
              <a:p>
                <a:pPr algn="l">
                  <a:spcAft>
                    <a:spcPts val="800"/>
                  </a:spcAft>
                </a:pPr>
                <a:r>
                  <a:rPr sz="2600">
                    <a:solidFill>
                      <a:srgbClr val="1E293B"/>
                    </a:solidFill>
                    <a:latin typeface="Calibri"/>
                  </a:rPr>
                  <a:t>2. Tính đạo hàm </a:t>
                </a:r>
                <a:r>
                  <a:rPr lang="vi-VN"/>
                  <a:t>f'(x)</a:t>
                </a:r>
                <a:r>
                  <a:rPr sz="2600">
                    <a:solidFill>
                      <a:srgbClr val="1E293B"/>
                    </a:solidFill>
                    <a:latin typeface="Calibri"/>
                  </a:rPr>
                  <a:t>. Tìm các điểm mà tại đó đạo hàm </a:t>
                </a:r>
                <a:r>
                  <a:rPr lang="vi-VN"/>
                  <a:t>f'(x)</a:t>
                </a:r>
                <a:r>
                  <a:rPr sz="2600">
                    <a:solidFill>
                      <a:srgbClr val="1E293B"/>
                    </a:solidFill>
                    <a:latin typeface="Calibri"/>
                  </a:rPr>
                  <a:t> bằng 0 hoặc đạo hàm không tồn tại.</a:t>
                </a:r>
              </a:p>
              <a:p>
                <a:pPr algn="l">
                  <a:spcAft>
                    <a:spcPts val="800"/>
                  </a:spcAft>
                </a:pPr>
                <a:r>
                  <a:rPr sz="2600">
                    <a:solidFill>
                      <a:srgbClr val="1E293B"/>
                    </a:solidFill>
                    <a:latin typeface="Calibri"/>
                  </a:rPr>
                  <a:t>3. Lập bảng biến thiên của hàm số.</a:t>
                </a:r>
              </a:p>
              <a:p>
                <a:pPr algn="l">
                  <a:spcAft>
                    <a:spcPts val="800"/>
                  </a:spcAft>
                </a:pPr>
                <a:r>
                  <a:rPr sz="2600">
                    <a:solidFill>
                      <a:srgbClr val="1E293B"/>
                    </a:solidFill>
                    <a:latin typeface="Calibri"/>
                  </a:rPr>
                  <a:t>4. Từ bảng biến thiên suy ra các cực trị của hàm số.</a:t>
                </a: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6 (SGK TR.11)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33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412480" cy="478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6.</a:t>
                </a:r>
                <a:r>
                  <a:rPr sz="2000">
                    <a:solidFill>
                      <a:srgbClr val="1E293B"/>
                    </a:solidFill>
                    <a:latin typeface="Calibri"/>
                  </a:rPr>
                  <a:t> Tìm cực trị của hàm số </a:t>
                </a:r>
                <a14:m>
                  <m:oMath xmlns:m="http://schemas.openxmlformats.org/officeDocument/2006/math">
                    <m:r>
                      <a:rPr lang="vi-VN" sz="2000" b="0">
                        <a:solidFill>
                          <a:srgbClr val="1E293B"/>
                        </a:solidFill>
                        <a:latin typeface="Cambria Math" panose="02040503050406030204" pitchFamily="18" charset="0"/>
                      </a:rPr>
                      <m:t>y=</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3</m:t>
                        </m:r>
                      </m:sup>
                    </m:sSup>
                    <m:r>
                      <a:rPr lang="vi-VN" sz="2000" b="0">
                        <a:solidFill>
                          <a:srgbClr val="1E293B"/>
                        </a:solidFill>
                        <a:latin typeface="Cambria Math" panose="02040503050406030204" pitchFamily="18" charset="0"/>
                      </a:rPr>
                      <m:t>−6</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+9x+30</m:t>
                    </m:r>
                  </m:oMath>
                </a14:m>
                <a:r>
                  <a:rPr sz="2000">
                    <a:solidFill>
                      <a:srgbClr val="1E293B"/>
                    </a:solidFill>
                    <a:latin typeface="Calibri"/>
                  </a:rPr>
                  <a:t>.</a:t>
                </a:r>
              </a:p>
            </p:txBody>
          </p:sp>
        </mc:Choice>
        <mc:Fallback>
          <p:sp>
            <p:nvSpPr>
              <p:cNvPr id="7" name="TextBox 6"/>
              <p:cNvSpPr txBox="1"/>
              <p:nvPr/>
            </p:nvSpPr>
            <p:spPr>
              <a:xfrm>
                <a:off x="548640" y="1371600"/>
                <a:ext cx="8412480" cy="478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6.</a:t>
                </a:r>
                <a:r>
                  <a:rPr sz="2000">
                    <a:solidFill>
                      <a:srgbClr val="1E293B"/>
                    </a:solidFill>
                    <a:latin typeface="Calibri"/>
                  </a:rPr>
                  <a:t> Tìm cực trị của hàm số </a:t>
                </a:r>
                <a:r>
                  <a:rPr lang="vi-VN"/>
                  <a:t>y=x^3-6x^2+9x+30</a:t>
                </a:r>
                <a:r>
                  <a:rPr sz="2000">
                    <a:solidFill>
                      <a:srgbClr val="1E293B"/>
                    </a:solidFill>
                    <a:latin typeface="Calibri"/>
                  </a:rPr>
                  <a:t>.</a:t>
                </a:r>
              </a:p>
            </p:txBody>
          </p:sp>
        </mc:Fallback>
      </mc:AlternateContent>
      <p:sp>
        <p:nvSpPr>
          <p:cNvPr id="8" name="s1_nen"/>
          <p:cNvSpPr/>
          <p:nvPr/>
        </p:nvSpPr>
        <p:spPr>
          <a:xfrm>
            <a:off x="548640" y="1941575"/>
            <a:ext cx="841248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1978151"/>
                <a:ext cx="808329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Tập xác định </a:t>
                </a:r>
                <a14:m>
                  <m:oMath xmlns:m="http://schemas.openxmlformats.org/officeDocument/2006/math">
                    <m:r>
                      <a:rPr lang="vi-VN" sz="2000" b="0">
                        <a:solidFill>
                          <a:srgbClr val="1E293B"/>
                        </a:solidFill>
                        <a:latin typeface="Cambria Math" panose="02040503050406030204" pitchFamily="18" charset="0"/>
                      </a:rPr>
                      <m:t>ℝ</m:t>
                    </m:r>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=3</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−12x+9</m:t>
                    </m:r>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=0⇔x=1</m:t>
                    </m:r>
                  </m:oMath>
                </a14:m>
                <a:r>
                  <a:rPr sz="2000">
                    <a:solidFill>
                      <a:srgbClr val="1E293B"/>
                    </a:solidFill>
                    <a:latin typeface="Calibri"/>
                  </a:rPr>
                  <a:t> hoặc </a:t>
                </a:r>
                <a14:m>
                  <m:oMath xmlns:m="http://schemas.openxmlformats.org/officeDocument/2006/math">
                    <m:r>
                      <a:rPr lang="vi-VN" sz="2000" b="0">
                        <a:solidFill>
                          <a:srgbClr val="1E293B"/>
                        </a:solidFill>
                        <a:latin typeface="Cambria Math" panose="02040503050406030204" pitchFamily="18" charset="0"/>
                      </a:rPr>
                      <m:t>x=3</m:t>
                    </m:r>
                  </m:oMath>
                </a14:m>
                <a:r>
                  <a:rPr sz="2000">
                    <a:solidFill>
                      <a:srgbClr val="1E293B"/>
                    </a:solidFill>
                    <a:latin typeface="Calibri"/>
                  </a:rPr>
                  <a:t>.</a:t>
                </a:r>
              </a:p>
            </p:txBody>
          </p:sp>
        </mc:Choice>
        <mc:Fallback>
          <p:sp>
            <p:nvSpPr>
              <p:cNvPr id="9" name="TextBox 8"/>
              <p:cNvSpPr txBox="1"/>
              <p:nvPr/>
            </p:nvSpPr>
            <p:spPr>
              <a:xfrm>
                <a:off x="713232" y="1978151"/>
                <a:ext cx="808329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Tập xác định </a:t>
                </a:r>
                <a:r>
                  <a:rPr lang="vi-VN"/>
                  <a:t>\mathbb{R}</a:t>
                </a:r>
                <a:r>
                  <a:rPr sz="2000">
                    <a:solidFill>
                      <a:srgbClr val="1E293B"/>
                    </a:solidFill>
                    <a:latin typeface="Calibri"/>
                  </a:rPr>
                  <a:t>. </a:t>
                </a:r>
                <a:r>
                  <a:rPr lang="vi-VN"/>
                  <a:t>y'=3x^2-12x+9</a:t>
                </a:r>
                <a:r>
                  <a:rPr sz="2000">
                    <a:solidFill>
                      <a:srgbClr val="1E293B"/>
                    </a:solidFill>
                    <a:latin typeface="Calibri"/>
                  </a:rPr>
                  <a:t>; </a:t>
                </a:r>
                <a:r>
                  <a:rPr lang="vi-VN"/>
                  <a:t>y'=0\Leftrightarrow x=1</a:t>
                </a:r>
                <a:r>
                  <a:rPr sz="2000">
                    <a:solidFill>
                      <a:srgbClr val="1E293B"/>
                    </a:solidFill>
                    <a:latin typeface="Calibri"/>
                  </a:rPr>
                  <a:t> hoặc </a:t>
                </a:r>
                <a:r>
                  <a:rPr lang="vi-VN"/>
                  <a:t>x=3</a:t>
                </a:r>
                <a:r>
                  <a:rPr sz="2000">
                    <a:solidFill>
                      <a:srgbClr val="1E293B"/>
                    </a:solidFill>
                    <a:latin typeface="Calibri"/>
                  </a:rPr>
                  <a:t>.</a:t>
                </a:r>
              </a:p>
            </p:txBody>
          </p:sp>
        </mc:Fallback>
      </mc:AlternateContent>
      <p:pic>
        <p:nvPicPr>
          <p:cNvPr id="10" name="s2_bbt" descr="b1_vd6.png"/>
          <p:cNvPicPr>
            <a:picLocks noChangeAspect="1"/>
          </p:cNvPicPr>
          <p:nvPr/>
        </p:nvPicPr>
        <p:blipFill>
          <a:blip r:embed="rId3"/>
          <a:stretch>
            <a:fillRect/>
          </a:stretch>
        </p:blipFill>
        <p:spPr>
          <a:xfrm>
            <a:off x="2384803" y="2621279"/>
            <a:ext cx="4740152" cy="1737360"/>
          </a:xfrm>
          <a:prstGeom prst="rect">
            <a:avLst/>
          </a:prstGeom>
        </p:spPr>
      </p:pic>
      <p:sp>
        <p:nvSpPr>
          <p:cNvPr id="11" name="s3_nen"/>
          <p:cNvSpPr/>
          <p:nvPr/>
        </p:nvSpPr>
        <p:spPr>
          <a:xfrm>
            <a:off x="548640" y="4431791"/>
            <a:ext cx="841248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468367"/>
                <a:ext cx="808329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Hàm số đạt cực đại tại </a:t>
                </a:r>
                <a14:m>
                  <m:oMath xmlns:m="http://schemas.openxmlformats.org/officeDocument/2006/math">
                    <m:r>
                      <a:rPr lang="vi-VN" sz="2000" b="0">
                        <a:solidFill>
                          <a:srgbClr val="1E293B"/>
                        </a:solidFill>
                        <a:latin typeface="Cambria Math" panose="02040503050406030204" pitchFamily="18" charset="0"/>
                      </a:rPr>
                      <m:t>x=1</m:t>
                    </m:r>
                  </m:oMath>
                </a14:m>
                <a:r>
                  <a:rPr sz="2000">
                    <a:solidFill>
                      <a:srgbClr val="1E293B"/>
                    </a:solidFill>
                    <a:latin typeface="Calibri"/>
                  </a:rPr>
                  <a:t> và </a:t>
                </a:r>
                <a14:m>
                  <m:oMath xmlns:m="http://schemas.openxmlformats.org/officeDocument/2006/math">
                    <m:sSub>
                      <m:e>
                        <m:r>
                          <a:rPr lang="vi-VN" sz="2000" b="0">
                            <a:solidFill>
                              <a:srgbClr val="1E293B"/>
                            </a:solidFill>
                            <a:latin typeface="Cambria Math" panose="02040503050406030204" pitchFamily="18" charset="0"/>
                          </a:rPr>
                          <m:t>y</m:t>
                        </m:r>
                      </m:e>
                      <m:sub>
                        <m:r>
                          <a:rPr lang="vi-VN" sz="2000" b="0">
                            <a:solidFill>
                              <a:srgbClr val="1E293B"/>
                            </a:solidFill>
                            <a:latin typeface="Cambria Math" panose="02040503050406030204" pitchFamily="18" charset="0"/>
                          </a:rPr>
                          <m:t>CĐ</m:t>
                        </m:r>
                      </m:sub>
                    </m:sSub>
                    <m:r>
                      <a:rPr lang="vi-VN" sz="2000" b="0">
                        <a:solidFill>
                          <a:srgbClr val="1E293B"/>
                        </a:solidFill>
                        <a:latin typeface="Cambria Math" panose="02040503050406030204" pitchFamily="18" charset="0"/>
                      </a:rPr>
                      <m:t>=y(1)=34</m:t>
                    </m:r>
                  </m:oMath>
                </a14:m>
                <a:r>
                  <a:rPr sz="2000">
                    <a:solidFill>
                      <a:srgbClr val="1E293B"/>
                    </a:solidFill>
                    <a:latin typeface="Calibri"/>
                  </a:rPr>
                  <a:t>; đạt cực tiểu tại </a:t>
                </a:r>
                <a14:m>
                  <m:oMath xmlns:m="http://schemas.openxmlformats.org/officeDocument/2006/math">
                    <m:r>
                      <a:rPr lang="vi-VN" sz="2000" b="0">
                        <a:solidFill>
                          <a:srgbClr val="1E293B"/>
                        </a:solidFill>
                        <a:latin typeface="Cambria Math" panose="02040503050406030204" pitchFamily="18" charset="0"/>
                      </a:rPr>
                      <m:t>x=3</m:t>
                    </m:r>
                  </m:oMath>
                </a14:m>
                <a:r>
                  <a:rPr sz="2000">
                    <a:solidFill>
                      <a:srgbClr val="1E293B"/>
                    </a:solidFill>
                    <a:latin typeface="Calibri"/>
                  </a:rPr>
                  <a:t> và </a:t>
                </a:r>
                <a14:m>
                  <m:oMath xmlns:m="http://schemas.openxmlformats.org/officeDocument/2006/math">
                    <m:sSub>
                      <m:e>
                        <m:r>
                          <a:rPr lang="vi-VN" sz="2000" b="0">
                            <a:solidFill>
                              <a:srgbClr val="1E293B"/>
                            </a:solidFill>
                            <a:latin typeface="Cambria Math" panose="02040503050406030204" pitchFamily="18" charset="0"/>
                          </a:rPr>
                          <m:t>y</m:t>
                        </m:r>
                      </m:e>
                      <m:sub>
                        <m:r>
                          <a:rPr lang="vi-VN" sz="2000" b="0">
                            <a:solidFill>
                              <a:srgbClr val="1E293B"/>
                            </a:solidFill>
                            <a:latin typeface="Cambria Math" panose="02040503050406030204" pitchFamily="18" charset="0"/>
                          </a:rPr>
                          <m:t>CT</m:t>
                        </m:r>
                      </m:sub>
                    </m:sSub>
                    <m:r>
                      <a:rPr lang="vi-VN" sz="2000" b="0">
                        <a:solidFill>
                          <a:srgbClr val="1E293B"/>
                        </a:solidFill>
                        <a:latin typeface="Cambria Math" panose="02040503050406030204" pitchFamily="18" charset="0"/>
                      </a:rPr>
                      <m:t>=y(3)=30</m:t>
                    </m:r>
                  </m:oMath>
                </a14:m>
                <a:r>
                  <a:rPr sz="2000">
                    <a:solidFill>
                      <a:srgbClr val="1E293B"/>
                    </a:solidFill>
                    <a:latin typeface="Calibri"/>
                  </a:rPr>
                  <a:t>.</a:t>
                </a:r>
              </a:p>
            </p:txBody>
          </p:sp>
        </mc:Choice>
        <mc:Fallback>
          <p:sp>
            <p:nvSpPr>
              <p:cNvPr id="12" name="TextBox 11"/>
              <p:cNvSpPr txBox="1"/>
              <p:nvPr/>
            </p:nvSpPr>
            <p:spPr>
              <a:xfrm>
                <a:off x="713232" y="4468367"/>
                <a:ext cx="808329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Hàm số đạt cực đại tại </a:t>
                </a:r>
                <a:r>
                  <a:rPr lang="vi-VN"/>
                  <a:t>x=1</a:t>
                </a:r>
                <a:r>
                  <a:rPr sz="2000">
                    <a:solidFill>
                      <a:srgbClr val="1E293B"/>
                    </a:solidFill>
                    <a:latin typeface="Calibri"/>
                  </a:rPr>
                  <a:t> và </a:t>
                </a:r>
                <a:r>
                  <a:rPr lang="vi-VN"/>
                  <a:t>y_{CĐ}=y(1)=34</a:t>
                </a:r>
                <a:r>
                  <a:rPr sz="2000">
                    <a:solidFill>
                      <a:srgbClr val="1E293B"/>
                    </a:solidFill>
                    <a:latin typeface="Calibri"/>
                  </a:rPr>
                  <a:t>; đạt cực tiểu tại </a:t>
                </a:r>
                <a:r>
                  <a:rPr lang="vi-VN"/>
                  <a:t>x=3</a:t>
                </a:r>
                <a:r>
                  <a:rPr sz="2000">
                    <a:solidFill>
                      <a:srgbClr val="1E293B"/>
                    </a:solidFill>
                    <a:latin typeface="Calibri"/>
                  </a:rPr>
                  <a:t> và </a:t>
                </a:r>
                <a:r>
                  <a:rPr lang="vi-VN"/>
                  <a:t>y_{CT}=y(3)=30</a:t>
                </a:r>
                <a:r>
                  <a:rPr sz="2000">
                    <a:solidFill>
                      <a:srgbClr val="1E293B"/>
                    </a:solidFill>
                    <a:latin typeface="Calibri"/>
                  </a:rPr>
                  <a:t>.</a:t>
                </a:r>
              </a:p>
            </p:txBody>
          </p:sp>
        </mc:Fallback>
      </mc:AlternateContent>
      <p:sp>
        <p:nvSpPr>
          <p:cNvPr id="13" name="s4_nen"/>
          <p:cNvSpPr/>
          <p:nvPr/>
        </p:nvSpPr>
        <p:spPr>
          <a:xfrm>
            <a:off x="548640" y="5398007"/>
            <a:ext cx="8412480" cy="874775"/>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434583"/>
                <a:ext cx="808329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Chú ý.</a:t>
                </a: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y=</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3</m:t>
                        </m:r>
                      </m:sup>
                    </m:sSup>
                  </m:oMath>
                </a14:m>
                <a:r>
                  <a:rPr sz="2000">
                    <a:solidFill>
                      <a:srgbClr val="1E293B"/>
                    </a:solidFill>
                    <a:latin typeface="Calibri"/>
                  </a:rPr>
                  <a:t> có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(x)=3</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(0)=0</m:t>
                    </m:r>
                  </m:oMath>
                </a14:m>
                <a:r>
                  <a:rPr sz="2000">
                    <a:solidFill>
                      <a:srgbClr val="1E293B"/>
                    </a:solidFill>
                    <a:latin typeface="Calibri"/>
                  </a:rPr>
                  <a:t> nhưng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không đổi dấu khi qua 0 nên </a:t>
                </a:r>
                <a14:m>
                  <m:oMath xmlns:m="http://schemas.openxmlformats.org/officeDocument/2006/math">
                    <m:r>
                      <a:rPr lang="vi-VN" sz="2000" b="0">
                        <a:solidFill>
                          <a:srgbClr val="1E293B"/>
                        </a:solidFill>
                        <a:latin typeface="Cambria Math" panose="02040503050406030204" pitchFamily="18" charset="0"/>
                      </a:rPr>
                      <m:t>x=0</m:t>
                    </m:r>
                  </m:oMath>
                </a14:m>
                <a:r>
                  <a:rPr sz="2000">
                    <a:solidFill>
                      <a:srgbClr val="1E293B"/>
                    </a:solidFill>
                    <a:latin typeface="Calibri"/>
                  </a:rPr>
                  <a:t> không phải điểm cực trị (H.1.10).</a:t>
                </a:r>
              </a:p>
            </p:txBody>
          </p:sp>
        </mc:Choice>
        <mc:Fallback>
          <p:sp>
            <p:nvSpPr>
              <p:cNvPr id="14" name="TextBox 13"/>
              <p:cNvSpPr txBox="1"/>
              <p:nvPr/>
            </p:nvSpPr>
            <p:spPr>
              <a:xfrm>
                <a:off x="713232" y="5434583"/>
                <a:ext cx="808329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Chú ý.</a:t>
                </a:r>
                <a:r>
                  <a:rPr sz="2000">
                    <a:solidFill>
                      <a:srgbClr val="1E293B"/>
                    </a:solidFill>
                    <a:latin typeface="Calibri"/>
                  </a:rPr>
                  <a:t> </a:t>
                </a:r>
                <a:r>
                  <a:rPr lang="vi-VN"/>
                  <a:t>y=x^3</a:t>
                </a:r>
                <a:r>
                  <a:rPr sz="2000">
                    <a:solidFill>
                      <a:srgbClr val="1E293B"/>
                    </a:solidFill>
                    <a:latin typeface="Calibri"/>
                  </a:rPr>
                  <a:t> có </a:t>
                </a:r>
                <a:r>
                  <a:rPr lang="vi-VN"/>
                  <a:t>f'(x)=3x^2</a:t>
                </a:r>
                <a:r>
                  <a:rPr sz="2000">
                    <a:solidFill>
                      <a:srgbClr val="1E293B"/>
                    </a:solidFill>
                    <a:latin typeface="Calibri"/>
                  </a:rPr>
                  <a:t>, </a:t>
                </a:r>
                <a:r>
                  <a:rPr lang="vi-VN"/>
                  <a:t>f'(0)=0</a:t>
                </a:r>
                <a:r>
                  <a:rPr sz="2000">
                    <a:solidFill>
                      <a:srgbClr val="1E293B"/>
                    </a:solidFill>
                    <a:latin typeface="Calibri"/>
                  </a:rPr>
                  <a:t> nhưng </a:t>
                </a:r>
                <a:r>
                  <a:rPr lang="vi-VN"/>
                  <a:t>f'</a:t>
                </a:r>
                <a:r>
                  <a:rPr sz="2000">
                    <a:solidFill>
                      <a:srgbClr val="1E293B"/>
                    </a:solidFill>
                    <a:latin typeface="Calibri"/>
                  </a:rPr>
                  <a:t> không đổi dấu khi qua 0 nên </a:t>
                </a:r>
                <a:r>
                  <a:rPr lang="vi-VN"/>
                  <a:t>x=0</a:t>
                </a:r>
                <a:r>
                  <a:rPr sz="2000">
                    <a:solidFill>
                      <a:srgbClr val="1E293B"/>
                    </a:solidFill>
                    <a:latin typeface="Calibri"/>
                  </a:rPr>
                  <a:t> không phải điểm cực trị (H.1.10).</a:t>
                </a:r>
              </a:p>
            </p:txBody>
          </p:sp>
        </mc:Fallback>
      </mc:AlternateContent>
      <p:pic>
        <p:nvPicPr>
          <p:cNvPr id="15" name="Picture 14" descr="b1_h110.png"/>
          <p:cNvPicPr>
            <a:picLocks noChangeAspect="1"/>
          </p:cNvPicPr>
          <p:nvPr/>
        </p:nvPicPr>
        <p:blipFill>
          <a:blip r:embed="rId4"/>
          <a:stretch>
            <a:fillRect/>
          </a:stretch>
        </p:blipFill>
        <p:spPr>
          <a:xfrm>
            <a:off x="9235440" y="1854124"/>
            <a:ext cx="2377440" cy="21439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7 (SGK TR.12)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34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7.</a:t>
                </a:r>
                <a:r>
                  <a:rPr sz="2100">
                    <a:solidFill>
                      <a:srgbClr val="1E293B"/>
                    </a:solidFill>
                    <a:latin typeface="Calibri"/>
                  </a:rPr>
                  <a:t> Tìm cực trị của hàm số </a:t>
                </a:r>
                <a14:m>
                  <m:oMath xmlns:m="http://schemas.openxmlformats.org/officeDocument/2006/math">
                    <m:r>
                      <a:rPr lang="vi-VN" sz="2100" b="0">
                        <a:solidFill>
                          <a:srgbClr val="1E293B"/>
                        </a:solidFill>
                        <a:latin typeface="Cambria Math" panose="02040503050406030204" pitchFamily="18" charset="0"/>
                      </a:rPr>
                      <m:t>y=</m:t>
                    </m:r>
                    <m:f>
                      <m:fPr>
                        <m:type m:val="bar"/>
                      </m:fPr>
                      <m:num>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−2x+9</m:t>
                        </m:r>
                      </m:num>
                      <m:den>
                        <m:r>
                          <a:rPr lang="vi-VN" sz="2100" b="0">
                            <a:solidFill>
                              <a:srgbClr val="1E293B"/>
                            </a:solidFill>
                            <a:latin typeface="Cambria Math" panose="02040503050406030204" pitchFamily="18" charset="0"/>
                          </a:rPr>
                          <m:t>x−2</m:t>
                        </m:r>
                      </m:den>
                    </m:f>
                  </m:oMath>
                </a14:m>
                <a:r>
                  <a:rPr sz="2100">
                    <a:solidFill>
                      <a:srgbClr val="1E293B"/>
                    </a:solidFill>
                    <a:latin typeface="Calibri"/>
                  </a:rPr>
                  <a:t>.</a:t>
                </a:r>
              </a:p>
            </p:txBody>
          </p:sp>
        </mc:Choice>
        <mc:Fallback>
          <p:sp>
            <p:nvSpPr>
              <p:cNvPr id="7" name="TextBox 6"/>
              <p:cNvSpPr txBox="1"/>
              <p:nvPr/>
            </p:nvSpPr>
            <p:spPr>
              <a:xfrm>
                <a:off x="548640" y="1371600"/>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7.</a:t>
                </a:r>
                <a:r>
                  <a:rPr sz="2100">
                    <a:solidFill>
                      <a:srgbClr val="1E293B"/>
                    </a:solidFill>
                    <a:latin typeface="Calibri"/>
                  </a:rPr>
                  <a:t> Tìm cực trị của hàm số </a:t>
                </a:r>
                <a:r>
                  <a:rPr lang="vi-VN"/>
                  <a:t>y=\frac{x^2-2x+9}{x-2}</a:t>
                </a:r>
                <a:r>
                  <a:rPr sz="2100">
                    <a:solidFill>
                      <a:srgbClr val="1E293B"/>
                    </a:solidFill>
                    <a:latin typeface="Calibri"/>
                  </a:rPr>
                  <a:t>.</a:t>
                </a:r>
              </a:p>
            </p:txBody>
          </p:sp>
        </mc:Fallback>
      </mc:AlternateContent>
      <p:sp>
        <p:nvSpPr>
          <p:cNvPr id="8" name="s1_nen"/>
          <p:cNvSpPr/>
          <p:nvPr/>
        </p:nvSpPr>
        <p:spPr>
          <a:xfrm>
            <a:off x="548640" y="2100834"/>
            <a:ext cx="1106424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37410"/>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a:t>
                </a:r>
                <a14:m>
                  <m:oMath xmlns:m="http://schemas.openxmlformats.org/officeDocument/2006/math">
                    <m:r>
                      <a:rPr lang="vi-VN" sz="2100" b="0">
                        <a:solidFill>
                          <a:srgbClr val="1E293B"/>
                        </a:solidFill>
                        <a:latin typeface="Cambria Math" panose="02040503050406030204" pitchFamily="18" charset="0"/>
                      </a:rPr>
                      <m:t>ℝ⧵{2}</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d>
                          <m:dPr>
                            <m:sepChr m:val=""/>
                          </m:dPr>
                          <m:e>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9</m:t>
                            </m:r>
                          </m:e>
                        </m:d>
                      </m:num>
                      <m:den>
                        <m:sSup>
                          <m:e>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m:t>
                    </m:r>
                    <m:f>
                      <m:fPr>
                        <m:type m:val="bar"/>
                      </m:fPr>
                      <m:num>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−4x−5</m:t>
                        </m:r>
                      </m:num>
                      <m:den>
                        <m:sSup>
                          <m:e>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e>
                            </m:d>
                          </m:e>
                          <m:sup>
                            <m:r>
                              <a:rPr lang="vi-VN" sz="2100" b="0">
                                <a:solidFill>
                                  <a:srgbClr val="1E293B"/>
                                </a:solidFill>
                                <a:latin typeface="Cambria Math" panose="02040503050406030204" pitchFamily="18" charset="0"/>
                              </a:rPr>
                              <m:t>2</m:t>
                            </m:r>
                          </m:sup>
                        </m:sSup>
                      </m:den>
                    </m:f>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=0⇔x=−1</m:t>
                    </m:r>
                  </m:oMath>
                </a14:m>
                <a:r>
                  <a:rPr sz="2100">
                    <a:solidFill>
                      <a:srgbClr val="1E293B"/>
                    </a:solidFill>
                    <a:latin typeface="Calibri"/>
                  </a:rPr>
                  <a:t> hoặc </a:t>
                </a:r>
                <a14:m>
                  <m:oMath xmlns:m="http://schemas.openxmlformats.org/officeDocument/2006/math">
                    <m:r>
                      <a:rPr lang="vi-VN" sz="2100" b="0">
                        <a:solidFill>
                          <a:srgbClr val="1E293B"/>
                        </a:solidFill>
                        <a:latin typeface="Cambria Math" panose="02040503050406030204" pitchFamily="18" charset="0"/>
                      </a:rPr>
                      <m:t>x=5</m:t>
                    </m:r>
                  </m:oMath>
                </a14:m>
                <a:r>
                  <a:rPr sz="2100">
                    <a:solidFill>
                      <a:srgbClr val="1E293B"/>
                    </a:solidFill>
                    <a:latin typeface="Calibri"/>
                  </a:rPr>
                  <a:t>.</a:t>
                </a:r>
              </a:p>
            </p:txBody>
          </p:sp>
        </mc:Choice>
        <mc:Fallback>
          <p:sp>
            <p:nvSpPr>
              <p:cNvPr id="9" name="TextBox 8"/>
              <p:cNvSpPr txBox="1"/>
              <p:nvPr/>
            </p:nvSpPr>
            <p:spPr>
              <a:xfrm>
                <a:off x="713232" y="2137410"/>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a:t>
                </a:r>
                <a:r>
                  <a:rPr lang="vi-VN"/>
                  <a:t>\mathbb{R}\setminus\{2\}</a:t>
                </a:r>
                <a:r>
                  <a:rPr sz="2100">
                    <a:solidFill>
                      <a:srgbClr val="1E293B"/>
                    </a:solidFill>
                    <a:latin typeface="Calibri"/>
                  </a:rPr>
                  <a:t>. </a:t>
                </a:r>
                <a:r>
                  <a:rPr lang="vi-VN"/>
                  <a:t>y'=\frac{(2x-2)(x-2)-(x^2-2x+9)}{(x-2)^2}=\frac{x^2-4x-5}{(x-2)^2}</a:t>
                </a:r>
                <a:r>
                  <a:rPr sz="2100">
                    <a:solidFill>
                      <a:srgbClr val="1E293B"/>
                    </a:solidFill>
                    <a:latin typeface="Calibri"/>
                  </a:rPr>
                  <a:t>; </a:t>
                </a:r>
                <a:r>
                  <a:rPr lang="vi-VN"/>
                  <a:t>y'=0\Leftrightarrow x=-1</a:t>
                </a:r>
                <a:r>
                  <a:rPr sz="2100">
                    <a:solidFill>
                      <a:srgbClr val="1E293B"/>
                    </a:solidFill>
                    <a:latin typeface="Calibri"/>
                  </a:rPr>
                  <a:t> hoặc </a:t>
                </a:r>
                <a:r>
                  <a:rPr lang="vi-VN"/>
                  <a:t>x=5</a:t>
                </a:r>
                <a:r>
                  <a:rPr sz="2100">
                    <a:solidFill>
                      <a:srgbClr val="1E293B"/>
                    </a:solidFill>
                    <a:latin typeface="Calibri"/>
                  </a:rPr>
                  <a:t>.</a:t>
                </a:r>
              </a:p>
            </p:txBody>
          </p:sp>
        </mc:Fallback>
      </mc:AlternateContent>
      <p:pic>
        <p:nvPicPr>
          <p:cNvPr id="10" name="s2_bbt" descr="b1_vd7.png"/>
          <p:cNvPicPr>
            <a:picLocks noChangeAspect="1"/>
          </p:cNvPicPr>
          <p:nvPr/>
        </p:nvPicPr>
        <p:blipFill>
          <a:blip r:embed="rId3"/>
          <a:stretch>
            <a:fillRect/>
          </a:stretch>
        </p:blipFill>
        <p:spPr>
          <a:xfrm>
            <a:off x="3140612" y="3403854"/>
            <a:ext cx="5880295" cy="1737360"/>
          </a:xfrm>
          <a:prstGeom prst="rect">
            <a:avLst/>
          </a:prstGeom>
        </p:spPr>
      </p:pic>
      <p:sp>
        <p:nvSpPr>
          <p:cNvPr id="11" name="s3_nen"/>
          <p:cNvSpPr/>
          <p:nvPr/>
        </p:nvSpPr>
        <p:spPr>
          <a:xfrm>
            <a:off x="548640" y="5214366"/>
            <a:ext cx="11064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5250942"/>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Hàm số đạt cực đại tại </a:t>
                </a:r>
                <a14:m>
                  <m:oMath xmlns:m="http://schemas.openxmlformats.org/officeDocument/2006/math">
                    <m:r>
                      <a:rPr lang="vi-VN" sz="2100" b="0">
                        <a:solidFill>
                          <a:srgbClr val="1E293B"/>
                        </a:solidFill>
                        <a:latin typeface="Cambria Math" panose="02040503050406030204" pitchFamily="18" charset="0"/>
                      </a:rPr>
                      <m:t>x=−1</m:t>
                    </m:r>
                  </m:oMath>
                </a14:m>
                <a:r>
                  <a:rPr sz="2100">
                    <a:solidFill>
                      <a:srgbClr val="1E293B"/>
                    </a:solidFill>
                    <a:latin typeface="Calibri"/>
                  </a:rPr>
                  <a:t> và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CĐ</m:t>
                        </m:r>
                      </m:sub>
                    </m:sSub>
                    <m:r>
                      <a:rPr lang="vi-VN" sz="2100" b="0">
                        <a:solidFill>
                          <a:srgbClr val="1E293B"/>
                        </a:solidFill>
                        <a:latin typeface="Cambria Math" panose="02040503050406030204" pitchFamily="18" charset="0"/>
                      </a:rPr>
                      <m:t>=y(−1)=−4</m:t>
                    </m:r>
                  </m:oMath>
                </a14:m>
                <a:r>
                  <a:rPr sz="2100">
                    <a:solidFill>
                      <a:srgbClr val="1E293B"/>
                    </a:solidFill>
                    <a:latin typeface="Calibri"/>
                  </a:rPr>
                  <a:t>; đạt cực tiểu tại </a:t>
                </a:r>
                <a14:m>
                  <m:oMath xmlns:m="http://schemas.openxmlformats.org/officeDocument/2006/math">
                    <m:r>
                      <a:rPr lang="vi-VN" sz="2100" b="0">
                        <a:solidFill>
                          <a:srgbClr val="1E293B"/>
                        </a:solidFill>
                        <a:latin typeface="Cambria Math" panose="02040503050406030204" pitchFamily="18" charset="0"/>
                      </a:rPr>
                      <m:t>x=5</m:t>
                    </m:r>
                  </m:oMath>
                </a14:m>
                <a:r>
                  <a:rPr sz="2100">
                    <a:solidFill>
                      <a:srgbClr val="1E293B"/>
                    </a:solidFill>
                    <a:latin typeface="Calibri"/>
                  </a:rPr>
                  <a:t> và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CT</m:t>
                        </m:r>
                      </m:sub>
                    </m:sSub>
                    <m:r>
                      <a:rPr lang="vi-VN" sz="2100" b="0">
                        <a:solidFill>
                          <a:srgbClr val="1E293B"/>
                        </a:solidFill>
                        <a:latin typeface="Cambria Math" panose="02040503050406030204" pitchFamily="18" charset="0"/>
                      </a:rPr>
                      <m:t>=y(5)=8</m:t>
                    </m:r>
                  </m:oMath>
                </a14:m>
                <a:r>
                  <a:rPr sz="2100">
                    <a:solidFill>
                      <a:srgbClr val="1E293B"/>
                    </a:solidFill>
                    <a:latin typeface="Calibri"/>
                  </a:rPr>
                  <a:t>.</a:t>
                </a:r>
              </a:p>
            </p:txBody>
          </p:sp>
        </mc:Choice>
        <mc:Fallback>
          <p:sp>
            <p:nvSpPr>
              <p:cNvPr id="12" name="TextBox 11"/>
              <p:cNvSpPr txBox="1"/>
              <p:nvPr/>
            </p:nvSpPr>
            <p:spPr>
              <a:xfrm>
                <a:off x="713232" y="5250942"/>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Hàm số đạt cực đại tại </a:t>
                </a:r>
                <a:r>
                  <a:rPr lang="vi-VN"/>
                  <a:t>x=-1</a:t>
                </a:r>
                <a:r>
                  <a:rPr sz="2100">
                    <a:solidFill>
                      <a:srgbClr val="1E293B"/>
                    </a:solidFill>
                    <a:latin typeface="Calibri"/>
                  </a:rPr>
                  <a:t> và </a:t>
                </a:r>
                <a:r>
                  <a:rPr lang="vi-VN"/>
                  <a:t>y_{CĐ}=y(-1)=-4</a:t>
                </a:r>
                <a:r>
                  <a:rPr sz="2100">
                    <a:solidFill>
                      <a:srgbClr val="1E293B"/>
                    </a:solidFill>
                    <a:latin typeface="Calibri"/>
                  </a:rPr>
                  <a:t>; đạt cực tiểu tại </a:t>
                </a:r>
                <a:r>
                  <a:rPr lang="vi-VN"/>
                  <a:t>x=5</a:t>
                </a:r>
                <a:r>
                  <a:rPr sz="2100">
                    <a:solidFill>
                      <a:srgbClr val="1E293B"/>
                    </a:solidFill>
                    <a:latin typeface="Calibri"/>
                  </a:rPr>
                  <a:t> và </a:t>
                </a:r>
                <a:r>
                  <a:rPr lang="vi-VN"/>
                  <a:t>y_{CT}=y(5)=8</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8 (SGK TR.12)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35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8.</a:t>
                </a:r>
                <a:r>
                  <a:rPr sz="2100">
                    <a:solidFill>
                      <a:srgbClr val="1E293B"/>
                    </a:solidFill>
                    <a:latin typeface="Calibri"/>
                  </a:rPr>
                  <a:t> Tìm cực trị của hàm số </a:t>
                </a:r>
                <a14:m>
                  <m:oMath xmlns:m="http://schemas.openxmlformats.org/officeDocument/2006/math">
                    <m:r>
                      <a:rPr lang="vi-VN" sz="2100" b="0">
                        <a:solidFill>
                          <a:srgbClr val="1E293B"/>
                        </a:solidFill>
                        <a:latin typeface="Cambria Math" panose="02040503050406030204" pitchFamily="18" charset="0"/>
                      </a:rPr>
                      <m:t>y=</m:t>
                    </m:r>
                    <m:f>
                      <m:fPr>
                        <m:type m:val="bar"/>
                      </m:fPr>
                      <m:num>
                        <m:r>
                          <a:rPr lang="vi-VN" sz="2100" b="0">
                            <a:solidFill>
                              <a:srgbClr val="1E293B"/>
                            </a:solidFill>
                            <a:latin typeface="Cambria Math" panose="02040503050406030204" pitchFamily="18" charset="0"/>
                          </a:rPr>
                          <m:t>x+1</m:t>
                        </m:r>
                      </m:num>
                      <m:den>
                        <m:r>
                          <a:rPr lang="vi-VN" sz="2100" b="0">
                            <a:solidFill>
                              <a:srgbClr val="1E293B"/>
                            </a:solidFill>
                            <a:latin typeface="Cambria Math" panose="02040503050406030204" pitchFamily="18" charset="0"/>
                          </a:rPr>
                          <m:t>x−1</m:t>
                        </m:r>
                      </m:den>
                    </m:f>
                  </m:oMath>
                </a14:m>
                <a:r>
                  <a:rPr sz="2100">
                    <a:solidFill>
                      <a:srgbClr val="1E293B"/>
                    </a:solidFill>
                    <a:latin typeface="Calibri"/>
                  </a:rPr>
                  <a:t>.</a:t>
                </a:r>
              </a:p>
            </p:txBody>
          </p:sp>
        </mc:Choice>
        <mc:Fallback>
          <p:sp>
            <p:nvSpPr>
              <p:cNvPr id="7" name="TextBox 6"/>
              <p:cNvSpPr txBox="1"/>
              <p:nvPr/>
            </p:nvSpPr>
            <p:spPr>
              <a:xfrm>
                <a:off x="548640" y="1371600"/>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8.</a:t>
                </a:r>
                <a:r>
                  <a:rPr sz="2100">
                    <a:solidFill>
                      <a:srgbClr val="1E293B"/>
                    </a:solidFill>
                    <a:latin typeface="Calibri"/>
                  </a:rPr>
                  <a:t> Tìm cực trị của hàm số </a:t>
                </a:r>
                <a:r>
                  <a:rPr lang="vi-VN"/>
                  <a:t>y=\frac{x+1}{x-1}</a:t>
                </a:r>
                <a:r>
                  <a:rPr sz="2100">
                    <a:solidFill>
                      <a:srgbClr val="1E293B"/>
                    </a:solidFill>
                    <a:latin typeface="Calibri"/>
                  </a:rPr>
                  <a:t>.</a:t>
                </a:r>
              </a:p>
            </p:txBody>
          </p:sp>
        </mc:Fallback>
      </mc:AlternateContent>
      <p:sp>
        <p:nvSpPr>
          <p:cNvPr id="8" name="s1_nen"/>
          <p:cNvSpPr/>
          <p:nvPr/>
        </p:nvSpPr>
        <p:spPr>
          <a:xfrm>
            <a:off x="548640" y="2100834"/>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37410"/>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a:t>
                </a:r>
                <a14:m>
                  <m:oMath xmlns:m="http://schemas.openxmlformats.org/officeDocument/2006/math">
                    <m:r>
                      <a:rPr lang="vi-VN" sz="2100" b="0">
                        <a:solidFill>
                          <a:srgbClr val="1E293B"/>
                        </a:solidFill>
                        <a:latin typeface="Cambria Math" panose="02040503050406030204" pitchFamily="18" charset="0"/>
                      </a:rPr>
                      <m:t>ℝ⧵{1}</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num>
                      <m:den>
                        <m:sSup>
                          <m:e>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−2</m:t>
                        </m:r>
                      </m:num>
                      <m:den>
                        <m:sSup>
                          <m:e>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&lt;0</m:t>
                    </m:r>
                  </m:oMath>
                </a14:m>
                <a:r>
                  <a:rPr sz="2100">
                    <a:solidFill>
                      <a:srgbClr val="1E293B"/>
                    </a:solidFill>
                    <a:latin typeface="Calibri"/>
                  </a:rPr>
                  <a:t>, với mọi </a:t>
                </a:r>
                <a14:m>
                  <m:oMath xmlns:m="http://schemas.openxmlformats.org/officeDocument/2006/math">
                    <m:r>
                      <a:rPr lang="vi-VN" sz="2100" b="0">
                        <a:solidFill>
                          <a:srgbClr val="1E293B"/>
                        </a:solidFill>
                        <a:latin typeface="Cambria Math" panose="02040503050406030204" pitchFamily="18" charset="0"/>
                      </a:rPr>
                      <m:t>x≠1</m:t>
                    </m:r>
                  </m:oMath>
                </a14:m>
                <a:r>
                  <a:rPr sz="2100">
                    <a:solidFill>
                      <a:srgbClr val="1E293B"/>
                    </a:solidFill>
                    <a:latin typeface="Calibri"/>
                  </a:rPr>
                  <a:t>.</a:t>
                </a:r>
              </a:p>
            </p:txBody>
          </p:sp>
        </mc:Choice>
        <mc:Fallback>
          <p:sp>
            <p:nvSpPr>
              <p:cNvPr id="9" name="TextBox 8"/>
              <p:cNvSpPr txBox="1"/>
              <p:nvPr/>
            </p:nvSpPr>
            <p:spPr>
              <a:xfrm>
                <a:off x="713232" y="2137410"/>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a:t>
                </a:r>
                <a:r>
                  <a:rPr lang="vi-VN"/>
                  <a:t>\mathbb{R}\setminus\{1\}</a:t>
                </a:r>
                <a:r>
                  <a:rPr sz="2100">
                    <a:solidFill>
                      <a:srgbClr val="1E293B"/>
                    </a:solidFill>
                    <a:latin typeface="Calibri"/>
                  </a:rPr>
                  <a:t>. </a:t>
                </a:r>
                <a:r>
                  <a:rPr lang="vi-VN"/>
                  <a:t>y'=\frac{(x-1)-(x+1)}{(x-1)^2}=\frac{-2}{(x-1)^2}&lt;0</a:t>
                </a:r>
                <a:r>
                  <a:rPr sz="2100">
                    <a:solidFill>
                      <a:srgbClr val="1E293B"/>
                    </a:solidFill>
                    <a:latin typeface="Calibri"/>
                  </a:rPr>
                  <a:t>, với mọi </a:t>
                </a:r>
                <a:r>
                  <a:rPr lang="vi-VN"/>
                  <a:t>x\ne 1</a:t>
                </a:r>
                <a:r>
                  <a:rPr sz="2100">
                    <a:solidFill>
                      <a:srgbClr val="1E293B"/>
                    </a:solidFill>
                    <a:latin typeface="Calibri"/>
                  </a:rPr>
                  <a:t>.</a:t>
                </a:r>
              </a:p>
            </p:txBody>
          </p:sp>
        </mc:Fallback>
      </mc:AlternateContent>
      <p:pic>
        <p:nvPicPr>
          <p:cNvPr id="10" name="s2_bbt" descr="b1_vd8.png"/>
          <p:cNvPicPr>
            <a:picLocks noChangeAspect="1"/>
          </p:cNvPicPr>
          <p:nvPr/>
        </p:nvPicPr>
        <p:blipFill>
          <a:blip r:embed="rId3"/>
          <a:stretch>
            <a:fillRect/>
          </a:stretch>
        </p:blipFill>
        <p:spPr>
          <a:xfrm>
            <a:off x="4138759" y="3083813"/>
            <a:ext cx="3884001" cy="1737360"/>
          </a:xfrm>
          <a:prstGeom prst="rect">
            <a:avLst/>
          </a:prstGeom>
        </p:spPr>
      </p:pic>
      <p:sp>
        <p:nvSpPr>
          <p:cNvPr id="11" name="s3_nen"/>
          <p:cNvSpPr/>
          <p:nvPr/>
        </p:nvSpPr>
        <p:spPr>
          <a:xfrm>
            <a:off x="548640" y="4894325"/>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3_chu"/>
          <p:cNvSpPr txBox="1"/>
          <p:nvPr/>
        </p:nvSpPr>
        <p:spPr>
          <a:xfrm>
            <a:off x="713232" y="4930901"/>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Từ bảng biến thiên suy ra hàm số không có cực trị.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5 (SGK TR.12)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36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659891"/>
              </a:xfrm>
              <a:prstGeom prst="rect">
                <a:avLst/>
              </a:prstGeom>
              <a:noFill/>
            </p:spPr>
            <p:txBody>
              <a:bodyPr wrap="square" anchor="t" lIns="45720" rIns="45720">
                <a:spAutoFit/>
              </a:bodyPr>
              <a:lstStyle/>
              <a:p>
                <a:pPr algn="l">
                  <a:spcAft>
                    <a:spcPts val="800"/>
                  </a:spcAft>
                </a:pPr>
                <a:r>
                  <a:rPr sz="2200">
                    <a:solidFill>
                      <a:srgbClr val="1E293B"/>
                    </a:solidFill>
                    <a:latin typeface="Calibri"/>
                  </a:rPr>
                  <a:t>Tìm cực trị của các hàm số sau: a) </a:t>
                </a:r>
                <a14:m>
                  <m:oMath xmlns:m="http://schemas.openxmlformats.org/officeDocument/2006/math">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4</m:t>
                        </m:r>
                      </m:sup>
                    </m:sSup>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+1</m:t>
                    </m:r>
                  </m:oMath>
                </a14:m>
                <a:r>
                  <a:rPr sz="2200">
                    <a:solidFill>
                      <a:srgbClr val="1E293B"/>
                    </a:solidFill>
                    <a:latin typeface="Calibri"/>
                  </a:rPr>
                  <a:t>; b) </a:t>
                </a: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+2x−1</m:t>
                        </m:r>
                      </m:num>
                      <m:den>
                        <m:r>
                          <a:rPr lang="vi-VN" sz="2200" b="0">
                            <a:solidFill>
                              <a:srgbClr val="1E293B"/>
                            </a:solidFill>
                            <a:latin typeface="Cambria Math" panose="02040503050406030204" pitchFamily="18" charset="0"/>
                          </a:rPr>
                          <m:t>x+2</m:t>
                        </m:r>
                      </m:den>
                    </m:f>
                  </m:oMath>
                </a14:m>
                <a:r>
                  <a:rPr sz="2200">
                    <a:solidFill>
                      <a:srgbClr val="1E293B"/>
                    </a:solidFill>
                    <a:latin typeface="Calibri"/>
                  </a:rPr>
                  <a:t>.</a:t>
                </a:r>
              </a:p>
            </p:txBody>
          </p:sp>
        </mc:Choice>
        <mc:Fallback>
          <p:sp>
            <p:nvSpPr>
              <p:cNvPr id="7" name="TextBox 6"/>
              <p:cNvSpPr txBox="1"/>
              <p:nvPr/>
            </p:nvSpPr>
            <p:spPr>
              <a:xfrm>
                <a:off x="548640" y="1371600"/>
                <a:ext cx="11064240" cy="659891"/>
              </a:xfrm>
              <a:prstGeom prst="rect">
                <a:avLst/>
              </a:prstGeom>
              <a:noFill/>
            </p:spPr>
            <p:txBody>
              <a:bodyPr wrap="square" anchor="t" lIns="45720" rIns="45720">
                <a:spAutoFit/>
              </a:bodyPr>
              <a:lstStyle/>
              <a:p>
                <a:pPr algn="l">
                  <a:spcAft>
                    <a:spcPts val="800"/>
                  </a:spcAft>
                </a:pPr>
                <a:r>
                  <a:rPr sz="2200">
                    <a:solidFill>
                      <a:srgbClr val="1E293B"/>
                    </a:solidFill>
                    <a:latin typeface="Calibri"/>
                  </a:rPr>
                  <a:t>Tìm cực trị của các hàm số sau: a) </a:t>
                </a:r>
                <a:r>
                  <a:rPr lang="vi-VN"/>
                  <a:t>y=x^4-3x^2+1</a:t>
                </a:r>
                <a:r>
                  <a:rPr sz="2200">
                    <a:solidFill>
                      <a:srgbClr val="1E293B"/>
                    </a:solidFill>
                    <a:latin typeface="Calibri"/>
                  </a:rPr>
                  <a:t>; b) </a:t>
                </a:r>
                <a:r>
                  <a:rPr lang="vi-VN"/>
                  <a:t>y=\frac{-x^2+2x-1}{x+2}</a:t>
                </a:r>
                <a:r>
                  <a:rPr sz="2200">
                    <a:solidFill>
                      <a:srgbClr val="1E293B"/>
                    </a:solidFill>
                    <a:latin typeface="Calibri"/>
                  </a:rPr>
                  <a:t>.</a:t>
                </a:r>
              </a:p>
            </p:txBody>
          </p:sp>
        </mc:Fallback>
      </mc:AlternateContent>
      <p:sp>
        <p:nvSpPr>
          <p:cNvPr id="8" name="s1_nen"/>
          <p:cNvSpPr/>
          <p:nvPr/>
        </p:nvSpPr>
        <p:spPr>
          <a:xfrm>
            <a:off x="548640" y="2103120"/>
            <a:ext cx="5440680" cy="15910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39696"/>
                <a:ext cx="5111496" cy="151790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=4</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3</m:t>
                        </m:r>
                      </m:sup>
                    </m:sSup>
                    <m:r>
                      <a:rPr lang="vi-VN" sz="2000" b="0">
                        <a:solidFill>
                          <a:srgbClr val="1E293B"/>
                        </a:solidFill>
                        <a:latin typeface="Cambria Math" panose="02040503050406030204" pitchFamily="18" charset="0"/>
                      </a:rPr>
                      <m:t>−6x=0⇔x=0</m:t>
                    </m:r>
                  </m:oMath>
                </a14:m>
                <a:r>
                  <a:rPr sz="2000">
                    <a:solidFill>
                      <a:srgbClr val="1E293B"/>
                    </a:solidFill>
                    <a:latin typeface="Calibri"/>
                  </a:rPr>
                  <a:t> hoặc </a:t>
                </a:r>
                <a14:m>
                  <m:oMath xmlns:m="http://schemas.openxmlformats.org/officeDocument/2006/math">
                    <m:r>
                      <a:rPr lang="vi-VN" sz="2000" b="0">
                        <a:solidFill>
                          <a:srgbClr val="1E293B"/>
                        </a:solidFill>
                        <a:latin typeface="Cambria Math" panose="02040503050406030204" pitchFamily="18" charset="0"/>
                      </a:rPr>
                      <m:t>x=±</m:t>
                    </m:r>
                    <m:f>
                      <m:fPr>
                        <m:type m:val="bar"/>
                      </m:fPr>
                      <m:num>
                        <m:rad>
                          <m:radPr>
                            <m:degHide m:val="on"/>
                          </m:radPr>
                          <m:deg/>
                          <m:e>
                            <m:r>
                              <a:rPr lang="vi-VN" sz="2000" b="0">
                                <a:solidFill>
                                  <a:srgbClr val="1E293B"/>
                                </a:solidFill>
                                <a:latin typeface="Cambria Math" panose="02040503050406030204" pitchFamily="18" charset="0"/>
                              </a:rPr>
                              <m:t>6</m:t>
                            </m:r>
                          </m:e>
                        </m:rad>
                      </m:num>
                      <m:den>
                        <m:r>
                          <a:rPr lang="vi-VN" sz="2000" b="0">
                            <a:solidFill>
                              <a:srgbClr val="1E293B"/>
                            </a:solidFill>
                            <a:latin typeface="Cambria Math" panose="02040503050406030204" pitchFamily="18" charset="0"/>
                          </a:rPr>
                          <m:t>2</m:t>
                        </m:r>
                      </m:den>
                    </m:f>
                  </m:oMath>
                </a14:m>
                <a:r>
                  <a:rPr sz="2000">
                    <a:solidFill>
                      <a:srgbClr val="1E293B"/>
                    </a:solidFill>
                    <a:latin typeface="Calibri"/>
                  </a:rPr>
                  <a:t>. Cực đại tại </a:t>
                </a:r>
                <a14:m>
                  <m:oMath xmlns:m="http://schemas.openxmlformats.org/officeDocument/2006/math">
                    <m:r>
                      <a:rPr lang="vi-VN" sz="2000" b="0">
                        <a:solidFill>
                          <a:srgbClr val="1E293B"/>
                        </a:solidFill>
                        <a:latin typeface="Cambria Math" panose="02040503050406030204" pitchFamily="18" charset="0"/>
                      </a:rPr>
                      <m:t>x=0</m:t>
                    </m:r>
                  </m:oMath>
                </a14:m>
                <a:r>
                  <a:rPr sz="2000">
                    <a:solidFill>
                      <a:srgbClr val="1E293B"/>
                    </a:solidFill>
                    <a:latin typeface="Calibri"/>
                  </a:rPr>
                  <a:t>, </a:t>
                </a:r>
                <a14:m>
                  <m:oMath xmlns:m="http://schemas.openxmlformats.org/officeDocument/2006/math">
                    <m:sSub>
                      <m:e>
                        <m:r>
                          <a:rPr lang="vi-VN" sz="2000" b="0">
                            <a:solidFill>
                              <a:srgbClr val="1E293B"/>
                            </a:solidFill>
                            <a:latin typeface="Cambria Math" panose="02040503050406030204" pitchFamily="18" charset="0"/>
                          </a:rPr>
                          <m:t>y</m:t>
                        </m:r>
                      </m:e>
                      <m:sub>
                        <m:r>
                          <a:rPr lang="vi-VN" sz="2000" b="0">
                            <a:solidFill>
                              <a:srgbClr val="1E293B"/>
                            </a:solidFill>
                            <a:latin typeface="Cambria Math" panose="02040503050406030204" pitchFamily="18" charset="0"/>
                          </a:rPr>
                          <m:t>CĐ</m:t>
                        </m:r>
                      </m:sub>
                    </m:sSub>
                    <m:r>
                      <a:rPr lang="vi-VN" sz="2000" b="0">
                        <a:solidFill>
                          <a:srgbClr val="1E293B"/>
                        </a:solidFill>
                        <a:latin typeface="Cambria Math" panose="02040503050406030204" pitchFamily="18" charset="0"/>
                      </a:rPr>
                      <m:t>=1</m:t>
                    </m:r>
                  </m:oMath>
                </a14:m>
                <a:r>
                  <a:rPr sz="2000">
                    <a:solidFill>
                      <a:srgbClr val="1E293B"/>
                    </a:solidFill>
                    <a:latin typeface="Calibri"/>
                  </a:rPr>
                  <a:t>; cực tiểu tại </a:t>
                </a:r>
                <a14:m>
                  <m:oMath xmlns:m="http://schemas.openxmlformats.org/officeDocument/2006/math">
                    <m:r>
                      <a:rPr lang="vi-VN" sz="2000" b="0">
                        <a:solidFill>
                          <a:srgbClr val="1E293B"/>
                        </a:solidFill>
                        <a:latin typeface="Cambria Math" panose="02040503050406030204" pitchFamily="18" charset="0"/>
                      </a:rPr>
                      <m:t>x=±</m:t>
                    </m:r>
                    <m:f>
                      <m:fPr>
                        <m:type m:val="bar"/>
                      </m:fPr>
                      <m:num>
                        <m:rad>
                          <m:radPr>
                            <m:degHide m:val="on"/>
                          </m:radPr>
                          <m:deg/>
                          <m:e>
                            <m:r>
                              <a:rPr lang="vi-VN" sz="2000" b="0">
                                <a:solidFill>
                                  <a:srgbClr val="1E293B"/>
                                </a:solidFill>
                                <a:latin typeface="Cambria Math" panose="02040503050406030204" pitchFamily="18" charset="0"/>
                              </a:rPr>
                              <m:t>6</m:t>
                            </m:r>
                          </m:e>
                        </m:rad>
                      </m:num>
                      <m:den>
                        <m:r>
                          <a:rPr lang="vi-VN" sz="2000" b="0">
                            <a:solidFill>
                              <a:srgbClr val="1E293B"/>
                            </a:solidFill>
                            <a:latin typeface="Cambria Math" panose="02040503050406030204" pitchFamily="18" charset="0"/>
                          </a:rPr>
                          <m:t>2</m:t>
                        </m:r>
                      </m:den>
                    </m:f>
                  </m:oMath>
                </a14:m>
                <a:r>
                  <a:rPr sz="2000">
                    <a:solidFill>
                      <a:srgbClr val="1E293B"/>
                    </a:solidFill>
                    <a:latin typeface="Calibri"/>
                  </a:rPr>
                  <a:t>, </a:t>
                </a:r>
                <a14:m>
                  <m:oMath xmlns:m="http://schemas.openxmlformats.org/officeDocument/2006/math">
                    <m:sSub>
                      <m:e>
                        <m:r>
                          <a:rPr lang="vi-VN" sz="2000" b="0">
                            <a:solidFill>
                              <a:srgbClr val="1E293B"/>
                            </a:solidFill>
                            <a:latin typeface="Cambria Math" panose="02040503050406030204" pitchFamily="18" charset="0"/>
                          </a:rPr>
                          <m:t>y</m:t>
                        </m:r>
                      </m:e>
                      <m:sub>
                        <m:r>
                          <a:rPr lang="vi-VN" sz="2000" b="0">
                            <a:solidFill>
                              <a:srgbClr val="1E293B"/>
                            </a:solidFill>
                            <a:latin typeface="Cambria Math" panose="02040503050406030204" pitchFamily="18" charset="0"/>
                          </a:rPr>
                          <m:t>CT</m:t>
                        </m:r>
                      </m:sub>
                    </m:sSub>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5</m:t>
                        </m:r>
                      </m:num>
                      <m:den>
                        <m:r>
                          <a:rPr lang="vi-VN" sz="2000" b="0">
                            <a:solidFill>
                              <a:srgbClr val="1E293B"/>
                            </a:solidFill>
                            <a:latin typeface="Cambria Math" panose="02040503050406030204" pitchFamily="18" charset="0"/>
                          </a:rPr>
                          <m:t>4</m:t>
                        </m:r>
                      </m:den>
                    </m:f>
                  </m:oMath>
                </a14:m>
                <a:r>
                  <a:rPr sz="2000">
                    <a:solidFill>
                      <a:srgbClr val="1E293B"/>
                    </a:solidFill>
                    <a:latin typeface="Calibri"/>
                  </a:rPr>
                  <a:t>.</a:t>
                </a:r>
              </a:p>
            </p:txBody>
          </p:sp>
        </mc:Choice>
        <mc:Fallback>
          <p:sp>
            <p:nvSpPr>
              <p:cNvPr id="9" name="TextBox 8"/>
              <p:cNvSpPr txBox="1"/>
              <p:nvPr/>
            </p:nvSpPr>
            <p:spPr>
              <a:xfrm>
                <a:off x="713232" y="2139696"/>
                <a:ext cx="5111496" cy="151790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y'=4x^3-6x=0\Leftrightarrow x=0</a:t>
                </a:r>
                <a:r>
                  <a:rPr sz="2000">
                    <a:solidFill>
                      <a:srgbClr val="1E293B"/>
                    </a:solidFill>
                    <a:latin typeface="Calibri"/>
                  </a:rPr>
                  <a:t> hoặc </a:t>
                </a:r>
                <a:r>
                  <a:rPr lang="vi-VN"/>
                  <a:t>x=\pm\frac{\sqrt{6}}{2}</a:t>
                </a:r>
                <a:r>
                  <a:rPr sz="2000">
                    <a:solidFill>
                      <a:srgbClr val="1E293B"/>
                    </a:solidFill>
                    <a:latin typeface="Calibri"/>
                  </a:rPr>
                  <a:t>. Cực đại tại </a:t>
                </a:r>
                <a:r>
                  <a:rPr lang="vi-VN"/>
                  <a:t>x=0</a:t>
                </a:r>
                <a:r>
                  <a:rPr sz="2000">
                    <a:solidFill>
                      <a:srgbClr val="1E293B"/>
                    </a:solidFill>
                    <a:latin typeface="Calibri"/>
                  </a:rPr>
                  <a:t>, </a:t>
                </a:r>
                <a:r>
                  <a:rPr lang="vi-VN"/>
                  <a:t>y_{CĐ}=1</a:t>
                </a:r>
                <a:r>
                  <a:rPr sz="2000">
                    <a:solidFill>
                      <a:srgbClr val="1E293B"/>
                    </a:solidFill>
                    <a:latin typeface="Calibri"/>
                  </a:rPr>
                  <a:t>; cực tiểu tại </a:t>
                </a:r>
                <a:r>
                  <a:rPr lang="vi-VN"/>
                  <a:t>x=\pm\frac{\sqrt{6}}{2}</a:t>
                </a:r>
                <a:r>
                  <a:rPr sz="2000">
                    <a:solidFill>
                      <a:srgbClr val="1E293B"/>
                    </a:solidFill>
                    <a:latin typeface="Calibri"/>
                  </a:rPr>
                  <a:t>, </a:t>
                </a:r>
                <a:r>
                  <a:rPr lang="vi-VN"/>
                  <a:t>y_{CT}=-\frac{5}{4}</a:t>
                </a:r>
                <a:r>
                  <a:rPr sz="2000">
                    <a:solidFill>
                      <a:srgbClr val="1E293B"/>
                    </a:solidFill>
                    <a:latin typeface="Calibri"/>
                  </a:rPr>
                  <a:t>.</a:t>
                </a:r>
              </a:p>
            </p:txBody>
          </p:sp>
        </mc:Fallback>
      </mc:AlternateContent>
      <p:pic>
        <p:nvPicPr>
          <p:cNvPr id="10" name="s2_bbt" descr="b1_lt5a.png"/>
          <p:cNvPicPr>
            <a:picLocks noChangeAspect="1"/>
          </p:cNvPicPr>
          <p:nvPr/>
        </p:nvPicPr>
        <p:blipFill>
          <a:blip r:embed="rId3"/>
          <a:stretch>
            <a:fillRect/>
          </a:stretch>
        </p:blipFill>
        <p:spPr>
          <a:xfrm>
            <a:off x="548640" y="3832271"/>
            <a:ext cx="5440680" cy="1607473"/>
          </a:xfrm>
          <a:prstGeom prst="rect">
            <a:avLst/>
          </a:prstGeom>
        </p:spPr>
      </p:pic>
      <p:sp>
        <p:nvSpPr>
          <p:cNvPr id="11" name="s3_nen"/>
          <p:cNvSpPr/>
          <p:nvPr/>
        </p:nvSpPr>
        <p:spPr>
          <a:xfrm>
            <a:off x="6172200" y="2103120"/>
            <a:ext cx="5440680" cy="13167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6336792" y="2139696"/>
                <a:ext cx="5111496" cy="12435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−4x+5</m:t>
                        </m:r>
                      </m:num>
                      <m:den>
                        <m:sSup>
                          <m:e>
                            <m:d>
                              <m:dPr>
                                <m:sepChr m:val=""/>
                              </m:dPr>
                              <m:e>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e>
                            </m:d>
                          </m:e>
                          <m:sup>
                            <m:r>
                              <a:rPr lang="vi-VN" sz="2000" b="0">
                                <a:solidFill>
                                  <a:srgbClr val="1E293B"/>
                                </a:solidFill>
                                <a:latin typeface="Cambria Math" panose="02040503050406030204" pitchFamily="18" charset="0"/>
                              </a:rPr>
                              <m:t>2</m:t>
                            </m:r>
                          </m:sup>
                        </m:sSup>
                      </m:den>
                    </m:f>
                    <m:r>
                      <a:rPr lang="vi-VN" sz="2000" b="0">
                        <a:solidFill>
                          <a:srgbClr val="1E293B"/>
                        </a:solidFill>
                        <a:latin typeface="Cambria Math" panose="02040503050406030204" pitchFamily="18" charset="0"/>
                      </a:rPr>
                      <m:t>=0⇔x=−5</m:t>
                    </m:r>
                  </m:oMath>
                </a14:m>
                <a:r>
                  <a:rPr sz="2000">
                    <a:solidFill>
                      <a:srgbClr val="1E293B"/>
                    </a:solidFill>
                    <a:latin typeface="Calibri"/>
                  </a:rPr>
                  <a:t> hoặc </a:t>
                </a:r>
                <a14:m>
                  <m:oMath xmlns:m="http://schemas.openxmlformats.org/officeDocument/2006/math">
                    <m:r>
                      <a:rPr lang="vi-VN" sz="2000" b="0">
                        <a:solidFill>
                          <a:srgbClr val="1E293B"/>
                        </a:solidFill>
                        <a:latin typeface="Cambria Math" panose="02040503050406030204" pitchFamily="18" charset="0"/>
                      </a:rPr>
                      <m:t>x=1</m:t>
                    </m:r>
                  </m:oMath>
                </a14:m>
                <a:r>
                  <a:rPr sz="2000">
                    <a:solidFill>
                      <a:srgbClr val="1E293B"/>
                    </a:solidFill>
                    <a:latin typeface="Calibri"/>
                  </a:rPr>
                  <a:t>. Cực tiểu tại </a:t>
                </a:r>
                <a14:m>
                  <m:oMath xmlns:m="http://schemas.openxmlformats.org/officeDocument/2006/math">
                    <m:r>
                      <a:rPr lang="vi-VN" sz="2000" b="0">
                        <a:solidFill>
                          <a:srgbClr val="1E293B"/>
                        </a:solidFill>
                        <a:latin typeface="Cambria Math" panose="02040503050406030204" pitchFamily="18" charset="0"/>
                      </a:rPr>
                      <m:t>x=−5</m:t>
                    </m:r>
                  </m:oMath>
                </a14:m>
                <a:r>
                  <a:rPr sz="2000">
                    <a:solidFill>
                      <a:srgbClr val="1E293B"/>
                    </a:solidFill>
                    <a:latin typeface="Calibri"/>
                  </a:rPr>
                  <a:t>, </a:t>
                </a:r>
                <a14:m>
                  <m:oMath xmlns:m="http://schemas.openxmlformats.org/officeDocument/2006/math">
                    <m:sSub>
                      <m:e>
                        <m:r>
                          <a:rPr lang="vi-VN" sz="2000" b="0">
                            <a:solidFill>
                              <a:srgbClr val="1E293B"/>
                            </a:solidFill>
                            <a:latin typeface="Cambria Math" panose="02040503050406030204" pitchFamily="18" charset="0"/>
                          </a:rPr>
                          <m:t>y</m:t>
                        </m:r>
                      </m:e>
                      <m:sub>
                        <m:r>
                          <a:rPr lang="vi-VN" sz="2000" b="0">
                            <a:solidFill>
                              <a:srgbClr val="1E293B"/>
                            </a:solidFill>
                            <a:latin typeface="Cambria Math" panose="02040503050406030204" pitchFamily="18" charset="0"/>
                          </a:rPr>
                          <m:t>CT</m:t>
                        </m:r>
                      </m:sub>
                    </m:sSub>
                    <m:r>
                      <a:rPr lang="vi-VN" sz="2000" b="0">
                        <a:solidFill>
                          <a:srgbClr val="1E293B"/>
                        </a:solidFill>
                        <a:latin typeface="Cambria Math" panose="02040503050406030204" pitchFamily="18" charset="0"/>
                      </a:rPr>
                      <m:t>=12</m:t>
                    </m:r>
                  </m:oMath>
                </a14:m>
                <a:r>
                  <a:rPr sz="2000">
                    <a:solidFill>
                      <a:srgbClr val="1E293B"/>
                    </a:solidFill>
                    <a:latin typeface="Calibri"/>
                  </a:rPr>
                  <a:t>; cực đại tại </a:t>
                </a:r>
                <a14:m>
                  <m:oMath xmlns:m="http://schemas.openxmlformats.org/officeDocument/2006/math">
                    <m:r>
                      <a:rPr lang="vi-VN" sz="2000" b="0">
                        <a:solidFill>
                          <a:srgbClr val="1E293B"/>
                        </a:solidFill>
                        <a:latin typeface="Cambria Math" panose="02040503050406030204" pitchFamily="18" charset="0"/>
                      </a:rPr>
                      <m:t>x=1</m:t>
                    </m:r>
                  </m:oMath>
                </a14:m>
                <a:r>
                  <a:rPr sz="2000">
                    <a:solidFill>
                      <a:srgbClr val="1E293B"/>
                    </a:solidFill>
                    <a:latin typeface="Calibri"/>
                  </a:rPr>
                  <a:t>, </a:t>
                </a:r>
                <a14:m>
                  <m:oMath xmlns:m="http://schemas.openxmlformats.org/officeDocument/2006/math">
                    <m:sSub>
                      <m:e>
                        <m:r>
                          <a:rPr lang="vi-VN" sz="2000" b="0">
                            <a:solidFill>
                              <a:srgbClr val="1E293B"/>
                            </a:solidFill>
                            <a:latin typeface="Cambria Math" panose="02040503050406030204" pitchFamily="18" charset="0"/>
                          </a:rPr>
                          <m:t>y</m:t>
                        </m:r>
                      </m:e>
                      <m:sub>
                        <m:r>
                          <a:rPr lang="vi-VN" sz="2000" b="0">
                            <a:solidFill>
                              <a:srgbClr val="1E293B"/>
                            </a:solidFill>
                            <a:latin typeface="Cambria Math" panose="02040503050406030204" pitchFamily="18" charset="0"/>
                          </a:rPr>
                          <m:t>CĐ</m:t>
                        </m:r>
                      </m:sub>
                    </m:sSub>
                    <m:r>
                      <a:rPr lang="vi-VN" sz="2000" b="0">
                        <a:solidFill>
                          <a:srgbClr val="1E293B"/>
                        </a:solidFill>
                        <a:latin typeface="Cambria Math" panose="02040503050406030204" pitchFamily="18" charset="0"/>
                      </a:rPr>
                      <m:t>=0</m:t>
                    </m:r>
                  </m:oMath>
                </a14:m>
                <a:r>
                  <a:rPr sz="2000">
                    <a:solidFill>
                      <a:srgbClr val="1E293B"/>
                    </a:solidFill>
                    <a:latin typeface="Calibri"/>
                  </a:rPr>
                  <a:t>.</a:t>
                </a:r>
              </a:p>
            </p:txBody>
          </p:sp>
        </mc:Choice>
        <mc:Fallback>
          <p:sp>
            <p:nvSpPr>
              <p:cNvPr id="12" name="TextBox 11"/>
              <p:cNvSpPr txBox="1"/>
              <p:nvPr/>
            </p:nvSpPr>
            <p:spPr>
              <a:xfrm>
                <a:off x="6336792" y="2139696"/>
                <a:ext cx="5111496" cy="12435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y'=\frac{-x^2-4x+5}{(x+2)^2}=0\Leftrightarrow x=-5</a:t>
                </a:r>
                <a:r>
                  <a:rPr sz="2000">
                    <a:solidFill>
                      <a:srgbClr val="1E293B"/>
                    </a:solidFill>
                    <a:latin typeface="Calibri"/>
                  </a:rPr>
                  <a:t> hoặc </a:t>
                </a:r>
                <a:r>
                  <a:rPr lang="vi-VN"/>
                  <a:t>x=1</a:t>
                </a:r>
                <a:r>
                  <a:rPr sz="2000">
                    <a:solidFill>
                      <a:srgbClr val="1E293B"/>
                    </a:solidFill>
                    <a:latin typeface="Calibri"/>
                  </a:rPr>
                  <a:t>. Cực tiểu tại </a:t>
                </a:r>
                <a:r>
                  <a:rPr lang="vi-VN"/>
                  <a:t>x=-5</a:t>
                </a:r>
                <a:r>
                  <a:rPr sz="2000">
                    <a:solidFill>
                      <a:srgbClr val="1E293B"/>
                    </a:solidFill>
                    <a:latin typeface="Calibri"/>
                  </a:rPr>
                  <a:t>, </a:t>
                </a:r>
                <a:r>
                  <a:rPr lang="vi-VN"/>
                  <a:t>y_{CT}=12</a:t>
                </a:r>
                <a:r>
                  <a:rPr sz="2000">
                    <a:solidFill>
                      <a:srgbClr val="1E293B"/>
                    </a:solidFill>
                    <a:latin typeface="Calibri"/>
                  </a:rPr>
                  <a:t>; cực đại tại </a:t>
                </a:r>
                <a:r>
                  <a:rPr lang="vi-VN"/>
                  <a:t>x=1</a:t>
                </a:r>
                <a:r>
                  <a:rPr sz="2000">
                    <a:solidFill>
                      <a:srgbClr val="1E293B"/>
                    </a:solidFill>
                    <a:latin typeface="Calibri"/>
                  </a:rPr>
                  <a:t>, </a:t>
                </a:r>
                <a:r>
                  <a:rPr lang="vi-VN"/>
                  <a:t>y_{CĐ}=0</a:t>
                </a:r>
                <a:r>
                  <a:rPr sz="2000">
                    <a:solidFill>
                      <a:srgbClr val="1E293B"/>
                    </a:solidFill>
                    <a:latin typeface="Calibri"/>
                  </a:rPr>
                  <a:t>.</a:t>
                </a:r>
              </a:p>
            </p:txBody>
          </p:sp>
        </mc:Fallback>
      </mc:AlternateContent>
      <p:pic>
        <p:nvPicPr>
          <p:cNvPr id="13" name="s4_bbt" descr="b1_lt5b.png"/>
          <p:cNvPicPr>
            <a:picLocks noChangeAspect="1"/>
          </p:cNvPicPr>
          <p:nvPr/>
        </p:nvPicPr>
        <p:blipFill>
          <a:blip r:embed="rId4"/>
          <a:stretch>
            <a:fillRect/>
          </a:stretch>
        </p:blipFill>
        <p:spPr>
          <a:xfrm>
            <a:off x="6172200" y="3557951"/>
            <a:ext cx="5440680" cy="16074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2 – ĐỘ CAO LỚN NHẤT (SGK TR.12)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37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498079" cy="177393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Vận dụng 2.</a:t>
                </a:r>
                <a:r>
                  <a:rPr sz="2100">
                    <a:solidFill>
                      <a:srgbClr val="1E293B"/>
                    </a:solidFill>
                    <a:latin typeface="Calibri"/>
                  </a:rPr>
                  <a:t> Một vật được phóng thẳng đứng lên trên từ độ cao 2 m với vận tốc ban đầu là 24,5 m/s. Khi bỏ qua sức cản của không khí thì độ cao </a:t>
                </a:r>
                <a14:m>
                  <m:oMath xmlns:m="http://schemas.openxmlformats.org/officeDocument/2006/math">
                    <m:r>
                      <a:rPr lang="vi-VN" sz="2100" b="0">
                        <a:solidFill>
                          <a:srgbClr val="1E293B"/>
                        </a:solidFill>
                        <a:latin typeface="Cambria Math" panose="02040503050406030204" pitchFamily="18" charset="0"/>
                      </a:rPr>
                      <m:t>h</m:t>
                    </m:r>
                  </m:oMath>
                </a14:m>
                <a:r>
                  <a:rPr sz="2100">
                    <a:solidFill>
                      <a:srgbClr val="1E293B"/>
                    </a:solidFill>
                    <a:latin typeface="Calibri"/>
                  </a:rPr>
                  <a:t> (mét) của vật sau </a:t>
                </a:r>
                <a14:m>
                  <m:oMath xmlns:m="http://schemas.openxmlformats.org/officeDocument/2006/math">
                    <m:r>
                      <a:rPr lang="vi-VN" sz="2100" b="0">
                        <a:solidFill>
                          <a:srgbClr val="1E293B"/>
                        </a:solidFill>
                        <a:latin typeface="Cambria Math" panose="02040503050406030204" pitchFamily="18" charset="0"/>
                      </a:rPr>
                      <m:t>t</m:t>
                    </m:r>
                  </m:oMath>
                </a14:m>
                <a:r>
                  <a:rPr sz="2100">
                    <a:solidFill>
                      <a:srgbClr val="1E293B"/>
                    </a:solidFill>
                    <a:latin typeface="Calibri"/>
                  </a:rPr>
                  <a:t> (giây) là </a:t>
                </a:r>
                <a14:m>
                  <m:oMath xmlns:m="http://schemas.openxmlformats.org/officeDocument/2006/math">
                    <m:r>
                      <a:rPr lang="vi-VN" sz="2100" b="0">
                        <a:solidFill>
                          <a:srgbClr val="1E293B"/>
                        </a:solidFill>
                        <a:latin typeface="Cambria Math" panose="02040503050406030204" pitchFamily="18" charset="0"/>
                      </a:rPr>
                      <m:t>h(t)=2+24</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5t−4</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9</m:t>
                    </m:r>
                    <m:sSup>
                      <m:e>
                        <m:r>
                          <a:rPr lang="vi-VN" sz="2100" b="0">
                            <a:solidFill>
                              <a:srgbClr val="1E293B"/>
                            </a:solidFill>
                            <a:latin typeface="Cambria Math" panose="02040503050406030204" pitchFamily="18" charset="0"/>
                          </a:rPr>
                          <m:t>t</m:t>
                        </m:r>
                      </m:e>
                      <m:sup>
                        <m:r>
                          <a:rPr lang="vi-VN" sz="2100" b="0">
                            <a:solidFill>
                              <a:srgbClr val="1E293B"/>
                            </a:solidFill>
                            <a:latin typeface="Cambria Math" panose="02040503050406030204" pitchFamily="18" charset="0"/>
                          </a:rPr>
                          <m:t>2</m:t>
                        </m:r>
                      </m:sup>
                    </m:sSup>
                  </m:oMath>
                </a14:m>
                <a:r>
                  <a:rPr sz="2100">
                    <a:solidFill>
                      <a:srgbClr val="1E293B"/>
                    </a:solidFill>
                    <a:latin typeface="Calibri"/>
                  </a:rPr>
                  <a:t>. Hỏi tại thời điểm nào thì vật đạt độ cao lớn nhất?</a:t>
                </a:r>
              </a:p>
            </p:txBody>
          </p:sp>
        </mc:Choice>
        <mc:Fallback>
          <p:sp>
            <p:nvSpPr>
              <p:cNvPr id="7" name="TextBox 6"/>
              <p:cNvSpPr txBox="1"/>
              <p:nvPr/>
            </p:nvSpPr>
            <p:spPr>
              <a:xfrm>
                <a:off x="548640" y="1371600"/>
                <a:ext cx="7498079" cy="177393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Vận dụng 2.</a:t>
                </a:r>
                <a:r>
                  <a:rPr sz="2100">
                    <a:solidFill>
                      <a:srgbClr val="1E293B"/>
                    </a:solidFill>
                    <a:latin typeface="Calibri"/>
                  </a:rPr>
                  <a:t> Một vật được phóng thẳng đứng lên trên từ độ cao 2 m với vận tốc ban đầu là 24,5 m/s. Khi bỏ qua sức cản của không khí thì độ cao </a:t>
                </a:r>
                <a:r>
                  <a:rPr lang="vi-VN"/>
                  <a:t>h</a:t>
                </a:r>
                <a:r>
                  <a:rPr sz="2100">
                    <a:solidFill>
                      <a:srgbClr val="1E293B"/>
                    </a:solidFill>
                    <a:latin typeface="Calibri"/>
                  </a:rPr>
                  <a:t> (mét) của vật sau </a:t>
                </a:r>
                <a:r>
                  <a:rPr lang="vi-VN"/>
                  <a:t>t</a:t>
                </a:r>
                <a:r>
                  <a:rPr sz="2100">
                    <a:solidFill>
                      <a:srgbClr val="1E293B"/>
                    </a:solidFill>
                    <a:latin typeface="Calibri"/>
                  </a:rPr>
                  <a:t> (giây) là </a:t>
                </a:r>
                <a:r>
                  <a:rPr lang="vi-VN"/>
                  <a:t>h(t)=2+24{,}5t-4{,}9t^2</a:t>
                </a:r>
                <a:r>
                  <a:rPr sz="2100">
                    <a:solidFill>
                      <a:srgbClr val="1E293B"/>
                    </a:solidFill>
                    <a:latin typeface="Calibri"/>
                  </a:rPr>
                  <a:t>. Hỏi tại thời điểm nào thì vật đạt độ cao lớn nhất?</a:t>
                </a:r>
              </a:p>
            </p:txBody>
          </p:sp>
        </mc:Fallback>
      </mc:AlternateContent>
      <p:sp>
        <p:nvSpPr>
          <p:cNvPr id="8" name="s1_nen"/>
          <p:cNvSpPr/>
          <p:nvPr/>
        </p:nvSpPr>
        <p:spPr>
          <a:xfrm>
            <a:off x="548640" y="3236976"/>
            <a:ext cx="7498079"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273552"/>
                <a:ext cx="7168895"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h</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(t)=24</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5−9</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8t</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h</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(t)=0⇔t=2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a:t>
                </a:r>
              </a:p>
            </p:txBody>
          </p:sp>
        </mc:Choice>
        <mc:Fallback>
          <p:sp>
            <p:nvSpPr>
              <p:cNvPr id="9" name="TextBox 8"/>
              <p:cNvSpPr txBox="1"/>
              <p:nvPr/>
            </p:nvSpPr>
            <p:spPr>
              <a:xfrm>
                <a:off x="713232" y="3273552"/>
                <a:ext cx="7168895"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h'(t)=24{,}5-9{,}8t</a:t>
                </a:r>
                <a:r>
                  <a:rPr sz="2100">
                    <a:solidFill>
                      <a:srgbClr val="1E293B"/>
                    </a:solidFill>
                    <a:latin typeface="Calibri"/>
                  </a:rPr>
                  <a:t>; </a:t>
                </a:r>
                <a:r>
                  <a:rPr lang="vi-VN"/>
                  <a:t>h'(t)=0\Leftrightarrow t=2{,}5</a:t>
                </a:r>
                <a:r>
                  <a:rPr sz="2100">
                    <a:solidFill>
                      <a:srgbClr val="1E293B"/>
                    </a:solidFill>
                    <a:latin typeface="Calibri"/>
                  </a:rPr>
                  <a:t>.</a:t>
                </a:r>
              </a:p>
            </p:txBody>
          </p:sp>
        </mc:Fallback>
      </mc:AlternateContent>
      <p:sp>
        <p:nvSpPr>
          <p:cNvPr id="10" name="s2_nen"/>
          <p:cNvSpPr/>
          <p:nvPr/>
        </p:nvSpPr>
        <p:spPr>
          <a:xfrm>
            <a:off x="548640" y="3913631"/>
            <a:ext cx="7498079"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950207"/>
                <a:ext cx="716889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h</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(t)&gt;0</m:t>
                    </m:r>
                  </m:oMath>
                </a14:m>
                <a:r>
                  <a:rPr sz="2100">
                    <a:solidFill>
                      <a:srgbClr val="1E293B"/>
                    </a:solidFill>
                    <a:latin typeface="Calibri"/>
                  </a:rPr>
                  <a:t> khi </a:t>
                </a:r>
                <a14:m>
                  <m:oMath xmlns:m="http://schemas.openxmlformats.org/officeDocument/2006/math">
                    <m:r>
                      <a:rPr lang="vi-VN" sz="2100" b="0">
                        <a:solidFill>
                          <a:srgbClr val="1E293B"/>
                        </a:solidFill>
                        <a:latin typeface="Cambria Math" panose="02040503050406030204" pitchFamily="18" charset="0"/>
                      </a:rPr>
                      <m:t>0&lt;t&lt;2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h</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(t)&lt;0</m:t>
                    </m:r>
                  </m:oMath>
                </a14:m>
                <a:r>
                  <a:rPr sz="2100">
                    <a:solidFill>
                      <a:srgbClr val="1E293B"/>
                    </a:solidFill>
                    <a:latin typeface="Calibri"/>
                  </a:rPr>
                  <a:t> khi </a:t>
                </a:r>
                <a14:m>
                  <m:oMath xmlns:m="http://schemas.openxmlformats.org/officeDocument/2006/math">
                    <m:r>
                      <a:rPr lang="vi-VN" sz="2100" b="0">
                        <a:solidFill>
                          <a:srgbClr val="1E293B"/>
                        </a:solidFill>
                        <a:latin typeface="Cambria Math" panose="02040503050406030204" pitchFamily="18" charset="0"/>
                      </a:rPr>
                      <m:t>t&gt;2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h</m:t>
                    </m:r>
                  </m:oMath>
                </a14:m>
                <a:r>
                  <a:rPr sz="2100">
                    <a:solidFill>
                      <a:srgbClr val="1E293B"/>
                    </a:solidFill>
                    <a:latin typeface="Calibri"/>
                  </a:rPr>
                  <a:t> đạt cực đại (cũng là lớn nhất) tại </a:t>
                </a:r>
                <a14:m>
                  <m:oMath xmlns:m="http://schemas.openxmlformats.org/officeDocument/2006/math">
                    <m:r>
                      <a:rPr lang="vi-VN" sz="2100" b="0">
                        <a:solidFill>
                          <a:srgbClr val="1E293B"/>
                        </a:solidFill>
                        <a:latin typeface="Cambria Math" panose="02040503050406030204" pitchFamily="18" charset="0"/>
                      </a:rPr>
                      <m:t>t=2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a:t>
                </a:r>
              </a:p>
            </p:txBody>
          </p:sp>
        </mc:Choice>
        <mc:Fallback>
          <p:sp>
            <p:nvSpPr>
              <p:cNvPr id="11" name="TextBox 10"/>
              <p:cNvSpPr txBox="1"/>
              <p:nvPr/>
            </p:nvSpPr>
            <p:spPr>
              <a:xfrm>
                <a:off x="713232" y="3950207"/>
                <a:ext cx="716889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h'(t)&gt;0</a:t>
                </a:r>
                <a:r>
                  <a:rPr sz="2100">
                    <a:solidFill>
                      <a:srgbClr val="1E293B"/>
                    </a:solidFill>
                    <a:latin typeface="Calibri"/>
                  </a:rPr>
                  <a:t> khi </a:t>
                </a:r>
                <a:r>
                  <a:rPr lang="vi-VN"/>
                  <a:t>0&lt;t&lt;2{,}5</a:t>
                </a:r>
                <a:r>
                  <a:rPr sz="2100">
                    <a:solidFill>
                      <a:srgbClr val="1E293B"/>
                    </a:solidFill>
                    <a:latin typeface="Calibri"/>
                  </a:rPr>
                  <a:t>; </a:t>
                </a:r>
                <a:r>
                  <a:rPr lang="vi-VN"/>
                  <a:t>h'(t)&lt;0</a:t>
                </a:r>
                <a:r>
                  <a:rPr sz="2100">
                    <a:solidFill>
                      <a:srgbClr val="1E293B"/>
                    </a:solidFill>
                    <a:latin typeface="Calibri"/>
                  </a:rPr>
                  <a:t> khi </a:t>
                </a:r>
                <a:r>
                  <a:rPr lang="vi-VN"/>
                  <a:t>t&gt;2{,}5</a:t>
                </a:r>
                <a:r>
                  <a:rPr sz="2100">
                    <a:solidFill>
                      <a:srgbClr val="1E293B"/>
                    </a:solidFill>
                    <a:latin typeface="Calibri"/>
                  </a:rPr>
                  <a:t>: </a:t>
                </a:r>
                <a:r>
                  <a:rPr lang="vi-VN"/>
                  <a:t>h</a:t>
                </a:r>
                <a:r>
                  <a:rPr sz="2100">
                    <a:solidFill>
                      <a:srgbClr val="1E293B"/>
                    </a:solidFill>
                    <a:latin typeface="Calibri"/>
                  </a:rPr>
                  <a:t> đạt cực đại (cũng là lớn nhất) tại </a:t>
                </a:r>
                <a:r>
                  <a:rPr lang="vi-VN"/>
                  <a:t>t=2{,}5</a:t>
                </a:r>
                <a:r>
                  <a:rPr sz="2100">
                    <a:solidFill>
                      <a:srgbClr val="1E293B"/>
                    </a:solidFill>
                    <a:latin typeface="Calibri"/>
                  </a:rPr>
                  <a:t>.</a:t>
                </a:r>
              </a:p>
            </p:txBody>
          </p:sp>
        </mc:Fallback>
      </mc:AlternateContent>
      <p:sp>
        <p:nvSpPr>
          <p:cNvPr id="12" name="s3_nen"/>
          <p:cNvSpPr/>
          <p:nvPr/>
        </p:nvSpPr>
        <p:spPr>
          <a:xfrm>
            <a:off x="548640" y="4910327"/>
            <a:ext cx="7498079"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946903"/>
                <a:ext cx="716889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Vật đạt độ cao lớn nhất tại thời điểm </a:t>
                </a:r>
                <a14:m>
                  <m:oMath xmlns:m="http://schemas.openxmlformats.org/officeDocument/2006/math">
                    <m:r>
                      <a:rPr lang="vi-VN" sz="2100" b="0">
                        <a:solidFill>
                          <a:srgbClr val="1E293B"/>
                        </a:solidFill>
                        <a:latin typeface="Cambria Math" panose="02040503050406030204" pitchFamily="18" charset="0"/>
                      </a:rPr>
                      <m:t>t=2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 giây; khi đó </a:t>
                </a:r>
                <a14:m>
                  <m:oMath xmlns:m="http://schemas.openxmlformats.org/officeDocument/2006/math">
                    <m:r>
                      <a:rPr lang="vi-VN" sz="2100" b="0">
                        <a:solidFill>
                          <a:srgbClr val="1E293B"/>
                        </a:solidFill>
                        <a:latin typeface="Cambria Math" panose="02040503050406030204" pitchFamily="18" charset="0"/>
                      </a:rPr>
                      <m:t>h(2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5)=32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625</m:t>
                    </m:r>
                  </m:oMath>
                </a14:m>
                <a:r>
                  <a:rPr sz="2100">
                    <a:solidFill>
                      <a:srgbClr val="1E293B"/>
                    </a:solidFill>
                    <a:latin typeface="Calibri"/>
                  </a:rPr>
                  <a:t> m.</a:t>
                </a:r>
              </a:p>
            </p:txBody>
          </p:sp>
        </mc:Choice>
        <mc:Fallback>
          <p:sp>
            <p:nvSpPr>
              <p:cNvPr id="13" name="TextBox 12"/>
              <p:cNvSpPr txBox="1"/>
              <p:nvPr/>
            </p:nvSpPr>
            <p:spPr>
              <a:xfrm>
                <a:off x="713232" y="4946903"/>
                <a:ext cx="716889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Vật đạt độ cao lớn nhất tại thời điểm </a:t>
                </a:r>
                <a:r>
                  <a:rPr lang="vi-VN"/>
                  <a:t>t=2{,}5</a:t>
                </a:r>
                <a:r>
                  <a:rPr sz="2100">
                    <a:solidFill>
                      <a:srgbClr val="1E293B"/>
                    </a:solidFill>
                    <a:latin typeface="Calibri"/>
                  </a:rPr>
                  <a:t> giây; khi đó </a:t>
                </a:r>
                <a:r>
                  <a:rPr lang="vi-VN"/>
                  <a:t>h(2{,}5)=32{,}625</a:t>
                </a:r>
                <a:r>
                  <a:rPr sz="2100">
                    <a:solidFill>
                      <a:srgbClr val="1E293B"/>
                    </a:solidFill>
                    <a:latin typeface="Calibri"/>
                  </a:rPr>
                  <a:t> m.</a:t>
                </a:r>
              </a:p>
            </p:txBody>
          </p:sp>
        </mc:Fallback>
      </mc:AlternateContent>
      <p:pic>
        <p:nvPicPr>
          <p:cNvPr id="14" name="Picture 13" descr="b1_bong.png"/>
          <p:cNvPicPr>
            <a:picLocks noChangeAspect="1"/>
          </p:cNvPicPr>
          <p:nvPr/>
        </p:nvPicPr>
        <p:blipFill>
          <a:blip r:embed="rId3"/>
          <a:stretch>
            <a:fillRect/>
          </a:stretch>
        </p:blipFill>
        <p:spPr>
          <a:xfrm>
            <a:off x="8321040" y="1756256"/>
            <a:ext cx="3291840" cy="27054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ĐIỂM CỰC TRỊ</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38</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Đồ thị </a:t>
                </a:r>
                <a14:m>
                  <m:oMath xmlns:m="http://schemas.openxmlformats.org/officeDocument/2006/math">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4</m:t>
                        </m:r>
                      </m:sup>
                    </m:sSup>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+1</m:t>
                    </m:r>
                  </m:oMath>
                </a14:m>
                <a:r>
                  <a:rPr sz="2200">
                    <a:solidFill>
                      <a:srgbClr val="1E293B"/>
                    </a:solidFill>
                    <a:latin typeface="Calibri"/>
                  </a:rPr>
                  <a:t> (Luyện tập 5a) và </a:t>
                </a:r>
                <a14:m>
                  <m:oMath xmlns:m="http://schemas.openxmlformats.org/officeDocument/2006/math">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m:t>
                    </m:r>
                  </m:oMath>
                </a14:m>
                <a:r>
                  <a:rPr sz="2200">
                    <a:solidFill>
                      <a:srgbClr val="1E293B"/>
                    </a:solidFill>
                    <a:latin typeface="Calibri"/>
                  </a:rPr>
                  <a:t> (nét đứt).</a:t>
                </a:r>
              </a:p>
              <a:p>
                <a:pPr algn="l" marL="365760" indent="-365760">
                  <a:spcAft>
                    <a:spcPts val="800"/>
                  </a:spcAft>
                  <a:buClr>
                    <a:srgbClr val="1E40AF"/>
                  </a:buClr>
                  <a:buFont typeface="Arial"/>
                  <a:buChar char="•"/>
                </a:pPr>
                <a:r>
                  <a:rPr sz="2200">
                    <a:solidFill>
                      <a:srgbClr val="1E293B"/>
                    </a:solidFill>
                    <a:latin typeface="Calibri"/>
                  </a:rPr>
                  <a:t>Điểm cực đại (đỏ), cực tiểu (xanh) của đồ thị: tiếp tuyến nằm ngang.</a:t>
                </a:r>
              </a:p>
              <a:p>
                <a:pPr algn="l" marL="365760" indent="-365760">
                  <a:spcAft>
                    <a:spcPts val="800"/>
                  </a:spcAft>
                  <a:buClr>
                    <a:srgbClr val="1E40AF"/>
                  </a:buClr>
                  <a:buFont typeface="Arial"/>
                  <a:buChar char="•"/>
                </a:pPr>
                <a:r>
                  <a:rPr sz="2200">
                    <a:solidFill>
                      <a:srgbClr val="1E293B"/>
                    </a:solidFill>
                    <a:latin typeface="Calibri"/>
                  </a:rPr>
                  <a:t>Quan sát: </a:t>
                </a:r>
                <a14:m>
                  <m:oMath xmlns:m="http://schemas.openxmlformats.org/officeDocument/2006/math">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m:t>
                    </m:r>
                  </m:oMath>
                </a14:m>
                <a:r>
                  <a:rPr sz="2200">
                    <a:solidFill>
                      <a:srgbClr val="1E293B"/>
                    </a:solidFill>
                    <a:latin typeface="Calibri"/>
                  </a:rPr>
                  <a:t> đổi dấu khi </a:t>
                </a:r>
                <a14:m>
                  <m:oMath xmlns:m="http://schemas.openxmlformats.org/officeDocument/2006/math">
                    <m:r>
                      <a:rPr lang="vi-VN" sz="2200" b="0">
                        <a:solidFill>
                          <a:srgbClr val="1E293B"/>
                        </a:solidFill>
                        <a:latin typeface="Cambria Math" panose="02040503050406030204" pitchFamily="18" charset="0"/>
                      </a:rPr>
                      <m:t>x</m:t>
                    </m:r>
                  </m:oMath>
                </a14:m>
                <a:r>
                  <a:rPr sz="2200">
                    <a:solidFill>
                      <a:srgbClr val="1E293B"/>
                    </a:solidFill>
                    <a:latin typeface="Calibri"/>
                  </a:rPr>
                  <a:t> qua các điểm cực trị.</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Đồ thị </a:t>
                </a:r>
                <a:r>
                  <a:rPr lang="vi-VN"/>
                  <a:t>y=x^4-3x^2+1</a:t>
                </a:r>
                <a:r>
                  <a:rPr sz="2200">
                    <a:solidFill>
                      <a:srgbClr val="1E293B"/>
                    </a:solidFill>
                    <a:latin typeface="Calibri"/>
                  </a:rPr>
                  <a:t> (Luyện tập 5a) và </a:t>
                </a:r>
                <a:r>
                  <a:rPr lang="vi-VN"/>
                  <a:t>y=f'(x)</a:t>
                </a:r>
                <a:r>
                  <a:rPr sz="2200">
                    <a:solidFill>
                      <a:srgbClr val="1E293B"/>
                    </a:solidFill>
                    <a:latin typeface="Calibri"/>
                  </a:rPr>
                  <a:t> (nét đứt).</a:t>
                </a:r>
              </a:p>
              <a:p>
                <a:pPr algn="l" marL="365760" indent="-365760">
                  <a:spcAft>
                    <a:spcPts val="800"/>
                  </a:spcAft>
                  <a:buClr>
                    <a:srgbClr val="1E40AF"/>
                  </a:buClr>
                  <a:buFont typeface="Arial"/>
                  <a:buChar char="•"/>
                </a:pPr>
                <a:r>
                  <a:rPr sz="2200">
                    <a:solidFill>
                      <a:srgbClr val="1E293B"/>
                    </a:solidFill>
                    <a:latin typeface="Calibri"/>
                  </a:rPr>
                  <a:t>Điểm cực đại (đỏ), cực tiểu (xanh) của đồ thị: tiếp tuyến nằm ngang.</a:t>
                </a:r>
              </a:p>
              <a:p>
                <a:pPr algn="l" marL="365760" indent="-365760">
                  <a:spcAft>
                    <a:spcPts val="800"/>
                  </a:spcAft>
                  <a:buClr>
                    <a:srgbClr val="1E40AF"/>
                  </a:buClr>
                  <a:buFont typeface="Arial"/>
                  <a:buChar char="•"/>
                </a:pPr>
                <a:r>
                  <a:rPr sz="2200">
                    <a:solidFill>
                      <a:srgbClr val="1E293B"/>
                    </a:solidFill>
                    <a:latin typeface="Calibri"/>
                  </a:rPr>
                  <a:t>Quan sát: </a:t>
                </a:r>
                <a:r>
                  <a:rPr lang="vi-VN"/>
                  <a:t>f'(x)</a:t>
                </a:r>
                <a:r>
                  <a:rPr sz="2200">
                    <a:solidFill>
                      <a:srgbClr val="1E293B"/>
                    </a:solidFill>
                    <a:latin typeface="Calibri"/>
                  </a:rPr>
                  <a:t> đổi dấu khi </a:t>
                </a:r>
                <a:r>
                  <a:rPr lang="vi-VN"/>
                  <a:t>x</a:t>
                </a:r>
                <a:r>
                  <a:rPr sz="2200">
                    <a:solidFill>
                      <a:srgbClr val="1E293B"/>
                    </a:solidFill>
                    <a:latin typeface="Calibri"/>
                  </a:rPr>
                  <a:t> qua các điểm cực trị.</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2.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b1_h18.png"/>
          <p:cNvPicPr>
            <a:picLocks noChangeAspect="1"/>
          </p:cNvPicPr>
          <p:nvPr/>
        </p:nvPicPr>
        <p:blipFill>
          <a:blip r:embed="rId5"/>
          <a:stretch>
            <a:fillRect/>
          </a:stretch>
        </p:blipFill>
        <p:spPr>
          <a:xfrm>
            <a:off x="6945819" y="1463040"/>
            <a:ext cx="4670682" cy="448056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39</a:t>
            </a:r>
          </a:p>
        </p:txBody>
      </p:sp>
      <p:sp>
        <p:nvSpPr>
          <p:cNvPr id="7" name="Rounded Rectangle 6"/>
          <p:cNvSpPr/>
          <p:nvPr/>
        </p:nvSpPr>
        <p:spPr>
          <a:xfrm>
            <a:off x="548640" y="1463040"/>
            <a:ext cx="11064240" cy="103632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đổi dấu từ </a:t>
                </a:r>
                <a14:m>
                  <m:oMath xmlns:m="http://schemas.openxmlformats.org/officeDocument/2006/math">
                    <m:r>
                      <a:rPr lang="vi-VN" sz="2200" b="0">
                        <a:solidFill>
                          <a:srgbClr val="1E293B"/>
                        </a:solidFill>
                        <a:latin typeface="Cambria Math" panose="02040503050406030204" pitchFamily="18" charset="0"/>
                      </a:rPr>
                      <m:t>−</m:t>
                    </m:r>
                  </m:oMath>
                </a14:m>
                <a:r>
                  <a:rPr sz="2200">
                    <a:solidFill>
                      <a:srgbClr val="1E293B"/>
                    </a:solidFill>
                    <a:latin typeface="Calibri"/>
                  </a:rPr>
                  <a:t> sang </a:t>
                </a:r>
                <a14:m>
                  <m:oMath xmlns:m="http://schemas.openxmlformats.org/officeDocument/2006/math">
                    <m:r>
                      <a:rPr lang="vi-VN" sz="2200" b="0">
                        <a:solidFill>
                          <a:srgbClr val="1E293B"/>
                        </a:solidFill>
                        <a:latin typeface="Cambria Math" panose="02040503050406030204" pitchFamily="18" charset="0"/>
                      </a:rPr>
                      <m:t>+</m:t>
                    </m:r>
                  </m:oMath>
                </a14:m>
                <a:r>
                  <a:rPr sz="2200">
                    <a:solidFill>
                      <a:srgbClr val="1E293B"/>
                    </a:solidFill>
                    <a:latin typeface="Calibri"/>
                  </a:rPr>
                  <a:t> qua </a:t>
                </a:r>
                <a14:m>
                  <m:oMath xmlns:m="http://schemas.openxmlformats.org/officeDocument/2006/math">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cực tiểu; từ </a:t>
                </a:r>
                <a14:m>
                  <m:oMath xmlns:m="http://schemas.openxmlformats.org/officeDocument/2006/math">
                    <m:r>
                      <a:rPr lang="vi-VN" sz="2200" b="0">
                        <a:solidFill>
                          <a:srgbClr val="1E293B"/>
                        </a:solidFill>
                        <a:latin typeface="Cambria Math" panose="02040503050406030204" pitchFamily="18" charset="0"/>
                      </a:rPr>
                      <m:t>+</m:t>
                    </m:r>
                  </m:oMath>
                </a14:m>
                <a:r>
                  <a:rPr sz="2200">
                    <a:solidFill>
                      <a:srgbClr val="1E293B"/>
                    </a:solidFill>
                    <a:latin typeface="Calibri"/>
                  </a:rPr>
                  <a:t> sang </a:t>
                </a:r>
                <a14:m>
                  <m:oMath xmlns:m="http://schemas.openxmlformats.org/officeDocument/2006/math">
                    <m:r>
                      <a:rPr lang="vi-VN" sz="2200" b="0">
                        <a:solidFill>
                          <a:srgbClr val="1E293B"/>
                        </a:solidFill>
                        <a:latin typeface="Cambria Math" panose="02040503050406030204" pitchFamily="18" charset="0"/>
                      </a:rPr>
                      <m:t>−</m:t>
                    </m:r>
                  </m:oMath>
                </a14:m>
                <a:r>
                  <a:rPr sz="2200">
                    <a:solidFill>
                      <a:srgbClr val="1E293B"/>
                    </a:solidFill>
                    <a:latin typeface="Calibri"/>
                  </a:rPr>
                  <a:t>: cực đại.</a:t>
                </a:r>
              </a:p>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)=0</m:t>
                    </m:r>
                  </m:oMath>
                </a14:m>
                <a:r>
                  <a:rPr sz="2200">
                    <a:solidFill>
                      <a:srgbClr val="1E293B"/>
                    </a:solidFill>
                    <a:latin typeface="Calibri"/>
                  </a:rPr>
                  <a:t> chưa đủ để </a:t>
                </a:r>
                <a14:m>
                  <m:oMath xmlns:m="http://schemas.openxmlformats.org/officeDocument/2006/math">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là điểm cực trị (ví dụ </a:t>
                </a:r>
                <a14:m>
                  <m:oMath xmlns:m="http://schemas.openxmlformats.org/officeDocument/2006/math">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3</m:t>
                        </m:r>
                      </m:sup>
                    </m:sSup>
                  </m:oMath>
                </a14:m>
                <a:r>
                  <a:rPr sz="2200">
                    <a:solidFill>
                      <a:srgbClr val="1E293B"/>
                    </a:solidFill>
                    <a:latin typeface="Calibri"/>
                  </a:rPr>
                  <a:t>).</a:t>
                </a:r>
              </a:p>
            </p:txBody>
          </p:sp>
        </mc:Choice>
        <mc:Fallback>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f'</a:t>
                </a:r>
                <a:r>
                  <a:rPr sz="2200">
                    <a:solidFill>
                      <a:srgbClr val="1E293B"/>
                    </a:solidFill>
                    <a:latin typeface="Calibri"/>
                  </a:rPr>
                  <a:t> đổi dấu từ </a:t>
                </a:r>
                <a:r>
                  <a:rPr lang="vi-VN"/>
                  <a:t>-</a:t>
                </a:r>
                <a:r>
                  <a:rPr sz="2200">
                    <a:solidFill>
                      <a:srgbClr val="1E293B"/>
                    </a:solidFill>
                    <a:latin typeface="Calibri"/>
                  </a:rPr>
                  <a:t> sang </a:t>
                </a:r>
                <a:r>
                  <a:rPr lang="vi-VN"/>
                  <a:t>+</a:t>
                </a:r>
                <a:r>
                  <a:rPr sz="2200">
                    <a:solidFill>
                      <a:srgbClr val="1E293B"/>
                    </a:solidFill>
                    <a:latin typeface="Calibri"/>
                  </a:rPr>
                  <a:t> qua </a:t>
                </a:r>
                <a:r>
                  <a:rPr lang="vi-VN"/>
                  <a:t>x_0</a:t>
                </a:r>
                <a:r>
                  <a:rPr sz="2200">
                    <a:solidFill>
                      <a:srgbClr val="1E293B"/>
                    </a:solidFill>
                    <a:latin typeface="Calibri"/>
                  </a:rPr>
                  <a:t>: cực tiểu; từ </a:t>
                </a:r>
                <a:r>
                  <a:rPr lang="vi-VN"/>
                  <a:t>+</a:t>
                </a:r>
                <a:r>
                  <a:rPr sz="2200">
                    <a:solidFill>
                      <a:srgbClr val="1E293B"/>
                    </a:solidFill>
                    <a:latin typeface="Calibri"/>
                  </a:rPr>
                  <a:t> sang </a:t>
                </a:r>
                <a:r>
                  <a:rPr lang="vi-VN"/>
                  <a:t>-</a:t>
                </a:r>
                <a:r>
                  <a:rPr sz="2200">
                    <a:solidFill>
                      <a:srgbClr val="1E293B"/>
                    </a:solidFill>
                    <a:latin typeface="Calibri"/>
                  </a:rPr>
                  <a:t>: cực đại.</a:t>
                </a:r>
              </a:p>
              <a:p>
                <a:pPr algn="l" marL="365760" indent="-365760">
                  <a:spcAft>
                    <a:spcPts val="800"/>
                  </a:spcAft>
                  <a:buClr>
                    <a:srgbClr val="1E40AF"/>
                  </a:buClr>
                  <a:buFont typeface="Arial"/>
                  <a:buChar char="•"/>
                </a:pPr>
                <a:r>
                  <a:rPr lang="vi-VN"/>
                  <a:t>f'(x_0)=0</a:t>
                </a:r>
                <a:r>
                  <a:rPr sz="2200">
                    <a:solidFill>
                      <a:srgbClr val="1E293B"/>
                    </a:solidFill>
                    <a:latin typeface="Calibri"/>
                  </a:rPr>
                  <a:t> chưa đủ để </a:t>
                </a:r>
                <a:r>
                  <a:rPr lang="vi-VN"/>
                  <a:t>x_0</a:t>
                </a:r>
                <a:r>
                  <a:rPr sz="2200">
                    <a:solidFill>
                      <a:srgbClr val="1E293B"/>
                    </a:solidFill>
                    <a:latin typeface="Calibri"/>
                  </a:rPr>
                  <a:t> là điểm cực trị (ví dụ </a:t>
                </a:r>
                <a:r>
                  <a:rPr lang="vi-VN"/>
                  <a:t>y=x^3</a:t>
                </a:r>
                <a:r>
                  <a:rPr sz="2200">
                    <a:solidFill>
                      <a:srgbClr val="1E293B"/>
                    </a:solidFill>
                    <a:latin typeface="Calibri"/>
                  </a:rPr>
                  <a:t>).</a:t>
                </a:r>
              </a:p>
            </p:txBody>
          </p:sp>
        </mc:Fallback>
      </mc:AlternateContent>
      <p:sp>
        <p:nvSpPr>
          <p:cNvPr id="9" name="Rounded Rectangle 8"/>
          <p:cNvSpPr/>
          <p:nvPr/>
        </p:nvSpPr>
        <p:spPr>
          <a:xfrm>
            <a:off x="548640" y="272796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6453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1.4, 1.7 (SGK tr.13 – 14).</a:t>
            </a:r>
          </a:p>
          <a:p>
            <a:pPr algn="l" marL="365760" indent="-365760">
              <a:spcAft>
                <a:spcPts val="800"/>
              </a:spcAft>
              <a:buClr>
                <a:srgbClr val="1E40AF"/>
              </a:buClr>
              <a:buFont typeface="Arial"/>
              <a:buChar char="•"/>
            </a:pPr>
            <a:r>
              <a:rPr sz="2200">
                <a:solidFill>
                  <a:srgbClr val="1E293B"/>
                </a:solidFill>
                <a:latin typeface="Calibri"/>
              </a:rPr>
              <a:t>Hai tiết sau chữa bài tập 1.1 – 1.9: mang máy tính cầm tay.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5 (T5)</a:t>
            </a:r>
          </a:p>
          <a:p>
            <a:pPr>
              <a:spcAft>
                <a:spcPts val="600"/>
              </a:spcAft>
            </a:pPr>
            <a:r>
              <a:rPr sz="4000" b="1">
                <a:solidFill>
                  <a:srgbClr val="FFFFFF"/>
                </a:solidFill>
                <a:latin typeface="Cambria"/>
              </a:rPr>
              <a:t>Chữa bài tập (1)</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Xét tính đơn điệu từ đồ thị và bằng bảng biến thiên (Bài 1.1 – 1.4).</a:t>
            </a:r>
          </a:p>
          <a:p>
            <a:pPr algn="l">
              <a:spcAft>
                <a:spcPts val="800"/>
              </a:spcAft>
            </a:pPr>
            <a:r>
              <a:rPr sz="2200">
                <a:solidFill>
                  <a:srgbClr val="E0E7FF"/>
                </a:solidFill>
                <a:latin typeface="Calibri"/>
              </a:rPr>
              <a:t>• Vận dụng vào bài toán dân số (Bài 1.5).</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1.1 (SGK TR.13)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41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95172"/>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1.1.</a:t>
                </a:r>
                <a:r>
                  <a:rPr sz="2200">
                    <a:solidFill>
                      <a:srgbClr val="1E293B"/>
                    </a:solidFill>
                    <a:latin typeface="Calibri"/>
                  </a:rPr>
                  <a:t> Tìm các khoảng đồng biến, khoảng nghịch biến của các hàm số có đồ thị: a) </a:t>
                </a:r>
                <a14:m>
                  <m:oMath xmlns:m="http://schemas.openxmlformats.org/officeDocument/2006/math">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3</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3</m:t>
                        </m:r>
                      </m:num>
                      <m:den>
                        <m:r>
                          <a:rPr lang="vi-VN" sz="2200" b="0">
                            <a:solidFill>
                              <a:srgbClr val="1E293B"/>
                            </a:solidFill>
                            <a:latin typeface="Cambria Math" panose="02040503050406030204" pitchFamily="18" charset="0"/>
                          </a:rPr>
                          <m:t>2</m:t>
                        </m:r>
                      </m:den>
                    </m:f>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 (H.1.11); b) </a:t>
                </a:r>
                <a14:m>
                  <m:oMath xmlns:m="http://schemas.openxmlformats.org/officeDocument/2006/math">
                    <m:r>
                      <a:rPr lang="vi-VN" sz="2200" b="0">
                        <a:solidFill>
                          <a:srgbClr val="1E293B"/>
                        </a:solidFill>
                        <a:latin typeface="Cambria Math" panose="02040503050406030204" pitchFamily="18" charset="0"/>
                      </a:rPr>
                      <m:t>y=</m:t>
                    </m:r>
                    <m:rad>
                      <m:radPr>
                        <m:degHide m:val="off"/>
                      </m:radPr>
                      <m:deg>
                        <m:r>
                          <a:rPr lang="vi-VN" sz="2200" b="0">
                            <a:solidFill>
                              <a:srgbClr val="1E293B"/>
                            </a:solidFill>
                            <a:latin typeface="Cambria Math" panose="02040503050406030204" pitchFamily="18" charset="0"/>
                          </a:rPr>
                          <m:t>3</m:t>
                        </m:r>
                      </m:deg>
                      <m:e>
                        <m:sSup>
                          <m:e>
                            <m:d>
                              <m:dPr>
                                <m:sepChr m:val=""/>
                              </m:dPr>
                              <m:e>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4</m:t>
                                </m:r>
                              </m:e>
                            </m:d>
                          </m:e>
                          <m:sup>
                            <m:r>
                              <a:rPr lang="vi-VN" sz="2200" b="0">
                                <a:solidFill>
                                  <a:srgbClr val="1E293B"/>
                                </a:solidFill>
                                <a:latin typeface="Cambria Math" panose="02040503050406030204" pitchFamily="18" charset="0"/>
                              </a:rPr>
                              <m:t>2</m:t>
                            </m:r>
                          </m:sup>
                        </m:sSup>
                      </m:e>
                    </m:rad>
                  </m:oMath>
                </a14:m>
                <a:r>
                  <a:rPr sz="2200">
                    <a:solidFill>
                      <a:srgbClr val="1E293B"/>
                    </a:solidFill>
                    <a:latin typeface="Calibri"/>
                  </a:rPr>
                  <a:t> (H.1.12).</a:t>
                </a:r>
              </a:p>
            </p:txBody>
          </p:sp>
        </mc:Choice>
        <mc:Fallback>
          <p:sp>
            <p:nvSpPr>
              <p:cNvPr id="7" name="TextBox 6"/>
              <p:cNvSpPr txBox="1"/>
              <p:nvPr/>
            </p:nvSpPr>
            <p:spPr>
              <a:xfrm>
                <a:off x="548640" y="1371600"/>
                <a:ext cx="11064240" cy="995172"/>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1.1.</a:t>
                </a:r>
                <a:r>
                  <a:rPr sz="2200">
                    <a:solidFill>
                      <a:srgbClr val="1E293B"/>
                    </a:solidFill>
                    <a:latin typeface="Calibri"/>
                  </a:rPr>
                  <a:t> Tìm các khoảng đồng biến, khoảng nghịch biến của các hàm số có đồ thị: a) </a:t>
                </a:r>
                <a:r>
                  <a:rPr lang="vi-VN"/>
                  <a:t>y=x^3-\frac{3}{2}x^2</a:t>
                </a:r>
                <a:r>
                  <a:rPr sz="2200">
                    <a:solidFill>
                      <a:srgbClr val="1E293B"/>
                    </a:solidFill>
                    <a:latin typeface="Calibri"/>
                  </a:rPr>
                  <a:t> (H.1.11); b) </a:t>
                </a:r>
                <a:r>
                  <a:rPr lang="vi-VN"/>
                  <a:t>y=\sqrt[3]{(x^2-4)^2}</a:t>
                </a:r>
                <a:r>
                  <a:rPr sz="2200">
                    <a:solidFill>
                      <a:srgbClr val="1E293B"/>
                    </a:solidFill>
                    <a:latin typeface="Calibri"/>
                  </a:rPr>
                  <a:t> (H.1.12).</a:t>
                </a:r>
              </a:p>
            </p:txBody>
          </p:sp>
        </mc:Fallback>
      </mc:AlternateContent>
      <p:sp>
        <p:nvSpPr>
          <p:cNvPr id="8" name="s1_nen"/>
          <p:cNvSpPr/>
          <p:nvPr/>
        </p:nvSpPr>
        <p:spPr>
          <a:xfrm>
            <a:off x="548640" y="247650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1307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Đồng biến trên </a:t>
                </a:r>
                <a14:m>
                  <m:oMath xmlns:m="http://schemas.openxmlformats.org/officeDocument/2006/math">
                    <m:d>
                      <m:dPr>
                        <m:sepChr m:val="∞"/>
                      </m:dPr>
                      <m:e>
                        <m:r>
                          <a:rPr lang="vi-VN" sz="2200" b="0">
                            <a:solidFill>
                              <a:srgbClr val="1E293B"/>
                            </a:solidFill>
                            <a:latin typeface="Cambria Math" panose="02040503050406030204" pitchFamily="18" charset="0"/>
                          </a:rPr>
                          <m:t>−</m:t>
                        </m:r>
                      </m:e>
                      <m:e>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m:t>
                        </m:r>
                      </m:e>
                    </m:d>
                  </m:oMath>
                </a14:m>
                <a:r>
                  <a:rPr sz="2200">
                    <a:solidFill>
                      <a:srgbClr val="1E293B"/>
                    </a:solidFill>
                    <a:latin typeface="Calibri"/>
                  </a:rPr>
                  <a:t> và </a:t>
                </a:r>
                <a14:m>
                  <m:oMath xmlns:m="http://schemas.openxmlformats.org/officeDocument/2006/math">
                    <m:d>
                      <m:dPr>
                        <m:sepChr m:val=""/>
                      </m:dPr>
                      <m:e>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e>
                    </m:d>
                  </m:oMath>
                </a14:m>
                <a:r>
                  <a:rPr sz="2200">
                    <a:solidFill>
                      <a:srgbClr val="1E293B"/>
                    </a:solidFill>
                    <a:latin typeface="Calibri"/>
                  </a:rPr>
                  <a:t>; nghịch biến trên </a:t>
                </a:r>
                <a14:m>
                  <m:oMath xmlns:m="http://schemas.openxmlformats.org/officeDocument/2006/math">
                    <m:d>
                      <m:dPr>
                        <m:sepChr m:val=""/>
                      </m:dPr>
                      <m:e>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m:t>
                        </m:r>
                      </m:e>
                    </m:d>
                  </m:oMath>
                </a14:m>
                <a:r>
                  <a:rPr sz="2200">
                    <a:solidFill>
                      <a:srgbClr val="1E293B"/>
                    </a:solidFill>
                    <a:latin typeface="Calibri"/>
                  </a:rPr>
                  <a:t>.</a:t>
                </a:r>
              </a:p>
            </p:txBody>
          </p:sp>
        </mc:Choice>
        <mc:Fallback>
          <p:sp>
            <p:nvSpPr>
              <p:cNvPr id="9" name="TextBox 8"/>
              <p:cNvSpPr txBox="1"/>
              <p:nvPr/>
            </p:nvSpPr>
            <p:spPr>
              <a:xfrm>
                <a:off x="713232" y="251307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Đồng biến trên </a:t>
                </a:r>
                <a:r>
                  <a:rPr lang="vi-VN"/>
                  <a:t>(-\infty;\ 0)</a:t>
                </a:r>
                <a:r>
                  <a:rPr sz="2200">
                    <a:solidFill>
                      <a:srgbClr val="1E293B"/>
                    </a:solidFill>
                    <a:latin typeface="Calibri"/>
                  </a:rPr>
                  <a:t> và </a:t>
                </a:r>
                <a:r>
                  <a:rPr lang="vi-VN"/>
                  <a:t>(1;\ +\infty)</a:t>
                </a:r>
                <a:r>
                  <a:rPr sz="2200">
                    <a:solidFill>
                      <a:srgbClr val="1E293B"/>
                    </a:solidFill>
                    <a:latin typeface="Calibri"/>
                  </a:rPr>
                  <a:t>; nghịch biến trên </a:t>
                </a:r>
                <a:r>
                  <a:rPr lang="vi-VN"/>
                  <a:t>(0;\ 1)</a:t>
                </a:r>
                <a:r>
                  <a:rPr sz="2200">
                    <a:solidFill>
                      <a:srgbClr val="1E293B"/>
                    </a:solidFill>
                    <a:latin typeface="Calibri"/>
                  </a:rPr>
                  <a:t>.</a:t>
                </a:r>
              </a:p>
            </p:txBody>
          </p:sp>
        </mc:Fallback>
      </mc:AlternateContent>
      <p:sp>
        <p:nvSpPr>
          <p:cNvPr id="10" name="s2_nen"/>
          <p:cNvSpPr/>
          <p:nvPr/>
        </p:nvSpPr>
        <p:spPr>
          <a:xfrm>
            <a:off x="548640" y="3186684"/>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223260"/>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Đồng biến trên </a:t>
                </a:r>
                <a14:m>
                  <m:oMath xmlns:m="http://schemas.openxmlformats.org/officeDocument/2006/math">
                    <m:d>
                      <m:dPr>
                        <m:sepChr m:val=""/>
                      </m:dPr>
                      <m:e>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2</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m:t>
                        </m:r>
                      </m:e>
                    </m:d>
                  </m:oMath>
                </a14:m>
                <a:r>
                  <a:rPr sz="2200">
                    <a:solidFill>
                      <a:srgbClr val="1E293B"/>
                    </a:solidFill>
                    <a:latin typeface="Calibri"/>
                  </a:rPr>
                  <a:t> và </a:t>
                </a:r>
                <a14:m>
                  <m:oMath xmlns:m="http://schemas.openxmlformats.org/officeDocument/2006/math">
                    <m:d>
                      <m:dPr>
                        <m:sepChr m:val=""/>
                      </m:dPr>
                      <m:e>
                        <m:r>
                          <a:rPr lang="vi-VN" sz="2200" b="0">
                            <a:solidFill>
                              <a:srgbClr val="1E293B"/>
                            </a:solidFill>
                            <a:latin typeface="Cambria Math" panose="02040503050406030204" pitchFamily="18" charset="0"/>
                          </a:rPr>
                          <m:t>2</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e>
                    </m:d>
                  </m:oMath>
                </a14:m>
                <a:r>
                  <a:rPr sz="2200">
                    <a:solidFill>
                      <a:srgbClr val="1E293B"/>
                    </a:solidFill>
                    <a:latin typeface="Calibri"/>
                  </a:rPr>
                  <a:t>; nghịch biến trên </a:t>
                </a:r>
                <a14:m>
                  <m:oMath xmlns:m="http://schemas.openxmlformats.org/officeDocument/2006/math">
                    <m:d>
                      <m:dPr>
                        <m:sepChr m:val="∞"/>
                      </m:dPr>
                      <m:e>
                        <m:r>
                          <a:rPr lang="vi-VN" sz="2200" b="0">
                            <a:solidFill>
                              <a:srgbClr val="1E293B"/>
                            </a:solidFill>
                            <a:latin typeface="Cambria Math" panose="02040503050406030204" pitchFamily="18" charset="0"/>
                          </a:rPr>
                          <m:t>−</m:t>
                        </m:r>
                      </m:e>
                      <m:e>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2</m:t>
                        </m:r>
                      </m:e>
                    </m:d>
                  </m:oMath>
                </a14:m>
                <a:r>
                  <a:rPr sz="2200">
                    <a:solidFill>
                      <a:srgbClr val="1E293B"/>
                    </a:solidFill>
                    <a:latin typeface="Calibri"/>
                  </a:rPr>
                  <a:t> và </a:t>
                </a:r>
                <a14:m>
                  <m:oMath xmlns:m="http://schemas.openxmlformats.org/officeDocument/2006/math">
                    <m:d>
                      <m:dPr>
                        <m:sepChr m:val=""/>
                      </m:dPr>
                      <m:e>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2</m:t>
                        </m:r>
                      </m:e>
                    </m:d>
                  </m:oMath>
                </a14:m>
                <a:r>
                  <a:rPr sz="2200">
                    <a:solidFill>
                      <a:srgbClr val="1E293B"/>
                    </a:solidFill>
                    <a:latin typeface="Calibri"/>
                  </a:rPr>
                  <a:t>.</a:t>
                </a:r>
              </a:p>
            </p:txBody>
          </p:sp>
        </mc:Choice>
        <mc:Fallback>
          <p:sp>
            <p:nvSpPr>
              <p:cNvPr id="11" name="TextBox 10"/>
              <p:cNvSpPr txBox="1"/>
              <p:nvPr/>
            </p:nvSpPr>
            <p:spPr>
              <a:xfrm>
                <a:off x="713232" y="3223260"/>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Đồng biến trên </a:t>
                </a:r>
                <a:r>
                  <a:rPr lang="vi-VN"/>
                  <a:t>(-2;\ 0)</a:t>
                </a:r>
                <a:r>
                  <a:rPr sz="2200">
                    <a:solidFill>
                      <a:srgbClr val="1E293B"/>
                    </a:solidFill>
                    <a:latin typeface="Calibri"/>
                  </a:rPr>
                  <a:t> và </a:t>
                </a:r>
                <a:r>
                  <a:rPr lang="vi-VN"/>
                  <a:t>(2;\ +\infty)</a:t>
                </a:r>
                <a:r>
                  <a:rPr sz="2200">
                    <a:solidFill>
                      <a:srgbClr val="1E293B"/>
                    </a:solidFill>
                    <a:latin typeface="Calibri"/>
                  </a:rPr>
                  <a:t>; nghịch biến trên </a:t>
                </a:r>
                <a:r>
                  <a:rPr lang="vi-VN"/>
                  <a:t>(-\infty;\ -2)</a:t>
                </a:r>
                <a:r>
                  <a:rPr sz="2200">
                    <a:solidFill>
                      <a:srgbClr val="1E293B"/>
                    </a:solidFill>
                    <a:latin typeface="Calibri"/>
                  </a:rPr>
                  <a:t> và </a:t>
                </a:r>
                <a:r>
                  <a:rPr lang="vi-VN"/>
                  <a:t>(0;\ 2)</a:t>
                </a:r>
                <a:r>
                  <a:rPr sz="2200">
                    <a:solidFill>
                      <a:srgbClr val="1E293B"/>
                    </a:solidFill>
                    <a:latin typeface="Calibri"/>
                  </a:rPr>
                  <a:t>.</a:t>
                </a:r>
              </a:p>
            </p:txBody>
          </p:sp>
        </mc:Fallback>
      </mc:AlternateContent>
      <p:pic>
        <p:nvPicPr>
          <p:cNvPr id="12" name="Picture 11" descr="b1_h111.png"/>
          <p:cNvPicPr>
            <a:picLocks noChangeAspect="1"/>
          </p:cNvPicPr>
          <p:nvPr/>
        </p:nvPicPr>
        <p:blipFill>
          <a:blip r:embed="rId3"/>
          <a:stretch>
            <a:fillRect/>
          </a:stretch>
        </p:blipFill>
        <p:spPr>
          <a:xfrm>
            <a:off x="2191828" y="3749039"/>
            <a:ext cx="2382904" cy="2148840"/>
          </a:xfrm>
          <a:prstGeom prst="rect">
            <a:avLst/>
          </a:prstGeom>
        </p:spPr>
      </p:pic>
      <p:sp>
        <p:nvSpPr>
          <p:cNvPr id="13" name="TextBox 12"/>
          <p:cNvSpPr txBox="1"/>
          <p:nvPr/>
        </p:nvSpPr>
        <p:spPr>
          <a:xfrm>
            <a:off x="1463040" y="5916167"/>
            <a:ext cx="38404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1.11</a:t>
            </a:r>
          </a:p>
        </p:txBody>
      </p:sp>
      <p:pic>
        <p:nvPicPr>
          <p:cNvPr id="14" name="Picture 13" descr="b1_h112.png"/>
          <p:cNvPicPr>
            <a:picLocks noChangeAspect="1"/>
          </p:cNvPicPr>
          <p:nvPr/>
        </p:nvPicPr>
        <p:blipFill>
          <a:blip r:embed="rId4"/>
          <a:stretch>
            <a:fillRect/>
          </a:stretch>
        </p:blipFill>
        <p:spPr>
          <a:xfrm>
            <a:off x="7312468" y="3749039"/>
            <a:ext cx="2382904" cy="2148840"/>
          </a:xfrm>
          <a:prstGeom prst="rect">
            <a:avLst/>
          </a:prstGeom>
        </p:spPr>
      </p:pic>
      <p:sp>
        <p:nvSpPr>
          <p:cNvPr id="15" name="TextBox 14"/>
          <p:cNvSpPr txBox="1"/>
          <p:nvPr/>
        </p:nvSpPr>
        <p:spPr>
          <a:xfrm>
            <a:off x="6400800" y="5916167"/>
            <a:ext cx="42062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1.2 – 1.3 (SGK TR.13)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42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5783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1.2.</a:t>
                </a:r>
                <a:r>
                  <a:rPr sz="2100">
                    <a:solidFill>
                      <a:srgbClr val="1E293B"/>
                    </a:solidFill>
                    <a:latin typeface="Calibri"/>
                  </a:rPr>
                  <a:t> Xét sự đồng biến, nghịch biến của các hàm số: a) </a:t>
                </a:r>
                <a14:m>
                  <m:oMath xmlns:m="http://schemas.openxmlformats.org/officeDocument/2006/math">
                    <m:r>
                      <a:rPr lang="vi-VN" sz="2100" b="0">
                        <a:solidFill>
                          <a:srgbClr val="1E293B"/>
                        </a:solidFill>
                        <a:latin typeface="Cambria Math" panose="02040503050406030204" pitchFamily="18" charset="0"/>
                      </a:rPr>
                      <m:t>y=</m:t>
                    </m:r>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3</m:t>
                        </m:r>
                      </m:den>
                    </m:f>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3</m:t>
                        </m:r>
                      </m:sup>
                    </m:sSup>
                    <m:r>
                      <a:rPr lang="vi-VN" sz="2100" b="0">
                        <a:solidFill>
                          <a:srgbClr val="1E293B"/>
                        </a:solidFill>
                        <a:latin typeface="Cambria Math" panose="02040503050406030204" pitchFamily="18" charset="0"/>
                      </a:rPr>
                      <m:t>−2</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+3x+1</m:t>
                    </m:r>
                  </m:oMath>
                </a14:m>
                <a:r>
                  <a:rPr sz="2100">
                    <a:solidFill>
                      <a:srgbClr val="1E293B"/>
                    </a:solidFill>
                    <a:latin typeface="Calibri"/>
                  </a:rPr>
                  <a:t>; b) </a:t>
                </a:r>
                <a14:m>
                  <m:oMath xmlns:m="http://schemas.openxmlformats.org/officeDocument/2006/math">
                    <m:r>
                      <a:rPr lang="vi-VN" sz="2100" b="0">
                        <a:solidFill>
                          <a:srgbClr val="1E293B"/>
                        </a:solidFill>
                        <a:latin typeface="Cambria Math" panose="02040503050406030204" pitchFamily="18" charset="0"/>
                      </a:rPr>
                      <m:t>y=−</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3</m:t>
                        </m:r>
                      </m:sup>
                    </m:sSup>
                    <m:r>
                      <a:rPr lang="vi-VN" sz="2100" b="0">
                        <a:solidFill>
                          <a:srgbClr val="1E293B"/>
                        </a:solidFill>
                        <a:latin typeface="Cambria Math" panose="02040503050406030204" pitchFamily="18" charset="0"/>
                      </a:rPr>
                      <m:t>+2</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−5x+3</m:t>
                    </m:r>
                  </m:oMath>
                </a14:m>
                <a:r>
                  <a:rPr sz="2100">
                    <a:solidFill>
                      <a:srgbClr val="1E293B"/>
                    </a:solidFill>
                    <a:latin typeface="Calibri"/>
                  </a:rPr>
                  <a:t>.</a:t>
                </a:r>
              </a:p>
            </p:txBody>
          </p:sp>
        </mc:Choice>
        <mc:Fallback>
          <p:sp>
            <p:nvSpPr>
              <p:cNvPr id="7" name="TextBox 6"/>
              <p:cNvSpPr txBox="1"/>
              <p:nvPr/>
            </p:nvSpPr>
            <p:spPr>
              <a:xfrm>
                <a:off x="548640" y="1371600"/>
                <a:ext cx="11064240" cy="95783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1.2.</a:t>
                </a:r>
                <a:r>
                  <a:rPr sz="2100">
                    <a:solidFill>
                      <a:srgbClr val="1E293B"/>
                    </a:solidFill>
                    <a:latin typeface="Calibri"/>
                  </a:rPr>
                  <a:t> Xét sự đồng biến, nghịch biến của các hàm số: a) </a:t>
                </a:r>
                <a:r>
                  <a:rPr lang="vi-VN"/>
                  <a:t>y=\frac{1}{3}x^3-2x^2+3x+1</a:t>
                </a:r>
                <a:r>
                  <a:rPr sz="2100">
                    <a:solidFill>
                      <a:srgbClr val="1E293B"/>
                    </a:solidFill>
                    <a:latin typeface="Calibri"/>
                  </a:rPr>
                  <a:t>; b) </a:t>
                </a:r>
                <a:r>
                  <a:rPr lang="vi-VN"/>
                  <a:t>y=-x^3+2x^2-5x+3</a:t>
                </a:r>
                <a:r>
                  <a:rPr sz="2100">
                    <a:solidFill>
                      <a:srgbClr val="1E293B"/>
                    </a:solidFill>
                    <a:latin typeface="Calibri"/>
                  </a:rPr>
                  <a:t>.</a:t>
                </a:r>
              </a:p>
            </p:txBody>
          </p:sp>
        </mc:Fallback>
      </mc:AlternateContent>
      <p:sp>
        <p:nvSpPr>
          <p:cNvPr id="8" name="s1_nen"/>
          <p:cNvSpPr/>
          <p:nvPr/>
        </p:nvSpPr>
        <p:spPr>
          <a:xfrm>
            <a:off x="548640" y="2393442"/>
            <a:ext cx="11064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30018"/>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−4x+3=0⇔x=1,</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x=3</m:t>
                    </m:r>
                  </m:oMath>
                </a14:m>
                <a:r>
                  <a:rPr sz="2100">
                    <a:solidFill>
                      <a:srgbClr val="1E293B"/>
                    </a:solidFill>
                    <a:latin typeface="Calibri"/>
                  </a:rPr>
                  <a:t>: đồng biến trên </a:t>
                </a:r>
                <a14:m>
                  <m:oMath xmlns:m="http://schemas.openxmlformats.org/officeDocument/2006/math">
                    <m:d>
                      <m:dPr>
                        <m:sepChr m:val="∞"/>
                      </m:dPr>
                      <m:e>
                        <m:r>
                          <a:rPr lang="vi-VN" sz="2100" b="0">
                            <a:solidFill>
                              <a:srgbClr val="1E293B"/>
                            </a:solidFill>
                            <a:latin typeface="Cambria Math" panose="02040503050406030204" pitchFamily="18" charset="0"/>
                          </a:rPr>
                          <m:t>−</m:t>
                        </m:r>
                      </m:e>
                      <m:e>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3</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 nghịch biến trên </a:t>
                </a:r>
                <a14:m>
                  <m:oMath xmlns:m="http://schemas.openxmlformats.org/officeDocument/2006/math">
                    <m:d>
                      <m:dPr>
                        <m:sepChr m:val=""/>
                      </m:dPr>
                      <m:e>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3</m:t>
                        </m:r>
                      </m:e>
                    </m:d>
                  </m:oMath>
                </a14:m>
                <a:r>
                  <a:rPr sz="2100">
                    <a:solidFill>
                      <a:srgbClr val="1E293B"/>
                    </a:solidFill>
                    <a:latin typeface="Calibri"/>
                  </a:rPr>
                  <a:t>. b)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=−3</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+4x−5&lt;0</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∀x</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Δ</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=−11&lt;0</m:t>
                    </m:r>
                  </m:oMath>
                </a14:m>
                <a:r>
                  <a:rPr sz="2100">
                    <a:solidFill>
                      <a:srgbClr val="1E293B"/>
                    </a:solidFill>
                    <a:latin typeface="Calibri"/>
                  </a:rPr>
                  <a:t>): nghịch biến trên </a:t>
                </a:r>
                <a14:m>
                  <m:oMath xmlns:m="http://schemas.openxmlformats.org/officeDocument/2006/math">
                    <m:r>
                      <a:rPr lang="vi-VN" sz="2100" b="0">
                        <a:solidFill>
                          <a:srgbClr val="1E293B"/>
                        </a:solidFill>
                        <a:latin typeface="Cambria Math" panose="02040503050406030204" pitchFamily="18" charset="0"/>
                      </a:rPr>
                      <m:t>ℝ</m:t>
                    </m:r>
                  </m:oMath>
                </a14:m>
                <a:r>
                  <a:rPr sz="2100">
                    <a:solidFill>
                      <a:srgbClr val="1E293B"/>
                    </a:solidFill>
                    <a:latin typeface="Calibri"/>
                  </a:rPr>
                  <a:t>.</a:t>
                </a:r>
              </a:p>
            </p:txBody>
          </p:sp>
        </mc:Choice>
        <mc:Fallback>
          <p:sp>
            <p:nvSpPr>
              <p:cNvPr id="9" name="TextBox 8"/>
              <p:cNvSpPr txBox="1"/>
              <p:nvPr/>
            </p:nvSpPr>
            <p:spPr>
              <a:xfrm>
                <a:off x="713232" y="2430018"/>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y'=x^2-4x+3=0\Leftrightarrow x=1,\ x=3</a:t>
                </a:r>
                <a:r>
                  <a:rPr sz="2100">
                    <a:solidFill>
                      <a:srgbClr val="1E293B"/>
                    </a:solidFill>
                    <a:latin typeface="Calibri"/>
                  </a:rPr>
                  <a:t>: đồng biến trên </a:t>
                </a:r>
                <a:r>
                  <a:rPr lang="vi-VN"/>
                  <a:t>(-\infty;\ 1)</a:t>
                </a:r>
                <a:r>
                  <a:rPr sz="2100">
                    <a:solidFill>
                      <a:srgbClr val="1E293B"/>
                    </a:solidFill>
                    <a:latin typeface="Calibri"/>
                  </a:rPr>
                  <a:t> và </a:t>
                </a:r>
                <a:r>
                  <a:rPr lang="vi-VN"/>
                  <a:t>(3;\ +\infty)</a:t>
                </a:r>
                <a:r>
                  <a:rPr sz="2100">
                    <a:solidFill>
                      <a:srgbClr val="1E293B"/>
                    </a:solidFill>
                    <a:latin typeface="Calibri"/>
                  </a:rPr>
                  <a:t>, nghịch biến trên </a:t>
                </a:r>
                <a:r>
                  <a:rPr lang="vi-VN"/>
                  <a:t>(1;\ 3)</a:t>
                </a:r>
                <a:r>
                  <a:rPr sz="2100">
                    <a:solidFill>
                      <a:srgbClr val="1E293B"/>
                    </a:solidFill>
                    <a:latin typeface="Calibri"/>
                  </a:rPr>
                  <a:t>. b) </a:t>
                </a:r>
                <a:r>
                  <a:rPr lang="vi-VN"/>
                  <a:t>y'=-3x^2+4x-5&lt;0\ \forall x</a:t>
                </a:r>
                <a:r>
                  <a:rPr sz="2100">
                    <a:solidFill>
                      <a:srgbClr val="1E293B"/>
                    </a:solidFill>
                    <a:latin typeface="Calibri"/>
                  </a:rPr>
                  <a:t> (</a:t>
                </a:r>
                <a:r>
                  <a:rPr lang="vi-VN"/>
                  <a:t>\Delta'=-11&lt;0</a:t>
                </a:r>
                <a:r>
                  <a:rPr sz="2100">
                    <a:solidFill>
                      <a:srgbClr val="1E293B"/>
                    </a:solidFill>
                    <a:latin typeface="Calibri"/>
                  </a:rPr>
                  <a:t>): nghịch biến trên </a:t>
                </a:r>
                <a:r>
                  <a:rPr lang="vi-VN"/>
                  <a:t>\mathbb{R}</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362706"/>
                <a:ext cx="11064240" cy="781811"/>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1.3.</a:t>
                </a:r>
                <a:r>
                  <a:rPr sz="2100">
                    <a:solidFill>
                      <a:srgbClr val="1E293B"/>
                    </a:solidFill>
                    <a:latin typeface="Calibri"/>
                  </a:rPr>
                  <a:t> Tìm các khoảng đơn điệu của các hàm số: a) </a:t>
                </a:r>
                <a14:m>
                  <m:oMath xmlns:m="http://schemas.openxmlformats.org/officeDocument/2006/math">
                    <m:r>
                      <a:rPr lang="vi-VN" sz="2100" b="0">
                        <a:solidFill>
                          <a:srgbClr val="1E293B"/>
                        </a:solidFill>
                        <a:latin typeface="Cambria Math" panose="02040503050406030204" pitchFamily="18" charset="0"/>
                      </a:rPr>
                      <m:t>y=</m:t>
                    </m:r>
                    <m:f>
                      <m:fPr>
                        <m:type m:val="bar"/>
                      </m:fPr>
                      <m:num>
                        <m:r>
                          <a:rPr lang="vi-VN" sz="2100" b="0">
                            <a:solidFill>
                              <a:srgbClr val="1E293B"/>
                            </a:solidFill>
                            <a:latin typeface="Cambria Math" panose="02040503050406030204" pitchFamily="18" charset="0"/>
                          </a:rPr>
                          <m:t>2x−1</m:t>
                        </m:r>
                      </m:num>
                      <m:den>
                        <m:r>
                          <a:rPr lang="vi-VN" sz="2100" b="0">
                            <a:solidFill>
                              <a:srgbClr val="1E293B"/>
                            </a:solidFill>
                            <a:latin typeface="Cambria Math" panose="02040503050406030204" pitchFamily="18" charset="0"/>
                          </a:rPr>
                          <m:t>x+2</m:t>
                        </m:r>
                      </m:den>
                    </m:f>
                  </m:oMath>
                </a14:m>
                <a:r>
                  <a:rPr sz="2100">
                    <a:solidFill>
                      <a:srgbClr val="1E293B"/>
                    </a:solidFill>
                    <a:latin typeface="Calibri"/>
                  </a:rPr>
                  <a:t>; b) </a:t>
                </a:r>
                <a14:m>
                  <m:oMath xmlns:m="http://schemas.openxmlformats.org/officeDocument/2006/math">
                    <m:r>
                      <a:rPr lang="vi-VN" sz="2100" b="0">
                        <a:solidFill>
                          <a:srgbClr val="1E293B"/>
                        </a:solidFill>
                        <a:latin typeface="Cambria Math" panose="02040503050406030204" pitchFamily="18" charset="0"/>
                      </a:rPr>
                      <m:t>y=</m:t>
                    </m:r>
                    <m:f>
                      <m:fPr>
                        <m:type m:val="bar"/>
                      </m:fPr>
                      <m:num>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+x+4</m:t>
                        </m:r>
                      </m:num>
                      <m:den>
                        <m:r>
                          <a:rPr lang="vi-VN" sz="2100" b="0">
                            <a:solidFill>
                              <a:srgbClr val="1E293B"/>
                            </a:solidFill>
                            <a:latin typeface="Cambria Math" panose="02040503050406030204" pitchFamily="18" charset="0"/>
                          </a:rPr>
                          <m:t>x−3</m:t>
                        </m:r>
                      </m:den>
                    </m:f>
                  </m:oMath>
                </a14:m>
                <a:r>
                  <a:rPr sz="2100">
                    <a:solidFill>
                      <a:srgbClr val="1E293B"/>
                    </a:solidFill>
                    <a:latin typeface="Calibri"/>
                  </a:rPr>
                  <a:t>.</a:t>
                </a:r>
              </a:p>
            </p:txBody>
          </p:sp>
        </mc:Choice>
        <mc:Fallback>
          <p:sp>
            <p:nvSpPr>
              <p:cNvPr id="10" name="TextBox 9"/>
              <p:cNvSpPr txBox="1"/>
              <p:nvPr/>
            </p:nvSpPr>
            <p:spPr>
              <a:xfrm>
                <a:off x="548640" y="3362706"/>
                <a:ext cx="11064240" cy="781811"/>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1.3.</a:t>
                </a:r>
                <a:r>
                  <a:rPr sz="2100">
                    <a:solidFill>
                      <a:srgbClr val="1E293B"/>
                    </a:solidFill>
                    <a:latin typeface="Calibri"/>
                  </a:rPr>
                  <a:t> Tìm các khoảng đơn điệu của các hàm số: a) </a:t>
                </a:r>
                <a:r>
                  <a:rPr lang="vi-VN"/>
                  <a:t>y=\frac{2x-1}{x+2}</a:t>
                </a:r>
                <a:r>
                  <a:rPr sz="2100">
                    <a:solidFill>
                      <a:srgbClr val="1E293B"/>
                    </a:solidFill>
                    <a:latin typeface="Calibri"/>
                  </a:rPr>
                  <a:t>; b) </a:t>
                </a:r>
                <a:r>
                  <a:rPr lang="vi-VN"/>
                  <a:t>y=\frac{x^2+x+4}{x-3}</a:t>
                </a:r>
                <a:r>
                  <a:rPr sz="2100">
                    <a:solidFill>
                      <a:srgbClr val="1E293B"/>
                    </a:solidFill>
                    <a:latin typeface="Calibri"/>
                  </a:rPr>
                  <a:t>.</a:t>
                </a:r>
              </a:p>
            </p:txBody>
          </p:sp>
        </mc:Fallback>
      </mc:AlternateContent>
      <p:sp>
        <p:nvSpPr>
          <p:cNvPr id="11" name="s3_nen"/>
          <p:cNvSpPr/>
          <p:nvPr/>
        </p:nvSpPr>
        <p:spPr>
          <a:xfrm>
            <a:off x="548640" y="4208525"/>
            <a:ext cx="11064240" cy="151333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245101"/>
                <a:ext cx="10735056" cy="144018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5</m:t>
                        </m:r>
                      </m:num>
                      <m:den>
                        <m:sSup>
                          <m:e>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&gt;0</m:t>
                    </m:r>
                  </m:oMath>
                </a14:m>
                <a:r>
                  <a:rPr sz="2100">
                    <a:solidFill>
                      <a:srgbClr val="1E293B"/>
                    </a:solidFill>
                    <a:latin typeface="Calibri"/>
                  </a:rPr>
                  <a:t>: đồng biến trên </a:t>
                </a:r>
                <a14:m>
                  <m:oMath xmlns:m="http://schemas.openxmlformats.org/officeDocument/2006/math">
                    <m:d>
                      <m:dPr>
                        <m:sepChr m:val="∞"/>
                      </m:dPr>
                      <m:e>
                        <m:r>
                          <a:rPr lang="vi-VN" sz="2100" b="0">
                            <a:solidFill>
                              <a:srgbClr val="1E293B"/>
                            </a:solidFill>
                            <a:latin typeface="Cambria Math" panose="02040503050406030204" pitchFamily="18" charset="0"/>
                          </a:rPr>
                          <m:t>−</m:t>
                        </m:r>
                      </m:e>
                      <m:e>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 b)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−6x−7</m:t>
                        </m:r>
                      </m:num>
                      <m:den>
                        <m:sSup>
                          <m:e>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3</m:t>
                                </m:r>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=0⇔x=−1,</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x=7</m:t>
                    </m:r>
                  </m:oMath>
                </a14:m>
                <a:r>
                  <a:rPr sz="2100">
                    <a:solidFill>
                      <a:srgbClr val="1E293B"/>
                    </a:solidFill>
                    <a:latin typeface="Calibri"/>
                  </a:rPr>
                  <a:t>: đồng biến trên </a:t>
                </a:r>
                <a14:m>
                  <m:oMath xmlns:m="http://schemas.openxmlformats.org/officeDocument/2006/math">
                    <m:d>
                      <m:dPr>
                        <m:sepChr m:val="∞"/>
                      </m:dPr>
                      <m:e>
                        <m:r>
                          <a:rPr lang="vi-VN" sz="2100" b="0">
                            <a:solidFill>
                              <a:srgbClr val="1E293B"/>
                            </a:solidFill>
                            <a:latin typeface="Cambria Math" panose="02040503050406030204" pitchFamily="18" charset="0"/>
                          </a:rPr>
                          <m:t>−</m:t>
                        </m:r>
                      </m:e>
                      <m:e>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7</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 nghịch biến trên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3</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3</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7</m:t>
                        </m:r>
                      </m:e>
                    </m:d>
                  </m:oMath>
                </a14:m>
                <a:r>
                  <a:rPr sz="2100">
                    <a:solidFill>
                      <a:srgbClr val="1E293B"/>
                    </a:solidFill>
                    <a:latin typeface="Calibri"/>
                  </a:rPr>
                  <a:t>.</a:t>
                </a:r>
              </a:p>
            </p:txBody>
          </p:sp>
        </mc:Choice>
        <mc:Fallback>
          <p:sp>
            <p:nvSpPr>
              <p:cNvPr id="12" name="TextBox 11"/>
              <p:cNvSpPr txBox="1"/>
              <p:nvPr/>
            </p:nvSpPr>
            <p:spPr>
              <a:xfrm>
                <a:off x="713232" y="4245101"/>
                <a:ext cx="10735056" cy="144018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y'=\frac{5}{(x+2)^2}&gt;0</a:t>
                </a:r>
                <a:r>
                  <a:rPr sz="2100">
                    <a:solidFill>
                      <a:srgbClr val="1E293B"/>
                    </a:solidFill>
                    <a:latin typeface="Calibri"/>
                  </a:rPr>
                  <a:t>: đồng biến trên </a:t>
                </a:r>
                <a:r>
                  <a:rPr lang="vi-VN"/>
                  <a:t>(-\infty;\ -2)</a:t>
                </a:r>
                <a:r>
                  <a:rPr sz="2100">
                    <a:solidFill>
                      <a:srgbClr val="1E293B"/>
                    </a:solidFill>
                    <a:latin typeface="Calibri"/>
                  </a:rPr>
                  <a:t> và </a:t>
                </a:r>
                <a:r>
                  <a:rPr lang="vi-VN"/>
                  <a:t>(-2;\ +\infty)</a:t>
                </a:r>
                <a:r>
                  <a:rPr sz="2100">
                    <a:solidFill>
                      <a:srgbClr val="1E293B"/>
                    </a:solidFill>
                    <a:latin typeface="Calibri"/>
                  </a:rPr>
                  <a:t>. b) </a:t>
                </a:r>
                <a:r>
                  <a:rPr lang="vi-VN"/>
                  <a:t>y'=\frac{x^2-6x-7}{(x-3)^2}=0\Leftrightarrow x=-1,\ x=7</a:t>
                </a:r>
                <a:r>
                  <a:rPr sz="2100">
                    <a:solidFill>
                      <a:srgbClr val="1E293B"/>
                    </a:solidFill>
                    <a:latin typeface="Calibri"/>
                  </a:rPr>
                  <a:t>: đồng biến trên </a:t>
                </a:r>
                <a:r>
                  <a:rPr lang="vi-VN"/>
                  <a:t>(-\infty;\ -1)</a:t>
                </a:r>
                <a:r>
                  <a:rPr sz="2100">
                    <a:solidFill>
                      <a:srgbClr val="1E293B"/>
                    </a:solidFill>
                    <a:latin typeface="Calibri"/>
                  </a:rPr>
                  <a:t> và </a:t>
                </a:r>
                <a:r>
                  <a:rPr lang="vi-VN"/>
                  <a:t>(7;\ +\infty)</a:t>
                </a:r>
                <a:r>
                  <a:rPr sz="2100">
                    <a:solidFill>
                      <a:srgbClr val="1E293B"/>
                    </a:solidFill>
                    <a:latin typeface="Calibri"/>
                  </a:rPr>
                  <a:t>, nghịch biến trên </a:t>
                </a:r>
                <a:r>
                  <a:rPr lang="vi-VN"/>
                  <a:t>(-1;\ 3)</a:t>
                </a:r>
                <a:r>
                  <a:rPr sz="2100">
                    <a:solidFill>
                      <a:srgbClr val="1E293B"/>
                    </a:solidFill>
                    <a:latin typeface="Calibri"/>
                  </a:rPr>
                  <a:t> và </a:t>
                </a:r>
                <a:r>
                  <a:rPr lang="vi-VN"/>
                  <a:t>(3;\ 7)</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1.4 – 1.5 (SGK TR.13)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43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6156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1.4.</a:t>
                </a:r>
                <a:r>
                  <a:rPr sz="2000">
                    <a:solidFill>
                      <a:srgbClr val="1E293B"/>
                    </a:solidFill>
                    <a:latin typeface="Calibri"/>
                  </a:rPr>
                  <a:t> Xét chiều biến thiên của các hàm số: a) </a:t>
                </a:r>
                <a14:m>
                  <m:oMath xmlns:m="http://schemas.openxmlformats.org/officeDocument/2006/math">
                    <m:r>
                      <a:rPr lang="vi-VN" sz="2000" b="0">
                        <a:solidFill>
                          <a:srgbClr val="1E293B"/>
                        </a:solidFill>
                        <a:latin typeface="Cambria Math" panose="02040503050406030204" pitchFamily="18" charset="0"/>
                      </a:rPr>
                      <m:t>y=</m:t>
                    </m:r>
                    <m:rad>
                      <m:radPr>
                        <m:degHide m:val="on"/>
                      </m:radPr>
                      <m:deg/>
                      <m:e>
                        <m:r>
                          <a:rPr lang="vi-VN" sz="2000" b="0">
                            <a:solidFill>
                              <a:srgbClr val="1E293B"/>
                            </a:solidFill>
                            <a:latin typeface="Cambria Math" panose="02040503050406030204" pitchFamily="18" charset="0"/>
                          </a:rPr>
                          <m:t>4−</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e>
                    </m:rad>
                  </m:oMath>
                </a14:m>
                <a:r>
                  <a:rPr sz="2000">
                    <a:solidFill>
                      <a:srgbClr val="1E293B"/>
                    </a:solidFill>
                    <a:latin typeface="Calibri"/>
                  </a:rPr>
                  <a:t>; b) </a:t>
                </a:r>
                <a14:m>
                  <m:oMath xmlns:m="http://schemas.openxmlformats.org/officeDocument/2006/math">
                    <m:r>
                      <a:rPr lang="vi-VN" sz="2000" b="0">
                        <a:solidFill>
                          <a:srgbClr val="1E293B"/>
                        </a:solidFill>
                        <a:latin typeface="Cambria Math" panose="02040503050406030204" pitchFamily="18" charset="0"/>
                      </a:rPr>
                      <m:t>y=</m:t>
                    </m:r>
                    <m:f>
                      <m:fPr>
                        <m:type m:val="bar"/>
                      </m:fPr>
                      <m:num>
                        <m:r>
                          <a:rPr lang="vi-VN" sz="2000" b="0">
                            <a:solidFill>
                              <a:srgbClr val="1E293B"/>
                            </a:solidFill>
                            <a:latin typeface="Cambria Math" panose="02040503050406030204" pitchFamily="18" charset="0"/>
                          </a:rPr>
                          <m:t>x</m:t>
                        </m:r>
                      </m:num>
                      <m:den>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+1</m:t>
                        </m:r>
                      </m:den>
                    </m:f>
                  </m:oMath>
                </a14:m>
                <a:r>
                  <a:rPr sz="2000">
                    <a:solidFill>
                      <a:srgbClr val="1E293B"/>
                    </a:solidFill>
                    <a:latin typeface="Calibri"/>
                  </a:rPr>
                  <a:t>.</a:t>
                </a:r>
              </a:p>
            </p:txBody>
          </p:sp>
        </mc:Choice>
        <mc:Fallback>
          <p:sp>
            <p:nvSpPr>
              <p:cNvPr id="7" name="TextBox 6"/>
              <p:cNvSpPr txBox="1"/>
              <p:nvPr/>
            </p:nvSpPr>
            <p:spPr>
              <a:xfrm>
                <a:off x="548640" y="1371600"/>
                <a:ext cx="11064240" cy="6156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1.4.</a:t>
                </a:r>
                <a:r>
                  <a:rPr sz="2000">
                    <a:solidFill>
                      <a:srgbClr val="1E293B"/>
                    </a:solidFill>
                    <a:latin typeface="Calibri"/>
                  </a:rPr>
                  <a:t> Xét chiều biến thiên của các hàm số: a) </a:t>
                </a:r>
                <a:r>
                  <a:rPr lang="vi-VN"/>
                  <a:t>y=\sqrt{4-x^2}</a:t>
                </a:r>
                <a:r>
                  <a:rPr sz="2000">
                    <a:solidFill>
                      <a:srgbClr val="1E293B"/>
                    </a:solidFill>
                    <a:latin typeface="Calibri"/>
                  </a:rPr>
                  <a:t>; b) </a:t>
                </a:r>
                <a:r>
                  <a:rPr lang="vi-VN"/>
                  <a:t>y=\frac{x}{x^2+1}</a:t>
                </a:r>
                <a:r>
                  <a:rPr sz="2000">
                    <a:solidFill>
                      <a:srgbClr val="1E293B"/>
                    </a:solidFill>
                    <a:latin typeface="Calibri"/>
                  </a:rPr>
                  <a:t>.</a:t>
                </a:r>
              </a:p>
            </p:txBody>
          </p:sp>
        </mc:Fallback>
      </mc:AlternateContent>
      <p:sp>
        <p:nvSpPr>
          <p:cNvPr id="8" name="s1_nen"/>
          <p:cNvSpPr/>
          <p:nvPr/>
        </p:nvSpPr>
        <p:spPr>
          <a:xfrm>
            <a:off x="548640" y="2051303"/>
            <a:ext cx="11064240" cy="14538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087880"/>
                <a:ext cx="10735056" cy="138074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Tập xác định </a:t>
                </a:r>
                <a14:m>
                  <m:oMath xmlns:m="http://schemas.openxmlformats.org/officeDocument/2006/math">
                    <m:d>
                      <m:dPr>
                        <m:begChr m:val="["/>
                        <m:sepChr m:val=""/>
                        <m:end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m:t>
                        </m:r>
                      </m:e>
                    </m:d>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−x</m:t>
                        </m:r>
                      </m:num>
                      <m:den>
                        <m:rad>
                          <m:radPr>
                            <m:degHide m:val="on"/>
                          </m:radPr>
                          <m:deg/>
                          <m:e>
                            <m:r>
                              <a:rPr lang="vi-VN" sz="2000" b="0">
                                <a:solidFill>
                                  <a:srgbClr val="1E293B"/>
                                </a:solidFill>
                                <a:latin typeface="Cambria Math" panose="02040503050406030204" pitchFamily="18" charset="0"/>
                              </a:rPr>
                              <m:t>4−</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e>
                        </m:rad>
                      </m:den>
                    </m:f>
                  </m:oMath>
                </a14:m>
                <a:r>
                  <a:rPr sz="2000">
                    <a:solidFill>
                      <a:srgbClr val="1E293B"/>
                    </a:solidFill>
                    <a:latin typeface="Calibri"/>
                  </a:rPr>
                  <a:t>: đồng biến trên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e>
                    </m:d>
                  </m:oMath>
                </a14:m>
                <a:r>
                  <a:rPr sz="2000">
                    <a:solidFill>
                      <a:srgbClr val="1E293B"/>
                    </a:solidFill>
                    <a:latin typeface="Calibri"/>
                  </a:rPr>
                  <a:t>, nghịch biến trên </a:t>
                </a:r>
                <a14:m>
                  <m:oMath xmlns:m="http://schemas.openxmlformats.org/officeDocument/2006/math">
                    <m:d>
                      <m:dPr>
                        <m:sepChr m:val=""/>
                      </m:dPr>
                      <m:e>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m:t>
                        </m:r>
                      </m:e>
                    </m:d>
                  </m:oMath>
                </a14:m>
                <a:r>
                  <a:rPr sz="2000">
                    <a:solidFill>
                      <a:srgbClr val="1E293B"/>
                    </a:solidFill>
                    <a:latin typeface="Calibri"/>
                  </a:rPr>
                  <a:t>. b)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num>
                      <m:den>
                        <m:sSup>
                          <m:e>
                            <m:d>
                              <m:dPr>
                                <m:sepChr m:val=""/>
                              </m:dPr>
                              <m:e>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e>
                          <m:sup>
                            <m:r>
                              <a:rPr lang="vi-VN" sz="2000" b="0">
                                <a:solidFill>
                                  <a:srgbClr val="1E293B"/>
                                </a:solidFill>
                                <a:latin typeface="Cambria Math" panose="02040503050406030204" pitchFamily="18" charset="0"/>
                              </a:rPr>
                              <m:t>2</m:t>
                            </m:r>
                          </m:sup>
                        </m:sSup>
                      </m:den>
                    </m:f>
                  </m:oMath>
                </a14:m>
                <a:r>
                  <a:rPr sz="2000">
                    <a:solidFill>
                      <a:srgbClr val="1E293B"/>
                    </a:solidFill>
                    <a:latin typeface="Calibri"/>
                  </a:rPr>
                  <a:t>: đồng biến trên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m:t>
                        </m:r>
                      </m:e>
                    </m:d>
                  </m:oMath>
                </a14:m>
                <a:r>
                  <a:rPr sz="2000">
                    <a:solidFill>
                      <a:srgbClr val="1E293B"/>
                    </a:solidFill>
                    <a:latin typeface="Calibri"/>
                  </a:rPr>
                  <a:t>, nghịch biến trên </a:t>
                </a:r>
                <a14:m>
                  <m:oMath xmlns:m="http://schemas.openxmlformats.org/officeDocument/2006/math">
                    <m:d>
                      <m:dPr>
                        <m:sepChr m:val="∞"/>
                      </m:dPr>
                      <m:e>
                        <m:r>
                          <a:rPr lang="vi-VN" sz="2000" b="0">
                            <a:solidFill>
                              <a:srgbClr val="1E293B"/>
                            </a:solidFill>
                            <a:latin typeface="Cambria Math" panose="02040503050406030204" pitchFamily="18" charset="0"/>
                          </a:rPr>
                          <m:t>−</m:t>
                        </m:r>
                      </m:e>
                      <m:e>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oMath>
                </a14:m>
                <a:r>
                  <a:rPr sz="2000">
                    <a:solidFill>
                      <a:srgbClr val="1E293B"/>
                    </a:solidFill>
                    <a:latin typeface="Calibri"/>
                  </a:rPr>
                  <a:t> và </a:t>
                </a:r>
                <a14:m>
                  <m:oMath xmlns:m="http://schemas.openxmlformats.org/officeDocument/2006/math">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e>
                    </m:d>
                  </m:oMath>
                </a14:m>
                <a:r>
                  <a:rPr sz="2000">
                    <a:solidFill>
                      <a:srgbClr val="1E293B"/>
                    </a:solidFill>
                    <a:latin typeface="Calibri"/>
                  </a:rPr>
                  <a:t>.</a:t>
                </a:r>
              </a:p>
            </p:txBody>
          </p:sp>
        </mc:Choice>
        <mc:Fallback>
          <p:sp>
            <p:nvSpPr>
              <p:cNvPr id="9" name="TextBox 8"/>
              <p:cNvSpPr txBox="1"/>
              <p:nvPr/>
            </p:nvSpPr>
            <p:spPr>
              <a:xfrm>
                <a:off x="713232" y="2087880"/>
                <a:ext cx="10735056" cy="138074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Tập xác định </a:t>
                </a:r>
                <a:r>
                  <a:rPr lang="vi-VN"/>
                  <a:t>[-2;\ 2]</a:t>
                </a:r>
                <a:r>
                  <a:rPr sz="2000">
                    <a:solidFill>
                      <a:srgbClr val="1E293B"/>
                    </a:solidFill>
                    <a:latin typeface="Calibri"/>
                  </a:rPr>
                  <a:t>, </a:t>
                </a:r>
                <a:r>
                  <a:rPr lang="vi-VN"/>
                  <a:t>y'=\frac{-x}{\sqrt{4-x^2}}</a:t>
                </a:r>
                <a:r>
                  <a:rPr sz="2000">
                    <a:solidFill>
                      <a:srgbClr val="1E293B"/>
                    </a:solidFill>
                    <a:latin typeface="Calibri"/>
                  </a:rPr>
                  <a:t>: đồng biến trên </a:t>
                </a:r>
                <a:r>
                  <a:rPr lang="vi-VN"/>
                  <a:t>(-2;\ 0)</a:t>
                </a:r>
                <a:r>
                  <a:rPr sz="2000">
                    <a:solidFill>
                      <a:srgbClr val="1E293B"/>
                    </a:solidFill>
                    <a:latin typeface="Calibri"/>
                  </a:rPr>
                  <a:t>, nghịch biến trên </a:t>
                </a:r>
                <a:r>
                  <a:rPr lang="vi-VN"/>
                  <a:t>(0;\ 2)</a:t>
                </a:r>
                <a:r>
                  <a:rPr sz="2000">
                    <a:solidFill>
                      <a:srgbClr val="1E293B"/>
                    </a:solidFill>
                    <a:latin typeface="Calibri"/>
                  </a:rPr>
                  <a:t>. b) </a:t>
                </a:r>
                <a:r>
                  <a:rPr lang="vi-VN"/>
                  <a:t>y'=\frac{1-x^2}{(x^2+1)^2}</a:t>
                </a:r>
                <a:r>
                  <a:rPr sz="2000">
                    <a:solidFill>
                      <a:srgbClr val="1E293B"/>
                    </a:solidFill>
                    <a:latin typeface="Calibri"/>
                  </a:rPr>
                  <a:t>: đồng biến trên </a:t>
                </a:r>
                <a:r>
                  <a:rPr lang="vi-VN"/>
                  <a:t>(-1;\ 1)</a:t>
                </a:r>
                <a:r>
                  <a:rPr sz="2000">
                    <a:solidFill>
                      <a:srgbClr val="1E293B"/>
                    </a:solidFill>
                    <a:latin typeface="Calibri"/>
                  </a:rPr>
                  <a:t>, nghịch biến trên </a:t>
                </a:r>
                <a:r>
                  <a:rPr lang="vi-VN"/>
                  <a:t>(-\infty;\ -1)</a:t>
                </a:r>
                <a:r>
                  <a:rPr sz="2000">
                    <a:solidFill>
                      <a:srgbClr val="1E293B"/>
                    </a:solidFill>
                    <a:latin typeface="Calibri"/>
                  </a:rPr>
                  <a:t> và </a:t>
                </a:r>
                <a:r>
                  <a:rPr lang="vi-VN"/>
                  <a:t>(1;\ +\infty)</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569207"/>
                <a:ext cx="11064240" cy="122529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1.5.</a:t>
                </a:r>
                <a:r>
                  <a:rPr sz="2000">
                    <a:solidFill>
                      <a:srgbClr val="1E293B"/>
                    </a:solidFill>
                    <a:latin typeface="Calibri"/>
                  </a:rPr>
                  <a:t> Số dân của một thị trấn sau </a:t>
                </a:r>
                <a14:m>
                  <m:oMath xmlns:m="http://schemas.openxmlformats.org/officeDocument/2006/math">
                    <m:r>
                      <a:rPr lang="vi-VN" sz="2000" b="0">
                        <a:solidFill>
                          <a:srgbClr val="1E293B"/>
                        </a:solidFill>
                        <a:latin typeface="Cambria Math" panose="02040503050406030204" pitchFamily="18" charset="0"/>
                      </a:rPr>
                      <m:t>t</m:t>
                    </m:r>
                  </m:oMath>
                </a14:m>
                <a:r>
                  <a:rPr sz="2000">
                    <a:solidFill>
                      <a:srgbClr val="1E293B"/>
                    </a:solidFill>
                    <a:latin typeface="Calibri"/>
                  </a:rPr>
                  <a:t> năm kể từ năm 2000 là </a:t>
                </a:r>
                <a14:m>
                  <m:oMath xmlns:m="http://schemas.openxmlformats.org/officeDocument/2006/math">
                    <m:r>
                      <a:rPr lang="vi-VN" sz="2000" b="0">
                        <a:solidFill>
                          <a:srgbClr val="1E293B"/>
                        </a:solidFill>
                        <a:latin typeface="Cambria Math" panose="02040503050406030204" pitchFamily="18" charset="0"/>
                      </a:rPr>
                      <m:t>N(t)=</m:t>
                    </m:r>
                    <m:f>
                      <m:fPr>
                        <m:type m:val="bar"/>
                      </m:fPr>
                      <m:num>
                        <m:r>
                          <a:rPr lang="vi-VN" sz="2000" b="0">
                            <a:solidFill>
                              <a:srgbClr val="1E293B"/>
                            </a:solidFill>
                            <a:latin typeface="Cambria Math" panose="02040503050406030204" pitchFamily="18" charset="0"/>
                          </a:rPr>
                          <m:t>25t+10</m:t>
                        </m:r>
                      </m:num>
                      <m:den>
                        <m:r>
                          <a:rPr lang="vi-VN" sz="2000" b="0">
                            <a:solidFill>
                              <a:srgbClr val="1E293B"/>
                            </a:solidFill>
                            <a:latin typeface="Cambria Math" panose="02040503050406030204" pitchFamily="18" charset="0"/>
                          </a:rPr>
                          <m:t>t+5</m:t>
                        </m:r>
                      </m:den>
                    </m:f>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t≥0</m:t>
                    </m:r>
                  </m:oMath>
                </a14:m>
                <a:r>
                  <a:rPr sz="2000">
                    <a:solidFill>
                      <a:srgbClr val="1E293B"/>
                    </a:solidFill>
                    <a:latin typeface="Calibri"/>
                  </a:rPr>
                  <a:t> (nghìn người). a) Tính số dân vào các năm 2000 và 2015. b) Tính </a:t>
                </a:r>
                <a14:m>
                  <m:oMath xmlns:m="http://schemas.openxmlformats.org/officeDocument/2006/math">
                    <m:sSup>
                      <m:e>
                        <m:r>
                          <a:rPr lang="vi-VN" sz="2000" b="0">
                            <a:solidFill>
                              <a:srgbClr val="1E293B"/>
                            </a:solidFill>
                            <a:latin typeface="Cambria Math" panose="02040503050406030204" pitchFamily="18" charset="0"/>
                          </a:rPr>
                          <m:t>N</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oMath>
                </a14:m>
                <a:r>
                  <a:rPr sz="2000">
                    <a:solidFill>
                      <a:srgbClr val="1E293B"/>
                    </a:solidFill>
                    <a:latin typeface="Calibri"/>
                  </a:rPr>
                  <a:t> và </a:t>
                </a:r>
                <a14:m>
                  <m:oMath xmlns:m="http://schemas.openxmlformats.org/officeDocument/2006/math">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t→+∞</m:t>
                        </m:r>
                      </m:lim>
                    </m:limLow>
                    <m:r>
                      <a:rPr lang="vi-VN" sz="2000" b="0">
                        <a:solidFill>
                          <a:srgbClr val="1E293B"/>
                        </a:solidFill>
                        <a:latin typeface="Cambria Math" panose="02040503050406030204" pitchFamily="18" charset="0"/>
                      </a:rPr>
                      <m:t>N(t)</m:t>
                    </m:r>
                  </m:oMath>
                </a14:m>
                <a:r>
                  <a:rPr sz="2000">
                    <a:solidFill>
                      <a:srgbClr val="1E293B"/>
                    </a:solidFill>
                    <a:latin typeface="Calibri"/>
                  </a:rPr>
                  <a:t>. Từ đó, giải thích tại sao số dân luôn tăng nhưng sẽ không vượt quá một ngưỡng nào đó.</a:t>
                </a:r>
              </a:p>
            </p:txBody>
          </p:sp>
        </mc:Choice>
        <mc:Fallback>
          <p:sp>
            <p:nvSpPr>
              <p:cNvPr id="10" name="TextBox 9"/>
              <p:cNvSpPr txBox="1"/>
              <p:nvPr/>
            </p:nvSpPr>
            <p:spPr>
              <a:xfrm>
                <a:off x="548640" y="3569207"/>
                <a:ext cx="11064240" cy="122529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1.5.</a:t>
                </a:r>
                <a:r>
                  <a:rPr sz="2000">
                    <a:solidFill>
                      <a:srgbClr val="1E293B"/>
                    </a:solidFill>
                    <a:latin typeface="Calibri"/>
                  </a:rPr>
                  <a:t> Số dân của một thị trấn sau </a:t>
                </a:r>
                <a:r>
                  <a:rPr lang="vi-VN"/>
                  <a:t>t</a:t>
                </a:r>
                <a:r>
                  <a:rPr sz="2000">
                    <a:solidFill>
                      <a:srgbClr val="1E293B"/>
                    </a:solidFill>
                    <a:latin typeface="Calibri"/>
                  </a:rPr>
                  <a:t> năm kể từ năm 2000 là </a:t>
                </a:r>
                <a:r>
                  <a:rPr lang="vi-VN"/>
                  <a:t>N(t)=\frac{25t+10}{t+5},\ t\ge 0</a:t>
                </a:r>
                <a:r>
                  <a:rPr sz="2000">
                    <a:solidFill>
                      <a:srgbClr val="1E293B"/>
                    </a:solidFill>
                    <a:latin typeface="Calibri"/>
                  </a:rPr>
                  <a:t> (nghìn người). a) Tính số dân vào các năm 2000 và 2015. b) Tính </a:t>
                </a:r>
                <a:r>
                  <a:rPr lang="vi-VN"/>
                  <a:t>N'(t)</a:t>
                </a:r>
                <a:r>
                  <a:rPr sz="2000">
                    <a:solidFill>
                      <a:srgbClr val="1E293B"/>
                    </a:solidFill>
                    <a:latin typeface="Calibri"/>
                  </a:rPr>
                  <a:t> và </a:t>
                </a:r>
                <a:r>
                  <a:rPr lang="vi-VN"/>
                  <a:t>\lim\limits_{t\to+\infty}N(t)</a:t>
                </a:r>
                <a:r>
                  <a:rPr sz="2000">
                    <a:solidFill>
                      <a:srgbClr val="1E293B"/>
                    </a:solidFill>
                    <a:latin typeface="Calibri"/>
                  </a:rPr>
                  <a:t>. Từ đó, giải thích tại sao số dân luôn tăng nhưng sẽ không vượt quá một ngưỡng nào đó.</a:t>
                </a:r>
              </a:p>
            </p:txBody>
          </p:sp>
        </mc:Fallback>
      </mc:AlternateContent>
      <p:sp>
        <p:nvSpPr>
          <p:cNvPr id="11" name="s3_nen"/>
          <p:cNvSpPr/>
          <p:nvPr/>
        </p:nvSpPr>
        <p:spPr>
          <a:xfrm>
            <a:off x="548640" y="4858511"/>
            <a:ext cx="110642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895087"/>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r>
                      <a:rPr lang="vi-VN" sz="2000" b="0">
                        <a:solidFill>
                          <a:srgbClr val="1E293B"/>
                        </a:solidFill>
                        <a:latin typeface="Cambria Math" panose="02040503050406030204" pitchFamily="18" charset="0"/>
                      </a:rPr>
                      <m:t>N(0)=2</m:t>
                    </m:r>
                  </m:oMath>
                </a14:m>
                <a:r>
                  <a:rPr sz="2000">
                    <a:solidFill>
                      <a:srgbClr val="1E293B"/>
                    </a:solidFill>
                    <a:latin typeface="Calibri"/>
                  </a:rPr>
                  <a:t> nghìn người; </a:t>
                </a:r>
                <a14:m>
                  <m:oMath xmlns:m="http://schemas.openxmlformats.org/officeDocument/2006/math">
                    <m:r>
                      <a:rPr lang="vi-VN" sz="2000" b="0">
                        <a:solidFill>
                          <a:srgbClr val="1E293B"/>
                        </a:solidFill>
                        <a:latin typeface="Cambria Math" panose="02040503050406030204" pitchFamily="18" charset="0"/>
                      </a:rPr>
                      <m:t>N(15)=19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25</m:t>
                    </m:r>
                  </m:oMath>
                </a14:m>
                <a:r>
                  <a:rPr sz="2000">
                    <a:solidFill>
                      <a:srgbClr val="1E293B"/>
                    </a:solidFill>
                    <a:latin typeface="Calibri"/>
                  </a:rPr>
                  <a:t> nghìn người. b) </a:t>
                </a:r>
                <a14:m>
                  <m:oMath xmlns:m="http://schemas.openxmlformats.org/officeDocument/2006/math">
                    <m:sSup>
                      <m:e>
                        <m:r>
                          <a:rPr lang="vi-VN" sz="2000" b="0">
                            <a:solidFill>
                              <a:srgbClr val="1E293B"/>
                            </a:solidFill>
                            <a:latin typeface="Cambria Math" panose="02040503050406030204" pitchFamily="18" charset="0"/>
                          </a:rPr>
                          <m:t>N</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f>
                      <m:fPr>
                        <m:type m:val="bar"/>
                      </m:fPr>
                      <m:num>
                        <m:r>
                          <a:rPr lang="vi-VN" sz="2000" b="0">
                            <a:solidFill>
                              <a:srgbClr val="1E293B"/>
                            </a:solidFill>
                            <a:latin typeface="Cambria Math" panose="02040503050406030204" pitchFamily="18" charset="0"/>
                          </a:rPr>
                          <m:t>115</m:t>
                        </m:r>
                      </m:num>
                      <m:den>
                        <m:sSup>
                          <m:e>
                            <m:d>
                              <m:dPr>
                                <m:sepChr m:val=""/>
                              </m:dPr>
                              <m:e>
                                <m:r>
                                  <a:rPr lang="vi-VN" sz="2000" b="0">
                                    <a:solidFill>
                                      <a:srgbClr val="1E293B"/>
                                    </a:solidFill>
                                    <a:latin typeface="Cambria Math" panose="02040503050406030204" pitchFamily="18" charset="0"/>
                                  </a:rPr>
                                  <m:t>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e>
                            </m:d>
                          </m:e>
                          <m:sup>
                            <m:r>
                              <a:rPr lang="vi-VN" sz="2000" b="0">
                                <a:solidFill>
                                  <a:srgbClr val="1E293B"/>
                                </a:solidFill>
                                <a:latin typeface="Cambria Math" panose="02040503050406030204" pitchFamily="18" charset="0"/>
                              </a:rPr>
                              <m:t>2</m:t>
                            </m:r>
                          </m:sup>
                        </m:sSup>
                      </m:den>
                    </m:f>
                    <m:r>
                      <a:rPr lang="vi-VN" sz="2000" b="0">
                        <a:solidFill>
                          <a:srgbClr val="1E293B"/>
                        </a:solidFill>
                        <a:latin typeface="Cambria Math" panose="02040503050406030204" pitchFamily="18" charset="0"/>
                      </a:rPr>
                      <m:t>&gt;0</m:t>
                    </m:r>
                  </m:oMath>
                </a14:m>
                <a:r>
                  <a:rPr sz="2000">
                    <a:solidFill>
                      <a:srgbClr val="1E293B"/>
                    </a:solidFill>
                    <a:latin typeface="Calibri"/>
                  </a:rPr>
                  <a:t> nên số dân luôn tăng; </a:t>
                </a:r>
                <a14:m>
                  <m:oMath xmlns:m="http://schemas.openxmlformats.org/officeDocument/2006/math">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t→+∞</m:t>
                        </m:r>
                      </m:lim>
                    </m:limLow>
                    <m:r>
                      <a:rPr lang="vi-VN" sz="2000" b="0">
                        <a:solidFill>
                          <a:srgbClr val="1E293B"/>
                        </a:solidFill>
                        <a:latin typeface="Cambria Math" panose="02040503050406030204" pitchFamily="18" charset="0"/>
                      </a:rPr>
                      <m:t>N(t)=25</m:t>
                    </m:r>
                  </m:oMath>
                </a14:m>
                <a:r>
                  <a:rPr sz="2000">
                    <a:solidFill>
                      <a:srgbClr val="1E293B"/>
                    </a:solidFill>
                    <a:latin typeface="Calibri"/>
                  </a:rPr>
                  <a:t> nên số dân không vượt quá 25 nghìn người.</a:t>
                </a:r>
              </a:p>
            </p:txBody>
          </p:sp>
        </mc:Choice>
        <mc:Fallback>
          <p:sp>
            <p:nvSpPr>
              <p:cNvPr id="12" name="TextBox 11"/>
              <p:cNvSpPr txBox="1"/>
              <p:nvPr/>
            </p:nvSpPr>
            <p:spPr>
              <a:xfrm>
                <a:off x="713232" y="4895087"/>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N(0)=2</a:t>
                </a:r>
                <a:r>
                  <a:rPr sz="2000">
                    <a:solidFill>
                      <a:srgbClr val="1E293B"/>
                    </a:solidFill>
                    <a:latin typeface="Calibri"/>
                  </a:rPr>
                  <a:t> nghìn người; </a:t>
                </a:r>
                <a:r>
                  <a:rPr lang="vi-VN"/>
                  <a:t>N(15)=19{,}25</a:t>
                </a:r>
                <a:r>
                  <a:rPr sz="2000">
                    <a:solidFill>
                      <a:srgbClr val="1E293B"/>
                    </a:solidFill>
                    <a:latin typeface="Calibri"/>
                  </a:rPr>
                  <a:t> nghìn người. b) </a:t>
                </a:r>
                <a:r>
                  <a:rPr lang="vi-VN"/>
                  <a:t>N'(t)=\frac{115}{(t+5)^2}&gt;0</a:t>
                </a:r>
                <a:r>
                  <a:rPr sz="2000">
                    <a:solidFill>
                      <a:srgbClr val="1E293B"/>
                    </a:solidFill>
                    <a:latin typeface="Calibri"/>
                  </a:rPr>
                  <a:t> nên số dân luôn tăng; </a:t>
                </a:r>
                <a:r>
                  <a:rPr lang="vi-VN"/>
                  <a:t>\lim\limits_{t\to+\infty}N(t)=25</a:t>
                </a:r>
                <a:r>
                  <a:rPr sz="2000">
                    <a:solidFill>
                      <a:srgbClr val="1E293B"/>
                    </a:solidFill>
                    <a:latin typeface="Calibri"/>
                  </a:rPr>
                  <a:t> nên số dân không vượt quá 25 nghìn người.</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44</a:t>
            </a:r>
          </a:p>
        </p:txBody>
      </p:sp>
      <p:sp>
        <p:nvSpPr>
          <p:cNvPr id="7" name="Rounded Rectangle 6"/>
          <p:cNvSpPr/>
          <p:nvPr/>
        </p:nvSpPr>
        <p:spPr>
          <a:xfrm>
            <a:off x="548640" y="1463040"/>
            <a:ext cx="11064240" cy="13716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Đọc khoảng đơn điệu từ đồ thị: nhìn từ trái sang phải; chú ý tập xác định (1.4a).</a:t>
                </a:r>
              </a:p>
              <a:p>
                <a:pPr algn="l" marL="365760" indent="-365760">
                  <a:spcAft>
                    <a:spcPts val="800"/>
                  </a:spcAft>
                  <a:buClr>
                    <a:srgbClr val="1E40AF"/>
                  </a:buClr>
                  <a:buFont typeface="Arial"/>
                  <a:buChar char="•"/>
                </a:pPr>
                <a:r>
                  <a:rPr sz="2200">
                    <a:solidFill>
                      <a:srgbClr val="1E293B"/>
                    </a:solidFill>
                    <a:latin typeface="Calibri"/>
                  </a:rPr>
                  <a:t>Mô hình thực tế: </a:t>
                </a:r>
                <a14:m>
                  <m:oMath xmlns:m="http://schemas.openxmlformats.org/officeDocument/2006/math">
                    <m:sSup>
                      <m:e>
                        <m:r>
                          <a:rPr lang="vi-VN" sz="2200" b="0">
                            <a:solidFill>
                              <a:srgbClr val="1E293B"/>
                            </a:solidFill>
                            <a:latin typeface="Cambria Math" panose="02040503050406030204" pitchFamily="18" charset="0"/>
                          </a:rPr>
                          <m:t>N</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(t)&gt;0</m:t>
                    </m:r>
                  </m:oMath>
                </a14:m>
                <a:r>
                  <a:rPr sz="2200">
                    <a:solidFill>
                      <a:srgbClr val="1E293B"/>
                    </a:solidFill>
                    <a:latin typeface="Calibri"/>
                  </a:rPr>
                  <a:t> ⇒ tăng; giới hạn tại vô cực cho "ngưỡng".</a:t>
                </a:r>
              </a:p>
            </p:txBody>
          </p:sp>
        </mc:Choice>
        <mc:Fallback>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Đọc khoảng đơn điệu từ đồ thị: nhìn từ trái sang phải; chú ý tập xác định (1.4a).</a:t>
                </a:r>
              </a:p>
              <a:p>
                <a:pPr algn="l" marL="365760" indent="-365760">
                  <a:spcAft>
                    <a:spcPts val="800"/>
                  </a:spcAft>
                  <a:buClr>
                    <a:srgbClr val="1E40AF"/>
                  </a:buClr>
                  <a:buFont typeface="Arial"/>
                  <a:buChar char="•"/>
                </a:pPr>
                <a:r>
                  <a:rPr sz="2200">
                    <a:solidFill>
                      <a:srgbClr val="1E293B"/>
                    </a:solidFill>
                    <a:latin typeface="Calibri"/>
                  </a:rPr>
                  <a:t>Mô hình thực tế: </a:t>
                </a:r>
                <a:r>
                  <a:rPr lang="vi-VN"/>
                  <a:t>N'(t)&gt;0</a:t>
                </a:r>
                <a:r>
                  <a:rPr sz="2200">
                    <a:solidFill>
                      <a:srgbClr val="1E293B"/>
                    </a:solidFill>
                    <a:latin typeface="Calibri"/>
                  </a:rPr>
                  <a:t> ⇒ tăng; giới hạn tại vô cực cho "ngưỡng".</a:t>
                </a:r>
              </a:p>
            </p:txBody>
          </p:sp>
        </mc:Fallback>
      </mc:AlternateContent>
      <p:sp>
        <p:nvSpPr>
          <p:cNvPr id="9" name="Rounded Rectangle 8"/>
          <p:cNvSpPr/>
          <p:nvPr/>
        </p:nvSpPr>
        <p:spPr>
          <a:xfrm>
            <a:off x="548640" y="306324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09981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thiện Bài 1.2 – 1.5 vào vở.</a:t>
            </a:r>
          </a:p>
          <a:p>
            <a:pPr algn="l" marL="365760" indent="-365760">
              <a:spcAft>
                <a:spcPts val="800"/>
              </a:spcAft>
              <a:buClr>
                <a:srgbClr val="1E40AF"/>
              </a:buClr>
              <a:buFont typeface="Arial"/>
              <a:buChar char="•"/>
            </a:pPr>
            <a:r>
              <a:rPr sz="2200">
                <a:solidFill>
                  <a:srgbClr val="1E293B"/>
                </a:solidFill>
                <a:latin typeface="Calibri"/>
              </a:rPr>
              <a:t>Chuẩn bị Bài 1.6 – 1.9 cho tiết sau.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6 (T6)</a:t>
            </a:r>
          </a:p>
          <a:p>
            <a:pPr>
              <a:spcAft>
                <a:spcPts val="600"/>
              </a:spcAft>
            </a:pPr>
            <a:r>
              <a:rPr sz="4000" b="1">
                <a:solidFill>
                  <a:srgbClr val="FFFFFF"/>
                </a:solidFill>
                <a:latin typeface="Cambria"/>
              </a:rPr>
              <a:t>Chữa bài tập (2)</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Tìm cực trị (Bài 1.6 – 1.9).</a:t>
            </a:r>
          </a:p>
          <a:p>
            <a:pPr algn="l">
              <a:spcAft>
                <a:spcPts val="800"/>
              </a:spcAft>
            </a:pPr>
            <a:r>
              <a:rPr sz="2200">
                <a:solidFill>
                  <a:srgbClr val="E0E7FF"/>
                </a:solidFill>
                <a:latin typeface="Calibri"/>
              </a:rPr>
              <a:t>• Củng cố toàn bài theo cấu trúc đề thi mới.</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1.6 (SGK TR.14)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46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6400800" cy="177393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1.6.</a:t>
                </a:r>
                <a:r>
                  <a:rPr sz="2100">
                    <a:solidFill>
                      <a:srgbClr val="1E293B"/>
                    </a:solidFill>
                    <a:latin typeface="Calibri"/>
                  </a:rPr>
                  <a:t> Đồ thị của đạo hàm </a:t>
                </a:r>
                <a14:m>
                  <m:oMath xmlns:m="http://schemas.openxmlformats.org/officeDocument/2006/math">
                    <m:r>
                      <a:rPr lang="vi-VN" sz="2100" b="0">
                        <a:solidFill>
                          <a:srgbClr val="1E293B"/>
                        </a:solidFill>
                        <a:latin typeface="Cambria Math" panose="02040503050406030204" pitchFamily="18" charset="0"/>
                      </a:rPr>
                      <m:t>y=</m:t>
                    </m:r>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m:t>
                    </m:r>
                  </m:oMath>
                </a14:m>
                <a:r>
                  <a:rPr sz="2100">
                    <a:solidFill>
                      <a:srgbClr val="1E293B"/>
                    </a:solidFill>
                    <a:latin typeface="Calibri"/>
                  </a:rPr>
                  <a:t> của hàm số </a:t>
                </a:r>
                <a14:m>
                  <m:oMath xmlns:m="http://schemas.openxmlformats.org/officeDocument/2006/math">
                    <m:r>
                      <a:rPr lang="vi-VN" sz="2100" b="0">
                        <a:solidFill>
                          <a:srgbClr val="1E293B"/>
                        </a:solidFill>
                        <a:latin typeface="Cambria Math" panose="02040503050406030204" pitchFamily="18" charset="0"/>
                      </a:rPr>
                      <m:t>f(x)</m:t>
                    </m:r>
                  </m:oMath>
                </a14:m>
                <a:r>
                  <a:rPr sz="2100">
                    <a:solidFill>
                      <a:srgbClr val="1E293B"/>
                    </a:solidFill>
                    <a:latin typeface="Calibri"/>
                  </a:rPr>
                  <a:t> được cho trong Hình 1.13. a) Hàm số </a:t>
                </a:r>
                <a14:m>
                  <m:oMath xmlns:m="http://schemas.openxmlformats.org/officeDocument/2006/math">
                    <m:r>
                      <a:rPr lang="vi-VN" sz="2100" b="0">
                        <a:solidFill>
                          <a:srgbClr val="1E293B"/>
                        </a:solidFill>
                        <a:latin typeface="Cambria Math" panose="02040503050406030204" pitchFamily="18" charset="0"/>
                      </a:rPr>
                      <m:t>f(x)</m:t>
                    </m:r>
                  </m:oMath>
                </a14:m>
                <a:r>
                  <a:rPr sz="2100">
                    <a:solidFill>
                      <a:srgbClr val="1E293B"/>
                    </a:solidFill>
                    <a:latin typeface="Calibri"/>
                  </a:rPr>
                  <a:t> đồng biến trên những khoảng nào? Giải thích. b) Tại giá trị nào của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thì </a:t>
                </a:r>
                <a14:m>
                  <m:oMath xmlns:m="http://schemas.openxmlformats.org/officeDocument/2006/math">
                    <m:r>
                      <a:rPr lang="vi-VN" sz="2100" b="0">
                        <a:solidFill>
                          <a:srgbClr val="1E293B"/>
                        </a:solidFill>
                        <a:latin typeface="Cambria Math" panose="02040503050406030204" pitchFamily="18" charset="0"/>
                      </a:rPr>
                      <m:t>f(x)</m:t>
                    </m:r>
                  </m:oMath>
                </a14:m>
                <a:r>
                  <a:rPr sz="2100">
                    <a:solidFill>
                      <a:srgbClr val="1E293B"/>
                    </a:solidFill>
                    <a:latin typeface="Calibri"/>
                  </a:rPr>
                  <a:t> có cực đại hoặc cực tiểu? Giải thích.</a:t>
                </a:r>
              </a:p>
            </p:txBody>
          </p:sp>
        </mc:Choice>
        <mc:Fallback>
          <p:sp>
            <p:nvSpPr>
              <p:cNvPr id="7" name="TextBox 6"/>
              <p:cNvSpPr txBox="1"/>
              <p:nvPr/>
            </p:nvSpPr>
            <p:spPr>
              <a:xfrm>
                <a:off x="548640" y="1371600"/>
                <a:ext cx="6400800" cy="177393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1.6.</a:t>
                </a:r>
                <a:r>
                  <a:rPr sz="2100">
                    <a:solidFill>
                      <a:srgbClr val="1E293B"/>
                    </a:solidFill>
                    <a:latin typeface="Calibri"/>
                  </a:rPr>
                  <a:t> Đồ thị của đạo hàm </a:t>
                </a:r>
                <a:r>
                  <a:rPr lang="vi-VN"/>
                  <a:t>y=f'(x)</a:t>
                </a:r>
                <a:r>
                  <a:rPr sz="2100">
                    <a:solidFill>
                      <a:srgbClr val="1E293B"/>
                    </a:solidFill>
                    <a:latin typeface="Calibri"/>
                  </a:rPr>
                  <a:t> của hàm số </a:t>
                </a:r>
                <a:r>
                  <a:rPr lang="vi-VN"/>
                  <a:t>f(x)</a:t>
                </a:r>
                <a:r>
                  <a:rPr sz="2100">
                    <a:solidFill>
                      <a:srgbClr val="1E293B"/>
                    </a:solidFill>
                    <a:latin typeface="Calibri"/>
                  </a:rPr>
                  <a:t> được cho trong Hình 1.13. a) Hàm số </a:t>
                </a:r>
                <a:r>
                  <a:rPr lang="vi-VN"/>
                  <a:t>f(x)</a:t>
                </a:r>
                <a:r>
                  <a:rPr sz="2100">
                    <a:solidFill>
                      <a:srgbClr val="1E293B"/>
                    </a:solidFill>
                    <a:latin typeface="Calibri"/>
                  </a:rPr>
                  <a:t> đồng biến trên những khoảng nào? Giải thích. b) Tại giá trị nào của </a:t>
                </a:r>
                <a:r>
                  <a:rPr lang="vi-VN"/>
                  <a:t>x</a:t>
                </a:r>
                <a:r>
                  <a:rPr sz="2100">
                    <a:solidFill>
                      <a:srgbClr val="1E293B"/>
                    </a:solidFill>
                    <a:latin typeface="Calibri"/>
                  </a:rPr>
                  <a:t> thì </a:t>
                </a:r>
                <a:r>
                  <a:rPr lang="vi-VN"/>
                  <a:t>f(x)</a:t>
                </a:r>
                <a:r>
                  <a:rPr sz="2100">
                    <a:solidFill>
                      <a:srgbClr val="1E293B"/>
                    </a:solidFill>
                    <a:latin typeface="Calibri"/>
                  </a:rPr>
                  <a:t> có cực đại hoặc cực tiểu? Giải thích.</a:t>
                </a:r>
              </a:p>
            </p:txBody>
          </p:sp>
        </mc:Fallback>
      </mc:AlternateContent>
      <p:sp>
        <p:nvSpPr>
          <p:cNvPr id="8" name="s1_nen"/>
          <p:cNvSpPr/>
          <p:nvPr/>
        </p:nvSpPr>
        <p:spPr>
          <a:xfrm>
            <a:off x="548640" y="3255264"/>
            <a:ext cx="640080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291840"/>
                <a:ext cx="607161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(x)&gt;0</m:t>
                    </m:r>
                  </m:oMath>
                </a14:m>
                <a:r>
                  <a:rPr sz="2100">
                    <a:solidFill>
                      <a:srgbClr val="1E293B"/>
                    </a:solidFill>
                    <a:latin typeface="Calibri"/>
                  </a:rPr>
                  <a:t> trên </a:t>
                </a:r>
                <a14:m>
                  <m:oMath xmlns:m="http://schemas.openxmlformats.org/officeDocument/2006/math">
                    <m:d>
                      <m:dPr>
                        <m:sepChr m:val=""/>
                      </m:dPr>
                      <m:e>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4</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6</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e>
                    </m:d>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f(x)</m:t>
                    </m:r>
                  </m:oMath>
                </a14:m>
                <a:r>
                  <a:rPr sz="2100">
                    <a:solidFill>
                      <a:srgbClr val="1E293B"/>
                    </a:solidFill>
                    <a:latin typeface="Calibri"/>
                  </a:rPr>
                  <a:t> đồng biến trên các khoảng đó.</a:t>
                </a:r>
              </a:p>
            </p:txBody>
          </p:sp>
        </mc:Choice>
        <mc:Fallback>
          <p:sp>
            <p:nvSpPr>
              <p:cNvPr id="9" name="TextBox 8"/>
              <p:cNvSpPr txBox="1"/>
              <p:nvPr/>
            </p:nvSpPr>
            <p:spPr>
              <a:xfrm>
                <a:off x="713232" y="3291840"/>
                <a:ext cx="607161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f'(x)&gt;0</a:t>
                </a:r>
                <a:r>
                  <a:rPr sz="2100">
                    <a:solidFill>
                      <a:srgbClr val="1E293B"/>
                    </a:solidFill>
                    <a:latin typeface="Calibri"/>
                  </a:rPr>
                  <a:t> trên </a:t>
                </a:r>
                <a:r>
                  <a:rPr lang="vi-VN"/>
                  <a:t>(2;\ 4)</a:t>
                </a:r>
                <a:r>
                  <a:rPr sz="2100">
                    <a:solidFill>
                      <a:srgbClr val="1E293B"/>
                    </a:solidFill>
                    <a:latin typeface="Calibri"/>
                  </a:rPr>
                  <a:t> và </a:t>
                </a:r>
                <a:r>
                  <a:rPr lang="vi-VN"/>
                  <a:t>(6;\ +\infty)</a:t>
                </a:r>
                <a:r>
                  <a:rPr sz="2100">
                    <a:solidFill>
                      <a:srgbClr val="1E293B"/>
                    </a:solidFill>
                    <a:latin typeface="Calibri"/>
                  </a:rPr>
                  <a:t> nên </a:t>
                </a:r>
                <a:r>
                  <a:rPr lang="vi-VN"/>
                  <a:t>f(x)</a:t>
                </a:r>
                <a:r>
                  <a:rPr sz="2100">
                    <a:solidFill>
                      <a:srgbClr val="1E293B"/>
                    </a:solidFill>
                    <a:latin typeface="Calibri"/>
                  </a:rPr>
                  <a:t> đồng biến trên các khoảng đó.</a:t>
                </a:r>
              </a:p>
            </p:txBody>
          </p:sp>
        </mc:Fallback>
      </mc:AlternateContent>
      <p:sp>
        <p:nvSpPr>
          <p:cNvPr id="10" name="s2_nen"/>
          <p:cNvSpPr/>
          <p:nvPr/>
        </p:nvSpPr>
        <p:spPr>
          <a:xfrm>
            <a:off x="548640" y="4270248"/>
            <a:ext cx="6400800" cy="12252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306824"/>
                <a:ext cx="607161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đổi dấu từ </a:t>
                </a:r>
                <a14:m>
                  <m:oMath xmlns:m="http://schemas.openxmlformats.org/officeDocument/2006/math">
                    <m:r>
                      <a:rPr lang="vi-VN" sz="2100" b="0">
                        <a:solidFill>
                          <a:srgbClr val="1E293B"/>
                        </a:solidFill>
                        <a:latin typeface="Cambria Math" panose="02040503050406030204" pitchFamily="18" charset="0"/>
                      </a:rPr>
                      <m:t>−</m:t>
                    </m:r>
                  </m:oMath>
                </a14:m>
                <a:r>
                  <a:rPr sz="2100">
                    <a:solidFill>
                      <a:srgbClr val="1E293B"/>
                    </a:solidFill>
                    <a:latin typeface="Calibri"/>
                  </a:rPr>
                  <a:t> sang </a:t>
                </a:r>
                <a14:m>
                  <m:oMath xmlns:m="http://schemas.openxmlformats.org/officeDocument/2006/math">
                    <m:r>
                      <a:rPr lang="vi-VN" sz="2100" b="0">
                        <a:solidFill>
                          <a:srgbClr val="1E293B"/>
                        </a:solidFill>
                        <a:latin typeface="Cambria Math" panose="02040503050406030204" pitchFamily="18" charset="0"/>
                      </a:rPr>
                      <m:t>+</m:t>
                    </m:r>
                  </m:oMath>
                </a14:m>
                <a:r>
                  <a:rPr sz="2100">
                    <a:solidFill>
                      <a:srgbClr val="1E293B"/>
                    </a:solidFill>
                    <a:latin typeface="Calibri"/>
                  </a:rPr>
                  <a:t> tại </a:t>
                </a:r>
                <a14:m>
                  <m:oMath xmlns:m="http://schemas.openxmlformats.org/officeDocument/2006/math">
                    <m:r>
                      <a:rPr lang="vi-VN" sz="2100" b="0">
                        <a:solidFill>
                          <a:srgbClr val="1E293B"/>
                        </a:solidFill>
                        <a:latin typeface="Cambria Math" panose="02040503050406030204" pitchFamily="18" charset="0"/>
                      </a:rPr>
                      <m:t>x=2</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x=6</m:t>
                    </m:r>
                  </m:oMath>
                </a14:m>
                <a:r>
                  <a:rPr sz="2100">
                    <a:solidFill>
                      <a:srgbClr val="1E293B"/>
                    </a:solidFill>
                    <a:latin typeface="Calibri"/>
                  </a:rPr>
                  <a:t>: cực tiểu; từ </a:t>
                </a:r>
                <a14:m>
                  <m:oMath xmlns:m="http://schemas.openxmlformats.org/officeDocument/2006/math">
                    <m:r>
                      <a:rPr lang="vi-VN" sz="2100" b="0">
                        <a:solidFill>
                          <a:srgbClr val="1E293B"/>
                        </a:solidFill>
                        <a:latin typeface="Cambria Math" panose="02040503050406030204" pitchFamily="18" charset="0"/>
                      </a:rPr>
                      <m:t>+</m:t>
                    </m:r>
                  </m:oMath>
                </a14:m>
                <a:r>
                  <a:rPr sz="2100">
                    <a:solidFill>
                      <a:srgbClr val="1E293B"/>
                    </a:solidFill>
                    <a:latin typeface="Calibri"/>
                  </a:rPr>
                  <a:t> sang </a:t>
                </a:r>
                <a14:m>
                  <m:oMath xmlns:m="http://schemas.openxmlformats.org/officeDocument/2006/math">
                    <m:r>
                      <a:rPr lang="vi-VN" sz="2100" b="0">
                        <a:solidFill>
                          <a:srgbClr val="1E293B"/>
                        </a:solidFill>
                        <a:latin typeface="Cambria Math" panose="02040503050406030204" pitchFamily="18" charset="0"/>
                      </a:rPr>
                      <m:t>−</m:t>
                    </m:r>
                  </m:oMath>
                </a14:m>
                <a:r>
                  <a:rPr sz="2100">
                    <a:solidFill>
                      <a:srgbClr val="1E293B"/>
                    </a:solidFill>
                    <a:latin typeface="Calibri"/>
                  </a:rPr>
                  <a:t> tại </a:t>
                </a:r>
                <a14:m>
                  <m:oMath xmlns:m="http://schemas.openxmlformats.org/officeDocument/2006/math">
                    <m:r>
                      <a:rPr lang="vi-VN" sz="2100" b="0">
                        <a:solidFill>
                          <a:srgbClr val="1E293B"/>
                        </a:solidFill>
                        <a:latin typeface="Cambria Math" panose="02040503050406030204" pitchFamily="18" charset="0"/>
                      </a:rPr>
                      <m:t>x=4</m:t>
                    </m:r>
                  </m:oMath>
                </a14:m>
                <a:r>
                  <a:rPr sz="2100">
                    <a:solidFill>
                      <a:srgbClr val="1E293B"/>
                    </a:solidFill>
                    <a:latin typeface="Calibri"/>
                  </a:rPr>
                  <a:t>: cực đại.</a:t>
                </a:r>
              </a:p>
            </p:txBody>
          </p:sp>
        </mc:Choice>
        <mc:Fallback>
          <p:sp>
            <p:nvSpPr>
              <p:cNvPr id="11" name="TextBox 10"/>
              <p:cNvSpPr txBox="1"/>
              <p:nvPr/>
            </p:nvSpPr>
            <p:spPr>
              <a:xfrm>
                <a:off x="713232" y="4306824"/>
                <a:ext cx="607161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f'</a:t>
                </a:r>
                <a:r>
                  <a:rPr sz="2100">
                    <a:solidFill>
                      <a:srgbClr val="1E293B"/>
                    </a:solidFill>
                    <a:latin typeface="Calibri"/>
                  </a:rPr>
                  <a:t> đổi dấu từ </a:t>
                </a:r>
                <a:r>
                  <a:rPr lang="vi-VN"/>
                  <a:t>-</a:t>
                </a:r>
                <a:r>
                  <a:rPr sz="2100">
                    <a:solidFill>
                      <a:srgbClr val="1E293B"/>
                    </a:solidFill>
                    <a:latin typeface="Calibri"/>
                  </a:rPr>
                  <a:t> sang </a:t>
                </a:r>
                <a:r>
                  <a:rPr lang="vi-VN"/>
                  <a:t>+</a:t>
                </a:r>
                <a:r>
                  <a:rPr sz="2100">
                    <a:solidFill>
                      <a:srgbClr val="1E293B"/>
                    </a:solidFill>
                    <a:latin typeface="Calibri"/>
                  </a:rPr>
                  <a:t> tại </a:t>
                </a:r>
                <a:r>
                  <a:rPr lang="vi-VN"/>
                  <a:t>x=2</a:t>
                </a:r>
                <a:r>
                  <a:rPr sz="2100">
                    <a:solidFill>
                      <a:srgbClr val="1E293B"/>
                    </a:solidFill>
                    <a:latin typeface="Calibri"/>
                  </a:rPr>
                  <a:t> và </a:t>
                </a:r>
                <a:r>
                  <a:rPr lang="vi-VN"/>
                  <a:t>x=6</a:t>
                </a:r>
                <a:r>
                  <a:rPr sz="2100">
                    <a:solidFill>
                      <a:srgbClr val="1E293B"/>
                    </a:solidFill>
                    <a:latin typeface="Calibri"/>
                  </a:rPr>
                  <a:t>: cực tiểu; từ </a:t>
                </a:r>
                <a:r>
                  <a:rPr lang="vi-VN"/>
                  <a:t>+</a:t>
                </a:r>
                <a:r>
                  <a:rPr sz="2100">
                    <a:solidFill>
                      <a:srgbClr val="1E293B"/>
                    </a:solidFill>
                    <a:latin typeface="Calibri"/>
                  </a:rPr>
                  <a:t> sang </a:t>
                </a:r>
                <a:r>
                  <a:rPr lang="vi-VN"/>
                  <a:t>-</a:t>
                </a:r>
                <a:r>
                  <a:rPr sz="2100">
                    <a:solidFill>
                      <a:srgbClr val="1E293B"/>
                    </a:solidFill>
                    <a:latin typeface="Calibri"/>
                  </a:rPr>
                  <a:t> tại </a:t>
                </a:r>
                <a:r>
                  <a:rPr lang="vi-VN"/>
                  <a:t>x=4</a:t>
                </a:r>
                <a:r>
                  <a:rPr sz="2100">
                    <a:solidFill>
                      <a:srgbClr val="1E293B"/>
                    </a:solidFill>
                    <a:latin typeface="Calibri"/>
                  </a:rPr>
                  <a:t>: cực đại.</a:t>
                </a:r>
              </a:p>
            </p:txBody>
          </p:sp>
        </mc:Fallback>
      </mc:AlternateContent>
      <p:pic>
        <p:nvPicPr>
          <p:cNvPr id="12" name="Picture 11" descr="b1_h113.png"/>
          <p:cNvPicPr>
            <a:picLocks noChangeAspect="1"/>
          </p:cNvPicPr>
          <p:nvPr/>
        </p:nvPicPr>
        <p:blipFill>
          <a:blip r:embed="rId3"/>
          <a:stretch>
            <a:fillRect/>
          </a:stretch>
        </p:blipFill>
        <p:spPr>
          <a:xfrm>
            <a:off x="7223760" y="1589018"/>
            <a:ext cx="4480560" cy="23998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1.7 (SGK TR.14)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47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5783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1.7.</a:t>
                </a:r>
                <a:r>
                  <a:rPr sz="2100">
                    <a:solidFill>
                      <a:srgbClr val="1E293B"/>
                    </a:solidFill>
                    <a:latin typeface="Calibri"/>
                  </a:rPr>
                  <a:t> Tìm cực trị của các hàm số: a) </a:t>
                </a:r>
                <a14:m>
                  <m:oMath xmlns:m="http://schemas.openxmlformats.org/officeDocument/2006/math">
                    <m:r>
                      <a:rPr lang="vi-VN" sz="2100" b="0">
                        <a:solidFill>
                          <a:srgbClr val="1E293B"/>
                        </a:solidFill>
                        <a:latin typeface="Cambria Math" panose="02040503050406030204" pitchFamily="18" charset="0"/>
                      </a:rPr>
                      <m:t>y=2</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3</m:t>
                        </m:r>
                      </m:sup>
                    </m:sSup>
                    <m:r>
                      <a:rPr lang="vi-VN" sz="2100" b="0">
                        <a:solidFill>
                          <a:srgbClr val="1E293B"/>
                        </a:solidFill>
                        <a:latin typeface="Cambria Math" panose="02040503050406030204" pitchFamily="18" charset="0"/>
                      </a:rPr>
                      <m:t>−9</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+12x−5</m:t>
                    </m:r>
                  </m:oMath>
                </a14:m>
                <a:r>
                  <a:rPr sz="2100">
                    <a:solidFill>
                      <a:srgbClr val="1E293B"/>
                    </a:solidFill>
                    <a:latin typeface="Calibri"/>
                  </a:rPr>
                  <a:t>; b) </a:t>
                </a:r>
                <a14:m>
                  <m:oMath xmlns:m="http://schemas.openxmlformats.org/officeDocument/2006/math">
                    <m:r>
                      <a:rPr lang="vi-VN" sz="2100" b="0">
                        <a:solidFill>
                          <a:srgbClr val="1E293B"/>
                        </a:solidFill>
                        <a:latin typeface="Cambria Math" panose="02040503050406030204" pitchFamily="18" charset="0"/>
                      </a:rPr>
                      <m:t>y=</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4</m:t>
                        </m:r>
                      </m:sup>
                    </m:sSup>
                    <m:r>
                      <a:rPr lang="vi-VN" sz="2100" b="0">
                        <a:solidFill>
                          <a:srgbClr val="1E293B"/>
                        </a:solidFill>
                        <a:latin typeface="Cambria Math" panose="02040503050406030204" pitchFamily="18" charset="0"/>
                      </a:rPr>
                      <m:t>−4</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+2</m:t>
                    </m:r>
                  </m:oMath>
                </a14:m>
                <a:r>
                  <a:rPr sz="2100">
                    <a:solidFill>
                      <a:srgbClr val="1E293B"/>
                    </a:solidFill>
                    <a:latin typeface="Calibri"/>
                  </a:rPr>
                  <a:t>; c) </a:t>
                </a:r>
                <a14:m>
                  <m:oMath xmlns:m="http://schemas.openxmlformats.org/officeDocument/2006/math">
                    <m:r>
                      <a:rPr lang="vi-VN" sz="2100" b="0">
                        <a:solidFill>
                          <a:srgbClr val="1E293B"/>
                        </a:solidFill>
                        <a:latin typeface="Cambria Math" panose="02040503050406030204" pitchFamily="18" charset="0"/>
                      </a:rPr>
                      <m:t>y=</m:t>
                    </m:r>
                    <m:f>
                      <m:fPr>
                        <m:type m:val="bar"/>
                      </m:fPr>
                      <m:num>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−2x+3</m:t>
                        </m:r>
                      </m:num>
                      <m:den>
                        <m:r>
                          <a:rPr lang="vi-VN" sz="2100" b="0">
                            <a:solidFill>
                              <a:srgbClr val="1E293B"/>
                            </a:solidFill>
                            <a:latin typeface="Cambria Math" panose="02040503050406030204" pitchFamily="18" charset="0"/>
                          </a:rPr>
                          <m:t>x−1</m:t>
                        </m:r>
                      </m:den>
                    </m:f>
                  </m:oMath>
                </a14:m>
                <a:r>
                  <a:rPr sz="2100">
                    <a:solidFill>
                      <a:srgbClr val="1E293B"/>
                    </a:solidFill>
                    <a:latin typeface="Calibri"/>
                  </a:rPr>
                  <a:t>; d) </a:t>
                </a:r>
                <a14:m>
                  <m:oMath xmlns:m="http://schemas.openxmlformats.org/officeDocument/2006/math">
                    <m:r>
                      <a:rPr lang="vi-VN" sz="2100" b="0">
                        <a:solidFill>
                          <a:srgbClr val="1E293B"/>
                        </a:solidFill>
                        <a:latin typeface="Cambria Math" panose="02040503050406030204" pitchFamily="18" charset="0"/>
                      </a:rPr>
                      <m:t>y=</m:t>
                    </m:r>
                    <m:rad>
                      <m:radPr>
                        <m:degHide m:val="on"/>
                      </m:radPr>
                      <m:deg/>
                      <m:e>
                        <m:r>
                          <a:rPr lang="vi-VN" sz="2100" b="0">
                            <a:solidFill>
                              <a:srgbClr val="1E293B"/>
                            </a:solidFill>
                            <a:latin typeface="Cambria Math" panose="02040503050406030204" pitchFamily="18" charset="0"/>
                          </a:rPr>
                          <m:t>4x−2</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e>
                    </m:rad>
                  </m:oMath>
                </a14:m>
                <a:r>
                  <a:rPr sz="2100">
                    <a:solidFill>
                      <a:srgbClr val="1E293B"/>
                    </a:solidFill>
                    <a:latin typeface="Calibri"/>
                  </a:rPr>
                  <a:t>.</a:t>
                </a:r>
              </a:p>
            </p:txBody>
          </p:sp>
        </mc:Choice>
        <mc:Fallback>
          <p:sp>
            <p:nvSpPr>
              <p:cNvPr id="7" name="TextBox 6"/>
              <p:cNvSpPr txBox="1"/>
              <p:nvPr/>
            </p:nvSpPr>
            <p:spPr>
              <a:xfrm>
                <a:off x="548640" y="1371600"/>
                <a:ext cx="11064240" cy="95783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1.7.</a:t>
                </a:r>
                <a:r>
                  <a:rPr sz="2100">
                    <a:solidFill>
                      <a:srgbClr val="1E293B"/>
                    </a:solidFill>
                    <a:latin typeface="Calibri"/>
                  </a:rPr>
                  <a:t> Tìm cực trị của các hàm số: a) </a:t>
                </a:r>
                <a:r>
                  <a:rPr lang="vi-VN"/>
                  <a:t>y=2x^3-9x^2+12x-5</a:t>
                </a:r>
                <a:r>
                  <a:rPr sz="2100">
                    <a:solidFill>
                      <a:srgbClr val="1E293B"/>
                    </a:solidFill>
                    <a:latin typeface="Calibri"/>
                  </a:rPr>
                  <a:t>; b) </a:t>
                </a:r>
                <a:r>
                  <a:rPr lang="vi-VN"/>
                  <a:t>y=x^4-4x^2+2</a:t>
                </a:r>
                <a:r>
                  <a:rPr sz="2100">
                    <a:solidFill>
                      <a:srgbClr val="1E293B"/>
                    </a:solidFill>
                    <a:latin typeface="Calibri"/>
                  </a:rPr>
                  <a:t>; c) </a:t>
                </a:r>
                <a:r>
                  <a:rPr lang="vi-VN"/>
                  <a:t>y=\frac{x^2-2x+3}{x-1}</a:t>
                </a:r>
                <a:r>
                  <a:rPr sz="2100">
                    <a:solidFill>
                      <a:srgbClr val="1E293B"/>
                    </a:solidFill>
                    <a:latin typeface="Calibri"/>
                  </a:rPr>
                  <a:t>; d) </a:t>
                </a:r>
                <a:r>
                  <a:rPr lang="vi-VN"/>
                  <a:t>y=\sqrt{4x-2x^2}</a:t>
                </a:r>
                <a:r>
                  <a:rPr sz="2100">
                    <a:solidFill>
                      <a:srgbClr val="1E293B"/>
                    </a:solidFill>
                    <a:latin typeface="Calibri"/>
                  </a:rPr>
                  <a:t>.</a:t>
                </a:r>
              </a:p>
            </p:txBody>
          </p:sp>
        </mc:Fallback>
      </mc:AlternateContent>
      <p:sp>
        <p:nvSpPr>
          <p:cNvPr id="8" name="s1_nen"/>
          <p:cNvSpPr/>
          <p:nvPr/>
        </p:nvSpPr>
        <p:spPr>
          <a:xfrm>
            <a:off x="548640" y="2420874"/>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57450"/>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=6</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−18x+12</m:t>
                    </m:r>
                  </m:oMath>
                </a14:m>
                <a:r>
                  <a:rPr sz="2100">
                    <a:solidFill>
                      <a:srgbClr val="1E293B"/>
                    </a:solidFill>
                    <a:latin typeface="Calibri"/>
                  </a:rPr>
                  <a:t>: cực đại tại </a:t>
                </a:r>
                <a14:m>
                  <m:oMath xmlns:m="http://schemas.openxmlformats.org/officeDocument/2006/math">
                    <m:r>
                      <a:rPr lang="vi-VN" sz="2100" b="0">
                        <a:solidFill>
                          <a:srgbClr val="1E293B"/>
                        </a:solidFill>
                        <a:latin typeface="Cambria Math" panose="02040503050406030204" pitchFamily="18" charset="0"/>
                      </a:rPr>
                      <m:t>x=1</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CĐ</m:t>
                        </m:r>
                      </m:sub>
                    </m:sSub>
                    <m:r>
                      <a:rPr lang="vi-VN" sz="2100" b="0">
                        <a:solidFill>
                          <a:srgbClr val="1E293B"/>
                        </a:solidFill>
                        <a:latin typeface="Cambria Math" panose="02040503050406030204" pitchFamily="18" charset="0"/>
                      </a:rPr>
                      <m:t>=0</m:t>
                    </m:r>
                  </m:oMath>
                </a14:m>
                <a:r>
                  <a:rPr sz="2100">
                    <a:solidFill>
                      <a:srgbClr val="1E293B"/>
                    </a:solidFill>
                    <a:latin typeface="Calibri"/>
                  </a:rPr>
                  <a:t>; cực tiểu tại </a:t>
                </a:r>
                <a14:m>
                  <m:oMath xmlns:m="http://schemas.openxmlformats.org/officeDocument/2006/math">
                    <m:r>
                      <a:rPr lang="vi-VN" sz="2100" b="0">
                        <a:solidFill>
                          <a:srgbClr val="1E293B"/>
                        </a:solidFill>
                        <a:latin typeface="Cambria Math" panose="02040503050406030204" pitchFamily="18" charset="0"/>
                      </a:rPr>
                      <m:t>x=2</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CT</m:t>
                        </m:r>
                      </m:sub>
                    </m:sSub>
                    <m:r>
                      <a:rPr lang="vi-VN" sz="2100" b="0">
                        <a:solidFill>
                          <a:srgbClr val="1E293B"/>
                        </a:solidFill>
                        <a:latin typeface="Cambria Math" panose="02040503050406030204" pitchFamily="18" charset="0"/>
                      </a:rPr>
                      <m:t>=−1</m:t>
                    </m:r>
                  </m:oMath>
                </a14:m>
                <a:r>
                  <a:rPr sz="2100">
                    <a:solidFill>
                      <a:srgbClr val="1E293B"/>
                    </a:solidFill>
                    <a:latin typeface="Calibri"/>
                  </a:rPr>
                  <a:t>.</a:t>
                </a:r>
              </a:p>
            </p:txBody>
          </p:sp>
        </mc:Choice>
        <mc:Fallback>
          <p:sp>
            <p:nvSpPr>
              <p:cNvPr id="9" name="TextBox 8"/>
              <p:cNvSpPr txBox="1"/>
              <p:nvPr/>
            </p:nvSpPr>
            <p:spPr>
              <a:xfrm>
                <a:off x="713232" y="2457450"/>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y'=6x^2-18x+12</a:t>
                </a:r>
                <a:r>
                  <a:rPr sz="2100">
                    <a:solidFill>
                      <a:srgbClr val="1E293B"/>
                    </a:solidFill>
                    <a:latin typeface="Calibri"/>
                  </a:rPr>
                  <a:t>: cực đại tại </a:t>
                </a:r>
                <a:r>
                  <a:rPr lang="vi-VN"/>
                  <a:t>x=1</a:t>
                </a:r>
                <a:r>
                  <a:rPr sz="2100">
                    <a:solidFill>
                      <a:srgbClr val="1E293B"/>
                    </a:solidFill>
                    <a:latin typeface="Calibri"/>
                  </a:rPr>
                  <a:t>, </a:t>
                </a:r>
                <a:r>
                  <a:rPr lang="vi-VN"/>
                  <a:t>y_{CĐ}=0</a:t>
                </a:r>
                <a:r>
                  <a:rPr sz="2100">
                    <a:solidFill>
                      <a:srgbClr val="1E293B"/>
                    </a:solidFill>
                    <a:latin typeface="Calibri"/>
                  </a:rPr>
                  <a:t>; cực tiểu tại </a:t>
                </a:r>
                <a:r>
                  <a:rPr lang="vi-VN"/>
                  <a:t>x=2</a:t>
                </a:r>
                <a:r>
                  <a:rPr sz="2100">
                    <a:solidFill>
                      <a:srgbClr val="1E293B"/>
                    </a:solidFill>
                    <a:latin typeface="Calibri"/>
                  </a:rPr>
                  <a:t>, </a:t>
                </a:r>
                <a:r>
                  <a:rPr lang="vi-VN"/>
                  <a:t>y_{CT}=-1</a:t>
                </a:r>
                <a:r>
                  <a:rPr sz="2100">
                    <a:solidFill>
                      <a:srgbClr val="1E293B"/>
                    </a:solidFill>
                    <a:latin typeface="Calibri"/>
                  </a:rPr>
                  <a:t>.</a:t>
                </a:r>
              </a:p>
            </p:txBody>
          </p:sp>
        </mc:Fallback>
      </mc:AlternateContent>
      <p:sp>
        <p:nvSpPr>
          <p:cNvPr id="10" name="s2_nen"/>
          <p:cNvSpPr/>
          <p:nvPr/>
        </p:nvSpPr>
        <p:spPr>
          <a:xfrm>
            <a:off x="548640" y="3097529"/>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134106"/>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=4</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3</m:t>
                        </m:r>
                      </m:sup>
                    </m:sSup>
                    <m:r>
                      <a:rPr lang="vi-VN" sz="2100" b="0">
                        <a:solidFill>
                          <a:srgbClr val="1E293B"/>
                        </a:solidFill>
                        <a:latin typeface="Cambria Math" panose="02040503050406030204" pitchFamily="18" charset="0"/>
                      </a:rPr>
                      <m:t>−8x</m:t>
                    </m:r>
                  </m:oMath>
                </a14:m>
                <a:r>
                  <a:rPr sz="2100">
                    <a:solidFill>
                      <a:srgbClr val="1E293B"/>
                    </a:solidFill>
                    <a:latin typeface="Calibri"/>
                  </a:rPr>
                  <a:t>: cực đại tại </a:t>
                </a:r>
                <a14:m>
                  <m:oMath xmlns:m="http://schemas.openxmlformats.org/officeDocument/2006/math">
                    <m:r>
                      <a:rPr lang="vi-VN" sz="2100" b="0">
                        <a:solidFill>
                          <a:srgbClr val="1E293B"/>
                        </a:solidFill>
                        <a:latin typeface="Cambria Math" panose="02040503050406030204" pitchFamily="18" charset="0"/>
                      </a:rPr>
                      <m:t>x=0</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CĐ</m:t>
                        </m:r>
                      </m:sub>
                    </m:sSub>
                    <m:r>
                      <a:rPr lang="vi-VN" sz="2100" b="0">
                        <a:solidFill>
                          <a:srgbClr val="1E293B"/>
                        </a:solidFill>
                        <a:latin typeface="Cambria Math" panose="02040503050406030204" pitchFamily="18" charset="0"/>
                      </a:rPr>
                      <m:t>=2</m:t>
                    </m:r>
                  </m:oMath>
                </a14:m>
                <a:r>
                  <a:rPr sz="2100">
                    <a:solidFill>
                      <a:srgbClr val="1E293B"/>
                    </a:solidFill>
                    <a:latin typeface="Calibri"/>
                  </a:rPr>
                  <a:t>; cực tiểu tại </a:t>
                </a:r>
                <a14:m>
                  <m:oMath xmlns:m="http://schemas.openxmlformats.org/officeDocument/2006/math">
                    <m:r>
                      <a:rPr lang="vi-VN" sz="2100" b="0">
                        <a:solidFill>
                          <a:srgbClr val="1E293B"/>
                        </a:solidFill>
                        <a:latin typeface="Cambria Math" panose="02040503050406030204" pitchFamily="18" charset="0"/>
                      </a:rPr>
                      <m:t>x=±</m:t>
                    </m:r>
                    <m:rad>
                      <m:radPr>
                        <m:degHide m:val="on"/>
                      </m:radPr>
                      <m:deg/>
                      <m:e>
                        <m:r>
                          <a:rPr lang="vi-VN" sz="2100" b="0">
                            <a:solidFill>
                              <a:srgbClr val="1E293B"/>
                            </a:solidFill>
                            <a:latin typeface="Cambria Math" panose="02040503050406030204" pitchFamily="18" charset="0"/>
                          </a:rPr>
                          <m:t>2</m:t>
                        </m:r>
                      </m:e>
                    </m:rad>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CT</m:t>
                        </m:r>
                      </m:sub>
                    </m:sSub>
                    <m:r>
                      <a:rPr lang="vi-VN" sz="2100" b="0">
                        <a:solidFill>
                          <a:srgbClr val="1E293B"/>
                        </a:solidFill>
                        <a:latin typeface="Cambria Math" panose="02040503050406030204" pitchFamily="18" charset="0"/>
                      </a:rPr>
                      <m:t>=−2</m:t>
                    </m:r>
                  </m:oMath>
                </a14:m>
                <a:r>
                  <a:rPr sz="2100">
                    <a:solidFill>
                      <a:srgbClr val="1E293B"/>
                    </a:solidFill>
                    <a:latin typeface="Calibri"/>
                  </a:rPr>
                  <a:t>.</a:t>
                </a:r>
              </a:p>
            </p:txBody>
          </p:sp>
        </mc:Choice>
        <mc:Fallback>
          <p:sp>
            <p:nvSpPr>
              <p:cNvPr id="11" name="TextBox 10"/>
              <p:cNvSpPr txBox="1"/>
              <p:nvPr/>
            </p:nvSpPr>
            <p:spPr>
              <a:xfrm>
                <a:off x="713232" y="3134106"/>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y'=4x^3-8x</a:t>
                </a:r>
                <a:r>
                  <a:rPr sz="2100">
                    <a:solidFill>
                      <a:srgbClr val="1E293B"/>
                    </a:solidFill>
                    <a:latin typeface="Calibri"/>
                  </a:rPr>
                  <a:t>: cực đại tại </a:t>
                </a:r>
                <a:r>
                  <a:rPr lang="vi-VN"/>
                  <a:t>x=0</a:t>
                </a:r>
                <a:r>
                  <a:rPr sz="2100">
                    <a:solidFill>
                      <a:srgbClr val="1E293B"/>
                    </a:solidFill>
                    <a:latin typeface="Calibri"/>
                  </a:rPr>
                  <a:t>, </a:t>
                </a:r>
                <a:r>
                  <a:rPr lang="vi-VN"/>
                  <a:t>y_{CĐ}=2</a:t>
                </a:r>
                <a:r>
                  <a:rPr sz="2100">
                    <a:solidFill>
                      <a:srgbClr val="1E293B"/>
                    </a:solidFill>
                    <a:latin typeface="Calibri"/>
                  </a:rPr>
                  <a:t>; cực tiểu tại </a:t>
                </a:r>
                <a:r>
                  <a:rPr lang="vi-VN"/>
                  <a:t>x=\pm\sqrt{2}</a:t>
                </a:r>
                <a:r>
                  <a:rPr sz="2100">
                    <a:solidFill>
                      <a:srgbClr val="1E293B"/>
                    </a:solidFill>
                    <a:latin typeface="Calibri"/>
                  </a:rPr>
                  <a:t>, </a:t>
                </a:r>
                <a:r>
                  <a:rPr lang="vi-VN"/>
                  <a:t>y_{CT}=-2</a:t>
                </a:r>
                <a:r>
                  <a:rPr sz="2100">
                    <a:solidFill>
                      <a:srgbClr val="1E293B"/>
                    </a:solidFill>
                    <a:latin typeface="Calibri"/>
                  </a:rPr>
                  <a:t>.</a:t>
                </a:r>
              </a:p>
            </p:txBody>
          </p:sp>
        </mc:Fallback>
      </mc:AlternateContent>
      <p:sp>
        <p:nvSpPr>
          <p:cNvPr id="12" name="s3_nen"/>
          <p:cNvSpPr/>
          <p:nvPr/>
        </p:nvSpPr>
        <p:spPr>
          <a:xfrm>
            <a:off x="548640" y="3774185"/>
            <a:ext cx="11064240" cy="104927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3810761"/>
                <a:ext cx="1073505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−2x−1</m:t>
                        </m:r>
                      </m:num>
                      <m:den>
                        <m:sSup>
                          <m:e>
                            <m:d>
                              <m:dPr>
                                <m:sepChr m:val=""/>
                              </m:dPr>
                              <m:e>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e>
                          <m:sup>
                            <m:r>
                              <a:rPr lang="vi-VN" sz="2100" b="0">
                                <a:solidFill>
                                  <a:srgbClr val="1E293B"/>
                                </a:solidFill>
                                <a:latin typeface="Cambria Math" panose="02040503050406030204" pitchFamily="18" charset="0"/>
                              </a:rPr>
                              <m:t>2</m:t>
                            </m:r>
                          </m:sup>
                        </m:sSup>
                      </m:den>
                    </m:f>
                  </m:oMath>
                </a14:m>
                <a:r>
                  <a:rPr sz="2100">
                    <a:solidFill>
                      <a:srgbClr val="1E293B"/>
                    </a:solidFill>
                    <a:latin typeface="Calibri"/>
                  </a:rPr>
                  <a:t>: cực đại tại </a:t>
                </a:r>
                <a14:m>
                  <m:oMath xmlns:m="http://schemas.openxmlformats.org/officeDocument/2006/math">
                    <m:r>
                      <a:rPr lang="vi-VN" sz="2100" b="0">
                        <a:solidFill>
                          <a:srgbClr val="1E293B"/>
                        </a:solidFill>
                        <a:latin typeface="Cambria Math" panose="02040503050406030204" pitchFamily="18" charset="0"/>
                      </a:rPr>
                      <m:t>x=1−</m:t>
                    </m:r>
                    <m:rad>
                      <m:radPr>
                        <m:degHide m:val="on"/>
                      </m:radPr>
                      <m:deg/>
                      <m:e>
                        <m:r>
                          <a:rPr lang="vi-VN" sz="2100" b="0">
                            <a:solidFill>
                              <a:srgbClr val="1E293B"/>
                            </a:solidFill>
                            <a:latin typeface="Cambria Math" panose="02040503050406030204" pitchFamily="18" charset="0"/>
                          </a:rPr>
                          <m:t>2</m:t>
                        </m:r>
                      </m:e>
                    </m:rad>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CĐ</m:t>
                        </m:r>
                      </m:sub>
                    </m:sSub>
                    <m:r>
                      <a:rPr lang="vi-VN" sz="2100" b="0">
                        <a:solidFill>
                          <a:srgbClr val="1E293B"/>
                        </a:solidFill>
                        <a:latin typeface="Cambria Math" panose="02040503050406030204" pitchFamily="18" charset="0"/>
                      </a:rPr>
                      <m:t>=−2</m:t>
                    </m:r>
                    <m:rad>
                      <m:radPr>
                        <m:degHide m:val="on"/>
                      </m:radPr>
                      <m:deg/>
                      <m:e>
                        <m:r>
                          <a:rPr lang="vi-VN" sz="2100" b="0">
                            <a:solidFill>
                              <a:srgbClr val="1E293B"/>
                            </a:solidFill>
                            <a:latin typeface="Cambria Math" panose="02040503050406030204" pitchFamily="18" charset="0"/>
                          </a:rPr>
                          <m:t>2</m:t>
                        </m:r>
                      </m:e>
                    </m:rad>
                  </m:oMath>
                </a14:m>
                <a:r>
                  <a:rPr sz="2100">
                    <a:solidFill>
                      <a:srgbClr val="1E293B"/>
                    </a:solidFill>
                    <a:latin typeface="Calibri"/>
                  </a:rPr>
                  <a:t>; cực tiểu tại </a:t>
                </a:r>
                <a14:m>
                  <m:oMath xmlns:m="http://schemas.openxmlformats.org/officeDocument/2006/math">
                    <m:r>
                      <a:rPr lang="vi-VN" sz="2100" b="0">
                        <a:solidFill>
                          <a:srgbClr val="1E293B"/>
                        </a:solidFill>
                        <a:latin typeface="Cambria Math" panose="02040503050406030204" pitchFamily="18" charset="0"/>
                      </a:rPr>
                      <m:t>x=1+</m:t>
                    </m:r>
                    <m:rad>
                      <m:radPr>
                        <m:degHide m:val="on"/>
                      </m:radPr>
                      <m:deg/>
                      <m:e>
                        <m:r>
                          <a:rPr lang="vi-VN" sz="2100" b="0">
                            <a:solidFill>
                              <a:srgbClr val="1E293B"/>
                            </a:solidFill>
                            <a:latin typeface="Cambria Math" panose="02040503050406030204" pitchFamily="18" charset="0"/>
                          </a:rPr>
                          <m:t>2</m:t>
                        </m:r>
                      </m:e>
                    </m:rad>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CT</m:t>
                        </m:r>
                      </m:sub>
                    </m:sSub>
                    <m:r>
                      <a:rPr lang="vi-VN" sz="2100" b="0">
                        <a:solidFill>
                          <a:srgbClr val="1E293B"/>
                        </a:solidFill>
                        <a:latin typeface="Cambria Math" panose="02040503050406030204" pitchFamily="18" charset="0"/>
                      </a:rPr>
                      <m:t>=2</m:t>
                    </m:r>
                    <m:rad>
                      <m:radPr>
                        <m:degHide m:val="on"/>
                      </m:radPr>
                      <m:deg/>
                      <m:e>
                        <m:r>
                          <a:rPr lang="vi-VN" sz="2100" b="0">
                            <a:solidFill>
                              <a:srgbClr val="1E293B"/>
                            </a:solidFill>
                            <a:latin typeface="Cambria Math" panose="02040503050406030204" pitchFamily="18" charset="0"/>
                          </a:rPr>
                          <m:t>2</m:t>
                        </m:r>
                      </m:e>
                    </m:rad>
                  </m:oMath>
                </a14:m>
                <a:r>
                  <a:rPr sz="2100">
                    <a:solidFill>
                      <a:srgbClr val="1E293B"/>
                    </a:solidFill>
                    <a:latin typeface="Calibri"/>
                  </a:rPr>
                  <a:t>.</a:t>
                </a:r>
              </a:p>
            </p:txBody>
          </p:sp>
        </mc:Choice>
        <mc:Fallback>
          <p:sp>
            <p:nvSpPr>
              <p:cNvPr id="13" name="TextBox 12"/>
              <p:cNvSpPr txBox="1"/>
              <p:nvPr/>
            </p:nvSpPr>
            <p:spPr>
              <a:xfrm>
                <a:off x="713232" y="3810761"/>
                <a:ext cx="1073505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 </a:t>
                </a:r>
                <a:r>
                  <a:rPr lang="vi-VN"/>
                  <a:t>y'=\frac{x^2-2x-1}{(x-1)^2}</a:t>
                </a:r>
                <a:r>
                  <a:rPr sz="2100">
                    <a:solidFill>
                      <a:srgbClr val="1E293B"/>
                    </a:solidFill>
                    <a:latin typeface="Calibri"/>
                  </a:rPr>
                  <a:t>: cực đại tại </a:t>
                </a:r>
                <a:r>
                  <a:rPr lang="vi-VN"/>
                  <a:t>x=1-\sqrt{2}</a:t>
                </a:r>
                <a:r>
                  <a:rPr sz="2100">
                    <a:solidFill>
                      <a:srgbClr val="1E293B"/>
                    </a:solidFill>
                    <a:latin typeface="Calibri"/>
                  </a:rPr>
                  <a:t>, </a:t>
                </a:r>
                <a:r>
                  <a:rPr lang="vi-VN"/>
                  <a:t>y_{CĐ}=-2\sqrt{2}</a:t>
                </a:r>
                <a:r>
                  <a:rPr sz="2100">
                    <a:solidFill>
                      <a:srgbClr val="1E293B"/>
                    </a:solidFill>
                    <a:latin typeface="Calibri"/>
                  </a:rPr>
                  <a:t>; cực tiểu tại </a:t>
                </a:r>
                <a:r>
                  <a:rPr lang="vi-VN"/>
                  <a:t>x=1+\sqrt{2}</a:t>
                </a:r>
                <a:r>
                  <a:rPr sz="2100">
                    <a:solidFill>
                      <a:srgbClr val="1E293B"/>
                    </a:solidFill>
                    <a:latin typeface="Calibri"/>
                  </a:rPr>
                  <a:t>, </a:t>
                </a:r>
                <a:r>
                  <a:rPr lang="vi-VN"/>
                  <a:t>y_{CT}=2\sqrt{2}</a:t>
                </a:r>
                <a:r>
                  <a:rPr sz="2100">
                    <a:solidFill>
                      <a:srgbClr val="1E293B"/>
                    </a:solidFill>
                    <a:latin typeface="Calibri"/>
                  </a:rPr>
                  <a:t>.</a:t>
                </a:r>
              </a:p>
            </p:txBody>
          </p:sp>
        </mc:Fallback>
      </mc:AlternateContent>
      <p:sp>
        <p:nvSpPr>
          <p:cNvPr id="14" name="s4_nen"/>
          <p:cNvSpPr/>
          <p:nvPr/>
        </p:nvSpPr>
        <p:spPr>
          <a:xfrm>
            <a:off x="548640" y="4914899"/>
            <a:ext cx="11064240" cy="72923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s4_chu"/>
              <p:cNvSpPr txBox="1"/>
              <p:nvPr/>
            </p:nvSpPr>
            <p:spPr>
              <a:xfrm>
                <a:off x="713232" y="4951475"/>
                <a:ext cx="1073505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d) Tập xác định </a:t>
                </a:r>
                <a14:m>
                  <m:oMath xmlns:m="http://schemas.openxmlformats.org/officeDocument/2006/math">
                    <m:d>
                      <m:dPr>
                        <m:begChr m:val="["/>
                        <m:sepChr m:val=""/>
                        <m:endChr m:val="]"/>
                      </m:dPr>
                      <m:e>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2</m:t>
                        </m:r>
                      </m:e>
                    </m:d>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2−2x</m:t>
                        </m:r>
                      </m:num>
                      <m:den>
                        <m:rad>
                          <m:radPr>
                            <m:degHide m:val="on"/>
                          </m:radPr>
                          <m:deg/>
                          <m:e>
                            <m:r>
                              <a:rPr lang="vi-VN" sz="2100" b="0">
                                <a:solidFill>
                                  <a:srgbClr val="1E293B"/>
                                </a:solidFill>
                                <a:latin typeface="Cambria Math" panose="02040503050406030204" pitchFamily="18" charset="0"/>
                              </a:rPr>
                              <m:t>4x−2</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e>
                        </m:rad>
                      </m:den>
                    </m:f>
                  </m:oMath>
                </a14:m>
                <a:r>
                  <a:rPr sz="2100">
                    <a:solidFill>
                      <a:srgbClr val="1E293B"/>
                    </a:solidFill>
                    <a:latin typeface="Calibri"/>
                  </a:rPr>
                  <a:t>: cực đại tại </a:t>
                </a:r>
                <a14:m>
                  <m:oMath xmlns:m="http://schemas.openxmlformats.org/officeDocument/2006/math">
                    <m:r>
                      <a:rPr lang="vi-VN" sz="2100" b="0">
                        <a:solidFill>
                          <a:srgbClr val="1E293B"/>
                        </a:solidFill>
                        <a:latin typeface="Cambria Math" panose="02040503050406030204" pitchFamily="18" charset="0"/>
                      </a:rPr>
                      <m:t>x=1</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CĐ</m:t>
                        </m:r>
                      </m:sub>
                    </m:sSub>
                    <m:r>
                      <a:rPr lang="vi-VN" sz="2100" b="0">
                        <a:solidFill>
                          <a:srgbClr val="1E293B"/>
                        </a:solidFill>
                        <a:latin typeface="Cambria Math" panose="02040503050406030204" pitchFamily="18" charset="0"/>
                      </a:rPr>
                      <m:t>=</m:t>
                    </m:r>
                    <m:rad>
                      <m:radPr>
                        <m:degHide m:val="on"/>
                      </m:radPr>
                      <m:deg/>
                      <m:e>
                        <m:r>
                          <a:rPr lang="vi-VN" sz="2100" b="0">
                            <a:solidFill>
                              <a:srgbClr val="1E293B"/>
                            </a:solidFill>
                            <a:latin typeface="Cambria Math" panose="02040503050406030204" pitchFamily="18" charset="0"/>
                          </a:rPr>
                          <m:t>2</m:t>
                        </m:r>
                      </m:e>
                    </m:rad>
                  </m:oMath>
                </a14:m>
                <a:r>
                  <a:rPr sz="2100">
                    <a:solidFill>
                      <a:srgbClr val="1E293B"/>
                    </a:solidFill>
                    <a:latin typeface="Calibri"/>
                  </a:rPr>
                  <a:t>.</a:t>
                </a:r>
              </a:p>
            </p:txBody>
          </p:sp>
        </mc:Choice>
        <mc:Fallback>
          <p:sp>
            <p:nvSpPr>
              <p:cNvPr id="15" name="TextBox 14"/>
              <p:cNvSpPr txBox="1"/>
              <p:nvPr/>
            </p:nvSpPr>
            <p:spPr>
              <a:xfrm>
                <a:off x="713232" y="4951475"/>
                <a:ext cx="1073505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d) Tập xác định </a:t>
                </a:r>
                <a:r>
                  <a:rPr lang="vi-VN"/>
                  <a:t>[0;\ 2]</a:t>
                </a:r>
                <a:r>
                  <a:rPr sz="2100">
                    <a:solidFill>
                      <a:srgbClr val="1E293B"/>
                    </a:solidFill>
                    <a:latin typeface="Calibri"/>
                  </a:rPr>
                  <a:t>, </a:t>
                </a:r>
                <a:r>
                  <a:rPr lang="vi-VN"/>
                  <a:t>y'=\frac{2-2x}{\sqrt{4x-2x^2}}</a:t>
                </a:r>
                <a:r>
                  <a:rPr sz="2100">
                    <a:solidFill>
                      <a:srgbClr val="1E293B"/>
                    </a:solidFill>
                    <a:latin typeface="Calibri"/>
                  </a:rPr>
                  <a:t>: cực đại tại </a:t>
                </a:r>
                <a:r>
                  <a:rPr lang="vi-VN"/>
                  <a:t>x=1</a:t>
                </a:r>
                <a:r>
                  <a:rPr sz="2100">
                    <a:solidFill>
                      <a:srgbClr val="1E293B"/>
                    </a:solidFill>
                    <a:latin typeface="Calibri"/>
                  </a:rPr>
                  <a:t>, </a:t>
                </a:r>
                <a:r>
                  <a:rPr lang="vi-VN"/>
                  <a:t>y_{CĐ}=\sqrt{2}</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1.8 – 1.9 (SGK TR.14)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48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36245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1.8.</a:t>
                </a:r>
                <a:r>
                  <a:rPr sz="2000">
                    <a:solidFill>
                      <a:srgbClr val="1E293B"/>
                    </a:solidFill>
                    <a:latin typeface="Calibri"/>
                  </a:rPr>
                  <a:t> Cho hàm số </a:t>
                </a:r>
                <a14:m>
                  <m:oMath xmlns:m="http://schemas.openxmlformats.org/officeDocument/2006/math">
                    <m:r>
                      <a:rPr lang="vi-VN" sz="2000" b="0">
                        <a:solidFill>
                          <a:srgbClr val="1E293B"/>
                        </a:solidFill>
                        <a:latin typeface="Cambria Math" panose="02040503050406030204" pitchFamily="18" charset="0"/>
                      </a:rPr>
                      <m:t>y=f(x)=|x|</m:t>
                    </m:r>
                  </m:oMath>
                </a14:m>
                <a:r>
                  <a:rPr sz="2000">
                    <a:solidFill>
                      <a:srgbClr val="1E293B"/>
                    </a:solidFill>
                    <a:latin typeface="Calibri"/>
                  </a:rPr>
                  <a:t>. a) Tính các giới hạn </a:t>
                </a:r>
                <a14:m>
                  <m:oMath xmlns:m="http://schemas.openxmlformats.org/officeDocument/2006/math">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x→</m:t>
                        </m:r>
                        <m:sSup>
                          <m:e>
                            <m:r>
                              <a:rPr lang="vi-VN" sz="2000" b="0">
                                <a:solidFill>
                                  <a:srgbClr val="1E293B"/>
                                </a:solidFill>
                                <a:latin typeface="Cambria Math" panose="02040503050406030204" pitchFamily="18" charset="0"/>
                              </a:rPr>
                              <m:t>0</m:t>
                            </m:r>
                          </m:e>
                          <m:sup>
                            <m:r>
                              <a:rPr lang="vi-VN" sz="2000" b="0">
                                <a:solidFill>
                                  <a:srgbClr val="1E293B"/>
                                </a:solidFill>
                                <a:latin typeface="Cambria Math" panose="02040503050406030204" pitchFamily="18" charset="0"/>
                              </a:rPr>
                              <m:t>+</m:t>
                            </m:r>
                          </m:sup>
                        </m:sSup>
                      </m:lim>
                    </m:limLow>
                    <m:f>
                      <m:fPr>
                        <m:type m:val="bar"/>
                      </m:fPr>
                      <m:num>
                        <m:r>
                          <a:rPr lang="vi-VN" sz="2000" b="0">
                            <a:solidFill>
                              <a:srgbClr val="1E293B"/>
                            </a:solidFill>
                            <a:latin typeface="Cambria Math" panose="02040503050406030204" pitchFamily="18" charset="0"/>
                          </a:rPr>
                          <m:t>f(x)−f(0)</m:t>
                        </m:r>
                      </m:num>
                      <m:den>
                        <m:r>
                          <a:rPr lang="vi-VN" sz="2000" b="0">
                            <a:solidFill>
                              <a:srgbClr val="1E293B"/>
                            </a:solidFill>
                            <a:latin typeface="Cambria Math" panose="02040503050406030204" pitchFamily="18" charset="0"/>
                          </a:rPr>
                          <m:t>x−0</m:t>
                        </m:r>
                      </m:den>
                    </m:f>
                  </m:oMath>
                </a14:m>
                <a:r>
                  <a:rPr sz="2000">
                    <a:solidFill>
                      <a:srgbClr val="1E293B"/>
                    </a:solidFill>
                    <a:latin typeface="Calibri"/>
                  </a:rPr>
                  <a:t> và </a:t>
                </a:r>
                <a14:m>
                  <m:oMath xmlns:m="http://schemas.openxmlformats.org/officeDocument/2006/math">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x→</m:t>
                        </m:r>
                        <m:sSup>
                          <m:e>
                            <m:r>
                              <a:rPr lang="vi-VN" sz="2000" b="0">
                                <a:solidFill>
                                  <a:srgbClr val="1E293B"/>
                                </a:solidFill>
                                <a:latin typeface="Cambria Math" panose="02040503050406030204" pitchFamily="18" charset="0"/>
                              </a:rPr>
                              <m:t>0</m:t>
                            </m:r>
                          </m:e>
                          <m:sup>
                            <m:r>
                              <a:rPr lang="vi-VN" sz="2000" b="0">
                                <a:solidFill>
                                  <a:srgbClr val="1E293B"/>
                                </a:solidFill>
                                <a:latin typeface="Cambria Math" panose="02040503050406030204" pitchFamily="18" charset="0"/>
                              </a:rPr>
                              <m:t>−</m:t>
                            </m:r>
                          </m:sup>
                        </m:sSup>
                      </m:lim>
                    </m:limLow>
                    <m:f>
                      <m:fPr>
                        <m:type m:val="bar"/>
                      </m:fPr>
                      <m:num>
                        <m:r>
                          <a:rPr lang="vi-VN" sz="2000" b="0">
                            <a:solidFill>
                              <a:srgbClr val="1E293B"/>
                            </a:solidFill>
                            <a:latin typeface="Cambria Math" panose="02040503050406030204" pitchFamily="18" charset="0"/>
                          </a:rPr>
                          <m:t>f(x)−f(0)</m:t>
                        </m:r>
                      </m:num>
                      <m:den>
                        <m:r>
                          <a:rPr lang="vi-VN" sz="2000" b="0">
                            <a:solidFill>
                              <a:srgbClr val="1E293B"/>
                            </a:solidFill>
                            <a:latin typeface="Cambria Math" panose="02040503050406030204" pitchFamily="18" charset="0"/>
                          </a:rPr>
                          <m:t>x−0</m:t>
                        </m:r>
                      </m:den>
                    </m:f>
                  </m:oMath>
                </a14:m>
                <a:r>
                  <a:rPr sz="2000">
                    <a:solidFill>
                      <a:srgbClr val="1E293B"/>
                    </a:solidFill>
                    <a:latin typeface="Calibri"/>
                  </a:rPr>
                  <a:t>. Từ đó suy ra hàm số không có đạo hàm tại </a:t>
                </a:r>
                <a14:m>
                  <m:oMath xmlns:m="http://schemas.openxmlformats.org/officeDocument/2006/math">
                    <m:r>
                      <a:rPr lang="vi-VN" sz="2000" b="0">
                        <a:solidFill>
                          <a:srgbClr val="1E293B"/>
                        </a:solidFill>
                        <a:latin typeface="Cambria Math" panose="02040503050406030204" pitchFamily="18" charset="0"/>
                      </a:rPr>
                      <m:t>x=0</m:t>
                    </m:r>
                  </m:oMath>
                </a14:m>
                <a:r>
                  <a:rPr sz="2000">
                    <a:solidFill>
                      <a:srgbClr val="1E293B"/>
                    </a:solidFill>
                    <a:latin typeface="Calibri"/>
                  </a:rPr>
                  <a:t>. b) Sử dụng định nghĩa, chứng minh hàm số có cực tiểu tại </a:t>
                </a:r>
                <a14:m>
                  <m:oMath xmlns:m="http://schemas.openxmlformats.org/officeDocument/2006/math">
                    <m:r>
                      <a:rPr lang="vi-VN" sz="2000" b="0">
                        <a:solidFill>
                          <a:srgbClr val="1E293B"/>
                        </a:solidFill>
                        <a:latin typeface="Cambria Math" panose="02040503050406030204" pitchFamily="18" charset="0"/>
                      </a:rPr>
                      <m:t>x=0</m:t>
                    </m:r>
                  </m:oMath>
                </a14:m>
                <a:r>
                  <a:rPr sz="2000">
                    <a:solidFill>
                      <a:srgbClr val="1E293B"/>
                    </a:solidFill>
                    <a:latin typeface="Calibri"/>
                  </a:rPr>
                  <a:t> (xem Hình 1.4).</a:t>
                </a:r>
              </a:p>
            </p:txBody>
          </p:sp>
        </mc:Choice>
        <mc:Fallback>
          <p:sp>
            <p:nvSpPr>
              <p:cNvPr id="7" name="TextBox 6"/>
              <p:cNvSpPr txBox="1"/>
              <p:nvPr/>
            </p:nvSpPr>
            <p:spPr>
              <a:xfrm>
                <a:off x="548640" y="1371600"/>
                <a:ext cx="11064240" cy="136245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1.8.</a:t>
                </a:r>
                <a:r>
                  <a:rPr sz="2000">
                    <a:solidFill>
                      <a:srgbClr val="1E293B"/>
                    </a:solidFill>
                    <a:latin typeface="Calibri"/>
                  </a:rPr>
                  <a:t> Cho hàm số </a:t>
                </a:r>
                <a:r>
                  <a:rPr lang="vi-VN"/>
                  <a:t>y=f(x)=|x|</a:t>
                </a:r>
                <a:r>
                  <a:rPr sz="2000">
                    <a:solidFill>
                      <a:srgbClr val="1E293B"/>
                    </a:solidFill>
                    <a:latin typeface="Calibri"/>
                  </a:rPr>
                  <a:t>. a) Tính các giới hạn </a:t>
                </a:r>
                <a:r>
                  <a:rPr lang="vi-VN"/>
                  <a:t>\lim\limits_{x\to 0^+}\frac{f(x)-f(0)}{x-0}</a:t>
                </a:r>
                <a:r>
                  <a:rPr sz="2000">
                    <a:solidFill>
                      <a:srgbClr val="1E293B"/>
                    </a:solidFill>
                    <a:latin typeface="Calibri"/>
                  </a:rPr>
                  <a:t> và </a:t>
                </a:r>
                <a:r>
                  <a:rPr lang="vi-VN"/>
                  <a:t>\lim\limits_{x\to 0^-}\frac{f(x)-f(0)}{x-0}</a:t>
                </a:r>
                <a:r>
                  <a:rPr sz="2000">
                    <a:solidFill>
                      <a:srgbClr val="1E293B"/>
                    </a:solidFill>
                    <a:latin typeface="Calibri"/>
                  </a:rPr>
                  <a:t>. Từ đó suy ra hàm số không có đạo hàm tại </a:t>
                </a:r>
                <a:r>
                  <a:rPr lang="vi-VN"/>
                  <a:t>x=0</a:t>
                </a:r>
                <a:r>
                  <a:rPr sz="2000">
                    <a:solidFill>
                      <a:srgbClr val="1E293B"/>
                    </a:solidFill>
                    <a:latin typeface="Calibri"/>
                  </a:rPr>
                  <a:t>. b) Sử dụng định nghĩa, chứng minh hàm số có cực tiểu tại </a:t>
                </a:r>
                <a:r>
                  <a:rPr lang="vi-VN"/>
                  <a:t>x=0</a:t>
                </a:r>
                <a:r>
                  <a:rPr sz="2000">
                    <a:solidFill>
                      <a:srgbClr val="1E293B"/>
                    </a:solidFill>
                    <a:latin typeface="Calibri"/>
                  </a:rPr>
                  <a:t> (xem Hình 1.4).</a:t>
                </a:r>
              </a:p>
            </p:txBody>
          </p:sp>
        </mc:Fallback>
      </mc:AlternateContent>
      <p:sp>
        <p:nvSpPr>
          <p:cNvPr id="8" name="s1_nen"/>
          <p:cNvSpPr/>
          <p:nvPr/>
        </p:nvSpPr>
        <p:spPr>
          <a:xfrm>
            <a:off x="548640" y="2798064"/>
            <a:ext cx="110642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834640"/>
                <a:ext cx="10735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Hai giới hạn lần lượt bằng </a:t>
                </a:r>
                <a14:m>
                  <m:oMath xmlns:m="http://schemas.openxmlformats.org/officeDocument/2006/math">
                    <m:r>
                      <a:rPr lang="vi-VN" sz="2000" b="0">
                        <a:solidFill>
                          <a:srgbClr val="1E293B"/>
                        </a:solidFill>
                        <a:latin typeface="Cambria Math" panose="02040503050406030204" pitchFamily="18" charset="0"/>
                      </a:rPr>
                      <m:t>1</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−1</m:t>
                    </m:r>
                  </m:oMath>
                </a14:m>
                <a:r>
                  <a:rPr sz="2000">
                    <a:solidFill>
                      <a:srgbClr val="1E293B"/>
                    </a:solidFill>
                    <a:latin typeface="Calibri"/>
                  </a:rPr>
                  <a:t>, khác nhau nên không có đạo hàm tại 0. b) </a:t>
                </a:r>
                <a14:m>
                  <m:oMath xmlns:m="http://schemas.openxmlformats.org/officeDocument/2006/math">
                    <m:r>
                      <a:rPr lang="vi-VN" sz="2000" b="0">
                        <a:solidFill>
                          <a:srgbClr val="1E293B"/>
                        </a:solidFill>
                        <a:latin typeface="Cambria Math" panose="02040503050406030204" pitchFamily="18" charset="0"/>
                      </a:rPr>
                      <m:t>f(x)=|x|&gt;0=f(0)</m:t>
                    </m:r>
                  </m:oMath>
                </a14:m>
                <a:r>
                  <a:rPr sz="2000">
                    <a:solidFill>
                      <a:srgbClr val="1E293B"/>
                    </a:solidFill>
                    <a:latin typeface="Calibri"/>
                  </a:rPr>
                  <a:t> với mọi </a:t>
                </a:r>
                <a14:m>
                  <m:oMath xmlns:m="http://schemas.openxmlformats.org/officeDocument/2006/math">
                    <m:r>
                      <a:rPr lang="vi-VN" sz="2000" b="0">
                        <a:solidFill>
                          <a:srgbClr val="1E293B"/>
                        </a:solidFill>
                        <a:latin typeface="Cambria Math" panose="02040503050406030204" pitchFamily="18" charset="0"/>
                      </a:rPr>
                      <m:t>x≠0</m:t>
                    </m:r>
                  </m:oMath>
                </a14:m>
                <a:r>
                  <a:rPr sz="2000">
                    <a:solidFill>
                      <a:srgbClr val="1E293B"/>
                    </a:solidFill>
                    <a:latin typeface="Calibri"/>
                  </a:rPr>
                  <a:t> nên hàm số đạt cực tiểu tại </a:t>
                </a:r>
                <a14:m>
                  <m:oMath xmlns:m="http://schemas.openxmlformats.org/officeDocument/2006/math">
                    <m:r>
                      <a:rPr lang="vi-VN" sz="2000" b="0">
                        <a:solidFill>
                          <a:srgbClr val="1E293B"/>
                        </a:solidFill>
                        <a:latin typeface="Cambria Math" panose="02040503050406030204" pitchFamily="18" charset="0"/>
                      </a:rPr>
                      <m:t>x=0</m:t>
                    </m:r>
                  </m:oMath>
                </a14:m>
                <a:r>
                  <a:rPr sz="2000">
                    <a:solidFill>
                      <a:srgbClr val="1E293B"/>
                    </a:solidFill>
                    <a:latin typeface="Calibri"/>
                  </a:rPr>
                  <a:t>.</a:t>
                </a:r>
              </a:p>
            </p:txBody>
          </p:sp>
        </mc:Choice>
        <mc:Fallback>
          <p:sp>
            <p:nvSpPr>
              <p:cNvPr id="9" name="TextBox 8"/>
              <p:cNvSpPr txBox="1"/>
              <p:nvPr/>
            </p:nvSpPr>
            <p:spPr>
              <a:xfrm>
                <a:off x="713232" y="2834640"/>
                <a:ext cx="10735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Hai giới hạn lần lượt bằng </a:t>
                </a:r>
                <a:r>
                  <a:rPr lang="vi-VN"/>
                  <a:t>1</a:t>
                </a:r>
                <a:r>
                  <a:rPr sz="2000">
                    <a:solidFill>
                      <a:srgbClr val="1E293B"/>
                    </a:solidFill>
                    <a:latin typeface="Calibri"/>
                  </a:rPr>
                  <a:t> và </a:t>
                </a:r>
                <a:r>
                  <a:rPr lang="vi-VN"/>
                  <a:t>-1</a:t>
                </a:r>
                <a:r>
                  <a:rPr sz="2000">
                    <a:solidFill>
                      <a:srgbClr val="1E293B"/>
                    </a:solidFill>
                    <a:latin typeface="Calibri"/>
                  </a:rPr>
                  <a:t>, khác nhau nên không có đạo hàm tại 0. b) </a:t>
                </a:r>
                <a:r>
                  <a:rPr lang="vi-VN"/>
                  <a:t>f(x)=|x|&gt;0=f(0)</a:t>
                </a:r>
                <a:r>
                  <a:rPr sz="2000">
                    <a:solidFill>
                      <a:srgbClr val="1E293B"/>
                    </a:solidFill>
                    <a:latin typeface="Calibri"/>
                  </a:rPr>
                  <a:t> với mọi </a:t>
                </a:r>
                <a:r>
                  <a:rPr lang="vi-VN"/>
                  <a:t>x\ne 0</a:t>
                </a:r>
                <a:r>
                  <a:rPr sz="2000">
                    <a:solidFill>
                      <a:srgbClr val="1E293B"/>
                    </a:solidFill>
                    <a:latin typeface="Calibri"/>
                  </a:rPr>
                  <a:t> nên hàm số đạt cực tiểu tại </a:t>
                </a:r>
                <a:r>
                  <a:rPr lang="vi-VN"/>
                  <a:t>x=0</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736848"/>
                <a:ext cx="11064240" cy="122529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1.9.</a:t>
                </a:r>
                <a:r>
                  <a:rPr sz="2000">
                    <a:solidFill>
                      <a:srgbClr val="1E293B"/>
                    </a:solidFill>
                    <a:latin typeface="Calibri"/>
                  </a:rPr>
                  <a:t> Doanh số của một sản phẩm mới tuân theo quy luật logistic </a:t>
                </a:r>
                <a14:m>
                  <m:oMath xmlns:m="http://schemas.openxmlformats.org/officeDocument/2006/math">
                    <m:r>
                      <a:rPr lang="vi-VN" sz="2000" b="0">
                        <a:solidFill>
                          <a:srgbClr val="1E293B"/>
                        </a:solidFill>
                        <a:latin typeface="Cambria Math" panose="02040503050406030204" pitchFamily="18" charset="0"/>
                      </a:rPr>
                      <m:t>f(t)=</m:t>
                    </m:r>
                    <m:f>
                      <m:fPr>
                        <m:type m:val="bar"/>
                      </m:fPr>
                      <m:num>
                        <m:r>
                          <a:rPr lang="vi-VN" sz="2000" b="0">
                            <a:solidFill>
                              <a:srgbClr val="1E293B"/>
                            </a:solidFill>
                            <a:latin typeface="Cambria Math" panose="02040503050406030204" pitchFamily="18" charset="0"/>
                          </a:rPr>
                          <m:t>5</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000</m:t>
                        </m:r>
                      </m:num>
                      <m:den>
                        <m:r>
                          <a:rPr lang="vi-VN" sz="2000" b="0">
                            <a:solidFill>
                              <a:srgbClr val="1E293B"/>
                            </a:solidFill>
                            <a:latin typeface="Cambria Math" panose="02040503050406030204" pitchFamily="18" charset="0"/>
                          </a:rPr>
                          <m:t>1+5</m:t>
                        </m:r>
                        <m:sSup>
                          <m:e>
                            <m:r>
                              <a:rPr lang="vi-VN" sz="2000" b="0">
                                <a:solidFill>
                                  <a:srgbClr val="1E293B"/>
                                </a:solidFill>
                                <a:latin typeface="Cambria Math" panose="02040503050406030204" pitchFamily="18" charset="0"/>
                              </a:rPr>
                              <m:t>e</m:t>
                            </m:r>
                          </m:e>
                          <m:sup>
                            <m:r>
                              <a:rPr lang="vi-VN" sz="2000" b="0">
                                <a:solidFill>
                                  <a:srgbClr val="1E293B"/>
                                </a:solidFill>
                                <a:latin typeface="Cambria Math" panose="02040503050406030204" pitchFamily="18" charset="0"/>
                              </a:rPr>
                              <m:t>−t</m:t>
                            </m:r>
                          </m:sup>
                        </m:sSup>
                      </m:den>
                    </m:f>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t≥0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t</m:t>
                    </m:r>
                  </m:oMath>
                </a14:m>
                <a:r>
                  <a:rPr sz="2000">
                    <a:solidFill>
                      <a:srgbClr val="1E293B"/>
                    </a:solidFill>
                    <a:latin typeface="Calibri"/>
                  </a:rPr>
                  <a:t>: năm kể từ khi phát hành). Đạo hàm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oMath>
                </a14:m>
                <a:r>
                  <a:rPr sz="2000">
                    <a:solidFill>
                      <a:srgbClr val="1E293B"/>
                    </a:solidFill>
                    <a:latin typeface="Calibri"/>
                  </a:rPr>
                  <a:t> biểu thị tốc độ bán hàng. Hỏi sau khi phát hành bao nhiêu năm thì tốc độ bán hàng là lớn nhất?</a:t>
                </a:r>
              </a:p>
            </p:txBody>
          </p:sp>
        </mc:Choice>
        <mc:Fallback>
          <p:sp>
            <p:nvSpPr>
              <p:cNvPr id="10" name="TextBox 9"/>
              <p:cNvSpPr txBox="1"/>
              <p:nvPr/>
            </p:nvSpPr>
            <p:spPr>
              <a:xfrm>
                <a:off x="548640" y="3736848"/>
                <a:ext cx="11064240" cy="122529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1.9.</a:t>
                </a:r>
                <a:r>
                  <a:rPr sz="2000">
                    <a:solidFill>
                      <a:srgbClr val="1E293B"/>
                    </a:solidFill>
                    <a:latin typeface="Calibri"/>
                  </a:rPr>
                  <a:t> Doanh số của một sản phẩm mới tuân theo quy luật logistic </a:t>
                </a:r>
                <a:r>
                  <a:rPr lang="vi-VN"/>
                  <a:t>f(t)=\frac{5\ 000}{1+5e^{-t}},\ t\ge 0</a:t>
                </a:r>
                <a:r>
                  <a:rPr sz="2000">
                    <a:solidFill>
                      <a:srgbClr val="1E293B"/>
                    </a:solidFill>
                    <a:latin typeface="Calibri"/>
                  </a:rPr>
                  <a:t> (</a:t>
                </a:r>
                <a:r>
                  <a:rPr lang="vi-VN"/>
                  <a:t>t</a:t>
                </a:r>
                <a:r>
                  <a:rPr sz="2000">
                    <a:solidFill>
                      <a:srgbClr val="1E293B"/>
                    </a:solidFill>
                    <a:latin typeface="Calibri"/>
                  </a:rPr>
                  <a:t>: năm kể từ khi phát hành). Đạo hàm </a:t>
                </a:r>
                <a:r>
                  <a:rPr lang="vi-VN"/>
                  <a:t>f'(t)</a:t>
                </a:r>
                <a:r>
                  <a:rPr sz="2000">
                    <a:solidFill>
                      <a:srgbClr val="1E293B"/>
                    </a:solidFill>
                    <a:latin typeface="Calibri"/>
                  </a:rPr>
                  <a:t> biểu thị tốc độ bán hàng. Hỏi sau khi phát hành bao nhiêu năm thì tốc độ bán hàng là lớn nhất?</a:t>
                </a:r>
              </a:p>
            </p:txBody>
          </p:sp>
        </mc:Fallback>
      </mc:AlternateContent>
      <p:sp>
        <p:nvSpPr>
          <p:cNvPr id="11" name="s3_nen"/>
          <p:cNvSpPr/>
          <p:nvPr/>
        </p:nvSpPr>
        <p:spPr>
          <a:xfrm>
            <a:off x="548640" y="5026152"/>
            <a:ext cx="110642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5062728"/>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f>
                      <m:fPr>
                        <m:type m:val="bar"/>
                      </m:fPr>
                      <m:num>
                        <m:r>
                          <a:rPr lang="vi-VN" sz="2000" b="0">
                            <a:solidFill>
                              <a:srgbClr val="1E293B"/>
                            </a:solidFill>
                            <a:latin typeface="Cambria Math" panose="02040503050406030204" pitchFamily="18" charset="0"/>
                          </a:rPr>
                          <m:t>25</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000</m:t>
                        </m:r>
                        <m:sSup>
                          <m:e>
                            <m:r>
                              <a:rPr lang="vi-VN" sz="2000" b="0">
                                <a:solidFill>
                                  <a:srgbClr val="1E293B"/>
                                </a:solidFill>
                                <a:latin typeface="Cambria Math" panose="02040503050406030204" pitchFamily="18" charset="0"/>
                              </a:rPr>
                              <m:t>e</m:t>
                            </m:r>
                          </m:e>
                          <m:sup>
                            <m:r>
                              <a:rPr lang="vi-VN" sz="2000" b="0">
                                <a:solidFill>
                                  <a:srgbClr val="1E293B"/>
                                </a:solidFill>
                                <a:latin typeface="Cambria Math" panose="02040503050406030204" pitchFamily="18" charset="0"/>
                              </a:rPr>
                              <m:t>−t</m:t>
                            </m:r>
                          </m:sup>
                        </m:sSup>
                      </m:num>
                      <m:den>
                        <m:sSup>
                          <m:e>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sSup>
                                  <m:e>
                                    <m:r>
                                      <a:rPr lang="vi-VN" sz="2000" b="0">
                                        <a:solidFill>
                                          <a:srgbClr val="1E293B"/>
                                        </a:solidFill>
                                        <a:latin typeface="Cambria Math" panose="02040503050406030204" pitchFamily="18" charset="0"/>
                                      </a:rPr>
                                      <m:t>e</m:t>
                                    </m:r>
                                  </m:e>
                                  <m:sup>
                                    <m:r>
                                      <a:rPr lang="vi-VN" sz="2000" b="0">
                                        <a:solidFill>
                                          <a:srgbClr val="1E293B"/>
                                        </a:solidFill>
                                        <a:latin typeface="Cambria Math" panose="02040503050406030204" pitchFamily="18" charset="0"/>
                                      </a:rPr>
                                      <m:t>−t</m:t>
                                    </m:r>
                                  </m:sup>
                                </m:sSup>
                              </m:e>
                            </m:d>
                          </m:e>
                          <m:sup>
                            <m:r>
                              <a:rPr lang="vi-VN" sz="2000" b="0">
                                <a:solidFill>
                                  <a:srgbClr val="1E293B"/>
                                </a:solidFill>
                                <a:latin typeface="Cambria Math" panose="02040503050406030204" pitchFamily="18" charset="0"/>
                              </a:rPr>
                              <m:t>2</m:t>
                            </m:r>
                          </m:sup>
                        </m:sSup>
                      </m:den>
                    </m:f>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đạt lớn nhất khi </a:t>
                </a:r>
                <a14:m>
                  <m:oMath xmlns:m="http://schemas.openxmlformats.org/officeDocument/2006/math">
                    <m:r>
                      <a:rPr lang="vi-VN" sz="2000" b="0">
                        <a:solidFill>
                          <a:srgbClr val="1E293B"/>
                        </a:solidFill>
                        <a:latin typeface="Cambria Math" panose="02040503050406030204" pitchFamily="18" charset="0"/>
                      </a:rPr>
                      <m:t>t=</m:t>
                    </m:r>
                    <m:r>
                      <m:rPr>
                        <m:sty m:val="p"/>
                      </m:rPr>
                      <a:rPr lang="vi-VN" sz="2000" b="0">
                        <a:solidFill>
                          <a:srgbClr val="1E293B"/>
                        </a:solidFill>
                        <a:latin typeface="Cambria Math" panose="02040503050406030204" pitchFamily="18" charset="0"/>
                      </a:rPr>
                      <m:t>ln</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5≈1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6</m:t>
                    </m:r>
                  </m:oMath>
                </a14:m>
                <a:r>
                  <a:rPr sz="2000">
                    <a:solidFill>
                      <a:srgbClr val="1E293B"/>
                    </a:solidFill>
                    <a:latin typeface="Calibri"/>
                  </a:rPr>
                  <a:t>. Sau khoảng 1,6 năm tốc độ bán hàng lớn nhất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ln</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5)=1</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250</m:t>
                    </m:r>
                  </m:oMath>
                </a14:m>
                <a:r>
                  <a:rPr sz="2000">
                    <a:solidFill>
                      <a:srgbClr val="1E293B"/>
                    </a:solidFill>
                    <a:latin typeface="Calibri"/>
                  </a:rPr>
                  <a:t> sản phẩm/năm).</a:t>
                </a:r>
              </a:p>
            </p:txBody>
          </p:sp>
        </mc:Choice>
        <mc:Fallback>
          <p:sp>
            <p:nvSpPr>
              <p:cNvPr id="12" name="TextBox 11"/>
              <p:cNvSpPr txBox="1"/>
              <p:nvPr/>
            </p:nvSpPr>
            <p:spPr>
              <a:xfrm>
                <a:off x="713232" y="5062728"/>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f'(t)=\frac{25\ 000e^{-t}}{(1+5e^{-t})^2}</a:t>
                </a:r>
                <a:r>
                  <a:rPr sz="2000">
                    <a:solidFill>
                      <a:srgbClr val="1E293B"/>
                    </a:solidFill>
                    <a:latin typeface="Calibri"/>
                  </a:rPr>
                  <a:t>; </a:t>
                </a:r>
                <a:r>
                  <a:rPr lang="vi-VN"/>
                  <a:t>f'</a:t>
                </a:r>
                <a:r>
                  <a:rPr sz="2000">
                    <a:solidFill>
                      <a:srgbClr val="1E293B"/>
                    </a:solidFill>
                    <a:latin typeface="Calibri"/>
                  </a:rPr>
                  <a:t> đạt lớn nhất khi </a:t>
                </a:r>
                <a:r>
                  <a:rPr lang="vi-VN"/>
                  <a:t>t=\ln 5\approx 1{,}6</a:t>
                </a:r>
                <a:r>
                  <a:rPr sz="2000">
                    <a:solidFill>
                      <a:srgbClr val="1E293B"/>
                    </a:solidFill>
                    <a:latin typeface="Calibri"/>
                  </a:rPr>
                  <a:t>. Sau khoảng 1,6 năm tốc độ bán hàng lớn nhất (</a:t>
                </a:r>
                <a:r>
                  <a:rPr lang="vi-VN"/>
                  <a:t>f'(\ln 5)=1\ 250</a:t>
                </a:r>
                <a:r>
                  <a:rPr sz="2000">
                    <a:solidFill>
                      <a:srgbClr val="1E293B"/>
                    </a:solidFill>
                    <a:latin typeface="Calibri"/>
                  </a:rPr>
                  <a:t> sản phẩm/năm).</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49</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288950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nhiều lựa chọn: ghi A, B, C hoặc D (30 giây).</a:t>
            </a:r>
          </a:p>
          <a:p>
            <a:pPr algn="l" marL="365760" indent="-365760">
              <a:spcAft>
                <a:spcPts val="800"/>
              </a:spcAft>
              <a:buClr>
                <a:srgbClr val="1E40AF"/>
              </a:buClr>
              <a:buFont typeface="Arial"/>
              <a:buChar char="•"/>
            </a:pPr>
            <a:r>
              <a:rPr sz="2400">
                <a:solidFill>
                  <a:srgbClr val="1E293B"/>
                </a:solidFill>
                <a:latin typeface="Calibri"/>
              </a:rPr>
              <a:t>Câu Đúng/Sai: ghi Đ hoặc S cho từng ý (60 giây).</a:t>
            </a:r>
          </a:p>
          <a:p>
            <a:pPr algn="l" marL="365760" indent="-365760">
              <a:spcAft>
                <a:spcPts val="800"/>
              </a:spcAft>
              <a:buClr>
                <a:srgbClr val="1E40AF"/>
              </a:buClr>
              <a:buFont typeface="Arial"/>
              <a:buChar char="•"/>
            </a:pPr>
            <a:r>
              <a:rPr sz="2400">
                <a:solidFill>
                  <a:srgbClr val="1E293B"/>
                </a:solidFill>
                <a:latin typeface="Calibri"/>
              </a:rPr>
              <a:t>Câu trả lời ngắn, thực tế: ghi một số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50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Hàm số </a:t>
                </a:r>
                <a14:m>
                  <m:oMath xmlns:m="http://schemas.openxmlformats.org/officeDocument/2006/math">
                    <m:r>
                      <a:rPr lang="vi-VN" sz="2600" b="0">
                        <a:solidFill>
                          <a:srgbClr val="1E293B"/>
                        </a:solidFill>
                        <a:latin typeface="Cambria Math" panose="02040503050406030204" pitchFamily="18" charset="0"/>
                      </a:rPr>
                      <m:t>y=</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3</m:t>
                        </m:r>
                      </m:sup>
                    </m:sSup>
                    <m:r>
                      <a:rPr lang="vi-VN" sz="2600" b="0">
                        <a:solidFill>
                          <a:srgbClr val="1E293B"/>
                        </a:solidFill>
                        <a:latin typeface="Cambria Math" panose="02040503050406030204" pitchFamily="18" charset="0"/>
                      </a:rPr>
                      <m:t>−3x</m:t>
                    </m:r>
                  </m:oMath>
                </a14:m>
                <a:r>
                  <a:rPr sz="2600">
                    <a:solidFill>
                      <a:srgbClr val="1E293B"/>
                    </a:solidFill>
                    <a:latin typeface="Calibri"/>
                  </a:rPr>
                  <a:t> đồng biến trên khoảng nào dưới đây?</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Hàm số </a:t>
                </a:r>
                <a:r>
                  <a:rPr lang="vi-VN"/>
                  <a:t>y=x^3-3x</a:t>
                </a:r>
                <a:r>
                  <a:rPr sz="2600">
                    <a:solidFill>
                      <a:srgbClr val="1E293B"/>
                    </a:solidFill>
                    <a:latin typeface="Calibri"/>
                  </a:rPr>
                  <a:t> đồng biến trên khoảng nào dưới đây?</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m:t>
                        </m:r>
                      </m:e>
                    </m:d>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(-1;\ 1)</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e>
                    </m:d>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 +\infty)</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e>
                    </m:d>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(-\infty;\ +\infty)</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m:t>
                        </m:r>
                      </m:e>
                    </m:d>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(-3;\ 0)</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−3&gt;0⇔x&lt;−1</m:t>
                    </m:r>
                  </m:oMath>
                </a14:m>
                <a:r>
                  <a:rPr sz="2200">
                    <a:solidFill>
                      <a:srgbClr val="1E293B"/>
                    </a:solidFill>
                    <a:latin typeface="Calibri"/>
                  </a:rPr>
                  <a:t> hoặc </a:t>
                </a:r>
                <a14:m>
                  <m:oMath xmlns:m="http://schemas.openxmlformats.org/officeDocument/2006/math">
                    <m:r>
                      <a:rPr lang="vi-VN" sz="2200" b="0">
                        <a:solidFill>
                          <a:srgbClr val="1E293B"/>
                        </a:solidFill>
                        <a:latin typeface="Cambria Math" panose="02040503050406030204" pitchFamily="18" charset="0"/>
                      </a:rPr>
                      <m:t>x&gt;1</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y'=3x^2-3&gt;0\Leftrightarrow x&lt;-1</a:t>
                </a:r>
                <a:r>
                  <a:rPr sz="2200">
                    <a:solidFill>
                      <a:srgbClr val="1E293B"/>
                    </a:solidFill>
                    <a:latin typeface="Calibri"/>
                  </a:rPr>
                  <a:t> hoặc </a:t>
                </a:r>
                <a:r>
                  <a:rPr lang="vi-VN"/>
                  <a:t>x&gt;1</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51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Giá trị cực đại của hàm số </a:t>
                </a:r>
                <a14:m>
                  <m:oMath xmlns:m="http://schemas.openxmlformats.org/officeDocument/2006/math">
                    <m:r>
                      <a:rPr lang="vi-VN" sz="2600" b="0">
                        <a:solidFill>
                          <a:srgbClr val="1E293B"/>
                        </a:solidFill>
                        <a:latin typeface="Cambria Math" panose="02040503050406030204" pitchFamily="18" charset="0"/>
                      </a:rPr>
                      <m:t>y=</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3</m:t>
                        </m:r>
                      </m:sup>
                    </m:sSup>
                    <m:r>
                      <a:rPr lang="vi-VN" sz="2600" b="0">
                        <a:solidFill>
                          <a:srgbClr val="1E293B"/>
                        </a:solidFill>
                        <a:latin typeface="Cambria Math" panose="02040503050406030204" pitchFamily="18" charset="0"/>
                      </a:rPr>
                      <m:t>−3x+2</m:t>
                    </m:r>
                  </m:oMath>
                </a14:m>
                <a:r>
                  <a:rPr sz="2600">
                    <a:solidFill>
                      <a:srgbClr val="1E293B"/>
                    </a:solidFill>
                    <a:latin typeface="Calibri"/>
                  </a:rPr>
                  <a:t> bằng</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Giá trị cực đại của hàm số </a:t>
                </a:r>
                <a:r>
                  <a:rPr lang="vi-VN"/>
                  <a:t>y=x^3-3x+2</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-1</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0</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0</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4</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4</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1</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−3=0⇔x=±1</m:t>
                    </m:r>
                  </m:oMath>
                </a14:m>
                <a:r>
                  <a:rPr sz="2200">
                    <a:solidFill>
                      <a:srgbClr val="1E293B"/>
                    </a:solidFill>
                    <a:latin typeface="Calibri"/>
                  </a:rPr>
                  <a:t>; cực đại tại </a:t>
                </a:r>
                <a14:m>
                  <m:oMath xmlns:m="http://schemas.openxmlformats.org/officeDocument/2006/math">
                    <m:r>
                      <a:rPr lang="vi-VN" sz="2200" b="0">
                        <a:solidFill>
                          <a:srgbClr val="1E293B"/>
                        </a:solidFill>
                        <a:latin typeface="Cambria Math" panose="02040503050406030204" pitchFamily="18" charset="0"/>
                      </a:rPr>
                      <m:t>x=−1</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y</m:t>
                        </m:r>
                      </m:e>
                      <m:sub>
                        <m:r>
                          <a:rPr lang="vi-VN" sz="2200" b="0">
                            <a:solidFill>
                              <a:srgbClr val="1E293B"/>
                            </a:solidFill>
                            <a:latin typeface="Cambria Math" panose="02040503050406030204" pitchFamily="18" charset="0"/>
                          </a:rPr>
                          <m:t>CĐ</m:t>
                        </m:r>
                      </m:sub>
                    </m:sSub>
                    <m:r>
                      <a:rPr lang="vi-VN" sz="2200" b="0">
                        <a:solidFill>
                          <a:srgbClr val="1E293B"/>
                        </a:solidFill>
                        <a:latin typeface="Cambria Math" panose="02040503050406030204" pitchFamily="18" charset="0"/>
                      </a:rPr>
                      <m:t>=4</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a:t>
                </a:r>
                <a:r>
                  <a:rPr lang="vi-VN"/>
                  <a:t>y'=3x^2-3=0\Leftrightarrow x=\pm 1</a:t>
                </a:r>
                <a:r>
                  <a:rPr sz="2200">
                    <a:solidFill>
                      <a:srgbClr val="1E293B"/>
                    </a:solidFill>
                    <a:latin typeface="Calibri"/>
                  </a:rPr>
                  <a:t>; cực đại tại </a:t>
                </a:r>
                <a:r>
                  <a:rPr lang="vi-VN"/>
                  <a:t>x=-1</a:t>
                </a:r>
                <a:r>
                  <a:rPr sz="2200">
                    <a:solidFill>
                      <a:srgbClr val="1E293B"/>
                    </a:solidFill>
                    <a:latin typeface="Calibri"/>
                  </a:rPr>
                  <a:t>, </a:t>
                </a:r>
                <a:r>
                  <a:rPr lang="vi-VN"/>
                  <a:t>y_{CĐ}=4</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52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Hàm số </a:t>
                </a:r>
                <a14:m>
                  <m:oMath xmlns:m="http://schemas.openxmlformats.org/officeDocument/2006/math">
                    <m:r>
                      <a:rPr lang="vi-VN" sz="2600" b="0">
                        <a:solidFill>
                          <a:srgbClr val="1E293B"/>
                        </a:solidFill>
                        <a:latin typeface="Cambria Math" panose="02040503050406030204" pitchFamily="18" charset="0"/>
                      </a:rPr>
                      <m:t>y=f(x)</m:t>
                    </m:r>
                  </m:oMath>
                </a14:m>
                <a:r>
                  <a:rPr sz="2600">
                    <a:solidFill>
                      <a:srgbClr val="1E293B"/>
                    </a:solidFill>
                    <a:latin typeface="Calibri"/>
                  </a:rPr>
                  <a:t> có </a:t>
                </a:r>
                <a14:m>
                  <m:oMath xmlns:m="http://schemas.openxmlformats.org/officeDocument/2006/math">
                    <m:sSup>
                      <m:e>
                        <m:r>
                          <a:rPr lang="vi-VN" sz="2600" b="0">
                            <a:solidFill>
                              <a:srgbClr val="1E293B"/>
                            </a:solidFill>
                            <a:latin typeface="Cambria Math" panose="02040503050406030204" pitchFamily="18" charset="0"/>
                          </a:rPr>
                          <m:t>f</m:t>
                        </m:r>
                      </m:e>
                      <m:sup>
                        <m:r>
                          <a:rPr lang="vi-VN" sz="2600" b="0">
                            <a:solidFill>
                              <a:srgbClr val="1E293B"/>
                            </a:solidFill>
                            <a:latin typeface="Cambria Math" panose="02040503050406030204" pitchFamily="18" charset="0"/>
                          </a:rPr>
                          <m:t>′</m:t>
                        </m:r>
                      </m:sup>
                    </m:sSup>
                    <m:r>
                      <a:rPr lang="vi-VN" sz="2600" b="0">
                        <a:solidFill>
                          <a:srgbClr val="1E293B"/>
                        </a:solidFill>
                        <a:latin typeface="Cambria Math" panose="02040503050406030204" pitchFamily="18" charset="0"/>
                      </a:rPr>
                      <m:t>(x)=(x−1</m:t>
                    </m:r>
                    <m:sSup>
                      <m:e>
                        <m:r>
                          <a:rPr lang="vi-VN" sz="2600" b="0">
                            <a:solidFill>
                              <a:srgbClr val="1E293B"/>
                            </a:solidFill>
                            <a:latin typeface="Cambria Math" panose="02040503050406030204" pitchFamily="18" charset="0"/>
                          </a:rPr>
                          <m:t>)</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(x+2)</m:t>
                    </m:r>
                  </m:oMath>
                </a14:m>
                <a:r>
                  <a:rPr sz="2600">
                    <a:solidFill>
                      <a:srgbClr val="1E293B"/>
                    </a:solidFill>
                    <a:latin typeface="Calibri"/>
                  </a:rPr>
                  <a:t>. Số điểm cực trị của hàm số là</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Hàm số </a:t>
                </a:r>
                <a:r>
                  <a:rPr lang="vi-VN"/>
                  <a:t>y=f(x)</a:t>
                </a:r>
                <a:r>
                  <a:rPr sz="2600">
                    <a:solidFill>
                      <a:srgbClr val="1E293B"/>
                    </a:solidFill>
                    <a:latin typeface="Calibri"/>
                  </a:rPr>
                  <a:t> có </a:t>
                </a:r>
                <a:r>
                  <a:rPr lang="vi-VN"/>
                  <a:t>f'(x)=(x-1)^2(x+2)</a:t>
                </a:r>
                <a:r>
                  <a:rPr sz="2600">
                    <a:solidFill>
                      <a:srgbClr val="1E293B"/>
                    </a:solidFill>
                    <a:latin typeface="Calibri"/>
                  </a:rPr>
                  <a:t>. Số điểm cực trị của hàm số là</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0</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0</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2</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3</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chỉ đổi dấu khi qua </a:t>
                </a:r>
                <a14:m>
                  <m:oMath xmlns:m="http://schemas.openxmlformats.org/officeDocument/2006/math">
                    <m:r>
                      <a:rPr lang="vi-VN" sz="2200" b="0">
                        <a:solidFill>
                          <a:srgbClr val="1E293B"/>
                        </a:solidFill>
                        <a:latin typeface="Cambria Math" panose="02040503050406030204" pitchFamily="18" charset="0"/>
                      </a:rPr>
                      <m:t>x=−2</m:t>
                    </m:r>
                  </m:oMath>
                </a14:m>
                <a:r>
                  <a:rPr sz="2200">
                    <a:solidFill>
                      <a:srgbClr val="1E293B"/>
                    </a:solidFill>
                    <a:latin typeface="Calibri"/>
                  </a:rPr>
                  <a:t>; qua </a:t>
                </a:r>
                <a14:m>
                  <m:oMath xmlns:m="http://schemas.openxmlformats.org/officeDocument/2006/math">
                    <m:r>
                      <a:rPr lang="vi-VN" sz="2200" b="0">
                        <a:solidFill>
                          <a:srgbClr val="1E293B"/>
                        </a:solidFill>
                        <a:latin typeface="Cambria Math" panose="02040503050406030204" pitchFamily="18" charset="0"/>
                      </a:rPr>
                      <m:t>x=1</m:t>
                    </m:r>
                  </m:oMath>
                </a14:m>
                <a:r>
                  <a:rPr sz="2200">
                    <a:solidFill>
                      <a:srgbClr val="1E293B"/>
                    </a:solidFill>
                    <a:latin typeface="Calibri"/>
                  </a:rPr>
                  <a:t> không đổi dấu.</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f'</a:t>
                </a:r>
                <a:r>
                  <a:rPr sz="2200">
                    <a:solidFill>
                      <a:srgbClr val="1E293B"/>
                    </a:solidFill>
                    <a:latin typeface="Calibri"/>
                  </a:rPr>
                  <a:t> chỉ đổi dấu khi qua </a:t>
                </a:r>
                <a:r>
                  <a:rPr lang="vi-VN"/>
                  <a:t>x=-2</a:t>
                </a:r>
                <a:r>
                  <a:rPr sz="2200">
                    <a:solidFill>
                      <a:srgbClr val="1E293B"/>
                    </a:solidFill>
                    <a:latin typeface="Calibri"/>
                  </a:rPr>
                  <a:t>; qua </a:t>
                </a:r>
                <a:r>
                  <a:rPr lang="vi-VN"/>
                  <a:t>x=1</a:t>
                </a:r>
                <a:r>
                  <a:rPr sz="2200">
                    <a:solidFill>
                      <a:srgbClr val="1E293B"/>
                    </a:solidFill>
                    <a:latin typeface="Calibri"/>
                  </a:rPr>
                  <a:t> không đổi dấu.</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4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53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48283"/>
              </a:xfrm>
              <a:prstGeom prst="rect">
                <a:avLst/>
              </a:prstGeom>
              <a:noFill/>
            </p:spPr>
            <p:txBody>
              <a:bodyPr wrap="square" anchor="t" lIns="45720" rIns="45720">
                <a:spAutoFit/>
              </a:bodyPr>
              <a:lstStyle/>
              <a:p>
                <a:pPr algn="l">
                  <a:spcAft>
                    <a:spcPts val="800"/>
                  </a:spcAft>
                </a:pPr>
                <a:r>
                  <a:rPr sz="2600">
                    <a:solidFill>
                      <a:srgbClr val="1E293B"/>
                    </a:solidFill>
                    <a:latin typeface="Calibri"/>
                  </a:rPr>
                  <a:t>Khẳng định nào đúng về hàm số </a:t>
                </a:r>
                <a14:m>
                  <m:oMath xmlns:m="http://schemas.openxmlformats.org/officeDocument/2006/math">
                    <m:r>
                      <a:rPr lang="vi-VN" sz="2600" b="0">
                        <a:solidFill>
                          <a:srgbClr val="1E293B"/>
                        </a:solidFill>
                        <a:latin typeface="Cambria Math" panose="02040503050406030204" pitchFamily="18" charset="0"/>
                      </a:rPr>
                      <m:t>y=</m:t>
                    </m:r>
                    <m:f>
                      <m:fPr>
                        <m:type m:val="bar"/>
                      </m:fPr>
                      <m:num>
                        <m:r>
                          <a:rPr lang="vi-VN" sz="2600" b="0">
                            <a:solidFill>
                              <a:srgbClr val="1E293B"/>
                            </a:solidFill>
                            <a:latin typeface="Cambria Math" panose="02040503050406030204" pitchFamily="18" charset="0"/>
                          </a:rPr>
                          <m:t>x+1</m:t>
                        </m:r>
                      </m:num>
                      <m:den>
                        <m:r>
                          <a:rPr lang="vi-VN" sz="2600" b="0">
                            <a:solidFill>
                              <a:srgbClr val="1E293B"/>
                            </a:solidFill>
                            <a:latin typeface="Cambria Math" panose="02040503050406030204" pitchFamily="18" charset="0"/>
                          </a:rPr>
                          <m:t>x−2</m:t>
                        </m:r>
                      </m:den>
                    </m:f>
                  </m:oMath>
                </a14:m>
                <a:r>
                  <a:rPr sz="2600">
                    <a:solidFill>
                      <a:srgbClr val="1E293B"/>
                    </a:solidFill>
                    <a:latin typeface="Calibri"/>
                  </a:rPr>
                  <a:t>?</a:t>
                </a:r>
              </a:p>
            </p:txBody>
          </p:sp>
        </mc:Choice>
        <mc:Fallback>
          <p:sp>
            <p:nvSpPr>
              <p:cNvPr id="7" name="TextBox 6"/>
              <p:cNvSpPr txBox="1"/>
              <p:nvPr/>
            </p:nvSpPr>
            <p:spPr>
              <a:xfrm>
                <a:off x="548640" y="1371600"/>
                <a:ext cx="11064240" cy="748283"/>
              </a:xfrm>
              <a:prstGeom prst="rect">
                <a:avLst/>
              </a:prstGeom>
              <a:noFill/>
            </p:spPr>
            <p:txBody>
              <a:bodyPr wrap="square" anchor="t" lIns="45720" rIns="45720">
                <a:spAutoFit/>
              </a:bodyPr>
              <a:lstStyle/>
              <a:p>
                <a:pPr algn="l">
                  <a:spcAft>
                    <a:spcPts val="800"/>
                  </a:spcAft>
                </a:pPr>
                <a:r>
                  <a:rPr sz="2600">
                    <a:solidFill>
                      <a:srgbClr val="1E293B"/>
                    </a:solidFill>
                    <a:latin typeface="Calibri"/>
                  </a:rPr>
                  <a:t>Khẳng định nào đúng về hàm số </a:t>
                </a:r>
                <a:r>
                  <a:rPr lang="vi-VN"/>
                  <a:t>y=\frac{x+1}{x-2}</a:t>
                </a:r>
                <a:r>
                  <a:rPr sz="2600">
                    <a:solidFill>
                      <a:srgbClr val="1E293B"/>
                    </a:solidFill>
                    <a:latin typeface="Calibri"/>
                  </a:rPr>
                  <a:t>?</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Nghịch biến trên </a:t>
                </a:r>
                <a14:m>
                  <m:oMath xmlns:m="http://schemas.openxmlformats.org/officeDocument/2006/math">
                    <m:r>
                      <a:rPr lang="vi-VN" sz="2400" b="0">
                        <a:solidFill>
                          <a:srgbClr val="1E293B"/>
                        </a:solidFill>
                        <a:latin typeface="Cambria Math" panose="02040503050406030204" pitchFamily="18" charset="0"/>
                      </a:rPr>
                      <m:t>ℝ⧵{2}</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Nghịch biến trên </a:t>
                </a:r>
                <a:r>
                  <a:rPr lang="vi-VN"/>
                  <a:t>\mathbb{R}\setminus\{2\}</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Nghịch biến trên từng khoảng </a:t>
                </a:r>
                <a14:m>
                  <m:oMath xmlns:m="http://schemas.openxmlformats.org/officeDocument/2006/math">
                    <m:d>
                      <m:dPr>
                        <m:sepChr m:val="∞"/>
                      </m:dPr>
                      <m:e>
                        <m:r>
                          <a:rPr lang="vi-VN" sz="2400" b="0">
                            <a:solidFill>
                              <a:srgbClr val="1E293B"/>
                            </a:solidFill>
                            <a:latin typeface="Cambria Math" panose="02040503050406030204" pitchFamily="18" charset="0"/>
                          </a:rPr>
                          <m:t>−</m:t>
                        </m:r>
                      </m:e>
                      <m:e>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m:t>
                        </m:r>
                      </m:e>
                    </m:d>
                  </m:oMath>
                </a14:m>
                <a:r>
                  <a:rPr sz="2400">
                    <a:solidFill>
                      <a:srgbClr val="1E293B"/>
                    </a:solidFill>
                    <a:latin typeface="Calibri"/>
                  </a:rPr>
                  <a:t> và </a:t>
                </a:r>
                <a14:m>
                  <m:oMath xmlns:m="http://schemas.openxmlformats.org/officeDocument/2006/math">
                    <m:d>
                      <m:dPr>
                        <m:sepChr m:val=""/>
                      </m:dPr>
                      <m:e>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e>
                    </m:d>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Nghịch biến trên từng khoảng </a:t>
                </a:r>
                <a:r>
                  <a:rPr lang="vi-VN"/>
                  <a:t>(-\infty;\ 2)</a:t>
                </a:r>
                <a:r>
                  <a:rPr sz="2400">
                    <a:solidFill>
                      <a:srgbClr val="1E293B"/>
                    </a:solidFill>
                    <a:latin typeface="Calibri"/>
                  </a:rPr>
                  <a:t> và </a:t>
                </a:r>
                <a:r>
                  <a:rPr lang="vi-VN"/>
                  <a:t>(2;\ +\infty)</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Đồng biến trên từng khoảng xác định</a:t>
            </a:r>
          </a:p>
        </p:txBody>
      </p:sp>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Có một điểm cực trị</a:t>
            </a:r>
          </a:p>
        </p:txBody>
      </p:sp>
      <p:sp>
        <p:nvSpPr>
          <p:cNvPr id="16" name="s1_nen"/>
          <p:cNvSpPr/>
          <p:nvPr/>
        </p:nvSpPr>
        <p:spPr>
          <a:xfrm>
            <a:off x="548640" y="4617720"/>
            <a:ext cx="11064240" cy="75133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678179"/>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−3</m:t>
                        </m:r>
                      </m:num>
                      <m:den>
                        <m:sSup>
                          <m:e>
                            <m:d>
                              <m:dPr>
                                <m:sepChr m:val=""/>
                              </m:dPr>
                              <m:e>
                                <m:r>
                                  <a:rPr lang="vi-VN" sz="2200" b="0">
                                    <a:solidFill>
                                      <a:srgbClr val="1E293B"/>
                                    </a:solidFill>
                                    <a:latin typeface="Cambria Math" panose="02040503050406030204" pitchFamily="18" charset="0"/>
                                  </a:rPr>
                                  <m:t>x</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2</m:t>
                                </m:r>
                              </m:e>
                            </m:d>
                          </m:e>
                          <m:sup>
                            <m:r>
                              <a:rPr lang="vi-VN" sz="2200" b="0">
                                <a:solidFill>
                                  <a:srgbClr val="1E293B"/>
                                </a:solidFill>
                                <a:latin typeface="Cambria Math" panose="02040503050406030204" pitchFamily="18" charset="0"/>
                              </a:rPr>
                              <m:t>2</m:t>
                            </m:r>
                          </m:sup>
                        </m:sSup>
                      </m:den>
                    </m:f>
                    <m:r>
                      <a:rPr lang="vi-VN" sz="2200" b="0">
                        <a:solidFill>
                          <a:srgbClr val="1E293B"/>
                        </a:solidFill>
                        <a:latin typeface="Cambria Math" panose="02040503050406030204" pitchFamily="18" charset="0"/>
                      </a:rPr>
                      <m:t>&lt;0</m:t>
                    </m:r>
                  </m:oMath>
                </a14:m>
                <a:r>
                  <a:rPr sz="2200">
                    <a:solidFill>
                      <a:srgbClr val="1E293B"/>
                    </a:solidFill>
                    <a:latin typeface="Calibri"/>
                  </a:rPr>
                  <a:t> với mọi </a:t>
                </a:r>
                <a14:m>
                  <m:oMath xmlns:m="http://schemas.openxmlformats.org/officeDocument/2006/math">
                    <m:r>
                      <a:rPr lang="vi-VN" sz="2200" b="0">
                        <a:solidFill>
                          <a:srgbClr val="1E293B"/>
                        </a:solidFill>
                        <a:latin typeface="Cambria Math" panose="02040503050406030204" pitchFamily="18" charset="0"/>
                      </a:rPr>
                      <m:t>x≠2</m:t>
                    </m:r>
                  </m:oMath>
                </a14:m>
                <a:r>
                  <a:rPr sz="2200">
                    <a:solidFill>
                      <a:srgbClr val="1E293B"/>
                    </a:solidFill>
                    <a:latin typeface="Calibri"/>
                  </a:rPr>
                  <a:t>.</a:t>
                </a:r>
              </a:p>
            </p:txBody>
          </p:sp>
        </mc:Choice>
        <mc:Fallback>
          <p:sp>
            <p:nvSpPr>
              <p:cNvPr id="17" name="TextBox 16"/>
              <p:cNvSpPr txBox="1"/>
              <p:nvPr/>
            </p:nvSpPr>
            <p:spPr>
              <a:xfrm>
                <a:off x="713232" y="4654296"/>
                <a:ext cx="10735056" cy="678179"/>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y'=\frac{-3}{(x-2)^2}&lt;0</a:t>
                </a:r>
                <a:r>
                  <a:rPr sz="2200">
                    <a:solidFill>
                      <a:srgbClr val="1E293B"/>
                    </a:solidFill>
                    <a:latin typeface="Calibri"/>
                  </a:rPr>
                  <a:t> với mọi </a:t>
                </a:r>
                <a:r>
                  <a:rPr lang="vi-VN"/>
                  <a:t>x\ne 2</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5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54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hàm số </a:t>
                </a:r>
                <a14:m>
                  <m:oMath xmlns:m="http://schemas.openxmlformats.org/officeDocument/2006/math">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4</m:t>
                        </m:r>
                      </m:sup>
                    </m:sSup>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m:t>
                    </m:r>
                  </m:oMath>
                </a14:m>
                <a:r>
                  <a:rPr sz="2400">
                    <a:solidFill>
                      <a:srgbClr val="1E293B"/>
                    </a:solidFill>
                    <a:latin typeface="Calibri"/>
                  </a:rPr>
                  <a:t>. Xét tính đúng, sai:</a:t>
                </a:r>
              </a:p>
            </p:txBody>
          </p:sp>
        </mc:Choice>
        <mc:Fallback>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hàm số </a:t>
                </a:r>
                <a:r>
                  <a:rPr lang="vi-VN"/>
                  <a:t>y=x^4-2x^2+1</a:t>
                </a:r>
                <a:r>
                  <a:rPr sz="2400">
                    <a:solidFill>
                      <a:srgbClr val="1E293B"/>
                    </a:solidFill>
                    <a:latin typeface="Calibri"/>
                  </a:rPr>
                  <a:t>. Xét tính đúng, sai:</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48640" y="2002536"/>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14:m>
                  <m:oMath xmlns:m="http://schemas.openxmlformats.org/officeDocument/2006/math">
                    <m:sSup>
                      <m:e>
                        <m:r>
                          <a:rPr lang="vi-VN" sz="2300" b="0">
                            <a:solidFill>
                              <a:srgbClr val="1E293B"/>
                            </a:solidFill>
                            <a:latin typeface="Cambria Math" panose="02040503050406030204" pitchFamily="18" charset="0"/>
                          </a:rPr>
                          <m:t>y</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=4</m:t>
                    </m:r>
                    <m:sSup>
                      <m:e>
                        <m:r>
                          <a:rPr lang="vi-VN" sz="2300" b="0">
                            <a:solidFill>
                              <a:srgbClr val="1E293B"/>
                            </a:solidFill>
                            <a:latin typeface="Cambria Math" panose="02040503050406030204" pitchFamily="18" charset="0"/>
                          </a:rPr>
                          <m:t>x</m:t>
                        </m:r>
                      </m:e>
                      <m:sup>
                        <m:r>
                          <a:rPr lang="vi-VN" sz="2300" b="0">
                            <a:solidFill>
                              <a:srgbClr val="1E293B"/>
                            </a:solidFill>
                            <a:latin typeface="Cambria Math" panose="02040503050406030204" pitchFamily="18" charset="0"/>
                          </a:rPr>
                          <m:t>3</m:t>
                        </m:r>
                      </m:sup>
                    </m:sSup>
                    <m:r>
                      <a:rPr lang="vi-VN" sz="2300" b="0">
                        <a:solidFill>
                          <a:srgbClr val="1E293B"/>
                        </a:solidFill>
                        <a:latin typeface="Cambria Math" panose="02040503050406030204" pitchFamily="18" charset="0"/>
                      </a:rPr>
                      <m:t>−4x</m:t>
                    </m:r>
                  </m:oMath>
                </a14:m>
                <a:r>
                  <a:rPr sz="2300">
                    <a:solidFill>
                      <a:srgbClr val="1E293B"/>
                    </a:solidFill>
                    <a:latin typeface="Calibri"/>
                  </a:rPr>
                  <a:t>.</a:t>
                </a:r>
              </a:p>
            </p:txBody>
          </p:sp>
        </mc:Choice>
        <mc:Fallback>
          <p:sp>
            <p:nvSpPr>
              <p:cNvPr id="8" name="TextBox 7"/>
              <p:cNvSpPr txBox="1"/>
              <p:nvPr/>
            </p:nvSpPr>
            <p:spPr>
              <a:xfrm>
                <a:off x="548640" y="2002536"/>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r>
                  <a:rPr lang="vi-VN"/>
                  <a:t>y'=4x^3-4x</a:t>
                </a:r>
                <a:r>
                  <a:rPr sz="2300">
                    <a:solidFill>
                      <a:srgbClr val="1E293B"/>
                    </a:solidFill>
                    <a:latin typeface="Calibri"/>
                  </a:rPr>
                  <a:t>.</a:t>
                </a:r>
              </a:p>
            </p:txBody>
          </p:sp>
        </mc:Fallback>
      </mc:AlternateContent>
      <p:sp>
        <p:nvSpPr>
          <p:cNvPr id="9" name="s1_nen"/>
          <p:cNvSpPr/>
          <p:nvPr/>
        </p:nvSpPr>
        <p:spPr>
          <a:xfrm>
            <a:off x="8412480" y="1975104"/>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577072" y="2011680"/>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1" name="TextBox 10"/>
              <p:cNvSpPr txBox="1"/>
              <p:nvPr/>
            </p:nvSpPr>
            <p:spPr>
              <a:xfrm>
                <a:off x="548640" y="299008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Hàm số đồng biến trên </a:t>
                </a:r>
                <a14:m>
                  <m:oMath xmlns:m="http://schemas.openxmlformats.org/officeDocument/2006/math">
                    <m:d>
                      <m:dPr>
                        <m:sepChr m:val=""/>
                      </m:dPr>
                      <m:e>
                        <m:r>
                          <a:rPr lang="vi-VN" sz="2300" b="0">
                            <a:solidFill>
                              <a:srgbClr val="1E293B"/>
                            </a:solidFill>
                            <a:latin typeface="Cambria Math" panose="02040503050406030204" pitchFamily="18" charset="0"/>
                          </a:rPr>
                          <m:t>1</m:t>
                        </m:r>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m:t>
                        </m:r>
                      </m:e>
                    </m:d>
                  </m:oMath>
                </a14:m>
                <a:r>
                  <a:rPr sz="2300">
                    <a:solidFill>
                      <a:srgbClr val="1E293B"/>
                    </a:solidFill>
                    <a:latin typeface="Calibri"/>
                  </a:rPr>
                  <a:t>.</a:t>
                </a:r>
              </a:p>
            </p:txBody>
          </p:sp>
        </mc:Choice>
        <mc:Fallback>
          <p:sp>
            <p:nvSpPr>
              <p:cNvPr id="11" name="TextBox 10"/>
              <p:cNvSpPr txBox="1"/>
              <p:nvPr/>
            </p:nvSpPr>
            <p:spPr>
              <a:xfrm>
                <a:off x="548640" y="299008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Hàm số đồng biến trên </a:t>
                </a:r>
                <a:r>
                  <a:rPr lang="vi-VN"/>
                  <a:t>(1;\ +\infty)</a:t>
                </a:r>
                <a:r>
                  <a:rPr sz="2300">
                    <a:solidFill>
                      <a:srgbClr val="1E293B"/>
                    </a:solidFill>
                    <a:latin typeface="Calibri"/>
                  </a:rPr>
                  <a:t>.</a:t>
                </a:r>
              </a:p>
            </p:txBody>
          </p:sp>
        </mc:Fallback>
      </mc:AlternateContent>
      <p:sp>
        <p:nvSpPr>
          <p:cNvPr id="12" name="s2_nen"/>
          <p:cNvSpPr/>
          <p:nvPr/>
        </p:nvSpPr>
        <p:spPr>
          <a:xfrm>
            <a:off x="8412480" y="2962656"/>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577072" y="2999232"/>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p:sp>
        <p:nvSpPr>
          <p:cNvPr id="14" name="TextBox 13"/>
          <p:cNvSpPr txBox="1"/>
          <p:nvPr/>
        </p:nvSpPr>
        <p:spPr>
          <a:xfrm>
            <a:off x="548640" y="3977639"/>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c) Hàm số có 2 điểm cực trị.</a:t>
            </a:r>
          </a:p>
        </p:txBody>
      </p:sp>
      <p:sp>
        <p:nvSpPr>
          <p:cNvPr id="15" name="s3_nen"/>
          <p:cNvSpPr/>
          <p:nvPr/>
        </p:nvSpPr>
        <p:spPr>
          <a:xfrm>
            <a:off x="8412480" y="3950207"/>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577072" y="3986783"/>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(có 3)</a:t>
            </a:r>
          </a:p>
        </p:txBody>
      </p:sp>
      <p:sp>
        <p:nvSpPr>
          <p:cNvPr id="17" name="TextBox 16"/>
          <p:cNvSpPr txBox="1"/>
          <p:nvPr/>
        </p:nvSpPr>
        <p:spPr>
          <a:xfrm>
            <a:off x="548640" y="4965192"/>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d) Giá trị cực đại của hàm số bằng 1.</a:t>
            </a:r>
          </a:p>
        </p:txBody>
      </p:sp>
      <p:sp>
        <p:nvSpPr>
          <p:cNvPr id="18" name="s4_nen"/>
          <p:cNvSpPr/>
          <p:nvPr/>
        </p:nvSpPr>
        <p:spPr>
          <a:xfrm>
            <a:off x="8412480" y="4937759"/>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577072" y="4974336"/>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r>
              <a:rPr sz="2100">
                <a:solidFill>
                  <a:srgbClr val="1E293B"/>
                </a:solidFill>
                <a:latin typeface="Calibri"/>
              </a:rPr>
              <a:t> (y(0) =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6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55</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Hàm số </a:t>
                </a:r>
                <a14:m>
                  <m:oMath xmlns:m="http://schemas.openxmlformats.org/officeDocument/2006/math">
                    <m:r>
                      <a:rPr lang="vi-VN" sz="2600" b="0">
                        <a:solidFill>
                          <a:srgbClr val="1E293B"/>
                        </a:solidFill>
                        <a:latin typeface="Cambria Math" panose="02040503050406030204" pitchFamily="18" charset="0"/>
                      </a:rPr>
                      <m:t>y=</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3</m:t>
                        </m:r>
                      </m:sup>
                    </m:sSup>
                    <m:r>
                      <a:rPr lang="vi-VN" sz="2600" b="0">
                        <a:solidFill>
                          <a:srgbClr val="1E293B"/>
                        </a:solidFill>
                        <a:latin typeface="Cambria Math" panose="02040503050406030204" pitchFamily="18" charset="0"/>
                      </a:rPr>
                      <m:t>−6</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+9x+1</m:t>
                    </m:r>
                  </m:oMath>
                </a14:m>
                <a:r>
                  <a:rPr sz="2600">
                    <a:solidFill>
                      <a:srgbClr val="1E293B"/>
                    </a:solidFill>
                    <a:latin typeface="Calibri"/>
                  </a:rPr>
                  <a:t> đạt cực tiểu tại </a:t>
                </a:r>
                <a14:m>
                  <m:oMath xmlns:m="http://schemas.openxmlformats.org/officeDocument/2006/math">
                    <m:r>
                      <a:rPr lang="vi-VN" sz="2600" b="0">
                        <a:solidFill>
                          <a:srgbClr val="1E293B"/>
                        </a:solidFill>
                        <a:latin typeface="Cambria Math" panose="02040503050406030204" pitchFamily="18" charset="0"/>
                      </a:rPr>
                      <m:t>x</m:t>
                    </m:r>
                  </m:oMath>
                </a14:m>
                <a:r>
                  <a:rPr sz="2600">
                    <a:solidFill>
                      <a:srgbClr val="1E293B"/>
                    </a:solidFill>
                    <a:latin typeface="Calibri"/>
                  </a:rPr>
                  <a:t> bằng bao nhiêu?</a:t>
                </a:r>
              </a:p>
            </p:txBody>
          </p:sp>
        </mc:Choice>
        <mc:Fallback>
          <p:sp>
            <p:nvSpPr>
              <p:cNvPr id="7" name="TextBox 6"/>
              <p:cNvSpPr txBox="1"/>
              <p:nvPr/>
            </p:nvSpPr>
            <p:spPr>
              <a:xfrm>
                <a:off x="548640" y="146304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Hàm số </a:t>
                </a:r>
                <a:r>
                  <a:rPr lang="vi-VN"/>
                  <a:t>y=x^3-6x^2+9x+1</a:t>
                </a:r>
                <a:r>
                  <a:rPr sz="2600">
                    <a:solidFill>
                      <a:srgbClr val="1E293B"/>
                    </a:solidFill>
                    <a:latin typeface="Calibri"/>
                  </a:rPr>
                  <a:t> đạt cực tiểu tại </a:t>
                </a:r>
                <a:r>
                  <a:rPr lang="vi-VN"/>
                  <a:t>x</a:t>
                </a:r>
                <a:r>
                  <a:rPr sz="2600">
                    <a:solidFill>
                      <a:srgbClr val="1E293B"/>
                    </a:solidFill>
                    <a:latin typeface="Calibri"/>
                  </a:rPr>
                  <a:t> bằng bao nhiêu?</a:t>
                </a:r>
              </a:p>
            </p:txBody>
          </p:sp>
        </mc:Fallback>
      </mc:AlternateContent>
      <p:sp>
        <p:nvSpPr>
          <p:cNvPr id="8" name="s1_nen"/>
          <p:cNvSpPr/>
          <p:nvPr/>
        </p:nvSpPr>
        <p:spPr>
          <a:xfrm>
            <a:off x="548640" y="3931920"/>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3.</a:t>
                </a: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=3(x−1)(x−3)</m:t>
                    </m:r>
                  </m:oMath>
                </a14:m>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đổi dấu từ </a:t>
                </a:r>
                <a14:m>
                  <m:oMath xmlns:m="http://schemas.openxmlformats.org/officeDocument/2006/math">
                    <m:r>
                      <a:rPr lang="vi-VN" sz="2400" b="0">
                        <a:solidFill>
                          <a:srgbClr val="1E293B"/>
                        </a:solidFill>
                        <a:latin typeface="Cambria Math" panose="02040503050406030204" pitchFamily="18" charset="0"/>
                      </a:rPr>
                      <m:t>−</m:t>
                    </m:r>
                  </m:oMath>
                </a14:m>
                <a:r>
                  <a:rPr sz="2400">
                    <a:solidFill>
                      <a:srgbClr val="1E293B"/>
                    </a:solidFill>
                    <a:latin typeface="Calibri"/>
                  </a:rPr>
                  <a:t> sang </a:t>
                </a:r>
                <a14:m>
                  <m:oMath xmlns:m="http://schemas.openxmlformats.org/officeDocument/2006/math">
                    <m:r>
                      <a:rPr lang="vi-VN" sz="2400" b="0">
                        <a:solidFill>
                          <a:srgbClr val="1E293B"/>
                        </a:solidFill>
                        <a:latin typeface="Cambria Math" panose="02040503050406030204" pitchFamily="18" charset="0"/>
                      </a:rPr>
                      <m:t>+</m:t>
                    </m:r>
                  </m:oMath>
                </a14:m>
                <a:r>
                  <a:rPr sz="2400">
                    <a:solidFill>
                      <a:srgbClr val="1E293B"/>
                    </a:solidFill>
                    <a:latin typeface="Calibri"/>
                  </a:rPr>
                  <a:t> khi qua </a:t>
                </a:r>
                <a14:m>
                  <m:oMath xmlns:m="http://schemas.openxmlformats.org/officeDocument/2006/math">
                    <m:r>
                      <a:rPr lang="vi-VN" sz="2400" b="0">
                        <a:solidFill>
                          <a:srgbClr val="1E293B"/>
                        </a:solidFill>
                        <a:latin typeface="Cambria Math" panose="02040503050406030204" pitchFamily="18" charset="0"/>
                      </a:rPr>
                      <m:t>x=3</m:t>
                    </m:r>
                  </m:oMath>
                </a14:m>
                <a:r>
                  <a:rPr sz="2400">
                    <a:solidFill>
                      <a:srgbClr val="1E293B"/>
                    </a:solidFill>
                    <a:latin typeface="Calibri"/>
                  </a:rPr>
                  <a:t>.</a:t>
                </a:r>
              </a:p>
            </p:txBody>
          </p:sp>
        </mc:Choice>
        <mc:Fallback>
          <p:sp>
            <p:nvSpPr>
              <p:cNvPr id="9" name="TextBox 8"/>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3.</a:t>
                </a:r>
                <a:r>
                  <a:rPr sz="2400">
                    <a:solidFill>
                      <a:srgbClr val="1E293B"/>
                    </a:solidFill>
                    <a:latin typeface="Calibri"/>
                  </a:rPr>
                  <a:t> </a:t>
                </a:r>
                <a:r>
                  <a:rPr lang="vi-VN"/>
                  <a:t>y'=3(x-1)(x-3)</a:t>
                </a:r>
                <a:r>
                  <a:rPr sz="2400">
                    <a:solidFill>
                      <a:srgbClr val="1E293B"/>
                    </a:solidFill>
                    <a:latin typeface="Calibri"/>
                  </a:rPr>
                  <a:t>; </a:t>
                </a:r>
                <a:r>
                  <a:rPr lang="vi-VN"/>
                  <a:t>y'</a:t>
                </a:r>
                <a:r>
                  <a:rPr sz="2400">
                    <a:solidFill>
                      <a:srgbClr val="1E293B"/>
                    </a:solidFill>
                    <a:latin typeface="Calibri"/>
                  </a:rPr>
                  <a:t> đổi dấu từ </a:t>
                </a:r>
                <a:r>
                  <a:rPr lang="vi-VN"/>
                  <a:t>-</a:t>
                </a:r>
                <a:r>
                  <a:rPr sz="2400">
                    <a:solidFill>
                      <a:srgbClr val="1E293B"/>
                    </a:solidFill>
                    <a:latin typeface="Calibri"/>
                  </a:rPr>
                  <a:t> sang </a:t>
                </a:r>
                <a:r>
                  <a:rPr lang="vi-VN"/>
                  <a:t>+</a:t>
                </a:r>
                <a:r>
                  <a:rPr sz="2400">
                    <a:solidFill>
                      <a:srgbClr val="1E293B"/>
                    </a:solidFill>
                    <a:latin typeface="Calibri"/>
                  </a:rPr>
                  <a:t> khi qua </a:t>
                </a:r>
                <a:r>
                  <a:rPr lang="vi-VN"/>
                  <a:t>x=3</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7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56</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tổng giá trị cực đại và giá trị cực tiểu của hàm số </a:t>
                </a:r>
                <a14:m>
                  <m:oMath xmlns:m="http://schemas.openxmlformats.org/officeDocument/2006/math">
                    <m:r>
                      <a:rPr lang="vi-VN" sz="2600" b="0">
                        <a:solidFill>
                          <a:srgbClr val="1E293B"/>
                        </a:solidFill>
                        <a:latin typeface="Cambria Math" panose="02040503050406030204" pitchFamily="18" charset="0"/>
                      </a:rPr>
                      <m:t>y=−</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3</m:t>
                        </m:r>
                      </m:sup>
                    </m:sSup>
                    <m:r>
                      <a:rPr lang="vi-VN" sz="2600" b="0">
                        <a:solidFill>
                          <a:srgbClr val="1E293B"/>
                        </a:solidFill>
                        <a:latin typeface="Cambria Math" panose="02040503050406030204" pitchFamily="18" charset="0"/>
                      </a:rPr>
                      <m:t>+3</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+1</m:t>
                    </m:r>
                  </m:oMath>
                </a14:m>
                <a:r>
                  <a:rPr sz="2600">
                    <a:solidFill>
                      <a:srgbClr val="1E293B"/>
                    </a:solidFill>
                    <a:latin typeface="Calibri"/>
                  </a:rPr>
                  <a:t>.</a:t>
                </a:r>
              </a:p>
            </p:txBody>
          </p:sp>
        </mc:Choice>
        <mc:Fallback>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tổng giá trị cực đại và giá trị cực tiểu của hàm số </a:t>
                </a:r>
                <a:r>
                  <a:rPr lang="vi-VN"/>
                  <a:t>y=-x^3+3x^2+1</a:t>
                </a:r>
                <a:r>
                  <a:rPr sz="2600">
                    <a:solidFill>
                      <a:srgbClr val="1E293B"/>
                    </a:solidFill>
                    <a:latin typeface="Calibri"/>
                  </a:rPr>
                  <a:t>.</a:t>
                </a:r>
              </a:p>
            </p:txBody>
          </p:sp>
        </mc:Fallback>
      </mc:AlternateContent>
      <p:sp>
        <p:nvSpPr>
          <p:cNvPr id="8" name="s1_nen"/>
          <p:cNvSpPr/>
          <p:nvPr/>
        </p:nvSpPr>
        <p:spPr>
          <a:xfrm>
            <a:off x="548640" y="3931920"/>
            <a:ext cx="1106424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6.</a:t>
                </a: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+6x=0⇔x=0,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x=2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y</m:t>
                        </m:r>
                      </m:e>
                      <m:sub>
                        <m:r>
                          <a:rPr lang="vi-VN" sz="2400" b="0">
                            <a:solidFill>
                              <a:srgbClr val="1E293B"/>
                            </a:solidFill>
                            <a:latin typeface="Cambria Math" panose="02040503050406030204" pitchFamily="18" charset="0"/>
                          </a:rPr>
                          <m:t>CT</m:t>
                        </m:r>
                      </m:sub>
                    </m:sSub>
                    <m:r>
                      <a:rPr lang="vi-VN" sz="2400" b="0">
                        <a:solidFill>
                          <a:srgbClr val="1E293B"/>
                        </a:solidFill>
                        <a:latin typeface="Cambria Math" panose="02040503050406030204" pitchFamily="18" charset="0"/>
                      </a:rPr>
                      <m:t>=y(0)=1</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y</m:t>
                        </m:r>
                      </m:e>
                      <m:sub>
                        <m:r>
                          <a:rPr lang="vi-VN" sz="2400" b="0">
                            <a:solidFill>
                              <a:srgbClr val="1E293B"/>
                            </a:solidFill>
                            <a:latin typeface="Cambria Math" panose="02040503050406030204" pitchFamily="18" charset="0"/>
                          </a:rPr>
                          <m:t>CĐ</m:t>
                        </m:r>
                      </m:sub>
                    </m:sSub>
                    <m:r>
                      <a:rPr lang="vi-VN" sz="2400" b="0">
                        <a:solidFill>
                          <a:srgbClr val="1E293B"/>
                        </a:solidFill>
                        <a:latin typeface="Cambria Math" panose="02040503050406030204" pitchFamily="18" charset="0"/>
                      </a:rPr>
                      <m:t>=y(2)=5</m:t>
                    </m:r>
                  </m:oMath>
                </a14:m>
                <a:r>
                  <a:rPr sz="2400">
                    <a:solidFill>
                      <a:srgbClr val="1E293B"/>
                    </a:solidFill>
                    <a:latin typeface="Calibri"/>
                  </a:rPr>
                  <a:t>; tổng bằng 6.</a:t>
                </a:r>
              </a:p>
            </p:txBody>
          </p:sp>
        </mc:Choice>
        <mc:Fallback>
          <p:sp>
            <p:nvSpPr>
              <p:cNvPr id="9" name="TextBox 8"/>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6.</a:t>
                </a:r>
                <a:r>
                  <a:rPr sz="2400">
                    <a:solidFill>
                      <a:srgbClr val="1E293B"/>
                    </a:solidFill>
                    <a:latin typeface="Calibri"/>
                  </a:rPr>
                  <a:t> </a:t>
                </a:r>
                <a:r>
                  <a:rPr lang="vi-VN"/>
                  <a:t>y'=-3x^2+6x=0\Leftrightarrow x=0,\ x=2</a:t>
                </a:r>
                <a:r>
                  <a:rPr sz="2400">
                    <a:solidFill>
                      <a:srgbClr val="1E293B"/>
                    </a:solidFill>
                    <a:latin typeface="Calibri"/>
                  </a:rPr>
                  <a:t>; </a:t>
                </a:r>
                <a:r>
                  <a:rPr lang="vi-VN"/>
                  <a:t>y_{CT}=y(0)=1</a:t>
                </a:r>
                <a:r>
                  <a:rPr sz="2400">
                    <a:solidFill>
                      <a:srgbClr val="1E293B"/>
                    </a:solidFill>
                    <a:latin typeface="Calibri"/>
                  </a:rPr>
                  <a:t>, </a:t>
                </a:r>
                <a:r>
                  <a:rPr lang="vi-VN"/>
                  <a:t>y_{CĐ}=y(2)=5</a:t>
                </a:r>
                <a:r>
                  <a:rPr sz="2400">
                    <a:solidFill>
                      <a:srgbClr val="1E293B"/>
                    </a:solidFill>
                    <a:latin typeface="Calibri"/>
                  </a:rPr>
                  <a:t>; tổng bằng 6.</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8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57</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863840" cy="1758696"/>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quả bóng được ném thẳng đứng lên từ độ cao 1,5 m; độ cao sau </a:t>
                </a:r>
                <a14:m>
                  <m:oMath xmlns:m="http://schemas.openxmlformats.org/officeDocument/2006/math">
                    <m:r>
                      <a:rPr lang="vi-VN" sz="2600" b="0">
                        <a:solidFill>
                          <a:srgbClr val="1E293B"/>
                        </a:solidFill>
                        <a:latin typeface="Cambria Math" panose="02040503050406030204" pitchFamily="18" charset="0"/>
                      </a:rPr>
                      <m:t>t</m:t>
                    </m:r>
                  </m:oMath>
                </a14:m>
                <a:r>
                  <a:rPr sz="2600">
                    <a:solidFill>
                      <a:srgbClr val="1E293B"/>
                    </a:solidFill>
                    <a:latin typeface="Calibri"/>
                  </a:rPr>
                  <a:t> giây là </a:t>
                </a:r>
                <a14:m>
                  <m:oMath xmlns:m="http://schemas.openxmlformats.org/officeDocument/2006/math">
                    <m:r>
                      <a:rPr lang="vi-VN" sz="2600" b="0">
                        <a:solidFill>
                          <a:srgbClr val="1E293B"/>
                        </a:solidFill>
                        <a:latin typeface="Cambria Math" panose="02040503050406030204" pitchFamily="18" charset="0"/>
                      </a:rPr>
                      <m:t>h(t)=1</m:t>
                    </m:r>
                    <m:r>
                      <a:rPr lang="vi-VN" sz="2600" b="0">
                        <a:solidFill>
                          <a:srgbClr val="1E293B"/>
                        </a:solidFill>
                        <a:latin typeface="Cambria Math" panose="02040503050406030204" pitchFamily="18" charset="0"/>
                      </a:rPr>
                      <m:t>,</m:t>
                    </m:r>
                    <m:r>
                      <a:rPr lang="vi-VN" sz="2600" b="0">
                        <a:solidFill>
                          <a:srgbClr val="1E293B"/>
                        </a:solidFill>
                        <a:latin typeface="Cambria Math" panose="02040503050406030204" pitchFamily="18" charset="0"/>
                      </a:rPr>
                      <m:t>5+19</m:t>
                    </m:r>
                    <m:r>
                      <a:rPr lang="vi-VN" sz="2600" b="0">
                        <a:solidFill>
                          <a:srgbClr val="1E293B"/>
                        </a:solidFill>
                        <a:latin typeface="Cambria Math" panose="02040503050406030204" pitchFamily="18" charset="0"/>
                      </a:rPr>
                      <m:t>,</m:t>
                    </m:r>
                    <m:r>
                      <a:rPr lang="vi-VN" sz="2600" b="0">
                        <a:solidFill>
                          <a:srgbClr val="1E293B"/>
                        </a:solidFill>
                        <a:latin typeface="Cambria Math" panose="02040503050406030204" pitchFamily="18" charset="0"/>
                      </a:rPr>
                      <m:t>6t−4</m:t>
                    </m:r>
                    <m:r>
                      <a:rPr lang="vi-VN" sz="2600" b="0">
                        <a:solidFill>
                          <a:srgbClr val="1E293B"/>
                        </a:solidFill>
                        <a:latin typeface="Cambria Math" panose="02040503050406030204" pitchFamily="18" charset="0"/>
                      </a:rPr>
                      <m:t>,</m:t>
                    </m:r>
                    <m:r>
                      <a:rPr lang="vi-VN" sz="2600" b="0">
                        <a:solidFill>
                          <a:srgbClr val="1E293B"/>
                        </a:solidFill>
                        <a:latin typeface="Cambria Math" panose="02040503050406030204" pitchFamily="18" charset="0"/>
                      </a:rPr>
                      <m:t>9</m:t>
                    </m:r>
                    <m:sSup>
                      <m:e>
                        <m:r>
                          <a:rPr lang="vi-VN" sz="2600" b="0">
                            <a:solidFill>
                              <a:srgbClr val="1E293B"/>
                            </a:solidFill>
                            <a:latin typeface="Cambria Math" panose="02040503050406030204" pitchFamily="18" charset="0"/>
                          </a:rPr>
                          <m:t>t</m:t>
                        </m:r>
                      </m:e>
                      <m:sup>
                        <m:r>
                          <a:rPr lang="vi-VN" sz="2600" b="0">
                            <a:solidFill>
                              <a:srgbClr val="1E293B"/>
                            </a:solidFill>
                            <a:latin typeface="Cambria Math" panose="02040503050406030204" pitchFamily="18" charset="0"/>
                          </a:rPr>
                          <m:t>2</m:t>
                        </m:r>
                      </m:sup>
                    </m:sSup>
                  </m:oMath>
                </a14:m>
                <a:r>
                  <a:rPr sz="2600">
                    <a:solidFill>
                      <a:srgbClr val="1E293B"/>
                    </a:solidFill>
                    <a:latin typeface="Calibri"/>
                  </a:rPr>
                  <a:t> (mét). Độ cao lớn nhất của quả bóng là bao nhiêu mét?</a:t>
                </a:r>
              </a:p>
            </p:txBody>
          </p:sp>
        </mc:Choice>
        <mc:Fallback>
          <p:sp>
            <p:nvSpPr>
              <p:cNvPr id="7" name="TextBox 6"/>
              <p:cNvSpPr txBox="1"/>
              <p:nvPr/>
            </p:nvSpPr>
            <p:spPr>
              <a:xfrm>
                <a:off x="548640" y="1463040"/>
                <a:ext cx="7863840" cy="1758696"/>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quả bóng được ném thẳng đứng lên từ độ cao 1,5 m; độ cao sau </a:t>
                </a:r>
                <a:r>
                  <a:rPr lang="vi-VN"/>
                  <a:t>t</a:t>
                </a:r>
                <a:r>
                  <a:rPr sz="2600">
                    <a:solidFill>
                      <a:srgbClr val="1E293B"/>
                    </a:solidFill>
                    <a:latin typeface="Calibri"/>
                  </a:rPr>
                  <a:t> giây là </a:t>
                </a:r>
                <a:r>
                  <a:rPr lang="vi-VN"/>
                  <a:t>h(t)=1{,}5+19{,}6t-4{,}9t^2</a:t>
                </a:r>
                <a:r>
                  <a:rPr sz="2600">
                    <a:solidFill>
                      <a:srgbClr val="1E293B"/>
                    </a:solidFill>
                    <a:latin typeface="Calibri"/>
                  </a:rPr>
                  <a:t> (mét). Độ cao lớn nhất của quả bóng là bao nhiêu mét?</a:t>
                </a:r>
              </a:p>
            </p:txBody>
          </p:sp>
        </mc:Fallback>
      </mc:AlternateContent>
      <p:sp>
        <p:nvSpPr>
          <p:cNvPr id="8" name="s1_nen"/>
          <p:cNvSpPr/>
          <p:nvPr/>
        </p:nvSpPr>
        <p:spPr>
          <a:xfrm>
            <a:off x="548640" y="3931920"/>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21,1.</a:t>
                </a: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h</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(t)=19</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6−9</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8t=0⇔t=2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h(2)=21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oMath>
                </a14:m>
                <a:r>
                  <a:rPr sz="2400">
                    <a:solidFill>
                      <a:srgbClr val="1E293B"/>
                    </a:solidFill>
                    <a:latin typeface="Calibri"/>
                  </a:rPr>
                  <a:t> m.</a:t>
                </a:r>
              </a:p>
            </p:txBody>
          </p:sp>
        </mc:Choice>
        <mc:Fallback>
          <p:sp>
            <p:nvSpPr>
              <p:cNvPr id="9" name="TextBox 8"/>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21,1.</a:t>
                </a:r>
                <a:r>
                  <a:rPr sz="2400">
                    <a:solidFill>
                      <a:srgbClr val="1E293B"/>
                    </a:solidFill>
                    <a:latin typeface="Calibri"/>
                  </a:rPr>
                  <a:t> </a:t>
                </a:r>
                <a:r>
                  <a:rPr lang="vi-VN"/>
                  <a:t>h'(t)=19{,}6-9{,}8t=0\Leftrightarrow t=2</a:t>
                </a:r>
                <a:r>
                  <a:rPr sz="2400">
                    <a:solidFill>
                      <a:srgbClr val="1E293B"/>
                    </a:solidFill>
                    <a:latin typeface="Calibri"/>
                  </a:rPr>
                  <a:t>; </a:t>
                </a:r>
                <a:r>
                  <a:rPr lang="vi-VN"/>
                  <a:t>h(2)=21{,}1</a:t>
                </a:r>
                <a:r>
                  <a:rPr sz="2400">
                    <a:solidFill>
                      <a:srgbClr val="1E293B"/>
                    </a:solidFill>
                    <a:latin typeface="Calibri"/>
                  </a:rPr>
                  <a:t> m.</a:t>
                </a:r>
              </a:p>
            </p:txBody>
          </p:sp>
        </mc:Fallback>
      </mc:AlternateContent>
      <p:pic>
        <p:nvPicPr>
          <p:cNvPr id="10" name="Picture 9" descr="b1_bong.png"/>
          <p:cNvPicPr>
            <a:picLocks noChangeAspect="1"/>
          </p:cNvPicPr>
          <p:nvPr/>
        </p:nvPicPr>
        <p:blipFill>
          <a:blip r:embed="rId3"/>
          <a:stretch>
            <a:fillRect/>
          </a:stretch>
        </p:blipFill>
        <p:spPr>
          <a:xfrm>
            <a:off x="8703449" y="1463040"/>
            <a:ext cx="2892781" cy="23774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58</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https://trangtu66.github.io/Taode_thi_online/cc_bai1_t12.html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1.1 – 1.9.</a:t>
            </a:r>
          </a:p>
          <a:p>
            <a:pPr algn="l" marL="365760" indent="-365760">
              <a:spcAft>
                <a:spcPts val="800"/>
              </a:spcAft>
              <a:buClr>
                <a:srgbClr val="1E40AF"/>
              </a:buClr>
              <a:buFont typeface="Arial"/>
              <a:buChar char="•"/>
            </a:pPr>
            <a:r>
              <a:rPr sz="2200">
                <a:solidFill>
                  <a:srgbClr val="1E293B"/>
                </a:solidFill>
                <a:latin typeface="Calibri"/>
              </a:rPr>
              <a:t>Đọc trước </a:t>
            </a:r>
            <a:r>
              <a:rPr sz="2200" b="1">
                <a:solidFill>
                  <a:srgbClr val="1E293B"/>
                </a:solidFill>
                <a:latin typeface="Calibri"/>
              </a:rPr>
              <a:t>Bài 2. Giá trị lớn nhất và giá trị nhỏ nhất của hàm số</a:t>
            </a:r>
            <a:r>
              <a:rPr sz="2200">
                <a:solidFill>
                  <a:srgbClr val="1E293B"/>
                </a:solidFill>
                <a:latin typeface="Calibri"/>
              </a:rPr>
              <a:t> (SGK tr.15).</a:t>
            </a:r>
          </a:p>
        </p:txBody>
      </p:sp>
      <p:pic>
        <p:nvPicPr>
          <p:cNvPr id="8" name="Picture 7" descr="QR_CungCo_Bai1_Toan12.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59</a:t>
            </a:r>
          </a:p>
        </p:txBody>
      </p:sp>
      <p:pic>
        <p:nvPicPr>
          <p:cNvPr id="7" name="Picture 6" descr="SoDoTuDuy_TOAN12_Bai1_DonDieuCucTri.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60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Viết khoảng đơn điệu bằng kí hiệu hợp hoặc trên </a:t>
                </a:r>
                <a14:m>
                  <m:oMath xmlns:m="http://schemas.openxmlformats.org/officeDocument/2006/math">
                    <m:r>
                      <a:rPr lang="vi-VN" sz="2100" b="0">
                        <a:solidFill>
                          <a:srgbClr val="1E293B"/>
                        </a:solidFill>
                        <a:latin typeface="Cambria Math" panose="02040503050406030204" pitchFamily="18" charset="0"/>
                      </a:rPr>
                      <m:t>ℝ⧵{a}</m:t>
                    </m:r>
                  </m:oMath>
                </a14:m>
                <a:r>
                  <a:rPr sz="2100">
                    <a:solidFill>
                      <a:srgbClr val="1E293B"/>
                    </a:solidFill>
                    <a:latin typeface="Calibri"/>
                  </a:rPr>
                  <a:t> (Ví dụ 4).</a:t>
                </a:r>
              </a:p>
              <a:p>
                <a:pPr algn="l" marL="365760" indent="-365760">
                  <a:spcAft>
                    <a:spcPts val="800"/>
                  </a:spcAft>
                  <a:buClr>
                    <a:srgbClr val="1E40AF"/>
                  </a:buClr>
                  <a:buFont typeface="Arial"/>
                  <a:buChar char="•"/>
                </a:pPr>
                <a:r>
                  <a:rPr sz="2100">
                    <a:solidFill>
                      <a:srgbClr val="1E293B"/>
                    </a:solidFill>
                    <a:latin typeface="Calibri"/>
                  </a:rPr>
                  <a:t>Nhầm điểm cực trị </a:t>
                </a:r>
                <a14:m>
                  <m:oMath xmlns:m="http://schemas.openxmlformats.org/officeDocument/2006/math">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0</m:t>
                        </m:r>
                      </m:sub>
                    </m:sSub>
                  </m:oMath>
                </a14:m>
                <a:r>
                  <a:rPr sz="2100">
                    <a:solidFill>
                      <a:srgbClr val="1E293B"/>
                    </a:solidFill>
                    <a:latin typeface="Calibri"/>
                  </a:rPr>
                  <a:t> với giá trị cực trị </a:t>
                </a:r>
                <a14:m>
                  <m:oMath xmlns:m="http://schemas.openxmlformats.org/officeDocument/2006/math">
                    <m:r>
                      <a:rPr lang="vi-VN" sz="2100" b="0">
                        <a:solidFill>
                          <a:srgbClr val="1E293B"/>
                        </a:solidFill>
                        <a:latin typeface="Cambria Math" panose="02040503050406030204" pitchFamily="18" charset="0"/>
                      </a:rPr>
                      <m:t>f(</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0</m:t>
                        </m:r>
                      </m:sub>
                    </m:sSub>
                    <m:r>
                      <a:rPr lang="vi-VN" sz="2100" b="0">
                        <a:solidFill>
                          <a:srgbClr val="1E293B"/>
                        </a:solidFill>
                        <a:latin typeface="Cambria Math" panose="02040503050406030204" pitchFamily="18" charset="0"/>
                      </a:rPr>
                      <m:t>)</m:t>
                    </m:r>
                  </m:oMath>
                </a14:m>
                <a:r>
                  <a:rPr sz="2100">
                    <a:solidFill>
                      <a:srgbClr val="1E293B"/>
                    </a:solidFill>
                    <a:latin typeface="Calibri"/>
                  </a:rPr>
                  <a:t> hoặc điểm cực trị của đồ thị.</a:t>
                </a:r>
              </a:p>
              <a:p>
                <a:pPr algn="l" marL="365760" indent="-365760">
                  <a:spcAft>
                    <a:spcPts val="800"/>
                  </a:spcAft>
                  <a:buClr>
                    <a:srgbClr val="1E40AF"/>
                  </a:buClr>
                  <a:buFont typeface="Arial"/>
                  <a:buChar char="•"/>
                </a:pPr>
                <a:r>
                  <a:rPr sz="2100">
                    <a:solidFill>
                      <a:srgbClr val="1E293B"/>
                    </a:solidFill>
                    <a:latin typeface="Calibri"/>
                  </a:rPr>
                  <a:t>Cho rằng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0</m:t>
                        </m:r>
                      </m:sub>
                    </m:sSub>
                    <m:r>
                      <a:rPr lang="vi-VN" sz="2100" b="0">
                        <a:solidFill>
                          <a:srgbClr val="1E293B"/>
                        </a:solidFill>
                        <a:latin typeface="Cambria Math" panose="02040503050406030204" pitchFamily="18" charset="0"/>
                      </a:rPr>
                      <m:t>)=0</m:t>
                    </m:r>
                  </m:oMath>
                </a14:m>
                <a:r>
                  <a:rPr sz="2100">
                    <a:solidFill>
                      <a:srgbClr val="1E293B"/>
                    </a:solidFill>
                    <a:latin typeface="Calibri"/>
                  </a:rPr>
                  <a:t> thì </a:t>
                </a:r>
                <a14:m>
                  <m:oMath xmlns:m="http://schemas.openxmlformats.org/officeDocument/2006/math">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0</m:t>
                        </m:r>
                      </m:sub>
                    </m:sSub>
                  </m:oMath>
                </a14:m>
                <a:r>
                  <a:rPr sz="2100">
                    <a:solidFill>
                      <a:srgbClr val="1E293B"/>
                    </a:solidFill>
                    <a:latin typeface="Calibri"/>
                  </a:rPr>
                  <a:t> là điểm cực trị (phản ví dụ </a:t>
                </a:r>
                <a14:m>
                  <m:oMath xmlns:m="http://schemas.openxmlformats.org/officeDocument/2006/math">
                    <m:r>
                      <a:rPr lang="vi-VN" sz="2100" b="0">
                        <a:solidFill>
                          <a:srgbClr val="1E293B"/>
                        </a:solidFill>
                        <a:latin typeface="Cambria Math" panose="02040503050406030204" pitchFamily="18" charset="0"/>
                      </a:rPr>
                      <m:t>y=</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3</m:t>
                        </m:r>
                      </m:sup>
                    </m:sSup>
                  </m:oMath>
                </a14:m>
                <a:r>
                  <a:rPr sz="2100">
                    <a:solidFill>
                      <a:srgbClr val="1E293B"/>
                    </a:solidFill>
                    <a:latin typeface="Calibri"/>
                  </a:rPr>
                  <a:t>); bỏ sót điểm đạo hàm không tồn tại.</a:t>
                </a:r>
              </a:p>
              <a:p>
                <a:pPr algn="l" marL="365760" indent="-365760">
                  <a:spcAft>
                    <a:spcPts val="800"/>
                  </a:spcAft>
                  <a:buClr>
                    <a:srgbClr val="1E40AF"/>
                  </a:buClr>
                  <a:buFont typeface="Arial"/>
                  <a:buChar char="•"/>
                </a:pPr>
                <a:r>
                  <a:rPr sz="2100">
                    <a:solidFill>
                      <a:srgbClr val="1E293B"/>
                    </a:solidFill>
                    <a:latin typeface="Calibri"/>
                  </a:rPr>
                  <a:t>Quên tìm tập xác định (Bài 1.4a, 1.7d); xét dấu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sai khi hệ số bậc cao âm.</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Viết khoảng đơn điệu bằng kí hiệu hợp hoặc trên </a:t>
                </a:r>
                <a:r>
                  <a:rPr lang="vi-VN"/>
                  <a:t>\mathbb{R}\setminus\{a\}</a:t>
                </a:r>
                <a:r>
                  <a:rPr sz="2100">
                    <a:solidFill>
                      <a:srgbClr val="1E293B"/>
                    </a:solidFill>
                    <a:latin typeface="Calibri"/>
                  </a:rPr>
                  <a:t> (Ví dụ 4).</a:t>
                </a:r>
              </a:p>
              <a:p>
                <a:pPr algn="l" marL="365760" indent="-365760">
                  <a:spcAft>
                    <a:spcPts val="800"/>
                  </a:spcAft>
                  <a:buClr>
                    <a:srgbClr val="1E40AF"/>
                  </a:buClr>
                  <a:buFont typeface="Arial"/>
                  <a:buChar char="•"/>
                </a:pPr>
                <a:r>
                  <a:rPr sz="2100">
                    <a:solidFill>
                      <a:srgbClr val="1E293B"/>
                    </a:solidFill>
                    <a:latin typeface="Calibri"/>
                  </a:rPr>
                  <a:t>Nhầm điểm cực trị </a:t>
                </a:r>
                <a:r>
                  <a:rPr lang="vi-VN"/>
                  <a:t>x_0</a:t>
                </a:r>
                <a:r>
                  <a:rPr sz="2100">
                    <a:solidFill>
                      <a:srgbClr val="1E293B"/>
                    </a:solidFill>
                    <a:latin typeface="Calibri"/>
                  </a:rPr>
                  <a:t> với giá trị cực trị </a:t>
                </a:r>
                <a:r>
                  <a:rPr lang="vi-VN"/>
                  <a:t>f(x_0)</a:t>
                </a:r>
                <a:r>
                  <a:rPr sz="2100">
                    <a:solidFill>
                      <a:srgbClr val="1E293B"/>
                    </a:solidFill>
                    <a:latin typeface="Calibri"/>
                  </a:rPr>
                  <a:t> hoặc điểm cực trị của đồ thị.</a:t>
                </a:r>
              </a:p>
              <a:p>
                <a:pPr algn="l" marL="365760" indent="-365760">
                  <a:spcAft>
                    <a:spcPts val="800"/>
                  </a:spcAft>
                  <a:buClr>
                    <a:srgbClr val="1E40AF"/>
                  </a:buClr>
                  <a:buFont typeface="Arial"/>
                  <a:buChar char="•"/>
                </a:pPr>
                <a:r>
                  <a:rPr sz="2100">
                    <a:solidFill>
                      <a:srgbClr val="1E293B"/>
                    </a:solidFill>
                    <a:latin typeface="Calibri"/>
                  </a:rPr>
                  <a:t>Cho rằng </a:t>
                </a:r>
                <a:r>
                  <a:rPr lang="vi-VN"/>
                  <a:t>f'(x_0)=0</a:t>
                </a:r>
                <a:r>
                  <a:rPr sz="2100">
                    <a:solidFill>
                      <a:srgbClr val="1E293B"/>
                    </a:solidFill>
                    <a:latin typeface="Calibri"/>
                  </a:rPr>
                  <a:t> thì </a:t>
                </a:r>
                <a:r>
                  <a:rPr lang="vi-VN"/>
                  <a:t>x_0</a:t>
                </a:r>
                <a:r>
                  <a:rPr sz="2100">
                    <a:solidFill>
                      <a:srgbClr val="1E293B"/>
                    </a:solidFill>
                    <a:latin typeface="Calibri"/>
                  </a:rPr>
                  <a:t> là điểm cực trị (phản ví dụ </a:t>
                </a:r>
                <a:r>
                  <a:rPr lang="vi-VN"/>
                  <a:t>y=x^3</a:t>
                </a:r>
                <a:r>
                  <a:rPr sz="2100">
                    <a:solidFill>
                      <a:srgbClr val="1E293B"/>
                    </a:solidFill>
                    <a:latin typeface="Calibri"/>
                  </a:rPr>
                  <a:t>); bỏ sót điểm đạo hàm không tồn tại.</a:t>
                </a:r>
              </a:p>
              <a:p>
                <a:pPr algn="l" marL="365760" indent="-365760">
                  <a:spcAft>
                    <a:spcPts val="800"/>
                  </a:spcAft>
                  <a:buClr>
                    <a:srgbClr val="1E40AF"/>
                  </a:buClr>
                  <a:buFont typeface="Arial"/>
                  <a:buChar char="•"/>
                </a:pPr>
                <a:r>
                  <a:rPr sz="2100">
                    <a:solidFill>
                      <a:srgbClr val="1E293B"/>
                    </a:solidFill>
                    <a:latin typeface="Calibri"/>
                  </a:rPr>
                  <a:t>Quên tìm tập xác định (Bài 1.4a, 1.7d); xét dấu </a:t>
                </a:r>
                <a:r>
                  <a:rPr lang="vi-VN"/>
                  <a:t>y'</a:t>
                </a:r>
                <a:r>
                  <a:rPr sz="2100">
                    <a:solidFill>
                      <a:srgbClr val="1E293B"/>
                    </a:solidFill>
                    <a:latin typeface="Calibri"/>
                  </a:rPr>
                  <a:t> sai khi hệ số bậc cao âm.</a:t>
                </a: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Tính đơn điệu và cực trị của hàm số – Toán 12          61</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đọc đồ thị (Ví dụ 1, LT1, LT4, Bài 1.1); bảng 4 bước in sẵn.</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Bài 1.6, 1.8, 1.9; kiểm chứng bằng GeoGebra.</a:t>
            </a:r>
          </a:p>
          <a:p>
            <a:pPr algn="l" marL="365760" indent="-365760">
              <a:spcAft>
                <a:spcPts val="800"/>
              </a:spcAft>
              <a:buClr>
                <a:srgbClr val="1E40AF"/>
              </a:buClr>
              <a:buFont typeface="Arial"/>
              <a:buChar char="•"/>
            </a:pPr>
            <a:r>
              <a:rPr sz="2000" b="1">
                <a:solidFill>
                  <a:srgbClr val="1E293B"/>
                </a:solidFill>
                <a:latin typeface="Calibri"/>
              </a:rPr>
              <a:t>12A2, 12A7 (khiếm thị):</a:t>
            </a:r>
            <a:r>
              <a:rPr sz="2000">
                <a:solidFill>
                  <a:srgbClr val="1E293B"/>
                </a:solidFill>
                <a:latin typeface="Calibri"/>
              </a:rPr>
              <a:t> GV đọc to bảng biến thiên theo hàng, mô tả đồ thị "đi lên/đi xuống"; </a:t>
            </a:r>
            <a:r>
              <a:rPr sz="2000" b="1">
                <a:solidFill>
                  <a:srgbClr val="1E293B"/>
                </a:solidFill>
                <a:latin typeface="Calibri"/>
              </a:rPr>
              <a:t>12A3, 12A5, 12A7 (vận động):</a:t>
            </a:r>
            <a:r>
              <a:rPr sz="2000">
                <a:solidFill>
                  <a:srgbClr val="1E293B"/>
                </a:solidFill>
                <a:latin typeface="Calibri"/>
              </a:rPr>
              <a:t> trả lời tại chỗ.</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KHBD in, vẽ bảng biến thiên trên bảng; máy tính cầm tay thay GeoGebra.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