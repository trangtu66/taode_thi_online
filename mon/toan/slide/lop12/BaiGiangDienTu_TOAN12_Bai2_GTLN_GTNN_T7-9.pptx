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4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Bìa. Đáp án, lời giải hiện theo click. Nút GeoGebra mở trang online (cần Internet).</a:t>
            </a:r>
          </a:p>
          <a:p>
            <a:r>
              <a:t>Lớp có HS khuyết tật: 12A2, 12A7 (khiếm thị) – GV đọc to công thức, bảng biến thiên, mô tả đồ thị; 12A3, 12A5, 12A7 (vận động) – HS trả lời tại chỗ, không cần lên bảng.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1'. Yêu cầu cần đạt lấy từ khung 'Kiến thức, kĩ năng' SGK tr.15.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để HS nắm lộ trình bài học.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1 (45'): Khởi động 5' – HĐ1, định nghĩa 8' – Chú ý, Ví dụ 1: 8' – Ví dụ 2: 6' – Ví dụ 3: 8' – LT1: 6' – Tổng kết 4'.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Chiếu video mở đầu (ảnh thật, lồng tiếng, phụ đề – không nói đáp án), HS quét QR xem lại. 5'. Cho HS dự đoán (thử x = 5, 10, 15: V = 12 500; 16 000; 13 500). Giải ở Ví dụ 3 cùng tiết. Có thể dùng tờ giấy A4 gấp minh hoạ.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HĐ1 – 3'. Click 1. Chốt khung định nghĩa (click 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Chú ý: GV giảng giải. Ví dụ 1: Cách 1 (định nghĩa) click 1; Cách 2 (bảng biến thiên) click 2–4.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trình bày. Click 1–3. Nhấn mạnh: trên khoảng mở hàm số có thể không có GTLN (hoặc GTNN).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8'. HS cùng GV lập hàm V(x). Click 1–3. Liên hệ: hộp đựng cà phê nhân, hộp quà.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cá nhân 6'. Click 1, 2 (đã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Click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Lệnh: V(x)=If(0&lt;=x&lt;=30,(60-2x)^2*x), P=(x0,V(x0)).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2 (45'): Ai nhanh hơn 4' – HĐ2, khung các bước 10' – Ví dụ 4, 5: 10' – LT2: 8' – Vận dụng 8' – Tổng kết 5'.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Dẫn vào HĐ2: so sánh giá trị tại đầu mút và tại điểm f' = 0. Click 1–4.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HĐ2 (SGK tr.17 – 18) – 5'. Click 1–3.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chép 3 bước.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GV trình bày theo 3 bước. Click 1–4. Chú ý: chỉ lấy nghiệm thuộc khoảng (a; b).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HS làm cá nhân 7'. Click 1, 2 (đã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8'. HS làm nhóm. Click 1–3. N tính bằng trăm người. Liên hệ: phòng dịch sốt xuất huyết ở địa phương.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2'. Đối chiếu kết quả HĐ2.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Tiết 3 (45'): 1.10 – 1.11: 8' – 1.12: 7' – 1.13 – 1.15: 10' – Rung chuông vàng 15' – Củng cố online, giao việc 5'.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8'. Chữa bài: HS trình bày, click hiện đáp án (đối chiếu SGV tr.47 – 50; 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7'. Chữa bài: HS trình bày, click hiện đáp án (đối chiếu SGV tr.47 – 50; 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6'. Chữa bài: HS trình bày, click hiện đáp án (đối chiếu SGV tr.47 – 50; 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4'. Gợi ý: biểu diễn h theo r rồi lập hàm chi phí C(r). Chữa bài: HS trình bày, click hiện đáp án (đối chiếu SGV tr.47 – 50; đã kiểm tra bằng sympy).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Mỗi HS một bảng con. Mỗi câu 30 giây (Đ/S, trả lời ngắn, thực tế: 60 giây). Sai rời sàn thi; có thể 'cứu trợ' 1 lần. Cấu trúc 8 câu theo đề thi từ 2025: nhiều lựa chọn, Đúng/Sai, trả lời ngắn, thực tế. Đáp án đã kiểm tra bằng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A: chỉ tính tại x = 0; B: GTNN.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A: quên điểm x = 2, chỉ so hai đầu mút.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B: nhầm điểm x = 2 với giá trị.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30 giây. Click 1: đáp án. Nhiễu B: lấy giới hạn 2 tại vô cực.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1–4. Đáp án đã kiểm tra bằng sympy: Đ – Đ – S – Đ.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60 giây. Click 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3'. HS quét QR làm bài củng cố online ở nhà. Đáp án chỉ mở khi GV cho phép.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Củng cố cuối bài.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Slide ẩn – chỉ GV xem khi chuẩn bị.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trangtu66.github.io/Taode_thi_online/mon/toan/video/lop12/VIDEO_MoDau_TOAN12_Bai2_GTLN_GTNN.mp4" TargetMode="External"/><Relationship Id="rId4" Type="http://schemas.openxmlformats.org/officeDocument/2006/relationships/image" Target="../media/image1.png"/><Relationship Id="rId5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png"/><Relationship Id="rId4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trangtu66.github.io/Taode_thi_online/GGB_T12_Bai2_1_HopCarton.html" TargetMode="External"/><Relationship Id="rId4" Type="http://schemas.openxmlformats.org/officeDocument/2006/relationships/image" Target="../media/image8.png"/><Relationship Id="rId5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9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1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trangtu66.github.io/Taode_thi_online/GGB_T12_Bai2_2_TrenDoan.html" TargetMode="External"/><Relationship Id="rId4" Type="http://schemas.openxmlformats.org/officeDocument/2006/relationships/image" Target="../media/image11.png"/><Relationship Id="rId5" Type="http://schemas.openxmlformats.org/officeDocument/2006/relationships/image" Target="../media/image9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1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image" Target="../media/image13.png"/><Relationship Id="rId4" Type="http://schemas.openxmlformats.org/officeDocument/2006/relationships/hyperlink" Target="https://trangtu66.github.io/Taode_thi_online/cc_bai2_t12.html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image" Target="../media/image14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000" b="1">
                <a:solidFill>
                  <a:srgbClr val="FCD34D"/>
                </a:solidFill>
                <a:latin typeface="Cambria"/>
              </a:rPr>
              <a:t>CHƯƠNG I. ỨNG DỤNG ĐẠO HÀM ĐỂ KHẢO SÁT VÀ VẼ ĐỒ THỊ HÀM SỐ</a:t>
            </a:r>
          </a:p>
          <a:p>
            <a:pPr>
              <a:spcAft>
                <a:spcPts val="600"/>
              </a:spcAft>
            </a:pPr>
            <a:r>
              <a:rPr sz="3000" b="1">
                <a:solidFill>
                  <a:srgbClr val="FFFFFF"/>
                </a:solidFill>
                <a:latin typeface="Cambria"/>
              </a:rPr>
              <a:t>BÀI 2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GIÁ TRỊ LỚN NHẤT VÀ GIÁ TRỊ NHỎ NHẤT CỦA HÀM SỐ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3 tiết: T7 – T9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MỤC TIÊU BÀI HỌC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17320"/>
            <a:ext cx="11064240" cy="214274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13232" y="1453896"/>
            <a:ext cx="10735056" cy="2069591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Yêu cầu cần đạt</a:t>
            </a:r>
            <a:r>
              <a:rPr sz="2200">
                <a:solidFill>
                  <a:srgbClr val="1E293B"/>
                </a:solidFill>
                <a:latin typeface="Calibri"/>
              </a:rPr>
              <a:t> (SGK tr.15)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Nhận biết giá trị lớn nhất, giá trị nhỏ nhất của hàm số trên một tập xác định cho trước.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Xác định giá trị lớn nhất, giá trị nhỏ nhất của hàm số bằng đạo hàm trong những trường hợp đơn giản.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3788664"/>
            <a:ext cx="11064240" cy="2743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Năng lực toán học:</a:t>
            </a:r>
            <a:r>
              <a:rPr sz="2200">
                <a:solidFill>
                  <a:srgbClr val="1E293B"/>
                </a:solidFill>
                <a:latin typeface="Calibri"/>
              </a:rPr>
              <a:t> tư duy và lập luận; mô hình hoá (hộp carton, lây lan virus, thiết kế hộp, bình); giải quyết vấn đề tối ưu; sử dụng công cụ (GeoGebra).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 b="1">
                <a:solidFill>
                  <a:srgbClr val="1E293B"/>
                </a:solidFill>
                <a:latin typeface="Calibri"/>
              </a:rPr>
              <a:t>Phẩm chất:</a:t>
            </a:r>
            <a:r>
              <a:rPr sz="2200">
                <a:solidFill>
                  <a:srgbClr val="1E293B"/>
                </a:solidFill>
                <a:latin typeface="Calibri"/>
              </a:rPr>
              <a:t> chăm chỉ, trung thực, trách nhiệm.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LỘ TRÌNH 3 TIẾT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55448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162763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920240" y="164592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1. Định nghĩa; Ví dụ 1 – 3; Luyện tập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46720" y="164592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Đúng hay sai? · GeoGebra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258775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20240" y="260604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2. Cách tìm GTLN, GTNN trên một đoạn; Ví dụ 4, 5; Luyện tập 2; Vận dụng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46720" y="260604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Ai nhanh hơn · GeoGebra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474720"/>
            <a:ext cx="1188720" cy="73152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3547872"/>
            <a:ext cx="1188720" cy="5943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400" b="1">
                <a:solidFill>
                  <a:srgbClr val="FFFFFF"/>
                </a:solidFill>
                <a:latin typeface="Calibri"/>
              </a:rPr>
              <a:t>T9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920240" y="3566160"/>
            <a:ext cx="6035040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Chữa bài tập 1.10 – 1.15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0" y="3566160"/>
            <a:ext cx="3749039" cy="7315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E293B"/>
                </a:solidFill>
                <a:latin typeface="Calibri"/>
              </a:rPr>
              <a:t>🎮 Rung chuông vàng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1 (T7)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Định nghĩa giá trị lớn nhất, giá trị nhỏ nhất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Nhận biết GTLN, GTNN của hàm số trên một tập.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Tìm GTLN, GTNN bằng bảng biến thiên; giải bài toán chiếc hộp.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KHỞI ĐỘNG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 – CHIẾC HỘP KHÔNG NẮP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6583680" cy="38404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1E293B"/>
                </a:solidFill>
                <a:latin typeface="Calibri"/>
              </a:rPr>
              <a:t>Từ một tấm bìa carton hình vuông có độ dài cạnh bằng 60 cm, người ta cắt bốn hình vuông bằng nhau ở bốn góc rồi gập thành một chiếc hộp có dạng hình hộp chữ nhật không có nắp (H.1.14). </a:t>
            </a:r>
            <a:r>
              <a:rPr sz="2200" b="1">
                <a:solidFill>
                  <a:srgbClr val="1E293B"/>
                </a:solidFill>
                <a:latin typeface="Calibri"/>
              </a:rPr>
              <a:t>Tính độ dài cạnh của các hình vuông bị cắt sao cho thể tích của chiếc hộp là lớn nhất.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(SGK Toán 12 tập một, tr.15)</a:t>
            </a:r>
          </a:p>
        </p:txBody>
      </p:sp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349240"/>
            <a:ext cx="3931920" cy="640080"/>
          </a:xfrm>
          <a:prstGeom prst="roundRect">
            <a:avLst/>
          </a:prstGeom>
          <a:solidFill>
            <a:srgbClr val="D9770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VIDEO MỞ ĐẦU</a:t>
            </a:r>
          </a:p>
        </p:txBody>
      </p:sp>
      <p:pic>
        <p:nvPicPr>
          <p:cNvPr id="9" name="Picture 8" descr="qr_vide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5074920"/>
            <a:ext cx="1188720" cy="1188720"/>
          </a:xfrm>
          <a:prstGeom prst="rect">
            <a:avLst/>
          </a:prstGeom>
        </p:spPr>
      </p:pic>
      <p:pic>
        <p:nvPicPr>
          <p:cNvPr id="10" name="Picture 9" descr="b2_h1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5200" y="2363456"/>
            <a:ext cx="4389120" cy="222252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1. ĐỊNH NGHĨA – HĐ1 (SGK TR.15)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863840" cy="16215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Cho hàm số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−2x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x∈[0;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3]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có đồ thị như Hình 1.15. a) Giá trị lớn nhất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hàm số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bao nhiêu? Tìm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Giá trị nhỏ nhất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hàm số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bao nhiêu? Tìm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863840" cy="16215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HĐ1.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Cho hàm số </a:t>
                </a:r>
                <a:r>
                  <a:rPr lang="vi-VN"/>
                  <a:t>y=f(x)=x^2-2x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</a:t>
                </a:r>
                <a:r>
                  <a:rPr lang="vi-VN"/>
                  <a:t>x\in[0;\ 3]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có đồ thị như Hình 1.15. a) Giá trị lớn nhất </a:t>
                </a:r>
                <a:r>
                  <a:rPr lang="vi-VN"/>
                  <a:t>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hàm số trên đoạn </a:t>
                </a:r>
                <a:r>
                  <a:rPr lang="vi-VN"/>
                  <a:t>[0;\ 3]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bao nhiêu? Tìm </a:t>
                </a:r>
                <a:r>
                  <a:rPr lang="vi-VN"/>
                  <a:t>x_0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</a:t>
                </a:r>
                <a:r>
                  <a:rPr lang="vi-VN"/>
                  <a:t>f(x_0)=M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Giá trị nhỏ nhất </a:t>
                </a:r>
                <a:r>
                  <a:rPr lang="vi-VN"/>
                  <a:t>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hàm số trên đoạn </a:t>
                </a:r>
                <a:r>
                  <a:rPr lang="vi-VN"/>
                  <a:t>[0;\ 3]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là bao nhiêu? Tìm </a:t>
                </a:r>
                <a:r>
                  <a:rPr lang="vi-VN"/>
                  <a:t>x_0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</a:t>
                </a:r>
                <a:r>
                  <a:rPr lang="vi-VN"/>
                  <a:t>f(x_0)=m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066288"/>
            <a:ext cx="7863840" cy="554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102864"/>
                <a:ext cx="75346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M=3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m=−1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102864"/>
                <a:ext cx="75346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M=3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x_0=3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b) </a:t>
                </a:r>
                <a:r>
                  <a:rPr lang="vi-VN"/>
                  <a:t>m=-1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x_0=1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694176"/>
            <a:ext cx="7863840" cy="2493264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730752"/>
                <a:ext cx="7534656" cy="242011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xác định trên tập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Số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được gọi là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giá trị lớn nhất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hàm số trên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f(x)≤M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tồn tại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∈D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Kí hiệu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limLow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x∈D</m:t>
                        </m:r>
                      </m:lim>
                    </m:limLow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limLow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lim>
                    </m:limLow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Số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được gọi là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giá trị nhỏ nhất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hàm số trên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f(x)≥m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tồn tại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∈D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</m:t>
                    </m:r>
                    <m:sSub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)=m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Kí hiệu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limLow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x∈D</m:t>
                        </m:r>
                      </m:lim>
                    </m:limLow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limLow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lim>
                    </m:limLow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730752"/>
                <a:ext cx="7534656" cy="2420112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:r>
                  <a:rPr lang="vi-VN"/>
                  <a:t>y=f(x)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xác định trên tập </a:t>
                </a:r>
                <a:r>
                  <a:rPr lang="vi-VN"/>
                  <a:t>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Số </a:t>
                </a:r>
                <a:r>
                  <a:rPr lang="vi-VN"/>
                  <a:t>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được gọi là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giá trị lớn nhất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hàm số trên </a:t>
                </a:r>
                <a:r>
                  <a:rPr lang="vi-VN"/>
                  <a:t>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f(x)\le 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x\in 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tồn tại </a:t>
                </a:r>
                <a:r>
                  <a:rPr lang="vi-VN"/>
                  <a:t>x_0\in 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</a:t>
                </a:r>
                <a:r>
                  <a:rPr lang="vi-VN"/>
                  <a:t>f(x_0)=M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Kí hiệu </a:t>
                </a:r>
                <a:r>
                  <a:rPr lang="vi-VN"/>
                  <a:t>M=\mathop{\max}\limits_{x\in D}f(x)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M=\mathop{\max}\limits_{D}f(x)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Số </a:t>
                </a:r>
                <a:r>
                  <a:rPr lang="vi-VN"/>
                  <a:t>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được gọi là </a:t>
                </a: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giá trị nhỏ nhất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của hàm số trên </a:t>
                </a:r>
                <a:r>
                  <a:rPr lang="vi-VN"/>
                  <a:t>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nếu </a:t>
                </a:r>
                <a:r>
                  <a:rPr lang="vi-VN"/>
                  <a:t>f(x)\ge 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x\in 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và tồn tại </a:t>
                </a:r>
                <a:r>
                  <a:rPr lang="vi-VN"/>
                  <a:t>x_0\in 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sao cho </a:t>
                </a:r>
                <a:r>
                  <a:rPr lang="vi-VN"/>
                  <a:t>f(x_0)=m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Kí hiệu </a:t>
                </a:r>
                <a:r>
                  <a:rPr lang="vi-VN"/>
                  <a:t>m=\mathop{\min}\limits_{x\in D}f(x)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m=\mathop{\min}\limits_{D}f(x)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2" name="Picture 11" descr="b2_h1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789629"/>
            <a:ext cx="2926080" cy="2638661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686800" y="4773168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1.15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CHÚ Ý – VÍ DỤ 1 (SGK TR.16)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371600"/>
            <a:ext cx="11064240" cy="1133856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08176"/>
                <a:ext cx="10735056" cy="10607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Khi nói GTLN, GTNN của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mà không nói "trên tập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" thì ta hiểu là trên tập xác định của hàm số. Để tìm GTLN, GTNN trên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ta thường lập bảng biến thiên của hàm số trên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08176"/>
                <a:ext cx="10735056" cy="10607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Chú ý.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Khi nói GTLN, GTNN của </a:t>
                </a:r>
                <a:r>
                  <a:rPr lang="vi-VN"/>
                  <a:t>f(x)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mà không nói "trên tập </a:t>
                </a:r>
                <a:r>
                  <a:rPr lang="vi-VN"/>
                  <a:t>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" thì ta hiểu là trên tập xác định của hàm số. Để tìm GTLN, GTNN trên </a:t>
                </a:r>
                <a:r>
                  <a:rPr lang="vi-VN"/>
                  <a:t>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ta thường lập bảng biến thiên của hàm số trên </a:t>
                </a:r>
                <a:r>
                  <a:rPr lang="vi-VN"/>
                  <a:t>D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548640" y="2560320"/>
                <a:ext cx="11064240" cy="463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Tìm giá trị lớn nhất và giá trị nhỏ nhất của hàm số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sSup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548640" y="2560320"/>
                <a:ext cx="11064240" cy="463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Ví dụ 1.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Tìm giá trị lớn nhất và giá trị nhỏ nhất của hàm số </a:t>
                </a:r>
                <a:r>
                  <a:rPr lang="vi-VN"/>
                  <a:t>y=f(x)=\sqrt{1-x^2}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078480"/>
            <a:ext cx="11064240" cy="554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115056"/>
                <a:ext cx="107350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Tập xác định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Cách 1.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f(x)≥0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dấu bằng khi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f(x)≤1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dấu bằng khi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115056"/>
                <a:ext cx="107350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Tập xác định </a:t>
                </a:r>
                <a:r>
                  <a:rPr lang="vi-VN"/>
                  <a:t>[-1;\ 1]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Cách 1. </a:t>
                </a:r>
                <a:r>
                  <a:rPr lang="vi-VN"/>
                  <a:t>f(x)\ge 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dấu bằng khi </a:t>
                </a:r>
                <a:r>
                  <a:rPr lang="vi-VN"/>
                  <a:t>x=\pm 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f(x)\le 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dấu bằng khi </a:t>
                </a:r>
                <a:r>
                  <a:rPr lang="vi-VN"/>
                  <a:t>x=0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3688080"/>
            <a:ext cx="11064240" cy="68503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3724656"/>
                <a:ext cx="10735056" cy="61188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Cách 2. Với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x∈(−1;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sSup>
                              <m:e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vi-VN" sz="19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Bảng biến thiên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724656"/>
                <a:ext cx="10735056" cy="61188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Cách 2. Với </a:t>
                </a:r>
                <a:r>
                  <a:rPr lang="vi-VN"/>
                  <a:t>x\in(-1;\ 1)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y'=-\frac{x}{\sqrt{1-x^2}}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y'=0\Leftrightarrow x=0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 Bảng biến thiên trên </a:t>
                </a:r>
                <a:r>
                  <a:rPr lang="vi-VN"/>
                  <a:t>[-1;\ 1]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</a:t>
                </a:r>
              </a:p>
            </p:txBody>
          </p:sp>
        </mc:Fallback>
      </mc:AlternateContent>
      <p:pic>
        <p:nvPicPr>
          <p:cNvPr id="14" name="s4_bbt" descr="b2_vd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03127" y="4446269"/>
            <a:ext cx="2555264" cy="1143000"/>
          </a:xfrm>
          <a:prstGeom prst="rect">
            <a:avLst/>
          </a:prstGeom>
        </p:spPr>
      </p:pic>
      <p:sp>
        <p:nvSpPr>
          <p:cNvPr id="15" name="s5_nen"/>
          <p:cNvSpPr/>
          <p:nvPr/>
        </p:nvSpPr>
        <p:spPr>
          <a:xfrm>
            <a:off x="548640" y="5662421"/>
            <a:ext cx="11064240" cy="554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s5_chu"/>
              <p:cNvSpPr txBox="1"/>
              <p:nvPr/>
            </p:nvSpPr>
            <p:spPr>
              <a:xfrm>
                <a:off x="713232" y="5698997"/>
                <a:ext cx="107350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lim>
                    </m:limLow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f(x)=f(−1)=f(1)=0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19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lim>
                    </m:limLow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f(x)=f(0)=1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6" name="TextBox 15"/>
              <p:cNvSpPr txBox="1"/>
              <p:nvPr/>
            </p:nvSpPr>
            <p:spPr>
              <a:xfrm>
                <a:off x="713232" y="5698997"/>
                <a:ext cx="10735056" cy="481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\mathop{\min}\limits_{[-1;\ 1]}f(x)=f(-1)=f(1)=0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\mathop{\max}\limits_{[-1;\ 1]}f(x)=f(0)=1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2 (SGK TR.16 – 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giá trị lớn nhất và giá trị nhỏ nhất (nếu có) của hàm số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y=x−2+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khoảng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57834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Ví dụ 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giá trị lớn nhất và giá trị nhỏ nhất (nếu có) của hàm số </a:t>
                </a:r>
                <a:r>
                  <a:rPr lang="vi-VN"/>
                  <a:t>y=x-2+\frac{1}{x}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khoảng </a:t>
                </a:r>
                <a:r>
                  <a:rPr lang="vi-VN"/>
                  <a:t>(0;\ +\infty)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420874"/>
            <a:ext cx="11064240" cy="729233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457450"/>
                <a:ext cx="10735056" cy="656081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(vì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x&gt;0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).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457450"/>
                <a:ext cx="10735056" cy="656081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y'=1-\frac{1}{x^2}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y'=0\Leftrightarrow x=1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(vì </a:t>
                </a:r>
                <a:r>
                  <a:rPr lang="vi-VN"/>
                  <a:t>x&gt;0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). </a:t>
                </a:r>
                <a:r>
                  <a:rPr lang="vi-VN"/>
                  <a:t>\lim\limits_{x\to 0^+}y=+\infty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\lim\limits_{x\to+\infty}y=+\infty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pic>
        <p:nvPicPr>
          <p:cNvPr id="10" name="s2_bbt" descr="b2_vd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8758" y="3259836"/>
            <a:ext cx="3884001" cy="1737360"/>
          </a:xfrm>
          <a:prstGeom prst="rect">
            <a:avLst/>
          </a:prstGeom>
        </p:spPr>
      </p:pic>
      <p:sp>
        <p:nvSpPr>
          <p:cNvPr id="11" name="s3_nen"/>
          <p:cNvSpPr/>
          <p:nvPr/>
        </p:nvSpPr>
        <p:spPr>
          <a:xfrm>
            <a:off x="548640" y="5070348"/>
            <a:ext cx="11064240" cy="58521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5106924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sepChr m:val=""/>
                          </m:d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∞</m:t>
                            </m:r>
                          </m:e>
                        </m:d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y=y(1)=0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hàm số không có giá trị lớn nhất trên khoảng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5106924"/>
                <a:ext cx="10735056" cy="51206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\mathop{\min}\limits_{(0;\ +\infty)}y=y(1)=0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hàm số không có giá trị lớn nhất trên khoảng </a:t>
                </a:r>
                <a:r>
                  <a:rPr lang="vi-VN"/>
                  <a:t>(0;\ +\infty)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3 – GIẢI TÌNH HUỐNG MỞ ĐẦU (SGK TR.17)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046720" cy="11338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Gọi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(cm) là độ dài cạnh hình vuông cắt ở bốn góc,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0&lt;x&lt;30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Hộp có đáy là hình vuông cạnh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60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cm, chiều cao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cm.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8046720" cy="113385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Gọi </a:t>
                </a:r>
                <a:r>
                  <a:rPr lang="vi-VN"/>
                  <a:t>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(cm) là độ dài cạnh hình vuông cắt ở bốn góc, </a:t>
                </a:r>
                <a:r>
                  <a:rPr lang="vi-VN"/>
                  <a:t>0&lt;x&lt;30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Hộp có đáy là hình vuông cạnh </a:t>
                </a:r>
                <a:r>
                  <a:rPr lang="vi-VN"/>
                  <a:t>(60-2x)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cm, chiều cao </a:t>
                </a:r>
                <a:r>
                  <a:rPr lang="vi-VN"/>
                  <a:t>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cm.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96896"/>
            <a:ext cx="8046720" cy="9052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633472"/>
                <a:ext cx="771753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V(x)=(60−2x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x=4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−240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600x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(cm³);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(x)=12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−480x+3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600=0⇔x=10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(thoả mãn) hoặc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(loại).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633472"/>
                <a:ext cx="771753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V(x)=(60-2x)^2x=4x^3-240x^2+3\ 600x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(cm³); </a:t>
                </a:r>
                <a:r>
                  <a:rPr lang="vi-VN"/>
                  <a:t>V'(x)=12x^2-480x+3\ 600=0\Leftrightarrow x=10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(thoả mãn) hoặc </a:t>
                </a:r>
                <a:r>
                  <a:rPr lang="vi-VN"/>
                  <a:t>x=30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(loại).</a:t>
                </a:r>
              </a:p>
            </p:txBody>
          </p:sp>
        </mc:Fallback>
      </mc:AlternateContent>
      <p:pic>
        <p:nvPicPr>
          <p:cNvPr id="10" name="s2_bbt" descr="b2_vd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29999" y="3611879"/>
            <a:ext cx="3884001" cy="1737360"/>
          </a:xfrm>
          <a:prstGeom prst="rect">
            <a:avLst/>
          </a:prstGeom>
        </p:spPr>
      </p:pic>
      <p:sp>
        <p:nvSpPr>
          <p:cNvPr id="11" name="s3_nen"/>
          <p:cNvSpPr/>
          <p:nvPr/>
        </p:nvSpPr>
        <p:spPr>
          <a:xfrm>
            <a:off x="548640" y="5422392"/>
            <a:ext cx="8046720" cy="9052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s3_chu"/>
          <p:cNvSpPr txBox="1"/>
          <p:nvPr/>
        </p:nvSpPr>
        <p:spPr>
          <a:xfrm>
            <a:off x="713232" y="5458968"/>
            <a:ext cx="7717536" cy="83210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>
                <a:solidFill>
                  <a:srgbClr val="1E293B"/>
                </a:solidFill>
                <a:latin typeface="Calibri"/>
              </a:rPr>
              <a:t>Thể tích hộp lớn nhất bằng 16 000 cm³ khi cạnh các hình vuông cắt đi là </a:t>
            </a:r>
            <a:r>
              <a:rPr sz="2100" b="1">
                <a:solidFill>
                  <a:srgbClr val="1E293B"/>
                </a:solidFill>
                <a:latin typeface="Calibri"/>
              </a:rPr>
              <a:t>10 cm</a:t>
            </a:r>
            <a:r>
              <a:rPr sz="2100">
                <a:solidFill>
                  <a:srgbClr val="1E293B"/>
                </a:solidFill>
                <a:latin typeface="Calibri"/>
              </a:rPr>
              <a:t>.</a:t>
            </a:r>
          </a:p>
        </p:txBody>
      </p:sp>
      <p:pic>
        <p:nvPicPr>
          <p:cNvPr id="13" name="Picture 12" descr="b2_h114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69680" y="2231540"/>
            <a:ext cx="2743200" cy="138908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LUYỆN TẬP 1 (SGK TR.17)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10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9517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giá trị lớn nhất và giá trị nhỏ nhất (nếu có) của các hàm số: a)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2x−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trên khoảng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9517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Tìm giá trị lớn nhất và giá trị nhỏ nhất (nếu có) của các hàm số: a) </a:t>
                </a:r>
                <a:r>
                  <a:rPr lang="vi-VN"/>
                  <a:t>y=\sqrt{2x-x^2}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y=-x+\frac{1}{x-1}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trên khoảng </a:t>
                </a:r>
                <a:r>
                  <a:rPr lang="vi-VN"/>
                  <a:t>(1;\ +\infty)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03932"/>
            <a:ext cx="11064240" cy="108661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40508"/>
                <a:ext cx="10735056" cy="10134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Tập xác định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1−x</m:t>
                        </m:r>
                      </m:num>
                      <m:den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2x−</m:t>
                            </m:r>
                            <m:sSup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</m:e>
                              <m:sup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y=y(1)=1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y=y(0)=y(2)=0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40508"/>
                <a:ext cx="10735056" cy="10134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a) Tập xác định </a:t>
                </a:r>
                <a:r>
                  <a:rPr lang="vi-VN"/>
                  <a:t>[0;\ 2]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y'=\frac{1-x}{\sqrt{2x-x^2}}=0\Leftrightarrow x=1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</a:t>
                </a:r>
                <a:r>
                  <a:rPr lang="vi-VN"/>
                  <a:t>\mathop{\max}\limits_{[0;\ 2]}y=y(1)=1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\mathop{\min}\limits_{[0;\ 2]}y=y(0)=y(2)=0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727704"/>
            <a:ext cx="11064240" cy="108661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764280"/>
                <a:ext cx="10735056" cy="10134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=−1−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&lt;0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</m:sup>
                        </m:sSup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y=+∞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x→+∞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y=−∞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hàm số không có GTLN, không có GTNN.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764280"/>
                <a:ext cx="10735056" cy="1013460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y'=-1-\frac{1}{(x-1)^2}&lt;0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(1;\ +\infty)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\lim\limits_{x\to 1^+}y=+\infty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\lim\limits_{x\to+\infty}y=-\infty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hàm số không có GTLN, không có GTNN.</a:t>
                </a:r>
              </a:p>
            </p:txBody>
          </p:sp>
        </mc:Fallback>
      </mc:AlternateContent>
      <p:pic>
        <p:nvPicPr>
          <p:cNvPr id="12" name="Picture 11" descr="b2_lt1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1355" y="4937760"/>
            <a:ext cx="2548010" cy="128016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ĐÚNG HAY SAI?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64748B"/>
                </a:solidFill>
                <a:latin typeface="Calibri"/>
              </a:rPr>
              <a:t>📋 Cả lớp giơ thẻ Đ/S trong 15 giây mỗi câu.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1828800"/>
                <a:ext cx="5394960" cy="844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(Hình 1.15).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1828800"/>
                <a:ext cx="5394960" cy="8442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Hàm số </a:t>
                </a:r>
                <a:r>
                  <a:rPr lang="vi-VN"/>
                  <a:t>f(x)=x^2-2x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[0;\ 3]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(Hình 1.15).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48640" y="2810256"/>
                <a:ext cx="5394960" cy="79476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f(x)=3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548640" y="2810256"/>
                <a:ext cx="5394960" cy="79476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\mathop{\max}\limits_{[0;\ 3]}f(x)=3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1_nen"/>
          <p:cNvSpPr/>
          <p:nvPr/>
        </p:nvSpPr>
        <p:spPr>
          <a:xfrm>
            <a:off x="6126480" y="2810256"/>
            <a:ext cx="2377440" cy="6858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1_chu"/>
          <p:cNvSpPr txBox="1"/>
          <p:nvPr/>
        </p:nvSpPr>
        <p:spPr>
          <a:xfrm>
            <a:off x="6126480" y="2865120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48640" y="3650741"/>
                <a:ext cx="5394960" cy="79476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</m:lim>
                    </m:limLow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650741"/>
                <a:ext cx="5394960" cy="79476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\mathop{\min}\limits_{[0;\ 3]}f(x)=0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2_nen"/>
          <p:cNvSpPr/>
          <p:nvPr/>
        </p:nvSpPr>
        <p:spPr>
          <a:xfrm>
            <a:off x="6126480" y="3650741"/>
            <a:ext cx="2377440" cy="6858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2_chu"/>
          <p:cNvSpPr txBox="1"/>
          <p:nvPr/>
        </p:nvSpPr>
        <p:spPr>
          <a:xfrm>
            <a:off x="6126480" y="3705605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SAI</a:t>
            </a:r>
            <a:r>
              <a:rPr sz="1700">
                <a:solidFill>
                  <a:srgbClr val="FFFFFF"/>
                </a:solidFill>
                <a:latin typeface="Calibri"/>
              </a:rPr>
              <a:t> (bằng −1)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48640" y="4491228"/>
                <a:ext cx="5394960" cy="79476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Giá trị nhỏ nhất đạt tại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548640" y="4491228"/>
                <a:ext cx="5394960" cy="79476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Giá trị nhỏ nhất đạt tại </a:t>
                </a:r>
                <a:r>
                  <a:rPr lang="vi-VN"/>
                  <a:t>x=1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6" name="s3_nen"/>
          <p:cNvSpPr/>
          <p:nvPr/>
        </p:nvSpPr>
        <p:spPr>
          <a:xfrm>
            <a:off x="6126480" y="4491228"/>
            <a:ext cx="2377440" cy="6858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3_chu"/>
          <p:cNvSpPr txBox="1"/>
          <p:nvPr/>
        </p:nvSpPr>
        <p:spPr>
          <a:xfrm>
            <a:off x="6126480" y="4546092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48640" y="5331714"/>
                <a:ext cx="5394960" cy="79476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ℝ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hàm số có giá trị lớn nhất.</a:t>
                </a:r>
              </a:p>
            </p:txBody>
          </p:sp>
        </mc:Choice>
        <mc:Fallback>
          <p:sp>
            <p:nvSpPr>
              <p:cNvPr id="18" name="TextBox 17"/>
              <p:cNvSpPr txBox="1"/>
              <p:nvPr/>
            </p:nvSpPr>
            <p:spPr>
              <a:xfrm>
                <a:off x="548640" y="5331714"/>
                <a:ext cx="5394960" cy="79476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\mathbb{R}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hàm số có giá trị lớn nhất.</a:t>
                </a:r>
              </a:p>
            </p:txBody>
          </p:sp>
        </mc:Fallback>
      </mc:AlternateContent>
      <p:sp>
        <p:nvSpPr>
          <p:cNvPr id="19" name="s4_nen"/>
          <p:cNvSpPr/>
          <p:nvPr/>
        </p:nvSpPr>
        <p:spPr>
          <a:xfrm>
            <a:off x="6126480" y="5331714"/>
            <a:ext cx="2377440" cy="6858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s4_chu"/>
          <p:cNvSpPr txBox="1"/>
          <p:nvPr/>
        </p:nvSpPr>
        <p:spPr>
          <a:xfrm>
            <a:off x="6126480" y="5386578"/>
            <a:ext cx="2377440" cy="6400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SAI</a:t>
            </a:r>
            <a:r>
              <a:rPr sz="1700">
                <a:solidFill>
                  <a:srgbClr val="FFFFFF"/>
                </a:solidFill>
                <a:latin typeface="Calibri"/>
              </a:rPr>
              <a:t> (không có)</a:t>
            </a:r>
          </a:p>
        </p:txBody>
      </p:sp>
      <p:pic>
        <p:nvPicPr>
          <p:cNvPr id="21" name="Picture 20" descr="b2_h11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0" y="2338269"/>
            <a:ext cx="2926080" cy="26386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GEOGEBRA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GEOGEBRA – CHIẾC HỘP THỂ TÍCH LỚN NHẤT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12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thanh trượt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(cm) từ 0 đến 30.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Điểm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P(x;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V(x))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chạy trên đồ thị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V(x)=(60−2x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Quan sát: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lớn nhất bằng 16 000 cm³ khi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Kéo thanh trượt </a:t>
                </a:r>
                <a:r>
                  <a:rPr lang="vi-VN"/>
                  <a:t>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(cm) từ 0 đến 30.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Điểm </a:t>
                </a:r>
                <a:r>
                  <a:rPr lang="vi-VN"/>
                  <a:t>P(x;\ V(x))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chạy trên đồ thị </a:t>
                </a:r>
                <a:r>
                  <a:rPr lang="vi-VN"/>
                  <a:t>V(x)=(60-2x)^2x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Quan sát: </a:t>
                </a:r>
                <a:r>
                  <a:rPr lang="vi-VN"/>
                  <a:t>V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lớn nhất bằng 16 000 cm³ khi </a:t>
                </a:r>
                <a:r>
                  <a:rPr lang="vi-VN"/>
                  <a:t>x=10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074920"/>
            <a:ext cx="3840480" cy="685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▶  MỞ GEOGEBRA</a:t>
            </a:r>
          </a:p>
        </p:txBody>
      </p:sp>
      <p:pic>
        <p:nvPicPr>
          <p:cNvPr id="9" name="Picture 8" descr="qr_ggb_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0"/>
            <a:ext cx="1325880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0644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Quét QR mở trên điện thoại. Kéo điểm để thay đổi hình.</a:t>
            </a:r>
          </a:p>
        </p:txBody>
      </p:sp>
      <p:pic>
        <p:nvPicPr>
          <p:cNvPr id="11" name="Picture 10" descr="b2_h11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2476299"/>
            <a:ext cx="4846320" cy="2454041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TỔNG KẾT TIẾT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13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2984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limLow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D</m:t>
                        </m:r>
                      </m:lim>
                    </m:limLow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f(x)≤M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∀x∈D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có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∈D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</m:t>
                    </m:r>
                    <m:sSub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(tương tự với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Trên một khoảng, hàm số có thể không có GTLN hoặc GTNN – dùng bảng biến thiên để kết luận.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2984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lang="vi-VN"/>
                  <a:t>M=\mathop{\max}\limits_{D}f(x)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f(x)\le M\ \forall x\in 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có </a:t>
                </a:r>
                <a:r>
                  <a:rPr lang="vi-VN"/>
                  <a:t>x_0\in 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để </a:t>
                </a:r>
                <a:r>
                  <a:rPr lang="vi-VN"/>
                  <a:t>f(x_0)=M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(tương tự với </a:t>
                </a:r>
                <a:r>
                  <a:rPr lang="vi-VN"/>
                  <a:t>m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Trên một khoảng, hàm số có thể không có GTLN hoặc GTNN – dùng bảng biến thiên để kết luận.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" y="3063240"/>
            <a:ext cx="11064240" cy="1472184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99816"/>
            <a:ext cx="10735056" cy="139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Làm Bài tập 1.10, 1.11 (SGK tr.19).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mục 2 (SGK tr.17 – 18).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2 (T8)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Cách tìm GTLN, GTNN trên một đoạn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Thực hiện các bước tìm GTLN, GTNN của hàm số trên một đoạn.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Giải bài toán lây lan virus (Vận dụng).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KHỞI ĐỘNG: AI NHANH HƠN?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15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25880"/>
            <a:ext cx="1106424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800">
                <a:solidFill>
                  <a:srgbClr val="64748B"/>
                </a:solidFill>
                <a:latin typeface="Calibri"/>
              </a:rPr>
              <a:t>📋 Từng cặp ghi đáp án lên bảng con. Mỗi câu 20 giây.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1783080"/>
                <a:ext cx="7589520" cy="6400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−4x+5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1783080"/>
                <a:ext cx="7589520" cy="64008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Cho </a:t>
                </a:r>
                <a:r>
                  <a:rPr lang="vi-VN"/>
                  <a:t>f(x)=x^2-4x+5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[0;\ 3]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548640" y="2468879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548640" y="2468879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1.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f'(x)=0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khi </a:t>
                </a:r>
                <a:r>
                  <a:rPr lang="vi-VN"/>
                  <a:t>x=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10" name="s1_nen"/>
          <p:cNvSpPr/>
          <p:nvPr/>
        </p:nvSpPr>
        <p:spPr>
          <a:xfrm>
            <a:off x="5029200" y="2423160"/>
            <a:ext cx="274320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1_chu"/>
              <p:cNvSpPr txBox="1"/>
              <p:nvPr/>
            </p:nvSpPr>
            <p:spPr>
              <a:xfrm>
                <a:off x="5193792" y="2459736"/>
                <a:ext cx="241401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193792" y="2459736"/>
                <a:ext cx="241401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2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/>
              <p:cNvSpPr txBox="1"/>
              <p:nvPr/>
            </p:nvSpPr>
            <p:spPr>
              <a:xfrm>
                <a:off x="548640" y="3417570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f(0)=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?;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f(3)=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417570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f(0)=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?; </a:t>
                </a:r>
                <a:r>
                  <a:rPr lang="vi-VN"/>
                  <a:t>f(3)=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13" name="s2_nen"/>
          <p:cNvSpPr/>
          <p:nvPr/>
        </p:nvSpPr>
        <p:spPr>
          <a:xfrm>
            <a:off x="5029200" y="3371850"/>
            <a:ext cx="274320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2_chu"/>
              <p:cNvSpPr txBox="1"/>
              <p:nvPr/>
            </p:nvSpPr>
            <p:spPr>
              <a:xfrm>
                <a:off x="5193792" y="3408426"/>
                <a:ext cx="241401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5193792" y="3408426"/>
                <a:ext cx="241401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2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548640" y="4366259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f(2)=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548640" y="4366259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3.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f(2)=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16" name="s3_nen"/>
          <p:cNvSpPr/>
          <p:nvPr/>
        </p:nvSpPr>
        <p:spPr>
          <a:xfrm>
            <a:off x="5029200" y="4320540"/>
            <a:ext cx="274320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3_chu"/>
              <p:cNvSpPr txBox="1"/>
              <p:nvPr/>
            </p:nvSpPr>
            <p:spPr>
              <a:xfrm>
                <a:off x="5193792" y="4357116"/>
                <a:ext cx="241401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5193792" y="4357116"/>
                <a:ext cx="241401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1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/>
              <p:cNvSpPr txBox="1"/>
              <p:nvPr/>
            </p:nvSpPr>
            <p:spPr>
              <a:xfrm>
                <a:off x="548640" y="5314950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GTLN, GTNN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Choice>
        <mc:Fallback>
          <p:sp>
            <p:nvSpPr>
              <p:cNvPr id="18" name="TextBox 17"/>
              <p:cNvSpPr txBox="1"/>
              <p:nvPr/>
            </p:nvSpPr>
            <p:spPr>
              <a:xfrm>
                <a:off x="548640" y="5314950"/>
                <a:ext cx="4389120" cy="85725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4.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GTLN, GTNN trên </a:t>
                </a:r>
                <a:r>
                  <a:rPr lang="vi-VN"/>
                  <a:t>[0;\ 3]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?</a:t>
                </a:r>
              </a:p>
            </p:txBody>
          </p:sp>
        </mc:Fallback>
      </mc:AlternateContent>
      <p:sp>
        <p:nvSpPr>
          <p:cNvPr id="19" name="s4_nen"/>
          <p:cNvSpPr/>
          <p:nvPr/>
        </p:nvSpPr>
        <p:spPr>
          <a:xfrm>
            <a:off x="5029200" y="5269230"/>
            <a:ext cx="2743200" cy="81153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s4_chu"/>
              <p:cNvSpPr txBox="1"/>
              <p:nvPr/>
            </p:nvSpPr>
            <p:spPr>
              <a:xfrm>
                <a:off x="5193792" y="5305806"/>
                <a:ext cx="241401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</p:txBody>
          </p:sp>
        </mc:Choice>
        <mc:Fallback>
          <p:sp>
            <p:nvSpPr>
              <p:cNvPr id="20" name="TextBox 19"/>
              <p:cNvSpPr txBox="1"/>
              <p:nvPr/>
            </p:nvSpPr>
            <p:spPr>
              <a:xfrm>
                <a:off x="5193792" y="5305806"/>
                <a:ext cx="2414016" cy="73837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ctr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1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2. CÁCH TÌM GTLN, GTNN TRÊN MỘT ĐOẠN – HĐ2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16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863840" cy="16977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Xét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(H.1.16). a) Tìm GTLN, GTNN của hàm số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Tính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tìm các điểm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x∈(−1;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mà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c) Tính giá trị của hàm số tại hai đầu mút và tại các điểm ở câu b. So sánh với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863840" cy="16977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HĐ2.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Xét hàm số </a:t>
                </a:r>
                <a:r>
                  <a:rPr lang="vi-VN"/>
                  <a:t>y=f(x)=x^3-2x^2+1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[-1;\ 2]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(H.1.16). a) Tìm GTLN, GTNN của hàm số trên </a:t>
                </a:r>
                <a:r>
                  <a:rPr lang="vi-VN"/>
                  <a:t>[-1;\ 2]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b) Tính </a:t>
                </a:r>
                <a:r>
                  <a:rPr lang="vi-VN"/>
                  <a:t>f'(x)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và tìm các điểm </a:t>
                </a:r>
                <a:r>
                  <a:rPr lang="vi-VN"/>
                  <a:t>x\in(-1;\ 2)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mà </a:t>
                </a:r>
                <a:r>
                  <a:rPr lang="vi-VN"/>
                  <a:t>f'(x)=0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c) Tính giá trị của hàm số tại hai đầu mút và tại các điểm ở câu b. So sánh với </a:t>
                </a:r>
                <a:r>
                  <a:rPr lang="vi-VN"/>
                  <a:t>\mathop{\min}\limits_{[-1;\ 2]}f(x)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\mathop{\max}\limits_{[-1;\ 2]}f(x)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160776"/>
            <a:ext cx="7863840" cy="56997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197352"/>
                <a:ext cx="75346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Từ đồ thị: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f(x)=−2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197352"/>
                <a:ext cx="75346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Từ đồ thị: </a:t>
                </a:r>
                <a:r>
                  <a:rPr lang="vi-VN"/>
                  <a:t>\mathop{\max}\limits_{[-1;\ 2]}f(x)=1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\mathop{\min}\limits_{[-1;\ 2]}f(x)=-2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822191"/>
            <a:ext cx="7863840" cy="7071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858768"/>
                <a:ext cx="7534656" cy="6339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(x)=3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−4x=0⇔x=0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858768"/>
                <a:ext cx="7534656" cy="6339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f'(x)=3x^2-4x=0\Leftrightarrow x=0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x=\frac{4}{3}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4620767"/>
            <a:ext cx="7863840" cy="11490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657344"/>
                <a:ext cx="7534656" cy="10759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f(−1)=−2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f(2)=1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f(0)=1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 Số lớn nhất là 1, số nhỏ nhất là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– trùng với GTLN, GTNN.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657344"/>
                <a:ext cx="7534656" cy="10759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f(-1)=-2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f(2)=1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f(0)=1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f\left(\frac{4}{3}\right)=-\frac{5}{27}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 Số lớn nhất là 1, số nhỏ nhất là </a:t>
                </a:r>
                <a:r>
                  <a:rPr lang="vi-VN"/>
                  <a:t>-2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– trùng với GTLN, GTNN.</a:t>
                </a:r>
              </a:p>
            </p:txBody>
          </p:sp>
        </mc:Fallback>
      </mc:AlternateContent>
      <p:pic>
        <p:nvPicPr>
          <p:cNvPr id="14" name="Picture 13" descr="b2_h1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0" y="1789629"/>
            <a:ext cx="2926080" cy="2638661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686800" y="4773168"/>
            <a:ext cx="2926080" cy="36576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1600">
                <a:solidFill>
                  <a:srgbClr val="64748B"/>
                </a:solidFill>
                <a:latin typeface="Calibri"/>
              </a:rPr>
              <a:t>Hình 1.16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CÁC BƯỚC TÌM GTLN, GTNN TRÊN ĐOẠN (SGK TR.18)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17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4523231"/>
          </a:xfrm>
          <a:prstGeom prst="roundRect">
            <a:avLst>
              <a:gd name="adj" fmla="val 6000"/>
            </a:avLst>
          </a:prstGeom>
          <a:solidFill>
            <a:srgbClr val="FEF2F2"/>
          </a:solidFill>
          <a:ln w="19050">
            <a:solidFill>
              <a:srgbClr val="991B1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44500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Giả sử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y=f(x)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là hàm số liên tục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và có đạo hàm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, có thể trừ ra tại một số hữu hạn điểm mà tại đó hàm số không có đạo hàm. Giả sử chỉ có hữu hạn điểm trong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mà đạo hàm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bằng 0.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Các bước tìm giá trị lớn nhất và giá trị nhỏ nhất của hàm số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1. Tìm các điểm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∈(a;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, tại đó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bằng 0 hoặc không tồn tại.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2. Tính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</m:t>
                    </m:r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</m:t>
                    </m:r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),…,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</m:t>
                    </m:r>
                    <m:sSub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b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sub>
                    </m:sSub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),</m:t>
                    </m:r>
                    <m:r>
                      <m:rPr>
                        <m:sty m:val="p"/>
                      </m:rP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f(a)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f(b)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3. Tìm số lớn nhất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và số nhỏ nhất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trong các số trên. Ta có: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limLow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d>
                      </m:lim>
                    </m:limLow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m=</m:t>
                    </m:r>
                    <m:limLow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a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b</m:t>
                            </m:r>
                          </m:e>
                        </m:d>
                      </m:lim>
                    </m:limLow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44500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Giả sử </a:t>
                </a:r>
                <a:r>
                  <a:rPr lang="vi-VN"/>
                  <a:t>y=f(x)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là hàm số liên tục trên </a:t>
                </a:r>
                <a:r>
                  <a:rPr lang="vi-VN"/>
                  <a:t>[a;\ b]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và có đạo hàm trên </a:t>
                </a:r>
                <a:r>
                  <a:rPr lang="vi-VN"/>
                  <a:t>(a;\ b)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, có thể trừ ra tại một số hữu hạn điểm mà tại đó hàm số không có đạo hàm. Giả sử chỉ có hữu hạn điểm trong đoạn </a:t>
                </a:r>
                <a:r>
                  <a:rPr lang="vi-VN"/>
                  <a:t>[a;\ b]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mà đạo hàm </a:t>
                </a:r>
                <a:r>
                  <a:rPr lang="vi-VN"/>
                  <a:t>f'(x)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bằng 0.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Các bước tìm giá trị lớn nhất và giá trị nhỏ nhất của hàm số </a:t>
                </a:r>
                <a:r>
                  <a:rPr lang="vi-VN"/>
                  <a:t>f(x)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[a;\ b]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: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1. Tìm các điểm </a:t>
                </a:r>
                <a:r>
                  <a:rPr lang="vi-VN"/>
                  <a:t>x_1,\ x_2,\ldots,\ x_n\in(a;\ b)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, tại đó </a:t>
                </a:r>
                <a:r>
                  <a:rPr lang="vi-VN"/>
                  <a:t>f'(x)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bằng 0 hoặc không tồn tại.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2. Tính </a:t>
                </a:r>
                <a:r>
                  <a:rPr lang="vi-VN"/>
                  <a:t>f(x_1),\ f(x_2),\ldots,\ f(x_n),\ f(a)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f(b)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3. Tìm số lớn nhất </a:t>
                </a:r>
                <a:r>
                  <a:rPr lang="vi-VN"/>
                  <a:t>M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và số nhỏ nhất </a:t>
                </a:r>
                <a:r>
                  <a:rPr lang="vi-VN"/>
                  <a:t>m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trong các số trên. Ta có: </a:t>
                </a:r>
                <a:r>
                  <a:rPr lang="vi-VN"/>
                  <a:t>M=\mathop{\max}\limits_{[a;\ b]}f(x)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m=\mathop{\min}\limits_{[a;\ b]}f(x)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9037015" y="457200"/>
            <a:ext cx="2606040" cy="457200"/>
          </a:xfrm>
          <a:prstGeom prst="round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HÌNH THÀNH KIẾN THỨC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8366760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VÍ DỤ 4 – VÍ DỤ 5 (SGK TR.18)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18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giá trị lớn nhất và giá trị nhỏ nhất của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25880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4.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giá trị lớn nhất và giá trị nhỏ nhất của hàm số </a:t>
                </a:r>
                <a:r>
                  <a:rPr lang="vi-VN"/>
                  <a:t>y=x^4-4x^2+3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[0;\ 4]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173224"/>
            <a:ext cx="11064240" cy="87477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209800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−8x=4x(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(vì chỉ tìm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x∈(0;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y(0)=3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y(4)=195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209800"/>
                <a:ext cx="10735056" cy="80162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y'=4x^3-8x=4x(x^2-2)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y'=0\Leftrightarrow x=\sqrt{2}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(vì chỉ tìm </a:t>
                </a:r>
                <a:r>
                  <a:rPr lang="vi-VN"/>
                  <a:t>x\in(0;\ 4)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); </a:t>
                </a:r>
                <a:r>
                  <a:rPr lang="vi-VN"/>
                  <a:t>y(0)=3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y(4)=195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y(\sqrt{2})=-1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112007"/>
            <a:ext cx="11064240" cy="56997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148583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Do đó: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y=y(4)=195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d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y=y(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)=−1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148583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Do đó: </a:t>
                </a:r>
                <a:r>
                  <a:rPr lang="vi-VN"/>
                  <a:t>\mathop{\max}\limits_{[0;\ 4]}y=y(4)=195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\mathop{\min}\limits_{[0;\ 4]}y=y(\sqrt{2})=-1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548640" y="3745992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5.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giá trị lớn nhất và giá trị nhỏ nhất của hàm số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x+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548640" y="3745992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Ví dụ 5.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giá trị lớn nhất và giá trị nhỏ nhất của hàm số </a:t>
                </a:r>
                <a:r>
                  <a:rPr lang="vi-VN"/>
                  <a:t>y=\sin x+\cos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[0;\ 2\pi]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3" name="s4_nen"/>
          <p:cNvSpPr/>
          <p:nvPr/>
        </p:nvSpPr>
        <p:spPr>
          <a:xfrm>
            <a:off x="548640" y="4593336"/>
            <a:ext cx="11064240" cy="9814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s4_chu"/>
              <p:cNvSpPr txBox="1"/>
              <p:nvPr/>
            </p:nvSpPr>
            <p:spPr>
              <a:xfrm>
                <a:off x="713232" y="4629912"/>
                <a:ext cx="10735056" cy="908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x−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y(0)=1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y(2π)=1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</m:t>
                    </m:r>
                    <m:d>
                      <m:dPr>
                        <m:sepChr m:val=""/>
                      </m:dPr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5π</m:t>
                            </m:r>
                          </m:num>
                          <m:den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4" name="TextBox 13"/>
              <p:cNvSpPr txBox="1"/>
              <p:nvPr/>
            </p:nvSpPr>
            <p:spPr>
              <a:xfrm>
                <a:off x="713232" y="4629912"/>
                <a:ext cx="10735056" cy="908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y'=\cos x-\sin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y'=0\Leftrightarrow x=\frac{\pi}{4}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x=\frac{5\pi}{4}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y(0)=1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y(2\pi)=1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y\left(\frac{\pi}{4}\right)=\sqrt{2}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y\left(\frac{5\pi}{4}\right)=-\sqrt{2}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5" name="s5_nen"/>
          <p:cNvSpPr/>
          <p:nvPr/>
        </p:nvSpPr>
        <p:spPr>
          <a:xfrm>
            <a:off x="548640" y="5638800"/>
            <a:ext cx="11064240" cy="56997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s5_chu"/>
              <p:cNvSpPr txBox="1"/>
              <p:nvPr/>
            </p:nvSpPr>
            <p:spPr>
              <a:xfrm>
                <a:off x="713232" y="5675376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Do đó: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</m:d>
                      </m:lim>
                    </m:limLow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6" name="TextBox 15"/>
              <p:cNvSpPr txBox="1"/>
              <p:nvPr/>
            </p:nvSpPr>
            <p:spPr>
              <a:xfrm>
                <a:off x="713232" y="5675376"/>
                <a:ext cx="10735056" cy="49682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Do đó: </a:t>
                </a:r>
                <a:r>
                  <a:rPr lang="vi-VN"/>
                  <a:t>\mathop{\max}\limits_{[0;\ 2\pi]}y=\sqrt{2}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\mathop{\min}\limits_{[0;\ 2\pi]}y=-\sqrt{2}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LUYỆN TẬP 2 (SGK TR.18)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19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874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Tìm giá trị lớn nhất và giá trị nhỏ nhất của các hàm số: a)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sSup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+5x+2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y=(x+1)</m:t>
                    </m:r>
                    <m:sSup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</m:t>
                        </m:r>
                      </m:sup>
                    </m:sSup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87477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Tìm giá trị lớn nhất và giá trị nhỏ nhất của các hàm số: a) </a:t>
                </a:r>
                <a:r>
                  <a:rPr lang="vi-VN"/>
                  <a:t>y=2x^3-3x^2+5x+2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[0;\ 2]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y=(x+1)e^{-x}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[-1;\ 1]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520696"/>
            <a:ext cx="11064240" cy="96621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557272"/>
                <a:ext cx="10735056" cy="89306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=6</m:t>
                    </m:r>
                    <m:sSup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−6x+5&gt;0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 (vì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=9−30&lt;0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) nên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lim>
                    </m:limLow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y=y(0)=2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0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lim>
                    </m:limLow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y=y(2)=16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57272"/>
                <a:ext cx="10735056" cy="89306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y'=6x^2-6x+5&gt;0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với mọi </a:t>
                </a:r>
                <a:r>
                  <a:rPr lang="vi-VN"/>
                  <a:t>x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 (vì </a:t>
                </a:r>
                <a:r>
                  <a:rPr lang="vi-VN"/>
                  <a:t>\Delta'=9-30&lt;0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) nên </a:t>
                </a:r>
                <a:r>
                  <a:rPr lang="vi-VN"/>
                  <a:t>\mathop{\min}\limits_{[0;\ 2]}y=y(0)=2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\mathop{\max}\limits_{[0;\ 2]}y=y(2)=16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669792"/>
            <a:ext cx="11064240" cy="112395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706368"/>
                <a:ext cx="10735056" cy="105079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=−x</m:t>
                    </m:r>
                    <m:sSup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</m:t>
                        </m:r>
                      </m:sup>
                    </m:sSup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y(−1)=0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y(0)=1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y(1)=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den>
                    </m:f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 Vậy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lim>
                    </m:limLow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y=1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limLow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min</m:t>
                        </m:r>
                      </m:e>
                      <m:lim>
                        <m:d>
                          <m:dPr>
                            <m:begChr m:val="["/>
                            <m:sepChr m:val=""/>
                            <m:endChr m:val="]"/>
                          </m:dPr>
                          <m:e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;</m:t>
                            </m:r>
                            <m:r>
                              <m:rPr>
                                <m:sty m:val="p"/>
                              </m:rP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vi-VN" sz="23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lim>
                    </m:limLow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y=0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706368"/>
                <a:ext cx="10735056" cy="105079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y'=-xe^{-x}=0\Leftrightarrow x=0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y(-1)=0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y(0)=1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y(1)=\frac{2}{e}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 Vậy </a:t>
                </a:r>
                <a:r>
                  <a:rPr lang="vi-VN"/>
                  <a:t>\mathop{\max}\limits_{[-1;\ 1]}y=1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\mathop{\min}\limits_{[-1;\ 1]}y=0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VẬN DỤNG – LÂY LAN VIRUS (SGK TR.18)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20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498079" cy="16215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Vận dụng.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Sự lây lan của một loại virus được mô hình hoá bằng hàm số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N(t)=−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+12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0≤t≤12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số người nhiễm bệnh, tính bằng trăm người;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tuần). a) Ước tính số người tối đa bị nhiễm bệnh. b) Đạo hàm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biểu thị tốc độ lây lan của virus. Hỏi virus sẽ lây lan nhanh nhất khi nào?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7498079" cy="162153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 b="1">
                    <a:solidFill>
                      <a:srgbClr val="1E293B"/>
                    </a:solidFill>
                    <a:latin typeface="Calibri"/>
                  </a:rPr>
                  <a:t>Vận dụng.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Sự lây lan của một loại virus được mô hình hoá bằng hàm số </a:t>
                </a:r>
                <a:r>
                  <a:rPr lang="vi-VN"/>
                  <a:t>N(t)=-t^3+12t^2,\ 0\le t\le 12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N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số người nhiễm bệnh, tính bằng trăm người; </a:t>
                </a:r>
                <a:r>
                  <a:rPr lang="vi-VN"/>
                  <a:t>t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tuần). a) Ước tính số người tối đa bị nhiễm bệnh. b) Đạo hàm </a:t>
                </a:r>
                <a:r>
                  <a:rPr lang="vi-VN"/>
                  <a:t>N'(t)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biểu thị tốc độ lây lan của virus. Hỏi virus sẽ lây lan nhanh nhất khi nào?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057144"/>
            <a:ext cx="7498079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093720"/>
                <a:ext cx="7168895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(t)=−3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+24t=0⇔t=0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t=8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N(0)=N(12)=0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N(8)=256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093720"/>
                <a:ext cx="7168895" cy="7711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N'(t)=-3t^2+24t=0\Leftrightarrow t=0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t=8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N(0)=N(12)=0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N(8)=256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965448"/>
            <a:ext cx="7498079" cy="8442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s2_chu"/>
          <p:cNvSpPr txBox="1"/>
          <p:nvPr/>
        </p:nvSpPr>
        <p:spPr>
          <a:xfrm>
            <a:off x="713232" y="4002024"/>
            <a:ext cx="7168895" cy="771143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900">
                <a:solidFill>
                  <a:srgbClr val="1E293B"/>
                </a:solidFill>
                <a:latin typeface="Calibri"/>
              </a:rPr>
              <a:t>Số người nhiễm bệnh tối đa khoảng 25 600 người (tại tuần thứ 8).</a:t>
            </a:r>
          </a:p>
        </p:txBody>
      </p:sp>
      <p:sp>
        <p:nvSpPr>
          <p:cNvPr id="12" name="s3_nen"/>
          <p:cNvSpPr/>
          <p:nvPr/>
        </p:nvSpPr>
        <p:spPr>
          <a:xfrm>
            <a:off x="548640" y="4873752"/>
            <a:ext cx="7498079" cy="11338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910328"/>
                <a:ext cx="7168895" cy="10607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(t)=−3</m:t>
                    </m:r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t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+24t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e>
                    </m:d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có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″</m:t>
                        </m:r>
                      </m:sup>
                    </m:sSup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(t)=−6t+24=0⇔t=4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N</m:t>
                        </m:r>
                      </m:e>
                      <m:sup>
                        <m:r>
                          <a:rPr lang="vi-VN" sz="19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 lớn nhất tại </a:t>
                </a:r>
                <a14:m>
                  <m:oMath xmlns:m="http://schemas.openxmlformats.org/officeDocument/2006/math">
                    <m:r>
                      <a:rPr lang="vi-VN" sz="19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t=4</m:t>
                    </m:r>
                  </m:oMath>
                </a14:m>
                <a:r>
                  <a:rPr sz="1900">
                    <a:solidFill>
                      <a:srgbClr val="1E293B"/>
                    </a:solidFill>
                    <a:latin typeface="Calibri"/>
                  </a:rPr>
                  <a:t>: virus lây lan nhanh nhất ở tuần thứ 4.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910328"/>
                <a:ext cx="7168895" cy="10607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19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N'(t)=-3t^2+24t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[0;\ 12]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có </a:t>
                </a:r>
                <a:r>
                  <a:rPr lang="vi-VN"/>
                  <a:t>N''(t)=-6t+24=0\Leftrightarrow t=4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N'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 lớn nhất tại </a:t>
                </a:r>
                <a:r>
                  <a:rPr lang="vi-VN"/>
                  <a:t>t=4</a:t>
                </a:r>
                <a:r>
                  <a:rPr sz="1900">
                    <a:solidFill>
                      <a:srgbClr val="1E293B"/>
                    </a:solidFill>
                    <a:latin typeface="Calibri"/>
                  </a:rPr>
                  <a:t>: virus lây lan nhanh nhất ở tuần thứ 4.</a:t>
                </a:r>
              </a:p>
            </p:txBody>
          </p:sp>
        </mc:Fallback>
      </mc:AlternateContent>
      <p:pic>
        <p:nvPicPr>
          <p:cNvPr id="14" name="Picture 13" descr="b2_viru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21040" y="1652874"/>
            <a:ext cx="3291840" cy="2912172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GEOGEBRA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GEOGEBRA – GTLN, GTNN TRÊN MỘT ĐOẠN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21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f(x)=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(HĐ2).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So sánh giá trị tại hai đầu mút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D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(nơi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GTLN bằng 1 (tại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), GTNN bằng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17320"/>
                <a:ext cx="6035040" cy="356616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Đồ thị </a:t>
                </a:r>
                <a:r>
                  <a:rPr lang="vi-VN"/>
                  <a:t>f(x)=x^3-2x^2+1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[-1;\ 2]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(HĐ2).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So sánh giá trị tại hai đầu mút </a:t>
                </a:r>
                <a:r>
                  <a:rPr lang="vi-VN"/>
                  <a:t>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tại </a:t>
                </a:r>
                <a:r>
                  <a:rPr lang="vi-VN"/>
                  <a:t>C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D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(nơi </a:t>
                </a:r>
                <a:r>
                  <a:rPr lang="vi-VN"/>
                  <a:t>f'(x)=0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GTLN bằng 1 (tại </a:t>
                </a:r>
                <a:r>
                  <a:rPr lang="vi-VN"/>
                  <a:t>x=0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</a:t>
                </a:r>
                <a:r>
                  <a:rPr lang="vi-VN"/>
                  <a:t>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), GTNN bằng </a:t>
                </a:r>
                <a:r>
                  <a:rPr lang="vi-VN"/>
                  <a:t>-2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(tại </a:t>
                </a:r>
                <a:r>
                  <a:rPr lang="vi-VN"/>
                  <a:t>x=-1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p:sp>
        <p:nvSpPr>
          <p:cNvPr id="8" name="Rounded Rectangle 7">
            <a:hlinkClick r:id="rId3"/>
          </p:cNvPr>
          <p:cNvSpPr/>
          <p:nvPr/>
        </p:nvSpPr>
        <p:spPr>
          <a:xfrm>
            <a:off x="548640" y="5074920"/>
            <a:ext cx="3840480" cy="685800"/>
          </a:xfrm>
          <a:prstGeom prst="roundRect">
            <a:avLst/>
          </a:prstGeom>
          <a:solidFill>
            <a:srgbClr val="0F76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200" b="1">
                <a:solidFill>
                  <a:srgbClr val="FFFFFF"/>
                </a:solidFill>
                <a:latin typeface="Calibri"/>
              </a:rPr>
              <a:t>▶  MỞ GEOGEBRA</a:t>
            </a:r>
          </a:p>
        </p:txBody>
      </p:sp>
      <p:pic>
        <p:nvPicPr>
          <p:cNvPr id="9" name="Picture 8" descr="qr_ggb_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4572000"/>
            <a:ext cx="1325880" cy="132588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548640" y="5806440"/>
            <a:ext cx="3931920" cy="4572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64748B"/>
                </a:solidFill>
                <a:latin typeface="Calibri"/>
              </a:rPr>
              <a:t>Quét QR mở trên điện thoại. Kéo điểm để thay đổi hình.</a:t>
            </a:r>
          </a:p>
        </p:txBody>
      </p:sp>
      <p:pic>
        <p:nvPicPr>
          <p:cNvPr id="11" name="Picture 10" descr="b2_h116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0" y="1518178"/>
            <a:ext cx="4846320" cy="4370283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TỔNG KẾT TIẾT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22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463040"/>
            <a:ext cx="11064240" cy="1371600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2984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: so sánh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f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tại các điểm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(hoặc không tồn tại) trong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tại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a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b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Chỉ lấy các nghiệm thuộc khoảng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713232" y="1499616"/>
                <a:ext cx="10735056" cy="129844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Trên đoạn </a:t>
                </a:r>
                <a:r>
                  <a:rPr lang="vi-VN"/>
                  <a:t>[a;\ b]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: so sánh </a:t>
                </a:r>
                <a:r>
                  <a:rPr lang="vi-VN"/>
                  <a:t>f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tại các điểm </a:t>
                </a:r>
                <a:r>
                  <a:rPr lang="vi-VN"/>
                  <a:t>f'=0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(hoặc không tồn tại) trong </a:t>
                </a:r>
                <a:r>
                  <a:rPr lang="vi-VN"/>
                  <a:t>(a;\ b)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và tại </a:t>
                </a:r>
                <a:r>
                  <a:rPr lang="vi-VN"/>
                  <a:t>a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b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Chỉ lấy các nghiệm thuộc khoảng </a:t>
                </a:r>
                <a:r>
                  <a:rPr lang="vi-VN"/>
                  <a:t>(a;\ b)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Rounded Rectangle 8"/>
          <p:cNvSpPr/>
          <p:nvPr/>
        </p:nvSpPr>
        <p:spPr>
          <a:xfrm>
            <a:off x="548640" y="3063240"/>
            <a:ext cx="11064240" cy="1472184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13232" y="3099816"/>
            <a:ext cx="10735056" cy="1399032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Làm Bài tập 1.12 – 1.15 (SGK tr.19).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Tiết sau chữa bài tập: mang máy tính cầm tay.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17255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31520" y="1097280"/>
            <a:ext cx="137160" cy="29260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914400"/>
            <a:ext cx="10332720" cy="3291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600"/>
              </a:spcAft>
            </a:pPr>
            <a:r>
              <a:rPr sz="2400" b="1">
                <a:solidFill>
                  <a:srgbClr val="FCD34D"/>
                </a:solidFill>
                <a:latin typeface="Cambria"/>
              </a:rPr>
              <a:t>TIẾT 3 (T9)</a:t>
            </a:r>
          </a:p>
          <a:p>
            <a:pPr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mbria"/>
              </a:rPr>
              <a:t>Chữa bài tập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43400"/>
            <a:ext cx="10332720" cy="182880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Mục tiêu tiết học: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Tìm GTLN, GTNN trên khoảng, đoạn (Bài 1.10 – 1.12).</a:t>
            </a:r>
          </a:p>
          <a:p>
            <a:pPr algn="l">
              <a:spcAft>
                <a:spcPts val="800"/>
              </a:spcAft>
            </a:pPr>
            <a:r>
              <a:rPr sz="2200">
                <a:solidFill>
                  <a:srgbClr val="E0E7FF"/>
                </a:solidFill>
                <a:latin typeface="Calibri"/>
              </a:rPr>
              <a:t>• Giải bài toán tối ưu thực tế (Bài 1.13 – 1.15).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82512"/>
            <a:ext cx="106984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C7D2FE"/>
                </a:solidFill>
              </a:rPr>
              <a:t>GV Trương Tử Trang – THPT Vĩnh Thạnh          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1.10 – 1.11 (SGK TR.19)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24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1.10.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GTLN, GTNN (nếu có): 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+4x+3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[0;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+∞)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−2x+3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4x−2</m:t>
                        </m:r>
                        <m:sSup>
                          <m:e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0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92049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1.10.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GTLN, GTNN (nếu có): a) </a:t>
                </a:r>
                <a:r>
                  <a:rPr lang="vi-VN"/>
                  <a:t>y=-x^2+4x+3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y=x^3-2x^2+1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[0;\ +\infty)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y=\frac{x^2-2x+3}{x-1}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(1;\ +\infty)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d) </a:t>
                </a:r>
                <a:r>
                  <a:rPr lang="vi-VN"/>
                  <a:t>y=\sqrt{4x-2x^2}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356104"/>
            <a:ext cx="11064240" cy="114909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392680"/>
                <a:ext cx="10735056" cy="10759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maxy=7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không có GTNN.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miny=−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không có GTLN. c)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miny=2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không có GTLN. d)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maxy=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miny=0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392680"/>
                <a:ext cx="10735056" cy="107594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\max y=7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không có GTNN. b) </a:t>
                </a:r>
                <a:r>
                  <a:rPr lang="vi-VN"/>
                  <a:t>\min y=-\frac{5}{27}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x=\frac{4}{3}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không có GTLN. c) </a:t>
                </a:r>
                <a:r>
                  <a:rPr lang="vi-VN"/>
                  <a:t>\min y=2\sqrt{2}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x=1+\sqrt{2}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không có GTLN. d) </a:t>
                </a:r>
                <a:r>
                  <a:rPr lang="vi-VN"/>
                  <a:t>\max y=\sqrt{2}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</a:t>
                </a:r>
                <a:r>
                  <a:rPr lang="vi-VN"/>
                  <a:t>\min y=0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x=0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s2_chu"/>
              <p:cNvSpPr txBox="1"/>
              <p:nvPr/>
            </p:nvSpPr>
            <p:spPr>
              <a:xfrm>
                <a:off x="548640" y="3569208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1.11.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GTLN, GTNN (nếu có): 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</m:t>
                    </m:r>
                    <m:sSup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−x</m:t>
                        </m:r>
                      </m:sup>
                    </m:sSup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ln</m:t>
                    </m:r>
                    <m:r>
                      <m:rPr>
                        <m:sty m:val="p"/>
                      </m:rP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x−1</m:t>
                        </m:r>
                      </m:e>
                    </m:rad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3−x</m:t>
                        </m:r>
                      </m:e>
                    </m:ra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0" name="TextBox 9"/>
              <p:cNvSpPr txBox="1"/>
              <p:nvPr/>
            </p:nvSpPr>
            <p:spPr>
              <a:xfrm>
                <a:off x="548640" y="3569208"/>
                <a:ext cx="11064240" cy="78333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 b="1">
                    <a:solidFill>
                      <a:srgbClr val="1E293B"/>
                    </a:solidFill>
                    <a:latin typeface="Calibri"/>
                  </a:rPr>
                  <a:t>1.11.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Tìm GTLN, GTNN (nếu có): a) </a:t>
                </a:r>
                <a:r>
                  <a:rPr lang="vi-VN"/>
                  <a:t>y=x^4-2x^2+3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y=xe^{-x}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y=x\ln x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; d) </a:t>
                </a:r>
                <a:r>
                  <a:rPr lang="vi-VN"/>
                  <a:t>y=\sqrt{x-1}+\sqrt{3-x}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1" name="s3_nen"/>
          <p:cNvSpPr/>
          <p:nvPr/>
        </p:nvSpPr>
        <p:spPr>
          <a:xfrm>
            <a:off x="548640" y="4416552"/>
            <a:ext cx="11064240" cy="12862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453128"/>
                <a:ext cx="1073505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miny=2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x=±1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không có GTLN. b)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maxy=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không có GTNN. c)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miny=−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den>
                    </m:f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không có GTLN. d)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maxy=2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miny=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0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0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  <a:r>
                  <a:rPr sz="20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453128"/>
                <a:ext cx="10735056" cy="12131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0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\min y=2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x=\pm 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không có GTLN. b) </a:t>
                </a:r>
                <a:r>
                  <a:rPr lang="vi-VN"/>
                  <a:t>\max y=\frac{1}{e}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không có GTNN. c) </a:t>
                </a:r>
                <a:r>
                  <a:rPr lang="vi-VN"/>
                  <a:t>\min y=-\frac{1}{e}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x=\frac{1}{e}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không có GTLN. d) </a:t>
                </a:r>
                <a:r>
                  <a:rPr lang="vi-VN"/>
                  <a:t>\max y=2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x=2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), </a:t>
                </a:r>
                <a:r>
                  <a:rPr lang="vi-VN"/>
                  <a:t>\min y=\sqrt{2}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x=1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x=3</a:t>
                </a:r>
                <a:r>
                  <a:rPr sz="20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344607" y="457200"/>
            <a:ext cx="1298448" cy="45720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LUYỆN TẬP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674352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1.12 (SGK TR.19)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25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1.12.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GTLN, GTNN của các hàm số: 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y=2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−6x+3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c)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y=x−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d)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y=(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−x)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813815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 b="1">
                    <a:solidFill>
                      <a:srgbClr val="1E293B"/>
                    </a:solidFill>
                    <a:latin typeface="Calibri"/>
                  </a:rPr>
                  <a:t>1.12.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Tìm GTLN, GTNN của các hàm số: a) </a:t>
                </a:r>
                <a:r>
                  <a:rPr lang="vi-VN"/>
                  <a:t>y=2x^3-6x+3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[-1;\ 2]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b) </a:t>
                </a:r>
                <a:r>
                  <a:rPr lang="vi-VN"/>
                  <a:t>y=x^4-3x^2+2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[0;\ 3]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c) </a:t>
                </a:r>
                <a:r>
                  <a:rPr lang="vi-VN"/>
                  <a:t>y=x-\sin 2x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[0;\ \pi]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d) </a:t>
                </a:r>
                <a:r>
                  <a:rPr lang="vi-VN"/>
                  <a:t>y=(x^2-x)e^x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trên </a:t>
                </a:r>
                <a:r>
                  <a:rPr lang="vi-VN"/>
                  <a:t>[0;\ 1]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2295144"/>
            <a:ext cx="11064240" cy="87325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331720"/>
                <a:ext cx="1073505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maxy=7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x=−1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miny=−1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). b)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maxy=56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miny=−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331720"/>
                <a:ext cx="1073505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\max y=7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x=-1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), </a:t>
                </a:r>
                <a:r>
                  <a:rPr lang="vi-VN"/>
                  <a:t>\min y=-1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). b) </a:t>
                </a:r>
                <a:r>
                  <a:rPr lang="vi-VN"/>
                  <a:t>\max y=56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x=3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), </a:t>
                </a:r>
                <a:r>
                  <a:rPr lang="vi-VN"/>
                  <a:t>\min y=-\frac{1}{4}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x=\frac{\sqrt{6}}{2}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3278124"/>
            <a:ext cx="11064240" cy="101727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3314700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=1−2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2x=0⇔x=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maxy=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miny=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</m:fPr>
                      <m:num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3314700"/>
                <a:ext cx="10735056" cy="94411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c) </a:t>
                </a:r>
                <a:r>
                  <a:rPr lang="vi-VN"/>
                  <a:t>y'=1-2\cos 2x=0\Leftrightarrow x=\frac{\pi}{6},\ x=\frac{5\pi}{6}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\max y=\frac{5\pi}{6}+\frac{\sqrt{3}}{2}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\min y=\frac{\pi}{6}-\frac{\sqrt{3}}{2}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4405122"/>
            <a:ext cx="11064240" cy="87325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4441698"/>
                <a:ext cx="1073505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d)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=(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+x−1)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−1+</m:t>
                        </m:r>
                        <m:rad>
                          <m:radPr>
                            <m:degHide m:val="on"/>
                          </m:radPr>
                          <m:deg/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maxy=0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x=1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),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miny=(2−</m:t>
                    </m:r>
                    <m:rad>
                      <m:radPr>
                        <m:degHide m:val="on"/>
                      </m:radPr>
                      <m:deg/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e>
                    </m:rad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e</m:t>
                        </m:r>
                      </m:e>
                      <m:sup>
                        <m:f>
                          <m:fPr>
                            <m:type m:val="bar"/>
                          </m:fPr>
                          <m:num>
                            <m:rad>
                              <m:radPr>
                                <m:degHide m:val="on"/>
                              </m:radPr>
                              <m:deg/>
                              <m:e>
                                <m:r>
                                  <a:rPr lang="vi-VN" sz="21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5</m:t>
                                </m:r>
                              </m:e>
                            </m:rad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sup>
                    </m:sSup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4441698"/>
                <a:ext cx="10735056" cy="80009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d) </a:t>
                </a:r>
                <a:r>
                  <a:rPr lang="vi-VN"/>
                  <a:t>y'=(x^2+x-1)e^x=0\Leftrightarrow x=\frac{-1+\sqrt{5}}{2}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\max y=0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x=0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hoặc </a:t>
                </a:r>
                <a:r>
                  <a:rPr lang="vi-VN"/>
                  <a:t>x=1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), </a:t>
                </a:r>
                <a:r>
                  <a:rPr lang="vi-VN"/>
                  <a:t>\min y=(2-\sqrt{5})e^{\frac{\sqrt{5}-1}{2}}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1.13 – 1.14 (SGK TR.19)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8138160" cy="813815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1.13.</a:t>
            </a:r>
            <a:r>
              <a:rPr sz="2100">
                <a:solidFill>
                  <a:srgbClr val="1E293B"/>
                </a:solidFill>
                <a:latin typeface="Calibri"/>
              </a:rPr>
              <a:t> Trong các hình chữ nhật có chu vi là 24 cm, hãy tìm hình chữ nhật có diện tích lớn nhất.</a:t>
            </a:r>
          </a:p>
        </p:txBody>
      </p:sp>
      <p:sp>
        <p:nvSpPr>
          <p:cNvPr id="8" name="s1_nen"/>
          <p:cNvSpPr/>
          <p:nvPr/>
        </p:nvSpPr>
        <p:spPr>
          <a:xfrm>
            <a:off x="548640" y="2295144"/>
            <a:ext cx="8138160" cy="90525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331720"/>
                <a:ext cx="780897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Cạnh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cạnh kia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12−x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0&lt;x&lt;12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S=x(12−x)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=12−2x=0⇔x=6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Hình vuông cạnh 6 cm,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=36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cm².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331720"/>
                <a:ext cx="7808976" cy="83210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Cạnh </a:t>
                </a:r>
                <a:r>
                  <a:rPr lang="vi-VN"/>
                  <a:t>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cạnh kia </a:t>
                </a:r>
                <a:r>
                  <a:rPr lang="vi-VN"/>
                  <a:t>12-x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0&lt;x&lt;12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): </a:t>
                </a:r>
                <a:r>
                  <a:rPr lang="vi-VN"/>
                  <a:t>S=x(12-x)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S'=12-2x=0\Leftrightarrow x=6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Hình vuông cạnh 6 cm, </a:t>
                </a:r>
                <a:r>
                  <a:rPr lang="vi-VN"/>
                  <a:t>S_{\max}=36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cm².</a:t>
                </a:r>
              </a:p>
            </p:txBody>
          </p:sp>
        </mc:Fallback>
      </mc:AlternateContent>
      <p:sp>
        <p:nvSpPr>
          <p:cNvPr id="10" name="s2_chu"/>
          <p:cNvSpPr txBox="1"/>
          <p:nvPr/>
        </p:nvSpPr>
        <p:spPr>
          <a:xfrm>
            <a:off x="548640" y="3310127"/>
            <a:ext cx="8138160" cy="11338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1.14.</a:t>
            </a:r>
            <a:r>
              <a:rPr sz="2100">
                <a:solidFill>
                  <a:srgbClr val="1E293B"/>
                </a:solidFill>
                <a:latin typeface="Calibri"/>
              </a:rPr>
              <a:t> Hộp không nắp, đáy hình vuông, diện tích bề mặt 108 cm² (H.1.17). Tìm các kích thước của hộp để thể tích lớn nhất.</a:t>
            </a:r>
          </a:p>
        </p:txBody>
      </p:sp>
      <p:sp>
        <p:nvSpPr>
          <p:cNvPr id="11" name="s3_nen"/>
          <p:cNvSpPr/>
          <p:nvPr/>
        </p:nvSpPr>
        <p:spPr>
          <a:xfrm>
            <a:off x="548640" y="4553712"/>
            <a:ext cx="8138160" cy="1337310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s3_chu"/>
              <p:cNvSpPr txBox="1"/>
              <p:nvPr/>
            </p:nvSpPr>
            <p:spPr>
              <a:xfrm>
                <a:off x="713232" y="4590288"/>
                <a:ext cx="780897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+4xh=108⇒h=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108−</m:t>
                        </m:r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4x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V=</m:t>
                    </m:r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108x−</m:t>
                        </m:r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108−3</m:t>
                        </m:r>
                        <m:sSup>
                          <m:e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1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=0⇔x=6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. Kích thước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6×6×3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(cm),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V</m:t>
                        </m:r>
                      </m:e>
                      <m:sub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=108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cm³.</a:t>
                </a:r>
              </a:p>
            </p:txBody>
          </p:sp>
        </mc:Choice>
        <mc:Fallback>
          <p:sp>
            <p:nvSpPr>
              <p:cNvPr id="12" name="TextBox 11"/>
              <p:cNvSpPr txBox="1"/>
              <p:nvPr/>
            </p:nvSpPr>
            <p:spPr>
              <a:xfrm>
                <a:off x="713232" y="4590288"/>
                <a:ext cx="7808976" cy="1264158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x^2+4xh=108\Rightarrow h=\frac{108-x^2}{4x}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V=x^2h=\frac{108x-x^3}{4}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V'=\frac{108-3x^2}{4}=0\Leftrightarrow x=6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. Kích thước </a:t>
                </a:r>
                <a:r>
                  <a:rPr lang="vi-VN"/>
                  <a:t>6\times 6\times 3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(cm), </a:t>
                </a:r>
                <a:r>
                  <a:rPr lang="vi-VN"/>
                  <a:t>V_{\max}=108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cm³.</a:t>
                </a:r>
              </a:p>
            </p:txBody>
          </p:sp>
        </mc:Fallback>
      </mc:AlternateContent>
      <p:pic>
        <p:nvPicPr>
          <p:cNvPr id="13" name="Picture 12" descr="b2_h1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61120" y="2936759"/>
            <a:ext cx="2743200" cy="253896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VẬN DỤNG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BÀI TẬP 1.15 (SGK TR.19)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27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117957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1.15.</a:t>
            </a:r>
            <a:r>
              <a:rPr sz="2200">
                <a:solidFill>
                  <a:srgbClr val="1E293B"/>
                </a:solidFill>
                <a:latin typeface="Calibri"/>
              </a:rPr>
              <a:t> Bình hình trụ dung tích 1 000 cm³. Mặt trên và mặt dưới làm bằng vật liệu giá 1,2 nghìn đồng/cm², mặt bên làm bằng vật liệu giá 0,75 nghìn đồng/cm². Tìm bán kính đáy và chiều cao của bình để chi phí vật liệu là nhỏ nhất.</a:t>
            </a:r>
          </a:p>
        </p:txBody>
      </p:sp>
      <p:sp>
        <p:nvSpPr>
          <p:cNvPr id="8" name="s1_nen"/>
          <p:cNvSpPr/>
          <p:nvPr/>
        </p:nvSpPr>
        <p:spPr>
          <a:xfrm>
            <a:off x="548640" y="2688336"/>
            <a:ext cx="11064240" cy="1237488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2724912"/>
                <a:ext cx="10735056" cy="116433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π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h=1</m:t>
                    </m:r>
                    <m:r>
                      <m:rPr>
                        <m:sty m:val="p"/>
                      </m:rP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000⇒h=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000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 Chi phí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C(r)=1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2·2π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+0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75·2πrh=2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4π</m:t>
                    </m:r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r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724912"/>
                <a:ext cx="10735056" cy="116433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\pi r^2h=1\ 000\Rightarrow h=\frac{1\ 000}{\pi r^2}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 Chi phí </a:t>
                </a:r>
                <a:r>
                  <a:rPr lang="vi-VN"/>
                  <a:t>C(r)=1{,}2\cdot 2\pi r^2+0{,}75\cdot 2\pi rh=2{,}4\pi r^2+\frac{1\ 500}{r}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</a:t>
                </a:r>
                <a:r>
                  <a:rPr lang="vi-VN"/>
                  <a:t>r&gt;0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).</a:t>
                </a:r>
              </a:p>
            </p:txBody>
          </p:sp>
        </mc:Fallback>
      </mc:AlternateContent>
      <p:sp>
        <p:nvSpPr>
          <p:cNvPr id="10" name="s2_nen"/>
          <p:cNvSpPr/>
          <p:nvPr/>
        </p:nvSpPr>
        <p:spPr>
          <a:xfrm>
            <a:off x="548640" y="4062984"/>
            <a:ext cx="11064240" cy="90220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s2_chu"/>
              <p:cNvSpPr txBox="1"/>
              <p:nvPr/>
            </p:nvSpPr>
            <p:spPr>
              <a:xfrm>
                <a:off x="713232" y="4099560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(r)=4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8πr−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500</m:t>
                        </m:r>
                      </m:num>
                      <m:den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r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=0⇔r=</m:t>
                    </m:r>
                    <m:rad>
                      <m:radPr>
                        <m:degHide m:val="off"/>
                      </m:radPr>
                      <m:deg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f>
                          <m:fPr>
                            <m:type m:val="bar"/>
                          </m:fPr>
                          <m:num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312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,</m:t>
                            </m:r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rad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≈4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cm;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C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đổi dấu từ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sang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713232" y="4099560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 </a:t>
                </a:r>
                <a:r>
                  <a:rPr lang="vi-VN"/>
                  <a:t>C'(r)=4{,}8\pi r-\frac{1\ 500}{r^2}=0\Leftrightarrow r=\sqrt[3]{\frac{312{,}5}{\pi}}\approx 4{,}63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cm; </a:t>
                </a:r>
                <a:r>
                  <a:rPr lang="vi-VN"/>
                  <a:t>C'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đổi dấu từ </a:t>
                </a:r>
                <a:r>
                  <a:rPr lang="vi-VN"/>
                  <a:t>-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sang </a:t>
                </a:r>
                <a:r>
                  <a:rPr lang="vi-VN"/>
                  <a:t>+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3_nen"/>
          <p:cNvSpPr/>
          <p:nvPr/>
        </p:nvSpPr>
        <p:spPr>
          <a:xfrm>
            <a:off x="548640" y="5102352"/>
            <a:ext cx="11064240" cy="93573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s3_chu"/>
              <p:cNvSpPr txBox="1"/>
              <p:nvPr/>
            </p:nvSpPr>
            <p:spPr>
              <a:xfrm>
                <a:off x="713232" y="5138928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Chi phí nhỏ nhất khi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r≈4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 và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h≈14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83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 (chi phí khoảng 485,6 nghìn đồng).</a:t>
                </a:r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5138928"/>
                <a:ext cx="10735056" cy="86258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>
                    <a:solidFill>
                      <a:srgbClr val="1E293B"/>
                    </a:solidFill>
                    <a:latin typeface="Calibri"/>
                  </a:rPr>
                  <a:t>Chi phí nhỏ nhất khi </a:t>
                </a:r>
                <a:r>
                  <a:rPr lang="vi-VN"/>
                  <a:t>r\approx 4{,}63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 và </a:t>
                </a:r>
                <a:r>
                  <a:rPr lang="vi-VN"/>
                  <a:t>h\approx 14{,}83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cm (chi phí khoảng 485,6 nghìn đồng).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TRÒ CHƠI: RUNG CHUÔNG VÀNG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28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371600" y="1554480"/>
            <a:ext cx="9418320" cy="2962656"/>
          </a:xfrm>
          <a:prstGeom prst="roundRect">
            <a:avLst>
              <a:gd name="adj" fmla="val 6000"/>
            </a:avLst>
          </a:prstGeom>
          <a:solidFill>
            <a:srgbClr val="FFFBEB"/>
          </a:solidFill>
          <a:ln w="190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36192" y="1591056"/>
            <a:ext cx="9089136" cy="2889504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3000">
                <a:solidFill>
                  <a:srgbClr val="1E293B"/>
                </a:solidFill>
                <a:latin typeface="Calibri"/>
              </a:rPr>
              <a:t>🔔 </a:t>
            </a:r>
            <a:r>
              <a:rPr sz="3000" b="1">
                <a:solidFill>
                  <a:srgbClr val="1E293B"/>
                </a:solidFill>
                <a:latin typeface="Calibri"/>
              </a:rPr>
              <a:t>Luật chơi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Mỗi bạn một bảng con – viết đáp án khi hết giờ.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nhiều lựa chọn: ghi A, B, C hoặc D (30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Đúng/Sai: ghi Đ hoặc S cho từng ý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Câu trả lời ngắn, thực tế: ghi một số (60 giây).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400">
                <a:solidFill>
                  <a:srgbClr val="1E293B"/>
                </a:solidFill>
                <a:latin typeface="Calibri"/>
              </a:rPr>
              <a:t>Sai: rời sàn thi. Bạn trụ lại cuối cùng </a:t>
            </a:r>
            <a:r>
              <a:rPr sz="2400" b="1">
                <a:solidFill>
                  <a:srgbClr val="1E293B"/>
                </a:solidFill>
                <a:latin typeface="Calibri"/>
              </a:rPr>
              <a:t>rung chuông vàng</a:t>
            </a:r>
            <a:r>
              <a:rPr sz="2400">
                <a:solidFill>
                  <a:srgbClr val="1E293B"/>
                </a:solidFill>
                <a:latin typeface="Calibri"/>
              </a:rPr>
              <a:t>!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1 (BIẾT)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29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lớn nhất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−3x+1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lớn nhất của hàm số </a:t>
                </a:r>
                <a:r>
                  <a:rPr lang="vi-VN"/>
                  <a:t>y=x^3-3x+1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[0;\ 2]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-1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3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5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y(0)=1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y(1)=−1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y(2)=3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C.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y'=0\Leftrightarrow x=1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y(0)=1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y(1)=-1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y(2)=3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2 (BIẾT)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30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nhỏ nhất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−4x+5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nhỏ nhất của hàm số </a:t>
                </a:r>
                <a:r>
                  <a:rPr lang="vi-VN"/>
                  <a:t>y=x^2-4x+5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[0;\ 3]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5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0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60045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y(0)=5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y(2)=1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y(3)=2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52730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B.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y'=0\Leftrightarrow 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y(0)=5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y(2)=1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y(3)=2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3 (HIỂU)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31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nhỏ nhất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y=x+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khoảng </a:t>
                </a:r>
                <a14:m>
                  <m:oMath xmlns:m="http://schemas.openxmlformats.org/officeDocument/2006/math">
                    <m:d>
                      <m:dPr>
                        <m:sepChr m:val=""/>
                      </m:d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e>
                    </m:d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nhỏ nhất của hàm số </a:t>
                </a:r>
                <a:r>
                  <a:rPr lang="vi-VN"/>
                  <a:t>y=x+\frac{4}{x}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khoảng </a:t>
                </a:r>
                <a:r>
                  <a:rPr lang="vi-VN"/>
                  <a:t>(0;\ +\infty)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4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5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</m:t>
                    </m:r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-4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751331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=1−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x</m:t>
                            </m:r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=0⇔x=2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y(2)=4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(bảng biến thiên).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678179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A.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y'=1-\frac{4}{x^2}=0\Leftrightarrow x=2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y(2)=4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(bảng biến thiên).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4 (HIỂU)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32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lớn nhất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f>
                      <m:fPr>
                        <m:type m:val="bar"/>
                      </m:fPr>
                      <m:num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2x+1</m:t>
                        </m:r>
                      </m:num>
                      <m:den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x+1</m:t>
                        </m:r>
                      </m:den>
                    </m:f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748283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Giá trị lớn nhất của hàm số </a:t>
                </a:r>
                <a:r>
                  <a:rPr lang="vi-VN"/>
                  <a:t>y=\frac{2x+1}{x+1}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[0;\ 2]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bằng</a:t>
                </a:r>
              </a:p>
            </p:txBody>
          </p:sp>
        </mc:Fallback>
      </mc:AlternateContent>
      <p:sp>
        <p:nvSpPr>
          <p:cNvPr id="8" name="Rounded Rectangle 7"/>
          <p:cNvSpPr/>
          <p:nvPr/>
        </p:nvSpPr>
        <p:spPr>
          <a:xfrm>
            <a:off x="54864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A.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1</a:t>
                </a:r>
              </a:p>
            </p:txBody>
          </p:sp>
        </mc:Fallback>
      </mc:AlternateContent>
      <p:sp>
        <p:nvSpPr>
          <p:cNvPr id="10" name="Rounded Rectangle 9"/>
          <p:cNvSpPr/>
          <p:nvPr/>
        </p:nvSpPr>
        <p:spPr>
          <a:xfrm>
            <a:off x="6172200" y="246888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6336792" y="250545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B.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2</a:t>
                </a:r>
              </a:p>
            </p:txBody>
          </p:sp>
        </mc:Fallback>
      </mc:AlternateContent>
      <p:sp>
        <p:nvSpPr>
          <p:cNvPr id="12" name="Rounded Rectangle 11"/>
          <p:cNvSpPr/>
          <p:nvPr/>
        </p:nvSpPr>
        <p:spPr>
          <a:xfrm>
            <a:off x="54864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3" name="TextBox 12"/>
              <p:cNvSpPr txBox="1"/>
              <p:nvPr/>
            </p:nvSpPr>
            <p:spPr>
              <a:xfrm>
                <a:off x="71323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C.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\frac{3}{2}</a:t>
                </a:r>
              </a:p>
            </p:txBody>
          </p:sp>
        </mc:Fallback>
      </mc:AlternateContent>
      <p:sp>
        <p:nvSpPr>
          <p:cNvPr id="14" name="Rounded Rectangle 13"/>
          <p:cNvSpPr/>
          <p:nvPr/>
        </p:nvSpPr>
        <p:spPr>
          <a:xfrm>
            <a:off x="6172200" y="3474720"/>
            <a:ext cx="5440680" cy="841248"/>
          </a:xfrm>
          <a:prstGeom prst="roundRect">
            <a:avLst>
              <a:gd name="adj" fmla="val 6000"/>
            </a:avLst>
          </a:prstGeom>
          <a:solidFill>
            <a:srgbClr val="EFF4FF"/>
          </a:solidFill>
          <a:ln w="19050">
            <a:solidFill>
              <a:srgbClr val="1E40A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f>
                      <m:fPr>
                        <m:type m:val="bar"/>
                      </m:fPr>
                      <m:num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</a:p>
            </p:txBody>
          </p:sp>
        </mc:Choice>
        <mc:Fallback>
          <p:sp>
            <p:nvSpPr>
              <p:cNvPr id="15" name="TextBox 14"/>
              <p:cNvSpPr txBox="1"/>
              <p:nvPr/>
            </p:nvSpPr>
            <p:spPr>
              <a:xfrm>
                <a:off x="6336792" y="3511296"/>
                <a:ext cx="5111496" cy="76809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D.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\frac{5}{3}</a:t>
                </a:r>
              </a:p>
            </p:txBody>
          </p:sp>
        </mc:Fallback>
      </mc:AlternateContent>
      <p:sp>
        <p:nvSpPr>
          <p:cNvPr id="16" name="s1_nen"/>
          <p:cNvSpPr/>
          <p:nvPr/>
        </p:nvSpPr>
        <p:spPr>
          <a:xfrm>
            <a:off x="548640" y="4617720"/>
            <a:ext cx="11064240" cy="902207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s1_chu"/>
              <p:cNvSpPr txBox="1"/>
              <p:nvPr/>
            </p:nvSpPr>
            <p:spPr>
              <a:xfrm>
                <a:off x="713232" y="4654296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d>
                              <m:dPr>
                                <m:sepChr m:val=""/>
                              </m:dPr>
                              <m:e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x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vi-VN" sz="2200" b="0">
                                    <a:solidFill>
                                      <a:srgbClr val="1E293B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e>
                            </m:d>
                          </m:e>
                          <m:sup>
                            <m:r>
                              <a:rPr lang="vi-VN" sz="2200" b="0">
                                <a:solidFill>
                                  <a:srgbClr val="1E293B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&gt;0</m:t>
                    </m:r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hàm số đồng biến; GTLN là </a:t>
                </a:r>
                <a14:m>
                  <m:oMath xmlns:m="http://schemas.openxmlformats.org/officeDocument/2006/math">
                    <m:r>
                      <a:rPr lang="vi-VN" sz="22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y(2)=</m:t>
                    </m:r>
                    <m:f>
                      <m:fPr>
                        <m:type m:val="bar"/>
                      </m:fPr>
                      <m:num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num>
                      <m:den>
                        <m:r>
                          <a:rPr lang="vi-VN" sz="22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7" name="TextBox 16"/>
              <p:cNvSpPr txBox="1"/>
              <p:nvPr/>
            </p:nvSpPr>
            <p:spPr>
              <a:xfrm>
                <a:off x="713232" y="4654296"/>
                <a:ext cx="10735056" cy="829056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200" b="1">
                    <a:solidFill>
                      <a:srgbClr val="1E293B"/>
                    </a:solidFill>
                    <a:latin typeface="Calibri"/>
                  </a:rPr>
                  <a:t>Đáp án D.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y'=\frac{1}{(x+1)^2}&gt;0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 nên hàm số đồng biến; GTLN là </a:t>
                </a:r>
                <a:r>
                  <a:rPr lang="vi-VN"/>
                  <a:t>y(2)=\frac{5}{3}</a:t>
                </a:r>
                <a:r>
                  <a:rPr sz="22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5 (ĐÚNG/SAI)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33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−2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53949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>
                    <a:solidFill>
                      <a:srgbClr val="1E293B"/>
                    </a:solidFill>
                    <a:latin typeface="Calibri"/>
                  </a:rPr>
                  <a:t>Cho hàm số </a:t>
                </a:r>
                <a:r>
                  <a:rPr lang="vi-VN"/>
                  <a:t>y=x^4-2x^2+3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[0;\ 2]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 Xét tính đúng, sai: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Box 7"/>
              <p:cNvSpPr txBox="1"/>
              <p:nvPr/>
            </p:nvSpPr>
            <p:spPr>
              <a:xfrm>
                <a:off x="548640" y="2002536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</m:t>
                    </m:r>
                    <m:sSup>
                      <m:e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3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−4x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8" name="TextBox 7"/>
              <p:cNvSpPr txBox="1"/>
              <p:nvPr/>
            </p:nvSpPr>
            <p:spPr>
              <a:xfrm>
                <a:off x="548640" y="2002536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a) </a:t>
                </a:r>
                <a:r>
                  <a:rPr lang="vi-VN"/>
                  <a:t>y'=4x^3-4x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9" name="s1_nen"/>
          <p:cNvSpPr/>
          <p:nvPr/>
        </p:nvSpPr>
        <p:spPr>
          <a:xfrm>
            <a:off x="8412480" y="1975104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s1_chu"/>
          <p:cNvSpPr txBox="1"/>
          <p:nvPr/>
        </p:nvSpPr>
        <p:spPr>
          <a:xfrm>
            <a:off x="8577072" y="2011680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TextBox 10"/>
              <p:cNvSpPr txBox="1"/>
              <p:nvPr/>
            </p:nvSpPr>
            <p:spPr>
              <a:xfrm>
                <a:off x="548640" y="299008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14:m>
                  <m:oMath xmlns:m="http://schemas.openxmlformats.org/officeDocument/2006/math">
                    <m:r>
                      <a:rPr lang="vi-VN" sz="23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y(2)=11</m:t>
                    </m:r>
                  </m:oMath>
                </a14:m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11" name="TextBox 10"/>
              <p:cNvSpPr txBox="1"/>
              <p:nvPr/>
            </p:nvSpPr>
            <p:spPr>
              <a:xfrm>
                <a:off x="548640" y="2990088"/>
                <a:ext cx="7680960" cy="941832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300">
                    <a:solidFill>
                      <a:srgbClr val="1E293B"/>
                    </a:solidFill>
                    <a:latin typeface="Calibri"/>
                  </a:rPr>
                  <a:t>b) </a:t>
                </a:r>
                <a:r>
                  <a:rPr lang="vi-VN"/>
                  <a:t>y(2)=11</a:t>
                </a:r>
                <a:r>
                  <a:rPr sz="23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12" name="s2_nen"/>
          <p:cNvSpPr/>
          <p:nvPr/>
        </p:nvSpPr>
        <p:spPr>
          <a:xfrm>
            <a:off x="8412480" y="2962656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s2_chu"/>
          <p:cNvSpPr txBox="1"/>
          <p:nvPr/>
        </p:nvSpPr>
        <p:spPr>
          <a:xfrm>
            <a:off x="8577072" y="2999232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3977639"/>
            <a:ext cx="7680960" cy="9418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c) Giá trị nhỏ nhất của hàm số trên đoạn bằng 3.</a:t>
            </a:r>
          </a:p>
        </p:txBody>
      </p:sp>
      <p:sp>
        <p:nvSpPr>
          <p:cNvPr id="15" name="s3_nen"/>
          <p:cNvSpPr/>
          <p:nvPr/>
        </p:nvSpPr>
        <p:spPr>
          <a:xfrm>
            <a:off x="8412480" y="3950207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3_chu"/>
          <p:cNvSpPr txBox="1"/>
          <p:nvPr/>
        </p:nvSpPr>
        <p:spPr>
          <a:xfrm>
            <a:off x="8577072" y="3986783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SAI</a:t>
            </a:r>
            <a:r>
              <a:rPr sz="2100">
                <a:solidFill>
                  <a:srgbClr val="1E293B"/>
                </a:solidFill>
                <a:latin typeface="Calibri"/>
              </a:rPr>
              <a:t> (bằng 2)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65192"/>
            <a:ext cx="7680960" cy="941832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300">
                <a:solidFill>
                  <a:srgbClr val="1E293B"/>
                </a:solidFill>
                <a:latin typeface="Calibri"/>
              </a:rPr>
              <a:t>d) Giá trị lớn nhất của hàm số trên đoạn bằng 11.</a:t>
            </a:r>
          </a:p>
        </p:txBody>
      </p:sp>
      <p:sp>
        <p:nvSpPr>
          <p:cNvPr id="18" name="s4_nen"/>
          <p:cNvSpPr/>
          <p:nvPr/>
        </p:nvSpPr>
        <p:spPr>
          <a:xfrm>
            <a:off x="8412480" y="4937759"/>
            <a:ext cx="3200400" cy="804672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s4_chu"/>
          <p:cNvSpPr txBox="1"/>
          <p:nvPr/>
        </p:nvSpPr>
        <p:spPr>
          <a:xfrm>
            <a:off x="8577072" y="4974336"/>
            <a:ext cx="2871216" cy="73152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>
              <a:spcAft>
                <a:spcPts val="800"/>
              </a:spcAft>
            </a:pPr>
            <a:r>
              <a:rPr sz="2100" b="1">
                <a:solidFill>
                  <a:srgbClr val="1E293B"/>
                </a:solidFill>
                <a:latin typeface="Calibri"/>
              </a:rPr>
              <a:t>ĐÚNG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6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34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giá trị lớn nhất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y=−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+3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+2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56997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giá trị lớn nhất của hàm số </a:t>
                </a:r>
                <a:r>
                  <a:rPr lang="vi-VN"/>
                  <a:t>y=-x^3+3x^2+2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[0;\ 3]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630936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6.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=−3</m:t>
                    </m:r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+6x=0⇔x=0,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y(0)=2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y(2)=6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y(3)=2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557784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6.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y'=-3x^2+6x=0\Leftrightarrow x=0,\ x=2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y(0)=2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y(2)=6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y(3)=2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7 (TRẢ LỜI NGẮN)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35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giá trị nhỏ nhất của hàm số </a:t>
                </a:r>
                <a14:m>
                  <m:oMath xmlns:m="http://schemas.openxmlformats.org/officeDocument/2006/math"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y=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−3</m:t>
                    </m:r>
                    <m:sSup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x</m:t>
                        </m:r>
                      </m:e>
                      <m:sup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vi-VN" sz="26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−9x+5</m:t>
                    </m:r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6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</m:oMath>
                </a14:m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463040"/>
                <a:ext cx="11064240" cy="966216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600">
                    <a:solidFill>
                      <a:srgbClr val="1E293B"/>
                    </a:solidFill>
                    <a:latin typeface="Calibri"/>
                  </a:rPr>
                  <a:t>Tìm giá trị nhỏ nhất của hàm số </a:t>
                </a:r>
                <a:r>
                  <a:rPr lang="vi-VN"/>
                  <a:t>y=x^3-3x^2-9x+5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 trên đoạn </a:t>
                </a:r>
                <a:r>
                  <a:rPr lang="vi-VN"/>
                  <a:t>[-2;\ 4]</a:t>
                </a:r>
                <a:r>
                  <a:rPr sz="26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  <p:sp>
        <p:nvSpPr>
          <p:cNvPr id="8" name="s1_nen"/>
          <p:cNvSpPr/>
          <p:nvPr/>
        </p:nvSpPr>
        <p:spPr>
          <a:xfrm>
            <a:off x="548640" y="3931920"/>
            <a:ext cx="11064240" cy="9966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923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−22.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y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=0⇔x=−1,</m:t>
                    </m:r>
                    <m:r>
                      <m:rPr>
                        <m:sty m:val="p"/>
                      </m:rP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y(−2)=3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y(−1)=10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y(3)=−22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y(4)=−15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923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−22.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</a:t>
                </a:r>
                <a:r>
                  <a:rPr lang="vi-VN"/>
                  <a:t>y'=0\Leftrightarrow x=-1,\ x=3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; </a:t>
                </a:r>
                <a:r>
                  <a:rPr lang="vi-VN"/>
                  <a:t>y(-2)=3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y(-1)=10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y(3)=-22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y(4)=-15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DB277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TRÒ CHƠI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RUNG CHUÔNG VÀNG – CÂU 8 (THỰC TẾ)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36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63040"/>
            <a:ext cx="11064240" cy="1362456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600">
                <a:solidFill>
                  <a:srgbClr val="1E293B"/>
                </a:solidFill>
                <a:latin typeface="Calibri"/>
              </a:rPr>
              <a:t>Bác An dùng 60 m lưới rào ba cạnh của một mảnh vườn hình chữ nhật, cạnh còn lại là bức tường. Diện tích lớn nhất của mảnh vườn là bao nhiêu mét vuông?</a:t>
            </a:r>
          </a:p>
        </p:txBody>
      </p:sp>
      <p:sp>
        <p:nvSpPr>
          <p:cNvPr id="8" name="s1_nen"/>
          <p:cNvSpPr/>
          <p:nvPr/>
        </p:nvSpPr>
        <p:spPr>
          <a:xfrm>
            <a:off x="548640" y="3931920"/>
            <a:ext cx="11064240" cy="996695"/>
          </a:xfrm>
          <a:prstGeom prst="roundRect">
            <a:avLst>
              <a:gd name="adj" fmla="val 6000"/>
            </a:avLst>
          </a:prstGeom>
          <a:solidFill>
            <a:srgbClr val="ECFDF3"/>
          </a:solidFill>
          <a:ln w="19050">
            <a:solidFill>
              <a:srgbClr val="1665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s1_chu"/>
              <p:cNvSpPr txBox="1"/>
              <p:nvPr/>
            </p:nvSpPr>
            <p:spPr>
              <a:xfrm>
                <a:off x="713232" y="3968496"/>
                <a:ext cx="10735056" cy="923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450.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Hai cạnh vuông góc với tường dài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cạnh song song dài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60−2x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14:m>
                  <m:oMath xmlns:m="http://schemas.openxmlformats.org/officeDocument/2006/math"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S=x(60−2x)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p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=0⇔x=15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S</m:t>
                        </m:r>
                      </m:e>
                      <m:sub>
                        <m:r>
                          <a:rPr lang="vi-VN" sz="24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max</m:t>
                        </m:r>
                      </m:sub>
                    </m:sSub>
                    <m:r>
                      <a:rPr lang="vi-VN" sz="24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=450</m:t>
                    </m:r>
                  </m:oMath>
                </a14:m>
                <a:r>
                  <a:rPr sz="2400">
                    <a:solidFill>
                      <a:srgbClr val="1E293B"/>
                    </a:solidFill>
                    <a:latin typeface="Calibri"/>
                  </a:rPr>
                  <a:t> m².</a:t>
                </a:r>
              </a:p>
            </p:txBody>
          </p:sp>
        </mc:Choice>
        <mc:Fallback>
          <p:sp>
            <p:nvSpPr>
              <p:cNvPr id="9" name="TextBox 8"/>
              <p:cNvSpPr txBox="1"/>
              <p:nvPr/>
            </p:nvSpPr>
            <p:spPr>
              <a:xfrm>
                <a:off x="713232" y="3968496"/>
                <a:ext cx="10735056" cy="923543"/>
              </a:xfrm>
              <a:prstGeom prst="rect">
                <a:avLst/>
              </a:prstGeom>
              <a:noFill/>
            </p:spPr>
            <p:txBody>
              <a:bodyPr wrap="square" anchor="ctr" lIns="45720" rIns="45720">
                <a:spAutoFit/>
              </a:bodyPr>
              <a:lstStyle/>
              <a:p>
                <a:pPr algn="l">
                  <a:spcAft>
                    <a:spcPts val="800"/>
                  </a:spcAft>
                </a:pPr>
                <a:r>
                  <a:rPr sz="2400" b="1">
                    <a:solidFill>
                      <a:srgbClr val="1E293B"/>
                    </a:solidFill>
                    <a:latin typeface="Calibri"/>
                  </a:rPr>
                  <a:t>Đáp số: 450.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Hai cạnh vuông góc với tường dài </a:t>
                </a:r>
                <a:r>
                  <a:rPr lang="vi-VN"/>
                  <a:t>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cạnh song song dài </a:t>
                </a:r>
                <a:r>
                  <a:rPr lang="vi-VN"/>
                  <a:t>60-2x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: </a:t>
                </a:r>
                <a:r>
                  <a:rPr lang="vi-VN"/>
                  <a:t>S=x(60-2x)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S'=0\Leftrightarrow x=15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, </a:t>
                </a:r>
                <a:r>
                  <a:rPr lang="vi-VN"/>
                  <a:t>S_{\max}=450</a:t>
                </a:r>
                <a:r>
                  <a:rPr sz="2400">
                    <a:solidFill>
                      <a:srgbClr val="1E293B"/>
                    </a:solidFill>
                    <a:latin typeface="Calibri"/>
                  </a:rPr>
                  <a:t> m².</a:t>
                </a:r>
              </a:p>
            </p:txBody>
          </p:sp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CỦNG CỐ TRỰC TUYẾN – NHIỆM VỤ VỀ NHÀ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37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417320"/>
            <a:ext cx="7589520" cy="475488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Bài củng cố trực tuyến</a:t>
            </a:r>
            <a:r>
              <a:rPr sz="2200">
                <a:solidFill>
                  <a:srgbClr val="1E293B"/>
                </a:solidFill>
                <a:latin typeface="Calibri"/>
              </a:rPr>
              <a:t> – quét mã QR hoặc mở đường link: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64748B"/>
                </a:solidFill>
                <a:latin typeface="Calibri"/>
              </a:rPr>
              <a:t>https://trangtu66.github.io/Taode_thi_online/cc_bai2_t12.html</a:t>
            </a:r>
          </a:p>
          <a:p>
            <a:pPr algn="l">
              <a:spcAft>
                <a:spcPts val="800"/>
              </a:spcAft>
            </a:pPr>
            <a:r>
              <a:rPr sz="2200" b="1">
                <a:solidFill>
                  <a:srgbClr val="1E293B"/>
                </a:solidFill>
                <a:latin typeface="Calibri"/>
              </a:rPr>
              <a:t>Nhiệm vụ về nhà: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Hoàn thành Bài tập 1.10 – 1.15.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200">
                <a:solidFill>
                  <a:srgbClr val="1E293B"/>
                </a:solidFill>
                <a:latin typeface="Calibri"/>
              </a:rPr>
              <a:t>Đọc trước </a:t>
            </a:r>
            <a:r>
              <a:rPr sz="2200" b="1">
                <a:solidFill>
                  <a:srgbClr val="1E293B"/>
                </a:solidFill>
                <a:latin typeface="Calibri"/>
              </a:rPr>
              <a:t>Bài 3. Đường tiệm cận của đồ thị hàm số</a:t>
            </a:r>
            <a:r>
              <a:rPr sz="2200">
                <a:solidFill>
                  <a:srgbClr val="1E293B"/>
                </a:solidFill>
                <a:latin typeface="Calibri"/>
              </a:rPr>
              <a:t> (SGK tr.20).</a:t>
            </a:r>
          </a:p>
        </p:txBody>
      </p:sp>
      <p:pic>
        <p:nvPicPr>
          <p:cNvPr id="8" name="Picture 7" descr="QR_CungCo_Bai2_Toan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0" y="1554480"/>
            <a:ext cx="3291840" cy="3291840"/>
          </a:xfrm>
          <a:prstGeom prst="rect">
            <a:avLst/>
          </a:prstGeom>
        </p:spPr>
      </p:pic>
      <p:sp>
        <p:nvSpPr>
          <p:cNvPr id="9" name="Rounded Rectangle 8">
            <a:hlinkClick r:id="rId4"/>
          </p:cNvPr>
          <p:cNvSpPr/>
          <p:nvPr/>
        </p:nvSpPr>
        <p:spPr>
          <a:xfrm>
            <a:off x="8412480" y="5029200"/>
            <a:ext cx="3291840" cy="594360"/>
          </a:xfrm>
          <a:prstGeom prst="roundRect">
            <a:avLst/>
          </a:prstGeom>
          <a:solidFill>
            <a:srgbClr val="1665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▶  MỞ BÀI CỦNG CỐ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463479" y="457200"/>
            <a:ext cx="1179576" cy="457200"/>
          </a:xfrm>
          <a:prstGeom prst="roundRect">
            <a:avLst/>
          </a:prstGeom>
          <a:solidFill>
            <a:srgbClr val="47556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TỔNG KẾT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793224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SƠ ĐỒ TƯ DUY – BÀI 2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38</a:t>
            </a:r>
          </a:p>
        </p:txBody>
      </p:sp>
      <p:pic>
        <p:nvPicPr>
          <p:cNvPr id="7" name="Picture 6" descr="SoDoTuDuy_TOAN12_Bai2_GTLN_GTN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397" y="1371600"/>
            <a:ext cx="8630725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1 – SAI LẦM THƯỜNG GẶP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39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Lấy cả nghiệm của </a:t>
                </a:r>
                <a14:m>
                  <m:oMath xmlns:m="http://schemas.openxmlformats.org/officeDocument/2006/math">
                    <m:sSup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f</m:t>
                        </m:r>
                      </m:e>
                      <m:sup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(x)=0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 nằm ngoài đoạn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</m:dPr>
                      <m:e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a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;</m:t>
                        </m:r>
                        <m:r>
                          <m:rPr>
                            <m:sty m:val="p"/>
                          </m:rP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vi-VN" sz="2100" b="0">
                            <a:solidFill>
                              <a:srgbClr val="1E293B"/>
                            </a:solidFill>
                            <a:latin typeface="Cambria Math" panose="02040503050406030204" pitchFamily="18" charset="0"/>
                          </a:rPr>
                          <m:t>b</m:t>
                        </m:r>
                      </m:e>
                    </m:d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; quên so sánh giá trị tại hai đầu mút.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Nhầm giá trị lớn nhất với giá trị cực đại; kết luận có GTLN trên khoảng mở khi hàm số không đạt được.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toán thực tế: quên điều kiện của biến (Ví dụ 3: </a:t>
                </a:r>
                <a14:m>
                  <m:oMath xmlns:m="http://schemas.openxmlformats.org/officeDocument/2006/math">
                    <m:r>
                      <a:rPr lang="vi-VN" sz="2100" b="0">
                        <a:solidFill>
                          <a:srgbClr val="1E293B"/>
                        </a:solidFill>
                        <a:latin typeface="Cambria Math" panose="02040503050406030204" pitchFamily="18" charset="0"/>
                      </a:rPr>
                      <m:t>0&lt;x&lt;30</m:t>
                    </m:r>
                  </m:oMath>
                </a14:m>
                <a:r>
                  <a:rPr sz="2100">
                    <a:solidFill>
                      <a:srgbClr val="1E293B"/>
                    </a:solidFill>
                    <a:latin typeface="Calibri"/>
                  </a:rPr>
                  <a:t>) hoặc đơn vị.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Bấm máy hàm lượng giác ở chế độ độ thay vì radian (Ví dụ 5, Bài 1.12c).</a:t>
                </a:r>
              </a:p>
            </p:txBody>
          </p:sp>
        </mc:Choice>
        <mc:Fallback>
          <p:sp>
            <p:nvSpPr>
              <p:cNvPr id="7" name="TextBox 6"/>
              <p:cNvSpPr txBox="1"/>
              <p:nvPr/>
            </p:nvSpPr>
            <p:spPr>
              <a:xfrm>
                <a:off x="548640" y="1371600"/>
                <a:ext cx="11064240" cy="4846320"/>
              </a:xfrm>
              <a:prstGeom prst="rect">
                <a:avLst/>
              </a:prstGeom>
              <a:noFill/>
            </p:spPr>
            <p:txBody>
              <a:bodyPr wrap="square" anchor="t" lIns="45720" rIns="45720">
                <a:spAutoFit/>
              </a:bodyPr>
              <a:lstStyle/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Lấy cả nghiệm của </a:t>
                </a:r>
                <a:r>
                  <a:rPr lang="vi-VN"/>
                  <a:t>f'(x)=0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 nằm ngoài đoạn </a:t>
                </a:r>
                <a:r>
                  <a:rPr lang="vi-VN"/>
                  <a:t>[a;\ b]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; quên so sánh giá trị tại hai đầu mút.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Nhầm giá trị lớn nhất với giá trị cực đại; kết luận có GTLN trên khoảng mở khi hàm số không đạt được.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Bài toán thực tế: quên điều kiện của biến (Ví dụ 3: </a:t>
                </a:r>
                <a:r>
                  <a:rPr lang="vi-VN"/>
                  <a:t>0&lt;x&lt;30</a:t>
                </a:r>
                <a:r>
                  <a:rPr sz="2100">
                    <a:solidFill>
                      <a:srgbClr val="1E293B"/>
                    </a:solidFill>
                    <a:latin typeface="Calibri"/>
                  </a:rPr>
                  <a:t>) hoặc đơn vị.</a:t>
                </a:r>
              </a:p>
              <a:p>
                <a:pPr algn="l" marL="365760" indent="-365760">
                  <a:spcAft>
                    <a:spcPts val="800"/>
                  </a:spcAft>
                  <a:buClr>
                    <a:srgbClr val="1E40AF"/>
                  </a:buClr>
                  <a:buFont typeface="Arial"/>
                  <a:buChar char="•"/>
                </a:pPr>
                <a:r>
                  <a:rPr sz="2100">
                    <a:solidFill>
                      <a:srgbClr val="1E293B"/>
                    </a:solidFill>
                    <a:latin typeface="Calibri"/>
                  </a:rPr>
                  <a:t>Bấm máy hàm lượng giác ở chế độ độ thay vì radian (Ví dụ 5, Bài 1.12c).</a:t>
                </a: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457200" y="384048"/>
            <a:ext cx="109728" cy="658368"/>
          </a:xfrm>
          <a:prstGeom prst="rect">
            <a:avLst/>
          </a:prstGeom>
          <a:solidFill>
            <a:srgbClr val="1E40A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10106863" y="457200"/>
            <a:ext cx="1536192" cy="457200"/>
          </a:xfrm>
          <a:prstGeom prst="roundRect">
            <a:avLst/>
          </a:prstGeom>
          <a:solidFill>
            <a:srgbClr val="991B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0" bIns="0"/>
          <a:lstStyle/>
          <a:p>
            <a:pPr algn="ctr"/>
            <a:r>
              <a:rPr sz="1400" b="1">
                <a:solidFill>
                  <a:srgbClr val="FFFFFF"/>
                </a:solidFill>
                <a:latin typeface="Cambria"/>
              </a:rPr>
              <a:t>DÀNH CHO GV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74320"/>
            <a:ext cx="9436608" cy="8686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r>
              <a:rPr sz="3000" b="1">
                <a:solidFill>
                  <a:srgbClr val="1E40AF"/>
                </a:solidFill>
                <a:latin typeface="Cambria"/>
              </a:rPr>
              <a:t>PHỤ LỤC 2 – PHÂN HOÁ, DỰ PHÒNG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207008"/>
            <a:ext cx="11274552" cy="22000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6355080"/>
            <a:ext cx="11274552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64748B"/>
                </a:solidFill>
                <a:latin typeface="Calibri"/>
              </a:rPr>
              <a:t>Bài 2. Giá trị lớn nhất và giá trị nhỏ nhất của hàm số – Toán 12          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371600"/>
            <a:ext cx="11064240" cy="4846320"/>
          </a:xfrm>
          <a:prstGeom prst="rect">
            <a:avLst/>
          </a:prstGeom>
          <a:noFill/>
        </p:spPr>
        <p:txBody>
          <a:bodyPr wrap="square" anchor="t" lIns="45720" rIns="45720">
            <a:spAutoFit/>
          </a:bodyPr>
          <a:lstStyle/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cần hỗ trợ:</a:t>
            </a:r>
            <a:r>
              <a:rPr sz="2000">
                <a:solidFill>
                  <a:srgbClr val="1E293B"/>
                </a:solidFill>
                <a:latin typeface="Calibri"/>
              </a:rPr>
              <a:t> Ví dụ 4, Luyện tập 2a, Bài 1.12a, b theo 3 bước in sẵn.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HS khá, giỏi:</a:t>
            </a:r>
            <a:r>
              <a:rPr sz="2000">
                <a:solidFill>
                  <a:srgbClr val="1E293B"/>
                </a:solidFill>
                <a:latin typeface="Calibri"/>
              </a:rPr>
              <a:t> Bài 1.12c, d, 1.14, 1.15; dùng GeoGebra kiểm chứng.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12A2, 12A7 (khiếm thị):</a:t>
            </a:r>
            <a:r>
              <a:rPr sz="2000">
                <a:solidFill>
                  <a:srgbClr val="1E293B"/>
                </a:solidFill>
                <a:latin typeface="Calibri"/>
              </a:rPr>
              <a:t> GV đọc to các giá trị cần so sánh; </a:t>
            </a:r>
            <a:r>
              <a:rPr sz="2000" b="1">
                <a:solidFill>
                  <a:srgbClr val="1E293B"/>
                </a:solidFill>
                <a:latin typeface="Calibri"/>
              </a:rPr>
              <a:t>12A3, 12A5, 12A7 (vận động):</a:t>
            </a:r>
            <a:r>
              <a:rPr sz="2000">
                <a:solidFill>
                  <a:srgbClr val="1E293B"/>
                </a:solidFill>
                <a:latin typeface="Calibri"/>
              </a:rPr>
              <a:t> trả lời tại chỗ.</a:t>
            </a:r>
          </a:p>
          <a:p>
            <a:pPr algn="l" marL="365760" indent="-365760">
              <a:spcAft>
                <a:spcPts val="800"/>
              </a:spcAft>
              <a:buClr>
                <a:srgbClr val="1E40AF"/>
              </a:buClr>
              <a:buFont typeface="Arial"/>
              <a:buChar char="•"/>
            </a:pPr>
            <a:r>
              <a:rPr sz="2000" b="1">
                <a:solidFill>
                  <a:srgbClr val="1E293B"/>
                </a:solidFill>
                <a:latin typeface="Calibri"/>
              </a:rPr>
              <a:t>Mất điện/mạng:</a:t>
            </a:r>
            <a:r>
              <a:rPr sz="2000">
                <a:solidFill>
                  <a:srgbClr val="1E293B"/>
                </a:solidFill>
                <a:latin typeface="Calibri"/>
              </a:rPr>
              <a:t> KHBD in, tấm bìa và kéo để làm hộp thật (Ví dụ 3); máy tính cầm tay thay GeoGebra.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