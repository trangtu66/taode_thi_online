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322" r:id="rId74"/>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tính nhanh doanh thu với giá 100 và 90 nghìn đồng (đều 2 700 triệu đồng); ghi dự đoán, chưa công bố đáp án – giải ở Ví dụ 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trangtu66.github.io/Taode_thi_online/cc_bai5_t12.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15600" cy="1371600"/>
          </a:xfrm>
          <a:prstGeom prst="rect">
            <a:avLst/>
          </a:prstGeom>
          <a:noFill/>
        </p:spPr>
        <p:txBody>
          <a:bodyPr wrap="square">
            <a:spAutoFit/>
          </a:bodyPr>
          <a:lstStyle/>
          <a:p>
            <a:r>
              <a:rPr sz="4000" b="1">
                <a:solidFill>
                  <a:srgbClr val="1E40AF"/>
                </a:solidFill>
                <a:latin typeface="Arial"/>
              </a:rPr>
              <a:t>BÀI 5. ỨNG DỤNG ĐẠO HÀM ĐỂ GIẢI QUYẾT MỘT SỐ VẤN ĐỀ LIÊN QUAN ĐẾN THỰC TIỄN</a:t>
            </a:r>
          </a:p>
        </p:txBody>
      </p:sp>
      <p:sp>
        <p:nvSpPr>
          <p:cNvPr id="4" name="TextBox 3"/>
          <p:cNvSpPr txBox="1"/>
          <p:nvPr/>
        </p:nvSpPr>
        <p:spPr>
          <a:xfrm>
            <a:off x="822960" y="3291840"/>
            <a:ext cx="10515600" cy="822960"/>
          </a:xfrm>
          <a:prstGeom prst="rect">
            <a:avLst/>
          </a:prstGeom>
          <a:noFill/>
        </p:spPr>
        <p:txBody>
          <a:bodyPr wrap="square" anchor="t" lIns="45720" rIns="45720">
            <a:spAutoFit/>
          </a:bodyPr>
          <a:lstStyle/>
          <a:p>
            <a:pPr algn="l">
              <a:spcAft>
                <a:spcPts val="800"/>
              </a:spcAft>
            </a:pPr>
            <a:r>
              <a:rPr sz="2800" b="1">
                <a:solidFill>
                  <a:srgbClr val="1E293B"/>
                </a:solidFill>
                <a:latin typeface="Calibri"/>
              </a:rPr>
              <a:t>Chương I. Ứng dụng đạo hàm để khảo sát và vẽ đồ thị hàm số</a:t>
            </a:r>
          </a:p>
        </p:txBody>
      </p:sp>
      <p:sp>
        <p:nvSpPr>
          <p:cNvPr id="5" name="Rectangle 4"/>
          <p:cNvSpPr/>
          <p:nvPr/>
        </p:nvSpPr>
        <p:spPr>
          <a:xfrm>
            <a:off x="868680" y="4206240"/>
            <a:ext cx="2286000" cy="36576"/>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480559"/>
            <a:ext cx="10515600" cy="20116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Môn Toán – Lớp 12 (Kết nối tri thức với cuộc sống)</a:t>
            </a:r>
          </a:p>
          <a:p>
            <a:pPr algn="l">
              <a:spcAft>
                <a:spcPts val="800"/>
              </a:spcAft>
            </a:pPr>
            <a:r>
              <a:rPr sz="2200">
                <a:solidFill>
                  <a:srgbClr val="1E293B"/>
                </a:solidFill>
                <a:latin typeface="Calibri"/>
              </a:rPr>
              <a:t>Tiết 19, 20 theo PPCT · Năm học 2026 – 2027</a:t>
            </a:r>
          </a:p>
          <a:p>
            <a:pPr algn="l">
              <a:spcAft>
                <a:spcPts val="800"/>
              </a:spcAft>
            </a:pPr>
            <a:r>
              <a:rPr sz="2200">
                <a:solidFill>
                  <a:srgbClr val="1E293B"/>
                </a:solidFill>
                <a:latin typeface="Calibri"/>
              </a:rPr>
              <a:t>GV soạn: TTT – Trường THPT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MỤC TIÊU BÀI HỌC</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2</a:t>
            </a:r>
          </a:p>
        </p:txBody>
      </p:sp>
      <p:sp>
        <p:nvSpPr>
          <p:cNvPr id="6" name="TextBox 5"/>
          <p:cNvSpPr txBox="1"/>
          <p:nvPr/>
        </p:nvSpPr>
        <p:spPr>
          <a:xfrm>
            <a:off x="731520" y="1463040"/>
            <a:ext cx="10789920" cy="24201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Hiểu đạo hàm là </a:t>
            </a:r>
            <a:r>
              <a:rPr sz="2400" b="1">
                <a:solidFill>
                  <a:srgbClr val="1E293B"/>
                </a:solidFill>
                <a:latin typeface="Calibri"/>
              </a:rPr>
              <a:t>tốc độ thay đổi tức thời</a:t>
            </a:r>
            <a:r>
              <a:rPr sz="2400">
                <a:solidFill>
                  <a:srgbClr val="1E293B"/>
                </a:solidFill>
                <a:latin typeface="Calibri"/>
              </a:rPr>
              <a:t> của một đại lượng</a:t>
            </a:r>
          </a:p>
          <a:p>
            <a:pPr algn="l" marL="365760" indent="-365760">
              <a:spcAft>
                <a:spcPts val="800"/>
              </a:spcAft>
              <a:buClr>
                <a:srgbClr val="1E40AF"/>
              </a:buClr>
              <a:buFont typeface="Arial"/>
              <a:buChar char="•"/>
            </a:pPr>
            <a:r>
              <a:rPr sz="2400">
                <a:solidFill>
                  <a:srgbClr val="1E293B"/>
                </a:solidFill>
                <a:latin typeface="Calibri"/>
              </a:rPr>
              <a:t>Vận dụng: vận tốc, gia tốc, tốc độ phản ứng, tốc độ tăng trưởng, </a:t>
            </a:r>
            <a:r>
              <a:rPr sz="2400" b="1">
                <a:solidFill>
                  <a:srgbClr val="1E293B"/>
                </a:solidFill>
                <a:latin typeface="Calibri"/>
              </a:rPr>
              <a:t>chi phí biên</a:t>
            </a:r>
          </a:p>
          <a:p>
            <a:pPr algn="l" marL="365760" indent="-365760">
              <a:spcAft>
                <a:spcPts val="800"/>
              </a:spcAft>
              <a:buClr>
                <a:srgbClr val="1E40AF"/>
              </a:buClr>
              <a:buFont typeface="Arial"/>
              <a:buChar char="•"/>
            </a:pPr>
            <a:r>
              <a:rPr sz="2400">
                <a:solidFill>
                  <a:srgbClr val="1E293B"/>
                </a:solidFill>
                <a:latin typeface="Calibri"/>
              </a:rPr>
              <a:t>Nắm quy trình 3 bước giải </a:t>
            </a:r>
            <a:r>
              <a:rPr sz="2400" b="1">
                <a:solidFill>
                  <a:srgbClr val="1E293B"/>
                </a:solidFill>
                <a:latin typeface="Calibri"/>
              </a:rPr>
              <a:t>bài toán tối ưu hoá</a:t>
            </a:r>
          </a:p>
          <a:p>
            <a:pPr algn="l" marL="365760" indent="-365760">
              <a:spcAft>
                <a:spcPts val="800"/>
              </a:spcAft>
              <a:buClr>
                <a:srgbClr val="1E40AF"/>
              </a:buClr>
              <a:buFont typeface="Arial"/>
              <a:buChar char="•"/>
            </a:pPr>
            <a:r>
              <a:rPr sz="2400">
                <a:solidFill>
                  <a:srgbClr val="1E293B"/>
                </a:solidFill>
                <a:latin typeface="Calibri"/>
              </a:rPr>
              <a:t>Giải bài toán thực tế: thể tích, doanh thu, lợi nhuận, thời gian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600" b="1">
                <a:solidFill>
                  <a:srgbClr val="1E40AF"/>
                </a:solidFill>
                <a:latin typeface="Arial"/>
              </a:rPr>
              <a:t>KHỞI ĐỘNG: ĐẶT GIÁ VÉ THẾ NÀO?</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3</a:t>
            </a:r>
          </a:p>
        </p:txBody>
      </p:sp>
      <p:sp>
        <p:nvSpPr>
          <p:cNvPr id="7" name="TextBox 6"/>
          <p:cNvSpPr txBox="1"/>
          <p:nvPr/>
        </p:nvSpPr>
        <p:spPr>
          <a:xfrm>
            <a:off x="731520" y="1463040"/>
            <a:ext cx="10789920" cy="1925828"/>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đội bóng đá thi đấu trong một sân vận động có sức chứa 55 000 khán giả. Với giá mỗi vé là 100 nghìn đồng, số khán giả trung bình là 27 000 người. Qua thăm dò dư luận, người ta thấy rằng mỗi khi giá vé giảm thêm 10 nghìn đồng, sẽ có thêm khoảng 3 000 khán giả. Hỏi ban tổ chức nên đặt giá vé là bao nhiêu để doanh thu từ tiền bán vé là lớn nhất?</a:t>
            </a:r>
          </a:p>
        </p:txBody>
      </p:sp>
      <p:sp>
        <p:nvSpPr>
          <p:cNvPr id="8" name="Rounded Rectangle 7"/>
          <p:cNvSpPr/>
          <p:nvPr/>
        </p:nvSpPr>
        <p:spPr>
          <a:xfrm>
            <a:off x="731520" y="3526028"/>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526028"/>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Giảm giá vé thì doanh thu tăng hay giảm?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r>
              <a:rPr sz="3600" b="1">
                <a:solidFill>
                  <a:srgbClr val="1E40AF"/>
                </a:solidFill>
                <a:latin typeface="Arial"/>
              </a:rPr>
              <a:t>SƠ ĐỒ TƯ DUY BÀI HỌC</a:t>
            </a:r>
          </a:p>
        </p:txBody>
      </p:sp>
      <p:cxnSp>
        <p:nvCxnSpPr>
          <p:cNvPr id="3" name="Connector 2"/>
          <p:cNvCxnSpPr/>
          <p:nvPr/>
        </p:nvCxnSpPr>
        <p:spPr>
          <a:xfrm flipH="1" flipV="1">
            <a:off x="4349389" y="2423160"/>
            <a:ext cx="1746458" cy="1417320"/>
          </a:xfrm>
          <a:prstGeom prst="line">
            <a:avLst/>
          </a:prstGeom>
          <a:ln w="44450">
            <a:solidFill>
              <a:srgbClr val="A4133C"/>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flipV="1">
            <a:off x="3280007" y="1746138"/>
            <a:ext cx="1069382" cy="677022"/>
          </a:xfrm>
          <a:prstGeom prst="line">
            <a:avLst/>
          </a:prstGeom>
          <a:ln w="15875">
            <a:solidFill>
              <a:srgbClr val="8B0A2A"/>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632181" y="1396837"/>
            <a:ext cx="2647826" cy="698601"/>
          </a:xfrm>
          <a:prstGeom prst="ellipse">
            <a:avLst/>
          </a:prstGeom>
          <a:solidFill>
            <a:srgbClr val="FFF1F3"/>
          </a:solidFill>
          <a:ln w="15875">
            <a:solidFill>
              <a:srgbClr val="8B0A2A"/>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1">
                <a:solidFill>
                  <a:srgbClr val="8B0000"/>
                </a:solidFill>
                <a:latin typeface="Calibri"/>
              </a:rPr>
              <a:t>f'(a): tốc độ thay đổi</a:t>
            </a:r>
          </a:p>
          <a:p>
            <a:pPr algn="ctr"/>
            <a:r>
              <a:rPr sz="1200" b="1">
                <a:solidFill>
                  <a:srgbClr val="8B0000"/>
                </a:solidFill>
                <a:latin typeface="Calibri"/>
              </a:rPr>
              <a:t>tức thời</a:t>
            </a:r>
          </a:p>
        </p:txBody>
      </p:sp>
      <p:cxnSp>
        <p:nvCxnSpPr>
          <p:cNvPr id="6" name="Connector 5"/>
          <p:cNvCxnSpPr/>
          <p:nvPr/>
        </p:nvCxnSpPr>
        <p:spPr>
          <a:xfrm flipH="1" flipV="1">
            <a:off x="3089812" y="2343790"/>
            <a:ext cx="1259577" cy="79370"/>
          </a:xfrm>
          <a:prstGeom prst="line">
            <a:avLst/>
          </a:prstGeom>
          <a:ln w="15875">
            <a:solidFill>
              <a:srgbClr val="8B0A2A"/>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822376" y="2140793"/>
            <a:ext cx="2267435" cy="405993"/>
          </a:xfrm>
          <a:prstGeom prst="ellipse">
            <a:avLst/>
          </a:prstGeom>
          <a:solidFill>
            <a:srgbClr val="FFF1F3"/>
          </a:solidFill>
          <a:ln w="15875">
            <a:solidFill>
              <a:srgbClr val="8B0A2A"/>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v = s'(t), a = v'(t)</a:t>
            </a:r>
          </a:p>
        </p:txBody>
      </p:sp>
      <p:cxnSp>
        <p:nvCxnSpPr>
          <p:cNvPr id="8" name="Connector 7"/>
          <p:cNvCxnSpPr/>
          <p:nvPr/>
        </p:nvCxnSpPr>
        <p:spPr>
          <a:xfrm flipH="1">
            <a:off x="3141323" y="2423160"/>
            <a:ext cx="1208066" cy="371977"/>
          </a:xfrm>
          <a:prstGeom prst="line">
            <a:avLst/>
          </a:prstGeom>
          <a:ln w="15875">
            <a:solidFill>
              <a:srgbClr val="8B0A2A"/>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770865" y="2592141"/>
            <a:ext cx="2370458" cy="405993"/>
          </a:xfrm>
          <a:prstGeom prst="ellipse">
            <a:avLst/>
          </a:prstGeom>
          <a:solidFill>
            <a:srgbClr val="FFF1F3"/>
          </a:solidFill>
          <a:ln w="15875">
            <a:solidFill>
              <a:srgbClr val="8B0A2A"/>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Tốc độ phản ứng C'(t)</a:t>
            </a:r>
          </a:p>
        </p:txBody>
      </p:sp>
      <p:cxnSp>
        <p:nvCxnSpPr>
          <p:cNvPr id="10" name="Connector 9"/>
          <p:cNvCxnSpPr/>
          <p:nvPr/>
        </p:nvCxnSpPr>
        <p:spPr>
          <a:xfrm flipH="1">
            <a:off x="3295857" y="2423160"/>
            <a:ext cx="1053532" cy="823325"/>
          </a:xfrm>
          <a:prstGeom prst="line">
            <a:avLst/>
          </a:prstGeom>
          <a:ln w="15875">
            <a:solidFill>
              <a:srgbClr val="8B0A2A"/>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616331" y="3043488"/>
            <a:ext cx="2679525" cy="405993"/>
          </a:xfrm>
          <a:prstGeom prst="ellipse">
            <a:avLst/>
          </a:prstGeom>
          <a:solidFill>
            <a:srgbClr val="FFF1F3"/>
          </a:solidFill>
          <a:ln w="15875">
            <a:solidFill>
              <a:srgbClr val="8B0A2A"/>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Tốc độ tăng trưởng P'(t)</a:t>
            </a:r>
          </a:p>
        </p:txBody>
      </p:sp>
      <p:sp>
        <p:nvSpPr>
          <p:cNvPr id="12" name="Oval 11"/>
          <p:cNvSpPr/>
          <p:nvPr/>
        </p:nvSpPr>
        <p:spPr>
          <a:xfrm>
            <a:off x="3205765" y="2183587"/>
            <a:ext cx="2287247" cy="479145"/>
          </a:xfrm>
          <a:prstGeom prst="ellipse">
            <a:avLst/>
          </a:prstGeom>
          <a:gradFill rotWithShape="1">
            <a:gsLst>
              <a:gs pos="0">
                <a:srgbClr val="A4133C"/>
              </a:gs>
              <a:gs pos="100000">
                <a:srgbClr val="5C0017"/>
              </a:gs>
            </a:gsLst>
            <a:lin scaled="0" ang="16200000"/>
          </a:gradFill>
          <a:ln w="285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500" b="1">
                <a:solidFill>
                  <a:srgbClr val="FFFFFF"/>
                </a:solidFill>
                <a:latin typeface="Calibri"/>
              </a:rPr>
              <a:t>Tốc độ thay đổi</a:t>
            </a:r>
          </a:p>
        </p:txBody>
      </p:sp>
      <p:cxnSp>
        <p:nvCxnSpPr>
          <p:cNvPr id="13" name="Connector 12"/>
          <p:cNvCxnSpPr/>
          <p:nvPr/>
        </p:nvCxnSpPr>
        <p:spPr>
          <a:xfrm flipV="1">
            <a:off x="6095847" y="2423160"/>
            <a:ext cx="1746458" cy="1417320"/>
          </a:xfrm>
          <a:prstGeom prst="line">
            <a:avLst/>
          </a:prstGeom>
          <a:ln w="44450">
            <a:solidFill>
              <a:srgbClr val="0B3D9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7842305" y="1453530"/>
            <a:ext cx="1291276" cy="969630"/>
          </a:xfrm>
          <a:prstGeom prst="line">
            <a:avLst/>
          </a:prstGeom>
          <a:ln w="15875">
            <a:solidFill>
              <a:srgbClr val="0B3D91"/>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9133581" y="1250533"/>
            <a:ext cx="2204037" cy="405993"/>
          </a:xfrm>
          <a:prstGeom prst="ellipse">
            <a:avLst/>
          </a:prstGeom>
          <a:solidFill>
            <a:srgbClr val="EEF3FC"/>
          </a:solidFill>
          <a:ln w="15875">
            <a:solidFill>
              <a:srgbClr val="0B3D91"/>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1">
                <a:solidFill>
                  <a:srgbClr val="8B0000"/>
                </a:solidFill>
                <a:latin typeface="Calibri"/>
              </a:rPr>
              <a:t>Chi phí biên C'(x)</a:t>
            </a:r>
          </a:p>
        </p:txBody>
      </p:sp>
      <p:cxnSp>
        <p:nvCxnSpPr>
          <p:cNvPr id="16" name="Connector 15"/>
          <p:cNvCxnSpPr/>
          <p:nvPr/>
        </p:nvCxnSpPr>
        <p:spPr>
          <a:xfrm flipV="1">
            <a:off x="7842305" y="1904878"/>
            <a:ext cx="1259577" cy="518282"/>
          </a:xfrm>
          <a:prstGeom prst="line">
            <a:avLst/>
          </a:prstGeom>
          <a:ln w="15875">
            <a:solidFill>
              <a:srgbClr val="0B3D91"/>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9101882" y="1701881"/>
            <a:ext cx="2267435" cy="405993"/>
          </a:xfrm>
          <a:prstGeom prst="ellipse">
            <a:avLst/>
          </a:prstGeom>
          <a:solidFill>
            <a:srgbClr val="EEF3FC"/>
          </a:solidFill>
          <a:ln w="15875">
            <a:solidFill>
              <a:srgbClr val="0B3D91"/>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Doanh thu R = x·p(x)</a:t>
            </a:r>
          </a:p>
        </p:txBody>
      </p:sp>
      <p:cxnSp>
        <p:nvCxnSpPr>
          <p:cNvPr id="18" name="Connector 17"/>
          <p:cNvCxnSpPr/>
          <p:nvPr/>
        </p:nvCxnSpPr>
        <p:spPr>
          <a:xfrm>
            <a:off x="7842305" y="2423160"/>
            <a:ext cx="1414111" cy="79369"/>
          </a:xfrm>
          <a:prstGeom prst="line">
            <a:avLst/>
          </a:prstGeom>
          <a:ln w="15875">
            <a:solidFill>
              <a:srgbClr val="0B3D91"/>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256416" y="2153229"/>
            <a:ext cx="1958368" cy="698601"/>
          </a:xfrm>
          <a:prstGeom prst="ellipse">
            <a:avLst/>
          </a:prstGeom>
          <a:solidFill>
            <a:srgbClr val="EEF3FC"/>
          </a:solidFill>
          <a:ln w="15875">
            <a:solidFill>
              <a:srgbClr val="0B3D91"/>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Lợi nhuận P = R –</a:t>
            </a:r>
          </a:p>
          <a:p>
            <a:pPr algn="ctr"/>
            <a:r>
              <a:rPr sz="1200" b="0">
                <a:solidFill>
                  <a:srgbClr val="0F172A"/>
                </a:solidFill>
                <a:latin typeface="Calibri"/>
              </a:rPr>
              <a:t>C</a:t>
            </a:r>
          </a:p>
        </p:txBody>
      </p:sp>
      <p:cxnSp>
        <p:nvCxnSpPr>
          <p:cNvPr id="20" name="Connector 19"/>
          <p:cNvCxnSpPr/>
          <p:nvPr/>
        </p:nvCxnSpPr>
        <p:spPr>
          <a:xfrm>
            <a:off x="7842305" y="2423160"/>
            <a:ext cx="1156555" cy="823325"/>
          </a:xfrm>
          <a:prstGeom prst="line">
            <a:avLst/>
          </a:prstGeom>
          <a:ln w="15875">
            <a:solidFill>
              <a:srgbClr val="0B3D91"/>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8998860" y="2897184"/>
            <a:ext cx="2473480" cy="698601"/>
          </a:xfrm>
          <a:prstGeom prst="ellipse">
            <a:avLst/>
          </a:prstGeom>
          <a:solidFill>
            <a:srgbClr val="EEF3FC"/>
          </a:solidFill>
          <a:ln w="15875">
            <a:solidFill>
              <a:srgbClr val="0B3D91"/>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C'(x) ≈ chi phí đơn vị</a:t>
            </a:r>
          </a:p>
          <a:p>
            <a:pPr algn="ctr"/>
            <a:r>
              <a:rPr sz="1200" b="0">
                <a:solidFill>
                  <a:srgbClr val="0F172A"/>
                </a:solidFill>
                <a:latin typeface="Calibri"/>
              </a:rPr>
              <a:t>thứ x+1</a:t>
            </a:r>
          </a:p>
        </p:txBody>
      </p:sp>
      <p:sp>
        <p:nvSpPr>
          <p:cNvPr id="22" name="Oval 21"/>
          <p:cNvSpPr/>
          <p:nvPr/>
        </p:nvSpPr>
        <p:spPr>
          <a:xfrm>
            <a:off x="7253417" y="2183587"/>
            <a:ext cx="1177775" cy="479145"/>
          </a:xfrm>
          <a:prstGeom prst="ellipse">
            <a:avLst/>
          </a:prstGeom>
          <a:gradFill rotWithShape="1">
            <a:gsLst>
              <a:gs pos="0">
                <a:srgbClr val="0B3D91"/>
              </a:gs>
              <a:gs pos="100000">
                <a:srgbClr val="001233"/>
              </a:gs>
            </a:gsLst>
            <a:lin scaled="0" ang="16200000"/>
          </a:gradFill>
          <a:ln w="285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500" b="1">
                <a:solidFill>
                  <a:srgbClr val="FFFFFF"/>
                </a:solidFill>
                <a:latin typeface="Calibri"/>
              </a:rPr>
              <a:t>Kinh tế</a:t>
            </a:r>
          </a:p>
        </p:txBody>
      </p:sp>
      <p:cxnSp>
        <p:nvCxnSpPr>
          <p:cNvPr id="23" name="Connector 22"/>
          <p:cNvCxnSpPr/>
          <p:nvPr/>
        </p:nvCxnSpPr>
        <p:spPr>
          <a:xfrm flipH="1">
            <a:off x="4349389" y="3840480"/>
            <a:ext cx="1746458" cy="1417320"/>
          </a:xfrm>
          <a:prstGeom prst="line">
            <a:avLst/>
          </a:prstGeom>
          <a:ln w="44450">
            <a:solidFill>
              <a:srgbClr val="A4133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3089812" y="4580778"/>
            <a:ext cx="1259577" cy="677022"/>
          </a:xfrm>
          <a:prstGeom prst="line">
            <a:avLst/>
          </a:prstGeom>
          <a:ln w="15875">
            <a:solidFill>
              <a:srgbClr val="8B0A2A"/>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22376" y="4377781"/>
            <a:ext cx="2267435" cy="405993"/>
          </a:xfrm>
          <a:prstGeom prst="ellipse">
            <a:avLst/>
          </a:prstGeom>
          <a:solidFill>
            <a:srgbClr val="FFF1F3"/>
          </a:solidFill>
          <a:ln w="15875">
            <a:solidFill>
              <a:srgbClr val="8B0A2A"/>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B1: chọn đại lượng Q</a:t>
            </a:r>
          </a:p>
        </p:txBody>
      </p:sp>
      <p:cxnSp>
        <p:nvCxnSpPr>
          <p:cNvPr id="26" name="Connector 25"/>
          <p:cNvCxnSpPr/>
          <p:nvPr/>
        </p:nvCxnSpPr>
        <p:spPr>
          <a:xfrm flipH="1" flipV="1">
            <a:off x="3141323" y="5032126"/>
            <a:ext cx="1208066" cy="225674"/>
          </a:xfrm>
          <a:prstGeom prst="line">
            <a:avLst/>
          </a:prstGeom>
          <a:ln w="15875">
            <a:solidFill>
              <a:srgbClr val="8B0A2A"/>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770865" y="4829129"/>
            <a:ext cx="2370458" cy="405993"/>
          </a:xfrm>
          <a:prstGeom prst="ellipse">
            <a:avLst/>
          </a:prstGeom>
          <a:solidFill>
            <a:srgbClr val="FFF1F3"/>
          </a:solidFill>
          <a:ln w="15875">
            <a:solidFill>
              <a:srgbClr val="8B0A2A"/>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B2: Q = Q(x), tìm TXĐ</a:t>
            </a:r>
          </a:p>
        </p:txBody>
      </p:sp>
      <p:cxnSp>
        <p:nvCxnSpPr>
          <p:cNvPr id="28" name="Connector 27"/>
          <p:cNvCxnSpPr/>
          <p:nvPr/>
        </p:nvCxnSpPr>
        <p:spPr>
          <a:xfrm flipH="1">
            <a:off x="3335481" y="5257800"/>
            <a:ext cx="1013908" cy="225673"/>
          </a:xfrm>
          <a:prstGeom prst="line">
            <a:avLst/>
          </a:prstGeom>
          <a:ln w="15875">
            <a:solidFill>
              <a:srgbClr val="8B0A2A"/>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576707" y="5280477"/>
            <a:ext cx="2758773" cy="405993"/>
          </a:xfrm>
          <a:prstGeom prst="ellipse">
            <a:avLst/>
          </a:prstGeom>
          <a:solidFill>
            <a:srgbClr val="FFF1F3"/>
          </a:solidFill>
          <a:ln w="15875">
            <a:solidFill>
              <a:srgbClr val="8B0A2A"/>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1">
                <a:solidFill>
                  <a:srgbClr val="8B0000"/>
                </a:solidFill>
                <a:latin typeface="Calibri"/>
              </a:rPr>
              <a:t>B3: tìm GTLN/GTNN của Q</a:t>
            </a:r>
          </a:p>
        </p:txBody>
      </p:sp>
      <p:cxnSp>
        <p:nvCxnSpPr>
          <p:cNvPr id="30" name="Connector 29"/>
          <p:cNvCxnSpPr/>
          <p:nvPr/>
        </p:nvCxnSpPr>
        <p:spPr>
          <a:xfrm flipH="1">
            <a:off x="3141323" y="5257800"/>
            <a:ext cx="1208066" cy="677021"/>
          </a:xfrm>
          <a:prstGeom prst="line">
            <a:avLst/>
          </a:prstGeom>
          <a:ln w="15875">
            <a:solidFill>
              <a:srgbClr val="8B0A2A"/>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770865" y="5731824"/>
            <a:ext cx="2370458" cy="405993"/>
          </a:xfrm>
          <a:prstGeom prst="ellipse">
            <a:avLst/>
          </a:prstGeom>
          <a:solidFill>
            <a:srgbClr val="FFF1F3"/>
          </a:solidFill>
          <a:ln w="15875">
            <a:solidFill>
              <a:srgbClr val="8B0A2A"/>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Kết luận theo thực tế</a:t>
            </a:r>
          </a:p>
        </p:txBody>
      </p:sp>
      <p:sp>
        <p:nvSpPr>
          <p:cNvPr id="32" name="Oval 31"/>
          <p:cNvSpPr/>
          <p:nvPr/>
        </p:nvSpPr>
        <p:spPr>
          <a:xfrm>
            <a:off x="3205765" y="4835347"/>
            <a:ext cx="2287247" cy="844905"/>
          </a:xfrm>
          <a:prstGeom prst="ellipse">
            <a:avLst/>
          </a:prstGeom>
          <a:gradFill rotWithShape="1">
            <a:gsLst>
              <a:gs pos="0">
                <a:srgbClr val="A4133C"/>
              </a:gs>
              <a:gs pos="100000">
                <a:srgbClr val="5C0017"/>
              </a:gs>
            </a:gsLst>
            <a:lin scaled="0" ang="16200000"/>
          </a:gradFill>
          <a:ln w="285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500" b="1">
                <a:solidFill>
                  <a:srgbClr val="FFFFFF"/>
                </a:solidFill>
                <a:latin typeface="Calibri"/>
              </a:rPr>
              <a:t>Bài toán tối ưu</a:t>
            </a:r>
          </a:p>
          <a:p>
            <a:pPr algn="ctr"/>
            <a:r>
              <a:rPr sz="1500" b="1">
                <a:solidFill>
                  <a:srgbClr val="FFFFFF"/>
                </a:solidFill>
                <a:latin typeface="Calibri"/>
              </a:rPr>
              <a:t>hoá</a:t>
            </a:r>
          </a:p>
        </p:txBody>
      </p:sp>
      <p:cxnSp>
        <p:nvCxnSpPr>
          <p:cNvPr id="33" name="Connector 32"/>
          <p:cNvCxnSpPr/>
          <p:nvPr/>
        </p:nvCxnSpPr>
        <p:spPr>
          <a:xfrm>
            <a:off x="6095847" y="3840480"/>
            <a:ext cx="1746458" cy="1417320"/>
          </a:xfrm>
          <a:prstGeom prst="line">
            <a:avLst/>
          </a:prstGeom>
          <a:ln w="44450">
            <a:solidFill>
              <a:srgbClr val="0B3D91"/>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842305" y="4434474"/>
            <a:ext cx="1259577" cy="823326"/>
          </a:xfrm>
          <a:prstGeom prst="line">
            <a:avLst/>
          </a:prstGeom>
          <a:ln w="15875">
            <a:solidFill>
              <a:srgbClr val="0B3D91"/>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9101882" y="4085173"/>
            <a:ext cx="2267435" cy="698601"/>
          </a:xfrm>
          <a:prstGeom prst="ellipse">
            <a:avLst/>
          </a:prstGeom>
          <a:solidFill>
            <a:srgbClr val="EEF3FC"/>
          </a:solidFill>
          <a:ln w="15875">
            <a:solidFill>
              <a:srgbClr val="0B3D91"/>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Hộp trụ 1 lít tốn ít</a:t>
            </a:r>
          </a:p>
          <a:p>
            <a:pPr algn="ctr"/>
            <a:r>
              <a:rPr sz="1200" b="0">
                <a:solidFill>
                  <a:srgbClr val="0F172A"/>
                </a:solidFill>
                <a:latin typeface="Calibri"/>
              </a:rPr>
              <a:t>vật liệu nhất</a:t>
            </a:r>
          </a:p>
        </p:txBody>
      </p:sp>
      <p:cxnSp>
        <p:nvCxnSpPr>
          <p:cNvPr id="36" name="Connector 35"/>
          <p:cNvCxnSpPr/>
          <p:nvPr/>
        </p:nvCxnSpPr>
        <p:spPr>
          <a:xfrm flipV="1">
            <a:off x="7842305" y="5032126"/>
            <a:ext cx="1259577" cy="225674"/>
          </a:xfrm>
          <a:prstGeom prst="line">
            <a:avLst/>
          </a:prstGeom>
          <a:ln w="15875">
            <a:solidFill>
              <a:srgbClr val="0B3D91"/>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9101882" y="4829129"/>
            <a:ext cx="2267435" cy="405993"/>
          </a:xfrm>
          <a:prstGeom prst="ellipse">
            <a:avLst/>
          </a:prstGeom>
          <a:solidFill>
            <a:srgbClr val="EEF3FC"/>
          </a:solidFill>
          <a:ln w="15875">
            <a:solidFill>
              <a:srgbClr val="0B3D91"/>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Giá vé 95 nghìn đồng</a:t>
            </a:r>
          </a:p>
        </p:txBody>
      </p:sp>
      <p:cxnSp>
        <p:nvCxnSpPr>
          <p:cNvPr id="38" name="Connector 37"/>
          <p:cNvCxnSpPr/>
          <p:nvPr/>
        </p:nvCxnSpPr>
        <p:spPr>
          <a:xfrm>
            <a:off x="7842305" y="5257800"/>
            <a:ext cx="1156555" cy="225673"/>
          </a:xfrm>
          <a:prstGeom prst="line">
            <a:avLst/>
          </a:prstGeom>
          <a:ln w="15875">
            <a:solidFill>
              <a:srgbClr val="0B3D91"/>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8998860" y="5280477"/>
            <a:ext cx="2473480" cy="405993"/>
          </a:xfrm>
          <a:prstGeom prst="ellipse">
            <a:avLst/>
          </a:prstGeom>
          <a:solidFill>
            <a:srgbClr val="EEF3FC"/>
          </a:solidFill>
          <a:ln w="15875">
            <a:solidFill>
              <a:srgbClr val="0B3D91"/>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Chèo thuyền nhanh nhất</a:t>
            </a:r>
          </a:p>
        </p:txBody>
      </p:sp>
      <p:cxnSp>
        <p:nvCxnSpPr>
          <p:cNvPr id="40" name="Connector 39"/>
          <p:cNvCxnSpPr/>
          <p:nvPr/>
        </p:nvCxnSpPr>
        <p:spPr>
          <a:xfrm>
            <a:off x="7842305" y="5257800"/>
            <a:ext cx="1105043" cy="823325"/>
          </a:xfrm>
          <a:prstGeom prst="line">
            <a:avLst/>
          </a:prstGeom>
          <a:ln w="15875">
            <a:solidFill>
              <a:srgbClr val="0B3D91"/>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8947348" y="5731824"/>
            <a:ext cx="2576502" cy="698601"/>
          </a:xfrm>
          <a:prstGeom prst="ellipse">
            <a:avLst/>
          </a:prstGeom>
          <a:solidFill>
            <a:srgbClr val="EEF3FC"/>
          </a:solidFill>
          <a:ln w="15875">
            <a:solidFill>
              <a:srgbClr val="0B3D91"/>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Lợi nhuận cà phê, chung</a:t>
            </a:r>
          </a:p>
          <a:p>
            <a:pPr algn="ctr"/>
            <a:r>
              <a:rPr sz="1200" b="0">
                <a:solidFill>
                  <a:srgbClr val="0F172A"/>
                </a:solidFill>
                <a:latin typeface="Calibri"/>
              </a:rPr>
              <a:t>cư</a:t>
            </a:r>
          </a:p>
        </p:txBody>
      </p:sp>
      <p:sp>
        <p:nvSpPr>
          <p:cNvPr id="42" name="Oval 41"/>
          <p:cNvSpPr/>
          <p:nvPr/>
        </p:nvSpPr>
        <p:spPr>
          <a:xfrm>
            <a:off x="7114733" y="5018227"/>
            <a:ext cx="1455143" cy="479145"/>
          </a:xfrm>
          <a:prstGeom prst="ellipse">
            <a:avLst/>
          </a:prstGeom>
          <a:gradFill rotWithShape="1">
            <a:gsLst>
              <a:gs pos="0">
                <a:srgbClr val="0B3D91"/>
              </a:gs>
              <a:gs pos="100000">
                <a:srgbClr val="001233"/>
              </a:gs>
            </a:gsLst>
            <a:lin scaled="0" ang="16200000"/>
          </a:gradFill>
          <a:ln w="285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500" b="1">
                <a:solidFill>
                  <a:srgbClr val="FFFFFF"/>
                </a:solidFill>
                <a:latin typeface="Calibri"/>
              </a:rPr>
              <a:t>Thực tiễn</a:t>
            </a:r>
          </a:p>
        </p:txBody>
      </p:sp>
      <p:sp>
        <p:nvSpPr>
          <p:cNvPr id="43" name="Oval 42"/>
          <p:cNvSpPr/>
          <p:nvPr/>
        </p:nvSpPr>
        <p:spPr>
          <a:xfrm>
            <a:off x="4892127" y="3369259"/>
            <a:ext cx="2407440" cy="942441"/>
          </a:xfrm>
          <a:prstGeom prst="ellipse">
            <a:avLst/>
          </a:prstGeom>
          <a:gradFill rotWithShape="1">
            <a:gsLst>
              <a:gs pos="0">
                <a:srgbClr val="0B3D91"/>
              </a:gs>
              <a:gs pos="100000">
                <a:srgbClr val="001233"/>
              </a:gs>
            </a:gsLst>
            <a:lin scaled="0" ang="16200000"/>
          </a:gradFill>
          <a:ln w="3175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700" b="1">
                <a:solidFill>
                  <a:srgbClr val="FFFFFF"/>
                </a:solidFill>
                <a:latin typeface="Calibri"/>
              </a:rPr>
              <a:t>BÀI 5 ỨNG DỤNG</a:t>
            </a:r>
          </a:p>
          <a:p>
            <a:pPr algn="ctr"/>
            <a:r>
              <a:rPr sz="1700" b="1">
                <a:solidFill>
                  <a:srgbClr val="FFFFFF"/>
                </a:solidFill>
                <a:latin typeface="Calibri"/>
              </a:rPr>
              <a:t>ĐẠO HÀM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1. TỐC ĐỘ THAY ĐỔI</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TỐC ĐỘ THAY ĐỔI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5</a:t>
            </a:r>
          </a:p>
        </p:txBody>
      </p:sp>
      <p:sp>
        <p:nvSpPr>
          <p:cNvPr id="7" name="Rounded Rectangle 6"/>
          <p:cNvSpPr/>
          <p:nvPr/>
        </p:nvSpPr>
        <p:spPr>
          <a:xfrm>
            <a:off x="731520" y="1463040"/>
            <a:ext cx="9601200" cy="190881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190881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Giả sử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y=f(x)</m:t>
                    </m:r>
                  </m:oMath>
                </a14:m>
                <a:r>
                  <a:rPr sz="2200" b="1">
                    <a:solidFill>
                      <a:srgbClr val="991B1B"/>
                    </a:solidFill>
                    <a:latin typeface="Calibri"/>
                  </a:rPr>
                  <a:t>. Nếu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x</m:t>
                    </m:r>
                  </m:oMath>
                </a14:m>
                <a:r>
                  <a:rPr sz="2200" b="1">
                    <a:solidFill>
                      <a:srgbClr val="991B1B"/>
                    </a:solidFill>
                    <a:latin typeface="Calibri"/>
                  </a:rPr>
                  <a:t> thay đổi từ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1">
                            <a:solidFill>
                              <a:srgbClr val="991B1B"/>
                            </a:solidFill>
                            <a:latin typeface="Cambria Math" panose="02040503050406030204" pitchFamily="18" charset="0"/>
                          </a:rPr>
                          <m:t>x</m:t>
                        </m:r>
                      </m:e>
                      <m:sub>
                        <m:r>
                          <a:rPr lang="vi-VN" sz="2200" b="1">
                            <a:solidFill>
                              <a:srgbClr val="991B1B"/>
                            </a:solidFill>
                            <a:latin typeface="Cambria Math" panose="02040503050406030204" pitchFamily="18" charset="0"/>
                          </a:rPr>
                          <m:t>1</m:t>
                        </m:r>
                      </m:sub>
                    </m:sSub>
                  </m:oMath>
                </a14:m>
                <a:r>
                  <a:rPr sz="2200" b="1">
                    <a:solidFill>
                      <a:srgbClr val="991B1B"/>
                    </a:solidFill>
                    <a:latin typeface="Calibri"/>
                  </a:rPr>
                  <a:t> đến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1">
                            <a:solidFill>
                              <a:srgbClr val="991B1B"/>
                            </a:solidFill>
                            <a:latin typeface="Cambria Math" panose="02040503050406030204" pitchFamily="18" charset="0"/>
                          </a:rPr>
                          <m:t>x</m:t>
                        </m:r>
                      </m:e>
                      <m:sub>
                        <m:r>
                          <a:rPr lang="vi-VN" sz="2200" b="1">
                            <a:solidFill>
                              <a:srgbClr val="991B1B"/>
                            </a:solidFill>
                            <a:latin typeface="Cambria Math" panose="02040503050406030204" pitchFamily="18" charset="0"/>
                          </a:rPr>
                          <m:t>2</m:t>
                        </m:r>
                      </m:sub>
                    </m:sSub>
                  </m:oMath>
                </a14:m>
                <a:r>
                  <a:rPr sz="2200" b="1">
                    <a:solidFill>
                      <a:srgbClr val="991B1B"/>
                    </a:solidFill>
                    <a:latin typeface="Calibri"/>
                  </a:rPr>
                  <a:t> thì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Δx=</m:t>
                    </m:r>
                    <m:sSub>
                      <m:e>
                        <m:r>
                          <a:rPr lang="vi-VN" sz="2200" b="1">
                            <a:solidFill>
                              <a:srgbClr val="991B1B"/>
                            </a:solidFill>
                            <a:latin typeface="Cambria Math" panose="02040503050406030204" pitchFamily="18" charset="0"/>
                          </a:rPr>
                          <m:t>x</m:t>
                        </m:r>
                      </m:e>
                      <m:sub>
                        <m:r>
                          <a:rPr lang="vi-VN" sz="2200" b="1">
                            <a:solidFill>
                              <a:srgbClr val="991B1B"/>
                            </a:solidFill>
                            <a:latin typeface="Cambria Math" panose="02040503050406030204" pitchFamily="18" charset="0"/>
                          </a:rPr>
                          <m:t>2</m:t>
                        </m:r>
                      </m:sub>
                    </m:sSub>
                    <m:r>
                      <a:rPr lang="vi-VN" sz="2200" b="1">
                        <a:solidFill>
                          <a:srgbClr val="991B1B"/>
                        </a:solidFill>
                        <a:latin typeface="Cambria Math" panose="02040503050406030204" pitchFamily="18" charset="0"/>
                      </a:rPr>
                      <m:t>−</m:t>
                    </m:r>
                    <m:sSub>
                      <m:e>
                        <m:r>
                          <a:rPr lang="vi-VN" sz="2200" b="1">
                            <a:solidFill>
                              <a:srgbClr val="991B1B"/>
                            </a:solidFill>
                            <a:latin typeface="Cambria Math" panose="02040503050406030204" pitchFamily="18" charset="0"/>
                          </a:rPr>
                          <m:t>x</m:t>
                        </m:r>
                      </m:e>
                      <m:sub>
                        <m:r>
                          <a:rPr lang="vi-VN" sz="2200" b="1">
                            <a:solidFill>
                              <a:srgbClr val="991B1B"/>
                            </a:solidFill>
                            <a:latin typeface="Cambria Math" panose="02040503050406030204" pitchFamily="18" charset="0"/>
                          </a:rPr>
                          <m:t>1</m:t>
                        </m:r>
                      </m:sub>
                    </m:sSub>
                  </m:oMath>
                </a14:m>
                <a:r>
                  <a:rPr sz="2200" b="1">
                    <a:solidFill>
                      <a:srgbClr val="991B1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Δy=f(</m:t>
                    </m:r>
                    <m:sSub>
                      <m:e>
                        <m:r>
                          <a:rPr lang="vi-VN" sz="2200" b="1">
                            <a:solidFill>
                              <a:srgbClr val="991B1B"/>
                            </a:solidFill>
                            <a:latin typeface="Cambria Math" panose="02040503050406030204" pitchFamily="18" charset="0"/>
                          </a:rPr>
                          <m:t>x</m:t>
                        </m:r>
                      </m:e>
                      <m:sub>
                        <m:r>
                          <a:rPr lang="vi-VN" sz="2200" b="1">
                            <a:solidFill>
                              <a:srgbClr val="991B1B"/>
                            </a:solidFill>
                            <a:latin typeface="Cambria Math" panose="02040503050406030204" pitchFamily="18" charset="0"/>
                          </a:rPr>
                          <m:t>2</m:t>
                        </m:r>
                      </m:sub>
                    </m:sSub>
                    <m:r>
                      <a:rPr lang="vi-VN" sz="2200" b="1">
                        <a:solidFill>
                          <a:srgbClr val="991B1B"/>
                        </a:solidFill>
                        <a:latin typeface="Cambria Math" panose="02040503050406030204" pitchFamily="18" charset="0"/>
                      </a:rPr>
                      <m:t>)−f(</m:t>
                    </m:r>
                    <m:sSub>
                      <m:e>
                        <m:r>
                          <a:rPr lang="vi-VN" sz="2200" b="1">
                            <a:solidFill>
                              <a:srgbClr val="991B1B"/>
                            </a:solidFill>
                            <a:latin typeface="Cambria Math" panose="02040503050406030204" pitchFamily="18" charset="0"/>
                          </a:rPr>
                          <m:t>x</m:t>
                        </m:r>
                      </m:e>
                      <m:sub>
                        <m:r>
                          <a:rPr lang="vi-VN" sz="2200" b="1">
                            <a:solidFill>
                              <a:srgbClr val="991B1B"/>
                            </a:solidFill>
                            <a:latin typeface="Cambria Math" panose="02040503050406030204" pitchFamily="18" charset="0"/>
                          </a:rPr>
                          <m:t>1</m:t>
                        </m:r>
                      </m:sub>
                    </m:sSub>
                    <m:r>
                      <a:rPr lang="vi-VN" sz="2200" b="1">
                        <a:solidFill>
                          <a:srgbClr val="991B1B"/>
                        </a:solidFill>
                        <a:latin typeface="Cambria Math" panose="02040503050406030204" pitchFamily="18" charset="0"/>
                      </a:rPr>
                      <m:t>)</m:t>
                    </m:r>
                  </m:oMath>
                </a14:m>
                <a:r>
                  <a:rPr sz="2200" b="1">
                    <a:solidFill>
                      <a:srgbClr val="991B1B"/>
                    </a:solidFill>
                    <a:latin typeface="Calibri"/>
                  </a:rPr>
                  <a:t>. Tỉ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f>
                      <m:fPr>
                        <m:type m:val="bar"/>
                      </m:fPr>
                      <m:num>
                        <m:r>
                          <a:rPr lang="vi-VN" sz="2200" b="1">
                            <a:solidFill>
                              <a:srgbClr val="991B1B"/>
                            </a:solidFill>
                            <a:latin typeface="Cambria Math" panose="02040503050406030204" pitchFamily="18" charset="0"/>
                          </a:rPr>
                          <m:t>Δy</m:t>
                        </m:r>
                      </m:num>
                      <m:den>
                        <m:r>
                          <a:rPr lang="vi-VN" sz="2200" b="1">
                            <a:solidFill>
                              <a:srgbClr val="991B1B"/>
                            </a:solidFill>
                            <a:latin typeface="Cambria Math" panose="02040503050406030204" pitchFamily="18" charset="0"/>
                          </a:rPr>
                          <m:t>Δx</m:t>
                        </m:r>
                      </m:den>
                    </m:f>
                    <m:r>
                      <a:rPr lang="vi-VN" sz="2200" b="1">
                        <a:solidFill>
                          <a:srgbClr val="991B1B"/>
                        </a:solidFill>
                        <a:latin typeface="Cambria Math" panose="02040503050406030204" pitchFamily="18" charset="0"/>
                      </a:rPr>
                      <m:t>=</m:t>
                    </m:r>
                    <m:f>
                      <m:fPr>
                        <m:type m:val="bar"/>
                      </m:fPr>
                      <m:num>
                        <m:r>
                          <a:rPr lang="vi-VN" sz="2200" b="1">
                            <a:solidFill>
                              <a:srgbClr val="991B1B"/>
                            </a:solidFill>
                            <a:latin typeface="Cambria Math" panose="02040503050406030204" pitchFamily="18" charset="0"/>
                          </a:rPr>
                          <m:t>f(</m:t>
                        </m:r>
                        <m:sSub>
                          <m:e>
                            <m:r>
                              <a:rPr lang="vi-VN" sz="2200" b="1">
                                <a:solidFill>
                                  <a:srgbClr val="991B1B"/>
                                </a:solidFill>
                                <a:latin typeface="Cambria Math" panose="02040503050406030204" pitchFamily="18" charset="0"/>
                              </a:rPr>
                              <m:t>x</m:t>
                            </m:r>
                          </m:e>
                          <m:sub>
                            <m:r>
                              <a:rPr lang="vi-VN" sz="2200" b="1">
                                <a:solidFill>
                                  <a:srgbClr val="991B1B"/>
                                </a:solidFill>
                                <a:latin typeface="Cambria Math" panose="02040503050406030204" pitchFamily="18" charset="0"/>
                              </a:rPr>
                              <m:t>2</m:t>
                            </m:r>
                          </m:sub>
                        </m:sSub>
                        <m:r>
                          <a:rPr lang="vi-VN" sz="2200" b="1">
                            <a:solidFill>
                              <a:srgbClr val="991B1B"/>
                            </a:solidFill>
                            <a:latin typeface="Cambria Math" panose="02040503050406030204" pitchFamily="18" charset="0"/>
                          </a:rPr>
                          <m:t>)−f(</m:t>
                        </m:r>
                        <m:sSub>
                          <m:e>
                            <m:r>
                              <a:rPr lang="vi-VN" sz="2200" b="1">
                                <a:solidFill>
                                  <a:srgbClr val="991B1B"/>
                                </a:solidFill>
                                <a:latin typeface="Cambria Math" panose="02040503050406030204" pitchFamily="18" charset="0"/>
                              </a:rPr>
                              <m:t>x</m:t>
                            </m:r>
                          </m:e>
                          <m:sub>
                            <m:r>
                              <a:rPr lang="vi-VN" sz="2200" b="1">
                                <a:solidFill>
                                  <a:srgbClr val="991B1B"/>
                                </a:solidFill>
                                <a:latin typeface="Cambria Math" panose="02040503050406030204" pitchFamily="18" charset="0"/>
                              </a:rPr>
                              <m:t>1</m:t>
                            </m:r>
                          </m:sub>
                        </m:sSub>
                        <m:r>
                          <a:rPr lang="vi-VN" sz="2200" b="1">
                            <a:solidFill>
                              <a:srgbClr val="991B1B"/>
                            </a:solidFill>
                            <a:latin typeface="Cambria Math" panose="02040503050406030204" pitchFamily="18" charset="0"/>
                          </a:rPr>
                          <m:t>)</m:t>
                        </m:r>
                      </m:num>
                      <m:den>
                        <m:sSub>
                          <m:e>
                            <m:r>
                              <a:rPr lang="vi-VN" sz="2200" b="1">
                                <a:solidFill>
                                  <a:srgbClr val="991B1B"/>
                                </a:solidFill>
                                <a:latin typeface="Cambria Math" panose="02040503050406030204" pitchFamily="18" charset="0"/>
                              </a:rPr>
                              <m:t>x</m:t>
                            </m:r>
                          </m:e>
                          <m:sub>
                            <m:r>
                              <a:rPr lang="vi-VN" sz="2200" b="1">
                                <a:solidFill>
                                  <a:srgbClr val="991B1B"/>
                                </a:solidFill>
                                <a:latin typeface="Cambria Math" panose="02040503050406030204" pitchFamily="18" charset="0"/>
                              </a:rPr>
                              <m:t>2</m:t>
                            </m:r>
                          </m:sub>
                        </m:sSub>
                        <m:r>
                          <a:rPr lang="vi-VN" sz="2200" b="1">
                            <a:solidFill>
                              <a:srgbClr val="991B1B"/>
                            </a:solidFill>
                            <a:latin typeface="Cambria Math" panose="02040503050406030204" pitchFamily="18" charset="0"/>
                          </a:rPr>
                          <m:t>−</m:t>
                        </m:r>
                        <m:sSub>
                          <m:e>
                            <m:r>
                              <a:rPr lang="vi-VN" sz="2200" b="1">
                                <a:solidFill>
                                  <a:srgbClr val="991B1B"/>
                                </a:solidFill>
                                <a:latin typeface="Cambria Math" panose="02040503050406030204" pitchFamily="18" charset="0"/>
                              </a:rPr>
                              <m:t>x</m:t>
                            </m:r>
                          </m:e>
                          <m:sub>
                            <m:r>
                              <a:rPr lang="vi-VN" sz="2200" b="1">
                                <a:solidFill>
                                  <a:srgbClr val="991B1B"/>
                                </a:solidFill>
                                <a:latin typeface="Cambria Math" panose="02040503050406030204" pitchFamily="18" charset="0"/>
                              </a:rPr>
                              <m:t>1</m:t>
                            </m:r>
                          </m:sub>
                        </m:sSub>
                      </m:den>
                    </m:f>
                  </m:oMath>
                </a14:m>
                <a:r>
                  <a:rPr sz="2200" b="1">
                    <a:solidFill>
                      <a:srgbClr val="991B1B"/>
                    </a:solidFill>
                    <a:latin typeface="Calibri"/>
                  </a:rPr>
                  <a:t> được gọi là </a:t>
                </a:r>
                <a:r>
                  <a:rPr sz="2200" b="1">
                    <a:solidFill>
                      <a:srgbClr val="991B1B"/>
                    </a:solidFill>
                    <a:latin typeface="Calibri"/>
                  </a:rPr>
                  <a:t>tốc độ thay đổi trung bình</a:t>
                </a:r>
                <a:r>
                  <a:rPr sz="2200" b="1">
                    <a:solidFill>
                      <a:srgbClr val="991B1B"/>
                    </a:solidFill>
                    <a:latin typeface="Calibri"/>
                  </a:rPr>
                  <a:t> của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y</m:t>
                    </m:r>
                  </m:oMath>
                </a14:m>
                <a:r>
                  <a:rPr sz="2200" b="1">
                    <a:solidFill>
                      <a:srgbClr val="991B1B"/>
                    </a:solidFill>
                    <a:latin typeface="Calibri"/>
                  </a:rPr>
                  <a:t> đối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x</m:t>
                    </m:r>
                  </m:oMath>
                </a14:m>
                <a:r>
                  <a:rPr sz="2200" b="1">
                    <a:solidFill>
                      <a:srgbClr val="991B1B"/>
                    </a:solidFill>
                    <a:latin typeface="Calibri"/>
                  </a:rPr>
                  <a:t> trên đoạn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begChr m:val="["/>
                        <m:sepChr m:val=""/>
                        <m:endChr m:val="]"/>
                      </m:dPr>
                      <m:e>
                        <m:sSub>
                          <m:e>
                            <m:r>
                              <a:rPr lang="vi-VN" sz="2200" b="1">
                                <a:solidFill>
                                  <a:srgbClr val="991B1B"/>
                                </a:solidFill>
                                <a:latin typeface="Cambria Math" panose="02040503050406030204" pitchFamily="18" charset="0"/>
                              </a:rPr>
                              <m:t>x</m:t>
                            </m:r>
                          </m:e>
                          <m:sub>
                            <m:r>
                              <a:rPr lang="vi-VN" sz="2200" b="1">
                                <a:solidFill>
                                  <a:srgbClr val="991B1B"/>
                                </a:solidFill>
                                <a:latin typeface="Cambria Math" panose="02040503050406030204" pitchFamily="18" charset="0"/>
                              </a:rPr>
                              <m:t>1</m:t>
                            </m:r>
                          </m:sub>
                        </m:sSub>
                        <m:r>
                          <a:rPr lang="vi-VN" sz="2200" b="1">
                            <a:solidFill>
                              <a:srgbClr val="991B1B"/>
                            </a:solidFill>
                            <a:latin typeface="Cambria Math" panose="02040503050406030204" pitchFamily="18" charset="0"/>
                          </a:rPr>
                          <m:t>;</m:t>
                        </m:r>
                        <m:sSub>
                          <m:e>
                            <m:r>
                              <a:rPr lang="vi-VN" sz="2200" b="1">
                                <a:solidFill>
                                  <a:srgbClr val="991B1B"/>
                                </a:solidFill>
                                <a:latin typeface="Cambria Math" panose="02040503050406030204" pitchFamily="18" charset="0"/>
                              </a:rPr>
                              <m:t>x</m:t>
                            </m:r>
                          </m:e>
                          <m:sub>
                            <m:r>
                              <a:rPr lang="vi-VN" sz="2200" b="1">
                                <a:solidFill>
                                  <a:srgbClr val="991B1B"/>
                                </a:solidFill>
                                <a:latin typeface="Cambria Math" panose="02040503050406030204" pitchFamily="18" charset="0"/>
                              </a:rPr>
                              <m:t>2</m:t>
                            </m:r>
                          </m:sub>
                        </m:sSub>
                      </m:e>
                    </m:d>
                  </m:oMath>
                </a14:m>
                <a:r>
                  <a:rPr sz="2200" b="1">
                    <a:solidFill>
                      <a:srgbClr val="991B1B"/>
                    </a:solidFill>
                    <a:latin typeface="Calibri"/>
                  </a:rPr>
                  <a:t>.</a:t>
                </a:r>
              </a:p>
            </p:txBody>
          </p:sp>
        </mc:Choice>
        <mc:Fallback>
          <p:sp>
            <p:nvSpPr>
              <p:cNvPr id="8" name="TextBox 7"/>
              <p:cNvSpPr txBox="1"/>
              <p:nvPr/>
            </p:nvSpPr>
            <p:spPr>
              <a:xfrm>
                <a:off x="914400" y="1463040"/>
                <a:ext cx="9235440" cy="190881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Giả sử </a:t>
                </a:r>
                <a:r>
                  <a:rPr lang="vi-VN"/>
                  <a:t>y=f(x)</a:t>
                </a:r>
                <a:r>
                  <a:rPr sz="2200" b="1">
                    <a:solidFill>
                      <a:srgbClr val="991B1B"/>
                    </a:solidFill>
                    <a:latin typeface="Calibri"/>
                  </a:rPr>
                  <a:t>. Nếu </a:t>
                </a:r>
                <a:r>
                  <a:rPr lang="vi-VN"/>
                  <a:t>x</a:t>
                </a:r>
                <a:r>
                  <a:rPr sz="2200" b="1">
                    <a:solidFill>
                      <a:srgbClr val="991B1B"/>
                    </a:solidFill>
                    <a:latin typeface="Calibri"/>
                  </a:rPr>
                  <a:t> thay đổi từ </a:t>
                </a:r>
                <a:r>
                  <a:rPr lang="vi-VN"/>
                  <a:t>x_1</a:t>
                </a:r>
                <a:r>
                  <a:rPr sz="2200" b="1">
                    <a:solidFill>
                      <a:srgbClr val="991B1B"/>
                    </a:solidFill>
                    <a:latin typeface="Calibri"/>
                  </a:rPr>
                  <a:t> đến </a:t>
                </a:r>
                <a:r>
                  <a:rPr lang="vi-VN"/>
                  <a:t>x_2</a:t>
                </a:r>
                <a:r>
                  <a:rPr sz="2200" b="1">
                    <a:solidFill>
                      <a:srgbClr val="991B1B"/>
                    </a:solidFill>
                    <a:latin typeface="Calibri"/>
                  </a:rPr>
                  <a:t> thì </a:t>
                </a:r>
                <a:r>
                  <a:rPr lang="vi-VN"/>
                  <a:t>Δx=x_2−x_1</a:t>
                </a:r>
                <a:r>
                  <a:rPr sz="2200" b="1">
                    <a:solidFill>
                      <a:srgbClr val="991B1B"/>
                    </a:solidFill>
                    <a:latin typeface="Calibri"/>
                  </a:rPr>
                  <a:t>, </a:t>
                </a:r>
                <a:r>
                  <a:rPr lang="vi-VN"/>
                  <a:t>Δy=f(x_2)−f(x_1)</a:t>
                </a:r>
                <a:r>
                  <a:rPr sz="2200" b="1">
                    <a:solidFill>
                      <a:srgbClr val="991B1B"/>
                    </a:solidFill>
                    <a:latin typeface="Calibri"/>
                  </a:rPr>
                  <a:t>. Tỉ số </a:t>
                </a:r>
                <a:r>
                  <a:rPr lang="vi-VN"/>
                  <a:t>Δy/Δx=(f(x_2)−f(x_1))/(x_2−x_1)</a:t>
                </a:r>
                <a:r>
                  <a:rPr sz="2200" b="1">
                    <a:solidFill>
                      <a:srgbClr val="991B1B"/>
                    </a:solidFill>
                    <a:latin typeface="Calibri"/>
                  </a:rPr>
                  <a:t> được gọi là </a:t>
                </a:r>
                <a:r>
                  <a:rPr sz="2200" b="1">
                    <a:solidFill>
                      <a:srgbClr val="991B1B"/>
                    </a:solidFill>
                    <a:latin typeface="Calibri"/>
                  </a:rPr>
                  <a:t>tốc độ thay đổi trung bình</a:t>
                </a:r>
                <a:r>
                  <a:rPr sz="2200" b="1">
                    <a:solidFill>
                      <a:srgbClr val="991B1B"/>
                    </a:solidFill>
                    <a:latin typeface="Calibri"/>
                  </a:rPr>
                  <a:t> của </a:t>
                </a:r>
                <a:r>
                  <a:rPr lang="vi-VN"/>
                  <a:t>y</a:t>
                </a:r>
                <a:r>
                  <a:rPr sz="2200" b="1">
                    <a:solidFill>
                      <a:srgbClr val="991B1B"/>
                    </a:solidFill>
                    <a:latin typeface="Calibri"/>
                  </a:rPr>
                  <a:t> đối với </a:t>
                </a:r>
                <a:r>
                  <a:rPr lang="vi-VN"/>
                  <a:t>x</a:t>
                </a:r>
                <a:r>
                  <a:rPr sz="2200" b="1">
                    <a:solidFill>
                      <a:srgbClr val="991B1B"/>
                    </a:solidFill>
                    <a:latin typeface="Calibri"/>
                  </a:rPr>
                  <a:t> trên đoạn </a:t>
                </a:r>
                <a:r>
                  <a:rPr lang="vi-VN"/>
                  <a:t>[x_1;x_2]</a:t>
                </a:r>
                <a:r>
                  <a:rPr sz="2200" b="1">
                    <a:solidFill>
                      <a:srgbClr val="991B1B"/>
                    </a:solidFill>
                    <a:latin typeface="Calibri"/>
                  </a:rPr>
                  <a:t>.</a:t>
                </a: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TỐC ĐỘ THAY ĐỔI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6</a:t>
            </a:r>
          </a:p>
        </p:txBody>
      </p:sp>
      <p:sp>
        <p:nvSpPr>
          <p:cNvPr id="7" name="Rounded Rectangle 6"/>
          <p:cNvSpPr/>
          <p:nvPr/>
        </p:nvSpPr>
        <p:spPr>
          <a:xfrm>
            <a:off x="731520" y="1463040"/>
            <a:ext cx="9601200" cy="1720215"/>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17202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Giới hạn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1">
                            <a:solidFill>
                              <a:srgbClr val="991B1B"/>
                            </a:solidFill>
                            <a:latin typeface="Cambria Math" panose="02040503050406030204" pitchFamily="18" charset="0"/>
                          </a:rPr>
                          <m:t>lim</m:t>
                        </m:r>
                      </m:e>
                      <m:sub>
                        <m:r>
                          <a:rPr lang="vi-VN" sz="2200" b="1">
                            <a:solidFill>
                              <a:srgbClr val="991B1B"/>
                            </a:solidFill>
                            <a:latin typeface="Cambria Math" panose="02040503050406030204" pitchFamily="18" charset="0"/>
                          </a:rPr>
                          <m:t>Δx→0</m:t>
                        </m:r>
                      </m:sub>
                    </m:sSub>
                    <m:f>
                      <m:fPr>
                        <m:type m:val="bar"/>
                      </m:fPr>
                      <m:num>
                        <m:r>
                          <a:rPr lang="vi-VN" sz="2200" b="1">
                            <a:solidFill>
                              <a:srgbClr val="991B1B"/>
                            </a:solidFill>
                            <a:latin typeface="Cambria Math" panose="02040503050406030204" pitchFamily="18" charset="0"/>
                          </a:rPr>
                          <m:t>Δy</m:t>
                        </m:r>
                      </m:num>
                      <m:den>
                        <m:r>
                          <a:rPr lang="vi-VN" sz="2200" b="1">
                            <a:solidFill>
                              <a:srgbClr val="991B1B"/>
                            </a:solidFill>
                            <a:latin typeface="Cambria Math" panose="02040503050406030204" pitchFamily="18" charset="0"/>
                          </a:rPr>
                          <m:t>Δx</m:t>
                        </m:r>
                      </m:den>
                    </m:f>
                  </m:oMath>
                </a14:m>
                <a:r>
                  <a:rPr sz="2200" b="1">
                    <a:solidFill>
                      <a:srgbClr val="991B1B"/>
                    </a:solidFill>
                    <a:latin typeface="Calibri"/>
                  </a:rPr>
                  <a:t> được gọi là </a:t>
                </a:r>
                <a:r>
                  <a:rPr sz="2200" b="1">
                    <a:solidFill>
                      <a:srgbClr val="991B1B"/>
                    </a:solidFill>
                    <a:latin typeface="Calibri"/>
                  </a:rPr>
                  <a:t>tốc độ thay đổi tức thời</a:t>
                </a:r>
                <a:r>
                  <a:rPr sz="2200" b="1">
                    <a:solidFill>
                      <a:srgbClr val="991B1B"/>
                    </a:solidFill>
                    <a:latin typeface="Calibri"/>
                  </a:rPr>
                  <a:t> của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y</m:t>
                    </m:r>
                  </m:oMath>
                </a14:m>
                <a:r>
                  <a:rPr sz="2200" b="1">
                    <a:solidFill>
                      <a:srgbClr val="991B1B"/>
                    </a:solidFill>
                    <a:latin typeface="Calibri"/>
                  </a:rPr>
                  <a:t> đối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x</m:t>
                    </m:r>
                  </m:oMath>
                </a14:m>
                <a:r>
                  <a:rPr sz="2200" b="1">
                    <a:solidFill>
                      <a:srgbClr val="991B1B"/>
                    </a:solidFill>
                    <a:latin typeface="Calibri"/>
                  </a:rPr>
                  <a:t> tại điểm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x=</m:t>
                    </m:r>
                    <m:sSub>
                      <m:e>
                        <m:r>
                          <a:rPr lang="vi-VN" sz="2200" b="1">
                            <a:solidFill>
                              <a:srgbClr val="991B1B"/>
                            </a:solidFill>
                            <a:latin typeface="Cambria Math" panose="02040503050406030204" pitchFamily="18" charset="0"/>
                          </a:rPr>
                          <m:t>x</m:t>
                        </m:r>
                      </m:e>
                      <m:sub>
                        <m:r>
                          <a:rPr lang="vi-VN" sz="2200" b="1">
                            <a:solidFill>
                              <a:srgbClr val="991B1B"/>
                            </a:solidFill>
                            <a:latin typeface="Cambria Math" panose="02040503050406030204" pitchFamily="18" charset="0"/>
                          </a:rPr>
                          <m:t>1</m:t>
                        </m:r>
                      </m:sub>
                    </m:sSub>
                  </m:oMath>
                </a14:m>
                <a:r>
                  <a:rPr sz="2200" b="1">
                    <a:solidFill>
                      <a:srgbClr val="991B1B"/>
                    </a:solidFill>
                    <a:latin typeface="Calibri"/>
                  </a:rPr>
                  <a:t>. Như vậy, đạo hàm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200" b="1">
                            <a:solidFill>
                              <a:srgbClr val="991B1B"/>
                            </a:solidFill>
                            <a:latin typeface="Cambria Math" panose="02040503050406030204" pitchFamily="18" charset="0"/>
                          </a:rPr>
                          <m:t>f</m:t>
                        </m:r>
                      </m:e>
                      <m:sup>
                        <m:r>
                          <a:rPr lang="vi-VN" sz="2200" b="1">
                            <a:solidFill>
                              <a:srgbClr val="991B1B"/>
                            </a:solidFill>
                            <a:latin typeface="Cambria Math" panose="02040503050406030204" pitchFamily="18" charset="0"/>
                          </a:rPr>
                          <m:t>′</m:t>
                        </m:r>
                      </m:sup>
                    </m:sSup>
                    <m:r>
                      <a:rPr lang="vi-VN" sz="2200" b="1">
                        <a:solidFill>
                          <a:srgbClr val="991B1B"/>
                        </a:solidFill>
                        <a:latin typeface="Cambria Math" panose="02040503050406030204" pitchFamily="18" charset="0"/>
                      </a:rPr>
                      <m:t>(a)</m:t>
                    </m:r>
                  </m:oMath>
                </a14:m>
                <a:r>
                  <a:rPr sz="2200" b="1">
                    <a:solidFill>
                      <a:srgbClr val="991B1B"/>
                    </a:solidFill>
                    <a:latin typeface="Calibri"/>
                  </a:rPr>
                  <a:t> là tốc độ thay đổi tức thời của đại lượng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y=f(x)</m:t>
                    </m:r>
                  </m:oMath>
                </a14:m>
                <a:r>
                  <a:rPr sz="2200" b="1">
                    <a:solidFill>
                      <a:srgbClr val="991B1B"/>
                    </a:solidFill>
                    <a:latin typeface="Calibri"/>
                  </a:rPr>
                  <a:t> đối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x</m:t>
                    </m:r>
                  </m:oMath>
                </a14:m>
                <a:r>
                  <a:rPr sz="2200" b="1">
                    <a:solidFill>
                      <a:srgbClr val="991B1B"/>
                    </a:solidFill>
                    <a:latin typeface="Calibri"/>
                  </a:rPr>
                  <a:t> tại điểm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x=a</m:t>
                    </m:r>
                  </m:oMath>
                </a14:m>
                <a:r>
                  <a:rPr sz="2200" b="1">
                    <a:solidFill>
                      <a:srgbClr val="991B1B"/>
                    </a:solidFill>
                    <a:latin typeface="Calibri"/>
                  </a:rPr>
                  <a:t>.</a:t>
                </a:r>
              </a:p>
            </p:txBody>
          </p:sp>
        </mc:Choice>
        <mc:Fallback>
          <p:sp>
            <p:nvSpPr>
              <p:cNvPr id="8" name="TextBox 7"/>
              <p:cNvSpPr txBox="1"/>
              <p:nvPr/>
            </p:nvSpPr>
            <p:spPr>
              <a:xfrm>
                <a:off x="914400" y="1463040"/>
                <a:ext cx="9235440" cy="17202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Giới hạn </a:t>
                </a:r>
                <a:r>
                  <a:rPr lang="vi-VN"/>
                  <a:t>lim_(Δx→0)Δy/Δx</a:t>
                </a:r>
                <a:r>
                  <a:rPr sz="2200" b="1">
                    <a:solidFill>
                      <a:srgbClr val="991B1B"/>
                    </a:solidFill>
                    <a:latin typeface="Calibri"/>
                  </a:rPr>
                  <a:t> được gọi là </a:t>
                </a:r>
                <a:r>
                  <a:rPr sz="2200" b="1">
                    <a:solidFill>
                      <a:srgbClr val="991B1B"/>
                    </a:solidFill>
                    <a:latin typeface="Calibri"/>
                  </a:rPr>
                  <a:t>tốc độ thay đổi tức thời</a:t>
                </a:r>
                <a:r>
                  <a:rPr sz="2200" b="1">
                    <a:solidFill>
                      <a:srgbClr val="991B1B"/>
                    </a:solidFill>
                    <a:latin typeface="Calibri"/>
                  </a:rPr>
                  <a:t> của </a:t>
                </a:r>
                <a:r>
                  <a:rPr lang="vi-VN"/>
                  <a:t>y</a:t>
                </a:r>
                <a:r>
                  <a:rPr sz="2200" b="1">
                    <a:solidFill>
                      <a:srgbClr val="991B1B"/>
                    </a:solidFill>
                    <a:latin typeface="Calibri"/>
                  </a:rPr>
                  <a:t> đối với </a:t>
                </a:r>
                <a:r>
                  <a:rPr lang="vi-VN"/>
                  <a:t>x</a:t>
                </a:r>
                <a:r>
                  <a:rPr sz="2200" b="1">
                    <a:solidFill>
                      <a:srgbClr val="991B1B"/>
                    </a:solidFill>
                    <a:latin typeface="Calibri"/>
                  </a:rPr>
                  <a:t> tại điểm </a:t>
                </a:r>
                <a:r>
                  <a:rPr lang="vi-VN"/>
                  <a:t>x=x_1</a:t>
                </a:r>
                <a:r>
                  <a:rPr sz="2200" b="1">
                    <a:solidFill>
                      <a:srgbClr val="991B1B"/>
                    </a:solidFill>
                    <a:latin typeface="Calibri"/>
                  </a:rPr>
                  <a:t>. Như vậy, đạo hàm </a:t>
                </a:r>
                <a:r>
                  <a:rPr lang="vi-VN"/>
                  <a:t>f^′(a)</a:t>
                </a:r>
                <a:r>
                  <a:rPr sz="2200" b="1">
                    <a:solidFill>
                      <a:srgbClr val="991B1B"/>
                    </a:solidFill>
                    <a:latin typeface="Calibri"/>
                  </a:rPr>
                  <a:t> là tốc độ thay đổi tức thời của đại lượng </a:t>
                </a:r>
                <a:r>
                  <a:rPr lang="vi-VN"/>
                  <a:t>y=f(x)</a:t>
                </a:r>
                <a:r>
                  <a:rPr sz="2200" b="1">
                    <a:solidFill>
                      <a:srgbClr val="991B1B"/>
                    </a:solidFill>
                    <a:latin typeface="Calibri"/>
                  </a:rPr>
                  <a:t> đối với </a:t>
                </a:r>
                <a:r>
                  <a:rPr lang="vi-VN"/>
                  <a:t>x</a:t>
                </a:r>
                <a:r>
                  <a:rPr sz="2200" b="1">
                    <a:solidFill>
                      <a:srgbClr val="991B1B"/>
                    </a:solidFill>
                    <a:latin typeface="Calibri"/>
                  </a:rPr>
                  <a:t> tại điểm </a:t>
                </a:r>
                <a:r>
                  <a:rPr lang="vi-VN"/>
                  <a:t>x=a</a:t>
                </a:r>
                <a:r>
                  <a:rPr sz="2200" b="1">
                    <a:solidFill>
                      <a:srgbClr val="991B1B"/>
                    </a:solidFill>
                    <a:latin typeface="Calibri"/>
                  </a:rPr>
                  <a:t>.</a:t>
                </a: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TỐC ĐỘ THAY ĐỔI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7</a:t>
            </a:r>
          </a:p>
        </p:txBody>
      </p:sp>
      <p:sp>
        <p:nvSpPr>
          <p:cNvPr id="7" name="Rounded Rectangle 6"/>
          <p:cNvSpPr/>
          <p:nvPr/>
        </p:nvSpPr>
        <p:spPr>
          <a:xfrm>
            <a:off x="731520" y="1463040"/>
            <a:ext cx="9601200" cy="2369819"/>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2369819"/>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Nếu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s=s(t)</m:t>
                    </m:r>
                  </m:oMath>
                </a14:m>
                <a:r>
                  <a:rPr sz="2200" b="1">
                    <a:solidFill>
                      <a:srgbClr val="991B1B"/>
                    </a:solidFill>
                    <a:latin typeface="Calibri"/>
                  </a:rPr>
                  <a:t> là hàm vị trí của một vật chuyển động trên một đường thẳng thì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v=</m:t>
                    </m:r>
                    <m:sSup>
                      <m:e>
                        <m:r>
                          <a:rPr lang="vi-VN" sz="2200" b="1">
                            <a:solidFill>
                              <a:srgbClr val="991B1B"/>
                            </a:solidFill>
                            <a:latin typeface="Cambria Math" panose="02040503050406030204" pitchFamily="18" charset="0"/>
                          </a:rPr>
                          <m:t>s</m:t>
                        </m:r>
                      </m:e>
                      <m:sup>
                        <m:r>
                          <a:rPr lang="vi-VN" sz="2200" b="1">
                            <a:solidFill>
                              <a:srgbClr val="991B1B"/>
                            </a:solidFill>
                            <a:latin typeface="Cambria Math" panose="02040503050406030204" pitchFamily="18" charset="0"/>
                          </a:rPr>
                          <m:t>′</m:t>
                        </m:r>
                      </m:sup>
                    </m:sSup>
                    <m:r>
                      <a:rPr lang="vi-VN" sz="2200" b="1">
                        <a:solidFill>
                          <a:srgbClr val="991B1B"/>
                        </a:solidFill>
                        <a:latin typeface="Cambria Math" panose="02040503050406030204" pitchFamily="18" charset="0"/>
                      </a:rPr>
                      <m:t>(t)</m:t>
                    </m:r>
                  </m:oMath>
                </a14:m>
                <a:r>
                  <a:rPr sz="2200" b="1">
                    <a:solidFill>
                      <a:srgbClr val="991B1B"/>
                    </a:solidFill>
                    <a:latin typeface="Calibri"/>
                  </a:rPr>
                  <a:t> biểu thị vận tốc tức thời; gia tốc tức thời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a(t)=</m:t>
                    </m:r>
                    <m:sSup>
                      <m:e>
                        <m:r>
                          <a:rPr lang="vi-VN" sz="2200" b="1">
                            <a:solidFill>
                              <a:srgbClr val="991B1B"/>
                            </a:solidFill>
                            <a:latin typeface="Cambria Math" panose="02040503050406030204" pitchFamily="18" charset="0"/>
                          </a:rPr>
                          <m:t>v</m:t>
                        </m:r>
                      </m:e>
                      <m:sup>
                        <m:r>
                          <a:rPr lang="vi-VN" sz="2200" b="1">
                            <a:solidFill>
                              <a:srgbClr val="991B1B"/>
                            </a:solidFill>
                            <a:latin typeface="Cambria Math" panose="02040503050406030204" pitchFamily="18" charset="0"/>
                          </a:rPr>
                          <m:t>′</m:t>
                        </m:r>
                      </m:sup>
                    </m:sSup>
                    <m:r>
                      <a:rPr lang="vi-VN" sz="2200" b="1">
                        <a:solidFill>
                          <a:srgbClr val="991B1B"/>
                        </a:solidFill>
                        <a:latin typeface="Cambria Math" panose="02040503050406030204" pitchFamily="18" charset="0"/>
                      </a:rPr>
                      <m:t>(t)=</m:t>
                    </m:r>
                    <m:sSup>
                      <m:e>
                        <m:r>
                          <a:rPr lang="vi-VN" sz="2200" b="1">
                            <a:solidFill>
                              <a:srgbClr val="991B1B"/>
                            </a:solidFill>
                            <a:latin typeface="Cambria Math" panose="02040503050406030204" pitchFamily="18" charset="0"/>
                          </a:rPr>
                          <m:t>s</m:t>
                        </m:r>
                      </m:e>
                      <m:sup>
                        <m:r>
                          <a:rPr lang="vi-VN" sz="2200" b="1">
                            <a:solidFill>
                              <a:srgbClr val="991B1B"/>
                            </a:solidFill>
                            <a:latin typeface="Cambria Math" panose="02040503050406030204" pitchFamily="18" charset="0"/>
                          </a:rPr>
                          <m:t>″</m:t>
                        </m:r>
                      </m:sup>
                    </m:sSup>
                    <m:r>
                      <a:rPr lang="vi-VN" sz="2200" b="1">
                        <a:solidFill>
                          <a:srgbClr val="991B1B"/>
                        </a:solidFill>
                        <a:latin typeface="Cambria Math" panose="02040503050406030204" pitchFamily="18" charset="0"/>
                      </a:rPr>
                      <m:t>(t)</m:t>
                    </m:r>
                  </m:oMath>
                </a14:m>
                <a:r>
                  <a:rPr sz="2200" b="1">
                    <a:solidFill>
                      <a:srgbClr val="991B1B"/>
                    </a:solidFill>
                    <a:latin typeface="Calibri"/>
                  </a:rPr>
                  <a:t>.</a:t>
                </a:r>
              </a:p>
              <a:p>
                <a:pPr algn="l">
                  <a:spcAft>
                    <a:spcPts val="400"/>
                  </a:spcAft>
                </a:pPr>
                <a:r>
                  <a:rPr sz="2200" b="1">
                    <a:solidFill>
                      <a:srgbClr val="991B1B"/>
                    </a:solidFill>
                    <a:latin typeface="Calibri"/>
                  </a:rPr>
                  <a:t>Nếu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C=C(t)</m:t>
                    </m:r>
                  </m:oMath>
                </a14:m>
                <a:r>
                  <a:rPr sz="2200" b="1">
                    <a:solidFill>
                      <a:srgbClr val="991B1B"/>
                    </a:solidFill>
                    <a:latin typeface="Calibri"/>
                  </a:rPr>
                  <a:t> là nồng độ của một chất tham gia phản ứng hoá học tại thời điểm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t</m:t>
                    </m:r>
                  </m:oMath>
                </a14:m>
                <a:r>
                  <a:rPr sz="2200" b="1">
                    <a:solidFill>
                      <a:srgbClr val="991B1B"/>
                    </a:solidFill>
                    <a:latin typeface="Calibri"/>
                  </a:rPr>
                  <a:t> thì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200" b="1">
                            <a:solidFill>
                              <a:srgbClr val="991B1B"/>
                            </a:solidFill>
                            <a:latin typeface="Cambria Math" panose="02040503050406030204" pitchFamily="18" charset="0"/>
                          </a:rPr>
                          <m:t>C</m:t>
                        </m:r>
                      </m:e>
                      <m:sup>
                        <m:r>
                          <a:rPr lang="vi-VN" sz="2200" b="1">
                            <a:solidFill>
                              <a:srgbClr val="991B1B"/>
                            </a:solidFill>
                            <a:latin typeface="Cambria Math" panose="02040503050406030204" pitchFamily="18" charset="0"/>
                          </a:rPr>
                          <m:t>′</m:t>
                        </m:r>
                      </m:sup>
                    </m:sSup>
                    <m:r>
                      <a:rPr lang="vi-VN" sz="2200" b="1">
                        <a:solidFill>
                          <a:srgbClr val="991B1B"/>
                        </a:solidFill>
                        <a:latin typeface="Cambria Math" panose="02040503050406030204" pitchFamily="18" charset="0"/>
                      </a:rPr>
                      <m:t>(t)</m:t>
                    </m:r>
                  </m:oMath>
                </a14:m>
                <a:r>
                  <a:rPr sz="2200" b="1">
                    <a:solidFill>
                      <a:srgbClr val="991B1B"/>
                    </a:solidFill>
                    <a:latin typeface="Calibri"/>
                  </a:rPr>
                  <a:t> là tốc độ phản ứng tức thời.</a:t>
                </a:r>
              </a:p>
            </p:txBody>
          </p:sp>
        </mc:Choice>
        <mc:Fallback>
          <p:sp>
            <p:nvSpPr>
              <p:cNvPr id="8" name="TextBox 7"/>
              <p:cNvSpPr txBox="1"/>
              <p:nvPr/>
            </p:nvSpPr>
            <p:spPr>
              <a:xfrm>
                <a:off x="914400" y="1463040"/>
                <a:ext cx="9235440" cy="2369819"/>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Nếu </a:t>
                </a:r>
                <a:r>
                  <a:rPr lang="vi-VN"/>
                  <a:t>s=s(t)</a:t>
                </a:r>
                <a:r>
                  <a:rPr sz="2200" b="1">
                    <a:solidFill>
                      <a:srgbClr val="991B1B"/>
                    </a:solidFill>
                    <a:latin typeface="Calibri"/>
                  </a:rPr>
                  <a:t> là hàm vị trí của một vật chuyển động trên một đường thẳng thì </a:t>
                </a:r>
                <a:r>
                  <a:rPr lang="vi-VN"/>
                  <a:t>v=s^′(t)</a:t>
                </a:r>
                <a:r>
                  <a:rPr sz="2200" b="1">
                    <a:solidFill>
                      <a:srgbClr val="991B1B"/>
                    </a:solidFill>
                    <a:latin typeface="Calibri"/>
                  </a:rPr>
                  <a:t> biểu thị vận tốc tức thời; gia tốc tức thời </a:t>
                </a:r>
                <a:r>
                  <a:rPr lang="vi-VN"/>
                  <a:t>a(t)=v^′(t)=s^″(t)</a:t>
                </a:r>
                <a:r>
                  <a:rPr sz="2200" b="1">
                    <a:solidFill>
                      <a:srgbClr val="991B1B"/>
                    </a:solidFill>
                    <a:latin typeface="Calibri"/>
                  </a:rPr>
                  <a:t>.</a:t>
                </a:r>
              </a:p>
              <a:p>
                <a:pPr algn="l">
                  <a:spcAft>
                    <a:spcPts val="400"/>
                  </a:spcAft>
                </a:pPr>
                <a:r>
                  <a:rPr sz="2200" b="1">
                    <a:solidFill>
                      <a:srgbClr val="991B1B"/>
                    </a:solidFill>
                    <a:latin typeface="Calibri"/>
                  </a:rPr>
                  <a:t>Nếu </a:t>
                </a:r>
                <a:r>
                  <a:rPr lang="vi-VN"/>
                  <a:t>C=C(t)</a:t>
                </a:r>
                <a:r>
                  <a:rPr sz="2200" b="1">
                    <a:solidFill>
                      <a:srgbClr val="991B1B"/>
                    </a:solidFill>
                    <a:latin typeface="Calibri"/>
                  </a:rPr>
                  <a:t> là nồng độ của một chất tham gia phản ứng hoá học tại thời điểm </a:t>
                </a:r>
                <a:r>
                  <a:rPr lang="vi-VN"/>
                  <a:t>t</a:t>
                </a:r>
                <a:r>
                  <a:rPr sz="2200" b="1">
                    <a:solidFill>
                      <a:srgbClr val="991B1B"/>
                    </a:solidFill>
                    <a:latin typeface="Calibri"/>
                  </a:rPr>
                  <a:t> thì </a:t>
                </a:r>
                <a:r>
                  <a:rPr lang="vi-VN"/>
                  <a:t>C^′(t)</a:t>
                </a:r>
                <a:r>
                  <a:rPr sz="2200" b="1">
                    <a:solidFill>
                      <a:srgbClr val="991B1B"/>
                    </a:solidFill>
                    <a:latin typeface="Calibri"/>
                  </a:rPr>
                  <a:t> là tốc độ phản ứng tức thời.</a:t>
                </a: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TỐC ĐỘ THAY ĐỔI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8</a:t>
            </a:r>
          </a:p>
        </p:txBody>
      </p:sp>
      <p:sp>
        <p:nvSpPr>
          <p:cNvPr id="7" name="Rounded Rectangle 6"/>
          <p:cNvSpPr/>
          <p:nvPr/>
        </p:nvSpPr>
        <p:spPr>
          <a:xfrm>
            <a:off x="731520" y="1463040"/>
            <a:ext cx="9601200" cy="27889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27889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Nếu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P=P(t)</m:t>
                    </m:r>
                  </m:oMath>
                </a14:m>
                <a:r>
                  <a:rPr sz="2200" b="1">
                    <a:solidFill>
                      <a:srgbClr val="991B1B"/>
                    </a:solidFill>
                    <a:latin typeface="Calibri"/>
                  </a:rPr>
                  <a:t> là số lượng cá thể trong một quần thể tại thời điểm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t</m:t>
                    </m:r>
                  </m:oMath>
                </a14:m>
                <a:r>
                  <a:rPr sz="2200" b="1">
                    <a:solidFill>
                      <a:srgbClr val="991B1B"/>
                    </a:solidFill>
                    <a:latin typeface="Calibri"/>
                  </a:rPr>
                  <a:t> thì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200" b="1">
                            <a:solidFill>
                              <a:srgbClr val="991B1B"/>
                            </a:solidFill>
                            <a:latin typeface="Cambria Math" panose="02040503050406030204" pitchFamily="18" charset="0"/>
                          </a:rPr>
                          <m:t>P</m:t>
                        </m:r>
                      </m:e>
                      <m:sup>
                        <m:r>
                          <a:rPr lang="vi-VN" sz="2200" b="1">
                            <a:solidFill>
                              <a:srgbClr val="991B1B"/>
                            </a:solidFill>
                            <a:latin typeface="Cambria Math" panose="02040503050406030204" pitchFamily="18" charset="0"/>
                          </a:rPr>
                          <m:t>′</m:t>
                        </m:r>
                      </m:sup>
                    </m:sSup>
                    <m:r>
                      <a:rPr lang="vi-VN" sz="2200" b="1">
                        <a:solidFill>
                          <a:srgbClr val="991B1B"/>
                        </a:solidFill>
                        <a:latin typeface="Cambria Math" panose="02040503050406030204" pitchFamily="18" charset="0"/>
                      </a:rPr>
                      <m:t>(t)</m:t>
                    </m:r>
                  </m:oMath>
                </a14:m>
                <a:r>
                  <a:rPr sz="2200" b="1">
                    <a:solidFill>
                      <a:srgbClr val="991B1B"/>
                    </a:solidFill>
                    <a:latin typeface="Calibri"/>
                  </a:rPr>
                  <a:t> biểu thị tốc độ tăng trưởng tức thời của quần thể.</a:t>
                </a:r>
              </a:p>
              <a:p>
                <a:pPr algn="l">
                  <a:spcAft>
                    <a:spcPts val="400"/>
                  </a:spcAft>
                </a:pPr>
                <a:r>
                  <a:rPr sz="2200" b="1">
                    <a:solidFill>
                      <a:srgbClr val="991B1B"/>
                    </a:solidFill>
                    <a:latin typeface="Calibri"/>
                  </a:rPr>
                  <a:t>Nếu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C=C(x)</m:t>
                    </m:r>
                  </m:oMath>
                </a14:m>
                <a:r>
                  <a:rPr sz="2200" b="1">
                    <a:solidFill>
                      <a:srgbClr val="991B1B"/>
                    </a:solidFill>
                    <a:latin typeface="Calibri"/>
                  </a:rPr>
                  <a:t> là hàm chi phí (tổng chi phí khi sản xuất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x</m:t>
                    </m:r>
                  </m:oMath>
                </a14:m>
                <a:r>
                  <a:rPr sz="2200" b="1">
                    <a:solidFill>
                      <a:srgbClr val="991B1B"/>
                    </a:solidFill>
                    <a:latin typeface="Calibri"/>
                  </a:rPr>
                  <a:t> đơn vị hàng hoá) thì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200" b="1">
                            <a:solidFill>
                              <a:srgbClr val="991B1B"/>
                            </a:solidFill>
                            <a:latin typeface="Cambria Math" panose="02040503050406030204" pitchFamily="18" charset="0"/>
                          </a:rPr>
                          <m:t>C</m:t>
                        </m:r>
                      </m:e>
                      <m:sup>
                        <m:r>
                          <a:rPr lang="vi-VN" sz="2200" b="1">
                            <a:solidFill>
                              <a:srgbClr val="991B1B"/>
                            </a:solidFill>
                            <a:latin typeface="Cambria Math" panose="02040503050406030204" pitchFamily="18" charset="0"/>
                          </a:rPr>
                          <m:t>′</m:t>
                        </m:r>
                      </m:sup>
                    </m:sSup>
                    <m:r>
                      <a:rPr lang="vi-VN" sz="2200" b="1">
                        <a:solidFill>
                          <a:srgbClr val="991B1B"/>
                        </a:solidFill>
                        <a:latin typeface="Cambria Math" panose="02040503050406030204" pitchFamily="18" charset="0"/>
                      </a:rPr>
                      <m:t>(x)</m:t>
                    </m:r>
                  </m:oMath>
                </a14:m>
                <a:r>
                  <a:rPr sz="2200" b="1">
                    <a:solidFill>
                      <a:srgbClr val="991B1B"/>
                    </a:solidFill>
                    <a:latin typeface="Calibri"/>
                  </a:rPr>
                  <a:t> được gọi là </a:t>
                </a:r>
                <a:r>
                  <a:rPr sz="2200" b="1">
                    <a:solidFill>
                      <a:srgbClr val="991B1B"/>
                    </a:solidFill>
                    <a:latin typeface="Calibri"/>
                  </a:rPr>
                  <a:t>chi phí biên</a:t>
                </a:r>
                <a:r>
                  <a:rPr sz="2200" b="1">
                    <a:solidFill>
                      <a:srgbClr val="991B1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200" b="1">
                            <a:solidFill>
                              <a:srgbClr val="991B1B"/>
                            </a:solidFill>
                            <a:latin typeface="Cambria Math" panose="02040503050406030204" pitchFamily="18" charset="0"/>
                          </a:rPr>
                          <m:t>C</m:t>
                        </m:r>
                      </m:e>
                      <m:sup>
                        <m:r>
                          <a:rPr lang="vi-VN" sz="2200" b="1">
                            <a:solidFill>
                              <a:srgbClr val="991B1B"/>
                            </a:solidFill>
                            <a:latin typeface="Cambria Math" panose="02040503050406030204" pitchFamily="18" charset="0"/>
                          </a:rPr>
                          <m:t>′</m:t>
                        </m:r>
                      </m:sup>
                    </m:sSup>
                    <m:r>
                      <a:rPr lang="vi-VN" sz="2200" b="1">
                        <a:solidFill>
                          <a:srgbClr val="991B1B"/>
                        </a:solidFill>
                        <a:latin typeface="Cambria Math" panose="02040503050406030204" pitchFamily="18" charset="0"/>
                      </a:rPr>
                      <m:t>(x)</m:t>
                    </m:r>
                  </m:oMath>
                </a14:m>
                <a:r>
                  <a:rPr sz="2200" b="1">
                    <a:solidFill>
                      <a:srgbClr val="991B1B"/>
                    </a:solidFill>
                    <a:latin typeface="Calibri"/>
                  </a:rPr>
                  <a:t> xấp xỉ với chi phí để sản xuất thêm một đơn vị hàng hoá tiếp theo, tức là đơn vị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x+1</m:t>
                    </m:r>
                  </m:oMath>
                </a14:m>
                <a:r>
                  <a:rPr sz="2200" b="1">
                    <a:solidFill>
                      <a:srgbClr val="991B1B"/>
                    </a:solidFill>
                    <a:latin typeface="Calibri"/>
                  </a:rPr>
                  <a:t>.</a:t>
                </a:r>
              </a:p>
            </p:txBody>
          </p:sp>
        </mc:Choice>
        <mc:Fallback>
          <p:sp>
            <p:nvSpPr>
              <p:cNvPr id="8" name="TextBox 7"/>
              <p:cNvSpPr txBox="1"/>
              <p:nvPr/>
            </p:nvSpPr>
            <p:spPr>
              <a:xfrm>
                <a:off x="914400" y="1463040"/>
                <a:ext cx="9235440" cy="27889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Nếu </a:t>
                </a:r>
                <a:r>
                  <a:rPr lang="vi-VN"/>
                  <a:t>P=P(t)</a:t>
                </a:r>
                <a:r>
                  <a:rPr sz="2200" b="1">
                    <a:solidFill>
                      <a:srgbClr val="991B1B"/>
                    </a:solidFill>
                    <a:latin typeface="Calibri"/>
                  </a:rPr>
                  <a:t> là số lượng cá thể trong một quần thể tại thời điểm </a:t>
                </a:r>
                <a:r>
                  <a:rPr lang="vi-VN"/>
                  <a:t>t</a:t>
                </a:r>
                <a:r>
                  <a:rPr sz="2200" b="1">
                    <a:solidFill>
                      <a:srgbClr val="991B1B"/>
                    </a:solidFill>
                    <a:latin typeface="Calibri"/>
                  </a:rPr>
                  <a:t> thì </a:t>
                </a:r>
                <a:r>
                  <a:rPr lang="vi-VN"/>
                  <a:t>P^′(t)</a:t>
                </a:r>
                <a:r>
                  <a:rPr sz="2200" b="1">
                    <a:solidFill>
                      <a:srgbClr val="991B1B"/>
                    </a:solidFill>
                    <a:latin typeface="Calibri"/>
                  </a:rPr>
                  <a:t> biểu thị tốc độ tăng trưởng tức thời của quần thể.</a:t>
                </a:r>
              </a:p>
              <a:p>
                <a:pPr algn="l">
                  <a:spcAft>
                    <a:spcPts val="400"/>
                  </a:spcAft>
                </a:pPr>
                <a:r>
                  <a:rPr sz="2200" b="1">
                    <a:solidFill>
                      <a:srgbClr val="991B1B"/>
                    </a:solidFill>
                    <a:latin typeface="Calibri"/>
                  </a:rPr>
                  <a:t>Nếu </a:t>
                </a:r>
                <a:r>
                  <a:rPr lang="vi-VN"/>
                  <a:t>C=C(x)</a:t>
                </a:r>
                <a:r>
                  <a:rPr sz="2200" b="1">
                    <a:solidFill>
                      <a:srgbClr val="991B1B"/>
                    </a:solidFill>
                    <a:latin typeface="Calibri"/>
                  </a:rPr>
                  <a:t> là hàm chi phí (tổng chi phí khi sản xuất </a:t>
                </a:r>
                <a:r>
                  <a:rPr lang="vi-VN"/>
                  <a:t>x</a:t>
                </a:r>
                <a:r>
                  <a:rPr sz="2200" b="1">
                    <a:solidFill>
                      <a:srgbClr val="991B1B"/>
                    </a:solidFill>
                    <a:latin typeface="Calibri"/>
                  </a:rPr>
                  <a:t> đơn vị hàng hoá) thì </a:t>
                </a:r>
                <a:r>
                  <a:rPr lang="vi-VN"/>
                  <a:t>C^′(x)</a:t>
                </a:r>
                <a:r>
                  <a:rPr sz="2200" b="1">
                    <a:solidFill>
                      <a:srgbClr val="991B1B"/>
                    </a:solidFill>
                    <a:latin typeface="Calibri"/>
                  </a:rPr>
                  <a:t> được gọi là </a:t>
                </a:r>
                <a:r>
                  <a:rPr sz="2200" b="1">
                    <a:solidFill>
                      <a:srgbClr val="991B1B"/>
                    </a:solidFill>
                    <a:latin typeface="Calibri"/>
                  </a:rPr>
                  <a:t>chi phí biên</a:t>
                </a:r>
                <a:r>
                  <a:rPr sz="2200" b="1">
                    <a:solidFill>
                      <a:srgbClr val="991B1B"/>
                    </a:solidFill>
                    <a:latin typeface="Calibri"/>
                  </a:rPr>
                  <a:t>; </a:t>
                </a:r>
                <a:r>
                  <a:rPr lang="vi-VN"/>
                  <a:t>C^′(x)</a:t>
                </a:r>
                <a:r>
                  <a:rPr sz="2200" b="1">
                    <a:solidFill>
                      <a:srgbClr val="991B1B"/>
                    </a:solidFill>
                    <a:latin typeface="Calibri"/>
                  </a:rPr>
                  <a:t> xấp xỉ với chi phí để sản xuất thêm một đơn vị hàng hoá tiếp theo, tức là đơn vị thứ </a:t>
                </a:r>
                <a:r>
                  <a:rPr lang="vi-VN"/>
                  <a:t>x+1</a:t>
                </a:r>
                <a:r>
                  <a:rPr sz="2200" b="1">
                    <a:solidFill>
                      <a:srgbClr val="991B1B"/>
                    </a:solidFill>
                    <a:latin typeface="Calibri"/>
                  </a:rPr>
                  <a:t>.</a:t>
                </a: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1: VẬT PHÓNG THẲNG ĐỨNG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816352"/>
              </a:xfrm>
              <a:prstGeom prst="rect">
                <a:avLst/>
              </a:prstGeom>
              <a:noFill/>
            </p:spPr>
            <p:txBody>
              <a:bodyPr wrap="square" anchor="t" lIns="45720" rIns="45720">
                <a:spAutoFit/>
              </a:bodyPr>
              <a:lstStyle/>
              <a:p>
                <a:pPr algn="l">
                  <a:spcAft>
                    <a:spcPts val="800"/>
                  </a:spcAft>
                </a:pPr>
                <a:r>
                  <a:rPr sz="2400">
                    <a:solidFill>
                      <a:srgbClr val="1E293B"/>
                    </a:solidFill>
                    <a:latin typeface="Calibri"/>
                  </a:rPr>
                  <a:t>Khi bỏ qua sức cản của không khí, độ cao (mét) của một vật được phóng thẳng đứng lên trên từ điểm cách mặt đất 2 m với vận tốc ban đầu 24,5 m/s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h(t)=2+24</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5t−4</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9</m:t>
                    </m:r>
                    <m:sSup>
                      <m:e>
                        <m:r>
                          <a:rPr lang="vi-VN" sz="2400" b="0">
                            <a:solidFill>
                              <a:srgbClr val="1E293B"/>
                            </a:solidFill>
                            <a:latin typeface="Cambria Math" panose="02040503050406030204" pitchFamily="18" charset="0"/>
                          </a:rPr>
                          <m:t>t</m:t>
                        </m:r>
                      </m:e>
                      <m:sup>
                        <m:r>
                          <a:rPr lang="vi-VN" sz="2400" b="0">
                            <a:solidFill>
                              <a:srgbClr val="1E293B"/>
                            </a:solidFill>
                            <a:latin typeface="Cambria Math" panose="02040503050406030204" pitchFamily="18" charset="0"/>
                          </a:rPr>
                          <m:t>2</m:t>
                        </m:r>
                      </m:sup>
                    </m:sSup>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Vận tốc của vật sau 2 giây?</a:t>
                </a:r>
              </a:p>
              <a:p>
                <a:pPr algn="l" marL="365760" indent="-365760">
                  <a:spcAft>
                    <a:spcPts val="800"/>
                  </a:spcAft>
                  <a:buClr>
                    <a:srgbClr val="1E40AF"/>
                  </a:buClr>
                  <a:buFont typeface="Arial"/>
                  <a:buChar char="•"/>
                </a:pPr>
                <a:r>
                  <a:rPr sz="2400">
                    <a:solidFill>
                      <a:srgbClr val="1E293B"/>
                    </a:solidFill>
                    <a:latin typeface="Calibri"/>
                  </a:rPr>
                  <a:t>b) Khi nào vật cao nhất? Độ cao lớn nhất?</a:t>
                </a:r>
              </a:p>
              <a:p>
                <a:pPr algn="l" marL="365760" indent="-365760">
                  <a:spcAft>
                    <a:spcPts val="800"/>
                  </a:spcAft>
                  <a:buClr>
                    <a:srgbClr val="1E40AF"/>
                  </a:buClr>
                  <a:buFont typeface="Arial"/>
                  <a:buChar char="•"/>
                </a:pPr>
                <a:r>
                  <a:rPr sz="2400">
                    <a:solidFill>
                      <a:srgbClr val="1E293B"/>
                    </a:solidFill>
                    <a:latin typeface="Calibri"/>
                  </a:rPr>
                  <a:t>c) Khi nào vật chạm đất? Vận tốc lúc đó?</a:t>
                </a:r>
              </a:p>
            </p:txBody>
          </p:sp>
        </mc:Choice>
        <mc:Fallback>
          <p:sp>
            <p:nvSpPr>
              <p:cNvPr id="7" name="TextBox 6"/>
              <p:cNvSpPr txBox="1"/>
              <p:nvPr/>
            </p:nvSpPr>
            <p:spPr>
              <a:xfrm>
                <a:off x="731520" y="1463040"/>
                <a:ext cx="10789920" cy="2816352"/>
              </a:xfrm>
              <a:prstGeom prst="rect">
                <a:avLst/>
              </a:prstGeom>
              <a:noFill/>
            </p:spPr>
            <p:txBody>
              <a:bodyPr wrap="square" anchor="t" lIns="45720" rIns="45720">
                <a:spAutoFit/>
              </a:bodyPr>
              <a:lstStyle/>
              <a:p>
                <a:pPr algn="l">
                  <a:spcAft>
                    <a:spcPts val="800"/>
                  </a:spcAft>
                </a:pPr>
                <a:r>
                  <a:rPr sz="2400">
                    <a:solidFill>
                      <a:srgbClr val="1E293B"/>
                    </a:solidFill>
                    <a:latin typeface="Calibri"/>
                  </a:rPr>
                  <a:t>Khi bỏ qua sức cản của không khí, độ cao (mét) của một vật được phóng thẳng đứng lên trên từ điểm cách mặt đất 2 m với vận tốc ban đầu 24,5 m/s là </a:t>
                </a:r>
                <a:r>
                  <a:rPr lang="vi-VN"/>
                  <a:t>h(t)=2+24,5t−4,9t^2</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Vận tốc của vật sau 2 giây?</a:t>
                </a:r>
              </a:p>
              <a:p>
                <a:pPr algn="l" marL="365760" indent="-365760">
                  <a:spcAft>
                    <a:spcPts val="800"/>
                  </a:spcAft>
                  <a:buClr>
                    <a:srgbClr val="1E40AF"/>
                  </a:buClr>
                  <a:buFont typeface="Arial"/>
                  <a:buChar char="•"/>
                </a:pPr>
                <a:r>
                  <a:rPr sz="2400">
                    <a:solidFill>
                      <a:srgbClr val="1E293B"/>
                    </a:solidFill>
                    <a:latin typeface="Calibri"/>
                  </a:rPr>
                  <a:t>b) Khi nào vật cao nhất? Độ cao lớn nhất?</a:t>
                </a:r>
              </a:p>
              <a:p>
                <a:pPr algn="l" marL="365760" indent="-365760">
                  <a:spcAft>
                    <a:spcPts val="800"/>
                  </a:spcAft>
                  <a:buClr>
                    <a:srgbClr val="1E40AF"/>
                  </a:buClr>
                  <a:buFont typeface="Arial"/>
                  <a:buChar char="•"/>
                </a:pPr>
                <a:r>
                  <a:rPr sz="2400">
                    <a:solidFill>
                      <a:srgbClr val="1E293B"/>
                    </a:solidFill>
                    <a:latin typeface="Calibri"/>
                  </a:rPr>
                  <a:t>c) Khi nào vật chạm đất? Vận tốc lúc đó?</a:t>
                </a: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1: VẬT PHÓNG THẲNG ĐỨNG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10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021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v=</m:t>
                    </m:r>
                    <m:sSup>
                      <m:e>
                        <m:r>
                          <a:rPr lang="vi-VN" sz="2400" b="0">
                            <a:solidFill>
                              <a:srgbClr val="1E293B"/>
                            </a:solidFill>
                            <a:latin typeface="Cambria Math" panose="02040503050406030204" pitchFamily="18" charset="0"/>
                          </a:rPr>
                          <m:t>h</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(t)=24</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5−9</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8t</m:t>
                    </m:r>
                  </m:oMath>
                </a14:m>
                <a:r>
                  <a:rPr sz="2400">
                    <a:solidFill>
                      <a:srgbClr val="1E293B"/>
                    </a:solidFill>
                    <a:latin typeface="Calibri"/>
                  </a:rPr>
                  <a:t> nên </a:t>
                </a:r>
                <a14:m>
                  <m:oMath xmlns:m="http://schemas.openxmlformats.org/officeDocument/2006/math">
                    <m:r>
                      <a:rPr lang="vi-VN" sz="2400" b="0">
                        <a:solidFill>
                          <a:srgbClr val="1E293B"/>
                        </a:solidFill>
                        <a:latin typeface="Cambria Math" panose="02040503050406030204" pitchFamily="18" charset="0"/>
                      </a:rPr>
                      <m:t>v(2)=4</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9</m:t>
                    </m:r>
                  </m:oMath>
                </a14:m>
                <a:r>
                  <a:rPr sz="2400">
                    <a:solidFill>
                      <a:srgbClr val="1E293B"/>
                    </a:solidFill>
                    <a:latin typeface="Calibri"/>
                  </a:rPr>
                  <a:t> (m/s)</a:t>
                </a:r>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r>
                      <a:rPr lang="vi-VN" sz="2400" b="0">
                        <a:solidFill>
                          <a:srgbClr val="1E293B"/>
                        </a:solidFill>
                        <a:latin typeface="Cambria Math" panose="02040503050406030204" pitchFamily="18" charset="0"/>
                      </a:rPr>
                      <m:t>h</m:t>
                    </m:r>
                  </m:oMath>
                </a14:m>
                <a:r>
                  <a:rPr sz="2400">
                    <a:solidFill>
                      <a:srgbClr val="1E293B"/>
                    </a:solidFill>
                    <a:latin typeface="Calibri"/>
                  </a:rPr>
                  <a:t> lớn nhất tại </a:t>
                </a:r>
                <a14:m>
                  <m:oMath xmlns:m="http://schemas.openxmlformats.org/officeDocument/2006/math">
                    <m:r>
                      <a:rPr lang="vi-VN" sz="2400" b="0">
                        <a:solidFill>
                          <a:srgbClr val="1E293B"/>
                        </a:solidFill>
                        <a:latin typeface="Cambria Math" panose="02040503050406030204" pitchFamily="18" charset="0"/>
                      </a:rPr>
                      <m:t>t=</m:t>
                    </m:r>
                    <m:f>
                      <m:fPr>
                        <m:type m:val="bar"/>
                      </m:fPr>
                      <m:num>
                        <m:r>
                          <a:rPr lang="vi-VN" sz="2400" b="0">
                            <a:solidFill>
                              <a:srgbClr val="1E293B"/>
                            </a:solidFill>
                            <a:latin typeface="Cambria Math" panose="02040503050406030204" pitchFamily="18" charset="0"/>
                          </a:rPr>
                          <m:t>24</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m:t>
                        </m:r>
                      </m:num>
                      <m:den>
                        <m:r>
                          <a:rPr lang="vi-VN" sz="2400" b="0">
                            <a:solidFill>
                              <a:srgbClr val="1E293B"/>
                            </a:solidFill>
                            <a:latin typeface="Cambria Math" panose="02040503050406030204" pitchFamily="18" charset="0"/>
                          </a:rPr>
                          <m:t>9</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8</m:t>
                        </m:r>
                      </m:den>
                    </m:f>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m:t>
                    </m:r>
                  </m:oMath>
                </a14:m>
                <a:r>
                  <a:rPr sz="2400">
                    <a:solidFill>
                      <a:srgbClr val="1E293B"/>
                    </a:solidFill>
                    <a:latin typeface="Calibri"/>
                  </a:rPr>
                  <a:t> (s); </a:t>
                </a:r>
                <a14:m>
                  <m:oMath xmlns:m="http://schemas.openxmlformats.org/officeDocument/2006/math">
                    <m:r>
                      <a:rPr lang="vi-VN" sz="2400" b="0">
                        <a:solidFill>
                          <a:srgbClr val="1E293B"/>
                        </a:solidFill>
                        <a:latin typeface="Cambria Math" panose="02040503050406030204" pitchFamily="18" charset="0"/>
                      </a:rPr>
                      <m:t>h(2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5)=32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625</m:t>
                    </m:r>
                  </m:oMath>
                </a14:m>
                <a:r>
                  <a:rPr sz="2400">
                    <a:solidFill>
                      <a:srgbClr val="1E293B"/>
                    </a:solidFill>
                    <a:latin typeface="Calibri"/>
                  </a:rPr>
                  <a:t> (m)</a:t>
                </a:r>
              </a:p>
              <a:p>
                <a:pPr algn="l" marL="365760" indent="-365760">
                  <a:spcAft>
                    <a:spcPts val="800"/>
                  </a:spcAft>
                  <a:buClr>
                    <a:srgbClr val="1E40AF"/>
                  </a:buClr>
                  <a:buFont typeface="Arial"/>
                  <a:buChar char="•"/>
                </a:pPr>
                <a:r>
                  <a:rPr sz="2400">
                    <a:solidFill>
                      <a:srgbClr val="1E293B"/>
                    </a:solidFill>
                    <a:latin typeface="Calibri"/>
                  </a:rPr>
                  <a:t>c) </a:t>
                </a:r>
                <a14:m>
                  <m:oMath xmlns:m="http://schemas.openxmlformats.org/officeDocument/2006/math">
                    <m:r>
                      <a:rPr lang="vi-VN" sz="2400" b="0">
                        <a:solidFill>
                          <a:srgbClr val="1E293B"/>
                        </a:solidFill>
                        <a:latin typeface="Cambria Math" panose="02040503050406030204" pitchFamily="18" charset="0"/>
                      </a:rPr>
                      <m:t>h(t)=0⇒t≈5</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08</m:t>
                    </m:r>
                  </m:oMath>
                </a14:m>
                <a:r>
                  <a:rPr sz="2400">
                    <a:solidFill>
                      <a:srgbClr val="1E293B"/>
                    </a:solidFill>
                    <a:latin typeface="Calibri"/>
                  </a:rPr>
                  <a:t> (s); </a:t>
                </a:r>
                <a14:m>
                  <m:oMath xmlns:m="http://schemas.openxmlformats.org/officeDocument/2006/math">
                    <m:r>
                      <a:rPr lang="vi-VN" sz="2400" b="0">
                        <a:solidFill>
                          <a:srgbClr val="1E293B"/>
                        </a:solidFill>
                        <a:latin typeface="Cambria Math" panose="02040503050406030204" pitchFamily="18" charset="0"/>
                      </a:rPr>
                      <m:t>v(5</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08)≈−25</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28</m:t>
                    </m:r>
                  </m:oMath>
                </a14:m>
                <a:r>
                  <a:rPr sz="2400">
                    <a:solidFill>
                      <a:srgbClr val="1E293B"/>
                    </a:solidFill>
                    <a:latin typeface="Calibri"/>
                  </a:rPr>
                  <a:t> (m/s)</a:t>
                </a:r>
              </a:p>
              <a:p>
                <a:pPr algn="l" marL="365760" indent="-365760">
                  <a:spcAft>
                    <a:spcPts val="800"/>
                  </a:spcAft>
                  <a:buClr>
                    <a:srgbClr val="1E40AF"/>
                  </a:buClr>
                  <a:buFont typeface="Arial"/>
                  <a:buChar char="•"/>
                </a:pPr>
                <a:r>
                  <a:rPr sz="2400">
                    <a:solidFill>
                      <a:srgbClr val="1E293B"/>
                    </a:solidFill>
                    <a:latin typeface="Calibri"/>
                  </a:rPr>
                  <a:t>Vận tốc âm: vật chuyển động ngược chiều dương</a:t>
                </a:r>
              </a:p>
            </p:txBody>
          </p:sp>
        </mc:Choice>
        <mc:Fallback>
          <p:sp>
            <p:nvSpPr>
              <p:cNvPr id="7" name="TextBox 6"/>
              <p:cNvSpPr txBox="1"/>
              <p:nvPr/>
            </p:nvSpPr>
            <p:spPr>
              <a:xfrm>
                <a:off x="731520" y="1463040"/>
                <a:ext cx="10789920" cy="22021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v=h'(t)=24{,}5-9{,}8t</a:t>
                </a:r>
                <a:r>
                  <a:rPr sz="2400">
                    <a:solidFill>
                      <a:srgbClr val="1E293B"/>
                    </a:solidFill>
                    <a:latin typeface="Calibri"/>
                  </a:rPr>
                  <a:t> nên </a:t>
                </a:r>
                <a:r>
                  <a:rPr lang="vi-VN"/>
                  <a:t>v(2)=4{,}9</a:t>
                </a:r>
                <a:r>
                  <a:rPr sz="2400">
                    <a:solidFill>
                      <a:srgbClr val="1E293B"/>
                    </a:solidFill>
                    <a:latin typeface="Calibri"/>
                  </a:rPr>
                  <a:t> (m/s)</a:t>
                </a:r>
              </a:p>
              <a:p>
                <a:pPr algn="l" marL="365760" indent="-365760">
                  <a:spcAft>
                    <a:spcPts val="800"/>
                  </a:spcAft>
                  <a:buClr>
                    <a:srgbClr val="1E40AF"/>
                  </a:buClr>
                  <a:buFont typeface="Arial"/>
                  <a:buChar char="•"/>
                </a:pPr>
                <a:r>
                  <a:rPr sz="2400">
                    <a:solidFill>
                      <a:srgbClr val="1E293B"/>
                    </a:solidFill>
                    <a:latin typeface="Calibri"/>
                  </a:rPr>
                  <a:t>b) </a:t>
                </a:r>
                <a:r>
                  <a:rPr lang="vi-VN"/>
                  <a:t>h</a:t>
                </a:r>
                <a:r>
                  <a:rPr sz="2400">
                    <a:solidFill>
                      <a:srgbClr val="1E293B"/>
                    </a:solidFill>
                    <a:latin typeface="Calibri"/>
                  </a:rPr>
                  <a:t> lớn nhất tại </a:t>
                </a:r>
                <a:r>
                  <a:rPr lang="vi-VN"/>
                  <a:t>t=\frac{24{,}5}{9{,}8}=2{,}5</a:t>
                </a:r>
                <a:r>
                  <a:rPr sz="2400">
                    <a:solidFill>
                      <a:srgbClr val="1E293B"/>
                    </a:solidFill>
                    <a:latin typeface="Calibri"/>
                  </a:rPr>
                  <a:t> (s); </a:t>
                </a:r>
                <a:r>
                  <a:rPr lang="vi-VN"/>
                  <a:t>h(2{,}5)=32{,}625</a:t>
                </a:r>
                <a:r>
                  <a:rPr sz="2400">
                    <a:solidFill>
                      <a:srgbClr val="1E293B"/>
                    </a:solidFill>
                    <a:latin typeface="Calibri"/>
                  </a:rPr>
                  <a:t> (m)</a:t>
                </a:r>
              </a:p>
              <a:p>
                <a:pPr algn="l" marL="365760" indent="-365760">
                  <a:spcAft>
                    <a:spcPts val="800"/>
                  </a:spcAft>
                  <a:buClr>
                    <a:srgbClr val="1E40AF"/>
                  </a:buClr>
                  <a:buFont typeface="Arial"/>
                  <a:buChar char="•"/>
                </a:pPr>
                <a:r>
                  <a:rPr sz="2400">
                    <a:solidFill>
                      <a:srgbClr val="1E293B"/>
                    </a:solidFill>
                    <a:latin typeface="Calibri"/>
                  </a:rPr>
                  <a:t>c) </a:t>
                </a:r>
                <a:r>
                  <a:rPr lang="vi-VN"/>
                  <a:t>h(t)=0\Rightarrow t\approx 5{,}08</a:t>
                </a:r>
                <a:r>
                  <a:rPr sz="2400">
                    <a:solidFill>
                      <a:srgbClr val="1E293B"/>
                    </a:solidFill>
                    <a:latin typeface="Calibri"/>
                  </a:rPr>
                  <a:t> (s); </a:t>
                </a:r>
                <a:r>
                  <a:rPr lang="vi-VN"/>
                  <a:t>v(5{,}08)\approx -25{,}28</a:t>
                </a:r>
                <a:r>
                  <a:rPr sz="2400">
                    <a:solidFill>
                      <a:srgbClr val="1E293B"/>
                    </a:solidFill>
                    <a:latin typeface="Calibri"/>
                  </a:rPr>
                  <a:t> (m/s)</a:t>
                </a:r>
              </a:p>
              <a:p>
                <a:pPr algn="l" marL="365760" indent="-365760">
                  <a:spcAft>
                    <a:spcPts val="800"/>
                  </a:spcAft>
                  <a:buClr>
                    <a:srgbClr val="1E40AF"/>
                  </a:buClr>
                  <a:buFont typeface="Arial"/>
                  <a:buChar char="•"/>
                </a:pPr>
                <a:r>
                  <a:rPr sz="2400">
                    <a:solidFill>
                      <a:srgbClr val="1E293B"/>
                    </a:solidFill>
                    <a:latin typeface="Calibri"/>
                  </a:rPr>
                  <a:t>Vận tốc âm: vật chuyển động ngược chiều dương</a:t>
                </a:r>
              </a:p>
            </p:txBody>
          </p:sp>
        </mc:Fallback>
      </mc:AlternateContent>
      <p:sp>
        <p:nvSpPr>
          <p:cNvPr id="8" name="Rounded Rectangle 7"/>
          <p:cNvSpPr/>
          <p:nvPr/>
        </p:nvSpPr>
        <p:spPr>
          <a:xfrm>
            <a:off x="731520" y="3802380"/>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802380"/>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v(2)=4</m:t>
                    </m:r>
                    <m:r>
                      <a:rPr lang="vi-VN" sz="2400" b="1">
                        <a:solidFill>
                          <a:srgbClr val="991B1B"/>
                        </a:solidFill>
                        <a:latin typeface="Cambria Math" panose="02040503050406030204" pitchFamily="18" charset="0"/>
                      </a:rPr>
                      <m:t>,</m:t>
                    </m:r>
                    <m:r>
                      <a:rPr lang="vi-VN" sz="2400" b="1">
                        <a:solidFill>
                          <a:srgbClr val="991B1B"/>
                        </a:solidFill>
                        <a:latin typeface="Cambria Math" panose="02040503050406030204" pitchFamily="18" charset="0"/>
                      </a:rPr>
                      <m:t>9</m:t>
                    </m:r>
                  </m:oMath>
                </a14:m>
                <a:r>
                  <a:rPr sz="2400" b="1">
                    <a:solidFill>
                      <a:srgbClr val="991B1B"/>
                    </a:solidFill>
                    <a:latin typeface="Calibri"/>
                  </a:rPr>
                  <a:t> m/s; </a:t>
                </a:r>
                <a14:m>
                  <m:oMath xmlns:m="http://schemas.openxmlformats.org/officeDocument/2006/math">
                    <m:sSub>
                      <m:e>
                        <m:r>
                          <a:rPr lang="vi-VN" sz="2400" b="1">
                            <a:solidFill>
                              <a:srgbClr val="991B1B"/>
                            </a:solidFill>
                            <a:latin typeface="Cambria Math" panose="02040503050406030204" pitchFamily="18" charset="0"/>
                          </a:rPr>
                          <m:t>h</m:t>
                        </m:r>
                      </m:e>
                      <m:sub>
                        <m:r>
                          <a:rPr lang="vi-VN" sz="2400" b="1">
                            <a:solidFill>
                              <a:srgbClr val="991B1B"/>
                            </a:solidFill>
                            <a:latin typeface="Cambria Math" panose="02040503050406030204" pitchFamily="18" charset="0"/>
                          </a:rPr>
                          <m:t>max</m:t>
                        </m:r>
                      </m:sub>
                    </m:sSub>
                    <m:r>
                      <a:rPr lang="vi-VN" sz="2400" b="1">
                        <a:solidFill>
                          <a:srgbClr val="991B1B"/>
                        </a:solidFill>
                        <a:latin typeface="Cambria Math" panose="02040503050406030204" pitchFamily="18" charset="0"/>
                      </a:rPr>
                      <m:t>=32</m:t>
                    </m:r>
                    <m:r>
                      <a:rPr lang="vi-VN" sz="2400" b="1">
                        <a:solidFill>
                          <a:srgbClr val="991B1B"/>
                        </a:solidFill>
                        <a:latin typeface="Cambria Math" panose="02040503050406030204" pitchFamily="18" charset="0"/>
                      </a:rPr>
                      <m:t>,</m:t>
                    </m:r>
                    <m:r>
                      <a:rPr lang="vi-VN" sz="2400" b="1">
                        <a:solidFill>
                          <a:srgbClr val="991B1B"/>
                        </a:solidFill>
                        <a:latin typeface="Cambria Math" panose="02040503050406030204" pitchFamily="18" charset="0"/>
                      </a:rPr>
                      <m:t>625</m:t>
                    </m:r>
                  </m:oMath>
                </a14:m>
                <a:r>
                  <a:rPr sz="2400" b="1">
                    <a:solidFill>
                      <a:srgbClr val="991B1B"/>
                    </a:solidFill>
                    <a:latin typeface="Calibri"/>
                  </a:rPr>
                  <a:t> m; chạm đất sau </a:t>
                </a:r>
                <a14:m>
                  <m:oMath xmlns:m="http://schemas.openxmlformats.org/officeDocument/2006/math">
                    <m:r>
                      <a:rPr lang="vi-VN" sz="2400" b="1">
                        <a:solidFill>
                          <a:srgbClr val="991B1B"/>
                        </a:solidFill>
                        <a:latin typeface="Cambria Math" panose="02040503050406030204" pitchFamily="18" charset="0"/>
                      </a:rPr>
                      <m:t>≈5</m:t>
                    </m:r>
                    <m:r>
                      <a:rPr lang="vi-VN" sz="2400" b="1">
                        <a:solidFill>
                          <a:srgbClr val="991B1B"/>
                        </a:solidFill>
                        <a:latin typeface="Cambria Math" panose="02040503050406030204" pitchFamily="18" charset="0"/>
                      </a:rPr>
                      <m:t>,</m:t>
                    </m:r>
                    <m:r>
                      <a:rPr lang="vi-VN" sz="2400" b="1">
                        <a:solidFill>
                          <a:srgbClr val="991B1B"/>
                        </a:solidFill>
                        <a:latin typeface="Cambria Math" panose="02040503050406030204" pitchFamily="18" charset="0"/>
                      </a:rPr>
                      <m:t>08</m:t>
                    </m:r>
                  </m:oMath>
                </a14:m>
                <a:r>
                  <a:rPr sz="2400" b="1">
                    <a:solidFill>
                      <a:srgbClr val="991B1B"/>
                    </a:solidFill>
                    <a:latin typeface="Calibri"/>
                  </a:rPr>
                  <a:t> s</a:t>
                </a:r>
              </a:p>
            </p:txBody>
          </p:sp>
        </mc:Choice>
        <mc:Fallback>
          <p:sp>
            <p:nvSpPr>
              <p:cNvPr id="9" name="TextBox 8"/>
              <p:cNvSpPr txBox="1"/>
              <p:nvPr/>
            </p:nvSpPr>
            <p:spPr>
              <a:xfrm>
                <a:off x="914400" y="3802380"/>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v(2)=4{,}9</a:t>
                </a:r>
                <a:r>
                  <a:rPr sz="2400" b="1">
                    <a:solidFill>
                      <a:srgbClr val="991B1B"/>
                    </a:solidFill>
                    <a:latin typeface="Calibri"/>
                  </a:rPr>
                  <a:t> m/s; </a:t>
                </a:r>
                <a:r>
                  <a:rPr lang="vi-VN"/>
                  <a:t>h_{max}=32{,}625</a:t>
                </a:r>
                <a:r>
                  <a:rPr sz="2400" b="1">
                    <a:solidFill>
                      <a:srgbClr val="991B1B"/>
                    </a:solidFill>
                    <a:latin typeface="Calibri"/>
                  </a:rPr>
                  <a:t> m; chạm đất sau </a:t>
                </a:r>
                <a:r>
                  <a:rPr lang="vi-VN"/>
                  <a:t>\approx 5{,}08</a:t>
                </a:r>
                <a:r>
                  <a:rPr sz="2400" b="1">
                    <a:solidFill>
                      <a:srgbClr val="991B1B"/>
                    </a:solidFill>
                    <a:latin typeface="Calibri"/>
                  </a:rPr>
                  <a:t> s</a:t>
                </a: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2: QUẦN THỂ NẤM MEN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11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726057"/>
              </a:xfrm>
              <a:prstGeom prst="rect">
                <a:avLst/>
              </a:prstGeom>
              <a:noFill/>
            </p:spPr>
            <p:txBody>
              <a:bodyPr wrap="square" anchor="t" lIns="45720" rIns="45720">
                <a:spAutoFit/>
              </a:bodyPr>
              <a:lstStyle/>
              <a:p>
                <a:pPr algn="l">
                  <a:spcAft>
                    <a:spcPts val="800"/>
                  </a:spcAft>
                </a:pPr>
                <a:r>
                  <a:rPr sz="2200">
                    <a:solidFill>
                      <a:srgbClr val="1E293B"/>
                    </a:solidFill>
                    <a:latin typeface="Calibri"/>
                  </a:rPr>
                  <a:t>Giả sử số lượng của một quần thể nấm men tại môi trường nuôi cấy trong phòng thí nghiệm được mô hình hoá bằng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P(t)=</m:t>
                    </m:r>
                    <m:f>
                      <m:fPr>
                        <m:type m:val="bar"/>
                      </m:fPr>
                      <m:num>
                        <m:r>
                          <a:rPr lang="vi-VN" sz="2200" b="0">
                            <a:solidFill>
                              <a:srgbClr val="1E293B"/>
                            </a:solidFill>
                            <a:latin typeface="Cambria Math" panose="02040503050406030204" pitchFamily="18" charset="0"/>
                          </a:rPr>
                          <m:t>a</m:t>
                        </m:r>
                      </m:num>
                      <m:den>
                        <m:r>
                          <a:rPr lang="vi-VN" sz="2200" b="0">
                            <a:solidFill>
                              <a:srgbClr val="1E293B"/>
                            </a:solidFill>
                            <a:latin typeface="Cambria Math" panose="02040503050406030204" pitchFamily="18" charset="0"/>
                          </a:rPr>
                          <m:t>b+</m:t>
                        </m:r>
                        <m:sSup>
                          <m:e>
                            <m:r>
                              <a:rPr lang="vi-VN" sz="2200" b="0">
                                <a:solidFill>
                                  <a:srgbClr val="1E293B"/>
                                </a:solidFill>
                                <a:latin typeface="Cambria Math" panose="02040503050406030204" pitchFamily="18" charset="0"/>
                              </a:rPr>
                              <m:t>e</m:t>
                            </m:r>
                          </m:e>
                          <m:sup>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75t</m:t>
                            </m:r>
                          </m:sup>
                        </m:sSup>
                      </m:den>
                    </m:f>
                  </m:oMath>
                </a14:m>
                <a:r>
                  <a:rPr sz="2200">
                    <a:solidFill>
                      <a:srgbClr val="1E293B"/>
                    </a:solidFill>
                    <a:latin typeface="Calibri"/>
                  </a:rPr>
                  <a:t>, trong đó thời gian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t</m:t>
                    </m:r>
                  </m:oMath>
                </a14:m>
                <a:r>
                  <a:rPr sz="2200">
                    <a:solidFill>
                      <a:srgbClr val="1E293B"/>
                    </a:solidFill>
                    <a:latin typeface="Calibri"/>
                  </a:rPr>
                  <a:t> được tính bằng giờ.</a:t>
                </a:r>
                <a:r>
                  <a:rPr sz="2200">
                    <a:solidFill>
                      <a:srgbClr val="1E293B"/>
                    </a:solidFill>
                    <a:latin typeface="Calibri"/>
                  </a:rPr>
                  <a:t> </a:t>
                </a:r>
                <a:r>
                  <a:rPr sz="2200">
                    <a:solidFill>
                      <a:srgbClr val="1E293B"/>
                    </a:solidFill>
                    <a:latin typeface="Calibri"/>
                  </a:rPr>
                  <a:t>Tại thời điểm ban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t=0</m:t>
                    </m:r>
                  </m:oMath>
                </a14:m>
                <a:r>
                  <a:rPr sz="2200">
                    <a:solidFill>
                      <a:srgbClr val="1E293B"/>
                    </a:solidFill>
                    <a:latin typeface="Calibri"/>
                  </a:rPr>
                  <a:t>, quần thể có 20 tế bào và tăng với tốc độ 12 tế bào/giờ.</a:t>
                </a:r>
                <a:r>
                  <a:rPr sz="2200">
                    <a:solidFill>
                      <a:srgbClr val="1E293B"/>
                    </a:solidFill>
                    <a:latin typeface="Calibri"/>
                  </a:rPr>
                  <a:t> </a:t>
                </a:r>
              </a:p>
            </p:txBody>
          </p:sp>
        </mc:Choice>
        <mc:Fallback>
          <p:sp>
            <p:nvSpPr>
              <p:cNvPr id="7" name="TextBox 6"/>
              <p:cNvSpPr txBox="1"/>
              <p:nvPr/>
            </p:nvSpPr>
            <p:spPr>
              <a:xfrm>
                <a:off x="731520" y="1463040"/>
                <a:ext cx="10789920" cy="1726057"/>
              </a:xfrm>
              <a:prstGeom prst="rect">
                <a:avLst/>
              </a:prstGeom>
              <a:noFill/>
            </p:spPr>
            <p:txBody>
              <a:bodyPr wrap="square" anchor="t" lIns="45720" rIns="45720">
                <a:spAutoFit/>
              </a:bodyPr>
              <a:lstStyle/>
              <a:p>
                <a:pPr algn="l">
                  <a:spcAft>
                    <a:spcPts val="800"/>
                  </a:spcAft>
                </a:pPr>
                <a:r>
                  <a:rPr sz="2200">
                    <a:solidFill>
                      <a:srgbClr val="1E293B"/>
                    </a:solidFill>
                    <a:latin typeface="Calibri"/>
                  </a:rPr>
                  <a:t>Giả sử số lượng của một quần thể nấm men tại môi trường nuôi cấy trong phòng thí nghiệm được mô hình hoá bằng hàm số </a:t>
                </a:r>
                <a:r>
                  <a:rPr lang="vi-VN"/>
                  <a:t>P(t)=a/(b+e^(−0,75t))</a:t>
                </a:r>
                <a:r>
                  <a:rPr sz="2200">
                    <a:solidFill>
                      <a:srgbClr val="1E293B"/>
                    </a:solidFill>
                    <a:latin typeface="Calibri"/>
                  </a:rPr>
                  <a:t>, trong đó thời gian </a:t>
                </a:r>
                <a:r>
                  <a:rPr lang="vi-VN"/>
                  <a:t>t</a:t>
                </a:r>
                <a:r>
                  <a:rPr sz="2200">
                    <a:solidFill>
                      <a:srgbClr val="1E293B"/>
                    </a:solidFill>
                    <a:latin typeface="Calibri"/>
                  </a:rPr>
                  <a:t> được tính bằng giờ.</a:t>
                </a:r>
                <a:r>
                  <a:rPr sz="2200">
                    <a:solidFill>
                      <a:srgbClr val="1E293B"/>
                    </a:solidFill>
                    <a:latin typeface="Calibri"/>
                  </a:rPr>
                  <a:t> </a:t>
                </a:r>
                <a:r>
                  <a:rPr sz="2200">
                    <a:solidFill>
                      <a:srgbClr val="1E293B"/>
                    </a:solidFill>
                    <a:latin typeface="Calibri"/>
                  </a:rPr>
                  <a:t>Tại thời điểm ban đầu </a:t>
                </a:r>
                <a:r>
                  <a:rPr lang="vi-VN"/>
                  <a:t>t=0</a:t>
                </a:r>
                <a:r>
                  <a:rPr sz="2200">
                    <a:solidFill>
                      <a:srgbClr val="1E293B"/>
                    </a:solidFill>
                    <a:latin typeface="Calibri"/>
                  </a:rPr>
                  <a:t>, quần thể có 20 tế bào và tăng với tốc độ 12 tế bào/giờ.</a:t>
                </a:r>
                <a:r>
                  <a:rPr sz="2200">
                    <a:solidFill>
                      <a:srgbClr val="1E293B"/>
                    </a:solidFill>
                    <a:latin typeface="Calibri"/>
                  </a:rPr>
                  <a:t> </a:t>
                </a: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2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12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a:spcAft>
                    <a:spcPts val="800"/>
                  </a:spcAft>
                </a:pPr>
                <a:r>
                  <a:rPr sz="2200">
                    <a:solidFill>
                      <a:srgbClr val="1E293B"/>
                    </a:solidFill>
                    <a:latin typeface="Calibri"/>
                  </a:rPr>
                  <a:t>Tìm các giá trị của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a</m:t>
                    </m:r>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b</m:t>
                    </m:r>
                  </m:oMath>
                </a14:m>
                <a:r>
                  <a:rPr sz="2200">
                    <a:solidFill>
                      <a:srgbClr val="1E293B"/>
                    </a:solidFill>
                    <a:latin typeface="Calibri"/>
                  </a:rPr>
                  <a:t>.</a:t>
                </a:r>
                <a:r>
                  <a:rPr sz="2200">
                    <a:solidFill>
                      <a:srgbClr val="1E293B"/>
                    </a:solidFill>
                    <a:latin typeface="Calibri"/>
                  </a:rPr>
                  <a:t> </a:t>
                </a:r>
                <a:r>
                  <a:rPr sz="2200">
                    <a:solidFill>
                      <a:srgbClr val="1E293B"/>
                    </a:solidFill>
                    <a:latin typeface="Calibri"/>
                  </a:rPr>
                  <a:t>Theo mô hình này, điều gì xảy ra với quần thể nấm men về lâu dài?</a:t>
                </a:r>
                <a:r>
                  <a:rPr sz="2200">
                    <a:solidFill>
                      <a:srgbClr val="1E293B"/>
                    </a:solidFill>
                    <a:latin typeface="Calibri"/>
                  </a:rPr>
                  <a:t> </a:t>
                </a:r>
              </a:p>
              <a:p>
                <a:pPr algn="l">
                  <a:spcAft>
                    <a:spcPts val="800"/>
                  </a:spcAft>
                </a:pPr>
                <a:r>
                  <a:rPr sz="2200" b="1">
                    <a:solidFill>
                      <a:srgbClr val="1E40AF"/>
                    </a:solidFill>
                    <a:latin typeface="Calibri"/>
                  </a:rPr>
                  <a:t>Gợi mở: Dùng hai dữ kiện </a:t>
                </a:r>
                <a14:m>
                  <m:oMath xmlns:m="http://schemas.openxmlformats.org/officeDocument/2006/math">
                    <m:r>
                      <a:rPr lang="vi-VN" sz="2200" b="1">
                        <a:solidFill>
                          <a:srgbClr val="1E40AF"/>
                        </a:solidFill>
                        <a:latin typeface="Cambria Math" panose="02040503050406030204" pitchFamily="18" charset="0"/>
                      </a:rPr>
                      <m:t>P(0)=20</m:t>
                    </m:r>
                  </m:oMath>
                </a14:m>
                <a:r>
                  <a:rPr sz="2200" b="1">
                    <a:solidFill>
                      <a:srgbClr val="1E40AF"/>
                    </a:solidFill>
                    <a:latin typeface="Calibri"/>
                  </a:rPr>
                  <a:t> và </a:t>
                </a:r>
                <a14:m>
                  <m:oMath xmlns:m="http://schemas.openxmlformats.org/officeDocument/2006/math">
                    <m:sSup>
                      <m:e>
                        <m:r>
                          <a:rPr lang="vi-VN" sz="2200" b="1">
                            <a:solidFill>
                              <a:srgbClr val="1E40AF"/>
                            </a:solidFill>
                            <a:latin typeface="Cambria Math" panose="02040503050406030204" pitchFamily="18" charset="0"/>
                          </a:rPr>
                          <m:t>P</m:t>
                        </m:r>
                      </m:e>
                      <m:sup>
                        <m:r>
                          <a:rPr lang="vi-VN" sz="2200" b="1">
                            <a:solidFill>
                              <a:srgbClr val="1E40AF"/>
                            </a:solidFill>
                            <a:latin typeface="Cambria Math" panose="02040503050406030204" pitchFamily="18" charset="0"/>
                          </a:rPr>
                          <m:t>′</m:t>
                        </m:r>
                      </m:sup>
                    </m:sSup>
                    <m:r>
                      <a:rPr lang="vi-VN" sz="2200" b="1">
                        <a:solidFill>
                          <a:srgbClr val="1E40AF"/>
                        </a:solidFill>
                        <a:latin typeface="Cambria Math" panose="02040503050406030204" pitchFamily="18" charset="0"/>
                      </a:rPr>
                      <m:t>(0)=12</m:t>
                    </m:r>
                  </m:oMath>
                </a14:m>
              </a:p>
            </p:txBody>
          </p:sp>
        </mc:Choice>
        <mc:Fallback>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a:spcAft>
                    <a:spcPts val="800"/>
                  </a:spcAft>
                </a:pPr>
                <a:r>
                  <a:rPr sz="2200">
                    <a:solidFill>
                      <a:srgbClr val="1E293B"/>
                    </a:solidFill>
                    <a:latin typeface="Calibri"/>
                  </a:rPr>
                  <a:t>Tìm các giá trị của </a:t>
                </a:r>
                <a:r>
                  <a:rPr lang="vi-VN"/>
                  <a:t>a</a:t>
                </a:r>
                <a:r>
                  <a:rPr sz="2200">
                    <a:solidFill>
                      <a:srgbClr val="1E293B"/>
                    </a:solidFill>
                    <a:latin typeface="Calibri"/>
                  </a:rPr>
                  <a:t> và </a:t>
                </a:r>
                <a:r>
                  <a:rPr lang="vi-VN"/>
                  <a:t>b</a:t>
                </a:r>
                <a:r>
                  <a:rPr sz="2200">
                    <a:solidFill>
                      <a:srgbClr val="1E293B"/>
                    </a:solidFill>
                    <a:latin typeface="Calibri"/>
                  </a:rPr>
                  <a:t>.</a:t>
                </a:r>
                <a:r>
                  <a:rPr sz="2200">
                    <a:solidFill>
                      <a:srgbClr val="1E293B"/>
                    </a:solidFill>
                    <a:latin typeface="Calibri"/>
                  </a:rPr>
                  <a:t> </a:t>
                </a:r>
                <a:r>
                  <a:rPr sz="2200">
                    <a:solidFill>
                      <a:srgbClr val="1E293B"/>
                    </a:solidFill>
                    <a:latin typeface="Calibri"/>
                  </a:rPr>
                  <a:t>Theo mô hình này, điều gì xảy ra với quần thể nấm men về lâu dài?</a:t>
                </a:r>
                <a:r>
                  <a:rPr sz="2200">
                    <a:solidFill>
                      <a:srgbClr val="1E293B"/>
                    </a:solidFill>
                    <a:latin typeface="Calibri"/>
                  </a:rPr>
                  <a:t> </a:t>
                </a:r>
              </a:p>
              <a:p>
                <a:pPr algn="l">
                  <a:spcAft>
                    <a:spcPts val="800"/>
                  </a:spcAft>
                </a:pPr>
                <a:r>
                  <a:rPr sz="2200" b="1">
                    <a:solidFill>
                      <a:srgbClr val="1E40AF"/>
                    </a:solidFill>
                    <a:latin typeface="Calibri"/>
                  </a:rPr>
                  <a:t>Gợi mở: Dùng hai dữ kiện </a:t>
                </a:r>
                <a:r>
                  <a:rPr lang="vi-VN"/>
                  <a:t>P(0)=20</a:t>
                </a:r>
                <a:r>
                  <a:rPr sz="2200" b="1">
                    <a:solidFill>
                      <a:srgbClr val="1E40AF"/>
                    </a:solidFill>
                    <a:latin typeface="Calibri"/>
                  </a:rPr>
                  <a:t> và </a:t>
                </a:r>
                <a:r>
                  <a:rPr lang="vi-VN"/>
                  <a:t>P'(0)=12</a:t>
                </a: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2: QUẦN THỂ NẤM MEN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13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6291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Ta có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200" b="0">
                            <a:solidFill>
                              <a:srgbClr val="1E293B"/>
                            </a:solidFill>
                            <a:latin typeface="Cambria Math" panose="02040503050406030204" pitchFamily="18" charset="0"/>
                          </a:rPr>
                          <m:t>P</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(t)=</m:t>
                    </m:r>
                    <m:f>
                      <m:fPr>
                        <m:type m:val="bar"/>
                      </m:fPr>
                      <m:num>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75a</m:t>
                        </m:r>
                        <m:sSup>
                          <m:e>
                            <m:r>
                              <a:rPr lang="vi-VN" sz="2200" b="0">
                                <a:solidFill>
                                  <a:srgbClr val="1E293B"/>
                                </a:solidFill>
                                <a:latin typeface="Cambria Math" panose="02040503050406030204" pitchFamily="18" charset="0"/>
                              </a:rPr>
                              <m:t>e</m:t>
                            </m:r>
                          </m:e>
                          <m:sup>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75t</m:t>
                            </m:r>
                          </m:sup>
                        </m:sSup>
                      </m:num>
                      <m:den>
                        <m:sSup>
                          <m:e>
                            <m:d>
                              <m:dPr>
                                <m:sepChr m:val=""/>
                              </m:dPr>
                              <m:e>
                                <m:r>
                                  <a:rPr lang="vi-VN" sz="2200" b="0">
                                    <a:solidFill>
                                      <a:srgbClr val="1E293B"/>
                                    </a:solidFill>
                                    <a:latin typeface="Cambria Math" panose="02040503050406030204" pitchFamily="18" charset="0"/>
                                  </a:rPr>
                                  <m:t>b</m:t>
                                </m:r>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e</m:t>
                                    </m:r>
                                  </m:e>
                                  <m:sup>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75t</m:t>
                                    </m:r>
                                  </m:sup>
                                </m:sSup>
                              </m:e>
                            </m:d>
                          </m:e>
                          <m:sup>
                            <m:r>
                              <a:rPr lang="vi-VN" sz="2200" b="0">
                                <a:solidFill>
                                  <a:srgbClr val="1E293B"/>
                                </a:solidFill>
                                <a:latin typeface="Cambria Math" panose="02040503050406030204" pitchFamily="18" charset="0"/>
                              </a:rPr>
                              <m:t>2</m:t>
                            </m:r>
                          </m:sup>
                        </m:sSup>
                      </m:den>
                    </m:f>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t≥0</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Theo đề bài,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P(0)=20</m:t>
                    </m:r>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200" b="0">
                            <a:solidFill>
                              <a:srgbClr val="1E293B"/>
                            </a:solidFill>
                            <a:latin typeface="Cambria Math" panose="02040503050406030204" pitchFamily="18" charset="0"/>
                          </a:rPr>
                          <m:t>P</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(0)=12</m:t>
                    </m:r>
                  </m:oMath>
                </a14:m>
                <a:r>
                  <a:rPr sz="2200">
                    <a:solidFill>
                      <a:srgbClr val="1E293B"/>
                    </a:solidFill>
                    <a:latin typeface="Calibri"/>
                  </a:rPr>
                  <a:t>, tức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f>
                      <m:fPr>
                        <m:type m:val="bar"/>
                      </m:fPr>
                      <m:num>
                        <m:r>
                          <a:rPr lang="vi-VN" sz="2200" b="0">
                            <a:solidFill>
                              <a:srgbClr val="1E293B"/>
                            </a:solidFill>
                            <a:latin typeface="Cambria Math" panose="02040503050406030204" pitchFamily="18" charset="0"/>
                          </a:rPr>
                          <m:t>a</m:t>
                        </m:r>
                      </m:num>
                      <m:den>
                        <m:r>
                          <a:rPr lang="vi-VN" sz="2200" b="0">
                            <a:solidFill>
                              <a:srgbClr val="1E293B"/>
                            </a:solidFill>
                            <a:latin typeface="Cambria Math" panose="02040503050406030204" pitchFamily="18" charset="0"/>
                          </a:rPr>
                          <m:t>b+1</m:t>
                        </m:r>
                      </m:den>
                    </m:f>
                    <m:r>
                      <a:rPr lang="vi-VN" sz="2200" b="0">
                        <a:solidFill>
                          <a:srgbClr val="1E293B"/>
                        </a:solidFill>
                        <a:latin typeface="Cambria Math" panose="02040503050406030204" pitchFamily="18" charset="0"/>
                      </a:rPr>
                      <m:t>=20</m:t>
                    </m:r>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f>
                      <m:fPr>
                        <m:type m:val="bar"/>
                      </m:fPr>
                      <m:num>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75a</m:t>
                        </m:r>
                      </m:num>
                      <m:den>
                        <m:sSup>
                          <m:e>
                            <m:d>
                              <m:dPr>
                                <m:sepChr m:val=""/>
                              </m:dPr>
                              <m:e>
                                <m:r>
                                  <a:rPr lang="vi-VN" sz="2200" b="0">
                                    <a:solidFill>
                                      <a:srgbClr val="1E293B"/>
                                    </a:solidFill>
                                    <a:latin typeface="Cambria Math" panose="02040503050406030204" pitchFamily="18" charset="0"/>
                                  </a:rPr>
                                  <m:t>b</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e>
                            </m:d>
                          </m:e>
                          <m:sup>
                            <m:r>
                              <a:rPr lang="vi-VN" sz="2200" b="0">
                                <a:solidFill>
                                  <a:srgbClr val="1E293B"/>
                                </a:solidFill>
                                <a:latin typeface="Cambria Math" panose="02040503050406030204" pitchFamily="18" charset="0"/>
                              </a:rPr>
                              <m:t>2</m:t>
                            </m:r>
                          </m:sup>
                        </m:sSup>
                      </m:den>
                    </m:f>
                    <m:r>
                      <a:rPr lang="vi-VN" sz="2200" b="0">
                        <a:solidFill>
                          <a:srgbClr val="1E293B"/>
                        </a:solidFill>
                        <a:latin typeface="Cambria Math" panose="02040503050406030204" pitchFamily="18" charset="0"/>
                      </a:rPr>
                      <m:t>=12</m:t>
                    </m:r>
                  </m:oMath>
                </a14:m>
                <a:r>
                  <a:rPr sz="2200">
                    <a:solidFill>
                      <a:srgbClr val="1E293B"/>
                    </a:solidFill>
                    <a:latin typeface="Calibri"/>
                  </a:rPr>
                  <a:t>, suy ra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a=20(b+1)</m:t>
                    </m:r>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f>
                      <m:fPr>
                        <m:type m:val="bar"/>
                      </m:fPr>
                      <m:num>
                        <m:r>
                          <a:rPr lang="vi-VN" sz="2200" b="0">
                            <a:solidFill>
                              <a:srgbClr val="1E293B"/>
                            </a:solidFill>
                            <a:latin typeface="Cambria Math" panose="02040503050406030204" pitchFamily="18" charset="0"/>
                          </a:rPr>
                          <m:t>15</m:t>
                        </m:r>
                      </m:num>
                      <m:den>
                        <m:r>
                          <a:rPr lang="vi-VN" sz="2200" b="0">
                            <a:solidFill>
                              <a:srgbClr val="1E293B"/>
                            </a:solidFill>
                            <a:latin typeface="Cambria Math" panose="02040503050406030204" pitchFamily="18" charset="0"/>
                          </a:rPr>
                          <m:t>b+1</m:t>
                        </m:r>
                      </m:den>
                    </m:f>
                    <m:r>
                      <a:rPr lang="vi-VN" sz="2200" b="0">
                        <a:solidFill>
                          <a:srgbClr val="1E293B"/>
                        </a:solidFill>
                        <a:latin typeface="Cambria Math" panose="02040503050406030204" pitchFamily="18" charset="0"/>
                      </a:rPr>
                      <m:t>=12</m:t>
                    </m:r>
                  </m:oMath>
                </a14:m>
                <a:r>
                  <a:rPr sz="2200">
                    <a:solidFill>
                      <a:srgbClr val="1E293B"/>
                    </a:solidFill>
                    <a:latin typeface="Calibri"/>
                  </a:rPr>
                  <a:t>.</a:t>
                </a:r>
              </a:p>
            </p:txBody>
          </p:sp>
        </mc:Choice>
        <mc:Fallback>
          <p:sp>
            <p:nvSpPr>
              <p:cNvPr id="7" name="TextBox 6"/>
              <p:cNvSpPr txBox="1"/>
              <p:nvPr/>
            </p:nvSpPr>
            <p:spPr>
              <a:xfrm>
                <a:off x="731520" y="1463040"/>
                <a:ext cx="10789920" cy="196291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Ta có </a:t>
                </a:r>
                <a:r>
                  <a:rPr lang="vi-VN"/>
                  <a:t>P^′(t)=(0,75ae^(−0,75t))/((b+e^(−0,75t))^2)</a:t>
                </a:r>
                <a:r>
                  <a:rPr sz="2200">
                    <a:solidFill>
                      <a:srgbClr val="1E293B"/>
                    </a:solidFill>
                    <a:latin typeface="Calibri"/>
                  </a:rPr>
                  <a:t>, </a:t>
                </a:r>
                <a:r>
                  <a:rPr lang="vi-VN"/>
                  <a:t>t≥0</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Theo đề bài, </a:t>
                </a:r>
                <a:r>
                  <a:rPr lang="vi-VN"/>
                  <a:t>P(0)=20</a:t>
                </a:r>
                <a:r>
                  <a:rPr sz="2200">
                    <a:solidFill>
                      <a:srgbClr val="1E293B"/>
                    </a:solidFill>
                    <a:latin typeface="Calibri"/>
                  </a:rPr>
                  <a:t> và </a:t>
                </a:r>
                <a:r>
                  <a:rPr lang="vi-VN"/>
                  <a:t>P^′(0)=12</a:t>
                </a:r>
                <a:r>
                  <a:rPr sz="2200">
                    <a:solidFill>
                      <a:srgbClr val="1E293B"/>
                    </a:solidFill>
                    <a:latin typeface="Calibri"/>
                  </a:rPr>
                  <a:t>, tức là </a:t>
                </a:r>
                <a:r>
                  <a:rPr lang="vi-VN"/>
                  <a:t>a/(b+1)=20</a:t>
                </a:r>
                <a:r>
                  <a:rPr sz="2200">
                    <a:solidFill>
                      <a:srgbClr val="1E293B"/>
                    </a:solidFill>
                    <a:latin typeface="Calibri"/>
                  </a:rPr>
                  <a:t> và </a:t>
                </a:r>
                <a:r>
                  <a:rPr lang="vi-VN"/>
                  <a:t>0,75a/((b+1)^2)=12</a:t>
                </a:r>
                <a:r>
                  <a:rPr sz="2200">
                    <a:solidFill>
                      <a:srgbClr val="1E293B"/>
                    </a:solidFill>
                    <a:latin typeface="Calibri"/>
                  </a:rPr>
                  <a:t>, suy ra </a:t>
                </a:r>
                <a:r>
                  <a:rPr lang="vi-VN"/>
                  <a:t>a=20(b+1)</a:t>
                </a:r>
                <a:r>
                  <a:rPr sz="2200">
                    <a:solidFill>
                      <a:srgbClr val="1E293B"/>
                    </a:solidFill>
                    <a:latin typeface="Calibri"/>
                  </a:rPr>
                  <a:t> và </a:t>
                </a:r>
                <a:r>
                  <a:rPr lang="vi-VN"/>
                  <a:t>15/(b+1)=12</a:t>
                </a:r>
                <a:r>
                  <a:rPr sz="2200">
                    <a:solidFill>
                      <a:srgbClr val="1E293B"/>
                    </a:solidFill>
                    <a:latin typeface="Calibri"/>
                  </a:rPr>
                  <a:t>.</a:t>
                </a: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2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14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79946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Giải hệ được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a=25</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b=</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m:t>
                        </m:r>
                      </m:den>
                    </m:f>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Khi đó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200" b="0">
                            <a:solidFill>
                              <a:srgbClr val="1E293B"/>
                            </a:solidFill>
                            <a:latin typeface="Cambria Math" panose="02040503050406030204" pitchFamily="18" charset="0"/>
                          </a:rPr>
                          <m:t>P</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(t)=</m:t>
                    </m:r>
                    <m:f>
                      <m:fPr>
                        <m:type m:val="bar"/>
                      </m:fPr>
                      <m:num>
                        <m:r>
                          <a:rPr lang="vi-VN" sz="2200" b="0">
                            <a:solidFill>
                              <a:srgbClr val="1E293B"/>
                            </a:solidFill>
                            <a:latin typeface="Cambria Math" panose="02040503050406030204" pitchFamily="18" charset="0"/>
                          </a:rPr>
                          <m:t>18</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75</m:t>
                        </m:r>
                        <m:sSup>
                          <m:e>
                            <m:r>
                              <a:rPr lang="vi-VN" sz="2200" b="0">
                                <a:solidFill>
                                  <a:srgbClr val="1E293B"/>
                                </a:solidFill>
                                <a:latin typeface="Cambria Math" panose="02040503050406030204" pitchFamily="18" charset="0"/>
                              </a:rPr>
                              <m:t>e</m:t>
                            </m:r>
                          </m:e>
                          <m:sup>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75t</m:t>
                            </m:r>
                          </m:sup>
                        </m:sSup>
                      </m:num>
                      <m:den>
                        <m:sSup>
                          <m:e>
                            <m:d>
                              <m:dPr>
                                <m:sepChr m:val="+"/>
                              </m:dPr>
                              <m:e>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m:t>
                                    </m:r>
                                  </m:den>
                                </m:f>
                              </m:e>
                              <m:e>
                                <m:sSup>
                                  <m:e>
                                    <m:r>
                                      <a:rPr lang="vi-VN" sz="2200" b="0">
                                        <a:solidFill>
                                          <a:srgbClr val="1E293B"/>
                                        </a:solidFill>
                                        <a:latin typeface="Cambria Math" panose="02040503050406030204" pitchFamily="18" charset="0"/>
                                      </a:rPr>
                                      <m:t>e</m:t>
                                    </m:r>
                                  </m:e>
                                  <m:sup>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75t</m:t>
                                    </m:r>
                                  </m:sup>
                                </m:sSup>
                              </m:e>
                            </m:d>
                          </m:e>
                          <m:sup>
                            <m:r>
                              <a:rPr lang="vi-VN" sz="2200" b="0">
                                <a:solidFill>
                                  <a:srgbClr val="1E293B"/>
                                </a:solidFill>
                                <a:latin typeface="Cambria Math" panose="02040503050406030204" pitchFamily="18" charset="0"/>
                              </a:rPr>
                              <m:t>2</m:t>
                            </m:r>
                          </m:sup>
                        </m:sSup>
                      </m:den>
                    </m:f>
                    <m:r>
                      <a:rPr lang="vi-VN" sz="2200" b="0">
                        <a:solidFill>
                          <a:srgbClr val="1E293B"/>
                        </a:solidFill>
                        <a:latin typeface="Cambria Math" panose="02040503050406030204" pitchFamily="18" charset="0"/>
                      </a:rPr>
                      <m:t>&gt;0</m:t>
                    </m:r>
                  </m:oMath>
                </a14:m>
                <a:r>
                  <a:rPr sz="2200">
                    <a:solidFill>
                      <a:srgbClr val="1E293B"/>
                    </a:solidFill>
                    <a:latin typeface="Calibri"/>
                  </a:rPr>
                  <a:t> với mọi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t≥0</m:t>
                    </m:r>
                  </m:oMath>
                </a14:m>
                <a:r>
                  <a:rPr sz="2200">
                    <a:solidFill>
                      <a:srgbClr val="1E293B"/>
                    </a:solidFill>
                    <a:latin typeface="Calibri"/>
                  </a:rPr>
                  <a:t>, tức là số lượng nấm men luôn tăng.</a:t>
                </a:r>
              </a:p>
            </p:txBody>
          </p:sp>
        </mc:Choice>
        <mc:Fallback>
          <p:sp>
            <p:nvSpPr>
              <p:cNvPr id="7" name="TextBox 6"/>
              <p:cNvSpPr txBox="1"/>
              <p:nvPr/>
            </p:nvSpPr>
            <p:spPr>
              <a:xfrm>
                <a:off x="731520" y="1463040"/>
                <a:ext cx="10789920" cy="179946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Giải hệ được </a:t>
                </a:r>
                <a:r>
                  <a:rPr lang="vi-VN"/>
                  <a:t>a=25</a:t>
                </a:r>
                <a:r>
                  <a:rPr sz="2200">
                    <a:solidFill>
                      <a:srgbClr val="1E293B"/>
                    </a:solidFill>
                    <a:latin typeface="Calibri"/>
                  </a:rPr>
                  <a:t>, </a:t>
                </a:r>
                <a:r>
                  <a:rPr lang="vi-VN"/>
                  <a:t>b=1/4</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Khi đó </a:t>
                </a:r>
                <a:r>
                  <a:rPr lang="vi-VN"/>
                  <a:t>P^′(t)=(18,75e^(−0,75t))/((1/4 e^(−0,75t))^2)&gt;0</a:t>
                </a:r>
                <a:r>
                  <a:rPr sz="2200">
                    <a:solidFill>
                      <a:srgbClr val="1E293B"/>
                    </a:solidFill>
                    <a:latin typeface="Calibri"/>
                  </a:rPr>
                  <a:t> với mọi </a:t>
                </a:r>
                <a:r>
                  <a:rPr lang="vi-VN"/>
                  <a:t>t≥0</a:t>
                </a:r>
                <a:r>
                  <a:rPr sz="2200">
                    <a:solidFill>
                      <a:srgbClr val="1E293B"/>
                    </a:solidFill>
                    <a:latin typeface="Calibri"/>
                  </a:rPr>
                  <a:t>, tức là số lượng nấm men luôn tăng.</a:t>
                </a:r>
              </a:p>
            </p:txBody>
          </p:sp>
        </mc:Fallback>
      </mc:AlternateContent>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2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15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16306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Tuy nhiên, do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lim</m:t>
                        </m:r>
                      </m:e>
                      <m:sub>
                        <m:r>
                          <a:rPr lang="vi-VN" sz="2200" b="0">
                            <a:solidFill>
                              <a:srgbClr val="1E293B"/>
                            </a:solidFill>
                            <a:latin typeface="Cambria Math" panose="02040503050406030204" pitchFamily="18" charset="0"/>
                          </a:rPr>
                          <m:t>t→+∞</m:t>
                        </m:r>
                      </m:sub>
                    </m:sSub>
                    <m:r>
                      <a:rPr lang="vi-VN" sz="2200" b="0">
                        <a:solidFill>
                          <a:srgbClr val="1E293B"/>
                        </a:solidFill>
                        <a:latin typeface="Cambria Math" panose="02040503050406030204" pitchFamily="18" charset="0"/>
                      </a:rPr>
                      <m:t>P(t)=</m:t>
                    </m:r>
                    <m:sSub>
                      <m:e>
                        <m:r>
                          <a:rPr lang="vi-VN" sz="2200" b="0">
                            <a:solidFill>
                              <a:srgbClr val="1E293B"/>
                            </a:solidFill>
                            <a:latin typeface="Cambria Math" panose="02040503050406030204" pitchFamily="18" charset="0"/>
                          </a:rPr>
                          <m:t>lim</m:t>
                        </m:r>
                      </m:e>
                      <m:sub>
                        <m:r>
                          <a:rPr lang="vi-VN" sz="2200" b="0">
                            <a:solidFill>
                              <a:srgbClr val="1E293B"/>
                            </a:solidFill>
                            <a:latin typeface="Cambria Math" panose="02040503050406030204" pitchFamily="18" charset="0"/>
                          </a:rPr>
                          <m:t>t→+∞</m:t>
                        </m:r>
                      </m:sub>
                    </m:sSub>
                    <m:f>
                      <m:fPr>
                        <m:type m:val="bar"/>
                      </m:fPr>
                      <m:num>
                        <m:r>
                          <a:rPr lang="vi-VN" sz="2200" b="0">
                            <a:solidFill>
                              <a:srgbClr val="1E293B"/>
                            </a:solidFill>
                            <a:latin typeface="Cambria Math" panose="02040503050406030204" pitchFamily="18" charset="0"/>
                          </a:rPr>
                          <m:t>25</m:t>
                        </m:r>
                      </m:num>
                      <m:den>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m:t>
                            </m:r>
                          </m:den>
                        </m:f>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e</m:t>
                            </m:r>
                          </m:e>
                          <m:sup>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75t</m:t>
                            </m:r>
                          </m:sup>
                        </m:sSup>
                      </m:den>
                    </m:f>
                    <m:r>
                      <a:rPr lang="vi-VN" sz="2200" b="0">
                        <a:solidFill>
                          <a:srgbClr val="1E293B"/>
                        </a:solidFill>
                        <a:latin typeface="Cambria Math" panose="02040503050406030204" pitchFamily="18" charset="0"/>
                      </a:rPr>
                      <m:t>=100</m:t>
                    </m:r>
                  </m:oMath>
                </a14:m>
                <a:r>
                  <a:rPr sz="2200">
                    <a:solidFill>
                      <a:srgbClr val="1E293B"/>
                    </a:solidFill>
                    <a:latin typeface="Calibri"/>
                  </a:rPr>
                  <a:t> nên số lượng của quần thể nấm men tăng nhưng không vượt quá 100 tế bào.</a:t>
                </a:r>
              </a:p>
            </p:txBody>
          </p:sp>
        </mc:Choice>
        <mc:Fallback>
          <p:sp>
            <p:nvSpPr>
              <p:cNvPr id="7" name="TextBox 6"/>
              <p:cNvSpPr txBox="1"/>
              <p:nvPr/>
            </p:nvSpPr>
            <p:spPr>
              <a:xfrm>
                <a:off x="731520" y="1463040"/>
                <a:ext cx="10789920" cy="116306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Tuy nhiên, do </a:t>
                </a:r>
                <a:r>
                  <a:rPr lang="vi-VN"/>
                  <a:t>lim_(t→+∞)P(t)=lim_(t→+∞)25/(1/4+e^(−0,75t))=100</a:t>
                </a:r>
                <a:r>
                  <a:rPr sz="2200">
                    <a:solidFill>
                      <a:srgbClr val="1E293B"/>
                    </a:solidFill>
                    <a:latin typeface="Calibri"/>
                  </a:rPr>
                  <a:t> nên số lượng của quần thể nấm men tăng nhưng không vượt quá 100 tế bào.</a:t>
                </a:r>
              </a:p>
            </p:txBody>
          </p:sp>
        </mc:Fallback>
      </mc:AlternateContent>
      <p:sp>
        <p:nvSpPr>
          <p:cNvPr id="8" name="Rounded Rectangle 7"/>
          <p:cNvSpPr/>
          <p:nvPr/>
        </p:nvSpPr>
        <p:spPr>
          <a:xfrm>
            <a:off x="731520" y="2763265"/>
            <a:ext cx="9601200" cy="1301115"/>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763265"/>
                <a:ext cx="9235440" cy="13011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 </a:t>
                </a:r>
                <a14:m>
                  <m:oMath xmlns:m="http://schemas.openxmlformats.org/officeDocument/2006/math">
                    <m:r>
                      <a:rPr lang="vi-VN" sz="2200" b="1">
                        <a:solidFill>
                          <a:srgbClr val="991B1B"/>
                        </a:solidFill>
                        <a:latin typeface="Cambria Math" panose="02040503050406030204" pitchFamily="18" charset="0"/>
                      </a:rPr>
                      <m:t>a=25</m:t>
                    </m:r>
                  </m:oMath>
                </a14:m>
                <a:r>
                  <a:rPr sz="2200" b="1">
                    <a:solidFill>
                      <a:srgbClr val="991B1B"/>
                    </a:solidFill>
                    <a:latin typeface="Calibri"/>
                  </a:rPr>
                  <a:t>, </a:t>
                </a:r>
                <a14:m>
                  <m:oMath xmlns:m="http://schemas.openxmlformats.org/officeDocument/2006/math">
                    <m:r>
                      <a:rPr lang="vi-VN" sz="2200" b="1">
                        <a:solidFill>
                          <a:srgbClr val="991B1B"/>
                        </a:solidFill>
                        <a:latin typeface="Cambria Math" panose="02040503050406030204" pitchFamily="18" charset="0"/>
                      </a:rPr>
                      <m:t>b=</m:t>
                    </m:r>
                    <m:f>
                      <m:fPr>
                        <m:type m:val="bar"/>
                      </m:fPr>
                      <m:num>
                        <m:r>
                          <a:rPr lang="vi-VN" sz="2200" b="1">
                            <a:solidFill>
                              <a:srgbClr val="991B1B"/>
                            </a:solidFill>
                            <a:latin typeface="Cambria Math" panose="02040503050406030204" pitchFamily="18" charset="0"/>
                          </a:rPr>
                          <m:t>1</m:t>
                        </m:r>
                      </m:num>
                      <m:den>
                        <m:r>
                          <a:rPr lang="vi-VN" sz="2200" b="1">
                            <a:solidFill>
                              <a:srgbClr val="991B1B"/>
                            </a:solidFill>
                            <a:latin typeface="Cambria Math" panose="02040503050406030204" pitchFamily="18" charset="0"/>
                          </a:rPr>
                          <m:t>4</m:t>
                        </m:r>
                      </m:den>
                    </m:f>
                  </m:oMath>
                </a14:m>
                <a:r>
                  <a:rPr sz="2200" b="1">
                    <a:solidFill>
                      <a:srgbClr val="991B1B"/>
                    </a:solidFill>
                    <a:latin typeface="Calibri"/>
                  </a:rPr>
                  <a:t>; quần thể luôn tăng nhưng không vượt quá 100 tế bào</a:t>
                </a:r>
              </a:p>
            </p:txBody>
          </p:sp>
        </mc:Choice>
        <mc:Fallback>
          <p:sp>
            <p:nvSpPr>
              <p:cNvPr id="9" name="TextBox 8"/>
              <p:cNvSpPr txBox="1"/>
              <p:nvPr/>
            </p:nvSpPr>
            <p:spPr>
              <a:xfrm>
                <a:off x="914400" y="2763265"/>
                <a:ext cx="9235440" cy="13011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 </a:t>
                </a:r>
                <a:r>
                  <a:rPr lang="vi-VN"/>
                  <a:t>a=25</a:t>
                </a:r>
                <a:r>
                  <a:rPr sz="2200" b="1">
                    <a:solidFill>
                      <a:srgbClr val="991B1B"/>
                    </a:solidFill>
                    <a:latin typeface="Calibri"/>
                  </a:rPr>
                  <a:t>, </a:t>
                </a:r>
                <a:r>
                  <a:rPr lang="vi-VN"/>
                  <a:t>b=\frac{1}{4}</a:t>
                </a:r>
                <a:r>
                  <a:rPr sz="2200" b="1">
                    <a:solidFill>
                      <a:srgbClr val="991B1B"/>
                    </a:solidFill>
                    <a:latin typeface="Calibri"/>
                  </a:rPr>
                  <a:t>; quần thể luôn tăng nhưng không vượt quá 100 tế bào</a:t>
                </a: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3: CHI PHÍ BIÊN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16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a:spcAft>
                    <a:spcPts val="800"/>
                  </a:spcAft>
                </a:pPr>
                <a:r>
                  <a:rPr sz="2400">
                    <a:solidFill>
                      <a:srgbClr val="1E293B"/>
                    </a:solidFill>
                    <a:latin typeface="Calibri"/>
                  </a:rPr>
                  <a:t>Giả sử chi phí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C(x)</m:t>
                    </m:r>
                  </m:oMath>
                </a14:m>
                <a:r>
                  <a:rPr sz="2400">
                    <a:solidFill>
                      <a:srgbClr val="1E293B"/>
                    </a:solidFill>
                    <a:latin typeface="Calibri"/>
                  </a:rPr>
                  <a:t> (nghìn đồng) để sản xuất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x</m:t>
                    </m:r>
                  </m:oMath>
                </a14:m>
                <a:r>
                  <a:rPr sz="2400">
                    <a:solidFill>
                      <a:srgbClr val="1E293B"/>
                    </a:solidFill>
                    <a:latin typeface="Calibri"/>
                  </a:rPr>
                  <a:t> đơn vị của một loại hàng hoá nào đó được cho bởi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C(x)=30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000+300x−2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125</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Tìm hàm chi phí biên.</a:t>
                </a:r>
              </a:p>
              <a:p>
                <a:pPr algn="l" marL="365760" indent="-365760">
                  <a:spcAft>
                    <a:spcPts val="800"/>
                  </a:spcAft>
                  <a:buClr>
                    <a:srgbClr val="1E40AF"/>
                  </a:buClr>
                  <a:buFont typeface="Arial"/>
                  <a:buChar char="•"/>
                </a:pPr>
                <a:r>
                  <a:rPr sz="2400">
                    <a:solidFill>
                      <a:srgbClr val="1E293B"/>
                    </a:solidFill>
                    <a:latin typeface="Calibri"/>
                  </a:rPr>
                  <a:t>b) Tìm </a:t>
                </a:r>
                <a14:m>
                  <m:oMath xmlns:m="http://schemas.openxmlformats.org/officeDocument/2006/math">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(200)</m:t>
                    </m:r>
                  </m:oMath>
                </a14:m>
                <a:r>
                  <a:rPr sz="2400">
                    <a:solidFill>
                      <a:srgbClr val="1E293B"/>
                    </a:solidFill>
                    <a:latin typeface="Calibri"/>
                  </a:rPr>
                  <a:t>, nêu ý nghĩa.</a:t>
                </a:r>
              </a:p>
              <a:p>
                <a:pPr algn="l" marL="365760" indent="-365760">
                  <a:spcAft>
                    <a:spcPts val="800"/>
                  </a:spcAft>
                  <a:buClr>
                    <a:srgbClr val="1E40AF"/>
                  </a:buClr>
                  <a:buFont typeface="Arial"/>
                  <a:buChar char="•"/>
                </a:pPr>
                <a:r>
                  <a:rPr sz="2400">
                    <a:solidFill>
                      <a:srgbClr val="1E293B"/>
                    </a:solidFill>
                    <a:latin typeface="Calibri"/>
                  </a:rPr>
                  <a:t>c) So sánh </a:t>
                </a:r>
                <a14:m>
                  <m:oMath xmlns:m="http://schemas.openxmlformats.org/officeDocument/2006/math">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(200)</m:t>
                    </m:r>
                  </m:oMath>
                </a14:m>
                <a:r>
                  <a:rPr sz="2400">
                    <a:solidFill>
                      <a:srgbClr val="1E293B"/>
                    </a:solidFill>
                    <a:latin typeface="Calibri"/>
                  </a:rPr>
                  <a:t> với chi phí đơn vị thứ 201.</a:t>
                </a:r>
              </a:p>
            </p:txBody>
          </p:sp>
        </mc:Choice>
        <mc:Fallback>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a:spcAft>
                    <a:spcPts val="800"/>
                  </a:spcAft>
                </a:pPr>
                <a:r>
                  <a:rPr sz="2400">
                    <a:solidFill>
                      <a:srgbClr val="1E293B"/>
                    </a:solidFill>
                    <a:latin typeface="Calibri"/>
                  </a:rPr>
                  <a:t>Giả sử chi phí </a:t>
                </a:r>
                <a:r>
                  <a:rPr lang="vi-VN"/>
                  <a:t>C(x)</a:t>
                </a:r>
                <a:r>
                  <a:rPr sz="2400">
                    <a:solidFill>
                      <a:srgbClr val="1E293B"/>
                    </a:solidFill>
                    <a:latin typeface="Calibri"/>
                  </a:rPr>
                  <a:t> (nghìn đồng) để sản xuất </a:t>
                </a:r>
                <a:r>
                  <a:rPr lang="vi-VN"/>
                  <a:t>x</a:t>
                </a:r>
                <a:r>
                  <a:rPr sz="2400">
                    <a:solidFill>
                      <a:srgbClr val="1E293B"/>
                    </a:solidFill>
                    <a:latin typeface="Calibri"/>
                  </a:rPr>
                  <a:t> đơn vị của một loại hàng hoá nào đó được cho bởi hàm số </a:t>
                </a:r>
                <a:r>
                  <a:rPr lang="vi-VN"/>
                  <a:t>C(x)=30 000+300x−2,5x^2+0,125x^3</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Tìm hàm chi phí biên.</a:t>
                </a:r>
              </a:p>
              <a:p>
                <a:pPr algn="l" marL="365760" indent="-365760">
                  <a:spcAft>
                    <a:spcPts val="800"/>
                  </a:spcAft>
                  <a:buClr>
                    <a:srgbClr val="1E40AF"/>
                  </a:buClr>
                  <a:buFont typeface="Arial"/>
                  <a:buChar char="•"/>
                </a:pPr>
                <a:r>
                  <a:rPr sz="2400">
                    <a:solidFill>
                      <a:srgbClr val="1E293B"/>
                    </a:solidFill>
                    <a:latin typeface="Calibri"/>
                  </a:rPr>
                  <a:t>b) Tìm </a:t>
                </a:r>
                <a:r>
                  <a:rPr lang="vi-VN"/>
                  <a:t>C'(200)</a:t>
                </a:r>
                <a:r>
                  <a:rPr sz="2400">
                    <a:solidFill>
                      <a:srgbClr val="1E293B"/>
                    </a:solidFill>
                    <a:latin typeface="Calibri"/>
                  </a:rPr>
                  <a:t>, nêu ý nghĩa.</a:t>
                </a:r>
              </a:p>
              <a:p>
                <a:pPr algn="l" marL="365760" indent="-365760">
                  <a:spcAft>
                    <a:spcPts val="800"/>
                  </a:spcAft>
                  <a:buClr>
                    <a:srgbClr val="1E40AF"/>
                  </a:buClr>
                  <a:buFont typeface="Arial"/>
                  <a:buChar char="•"/>
                </a:pPr>
                <a:r>
                  <a:rPr sz="2400">
                    <a:solidFill>
                      <a:srgbClr val="1E293B"/>
                    </a:solidFill>
                    <a:latin typeface="Calibri"/>
                  </a:rPr>
                  <a:t>c) So sánh </a:t>
                </a:r>
                <a:r>
                  <a:rPr lang="vi-VN"/>
                  <a:t>C'(200)</a:t>
                </a:r>
                <a:r>
                  <a:rPr sz="2400">
                    <a:solidFill>
                      <a:srgbClr val="1E293B"/>
                    </a:solidFill>
                    <a:latin typeface="Calibri"/>
                  </a:rPr>
                  <a:t> với chi phí đơn vị thứ 201.</a:t>
                </a: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3: CHI PHÍ BIÊN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17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(x)=300−5x+0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375</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(200)=14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300</m:t>
                    </m:r>
                  </m:oMath>
                </a14:m>
                <a:r>
                  <a:rPr sz="2400">
                    <a:solidFill>
                      <a:srgbClr val="1E293B"/>
                    </a:solidFill>
                    <a:latin typeface="Calibri"/>
                  </a:rPr>
                  <a:t>: thêm đơn vị thứ 201 tốn khoảng 14 300 nghìn đồng</a:t>
                </a:r>
              </a:p>
              <a:p>
                <a:pPr algn="l" marL="365760" indent="-365760">
                  <a:spcAft>
                    <a:spcPts val="800"/>
                  </a:spcAft>
                  <a:buClr>
                    <a:srgbClr val="1E40AF"/>
                  </a:buClr>
                  <a:buFont typeface="Arial"/>
                  <a:buChar char="•"/>
                </a:pPr>
                <a:r>
                  <a:rPr sz="2400">
                    <a:solidFill>
                      <a:srgbClr val="1E293B"/>
                    </a:solidFill>
                    <a:latin typeface="Calibri"/>
                  </a:rPr>
                  <a:t>c) </a:t>
                </a:r>
                <a14:m>
                  <m:oMath xmlns:m="http://schemas.openxmlformats.org/officeDocument/2006/math">
                    <m:r>
                      <a:rPr lang="vi-VN" sz="2400" b="0">
                        <a:solidFill>
                          <a:srgbClr val="1E293B"/>
                        </a:solidFill>
                        <a:latin typeface="Cambria Math" panose="02040503050406030204" pitchFamily="18" charset="0"/>
                      </a:rPr>
                      <m:t>C(201)−C(200)=14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372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625</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C'(x)=300-5x+0{,}375x^2</a:t>
                </a:r>
              </a:p>
              <a:p>
                <a:pPr algn="l" marL="365760" indent="-365760">
                  <a:spcAft>
                    <a:spcPts val="800"/>
                  </a:spcAft>
                  <a:buClr>
                    <a:srgbClr val="1E40AF"/>
                  </a:buClr>
                  <a:buFont typeface="Arial"/>
                  <a:buChar char="•"/>
                </a:pPr>
                <a:r>
                  <a:rPr sz="2400">
                    <a:solidFill>
                      <a:srgbClr val="1E293B"/>
                    </a:solidFill>
                    <a:latin typeface="Calibri"/>
                  </a:rPr>
                  <a:t>b) </a:t>
                </a:r>
                <a:r>
                  <a:rPr lang="vi-VN"/>
                  <a:t>C'(200)=14\,300</a:t>
                </a:r>
                <a:r>
                  <a:rPr sz="2400">
                    <a:solidFill>
                      <a:srgbClr val="1E293B"/>
                    </a:solidFill>
                    <a:latin typeface="Calibri"/>
                  </a:rPr>
                  <a:t>: thêm đơn vị thứ 201 tốn khoảng 14 300 nghìn đồng</a:t>
                </a:r>
              </a:p>
              <a:p>
                <a:pPr algn="l" marL="365760" indent="-365760">
                  <a:spcAft>
                    <a:spcPts val="800"/>
                  </a:spcAft>
                  <a:buClr>
                    <a:srgbClr val="1E40AF"/>
                  </a:buClr>
                  <a:buFont typeface="Arial"/>
                  <a:buChar char="•"/>
                </a:pPr>
                <a:r>
                  <a:rPr sz="2400">
                    <a:solidFill>
                      <a:srgbClr val="1E293B"/>
                    </a:solidFill>
                    <a:latin typeface="Calibri"/>
                  </a:rPr>
                  <a:t>c) </a:t>
                </a:r>
                <a:r>
                  <a:rPr lang="vi-VN"/>
                  <a:t>C(201)-C(200)=14\,372{,}625</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p>
                      <m:e>
                        <m:r>
                          <a:rPr lang="vi-VN" sz="2400" b="1">
                            <a:solidFill>
                              <a:srgbClr val="991B1B"/>
                            </a:solidFill>
                            <a:latin typeface="Cambria Math" panose="02040503050406030204" pitchFamily="18" charset="0"/>
                          </a:rPr>
                          <m:t>C</m:t>
                        </m:r>
                      </m:e>
                      <m:sup>
                        <m:r>
                          <a:rPr lang="vi-VN" sz="2400" b="1">
                            <a:solidFill>
                              <a:srgbClr val="991B1B"/>
                            </a:solidFill>
                            <a:latin typeface="Cambria Math" panose="02040503050406030204" pitchFamily="18" charset="0"/>
                          </a:rPr>
                          <m:t>′</m:t>
                        </m:r>
                      </m:sup>
                    </m:sSup>
                    <m:r>
                      <a:rPr lang="vi-VN" sz="2400" b="1">
                        <a:solidFill>
                          <a:srgbClr val="991B1B"/>
                        </a:solidFill>
                        <a:latin typeface="Cambria Math" panose="02040503050406030204" pitchFamily="18" charset="0"/>
                      </a:rPr>
                      <m:t>(200)≈C(201)−C(200)</m:t>
                    </m:r>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C'(200)\approx C(201)-C(200)</a:t>
                </a: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4: CHI PHÍ XỬ LÍ KHÍ THẢI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18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62837"/>
              </a:xfrm>
              <a:prstGeom prst="rect">
                <a:avLst/>
              </a:prstGeom>
              <a:noFill/>
            </p:spPr>
            <p:txBody>
              <a:bodyPr wrap="square" anchor="t" lIns="45720" rIns="45720">
                <a:spAutoFit/>
              </a:bodyPr>
              <a:lstStyle/>
              <a:p>
                <a:pPr algn="l">
                  <a:spcAft>
                    <a:spcPts val="800"/>
                  </a:spcAft>
                </a:pPr>
                <a:r>
                  <a:rPr sz="2200">
                    <a:solidFill>
                      <a:srgbClr val="1E293B"/>
                    </a:solidFill>
                    <a:latin typeface="Calibri"/>
                  </a:rPr>
                  <a:t>Để loại bỏ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x%</m:t>
                    </m:r>
                  </m:oMath>
                </a14:m>
                <a:r>
                  <a:rPr sz="2200">
                    <a:solidFill>
                      <a:srgbClr val="1E293B"/>
                    </a:solidFill>
                    <a:latin typeface="Calibri"/>
                  </a:rPr>
                  <a:t> chất gây ô nhiễm không khí từ khí thải của một nhà máy, người ta ước tính chi phí cần bỏ ra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C(x)=</m:t>
                    </m:r>
                    <m:f>
                      <m:fPr>
                        <m:type m:val="bar"/>
                      </m:fPr>
                      <m:num>
                        <m:r>
                          <a:rPr lang="vi-VN" sz="2200" b="0">
                            <a:solidFill>
                              <a:srgbClr val="1E293B"/>
                            </a:solidFill>
                            <a:latin typeface="Cambria Math" panose="02040503050406030204" pitchFamily="18" charset="0"/>
                          </a:rPr>
                          <m:t>300x</m:t>
                        </m:r>
                      </m:num>
                      <m:den>
                        <m:r>
                          <a:rPr lang="vi-VN" sz="2200" b="0">
                            <a:solidFill>
                              <a:srgbClr val="1E293B"/>
                            </a:solidFill>
                            <a:latin typeface="Cambria Math" panose="02040503050406030204" pitchFamily="18" charset="0"/>
                          </a:rPr>
                          <m:t>100−x</m:t>
                        </m:r>
                      </m:den>
                    </m:f>
                  </m:oMath>
                </a14:m>
                <a:r>
                  <a:rPr sz="2200">
                    <a:solidFill>
                      <a:srgbClr val="1E293B"/>
                    </a:solidFill>
                    <a:latin typeface="Calibri"/>
                  </a:rPr>
                  <a:t> (triệu đồng),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0≤x&lt;100</m:t>
                    </m:r>
                  </m:oMath>
                </a14:m>
                <a:r>
                  <a:rPr sz="2200">
                    <a:solidFill>
                      <a:srgbClr val="1E293B"/>
                    </a:solidFill>
                    <a:latin typeface="Calibri"/>
                  </a:rPr>
                  <a:t>.</a:t>
                </a:r>
                <a:r>
                  <a:rPr sz="2200">
                    <a:solidFill>
                      <a:srgbClr val="1E293B"/>
                    </a:solidFill>
                    <a:latin typeface="Calibri"/>
                  </a:rPr>
                  <a:t> </a:t>
                </a:r>
                <a:r>
                  <a:rPr sz="2200">
                    <a:solidFill>
                      <a:srgbClr val="1E293B"/>
                    </a:solidFill>
                    <a:latin typeface="Calibri"/>
                  </a:rPr>
                  <a:t>Khảo sát sự biến thiên và vẽ đồ thị của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y=C(x)</m:t>
                    </m:r>
                  </m:oMath>
                </a14:m>
                <a:r>
                  <a:rPr sz="2200">
                    <a:solidFill>
                      <a:srgbClr val="1E293B"/>
                    </a:solidFill>
                    <a:latin typeface="Calibri"/>
                  </a:rPr>
                  <a:t>.</a:t>
                </a:r>
                <a:r>
                  <a:rPr sz="2200">
                    <a:solidFill>
                      <a:srgbClr val="1E293B"/>
                    </a:solidFill>
                    <a:latin typeface="Calibri"/>
                  </a:rPr>
                  <a:t> </a:t>
                </a:r>
              </a:p>
            </p:txBody>
          </p:sp>
        </mc:Choice>
        <mc:Fallback>
          <p:sp>
            <p:nvSpPr>
              <p:cNvPr id="7" name="TextBox 6"/>
              <p:cNvSpPr txBox="1"/>
              <p:nvPr/>
            </p:nvSpPr>
            <p:spPr>
              <a:xfrm>
                <a:off x="731520" y="1463040"/>
                <a:ext cx="10789920" cy="1362837"/>
              </a:xfrm>
              <a:prstGeom prst="rect">
                <a:avLst/>
              </a:prstGeom>
              <a:noFill/>
            </p:spPr>
            <p:txBody>
              <a:bodyPr wrap="square" anchor="t" lIns="45720" rIns="45720">
                <a:spAutoFit/>
              </a:bodyPr>
              <a:lstStyle/>
              <a:p>
                <a:pPr algn="l">
                  <a:spcAft>
                    <a:spcPts val="800"/>
                  </a:spcAft>
                </a:pPr>
                <a:r>
                  <a:rPr sz="2200">
                    <a:solidFill>
                      <a:srgbClr val="1E293B"/>
                    </a:solidFill>
                    <a:latin typeface="Calibri"/>
                  </a:rPr>
                  <a:t>Để loại bỏ </a:t>
                </a:r>
                <a:r>
                  <a:rPr lang="vi-VN"/>
                  <a:t>x%</a:t>
                </a:r>
                <a:r>
                  <a:rPr sz="2200">
                    <a:solidFill>
                      <a:srgbClr val="1E293B"/>
                    </a:solidFill>
                    <a:latin typeface="Calibri"/>
                  </a:rPr>
                  <a:t> chất gây ô nhiễm không khí từ khí thải của một nhà máy, người ta ước tính chi phí cần bỏ ra là </a:t>
                </a:r>
                <a:r>
                  <a:rPr lang="vi-VN"/>
                  <a:t>C(x)=300x/(100−x)</a:t>
                </a:r>
                <a:r>
                  <a:rPr sz="2200">
                    <a:solidFill>
                      <a:srgbClr val="1E293B"/>
                    </a:solidFill>
                    <a:latin typeface="Calibri"/>
                  </a:rPr>
                  <a:t> (triệu đồng), </a:t>
                </a:r>
                <a:r>
                  <a:rPr lang="vi-VN"/>
                  <a:t>0≤x&lt;100</a:t>
                </a:r>
                <a:r>
                  <a:rPr sz="2200">
                    <a:solidFill>
                      <a:srgbClr val="1E293B"/>
                    </a:solidFill>
                    <a:latin typeface="Calibri"/>
                  </a:rPr>
                  <a:t>.</a:t>
                </a:r>
                <a:r>
                  <a:rPr sz="2200">
                    <a:solidFill>
                      <a:srgbClr val="1E293B"/>
                    </a:solidFill>
                    <a:latin typeface="Calibri"/>
                  </a:rPr>
                  <a:t> </a:t>
                </a:r>
                <a:r>
                  <a:rPr sz="2200">
                    <a:solidFill>
                      <a:srgbClr val="1E293B"/>
                    </a:solidFill>
                    <a:latin typeface="Calibri"/>
                  </a:rPr>
                  <a:t>Khảo sát sự biến thiên và vẽ đồ thị của hàm số </a:t>
                </a:r>
                <a:r>
                  <a:rPr lang="vi-VN"/>
                  <a:t>y=C(x)</a:t>
                </a:r>
                <a:r>
                  <a:rPr sz="2200">
                    <a:solidFill>
                      <a:srgbClr val="1E293B"/>
                    </a:solidFill>
                    <a:latin typeface="Calibri"/>
                  </a:rPr>
                  <a:t>.</a:t>
                </a:r>
                <a:r>
                  <a:rPr sz="2200">
                    <a:solidFill>
                      <a:srgbClr val="1E293B"/>
                    </a:solidFill>
                    <a:latin typeface="Calibri"/>
                  </a:rPr>
                  <a:t> </a:t>
                </a: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4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19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a:spcAft>
                    <a:spcPts val="800"/>
                  </a:spcAft>
                </a:pPr>
                <a:r>
                  <a:rPr sz="2200">
                    <a:solidFill>
                      <a:srgbClr val="1E293B"/>
                    </a:solidFill>
                    <a:latin typeface="Calibri"/>
                  </a:rPr>
                  <a:t>Từ đó, hãy trả lời: a) Chi phí cần bỏ ra sẽ thay đổi thế nào khi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x</m:t>
                    </m:r>
                  </m:oMath>
                </a14:m>
                <a:r>
                  <a:rPr sz="2200">
                    <a:solidFill>
                      <a:srgbClr val="1E293B"/>
                    </a:solidFill>
                    <a:latin typeface="Calibri"/>
                  </a:rPr>
                  <a:t> tăng? b) Có thể loại bỏ được 100% chất gây ô nhiễm không khí không?</a:t>
                </a:r>
                <a:r>
                  <a:rPr sz="2200">
                    <a:solidFill>
                      <a:srgbClr val="1E293B"/>
                    </a:solidFill>
                    <a:latin typeface="Calibri"/>
                  </a:rPr>
                  <a:t> </a:t>
                </a:r>
                <a:r>
                  <a:rPr sz="2200">
                    <a:solidFill>
                      <a:srgbClr val="1E293B"/>
                    </a:solidFill>
                    <a:latin typeface="Calibri"/>
                  </a:rPr>
                  <a:t>Vì sao?</a:t>
                </a:r>
                <a:r>
                  <a:rPr sz="2200">
                    <a:solidFill>
                      <a:srgbClr val="1E293B"/>
                    </a:solidFill>
                    <a:latin typeface="Calibri"/>
                  </a:rPr>
                  <a:t> </a:t>
                </a:r>
              </a:p>
              <a:p>
                <a:pPr algn="l">
                  <a:spcAft>
                    <a:spcPts val="800"/>
                  </a:spcAft>
                </a:pPr>
                <a:r>
                  <a:rPr sz="2200" b="1">
                    <a:solidFill>
                      <a:srgbClr val="1E40AF"/>
                    </a:solidFill>
                    <a:latin typeface="Calibri"/>
                  </a:rPr>
                  <a:t>Gợi mở: Xét dấu </a:t>
                </a:r>
                <a14:m>
                  <m:oMath xmlns:m="http://schemas.openxmlformats.org/officeDocument/2006/math">
                    <m:sSup>
                      <m:e>
                        <m:r>
                          <a:rPr lang="vi-VN" sz="2200" b="1">
                            <a:solidFill>
                              <a:srgbClr val="1E40AF"/>
                            </a:solidFill>
                            <a:latin typeface="Cambria Math" panose="02040503050406030204" pitchFamily="18" charset="0"/>
                          </a:rPr>
                          <m:t>C</m:t>
                        </m:r>
                      </m:e>
                      <m:sup>
                        <m:r>
                          <a:rPr lang="vi-VN" sz="2200" b="1">
                            <a:solidFill>
                              <a:srgbClr val="1E40AF"/>
                            </a:solidFill>
                            <a:latin typeface="Cambria Math" panose="02040503050406030204" pitchFamily="18" charset="0"/>
                          </a:rPr>
                          <m:t>′</m:t>
                        </m:r>
                      </m:sup>
                    </m:sSup>
                    <m:r>
                      <a:rPr lang="vi-VN" sz="2200" b="1">
                        <a:solidFill>
                          <a:srgbClr val="1E40AF"/>
                        </a:solidFill>
                        <a:latin typeface="Cambria Math" panose="02040503050406030204" pitchFamily="18" charset="0"/>
                      </a:rPr>
                      <m:t>(x)</m:t>
                    </m:r>
                  </m:oMath>
                </a14:m>
                <a:r>
                  <a:rPr sz="2200" b="1">
                    <a:solidFill>
                      <a:srgbClr val="1E40AF"/>
                    </a:solidFill>
                    <a:latin typeface="Calibri"/>
                  </a:rPr>
                  <a:t> và giới hạn khi </a:t>
                </a:r>
                <a14:m>
                  <m:oMath xmlns:m="http://schemas.openxmlformats.org/officeDocument/2006/math">
                    <m:r>
                      <a:rPr lang="vi-VN" sz="2200" b="1">
                        <a:solidFill>
                          <a:srgbClr val="1E40AF"/>
                        </a:solidFill>
                        <a:latin typeface="Cambria Math" panose="02040503050406030204" pitchFamily="18" charset="0"/>
                      </a:rPr>
                      <m:t>x→</m:t>
                    </m:r>
                    <m:sSup>
                      <m:e>
                        <m:r>
                          <a:rPr lang="vi-VN" sz="2200" b="1">
                            <a:solidFill>
                              <a:srgbClr val="1E40AF"/>
                            </a:solidFill>
                            <a:latin typeface="Cambria Math" panose="02040503050406030204" pitchFamily="18" charset="0"/>
                          </a:rPr>
                          <m:t>100</m:t>
                        </m:r>
                      </m:e>
                      <m:sup>
                        <m:r>
                          <a:rPr lang="vi-VN" sz="2200" b="1">
                            <a:solidFill>
                              <a:srgbClr val="1E40AF"/>
                            </a:solidFill>
                            <a:latin typeface="Cambria Math" panose="02040503050406030204" pitchFamily="18" charset="0"/>
                          </a:rPr>
                          <m:t>−</m:t>
                        </m:r>
                      </m:sup>
                    </m:sSup>
                  </m:oMath>
                </a14:m>
              </a:p>
            </p:txBody>
          </p:sp>
        </mc:Choice>
        <mc:Fallback>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a:spcAft>
                    <a:spcPts val="800"/>
                  </a:spcAft>
                </a:pPr>
                <a:r>
                  <a:rPr sz="2200">
                    <a:solidFill>
                      <a:srgbClr val="1E293B"/>
                    </a:solidFill>
                    <a:latin typeface="Calibri"/>
                  </a:rPr>
                  <a:t>Từ đó, hãy trả lời: a) Chi phí cần bỏ ra sẽ thay đổi thế nào khi </a:t>
                </a:r>
                <a:r>
                  <a:rPr lang="vi-VN"/>
                  <a:t>x</a:t>
                </a:r>
                <a:r>
                  <a:rPr sz="2200">
                    <a:solidFill>
                      <a:srgbClr val="1E293B"/>
                    </a:solidFill>
                    <a:latin typeface="Calibri"/>
                  </a:rPr>
                  <a:t> tăng? b) Có thể loại bỏ được 100% chất gây ô nhiễm không khí không?</a:t>
                </a:r>
                <a:r>
                  <a:rPr sz="2200">
                    <a:solidFill>
                      <a:srgbClr val="1E293B"/>
                    </a:solidFill>
                    <a:latin typeface="Calibri"/>
                  </a:rPr>
                  <a:t> </a:t>
                </a:r>
                <a:r>
                  <a:rPr sz="2200">
                    <a:solidFill>
                      <a:srgbClr val="1E293B"/>
                    </a:solidFill>
                    <a:latin typeface="Calibri"/>
                  </a:rPr>
                  <a:t>Vì sao?</a:t>
                </a:r>
                <a:r>
                  <a:rPr sz="2200">
                    <a:solidFill>
                      <a:srgbClr val="1E293B"/>
                    </a:solidFill>
                    <a:latin typeface="Calibri"/>
                  </a:rPr>
                  <a:t> </a:t>
                </a:r>
              </a:p>
              <a:p>
                <a:pPr algn="l">
                  <a:spcAft>
                    <a:spcPts val="800"/>
                  </a:spcAft>
                </a:pPr>
                <a:r>
                  <a:rPr sz="2200" b="1">
                    <a:solidFill>
                      <a:srgbClr val="1E40AF"/>
                    </a:solidFill>
                    <a:latin typeface="Calibri"/>
                  </a:rPr>
                  <a:t>Gợi mở: Xét dấu </a:t>
                </a:r>
                <a:r>
                  <a:rPr lang="vi-VN"/>
                  <a:t>C'(x)</a:t>
                </a:r>
                <a:r>
                  <a:rPr sz="2200" b="1">
                    <a:solidFill>
                      <a:srgbClr val="1E40AF"/>
                    </a:solidFill>
                    <a:latin typeface="Calibri"/>
                  </a:rPr>
                  <a:t> và giới hạn khi </a:t>
                </a:r>
                <a:r>
                  <a:rPr lang="vi-VN"/>
                  <a:t>x\to 100^-</a:t>
                </a: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4: CHI PHÍ XỬ LÍ KHÍ THẢI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20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6400800" cy="1945513"/>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m:t>
                    </m:r>
                    <m:f>
                      <m:fPr>
                        <m:type m:val="bar"/>
                      </m:fPr>
                      <m:num>
                        <m:r>
                          <a:rPr lang="vi-VN" sz="2200" b="0">
                            <a:solidFill>
                              <a:srgbClr val="1E293B"/>
                            </a:solidFill>
                            <a:latin typeface="Cambria Math" panose="02040503050406030204" pitchFamily="18" charset="0"/>
                          </a:rPr>
                          <m:t>30</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m:t>
                        </m:r>
                      </m:num>
                      <m:den>
                        <m:sSup>
                          <m:e>
                            <m:d>
                              <m:dPr>
                                <m:sepChr m:val=""/>
                              </m:dPr>
                              <m:e>
                                <m:r>
                                  <a:rPr lang="vi-VN" sz="2200" b="0">
                                    <a:solidFill>
                                      <a:srgbClr val="1E293B"/>
                                    </a:solidFill>
                                    <a:latin typeface="Cambria Math" panose="02040503050406030204" pitchFamily="18" charset="0"/>
                                  </a:rPr>
                                  <m:t>100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x</m:t>
                                </m:r>
                              </m:e>
                            </m:d>
                          </m:e>
                          <m:sup>
                            <m:r>
                              <a:rPr lang="vi-VN" sz="2200" b="0">
                                <a:solidFill>
                                  <a:srgbClr val="1E293B"/>
                                </a:solidFill>
                                <a:latin typeface="Cambria Math" panose="02040503050406030204" pitchFamily="18" charset="0"/>
                              </a:rPr>
                              <m:t>2</m:t>
                            </m:r>
                          </m:sup>
                        </m:sSup>
                      </m:den>
                    </m:f>
                    <m:r>
                      <a:rPr lang="vi-VN" sz="2200" b="0">
                        <a:solidFill>
                          <a:srgbClr val="1E293B"/>
                        </a:solidFill>
                        <a:latin typeface="Cambria Math" panose="02040503050406030204" pitchFamily="18" charset="0"/>
                      </a:rPr>
                      <m:t>&gt;0</m:t>
                    </m:r>
                  </m:oMath>
                </a14:m>
                <a:r>
                  <a:rPr sz="2200">
                    <a:solidFill>
                      <a:srgbClr val="1E293B"/>
                    </a:solidFill>
                    <a:latin typeface="Calibri"/>
                  </a:rPr>
                  <a:t> với mọi </a:t>
                </a:r>
                <a14:m>
                  <m:oMath xmlns:m="http://schemas.openxmlformats.org/officeDocument/2006/math">
                    <m:d>
                      <m:dPr>
                        <m:begChr m:val=""/>
                        <m:sepChr m:val=""/>
                      </m:dPr>
                      <m:e>
                        <m:r>
                          <a:rPr lang="vi-VN" sz="2200" b="0">
                            <a:solidFill>
                              <a:srgbClr val="1E293B"/>
                            </a:solidFill>
                            <a:latin typeface="Cambria Math" panose="02040503050406030204" pitchFamily="18" charset="0"/>
                          </a:rPr>
                          <m:t>x</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100</m:t>
                        </m:r>
                      </m:e>
                    </m:d>
                  </m:oMath>
                </a14:m>
                <a:r>
                  <a:rPr sz="2200">
                    <a:solidFill>
                      <a:srgbClr val="1E293B"/>
                    </a:solidFill>
                    <a:latin typeface="Calibri"/>
                  </a:rPr>
                  <a:t>: hàm số đồng biến</a:t>
                </a:r>
              </a:p>
              <a:p>
                <a:pPr algn="l" marL="365760" indent="-365760">
                  <a:spcAft>
                    <a:spcPts val="800"/>
                  </a:spcAft>
                  <a:buClr>
                    <a:srgbClr val="1E40AF"/>
                  </a:buClr>
                  <a:buFont typeface="Arial"/>
                  <a:buChar char="•"/>
                </a:pPr>
                <a14:m>
                  <m:oMath xmlns:m="http://schemas.openxmlformats.org/officeDocument/2006/math">
                    <m:limLow>
                      <m:e>
                        <m:r>
                          <m:rPr>
                            <m:sty m:val="p"/>
                          </m:rPr>
                          <a:rPr lang="vi-VN" sz="2200" b="0">
                            <a:solidFill>
                              <a:srgbClr val="1E293B"/>
                            </a:solidFill>
                            <a:latin typeface="Cambria Math" panose="02040503050406030204" pitchFamily="18" charset="0"/>
                          </a:rPr>
                          <m:t>lim</m:t>
                        </m:r>
                      </m:e>
                      <m:lim>
                        <m:r>
                          <a:rPr lang="vi-VN" sz="2200" b="0">
                            <a:solidFill>
                              <a:srgbClr val="1E293B"/>
                            </a:solidFill>
                            <a:latin typeface="Cambria Math" panose="02040503050406030204" pitchFamily="18" charset="0"/>
                          </a:rPr>
                          <m:t>x→</m:t>
                        </m:r>
                        <m:sSup>
                          <m:e>
                            <m:r>
                              <a:rPr lang="vi-VN" sz="2200" b="0">
                                <a:solidFill>
                                  <a:srgbClr val="1E293B"/>
                                </a:solidFill>
                                <a:latin typeface="Cambria Math" panose="02040503050406030204" pitchFamily="18" charset="0"/>
                              </a:rPr>
                              <m:t>100</m:t>
                            </m:r>
                          </m:e>
                          <m:sup>
                            <m:r>
                              <a:rPr lang="vi-VN" sz="2200" b="0">
                                <a:solidFill>
                                  <a:srgbClr val="1E293B"/>
                                </a:solidFill>
                                <a:latin typeface="Cambria Math" panose="02040503050406030204" pitchFamily="18" charset="0"/>
                              </a:rPr>
                              <m:t>−</m:t>
                            </m:r>
                          </m:sup>
                        </m:sSup>
                      </m:lim>
                    </m:limLow>
                    <m:r>
                      <a:rPr lang="vi-VN" sz="2200" b="0">
                        <a:solidFill>
                          <a:srgbClr val="1E293B"/>
                        </a:solidFill>
                        <a:latin typeface="Cambria Math" panose="02040503050406030204" pitchFamily="18" charset="0"/>
                      </a:rPr>
                      <m:t>C(x)=+∞</m:t>
                    </m:r>
                  </m:oMath>
                </a14:m>
                <a:r>
                  <a:rPr sz="2200">
                    <a:solidFill>
                      <a:srgbClr val="1E293B"/>
                    </a:solidFill>
                    <a:latin typeface="Calibri"/>
                  </a:rPr>
                  <a:t>: tiệm cận đứng </a:t>
                </a:r>
                <a14:m>
                  <m:oMath xmlns:m="http://schemas.openxmlformats.org/officeDocument/2006/math">
                    <m:r>
                      <a:rPr lang="vi-VN" sz="2200" b="0">
                        <a:solidFill>
                          <a:srgbClr val="1E293B"/>
                        </a:solidFill>
                        <a:latin typeface="Cambria Math" panose="02040503050406030204" pitchFamily="18" charset="0"/>
                      </a:rPr>
                      <m:t>x=100</m:t>
                    </m:r>
                  </m:oMath>
                </a14:m>
              </a:p>
              <a:p>
                <a:pPr algn="l" marL="365760" indent="-365760">
                  <a:spcAft>
                    <a:spcPts val="800"/>
                  </a:spcAft>
                  <a:buClr>
                    <a:srgbClr val="1E40AF"/>
                  </a:buClr>
                  <a:buFont typeface="Arial"/>
                  <a:buChar char="•"/>
                </a:pPr>
                <a:r>
                  <a:rPr sz="2200">
                    <a:solidFill>
                      <a:srgbClr val="1E293B"/>
                    </a:solidFill>
                    <a:latin typeface="Calibri"/>
                  </a:rPr>
                  <a:t>a) Chi phí luôn tăng khi </a:t>
                </a:r>
                <a14:m>
                  <m:oMath xmlns:m="http://schemas.openxmlformats.org/officeDocument/2006/math">
                    <m:r>
                      <a:rPr lang="vi-VN" sz="2200" b="0">
                        <a:solidFill>
                          <a:srgbClr val="1E293B"/>
                        </a:solidFill>
                        <a:latin typeface="Cambria Math" panose="02040503050406030204" pitchFamily="18" charset="0"/>
                      </a:rPr>
                      <m:t>x</m:t>
                    </m:r>
                  </m:oMath>
                </a14:m>
                <a:r>
                  <a:rPr sz="2200">
                    <a:solidFill>
                      <a:srgbClr val="1E293B"/>
                    </a:solidFill>
                    <a:latin typeface="Calibri"/>
                  </a:rPr>
                  <a:t> tăng</a:t>
                </a:r>
              </a:p>
            </p:txBody>
          </p:sp>
        </mc:Choice>
        <mc:Fallback>
          <p:sp>
            <p:nvSpPr>
              <p:cNvPr id="7" name="TextBox 6"/>
              <p:cNvSpPr txBox="1"/>
              <p:nvPr/>
            </p:nvSpPr>
            <p:spPr>
              <a:xfrm>
                <a:off x="731520" y="1463040"/>
                <a:ext cx="6400800" cy="1945513"/>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C'(x)=\frac{30\,000}{(100-x)^2}&gt;0</a:t>
                </a:r>
                <a:r>
                  <a:rPr sz="2200">
                    <a:solidFill>
                      <a:srgbClr val="1E293B"/>
                    </a:solidFill>
                    <a:latin typeface="Calibri"/>
                  </a:rPr>
                  <a:t> với mọi </a:t>
                </a:r>
                <a:r>
                  <a:rPr lang="vi-VN"/>
                  <a:t>x\in[0;100)</a:t>
                </a:r>
                <a:r>
                  <a:rPr sz="2200">
                    <a:solidFill>
                      <a:srgbClr val="1E293B"/>
                    </a:solidFill>
                    <a:latin typeface="Calibri"/>
                  </a:rPr>
                  <a:t>: hàm số đồng biến</a:t>
                </a:r>
              </a:p>
              <a:p>
                <a:pPr algn="l" marL="365760" indent="-365760">
                  <a:spcAft>
                    <a:spcPts val="800"/>
                  </a:spcAft>
                  <a:buClr>
                    <a:srgbClr val="1E40AF"/>
                  </a:buClr>
                  <a:buFont typeface="Arial"/>
                  <a:buChar char="•"/>
                </a:pPr>
                <a:r>
                  <a:rPr lang="vi-VN"/>
                  <a:t>\lim_{x\to 100^-}C(x)=+\infty</a:t>
                </a:r>
                <a:r>
                  <a:rPr sz="2200">
                    <a:solidFill>
                      <a:srgbClr val="1E293B"/>
                    </a:solidFill>
                    <a:latin typeface="Calibri"/>
                  </a:rPr>
                  <a:t>: tiệm cận đứng </a:t>
                </a:r>
                <a:r>
                  <a:rPr lang="vi-VN"/>
                  <a:t>x=100</a:t>
                </a:r>
              </a:p>
              <a:p>
                <a:pPr algn="l" marL="365760" indent="-365760">
                  <a:spcAft>
                    <a:spcPts val="800"/>
                  </a:spcAft>
                  <a:buClr>
                    <a:srgbClr val="1E40AF"/>
                  </a:buClr>
                  <a:buFont typeface="Arial"/>
                  <a:buChar char="•"/>
                </a:pPr>
                <a:r>
                  <a:rPr sz="2200">
                    <a:solidFill>
                      <a:srgbClr val="1E293B"/>
                    </a:solidFill>
                    <a:latin typeface="Calibri"/>
                  </a:rPr>
                  <a:t>a) Chi phí luôn tăng khi </a:t>
                </a:r>
                <a:r>
                  <a:rPr lang="vi-VN"/>
                  <a:t>x</a:t>
                </a:r>
                <a:r>
                  <a:rPr sz="2200">
                    <a:solidFill>
                      <a:srgbClr val="1E293B"/>
                    </a:solidFill>
                    <a:latin typeface="Calibri"/>
                  </a:rPr>
                  <a:t> tăng</a:t>
                </a:r>
              </a:p>
            </p:txBody>
          </p:sp>
        </mc:Fallback>
      </mc:AlternateContent>
      <p:sp>
        <p:nvSpPr>
          <p:cNvPr id="8" name="Rounded Rectangle 7"/>
          <p:cNvSpPr/>
          <p:nvPr/>
        </p:nvSpPr>
        <p:spPr>
          <a:xfrm>
            <a:off x="731520" y="3545713"/>
            <a:ext cx="64008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545713"/>
            <a:ext cx="60350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b) Không thể loại bỏ 100% chất ô nhiễm</a:t>
            </a:r>
          </a:p>
        </p:txBody>
      </p:sp>
      <p:pic>
        <p:nvPicPr>
          <p:cNvPr id="10" name="Picture 9" descr="img03.png"/>
          <p:cNvPicPr>
            <a:picLocks noChangeAspect="1"/>
          </p:cNvPicPr>
          <p:nvPr/>
        </p:nvPicPr>
        <p:blipFill>
          <a:blip r:embed="rId2"/>
          <a:stretch>
            <a:fillRect/>
          </a:stretch>
        </p:blipFill>
        <p:spPr>
          <a:xfrm>
            <a:off x="8454868" y="1463040"/>
            <a:ext cx="2292663" cy="470916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1: HUYẾT ÁP TÂM THU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21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726057"/>
              </a:xfrm>
              <a:prstGeom prst="rect">
                <a:avLst/>
              </a:prstGeom>
              <a:noFill/>
            </p:spPr>
            <p:txBody>
              <a:bodyPr wrap="square" anchor="t" lIns="45720" rIns="45720">
                <a:spAutoFit/>
              </a:bodyPr>
              <a:lstStyle/>
              <a:p>
                <a:pPr algn="l">
                  <a:spcAft>
                    <a:spcPts val="800"/>
                  </a:spcAft>
                </a:pPr>
                <a:r>
                  <a:rPr sz="2200">
                    <a:solidFill>
                      <a:srgbClr val="1E293B"/>
                    </a:solidFill>
                    <a:latin typeface="Calibri"/>
                  </a:rPr>
                  <a:t>Khi máu di chuyển từ tim qua các động mạch chính rồi đến các mao mạch và quay trở lại qua các tĩnh mạch, huyết áp tâm thu liên tục giảm xuống.</a:t>
                </a:r>
                <a:r>
                  <a:rPr sz="2200">
                    <a:solidFill>
                      <a:srgbClr val="1E293B"/>
                    </a:solidFill>
                    <a:latin typeface="Calibri"/>
                  </a:rPr>
                  <a:t> </a:t>
                </a:r>
                <a:r>
                  <a:rPr sz="2200">
                    <a:solidFill>
                      <a:srgbClr val="1E293B"/>
                    </a:solidFill>
                    <a:latin typeface="Calibri"/>
                  </a:rPr>
                  <a:t>Giả sử một người có huyết áp tâm thu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P</m:t>
                    </m:r>
                  </m:oMath>
                </a14:m>
                <a:r>
                  <a:rPr sz="2200">
                    <a:solidFill>
                      <a:srgbClr val="1E293B"/>
                    </a:solidFill>
                    <a:latin typeface="Calibri"/>
                  </a:rPr>
                  <a:t> (mmHg) được cho bởi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P(t)=</m:t>
                    </m:r>
                    <m:f>
                      <m:fPr>
                        <m:type m:val="bar"/>
                      </m:fPr>
                      <m:num>
                        <m:r>
                          <a:rPr lang="vi-VN" sz="2200" b="0">
                            <a:solidFill>
                              <a:srgbClr val="1E293B"/>
                            </a:solidFill>
                            <a:latin typeface="Cambria Math" panose="02040503050406030204" pitchFamily="18" charset="0"/>
                          </a:rPr>
                          <m:t>25</m:t>
                        </m:r>
                        <m:sSup>
                          <m:e>
                            <m:r>
                              <a:rPr lang="vi-VN" sz="2200" b="0">
                                <a:solidFill>
                                  <a:srgbClr val="1E293B"/>
                                </a:solidFill>
                                <a:latin typeface="Cambria Math" panose="02040503050406030204" pitchFamily="18" charset="0"/>
                              </a:rPr>
                              <m:t>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+125</m:t>
                        </m:r>
                      </m:num>
                      <m:den>
                        <m:sSup>
                          <m:e>
                            <m:r>
                              <a:rPr lang="vi-VN" sz="2200" b="0">
                                <a:solidFill>
                                  <a:srgbClr val="1E293B"/>
                                </a:solidFill>
                                <a:latin typeface="Cambria Math" panose="02040503050406030204" pitchFamily="18" charset="0"/>
                              </a:rPr>
                              <m:t>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+1</m:t>
                        </m:r>
                      </m:den>
                    </m:f>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0≤t≤10</m:t>
                    </m:r>
                  </m:oMath>
                </a14:m>
                <a:r>
                  <a:rPr sz="2200">
                    <a:solidFill>
                      <a:srgbClr val="1E293B"/>
                    </a:solidFill>
                    <a:latin typeface="Calibri"/>
                  </a:rPr>
                  <a:t>, trong đó thời gian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t</m:t>
                    </m:r>
                  </m:oMath>
                </a14:m>
                <a:r>
                  <a:rPr sz="2200">
                    <a:solidFill>
                      <a:srgbClr val="1E293B"/>
                    </a:solidFill>
                    <a:latin typeface="Calibri"/>
                  </a:rPr>
                  <a:t> được tính bằng giây.</a:t>
                </a:r>
                <a:r>
                  <a:rPr sz="2200">
                    <a:solidFill>
                      <a:srgbClr val="1E293B"/>
                    </a:solidFill>
                    <a:latin typeface="Calibri"/>
                  </a:rPr>
                  <a:t> </a:t>
                </a:r>
              </a:p>
            </p:txBody>
          </p:sp>
        </mc:Choice>
        <mc:Fallback>
          <p:sp>
            <p:nvSpPr>
              <p:cNvPr id="7" name="TextBox 6"/>
              <p:cNvSpPr txBox="1"/>
              <p:nvPr/>
            </p:nvSpPr>
            <p:spPr>
              <a:xfrm>
                <a:off x="731520" y="1463040"/>
                <a:ext cx="10789920" cy="1726057"/>
              </a:xfrm>
              <a:prstGeom prst="rect">
                <a:avLst/>
              </a:prstGeom>
              <a:noFill/>
            </p:spPr>
            <p:txBody>
              <a:bodyPr wrap="square" anchor="t" lIns="45720" rIns="45720">
                <a:spAutoFit/>
              </a:bodyPr>
              <a:lstStyle/>
              <a:p>
                <a:pPr algn="l">
                  <a:spcAft>
                    <a:spcPts val="800"/>
                  </a:spcAft>
                </a:pPr>
                <a:r>
                  <a:rPr sz="2200">
                    <a:solidFill>
                      <a:srgbClr val="1E293B"/>
                    </a:solidFill>
                    <a:latin typeface="Calibri"/>
                  </a:rPr>
                  <a:t>Khi máu di chuyển từ tim qua các động mạch chính rồi đến các mao mạch và quay trở lại qua các tĩnh mạch, huyết áp tâm thu liên tục giảm xuống.</a:t>
                </a:r>
                <a:r>
                  <a:rPr sz="2200">
                    <a:solidFill>
                      <a:srgbClr val="1E293B"/>
                    </a:solidFill>
                    <a:latin typeface="Calibri"/>
                  </a:rPr>
                  <a:t> </a:t>
                </a:r>
                <a:r>
                  <a:rPr sz="2200">
                    <a:solidFill>
                      <a:srgbClr val="1E293B"/>
                    </a:solidFill>
                    <a:latin typeface="Calibri"/>
                  </a:rPr>
                  <a:t>Giả sử một người có huyết áp tâm thu </a:t>
                </a:r>
                <a:r>
                  <a:rPr lang="vi-VN"/>
                  <a:t>P</a:t>
                </a:r>
                <a:r>
                  <a:rPr sz="2200">
                    <a:solidFill>
                      <a:srgbClr val="1E293B"/>
                    </a:solidFill>
                    <a:latin typeface="Calibri"/>
                  </a:rPr>
                  <a:t> (mmHg) được cho bởi hàm số </a:t>
                </a:r>
                <a:r>
                  <a:rPr lang="vi-VN"/>
                  <a:t>P(t)=(25t^2+125)/(t^2+1)</a:t>
                </a:r>
                <a:r>
                  <a:rPr sz="2200">
                    <a:solidFill>
                      <a:srgbClr val="1E293B"/>
                    </a:solidFill>
                    <a:latin typeface="Calibri"/>
                  </a:rPr>
                  <a:t>, </a:t>
                </a:r>
                <a:r>
                  <a:rPr lang="vi-VN"/>
                  <a:t>0≤t≤10</a:t>
                </a:r>
                <a:r>
                  <a:rPr sz="2200">
                    <a:solidFill>
                      <a:srgbClr val="1E293B"/>
                    </a:solidFill>
                    <a:latin typeface="Calibri"/>
                  </a:rPr>
                  <a:t>, trong đó thời gian </a:t>
                </a:r>
                <a:r>
                  <a:rPr lang="vi-VN"/>
                  <a:t>t</a:t>
                </a:r>
                <a:r>
                  <a:rPr sz="2200">
                    <a:solidFill>
                      <a:srgbClr val="1E293B"/>
                    </a:solidFill>
                    <a:latin typeface="Calibri"/>
                  </a:rPr>
                  <a:t> được tính bằng giây.</a:t>
                </a:r>
                <a:r>
                  <a:rPr sz="2200">
                    <a:solidFill>
                      <a:srgbClr val="1E293B"/>
                    </a:solidFill>
                    <a:latin typeface="Calibri"/>
                  </a:rPr>
                  <a:t> </a:t>
                </a: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1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22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a:spcAft>
                    <a:spcPts val="800"/>
                  </a:spcAft>
                </a:pPr>
                <a:r>
                  <a:rPr sz="2200">
                    <a:solidFill>
                      <a:srgbClr val="1E293B"/>
                    </a:solidFill>
                    <a:latin typeface="Calibri"/>
                  </a:rPr>
                  <a:t>Tính tốc độ thay đổi của huyết áp sau 5 giây kể từ khi máu rời tim.</a:t>
                </a:r>
                <a:r>
                  <a:rPr sz="2200">
                    <a:solidFill>
                      <a:srgbClr val="1E293B"/>
                    </a:solidFill>
                    <a:latin typeface="Calibri"/>
                  </a:rPr>
                  <a:t> </a:t>
                </a:r>
              </a:p>
              <a:p>
                <a:pPr algn="l">
                  <a:spcAft>
                    <a:spcPts val="800"/>
                  </a:spcAft>
                </a:pPr>
                <a:r>
                  <a:rPr sz="2200" b="1">
                    <a:solidFill>
                      <a:srgbClr val="1E40AF"/>
                    </a:solidFill>
                    <a:latin typeface="Calibri"/>
                  </a:rPr>
                  <a:t>Gợi mở: Tính </a:t>
                </a:r>
                <a14:m>
                  <m:oMath xmlns:m="http://schemas.openxmlformats.org/officeDocument/2006/math">
                    <m:sSup>
                      <m:e>
                        <m:r>
                          <a:rPr lang="vi-VN" sz="2200" b="1">
                            <a:solidFill>
                              <a:srgbClr val="1E40AF"/>
                            </a:solidFill>
                            <a:latin typeface="Cambria Math" panose="02040503050406030204" pitchFamily="18" charset="0"/>
                          </a:rPr>
                          <m:t>P</m:t>
                        </m:r>
                      </m:e>
                      <m:sup>
                        <m:r>
                          <a:rPr lang="vi-VN" sz="2200" b="1">
                            <a:solidFill>
                              <a:srgbClr val="1E40AF"/>
                            </a:solidFill>
                            <a:latin typeface="Cambria Math" panose="02040503050406030204" pitchFamily="18" charset="0"/>
                          </a:rPr>
                          <m:t>′</m:t>
                        </m:r>
                      </m:sup>
                    </m:sSup>
                    <m:r>
                      <a:rPr lang="vi-VN" sz="2200" b="1">
                        <a:solidFill>
                          <a:srgbClr val="1E40AF"/>
                        </a:solidFill>
                        <a:latin typeface="Cambria Math" panose="02040503050406030204" pitchFamily="18" charset="0"/>
                      </a:rPr>
                      <m:t>(t)</m:t>
                    </m:r>
                  </m:oMath>
                </a14:m>
                <a:r>
                  <a:rPr sz="2200" b="1">
                    <a:solidFill>
                      <a:srgbClr val="1E40AF"/>
                    </a:solidFill>
                    <a:latin typeface="Calibri"/>
                  </a:rPr>
                  <a:t> bằng quy tắc đạo hàm của thương rồi thay </a:t>
                </a:r>
                <a14:m>
                  <m:oMath xmlns:m="http://schemas.openxmlformats.org/officeDocument/2006/math">
                    <m:r>
                      <a:rPr lang="vi-VN" sz="2200" b="1">
                        <a:solidFill>
                          <a:srgbClr val="1E40AF"/>
                        </a:solidFill>
                        <a:latin typeface="Cambria Math" panose="02040503050406030204" pitchFamily="18" charset="0"/>
                      </a:rPr>
                      <m:t>t=5</m:t>
                    </m:r>
                  </m:oMath>
                </a14:m>
              </a:p>
            </p:txBody>
          </p:sp>
        </mc:Choice>
        <mc:Fallback>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a:spcAft>
                    <a:spcPts val="800"/>
                  </a:spcAft>
                </a:pPr>
                <a:r>
                  <a:rPr sz="2200">
                    <a:solidFill>
                      <a:srgbClr val="1E293B"/>
                    </a:solidFill>
                    <a:latin typeface="Calibri"/>
                  </a:rPr>
                  <a:t>Tính tốc độ thay đổi của huyết áp sau 5 giây kể từ khi máu rời tim.</a:t>
                </a:r>
                <a:r>
                  <a:rPr sz="2200">
                    <a:solidFill>
                      <a:srgbClr val="1E293B"/>
                    </a:solidFill>
                    <a:latin typeface="Calibri"/>
                  </a:rPr>
                  <a:t> </a:t>
                </a:r>
              </a:p>
              <a:p>
                <a:pPr algn="l">
                  <a:spcAft>
                    <a:spcPts val="800"/>
                  </a:spcAft>
                </a:pPr>
                <a:r>
                  <a:rPr sz="2200" b="1">
                    <a:solidFill>
                      <a:srgbClr val="1E40AF"/>
                    </a:solidFill>
                    <a:latin typeface="Calibri"/>
                  </a:rPr>
                  <a:t>Gợi mở: Tính </a:t>
                </a:r>
                <a:r>
                  <a:rPr lang="vi-VN"/>
                  <a:t>P'(t)</a:t>
                </a:r>
                <a:r>
                  <a:rPr sz="2200" b="1">
                    <a:solidFill>
                      <a:srgbClr val="1E40AF"/>
                    </a:solidFill>
                    <a:latin typeface="Calibri"/>
                  </a:rPr>
                  <a:t> bằng quy tắc đạo hàm của thương rồi thay </a:t>
                </a:r>
                <a:r>
                  <a:rPr lang="vi-VN"/>
                  <a:t>t=5</a:t>
                </a: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1: HUYẾT ÁP TÂM THU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23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0919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p>
                      <m:e>
                        <m:r>
                          <a:rPr lang="vi-VN" sz="2200" b="0">
                            <a:solidFill>
                              <a:srgbClr val="1E293B"/>
                            </a:solidFill>
                            <a:latin typeface="Cambria Math" panose="02040503050406030204" pitchFamily="18" charset="0"/>
                          </a:rPr>
                          <m:t>P</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(t)=</m:t>
                    </m:r>
                    <m:f>
                      <m:fPr>
                        <m:type m:val="bar"/>
                      </m:fPr>
                      <m:num>
                        <m:r>
                          <a:rPr lang="vi-VN" sz="2200" b="0">
                            <a:solidFill>
                              <a:srgbClr val="1E293B"/>
                            </a:solidFill>
                            <a:latin typeface="Cambria Math" panose="02040503050406030204" pitchFamily="18" charset="0"/>
                          </a:rPr>
                          <m:t>50t(</m:t>
                        </m:r>
                        <m:sSup>
                          <m:e>
                            <m:r>
                              <a:rPr lang="vi-VN" sz="2200" b="0">
                                <a:solidFill>
                                  <a:srgbClr val="1E293B"/>
                                </a:solidFill>
                                <a:latin typeface="Cambria Math" panose="02040503050406030204" pitchFamily="18" charset="0"/>
                              </a:rPr>
                              <m:t>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+1)−2t(25</m:t>
                        </m:r>
                        <m:sSup>
                          <m:e>
                            <m:r>
                              <a:rPr lang="vi-VN" sz="2200" b="0">
                                <a:solidFill>
                                  <a:srgbClr val="1E293B"/>
                                </a:solidFill>
                                <a:latin typeface="Cambria Math" panose="02040503050406030204" pitchFamily="18" charset="0"/>
                              </a:rPr>
                              <m:t>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+125)</m:t>
                        </m:r>
                      </m:num>
                      <m:den>
                        <m:sSup>
                          <m:e>
                            <m:d>
                              <m:dPr>
                                <m:sepChr m:val=""/>
                              </m:dPr>
                              <m:e>
                                <m:sSup>
                                  <m:e>
                                    <m:r>
                                      <a:rPr lang="vi-VN" sz="2200" b="0">
                                        <a:solidFill>
                                          <a:srgbClr val="1E293B"/>
                                        </a:solidFill>
                                        <a:latin typeface="Cambria Math" panose="02040503050406030204" pitchFamily="18" charset="0"/>
                                      </a:rPr>
                                      <m:t>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e>
                            </m:d>
                          </m:e>
                          <m:sup>
                            <m:r>
                              <a:rPr lang="vi-VN" sz="2200" b="0">
                                <a:solidFill>
                                  <a:srgbClr val="1E293B"/>
                                </a:solidFill>
                                <a:latin typeface="Cambria Math" panose="02040503050406030204" pitchFamily="18" charset="0"/>
                              </a:rPr>
                              <m:t>2</m:t>
                            </m:r>
                          </m:sup>
                        </m:sSup>
                      </m:den>
                    </m:f>
                  </m:oMath>
                </a14:m>
              </a:p>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−200t</m:t>
                        </m:r>
                      </m:num>
                      <m:den>
                        <m:sSup>
                          <m:e>
                            <m:d>
                              <m:dPr>
                                <m:sepChr m:val=""/>
                              </m:dPr>
                              <m:e>
                                <m:sSup>
                                  <m:e>
                                    <m:r>
                                      <a:rPr lang="vi-VN" sz="2200" b="0">
                                        <a:solidFill>
                                          <a:srgbClr val="1E293B"/>
                                        </a:solidFill>
                                        <a:latin typeface="Cambria Math" panose="02040503050406030204" pitchFamily="18" charset="0"/>
                                      </a:rPr>
                                      <m:t>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e>
                            </m:d>
                          </m:e>
                          <m:sup>
                            <m:r>
                              <a:rPr lang="vi-VN" sz="2200" b="0">
                                <a:solidFill>
                                  <a:srgbClr val="1E293B"/>
                                </a:solidFill>
                                <a:latin typeface="Cambria Math" panose="02040503050406030204" pitchFamily="18" charset="0"/>
                              </a:rPr>
                              <m:t>2</m:t>
                            </m:r>
                          </m:sup>
                        </m:sSup>
                      </m:den>
                    </m:f>
                  </m:oMath>
                </a14:m>
              </a:p>
              <a:p>
                <a:pPr algn="l" marL="365760" indent="-365760">
                  <a:spcAft>
                    <a:spcPts val="800"/>
                  </a:spcAft>
                  <a:buClr>
                    <a:srgbClr val="1E40AF"/>
                  </a:buClr>
                  <a:buFont typeface="Arial"/>
                  <a:buChar char="•"/>
                </a:pPr>
                <a14:m>
                  <m:oMath xmlns:m="http://schemas.openxmlformats.org/officeDocument/2006/math">
                    <m:sSup>
                      <m:e>
                        <m:r>
                          <a:rPr lang="vi-VN" sz="2200" b="0">
                            <a:solidFill>
                              <a:srgbClr val="1E293B"/>
                            </a:solidFill>
                            <a:latin typeface="Cambria Math" panose="02040503050406030204" pitchFamily="18" charset="0"/>
                          </a:rPr>
                          <m:t>P</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(5)=</m:t>
                    </m:r>
                    <m:f>
                      <m:fPr>
                        <m:type m:val="bar"/>
                      </m:fPr>
                      <m:num>
                        <m:r>
                          <a:rPr lang="vi-VN" sz="2200" b="0">
                            <a:solidFill>
                              <a:srgbClr val="1E293B"/>
                            </a:solidFill>
                            <a:latin typeface="Cambria Math" panose="02040503050406030204" pitchFamily="18" charset="0"/>
                          </a:rPr>
                          <m:t>−1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m:t>
                        </m:r>
                      </m:num>
                      <m:den>
                        <m:r>
                          <a:rPr lang="vi-VN" sz="2200" b="0">
                            <a:solidFill>
                              <a:srgbClr val="1E293B"/>
                            </a:solidFill>
                            <a:latin typeface="Cambria Math" panose="02040503050406030204" pitchFamily="18" charset="0"/>
                          </a:rPr>
                          <m:t>676</m:t>
                        </m:r>
                      </m:den>
                    </m:f>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48</m:t>
                    </m:r>
                  </m:oMath>
                </a14:m>
                <a:r>
                  <a:rPr sz="2200">
                    <a:solidFill>
                      <a:srgbClr val="1E293B"/>
                    </a:solidFill>
                    <a:latin typeface="Calibri"/>
                  </a:rPr>
                  <a:t> (mmHg/giây)</a:t>
                </a:r>
              </a:p>
            </p:txBody>
          </p:sp>
        </mc:Choice>
        <mc:Fallback>
          <p:sp>
            <p:nvSpPr>
              <p:cNvPr id="7" name="TextBox 6"/>
              <p:cNvSpPr txBox="1"/>
              <p:nvPr/>
            </p:nvSpPr>
            <p:spPr>
              <a:xfrm>
                <a:off x="731520" y="1463040"/>
                <a:ext cx="10789920" cy="190919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P'(t)=\frac{50t(t^2+1)-2t(25t^2+125)}{(t^2+1)^2}</a:t>
                </a:r>
              </a:p>
              <a:p>
                <a:pPr algn="l" marL="365760" indent="-365760">
                  <a:spcAft>
                    <a:spcPts val="800"/>
                  </a:spcAft>
                  <a:buClr>
                    <a:srgbClr val="1E40AF"/>
                  </a:buClr>
                  <a:buFont typeface="Arial"/>
                  <a:buChar char="•"/>
                </a:pPr>
                <a:r>
                  <a:rPr lang="vi-VN"/>
                  <a:t>=\frac{-200t}{(t^2+1)^2}</a:t>
                </a:r>
              </a:p>
              <a:p>
                <a:pPr algn="l" marL="365760" indent="-365760">
                  <a:spcAft>
                    <a:spcPts val="800"/>
                  </a:spcAft>
                  <a:buClr>
                    <a:srgbClr val="1E40AF"/>
                  </a:buClr>
                  <a:buFont typeface="Arial"/>
                  <a:buChar char="•"/>
                </a:pPr>
                <a:r>
                  <a:rPr lang="vi-VN"/>
                  <a:t>P'(5)=\frac{-1\,000}{676}\approx -1{,}48</a:t>
                </a:r>
                <a:r>
                  <a:rPr sz="2200">
                    <a:solidFill>
                      <a:srgbClr val="1E293B"/>
                    </a:solidFill>
                    <a:latin typeface="Calibri"/>
                  </a:rPr>
                  <a:t> (mmHg/giây)</a:t>
                </a:r>
              </a:p>
            </p:txBody>
          </p:sp>
        </mc:Fallback>
      </mc:AlternateContent>
      <p:sp>
        <p:nvSpPr>
          <p:cNvPr id="8" name="Rounded Rectangle 7"/>
          <p:cNvSpPr/>
          <p:nvPr/>
        </p:nvSpPr>
        <p:spPr>
          <a:xfrm>
            <a:off x="731520" y="3509390"/>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509390"/>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Sau 5 giây, huyết áp đang giảm với tốc độ khoảng 1,48 mmHg/giây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2. BÀI TOÁN TỐI ƯU HOÁ</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2 (T20)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QUY TRÌNH TỐI ƯU HOÁ</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25</a:t>
            </a:r>
          </a:p>
        </p:txBody>
      </p:sp>
      <p:sp>
        <p:nvSpPr>
          <p:cNvPr id="7" name="Rounded Rectangle 6"/>
          <p:cNvSpPr/>
          <p:nvPr/>
        </p:nvSpPr>
        <p:spPr>
          <a:xfrm>
            <a:off x="731520" y="1463040"/>
            <a:ext cx="9601200" cy="19507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19507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Quy trình giải một bài toán tối ưu hoá:</a:t>
                </a:r>
              </a:p>
              <a:p>
                <a:pPr algn="l">
                  <a:spcAft>
                    <a:spcPts val="400"/>
                  </a:spcAft>
                </a:pPr>
                <a:r>
                  <a:rPr sz="2200" b="1" i="1">
                    <a:solidFill>
                      <a:srgbClr val="991B1B"/>
                    </a:solidFill>
                    <a:latin typeface="Calibri"/>
                  </a:rPr>
                  <a:t>Bước 1.</a:t>
                </a:r>
                <a:r>
                  <a:rPr sz="2200" b="1">
                    <a:solidFill>
                      <a:srgbClr val="991B1B"/>
                    </a:solidFill>
                    <a:latin typeface="Calibri"/>
                  </a:rPr>
                  <a:t> Xác định đại lượng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Q</m:t>
                    </m:r>
                  </m:oMath>
                </a14:m>
                <a:r>
                  <a:rPr sz="2200" b="1">
                    <a:solidFill>
                      <a:srgbClr val="991B1B"/>
                    </a:solidFill>
                    <a:latin typeface="Calibri"/>
                  </a:rPr>
                  <a:t> mà ta cần làm cho giá trị của đại lượng ấy lớn nhất hoặc nhỏ nhất và biểu diễn nó qua các đại lượng khác trong bài toán.</a:t>
                </a:r>
              </a:p>
            </p:txBody>
          </p:sp>
        </mc:Choice>
        <mc:Fallback>
          <p:sp>
            <p:nvSpPr>
              <p:cNvPr id="8" name="TextBox 7"/>
              <p:cNvSpPr txBox="1"/>
              <p:nvPr/>
            </p:nvSpPr>
            <p:spPr>
              <a:xfrm>
                <a:off x="914400" y="1463040"/>
                <a:ext cx="9235440" cy="19507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Quy trình giải một bài toán tối ưu hoá:</a:t>
                </a:r>
              </a:p>
              <a:p>
                <a:pPr algn="l">
                  <a:spcAft>
                    <a:spcPts val="400"/>
                  </a:spcAft>
                </a:pPr>
                <a:r>
                  <a:rPr sz="2200" b="1" i="1">
                    <a:solidFill>
                      <a:srgbClr val="991B1B"/>
                    </a:solidFill>
                    <a:latin typeface="Calibri"/>
                  </a:rPr>
                  <a:t>Bước 1.</a:t>
                </a:r>
                <a:r>
                  <a:rPr sz="2200" b="1">
                    <a:solidFill>
                      <a:srgbClr val="991B1B"/>
                    </a:solidFill>
                    <a:latin typeface="Calibri"/>
                  </a:rPr>
                  <a:t> Xác định đại lượng </a:t>
                </a:r>
                <a:r>
                  <a:rPr lang="vi-VN"/>
                  <a:t>Q</a:t>
                </a:r>
                <a:r>
                  <a:rPr sz="2200" b="1">
                    <a:solidFill>
                      <a:srgbClr val="991B1B"/>
                    </a:solidFill>
                    <a:latin typeface="Calibri"/>
                  </a:rPr>
                  <a:t> mà ta cần làm cho giá trị của đại lượng ấy lớn nhất hoặc nhỏ nhất và biểu diễn nó qua các đại lượng khác trong bài toán.</a:t>
                </a: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QUY TRÌNH TỐI ƯU HOÁ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26</a:t>
            </a:r>
          </a:p>
        </p:txBody>
      </p:sp>
      <p:sp>
        <p:nvSpPr>
          <p:cNvPr id="7" name="Rounded Rectangle 6"/>
          <p:cNvSpPr/>
          <p:nvPr/>
        </p:nvSpPr>
        <p:spPr>
          <a:xfrm>
            <a:off x="731520" y="1463040"/>
            <a:ext cx="9601200" cy="2369819"/>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2369819"/>
              </a:xfrm>
              <a:prstGeom prst="rect">
                <a:avLst/>
              </a:prstGeom>
              <a:noFill/>
            </p:spPr>
            <p:txBody>
              <a:bodyPr wrap="square" anchor="ctr" lIns="45720" rIns="45720">
                <a:spAutoFit/>
              </a:bodyPr>
              <a:lstStyle/>
              <a:p>
                <a:pPr algn="l">
                  <a:spcAft>
                    <a:spcPts val="400"/>
                  </a:spcAft>
                </a:pPr>
                <a:r>
                  <a:rPr sz="2200" b="1" i="1">
                    <a:solidFill>
                      <a:srgbClr val="991B1B"/>
                    </a:solidFill>
                    <a:latin typeface="Calibri"/>
                  </a:rPr>
                  <a:t>Bước 2.</a:t>
                </a:r>
                <a:r>
                  <a:rPr sz="2200" b="1">
                    <a:solidFill>
                      <a:srgbClr val="991B1B"/>
                    </a:solidFill>
                    <a:latin typeface="Calibri"/>
                  </a:rPr>
                  <a:t> Chọn một đại lượng thích hợp nào đó, kí hiệu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x</m:t>
                    </m:r>
                  </m:oMath>
                </a14:m>
                <a:r>
                  <a:rPr sz="2200" b="1">
                    <a:solidFill>
                      <a:srgbClr val="991B1B"/>
                    </a:solidFill>
                    <a:latin typeface="Calibri"/>
                  </a:rPr>
                  <a:t>, và biểu diễn các đại lượng khác ở Bước 1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x</m:t>
                    </m:r>
                  </m:oMath>
                </a14:m>
                <a:r>
                  <a:rPr sz="2200" b="1">
                    <a:solidFill>
                      <a:srgbClr val="991B1B"/>
                    </a:solidFill>
                    <a:latin typeface="Calibri"/>
                  </a:rPr>
                  <a:t>. Khi đó, đại lượng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Q</m:t>
                    </m:r>
                  </m:oMath>
                </a14:m>
                <a:r>
                  <a:rPr sz="2200" b="1">
                    <a:solidFill>
                      <a:srgbClr val="991B1B"/>
                    </a:solidFill>
                    <a:latin typeface="Calibri"/>
                  </a:rPr>
                  <a:t> sẽ là hàm số của một biến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x</m:t>
                    </m:r>
                  </m:oMath>
                </a14:m>
                <a:r>
                  <a:rPr sz="2200" b="1">
                    <a:solidFill>
                      <a:srgbClr val="991B1B"/>
                    </a:solidFill>
                    <a:latin typeface="Calibri"/>
                  </a:rPr>
                  <a:t>. Tìm tập xác định của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Q=Q(x)</m:t>
                    </m:r>
                  </m:oMath>
                </a14:m>
                <a:r>
                  <a:rPr sz="2200" b="1">
                    <a:solidFill>
                      <a:srgbClr val="991B1B"/>
                    </a:solidFill>
                    <a:latin typeface="Calibri"/>
                  </a:rPr>
                  <a:t>.</a:t>
                </a:r>
              </a:p>
              <a:p>
                <a:pPr algn="l">
                  <a:spcAft>
                    <a:spcPts val="400"/>
                  </a:spcAft>
                </a:pPr>
                <a:r>
                  <a:rPr sz="2200" b="1" i="1">
                    <a:solidFill>
                      <a:srgbClr val="991B1B"/>
                    </a:solidFill>
                    <a:latin typeface="Calibri"/>
                  </a:rPr>
                  <a:t>Bước 3.</a:t>
                </a:r>
                <a:r>
                  <a:rPr sz="2200" b="1">
                    <a:solidFill>
                      <a:srgbClr val="991B1B"/>
                    </a:solidFill>
                    <a:latin typeface="Calibri"/>
                  </a:rPr>
                  <a:t> Tìm giá trị lớn nhất hoặc giá trị nhỏ nhất của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1">
                        <a:solidFill>
                          <a:srgbClr val="991B1B"/>
                        </a:solidFill>
                        <a:latin typeface="Cambria Math" panose="02040503050406030204" pitchFamily="18" charset="0"/>
                      </a:rPr>
                      <m:t>Q=Q(x)</m:t>
                    </m:r>
                  </m:oMath>
                </a14:m>
                <a:r>
                  <a:rPr sz="2200" b="1">
                    <a:solidFill>
                      <a:srgbClr val="991B1B"/>
                    </a:solidFill>
                    <a:latin typeface="Calibri"/>
                  </a:rPr>
                  <a:t> bằng các phương pháp đã biết và kết luận.</a:t>
                </a:r>
              </a:p>
            </p:txBody>
          </p:sp>
        </mc:Choice>
        <mc:Fallback>
          <p:sp>
            <p:nvSpPr>
              <p:cNvPr id="8" name="TextBox 7"/>
              <p:cNvSpPr txBox="1"/>
              <p:nvPr/>
            </p:nvSpPr>
            <p:spPr>
              <a:xfrm>
                <a:off x="914400" y="1463040"/>
                <a:ext cx="9235440" cy="2369819"/>
              </a:xfrm>
              <a:prstGeom prst="rect">
                <a:avLst/>
              </a:prstGeom>
              <a:noFill/>
            </p:spPr>
            <p:txBody>
              <a:bodyPr wrap="square" anchor="ctr" lIns="45720" rIns="45720">
                <a:spAutoFit/>
              </a:bodyPr>
              <a:lstStyle/>
              <a:p>
                <a:pPr algn="l">
                  <a:spcAft>
                    <a:spcPts val="400"/>
                  </a:spcAft>
                </a:pPr>
                <a:r>
                  <a:rPr sz="2200" b="1" i="1">
                    <a:solidFill>
                      <a:srgbClr val="991B1B"/>
                    </a:solidFill>
                    <a:latin typeface="Calibri"/>
                  </a:rPr>
                  <a:t>Bước 2.</a:t>
                </a:r>
                <a:r>
                  <a:rPr sz="2200" b="1">
                    <a:solidFill>
                      <a:srgbClr val="991B1B"/>
                    </a:solidFill>
                    <a:latin typeface="Calibri"/>
                  </a:rPr>
                  <a:t> Chọn một đại lượng thích hợp nào đó, kí hiệu là </a:t>
                </a:r>
                <a:r>
                  <a:rPr lang="vi-VN"/>
                  <a:t>x</a:t>
                </a:r>
                <a:r>
                  <a:rPr sz="2200" b="1">
                    <a:solidFill>
                      <a:srgbClr val="991B1B"/>
                    </a:solidFill>
                    <a:latin typeface="Calibri"/>
                  </a:rPr>
                  <a:t>, và biểu diễn các đại lượng khác ở Bước 1 theo </a:t>
                </a:r>
                <a:r>
                  <a:rPr lang="vi-VN"/>
                  <a:t>x</a:t>
                </a:r>
                <a:r>
                  <a:rPr sz="2200" b="1">
                    <a:solidFill>
                      <a:srgbClr val="991B1B"/>
                    </a:solidFill>
                    <a:latin typeface="Calibri"/>
                  </a:rPr>
                  <a:t>. Khi đó, đại lượng </a:t>
                </a:r>
                <a:r>
                  <a:rPr lang="vi-VN"/>
                  <a:t>Q</a:t>
                </a:r>
                <a:r>
                  <a:rPr sz="2200" b="1">
                    <a:solidFill>
                      <a:srgbClr val="991B1B"/>
                    </a:solidFill>
                    <a:latin typeface="Calibri"/>
                  </a:rPr>
                  <a:t> sẽ là hàm số của một biến </a:t>
                </a:r>
                <a:r>
                  <a:rPr lang="vi-VN"/>
                  <a:t>x</a:t>
                </a:r>
                <a:r>
                  <a:rPr sz="2200" b="1">
                    <a:solidFill>
                      <a:srgbClr val="991B1B"/>
                    </a:solidFill>
                    <a:latin typeface="Calibri"/>
                  </a:rPr>
                  <a:t>. Tìm tập xác định của hàm số </a:t>
                </a:r>
                <a:r>
                  <a:rPr lang="vi-VN"/>
                  <a:t>Q=Q(x)</a:t>
                </a:r>
                <a:r>
                  <a:rPr sz="2200" b="1">
                    <a:solidFill>
                      <a:srgbClr val="991B1B"/>
                    </a:solidFill>
                    <a:latin typeface="Calibri"/>
                  </a:rPr>
                  <a:t>.</a:t>
                </a:r>
              </a:p>
              <a:p>
                <a:pPr algn="l">
                  <a:spcAft>
                    <a:spcPts val="400"/>
                  </a:spcAft>
                </a:pPr>
                <a:r>
                  <a:rPr sz="2200" b="1" i="1">
                    <a:solidFill>
                      <a:srgbClr val="991B1B"/>
                    </a:solidFill>
                    <a:latin typeface="Calibri"/>
                  </a:rPr>
                  <a:t>Bước 3.</a:t>
                </a:r>
                <a:r>
                  <a:rPr sz="2200" b="1">
                    <a:solidFill>
                      <a:srgbClr val="991B1B"/>
                    </a:solidFill>
                    <a:latin typeface="Calibri"/>
                  </a:rPr>
                  <a:t> Tìm giá trị lớn nhất hoặc giá trị nhỏ nhất của hàm số </a:t>
                </a:r>
                <a:r>
                  <a:rPr lang="vi-VN"/>
                  <a:t>Q=Q(x)</a:t>
                </a:r>
                <a:r>
                  <a:rPr sz="2200" b="1">
                    <a:solidFill>
                      <a:srgbClr val="991B1B"/>
                    </a:solidFill>
                    <a:latin typeface="Calibri"/>
                  </a:rPr>
                  <a:t> bằng các phương pháp đã biết và kết luận.</a:t>
                </a: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5: HỘP HÌNH TRỤ 1 LÍT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27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00655"/>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nhà sản xuất cần làm những hộp đựng hình trụ có thể tích 1 lít. Tìm các kích thước của hộp đựng để chi phí vật liệu dùng để sản xuất là nhỏ nhất (kết quả được tính theo centimét và làm tròn đến chữ số thập phân thứ hai).</a:t>
                </a:r>
              </a:p>
              <a:p>
                <a:pPr algn="l">
                  <a:spcAft>
                    <a:spcPts val="800"/>
                  </a:spcAft>
                </a:pPr>
                <a:r>
                  <a:rPr sz="2400" b="1">
                    <a:solidFill>
                      <a:srgbClr val="1E40AF"/>
                    </a:solidFill>
                    <a:latin typeface="Calibri"/>
                  </a:rPr>
                  <a:t>Gợi mở: Biểu diễn </a:t>
                </a:r>
                <a14:m>
                  <m:oMath xmlns:m="http://schemas.openxmlformats.org/officeDocument/2006/math">
                    <m:r>
                      <a:rPr lang="vi-VN" sz="2400" b="1">
                        <a:solidFill>
                          <a:srgbClr val="1E40AF"/>
                        </a:solidFill>
                        <a:latin typeface="Cambria Math" panose="02040503050406030204" pitchFamily="18" charset="0"/>
                      </a:rPr>
                      <m:t>h</m:t>
                    </m:r>
                  </m:oMath>
                </a14:m>
                <a:r>
                  <a:rPr sz="2400" b="1">
                    <a:solidFill>
                      <a:srgbClr val="1E40AF"/>
                    </a:solidFill>
                    <a:latin typeface="Calibri"/>
                  </a:rPr>
                  <a:t> theo </a:t>
                </a:r>
                <a14:m>
                  <m:oMath xmlns:m="http://schemas.openxmlformats.org/officeDocument/2006/math">
                    <m:r>
                      <a:rPr lang="vi-VN" sz="2400" b="1">
                        <a:solidFill>
                          <a:srgbClr val="1E40AF"/>
                        </a:solidFill>
                        <a:latin typeface="Cambria Math" panose="02040503050406030204" pitchFamily="18" charset="0"/>
                      </a:rPr>
                      <m:t>r</m:t>
                    </m:r>
                  </m:oMath>
                </a14:m>
                <a:r>
                  <a:rPr sz="2400" b="1">
                    <a:solidFill>
                      <a:srgbClr val="1E40AF"/>
                    </a:solidFill>
                    <a:latin typeface="Calibri"/>
                  </a:rPr>
                  <a:t> từ </a:t>
                </a:r>
                <a14:m>
                  <m:oMath xmlns:m="http://schemas.openxmlformats.org/officeDocument/2006/math">
                    <m:r>
                      <a:rPr lang="vi-VN" sz="2400" b="1">
                        <a:solidFill>
                          <a:srgbClr val="1E40AF"/>
                        </a:solidFill>
                        <a:latin typeface="Cambria Math" panose="02040503050406030204" pitchFamily="18" charset="0"/>
                      </a:rPr>
                      <m:t>V=π</m:t>
                    </m:r>
                    <m:sSup>
                      <m:e>
                        <m:r>
                          <a:rPr lang="vi-VN" sz="2400" b="1">
                            <a:solidFill>
                              <a:srgbClr val="1E40AF"/>
                            </a:solidFill>
                            <a:latin typeface="Cambria Math" panose="02040503050406030204" pitchFamily="18" charset="0"/>
                          </a:rPr>
                          <m:t>r</m:t>
                        </m:r>
                      </m:e>
                      <m:sup>
                        <m:r>
                          <a:rPr lang="vi-VN" sz="2400" b="1">
                            <a:solidFill>
                              <a:srgbClr val="1E40AF"/>
                            </a:solidFill>
                            <a:latin typeface="Cambria Math" panose="02040503050406030204" pitchFamily="18" charset="0"/>
                          </a:rPr>
                          <m:t>2</m:t>
                        </m:r>
                      </m:sup>
                    </m:sSup>
                    <m:r>
                      <a:rPr lang="vi-VN" sz="2400" b="1">
                        <a:solidFill>
                          <a:srgbClr val="1E40AF"/>
                        </a:solidFill>
                        <a:latin typeface="Cambria Math" panose="02040503050406030204" pitchFamily="18" charset="0"/>
                      </a:rPr>
                      <m:t>h=1</m:t>
                    </m:r>
                    <m:r>
                      <m:rPr>
                        <m:sty m:val="p"/>
                      </m:rPr>
                      <a:rPr lang="vi-VN" sz="2400" b="1">
                        <a:solidFill>
                          <a:srgbClr val="1E40AF"/>
                        </a:solidFill>
                        <a:latin typeface="Cambria Math" panose="02040503050406030204" pitchFamily="18" charset="0"/>
                      </a:rPr>
                      <m:t> </m:t>
                    </m:r>
                    <m:r>
                      <a:rPr lang="vi-VN" sz="2400" b="1">
                        <a:solidFill>
                          <a:srgbClr val="1E40AF"/>
                        </a:solidFill>
                        <a:latin typeface="Cambria Math" panose="02040503050406030204" pitchFamily="18" charset="0"/>
                      </a:rPr>
                      <m:t>000</m:t>
                    </m:r>
                  </m:oMath>
                </a14:m>
              </a:p>
            </p:txBody>
          </p:sp>
        </mc:Choice>
        <mc:Fallback>
          <p:sp>
            <p:nvSpPr>
              <p:cNvPr id="7" name="TextBox 6"/>
              <p:cNvSpPr txBox="1"/>
              <p:nvPr/>
            </p:nvSpPr>
            <p:spPr>
              <a:xfrm>
                <a:off x="731520" y="1463040"/>
                <a:ext cx="10789920" cy="2200655"/>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nhà sản xuất cần làm những hộp đựng hình trụ có thể tích 1 lít. Tìm các kích thước của hộp đựng để chi phí vật liệu dùng để sản xuất là nhỏ nhất (kết quả được tính theo centimét và làm tròn đến chữ số thập phân thứ hai).</a:t>
                </a:r>
              </a:p>
              <a:p>
                <a:pPr algn="l">
                  <a:spcAft>
                    <a:spcPts val="800"/>
                  </a:spcAft>
                </a:pPr>
                <a:r>
                  <a:rPr sz="2400" b="1">
                    <a:solidFill>
                      <a:srgbClr val="1E40AF"/>
                    </a:solidFill>
                    <a:latin typeface="Calibri"/>
                  </a:rPr>
                  <a:t>Gợi mở: Biểu diễn </a:t>
                </a:r>
                <a:r>
                  <a:rPr lang="vi-VN"/>
                  <a:t>h</a:t>
                </a:r>
                <a:r>
                  <a:rPr sz="2400" b="1">
                    <a:solidFill>
                      <a:srgbClr val="1E40AF"/>
                    </a:solidFill>
                    <a:latin typeface="Calibri"/>
                  </a:rPr>
                  <a:t> theo </a:t>
                </a:r>
                <a:r>
                  <a:rPr lang="vi-VN"/>
                  <a:t>r</a:t>
                </a:r>
                <a:r>
                  <a:rPr sz="2400" b="1">
                    <a:solidFill>
                      <a:srgbClr val="1E40AF"/>
                    </a:solidFill>
                    <a:latin typeface="Calibri"/>
                  </a:rPr>
                  <a:t> từ </a:t>
                </a:r>
                <a:r>
                  <a:rPr lang="vi-VN"/>
                  <a:t>V=\pi r^2h=1\,000</a:t>
                </a: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5: HỘP HÌNH TRỤ 1 LÍT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28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3608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S=2π</m:t>
                    </m:r>
                    <m:sSup>
                      <m:e>
                        <m:r>
                          <a:rPr lang="vi-VN" sz="2200" b="0">
                            <a:solidFill>
                              <a:srgbClr val="1E293B"/>
                            </a:solidFill>
                            <a:latin typeface="Cambria Math" panose="02040503050406030204" pitchFamily="18" charset="0"/>
                          </a:rPr>
                          <m:t>r</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+2πrh</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h=</m:t>
                    </m:r>
                    <m:f>
                      <m:fPr>
                        <m:type m:val="bar"/>
                      </m:fPr>
                      <m:num>
                        <m:r>
                          <a:rPr lang="vi-VN" sz="2200" b="0">
                            <a:solidFill>
                              <a:srgbClr val="1E293B"/>
                            </a:solidFill>
                            <a:latin typeface="Cambria Math" panose="02040503050406030204" pitchFamily="18" charset="0"/>
                          </a:rPr>
                          <m:t>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m:t>
                        </m:r>
                      </m:num>
                      <m:den>
                        <m:r>
                          <a:rPr lang="vi-VN" sz="2200" b="0">
                            <a:solidFill>
                              <a:srgbClr val="1E293B"/>
                            </a:solidFill>
                            <a:latin typeface="Cambria Math" panose="02040503050406030204" pitchFamily="18" charset="0"/>
                          </a:rPr>
                          <m:t>π</m:t>
                        </m:r>
                        <m:sSup>
                          <m:e>
                            <m:r>
                              <a:rPr lang="vi-VN" sz="2200" b="0">
                                <a:solidFill>
                                  <a:srgbClr val="1E293B"/>
                                </a:solidFill>
                                <a:latin typeface="Cambria Math" panose="02040503050406030204" pitchFamily="18" charset="0"/>
                              </a:rPr>
                              <m:t>r</m:t>
                            </m:r>
                          </m:e>
                          <m:sup>
                            <m:r>
                              <a:rPr lang="vi-VN" sz="2200" b="0">
                                <a:solidFill>
                                  <a:srgbClr val="1E293B"/>
                                </a:solidFill>
                                <a:latin typeface="Cambria Math" panose="02040503050406030204" pitchFamily="18" charset="0"/>
                              </a:rPr>
                              <m:t>2</m:t>
                            </m:r>
                          </m:sup>
                        </m:sSup>
                      </m:den>
                    </m:f>
                  </m:oMath>
                </a14:m>
                <a:r>
                  <a:rPr sz="2200">
                    <a:solidFill>
                      <a:srgbClr val="1E293B"/>
                    </a:solidFill>
                    <a:latin typeface="Calibri"/>
                  </a:rPr>
                  <a:t> nên </a:t>
                </a:r>
                <a14:m>
                  <m:oMath xmlns:m="http://schemas.openxmlformats.org/officeDocument/2006/math">
                    <m:r>
                      <a:rPr lang="vi-VN" sz="2200" b="0">
                        <a:solidFill>
                          <a:srgbClr val="1E293B"/>
                        </a:solidFill>
                        <a:latin typeface="Cambria Math" panose="02040503050406030204" pitchFamily="18" charset="0"/>
                      </a:rPr>
                      <m:t>S=2π</m:t>
                    </m:r>
                    <m:sSup>
                      <m:e>
                        <m:r>
                          <a:rPr lang="vi-VN" sz="2200" b="0">
                            <a:solidFill>
                              <a:srgbClr val="1E293B"/>
                            </a:solidFill>
                            <a:latin typeface="Cambria Math" panose="02040503050406030204" pitchFamily="18" charset="0"/>
                          </a:rPr>
                          <m:t>r</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m:t>
                        </m:r>
                      </m:num>
                      <m:den>
                        <m:r>
                          <a:rPr lang="vi-VN" sz="2200" b="0">
                            <a:solidFill>
                              <a:srgbClr val="1E293B"/>
                            </a:solidFill>
                            <a:latin typeface="Cambria Math" panose="02040503050406030204" pitchFamily="18" charset="0"/>
                          </a:rPr>
                          <m:t>r</m:t>
                        </m:r>
                      </m:den>
                    </m:f>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r&gt;0</m:t>
                    </m:r>
                  </m:oMath>
                </a14:m>
              </a:p>
              <a:p>
                <a:pPr algn="l" marL="365760" indent="-365760">
                  <a:spcAft>
                    <a:spcPts val="800"/>
                  </a:spcAft>
                  <a:buClr>
                    <a:srgbClr val="1E40AF"/>
                  </a:buClr>
                  <a:buFont typeface="Arial"/>
                  <a:buChar char="•"/>
                </a:pPr>
                <a14:m>
                  <m:oMath xmlns:m="http://schemas.openxmlformats.org/officeDocument/2006/math">
                    <m:sSup>
                      <m:e>
                        <m:r>
                          <a:rPr lang="vi-VN" sz="2200" b="0">
                            <a:solidFill>
                              <a:srgbClr val="1E293B"/>
                            </a:solidFill>
                            <a:latin typeface="Cambria Math" panose="02040503050406030204" pitchFamily="18" charset="0"/>
                          </a:rPr>
                          <m:t>S</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=4πr−</m:t>
                    </m:r>
                    <m:f>
                      <m:fPr>
                        <m:type m:val="bar"/>
                      </m:fPr>
                      <m:num>
                        <m:r>
                          <a:rPr lang="vi-VN" sz="2200" b="0">
                            <a:solidFill>
                              <a:srgbClr val="1E293B"/>
                            </a:solidFill>
                            <a:latin typeface="Cambria Math" panose="02040503050406030204" pitchFamily="18" charset="0"/>
                          </a:rPr>
                          <m:t>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m:t>
                        </m:r>
                      </m:num>
                      <m:den>
                        <m:sSup>
                          <m:e>
                            <m:r>
                              <a:rPr lang="vi-VN" sz="2200" b="0">
                                <a:solidFill>
                                  <a:srgbClr val="1E293B"/>
                                </a:solidFill>
                                <a:latin typeface="Cambria Math" panose="02040503050406030204" pitchFamily="18" charset="0"/>
                              </a:rPr>
                              <m:t>r</m:t>
                            </m:r>
                          </m:e>
                          <m:sup>
                            <m:r>
                              <a:rPr lang="vi-VN" sz="2200" b="0">
                                <a:solidFill>
                                  <a:srgbClr val="1E293B"/>
                                </a:solidFill>
                                <a:latin typeface="Cambria Math" panose="02040503050406030204" pitchFamily="18" charset="0"/>
                              </a:rPr>
                              <m:t>2</m:t>
                            </m:r>
                          </m:sup>
                        </m:sSup>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4π</m:t>
                        </m:r>
                        <m:sSup>
                          <m:e>
                            <m:r>
                              <a:rPr lang="vi-VN" sz="2200" b="0">
                                <a:solidFill>
                                  <a:srgbClr val="1E293B"/>
                                </a:solidFill>
                                <a:latin typeface="Cambria Math" panose="02040503050406030204" pitchFamily="18" charset="0"/>
                              </a:rPr>
                              <m:t>r</m:t>
                            </m:r>
                          </m:e>
                          <m:sup>
                            <m:r>
                              <a:rPr lang="vi-VN" sz="2200" b="0">
                                <a:solidFill>
                                  <a:srgbClr val="1E293B"/>
                                </a:solidFill>
                                <a:latin typeface="Cambria Math" panose="02040503050406030204" pitchFamily="18" charset="0"/>
                              </a:rPr>
                              <m:t>3</m:t>
                            </m:r>
                          </m:sup>
                        </m:sSup>
                        <m:r>
                          <a:rPr lang="vi-VN" sz="2200" b="0">
                            <a:solidFill>
                              <a:srgbClr val="1E293B"/>
                            </a:solidFill>
                            <a:latin typeface="Cambria Math" panose="02040503050406030204" pitchFamily="18" charset="0"/>
                          </a:rPr>
                          <m:t>−2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m:t>
                        </m:r>
                      </m:num>
                      <m:den>
                        <m:sSup>
                          <m:e>
                            <m:r>
                              <a:rPr lang="vi-VN" sz="2200" b="0">
                                <a:solidFill>
                                  <a:srgbClr val="1E293B"/>
                                </a:solidFill>
                                <a:latin typeface="Cambria Math" panose="02040503050406030204" pitchFamily="18" charset="0"/>
                              </a:rPr>
                              <m:t>r</m:t>
                            </m:r>
                          </m:e>
                          <m:sup>
                            <m:r>
                              <a:rPr lang="vi-VN" sz="2200" b="0">
                                <a:solidFill>
                                  <a:srgbClr val="1E293B"/>
                                </a:solidFill>
                                <a:latin typeface="Cambria Math" panose="02040503050406030204" pitchFamily="18" charset="0"/>
                              </a:rPr>
                              <m:t>2</m:t>
                            </m:r>
                          </m:sup>
                        </m:sSup>
                      </m:den>
                    </m:f>
                  </m:oMath>
                </a14:m>
              </a:p>
              <a:p>
                <a:pPr algn="l" marL="365760" indent="-365760">
                  <a:spcAft>
                    <a:spcPts val="800"/>
                  </a:spcAft>
                  <a:buClr>
                    <a:srgbClr val="1E40AF"/>
                  </a:buClr>
                  <a:buFont typeface="Arial"/>
                  <a:buChar char="•"/>
                </a:pPr>
                <a14:m>
                  <m:oMath xmlns:m="http://schemas.openxmlformats.org/officeDocument/2006/math">
                    <m:sSup>
                      <m:e>
                        <m:r>
                          <a:rPr lang="vi-VN" sz="2200" b="0">
                            <a:solidFill>
                              <a:srgbClr val="1E293B"/>
                            </a:solidFill>
                            <a:latin typeface="Cambria Math" panose="02040503050406030204" pitchFamily="18" charset="0"/>
                          </a:rPr>
                          <m:t>S</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=0⇔r=</m:t>
                    </m:r>
                    <m:rad>
                      <m:radPr>
                        <m:degHide m:val="off"/>
                      </m:radPr>
                      <m:deg>
                        <m:r>
                          <a:rPr lang="vi-VN" sz="2200" b="0">
                            <a:solidFill>
                              <a:srgbClr val="1E293B"/>
                            </a:solidFill>
                            <a:latin typeface="Cambria Math" panose="02040503050406030204" pitchFamily="18" charset="0"/>
                          </a:rPr>
                          <m:t>3</m:t>
                        </m:r>
                      </m:deg>
                      <m:e>
                        <m:f>
                          <m:fPr>
                            <m:type m:val="bar"/>
                          </m:fPr>
                          <m:num>
                            <m:r>
                              <a:rPr lang="vi-VN" sz="2200" b="0">
                                <a:solidFill>
                                  <a:srgbClr val="1E293B"/>
                                </a:solidFill>
                                <a:latin typeface="Cambria Math" panose="02040503050406030204" pitchFamily="18" charset="0"/>
                              </a:rPr>
                              <m:t>500</m:t>
                            </m:r>
                          </m:num>
                          <m:den>
                            <m:r>
                              <a:rPr lang="vi-VN" sz="2200" b="0">
                                <a:solidFill>
                                  <a:srgbClr val="1E293B"/>
                                </a:solidFill>
                                <a:latin typeface="Cambria Math" panose="02040503050406030204" pitchFamily="18" charset="0"/>
                              </a:rPr>
                              <m:t>π</m:t>
                            </m:r>
                          </m:den>
                        </m:f>
                      </m:e>
                    </m:rad>
                  </m:oMath>
                </a14:m>
                <a:r>
                  <a:rPr sz="2200">
                    <a:solidFill>
                      <a:srgbClr val="1E293B"/>
                    </a:solidFill>
                    <a:latin typeface="Calibri"/>
                  </a:rPr>
                  <a:t>; bảng biến thiên: </a:t>
                </a:r>
                <a14:m>
                  <m:oMath xmlns:m="http://schemas.openxmlformats.org/officeDocument/2006/math">
                    <m:r>
                      <a:rPr lang="vi-VN" sz="2200" b="0">
                        <a:solidFill>
                          <a:srgbClr val="1E293B"/>
                        </a:solidFill>
                        <a:latin typeface="Cambria Math" panose="02040503050406030204" pitchFamily="18" charset="0"/>
                      </a:rPr>
                      <m:t>S</m:t>
                    </m:r>
                  </m:oMath>
                </a14:m>
                <a:r>
                  <a:rPr sz="2200">
                    <a:solidFill>
                      <a:srgbClr val="1E293B"/>
                    </a:solidFill>
                    <a:latin typeface="Calibri"/>
                  </a:rPr>
                  <a:t> nhỏ nhất tại đây</a:t>
                </a:r>
              </a:p>
            </p:txBody>
          </p:sp>
        </mc:Choice>
        <mc:Fallback>
          <p:sp>
            <p:nvSpPr>
              <p:cNvPr id="7" name="TextBox 6"/>
              <p:cNvSpPr txBox="1"/>
              <p:nvPr/>
            </p:nvSpPr>
            <p:spPr>
              <a:xfrm>
                <a:off x="731520" y="1463040"/>
                <a:ext cx="10789920" cy="223608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S=2\pi r^2+2\pi rh</a:t>
                </a:r>
                <a:r>
                  <a:rPr sz="2200">
                    <a:solidFill>
                      <a:srgbClr val="1E293B"/>
                    </a:solidFill>
                    <a:latin typeface="Calibri"/>
                  </a:rPr>
                  <a:t>; </a:t>
                </a:r>
                <a:r>
                  <a:rPr lang="vi-VN"/>
                  <a:t>h=\frac{1\,000}{\pi r^2}</a:t>
                </a:r>
                <a:r>
                  <a:rPr sz="2200">
                    <a:solidFill>
                      <a:srgbClr val="1E293B"/>
                    </a:solidFill>
                    <a:latin typeface="Calibri"/>
                  </a:rPr>
                  <a:t> nên </a:t>
                </a:r>
                <a:r>
                  <a:rPr lang="vi-VN"/>
                  <a:t>S=2\pi r^2+\frac{2\,000}{r}</a:t>
                </a:r>
                <a:r>
                  <a:rPr sz="2200">
                    <a:solidFill>
                      <a:srgbClr val="1E293B"/>
                    </a:solidFill>
                    <a:latin typeface="Calibri"/>
                  </a:rPr>
                  <a:t>, </a:t>
                </a:r>
                <a:r>
                  <a:rPr lang="vi-VN"/>
                  <a:t>r&gt;0</a:t>
                </a:r>
              </a:p>
              <a:p>
                <a:pPr algn="l" marL="365760" indent="-365760">
                  <a:spcAft>
                    <a:spcPts val="800"/>
                  </a:spcAft>
                  <a:buClr>
                    <a:srgbClr val="1E40AF"/>
                  </a:buClr>
                  <a:buFont typeface="Arial"/>
                  <a:buChar char="•"/>
                </a:pPr>
                <a:r>
                  <a:rPr lang="vi-VN"/>
                  <a:t>S'=4\pi r-\frac{2\,000}{r^2}=\frac{4\pi r^3-2\,000}{r^2}</a:t>
                </a:r>
              </a:p>
              <a:p>
                <a:pPr algn="l" marL="365760" indent="-365760">
                  <a:spcAft>
                    <a:spcPts val="800"/>
                  </a:spcAft>
                  <a:buClr>
                    <a:srgbClr val="1E40AF"/>
                  </a:buClr>
                  <a:buFont typeface="Arial"/>
                  <a:buChar char="•"/>
                </a:pPr>
                <a:r>
                  <a:rPr lang="vi-VN"/>
                  <a:t>S'=0\Leftrightarrow r=\sqrt[3]{\frac{500}{\pi}}</a:t>
                </a:r>
                <a:r>
                  <a:rPr sz="2200">
                    <a:solidFill>
                      <a:srgbClr val="1E293B"/>
                    </a:solidFill>
                    <a:latin typeface="Calibri"/>
                  </a:rPr>
                  <a:t>; bảng biến thiên: </a:t>
                </a:r>
                <a:r>
                  <a:rPr lang="vi-VN"/>
                  <a:t>S</a:t>
                </a:r>
                <a:r>
                  <a:rPr sz="2200">
                    <a:solidFill>
                      <a:srgbClr val="1E293B"/>
                    </a:solidFill>
                    <a:latin typeface="Calibri"/>
                  </a:rPr>
                  <a:t> nhỏ nhất tại đây</a:t>
                </a: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5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29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h=</m:t>
                    </m:r>
                    <m:f>
                      <m:fPr>
                        <m:type m:val="bar"/>
                      </m:fPr>
                      <m:num>
                        <m:r>
                          <a:rPr lang="vi-VN" sz="2200" b="0">
                            <a:solidFill>
                              <a:srgbClr val="1E293B"/>
                            </a:solidFill>
                            <a:latin typeface="Cambria Math" panose="02040503050406030204" pitchFamily="18" charset="0"/>
                          </a:rPr>
                          <m:t>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m:t>
                        </m:r>
                      </m:num>
                      <m:den>
                        <m:r>
                          <a:rPr lang="vi-VN" sz="2200" b="0">
                            <a:solidFill>
                              <a:srgbClr val="1E293B"/>
                            </a:solidFill>
                            <a:latin typeface="Cambria Math" panose="02040503050406030204" pitchFamily="18" charset="0"/>
                          </a:rPr>
                          <m:t>π</m:t>
                        </m:r>
                        <m:sSup>
                          <m:e>
                            <m:r>
                              <a:rPr lang="vi-VN" sz="2200" b="0">
                                <a:solidFill>
                                  <a:srgbClr val="1E293B"/>
                                </a:solidFill>
                                <a:latin typeface="Cambria Math" panose="02040503050406030204" pitchFamily="18" charset="0"/>
                              </a:rPr>
                              <m:t>r</m:t>
                            </m:r>
                          </m:e>
                          <m:sup>
                            <m:r>
                              <a:rPr lang="vi-VN" sz="2200" b="0">
                                <a:solidFill>
                                  <a:srgbClr val="1E293B"/>
                                </a:solidFill>
                                <a:latin typeface="Cambria Math" panose="02040503050406030204" pitchFamily="18" charset="0"/>
                              </a:rPr>
                              <m:t>2</m:t>
                            </m:r>
                          </m:sup>
                        </m:sSup>
                      </m:den>
                    </m:f>
                    <m:r>
                      <a:rPr lang="vi-VN" sz="2200" b="0">
                        <a:solidFill>
                          <a:srgbClr val="1E293B"/>
                        </a:solidFill>
                        <a:latin typeface="Cambria Math" panose="02040503050406030204" pitchFamily="18" charset="0"/>
                      </a:rPr>
                      <m:t>=2r</m:t>
                    </m:r>
                  </m:oMath>
                </a14:m>
              </a:p>
            </p:txBody>
          </p:sp>
        </mc:Choice>
        <mc:Fallback>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h=\frac{1\,000}{\pi r^2}=2r</a:t>
                </a:r>
              </a:p>
            </p:txBody>
          </p:sp>
        </mc:Fallback>
      </mc:AlternateContent>
      <p:sp>
        <p:nvSpPr>
          <p:cNvPr id="8" name="Rounded Rectangle 7"/>
          <p:cNvSpPr/>
          <p:nvPr/>
        </p:nvSpPr>
        <p:spPr>
          <a:xfrm>
            <a:off x="731520" y="2236597"/>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236597"/>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 </a:t>
                </a:r>
                <a14:m>
                  <m:oMath xmlns:m="http://schemas.openxmlformats.org/officeDocument/2006/math">
                    <m:r>
                      <a:rPr lang="vi-VN" sz="2200" b="1">
                        <a:solidFill>
                          <a:srgbClr val="991B1B"/>
                        </a:solidFill>
                        <a:latin typeface="Cambria Math" panose="02040503050406030204" pitchFamily="18" charset="0"/>
                      </a:rPr>
                      <m:t>r≈5</m:t>
                    </m:r>
                    <m:r>
                      <a:rPr lang="vi-VN" sz="2200" b="1">
                        <a:solidFill>
                          <a:srgbClr val="991B1B"/>
                        </a:solidFill>
                        <a:latin typeface="Cambria Math" panose="02040503050406030204" pitchFamily="18" charset="0"/>
                      </a:rPr>
                      <m:t>,</m:t>
                    </m:r>
                    <m:r>
                      <a:rPr lang="vi-VN" sz="2200" b="1">
                        <a:solidFill>
                          <a:srgbClr val="991B1B"/>
                        </a:solidFill>
                        <a:latin typeface="Cambria Math" panose="02040503050406030204" pitchFamily="18" charset="0"/>
                      </a:rPr>
                      <m:t>42</m:t>
                    </m:r>
                  </m:oMath>
                </a14:m>
                <a:r>
                  <a:rPr sz="2200" b="1">
                    <a:solidFill>
                      <a:srgbClr val="991B1B"/>
                    </a:solidFill>
                    <a:latin typeface="Calibri"/>
                  </a:rPr>
                  <a:t> cm, </a:t>
                </a:r>
                <a14:m>
                  <m:oMath xmlns:m="http://schemas.openxmlformats.org/officeDocument/2006/math">
                    <m:r>
                      <a:rPr lang="vi-VN" sz="2200" b="1">
                        <a:solidFill>
                          <a:srgbClr val="991B1B"/>
                        </a:solidFill>
                        <a:latin typeface="Cambria Math" panose="02040503050406030204" pitchFamily="18" charset="0"/>
                      </a:rPr>
                      <m:t>h≈10</m:t>
                    </m:r>
                    <m:r>
                      <a:rPr lang="vi-VN" sz="2200" b="1">
                        <a:solidFill>
                          <a:srgbClr val="991B1B"/>
                        </a:solidFill>
                        <a:latin typeface="Cambria Math" panose="02040503050406030204" pitchFamily="18" charset="0"/>
                      </a:rPr>
                      <m:t>,</m:t>
                    </m:r>
                    <m:r>
                      <a:rPr lang="vi-VN" sz="2200" b="1">
                        <a:solidFill>
                          <a:srgbClr val="991B1B"/>
                        </a:solidFill>
                        <a:latin typeface="Cambria Math" panose="02040503050406030204" pitchFamily="18" charset="0"/>
                      </a:rPr>
                      <m:t>84</m:t>
                    </m:r>
                  </m:oMath>
                </a14:m>
                <a:r>
                  <a:rPr sz="2200" b="1">
                    <a:solidFill>
                      <a:srgbClr val="991B1B"/>
                    </a:solidFill>
                    <a:latin typeface="Calibri"/>
                  </a:rPr>
                  <a:t> cm (chiều cao bằng đường kính đáy)</a:t>
                </a:r>
              </a:p>
            </p:txBody>
          </p:sp>
        </mc:Choice>
        <mc:Fallback>
          <p:sp>
            <p:nvSpPr>
              <p:cNvPr id="9" name="TextBox 8"/>
              <p:cNvSpPr txBox="1"/>
              <p:nvPr/>
            </p:nvSpPr>
            <p:spPr>
              <a:xfrm>
                <a:off x="914400" y="2236597"/>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 </a:t>
                </a:r>
                <a:r>
                  <a:rPr lang="vi-VN"/>
                  <a:t>r\approx 5{,}42</a:t>
                </a:r>
                <a:r>
                  <a:rPr sz="2200" b="1">
                    <a:solidFill>
                      <a:srgbClr val="991B1B"/>
                    </a:solidFill>
                    <a:latin typeface="Calibri"/>
                  </a:rPr>
                  <a:t> cm, </a:t>
                </a:r>
                <a:r>
                  <a:rPr lang="vi-VN"/>
                  <a:t>h\approx 10{,}84</a:t>
                </a:r>
                <a:r>
                  <a:rPr sz="2200" b="1">
                    <a:solidFill>
                      <a:srgbClr val="991B1B"/>
                    </a:solidFill>
                    <a:latin typeface="Calibri"/>
                  </a:rPr>
                  <a:t> cm (chiều cao bằng đường kính đáy)</a:t>
                </a: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2: CHÈO THUYỀN NHANH NHẤT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30</a:t>
            </a:r>
          </a:p>
        </p:txBody>
      </p:sp>
      <p:sp>
        <p:nvSpPr>
          <p:cNvPr id="7" name="TextBox 6"/>
          <p:cNvSpPr txBox="1"/>
          <p:nvPr/>
        </p:nvSpPr>
        <p:spPr>
          <a:xfrm>
            <a:off x="731520" y="1463040"/>
            <a:ext cx="6400800" cy="1562608"/>
          </a:xfrm>
          <a:prstGeom prst="rect">
            <a:avLst/>
          </a:prstGeom>
          <a:noFill/>
        </p:spPr>
        <p:txBody>
          <a:bodyPr wrap="square" anchor="t" lIns="45720" rIns="45720">
            <a:spAutoFit/>
          </a:bodyPr>
          <a:lstStyle/>
          <a:p>
            <a:pPr algn="l">
              <a:spcAft>
                <a:spcPts val="800"/>
              </a:spcAft>
            </a:pPr>
            <a:r>
              <a:rPr sz="2200">
                <a:solidFill>
                  <a:srgbClr val="1E293B"/>
                </a:solidFill>
                <a:latin typeface="Calibri"/>
              </a:rPr>
              <a:t>Anh An chèo thuyền từ điểm A trên bờ một con sông thẳng rộng 3 km và muốn đến điểm B ở bờ đối diện cách 8 km về phía hạ lưu càng nhanh càng tốt (H.1.35).</a:t>
            </a:r>
          </a:p>
        </p:txBody>
      </p:sp>
      <p:pic>
        <p:nvPicPr>
          <p:cNvPr id="8" name="Picture 7" descr="img04.png"/>
          <p:cNvPicPr>
            <a:picLocks noChangeAspect="1"/>
          </p:cNvPicPr>
          <p:nvPr/>
        </p:nvPicPr>
        <p:blipFill>
          <a:blip r:embed="rId2"/>
          <a:stretch>
            <a:fillRect/>
          </a:stretch>
        </p:blipFill>
        <p:spPr>
          <a:xfrm>
            <a:off x="8562596" y="1463040"/>
            <a:ext cx="2077208" cy="470916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2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31</a:t>
            </a:r>
          </a:p>
        </p:txBody>
      </p:sp>
      <p:sp>
        <p:nvSpPr>
          <p:cNvPr id="7" name="TextBox 6"/>
          <p:cNvSpPr txBox="1"/>
          <p:nvPr/>
        </p:nvSpPr>
        <p:spPr>
          <a:xfrm>
            <a:off x="731520" y="1463040"/>
            <a:ext cx="6400800" cy="1925828"/>
          </a:xfrm>
          <a:prstGeom prst="rect">
            <a:avLst/>
          </a:prstGeom>
          <a:noFill/>
        </p:spPr>
        <p:txBody>
          <a:bodyPr wrap="square" anchor="t" lIns="45720" rIns="45720">
            <a:spAutoFit/>
          </a:bodyPr>
          <a:lstStyle/>
          <a:p>
            <a:pPr algn="l">
              <a:spcAft>
                <a:spcPts val="800"/>
              </a:spcAft>
            </a:pPr>
            <a:r>
              <a:rPr sz="2200">
                <a:solidFill>
                  <a:srgbClr val="1E293B"/>
                </a:solidFill>
                <a:latin typeface="Calibri"/>
              </a:rPr>
              <a:t>Anh An có thể chèo thuyền trực tiếp qua sông đến điểm C rồi chạy bộ đến B, hoặc chèo thuyền thẳng đến B, hoặc chèo thuyền đến một điểm D nào đó giữa C và B rồi chạy bộ đến B.</a:t>
            </a:r>
          </a:p>
        </p:txBody>
      </p:sp>
      <p:pic>
        <p:nvPicPr>
          <p:cNvPr id="8" name="Picture 7" descr="img04.png"/>
          <p:cNvPicPr>
            <a:picLocks noChangeAspect="1"/>
          </p:cNvPicPr>
          <p:nvPr/>
        </p:nvPicPr>
        <p:blipFill>
          <a:blip r:embed="rId2"/>
          <a:stretch>
            <a:fillRect/>
          </a:stretch>
        </p:blipFill>
        <p:spPr>
          <a:xfrm>
            <a:off x="8562596" y="1463040"/>
            <a:ext cx="2077208" cy="470916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2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32</a:t>
            </a:r>
          </a:p>
        </p:txBody>
      </p:sp>
      <p:sp>
        <p:nvSpPr>
          <p:cNvPr id="7" name="TextBox 6"/>
          <p:cNvSpPr txBox="1"/>
          <p:nvPr/>
        </p:nvSpPr>
        <p:spPr>
          <a:xfrm>
            <a:off x="731520" y="1463040"/>
            <a:ext cx="6400800" cy="1562608"/>
          </a:xfrm>
          <a:prstGeom prst="rect">
            <a:avLst/>
          </a:prstGeom>
          <a:noFill/>
        </p:spPr>
        <p:txBody>
          <a:bodyPr wrap="square" anchor="t" lIns="45720" rIns="45720">
            <a:spAutoFit/>
          </a:bodyPr>
          <a:lstStyle/>
          <a:p>
            <a:pPr algn="l">
              <a:spcAft>
                <a:spcPts val="800"/>
              </a:spcAft>
            </a:pPr>
            <a:r>
              <a:rPr sz="2200">
                <a:solidFill>
                  <a:srgbClr val="1E293B"/>
                </a:solidFill>
                <a:latin typeface="Calibri"/>
              </a:rPr>
              <a:t>Nếu vận tốc chèo thuyền là 6 km/h và vận tốc chạy bộ là 8 km/h thì anh An phải chèo thuyền sang bờ ở điểm nào để đến được B càng sớm càng tốt?</a:t>
            </a:r>
          </a:p>
        </p:txBody>
      </p:sp>
      <p:pic>
        <p:nvPicPr>
          <p:cNvPr id="8" name="Picture 7" descr="img04.png"/>
          <p:cNvPicPr>
            <a:picLocks noChangeAspect="1"/>
          </p:cNvPicPr>
          <p:nvPr/>
        </p:nvPicPr>
        <p:blipFill>
          <a:blip r:embed="rId2"/>
          <a:stretch>
            <a:fillRect/>
          </a:stretch>
        </p:blipFill>
        <p:spPr>
          <a:xfrm>
            <a:off x="8562596" y="1463040"/>
            <a:ext cx="2077208" cy="470916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2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33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6400800" cy="1309116"/>
              </a:xfrm>
              <a:prstGeom prst="rect">
                <a:avLst/>
              </a:prstGeom>
              <a:noFill/>
            </p:spPr>
            <p:txBody>
              <a:bodyPr wrap="square" anchor="t" lIns="45720" rIns="45720">
                <a:spAutoFit/>
              </a:bodyPr>
              <a:lstStyle/>
              <a:p>
                <a:pPr algn="l">
                  <a:spcAft>
                    <a:spcPts val="800"/>
                  </a:spcAft>
                </a:pPr>
                <a:r>
                  <a:rPr sz="2200">
                    <a:solidFill>
                      <a:srgbClr val="1E293B"/>
                    </a:solidFill>
                    <a:latin typeface="Calibri"/>
                  </a:rPr>
                  <a:t>(Giả sử vận tốc của nước là không đáng kể.)</a:t>
                </a:r>
              </a:p>
              <a:p>
                <a:pPr algn="l">
                  <a:spcAft>
                    <a:spcPts val="800"/>
                  </a:spcAft>
                </a:pPr>
                <a:r>
                  <a:rPr sz="2200" b="1">
                    <a:solidFill>
                      <a:srgbClr val="1E40AF"/>
                    </a:solidFill>
                    <a:latin typeface="Calibri"/>
                  </a:rPr>
                  <a:t>Gợi mở: Đặt </a:t>
                </a:r>
                <a14:m>
                  <m:oMath xmlns:m="http://schemas.openxmlformats.org/officeDocument/2006/math">
                    <m:r>
                      <a:rPr lang="vi-VN" sz="2200" b="1">
                        <a:solidFill>
                          <a:srgbClr val="1E40AF"/>
                        </a:solidFill>
                        <a:latin typeface="Cambria Math" panose="02040503050406030204" pitchFamily="18" charset="0"/>
                      </a:rPr>
                      <m:t>CD=x</m:t>
                    </m:r>
                  </m:oMath>
                </a14:m>
                <a:r>
                  <a:rPr sz="2200" b="1">
                    <a:solidFill>
                      <a:srgbClr val="1E40AF"/>
                    </a:solidFill>
                    <a:latin typeface="Calibri"/>
                  </a:rPr>
                  <a:t>; thời gian = quãng chèo : 6 + quãng chạy : 8</a:t>
                </a:r>
              </a:p>
            </p:txBody>
          </p:sp>
        </mc:Choice>
        <mc:Fallback>
          <p:sp>
            <p:nvSpPr>
              <p:cNvPr id="7" name="TextBox 6"/>
              <p:cNvSpPr txBox="1"/>
              <p:nvPr/>
            </p:nvSpPr>
            <p:spPr>
              <a:xfrm>
                <a:off x="731520" y="1463040"/>
                <a:ext cx="6400800" cy="1309116"/>
              </a:xfrm>
              <a:prstGeom prst="rect">
                <a:avLst/>
              </a:prstGeom>
              <a:noFill/>
            </p:spPr>
            <p:txBody>
              <a:bodyPr wrap="square" anchor="t" lIns="45720" rIns="45720">
                <a:spAutoFit/>
              </a:bodyPr>
              <a:lstStyle/>
              <a:p>
                <a:pPr algn="l">
                  <a:spcAft>
                    <a:spcPts val="800"/>
                  </a:spcAft>
                </a:pPr>
                <a:r>
                  <a:rPr sz="2200">
                    <a:solidFill>
                      <a:srgbClr val="1E293B"/>
                    </a:solidFill>
                    <a:latin typeface="Calibri"/>
                  </a:rPr>
                  <a:t>(Giả sử vận tốc của nước là không đáng kể.)</a:t>
                </a:r>
              </a:p>
              <a:p>
                <a:pPr algn="l">
                  <a:spcAft>
                    <a:spcPts val="800"/>
                  </a:spcAft>
                </a:pPr>
                <a:r>
                  <a:rPr sz="2200" b="1">
                    <a:solidFill>
                      <a:srgbClr val="1E40AF"/>
                    </a:solidFill>
                    <a:latin typeface="Calibri"/>
                  </a:rPr>
                  <a:t>Gợi mở: Đặt </a:t>
                </a:r>
                <a:r>
                  <a:rPr lang="vi-VN"/>
                  <a:t>CD=x</a:t>
                </a:r>
                <a:r>
                  <a:rPr sz="2200" b="1">
                    <a:solidFill>
                      <a:srgbClr val="1E40AF"/>
                    </a:solidFill>
                    <a:latin typeface="Calibri"/>
                  </a:rPr>
                  <a:t>; thời gian = quãng chèo : 6 + quãng chạy : 8</a:t>
                </a:r>
              </a:p>
            </p:txBody>
          </p:sp>
        </mc:Fallback>
      </mc:AlternateContent>
      <p:pic>
        <p:nvPicPr>
          <p:cNvPr id="8" name="Picture 7" descr="img04.png"/>
          <p:cNvPicPr>
            <a:picLocks noChangeAspect="1"/>
          </p:cNvPicPr>
          <p:nvPr/>
        </p:nvPicPr>
        <p:blipFill>
          <a:blip r:embed="rId2"/>
          <a:stretch>
            <a:fillRect/>
          </a:stretch>
        </p:blipFill>
        <p:spPr>
          <a:xfrm>
            <a:off x="8562596" y="1463040"/>
            <a:ext cx="2077208" cy="470916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2: CHÈO THUYỀN NHANH NHẤT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34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9953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T(x)=</m:t>
                    </m:r>
                    <m:f>
                      <m:fPr>
                        <m:type m:val="bar"/>
                      </m:fPr>
                      <m:num>
                        <m:rad>
                          <m:radPr>
                            <m:degHide m:val="on"/>
                          </m:radPr>
                          <m:deg/>
                          <m:e>
                            <m:r>
                              <a:rPr lang="vi-VN" sz="2200" b="0">
                                <a:solidFill>
                                  <a:srgbClr val="1E293B"/>
                                </a:solidFill>
                                <a:latin typeface="Cambria Math" panose="02040503050406030204" pitchFamily="18" charset="0"/>
                              </a:rPr>
                              <m:t>9+</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e>
                        </m:rad>
                      </m:num>
                      <m:den>
                        <m:r>
                          <a:rPr lang="vi-VN" sz="2200" b="0">
                            <a:solidFill>
                              <a:srgbClr val="1E293B"/>
                            </a:solidFill>
                            <a:latin typeface="Cambria Math" panose="02040503050406030204" pitchFamily="18" charset="0"/>
                          </a:rPr>
                          <m:t>6</m:t>
                        </m:r>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8−x</m:t>
                        </m:r>
                      </m:num>
                      <m:den>
                        <m:r>
                          <a:rPr lang="vi-VN" sz="2200" b="0">
                            <a:solidFill>
                              <a:srgbClr val="1E293B"/>
                            </a:solidFill>
                            <a:latin typeface="Cambria Math" panose="02040503050406030204" pitchFamily="18" charset="0"/>
                          </a:rPr>
                          <m:t>8</m:t>
                        </m:r>
                      </m:den>
                    </m:f>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0≤x≤8</m:t>
                    </m:r>
                  </m:oMath>
                </a14:m>
              </a:p>
              <a:p>
                <a:pPr algn="l" marL="365760" indent="-365760">
                  <a:spcAft>
                    <a:spcPts val="800"/>
                  </a:spcAft>
                  <a:buClr>
                    <a:srgbClr val="1E40AF"/>
                  </a:buClr>
                  <a:buFont typeface="Arial"/>
                  <a:buChar char="•"/>
                </a:pPr>
                <a14:m>
                  <m:oMath xmlns:m="http://schemas.openxmlformats.org/officeDocument/2006/math">
                    <m:sSup>
                      <m:e>
                        <m:r>
                          <a:rPr lang="vi-VN" sz="2200" b="0">
                            <a:solidFill>
                              <a:srgbClr val="1E293B"/>
                            </a:solidFill>
                            <a:latin typeface="Cambria Math" panose="02040503050406030204" pitchFamily="18" charset="0"/>
                          </a:rPr>
                          <m:t>T</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m:t>
                    </m:r>
                    <m:f>
                      <m:fPr>
                        <m:type m:val="bar"/>
                      </m:fPr>
                      <m:num>
                        <m:r>
                          <a:rPr lang="vi-VN" sz="2200" b="0">
                            <a:solidFill>
                              <a:srgbClr val="1E293B"/>
                            </a:solidFill>
                            <a:latin typeface="Cambria Math" panose="02040503050406030204" pitchFamily="18" charset="0"/>
                          </a:rPr>
                          <m:t>x</m:t>
                        </m:r>
                      </m:num>
                      <m:den>
                        <m:r>
                          <a:rPr lang="vi-VN" sz="2200" b="0">
                            <a:solidFill>
                              <a:srgbClr val="1E293B"/>
                            </a:solidFill>
                            <a:latin typeface="Cambria Math" panose="02040503050406030204" pitchFamily="18" charset="0"/>
                          </a:rPr>
                          <m:t>6</m:t>
                        </m:r>
                        <m:rad>
                          <m:radPr>
                            <m:degHide m:val="on"/>
                          </m:radPr>
                          <m:deg/>
                          <m:e>
                            <m:r>
                              <a:rPr lang="vi-VN" sz="2200" b="0">
                                <a:solidFill>
                                  <a:srgbClr val="1E293B"/>
                                </a:solidFill>
                                <a:latin typeface="Cambria Math" panose="02040503050406030204" pitchFamily="18" charset="0"/>
                              </a:rPr>
                              <m:t>9+</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e>
                        </m:rad>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8</m:t>
                        </m:r>
                      </m:den>
                    </m:f>
                    <m:r>
                      <a:rPr lang="vi-VN" sz="2200" b="0">
                        <a:solidFill>
                          <a:srgbClr val="1E293B"/>
                        </a:solidFill>
                        <a:latin typeface="Cambria Math" panose="02040503050406030204" pitchFamily="18" charset="0"/>
                      </a:rPr>
                      <m:t>=0⇔8x=6</m:t>
                    </m:r>
                    <m:rad>
                      <m:radPr>
                        <m:degHide m:val="on"/>
                      </m:radPr>
                      <m:deg/>
                      <m:e>
                        <m:r>
                          <a:rPr lang="vi-VN" sz="2200" b="0">
                            <a:solidFill>
                              <a:srgbClr val="1E293B"/>
                            </a:solidFill>
                            <a:latin typeface="Cambria Math" panose="02040503050406030204" pitchFamily="18" charset="0"/>
                          </a:rPr>
                          <m:t>9+</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e>
                    </m:rad>
                  </m:oMath>
                </a14:m>
              </a:p>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81</m:t>
                        </m:r>
                      </m:num>
                      <m:den>
                        <m:r>
                          <a:rPr lang="vi-VN" sz="2200" b="0">
                            <a:solidFill>
                              <a:srgbClr val="1E293B"/>
                            </a:solidFill>
                            <a:latin typeface="Cambria Math" panose="02040503050406030204" pitchFamily="18" charset="0"/>
                          </a:rPr>
                          <m:t>7</m:t>
                        </m:r>
                      </m:den>
                    </m:f>
                    <m:r>
                      <a:rPr lang="vi-VN" sz="2200" b="0">
                        <a:solidFill>
                          <a:srgbClr val="1E293B"/>
                        </a:solidFill>
                        <a:latin typeface="Cambria Math" panose="02040503050406030204" pitchFamily="18" charset="0"/>
                      </a:rPr>
                      <m:t>⇔x=</m:t>
                    </m:r>
                    <m:f>
                      <m:fPr>
                        <m:type m:val="bar"/>
                      </m:fPr>
                      <m:num>
                        <m:r>
                          <a:rPr lang="vi-VN" sz="2200" b="0">
                            <a:solidFill>
                              <a:srgbClr val="1E293B"/>
                            </a:solidFill>
                            <a:latin typeface="Cambria Math" panose="02040503050406030204" pitchFamily="18" charset="0"/>
                          </a:rPr>
                          <m:t>9</m:t>
                        </m:r>
                      </m:num>
                      <m:den>
                        <m:rad>
                          <m:radPr>
                            <m:degHide m:val="on"/>
                          </m:radPr>
                          <m:deg/>
                          <m:e>
                            <m:r>
                              <a:rPr lang="vi-VN" sz="2200" b="0">
                                <a:solidFill>
                                  <a:srgbClr val="1E293B"/>
                                </a:solidFill>
                                <a:latin typeface="Cambria Math" panose="02040503050406030204" pitchFamily="18" charset="0"/>
                              </a:rPr>
                              <m:t>7</m:t>
                            </m:r>
                          </m:e>
                        </m:rad>
                      </m:den>
                    </m:f>
                    <m:r>
                      <a:rPr lang="vi-VN" sz="2200" b="0">
                        <a:solidFill>
                          <a:srgbClr val="1E293B"/>
                        </a:solidFill>
                        <a:latin typeface="Cambria Math" panose="02040503050406030204" pitchFamily="18" charset="0"/>
                      </a:rPr>
                      <m:t>≈3</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40</m:t>
                    </m:r>
                  </m:oMath>
                </a14:m>
              </a:p>
            </p:txBody>
          </p:sp>
        </mc:Choice>
        <mc:Fallback>
          <p:sp>
            <p:nvSpPr>
              <p:cNvPr id="7" name="TextBox 6"/>
              <p:cNvSpPr txBox="1"/>
              <p:nvPr/>
            </p:nvSpPr>
            <p:spPr>
              <a:xfrm>
                <a:off x="731520" y="1463040"/>
                <a:ext cx="10789920" cy="239953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T(x)=\frac{\sqrt{9+x^2}}{6}+\frac{8-x}{8}</a:t>
                </a:r>
                <a:r>
                  <a:rPr sz="2200">
                    <a:solidFill>
                      <a:srgbClr val="1E293B"/>
                    </a:solidFill>
                    <a:latin typeface="Calibri"/>
                  </a:rPr>
                  <a:t>, </a:t>
                </a:r>
                <a:r>
                  <a:rPr lang="vi-VN"/>
                  <a:t>0\le x\le 8</a:t>
                </a:r>
              </a:p>
              <a:p>
                <a:pPr algn="l" marL="365760" indent="-365760">
                  <a:spcAft>
                    <a:spcPts val="800"/>
                  </a:spcAft>
                  <a:buClr>
                    <a:srgbClr val="1E40AF"/>
                  </a:buClr>
                  <a:buFont typeface="Arial"/>
                  <a:buChar char="•"/>
                </a:pPr>
                <a:r>
                  <a:rPr lang="vi-VN"/>
                  <a:t>T'(x)=\frac{x}{6\sqrt{9+x^2}}-\frac{1}{8}=0\Leftrightarrow 8x=6\sqrt{9+x^2}</a:t>
                </a:r>
              </a:p>
              <a:p>
                <a:pPr algn="l" marL="365760" indent="-365760">
                  <a:spcAft>
                    <a:spcPts val="800"/>
                  </a:spcAft>
                  <a:buClr>
                    <a:srgbClr val="1E40AF"/>
                  </a:buClr>
                  <a:buFont typeface="Arial"/>
                  <a:buChar char="•"/>
                </a:pPr>
                <a:r>
                  <a:rPr lang="vi-VN"/>
                  <a:t>\Leftrightarrow x^2=\frac{81}{7}\Leftrightarrow x=\frac{9}{\sqrt 7}\approx 3{,}40</a:t>
                </a: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2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35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T(0)=1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T</m:t>
                    </m:r>
                    <m:d>
                      <m:dPr>
                        <m:sepChr m:val=""/>
                      </m:dPr>
                      <m:e>
                        <m:f>
                          <m:fPr>
                            <m:type m:val="bar"/>
                          </m:fPr>
                          <m:num>
                            <m:r>
                              <a:rPr lang="vi-VN" sz="2200" b="0">
                                <a:solidFill>
                                  <a:srgbClr val="1E293B"/>
                                </a:solidFill>
                                <a:latin typeface="Cambria Math" panose="02040503050406030204" pitchFamily="18" charset="0"/>
                              </a:rPr>
                              <m:t>9</m:t>
                            </m:r>
                          </m:num>
                          <m:den>
                            <m:rad>
                              <m:radPr>
                                <m:degHide m:val="on"/>
                              </m:radPr>
                              <m:deg/>
                              <m:e>
                                <m:r>
                                  <a:rPr lang="vi-VN" sz="2200" b="0">
                                    <a:solidFill>
                                      <a:srgbClr val="1E293B"/>
                                    </a:solidFill>
                                    <a:latin typeface="Cambria Math" panose="02040503050406030204" pitchFamily="18" charset="0"/>
                                  </a:rPr>
                                  <m:t>7</m:t>
                                </m:r>
                              </m:e>
                            </m:rad>
                          </m:den>
                        </m:f>
                      </m:e>
                    </m:d>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33</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T(8)≈1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42</m:t>
                    </m:r>
                  </m:oMath>
                </a14:m>
              </a:p>
            </p:txBody>
          </p:sp>
        </mc:Choice>
        <mc:Fallback>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T(0)=1{,}5</a:t>
                </a:r>
                <a:r>
                  <a:rPr sz="2200">
                    <a:solidFill>
                      <a:srgbClr val="1E293B"/>
                    </a:solidFill>
                    <a:latin typeface="Calibri"/>
                  </a:rPr>
                  <a:t>; </a:t>
                </a:r>
                <a:r>
                  <a:rPr lang="vi-VN"/>
                  <a:t>T\paren{\frac{9}{\sqrt 7}}\approx 1{,}33</a:t>
                </a:r>
                <a:r>
                  <a:rPr sz="2200">
                    <a:solidFill>
                      <a:srgbClr val="1E293B"/>
                    </a:solidFill>
                    <a:latin typeface="Calibri"/>
                  </a:rPr>
                  <a:t>; </a:t>
                </a:r>
                <a:r>
                  <a:rPr lang="vi-VN"/>
                  <a:t>T(8)\approx 1{,}42</a:t>
                </a:r>
              </a:p>
            </p:txBody>
          </p:sp>
        </mc:Fallback>
      </mc:AlternateContent>
      <p:sp>
        <p:nvSpPr>
          <p:cNvPr id="8" name="Rounded Rectangle 7"/>
          <p:cNvSpPr/>
          <p:nvPr/>
        </p:nvSpPr>
        <p:spPr>
          <a:xfrm>
            <a:off x="731520" y="2236597"/>
            <a:ext cx="9601200" cy="1112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236597"/>
                <a:ext cx="9235440" cy="11125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Chèo đến D cách C khoảng 3,4 km; thời gian ngắn nhất </a:t>
                </a:r>
                <a14:m>
                  <m:oMath xmlns:m="http://schemas.openxmlformats.org/officeDocument/2006/math">
                    <m:r>
                      <a:rPr lang="vi-VN" sz="2200" b="1">
                        <a:solidFill>
                          <a:srgbClr val="991B1B"/>
                        </a:solidFill>
                        <a:latin typeface="Cambria Math" panose="02040503050406030204" pitchFamily="18" charset="0"/>
                      </a:rPr>
                      <m:t>≈1</m:t>
                    </m:r>
                    <m:r>
                      <a:rPr lang="vi-VN" sz="2200" b="1">
                        <a:solidFill>
                          <a:srgbClr val="991B1B"/>
                        </a:solidFill>
                        <a:latin typeface="Cambria Math" panose="02040503050406030204" pitchFamily="18" charset="0"/>
                      </a:rPr>
                      <m:t>,</m:t>
                    </m:r>
                    <m:r>
                      <a:rPr lang="vi-VN" sz="2200" b="1">
                        <a:solidFill>
                          <a:srgbClr val="991B1B"/>
                        </a:solidFill>
                        <a:latin typeface="Cambria Math" panose="02040503050406030204" pitchFamily="18" charset="0"/>
                      </a:rPr>
                      <m:t>33</m:t>
                    </m:r>
                  </m:oMath>
                </a14:m>
                <a:r>
                  <a:rPr sz="2200" b="1">
                    <a:solidFill>
                      <a:srgbClr val="991B1B"/>
                    </a:solidFill>
                    <a:latin typeface="Calibri"/>
                  </a:rPr>
                  <a:t> giờ</a:t>
                </a:r>
              </a:p>
            </p:txBody>
          </p:sp>
        </mc:Choice>
        <mc:Fallback>
          <p:sp>
            <p:nvSpPr>
              <p:cNvPr id="9" name="TextBox 8"/>
              <p:cNvSpPr txBox="1"/>
              <p:nvPr/>
            </p:nvSpPr>
            <p:spPr>
              <a:xfrm>
                <a:off x="914400" y="2236597"/>
                <a:ext cx="9235440" cy="11125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Chèo đến D cách C khoảng 3,4 km; thời gian ngắn nhất </a:t>
                </a:r>
                <a:r>
                  <a:rPr lang="vi-VN"/>
                  <a:t>\approx 1{,}33</a:t>
                </a:r>
                <a:r>
                  <a:rPr sz="2200" b="1">
                    <a:solidFill>
                      <a:srgbClr val="991B1B"/>
                    </a:solidFill>
                    <a:latin typeface="Calibri"/>
                  </a:rPr>
                  <a:t> giờ</a:t>
                </a: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HÀM CẦU, DOANH THU, LỢI NHUẬN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36</a:t>
            </a:r>
          </a:p>
        </p:txBody>
      </p:sp>
      <p:sp>
        <p:nvSpPr>
          <p:cNvPr id="7" name="Rounded Rectangle 6"/>
          <p:cNvSpPr/>
          <p:nvPr/>
        </p:nvSpPr>
        <p:spPr>
          <a:xfrm>
            <a:off x="731520" y="1463040"/>
            <a:ext cx="9601200" cy="21031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21031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Nếu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p(x)</m:t>
                    </m:r>
                  </m:oMath>
                </a14:m>
                <a:r>
                  <a:rPr sz="2400" b="1">
                    <a:solidFill>
                      <a:srgbClr val="991B1B"/>
                    </a:solidFill>
                    <a:latin typeface="Calibri"/>
                  </a:rPr>
                  <a:t> là giá bán mỗi đơn vị khi bán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x</m:t>
                    </m:r>
                  </m:oMath>
                </a14:m>
                <a:r>
                  <a:rPr sz="2400" b="1">
                    <a:solidFill>
                      <a:srgbClr val="991B1B"/>
                    </a:solidFill>
                    <a:latin typeface="Calibri"/>
                  </a:rPr>
                  <a:t> đơn vị thì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p</m:t>
                    </m:r>
                  </m:oMath>
                </a14:m>
                <a:r>
                  <a:rPr sz="2400" b="1">
                    <a:solidFill>
                      <a:srgbClr val="991B1B"/>
                    </a:solidFill>
                    <a:latin typeface="Calibri"/>
                  </a:rPr>
                  <a:t> được gọi là </a:t>
                </a:r>
                <a:r>
                  <a:rPr sz="2400" b="1">
                    <a:solidFill>
                      <a:srgbClr val="991B1B"/>
                    </a:solidFill>
                    <a:latin typeface="Calibri"/>
                  </a:rPr>
                  <a:t>hàm cầu</a:t>
                </a:r>
                <a:r>
                  <a:rPr sz="2400" b="1">
                    <a:solidFill>
                      <a:srgbClr val="991B1B"/>
                    </a:solidFill>
                    <a:latin typeface="Calibri"/>
                  </a:rPr>
                  <a:t> (hay hàm giá); tổng doanh thu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R(x)=x·p(x)</m:t>
                    </m:r>
                  </m:oMath>
                </a14:m>
                <a:r>
                  <a:rPr sz="2400" b="1">
                    <a:solidFill>
                      <a:srgbClr val="991B1B"/>
                    </a:solidFill>
                    <a:latin typeface="Calibri"/>
                  </a:rPr>
                  <a:t> là </a:t>
                </a:r>
                <a:r>
                  <a:rPr sz="2400" b="1">
                    <a:solidFill>
                      <a:srgbClr val="991B1B"/>
                    </a:solidFill>
                    <a:latin typeface="Calibri"/>
                  </a:rPr>
                  <a:t>hàm doanh thu</a:t>
                </a:r>
                <a:r>
                  <a:rPr sz="2400" b="1">
                    <a:solidFill>
                      <a:srgbClr val="991B1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400" b="1">
                            <a:solidFill>
                              <a:srgbClr val="991B1B"/>
                            </a:solidFill>
                            <a:latin typeface="Cambria Math" panose="02040503050406030204" pitchFamily="18" charset="0"/>
                          </a:rPr>
                          <m:t>R</m:t>
                        </m:r>
                      </m:e>
                      <m:sup>
                        <m:r>
                          <a:rPr lang="vi-VN" sz="2400" b="1">
                            <a:solidFill>
                              <a:srgbClr val="991B1B"/>
                            </a:solidFill>
                            <a:latin typeface="Cambria Math" panose="02040503050406030204" pitchFamily="18" charset="0"/>
                          </a:rPr>
                          <m:t>′</m:t>
                        </m:r>
                      </m:sup>
                    </m:sSup>
                    <m:r>
                      <a:rPr lang="vi-VN" sz="2400" b="1">
                        <a:solidFill>
                          <a:srgbClr val="991B1B"/>
                        </a:solidFill>
                        <a:latin typeface="Cambria Math" panose="02040503050406030204" pitchFamily="18" charset="0"/>
                      </a:rPr>
                      <m:t>(x)</m:t>
                    </m:r>
                  </m:oMath>
                </a14:m>
                <a:r>
                  <a:rPr sz="2400" b="1">
                    <a:solidFill>
                      <a:srgbClr val="991B1B"/>
                    </a:solidFill>
                    <a:latin typeface="Calibri"/>
                  </a:rPr>
                  <a:t> là </a:t>
                </a:r>
                <a:r>
                  <a:rPr sz="2400" b="1">
                    <a:solidFill>
                      <a:srgbClr val="991B1B"/>
                    </a:solidFill>
                    <a:latin typeface="Calibri"/>
                  </a:rPr>
                  <a:t>hàm doanh thu biên</a:t>
                </a:r>
                <a:r>
                  <a:rPr sz="2400" b="1">
                    <a:solidFill>
                      <a:srgbClr val="991B1B"/>
                    </a:solidFill>
                    <a:latin typeface="Calibri"/>
                  </a:rPr>
                  <a:t>. Tổng lợi nhuận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P(x)=R(x)−C(x)</m:t>
                    </m:r>
                  </m:oMath>
                </a14:m>
                <a:r>
                  <a:rPr sz="2400" b="1">
                    <a:solidFill>
                      <a:srgbClr val="991B1B"/>
                    </a:solidFill>
                    <a:latin typeface="Calibri"/>
                  </a:rPr>
                  <a:t> là </a:t>
                </a:r>
                <a:r>
                  <a:rPr sz="2400" b="1">
                    <a:solidFill>
                      <a:srgbClr val="991B1B"/>
                    </a:solidFill>
                    <a:latin typeface="Calibri"/>
                  </a:rPr>
                  <a:t>hàm lợi nhuận</a:t>
                </a:r>
                <a:r>
                  <a:rPr sz="2400" b="1">
                    <a:solidFill>
                      <a:srgbClr val="991B1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400" b="1">
                            <a:solidFill>
                              <a:srgbClr val="991B1B"/>
                            </a:solidFill>
                            <a:latin typeface="Cambria Math" panose="02040503050406030204" pitchFamily="18" charset="0"/>
                          </a:rPr>
                          <m:t>P</m:t>
                        </m:r>
                      </m:e>
                      <m:sup>
                        <m:r>
                          <a:rPr lang="vi-VN" sz="2400" b="1">
                            <a:solidFill>
                              <a:srgbClr val="991B1B"/>
                            </a:solidFill>
                            <a:latin typeface="Cambria Math" panose="02040503050406030204" pitchFamily="18" charset="0"/>
                          </a:rPr>
                          <m:t>′</m:t>
                        </m:r>
                      </m:sup>
                    </m:sSup>
                    <m:r>
                      <a:rPr lang="vi-VN" sz="2400" b="1">
                        <a:solidFill>
                          <a:srgbClr val="991B1B"/>
                        </a:solidFill>
                        <a:latin typeface="Cambria Math" panose="02040503050406030204" pitchFamily="18" charset="0"/>
                      </a:rPr>
                      <m:t>(x)</m:t>
                    </m:r>
                  </m:oMath>
                </a14:m>
                <a:r>
                  <a:rPr sz="2400" b="1">
                    <a:solidFill>
                      <a:srgbClr val="991B1B"/>
                    </a:solidFill>
                    <a:latin typeface="Calibri"/>
                  </a:rPr>
                  <a:t> là </a:t>
                </a:r>
                <a:r>
                  <a:rPr sz="2400" b="1">
                    <a:solidFill>
                      <a:srgbClr val="991B1B"/>
                    </a:solidFill>
                    <a:latin typeface="Calibri"/>
                  </a:rPr>
                  <a:t>hàm lợi nhuận biên</a:t>
                </a:r>
                <a:r>
                  <a:rPr sz="2400" b="1">
                    <a:solidFill>
                      <a:srgbClr val="991B1B"/>
                    </a:solidFill>
                    <a:latin typeface="Calibri"/>
                  </a:rPr>
                  <a:t>.</a:t>
                </a:r>
              </a:p>
            </p:txBody>
          </p:sp>
        </mc:Choice>
        <mc:Fallback>
          <p:sp>
            <p:nvSpPr>
              <p:cNvPr id="8" name="TextBox 7"/>
              <p:cNvSpPr txBox="1"/>
              <p:nvPr/>
            </p:nvSpPr>
            <p:spPr>
              <a:xfrm>
                <a:off x="914400" y="1463040"/>
                <a:ext cx="9235440" cy="21031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Nếu </a:t>
                </a:r>
                <a:r>
                  <a:rPr lang="vi-VN"/>
                  <a:t>p(x)</a:t>
                </a:r>
                <a:r>
                  <a:rPr sz="2400" b="1">
                    <a:solidFill>
                      <a:srgbClr val="991B1B"/>
                    </a:solidFill>
                    <a:latin typeface="Calibri"/>
                  </a:rPr>
                  <a:t> là giá bán mỗi đơn vị khi bán </a:t>
                </a:r>
                <a:r>
                  <a:rPr lang="vi-VN"/>
                  <a:t>x</a:t>
                </a:r>
                <a:r>
                  <a:rPr sz="2400" b="1">
                    <a:solidFill>
                      <a:srgbClr val="991B1B"/>
                    </a:solidFill>
                    <a:latin typeface="Calibri"/>
                  </a:rPr>
                  <a:t> đơn vị thì </a:t>
                </a:r>
                <a:r>
                  <a:rPr lang="vi-VN"/>
                  <a:t>p</a:t>
                </a:r>
                <a:r>
                  <a:rPr sz="2400" b="1">
                    <a:solidFill>
                      <a:srgbClr val="991B1B"/>
                    </a:solidFill>
                    <a:latin typeface="Calibri"/>
                  </a:rPr>
                  <a:t> được gọi là </a:t>
                </a:r>
                <a:r>
                  <a:rPr sz="2400" b="1">
                    <a:solidFill>
                      <a:srgbClr val="991B1B"/>
                    </a:solidFill>
                    <a:latin typeface="Calibri"/>
                  </a:rPr>
                  <a:t>hàm cầu</a:t>
                </a:r>
                <a:r>
                  <a:rPr sz="2400" b="1">
                    <a:solidFill>
                      <a:srgbClr val="991B1B"/>
                    </a:solidFill>
                    <a:latin typeface="Calibri"/>
                  </a:rPr>
                  <a:t> (hay hàm giá); tổng doanh thu </a:t>
                </a:r>
                <a:r>
                  <a:rPr lang="vi-VN"/>
                  <a:t>R(x)=x·p(x)</a:t>
                </a:r>
                <a:r>
                  <a:rPr sz="2400" b="1">
                    <a:solidFill>
                      <a:srgbClr val="991B1B"/>
                    </a:solidFill>
                    <a:latin typeface="Calibri"/>
                  </a:rPr>
                  <a:t> là </a:t>
                </a:r>
                <a:r>
                  <a:rPr sz="2400" b="1">
                    <a:solidFill>
                      <a:srgbClr val="991B1B"/>
                    </a:solidFill>
                    <a:latin typeface="Calibri"/>
                  </a:rPr>
                  <a:t>hàm doanh thu</a:t>
                </a:r>
                <a:r>
                  <a:rPr sz="2400" b="1">
                    <a:solidFill>
                      <a:srgbClr val="991B1B"/>
                    </a:solidFill>
                    <a:latin typeface="Calibri"/>
                  </a:rPr>
                  <a:t>, </a:t>
                </a:r>
                <a:r>
                  <a:rPr lang="vi-VN"/>
                  <a:t>R^′(x)</a:t>
                </a:r>
                <a:r>
                  <a:rPr sz="2400" b="1">
                    <a:solidFill>
                      <a:srgbClr val="991B1B"/>
                    </a:solidFill>
                    <a:latin typeface="Calibri"/>
                  </a:rPr>
                  <a:t> là </a:t>
                </a:r>
                <a:r>
                  <a:rPr sz="2400" b="1">
                    <a:solidFill>
                      <a:srgbClr val="991B1B"/>
                    </a:solidFill>
                    <a:latin typeface="Calibri"/>
                  </a:rPr>
                  <a:t>hàm doanh thu biên</a:t>
                </a:r>
                <a:r>
                  <a:rPr sz="2400" b="1">
                    <a:solidFill>
                      <a:srgbClr val="991B1B"/>
                    </a:solidFill>
                    <a:latin typeface="Calibri"/>
                  </a:rPr>
                  <a:t>. Tổng lợi nhuận </a:t>
                </a:r>
                <a:r>
                  <a:rPr lang="vi-VN"/>
                  <a:t>P(x)=R(x)−C(x)</a:t>
                </a:r>
                <a:r>
                  <a:rPr sz="2400" b="1">
                    <a:solidFill>
                      <a:srgbClr val="991B1B"/>
                    </a:solidFill>
                    <a:latin typeface="Calibri"/>
                  </a:rPr>
                  <a:t> là </a:t>
                </a:r>
                <a:r>
                  <a:rPr sz="2400" b="1">
                    <a:solidFill>
                      <a:srgbClr val="991B1B"/>
                    </a:solidFill>
                    <a:latin typeface="Calibri"/>
                  </a:rPr>
                  <a:t>hàm lợi nhuận</a:t>
                </a:r>
                <a:r>
                  <a:rPr sz="2400" b="1">
                    <a:solidFill>
                      <a:srgbClr val="991B1B"/>
                    </a:solidFill>
                    <a:latin typeface="Calibri"/>
                  </a:rPr>
                  <a:t>, </a:t>
                </a:r>
                <a:r>
                  <a:rPr lang="vi-VN"/>
                  <a:t>P^′(x)</a:t>
                </a:r>
                <a:r>
                  <a:rPr sz="2400" b="1">
                    <a:solidFill>
                      <a:srgbClr val="991B1B"/>
                    </a:solidFill>
                    <a:latin typeface="Calibri"/>
                  </a:rPr>
                  <a:t> là </a:t>
                </a:r>
                <a:r>
                  <a:rPr sz="2400" b="1">
                    <a:solidFill>
                      <a:srgbClr val="991B1B"/>
                    </a:solidFill>
                    <a:latin typeface="Calibri"/>
                  </a:rPr>
                  <a:t>hàm lợi nhuận biên</a:t>
                </a:r>
                <a:r>
                  <a:rPr sz="2400" b="1">
                    <a:solidFill>
                      <a:srgbClr val="991B1B"/>
                    </a:solidFill>
                    <a:latin typeface="Calibri"/>
                  </a:rPr>
                  <a:t>.</a:t>
                </a: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6: GIẢI BÀI TOÁN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37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98775"/>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đội bóng đá thi đấu trong một sân vận động có sức chứa 55 000 khán giả. Với giá mỗi vé là 100 nghìn đồng, số khán giả trung bình là 27 000 người. Qua thăm dò dư luận, người ta thấy rằng mỗi khi giá vé giảm thêm 10 nghìn đồng, sẽ có thêm khoảng 3 000 khán giả. Hỏi ban tổ chức nên đặt giá vé là bao nhiêu để doanh thu từ tiền bán vé là lớn nhất?</a:t>
                </a:r>
              </a:p>
              <a:p>
                <a:pPr algn="l">
                  <a:spcAft>
                    <a:spcPts val="800"/>
                  </a:spcAft>
                </a:pPr>
                <a:r>
                  <a:rPr sz="2200" b="1">
                    <a:solidFill>
                      <a:srgbClr val="1E40AF"/>
                    </a:solidFill>
                    <a:latin typeface="Calibri"/>
                  </a:rPr>
                  <a:t>Gợi mở: Giá vé </a:t>
                </a:r>
                <a14:m>
                  <m:oMath xmlns:m="http://schemas.openxmlformats.org/officeDocument/2006/math">
                    <m:r>
                      <a:rPr lang="vi-VN" sz="2200" b="1">
                        <a:solidFill>
                          <a:srgbClr val="1E40AF"/>
                        </a:solidFill>
                        <a:latin typeface="Cambria Math" panose="02040503050406030204" pitchFamily="18" charset="0"/>
                      </a:rPr>
                      <m:t>p</m:t>
                    </m:r>
                  </m:oMath>
                </a14:m>
                <a:r>
                  <a:rPr sz="2200" b="1">
                    <a:solidFill>
                      <a:srgbClr val="1E40AF"/>
                    </a:solidFill>
                    <a:latin typeface="Calibri"/>
                  </a:rPr>
                  <a:t> là hàm bậc nhất của số khán giả </a:t>
                </a:r>
                <a14:m>
                  <m:oMath xmlns:m="http://schemas.openxmlformats.org/officeDocument/2006/math">
                    <m:r>
                      <a:rPr lang="vi-VN" sz="2200" b="1">
                        <a:solidFill>
                          <a:srgbClr val="1E40AF"/>
                        </a:solidFill>
                        <a:latin typeface="Cambria Math" panose="02040503050406030204" pitchFamily="18" charset="0"/>
                      </a:rPr>
                      <m:t>x</m:t>
                    </m:r>
                  </m:oMath>
                </a14:m>
              </a:p>
            </p:txBody>
          </p:sp>
        </mc:Choice>
        <mc:Fallback>
          <p:sp>
            <p:nvSpPr>
              <p:cNvPr id="7" name="TextBox 6"/>
              <p:cNvSpPr txBox="1"/>
              <p:nvPr/>
            </p:nvSpPr>
            <p:spPr>
              <a:xfrm>
                <a:off x="731520" y="1463040"/>
                <a:ext cx="10789920" cy="2398775"/>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đội bóng đá thi đấu trong một sân vận động có sức chứa 55 000 khán giả. Với giá mỗi vé là 100 nghìn đồng, số khán giả trung bình là 27 000 người. Qua thăm dò dư luận, người ta thấy rằng mỗi khi giá vé giảm thêm 10 nghìn đồng, sẽ có thêm khoảng 3 000 khán giả. Hỏi ban tổ chức nên đặt giá vé là bao nhiêu để doanh thu từ tiền bán vé là lớn nhất?</a:t>
                </a:r>
              </a:p>
              <a:p>
                <a:pPr algn="l">
                  <a:spcAft>
                    <a:spcPts val="800"/>
                  </a:spcAft>
                </a:pPr>
                <a:r>
                  <a:rPr sz="2200" b="1">
                    <a:solidFill>
                      <a:srgbClr val="1E40AF"/>
                    </a:solidFill>
                    <a:latin typeface="Calibri"/>
                  </a:rPr>
                  <a:t>Gợi mở: Giá vé </a:t>
                </a:r>
                <a:r>
                  <a:rPr lang="vi-VN"/>
                  <a:t>p</a:t>
                </a:r>
                <a:r>
                  <a:rPr sz="2200" b="1">
                    <a:solidFill>
                      <a:srgbClr val="1E40AF"/>
                    </a:solidFill>
                    <a:latin typeface="Calibri"/>
                  </a:rPr>
                  <a:t> là hàm bậc nhất của số khán giả </a:t>
                </a:r>
                <a:r>
                  <a:rPr lang="vi-VN"/>
                  <a:t>x</a:t>
                </a: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6: GIẢI BÀI TOÁN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38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Hai điểm </a:t>
                </a:r>
                <a14:m>
                  <m:oMath xmlns:m="http://schemas.openxmlformats.org/officeDocument/2006/math">
                    <m:d>
                      <m:dPr>
                        <m:sepChr m:val=""/>
                      </m:dPr>
                      <m:e>
                        <m:r>
                          <a:rPr lang="vi-VN" sz="2400" b="0">
                            <a:solidFill>
                              <a:srgbClr val="1E293B"/>
                            </a:solidFill>
                            <a:latin typeface="Cambria Math" panose="02040503050406030204" pitchFamily="18" charset="0"/>
                          </a:rPr>
                          <m:t>27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100</m:t>
                        </m:r>
                      </m:e>
                    </m:d>
                  </m:oMath>
                </a14:m>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30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90</m:t>
                        </m:r>
                      </m:e>
                    </m:d>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⇒x=−300p+57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m:t>
                    </m:r>
                  </m:oMath>
                </a14:m>
              </a:p>
              <a:p>
                <a:pPr algn="l" marL="365760" indent="-365760">
                  <a:spcAft>
                    <a:spcPts val="800"/>
                  </a:spcAft>
                  <a:buClr>
                    <a:srgbClr val="1E40AF"/>
                  </a:buClr>
                  <a:buFont typeface="Arial"/>
                  <a:buChar char="•"/>
                </a:pPr>
                <a:r>
                  <a:rPr sz="2400">
                    <a:solidFill>
                      <a:srgbClr val="1E293B"/>
                    </a:solidFill>
                    <a:latin typeface="Calibri"/>
                  </a:rPr>
                  <a:t>Doanh thu </a:t>
                </a:r>
                <a14:m>
                  <m:oMath xmlns:m="http://schemas.openxmlformats.org/officeDocument/2006/math">
                    <m:r>
                      <a:rPr lang="vi-VN" sz="2400" b="0">
                        <a:solidFill>
                          <a:srgbClr val="1E293B"/>
                        </a:solidFill>
                        <a:latin typeface="Cambria Math" panose="02040503050406030204" pitchFamily="18" charset="0"/>
                      </a:rPr>
                      <m:t>R(p)=px=−300</m:t>
                    </m:r>
                    <m:sSup>
                      <m:e>
                        <m:r>
                          <a:rPr lang="vi-VN" sz="2400" b="0">
                            <a:solidFill>
                              <a:srgbClr val="1E293B"/>
                            </a:solidFill>
                            <a:latin typeface="Cambria Math" panose="02040503050406030204" pitchFamily="18" charset="0"/>
                          </a:rPr>
                          <m:t>p</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+57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000p</m:t>
                    </m:r>
                  </m:oMath>
                </a14:m>
              </a:p>
              <a:p>
                <a:pPr algn="l" marL="365760" indent="-365760">
                  <a:spcAft>
                    <a:spcPts val="800"/>
                  </a:spcAft>
                  <a:buClr>
                    <a:srgbClr val="1E40AF"/>
                  </a:buClr>
                  <a:buFont typeface="Arial"/>
                  <a:buChar char="•"/>
                </a:pPr>
                <a14:m>
                  <m:oMath xmlns:m="http://schemas.openxmlformats.org/officeDocument/2006/math">
                    <m:sSup>
                      <m:e>
                        <m:r>
                          <a:rPr lang="vi-VN" sz="2400" b="0">
                            <a:solidFill>
                              <a:srgbClr val="1E293B"/>
                            </a:solidFill>
                            <a:latin typeface="Cambria Math" panose="02040503050406030204" pitchFamily="18" charset="0"/>
                          </a:rPr>
                          <m:t>R</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(p)=−600p+57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000=0⇔p=95</m:t>
                    </m:r>
                  </m:oMath>
                </a14:m>
              </a:p>
              <a:p>
                <a:pPr algn="l" marL="365760" indent="-365760">
                  <a:spcAft>
                    <a:spcPts val="800"/>
                  </a:spcAft>
                  <a:buClr>
                    <a:srgbClr val="1E40AF"/>
                  </a:buClr>
                  <a:buFont typeface="Arial"/>
                  <a:buChar char="•"/>
                </a:pPr>
                <a:r>
                  <a:rPr sz="2400">
                    <a:solidFill>
                      <a:srgbClr val="1E293B"/>
                    </a:solidFill>
                    <a:latin typeface="Calibri"/>
                  </a:rPr>
                  <a:t>Bảng biến thiên: </a:t>
                </a:r>
                <a14:m>
                  <m:oMath xmlns:m="http://schemas.openxmlformats.org/officeDocument/2006/math">
                    <m:r>
                      <a:rPr lang="vi-VN" sz="2400" b="0">
                        <a:solidFill>
                          <a:srgbClr val="1E293B"/>
                        </a:solidFill>
                        <a:latin typeface="Cambria Math" panose="02040503050406030204" pitchFamily="18" charset="0"/>
                      </a:rPr>
                      <m:t>R</m:t>
                    </m:r>
                  </m:oMath>
                </a14:m>
                <a:r>
                  <a:rPr sz="2400">
                    <a:solidFill>
                      <a:srgbClr val="1E293B"/>
                    </a:solidFill>
                    <a:latin typeface="Calibri"/>
                  </a:rPr>
                  <a:t> lớn nhất </a:t>
                </a:r>
                <a14:m>
                  <m:oMath xmlns:m="http://schemas.openxmlformats.org/officeDocument/2006/math">
                    <m:r>
                      <a:rPr lang="vi-VN" sz="2400" b="0">
                        <a:solidFill>
                          <a:srgbClr val="1E293B"/>
                        </a:solidFill>
                        <a:latin typeface="Cambria Math" panose="02040503050406030204" pitchFamily="18" charset="0"/>
                      </a:rPr>
                      <m:t>R(95)=2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707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500</m:t>
                    </m:r>
                  </m:oMath>
                </a14:m>
                <a:r>
                  <a:rPr sz="2400">
                    <a:solidFill>
                      <a:srgbClr val="1E293B"/>
                    </a:solidFill>
                    <a:latin typeface="Calibri"/>
                  </a:rPr>
                  <a:t> (nghìn đồng)</a:t>
                </a:r>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Hai điểm </a:t>
                </a:r>
                <a:r>
                  <a:rPr lang="vi-VN"/>
                  <a:t>(27\,000;100)</a:t>
                </a:r>
                <a:r>
                  <a:rPr sz="2400">
                    <a:solidFill>
                      <a:srgbClr val="1E293B"/>
                    </a:solidFill>
                    <a:latin typeface="Calibri"/>
                  </a:rPr>
                  <a:t>, </a:t>
                </a:r>
                <a:r>
                  <a:rPr lang="vi-VN"/>
                  <a:t>(30\,000;90)</a:t>
                </a:r>
                <a:r>
                  <a:rPr sz="2400">
                    <a:solidFill>
                      <a:srgbClr val="1E293B"/>
                    </a:solidFill>
                    <a:latin typeface="Calibri"/>
                  </a:rPr>
                  <a:t> </a:t>
                </a:r>
                <a:r>
                  <a:rPr lang="vi-VN"/>
                  <a:t>\Rightarrow x=-300p+57\,000</a:t>
                </a:r>
              </a:p>
              <a:p>
                <a:pPr algn="l" marL="365760" indent="-365760">
                  <a:spcAft>
                    <a:spcPts val="800"/>
                  </a:spcAft>
                  <a:buClr>
                    <a:srgbClr val="1E40AF"/>
                  </a:buClr>
                  <a:buFont typeface="Arial"/>
                  <a:buChar char="•"/>
                </a:pPr>
                <a:r>
                  <a:rPr sz="2400">
                    <a:solidFill>
                      <a:srgbClr val="1E293B"/>
                    </a:solidFill>
                    <a:latin typeface="Calibri"/>
                  </a:rPr>
                  <a:t>Doanh thu </a:t>
                </a:r>
                <a:r>
                  <a:rPr lang="vi-VN"/>
                  <a:t>R(p)=px=-300p^2+57\,000p</a:t>
                </a:r>
              </a:p>
              <a:p>
                <a:pPr algn="l" marL="365760" indent="-365760">
                  <a:spcAft>
                    <a:spcPts val="800"/>
                  </a:spcAft>
                  <a:buClr>
                    <a:srgbClr val="1E40AF"/>
                  </a:buClr>
                  <a:buFont typeface="Arial"/>
                  <a:buChar char="•"/>
                </a:pPr>
                <a:r>
                  <a:rPr lang="vi-VN"/>
                  <a:t>R'(p)=-600p+57\,000=0\Leftrightarrow p=95</a:t>
                </a:r>
              </a:p>
              <a:p>
                <a:pPr algn="l" marL="365760" indent="-365760">
                  <a:spcAft>
                    <a:spcPts val="800"/>
                  </a:spcAft>
                  <a:buClr>
                    <a:srgbClr val="1E40AF"/>
                  </a:buClr>
                  <a:buFont typeface="Arial"/>
                  <a:buChar char="•"/>
                </a:pPr>
                <a:r>
                  <a:rPr sz="2400">
                    <a:solidFill>
                      <a:srgbClr val="1E293B"/>
                    </a:solidFill>
                    <a:latin typeface="Calibri"/>
                  </a:rPr>
                  <a:t>Bảng biến thiên: </a:t>
                </a:r>
                <a:r>
                  <a:rPr lang="vi-VN"/>
                  <a:t>R</a:t>
                </a:r>
                <a:r>
                  <a:rPr sz="2400">
                    <a:solidFill>
                      <a:srgbClr val="1E293B"/>
                    </a:solidFill>
                    <a:latin typeface="Calibri"/>
                  </a:rPr>
                  <a:t> lớn nhất </a:t>
                </a:r>
                <a:r>
                  <a:rPr lang="vi-VN"/>
                  <a:t>R(95)=2\,707\,500</a:t>
                </a:r>
                <a:r>
                  <a:rPr sz="2400">
                    <a:solidFill>
                      <a:srgbClr val="1E293B"/>
                    </a:solidFill>
                    <a:latin typeface="Calibri"/>
                  </a:rPr>
                  <a:t> (nghìn đồng)</a:t>
                </a:r>
              </a:p>
            </p:txBody>
          </p:sp>
        </mc:Fallback>
      </mc:AlternateContent>
      <p:sp>
        <p:nvSpPr>
          <p:cNvPr id="8" name="Rounded Rectangle 7"/>
          <p:cNvSpPr/>
          <p:nvPr/>
        </p:nvSpPr>
        <p:spPr>
          <a:xfrm>
            <a:off x="731520" y="362407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Giá vé 95 nghìn đồng thì doanh thu lớn nhất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7: LỢI NHUẬN MÁY XAY SINH TỐ</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39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145284"/>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nhà phân tích thị trường nhận thấy nếu công ty sản xuất và bán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x</m:t>
                    </m:r>
                  </m:oMath>
                </a14:m>
                <a:r>
                  <a:rPr sz="2200">
                    <a:solidFill>
                      <a:srgbClr val="1E293B"/>
                    </a:solidFill>
                    <a:latin typeface="Calibri"/>
                  </a:rPr>
                  <a:t> chiếc máy xay sinh tố hằng tháng thì lợi nhuận (nghìn đồng)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P(x)=−0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3</m:t>
                        </m:r>
                      </m:sup>
                    </m:sSup>
                    <m:r>
                      <a:rPr lang="vi-VN" sz="2200" b="0">
                        <a:solidFill>
                          <a:srgbClr val="1E293B"/>
                        </a:solidFill>
                        <a:latin typeface="Cambria Math" panose="02040503050406030204" pitchFamily="18" charset="0"/>
                      </a:rPr>
                      <m:t>+36</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800x−48</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m:t>
                    </m:r>
                  </m:oMath>
                </a14:m>
                <a:r>
                  <a:rPr sz="2200">
                    <a:solidFill>
                      <a:srgbClr val="1E293B"/>
                    </a:solidFill>
                    <a:latin typeface="Calibri"/>
                  </a:rPr>
                  <a:t>. Khảo sát sự biến thiên và vẽ đồ thị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y=P(x)</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x≥0</m:t>
                    </m:r>
                  </m:oMath>
                </a14:m>
                <a:r>
                  <a:rPr sz="2200">
                    <a:solidFill>
                      <a:srgbClr val="1E293B"/>
                    </a:solidFill>
                    <a:latin typeface="Calibri"/>
                  </a:rPr>
                  <a:t>.</a:t>
                </a:r>
              </a:p>
              <a:p>
                <a:pPr algn="l">
                  <a:spcAft>
                    <a:spcPts val="800"/>
                  </a:spcAft>
                </a:pPr>
                <a:r>
                  <a:rPr sz="2200">
                    <a:solidFill>
                      <a:srgbClr val="1E293B"/>
                    </a:solidFill>
                    <a:latin typeface="Calibri"/>
                  </a:rPr>
                  <a:t>a) Hằng tháng công ty phải sản xuất ít nhất bao nhiêu chiếc để hoà vốn?</a:t>
                </a:r>
              </a:p>
              <a:p>
                <a:pPr algn="l">
                  <a:spcAft>
                    <a:spcPts val="800"/>
                  </a:spcAft>
                </a:pPr>
                <a:r>
                  <a:rPr sz="2200">
                    <a:solidFill>
                      <a:srgbClr val="1E293B"/>
                    </a:solidFill>
                    <a:latin typeface="Calibri"/>
                  </a:rPr>
                  <a:t>b) Lợi nhuận lớn nhất là bao nhiêu?</a:t>
                </a:r>
                <a:r>
                  <a:rPr sz="2200">
                    <a:solidFill>
                      <a:srgbClr val="1E293B"/>
                    </a:solidFill>
                    <a:latin typeface="Calibri"/>
                  </a:rPr>
                  <a:t> </a:t>
                </a:r>
              </a:p>
            </p:txBody>
          </p:sp>
        </mc:Choice>
        <mc:Fallback>
          <p:sp>
            <p:nvSpPr>
              <p:cNvPr id="7" name="TextBox 6"/>
              <p:cNvSpPr txBox="1"/>
              <p:nvPr/>
            </p:nvSpPr>
            <p:spPr>
              <a:xfrm>
                <a:off x="731520" y="1463040"/>
                <a:ext cx="10789920" cy="2145284"/>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nhà phân tích thị trường nhận thấy nếu công ty sản xuất và bán </a:t>
                </a:r>
                <a:r>
                  <a:rPr lang="vi-VN"/>
                  <a:t>x</a:t>
                </a:r>
                <a:r>
                  <a:rPr sz="2200">
                    <a:solidFill>
                      <a:srgbClr val="1E293B"/>
                    </a:solidFill>
                    <a:latin typeface="Calibri"/>
                  </a:rPr>
                  <a:t> chiếc máy xay sinh tố hằng tháng thì lợi nhuận (nghìn đồng) là </a:t>
                </a:r>
                <a:r>
                  <a:rPr lang="vi-VN"/>
                  <a:t>P(x)=−0,3x^3+36x^2+1 800x−48 000</a:t>
                </a:r>
                <a:r>
                  <a:rPr sz="2200">
                    <a:solidFill>
                      <a:srgbClr val="1E293B"/>
                    </a:solidFill>
                    <a:latin typeface="Calibri"/>
                  </a:rPr>
                  <a:t>. Khảo sát sự biến thiên và vẽ đồ thị hàm số </a:t>
                </a:r>
                <a:r>
                  <a:rPr lang="vi-VN"/>
                  <a:t>y=P(x)</a:t>
                </a:r>
                <a:r>
                  <a:rPr sz="2200">
                    <a:solidFill>
                      <a:srgbClr val="1E293B"/>
                    </a:solidFill>
                    <a:latin typeface="Calibri"/>
                  </a:rPr>
                  <a:t>, </a:t>
                </a:r>
                <a:r>
                  <a:rPr lang="vi-VN"/>
                  <a:t>x≥0</a:t>
                </a:r>
                <a:r>
                  <a:rPr sz="2200">
                    <a:solidFill>
                      <a:srgbClr val="1E293B"/>
                    </a:solidFill>
                    <a:latin typeface="Calibri"/>
                  </a:rPr>
                  <a:t>.</a:t>
                </a:r>
              </a:p>
              <a:p>
                <a:pPr algn="l">
                  <a:spcAft>
                    <a:spcPts val="800"/>
                  </a:spcAft>
                </a:pPr>
                <a:r>
                  <a:rPr sz="2200">
                    <a:solidFill>
                      <a:srgbClr val="1E293B"/>
                    </a:solidFill>
                    <a:latin typeface="Calibri"/>
                  </a:rPr>
                  <a:t>a) Hằng tháng công ty phải sản xuất ít nhất bao nhiêu chiếc để hoà vốn?</a:t>
                </a:r>
              </a:p>
              <a:p>
                <a:pPr algn="l">
                  <a:spcAft>
                    <a:spcPts val="800"/>
                  </a:spcAft>
                </a:pPr>
                <a:r>
                  <a:rPr sz="2200">
                    <a:solidFill>
                      <a:srgbClr val="1E293B"/>
                    </a:solidFill>
                    <a:latin typeface="Calibri"/>
                  </a:rPr>
                  <a:t>b) Lợi nhuận lớn nhất là bao nhiêu?</a:t>
                </a:r>
                <a:r>
                  <a:rPr sz="2200">
                    <a:solidFill>
                      <a:srgbClr val="1E293B"/>
                    </a:solidFill>
                    <a:latin typeface="Calibri"/>
                  </a:rPr>
                  <a:t> </a:t>
                </a: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7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40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a:spcAft>
                    <a:spcPts val="800"/>
                  </a:spcAft>
                </a:pPr>
                <a:r>
                  <a:rPr sz="2200">
                    <a:solidFill>
                      <a:srgbClr val="1E293B"/>
                    </a:solidFill>
                    <a:latin typeface="Calibri"/>
                  </a:rPr>
                  <a:t>Công ty có nên sản xuất 200 chiếc hằng tháng không?</a:t>
                </a:r>
                <a:r>
                  <a:rPr sz="2200">
                    <a:solidFill>
                      <a:srgbClr val="1E293B"/>
                    </a:solidFill>
                    <a:latin typeface="Calibri"/>
                  </a:rPr>
                  <a:t> </a:t>
                </a:r>
              </a:p>
              <a:p>
                <a:pPr algn="l">
                  <a:spcAft>
                    <a:spcPts val="800"/>
                  </a:spcAft>
                </a:pPr>
                <a:r>
                  <a:rPr sz="2200" b="1">
                    <a:solidFill>
                      <a:srgbClr val="1E40AF"/>
                    </a:solidFill>
                    <a:latin typeface="Calibri"/>
                  </a:rPr>
                  <a:t>Gợi mở: Lập bảng biến thiên của </a:t>
                </a:r>
                <a14:m>
                  <m:oMath xmlns:m="http://schemas.openxmlformats.org/officeDocument/2006/math">
                    <m:r>
                      <a:rPr lang="vi-VN" sz="2200" b="1">
                        <a:solidFill>
                          <a:srgbClr val="1E40AF"/>
                        </a:solidFill>
                        <a:latin typeface="Cambria Math" panose="02040503050406030204" pitchFamily="18" charset="0"/>
                      </a:rPr>
                      <m:t>P(x)</m:t>
                    </m:r>
                  </m:oMath>
                </a14:m>
                <a:r>
                  <a:rPr sz="2200" b="1">
                    <a:solidFill>
                      <a:srgbClr val="1E40AF"/>
                    </a:solidFill>
                    <a:latin typeface="Calibri"/>
                  </a:rPr>
                  <a:t> trên </a:t>
                </a:r>
                <a14:m>
                  <m:oMath xmlns:m="http://schemas.openxmlformats.org/officeDocument/2006/math">
                    <m:r>
                      <a:rPr lang="vi-VN" sz="2200" b="1">
                        <a:solidFill>
                          <a:srgbClr val="1E40AF"/>
                        </a:solidFill>
                        <a:latin typeface="Cambria Math" panose="02040503050406030204" pitchFamily="18" charset="0"/>
                      </a:rPr>
                      <m:t>[0;+∞)</m:t>
                    </m:r>
                  </m:oMath>
                </a14:m>
              </a:p>
            </p:txBody>
          </p:sp>
        </mc:Choice>
        <mc:Fallback>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a:spcAft>
                    <a:spcPts val="800"/>
                  </a:spcAft>
                </a:pPr>
                <a:r>
                  <a:rPr sz="2200">
                    <a:solidFill>
                      <a:srgbClr val="1E293B"/>
                    </a:solidFill>
                    <a:latin typeface="Calibri"/>
                  </a:rPr>
                  <a:t>Công ty có nên sản xuất 200 chiếc hằng tháng không?</a:t>
                </a:r>
                <a:r>
                  <a:rPr sz="2200">
                    <a:solidFill>
                      <a:srgbClr val="1E293B"/>
                    </a:solidFill>
                    <a:latin typeface="Calibri"/>
                  </a:rPr>
                  <a:t> </a:t>
                </a:r>
              </a:p>
              <a:p>
                <a:pPr algn="l">
                  <a:spcAft>
                    <a:spcPts val="800"/>
                  </a:spcAft>
                </a:pPr>
                <a:r>
                  <a:rPr sz="2200" b="1">
                    <a:solidFill>
                      <a:srgbClr val="1E40AF"/>
                    </a:solidFill>
                    <a:latin typeface="Calibri"/>
                  </a:rPr>
                  <a:t>Gợi mở: Lập bảng biến thiên của </a:t>
                </a:r>
                <a:r>
                  <a:rPr lang="vi-VN"/>
                  <a:t>P(x)</a:t>
                </a:r>
                <a:r>
                  <a:rPr sz="2200" b="1">
                    <a:solidFill>
                      <a:srgbClr val="1E40AF"/>
                    </a:solidFill>
                    <a:latin typeface="Calibri"/>
                  </a:rPr>
                  <a:t> trên </a:t>
                </a:r>
                <a:r>
                  <a:rPr lang="vi-VN"/>
                  <a:t>[0;+\infty)</a:t>
                </a: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7: LỢI NHUẬN MÁY XAY SINH TỐ</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41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6400800" cy="25085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p>
                      <m:e>
                        <m:r>
                          <a:rPr lang="vi-VN" sz="2200" b="0">
                            <a:solidFill>
                              <a:srgbClr val="1E293B"/>
                            </a:solidFill>
                            <a:latin typeface="Cambria Math" panose="02040503050406030204" pitchFamily="18" charset="0"/>
                          </a:rPr>
                          <m:t>P</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9</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+72x+1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800=0⇔x=100</m:t>
                    </m:r>
                  </m:oMath>
                </a14:m>
                <a:r>
                  <a:rPr sz="2200">
                    <a:solidFill>
                      <a:srgbClr val="1E293B"/>
                    </a:solidFill>
                    <a:latin typeface="Calibri"/>
                  </a:rPr>
                  <a:t> (vì </a:t>
                </a:r>
                <a14:m>
                  <m:oMath xmlns:m="http://schemas.openxmlformats.org/officeDocument/2006/math">
                    <m:r>
                      <a:rPr lang="vi-VN" sz="2200" b="0">
                        <a:solidFill>
                          <a:srgbClr val="1E293B"/>
                        </a:solidFill>
                        <a:latin typeface="Cambria Math" panose="02040503050406030204" pitchFamily="18" charset="0"/>
                      </a:rPr>
                      <m:t>x≥0</m:t>
                    </m:r>
                  </m:oMath>
                </a14:m>
                <a:r>
                  <a:rPr sz="2200">
                    <a:solidFill>
                      <a:srgbClr val="1E293B"/>
                    </a:solidFill>
                    <a:latin typeface="Calibri"/>
                  </a:rPr>
                  <a:t>)</a:t>
                </a:r>
              </a:p>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P</m:t>
                    </m:r>
                  </m:oMath>
                </a14:m>
                <a:r>
                  <a:rPr sz="2200">
                    <a:solidFill>
                      <a:srgbClr val="1E293B"/>
                    </a:solidFill>
                    <a:latin typeface="Calibri"/>
                  </a:rPr>
                  <a:t> đồng biến trên </a:t>
                </a:r>
                <a14:m>
                  <m:oMath xmlns:m="http://schemas.openxmlformats.org/officeDocument/2006/math">
                    <m:r>
                      <a:rPr lang="vi-VN" sz="2200" b="0">
                        <a:solidFill>
                          <a:srgbClr val="1E293B"/>
                        </a:solidFill>
                        <a:latin typeface="Cambria Math" panose="02040503050406030204" pitchFamily="18" charset="0"/>
                      </a:rPr>
                      <m:t>[0;100)</m:t>
                    </m:r>
                  </m:oMath>
                </a14:m>
                <a:r>
                  <a:rPr sz="2200">
                    <a:solidFill>
                      <a:srgbClr val="1E293B"/>
                    </a:solidFill>
                    <a:latin typeface="Calibri"/>
                  </a:rPr>
                  <a:t>, nghịch biến trên </a:t>
                </a:r>
                <a14:m>
                  <m:oMath xmlns:m="http://schemas.openxmlformats.org/officeDocument/2006/math">
                    <m:d>
                      <m:dPr>
                        <m:sepChr m:val=""/>
                      </m:dPr>
                      <m:e>
                        <m:r>
                          <a:rPr lang="vi-VN" sz="2200" b="0">
                            <a:solidFill>
                              <a:srgbClr val="1E293B"/>
                            </a:solidFill>
                            <a:latin typeface="Cambria Math" panose="02040503050406030204" pitchFamily="18" charset="0"/>
                          </a:rPr>
                          <m:t>100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e>
                    </m:d>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P(100)=192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m:t>
                    </m:r>
                  </m:oMath>
                </a14:m>
              </a:p>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m:r>
                      <a:rPr lang="vi-VN" sz="2200" b="0">
                        <a:solidFill>
                          <a:srgbClr val="1E293B"/>
                        </a:solidFill>
                        <a:latin typeface="Cambria Math" panose="02040503050406030204" pitchFamily="18" charset="0"/>
                      </a:rPr>
                      <m:t>P(20)=0</m:t>
                    </m:r>
                  </m:oMath>
                </a14:m>
                <a:r>
                  <a:rPr sz="2200">
                    <a:solidFill>
                      <a:srgbClr val="1E293B"/>
                    </a:solidFill>
                    <a:latin typeface="Calibri"/>
                  </a:rPr>
                  <a:t>: phải sản xuất ít nhất 20 chiếc để hoà vốn</a:t>
                </a:r>
              </a:p>
            </p:txBody>
          </p:sp>
        </mc:Choice>
        <mc:Fallback>
          <p:sp>
            <p:nvSpPr>
              <p:cNvPr id="7" name="TextBox 6"/>
              <p:cNvSpPr txBox="1"/>
              <p:nvPr/>
            </p:nvSpPr>
            <p:spPr>
              <a:xfrm>
                <a:off x="731520" y="1463040"/>
                <a:ext cx="6400800" cy="25085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P'(x)=-0{,}9x^2+72x+1\,800=0\Leftrightarrow x=100</a:t>
                </a:r>
                <a:r>
                  <a:rPr sz="2200">
                    <a:solidFill>
                      <a:srgbClr val="1E293B"/>
                    </a:solidFill>
                    <a:latin typeface="Calibri"/>
                  </a:rPr>
                  <a:t> (vì </a:t>
                </a:r>
                <a:r>
                  <a:rPr lang="vi-VN"/>
                  <a:t>x\ge 0</a:t>
                </a:r>
                <a:r>
                  <a:rPr sz="2200">
                    <a:solidFill>
                      <a:srgbClr val="1E293B"/>
                    </a:solidFill>
                    <a:latin typeface="Calibri"/>
                  </a:rPr>
                  <a:t>)</a:t>
                </a:r>
              </a:p>
              <a:p>
                <a:pPr algn="l" marL="365760" indent="-365760">
                  <a:spcAft>
                    <a:spcPts val="800"/>
                  </a:spcAft>
                  <a:buClr>
                    <a:srgbClr val="1E40AF"/>
                  </a:buClr>
                  <a:buFont typeface="Arial"/>
                  <a:buChar char="•"/>
                </a:pPr>
                <a:r>
                  <a:rPr lang="vi-VN"/>
                  <a:t>P</a:t>
                </a:r>
                <a:r>
                  <a:rPr sz="2200">
                    <a:solidFill>
                      <a:srgbClr val="1E293B"/>
                    </a:solidFill>
                    <a:latin typeface="Calibri"/>
                  </a:rPr>
                  <a:t> đồng biến trên </a:t>
                </a:r>
                <a:r>
                  <a:rPr lang="vi-VN"/>
                  <a:t>[0;100)</a:t>
                </a:r>
                <a:r>
                  <a:rPr sz="2200">
                    <a:solidFill>
                      <a:srgbClr val="1E293B"/>
                    </a:solidFill>
                    <a:latin typeface="Calibri"/>
                  </a:rPr>
                  <a:t>, nghịch biến trên </a:t>
                </a:r>
                <a:r>
                  <a:rPr lang="vi-VN"/>
                  <a:t>(100;+\infty)</a:t>
                </a:r>
                <a:r>
                  <a:rPr sz="2200">
                    <a:solidFill>
                      <a:srgbClr val="1E293B"/>
                    </a:solidFill>
                    <a:latin typeface="Calibri"/>
                  </a:rPr>
                  <a:t>; </a:t>
                </a:r>
                <a:r>
                  <a:rPr lang="vi-VN"/>
                  <a:t>P(100)=192\,000</a:t>
                </a:r>
              </a:p>
              <a:p>
                <a:pPr algn="l" marL="365760" indent="-365760">
                  <a:spcAft>
                    <a:spcPts val="800"/>
                  </a:spcAft>
                  <a:buClr>
                    <a:srgbClr val="1E40AF"/>
                  </a:buClr>
                  <a:buFont typeface="Arial"/>
                  <a:buChar char="•"/>
                </a:pPr>
                <a:r>
                  <a:rPr sz="2200">
                    <a:solidFill>
                      <a:srgbClr val="1E293B"/>
                    </a:solidFill>
                    <a:latin typeface="Calibri"/>
                  </a:rPr>
                  <a:t>a) </a:t>
                </a:r>
                <a:r>
                  <a:rPr lang="vi-VN"/>
                  <a:t>P(20)=0</a:t>
                </a:r>
                <a:r>
                  <a:rPr sz="2200">
                    <a:solidFill>
                      <a:srgbClr val="1E293B"/>
                    </a:solidFill>
                    <a:latin typeface="Calibri"/>
                  </a:rPr>
                  <a:t>: phải sản xuất ít nhất 20 chiếc để hoà vốn</a:t>
                </a:r>
              </a:p>
            </p:txBody>
          </p:sp>
        </mc:Fallback>
      </mc:AlternateContent>
      <p:pic>
        <p:nvPicPr>
          <p:cNvPr id="8" name="Picture 7" descr="img05.png"/>
          <p:cNvPicPr>
            <a:picLocks noChangeAspect="1"/>
          </p:cNvPicPr>
          <p:nvPr/>
        </p:nvPicPr>
        <p:blipFill>
          <a:blip r:embed="rId2"/>
          <a:stretch>
            <a:fillRect/>
          </a:stretch>
        </p:blipFill>
        <p:spPr>
          <a:xfrm>
            <a:off x="7611889" y="1463040"/>
            <a:ext cx="3978622" cy="470916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7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42</a:t>
            </a:r>
          </a:p>
        </p:txBody>
      </p:sp>
      <p:sp>
        <p:nvSpPr>
          <p:cNvPr id="7" name="TextBox 6"/>
          <p:cNvSpPr txBox="1"/>
          <p:nvPr/>
        </p:nvSpPr>
        <p:spPr>
          <a:xfrm>
            <a:off x="731520" y="1463040"/>
            <a:ext cx="6400800" cy="83616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 Sản xuất hơn 100 chiếc thì lợi nhuận giảm</a:t>
            </a:r>
          </a:p>
        </p:txBody>
      </p:sp>
      <p:sp>
        <p:nvSpPr>
          <p:cNvPr id="8" name="Rounded Rectangle 7"/>
          <p:cNvSpPr/>
          <p:nvPr/>
        </p:nvSpPr>
        <p:spPr>
          <a:xfrm>
            <a:off x="731520" y="2436368"/>
            <a:ext cx="6400800" cy="15316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36368"/>
            <a:ext cx="6035040" cy="15316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Lợi nhuận lớn nhất 192 triệu đồng khi sản xuất 100 chiếc; không nên sản xuất 200 chiếc</a:t>
            </a:r>
          </a:p>
        </p:txBody>
      </p:sp>
      <p:pic>
        <p:nvPicPr>
          <p:cNvPr id="10" name="Picture 9" descr="img05.png"/>
          <p:cNvPicPr>
            <a:picLocks noChangeAspect="1"/>
          </p:cNvPicPr>
          <p:nvPr/>
        </p:nvPicPr>
        <p:blipFill>
          <a:blip r:embed="rId2"/>
          <a:stretch>
            <a:fillRect/>
          </a:stretch>
        </p:blipFill>
        <p:spPr>
          <a:xfrm>
            <a:off x="7611889" y="1463040"/>
            <a:ext cx="3978622" cy="470916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LUYỆN TẬP</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Phiếu học tập số 2 – Bài tập phân hoá 3 mức</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1.26: HẠT CHUYỂN ĐỘNG (MỨC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44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508504"/>
              </a:xfrm>
              <a:prstGeom prst="rect">
                <a:avLst/>
              </a:prstGeom>
              <a:noFill/>
            </p:spPr>
            <p:txBody>
              <a:bodyPr wrap="square" anchor="t" lIns="45720" rIns="45720">
                <a:spAutoFit/>
              </a:bodyPr>
              <a:lstStyle/>
              <a:p>
                <a:pPr algn="l">
                  <a:spcAft>
                    <a:spcPts val="800"/>
                  </a:spcAft>
                </a:pPr>
                <a:r>
                  <a:rPr sz="2200">
                    <a:solidFill>
                      <a:srgbClr val="1E293B"/>
                    </a:solidFill>
                    <a:latin typeface="Calibri"/>
                  </a:rPr>
                  <a:t>Giả sử một hạt chuyển động trên một trục thẳng đứng chiều dương hướng lên trên sao cho toạ độ của hạt (đơn vị: mét) tại thời điểm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t</m:t>
                    </m:r>
                  </m:oMath>
                </a14:m>
                <a:r>
                  <a:rPr sz="2200">
                    <a:solidFill>
                      <a:srgbClr val="1E293B"/>
                    </a:solidFill>
                    <a:latin typeface="Calibri"/>
                  </a:rPr>
                  <a:t> (giây)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y=</m:t>
                    </m:r>
                    <m:sSup>
                      <m:e>
                        <m:r>
                          <a:rPr lang="vi-VN" sz="2200" b="0">
                            <a:solidFill>
                              <a:srgbClr val="1E293B"/>
                            </a:solidFill>
                            <a:latin typeface="Cambria Math" panose="02040503050406030204" pitchFamily="18" charset="0"/>
                          </a:rPr>
                          <m:t>t</m:t>
                        </m:r>
                      </m:e>
                      <m:sup>
                        <m:r>
                          <a:rPr lang="vi-VN" sz="2200" b="0">
                            <a:solidFill>
                              <a:srgbClr val="1E293B"/>
                            </a:solidFill>
                            <a:latin typeface="Cambria Math" panose="02040503050406030204" pitchFamily="18" charset="0"/>
                          </a:rPr>
                          <m:t>3</m:t>
                        </m:r>
                      </m:sup>
                    </m:sSup>
                    <m:r>
                      <a:rPr lang="vi-VN" sz="2200" b="0">
                        <a:solidFill>
                          <a:srgbClr val="1E293B"/>
                        </a:solidFill>
                        <a:latin typeface="Cambria Math" panose="02040503050406030204" pitchFamily="18" charset="0"/>
                      </a:rPr>
                      <m:t>−12t+3</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t≥0</m:t>
                    </m:r>
                  </m:oMath>
                </a14:m>
                <a:r>
                  <a:rPr sz="2200">
                    <a:solidFill>
                      <a:srgbClr val="1E293B"/>
                    </a:solidFill>
                    <a:latin typeface="Calibri"/>
                  </a:rPr>
                  <a:t>.</a:t>
                </a:r>
              </a:p>
              <a:p>
                <a:pPr algn="l">
                  <a:spcAft>
                    <a:spcPts val="800"/>
                  </a:spcAft>
                </a:pPr>
                <a:r>
                  <a:rPr sz="2200">
                    <a:solidFill>
                      <a:srgbClr val="1E293B"/>
                    </a:solidFill>
                    <a:latin typeface="Calibri"/>
                  </a:rPr>
                  <a:t>a) Tìm các hàm vận tốc và gia tốc.</a:t>
                </a:r>
              </a:p>
              <a:p>
                <a:pPr algn="l">
                  <a:spcAft>
                    <a:spcPts val="800"/>
                  </a:spcAft>
                </a:pPr>
                <a:r>
                  <a:rPr sz="2200">
                    <a:solidFill>
                      <a:srgbClr val="1E293B"/>
                    </a:solidFill>
                    <a:latin typeface="Calibri"/>
                  </a:rPr>
                  <a:t>b) Khi nào thì hạt chuyển động lên trên và khi nào thì hạt chuyển động xuống dưới?</a:t>
                </a:r>
              </a:p>
            </p:txBody>
          </p:sp>
        </mc:Choice>
        <mc:Fallback>
          <p:sp>
            <p:nvSpPr>
              <p:cNvPr id="7" name="TextBox 6"/>
              <p:cNvSpPr txBox="1"/>
              <p:nvPr/>
            </p:nvSpPr>
            <p:spPr>
              <a:xfrm>
                <a:off x="731520" y="1463040"/>
                <a:ext cx="10789920" cy="2508504"/>
              </a:xfrm>
              <a:prstGeom prst="rect">
                <a:avLst/>
              </a:prstGeom>
              <a:noFill/>
            </p:spPr>
            <p:txBody>
              <a:bodyPr wrap="square" anchor="t" lIns="45720" rIns="45720">
                <a:spAutoFit/>
              </a:bodyPr>
              <a:lstStyle/>
              <a:p>
                <a:pPr algn="l">
                  <a:spcAft>
                    <a:spcPts val="800"/>
                  </a:spcAft>
                </a:pPr>
                <a:r>
                  <a:rPr sz="2200">
                    <a:solidFill>
                      <a:srgbClr val="1E293B"/>
                    </a:solidFill>
                    <a:latin typeface="Calibri"/>
                  </a:rPr>
                  <a:t>Giả sử một hạt chuyển động trên một trục thẳng đứng chiều dương hướng lên trên sao cho toạ độ của hạt (đơn vị: mét) tại thời điểm </a:t>
                </a:r>
                <a:r>
                  <a:rPr lang="vi-VN"/>
                  <a:t>t</a:t>
                </a:r>
                <a:r>
                  <a:rPr sz="2200">
                    <a:solidFill>
                      <a:srgbClr val="1E293B"/>
                    </a:solidFill>
                    <a:latin typeface="Calibri"/>
                  </a:rPr>
                  <a:t> (giây) là </a:t>
                </a:r>
                <a:r>
                  <a:rPr lang="vi-VN"/>
                  <a:t>y=t^3−12t+3</a:t>
                </a:r>
                <a:r>
                  <a:rPr sz="2200">
                    <a:solidFill>
                      <a:srgbClr val="1E293B"/>
                    </a:solidFill>
                    <a:latin typeface="Calibri"/>
                  </a:rPr>
                  <a:t>, </a:t>
                </a:r>
                <a:r>
                  <a:rPr lang="vi-VN"/>
                  <a:t>t≥0</a:t>
                </a:r>
                <a:r>
                  <a:rPr sz="2200">
                    <a:solidFill>
                      <a:srgbClr val="1E293B"/>
                    </a:solidFill>
                    <a:latin typeface="Calibri"/>
                  </a:rPr>
                  <a:t>.</a:t>
                </a:r>
              </a:p>
              <a:p>
                <a:pPr algn="l">
                  <a:spcAft>
                    <a:spcPts val="800"/>
                  </a:spcAft>
                </a:pPr>
                <a:r>
                  <a:rPr sz="2200">
                    <a:solidFill>
                      <a:srgbClr val="1E293B"/>
                    </a:solidFill>
                    <a:latin typeface="Calibri"/>
                  </a:rPr>
                  <a:t>a) Tìm các hàm vận tốc và gia tốc.</a:t>
                </a:r>
              </a:p>
              <a:p>
                <a:pPr algn="l">
                  <a:spcAft>
                    <a:spcPts val="800"/>
                  </a:spcAft>
                </a:pPr>
                <a:r>
                  <a:rPr sz="2200">
                    <a:solidFill>
                      <a:srgbClr val="1E293B"/>
                    </a:solidFill>
                    <a:latin typeface="Calibri"/>
                  </a:rPr>
                  <a:t>b) Khi nào thì hạt chuyển động lên trên và khi nào thì hạt chuyển động xuống dưới?</a:t>
                </a: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1.26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45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18844"/>
              </a:xfrm>
              <a:prstGeom prst="rect">
                <a:avLst/>
              </a:prstGeom>
              <a:noFill/>
            </p:spPr>
            <p:txBody>
              <a:bodyPr wrap="square" anchor="t" lIns="45720" rIns="45720">
                <a:spAutoFit/>
              </a:bodyPr>
              <a:lstStyle/>
              <a:p>
                <a:pPr algn="l">
                  <a:spcAft>
                    <a:spcPts val="800"/>
                  </a:spcAft>
                </a:pPr>
                <a:r>
                  <a:rPr sz="2200">
                    <a:solidFill>
                      <a:srgbClr val="1E293B"/>
                    </a:solidFill>
                    <a:latin typeface="Calibri"/>
                  </a:rPr>
                  <a:t>c) Tìm quãng đường hạt đi được trong khoảng thời gian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0≤t≤3</m:t>
                    </m:r>
                  </m:oMath>
                </a14:m>
                <a:r>
                  <a:rPr sz="2200">
                    <a:solidFill>
                      <a:srgbClr val="1E293B"/>
                    </a:solidFill>
                    <a:latin typeface="Calibri"/>
                  </a:rPr>
                  <a:t>.</a:t>
                </a:r>
              </a:p>
              <a:p>
                <a:pPr algn="l">
                  <a:spcAft>
                    <a:spcPts val="800"/>
                  </a:spcAft>
                </a:pPr>
                <a:r>
                  <a:rPr sz="2200">
                    <a:solidFill>
                      <a:srgbClr val="1E293B"/>
                    </a:solidFill>
                    <a:latin typeface="Calibri"/>
                  </a:rPr>
                  <a:t>d) Khi nào hạt tăng tốc? Khi nào hạt giảm tốc?</a:t>
                </a:r>
              </a:p>
              <a:p>
                <a:pPr algn="l">
                  <a:spcAft>
                    <a:spcPts val="800"/>
                  </a:spcAft>
                </a:pPr>
                <a:r>
                  <a:rPr sz="2200" b="1">
                    <a:solidFill>
                      <a:srgbClr val="1E40AF"/>
                    </a:solidFill>
                    <a:latin typeface="Calibri"/>
                  </a:rPr>
                  <a:t>Gợi mở: Hạt đổi chiều khi </a:t>
                </a:r>
                <a14:m>
                  <m:oMath xmlns:m="http://schemas.openxmlformats.org/officeDocument/2006/math">
                    <m:r>
                      <a:rPr lang="vi-VN" sz="2200" b="1">
                        <a:solidFill>
                          <a:srgbClr val="1E40AF"/>
                        </a:solidFill>
                        <a:latin typeface="Cambria Math" panose="02040503050406030204" pitchFamily="18" charset="0"/>
                      </a:rPr>
                      <m:t>v(t)=0</m:t>
                    </m:r>
                  </m:oMath>
                </a14:m>
              </a:p>
            </p:txBody>
          </p:sp>
        </mc:Choice>
        <mc:Fallback>
          <p:sp>
            <p:nvSpPr>
              <p:cNvPr id="7" name="TextBox 6"/>
              <p:cNvSpPr txBox="1"/>
              <p:nvPr/>
            </p:nvSpPr>
            <p:spPr>
              <a:xfrm>
                <a:off x="731520" y="1463040"/>
                <a:ext cx="10789920" cy="1418844"/>
              </a:xfrm>
              <a:prstGeom prst="rect">
                <a:avLst/>
              </a:prstGeom>
              <a:noFill/>
            </p:spPr>
            <p:txBody>
              <a:bodyPr wrap="square" anchor="t" lIns="45720" rIns="45720">
                <a:spAutoFit/>
              </a:bodyPr>
              <a:lstStyle/>
              <a:p>
                <a:pPr algn="l">
                  <a:spcAft>
                    <a:spcPts val="800"/>
                  </a:spcAft>
                </a:pPr>
                <a:r>
                  <a:rPr sz="2200">
                    <a:solidFill>
                      <a:srgbClr val="1E293B"/>
                    </a:solidFill>
                    <a:latin typeface="Calibri"/>
                  </a:rPr>
                  <a:t>c) Tìm quãng đường hạt đi được trong khoảng thời gian </a:t>
                </a:r>
                <a:r>
                  <a:rPr lang="vi-VN"/>
                  <a:t>0≤t≤3</a:t>
                </a:r>
                <a:r>
                  <a:rPr sz="2200">
                    <a:solidFill>
                      <a:srgbClr val="1E293B"/>
                    </a:solidFill>
                    <a:latin typeface="Calibri"/>
                  </a:rPr>
                  <a:t>.</a:t>
                </a:r>
              </a:p>
              <a:p>
                <a:pPr algn="l">
                  <a:spcAft>
                    <a:spcPts val="800"/>
                  </a:spcAft>
                </a:pPr>
                <a:r>
                  <a:rPr sz="2200">
                    <a:solidFill>
                      <a:srgbClr val="1E293B"/>
                    </a:solidFill>
                    <a:latin typeface="Calibri"/>
                  </a:rPr>
                  <a:t>d) Khi nào hạt tăng tốc? Khi nào hạt giảm tốc?</a:t>
                </a:r>
              </a:p>
              <a:p>
                <a:pPr algn="l">
                  <a:spcAft>
                    <a:spcPts val="800"/>
                  </a:spcAft>
                </a:pPr>
                <a:r>
                  <a:rPr sz="2200" b="1">
                    <a:solidFill>
                      <a:srgbClr val="1E40AF"/>
                    </a:solidFill>
                    <a:latin typeface="Calibri"/>
                  </a:rPr>
                  <a:t>Gợi mở: Hạt đổi chiều khi </a:t>
                </a:r>
                <a:r>
                  <a:rPr lang="vi-VN"/>
                  <a:t>v(t)=0</a:t>
                </a: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1.26: HẠT CHUYỂN ĐỘNG (MỨC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46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r>
                      <a:rPr lang="vi-VN" sz="2400" b="0">
                        <a:solidFill>
                          <a:srgbClr val="1E293B"/>
                        </a:solidFill>
                        <a:latin typeface="Cambria Math" panose="02040503050406030204" pitchFamily="18" charset="0"/>
                      </a:rPr>
                      <m:t>v(t)=3</m:t>
                    </m:r>
                    <m:sSup>
                      <m:e>
                        <m:r>
                          <a:rPr lang="vi-VN" sz="2400" b="0">
                            <a:solidFill>
                              <a:srgbClr val="1E293B"/>
                            </a:solidFill>
                            <a:latin typeface="Cambria Math" panose="02040503050406030204" pitchFamily="18" charset="0"/>
                          </a:rPr>
                          <m:t>t</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−12</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a(t)=6t</m:t>
                    </m:r>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r>
                      <a:rPr lang="vi-VN" sz="2400" b="0">
                        <a:solidFill>
                          <a:srgbClr val="1E293B"/>
                        </a:solidFill>
                        <a:latin typeface="Cambria Math" panose="02040503050406030204" pitchFamily="18" charset="0"/>
                      </a:rPr>
                      <m:t>v&gt;0⇔t&gt;2</m:t>
                    </m:r>
                  </m:oMath>
                </a14:m>
                <a:r>
                  <a:rPr sz="2400">
                    <a:solidFill>
                      <a:srgbClr val="1E293B"/>
                    </a:solidFill>
                    <a:latin typeface="Calibri"/>
                  </a:rPr>
                  <a:t>: lên trên khi </a:t>
                </a:r>
                <a14:m>
                  <m:oMath xmlns:m="http://schemas.openxmlformats.org/officeDocument/2006/math">
                    <m:r>
                      <a:rPr lang="vi-VN" sz="2400" b="0">
                        <a:solidFill>
                          <a:srgbClr val="1E293B"/>
                        </a:solidFill>
                        <a:latin typeface="Cambria Math" panose="02040503050406030204" pitchFamily="18" charset="0"/>
                      </a:rPr>
                      <m:t>t&gt;2</m:t>
                    </m:r>
                  </m:oMath>
                </a14:m>
                <a:r>
                  <a:rPr sz="2400">
                    <a:solidFill>
                      <a:srgbClr val="1E293B"/>
                    </a:solidFill>
                    <a:latin typeface="Calibri"/>
                  </a:rPr>
                  <a:t>, xuống dưới khi </a:t>
                </a:r>
                <a14:m>
                  <m:oMath xmlns:m="http://schemas.openxmlformats.org/officeDocument/2006/math">
                    <m:r>
                      <a:rPr lang="vi-VN" sz="2400" b="0">
                        <a:solidFill>
                          <a:srgbClr val="1E293B"/>
                        </a:solidFill>
                        <a:latin typeface="Cambria Math" panose="02040503050406030204" pitchFamily="18" charset="0"/>
                      </a:rPr>
                      <m:t>0≤t&lt;2</m:t>
                    </m:r>
                  </m:oMath>
                </a14:m>
              </a:p>
              <a:p>
                <a:pPr algn="l" marL="365760" indent="-365760">
                  <a:spcAft>
                    <a:spcPts val="800"/>
                  </a:spcAft>
                  <a:buClr>
                    <a:srgbClr val="1E40AF"/>
                  </a:buClr>
                  <a:buFont typeface="Arial"/>
                  <a:buChar char="•"/>
                </a:pPr>
                <a:r>
                  <a:rPr sz="2400">
                    <a:solidFill>
                      <a:srgbClr val="1E293B"/>
                    </a:solidFill>
                    <a:latin typeface="Calibri"/>
                  </a:rPr>
                  <a:t>c) </a:t>
                </a:r>
                <a14:m>
                  <m:oMath xmlns:m="http://schemas.openxmlformats.org/officeDocument/2006/math">
                    <m:r>
                      <a:rPr lang="vi-VN" sz="2400" b="0">
                        <a:solidFill>
                          <a:srgbClr val="1E293B"/>
                        </a:solidFill>
                        <a:latin typeface="Cambria Math" panose="02040503050406030204" pitchFamily="18" charset="0"/>
                      </a:rPr>
                      <m:t>y(0)=3</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y(2)=−13</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y(3)=−6</m:t>
                    </m:r>
                  </m:oMath>
                </a14:m>
                <a:r>
                  <a:rPr sz="2400">
                    <a:solidFill>
                      <a:srgbClr val="1E293B"/>
                    </a:solidFill>
                    <a:latin typeface="Calibri"/>
                  </a:rPr>
                  <a:t>: quãng đường </a:t>
                </a:r>
                <a14:m>
                  <m:oMath xmlns:m="http://schemas.openxmlformats.org/officeDocument/2006/math">
                    <m:r>
                      <a:rPr lang="vi-VN" sz="2400" b="0">
                        <a:solidFill>
                          <a:srgbClr val="1E293B"/>
                        </a:solidFill>
                        <a:latin typeface="Cambria Math" panose="02040503050406030204" pitchFamily="18" charset="0"/>
                      </a:rPr>
                      <m:t>16+7=23</m:t>
                    </m:r>
                  </m:oMath>
                </a14:m>
                <a:r>
                  <a:rPr sz="2400">
                    <a:solidFill>
                      <a:srgbClr val="1E293B"/>
                    </a:solidFill>
                    <a:latin typeface="Calibri"/>
                  </a:rPr>
                  <a:t> (m)</a:t>
                </a:r>
              </a:p>
              <a:p>
                <a:pPr algn="l" marL="365760" indent="-365760">
                  <a:spcAft>
                    <a:spcPts val="800"/>
                  </a:spcAft>
                  <a:buClr>
                    <a:srgbClr val="1E40AF"/>
                  </a:buClr>
                  <a:buFont typeface="Arial"/>
                  <a:buChar char="•"/>
                </a:pPr>
                <a:r>
                  <a:rPr sz="2400">
                    <a:solidFill>
                      <a:srgbClr val="1E293B"/>
                    </a:solidFill>
                    <a:latin typeface="Calibri"/>
                  </a:rPr>
                  <a:t>d) Tăng tốc khi </a:t>
                </a:r>
                <a14:m>
                  <m:oMath xmlns:m="http://schemas.openxmlformats.org/officeDocument/2006/math">
                    <m:r>
                      <a:rPr lang="vi-VN" sz="2400" b="0">
                        <a:solidFill>
                          <a:srgbClr val="1E293B"/>
                        </a:solidFill>
                        <a:latin typeface="Cambria Math" panose="02040503050406030204" pitchFamily="18" charset="0"/>
                      </a:rPr>
                      <m:t>v</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a</m:t>
                    </m:r>
                  </m:oMath>
                </a14:m>
                <a:r>
                  <a:rPr sz="2400">
                    <a:solidFill>
                      <a:srgbClr val="1E293B"/>
                    </a:solidFill>
                    <a:latin typeface="Calibri"/>
                  </a:rPr>
                  <a:t> cùng dấu: </a:t>
                </a:r>
                <a14:m>
                  <m:oMath xmlns:m="http://schemas.openxmlformats.org/officeDocument/2006/math">
                    <m:r>
                      <a:rPr lang="vi-VN" sz="2400" b="0">
                        <a:solidFill>
                          <a:srgbClr val="1E293B"/>
                        </a:solidFill>
                        <a:latin typeface="Cambria Math" panose="02040503050406030204" pitchFamily="18" charset="0"/>
                      </a:rPr>
                      <m:t>t&gt;2</m:t>
                    </m:r>
                  </m:oMath>
                </a14:m>
                <a:r>
                  <a:rPr sz="2400">
                    <a:solidFill>
                      <a:srgbClr val="1E293B"/>
                    </a:solidFill>
                    <a:latin typeface="Calibri"/>
                  </a:rPr>
                  <a:t>; giảm tốc khi </a:t>
                </a:r>
                <a14:m>
                  <m:oMath xmlns:m="http://schemas.openxmlformats.org/officeDocument/2006/math">
                    <m:r>
                      <a:rPr lang="vi-VN" sz="2400" b="0">
                        <a:solidFill>
                          <a:srgbClr val="1E293B"/>
                        </a:solidFill>
                        <a:latin typeface="Cambria Math" panose="02040503050406030204" pitchFamily="18" charset="0"/>
                      </a:rPr>
                      <m:t>0&lt;t&lt;2</m:t>
                    </m:r>
                  </m:oMath>
                </a14:m>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v(t)=3t^2-12</a:t>
                </a:r>
                <a:r>
                  <a:rPr sz="2400">
                    <a:solidFill>
                      <a:srgbClr val="1E293B"/>
                    </a:solidFill>
                    <a:latin typeface="Calibri"/>
                  </a:rPr>
                  <a:t>, </a:t>
                </a:r>
                <a:r>
                  <a:rPr lang="vi-VN"/>
                  <a:t>a(t)=6t</a:t>
                </a:r>
              </a:p>
              <a:p>
                <a:pPr algn="l" marL="365760" indent="-365760">
                  <a:spcAft>
                    <a:spcPts val="800"/>
                  </a:spcAft>
                  <a:buClr>
                    <a:srgbClr val="1E40AF"/>
                  </a:buClr>
                  <a:buFont typeface="Arial"/>
                  <a:buChar char="•"/>
                </a:pPr>
                <a:r>
                  <a:rPr sz="2400">
                    <a:solidFill>
                      <a:srgbClr val="1E293B"/>
                    </a:solidFill>
                    <a:latin typeface="Calibri"/>
                  </a:rPr>
                  <a:t>b) </a:t>
                </a:r>
                <a:r>
                  <a:rPr lang="vi-VN"/>
                  <a:t>v&gt;0\Leftrightarrow t&gt;2</a:t>
                </a:r>
                <a:r>
                  <a:rPr sz="2400">
                    <a:solidFill>
                      <a:srgbClr val="1E293B"/>
                    </a:solidFill>
                    <a:latin typeface="Calibri"/>
                  </a:rPr>
                  <a:t>: lên trên khi </a:t>
                </a:r>
                <a:r>
                  <a:rPr lang="vi-VN"/>
                  <a:t>t&gt;2</a:t>
                </a:r>
                <a:r>
                  <a:rPr sz="2400">
                    <a:solidFill>
                      <a:srgbClr val="1E293B"/>
                    </a:solidFill>
                    <a:latin typeface="Calibri"/>
                  </a:rPr>
                  <a:t>, xuống dưới khi </a:t>
                </a:r>
                <a:r>
                  <a:rPr lang="vi-VN"/>
                  <a:t>0\le t&lt;2</a:t>
                </a:r>
              </a:p>
              <a:p>
                <a:pPr algn="l" marL="365760" indent="-365760">
                  <a:spcAft>
                    <a:spcPts val="800"/>
                  </a:spcAft>
                  <a:buClr>
                    <a:srgbClr val="1E40AF"/>
                  </a:buClr>
                  <a:buFont typeface="Arial"/>
                  <a:buChar char="•"/>
                </a:pPr>
                <a:r>
                  <a:rPr sz="2400">
                    <a:solidFill>
                      <a:srgbClr val="1E293B"/>
                    </a:solidFill>
                    <a:latin typeface="Calibri"/>
                  </a:rPr>
                  <a:t>c) </a:t>
                </a:r>
                <a:r>
                  <a:rPr lang="vi-VN"/>
                  <a:t>y(0)=3</a:t>
                </a:r>
                <a:r>
                  <a:rPr sz="2400">
                    <a:solidFill>
                      <a:srgbClr val="1E293B"/>
                    </a:solidFill>
                    <a:latin typeface="Calibri"/>
                  </a:rPr>
                  <a:t>, </a:t>
                </a:r>
                <a:r>
                  <a:rPr lang="vi-VN"/>
                  <a:t>y(2)=-13</a:t>
                </a:r>
                <a:r>
                  <a:rPr sz="2400">
                    <a:solidFill>
                      <a:srgbClr val="1E293B"/>
                    </a:solidFill>
                    <a:latin typeface="Calibri"/>
                  </a:rPr>
                  <a:t>, </a:t>
                </a:r>
                <a:r>
                  <a:rPr lang="vi-VN"/>
                  <a:t>y(3)=-6</a:t>
                </a:r>
                <a:r>
                  <a:rPr sz="2400">
                    <a:solidFill>
                      <a:srgbClr val="1E293B"/>
                    </a:solidFill>
                    <a:latin typeface="Calibri"/>
                  </a:rPr>
                  <a:t>: quãng đường </a:t>
                </a:r>
                <a:r>
                  <a:rPr lang="vi-VN"/>
                  <a:t>16+7=23</a:t>
                </a:r>
                <a:r>
                  <a:rPr sz="2400">
                    <a:solidFill>
                      <a:srgbClr val="1E293B"/>
                    </a:solidFill>
                    <a:latin typeface="Calibri"/>
                  </a:rPr>
                  <a:t> (m)</a:t>
                </a:r>
              </a:p>
              <a:p>
                <a:pPr algn="l" marL="365760" indent="-365760">
                  <a:spcAft>
                    <a:spcPts val="800"/>
                  </a:spcAft>
                  <a:buClr>
                    <a:srgbClr val="1E40AF"/>
                  </a:buClr>
                  <a:buFont typeface="Arial"/>
                  <a:buChar char="•"/>
                </a:pPr>
                <a:r>
                  <a:rPr sz="2400">
                    <a:solidFill>
                      <a:srgbClr val="1E293B"/>
                    </a:solidFill>
                    <a:latin typeface="Calibri"/>
                  </a:rPr>
                  <a:t>d) Tăng tốc khi </a:t>
                </a:r>
                <a:r>
                  <a:rPr lang="vi-VN"/>
                  <a:t>v</a:t>
                </a:r>
                <a:r>
                  <a:rPr sz="2400">
                    <a:solidFill>
                      <a:srgbClr val="1E293B"/>
                    </a:solidFill>
                    <a:latin typeface="Calibri"/>
                  </a:rPr>
                  <a:t>, </a:t>
                </a:r>
                <a:r>
                  <a:rPr lang="vi-VN"/>
                  <a:t>a</a:t>
                </a:r>
                <a:r>
                  <a:rPr sz="2400">
                    <a:solidFill>
                      <a:srgbClr val="1E293B"/>
                    </a:solidFill>
                    <a:latin typeface="Calibri"/>
                  </a:rPr>
                  <a:t> cùng dấu: </a:t>
                </a:r>
                <a:r>
                  <a:rPr lang="vi-VN"/>
                  <a:t>t&gt;2</a:t>
                </a:r>
                <a:r>
                  <a:rPr sz="2400">
                    <a:solidFill>
                      <a:srgbClr val="1E293B"/>
                    </a:solidFill>
                    <a:latin typeface="Calibri"/>
                  </a:rPr>
                  <a:t>; giảm tốc khi </a:t>
                </a:r>
                <a:r>
                  <a:rPr lang="vi-VN"/>
                  <a:t>0&lt;t&lt;2</a:t>
                </a:r>
              </a:p>
            </p:txBody>
          </p:sp>
        </mc:Fallback>
      </mc:AlternateContent>
      <p:sp>
        <p:nvSpPr>
          <p:cNvPr id="8" name="Rounded Rectangle 7"/>
          <p:cNvSpPr/>
          <p:nvPr/>
        </p:nvSpPr>
        <p:spPr>
          <a:xfrm>
            <a:off x="731520" y="362407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Quãng đường trong </a:t>
                </a:r>
                <a14:m>
                  <m:oMath xmlns:m="http://schemas.openxmlformats.org/officeDocument/2006/math">
                    <m:d>
                      <m:dPr>
                        <m:begChr m:val="["/>
                        <m:sepChr m:val=""/>
                        <m:endChr m:val="]"/>
                      </m:dPr>
                      <m:e>
                        <m:r>
                          <a:rPr lang="vi-VN" sz="2400" b="1">
                            <a:solidFill>
                              <a:srgbClr val="991B1B"/>
                            </a:solidFill>
                            <a:latin typeface="Cambria Math" panose="02040503050406030204" pitchFamily="18" charset="0"/>
                          </a:rPr>
                          <m:t>0</m:t>
                        </m:r>
                        <m:r>
                          <a:rPr lang="vi-VN" sz="2400" b="1">
                            <a:solidFill>
                              <a:srgbClr val="991B1B"/>
                            </a:solidFill>
                            <a:latin typeface="Cambria Math" panose="02040503050406030204" pitchFamily="18" charset="0"/>
                          </a:rPr>
                          <m:t>;</m:t>
                        </m:r>
                        <m:r>
                          <a:rPr lang="vi-VN" sz="2400" b="1">
                            <a:solidFill>
                              <a:srgbClr val="991B1B"/>
                            </a:solidFill>
                            <a:latin typeface="Cambria Math" panose="02040503050406030204" pitchFamily="18" charset="0"/>
                          </a:rPr>
                          <m:t>3</m:t>
                        </m:r>
                      </m:e>
                    </m:d>
                  </m:oMath>
                </a14:m>
                <a:r>
                  <a:rPr sz="2400" b="1">
                    <a:solidFill>
                      <a:srgbClr val="991B1B"/>
                    </a:solidFill>
                    <a:latin typeface="Calibri"/>
                  </a:rPr>
                  <a:t> là 23 m (khác độ dời 9 m)</a:t>
                </a:r>
              </a:p>
            </p:txBody>
          </p:sp>
        </mc:Choice>
        <mc:Fallback>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Quãng đường trong </a:t>
                </a:r>
                <a:r>
                  <a:rPr lang="vi-VN"/>
                  <a:t>[0;3]</a:t>
                </a:r>
                <a:r>
                  <a:rPr sz="2400" b="1">
                    <a:solidFill>
                      <a:srgbClr val="991B1B"/>
                    </a:solidFill>
                    <a:latin typeface="Calibri"/>
                  </a:rPr>
                  <a:t> là 23 m (khác độ dời 9 m)</a:t>
                </a: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1.27: CHI PHÍ BIÊN (MỨC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47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926080"/>
              </a:xfrm>
              <a:prstGeom prst="rect">
                <a:avLst/>
              </a:prstGeom>
              <a:noFill/>
            </p:spPr>
            <p:txBody>
              <a:bodyPr wrap="square" anchor="t" lIns="45720" rIns="45720">
                <a:spAutoFit/>
              </a:bodyPr>
              <a:lstStyle/>
              <a:p>
                <a:pPr algn="l">
                  <a:spcAft>
                    <a:spcPts val="800"/>
                  </a:spcAft>
                </a:pPr>
                <a:r>
                  <a:rPr sz="2400">
                    <a:solidFill>
                      <a:srgbClr val="1E293B"/>
                    </a:solidFill>
                    <a:latin typeface="Calibri"/>
                  </a:rPr>
                  <a:t>Giả sử chi phí (tính bằng trăm nghìn đồng) để sản xuất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x</m:t>
                    </m:r>
                  </m:oMath>
                </a14:m>
                <a:r>
                  <a:rPr sz="2400">
                    <a:solidFill>
                      <a:srgbClr val="1E293B"/>
                    </a:solidFill>
                    <a:latin typeface="Calibri"/>
                  </a:rPr>
                  <a:t> đơn vị hàng hoá nào đó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C(x)=23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000+50x−0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00175</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3</m:t>
                        </m:r>
                      </m:sup>
                    </m:sSup>
                  </m:oMath>
                </a14:m>
                <a:r>
                  <a:rPr sz="2400">
                    <a:solidFill>
                      <a:srgbClr val="1E293B"/>
                    </a:solidFill>
                    <a:latin typeface="Calibri"/>
                  </a:rPr>
                  <a:t>.</a:t>
                </a:r>
              </a:p>
              <a:p>
                <a:pPr algn="l">
                  <a:spcAft>
                    <a:spcPts val="800"/>
                  </a:spcAft>
                </a:pPr>
                <a:r>
                  <a:rPr sz="2400">
                    <a:solidFill>
                      <a:srgbClr val="1E293B"/>
                    </a:solidFill>
                    <a:latin typeface="Calibri"/>
                  </a:rPr>
                  <a:t>a) Tìm hàm chi phí biên.</a:t>
                </a:r>
              </a:p>
              <a:p>
                <a:pPr algn="l">
                  <a:spcAft>
                    <a:spcPts val="800"/>
                  </a:spcAft>
                </a:pPr>
                <a:r>
                  <a:rPr sz="2400">
                    <a:solidFill>
                      <a:srgbClr val="1E293B"/>
                    </a:solidFill>
                    <a:latin typeface="Calibri"/>
                  </a:rPr>
                  <a:t>b) Tìm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(100)</m:t>
                    </m:r>
                  </m:oMath>
                </a14:m>
                <a:r>
                  <a:rPr sz="2400">
                    <a:solidFill>
                      <a:srgbClr val="1E293B"/>
                    </a:solidFill>
                    <a:latin typeface="Calibri"/>
                  </a:rPr>
                  <a:t> và giải thích ý nghĩa của nó.</a:t>
                </a:r>
              </a:p>
              <a:p>
                <a:pPr algn="l">
                  <a:spcAft>
                    <a:spcPts val="800"/>
                  </a:spcAft>
                </a:pPr>
                <a:r>
                  <a:rPr sz="2400">
                    <a:solidFill>
                      <a:srgbClr val="1E293B"/>
                    </a:solidFill>
                    <a:latin typeface="Calibri"/>
                  </a:rPr>
                  <a:t>c) So sánh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(100)</m:t>
                    </m:r>
                  </m:oMath>
                </a14:m>
                <a:r>
                  <a:rPr sz="2400">
                    <a:solidFill>
                      <a:srgbClr val="1E293B"/>
                    </a:solidFill>
                    <a:latin typeface="Calibri"/>
                  </a:rPr>
                  <a:t> với chi phí sản xuất đơn vị hàng hoá thứ 101.</a:t>
                </a:r>
              </a:p>
              <a:p>
                <a:pPr algn="l">
                  <a:spcAft>
                    <a:spcPts val="800"/>
                  </a:spcAft>
                </a:pPr>
                <a:r>
                  <a:rPr sz="2400" b="1">
                    <a:solidFill>
                      <a:srgbClr val="1E40AF"/>
                    </a:solidFill>
                    <a:latin typeface="Calibri"/>
                  </a:rPr>
                  <a:t>Gợi mở: So sánh </a:t>
                </a:r>
                <a14:m>
                  <m:oMath xmlns:m="http://schemas.openxmlformats.org/officeDocument/2006/math">
                    <m:sSup>
                      <m:e>
                        <m:r>
                          <a:rPr lang="vi-VN" sz="2400" b="1">
                            <a:solidFill>
                              <a:srgbClr val="1E40AF"/>
                            </a:solidFill>
                            <a:latin typeface="Cambria Math" panose="02040503050406030204" pitchFamily="18" charset="0"/>
                          </a:rPr>
                          <m:t>C</m:t>
                        </m:r>
                      </m:e>
                      <m:sup>
                        <m:r>
                          <a:rPr lang="vi-VN" sz="2400" b="1">
                            <a:solidFill>
                              <a:srgbClr val="1E40AF"/>
                            </a:solidFill>
                            <a:latin typeface="Cambria Math" panose="02040503050406030204" pitchFamily="18" charset="0"/>
                          </a:rPr>
                          <m:t>′</m:t>
                        </m:r>
                      </m:sup>
                    </m:sSup>
                    <m:r>
                      <a:rPr lang="vi-VN" sz="2400" b="1">
                        <a:solidFill>
                          <a:srgbClr val="1E40AF"/>
                        </a:solidFill>
                        <a:latin typeface="Cambria Math" panose="02040503050406030204" pitchFamily="18" charset="0"/>
                      </a:rPr>
                      <m:t>(100)</m:t>
                    </m:r>
                  </m:oMath>
                </a14:m>
                <a:r>
                  <a:rPr sz="2400" b="1">
                    <a:solidFill>
                      <a:srgbClr val="1E40AF"/>
                    </a:solidFill>
                    <a:latin typeface="Calibri"/>
                  </a:rPr>
                  <a:t> với </a:t>
                </a:r>
                <a14:m>
                  <m:oMath xmlns:m="http://schemas.openxmlformats.org/officeDocument/2006/math">
                    <m:r>
                      <a:rPr lang="vi-VN" sz="2400" b="1">
                        <a:solidFill>
                          <a:srgbClr val="1E40AF"/>
                        </a:solidFill>
                        <a:latin typeface="Cambria Math" panose="02040503050406030204" pitchFamily="18" charset="0"/>
                      </a:rPr>
                      <m:t>C(101)−C(100)</m:t>
                    </m:r>
                  </m:oMath>
                </a14:m>
              </a:p>
            </p:txBody>
          </p:sp>
        </mc:Choice>
        <mc:Fallback>
          <p:sp>
            <p:nvSpPr>
              <p:cNvPr id="7" name="TextBox 6"/>
              <p:cNvSpPr txBox="1"/>
              <p:nvPr/>
            </p:nvSpPr>
            <p:spPr>
              <a:xfrm>
                <a:off x="731520" y="1463040"/>
                <a:ext cx="10789920" cy="2926080"/>
              </a:xfrm>
              <a:prstGeom prst="rect">
                <a:avLst/>
              </a:prstGeom>
              <a:noFill/>
            </p:spPr>
            <p:txBody>
              <a:bodyPr wrap="square" anchor="t" lIns="45720" rIns="45720">
                <a:spAutoFit/>
              </a:bodyPr>
              <a:lstStyle/>
              <a:p>
                <a:pPr algn="l">
                  <a:spcAft>
                    <a:spcPts val="800"/>
                  </a:spcAft>
                </a:pPr>
                <a:r>
                  <a:rPr sz="2400">
                    <a:solidFill>
                      <a:srgbClr val="1E293B"/>
                    </a:solidFill>
                    <a:latin typeface="Calibri"/>
                  </a:rPr>
                  <a:t>Giả sử chi phí (tính bằng trăm nghìn đồng) để sản xuất </a:t>
                </a:r>
                <a:r>
                  <a:rPr lang="vi-VN"/>
                  <a:t>x</a:t>
                </a:r>
                <a:r>
                  <a:rPr sz="2400">
                    <a:solidFill>
                      <a:srgbClr val="1E293B"/>
                    </a:solidFill>
                    <a:latin typeface="Calibri"/>
                  </a:rPr>
                  <a:t> đơn vị hàng hoá nào đó là </a:t>
                </a:r>
                <a:r>
                  <a:rPr lang="vi-VN"/>
                  <a:t>C(x)=23 000+50x−0,5x^2+0,00175x^3</a:t>
                </a:r>
                <a:r>
                  <a:rPr sz="2400">
                    <a:solidFill>
                      <a:srgbClr val="1E293B"/>
                    </a:solidFill>
                    <a:latin typeface="Calibri"/>
                  </a:rPr>
                  <a:t>.</a:t>
                </a:r>
              </a:p>
              <a:p>
                <a:pPr algn="l">
                  <a:spcAft>
                    <a:spcPts val="800"/>
                  </a:spcAft>
                </a:pPr>
                <a:r>
                  <a:rPr sz="2400">
                    <a:solidFill>
                      <a:srgbClr val="1E293B"/>
                    </a:solidFill>
                    <a:latin typeface="Calibri"/>
                  </a:rPr>
                  <a:t>a) Tìm hàm chi phí biên.</a:t>
                </a:r>
              </a:p>
              <a:p>
                <a:pPr algn="l">
                  <a:spcAft>
                    <a:spcPts val="800"/>
                  </a:spcAft>
                </a:pPr>
                <a:r>
                  <a:rPr sz="2400">
                    <a:solidFill>
                      <a:srgbClr val="1E293B"/>
                    </a:solidFill>
                    <a:latin typeface="Calibri"/>
                  </a:rPr>
                  <a:t>b) Tìm </a:t>
                </a:r>
                <a:r>
                  <a:rPr lang="vi-VN"/>
                  <a:t>C^′(100)</a:t>
                </a:r>
                <a:r>
                  <a:rPr sz="2400">
                    <a:solidFill>
                      <a:srgbClr val="1E293B"/>
                    </a:solidFill>
                    <a:latin typeface="Calibri"/>
                  </a:rPr>
                  <a:t> và giải thích ý nghĩa của nó.</a:t>
                </a:r>
              </a:p>
              <a:p>
                <a:pPr algn="l">
                  <a:spcAft>
                    <a:spcPts val="800"/>
                  </a:spcAft>
                </a:pPr>
                <a:r>
                  <a:rPr sz="2400">
                    <a:solidFill>
                      <a:srgbClr val="1E293B"/>
                    </a:solidFill>
                    <a:latin typeface="Calibri"/>
                  </a:rPr>
                  <a:t>c) So sánh </a:t>
                </a:r>
                <a:r>
                  <a:rPr lang="vi-VN"/>
                  <a:t>C^′(100)</a:t>
                </a:r>
                <a:r>
                  <a:rPr sz="2400">
                    <a:solidFill>
                      <a:srgbClr val="1E293B"/>
                    </a:solidFill>
                    <a:latin typeface="Calibri"/>
                  </a:rPr>
                  <a:t> với chi phí sản xuất đơn vị hàng hoá thứ 101.</a:t>
                </a:r>
              </a:p>
              <a:p>
                <a:pPr algn="l">
                  <a:spcAft>
                    <a:spcPts val="800"/>
                  </a:spcAft>
                </a:pPr>
                <a:r>
                  <a:rPr sz="2400" b="1">
                    <a:solidFill>
                      <a:srgbClr val="1E40AF"/>
                    </a:solidFill>
                    <a:latin typeface="Calibri"/>
                  </a:rPr>
                  <a:t>Gợi mở: So sánh </a:t>
                </a:r>
                <a:r>
                  <a:rPr lang="vi-VN"/>
                  <a:t>C'(100)</a:t>
                </a:r>
                <a:r>
                  <a:rPr sz="2400" b="1">
                    <a:solidFill>
                      <a:srgbClr val="1E40AF"/>
                    </a:solidFill>
                    <a:latin typeface="Calibri"/>
                  </a:rPr>
                  <a:t> với </a:t>
                </a:r>
                <a:r>
                  <a:rPr lang="vi-VN"/>
                  <a:t>C(101)-C(100)</a:t>
                </a: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1.27: CHI PHÍ BIÊN (MỨC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48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(x)=50−x+0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00525</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(100)=50−100+52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m:t>
                    </m:r>
                  </m:oMath>
                </a14:m>
                <a:r>
                  <a:rPr sz="2400">
                    <a:solidFill>
                      <a:srgbClr val="1E293B"/>
                    </a:solidFill>
                    <a:latin typeface="Calibri"/>
                  </a:rPr>
                  <a:t> (trăm nghìn đồng)</a:t>
                </a:r>
              </a:p>
              <a:p>
                <a:pPr algn="l" marL="365760" indent="-365760">
                  <a:spcAft>
                    <a:spcPts val="800"/>
                  </a:spcAft>
                  <a:buClr>
                    <a:srgbClr val="1E40AF"/>
                  </a:buClr>
                  <a:buFont typeface="Arial"/>
                  <a:buChar char="•"/>
                </a:pPr>
                <a:r>
                  <a:rPr sz="2400">
                    <a:solidFill>
                      <a:srgbClr val="1E293B"/>
                    </a:solidFill>
                    <a:latin typeface="Calibri"/>
                  </a:rPr>
                  <a:t>c) </a:t>
                </a:r>
                <a14:m>
                  <m:oMath xmlns:m="http://schemas.openxmlformats.org/officeDocument/2006/math">
                    <m:r>
                      <a:rPr lang="vi-VN" sz="2400" b="0">
                        <a:solidFill>
                          <a:srgbClr val="1E293B"/>
                        </a:solidFill>
                        <a:latin typeface="Cambria Math" panose="02040503050406030204" pitchFamily="18" charset="0"/>
                      </a:rPr>
                      <m:t>C(101)−C(100)≈2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53</m:t>
                    </m:r>
                  </m:oMath>
                </a14:m>
                <a:r>
                  <a:rPr sz="2400">
                    <a:solidFill>
                      <a:srgbClr val="1E293B"/>
                    </a:solidFill>
                    <a:latin typeface="Calibri"/>
                  </a:rPr>
                  <a:t> (trăm nghìn đồng)</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C'(x)=50-x+0{,}00525x^2</a:t>
                </a:r>
              </a:p>
              <a:p>
                <a:pPr algn="l" marL="365760" indent="-365760">
                  <a:spcAft>
                    <a:spcPts val="800"/>
                  </a:spcAft>
                  <a:buClr>
                    <a:srgbClr val="1E40AF"/>
                  </a:buClr>
                  <a:buFont typeface="Arial"/>
                  <a:buChar char="•"/>
                </a:pPr>
                <a:r>
                  <a:rPr sz="2400">
                    <a:solidFill>
                      <a:srgbClr val="1E293B"/>
                    </a:solidFill>
                    <a:latin typeface="Calibri"/>
                  </a:rPr>
                  <a:t>b) </a:t>
                </a:r>
                <a:r>
                  <a:rPr lang="vi-VN"/>
                  <a:t>C'(100)=50-100+52{,}5=2{,}5</a:t>
                </a:r>
                <a:r>
                  <a:rPr sz="2400">
                    <a:solidFill>
                      <a:srgbClr val="1E293B"/>
                    </a:solidFill>
                    <a:latin typeface="Calibri"/>
                  </a:rPr>
                  <a:t> (trăm nghìn đồng)</a:t>
                </a:r>
              </a:p>
              <a:p>
                <a:pPr algn="l" marL="365760" indent="-365760">
                  <a:spcAft>
                    <a:spcPts val="800"/>
                  </a:spcAft>
                  <a:buClr>
                    <a:srgbClr val="1E40AF"/>
                  </a:buClr>
                  <a:buFont typeface="Arial"/>
                  <a:buChar char="•"/>
                </a:pPr>
                <a:r>
                  <a:rPr sz="2400">
                    <a:solidFill>
                      <a:srgbClr val="1E293B"/>
                    </a:solidFill>
                    <a:latin typeface="Calibri"/>
                  </a:rPr>
                  <a:t>c) </a:t>
                </a:r>
                <a:r>
                  <a:rPr lang="vi-VN"/>
                  <a:t>C(101)-C(100)\approx 2{,}53</a:t>
                </a:r>
                <a:r>
                  <a:rPr sz="2400">
                    <a:solidFill>
                      <a:srgbClr val="1E293B"/>
                    </a:solidFill>
                    <a:latin typeface="Calibri"/>
                  </a:rPr>
                  <a:t> (trăm nghìn đồng)</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Chi phí sản xuất thêm đơn vị thứ 101 khoảng 250 nghìn đồng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1.28: GIÁ THUÊ CĂN HỘ (MỨC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49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00655"/>
              </a:xfrm>
              <a:prstGeom prst="rect">
                <a:avLst/>
              </a:prstGeom>
              <a:noFill/>
            </p:spPr>
            <p:txBody>
              <a:bodyPr wrap="square" anchor="t" lIns="45720" rIns="45720">
                <a:spAutoFit/>
              </a:bodyPr>
              <a:lstStyle/>
              <a:p>
                <a:pPr algn="l">
                  <a:spcAft>
                    <a:spcPts val="800"/>
                  </a:spcAft>
                </a:pPr>
                <a:r>
                  <a:rPr sz="2000">
                    <a:solidFill>
                      <a:srgbClr val="1E293B"/>
                    </a:solidFill>
                    <a:latin typeface="Calibri"/>
                  </a:rPr>
                  <a:t>Người quản lí của một khu chung cư có 100 căn hộ cho thuê nhận thấy rằng tất cả các căn hộ sẽ có người thuê nếu giá thuê một căn hộ là 8 triệu đồng một tháng. Một cuộc khảo sát thị trường cho thấy rằng, trung bình cứ mỗi lần tăng giá thuê căn hộ thêm 100 nghìn đồng thì sẽ có thêm một căn hộ bị bỏ trống. Người quản lí nên đặt giá thuê mỗi căn hộ là bao nhiêu để doanh thu là lớn nhất?</a:t>
                </a:r>
              </a:p>
              <a:p>
                <a:pPr algn="l">
                  <a:spcAft>
                    <a:spcPts val="800"/>
                  </a:spcAft>
                </a:pPr>
                <a:r>
                  <a:rPr sz="2000" b="1">
                    <a:solidFill>
                      <a:srgbClr val="1E40AF"/>
                    </a:solidFill>
                    <a:latin typeface="Calibri"/>
                  </a:rPr>
                  <a:t>Gợi mở: Gọi </a:t>
                </a:r>
                <a14:m>
                  <m:oMath xmlns:m="http://schemas.openxmlformats.org/officeDocument/2006/math">
                    <m:r>
                      <a:rPr lang="vi-VN" sz="2000" b="1">
                        <a:solidFill>
                          <a:srgbClr val="1E40AF"/>
                        </a:solidFill>
                        <a:latin typeface="Cambria Math" panose="02040503050406030204" pitchFamily="18" charset="0"/>
                      </a:rPr>
                      <m:t>n</m:t>
                    </m:r>
                  </m:oMath>
                </a14:m>
                <a:r>
                  <a:rPr sz="2000" b="1">
                    <a:solidFill>
                      <a:srgbClr val="1E40AF"/>
                    </a:solidFill>
                    <a:latin typeface="Calibri"/>
                  </a:rPr>
                  <a:t> là số lần tăng giá 100 nghìn đồng</a:t>
                </a:r>
              </a:p>
            </p:txBody>
          </p:sp>
        </mc:Choice>
        <mc:Fallback>
          <p:sp>
            <p:nvSpPr>
              <p:cNvPr id="7" name="TextBox 6"/>
              <p:cNvSpPr txBox="1"/>
              <p:nvPr/>
            </p:nvSpPr>
            <p:spPr>
              <a:xfrm>
                <a:off x="731520" y="1463040"/>
                <a:ext cx="10789920" cy="2200655"/>
              </a:xfrm>
              <a:prstGeom prst="rect">
                <a:avLst/>
              </a:prstGeom>
              <a:noFill/>
            </p:spPr>
            <p:txBody>
              <a:bodyPr wrap="square" anchor="t" lIns="45720" rIns="45720">
                <a:spAutoFit/>
              </a:bodyPr>
              <a:lstStyle/>
              <a:p>
                <a:pPr algn="l">
                  <a:spcAft>
                    <a:spcPts val="800"/>
                  </a:spcAft>
                </a:pPr>
                <a:r>
                  <a:rPr sz="2000">
                    <a:solidFill>
                      <a:srgbClr val="1E293B"/>
                    </a:solidFill>
                    <a:latin typeface="Calibri"/>
                  </a:rPr>
                  <a:t>Người quản lí của một khu chung cư có 100 căn hộ cho thuê nhận thấy rằng tất cả các căn hộ sẽ có người thuê nếu giá thuê một căn hộ là 8 triệu đồng một tháng. Một cuộc khảo sát thị trường cho thấy rằng, trung bình cứ mỗi lần tăng giá thuê căn hộ thêm 100 nghìn đồng thì sẽ có thêm một căn hộ bị bỏ trống. Người quản lí nên đặt giá thuê mỗi căn hộ là bao nhiêu để doanh thu là lớn nhất?</a:t>
                </a:r>
              </a:p>
              <a:p>
                <a:pPr algn="l">
                  <a:spcAft>
                    <a:spcPts val="800"/>
                  </a:spcAft>
                </a:pPr>
                <a:r>
                  <a:rPr sz="2000" b="1">
                    <a:solidFill>
                      <a:srgbClr val="1E40AF"/>
                    </a:solidFill>
                    <a:latin typeface="Calibri"/>
                  </a:rPr>
                  <a:t>Gợi mở: Gọi </a:t>
                </a:r>
                <a:r>
                  <a:rPr lang="vi-VN"/>
                  <a:t>n</a:t>
                </a:r>
                <a:r>
                  <a:rPr sz="2000" b="1">
                    <a:solidFill>
                      <a:srgbClr val="1E40AF"/>
                    </a:solidFill>
                    <a:latin typeface="Calibri"/>
                  </a:rPr>
                  <a:t> là số lần tăng giá 100 nghìn đồng</a:t>
                </a: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1.28: GIÁ THUÊ CĂN HỘ (MỨC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50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Giá </a:t>
                </a:r>
                <a14:m>
                  <m:oMath xmlns:m="http://schemas.openxmlformats.org/officeDocument/2006/math">
                    <m:r>
                      <a:rPr lang="vi-VN" sz="2400" b="0">
                        <a:solidFill>
                          <a:srgbClr val="1E293B"/>
                        </a:solidFill>
                        <a:latin typeface="Cambria Math" panose="02040503050406030204" pitchFamily="18" charset="0"/>
                      </a:rPr>
                      <m:t>8+0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1n</m:t>
                    </m:r>
                  </m:oMath>
                </a14:m>
                <a:r>
                  <a:rPr sz="2400">
                    <a:solidFill>
                      <a:srgbClr val="1E293B"/>
                    </a:solidFill>
                    <a:latin typeface="Calibri"/>
                  </a:rPr>
                  <a:t> (triệu đồng), số căn có người thuê </a:t>
                </a:r>
                <a14:m>
                  <m:oMath xmlns:m="http://schemas.openxmlformats.org/officeDocument/2006/math">
                    <m:r>
                      <a:rPr lang="vi-VN" sz="2400" b="0">
                        <a:solidFill>
                          <a:srgbClr val="1E293B"/>
                        </a:solidFill>
                        <a:latin typeface="Cambria Math" panose="02040503050406030204" pitchFamily="18" charset="0"/>
                      </a:rPr>
                      <m:t>100−n</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0≤n≤100</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R(n)=(8+0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1n)(100−n)</m:t>
                    </m:r>
                  </m:oMath>
                </a14:m>
              </a:p>
              <a:p>
                <a:pPr algn="l" marL="365760" indent="-365760">
                  <a:spcAft>
                    <a:spcPts val="800"/>
                  </a:spcAft>
                  <a:buClr>
                    <a:srgbClr val="1E40AF"/>
                  </a:buClr>
                  <a:buFont typeface="Arial"/>
                  <a:buChar char="•"/>
                </a:pPr>
                <a14:m>
                  <m:oMath xmlns:m="http://schemas.openxmlformats.org/officeDocument/2006/math">
                    <m:sSup>
                      <m:e>
                        <m:r>
                          <a:rPr lang="vi-VN" sz="2400" b="0">
                            <a:solidFill>
                              <a:srgbClr val="1E293B"/>
                            </a:solidFill>
                            <a:latin typeface="Cambria Math" panose="02040503050406030204" pitchFamily="18" charset="0"/>
                          </a:rPr>
                          <m:t>R</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(n)=2−0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2n=0⇔n=10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R(10)=810</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Giá </a:t>
                </a:r>
                <a:r>
                  <a:rPr lang="vi-VN"/>
                  <a:t>8+0{,}1n</a:t>
                </a:r>
                <a:r>
                  <a:rPr sz="2400">
                    <a:solidFill>
                      <a:srgbClr val="1E293B"/>
                    </a:solidFill>
                    <a:latin typeface="Calibri"/>
                  </a:rPr>
                  <a:t> (triệu đồng), số căn có người thuê </a:t>
                </a:r>
                <a:r>
                  <a:rPr lang="vi-VN"/>
                  <a:t>100-n</a:t>
                </a:r>
                <a:r>
                  <a:rPr sz="2400">
                    <a:solidFill>
                      <a:srgbClr val="1E293B"/>
                    </a:solidFill>
                    <a:latin typeface="Calibri"/>
                  </a:rPr>
                  <a:t>, </a:t>
                </a:r>
                <a:r>
                  <a:rPr lang="vi-VN"/>
                  <a:t>0\le n\le 100</a:t>
                </a:r>
              </a:p>
              <a:p>
                <a:pPr algn="l" marL="365760" indent="-365760">
                  <a:spcAft>
                    <a:spcPts val="800"/>
                  </a:spcAft>
                  <a:buClr>
                    <a:srgbClr val="1E40AF"/>
                  </a:buClr>
                  <a:buFont typeface="Arial"/>
                  <a:buChar char="•"/>
                </a:pPr>
                <a:r>
                  <a:rPr lang="vi-VN"/>
                  <a:t>R(n)=(8+0{,}1n)(100-n)</a:t>
                </a:r>
              </a:p>
              <a:p>
                <a:pPr algn="l" marL="365760" indent="-365760">
                  <a:spcAft>
                    <a:spcPts val="800"/>
                  </a:spcAft>
                  <a:buClr>
                    <a:srgbClr val="1E40AF"/>
                  </a:buClr>
                  <a:buFont typeface="Arial"/>
                  <a:buChar char="•"/>
                </a:pPr>
                <a:r>
                  <a:rPr lang="vi-VN"/>
                  <a:t>R'(n)=2-0{,}2n=0\Leftrightarrow n=10</a:t>
                </a:r>
                <a:r>
                  <a:rPr sz="2400">
                    <a:solidFill>
                      <a:srgbClr val="1E293B"/>
                    </a:solidFill>
                    <a:latin typeface="Calibri"/>
                  </a:rPr>
                  <a:t>; </a:t>
                </a:r>
                <a:r>
                  <a:rPr lang="vi-VN"/>
                  <a:t>R(10)=810</a:t>
                </a:r>
              </a:p>
            </p:txBody>
          </p:sp>
        </mc:Fallback>
      </mc:AlternateContent>
      <p:sp>
        <p:nvSpPr>
          <p:cNvPr id="8" name="Rounded Rectangle 7"/>
          <p:cNvSpPr/>
          <p:nvPr/>
        </p:nvSpPr>
        <p:spPr>
          <a:xfrm>
            <a:off x="731520" y="3118104"/>
            <a:ext cx="9601200" cy="11887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11887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Giá thuê 9 triệu đồng/tháng, doanh thu lớn nhất 810 triệu đồng/tháng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1.29: HÀM CẦU (MỨC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51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62837"/>
              </a:xfrm>
              <a:prstGeom prst="rect">
                <a:avLst/>
              </a:prstGeom>
              <a:noFill/>
            </p:spPr>
            <p:txBody>
              <a:bodyPr wrap="square" anchor="t" lIns="45720" rIns="45720">
                <a:spAutoFit/>
              </a:bodyPr>
              <a:lstStyle/>
              <a:p>
                <a:pPr algn="l">
                  <a:spcAft>
                    <a:spcPts val="800"/>
                  </a:spcAft>
                </a:pPr>
                <a:r>
                  <a:rPr sz="2200">
                    <a:solidFill>
                      <a:srgbClr val="1E293B"/>
                    </a:solidFill>
                    <a:latin typeface="Calibri"/>
                  </a:rPr>
                  <a:t>Giả sử hàm cầu đối với một loại hàng hoá được cho bởi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p=</m:t>
                    </m:r>
                    <m:f>
                      <m:fPr>
                        <m:type m:val="bar"/>
                      </m:fPr>
                      <m:num>
                        <m:r>
                          <a:rPr lang="vi-VN" sz="2200" b="0">
                            <a:solidFill>
                              <a:srgbClr val="1E293B"/>
                            </a:solidFill>
                            <a:latin typeface="Cambria Math" panose="02040503050406030204" pitchFamily="18" charset="0"/>
                          </a:rPr>
                          <m:t>354</m:t>
                        </m:r>
                      </m:num>
                      <m:den>
                        <m:r>
                          <a:rPr lang="vi-VN" sz="2200" b="0">
                            <a:solidFill>
                              <a:srgbClr val="1E293B"/>
                            </a:solidFill>
                            <a:latin typeface="Cambria Math" panose="02040503050406030204" pitchFamily="18" charset="0"/>
                          </a:rPr>
                          <m:t>1+0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01x</m:t>
                        </m:r>
                      </m:den>
                    </m:f>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x≥0</m:t>
                    </m:r>
                  </m:oMath>
                </a14:m>
                <a:r>
                  <a:rPr sz="2200">
                    <a:solidFill>
                      <a:srgbClr val="1E293B"/>
                    </a:solidFill>
                    <a:latin typeface="Calibri"/>
                  </a:rPr>
                  <a:t>, trong đó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p</m:t>
                    </m:r>
                  </m:oMath>
                </a14:m>
                <a:r>
                  <a:rPr sz="2200">
                    <a:solidFill>
                      <a:srgbClr val="1E293B"/>
                    </a:solidFill>
                    <a:latin typeface="Calibri"/>
                  </a:rPr>
                  <a:t> là giá bán (nghìn đồng) của mỗi đơn vị sản phẩm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x</m:t>
                    </m:r>
                  </m:oMath>
                </a14:m>
                <a:r>
                  <a:rPr sz="2200">
                    <a:solidFill>
                      <a:srgbClr val="1E293B"/>
                    </a:solidFill>
                    <a:latin typeface="Calibri"/>
                  </a:rPr>
                  <a:t> là số lượng đơn vị sản phẩm đã bán.</a:t>
                </a:r>
              </a:p>
            </p:txBody>
          </p:sp>
        </mc:Choice>
        <mc:Fallback>
          <p:sp>
            <p:nvSpPr>
              <p:cNvPr id="7" name="TextBox 6"/>
              <p:cNvSpPr txBox="1"/>
              <p:nvPr/>
            </p:nvSpPr>
            <p:spPr>
              <a:xfrm>
                <a:off x="731520" y="1463040"/>
                <a:ext cx="10789920" cy="1362837"/>
              </a:xfrm>
              <a:prstGeom prst="rect">
                <a:avLst/>
              </a:prstGeom>
              <a:noFill/>
            </p:spPr>
            <p:txBody>
              <a:bodyPr wrap="square" anchor="t" lIns="45720" rIns="45720">
                <a:spAutoFit/>
              </a:bodyPr>
              <a:lstStyle/>
              <a:p>
                <a:pPr algn="l">
                  <a:spcAft>
                    <a:spcPts val="800"/>
                  </a:spcAft>
                </a:pPr>
                <a:r>
                  <a:rPr sz="2200">
                    <a:solidFill>
                      <a:srgbClr val="1E293B"/>
                    </a:solidFill>
                    <a:latin typeface="Calibri"/>
                  </a:rPr>
                  <a:t>Giả sử hàm cầu đối với một loại hàng hoá được cho bởi công thức </a:t>
                </a:r>
                <a:r>
                  <a:rPr lang="vi-VN"/>
                  <a:t>p=354/(1+0,01x)</a:t>
                </a:r>
                <a:r>
                  <a:rPr sz="2200">
                    <a:solidFill>
                      <a:srgbClr val="1E293B"/>
                    </a:solidFill>
                    <a:latin typeface="Calibri"/>
                  </a:rPr>
                  <a:t>, </a:t>
                </a:r>
                <a:r>
                  <a:rPr lang="vi-VN"/>
                  <a:t>x≥0</a:t>
                </a:r>
                <a:r>
                  <a:rPr sz="2200">
                    <a:solidFill>
                      <a:srgbClr val="1E293B"/>
                    </a:solidFill>
                    <a:latin typeface="Calibri"/>
                  </a:rPr>
                  <a:t>, trong đó </a:t>
                </a:r>
                <a:r>
                  <a:rPr lang="vi-VN"/>
                  <a:t>p</a:t>
                </a:r>
                <a:r>
                  <a:rPr sz="2200">
                    <a:solidFill>
                      <a:srgbClr val="1E293B"/>
                    </a:solidFill>
                    <a:latin typeface="Calibri"/>
                  </a:rPr>
                  <a:t> là giá bán (nghìn đồng) của mỗi đơn vị sản phẩm và </a:t>
                </a:r>
                <a:r>
                  <a:rPr lang="vi-VN"/>
                  <a:t>x</a:t>
                </a:r>
                <a:r>
                  <a:rPr sz="2200">
                    <a:solidFill>
                      <a:srgbClr val="1E293B"/>
                    </a:solidFill>
                    <a:latin typeface="Calibri"/>
                  </a:rPr>
                  <a:t> là số lượng đơn vị sản phẩm đã bán.</a:t>
                </a: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1.29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52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672336"/>
              </a:xfrm>
              <a:prstGeom prst="rect">
                <a:avLst/>
              </a:prstGeom>
              <a:noFill/>
            </p:spPr>
            <p:txBody>
              <a:bodyPr wrap="square" anchor="t" lIns="45720" rIns="45720">
                <a:spAutoFit/>
              </a:bodyPr>
              <a:lstStyle/>
              <a:p>
                <a:pPr algn="l">
                  <a:spcAft>
                    <a:spcPts val="800"/>
                  </a:spcAft>
                </a:pPr>
                <a:r>
                  <a:rPr sz="2200">
                    <a:solidFill>
                      <a:srgbClr val="1E293B"/>
                    </a:solidFill>
                    <a:latin typeface="Calibri"/>
                  </a:rPr>
                  <a:t>a) Tìm công thức tính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x</m:t>
                    </m:r>
                  </m:oMath>
                </a14:m>
                <a:r>
                  <a:rPr sz="2200">
                    <a:solidFill>
                      <a:srgbClr val="1E293B"/>
                    </a:solidFill>
                    <a:latin typeface="Calibri"/>
                  </a:rPr>
                  <a:t> như là hàm số của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p</m:t>
                    </m:r>
                  </m:oMath>
                </a14:m>
                <a:r>
                  <a:rPr sz="2200">
                    <a:solidFill>
                      <a:srgbClr val="1E293B"/>
                    </a:solidFill>
                    <a:latin typeface="Calibri"/>
                  </a:rPr>
                  <a:t>. Tìm tập xác định của hàm số này. Tính số đơn vị sản phẩm đã bán khi giá bán của mỗi đơn vị sản phẩm là 240 nghìn đồng.</a:t>
                </a:r>
              </a:p>
              <a:p>
                <a:pPr algn="l">
                  <a:spcAft>
                    <a:spcPts val="800"/>
                  </a:spcAft>
                </a:pPr>
                <a:r>
                  <a:rPr sz="2200">
                    <a:solidFill>
                      <a:srgbClr val="1E293B"/>
                    </a:solidFill>
                    <a:latin typeface="Calibri"/>
                  </a:rPr>
                  <a:t>b) Khảo sát sự biến thiên và vẽ đồ thị của hàm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x=x(p)</m:t>
                    </m:r>
                  </m:oMath>
                </a14:m>
                <a:r>
                  <a:rPr sz="2200">
                    <a:solidFill>
                      <a:srgbClr val="1E293B"/>
                    </a:solidFill>
                    <a:latin typeface="Calibri"/>
                  </a:rPr>
                  <a:t>.</a:t>
                </a:r>
                <a:r>
                  <a:rPr sz="2200">
                    <a:solidFill>
                      <a:srgbClr val="1E293B"/>
                    </a:solidFill>
                    <a:latin typeface="Calibri"/>
                  </a:rPr>
                  <a:t> </a:t>
                </a:r>
              </a:p>
            </p:txBody>
          </p:sp>
        </mc:Choice>
        <mc:Fallback>
          <p:sp>
            <p:nvSpPr>
              <p:cNvPr id="7" name="TextBox 6"/>
              <p:cNvSpPr txBox="1"/>
              <p:nvPr/>
            </p:nvSpPr>
            <p:spPr>
              <a:xfrm>
                <a:off x="731520" y="1463040"/>
                <a:ext cx="10789920" cy="1672336"/>
              </a:xfrm>
              <a:prstGeom prst="rect">
                <a:avLst/>
              </a:prstGeom>
              <a:noFill/>
            </p:spPr>
            <p:txBody>
              <a:bodyPr wrap="square" anchor="t" lIns="45720" rIns="45720">
                <a:spAutoFit/>
              </a:bodyPr>
              <a:lstStyle/>
              <a:p>
                <a:pPr algn="l">
                  <a:spcAft>
                    <a:spcPts val="800"/>
                  </a:spcAft>
                </a:pPr>
                <a:r>
                  <a:rPr sz="2200">
                    <a:solidFill>
                      <a:srgbClr val="1E293B"/>
                    </a:solidFill>
                    <a:latin typeface="Calibri"/>
                  </a:rPr>
                  <a:t>a) Tìm công thức tính </a:t>
                </a:r>
                <a:r>
                  <a:rPr lang="vi-VN"/>
                  <a:t>x</a:t>
                </a:r>
                <a:r>
                  <a:rPr sz="2200">
                    <a:solidFill>
                      <a:srgbClr val="1E293B"/>
                    </a:solidFill>
                    <a:latin typeface="Calibri"/>
                  </a:rPr>
                  <a:t> như là hàm số của </a:t>
                </a:r>
                <a:r>
                  <a:rPr lang="vi-VN"/>
                  <a:t>p</a:t>
                </a:r>
                <a:r>
                  <a:rPr sz="2200">
                    <a:solidFill>
                      <a:srgbClr val="1E293B"/>
                    </a:solidFill>
                    <a:latin typeface="Calibri"/>
                  </a:rPr>
                  <a:t>. Tìm tập xác định của hàm số này. Tính số đơn vị sản phẩm đã bán khi giá bán của mỗi đơn vị sản phẩm là 240 nghìn đồng.</a:t>
                </a:r>
              </a:p>
              <a:p>
                <a:pPr algn="l">
                  <a:spcAft>
                    <a:spcPts val="800"/>
                  </a:spcAft>
                </a:pPr>
                <a:r>
                  <a:rPr sz="2200">
                    <a:solidFill>
                      <a:srgbClr val="1E293B"/>
                    </a:solidFill>
                    <a:latin typeface="Calibri"/>
                  </a:rPr>
                  <a:t>b) Khảo sát sự biến thiên và vẽ đồ thị của hàm số </a:t>
                </a:r>
                <a:r>
                  <a:rPr lang="vi-VN"/>
                  <a:t>x=x(p)</a:t>
                </a:r>
                <a:r>
                  <a:rPr sz="2200">
                    <a:solidFill>
                      <a:srgbClr val="1E293B"/>
                    </a:solidFill>
                    <a:latin typeface="Calibri"/>
                  </a:rPr>
                  <a:t>.</a:t>
                </a:r>
                <a:r>
                  <a:rPr sz="2200">
                    <a:solidFill>
                      <a:srgbClr val="1E293B"/>
                    </a:solidFill>
                    <a:latin typeface="Calibri"/>
                  </a:rPr>
                  <a:t> </a:t>
                </a: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1.29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53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35784"/>
              </a:xfrm>
              <a:prstGeom prst="rect">
                <a:avLst/>
              </a:prstGeom>
              <a:noFill/>
            </p:spPr>
            <p:txBody>
              <a:bodyPr wrap="square" anchor="t" lIns="45720" rIns="45720">
                <a:spAutoFit/>
              </a:bodyPr>
              <a:lstStyle/>
              <a:p>
                <a:pPr algn="l">
                  <a:spcAft>
                    <a:spcPts val="800"/>
                  </a:spcAft>
                </a:pPr>
                <a:r>
                  <a:rPr sz="2200">
                    <a:solidFill>
                      <a:srgbClr val="1E293B"/>
                    </a:solidFill>
                    <a:latin typeface="Calibri"/>
                  </a:rPr>
                  <a:t>Từ đồ thị đã vẽ, hãy cho biết: – Số lượng đơn vị sản phẩm bán được sẽ thay đổi thế nào khi giá bán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p</m:t>
                    </m:r>
                  </m:oMath>
                </a14:m>
                <a:r>
                  <a:rPr sz="2200">
                    <a:solidFill>
                      <a:srgbClr val="1E293B"/>
                    </a:solidFill>
                    <a:latin typeface="Calibri"/>
                  </a:rPr>
                  <a:t> tăng; – Ý nghĩa thực tiễn của giới hạn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lim</m:t>
                        </m:r>
                      </m:e>
                      <m:sub>
                        <m:r>
                          <a:rPr lang="vi-VN" sz="2200" b="0">
                            <a:solidFill>
                              <a:srgbClr val="1E293B"/>
                            </a:solidFill>
                            <a:latin typeface="Cambria Math" panose="02040503050406030204" pitchFamily="18" charset="0"/>
                          </a:rPr>
                          <m:t>p→</m:t>
                        </m:r>
                        <m:sSup>
                          <m:e>
                            <m:r>
                              <a:rPr lang="vi-VN" sz="2200" b="0">
                                <a:solidFill>
                                  <a:srgbClr val="1E293B"/>
                                </a:solidFill>
                                <a:latin typeface="Cambria Math" panose="02040503050406030204" pitchFamily="18" charset="0"/>
                              </a:rPr>
                              <m:t>0</m:t>
                            </m:r>
                          </m:e>
                          <m:sup>
                            <m:r>
                              <a:rPr lang="vi-VN" sz="2200" b="0">
                                <a:solidFill>
                                  <a:srgbClr val="1E293B"/>
                                </a:solidFill>
                                <a:latin typeface="Cambria Math" panose="02040503050406030204" pitchFamily="18" charset="0"/>
                              </a:rPr>
                              <m:t>+</m:t>
                            </m:r>
                          </m:sup>
                        </m:sSup>
                      </m:sub>
                    </m:sSub>
                    <m:r>
                      <a:rPr lang="vi-VN" sz="2200" b="0">
                        <a:solidFill>
                          <a:srgbClr val="1E293B"/>
                        </a:solidFill>
                        <a:latin typeface="Cambria Math" panose="02040503050406030204" pitchFamily="18" charset="0"/>
                      </a:rPr>
                      <m:t>x(p)</m:t>
                    </m:r>
                  </m:oMath>
                </a14:m>
                <a:r>
                  <a:rPr sz="2200">
                    <a:solidFill>
                      <a:srgbClr val="1E293B"/>
                    </a:solidFill>
                    <a:latin typeface="Calibri"/>
                  </a:rPr>
                  <a:t>.</a:t>
                </a:r>
                <a:r>
                  <a:rPr sz="2200">
                    <a:solidFill>
                      <a:srgbClr val="1E293B"/>
                    </a:solidFill>
                    <a:latin typeface="Calibri"/>
                  </a:rPr>
                  <a:t> </a:t>
                </a:r>
              </a:p>
              <a:p>
                <a:pPr algn="l">
                  <a:spcAft>
                    <a:spcPts val="800"/>
                  </a:spcAft>
                </a:pPr>
                <a:r>
                  <a:rPr sz="2200" b="1">
                    <a:solidFill>
                      <a:srgbClr val="1E40AF"/>
                    </a:solidFill>
                    <a:latin typeface="Calibri"/>
                  </a:rPr>
                  <a:t>Gợi mở: Rút </a:t>
                </a:r>
                <a14:m>
                  <m:oMath xmlns:m="http://schemas.openxmlformats.org/officeDocument/2006/math">
                    <m:r>
                      <a:rPr lang="vi-VN" sz="2200" b="1">
                        <a:solidFill>
                          <a:srgbClr val="1E40AF"/>
                        </a:solidFill>
                        <a:latin typeface="Cambria Math" panose="02040503050406030204" pitchFamily="18" charset="0"/>
                      </a:rPr>
                      <m:t>x</m:t>
                    </m:r>
                  </m:oMath>
                </a14:m>
                <a:r>
                  <a:rPr sz="2200" b="1">
                    <a:solidFill>
                      <a:srgbClr val="1E40AF"/>
                    </a:solidFill>
                    <a:latin typeface="Calibri"/>
                  </a:rPr>
                  <a:t> theo </a:t>
                </a:r>
                <a14:m>
                  <m:oMath xmlns:m="http://schemas.openxmlformats.org/officeDocument/2006/math">
                    <m:r>
                      <a:rPr lang="vi-VN" sz="2200" b="1">
                        <a:solidFill>
                          <a:srgbClr val="1E40AF"/>
                        </a:solidFill>
                        <a:latin typeface="Cambria Math" panose="02040503050406030204" pitchFamily="18" charset="0"/>
                      </a:rPr>
                      <m:t>p</m:t>
                    </m:r>
                  </m:oMath>
                </a14:m>
                <a:r>
                  <a:rPr sz="2200" b="1">
                    <a:solidFill>
                      <a:srgbClr val="1E40AF"/>
                    </a:solidFill>
                    <a:latin typeface="Calibri"/>
                  </a:rPr>
                  <a:t> từ </a:t>
                </a:r>
                <a14:m>
                  <m:oMath xmlns:m="http://schemas.openxmlformats.org/officeDocument/2006/math">
                    <m:r>
                      <a:rPr lang="vi-VN" sz="2200" b="1">
                        <a:solidFill>
                          <a:srgbClr val="1E40AF"/>
                        </a:solidFill>
                        <a:latin typeface="Cambria Math" panose="02040503050406030204" pitchFamily="18" charset="0"/>
                      </a:rPr>
                      <m:t>p=</m:t>
                    </m:r>
                    <m:f>
                      <m:fPr>
                        <m:type m:val="bar"/>
                      </m:fPr>
                      <m:num>
                        <m:r>
                          <a:rPr lang="vi-VN" sz="2200" b="1">
                            <a:solidFill>
                              <a:srgbClr val="1E40AF"/>
                            </a:solidFill>
                            <a:latin typeface="Cambria Math" panose="02040503050406030204" pitchFamily="18" charset="0"/>
                          </a:rPr>
                          <m:t>354</m:t>
                        </m:r>
                      </m:num>
                      <m:den>
                        <m:r>
                          <a:rPr lang="vi-VN" sz="2200" b="1">
                            <a:solidFill>
                              <a:srgbClr val="1E40AF"/>
                            </a:solidFill>
                            <a:latin typeface="Cambria Math" panose="02040503050406030204" pitchFamily="18" charset="0"/>
                          </a:rPr>
                          <m:t>1+0</m:t>
                        </m:r>
                        <m:r>
                          <a:rPr lang="vi-VN" sz="2200" b="1">
                            <a:solidFill>
                              <a:srgbClr val="1E40AF"/>
                            </a:solidFill>
                            <a:latin typeface="Cambria Math" panose="02040503050406030204" pitchFamily="18" charset="0"/>
                          </a:rPr>
                          <m:t>,</m:t>
                        </m:r>
                        <m:r>
                          <a:rPr lang="vi-VN" sz="2200" b="1">
                            <a:solidFill>
                              <a:srgbClr val="1E40AF"/>
                            </a:solidFill>
                            <a:latin typeface="Cambria Math" panose="02040503050406030204" pitchFamily="18" charset="0"/>
                          </a:rPr>
                          <m:t>01x</m:t>
                        </m:r>
                      </m:den>
                    </m:f>
                  </m:oMath>
                </a14:m>
              </a:p>
            </p:txBody>
          </p:sp>
        </mc:Choice>
        <mc:Fallback>
          <p:sp>
            <p:nvSpPr>
              <p:cNvPr id="7" name="TextBox 6"/>
              <p:cNvSpPr txBox="1"/>
              <p:nvPr/>
            </p:nvSpPr>
            <p:spPr>
              <a:xfrm>
                <a:off x="731520" y="1463040"/>
                <a:ext cx="10789920" cy="1835784"/>
              </a:xfrm>
              <a:prstGeom prst="rect">
                <a:avLst/>
              </a:prstGeom>
              <a:noFill/>
            </p:spPr>
            <p:txBody>
              <a:bodyPr wrap="square" anchor="t" lIns="45720" rIns="45720">
                <a:spAutoFit/>
              </a:bodyPr>
              <a:lstStyle/>
              <a:p>
                <a:pPr algn="l">
                  <a:spcAft>
                    <a:spcPts val="800"/>
                  </a:spcAft>
                </a:pPr>
                <a:r>
                  <a:rPr sz="2200">
                    <a:solidFill>
                      <a:srgbClr val="1E293B"/>
                    </a:solidFill>
                    <a:latin typeface="Calibri"/>
                  </a:rPr>
                  <a:t>Từ đồ thị đã vẽ, hãy cho biết: – Số lượng đơn vị sản phẩm bán được sẽ thay đổi thế nào khi giá bán </a:t>
                </a:r>
                <a:r>
                  <a:rPr lang="vi-VN"/>
                  <a:t>p</a:t>
                </a:r>
                <a:r>
                  <a:rPr sz="2200">
                    <a:solidFill>
                      <a:srgbClr val="1E293B"/>
                    </a:solidFill>
                    <a:latin typeface="Calibri"/>
                  </a:rPr>
                  <a:t> tăng; – Ý nghĩa thực tiễn của giới hạn </a:t>
                </a:r>
                <a:r>
                  <a:rPr lang="vi-VN"/>
                  <a:t>lim_(p→0^+)x(p)</a:t>
                </a:r>
                <a:r>
                  <a:rPr sz="2200">
                    <a:solidFill>
                      <a:srgbClr val="1E293B"/>
                    </a:solidFill>
                    <a:latin typeface="Calibri"/>
                  </a:rPr>
                  <a:t>.</a:t>
                </a:r>
                <a:r>
                  <a:rPr sz="2200">
                    <a:solidFill>
                      <a:srgbClr val="1E293B"/>
                    </a:solidFill>
                    <a:latin typeface="Calibri"/>
                  </a:rPr>
                  <a:t> </a:t>
                </a:r>
              </a:p>
              <a:p>
                <a:pPr algn="l">
                  <a:spcAft>
                    <a:spcPts val="800"/>
                  </a:spcAft>
                </a:pPr>
                <a:r>
                  <a:rPr sz="2200" b="1">
                    <a:solidFill>
                      <a:srgbClr val="1E40AF"/>
                    </a:solidFill>
                    <a:latin typeface="Calibri"/>
                  </a:rPr>
                  <a:t>Gợi mở: Rút </a:t>
                </a:r>
                <a:r>
                  <a:rPr lang="vi-VN"/>
                  <a:t>x</a:t>
                </a:r>
                <a:r>
                  <a:rPr sz="2200" b="1">
                    <a:solidFill>
                      <a:srgbClr val="1E40AF"/>
                    </a:solidFill>
                    <a:latin typeface="Calibri"/>
                  </a:rPr>
                  <a:t> theo </a:t>
                </a:r>
                <a:r>
                  <a:rPr lang="vi-VN"/>
                  <a:t>p</a:t>
                </a:r>
                <a:r>
                  <a:rPr sz="2200" b="1">
                    <a:solidFill>
                      <a:srgbClr val="1E40AF"/>
                    </a:solidFill>
                    <a:latin typeface="Calibri"/>
                  </a:rPr>
                  <a:t> từ </a:t>
                </a:r>
                <a:r>
                  <a:rPr lang="vi-VN"/>
                  <a:t>p=\frac{354}{1+0{,}01x}</a:t>
                </a: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1.29: HÀM CẦU (MỨC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54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0919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m:r>
                      <a:rPr lang="vi-VN" sz="2200" b="0">
                        <a:solidFill>
                          <a:srgbClr val="1E293B"/>
                        </a:solidFill>
                        <a:latin typeface="Cambria Math" panose="02040503050406030204" pitchFamily="18" charset="0"/>
                      </a:rPr>
                      <m:t>1+0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01x=</m:t>
                    </m:r>
                    <m:f>
                      <m:fPr>
                        <m:type m:val="bar"/>
                      </m:fPr>
                      <m:num>
                        <m:r>
                          <a:rPr lang="vi-VN" sz="2200" b="0">
                            <a:solidFill>
                              <a:srgbClr val="1E293B"/>
                            </a:solidFill>
                            <a:latin typeface="Cambria Math" panose="02040503050406030204" pitchFamily="18" charset="0"/>
                          </a:rPr>
                          <m:t>354</m:t>
                        </m:r>
                      </m:num>
                      <m:den>
                        <m:r>
                          <a:rPr lang="vi-VN" sz="2200" b="0">
                            <a:solidFill>
                              <a:srgbClr val="1E293B"/>
                            </a:solidFill>
                            <a:latin typeface="Cambria Math" panose="02040503050406030204" pitchFamily="18" charset="0"/>
                          </a:rPr>
                          <m:t>p</m:t>
                        </m:r>
                      </m:den>
                    </m:f>
                    <m:r>
                      <a:rPr lang="vi-VN" sz="2200" b="0">
                        <a:solidFill>
                          <a:srgbClr val="1E293B"/>
                        </a:solidFill>
                        <a:latin typeface="Cambria Math" panose="02040503050406030204" pitchFamily="18" charset="0"/>
                      </a:rPr>
                      <m:t>⇒x=</m:t>
                    </m:r>
                    <m:f>
                      <m:fPr>
                        <m:type m:val="bar"/>
                      </m:fPr>
                      <m:num>
                        <m:r>
                          <a:rPr lang="vi-VN" sz="2200" b="0">
                            <a:solidFill>
                              <a:srgbClr val="1E293B"/>
                            </a:solidFill>
                            <a:latin typeface="Cambria Math" panose="02040503050406030204" pitchFamily="18" charset="0"/>
                          </a:rPr>
                          <m:t>35</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400</m:t>
                        </m:r>
                      </m:num>
                      <m:den>
                        <m:r>
                          <a:rPr lang="vi-VN" sz="2200" b="0">
                            <a:solidFill>
                              <a:srgbClr val="1E293B"/>
                            </a:solidFill>
                            <a:latin typeface="Cambria Math" panose="02040503050406030204" pitchFamily="18" charset="0"/>
                          </a:rPr>
                          <m:t>p</m:t>
                        </m:r>
                      </m:den>
                    </m:f>
                    <m:r>
                      <a:rPr lang="vi-VN" sz="2200" b="0">
                        <a:solidFill>
                          <a:srgbClr val="1E293B"/>
                        </a:solidFill>
                        <a:latin typeface="Cambria Math" panose="02040503050406030204" pitchFamily="18" charset="0"/>
                      </a:rPr>
                      <m:t>−100</m:t>
                    </m:r>
                  </m:oMath>
                </a14:m>
                <a:r>
                  <a:rPr sz="2200">
                    <a:solidFill>
                      <a:srgbClr val="1E293B"/>
                    </a:solidFill>
                    <a:latin typeface="Calibri"/>
                  </a:rPr>
                  <a:t>, </a:t>
                </a:r>
                <a14:m>
                  <m:oMath xmlns:m="http://schemas.openxmlformats.org/officeDocument/2006/math">
                    <m:d>
                      <m:dPr>
                        <m:begChr m:val=""/>
                        <m:sepChr m:val=""/>
                        <m:endChr m:val="]"/>
                      </m:dPr>
                      <m:e>
                        <m:r>
                          <a:rPr lang="vi-VN" sz="2200" b="0">
                            <a:solidFill>
                              <a:srgbClr val="1E293B"/>
                            </a:solidFill>
                            <a:latin typeface="Cambria Math" panose="02040503050406030204" pitchFamily="18" charset="0"/>
                          </a:rPr>
                          <m:t>p</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354</m:t>
                        </m:r>
                      </m:e>
                    </m:d>
                  </m:oMath>
                </a14:m>
              </a:p>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x(240)=147</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5−100=47</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oMath>
                </a14:m>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(p)=−</m:t>
                    </m:r>
                    <m:f>
                      <m:fPr>
                        <m:type m:val="bar"/>
                      </m:fPr>
                      <m:num>
                        <m:r>
                          <a:rPr lang="vi-VN" sz="2200" b="0">
                            <a:solidFill>
                              <a:srgbClr val="1E293B"/>
                            </a:solidFill>
                            <a:latin typeface="Cambria Math" panose="02040503050406030204" pitchFamily="18" charset="0"/>
                          </a:rPr>
                          <m:t>35</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400</m:t>
                        </m:r>
                      </m:num>
                      <m:den>
                        <m:sSup>
                          <m:e>
                            <m:r>
                              <a:rPr lang="vi-VN" sz="2200" b="0">
                                <a:solidFill>
                                  <a:srgbClr val="1E293B"/>
                                </a:solidFill>
                                <a:latin typeface="Cambria Math" panose="02040503050406030204" pitchFamily="18" charset="0"/>
                              </a:rPr>
                              <m:t>p</m:t>
                            </m:r>
                          </m:e>
                          <m:sup>
                            <m:r>
                              <a:rPr lang="vi-VN" sz="2200" b="0">
                                <a:solidFill>
                                  <a:srgbClr val="1E293B"/>
                                </a:solidFill>
                                <a:latin typeface="Cambria Math" panose="02040503050406030204" pitchFamily="18" charset="0"/>
                              </a:rPr>
                              <m:t>2</m:t>
                            </m:r>
                          </m:sup>
                        </m:sSup>
                      </m:den>
                    </m:f>
                    <m:r>
                      <a:rPr lang="vi-VN" sz="2200" b="0">
                        <a:solidFill>
                          <a:srgbClr val="1E293B"/>
                        </a:solidFill>
                        <a:latin typeface="Cambria Math" panose="02040503050406030204" pitchFamily="18" charset="0"/>
                      </a:rPr>
                      <m:t>&lt;0</m:t>
                    </m:r>
                  </m:oMath>
                </a14:m>
                <a:r>
                  <a:rPr sz="2200">
                    <a:solidFill>
                      <a:srgbClr val="1E293B"/>
                    </a:solidFill>
                    <a:latin typeface="Calibri"/>
                  </a:rPr>
                  <a:t>: số sản phẩm bán được giảm khi giá tăng</a:t>
                </a:r>
              </a:p>
            </p:txBody>
          </p:sp>
        </mc:Choice>
        <mc:Fallback>
          <p:sp>
            <p:nvSpPr>
              <p:cNvPr id="7" name="TextBox 6"/>
              <p:cNvSpPr txBox="1"/>
              <p:nvPr/>
            </p:nvSpPr>
            <p:spPr>
              <a:xfrm>
                <a:off x="731520" y="1463040"/>
                <a:ext cx="10789920" cy="190919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r>
                  <a:rPr lang="vi-VN"/>
                  <a:t>1+0{,}01x=\frac{354}{p}\Rightarrow x=\frac{35\,400}{p}-100</a:t>
                </a:r>
                <a:r>
                  <a:rPr sz="2200">
                    <a:solidFill>
                      <a:srgbClr val="1E293B"/>
                    </a:solidFill>
                    <a:latin typeface="Calibri"/>
                  </a:rPr>
                  <a:t>, </a:t>
                </a:r>
                <a:r>
                  <a:rPr lang="vi-VN"/>
                  <a:t>p\in(0;354]</a:t>
                </a:r>
              </a:p>
              <a:p>
                <a:pPr algn="l" marL="365760" indent="-365760">
                  <a:spcAft>
                    <a:spcPts val="800"/>
                  </a:spcAft>
                  <a:buClr>
                    <a:srgbClr val="1E40AF"/>
                  </a:buClr>
                  <a:buFont typeface="Arial"/>
                  <a:buChar char="•"/>
                </a:pPr>
                <a:r>
                  <a:rPr lang="vi-VN"/>
                  <a:t>x(240)=147{,}5-100=47{,}5</a:t>
                </a:r>
              </a:p>
              <a:p>
                <a:pPr algn="l" marL="365760" indent="-365760">
                  <a:spcAft>
                    <a:spcPts val="800"/>
                  </a:spcAft>
                  <a:buClr>
                    <a:srgbClr val="1E40AF"/>
                  </a:buClr>
                  <a:buFont typeface="Arial"/>
                  <a:buChar char="•"/>
                </a:pPr>
                <a:r>
                  <a:rPr sz="2200">
                    <a:solidFill>
                      <a:srgbClr val="1E293B"/>
                    </a:solidFill>
                    <a:latin typeface="Calibri"/>
                  </a:rPr>
                  <a:t>b) </a:t>
                </a:r>
                <a:r>
                  <a:rPr lang="vi-VN"/>
                  <a:t>x'(p)=-\frac{35\,400}{p^2}&lt;0</a:t>
                </a:r>
                <a:r>
                  <a:rPr sz="2200">
                    <a:solidFill>
                      <a:srgbClr val="1E293B"/>
                    </a:solidFill>
                    <a:latin typeface="Calibri"/>
                  </a:rPr>
                  <a:t>: số sản phẩm bán được giảm khi giá tăng</a:t>
                </a: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1.29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55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29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limLow>
                      <m:e>
                        <m:r>
                          <m:rPr>
                            <m:sty m:val="p"/>
                          </m:rPr>
                          <a:rPr lang="vi-VN" sz="2200" b="0">
                            <a:solidFill>
                              <a:srgbClr val="1E293B"/>
                            </a:solidFill>
                            <a:latin typeface="Cambria Math" panose="02040503050406030204" pitchFamily="18" charset="0"/>
                          </a:rPr>
                          <m:t>lim</m:t>
                        </m:r>
                      </m:e>
                      <m:lim>
                        <m:r>
                          <a:rPr lang="vi-VN" sz="2200" b="0">
                            <a:solidFill>
                              <a:srgbClr val="1E293B"/>
                            </a:solidFill>
                            <a:latin typeface="Cambria Math" panose="02040503050406030204" pitchFamily="18" charset="0"/>
                          </a:rPr>
                          <m:t>p→</m:t>
                        </m:r>
                        <m:sSup>
                          <m:e>
                            <m:r>
                              <a:rPr lang="vi-VN" sz="2200" b="0">
                                <a:solidFill>
                                  <a:srgbClr val="1E293B"/>
                                </a:solidFill>
                                <a:latin typeface="Cambria Math" panose="02040503050406030204" pitchFamily="18" charset="0"/>
                              </a:rPr>
                              <m:t>0</m:t>
                            </m:r>
                          </m:e>
                          <m:sup>
                            <m:r>
                              <a:rPr lang="vi-VN" sz="2200" b="0">
                                <a:solidFill>
                                  <a:srgbClr val="1E293B"/>
                                </a:solidFill>
                                <a:latin typeface="Cambria Math" panose="02040503050406030204" pitchFamily="18" charset="0"/>
                              </a:rPr>
                              <m:t>+</m:t>
                            </m:r>
                          </m:sup>
                        </m:sSup>
                      </m:lim>
                    </m:limLow>
                    <m:r>
                      <a:rPr lang="vi-VN" sz="2200" b="0">
                        <a:solidFill>
                          <a:srgbClr val="1E293B"/>
                        </a:solidFill>
                        <a:latin typeface="Cambria Math" panose="02040503050406030204" pitchFamily="18" charset="0"/>
                      </a:rPr>
                      <m:t>x(p)=+∞</m:t>
                    </m:r>
                  </m:oMath>
                </a14:m>
                <a:r>
                  <a:rPr sz="2200">
                    <a:solidFill>
                      <a:srgbClr val="1E293B"/>
                    </a:solidFill>
                    <a:latin typeface="Calibri"/>
                  </a:rPr>
                  <a:t>: giá gần 0 thì lượng cầu rất lớn</a:t>
                </a:r>
              </a:p>
            </p:txBody>
          </p:sp>
        </mc:Choice>
        <mc:Fallback>
          <p:sp>
            <p:nvSpPr>
              <p:cNvPr id="7" name="TextBox 6"/>
              <p:cNvSpPr txBox="1"/>
              <p:nvPr/>
            </p:nvSpPr>
            <p:spPr>
              <a:xfrm>
                <a:off x="731520" y="1463040"/>
                <a:ext cx="10789920" cy="4729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\lim_{p\to 0^+}x(p)=+\infty</a:t>
                </a:r>
                <a:r>
                  <a:rPr sz="2200">
                    <a:solidFill>
                      <a:srgbClr val="1E293B"/>
                    </a:solidFill>
                    <a:latin typeface="Calibri"/>
                  </a:rPr>
                  <a:t>: giá gần 0 thì lượng cầu rất lớn</a:t>
                </a:r>
              </a:p>
            </p:txBody>
          </p:sp>
        </mc:Fallback>
      </mc:AlternateContent>
      <p:sp>
        <p:nvSpPr>
          <p:cNvPr id="8" name="Rounded Rectangle 7"/>
          <p:cNvSpPr/>
          <p:nvPr/>
        </p:nvSpPr>
        <p:spPr>
          <a:xfrm>
            <a:off x="731520" y="2073148"/>
            <a:ext cx="9601200" cy="882015"/>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073148"/>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 </a:t>
                </a:r>
                <a14:m>
                  <m:oMath xmlns:m="http://schemas.openxmlformats.org/officeDocument/2006/math">
                    <m:r>
                      <a:rPr lang="vi-VN" sz="2200" b="1">
                        <a:solidFill>
                          <a:srgbClr val="991B1B"/>
                        </a:solidFill>
                        <a:latin typeface="Cambria Math" panose="02040503050406030204" pitchFamily="18" charset="0"/>
                      </a:rPr>
                      <m:t>x=</m:t>
                    </m:r>
                    <m:f>
                      <m:fPr>
                        <m:type m:val="bar"/>
                      </m:fPr>
                      <m:num>
                        <m:r>
                          <a:rPr lang="vi-VN" sz="2200" b="1">
                            <a:solidFill>
                              <a:srgbClr val="991B1B"/>
                            </a:solidFill>
                            <a:latin typeface="Cambria Math" panose="02040503050406030204" pitchFamily="18" charset="0"/>
                          </a:rPr>
                          <m:t>35</m:t>
                        </m:r>
                        <m:r>
                          <m:rPr>
                            <m:sty m:val="p"/>
                          </m:rPr>
                          <a:rPr lang="vi-VN" sz="2200" b="1">
                            <a:solidFill>
                              <a:srgbClr val="991B1B"/>
                            </a:solidFill>
                            <a:latin typeface="Cambria Math" panose="02040503050406030204" pitchFamily="18" charset="0"/>
                          </a:rPr>
                          <m:t> </m:t>
                        </m:r>
                        <m:r>
                          <a:rPr lang="vi-VN" sz="2200" b="1">
                            <a:solidFill>
                              <a:srgbClr val="991B1B"/>
                            </a:solidFill>
                            <a:latin typeface="Cambria Math" panose="02040503050406030204" pitchFamily="18" charset="0"/>
                          </a:rPr>
                          <m:t>400</m:t>
                        </m:r>
                      </m:num>
                      <m:den>
                        <m:r>
                          <a:rPr lang="vi-VN" sz="2200" b="1">
                            <a:solidFill>
                              <a:srgbClr val="991B1B"/>
                            </a:solidFill>
                            <a:latin typeface="Cambria Math" panose="02040503050406030204" pitchFamily="18" charset="0"/>
                          </a:rPr>
                          <m:t>p</m:t>
                        </m:r>
                      </m:den>
                    </m:f>
                    <m:r>
                      <a:rPr lang="vi-VN" sz="2200" b="1">
                        <a:solidFill>
                          <a:srgbClr val="991B1B"/>
                        </a:solidFill>
                        <a:latin typeface="Cambria Math" panose="02040503050406030204" pitchFamily="18" charset="0"/>
                      </a:rPr>
                      <m:t>−100</m:t>
                    </m:r>
                  </m:oMath>
                </a14:m>
                <a:r>
                  <a:rPr sz="2200" b="1">
                    <a:solidFill>
                      <a:srgbClr val="991B1B"/>
                    </a:solidFill>
                    <a:latin typeface="Calibri"/>
                  </a:rPr>
                  <a:t>; </a:t>
                </a:r>
                <a14:m>
                  <m:oMath xmlns:m="http://schemas.openxmlformats.org/officeDocument/2006/math">
                    <m:r>
                      <a:rPr lang="vi-VN" sz="2200" b="1">
                        <a:solidFill>
                          <a:srgbClr val="991B1B"/>
                        </a:solidFill>
                        <a:latin typeface="Cambria Math" panose="02040503050406030204" pitchFamily="18" charset="0"/>
                      </a:rPr>
                      <m:t>x(240)=47</m:t>
                    </m:r>
                    <m:r>
                      <a:rPr lang="vi-VN" sz="2200" b="1">
                        <a:solidFill>
                          <a:srgbClr val="991B1B"/>
                        </a:solidFill>
                        <a:latin typeface="Cambria Math" panose="02040503050406030204" pitchFamily="18" charset="0"/>
                      </a:rPr>
                      <m:t>,</m:t>
                    </m:r>
                    <m:r>
                      <a:rPr lang="vi-VN" sz="2200" b="1">
                        <a:solidFill>
                          <a:srgbClr val="991B1B"/>
                        </a:solidFill>
                        <a:latin typeface="Cambria Math" panose="02040503050406030204" pitchFamily="18" charset="0"/>
                      </a:rPr>
                      <m:t>5</m:t>
                    </m:r>
                  </m:oMath>
                </a14:m>
              </a:p>
            </p:txBody>
          </p:sp>
        </mc:Choice>
        <mc:Fallback>
          <p:sp>
            <p:nvSpPr>
              <p:cNvPr id="9" name="TextBox 8"/>
              <p:cNvSpPr txBox="1"/>
              <p:nvPr/>
            </p:nvSpPr>
            <p:spPr>
              <a:xfrm>
                <a:off x="914400" y="2073148"/>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 </a:t>
                </a:r>
                <a:r>
                  <a:rPr lang="vi-VN"/>
                  <a:t>x=\frac{35\,400}{p}-100</a:t>
                </a:r>
                <a:r>
                  <a:rPr sz="2200" b="1">
                    <a:solidFill>
                      <a:srgbClr val="991B1B"/>
                    </a:solidFill>
                    <a:latin typeface="Calibri"/>
                  </a:rPr>
                  <a:t>; </a:t>
                </a:r>
                <a:r>
                  <a:rPr lang="vi-VN"/>
                  <a:t>x(240)=47{,}5</a:t>
                </a: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AI: LỜI GIẢI SỐ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56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Đề: Luyện tập 2 (chèo thuyền).</a:t>
                </a:r>
              </a:p>
              <a:p>
                <a:pPr algn="l" marL="365760" indent="-365760">
                  <a:spcAft>
                    <a:spcPts val="800"/>
                  </a:spcAft>
                  <a:buClr>
                    <a:srgbClr val="1E40AF"/>
                  </a:buClr>
                  <a:buFont typeface="Arial"/>
                  <a:buChar char="•"/>
                </a:pPr>
                <a:r>
                  <a:rPr sz="2400">
                    <a:solidFill>
                      <a:srgbClr val="1E293B"/>
                    </a:solidFill>
                    <a:latin typeface="Calibri"/>
                  </a:rPr>
                  <a:t>"Chèo thẳng đến B là quãng đường ngắn nhất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ad>
                      <m:radPr>
                        <m:degHide m:val="on"/>
                      </m:radPr>
                      <m:deg/>
                      <m:e>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8</m:t>
                            </m:r>
                          </m:e>
                          <m:sup>
                            <m:r>
                              <a:rPr lang="vi-VN" sz="2400" b="0">
                                <a:solidFill>
                                  <a:srgbClr val="1E293B"/>
                                </a:solidFill>
                                <a:latin typeface="Cambria Math" panose="02040503050406030204" pitchFamily="18" charset="0"/>
                              </a:rPr>
                              <m:t>2</m:t>
                            </m:r>
                          </m:sup>
                        </m:sSup>
                      </m:e>
                    </m:rad>
                    <m:r>
                      <a:rPr lang="vi-VN" sz="2400" b="0">
                        <a:solidFill>
                          <a:srgbClr val="1E293B"/>
                        </a:solidFill>
                        <a:latin typeface="Cambria Math" panose="02040503050406030204" pitchFamily="18" charset="0"/>
                      </a:rPr>
                      <m:t>≈8</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54</m:t>
                    </m:r>
                  </m:oMath>
                </a14:m>
                <a:r>
                  <a:rPr sz="2400">
                    <a:solidFill>
                      <a:srgbClr val="1E293B"/>
                    </a:solidFill>
                    <a:latin typeface="Calibri"/>
                  </a:rPr>
                  <a:t> km nên nhanh nhất; thời gian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8</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54:6≈1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42</m:t>
                    </m:r>
                  </m:oMath>
                </a14:m>
                <a:r>
                  <a:rPr sz="2400">
                    <a:solidFill>
                      <a:srgbClr val="1E293B"/>
                    </a:solidFill>
                    <a:latin typeface="Calibri"/>
                  </a:rPr>
                  <a:t> giờ."</a:t>
                </a:r>
              </a:p>
              <a:p>
                <a:pPr algn="l">
                  <a:spcAft>
                    <a:spcPts val="800"/>
                  </a:spcAft>
                </a:pPr>
                <a:r>
                  <a:rPr sz="2400" b="1">
                    <a:solidFill>
                      <a:srgbClr val="1E40AF"/>
                    </a:solidFill>
                    <a:latin typeface="Calibri"/>
                  </a:rPr>
                  <a:t>Gợi mở: Quãng đường ngắn nhất có chắc là thời gian ngắn nhất?</a:t>
                </a:r>
              </a:p>
            </p:txBody>
          </p:sp>
        </mc:Choice>
        <mc:Fallback>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Đề: Luyện tập 2 (chèo thuyền).</a:t>
                </a:r>
              </a:p>
              <a:p>
                <a:pPr algn="l" marL="365760" indent="-365760">
                  <a:spcAft>
                    <a:spcPts val="800"/>
                  </a:spcAft>
                  <a:buClr>
                    <a:srgbClr val="1E40AF"/>
                  </a:buClr>
                  <a:buFont typeface="Arial"/>
                  <a:buChar char="•"/>
                </a:pPr>
                <a:r>
                  <a:rPr sz="2400">
                    <a:solidFill>
                      <a:srgbClr val="1E293B"/>
                    </a:solidFill>
                    <a:latin typeface="Calibri"/>
                  </a:rPr>
                  <a:t>"Chèo thẳng đến B là quãng đường ngắn nhất </a:t>
                </a:r>
                <a:r>
                  <a:rPr lang="vi-VN"/>
                  <a:t>√(3^2+8^2)≈8,54</a:t>
                </a:r>
                <a:r>
                  <a:rPr sz="2400">
                    <a:solidFill>
                      <a:srgbClr val="1E293B"/>
                    </a:solidFill>
                    <a:latin typeface="Calibri"/>
                  </a:rPr>
                  <a:t> km nên nhanh nhất; thời gian </a:t>
                </a:r>
                <a:r>
                  <a:rPr lang="vi-VN"/>
                  <a:t>8,54:6≈1,42</a:t>
                </a:r>
                <a:r>
                  <a:rPr sz="2400">
                    <a:solidFill>
                      <a:srgbClr val="1E293B"/>
                    </a:solidFill>
                    <a:latin typeface="Calibri"/>
                  </a:rPr>
                  <a:t> giờ."</a:t>
                </a:r>
              </a:p>
              <a:p>
                <a:pPr algn="l">
                  <a:spcAft>
                    <a:spcPts val="800"/>
                  </a:spcAft>
                </a:pPr>
                <a:r>
                  <a:rPr sz="2400" b="1">
                    <a:solidFill>
                      <a:srgbClr val="1E40AF"/>
                    </a:solidFill>
                    <a:latin typeface="Calibri"/>
                  </a:rPr>
                  <a:t>Gợi mở: Quãng đường ngắn nhất có chắc là thời gian ngắn nhất?</a:t>
                </a: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AI: LỜI GIẢI SỐ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57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8648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Sai: chạy bộ (8 km/h) nhanh hơn chèo (6 km/h) nên cần tối ưu </a:t>
                </a:r>
                <a:r>
                  <a:rPr sz="2400" b="1">
                    <a:solidFill>
                      <a:srgbClr val="1E293B"/>
                    </a:solidFill>
                    <a:latin typeface="Calibri"/>
                  </a:rPr>
                  <a:t>thời gian</a:t>
                </a:r>
              </a:p>
              <a:p>
                <a:pPr algn="l" marL="365760" indent="-365760">
                  <a:spcAft>
                    <a:spcPts val="800"/>
                  </a:spcAft>
                  <a:buClr>
                    <a:srgbClr val="1E40AF"/>
                  </a:buClr>
                  <a:buFont typeface="Arial"/>
                  <a:buChar char="•"/>
                </a:pPr>
                <a:r>
                  <a:rPr sz="2400">
                    <a:solidFill>
                      <a:srgbClr val="1E293B"/>
                    </a:solidFill>
                    <a:latin typeface="Calibri"/>
                  </a:rPr>
                  <a:t>Lập </a:t>
                </a:r>
                <a14:m>
                  <m:oMath xmlns:m="http://schemas.openxmlformats.org/officeDocument/2006/math">
                    <m:r>
                      <a:rPr lang="vi-VN" sz="2400" b="0">
                        <a:solidFill>
                          <a:srgbClr val="1E293B"/>
                        </a:solidFill>
                        <a:latin typeface="Cambria Math" panose="02040503050406030204" pitchFamily="18" charset="0"/>
                      </a:rPr>
                      <m:t>T(x)</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T</m:t>
                    </m:r>
                  </m:oMath>
                </a14:m>
                <a:r>
                  <a:rPr sz="2400">
                    <a:solidFill>
                      <a:srgbClr val="1E293B"/>
                    </a:solidFill>
                    <a:latin typeface="Calibri"/>
                  </a:rPr>
                  <a:t> nhỏ nhất tại </a:t>
                </a:r>
                <a14:m>
                  <m:oMath xmlns:m="http://schemas.openxmlformats.org/officeDocument/2006/math">
                    <m:r>
                      <a:rPr lang="vi-VN" sz="2400" b="0">
                        <a:solidFill>
                          <a:srgbClr val="1E293B"/>
                        </a:solidFill>
                        <a:latin typeface="Cambria Math" panose="02040503050406030204" pitchFamily="18" charset="0"/>
                      </a:rPr>
                      <m:t>x=</m:t>
                    </m:r>
                    <m:f>
                      <m:fPr>
                        <m:type m:val="bar"/>
                      </m:fPr>
                      <m:num>
                        <m:r>
                          <a:rPr lang="vi-VN" sz="2400" b="0">
                            <a:solidFill>
                              <a:srgbClr val="1E293B"/>
                            </a:solidFill>
                            <a:latin typeface="Cambria Math" panose="02040503050406030204" pitchFamily="18" charset="0"/>
                          </a:rPr>
                          <m:t>9</m:t>
                        </m:r>
                      </m:num>
                      <m:den>
                        <m:rad>
                          <m:radPr>
                            <m:degHide m:val="on"/>
                          </m:radPr>
                          <m:deg/>
                          <m:e>
                            <m:r>
                              <a:rPr lang="vi-VN" sz="2400" b="0">
                                <a:solidFill>
                                  <a:srgbClr val="1E293B"/>
                                </a:solidFill>
                                <a:latin typeface="Cambria Math" panose="02040503050406030204" pitchFamily="18" charset="0"/>
                              </a:rPr>
                              <m:t>7</m:t>
                            </m:r>
                          </m:e>
                        </m:rad>
                      </m:den>
                    </m:f>
                    <m:r>
                      <a:rPr lang="vi-VN" sz="2400" b="0">
                        <a:solidFill>
                          <a:srgbClr val="1E293B"/>
                        </a:solidFill>
                        <a:latin typeface="Cambria Math" panose="02040503050406030204" pitchFamily="18" charset="0"/>
                      </a:rPr>
                      <m:t>≈3</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4</m:t>
                    </m:r>
                  </m:oMath>
                </a14:m>
                <a:r>
                  <a:rPr sz="2400">
                    <a:solidFill>
                      <a:srgbClr val="1E293B"/>
                    </a:solidFill>
                    <a:latin typeface="Calibri"/>
                  </a:rPr>
                  <a:t> km</a:t>
                </a:r>
              </a:p>
            </p:txBody>
          </p:sp>
        </mc:Choice>
        <mc:Fallback>
          <p:sp>
            <p:nvSpPr>
              <p:cNvPr id="7" name="TextBox 6"/>
              <p:cNvSpPr txBox="1"/>
              <p:nvPr/>
            </p:nvSpPr>
            <p:spPr>
              <a:xfrm>
                <a:off x="731520" y="1463040"/>
                <a:ext cx="10789920" cy="158648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Sai: chạy bộ (8 km/h) nhanh hơn chèo (6 km/h) nên cần tối ưu </a:t>
                </a:r>
                <a:r>
                  <a:rPr sz="2400" b="1">
                    <a:solidFill>
                      <a:srgbClr val="1E293B"/>
                    </a:solidFill>
                    <a:latin typeface="Calibri"/>
                  </a:rPr>
                  <a:t>thời gian</a:t>
                </a:r>
              </a:p>
              <a:p>
                <a:pPr algn="l" marL="365760" indent="-365760">
                  <a:spcAft>
                    <a:spcPts val="800"/>
                  </a:spcAft>
                  <a:buClr>
                    <a:srgbClr val="1E40AF"/>
                  </a:buClr>
                  <a:buFont typeface="Arial"/>
                  <a:buChar char="•"/>
                </a:pPr>
                <a:r>
                  <a:rPr sz="2400">
                    <a:solidFill>
                      <a:srgbClr val="1E293B"/>
                    </a:solidFill>
                    <a:latin typeface="Calibri"/>
                  </a:rPr>
                  <a:t>Lập </a:t>
                </a:r>
                <a:r>
                  <a:rPr lang="vi-VN"/>
                  <a:t>T(x)</a:t>
                </a:r>
                <a:r>
                  <a:rPr sz="2400">
                    <a:solidFill>
                      <a:srgbClr val="1E293B"/>
                    </a:solidFill>
                    <a:latin typeface="Calibri"/>
                  </a:rPr>
                  <a:t>; </a:t>
                </a:r>
                <a:r>
                  <a:rPr lang="vi-VN"/>
                  <a:t>T</a:t>
                </a:r>
                <a:r>
                  <a:rPr sz="2400">
                    <a:solidFill>
                      <a:srgbClr val="1E293B"/>
                    </a:solidFill>
                    <a:latin typeface="Calibri"/>
                  </a:rPr>
                  <a:t> nhỏ nhất tại </a:t>
                </a:r>
                <a:r>
                  <a:rPr lang="vi-VN"/>
                  <a:t>x=\frac{9}{\sqrt 7}\approx 3{,}4</a:t>
                </a:r>
                <a:r>
                  <a:rPr sz="2400">
                    <a:solidFill>
                      <a:srgbClr val="1E293B"/>
                    </a:solidFill>
                    <a:latin typeface="Calibri"/>
                  </a:rPr>
                  <a:t> km</a:t>
                </a:r>
              </a:p>
            </p:txBody>
          </p:sp>
        </mc:Fallback>
      </mc:AlternateContent>
      <p:sp>
        <p:nvSpPr>
          <p:cNvPr id="8" name="Rounded Rectangle 7"/>
          <p:cNvSpPr/>
          <p:nvPr/>
        </p:nvSpPr>
        <p:spPr>
          <a:xfrm>
            <a:off x="731520" y="318668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8668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T</m:t>
                        </m:r>
                      </m:e>
                      <m:sub>
                        <m:r>
                          <a:rPr lang="vi-VN" sz="2400" b="1">
                            <a:solidFill>
                              <a:srgbClr val="991B1B"/>
                            </a:solidFill>
                            <a:latin typeface="Cambria Math" panose="02040503050406030204" pitchFamily="18" charset="0"/>
                          </a:rPr>
                          <m:t>min</m:t>
                        </m:r>
                      </m:sub>
                    </m:sSub>
                    <m:r>
                      <a:rPr lang="vi-VN" sz="2400" b="1">
                        <a:solidFill>
                          <a:srgbClr val="991B1B"/>
                        </a:solidFill>
                        <a:latin typeface="Cambria Math" panose="02040503050406030204" pitchFamily="18" charset="0"/>
                      </a:rPr>
                      <m:t>≈1</m:t>
                    </m:r>
                    <m:r>
                      <a:rPr lang="vi-VN" sz="2400" b="1">
                        <a:solidFill>
                          <a:srgbClr val="991B1B"/>
                        </a:solidFill>
                        <a:latin typeface="Cambria Math" panose="02040503050406030204" pitchFamily="18" charset="0"/>
                      </a:rPr>
                      <m:t>,</m:t>
                    </m:r>
                    <m:r>
                      <a:rPr lang="vi-VN" sz="2400" b="1">
                        <a:solidFill>
                          <a:srgbClr val="991B1B"/>
                        </a:solidFill>
                        <a:latin typeface="Cambria Math" panose="02040503050406030204" pitchFamily="18" charset="0"/>
                      </a:rPr>
                      <m:t>33</m:t>
                    </m:r>
                  </m:oMath>
                </a14:m>
                <a:r>
                  <a:rPr sz="2400" b="1">
                    <a:solidFill>
                      <a:srgbClr val="991B1B"/>
                    </a:solidFill>
                    <a:latin typeface="Calibri"/>
                  </a:rPr>
                  <a:t> giờ </a:t>
                </a:r>
                <a14:m>
                  <m:oMath xmlns:m="http://schemas.openxmlformats.org/officeDocument/2006/math">
                    <m:d>
                      <m:dPr>
                        <m:begChr m:val="&lt;"/>
                        <m:sepChr m:val=""/>
                        <m:endChr m:val=""/>
                      </m:dPr>
                      <m:e>
                        <m:r>
                          <a:rPr lang="vi-VN" sz="2400" b="1">
                            <a:solidFill>
                              <a:srgbClr val="991B1B"/>
                            </a:solidFill>
                            <a:latin typeface="Cambria Math" panose="02040503050406030204" pitchFamily="18" charset="0"/>
                          </a:rPr>
                          <m:t>1</m:t>
                        </m:r>
                        <m:r>
                          <a:rPr lang="vi-VN" sz="2400" b="1">
                            <a:solidFill>
                              <a:srgbClr val="991B1B"/>
                            </a:solidFill>
                            <a:latin typeface="Cambria Math" panose="02040503050406030204" pitchFamily="18" charset="0"/>
                          </a:rPr>
                          <m:t>,</m:t>
                        </m:r>
                        <m:r>
                          <a:rPr lang="vi-VN" sz="2400" b="1">
                            <a:solidFill>
                              <a:srgbClr val="991B1B"/>
                            </a:solidFill>
                            <a:latin typeface="Cambria Math" panose="02040503050406030204" pitchFamily="18" charset="0"/>
                          </a:rPr>
                          <m:t>42</m:t>
                        </m:r>
                      </m:e>
                    </m:d>
                  </m:oMath>
                </a14:m>
                <a:r>
                  <a:rPr sz="2400" b="1">
                    <a:solidFill>
                      <a:srgbClr val="991B1B"/>
                    </a:solidFill>
                    <a:latin typeface="Calibri"/>
                  </a:rPr>
                  <a:t> giờ của AI</a:t>
                </a:r>
              </a:p>
            </p:txBody>
          </p:sp>
        </mc:Choice>
        <mc:Fallback>
          <p:sp>
            <p:nvSpPr>
              <p:cNvPr id="9" name="TextBox 8"/>
              <p:cNvSpPr txBox="1"/>
              <p:nvPr/>
            </p:nvSpPr>
            <p:spPr>
              <a:xfrm>
                <a:off x="914400" y="318668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T_{min}\approx 1{,}33</a:t>
                </a:r>
                <a:r>
                  <a:rPr sz="2400" b="1">
                    <a:solidFill>
                      <a:srgbClr val="991B1B"/>
                    </a:solidFill>
                    <a:latin typeface="Calibri"/>
                  </a:rPr>
                  <a:t> giờ </a:t>
                </a:r>
                <a:r>
                  <a:rPr lang="vi-VN"/>
                  <a:t>&lt;1{,}42</a:t>
                </a:r>
                <a:r>
                  <a:rPr sz="2400" b="1">
                    <a:solidFill>
                      <a:srgbClr val="991B1B"/>
                    </a:solidFill>
                    <a:latin typeface="Calibri"/>
                  </a:rPr>
                  <a:t> giờ của AI</a:t>
                </a: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AI: LỜI GIẢI SỐ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58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707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Đề: Ví dụ 3b – chi phí biên tại </a:t>
                </a:r>
                <a14:m>
                  <m:oMath xmlns:m="http://schemas.openxmlformats.org/officeDocument/2006/math">
                    <m:r>
                      <a:rPr lang="vi-VN" sz="2400" b="0">
                        <a:solidFill>
                          <a:srgbClr val="1E293B"/>
                        </a:solidFill>
                        <a:latin typeface="Cambria Math" panose="02040503050406030204" pitchFamily="18" charset="0"/>
                      </a:rPr>
                      <m:t>x=200</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"Chi phí biên là chi phí trung bình mỗi đơn vị: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f>
                      <m:fPr>
                        <m:type m:val="bar"/>
                      </m:fPr>
                      <m:num>
                        <m:r>
                          <a:rPr lang="vi-VN" sz="2400" b="0">
                            <a:solidFill>
                              <a:srgbClr val="1E293B"/>
                            </a:solidFill>
                            <a:latin typeface="Cambria Math" panose="02040503050406030204" pitchFamily="18" charset="0"/>
                          </a:rPr>
                          <m:t>C(200)</m:t>
                        </m:r>
                      </m:num>
                      <m:den>
                        <m:r>
                          <a:rPr lang="vi-VN" sz="2400" b="0">
                            <a:solidFill>
                              <a:srgbClr val="1E293B"/>
                            </a:solidFill>
                            <a:latin typeface="Cambria Math" panose="02040503050406030204" pitchFamily="18" charset="0"/>
                          </a:rPr>
                          <m:t>200</m:t>
                        </m:r>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990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m:t>
                        </m:r>
                      </m:num>
                      <m:den>
                        <m:r>
                          <a:rPr lang="vi-VN" sz="2400" b="0">
                            <a:solidFill>
                              <a:srgbClr val="1E293B"/>
                            </a:solidFill>
                            <a:latin typeface="Cambria Math" panose="02040503050406030204" pitchFamily="18" charset="0"/>
                          </a:rPr>
                          <m:t>200</m:t>
                        </m:r>
                      </m:den>
                    </m:f>
                    <m:r>
                      <a:rPr lang="vi-VN" sz="2400" b="0">
                        <a:solidFill>
                          <a:srgbClr val="1E293B"/>
                        </a:solidFill>
                        <a:latin typeface="Cambria Math" panose="02040503050406030204" pitchFamily="18" charset="0"/>
                      </a:rPr>
                      <m:t>=4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950</m:t>
                    </m:r>
                  </m:oMath>
                </a14:m>
                <a:r>
                  <a:rPr sz="2400">
                    <a:solidFill>
                      <a:srgbClr val="1E293B"/>
                    </a:solidFill>
                    <a:latin typeface="Calibri"/>
                  </a:rPr>
                  <a:t> nghìn đồng."</a:t>
                </a:r>
              </a:p>
              <a:p>
                <a:pPr algn="l">
                  <a:spcAft>
                    <a:spcPts val="800"/>
                  </a:spcAft>
                </a:pPr>
                <a:r>
                  <a:rPr sz="2400" b="1">
                    <a:solidFill>
                      <a:srgbClr val="1E40AF"/>
                    </a:solidFill>
                    <a:latin typeface="Calibri"/>
                  </a:rPr>
                  <a:t>Gợi mở: Chi phí biên là đạo hàm hay là trung bình?</a:t>
                </a:r>
              </a:p>
            </p:txBody>
          </p:sp>
        </mc:Choice>
        <mc:Fallback>
          <p:sp>
            <p:nvSpPr>
              <p:cNvPr id="7" name="TextBox 6"/>
              <p:cNvSpPr txBox="1"/>
              <p:nvPr/>
            </p:nvSpPr>
            <p:spPr>
              <a:xfrm>
                <a:off x="731520" y="1463040"/>
                <a:ext cx="10789920" cy="22707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Đề: Ví dụ 3b – chi phí biên tại </a:t>
                </a:r>
                <a:r>
                  <a:rPr lang="vi-VN"/>
                  <a:t>x=200</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"Chi phí biên là chi phí trung bình mỗi đơn vị: </a:t>
                </a:r>
                <a:r>
                  <a:rPr lang="vi-VN"/>
                  <a:t>(C(200))/200=(990 000)/200=4 950</a:t>
                </a:r>
                <a:r>
                  <a:rPr sz="2400">
                    <a:solidFill>
                      <a:srgbClr val="1E293B"/>
                    </a:solidFill>
                    <a:latin typeface="Calibri"/>
                  </a:rPr>
                  <a:t> nghìn đồng."</a:t>
                </a:r>
              </a:p>
              <a:p>
                <a:pPr algn="l">
                  <a:spcAft>
                    <a:spcPts val="800"/>
                  </a:spcAft>
                </a:pPr>
                <a:r>
                  <a:rPr sz="2400" b="1">
                    <a:solidFill>
                      <a:srgbClr val="1E40AF"/>
                    </a:solidFill>
                    <a:latin typeface="Calibri"/>
                  </a:rPr>
                  <a:t>Gợi mở: Chi phí biên là đạo hàm hay là trung bình?</a:t>
                </a: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AI: LỜI GIẢI SỐ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59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Sai: nhầm chi phí biên với chi phí trung bình </a:t>
                </a:r>
                <a14:m>
                  <m:oMath xmlns:m="http://schemas.openxmlformats.org/officeDocument/2006/math">
                    <m:f>
                      <m:fPr>
                        <m:type m:val="bar"/>
                      </m:fPr>
                      <m:num>
                        <m:r>
                          <a:rPr lang="vi-VN" sz="2400" b="0">
                            <a:solidFill>
                              <a:srgbClr val="1E293B"/>
                            </a:solidFill>
                            <a:latin typeface="Cambria Math" panose="02040503050406030204" pitchFamily="18" charset="0"/>
                          </a:rPr>
                          <m:t>C(x)</m:t>
                        </m:r>
                      </m:num>
                      <m:den>
                        <m:r>
                          <a:rPr lang="vi-VN" sz="2400" b="0">
                            <a:solidFill>
                              <a:srgbClr val="1E293B"/>
                            </a:solidFill>
                            <a:latin typeface="Cambria Math" panose="02040503050406030204" pitchFamily="18" charset="0"/>
                          </a:rPr>
                          <m:t>x</m:t>
                        </m:r>
                      </m:den>
                    </m:f>
                  </m:oMath>
                </a14:m>
              </a:p>
              <a:p>
                <a:pPr algn="l" marL="365760" indent="-365760">
                  <a:spcAft>
                    <a:spcPts val="800"/>
                  </a:spcAft>
                  <a:buClr>
                    <a:srgbClr val="1E40AF"/>
                  </a:buClr>
                  <a:buFont typeface="Arial"/>
                  <a:buChar char="•"/>
                </a:pPr>
                <a:r>
                  <a:rPr sz="2400">
                    <a:solidFill>
                      <a:srgbClr val="1E293B"/>
                    </a:solidFill>
                    <a:latin typeface="Calibri"/>
                  </a:rPr>
                  <a:t>Chi phí biên là </a:t>
                </a:r>
                <a14:m>
                  <m:oMath xmlns:m="http://schemas.openxmlformats.org/officeDocument/2006/math">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(x)=300−5x+0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375</m:t>
                    </m:r>
                    <m:sSup>
                      <m:e>
                        <m:r>
                          <a:rPr lang="vi-VN" sz="2400" b="0">
                            <a:solidFill>
                              <a:srgbClr val="1E293B"/>
                            </a:solidFill>
                            <a:latin typeface="Cambria Math" panose="02040503050406030204" pitchFamily="18" charset="0"/>
                          </a:rPr>
                          <m:t>x</m:t>
                        </m:r>
                      </m:e>
                      <m:sup>
                        <m:r>
                          <a:rPr lang="vi-VN" sz="2400" b="0">
                            <a:solidFill>
                              <a:srgbClr val="1E293B"/>
                            </a:solidFill>
                            <a:latin typeface="Cambria Math" panose="02040503050406030204" pitchFamily="18" charset="0"/>
                          </a:rPr>
                          <m:t>2</m:t>
                        </m:r>
                      </m:sup>
                    </m:sSup>
                  </m:oMath>
                </a14:m>
              </a:p>
            </p:txBody>
          </p:sp>
        </mc:Choice>
        <mc:Fallback>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Sai: nhầm chi phí biên với chi phí trung bình </a:t>
                </a:r>
                <a:r>
                  <a:rPr lang="vi-VN"/>
                  <a:t>\frac{C(x)}{x}</a:t>
                </a:r>
              </a:p>
              <a:p>
                <a:pPr algn="l" marL="365760" indent="-365760">
                  <a:spcAft>
                    <a:spcPts val="800"/>
                  </a:spcAft>
                  <a:buClr>
                    <a:srgbClr val="1E40AF"/>
                  </a:buClr>
                  <a:buFont typeface="Arial"/>
                  <a:buChar char="•"/>
                </a:pPr>
                <a:r>
                  <a:rPr sz="2400">
                    <a:solidFill>
                      <a:srgbClr val="1E293B"/>
                    </a:solidFill>
                    <a:latin typeface="Calibri"/>
                  </a:rPr>
                  <a:t>Chi phí biên là </a:t>
                </a:r>
                <a:r>
                  <a:rPr lang="vi-VN"/>
                  <a:t>C'(x)=300-5x+0{,}375x^2</a:t>
                </a:r>
              </a:p>
            </p:txBody>
          </p:sp>
        </mc:Fallback>
      </mc:AlternateContent>
      <p:sp>
        <p:nvSpPr>
          <p:cNvPr id="8" name="Rounded Rectangle 7"/>
          <p:cNvSpPr/>
          <p:nvPr/>
        </p:nvSpPr>
        <p:spPr>
          <a:xfrm>
            <a:off x="731520" y="279044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79044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p>
                      <m:e>
                        <m:r>
                          <a:rPr lang="vi-VN" sz="2400" b="1">
                            <a:solidFill>
                              <a:srgbClr val="991B1B"/>
                            </a:solidFill>
                            <a:latin typeface="Cambria Math" panose="02040503050406030204" pitchFamily="18" charset="0"/>
                          </a:rPr>
                          <m:t>C</m:t>
                        </m:r>
                      </m:e>
                      <m:sup>
                        <m:r>
                          <a:rPr lang="vi-VN" sz="2400" b="1">
                            <a:solidFill>
                              <a:srgbClr val="991B1B"/>
                            </a:solidFill>
                            <a:latin typeface="Cambria Math" panose="02040503050406030204" pitchFamily="18" charset="0"/>
                          </a:rPr>
                          <m:t>′</m:t>
                        </m:r>
                      </m:sup>
                    </m:sSup>
                    <m:r>
                      <a:rPr lang="vi-VN" sz="2400" b="1">
                        <a:solidFill>
                          <a:srgbClr val="991B1B"/>
                        </a:solidFill>
                        <a:latin typeface="Cambria Math" panose="02040503050406030204" pitchFamily="18" charset="0"/>
                      </a:rPr>
                      <m:t>(200)=14</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300</m:t>
                    </m:r>
                  </m:oMath>
                </a14:m>
                <a:r>
                  <a:rPr sz="2400" b="1">
                    <a:solidFill>
                      <a:srgbClr val="991B1B"/>
                    </a:solidFill>
                    <a:latin typeface="Calibri"/>
                  </a:rPr>
                  <a:t> nghìn đồng</a:t>
                </a:r>
              </a:p>
            </p:txBody>
          </p:sp>
        </mc:Choice>
        <mc:Fallback>
          <p:sp>
            <p:nvSpPr>
              <p:cNvPr id="9" name="TextBox 8"/>
              <p:cNvSpPr txBox="1"/>
              <p:nvPr/>
            </p:nvSpPr>
            <p:spPr>
              <a:xfrm>
                <a:off x="914400" y="279044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C'(200)=14\,300</a:t>
                </a:r>
                <a:r>
                  <a:rPr sz="2400" b="1">
                    <a:solidFill>
                      <a:srgbClr val="991B1B"/>
                    </a:solidFill>
                    <a:latin typeface="Calibri"/>
                  </a:rPr>
                  <a:t> nghìn đồng</a:t>
                </a: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VẬN DỤNG: GIÁ BÁN TI VI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60</a:t>
            </a:r>
          </a:p>
        </p:txBody>
      </p:sp>
      <p:sp>
        <p:nvSpPr>
          <p:cNvPr id="7" name="TextBox 6"/>
          <p:cNvSpPr txBox="1"/>
          <p:nvPr/>
        </p:nvSpPr>
        <p:spPr>
          <a:xfrm>
            <a:off x="731520" y="1463040"/>
            <a:ext cx="10789920" cy="2508504"/>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nhà sản xuất trung bình bán được 1 000 ti vi màn hình phẳng mỗi tuần với giá 14 triệu đồng một chiếc. Một cuộc khảo sát thị trường chỉ ra rằng nếu cứ giảm giá bán 500 nghìn đồng, số lượng ti vi bán ra sẽ tăng thêm khoảng 100 ti vi mỗi tuần.</a:t>
            </a:r>
          </a:p>
          <a:p>
            <a:pPr algn="l">
              <a:spcAft>
                <a:spcPts val="800"/>
              </a:spcAft>
            </a:pPr>
            <a:r>
              <a:rPr sz="2200">
                <a:solidFill>
                  <a:srgbClr val="1E293B"/>
                </a:solidFill>
                <a:latin typeface="Calibri"/>
              </a:rPr>
              <a:t>a) Tìm hàm cầu.</a:t>
            </a:r>
          </a:p>
          <a:p>
            <a:pPr algn="l">
              <a:spcAft>
                <a:spcPts val="800"/>
              </a:spcAft>
            </a:pPr>
            <a:r>
              <a:rPr sz="2200">
                <a:solidFill>
                  <a:srgbClr val="1E293B"/>
                </a:solidFill>
                <a:latin typeface="Calibri"/>
              </a:rPr>
              <a:t>b) Công ty nên giảm giá bao nhiêu cho người mua để doanh thu là lớn nhất?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VẬN DỤNG: GIÁ BÁN TI VI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61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672336"/>
              </a:xfrm>
              <a:prstGeom prst="rect">
                <a:avLst/>
              </a:prstGeom>
              <a:noFill/>
            </p:spPr>
            <p:txBody>
              <a:bodyPr wrap="square" anchor="t" lIns="45720" rIns="45720">
                <a:spAutoFit/>
              </a:bodyPr>
              <a:lstStyle/>
              <a:p>
                <a:pPr algn="l">
                  <a:spcAft>
                    <a:spcPts val="800"/>
                  </a:spcAft>
                </a:pPr>
                <a:r>
                  <a:rPr sz="2200">
                    <a:solidFill>
                      <a:srgbClr val="1E293B"/>
                    </a:solidFill>
                    <a:latin typeface="Calibri"/>
                  </a:rPr>
                  <a:t>c) Nếu hàm chi phí hằng tuần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C(x)=12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000−3x</m:t>
                    </m:r>
                  </m:oMath>
                </a14:m>
                <a:r>
                  <a:rPr sz="2200">
                    <a:solidFill>
                      <a:srgbClr val="1E293B"/>
                    </a:solidFill>
                    <a:latin typeface="Calibri"/>
                  </a:rPr>
                  <a:t> (triệu đồng), trong đó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x</m:t>
                    </m:r>
                  </m:oMath>
                </a14:m>
                <a:r>
                  <a:rPr sz="2200">
                    <a:solidFill>
                      <a:srgbClr val="1E293B"/>
                    </a:solidFill>
                    <a:latin typeface="Calibri"/>
                  </a:rPr>
                  <a:t> là số ti vi bán ra trong tuần, nhà sản xuất nên đặt giá bán như thế nào để lợi nhuận là lớn nhất?</a:t>
                </a:r>
              </a:p>
              <a:p>
                <a:pPr algn="l">
                  <a:spcAft>
                    <a:spcPts val="800"/>
                  </a:spcAft>
                </a:pPr>
                <a:r>
                  <a:rPr sz="2200" b="1">
                    <a:solidFill>
                      <a:srgbClr val="1E40AF"/>
                    </a:solidFill>
                    <a:latin typeface="Calibri"/>
                  </a:rPr>
                  <a:t>Gợi mở: Hàm cầu bậc nhất qua hai điểm </a:t>
                </a:r>
                <a14:m>
                  <m:oMath xmlns:m="http://schemas.openxmlformats.org/officeDocument/2006/math">
                    <m:d>
                      <m:dPr>
                        <m:sepChr m:val=""/>
                      </m:dPr>
                      <m:e>
                        <m:r>
                          <a:rPr lang="vi-VN" sz="2200" b="1">
                            <a:solidFill>
                              <a:srgbClr val="1E40AF"/>
                            </a:solidFill>
                            <a:latin typeface="Cambria Math" panose="02040503050406030204" pitchFamily="18" charset="0"/>
                          </a:rPr>
                          <m:t>1</m:t>
                        </m:r>
                        <m:r>
                          <m:rPr>
                            <m:sty m:val="p"/>
                          </m:rPr>
                          <a:rPr lang="vi-VN" sz="2200" b="1">
                            <a:solidFill>
                              <a:srgbClr val="1E40AF"/>
                            </a:solidFill>
                            <a:latin typeface="Cambria Math" panose="02040503050406030204" pitchFamily="18" charset="0"/>
                          </a:rPr>
                          <m:t> </m:t>
                        </m:r>
                        <m:r>
                          <a:rPr lang="vi-VN" sz="2200" b="1">
                            <a:solidFill>
                              <a:srgbClr val="1E40AF"/>
                            </a:solidFill>
                            <a:latin typeface="Cambria Math" panose="02040503050406030204" pitchFamily="18" charset="0"/>
                          </a:rPr>
                          <m:t>000</m:t>
                        </m:r>
                        <m:r>
                          <a:rPr lang="vi-VN" sz="2200" b="1">
                            <a:solidFill>
                              <a:srgbClr val="1E40AF"/>
                            </a:solidFill>
                            <a:latin typeface="Cambria Math" panose="02040503050406030204" pitchFamily="18" charset="0"/>
                          </a:rPr>
                          <m:t>;</m:t>
                        </m:r>
                        <m:r>
                          <a:rPr lang="vi-VN" sz="2200" b="1">
                            <a:solidFill>
                              <a:srgbClr val="1E40AF"/>
                            </a:solidFill>
                            <a:latin typeface="Cambria Math" panose="02040503050406030204" pitchFamily="18" charset="0"/>
                          </a:rPr>
                          <m:t>14</m:t>
                        </m:r>
                      </m:e>
                    </m:d>
                  </m:oMath>
                </a14:m>
                <a:r>
                  <a:rPr sz="2200" b="1">
                    <a:solidFill>
                      <a:srgbClr val="1E40AF"/>
                    </a:solidFill>
                    <a:latin typeface="Calibri"/>
                  </a:rPr>
                  <a:t> và </a:t>
                </a:r>
                <a14:m>
                  <m:oMath xmlns:m="http://schemas.openxmlformats.org/officeDocument/2006/math">
                    <m:d>
                      <m:dPr>
                        <m:sepChr m:val=""/>
                      </m:dPr>
                      <m:e>
                        <m:r>
                          <a:rPr lang="vi-VN" sz="2200" b="1">
                            <a:solidFill>
                              <a:srgbClr val="1E40AF"/>
                            </a:solidFill>
                            <a:latin typeface="Cambria Math" panose="02040503050406030204" pitchFamily="18" charset="0"/>
                          </a:rPr>
                          <m:t>1</m:t>
                        </m:r>
                        <m:r>
                          <m:rPr>
                            <m:sty m:val="p"/>
                          </m:rPr>
                          <a:rPr lang="vi-VN" sz="2200" b="1">
                            <a:solidFill>
                              <a:srgbClr val="1E40AF"/>
                            </a:solidFill>
                            <a:latin typeface="Cambria Math" panose="02040503050406030204" pitchFamily="18" charset="0"/>
                          </a:rPr>
                          <m:t> </m:t>
                        </m:r>
                        <m:r>
                          <a:rPr lang="vi-VN" sz="2200" b="1">
                            <a:solidFill>
                              <a:srgbClr val="1E40AF"/>
                            </a:solidFill>
                            <a:latin typeface="Cambria Math" panose="02040503050406030204" pitchFamily="18" charset="0"/>
                          </a:rPr>
                          <m:t>100</m:t>
                        </m:r>
                        <m:r>
                          <a:rPr lang="vi-VN" sz="2200" b="1">
                            <a:solidFill>
                              <a:srgbClr val="1E40AF"/>
                            </a:solidFill>
                            <a:latin typeface="Cambria Math" panose="02040503050406030204" pitchFamily="18" charset="0"/>
                          </a:rPr>
                          <m:t>;</m:t>
                        </m:r>
                        <m:r>
                          <a:rPr lang="vi-VN" sz="2200" b="1">
                            <a:solidFill>
                              <a:srgbClr val="1E40AF"/>
                            </a:solidFill>
                            <a:latin typeface="Cambria Math" panose="02040503050406030204" pitchFamily="18" charset="0"/>
                          </a:rPr>
                          <m:t>13</m:t>
                        </m:r>
                        <m:r>
                          <a:rPr lang="vi-VN" sz="2200" b="1">
                            <a:solidFill>
                              <a:srgbClr val="1E40AF"/>
                            </a:solidFill>
                            <a:latin typeface="Cambria Math" panose="02040503050406030204" pitchFamily="18" charset="0"/>
                          </a:rPr>
                          <m:t>,</m:t>
                        </m:r>
                        <m:r>
                          <a:rPr lang="vi-VN" sz="2200" b="1">
                            <a:solidFill>
                              <a:srgbClr val="1E40AF"/>
                            </a:solidFill>
                            <a:latin typeface="Cambria Math" panose="02040503050406030204" pitchFamily="18" charset="0"/>
                          </a:rPr>
                          <m:t>5</m:t>
                        </m:r>
                      </m:e>
                    </m:d>
                  </m:oMath>
                </a14:m>
              </a:p>
            </p:txBody>
          </p:sp>
        </mc:Choice>
        <mc:Fallback>
          <p:sp>
            <p:nvSpPr>
              <p:cNvPr id="7" name="TextBox 6"/>
              <p:cNvSpPr txBox="1"/>
              <p:nvPr/>
            </p:nvSpPr>
            <p:spPr>
              <a:xfrm>
                <a:off x="731520" y="1463040"/>
                <a:ext cx="10789920" cy="1672336"/>
              </a:xfrm>
              <a:prstGeom prst="rect">
                <a:avLst/>
              </a:prstGeom>
              <a:noFill/>
            </p:spPr>
            <p:txBody>
              <a:bodyPr wrap="square" anchor="t" lIns="45720" rIns="45720">
                <a:spAutoFit/>
              </a:bodyPr>
              <a:lstStyle/>
              <a:p>
                <a:pPr algn="l">
                  <a:spcAft>
                    <a:spcPts val="800"/>
                  </a:spcAft>
                </a:pPr>
                <a:r>
                  <a:rPr sz="2200">
                    <a:solidFill>
                      <a:srgbClr val="1E293B"/>
                    </a:solidFill>
                    <a:latin typeface="Calibri"/>
                  </a:rPr>
                  <a:t>c) Nếu hàm chi phí hằng tuần là </a:t>
                </a:r>
                <a:r>
                  <a:rPr lang="vi-VN"/>
                  <a:t>C(x)=12 000−3x</a:t>
                </a:r>
                <a:r>
                  <a:rPr sz="2200">
                    <a:solidFill>
                      <a:srgbClr val="1E293B"/>
                    </a:solidFill>
                    <a:latin typeface="Calibri"/>
                  </a:rPr>
                  <a:t> (triệu đồng), trong đó </a:t>
                </a:r>
                <a:r>
                  <a:rPr lang="vi-VN"/>
                  <a:t>x</a:t>
                </a:r>
                <a:r>
                  <a:rPr sz="2200">
                    <a:solidFill>
                      <a:srgbClr val="1E293B"/>
                    </a:solidFill>
                    <a:latin typeface="Calibri"/>
                  </a:rPr>
                  <a:t> là số ti vi bán ra trong tuần, nhà sản xuất nên đặt giá bán như thế nào để lợi nhuận là lớn nhất?</a:t>
                </a:r>
              </a:p>
              <a:p>
                <a:pPr algn="l">
                  <a:spcAft>
                    <a:spcPts val="800"/>
                  </a:spcAft>
                </a:pPr>
                <a:r>
                  <a:rPr sz="2200" b="1">
                    <a:solidFill>
                      <a:srgbClr val="1E40AF"/>
                    </a:solidFill>
                    <a:latin typeface="Calibri"/>
                  </a:rPr>
                  <a:t>Gợi mở: Hàm cầu bậc nhất qua hai điểm </a:t>
                </a:r>
                <a:r>
                  <a:rPr lang="vi-VN"/>
                  <a:t>(1\,000;14)</a:t>
                </a:r>
                <a:r>
                  <a:rPr sz="2200" b="1">
                    <a:solidFill>
                      <a:srgbClr val="1E40AF"/>
                    </a:solidFill>
                    <a:latin typeface="Calibri"/>
                  </a:rPr>
                  <a:t> và </a:t>
                </a:r>
                <a:r>
                  <a:rPr lang="vi-VN"/>
                  <a:t>(1\,100;13{,}5)</a:t>
                </a: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VẬN DỤNG: GIÁ BÁN TI VI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62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0919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m:r>
                      <a:rPr lang="vi-VN" sz="2200" b="0">
                        <a:solidFill>
                          <a:srgbClr val="1E293B"/>
                        </a:solidFill>
                        <a:latin typeface="Cambria Math" panose="02040503050406030204" pitchFamily="18" charset="0"/>
                      </a:rPr>
                      <m:t>x=1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000+200(14−p)⇒p(x)=19−</m:t>
                    </m:r>
                    <m:f>
                      <m:fPr>
                        <m:type m:val="bar"/>
                      </m:fPr>
                      <m:num>
                        <m:r>
                          <a:rPr lang="vi-VN" sz="2200" b="0">
                            <a:solidFill>
                              <a:srgbClr val="1E293B"/>
                            </a:solidFill>
                            <a:latin typeface="Cambria Math" panose="02040503050406030204" pitchFamily="18" charset="0"/>
                          </a:rPr>
                          <m:t>x</m:t>
                        </m:r>
                      </m:num>
                      <m:den>
                        <m:r>
                          <a:rPr lang="vi-VN" sz="2200" b="0">
                            <a:solidFill>
                              <a:srgbClr val="1E293B"/>
                            </a:solidFill>
                            <a:latin typeface="Cambria Math" panose="02040503050406030204" pitchFamily="18" charset="0"/>
                          </a:rPr>
                          <m:t>200</m:t>
                        </m:r>
                      </m:den>
                    </m:f>
                  </m:oMath>
                </a14:m>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m:r>
                      <a:rPr lang="vi-VN" sz="2200" b="0">
                        <a:solidFill>
                          <a:srgbClr val="1E293B"/>
                        </a:solidFill>
                        <a:latin typeface="Cambria Math" panose="02040503050406030204" pitchFamily="18" charset="0"/>
                      </a:rPr>
                      <m:t>R(x)=19x−</m:t>
                    </m:r>
                    <m:f>
                      <m:fPr>
                        <m:type m:val="bar"/>
                      </m:fPr>
                      <m:num>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num>
                      <m:den>
                        <m:r>
                          <a:rPr lang="vi-VN" sz="2200" b="0">
                            <a:solidFill>
                              <a:srgbClr val="1E293B"/>
                            </a:solidFill>
                            <a:latin typeface="Cambria Math" panose="02040503050406030204" pitchFamily="18" charset="0"/>
                          </a:rPr>
                          <m:t>200</m:t>
                        </m:r>
                      </m:den>
                    </m:f>
                  </m:oMath>
                </a14:m>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R</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(x)=0⇔x=1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900</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p=9</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oMath>
                </a14:m>
              </a:p>
              <a:p>
                <a:pPr algn="l" marL="365760" indent="-365760">
                  <a:spcAft>
                    <a:spcPts val="800"/>
                  </a:spcAft>
                  <a:buClr>
                    <a:srgbClr val="1E40AF"/>
                  </a:buClr>
                  <a:buFont typeface="Arial"/>
                  <a:buChar char="•"/>
                </a:pPr>
                <a:r>
                  <a:rPr sz="2200">
                    <a:solidFill>
                      <a:srgbClr val="1E293B"/>
                    </a:solidFill>
                    <a:latin typeface="Calibri"/>
                  </a:rPr>
                  <a:t>c) </a:t>
                </a:r>
                <a14:m>
                  <m:oMath xmlns:m="http://schemas.openxmlformats.org/officeDocument/2006/math">
                    <m:r>
                      <a:rPr lang="vi-VN" sz="2200" b="0">
                        <a:solidFill>
                          <a:srgbClr val="1E293B"/>
                        </a:solidFill>
                        <a:latin typeface="Cambria Math" panose="02040503050406030204" pitchFamily="18" charset="0"/>
                      </a:rPr>
                      <m:t>P(x)=R(x)−C(x)=22x−</m:t>
                    </m:r>
                    <m:f>
                      <m:fPr>
                        <m:type m:val="bar"/>
                      </m:fPr>
                      <m:num>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num>
                      <m:den>
                        <m:r>
                          <a:rPr lang="vi-VN" sz="2200" b="0">
                            <a:solidFill>
                              <a:srgbClr val="1E293B"/>
                            </a:solidFill>
                            <a:latin typeface="Cambria Math" panose="02040503050406030204" pitchFamily="18" charset="0"/>
                          </a:rPr>
                          <m:t>200</m:t>
                        </m:r>
                      </m:den>
                    </m:f>
                    <m:r>
                      <a:rPr lang="vi-VN" sz="2200" b="0">
                        <a:solidFill>
                          <a:srgbClr val="1E293B"/>
                        </a:solidFill>
                        <a:latin typeface="Cambria Math" panose="02040503050406030204" pitchFamily="18" charset="0"/>
                      </a:rPr>
                      <m:t>−12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m:t>
                    </m:r>
                  </m:oMath>
                </a14:m>
              </a:p>
            </p:txBody>
          </p:sp>
        </mc:Choice>
        <mc:Fallback>
          <p:sp>
            <p:nvSpPr>
              <p:cNvPr id="7" name="TextBox 6"/>
              <p:cNvSpPr txBox="1"/>
              <p:nvPr/>
            </p:nvSpPr>
            <p:spPr>
              <a:xfrm>
                <a:off x="731520" y="1463040"/>
                <a:ext cx="10789920" cy="190919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r>
                  <a:rPr lang="vi-VN"/>
                  <a:t>x=1\,000+200(14-p)\Rightarrow p(x)=19-\frac{x}{200}</a:t>
                </a:r>
              </a:p>
              <a:p>
                <a:pPr algn="l" marL="365760" indent="-365760">
                  <a:spcAft>
                    <a:spcPts val="800"/>
                  </a:spcAft>
                  <a:buClr>
                    <a:srgbClr val="1E40AF"/>
                  </a:buClr>
                  <a:buFont typeface="Arial"/>
                  <a:buChar char="•"/>
                </a:pPr>
                <a:r>
                  <a:rPr sz="2200">
                    <a:solidFill>
                      <a:srgbClr val="1E293B"/>
                    </a:solidFill>
                    <a:latin typeface="Calibri"/>
                  </a:rPr>
                  <a:t>b) </a:t>
                </a:r>
                <a:r>
                  <a:rPr lang="vi-VN"/>
                  <a:t>R(x)=19x-\frac{x^2}{200}</a:t>
                </a:r>
                <a:r>
                  <a:rPr sz="2200">
                    <a:solidFill>
                      <a:srgbClr val="1E293B"/>
                    </a:solidFill>
                    <a:latin typeface="Calibri"/>
                  </a:rPr>
                  <a:t>; </a:t>
                </a:r>
                <a:r>
                  <a:rPr lang="vi-VN"/>
                  <a:t>R'(x)=0\Leftrightarrow x=1\,900</a:t>
                </a:r>
                <a:r>
                  <a:rPr sz="2200">
                    <a:solidFill>
                      <a:srgbClr val="1E293B"/>
                    </a:solidFill>
                    <a:latin typeface="Calibri"/>
                  </a:rPr>
                  <a:t>, </a:t>
                </a:r>
                <a:r>
                  <a:rPr lang="vi-VN"/>
                  <a:t>p=9{,}5</a:t>
                </a:r>
              </a:p>
              <a:p>
                <a:pPr algn="l" marL="365760" indent="-365760">
                  <a:spcAft>
                    <a:spcPts val="800"/>
                  </a:spcAft>
                  <a:buClr>
                    <a:srgbClr val="1E40AF"/>
                  </a:buClr>
                  <a:buFont typeface="Arial"/>
                  <a:buChar char="•"/>
                </a:pPr>
                <a:r>
                  <a:rPr sz="2200">
                    <a:solidFill>
                      <a:srgbClr val="1E293B"/>
                    </a:solidFill>
                    <a:latin typeface="Calibri"/>
                  </a:rPr>
                  <a:t>c) </a:t>
                </a:r>
                <a:r>
                  <a:rPr lang="vi-VN"/>
                  <a:t>P(x)=R(x)-C(x)=22x-\frac{x^2}{200}-12\,000</a:t>
                </a: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VẬN DỤNG: GIÁ BÁN TI VI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63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29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p>
                      <m:e>
                        <m:r>
                          <a:rPr lang="vi-VN" sz="2200" b="0">
                            <a:solidFill>
                              <a:srgbClr val="1E293B"/>
                            </a:solidFill>
                            <a:latin typeface="Cambria Math" panose="02040503050406030204" pitchFamily="18" charset="0"/>
                          </a:rPr>
                          <m:t>P</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(x)=0⇔x=2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200</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p=19−11=8</m:t>
                    </m:r>
                  </m:oMath>
                </a14:m>
              </a:p>
            </p:txBody>
          </p:sp>
        </mc:Choice>
        <mc:Fallback>
          <p:sp>
            <p:nvSpPr>
              <p:cNvPr id="7" name="TextBox 6"/>
              <p:cNvSpPr txBox="1"/>
              <p:nvPr/>
            </p:nvSpPr>
            <p:spPr>
              <a:xfrm>
                <a:off x="731520" y="1463040"/>
                <a:ext cx="10789920" cy="4729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P'(x)=0\Leftrightarrow x=2\,200</a:t>
                </a:r>
                <a:r>
                  <a:rPr sz="2200">
                    <a:solidFill>
                      <a:srgbClr val="1E293B"/>
                    </a:solidFill>
                    <a:latin typeface="Calibri"/>
                  </a:rPr>
                  <a:t>, </a:t>
                </a:r>
                <a:r>
                  <a:rPr lang="vi-VN"/>
                  <a:t>p=19-11=8</a:t>
                </a:r>
              </a:p>
            </p:txBody>
          </p:sp>
        </mc:Fallback>
      </mc:AlternateContent>
      <p:sp>
        <p:nvSpPr>
          <p:cNvPr id="8" name="Rounded Rectangle 7"/>
          <p:cNvSpPr/>
          <p:nvPr/>
        </p:nvSpPr>
        <p:spPr>
          <a:xfrm>
            <a:off x="731520" y="2073148"/>
            <a:ext cx="9601200" cy="1112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73148"/>
            <a:ext cx="9235440" cy="11125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Doanh thu lớn nhất: giảm giá 4,5 triệu đồng; lợi nhuận lớn nhất: giá 8 triệu đồng</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NHIỆM VỤ NHÓM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64</a:t>
            </a:r>
          </a:p>
        </p:txBody>
      </p:sp>
      <p:sp>
        <p:nvSpPr>
          <p:cNvPr id="7" name="TextBox 6"/>
          <p:cNvSpPr txBox="1"/>
          <p:nvPr/>
        </p:nvSpPr>
        <p:spPr>
          <a:xfrm>
            <a:off x="731520" y="1463040"/>
            <a:ext cx="10789920" cy="1430527"/>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Nhiệm vụ nhóm "Giá bán cà phê rang xay" (4–5 HS/nhóm, làm ngoài giờ):</a:t>
            </a:r>
            <a:r>
              <a:rPr sz="2000">
                <a:solidFill>
                  <a:srgbClr val="1E293B"/>
                </a:solidFill>
                <a:latin typeface="Calibri"/>
              </a:rPr>
              <a:t> Nhóm khảo sát giá bán và lượng bán cà phê rang xay của một cửa hàng ở địa phương tại hai mức giá (ghi nguồn), giả sử hàm cầu bậc nhất, lập hàm doanh thu, tìm giá bán cho doanh thu lớn nhất; vẽ đồ thị bằng GeoGebra; nộp 3–5 slide kèm Nhật ký sử dụng AI.</a:t>
            </a:r>
          </a:p>
        </p:txBody>
      </p:sp>
      <p:sp>
        <p:nvSpPr>
          <p:cNvPr id="8" name="Rounded Rectangle 7"/>
          <p:cNvSpPr/>
          <p:nvPr/>
        </p:nvSpPr>
        <p:spPr>
          <a:xfrm>
            <a:off x="731520" y="3030727"/>
            <a:ext cx="9601200" cy="10363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030727"/>
            <a:ext cx="9235440" cy="1036320"/>
          </a:xfrm>
          <a:prstGeom prst="rect">
            <a:avLst/>
          </a:prstGeom>
          <a:noFill/>
        </p:spPr>
        <p:txBody>
          <a:bodyPr wrap="square" anchor="ctr" lIns="45720" rIns="45720">
            <a:spAutoFit/>
          </a:bodyPr>
          <a:lstStyle/>
          <a:p>
            <a:pPr algn="l">
              <a:spcAft>
                <a:spcPts val="400"/>
              </a:spcAft>
            </a:pPr>
            <a:r>
              <a:rPr sz="2000" b="1">
                <a:solidFill>
                  <a:srgbClr val="991B1B"/>
                </a:solidFill>
                <a:latin typeface="Calibri"/>
              </a:rPr>
              <a:t>Nộp 3–5 slide kèm Nhật ký sử dụng AI trên Google Classroom/Padlet trong 1 tuần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SƠ ĐỒ TƯ DUY – CỦNG CỐ</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65</a:t>
            </a:r>
          </a:p>
        </p:txBody>
      </p:sp>
      <p:pic>
        <p:nvPicPr>
          <p:cNvPr id="6" name="Picture 5" descr="img06.png"/>
          <p:cNvPicPr>
            <a:picLocks noChangeAspect="1"/>
          </p:cNvPicPr>
          <p:nvPr/>
        </p:nvPicPr>
        <p:blipFill>
          <a:blip r:embed="rId2"/>
          <a:stretch>
            <a:fillRect/>
          </a:stretch>
        </p:blipFill>
        <p:spPr>
          <a:xfrm>
            <a:off x="2213218" y="1417320"/>
            <a:ext cx="7735084" cy="4343400"/>
          </a:xfrm>
          <a:prstGeom prst="rect">
            <a:avLst/>
          </a:prstGeom>
        </p:spPr>
      </p:pic>
      <p:sp>
        <p:nvSpPr>
          <p:cNvPr id="7" name="TextBox 6"/>
          <p:cNvSpPr txBox="1"/>
          <p:nvPr/>
        </p:nvSpPr>
        <p:spPr>
          <a:xfrm>
            <a:off x="731520" y="5806440"/>
            <a:ext cx="10698480" cy="457200"/>
          </a:xfrm>
          <a:prstGeom prst="rect">
            <a:avLst/>
          </a:prstGeom>
          <a:noFill/>
        </p:spPr>
        <p:txBody>
          <a:bodyPr wrap="square" anchor="t" lIns="45720" rIns="45720">
            <a:spAutoFit/>
          </a:bodyPr>
          <a:lstStyle/>
          <a:p>
            <a:pPr algn="ctr">
              <a:spcAft>
                <a:spcPts val="800"/>
              </a:spcAft>
            </a:pPr>
            <a:r>
              <a:rPr sz="2000" b="1">
                <a:solidFill>
                  <a:srgbClr val="1E40AF"/>
                </a:solidFill>
                <a:latin typeface="Calibri"/>
              </a:rPr>
              <a:t>Nêu nội dung từng nhánh</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BÀI TẬP CỦA BẠN</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12 · Bài 5. Ứng dụng đạo hàm giải quyết vấn đề thực tiễn          66</a:t>
            </a:r>
          </a:p>
        </p:txBody>
      </p:sp>
      <p:sp>
        <p:nvSpPr>
          <p:cNvPr id="6" name="Rectangle 5"/>
          <p:cNvSpPr/>
          <p:nvPr/>
        </p:nvSpPr>
        <p:spPr>
          <a:xfrm>
            <a:off x="731520" y="1463040"/>
            <a:ext cx="4572000" cy="4572000"/>
          </a:xfrm>
          <a:prstGeom prst="rect">
            <a:avLst/>
          </a:prstGeom>
          <a:solidFill>
            <a:srgbClr val="F8FAFC"/>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_CungCo_Bai5_Toan12.png"/>
          <p:cNvPicPr>
            <a:picLocks noChangeAspect="1"/>
          </p:cNvPicPr>
          <p:nvPr/>
        </p:nvPicPr>
        <p:blipFill>
          <a:blip r:embed="rId2"/>
          <a:stretch>
            <a:fillRect/>
          </a:stretch>
        </p:blipFill>
        <p:spPr>
          <a:xfrm>
            <a:off x="960120" y="1691640"/>
            <a:ext cx="4114800" cy="4114800"/>
          </a:xfrm>
          <a:prstGeom prst="rect">
            <a:avLst/>
          </a:prstGeom>
        </p:spPr>
      </p:pic>
      <p:sp>
        <p:nvSpPr>
          <p:cNvPr id="8" name="TextBox 7"/>
          <p:cNvSpPr txBox="1"/>
          <p:nvPr/>
        </p:nvSpPr>
        <p:spPr>
          <a:xfrm>
            <a:off x="5760720" y="1554480"/>
            <a:ext cx="6035040" cy="31089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600">
                <a:solidFill>
                  <a:srgbClr val="1E293B"/>
                </a:solidFill>
                <a:latin typeface="Calibri"/>
              </a:rPr>
              <a:t>Quét mã QR bằng điện thoại</a:t>
            </a:r>
          </a:p>
          <a:p>
            <a:pPr algn="l" marL="365760" indent="-365760">
              <a:spcAft>
                <a:spcPts val="800"/>
              </a:spcAft>
              <a:buClr>
                <a:srgbClr val="1E40AF"/>
              </a:buClr>
              <a:buFont typeface="Arial"/>
              <a:buChar char="•"/>
            </a:pPr>
            <a:r>
              <a:rPr sz="2600">
                <a:solidFill>
                  <a:srgbClr val="1E293B"/>
                </a:solidFill>
                <a:latin typeface="Calibri"/>
              </a:rPr>
              <a:t>Nhập họ tên và lớp</a:t>
            </a:r>
          </a:p>
          <a:p>
            <a:pPr algn="l" marL="365760" indent="-365760">
              <a:spcAft>
                <a:spcPts val="800"/>
              </a:spcAft>
              <a:buClr>
                <a:srgbClr val="1E40AF"/>
              </a:buClr>
              <a:buFont typeface="Arial"/>
              <a:buChar char="•"/>
            </a:pPr>
            <a:r>
              <a:rPr sz="2600">
                <a:solidFill>
                  <a:srgbClr val="1E293B"/>
                </a:solidFill>
                <a:latin typeface="Calibri"/>
              </a:rPr>
              <a:t>7 câu – làm trong 7 phút</a:t>
            </a:r>
          </a:p>
          <a:p>
            <a:pPr algn="l" marL="365760" indent="-365760">
              <a:spcAft>
                <a:spcPts val="800"/>
              </a:spcAft>
              <a:buClr>
                <a:srgbClr val="1E40AF"/>
              </a:buClr>
              <a:buFont typeface="Arial"/>
              <a:buChar char="•"/>
            </a:pPr>
            <a:r>
              <a:rPr sz="2600">
                <a:solidFill>
                  <a:srgbClr val="1E293B"/>
                </a:solidFill>
                <a:latin typeface="Calibri"/>
              </a:rPr>
              <a:t>Nộp bài, xem lời giải</a:t>
            </a:r>
          </a:p>
        </p:txBody>
      </p:sp>
      <p:sp>
        <p:nvSpPr>
          <p:cNvPr id="9" name="TextBox 8"/>
          <p:cNvSpPr txBox="1"/>
          <p:nvPr/>
        </p:nvSpPr>
        <p:spPr>
          <a:xfrm>
            <a:off x="5760720" y="4754880"/>
            <a:ext cx="6035040" cy="1188720"/>
          </a:xfrm>
          <a:prstGeom prst="rect">
            <a:avLst/>
          </a:prstGeom>
          <a:noFill/>
        </p:spPr>
        <p:txBody>
          <a:bodyPr wrap="square" anchor="t" lIns="45720" rIns="45720">
            <a:spAutoFit/>
          </a:bodyPr>
          <a:lstStyle/>
          <a:p>
            <a:pPr algn="l">
              <a:spcAft>
                <a:spcPts val="800"/>
              </a:spcAft>
            </a:pPr>
            <a:r>
              <a:rPr sz="1800" b="1">
                <a:solidFill>
                  <a:srgbClr val="1E40AF"/>
                </a:solidFill>
                <a:latin typeface="Calibri"/>
                <a:hlinkClick r:id="rId3"/>
              </a:rPr>
              <a:t>trangtu66.github.io/Taode_thi_online/cc_bai5_t12.html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TTT</dc:creator>
  <cp:keywords/>
  <dc:description>generated using python-pptx</dc:description>
  <cp:lastModifiedBy>TTT</cp:lastModifiedBy>
  <cp:revision>1</cp:revision>
  <dcterms:created xsi:type="dcterms:W3CDTF">2013-01-27T09:14:16Z</dcterms:created>
  <dcterms:modified xsi:type="dcterms:W3CDTF">2013-01-27T09:15:58Z</dcterms:modified>
  <cp:category/>
</cp:coreProperties>
</file>