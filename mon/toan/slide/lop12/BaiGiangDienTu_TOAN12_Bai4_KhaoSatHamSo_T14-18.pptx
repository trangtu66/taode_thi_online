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Lớp có HS khuyết tật: 12A2, 12A7 (khiếm thị) – GV đọc to công thức, bảng biến thiên, mô tả đồ thị; 12A3, 12A5, 12A7 (vận động) – HS trả lời tại chỗ, không cần lên bảng.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6' – HĐ1: 15' – khung sơ đồ, Chú ý 10' – Ghép đôi 6' – Luyện tập nhanh 5'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HS nhớ lại Bài 1.19 (Bài 3): f giảm, tiệm cận ngang y = 2. Giải trọn vẹn ở Luyện tập 2 (Tiết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 15'. HS làm theo nhóm đôi. Click lần lượt a – c; d)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Click 1. Đồ thị là parabol, nhận đường thẳng x = 2 làm trục đối xứng.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HS chép sơ đồ – dùng cho cả bài. Chú ý: tìm thêm điểm đặc biệt, tính đối xứng.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Ví dụ 1 (2 slide) 15' – Chú ý tâm đối xứng 3' – Ví dụ 2 (2 slide) 12' – Luyện tập 1: 10' – GeoGebra 3'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mẫu theo sơ đồ. Click 1–4: đạo hàm, đơn điệu, cực trị, giới hạn; click 5: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lần lượt: giao điểm với các trục, tâm đối xứng/trục đối xứng. Vẽ đồ thị dựa vào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hướng dẫn, HS trình bày. y' &gt; 0 với mọi x (Δ' = 4 − 6 &lt; 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lần lượt: giao điểm với các trục, tâm đối xứng/trục đối xứng. Vẽ đồ thị dựa vào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HS làm cá nhân, 1 HS lên bảng. Click 1–3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Ban đầu a = −1, b = 3, c = 0, d = −4 (Ví dụ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Ví dụ 3 (2 slide) 15' – Chú ý 3' – Luyện tập 2: 8' – Vận dụng 10' – Đúng hay sai? 5' – Tổng kết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mẫu. Tiệm cận: đứng x = 2, ngang y = 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lần lượt: giao điểm với các trục, tâm đối xứng/trục đối xứng. Vẽ đồ thị dựa vào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Coi f(x) xác định với x ≥ 1. Click 1–3.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Nhóm 4 HS. Click 1–3. Liên hệ: xử lí nước bể bơi, bể chứa nước sinh hoạt.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Click 1–4.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Ban đầu a = 1, b = 1, c = 1, d = −2 (Ví dụ 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4 (45'): Ai nhanh hơn 4' – Ví dụ 4 (2 slide) 14' – Ví dụ 5 (2 slide) 12' – Chú ý 3' – Luyện tập 3: 9' – Tổng kết 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Chia đa thức – chuẩn bị cho Ví dụ 4. Click 1–4.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trình bày mẫu. Viết y = x + 1 + 1/(x − 2) để tính đạo hàm, tiệm cận nhanh.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lần lượt: giao điểm với các trục, tâm đối xứng/trục đối xứng. Vẽ đồ thị dựa vào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trình bày theo mẫu Ví dụ 4. y' &gt; 0 với mọi x ≠ −1: không có cực trị.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lần lượt: giao điểm với các trục, tâm đối xứng/trục đối xứng. Vẽ đồ thị dựa vào bảng biến thiên.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HS làm cá nhân. Click 1–3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5 (45'): 1.21 – 1.23: 15' (chia nhóm, mỗi nhóm một hàm) – 1.24, 1.25: 10' – Rung chuông vàng 15' – Củng cố online 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Chữa bài: mỗi nhóm trình bày một hàm, click hiện kết quả chính (đối chiếu SGV tr.66 – 69;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Chữa bài: mỗi nhóm trình bày một hàm, click hiện kết quả chính (đối chiếu SGV tr.66 – 69;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Chữa bài: mỗi nhóm trình bày một hàm, click hiện kết quả chính (đối chiếu SGV tr.66 – 69;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Chữa bài: mỗi nhóm trình bày một hàm, click hiện kết quả chính (đối chiếu SGV tr.66 – 69;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Chữa bài: mỗi nhóm trình bày một hàm, click hiện kết quả chính (đối chiếu SGV tr.66 – 69; đã kiểm tra bằng sympy).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8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A, C: điểm cực trị.</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 đảo thứ tự toạ độ.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 không có cực trị.</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Đáp án đã kiểm tra bằng sympy: Đ – S – Đ – Đ.</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trangtu66.github.io/Taode_thi_online/GGB_T12_Bai4_1_BacBa.html" TargetMode="External"/><Relationship Id="rId4" Type="http://schemas.openxmlformats.org/officeDocument/2006/relationships/image" Target="../media/image9.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trangtu66.github.io/Taode_thi_online/GGB_T12_Bai4_2_PhanThuc.html" TargetMode="External"/><Relationship Id="rId4" Type="http://schemas.openxmlformats.org/officeDocument/2006/relationships/image" Target="../media/image13.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8.png"/><Relationship Id="rId4" Type="http://schemas.openxmlformats.org/officeDocument/2006/relationships/hyperlink" Target="https://trangtu66.github.io/Taode_thi_online/cc_bai4_t12.htm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ỨNG DỤNG ĐẠO HÀM ĐỂ KHẢO SÁT VÀ VẼ ĐỒ THỊ HÀM SỐ</a:t>
            </a:r>
          </a:p>
          <a:p>
            <a:pPr>
              <a:spcAft>
                <a:spcPts val="600"/>
              </a:spcAft>
            </a:pPr>
            <a:r>
              <a:rPr sz="3000" b="1">
                <a:solidFill>
                  <a:srgbClr val="FFFFFF"/>
                </a:solidFill>
                <a:latin typeface="Cambria"/>
              </a:rPr>
              <a:t>BÀI 4</a:t>
            </a:r>
          </a:p>
          <a:p>
            <a:pPr>
              <a:spcAft>
                <a:spcPts val="600"/>
              </a:spcAft>
            </a:pPr>
            <a:r>
              <a:rPr sz="4000" b="1">
                <a:solidFill>
                  <a:srgbClr val="FFFFFF"/>
                </a:solidFill>
                <a:latin typeface="Cambria"/>
              </a:rPr>
              <a:t>KHẢO SÁT SỰ BIẾN THIÊN VÀ VẼ ĐỒ THỊ CỦA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5 tiết: T14 – T18</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a:t>
            </a:r>
          </a:p>
        </p:txBody>
      </p:sp>
      <p:sp>
        <p:nvSpPr>
          <p:cNvPr id="7" name="Rounded Rectangle 6"/>
          <p:cNvSpPr/>
          <p:nvPr/>
        </p:nvSpPr>
        <p:spPr>
          <a:xfrm>
            <a:off x="548640" y="1417320"/>
            <a:ext cx="11064240" cy="291388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284073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tr.26)</a:t>
            </a:r>
          </a:p>
          <a:p>
            <a:pPr algn="l" marL="365760" indent="-365760">
              <a:spcAft>
                <a:spcPts val="800"/>
              </a:spcAft>
              <a:buClr>
                <a:srgbClr val="1E40AF"/>
              </a:buClr>
              <a:buFont typeface="Arial"/>
              <a:buChar char="•"/>
            </a:pPr>
            <a:r>
              <a:rPr sz="2200">
                <a:solidFill>
                  <a:srgbClr val="1E293B"/>
                </a:solidFill>
                <a:latin typeface="Calibri"/>
              </a:rPr>
              <a:t>Mô tả sơ đồ tổng quát để khảo sát hàm số (tìm tập xác định, xét chiều biến thiên, tìm cực trị, tìm tiệm cận, lập bảng biến thiên, vẽ đồ thị).</a:t>
            </a:r>
          </a:p>
          <a:p>
            <a:pPr algn="l" marL="365760" indent="-365760">
              <a:spcAft>
                <a:spcPts val="800"/>
              </a:spcAft>
              <a:buClr>
                <a:srgbClr val="1E40AF"/>
              </a:buClr>
              <a:buFont typeface="Arial"/>
              <a:buChar char="•"/>
            </a:pPr>
            <a:r>
              <a:rPr sz="2200">
                <a:solidFill>
                  <a:srgbClr val="1E293B"/>
                </a:solidFill>
                <a:latin typeface="Calibri"/>
              </a:rPr>
              <a:t>Khảo sát tập xác định, chiều biến thiên, cực trị, tiệm cận, bảng biến thiên và vẽ đồ thị của các hàm số: hàm bậc ba, hàm phân thức hữu tỉ đơn giản.</a:t>
            </a:r>
          </a:p>
          <a:p>
            <a:pPr algn="l" marL="365760" indent="-365760">
              <a:spcAft>
                <a:spcPts val="800"/>
              </a:spcAft>
              <a:buClr>
                <a:srgbClr val="1E40AF"/>
              </a:buClr>
              <a:buFont typeface="Arial"/>
              <a:buChar char="•"/>
            </a:pPr>
            <a:r>
              <a:rPr sz="2200">
                <a:solidFill>
                  <a:srgbClr val="1E293B"/>
                </a:solidFill>
                <a:latin typeface="Calibri"/>
              </a:rPr>
              <a:t>Nhận biết tính đối xứng (trục đối xứng, tâm đối xứng) của đồ thị các hàm số trên.</a:t>
            </a:r>
          </a:p>
        </p:txBody>
      </p:sp>
      <p:sp>
        <p:nvSpPr>
          <p:cNvPr id="9" name="TextBox 8"/>
          <p:cNvSpPr txBox="1"/>
          <p:nvPr/>
        </p:nvSpPr>
        <p:spPr>
          <a:xfrm>
            <a:off x="548640" y="455980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(chi phí trung bình, nồng độ chất khử trùng, KOH, điện trở); giải quyết vấn đề; sử dụng công cụ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5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T14</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Sơ đồ khảo sát hàm số (HĐ1)</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Ghép đôi</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T15</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2. Hàm số đa thức bậc ba: Ví dụ 1, 2; Luyện tập 1</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GeoGebra</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T16</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3a. Hàm phân thức (ax + b)/(cx + d): Ví dụ 3; Luyện tập 2; Vận dụng</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 · GeoGebra</a:t>
            </a:r>
          </a:p>
        </p:txBody>
      </p:sp>
      <p:sp>
        <p:nvSpPr>
          <p:cNvPr id="19" name="Rounded Rectangle 18"/>
          <p:cNvSpPr/>
          <p:nvPr/>
        </p:nvSpPr>
        <p:spPr>
          <a:xfrm>
            <a:off x="548640" y="443484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0799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T17</a:t>
            </a:r>
          </a:p>
        </p:txBody>
      </p:sp>
      <p:sp>
        <p:nvSpPr>
          <p:cNvPr id="21" name="TextBox 20"/>
          <p:cNvSpPr txBox="1"/>
          <p:nvPr/>
        </p:nvSpPr>
        <p:spPr>
          <a:xfrm>
            <a:off x="1920240" y="452628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3b. Hàm phân thức bậc hai / bậc nhất: Ví dụ 4, 5; Luyện tập 3</a:t>
            </a:r>
          </a:p>
        </p:txBody>
      </p:sp>
      <p:sp>
        <p:nvSpPr>
          <p:cNvPr id="22" name="TextBox 21"/>
          <p:cNvSpPr txBox="1"/>
          <p:nvPr/>
        </p:nvSpPr>
        <p:spPr>
          <a:xfrm>
            <a:off x="8046720" y="452628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23" name="Rounded Rectangle 22"/>
          <p:cNvSpPr/>
          <p:nvPr/>
        </p:nvSpPr>
        <p:spPr>
          <a:xfrm>
            <a:off x="548640" y="539496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46811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T18</a:t>
            </a:r>
          </a:p>
        </p:txBody>
      </p:sp>
      <p:sp>
        <p:nvSpPr>
          <p:cNvPr id="25" name="TextBox 24"/>
          <p:cNvSpPr txBox="1"/>
          <p:nvPr/>
        </p:nvSpPr>
        <p:spPr>
          <a:xfrm>
            <a:off x="1920240" y="548640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Chữa bài tập 1.21 – 1.25</a:t>
            </a:r>
          </a:p>
        </p:txBody>
      </p:sp>
      <p:sp>
        <p:nvSpPr>
          <p:cNvPr id="26" name="TextBox 25"/>
          <p:cNvSpPr txBox="1"/>
          <p:nvPr/>
        </p:nvSpPr>
        <p:spPr>
          <a:xfrm>
            <a:off x="8046720" y="548640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(T14)</a:t>
            </a:r>
          </a:p>
          <a:p>
            <a:pPr>
              <a:spcAft>
                <a:spcPts val="600"/>
              </a:spcAft>
            </a:pPr>
            <a:r>
              <a:rPr sz="4000" b="1">
                <a:solidFill>
                  <a:srgbClr val="FFFFFF"/>
                </a:solidFill>
                <a:latin typeface="Cambria"/>
              </a:rPr>
              <a:t>Sơ đồ khảo sát hàm số</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Mô tả sơ đồ tổng quát khảo sát hàm số.</a:t>
            </a:r>
          </a:p>
          <a:p>
            <a:pPr algn="l">
              <a:spcAft>
                <a:spcPts val="800"/>
              </a:spcAft>
            </a:pPr>
            <a:r>
              <a:rPr sz="2200">
                <a:solidFill>
                  <a:srgbClr val="E0E7FF"/>
                </a:solidFill>
                <a:latin typeface="Calibri"/>
              </a:rPr>
              <a:t>• Khảo sát, vẽ đồ thị hàm bậc hai theo sơ đồ (HĐ1).</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CHI PHÍ TRUNG BÌNH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đơn vị sản xuất ước tính chi phí để sản xuất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đơn vị sản phẩm là </a:t>
                </a:r>
                <a14:m>
                  <m:oMath xmlns:m="http://schemas.openxmlformats.org/officeDocument/2006/math">
                    <m:r>
                      <a:rPr lang="vi-VN" sz="2200" b="0">
                        <a:solidFill>
                          <a:srgbClr val="1E293B"/>
                        </a:solidFill>
                        <a:latin typeface="Cambria Math" panose="02040503050406030204" pitchFamily="18" charset="0"/>
                      </a:rPr>
                      <m:t>C(x)=2x+45</m:t>
                    </m:r>
                  </m:oMath>
                </a14:m>
                <a:r>
                  <a:rPr sz="2200">
                    <a:solidFill>
                      <a:srgbClr val="1E293B"/>
                    </a:solidFill>
                    <a:latin typeface="Calibri"/>
                  </a:rPr>
                  <a:t> (triệu đồng). Chi phí trung bình cho mỗi đơn vị sản phẩm là </a:t>
                </a:r>
                <a14:m>
                  <m:oMath xmlns:m="http://schemas.openxmlformats.org/officeDocument/2006/math">
                    <m:r>
                      <a:rPr lang="vi-VN" sz="2200" b="0">
                        <a:solidFill>
                          <a:srgbClr val="1E293B"/>
                        </a:solidFill>
                        <a:latin typeface="Cambria Math" panose="02040503050406030204" pitchFamily="18" charset="0"/>
                      </a:rPr>
                      <m:t>y=f(x)=</m:t>
                    </m:r>
                    <m:f>
                      <m:fPr>
                        <m:type m:val="bar"/>
                      </m:fPr>
                      <m:num>
                        <m:r>
                          <a:rPr lang="vi-VN" sz="2200" b="0">
                            <a:solidFill>
                              <a:srgbClr val="1E293B"/>
                            </a:solidFill>
                            <a:latin typeface="Cambria Math" panose="02040503050406030204" pitchFamily="18" charset="0"/>
                          </a:rPr>
                          <m:t>C(x)</m:t>
                        </m:r>
                      </m:num>
                      <m:den>
                        <m:r>
                          <a:rPr lang="vi-VN" sz="2200" b="0">
                            <a:solidFill>
                              <a:srgbClr val="1E293B"/>
                            </a:solidFill>
                            <a:latin typeface="Cambria Math" panose="02040503050406030204" pitchFamily="18" charset="0"/>
                          </a:rPr>
                          <m:t>x</m:t>
                        </m:r>
                      </m:den>
                    </m:f>
                  </m:oMath>
                </a14:m>
                <a:r>
                  <a:rPr sz="2200">
                    <a:solidFill>
                      <a:srgbClr val="1E293B"/>
                    </a:solidFill>
                    <a:latin typeface="Calibri"/>
                  </a:rPr>
                  <a:t>. </a:t>
                </a:r>
                <a:r>
                  <a:rPr sz="2200" b="1">
                    <a:solidFill>
                      <a:srgbClr val="1E293B"/>
                    </a:solidFill>
                    <a:latin typeface="Calibri"/>
                  </a:rPr>
                  <a:t>Hãy giải thích tại sao chi phí trung bình giảm theo </a:t>
                </a:r>
                <a14:m>
                  <m:oMath xmlns:m="http://schemas.openxmlformats.org/officeDocument/2006/math">
                    <m:r>
                      <a:rPr lang="vi-VN" sz="2200" b="0">
                        <a:solidFill>
                          <a:srgbClr val="1E293B"/>
                        </a:solidFill>
                        <a:latin typeface="Cambria Math" panose="02040503050406030204" pitchFamily="18" charset="0"/>
                      </a:rPr>
                      <m:t>x</m:t>
                    </m:r>
                  </m:oMath>
                </a14:m>
                <a:r>
                  <a:rPr sz="2200" b="1">
                    <a:solidFill>
                      <a:srgbClr val="1E293B"/>
                    </a:solidFill>
                    <a:latin typeface="Calibri"/>
                  </a:rPr>
                  <a:t> nhưng luôn lớn hơn 2 triệu đồng/sản phẩm. Điều này thể hiện trên đồ thị (Hình 1.27) như thế nào?</a:t>
                </a:r>
              </a:p>
              <a:p>
                <a:pPr algn="l">
                  <a:spcAft>
                    <a:spcPts val="800"/>
                  </a:spcAft>
                </a:pPr>
                <a:r>
                  <a:rPr sz="2000">
                    <a:solidFill>
                      <a:srgbClr val="64748B"/>
                    </a:solidFill>
                    <a:latin typeface="Calibri"/>
                  </a:rPr>
                  <a:t>(SGK Toán 12 tập một, tr.26)</a:t>
                </a:r>
              </a:p>
            </p:txBody>
          </p:sp>
        </mc:Choice>
        <mc:Fallback>
          <p:sp>
            <p:nvSpPr>
              <p:cNvPr id="7" name="TextBox 6"/>
              <p:cNvSpPr txBox="1"/>
              <p:nvPr/>
            </p:nvSpPr>
            <p:spPr>
              <a:xfrm>
                <a:off x="548640" y="1417320"/>
                <a:ext cx="6766560" cy="438912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đơn vị sản xuất ước tính chi phí để sản xuất </a:t>
                </a:r>
                <a:r>
                  <a:rPr lang="vi-VN"/>
                  <a:t>x</a:t>
                </a:r>
                <a:r>
                  <a:rPr sz="2200">
                    <a:solidFill>
                      <a:srgbClr val="1E293B"/>
                    </a:solidFill>
                    <a:latin typeface="Calibri"/>
                  </a:rPr>
                  <a:t> đơn vị sản phẩm là </a:t>
                </a:r>
                <a:r>
                  <a:rPr lang="vi-VN"/>
                  <a:t>C(x)=2x+45</a:t>
                </a:r>
                <a:r>
                  <a:rPr sz="2200">
                    <a:solidFill>
                      <a:srgbClr val="1E293B"/>
                    </a:solidFill>
                    <a:latin typeface="Calibri"/>
                  </a:rPr>
                  <a:t> (triệu đồng). Chi phí trung bình cho mỗi đơn vị sản phẩm là </a:t>
                </a:r>
                <a:r>
                  <a:rPr lang="vi-VN"/>
                  <a:t>y=f(x)=\frac{C(x)}{x}</a:t>
                </a:r>
                <a:r>
                  <a:rPr sz="2200">
                    <a:solidFill>
                      <a:srgbClr val="1E293B"/>
                    </a:solidFill>
                    <a:latin typeface="Calibri"/>
                  </a:rPr>
                  <a:t>. </a:t>
                </a:r>
                <a:r>
                  <a:rPr sz="2200" b="1">
                    <a:solidFill>
                      <a:srgbClr val="1E293B"/>
                    </a:solidFill>
                    <a:latin typeface="Calibri"/>
                  </a:rPr>
                  <a:t>Hãy giải thích tại sao chi phí trung bình giảm theo </a:t>
                </a:r>
                <a:r>
                  <a:rPr lang="vi-VN"/>
                  <a:t>x</a:t>
                </a:r>
                <a:r>
                  <a:rPr sz="2200" b="1">
                    <a:solidFill>
                      <a:srgbClr val="1E293B"/>
                    </a:solidFill>
                    <a:latin typeface="Calibri"/>
                  </a:rPr>
                  <a:t> nhưng luôn lớn hơn 2 triệu đồng/sản phẩm. Điều này thể hiện trên đồ thị (Hình 1.27) như thế nào?</a:t>
                </a:r>
              </a:p>
              <a:p>
                <a:pPr algn="l">
                  <a:spcAft>
                    <a:spcPts val="800"/>
                  </a:spcAft>
                </a:pPr>
                <a:r>
                  <a:rPr sz="2000">
                    <a:solidFill>
                      <a:srgbClr val="64748B"/>
                    </a:solidFill>
                    <a:latin typeface="Calibri"/>
                  </a:rPr>
                  <a:t>(SGK Toán 12 tập một, tr.26)</a:t>
                </a:r>
              </a:p>
            </p:txBody>
          </p:sp>
        </mc:Fallback>
      </mc:AlternateContent>
      <p:pic>
        <p:nvPicPr>
          <p:cNvPr id="8" name="Picture 7" descr="b4_h127.png"/>
          <p:cNvPicPr>
            <a:picLocks noChangeAspect="1"/>
          </p:cNvPicPr>
          <p:nvPr/>
        </p:nvPicPr>
        <p:blipFill>
          <a:blip r:embed="rId3"/>
          <a:stretch>
            <a:fillRect/>
          </a:stretch>
        </p:blipFill>
        <p:spPr>
          <a:xfrm>
            <a:off x="7498079" y="1973638"/>
            <a:ext cx="4206240" cy="3002163"/>
          </a:xfrm>
          <a:prstGeom prst="rect">
            <a:avLst/>
          </a:prstGeom>
        </p:spPr>
      </p:pic>
      <p:sp>
        <p:nvSpPr>
          <p:cNvPr id="9" name="TextBox 8"/>
          <p:cNvSpPr txBox="1"/>
          <p:nvPr/>
        </p:nvSpPr>
        <p:spPr>
          <a:xfrm>
            <a:off x="7498079" y="5413248"/>
            <a:ext cx="420624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SƠ ĐỒ KHẢO SÁT HÀM SỐ – HĐ1 (SGK TR.26)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Cho hàm số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−4x+3</m:t>
                    </m:r>
                  </m:oMath>
                </a14:m>
                <a:r>
                  <a:rPr sz="2000">
                    <a:solidFill>
                      <a:srgbClr val="1E293B"/>
                    </a:solidFill>
                    <a:latin typeface="Calibri"/>
                  </a:rPr>
                  <a:t>. a) Tính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và tìm các điểm tại đó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m:t>
                    </m:r>
                  </m:oMath>
                </a14:m>
                <a:r>
                  <a:rPr sz="2000">
                    <a:solidFill>
                      <a:srgbClr val="1E293B"/>
                    </a:solidFill>
                    <a:latin typeface="Calibri"/>
                  </a:rPr>
                  <a:t>. b) Xét dấu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để tìm các khoảng đồng biến, khoảng nghịch biến và cực trị. c) Tính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oMath>
                </a14:m>
                <a:r>
                  <a:rPr sz="2000">
                    <a:solidFill>
                      <a:srgbClr val="1E293B"/>
                    </a:solidFill>
                    <a:latin typeface="Calibri"/>
                  </a:rPr>
                  <a:t>,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oMath>
                </a14:m>
                <a:r>
                  <a:rPr sz="2000">
                    <a:solidFill>
                      <a:srgbClr val="1E293B"/>
                    </a:solidFill>
                    <a:latin typeface="Calibri"/>
                  </a:rPr>
                  <a:t> và lập bảng biến thiên. d) Vẽ đồ thị và nhận xét về tính đối xứng của đồ thị.</a:t>
                </a:r>
              </a:p>
            </p:txBody>
          </p:sp>
        </mc:Choice>
        <mc:Fallback>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HĐ1.</a:t>
                </a:r>
                <a:r>
                  <a:rPr sz="2000">
                    <a:solidFill>
                      <a:srgbClr val="1E293B"/>
                    </a:solidFill>
                    <a:latin typeface="Calibri"/>
                  </a:rPr>
                  <a:t> Cho hàm số </a:t>
                </a:r>
                <a:r>
                  <a:rPr lang="vi-VN"/>
                  <a:t>y=x^2-4x+3</a:t>
                </a:r>
                <a:r>
                  <a:rPr sz="2000">
                    <a:solidFill>
                      <a:srgbClr val="1E293B"/>
                    </a:solidFill>
                    <a:latin typeface="Calibri"/>
                  </a:rPr>
                  <a:t>. a) Tính </a:t>
                </a:r>
                <a:r>
                  <a:rPr lang="vi-VN"/>
                  <a:t>y'</a:t>
                </a:r>
                <a:r>
                  <a:rPr sz="2000">
                    <a:solidFill>
                      <a:srgbClr val="1E293B"/>
                    </a:solidFill>
                    <a:latin typeface="Calibri"/>
                  </a:rPr>
                  <a:t> và tìm các điểm tại đó </a:t>
                </a:r>
                <a:r>
                  <a:rPr lang="vi-VN"/>
                  <a:t>y'=0</a:t>
                </a:r>
                <a:r>
                  <a:rPr sz="2000">
                    <a:solidFill>
                      <a:srgbClr val="1E293B"/>
                    </a:solidFill>
                    <a:latin typeface="Calibri"/>
                  </a:rPr>
                  <a:t>. b) Xét dấu </a:t>
                </a:r>
                <a:r>
                  <a:rPr lang="vi-VN"/>
                  <a:t>y'</a:t>
                </a:r>
                <a:r>
                  <a:rPr sz="2000">
                    <a:solidFill>
                      <a:srgbClr val="1E293B"/>
                    </a:solidFill>
                    <a:latin typeface="Calibri"/>
                  </a:rPr>
                  <a:t> để tìm các khoảng đồng biến, khoảng nghịch biến và cực trị. c) Tính </a:t>
                </a:r>
                <a:r>
                  <a:rPr lang="vi-VN"/>
                  <a:t>\lim\limits_{x\to-\infty}y</a:t>
                </a:r>
                <a:r>
                  <a:rPr sz="2000">
                    <a:solidFill>
                      <a:srgbClr val="1E293B"/>
                    </a:solidFill>
                    <a:latin typeface="Calibri"/>
                  </a:rPr>
                  <a:t>, </a:t>
                </a:r>
                <a:r>
                  <a:rPr lang="vi-VN"/>
                  <a:t>\lim\limits_{x\to+\infty}y</a:t>
                </a:r>
                <a:r>
                  <a:rPr sz="2000">
                    <a:solidFill>
                      <a:srgbClr val="1E293B"/>
                    </a:solidFill>
                    <a:latin typeface="Calibri"/>
                  </a:rPr>
                  <a:t> và lập bảng biến thiên. d) Vẽ đồ thị và nhận xét về tính đối xứng của đồ thị.</a:t>
                </a:r>
              </a:p>
            </p:txBody>
          </p:sp>
        </mc:Fallback>
      </mc:AlternateContent>
      <p:sp>
        <p:nvSpPr>
          <p:cNvPr id="8" name="s1_nen"/>
          <p:cNvSpPr/>
          <p:nvPr/>
        </p:nvSpPr>
        <p:spPr>
          <a:xfrm>
            <a:off x="548640" y="2551176"/>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87752"/>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=2x−4=0⇔x=2</m:t>
                    </m:r>
                  </m:oMath>
                </a14:m>
                <a:r>
                  <a:rPr sz="2000">
                    <a:solidFill>
                      <a:srgbClr val="1E293B"/>
                    </a:solidFill>
                    <a:latin typeface="Calibri"/>
                  </a:rPr>
                  <a:t>. b) Nghịch biến trên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 đồng biến trên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 cực tiểu tại </a:t>
                </a:r>
                <a14:m>
                  <m:oMath xmlns:m="http://schemas.openxmlformats.org/officeDocument/2006/math">
                    <m:r>
                      <a:rPr lang="vi-VN" sz="2000" b="0">
                        <a:solidFill>
                          <a:srgbClr val="1E293B"/>
                        </a:solidFill>
                        <a:latin typeface="Cambria Math" panose="02040503050406030204" pitchFamily="18" charset="0"/>
                      </a:rPr>
                      <m:t>x=2</m:t>
                    </m:r>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CT</m:t>
                        </m:r>
                      </m:sub>
                    </m:sSub>
                    <m:r>
                      <a:rPr lang="vi-VN" sz="2000" b="0">
                        <a:solidFill>
                          <a:srgbClr val="1E293B"/>
                        </a:solidFill>
                        <a:latin typeface="Cambria Math" panose="02040503050406030204" pitchFamily="18" charset="0"/>
                      </a:rPr>
                      <m:t>=−1</m:t>
                    </m:r>
                  </m:oMath>
                </a14:m>
                <a:r>
                  <a:rPr sz="2000">
                    <a:solidFill>
                      <a:srgbClr val="1E293B"/>
                    </a:solidFill>
                    <a:latin typeface="Calibri"/>
                  </a:rPr>
                  <a:t>.</a:t>
                </a:r>
              </a:p>
            </p:txBody>
          </p:sp>
        </mc:Choice>
        <mc:Fallback>
          <p:sp>
            <p:nvSpPr>
              <p:cNvPr id="9" name="TextBox 8"/>
              <p:cNvSpPr txBox="1"/>
              <p:nvPr/>
            </p:nvSpPr>
            <p:spPr>
              <a:xfrm>
                <a:off x="713232" y="2587752"/>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y'=2x-4=0\Leftrightarrow x=2</a:t>
                </a:r>
                <a:r>
                  <a:rPr sz="2000">
                    <a:solidFill>
                      <a:srgbClr val="1E293B"/>
                    </a:solidFill>
                    <a:latin typeface="Calibri"/>
                  </a:rPr>
                  <a:t>. b) Nghịch biến trên </a:t>
                </a:r>
                <a:r>
                  <a:rPr lang="vi-VN"/>
                  <a:t>(-\infty;\ 2)</a:t>
                </a:r>
                <a:r>
                  <a:rPr sz="2000">
                    <a:solidFill>
                      <a:srgbClr val="1E293B"/>
                    </a:solidFill>
                    <a:latin typeface="Calibri"/>
                  </a:rPr>
                  <a:t>, đồng biến trên </a:t>
                </a:r>
                <a:r>
                  <a:rPr lang="vi-VN"/>
                  <a:t>(2;\ +\infty)</a:t>
                </a:r>
                <a:r>
                  <a:rPr sz="2000">
                    <a:solidFill>
                      <a:srgbClr val="1E293B"/>
                    </a:solidFill>
                    <a:latin typeface="Calibri"/>
                  </a:rPr>
                  <a:t>; cực tiểu tại </a:t>
                </a:r>
                <a:r>
                  <a:rPr lang="vi-VN"/>
                  <a:t>x=2</a:t>
                </a:r>
                <a:r>
                  <a:rPr sz="2000">
                    <a:solidFill>
                      <a:srgbClr val="1E293B"/>
                    </a:solidFill>
                    <a:latin typeface="Calibri"/>
                  </a:rPr>
                  <a:t>, </a:t>
                </a:r>
                <a:r>
                  <a:rPr lang="vi-VN"/>
                  <a:t>y_{CT}=-1</a:t>
                </a:r>
                <a:r>
                  <a:rPr sz="2000">
                    <a:solidFill>
                      <a:srgbClr val="1E293B"/>
                    </a:solidFill>
                    <a:latin typeface="Calibri"/>
                  </a:rPr>
                  <a:t>.</a:t>
                </a:r>
              </a:p>
            </p:txBody>
          </p:sp>
        </mc:Fallback>
      </mc:AlternateContent>
      <p:sp>
        <p:nvSpPr>
          <p:cNvPr id="10" name="s2_nen"/>
          <p:cNvSpPr/>
          <p:nvPr/>
        </p:nvSpPr>
        <p:spPr>
          <a:xfrm>
            <a:off x="548640" y="3517392"/>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53968"/>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y=+∞</m:t>
                    </m:r>
                  </m:oMath>
                </a14:m>
                <a:r>
                  <a:rPr sz="2000">
                    <a:solidFill>
                      <a:srgbClr val="1E293B"/>
                    </a:solidFill>
                    <a:latin typeface="Calibri"/>
                  </a:rPr>
                  <a:t>. Bảng biến thiên:</a:t>
                </a:r>
              </a:p>
            </p:txBody>
          </p:sp>
        </mc:Choice>
        <mc:Fallback>
          <p:sp>
            <p:nvSpPr>
              <p:cNvPr id="11" name="TextBox 10"/>
              <p:cNvSpPr txBox="1"/>
              <p:nvPr/>
            </p:nvSpPr>
            <p:spPr>
              <a:xfrm>
                <a:off x="713232" y="3553968"/>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\lim\limits_{x\to-\infty}y=\lim\limits_{x\to+\infty}y=+\infty</a:t>
                </a:r>
                <a:r>
                  <a:rPr sz="2000">
                    <a:solidFill>
                      <a:srgbClr val="1E293B"/>
                    </a:solidFill>
                    <a:latin typeface="Calibri"/>
                  </a:rPr>
                  <a:t>. Bảng biến thiên:</a:t>
                </a:r>
              </a:p>
            </p:txBody>
          </p:sp>
        </mc:Fallback>
      </mc:AlternateContent>
      <p:pic>
        <p:nvPicPr>
          <p:cNvPr id="12" name="s3_bbt" descr="b4_hd1bbt.png"/>
          <p:cNvPicPr>
            <a:picLocks noChangeAspect="1"/>
          </p:cNvPicPr>
          <p:nvPr/>
        </p:nvPicPr>
        <p:blipFill>
          <a:blip r:embed="rId3"/>
          <a:stretch>
            <a:fillRect/>
          </a:stretch>
        </p:blipFill>
        <p:spPr>
          <a:xfrm>
            <a:off x="4445390" y="4197095"/>
            <a:ext cx="3270738" cy="146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HĐ1 (TIẾP) – VẼ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7665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d) Đồ thị đi qua </a:t>
                </a:r>
                <a14:m>
                  <m:oMath xmlns:m="http://schemas.openxmlformats.org/officeDocument/2006/math">
                    <m:d>
                      <m:dPr>
                        <m:sepChr m:val=""/>
                      </m:dPr>
                      <m:e>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m:t>
                        </m:r>
                      </m:e>
                    </m:d>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d>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3</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e>
                    </m:d>
                  </m:oMath>
                </a14:m>
                <a:r>
                  <a:rPr sz="2200">
                    <a:solidFill>
                      <a:srgbClr val="1E293B"/>
                    </a:solidFill>
                    <a:latin typeface="Calibri"/>
                  </a:rPr>
                  <a:t>, đỉnh </a:t>
                </a:r>
                <a14:m>
                  <m:oMath xmlns:m="http://schemas.openxmlformats.org/officeDocument/2006/math">
                    <m:d>
                      <m:dPr>
                        <m:sepChr m:val=""/>
                      </m:dPr>
                      <m:e>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oMath>
                </a14:m>
                <a:r>
                  <a:rPr sz="2200">
                    <a:solidFill>
                      <a:srgbClr val="1E293B"/>
                    </a:solidFill>
                    <a:latin typeface="Calibri"/>
                  </a:rPr>
                  <a:t>.</a:t>
                </a:r>
              </a:p>
            </p:txBody>
          </p:sp>
        </mc:Choice>
        <mc:Fallback>
          <p:sp>
            <p:nvSpPr>
              <p:cNvPr id="7" name="TextBox 6"/>
              <p:cNvSpPr txBox="1"/>
              <p:nvPr/>
            </p:nvSpPr>
            <p:spPr>
              <a:xfrm>
                <a:off x="548640" y="1371600"/>
                <a:ext cx="676656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d) Đồ thị đi qua </a:t>
                </a:r>
                <a:r>
                  <a:rPr lang="vi-VN"/>
                  <a:t>(0;\ 3)</a:t>
                </a:r>
                <a:r>
                  <a:rPr sz="2200">
                    <a:solidFill>
                      <a:srgbClr val="1E293B"/>
                    </a:solidFill>
                    <a:latin typeface="Calibri"/>
                  </a:rPr>
                  <a:t>, </a:t>
                </a:r>
                <a:r>
                  <a:rPr lang="vi-VN"/>
                  <a:t>(1;\ 0)</a:t>
                </a:r>
                <a:r>
                  <a:rPr sz="2200">
                    <a:solidFill>
                      <a:srgbClr val="1E293B"/>
                    </a:solidFill>
                    <a:latin typeface="Calibri"/>
                  </a:rPr>
                  <a:t>, </a:t>
                </a:r>
                <a:r>
                  <a:rPr lang="vi-VN"/>
                  <a:t>(3;\ 0)</a:t>
                </a:r>
                <a:r>
                  <a:rPr sz="2200">
                    <a:solidFill>
                      <a:srgbClr val="1E293B"/>
                    </a:solidFill>
                    <a:latin typeface="Calibri"/>
                  </a:rPr>
                  <a:t>, đỉnh </a:t>
                </a:r>
                <a:r>
                  <a:rPr lang="vi-VN"/>
                  <a:t>(2;\ -1)</a:t>
                </a:r>
                <a:r>
                  <a:rPr sz="2200">
                    <a:solidFill>
                      <a:srgbClr val="1E293B"/>
                    </a:solidFill>
                    <a:latin typeface="Calibri"/>
                  </a:rPr>
                  <a:t>.</a:t>
                </a:r>
              </a:p>
            </p:txBody>
          </p:sp>
        </mc:Fallback>
      </mc:AlternateContent>
      <p:sp>
        <p:nvSpPr>
          <p:cNvPr id="8" name="s1_nen"/>
          <p:cNvSpPr/>
          <p:nvPr/>
        </p:nvSpPr>
        <p:spPr>
          <a:xfrm>
            <a:off x="548640" y="2307336"/>
            <a:ext cx="676656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43912"/>
                <a:ext cx="64373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Đồ thị là một parabol, nhận đường thẳng </a:t>
                </a:r>
                <a14:m>
                  <m:oMath xmlns:m="http://schemas.openxmlformats.org/officeDocument/2006/math">
                    <m:r>
                      <a:rPr lang="vi-VN" sz="2200" b="0">
                        <a:solidFill>
                          <a:srgbClr val="1E293B"/>
                        </a:solidFill>
                        <a:latin typeface="Cambria Math" panose="02040503050406030204" pitchFamily="18" charset="0"/>
                      </a:rPr>
                      <m:t>x=2</m:t>
                    </m:r>
                  </m:oMath>
                </a14:m>
                <a:r>
                  <a:rPr sz="2200">
                    <a:solidFill>
                      <a:srgbClr val="1E293B"/>
                    </a:solidFill>
                    <a:latin typeface="Calibri"/>
                  </a:rPr>
                  <a:t> làm trục đối xứng.</a:t>
                </a:r>
              </a:p>
            </p:txBody>
          </p:sp>
        </mc:Choice>
        <mc:Fallback>
          <p:sp>
            <p:nvSpPr>
              <p:cNvPr id="9" name="TextBox 8"/>
              <p:cNvSpPr txBox="1"/>
              <p:nvPr/>
            </p:nvSpPr>
            <p:spPr>
              <a:xfrm>
                <a:off x="713232" y="2343912"/>
                <a:ext cx="6437376" cy="862583"/>
              </a:xfrm>
              <a:prstGeom prst="rect">
                <a:avLst/>
              </a:prstGeom>
              <a:noFill/>
            </p:spPr>
            <p:txBody>
              <a:bodyPr wrap="square" anchor="ctr" lIns="45720" rIns="45720">
                <a:spAutoFit/>
              </a:bodyPr>
              <a:lstStyle/>
              <a:p>
                <a:pPr algn="l">
                  <a:spcAft>
                    <a:spcPts val="800"/>
                  </a:spcAft>
                </a:pPr>
                <a:r>
                  <a:rPr sz="2200">
                    <a:solidFill>
                      <a:srgbClr val="1E293B"/>
                    </a:solidFill>
                    <a:latin typeface="Calibri"/>
                  </a:rPr>
                  <a:t>Đồ thị là một parabol, nhận đường thẳng </a:t>
                </a:r>
                <a:r>
                  <a:rPr lang="vi-VN"/>
                  <a:t>x=2</a:t>
                </a:r>
                <a:r>
                  <a:rPr sz="2200">
                    <a:solidFill>
                      <a:srgbClr val="1E293B"/>
                    </a:solidFill>
                    <a:latin typeface="Calibri"/>
                  </a:rPr>
                  <a:t> làm trục đối xứng.</a:t>
                </a:r>
              </a:p>
            </p:txBody>
          </p:sp>
        </mc:Fallback>
      </mc:AlternateContent>
      <p:pic>
        <p:nvPicPr>
          <p:cNvPr id="10" name="Picture 9" descr="b4_hd1.png"/>
          <p:cNvPicPr>
            <a:picLocks noChangeAspect="1"/>
          </p:cNvPicPr>
          <p:nvPr/>
        </p:nvPicPr>
        <p:blipFill>
          <a:blip r:embed="rId3"/>
          <a:stretch>
            <a:fillRect/>
          </a:stretch>
        </p:blipFill>
        <p:spPr>
          <a:xfrm>
            <a:off x="7589520" y="1568419"/>
            <a:ext cx="4023358" cy="37211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SƠ ĐỒ KHẢO SÁT HÀM SỐ y = F(X) (SGK TR.26 – 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8</a:t>
            </a:r>
          </a:p>
        </p:txBody>
      </p:sp>
      <p:sp>
        <p:nvSpPr>
          <p:cNvPr id="7" name="Rounded Rectangle 6"/>
          <p:cNvSpPr/>
          <p:nvPr/>
        </p:nvSpPr>
        <p:spPr>
          <a:xfrm>
            <a:off x="548640" y="1371600"/>
            <a:ext cx="11064240" cy="384962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10735056" cy="377647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1. Tìm tập xác định của hàm số.</a:t>
                </a:r>
              </a:p>
              <a:p>
                <a:pPr algn="l">
                  <a:spcAft>
                    <a:spcPts val="800"/>
                  </a:spcAft>
                </a:pPr>
                <a:r>
                  <a:rPr sz="2100">
                    <a:solidFill>
                      <a:srgbClr val="1E293B"/>
                    </a:solidFill>
                    <a:latin typeface="Calibri"/>
                  </a:rPr>
                  <a:t>2. Khảo sát sự biến thiên của hàm số:</a:t>
                </a:r>
              </a:p>
              <a:p>
                <a:pPr algn="l" marL="365760" indent="-365760">
                  <a:spcAft>
                    <a:spcPts val="800"/>
                  </a:spcAft>
                  <a:buClr>
                    <a:srgbClr val="1E40AF"/>
                  </a:buClr>
                  <a:buFont typeface="Arial"/>
                  <a:buChar char="•"/>
                </a:pPr>
                <a:r>
                  <a:rPr sz="2100">
                    <a:solidFill>
                      <a:srgbClr val="1E293B"/>
                    </a:solidFill>
                    <a:latin typeface="Calibri"/>
                  </a:rPr>
                  <a:t>Tính đạo hàm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Tìm các điểm tại đó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bằng 0 hoặc đạo hàm không tồn tại.</a:t>
                </a:r>
              </a:p>
              <a:p>
                <a:pPr algn="l" marL="365760" indent="-365760">
                  <a:spcAft>
                    <a:spcPts val="800"/>
                  </a:spcAft>
                  <a:buClr>
                    <a:srgbClr val="1E40AF"/>
                  </a:buClr>
                  <a:buFont typeface="Arial"/>
                  <a:buChar char="•"/>
                </a:pPr>
                <a:r>
                  <a:rPr sz="2100">
                    <a:solidFill>
                      <a:srgbClr val="1E293B"/>
                    </a:solidFill>
                    <a:latin typeface="Calibri"/>
                  </a:rPr>
                  <a:t>Xét dấu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để chỉ ra các khoảng đơn điệu của hàm số.</a:t>
                </a:r>
              </a:p>
              <a:p>
                <a:pPr algn="l" marL="365760" indent="-365760">
                  <a:spcAft>
                    <a:spcPts val="800"/>
                  </a:spcAft>
                  <a:buClr>
                    <a:srgbClr val="1E40AF"/>
                  </a:buClr>
                  <a:buFont typeface="Arial"/>
                  <a:buChar char="•"/>
                </a:pPr>
                <a:r>
                  <a:rPr sz="2100">
                    <a:solidFill>
                      <a:srgbClr val="1E293B"/>
                    </a:solidFill>
                    <a:latin typeface="Calibri"/>
                  </a:rPr>
                  <a:t>Tìm cực trị của hàm số.</a:t>
                </a:r>
              </a:p>
              <a:p>
                <a:pPr algn="l" marL="365760" indent="-365760">
                  <a:spcAft>
                    <a:spcPts val="800"/>
                  </a:spcAft>
                  <a:buClr>
                    <a:srgbClr val="1E40AF"/>
                  </a:buClr>
                  <a:buFont typeface="Arial"/>
                  <a:buChar char="•"/>
                </a:pPr>
                <a:r>
                  <a:rPr sz="2100">
                    <a:solidFill>
                      <a:srgbClr val="1E293B"/>
                    </a:solidFill>
                    <a:latin typeface="Calibri"/>
                  </a:rPr>
                  <a:t>Tìm các giới hạn tại vô cực, giới hạn vô cực và tìm tiệm cận của đồ thị hàm số (nếu có).</a:t>
                </a:r>
              </a:p>
              <a:p>
                <a:pPr algn="l" marL="365760" indent="-365760">
                  <a:spcAft>
                    <a:spcPts val="800"/>
                  </a:spcAft>
                  <a:buClr>
                    <a:srgbClr val="1E40AF"/>
                  </a:buClr>
                  <a:buFont typeface="Arial"/>
                  <a:buChar char="•"/>
                </a:pPr>
                <a:r>
                  <a:rPr sz="2100">
                    <a:solidFill>
                      <a:srgbClr val="1E293B"/>
                    </a:solidFill>
                    <a:latin typeface="Calibri"/>
                  </a:rPr>
                  <a:t>Lập bảng biến thiên của hàm số.</a:t>
                </a:r>
              </a:p>
              <a:p>
                <a:pPr algn="l">
                  <a:spcAft>
                    <a:spcPts val="800"/>
                  </a:spcAft>
                </a:pPr>
                <a:r>
                  <a:rPr sz="2100">
                    <a:solidFill>
                      <a:srgbClr val="1E293B"/>
                    </a:solidFill>
                    <a:latin typeface="Calibri"/>
                  </a:rPr>
                  <a:t>3. Vẽ đồ thị của hàm số dựa vào bảng biến thiên.</a:t>
                </a:r>
              </a:p>
            </p:txBody>
          </p:sp>
        </mc:Choice>
        <mc:Fallback>
          <p:sp>
            <p:nvSpPr>
              <p:cNvPr id="8" name="TextBox 7"/>
              <p:cNvSpPr txBox="1"/>
              <p:nvPr/>
            </p:nvSpPr>
            <p:spPr>
              <a:xfrm>
                <a:off x="713232" y="1408176"/>
                <a:ext cx="10735056" cy="377647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1. Tìm tập xác định của hàm số.</a:t>
                </a:r>
              </a:p>
              <a:p>
                <a:pPr algn="l">
                  <a:spcAft>
                    <a:spcPts val="800"/>
                  </a:spcAft>
                </a:pPr>
                <a:r>
                  <a:rPr sz="2100">
                    <a:solidFill>
                      <a:srgbClr val="1E293B"/>
                    </a:solidFill>
                    <a:latin typeface="Calibri"/>
                  </a:rPr>
                  <a:t>2. Khảo sát sự biến thiên của hàm số:</a:t>
                </a:r>
              </a:p>
              <a:p>
                <a:pPr algn="l" marL="365760" indent="-365760">
                  <a:spcAft>
                    <a:spcPts val="800"/>
                  </a:spcAft>
                  <a:buClr>
                    <a:srgbClr val="1E40AF"/>
                  </a:buClr>
                  <a:buFont typeface="Arial"/>
                  <a:buChar char="•"/>
                </a:pPr>
                <a:r>
                  <a:rPr sz="2100">
                    <a:solidFill>
                      <a:srgbClr val="1E293B"/>
                    </a:solidFill>
                    <a:latin typeface="Calibri"/>
                  </a:rPr>
                  <a:t>Tính đạo hàm </a:t>
                </a:r>
                <a:r>
                  <a:rPr lang="vi-VN"/>
                  <a:t>y'</a:t>
                </a:r>
                <a:r>
                  <a:rPr sz="2100">
                    <a:solidFill>
                      <a:srgbClr val="1E293B"/>
                    </a:solidFill>
                    <a:latin typeface="Calibri"/>
                  </a:rPr>
                  <a:t>. Tìm các điểm tại đó </a:t>
                </a:r>
                <a:r>
                  <a:rPr lang="vi-VN"/>
                  <a:t>y'</a:t>
                </a:r>
                <a:r>
                  <a:rPr sz="2100">
                    <a:solidFill>
                      <a:srgbClr val="1E293B"/>
                    </a:solidFill>
                    <a:latin typeface="Calibri"/>
                  </a:rPr>
                  <a:t> bằng 0 hoặc đạo hàm không tồn tại.</a:t>
                </a:r>
              </a:p>
              <a:p>
                <a:pPr algn="l" marL="365760" indent="-365760">
                  <a:spcAft>
                    <a:spcPts val="800"/>
                  </a:spcAft>
                  <a:buClr>
                    <a:srgbClr val="1E40AF"/>
                  </a:buClr>
                  <a:buFont typeface="Arial"/>
                  <a:buChar char="•"/>
                </a:pPr>
                <a:r>
                  <a:rPr sz="2100">
                    <a:solidFill>
                      <a:srgbClr val="1E293B"/>
                    </a:solidFill>
                    <a:latin typeface="Calibri"/>
                  </a:rPr>
                  <a:t>Xét dấu </a:t>
                </a:r>
                <a:r>
                  <a:rPr lang="vi-VN"/>
                  <a:t>y'</a:t>
                </a:r>
                <a:r>
                  <a:rPr sz="2100">
                    <a:solidFill>
                      <a:srgbClr val="1E293B"/>
                    </a:solidFill>
                    <a:latin typeface="Calibri"/>
                  </a:rPr>
                  <a:t> để chỉ ra các khoảng đơn điệu của hàm số.</a:t>
                </a:r>
              </a:p>
              <a:p>
                <a:pPr algn="l" marL="365760" indent="-365760">
                  <a:spcAft>
                    <a:spcPts val="800"/>
                  </a:spcAft>
                  <a:buClr>
                    <a:srgbClr val="1E40AF"/>
                  </a:buClr>
                  <a:buFont typeface="Arial"/>
                  <a:buChar char="•"/>
                </a:pPr>
                <a:r>
                  <a:rPr sz="2100">
                    <a:solidFill>
                      <a:srgbClr val="1E293B"/>
                    </a:solidFill>
                    <a:latin typeface="Calibri"/>
                  </a:rPr>
                  <a:t>Tìm cực trị của hàm số.</a:t>
                </a:r>
              </a:p>
              <a:p>
                <a:pPr algn="l" marL="365760" indent="-365760">
                  <a:spcAft>
                    <a:spcPts val="800"/>
                  </a:spcAft>
                  <a:buClr>
                    <a:srgbClr val="1E40AF"/>
                  </a:buClr>
                  <a:buFont typeface="Arial"/>
                  <a:buChar char="•"/>
                </a:pPr>
                <a:r>
                  <a:rPr sz="2100">
                    <a:solidFill>
                      <a:srgbClr val="1E293B"/>
                    </a:solidFill>
                    <a:latin typeface="Calibri"/>
                  </a:rPr>
                  <a:t>Tìm các giới hạn tại vô cực, giới hạn vô cực và tìm tiệm cận của đồ thị hàm số (nếu có).</a:t>
                </a:r>
              </a:p>
              <a:p>
                <a:pPr algn="l" marL="365760" indent="-365760">
                  <a:spcAft>
                    <a:spcPts val="800"/>
                  </a:spcAft>
                  <a:buClr>
                    <a:srgbClr val="1E40AF"/>
                  </a:buClr>
                  <a:buFont typeface="Arial"/>
                  <a:buChar char="•"/>
                </a:pPr>
                <a:r>
                  <a:rPr sz="2100">
                    <a:solidFill>
                      <a:srgbClr val="1E293B"/>
                    </a:solidFill>
                    <a:latin typeface="Calibri"/>
                  </a:rPr>
                  <a:t>Lập bảng biến thiên của hàm số.</a:t>
                </a:r>
              </a:p>
              <a:p>
                <a:pPr algn="l">
                  <a:spcAft>
                    <a:spcPts val="800"/>
                  </a:spcAft>
                </a:pPr>
                <a:r>
                  <a:rPr sz="2100">
                    <a:solidFill>
                      <a:srgbClr val="1E293B"/>
                    </a:solidFill>
                    <a:latin typeface="Calibri"/>
                  </a:rPr>
                  <a:t>3. Vẽ đồ thị của hàm số dựa vào bảng biến thiên.</a:t>
                </a:r>
              </a:p>
            </p:txBody>
          </p:sp>
        </mc:Fallback>
      </mc:AlternateContent>
      <p:sp>
        <p:nvSpPr>
          <p:cNvPr id="9" name="s1_nen"/>
          <p:cNvSpPr/>
          <p:nvPr/>
        </p:nvSpPr>
        <p:spPr>
          <a:xfrm>
            <a:off x="548640" y="5166360"/>
            <a:ext cx="11064240" cy="84429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713232" y="5202936"/>
            <a:ext cx="10735056" cy="771143"/>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Khi vẽ đồ thị, nên xác định thêm một số điểm đặc biệt (giao điểm với các trục toạ độ) và lưu ý tính đối xứng của đồ thị (đối xứng tâm, đối xứng trục).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GHÉP ĐÔI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9</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Mỗi nhóm ghép trong 1 phút.</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1106424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Ghép mỗi bước khảo sát với kết quả tương ứng của hàm số </a:t>
                </a:r>
                <a14:m>
                  <m:oMath xmlns:m="http://schemas.openxmlformats.org/officeDocument/2006/math">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−4x+3</m:t>
                    </m:r>
                  </m:oMath>
                </a14:m>
                <a:r>
                  <a:rPr sz="2200">
                    <a:solidFill>
                      <a:srgbClr val="1E293B"/>
                    </a:solidFill>
                    <a:latin typeface="Calibri"/>
                  </a:rPr>
                  <a:t>.</a:t>
                </a:r>
              </a:p>
            </p:txBody>
          </p:sp>
        </mc:Choice>
        <mc:Fallback>
          <p:sp>
            <p:nvSpPr>
              <p:cNvPr id="8" name="TextBox 7"/>
              <p:cNvSpPr txBox="1"/>
              <p:nvPr/>
            </p:nvSpPr>
            <p:spPr>
              <a:xfrm>
                <a:off x="548640" y="1783080"/>
                <a:ext cx="1106424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Ghép mỗi bước khảo sát với kết quả tương ứng của hàm số </a:t>
                </a:r>
                <a:r>
                  <a:rPr lang="vi-VN"/>
                  <a:t>y=x^2-4x+3</a:t>
                </a:r>
                <a:r>
                  <a:rPr sz="2200">
                    <a:solidFill>
                      <a:srgbClr val="1E293B"/>
                    </a:solidFill>
                    <a:latin typeface="Calibri"/>
                  </a:rPr>
                  <a:t>.</a:t>
                </a:r>
              </a:p>
            </p:txBody>
          </p:sp>
        </mc:Fallback>
      </mc:AlternateContent>
      <p:sp>
        <p:nvSpPr>
          <p:cNvPr id="9" name="Rounded Rectangle 8"/>
          <p:cNvSpPr/>
          <p:nvPr/>
        </p:nvSpPr>
        <p:spPr>
          <a:xfrm>
            <a:off x="548640" y="2429255"/>
            <a:ext cx="2377440" cy="77724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465831"/>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1.</a:t>
            </a:r>
            <a:r>
              <a:rPr sz="2400">
                <a:solidFill>
                  <a:srgbClr val="1E293B"/>
                </a:solidFill>
                <a:latin typeface="Calibri"/>
              </a:rPr>
              <a:t> Tập xác định</a:t>
            </a:r>
          </a:p>
        </p:txBody>
      </p:sp>
      <p:sp>
        <p:nvSpPr>
          <p:cNvPr id="11" name="Rounded Rectangle 10"/>
          <p:cNvSpPr/>
          <p:nvPr/>
        </p:nvSpPr>
        <p:spPr>
          <a:xfrm>
            <a:off x="3200400" y="2429255"/>
            <a:ext cx="2377440" cy="77724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TextBox 11"/>
              <p:cNvSpPr txBox="1"/>
              <p:nvPr/>
            </p:nvSpPr>
            <p:spPr>
              <a:xfrm>
                <a:off x="3364992" y="2465831"/>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x=2</m:t>
                    </m:r>
                  </m:oMath>
                </a14:m>
              </a:p>
            </p:txBody>
          </p:sp>
        </mc:Choice>
        <mc:Fallback>
          <p:sp>
            <p:nvSpPr>
              <p:cNvPr id="12" name="TextBox 11"/>
              <p:cNvSpPr txBox="1"/>
              <p:nvPr/>
            </p:nvSpPr>
            <p:spPr>
              <a:xfrm>
                <a:off x="3364992" y="2465831"/>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A.</a:t>
                </a:r>
                <a:r>
                  <a:rPr sz="2400">
                    <a:solidFill>
                      <a:srgbClr val="1E293B"/>
                    </a:solidFill>
                    <a:latin typeface="Calibri"/>
                  </a:rPr>
                  <a:t> </a:t>
                </a:r>
                <a:r>
                  <a:rPr lang="vi-VN"/>
                  <a:t>x=2</a:t>
                </a:r>
              </a:p>
            </p:txBody>
          </p:sp>
        </mc:Fallback>
      </mc:AlternateContent>
      <p:sp>
        <p:nvSpPr>
          <p:cNvPr id="13" name="s1_nen"/>
          <p:cNvSpPr/>
          <p:nvPr/>
        </p:nvSpPr>
        <p:spPr>
          <a:xfrm>
            <a:off x="5852160" y="2429255"/>
            <a:ext cx="146304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1_chu"/>
          <p:cNvSpPr txBox="1"/>
          <p:nvPr/>
        </p:nvSpPr>
        <p:spPr>
          <a:xfrm>
            <a:off x="6016752" y="2465831"/>
            <a:ext cx="1133856" cy="704088"/>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1 – C</a:t>
            </a:r>
          </a:p>
        </p:txBody>
      </p:sp>
      <p:sp>
        <p:nvSpPr>
          <p:cNvPr id="15" name="Rounded Rectangle 14"/>
          <p:cNvSpPr/>
          <p:nvPr/>
        </p:nvSpPr>
        <p:spPr>
          <a:xfrm>
            <a:off x="548640" y="3361943"/>
            <a:ext cx="2377440" cy="77724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TextBox 15"/>
              <p:cNvSpPr txBox="1"/>
              <p:nvPr/>
            </p:nvSpPr>
            <p:spPr>
              <a:xfrm>
                <a:off x="713232" y="3398519"/>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2.</a:t>
                </a:r>
                <a:r>
                  <a:rPr sz="2400">
                    <a:solidFill>
                      <a:srgbClr val="1E293B"/>
                    </a:solidFill>
                    <a:latin typeface="Calibri"/>
                  </a:rPr>
                  <a:t> Nghiệm </a:t>
                </a:r>
                <a14:m>
                  <m:oMath xmlns:m="http://schemas.openxmlformats.org/officeDocument/2006/math">
                    <m:sSup>
                      <m:e>
                        <m:r>
                          <a:rPr lang="vi-VN" sz="2400" b="0">
                            <a:solidFill>
                              <a:srgbClr val="1E293B"/>
                            </a:solidFill>
                            <a:latin typeface="Cambria Math" panose="02040503050406030204" pitchFamily="18" charset="0"/>
                          </a:rPr>
                          <m:t>y</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=0</m:t>
                    </m:r>
                  </m:oMath>
                </a14:m>
              </a:p>
            </p:txBody>
          </p:sp>
        </mc:Choice>
        <mc:Fallback>
          <p:sp>
            <p:nvSpPr>
              <p:cNvPr id="16" name="TextBox 15"/>
              <p:cNvSpPr txBox="1"/>
              <p:nvPr/>
            </p:nvSpPr>
            <p:spPr>
              <a:xfrm>
                <a:off x="713232" y="3398519"/>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2.</a:t>
                </a:r>
                <a:r>
                  <a:rPr sz="2400">
                    <a:solidFill>
                      <a:srgbClr val="1E293B"/>
                    </a:solidFill>
                    <a:latin typeface="Calibri"/>
                  </a:rPr>
                  <a:t> Nghiệm </a:t>
                </a:r>
                <a:r>
                  <a:rPr lang="vi-VN"/>
                  <a:t>y'=0</a:t>
                </a:r>
              </a:p>
            </p:txBody>
          </p:sp>
        </mc:Fallback>
      </mc:AlternateContent>
      <p:sp>
        <p:nvSpPr>
          <p:cNvPr id="17" name="Rounded Rectangle 16"/>
          <p:cNvSpPr/>
          <p:nvPr/>
        </p:nvSpPr>
        <p:spPr>
          <a:xfrm>
            <a:off x="3200400" y="3361943"/>
            <a:ext cx="2377440" cy="77724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8" name="TextBox 17"/>
              <p:cNvSpPr txBox="1"/>
              <p:nvPr/>
            </p:nvSpPr>
            <p:spPr>
              <a:xfrm>
                <a:off x="3364992" y="3398519"/>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e>
                    </m:d>
                  </m:oMath>
                </a14:m>
              </a:p>
            </p:txBody>
          </p:sp>
        </mc:Choice>
        <mc:Fallback>
          <p:sp>
            <p:nvSpPr>
              <p:cNvPr id="18" name="TextBox 17"/>
              <p:cNvSpPr txBox="1"/>
              <p:nvPr/>
            </p:nvSpPr>
            <p:spPr>
              <a:xfrm>
                <a:off x="3364992" y="3398519"/>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B.</a:t>
                </a:r>
                <a:r>
                  <a:rPr sz="2400">
                    <a:solidFill>
                      <a:srgbClr val="1E293B"/>
                    </a:solidFill>
                    <a:latin typeface="Calibri"/>
                  </a:rPr>
                  <a:t> </a:t>
                </a:r>
                <a:r>
                  <a:rPr lang="vi-VN"/>
                  <a:t>(0;\ 3)</a:t>
                </a:r>
              </a:p>
            </p:txBody>
          </p:sp>
        </mc:Fallback>
      </mc:AlternateContent>
      <p:sp>
        <p:nvSpPr>
          <p:cNvPr id="19" name="s2_nen"/>
          <p:cNvSpPr/>
          <p:nvPr/>
        </p:nvSpPr>
        <p:spPr>
          <a:xfrm>
            <a:off x="5852160" y="3361943"/>
            <a:ext cx="146304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2_chu"/>
          <p:cNvSpPr txBox="1"/>
          <p:nvPr/>
        </p:nvSpPr>
        <p:spPr>
          <a:xfrm>
            <a:off x="6016752" y="3398519"/>
            <a:ext cx="1133856" cy="704088"/>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2 – A</a:t>
            </a:r>
          </a:p>
        </p:txBody>
      </p:sp>
      <p:sp>
        <p:nvSpPr>
          <p:cNvPr id="21" name="Rounded Rectangle 20"/>
          <p:cNvSpPr/>
          <p:nvPr/>
        </p:nvSpPr>
        <p:spPr>
          <a:xfrm>
            <a:off x="548640" y="4294632"/>
            <a:ext cx="2377440" cy="77724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331208"/>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3.</a:t>
            </a:r>
            <a:r>
              <a:rPr sz="2400">
                <a:solidFill>
                  <a:srgbClr val="1E293B"/>
                </a:solidFill>
                <a:latin typeface="Calibri"/>
              </a:rPr>
              <a:t> Cực trị</a:t>
            </a:r>
          </a:p>
        </p:txBody>
      </p:sp>
      <p:sp>
        <p:nvSpPr>
          <p:cNvPr id="23" name="Rounded Rectangle 22"/>
          <p:cNvSpPr/>
          <p:nvPr/>
        </p:nvSpPr>
        <p:spPr>
          <a:xfrm>
            <a:off x="3200400" y="4294632"/>
            <a:ext cx="2377440" cy="77724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4" name="TextBox 23"/>
              <p:cNvSpPr txBox="1"/>
              <p:nvPr/>
            </p:nvSpPr>
            <p:spPr>
              <a:xfrm>
                <a:off x="3364992" y="4331208"/>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ℝ</m:t>
                    </m:r>
                  </m:oMath>
                </a14:m>
              </a:p>
            </p:txBody>
          </p:sp>
        </mc:Choice>
        <mc:Fallback>
          <p:sp>
            <p:nvSpPr>
              <p:cNvPr id="24" name="TextBox 23"/>
              <p:cNvSpPr txBox="1"/>
              <p:nvPr/>
            </p:nvSpPr>
            <p:spPr>
              <a:xfrm>
                <a:off x="3364992" y="4331208"/>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C.</a:t>
                </a:r>
                <a:r>
                  <a:rPr sz="2400">
                    <a:solidFill>
                      <a:srgbClr val="1E293B"/>
                    </a:solidFill>
                    <a:latin typeface="Calibri"/>
                  </a:rPr>
                  <a:t> </a:t>
                </a:r>
                <a:r>
                  <a:rPr lang="vi-VN"/>
                  <a:t>\mathbb{R}</a:t>
                </a:r>
              </a:p>
            </p:txBody>
          </p:sp>
        </mc:Fallback>
      </mc:AlternateContent>
      <p:sp>
        <p:nvSpPr>
          <p:cNvPr id="25" name="s3_nen"/>
          <p:cNvSpPr/>
          <p:nvPr/>
        </p:nvSpPr>
        <p:spPr>
          <a:xfrm>
            <a:off x="5852160" y="4294632"/>
            <a:ext cx="146304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3_chu"/>
          <p:cNvSpPr txBox="1"/>
          <p:nvPr/>
        </p:nvSpPr>
        <p:spPr>
          <a:xfrm>
            <a:off x="6016752" y="4331208"/>
            <a:ext cx="1133856" cy="704088"/>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3 – D</a:t>
            </a:r>
          </a:p>
        </p:txBody>
      </p:sp>
      <p:sp>
        <p:nvSpPr>
          <p:cNvPr id="27" name="Rounded Rectangle 26"/>
          <p:cNvSpPr/>
          <p:nvPr/>
        </p:nvSpPr>
        <p:spPr>
          <a:xfrm>
            <a:off x="548640" y="5227320"/>
            <a:ext cx="2377440" cy="77724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8" name="TextBox 27"/>
              <p:cNvSpPr txBox="1"/>
              <p:nvPr/>
            </p:nvSpPr>
            <p:spPr>
              <a:xfrm>
                <a:off x="713232" y="5263896"/>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4.</a:t>
                </a:r>
                <a:r>
                  <a:rPr sz="2400">
                    <a:solidFill>
                      <a:srgbClr val="1E293B"/>
                    </a:solidFill>
                    <a:latin typeface="Calibri"/>
                  </a:rPr>
                  <a:t> Giao với </a:t>
                </a:r>
                <a14:m>
                  <m:oMath xmlns:m="http://schemas.openxmlformats.org/officeDocument/2006/math">
                    <m:r>
                      <a:rPr lang="vi-VN" sz="2400" b="0">
                        <a:solidFill>
                          <a:srgbClr val="1E293B"/>
                        </a:solidFill>
                        <a:latin typeface="Cambria Math" panose="02040503050406030204" pitchFamily="18" charset="0"/>
                      </a:rPr>
                      <m:t>Oy</m:t>
                    </m:r>
                  </m:oMath>
                </a14:m>
              </a:p>
            </p:txBody>
          </p:sp>
        </mc:Choice>
        <mc:Fallback>
          <p:sp>
            <p:nvSpPr>
              <p:cNvPr id="28" name="TextBox 27"/>
              <p:cNvSpPr txBox="1"/>
              <p:nvPr/>
            </p:nvSpPr>
            <p:spPr>
              <a:xfrm>
                <a:off x="713232" y="5263896"/>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4.</a:t>
                </a:r>
                <a:r>
                  <a:rPr sz="2400">
                    <a:solidFill>
                      <a:srgbClr val="1E293B"/>
                    </a:solidFill>
                    <a:latin typeface="Calibri"/>
                  </a:rPr>
                  <a:t> Giao với </a:t>
                </a:r>
                <a:r>
                  <a:rPr lang="vi-VN"/>
                  <a:t>Oy</a:t>
                </a:r>
              </a:p>
            </p:txBody>
          </p:sp>
        </mc:Fallback>
      </mc:AlternateContent>
      <p:sp>
        <p:nvSpPr>
          <p:cNvPr id="29" name="Rounded Rectangle 28"/>
          <p:cNvSpPr/>
          <p:nvPr/>
        </p:nvSpPr>
        <p:spPr>
          <a:xfrm>
            <a:off x="3200400" y="5227320"/>
            <a:ext cx="2377440" cy="777240"/>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30" name="TextBox 29"/>
              <p:cNvSpPr txBox="1"/>
              <p:nvPr/>
            </p:nvSpPr>
            <p:spPr>
              <a:xfrm>
                <a:off x="3364992" y="5263896"/>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y</m:t>
                        </m:r>
                      </m:e>
                      <m:sub>
                        <m:r>
                          <a:rPr lang="vi-VN" sz="2400" b="0">
                            <a:solidFill>
                              <a:srgbClr val="1E293B"/>
                            </a:solidFill>
                            <a:latin typeface="Cambria Math" panose="02040503050406030204" pitchFamily="18" charset="0"/>
                          </a:rPr>
                          <m:t>CT</m:t>
                        </m:r>
                      </m:sub>
                    </m:sSub>
                    <m:r>
                      <a:rPr lang="vi-VN" sz="2400" b="0">
                        <a:solidFill>
                          <a:srgbClr val="1E293B"/>
                        </a:solidFill>
                        <a:latin typeface="Cambria Math" panose="02040503050406030204" pitchFamily="18" charset="0"/>
                      </a:rPr>
                      <m:t>=−1</m:t>
                    </m:r>
                  </m:oMath>
                </a14:m>
              </a:p>
            </p:txBody>
          </p:sp>
        </mc:Choice>
        <mc:Fallback>
          <p:sp>
            <p:nvSpPr>
              <p:cNvPr id="30" name="TextBox 29"/>
              <p:cNvSpPr txBox="1"/>
              <p:nvPr/>
            </p:nvSpPr>
            <p:spPr>
              <a:xfrm>
                <a:off x="3364992" y="5263896"/>
                <a:ext cx="2048256" cy="704088"/>
              </a:xfrm>
              <a:prstGeom prst="rect">
                <a:avLst/>
              </a:prstGeom>
              <a:noFill/>
            </p:spPr>
            <p:txBody>
              <a:bodyPr wrap="square" anchor="ctr" lIns="45720" rIns="45720">
                <a:spAutoFit/>
              </a:bodyPr>
              <a:lstStyle/>
              <a:p>
                <a:pPr algn="ctr">
                  <a:spcAft>
                    <a:spcPts val="800"/>
                  </a:spcAft>
                </a:pPr>
                <a:r>
                  <a:rPr sz="2400" b="1">
                    <a:solidFill>
                      <a:srgbClr val="1E293B"/>
                    </a:solidFill>
                    <a:latin typeface="Calibri"/>
                  </a:rPr>
                  <a:t>D.</a:t>
                </a:r>
                <a:r>
                  <a:rPr sz="2400">
                    <a:solidFill>
                      <a:srgbClr val="1E293B"/>
                    </a:solidFill>
                    <a:latin typeface="Calibri"/>
                  </a:rPr>
                  <a:t> </a:t>
                </a:r>
                <a:r>
                  <a:rPr lang="vi-VN"/>
                  <a:t>y_{CT}=-1</a:t>
                </a:r>
              </a:p>
            </p:txBody>
          </p:sp>
        </mc:Fallback>
      </mc:AlternateContent>
      <p:sp>
        <p:nvSpPr>
          <p:cNvPr id="31" name="s4_nen"/>
          <p:cNvSpPr/>
          <p:nvPr/>
        </p:nvSpPr>
        <p:spPr>
          <a:xfrm>
            <a:off x="5852160" y="5227320"/>
            <a:ext cx="1463040" cy="7772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4_chu"/>
          <p:cNvSpPr txBox="1"/>
          <p:nvPr/>
        </p:nvSpPr>
        <p:spPr>
          <a:xfrm>
            <a:off x="6016752" y="5263896"/>
            <a:ext cx="1133856" cy="704088"/>
          </a:xfrm>
          <a:prstGeom prst="rect">
            <a:avLst/>
          </a:prstGeom>
          <a:noFill/>
        </p:spPr>
        <p:txBody>
          <a:bodyPr wrap="square" anchor="ctr" lIns="45720" rIns="45720">
            <a:spAutoFit/>
          </a:bodyPr>
          <a:lstStyle/>
          <a:p>
            <a:pPr algn="ctr">
              <a:spcAft>
                <a:spcPts val="800"/>
              </a:spcAft>
            </a:pPr>
            <a:r>
              <a:rPr sz="2200">
                <a:solidFill>
                  <a:srgbClr val="1E293B"/>
                </a:solidFill>
                <a:latin typeface="Calibri"/>
              </a:rPr>
              <a:t>4 –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10</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Sơ đồ 3 bước: tập xác định → sự biến thiên (đạo hàm, đơn điệu, cực trị, giới hạn, tiệm cận, bảng biến thiên) → đồ thị.</a:t>
            </a:r>
          </a:p>
          <a:p>
            <a:pPr algn="l" marL="365760" indent="-365760">
              <a:spcAft>
                <a:spcPts val="800"/>
              </a:spcAft>
              <a:buClr>
                <a:srgbClr val="1E40AF"/>
              </a:buClr>
              <a:buFont typeface="Arial"/>
              <a:buChar char="•"/>
            </a:pPr>
            <a:r>
              <a:rPr sz="2200">
                <a:solidFill>
                  <a:srgbClr val="1E293B"/>
                </a:solidFill>
                <a:latin typeface="Calibri"/>
              </a:rPr>
              <a:t>Vẽ đồ thị: thêm điểm đặc biệt, chú ý tính đối xứng.</a:t>
            </a:r>
          </a:p>
        </p:txBody>
      </p:sp>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Ôn lại cách tìm cực trị, tiệm cận (Bài 1, Bài 3).</a:t>
            </a:r>
          </a:p>
          <a:p>
            <a:pPr algn="l" marL="365760" indent="-365760">
              <a:spcAft>
                <a:spcPts val="800"/>
              </a:spcAft>
              <a:buClr>
                <a:srgbClr val="1E40AF"/>
              </a:buClr>
              <a:buFont typeface="Arial"/>
              <a:buChar char="•"/>
            </a:pPr>
            <a:r>
              <a:rPr sz="2200">
                <a:solidFill>
                  <a:srgbClr val="1E293B"/>
                </a:solidFill>
                <a:latin typeface="Calibri"/>
              </a:rPr>
              <a:t>Đọc trước mục 2 – Ví dụ 1, 2 (SGK tr.27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(T15)</a:t>
            </a:r>
          </a:p>
          <a:p>
            <a:pPr>
              <a:spcAft>
                <a:spcPts val="600"/>
              </a:spcAft>
            </a:pPr>
            <a:r>
              <a:rPr sz="4000" b="1">
                <a:solidFill>
                  <a:srgbClr val="FFFFFF"/>
                </a:solidFill>
                <a:latin typeface="Cambria"/>
              </a:rPr>
              <a:t>Khảo sát hàm số đa thức bậc ba</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Khảo sát, vẽ đồ thị hàm số bậc ba.</a:t>
            </a:r>
          </a:p>
          <a:p>
            <a:pPr algn="l">
              <a:spcAft>
                <a:spcPts val="800"/>
              </a:spcAft>
            </a:pPr>
            <a:r>
              <a:rPr sz="2200">
                <a:solidFill>
                  <a:srgbClr val="E0E7FF"/>
                </a:solidFill>
                <a:latin typeface="Calibri"/>
              </a:rPr>
              <a:t>• Nhận biết tâm đối xứng của đồ thị hàm bậc ba.</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1.</a:t>
                </a:r>
                <a:r>
                  <a:rPr sz="1900">
                    <a:solidFill>
                      <a:srgbClr val="1E293B"/>
                    </a:solidFill>
                    <a:latin typeface="Calibri"/>
                  </a:rPr>
                  <a:t> Khảo sát sự biến thiên và vẽ đồ thị của hàm số </a:t>
                </a:r>
                <a14:m>
                  <m:oMath xmlns:m="http://schemas.openxmlformats.org/officeDocument/2006/math">
                    <m:r>
                      <a:rPr lang="vi-VN" sz="1900" b="0">
                        <a:solidFill>
                          <a:srgbClr val="1E293B"/>
                        </a:solidFill>
                        <a:latin typeface="Cambria Math" panose="02040503050406030204" pitchFamily="18" charset="0"/>
                      </a:rPr>
                      <m:t>y=−</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−4</m:t>
                    </m:r>
                  </m:oMath>
                </a14:m>
                <a:r>
                  <a:rPr sz="1900">
                    <a:solidFill>
                      <a:srgbClr val="1E293B"/>
                    </a:solidFill>
                    <a:latin typeface="Calibri"/>
                  </a:rPr>
                  <a:t>.</a:t>
                </a:r>
              </a:p>
            </p:txBody>
          </p:sp>
        </mc:Choice>
        <mc:Fallback>
          <p:sp>
            <p:nvSpPr>
              <p:cNvPr id="7" name="TextBox 6"/>
              <p:cNvSpPr txBox="1"/>
              <p:nvPr/>
            </p:nvSpPr>
            <p:spPr>
              <a:xfrm>
                <a:off x="548640" y="1371600"/>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1.</a:t>
                </a:r>
                <a:r>
                  <a:rPr sz="1900">
                    <a:solidFill>
                      <a:srgbClr val="1E293B"/>
                    </a:solidFill>
                    <a:latin typeface="Calibri"/>
                  </a:rPr>
                  <a:t> Khảo sát sự biến thiên và vẽ đồ thị của hàm số </a:t>
                </a:r>
                <a:r>
                  <a:rPr lang="vi-VN"/>
                  <a:t>y=-x^3+3x^2-4</a:t>
                </a:r>
                <a:r>
                  <a:rPr sz="1900">
                    <a:solidFill>
                      <a:srgbClr val="1E293B"/>
                    </a:solidFill>
                    <a:latin typeface="Calibri"/>
                  </a:rPr>
                  <a:t>.</a:t>
                </a:r>
              </a:p>
            </p:txBody>
          </p:sp>
        </mc:Fallback>
      </mc:AlternateContent>
      <p:sp>
        <p:nvSpPr>
          <p:cNvPr id="8" name="s1_nen"/>
          <p:cNvSpPr/>
          <p:nvPr/>
        </p:nvSpPr>
        <p:spPr>
          <a:xfrm>
            <a:off x="548640" y="1889759"/>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19263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14:m>
                  <m:oMath xmlns:m="http://schemas.openxmlformats.org/officeDocument/2006/math">
                    <m:r>
                      <a:rPr lang="vi-VN" sz="1900" b="0">
                        <a:solidFill>
                          <a:srgbClr val="1E293B"/>
                        </a:solidFill>
                        <a:latin typeface="Cambria Math" panose="02040503050406030204" pitchFamily="18" charset="0"/>
                      </a:rPr>
                      <m:t>ℝ</m:t>
                    </m:r>
                  </m:oMath>
                </a14:m>
                <a:r>
                  <a:rPr sz="1900">
                    <a:solidFill>
                      <a:srgbClr val="1E293B"/>
                    </a:solidFill>
                    <a:latin typeface="Calibri"/>
                  </a:rPr>
                  <a:t>. 2.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+6x</m:t>
                    </m:r>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=0⇔x=0</m:t>
                    </m:r>
                  </m:oMath>
                </a14:m>
                <a:r>
                  <a:rPr sz="1900">
                    <a:solidFill>
                      <a:srgbClr val="1E293B"/>
                    </a:solidFill>
                    <a:latin typeface="Calibri"/>
                  </a:rPr>
                  <a:t> hoặc </a:t>
                </a:r>
                <a14:m>
                  <m:oMath xmlns:m="http://schemas.openxmlformats.org/officeDocument/2006/math">
                    <m:r>
                      <a:rPr lang="vi-VN" sz="1900" b="0">
                        <a:solidFill>
                          <a:srgbClr val="1E293B"/>
                        </a:solidFill>
                        <a:latin typeface="Cambria Math" panose="02040503050406030204" pitchFamily="18" charset="0"/>
                      </a:rPr>
                      <m:t>x=2</m:t>
                    </m:r>
                  </m:oMath>
                </a14:m>
                <a:r>
                  <a:rPr sz="1900">
                    <a:solidFill>
                      <a:srgbClr val="1E293B"/>
                    </a:solidFill>
                    <a:latin typeface="Calibri"/>
                  </a:rPr>
                  <a:t>.</a:t>
                </a:r>
              </a:p>
            </p:txBody>
          </p:sp>
        </mc:Choice>
        <mc:Fallback>
          <p:sp>
            <p:nvSpPr>
              <p:cNvPr id="9" name="TextBox 8"/>
              <p:cNvSpPr txBox="1"/>
              <p:nvPr/>
            </p:nvSpPr>
            <p:spPr>
              <a:xfrm>
                <a:off x="713232" y="19263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r>
                  <a:rPr lang="vi-VN"/>
                  <a:t>\mathbb{R}</a:t>
                </a:r>
                <a:r>
                  <a:rPr sz="1900">
                    <a:solidFill>
                      <a:srgbClr val="1E293B"/>
                    </a:solidFill>
                    <a:latin typeface="Calibri"/>
                  </a:rPr>
                  <a:t>. 2. </a:t>
                </a:r>
                <a:r>
                  <a:rPr lang="vi-VN"/>
                  <a:t>y'=-3x^2+6x</a:t>
                </a:r>
                <a:r>
                  <a:rPr sz="1900">
                    <a:solidFill>
                      <a:srgbClr val="1E293B"/>
                    </a:solidFill>
                    <a:latin typeface="Calibri"/>
                  </a:rPr>
                  <a:t>; </a:t>
                </a:r>
                <a:r>
                  <a:rPr lang="vi-VN"/>
                  <a:t>y'=0\Leftrightarrow x=0</a:t>
                </a:r>
                <a:r>
                  <a:rPr sz="1900">
                    <a:solidFill>
                      <a:srgbClr val="1E293B"/>
                    </a:solidFill>
                    <a:latin typeface="Calibri"/>
                  </a:rPr>
                  <a:t> hoặc </a:t>
                </a:r>
                <a:r>
                  <a:rPr lang="vi-VN"/>
                  <a:t>x=2</a:t>
                </a:r>
                <a:r>
                  <a:rPr sz="1900">
                    <a:solidFill>
                      <a:srgbClr val="1E293B"/>
                    </a:solidFill>
                    <a:latin typeface="Calibri"/>
                  </a:rPr>
                  <a:t>.</a:t>
                </a:r>
              </a:p>
            </p:txBody>
          </p:sp>
        </mc:Fallback>
      </mc:AlternateContent>
      <p:sp>
        <p:nvSpPr>
          <p:cNvPr id="10" name="s2_nen"/>
          <p:cNvSpPr/>
          <p:nvPr/>
        </p:nvSpPr>
        <p:spPr>
          <a:xfrm>
            <a:off x="548640" y="2499359"/>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535935"/>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a:t>
                </a:r>
                <a14:m>
                  <m:oMath xmlns:m="http://schemas.openxmlformats.org/officeDocument/2006/math">
                    <m:d>
                      <m:dPr>
                        <m:sepChr m:val=""/>
                      </m:dPr>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m:t>
                        </m:r>
                      </m:e>
                    </m:d>
                  </m:oMath>
                </a14:m>
                <a:r>
                  <a:rPr sz="1900">
                    <a:solidFill>
                      <a:srgbClr val="1E293B"/>
                    </a:solidFill>
                    <a:latin typeface="Calibri"/>
                  </a:rPr>
                  <a:t>; nghịch biến trên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e>
                    </m:d>
                  </m:oMath>
                </a14:m>
                <a:r>
                  <a:rPr sz="1900">
                    <a:solidFill>
                      <a:srgbClr val="1E293B"/>
                    </a:solidFill>
                    <a:latin typeface="Calibri"/>
                  </a:rPr>
                  <a:t> và </a:t>
                </a:r>
                <a14:m>
                  <m:oMath xmlns:m="http://schemas.openxmlformats.org/officeDocument/2006/math">
                    <m:d>
                      <m:dPr>
                        <m:sepChr m:val=""/>
                      </m:dPr>
                      <m:e>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Cực tiểu tại </a:t>
                </a:r>
                <a14:m>
                  <m:oMath xmlns:m="http://schemas.openxmlformats.org/officeDocument/2006/math">
                    <m:r>
                      <a:rPr lang="vi-VN" sz="1900" b="0">
                        <a:solidFill>
                          <a:srgbClr val="1E293B"/>
                        </a:solidFill>
                        <a:latin typeface="Cambria Math" panose="02040503050406030204" pitchFamily="18" charset="0"/>
                      </a:rPr>
                      <m:t>x=0</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CT</m:t>
                        </m:r>
                      </m:sub>
                    </m:sSub>
                    <m:r>
                      <a:rPr lang="vi-VN" sz="1900" b="0">
                        <a:solidFill>
                          <a:srgbClr val="1E293B"/>
                        </a:solidFill>
                        <a:latin typeface="Cambria Math" panose="02040503050406030204" pitchFamily="18" charset="0"/>
                      </a:rPr>
                      <m:t>=−4</m:t>
                    </m:r>
                  </m:oMath>
                </a14:m>
                <a:r>
                  <a:rPr sz="1900">
                    <a:solidFill>
                      <a:srgbClr val="1E293B"/>
                    </a:solidFill>
                    <a:latin typeface="Calibri"/>
                  </a:rPr>
                  <a:t>; cực đại tại </a:t>
                </a:r>
                <a14:m>
                  <m:oMath xmlns:m="http://schemas.openxmlformats.org/officeDocument/2006/math">
                    <m:r>
                      <a:rPr lang="vi-VN" sz="1900" b="0">
                        <a:solidFill>
                          <a:srgbClr val="1E293B"/>
                        </a:solidFill>
                        <a:latin typeface="Cambria Math" panose="02040503050406030204" pitchFamily="18" charset="0"/>
                      </a:rPr>
                      <m:t>x=2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CĐ</m:t>
                        </m:r>
                      </m:sub>
                    </m:sSub>
                    <m:r>
                      <a:rPr lang="vi-VN" sz="1900" b="0">
                        <a:solidFill>
                          <a:srgbClr val="1E293B"/>
                        </a:solidFill>
                        <a:latin typeface="Cambria Math" panose="02040503050406030204" pitchFamily="18" charset="0"/>
                      </a:rPr>
                      <m:t>=0</m:t>
                    </m:r>
                  </m:oMath>
                </a14:m>
                <a:r>
                  <a:rPr sz="1900">
                    <a:solidFill>
                      <a:srgbClr val="1E293B"/>
                    </a:solidFill>
                    <a:latin typeface="Calibri"/>
                  </a:rPr>
                  <a:t>.</a:t>
                </a:r>
              </a:p>
            </p:txBody>
          </p:sp>
        </mc:Choice>
        <mc:Fallback>
          <p:sp>
            <p:nvSpPr>
              <p:cNvPr id="11" name="TextBox 10"/>
              <p:cNvSpPr txBox="1"/>
              <p:nvPr/>
            </p:nvSpPr>
            <p:spPr>
              <a:xfrm>
                <a:off x="713232" y="2535935"/>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a:t>
                </a:r>
                <a:r>
                  <a:rPr lang="vi-VN"/>
                  <a:t>(0;\ 2)</a:t>
                </a:r>
                <a:r>
                  <a:rPr sz="1900">
                    <a:solidFill>
                      <a:srgbClr val="1E293B"/>
                    </a:solidFill>
                    <a:latin typeface="Calibri"/>
                  </a:rPr>
                  <a:t>; nghịch biến trên </a:t>
                </a:r>
                <a:r>
                  <a:rPr lang="vi-VN"/>
                  <a:t>(-\infty;\ 0)</a:t>
                </a:r>
                <a:r>
                  <a:rPr sz="1900">
                    <a:solidFill>
                      <a:srgbClr val="1E293B"/>
                    </a:solidFill>
                    <a:latin typeface="Calibri"/>
                  </a:rPr>
                  <a:t> và </a:t>
                </a:r>
                <a:r>
                  <a:rPr lang="vi-VN"/>
                  <a:t>(2;\ +\infty)</a:t>
                </a:r>
                <a:r>
                  <a:rPr sz="1900">
                    <a:solidFill>
                      <a:srgbClr val="1E293B"/>
                    </a:solidFill>
                    <a:latin typeface="Calibri"/>
                  </a:rPr>
                  <a:t>. Cực tiểu tại </a:t>
                </a:r>
                <a:r>
                  <a:rPr lang="vi-VN"/>
                  <a:t>x=0</a:t>
                </a:r>
                <a:r>
                  <a:rPr sz="1900">
                    <a:solidFill>
                      <a:srgbClr val="1E293B"/>
                    </a:solidFill>
                    <a:latin typeface="Calibri"/>
                  </a:rPr>
                  <a:t>, </a:t>
                </a:r>
                <a:r>
                  <a:rPr lang="vi-VN"/>
                  <a:t>y_{CT}=-4</a:t>
                </a:r>
                <a:r>
                  <a:rPr sz="1900">
                    <a:solidFill>
                      <a:srgbClr val="1E293B"/>
                    </a:solidFill>
                    <a:latin typeface="Calibri"/>
                  </a:rPr>
                  <a:t>; cực đại tại </a:t>
                </a:r>
                <a:r>
                  <a:rPr lang="vi-VN"/>
                  <a:t>x=2</a:t>
                </a:r>
                <a:r>
                  <a:rPr sz="1900">
                    <a:solidFill>
                      <a:srgbClr val="1E293B"/>
                    </a:solidFill>
                    <a:latin typeface="Calibri"/>
                  </a:rPr>
                  <a:t>, </a:t>
                </a:r>
                <a:r>
                  <a:rPr lang="vi-VN"/>
                  <a:t>y_{CĐ}=0</a:t>
                </a:r>
                <a:r>
                  <a:rPr sz="1900">
                    <a:solidFill>
                      <a:srgbClr val="1E293B"/>
                    </a:solidFill>
                    <a:latin typeface="Calibri"/>
                  </a:rPr>
                  <a:t>.</a:t>
                </a:r>
              </a:p>
            </p:txBody>
          </p:sp>
        </mc:Fallback>
      </mc:AlternateContent>
      <p:sp>
        <p:nvSpPr>
          <p:cNvPr id="12" name="s3_nen"/>
          <p:cNvSpPr/>
          <p:nvPr/>
        </p:nvSpPr>
        <p:spPr>
          <a:xfrm>
            <a:off x="548640" y="3398519"/>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43509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m:t>
                    </m:r>
                  </m:oMath>
                </a14:m>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m:t>
                    </m:r>
                  </m:oMath>
                </a14:m>
                <a:r>
                  <a:rPr sz="1900">
                    <a:solidFill>
                      <a:srgbClr val="1E293B"/>
                    </a:solidFill>
                    <a:latin typeface="Calibri"/>
                  </a:rPr>
                  <a:t>.</a:t>
                </a:r>
              </a:p>
            </p:txBody>
          </p:sp>
        </mc:Choice>
        <mc:Fallback>
          <p:sp>
            <p:nvSpPr>
              <p:cNvPr id="13" name="TextBox 12"/>
              <p:cNvSpPr txBox="1"/>
              <p:nvPr/>
            </p:nvSpPr>
            <p:spPr>
              <a:xfrm>
                <a:off x="713232" y="343509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\lim\limits_{x\to-\infty}y=+\infty</a:t>
                </a:r>
                <a:r>
                  <a:rPr sz="1900">
                    <a:solidFill>
                      <a:srgbClr val="1E293B"/>
                    </a:solidFill>
                    <a:latin typeface="Calibri"/>
                  </a:rPr>
                  <a:t>; </a:t>
                </a:r>
                <a:r>
                  <a:rPr lang="vi-VN"/>
                  <a:t>\lim\limits_{x\to+\infty}y=-\infty</a:t>
                </a:r>
                <a:r>
                  <a:rPr sz="1900">
                    <a:solidFill>
                      <a:srgbClr val="1E293B"/>
                    </a:solidFill>
                    <a:latin typeface="Calibri"/>
                  </a:rPr>
                  <a:t>.</a:t>
                </a:r>
              </a:p>
            </p:txBody>
          </p:sp>
        </mc:Fallback>
      </mc:AlternateContent>
      <p:pic>
        <p:nvPicPr>
          <p:cNvPr id="14" name="s4_bbt" descr="b4_vd1bbt.png"/>
          <p:cNvPicPr>
            <a:picLocks noChangeAspect="1"/>
          </p:cNvPicPr>
          <p:nvPr/>
        </p:nvPicPr>
        <p:blipFill>
          <a:blip r:embed="rId3"/>
          <a:stretch>
            <a:fillRect/>
          </a:stretch>
        </p:blipFill>
        <p:spPr>
          <a:xfrm>
            <a:off x="4084906" y="4026407"/>
            <a:ext cx="3991707" cy="146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(SGK TR.27) (TIẾP) –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Khảo sát sự biến thiên và vẽ đồ thị của hàm số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−4</m:t>
                    </m:r>
                  </m:oMath>
                </a14:m>
                <a:r>
                  <a:rPr sz="2000">
                    <a:solidFill>
                      <a:srgbClr val="1E293B"/>
                    </a:solidFill>
                    <a:latin typeface="Calibri"/>
                  </a:rPr>
                  <a:t>.</a:t>
                </a:r>
              </a:p>
            </p:txBody>
          </p:sp>
        </mc:Choice>
        <mc:Fallback>
          <p:sp>
            <p:nvSpPr>
              <p:cNvPr id="7" name="TextBox 6"/>
              <p:cNvSpPr txBox="1"/>
              <p:nvPr/>
            </p:nvSpPr>
            <p:spPr>
              <a:xfrm>
                <a:off x="548640" y="1371600"/>
                <a:ext cx="73152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1.</a:t>
                </a:r>
                <a:r>
                  <a:rPr sz="2000">
                    <a:solidFill>
                      <a:srgbClr val="1E293B"/>
                    </a:solidFill>
                    <a:latin typeface="Calibri"/>
                  </a:rPr>
                  <a:t> Khảo sát sự biến thiên và vẽ đồ thị của hàm số </a:t>
                </a:r>
                <a:r>
                  <a:rPr lang="vi-VN"/>
                  <a:t>y=-x^3+3x^2-4</a:t>
                </a:r>
                <a:r>
                  <a:rPr sz="2000">
                    <a:solidFill>
                      <a:srgbClr val="1E293B"/>
                    </a:solidFill>
                    <a:latin typeface="Calibri"/>
                  </a:rPr>
                  <a:t>.</a:t>
                </a:r>
              </a:p>
            </p:txBody>
          </p:sp>
        </mc:Fallback>
      </mc:AlternateContent>
      <p:sp>
        <p:nvSpPr>
          <p:cNvPr id="8" name="s1_nen"/>
          <p:cNvSpPr/>
          <p:nvPr/>
        </p:nvSpPr>
        <p:spPr>
          <a:xfrm>
            <a:off x="548640" y="2264664"/>
            <a:ext cx="73152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01240"/>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e>
                    </m:d>
                  </m:oMath>
                </a14:m>
                <a:r>
                  <a:rPr sz="2000">
                    <a:solidFill>
                      <a:srgbClr val="1E293B"/>
                    </a:solidFill>
                    <a:latin typeface="Calibri"/>
                  </a:rPr>
                  <a:t>.</a:t>
                </a:r>
              </a:p>
            </p:txBody>
          </p:sp>
        </mc:Choice>
        <mc:Fallback>
          <p:sp>
            <p:nvSpPr>
              <p:cNvPr id="9" name="TextBox 8"/>
              <p:cNvSpPr txBox="1"/>
              <p:nvPr/>
            </p:nvSpPr>
            <p:spPr>
              <a:xfrm>
                <a:off x="713232" y="2301240"/>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r>
                  <a:rPr lang="vi-VN"/>
                  <a:t>(0;\ -4)</a:t>
                </a:r>
                <a:r>
                  <a:rPr sz="2000">
                    <a:solidFill>
                      <a:srgbClr val="1E293B"/>
                    </a:solidFill>
                    <a:latin typeface="Calibri"/>
                  </a:rPr>
                  <a:t>.</a:t>
                </a:r>
              </a:p>
            </p:txBody>
          </p:sp>
        </mc:Fallback>
      </mc:AlternateContent>
      <p:sp>
        <p:nvSpPr>
          <p:cNvPr id="10" name="s2_nen"/>
          <p:cNvSpPr/>
          <p:nvPr/>
        </p:nvSpPr>
        <p:spPr>
          <a:xfrm>
            <a:off x="548640" y="2944368"/>
            <a:ext cx="73152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80944"/>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y=0⇔−(x−2</m:t>
                    </m:r>
                    <m:sSup>
                      <m:e>
                        <m:r>
                          <a:rPr lang="vi-VN" sz="2000" b="0">
                            <a:solidFill>
                              <a:srgbClr val="1E293B"/>
                            </a:solidFill>
                            <a:latin typeface="Cambria Math" panose="02040503050406030204" pitchFamily="18" charset="0"/>
                          </a:rPr>
                          <m:t>)</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(x+1)=0⇔x=−1</m:t>
                    </m:r>
                  </m:oMath>
                </a14:m>
                <a:r>
                  <a:rPr sz="2000">
                    <a:solidFill>
                      <a:srgbClr val="1E293B"/>
                    </a:solidFill>
                    <a:latin typeface="Calibri"/>
                  </a:rPr>
                  <a:t> hoặc </a:t>
                </a:r>
                <a14:m>
                  <m:oMath xmlns:m="http://schemas.openxmlformats.org/officeDocument/2006/math">
                    <m:r>
                      <a:rPr lang="vi-VN" sz="2000" b="0">
                        <a:solidFill>
                          <a:srgbClr val="1E293B"/>
                        </a:solidFill>
                        <a:latin typeface="Cambria Math" panose="02040503050406030204" pitchFamily="18" charset="0"/>
                      </a:rPr>
                      <m:t>x=2</m:t>
                    </m:r>
                  </m:oMath>
                </a14:m>
                <a:r>
                  <a:rPr sz="2000">
                    <a:solidFill>
                      <a:srgbClr val="1E293B"/>
                    </a:solidFill>
                    <a:latin typeface="Calibri"/>
                  </a:rPr>
                  <a:t>: giao với trục hoành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11" name="TextBox 10"/>
              <p:cNvSpPr txBox="1"/>
              <p:nvPr/>
            </p:nvSpPr>
            <p:spPr>
              <a:xfrm>
                <a:off x="713232" y="2980944"/>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y=0\Leftrightarrow-(x-2)^2(x+1)=0\Leftrightarrow x=-1</a:t>
                </a:r>
                <a:r>
                  <a:rPr sz="2000">
                    <a:solidFill>
                      <a:srgbClr val="1E293B"/>
                    </a:solidFill>
                    <a:latin typeface="Calibri"/>
                  </a:rPr>
                  <a:t> hoặc </a:t>
                </a:r>
                <a:r>
                  <a:rPr lang="vi-VN"/>
                  <a:t>x=2</a:t>
                </a:r>
                <a:r>
                  <a:rPr sz="2000">
                    <a:solidFill>
                      <a:srgbClr val="1E293B"/>
                    </a:solidFill>
                    <a:latin typeface="Calibri"/>
                  </a:rPr>
                  <a:t>: giao với trục hoành </a:t>
                </a:r>
                <a:r>
                  <a:rPr lang="vi-VN"/>
                  <a:t>(-1;\ 0)</a:t>
                </a:r>
                <a:r>
                  <a:rPr sz="2000">
                    <a:solidFill>
                      <a:srgbClr val="1E293B"/>
                    </a:solidFill>
                    <a:latin typeface="Calibri"/>
                  </a:rPr>
                  <a:t>, </a:t>
                </a:r>
                <a:r>
                  <a:rPr lang="vi-VN"/>
                  <a:t>(2;\ 0)</a:t>
                </a:r>
                <a:r>
                  <a:rPr sz="2000">
                    <a:solidFill>
                      <a:srgbClr val="1E293B"/>
                    </a:solidFill>
                    <a:latin typeface="Calibri"/>
                  </a:rPr>
                  <a:t>.</a:t>
                </a:r>
              </a:p>
            </p:txBody>
          </p:sp>
        </mc:Fallback>
      </mc:AlternateContent>
      <p:sp>
        <p:nvSpPr>
          <p:cNvPr id="12" name="s3_nen"/>
          <p:cNvSpPr/>
          <p:nvPr/>
        </p:nvSpPr>
        <p:spPr>
          <a:xfrm>
            <a:off x="548640" y="3928871"/>
            <a:ext cx="73152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965447"/>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có tâm đối xứng là điểm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a:t>
                </a:r>
              </a:p>
            </p:txBody>
          </p:sp>
        </mc:Choice>
        <mc:Fallback>
          <p:sp>
            <p:nvSpPr>
              <p:cNvPr id="13" name="TextBox 12"/>
              <p:cNvSpPr txBox="1"/>
              <p:nvPr/>
            </p:nvSpPr>
            <p:spPr>
              <a:xfrm>
                <a:off x="713232" y="3965447"/>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có tâm đối xứng là điểm </a:t>
                </a:r>
                <a:r>
                  <a:rPr lang="vi-VN"/>
                  <a:t>(1;\ -2)</a:t>
                </a:r>
                <a:r>
                  <a:rPr sz="2000">
                    <a:solidFill>
                      <a:srgbClr val="1E293B"/>
                    </a:solidFill>
                    <a:latin typeface="Calibri"/>
                  </a:rPr>
                  <a:t>.</a:t>
                </a:r>
              </a:p>
            </p:txBody>
          </p:sp>
        </mc:Fallback>
      </mc:AlternateContent>
      <p:pic>
        <p:nvPicPr>
          <p:cNvPr id="14" name="Picture 13" descr="b4_vd1.png"/>
          <p:cNvPicPr>
            <a:picLocks noChangeAspect="1"/>
          </p:cNvPicPr>
          <p:nvPr/>
        </p:nvPicPr>
        <p:blipFill>
          <a:blip r:embed="rId3"/>
          <a:stretch>
            <a:fillRect/>
          </a:stretch>
        </p:blipFill>
        <p:spPr>
          <a:xfrm>
            <a:off x="8138160" y="1656933"/>
            <a:ext cx="3474720" cy="3452693"/>
          </a:xfrm>
          <a:prstGeom prst="rect">
            <a:avLst/>
          </a:prstGeom>
        </p:spPr>
      </p:pic>
      <p:sp>
        <p:nvSpPr>
          <p:cNvPr id="15" name="TextBox 14"/>
          <p:cNvSpPr txBox="1"/>
          <p:nvPr/>
        </p:nvSpPr>
        <p:spPr>
          <a:xfrm>
            <a:off x="8138160" y="532180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ĐỒ THỊ HÀM SỐ BẬC BA (SGK TR.27)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14</a:t>
            </a:r>
          </a:p>
        </p:txBody>
      </p:sp>
      <p:sp>
        <p:nvSpPr>
          <p:cNvPr id="7" name="Rounded Rectangle 6"/>
          <p:cNvSpPr/>
          <p:nvPr/>
        </p:nvSpPr>
        <p:spPr>
          <a:xfrm>
            <a:off x="548640" y="1645920"/>
            <a:ext cx="11064240" cy="22296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2156460"/>
              </a:xfrm>
              <a:prstGeom prst="rect">
                <a:avLst/>
              </a:prstGeom>
              <a:noFill/>
            </p:spPr>
            <p:txBody>
              <a:bodyPr wrap="square" anchor="ctr" lIns="45720" rIns="45720">
                <a:spAutoFit/>
              </a:bodyPr>
              <a:lstStyle/>
              <a:p>
                <a:pPr algn="l">
                  <a:spcAft>
                    <a:spcPts val="800"/>
                  </a:spcAft>
                </a:pPr>
                <a:r>
                  <a:rPr sz="2600">
                    <a:solidFill>
                      <a:srgbClr val="1E293B"/>
                    </a:solidFill>
                    <a:latin typeface="Calibri"/>
                  </a:rPr>
                  <a:t>Đồ thị của hàm số bậc ba </a:t>
                </a:r>
                <a14:m>
                  <m:oMath xmlns:m="http://schemas.openxmlformats.org/officeDocument/2006/math">
                    <m:r>
                      <a:rPr lang="vi-VN" sz="2600" b="0">
                        <a:solidFill>
                          <a:srgbClr val="1E293B"/>
                        </a:solidFill>
                        <a:latin typeface="Cambria Math" panose="02040503050406030204" pitchFamily="18" charset="0"/>
                      </a:rPr>
                      <m:t>y=a</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+b</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+cx+d</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a≠0</m:t>
                    </m:r>
                  </m:oMath>
                </a14:m>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Có tâm đối xứng là điểm có hoành độ thoả mãn </a:t>
                </a:r>
                <a14:m>
                  <m:oMath xmlns:m="http://schemas.openxmlformats.org/officeDocument/2006/math">
                    <m:sSup>
                      <m:e>
                        <m:r>
                          <a:rPr lang="vi-VN" sz="2600" b="0">
                            <a:solidFill>
                              <a:srgbClr val="1E293B"/>
                            </a:solidFill>
                            <a:latin typeface="Cambria Math" panose="02040503050406030204" pitchFamily="18" charset="0"/>
                          </a:rPr>
                          <m:t>y</m:t>
                        </m:r>
                      </m:e>
                      <m:sup>
                        <m:r>
                          <a:rPr lang="vi-VN" sz="2600" b="0">
                            <a:solidFill>
                              <a:srgbClr val="1E293B"/>
                            </a:solidFill>
                            <a:latin typeface="Cambria Math" panose="02040503050406030204" pitchFamily="18" charset="0"/>
                          </a:rPr>
                          <m:t>″</m:t>
                        </m:r>
                      </m:sup>
                    </m:sSup>
                    <m:r>
                      <a:rPr lang="vi-VN" sz="2600" b="0">
                        <a:solidFill>
                          <a:srgbClr val="1E293B"/>
                        </a:solidFill>
                        <a:latin typeface="Cambria Math" panose="02040503050406030204" pitchFamily="18" charset="0"/>
                      </a:rPr>
                      <m:t>=0</m:t>
                    </m:r>
                  </m:oMath>
                </a14:m>
                <a:r>
                  <a:rPr sz="2600">
                    <a:solidFill>
                      <a:srgbClr val="1E293B"/>
                    </a:solidFill>
                    <a:latin typeface="Calibri"/>
                  </a:rPr>
                  <a:t>, hay </a:t>
                </a:r>
                <a14:m>
                  <m:oMath xmlns:m="http://schemas.openxmlformats.org/officeDocument/2006/math">
                    <m:r>
                      <a:rPr lang="vi-VN" sz="2600" b="0">
                        <a:solidFill>
                          <a:srgbClr val="1E293B"/>
                        </a:solidFill>
                        <a:latin typeface="Cambria Math" panose="02040503050406030204" pitchFamily="18" charset="0"/>
                      </a:rPr>
                      <m:t>x=−</m:t>
                    </m:r>
                    <m:f>
                      <m:fPr>
                        <m:type m:val="bar"/>
                      </m:fPr>
                      <m:num>
                        <m:r>
                          <a:rPr lang="vi-VN" sz="2600" b="0">
                            <a:solidFill>
                              <a:srgbClr val="1E293B"/>
                            </a:solidFill>
                            <a:latin typeface="Cambria Math" panose="02040503050406030204" pitchFamily="18" charset="0"/>
                          </a:rPr>
                          <m:t>b</m:t>
                        </m:r>
                      </m:num>
                      <m:den>
                        <m:r>
                          <a:rPr lang="vi-VN" sz="2600" b="0">
                            <a:solidFill>
                              <a:srgbClr val="1E293B"/>
                            </a:solidFill>
                            <a:latin typeface="Cambria Math" panose="02040503050406030204" pitchFamily="18" charset="0"/>
                          </a:rPr>
                          <m:t>3a</m:t>
                        </m:r>
                      </m:den>
                    </m:f>
                  </m:oMath>
                </a14:m>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Không có tiệm cận.</a:t>
                </a:r>
              </a:p>
            </p:txBody>
          </p:sp>
        </mc:Choice>
        <mc:Fallback>
          <p:sp>
            <p:nvSpPr>
              <p:cNvPr id="8" name="TextBox 7"/>
              <p:cNvSpPr txBox="1"/>
              <p:nvPr/>
            </p:nvSpPr>
            <p:spPr>
              <a:xfrm>
                <a:off x="713232" y="1682496"/>
                <a:ext cx="10735056" cy="2156460"/>
              </a:xfrm>
              <a:prstGeom prst="rect">
                <a:avLst/>
              </a:prstGeom>
              <a:noFill/>
            </p:spPr>
            <p:txBody>
              <a:bodyPr wrap="square" anchor="ctr" lIns="45720" rIns="45720">
                <a:spAutoFit/>
              </a:bodyPr>
              <a:lstStyle/>
              <a:p>
                <a:pPr algn="l">
                  <a:spcAft>
                    <a:spcPts val="800"/>
                  </a:spcAft>
                </a:pPr>
                <a:r>
                  <a:rPr sz="2600">
                    <a:solidFill>
                      <a:srgbClr val="1E293B"/>
                    </a:solidFill>
                    <a:latin typeface="Calibri"/>
                  </a:rPr>
                  <a:t>Đồ thị của hàm số bậc ba </a:t>
                </a:r>
                <a:r>
                  <a:rPr lang="vi-VN"/>
                  <a:t>y=ax^3+bx^2+cx+d</a:t>
                </a:r>
                <a:r>
                  <a:rPr sz="2600">
                    <a:solidFill>
                      <a:srgbClr val="1E293B"/>
                    </a:solidFill>
                    <a:latin typeface="Calibri"/>
                  </a:rPr>
                  <a:t> (</a:t>
                </a:r>
                <a:r>
                  <a:rPr lang="vi-VN"/>
                  <a:t>a\ne 0</a:t>
                </a:r>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Có tâm đối xứng là điểm có hoành độ thoả mãn </a:t>
                </a:r>
                <a:r>
                  <a:rPr lang="vi-VN"/>
                  <a:t>y''=0</a:t>
                </a:r>
                <a:r>
                  <a:rPr sz="2600">
                    <a:solidFill>
                      <a:srgbClr val="1E293B"/>
                    </a:solidFill>
                    <a:latin typeface="Calibri"/>
                  </a:rPr>
                  <a:t>, hay </a:t>
                </a:r>
                <a:r>
                  <a:rPr lang="vi-VN"/>
                  <a:t>x=-\frac{b}{3a}</a:t>
                </a:r>
                <a:r>
                  <a:rPr sz="2600">
                    <a:solidFill>
                      <a:srgbClr val="1E293B"/>
                    </a:solidFill>
                    <a:latin typeface="Calibri"/>
                  </a:rPr>
                  <a:t>;</a:t>
                </a:r>
              </a:p>
              <a:p>
                <a:pPr algn="l" marL="365760" indent="-365760">
                  <a:spcAft>
                    <a:spcPts val="800"/>
                  </a:spcAft>
                  <a:buClr>
                    <a:srgbClr val="1E40AF"/>
                  </a:buClr>
                  <a:buFont typeface="Arial"/>
                  <a:buChar char="•"/>
                </a:pPr>
                <a:r>
                  <a:rPr sz="2600">
                    <a:solidFill>
                      <a:srgbClr val="1E293B"/>
                    </a:solidFill>
                    <a:latin typeface="Calibri"/>
                  </a:rPr>
                  <a:t>Không có tiệm cận.</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2.</a:t>
                </a:r>
                <a:r>
                  <a:rPr sz="1900">
                    <a:solidFill>
                      <a:srgbClr val="1E293B"/>
                    </a:solidFill>
                    <a:latin typeface="Calibri"/>
                  </a:rPr>
                  <a:t> Khảo sát sự biến thiên và vẽ đồ thị của hàm số </a:t>
                </a:r>
                <a14:m>
                  <m:oMath xmlns:m="http://schemas.openxmlformats.org/officeDocument/2006/math">
                    <m:r>
                      <a:rPr lang="vi-VN" sz="1900" b="0">
                        <a:solidFill>
                          <a:srgbClr val="1E293B"/>
                        </a:solidFill>
                        <a:latin typeface="Cambria Math" panose="02040503050406030204" pitchFamily="18" charset="0"/>
                      </a:rPr>
                      <m:t>y=</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−2</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+2x−1</m:t>
                    </m:r>
                  </m:oMath>
                </a14:m>
                <a:r>
                  <a:rPr sz="1900">
                    <a:solidFill>
                      <a:srgbClr val="1E293B"/>
                    </a:solidFill>
                    <a:latin typeface="Calibri"/>
                  </a:rPr>
                  <a:t>.</a:t>
                </a:r>
              </a:p>
            </p:txBody>
          </p:sp>
        </mc:Choice>
        <mc:Fallback>
          <p:sp>
            <p:nvSpPr>
              <p:cNvPr id="7" name="TextBox 6"/>
              <p:cNvSpPr txBox="1"/>
              <p:nvPr/>
            </p:nvSpPr>
            <p:spPr>
              <a:xfrm>
                <a:off x="548640" y="1371600"/>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2.</a:t>
                </a:r>
                <a:r>
                  <a:rPr sz="1900">
                    <a:solidFill>
                      <a:srgbClr val="1E293B"/>
                    </a:solidFill>
                    <a:latin typeface="Calibri"/>
                  </a:rPr>
                  <a:t> Khảo sát sự biến thiên và vẽ đồ thị của hàm số </a:t>
                </a:r>
                <a:r>
                  <a:rPr lang="vi-VN"/>
                  <a:t>y=x^3-2x^2+2x-1</a:t>
                </a:r>
                <a:r>
                  <a:rPr sz="1900">
                    <a:solidFill>
                      <a:srgbClr val="1E293B"/>
                    </a:solidFill>
                    <a:latin typeface="Calibri"/>
                  </a:rPr>
                  <a:t>.</a:t>
                </a:r>
              </a:p>
            </p:txBody>
          </p:sp>
        </mc:Fallback>
      </mc:AlternateContent>
      <p:sp>
        <p:nvSpPr>
          <p:cNvPr id="8" name="s1_nen"/>
          <p:cNvSpPr/>
          <p:nvPr/>
        </p:nvSpPr>
        <p:spPr>
          <a:xfrm>
            <a:off x="548640" y="1889759"/>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19263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14:m>
                  <m:oMath xmlns:m="http://schemas.openxmlformats.org/officeDocument/2006/math">
                    <m:r>
                      <a:rPr lang="vi-VN" sz="1900" b="0">
                        <a:solidFill>
                          <a:srgbClr val="1E293B"/>
                        </a:solidFill>
                        <a:latin typeface="Cambria Math" panose="02040503050406030204" pitchFamily="18" charset="0"/>
                      </a:rPr>
                      <m:t>ℝ</m:t>
                    </m:r>
                  </m:oMath>
                </a14:m>
                <a:r>
                  <a:rPr sz="1900">
                    <a:solidFill>
                      <a:srgbClr val="1E293B"/>
                    </a:solidFill>
                    <a:latin typeface="Calibri"/>
                  </a:rPr>
                  <a:t>. 2.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−4x+2&gt;0</m:t>
                    </m:r>
                  </m:oMath>
                </a14:m>
                <a:r>
                  <a:rPr sz="1900">
                    <a:solidFill>
                      <a:srgbClr val="1E293B"/>
                    </a:solidFill>
                    <a:latin typeface="Calibri"/>
                  </a:rPr>
                  <a:t> với mọi </a:t>
                </a:r>
                <a14:m>
                  <m:oMath xmlns:m="http://schemas.openxmlformats.org/officeDocument/2006/math">
                    <m:r>
                      <a:rPr lang="vi-VN" sz="1900" b="0">
                        <a:solidFill>
                          <a:srgbClr val="1E293B"/>
                        </a:solidFill>
                        <a:latin typeface="Cambria Math" panose="02040503050406030204" pitchFamily="18" charset="0"/>
                      </a:rPr>
                      <m:t>x∈ℝ</m:t>
                    </m:r>
                  </m:oMath>
                </a14:m>
                <a:r>
                  <a:rPr sz="1900">
                    <a:solidFill>
                      <a:srgbClr val="1E293B"/>
                    </a:solidFill>
                    <a:latin typeface="Calibri"/>
                  </a:rPr>
                  <a:t>.</a:t>
                </a:r>
              </a:p>
            </p:txBody>
          </p:sp>
        </mc:Choice>
        <mc:Fallback>
          <p:sp>
            <p:nvSpPr>
              <p:cNvPr id="9" name="TextBox 8"/>
              <p:cNvSpPr txBox="1"/>
              <p:nvPr/>
            </p:nvSpPr>
            <p:spPr>
              <a:xfrm>
                <a:off x="713232" y="19263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r>
                  <a:rPr lang="vi-VN"/>
                  <a:t>\mathbb{R}</a:t>
                </a:r>
                <a:r>
                  <a:rPr sz="1900">
                    <a:solidFill>
                      <a:srgbClr val="1E293B"/>
                    </a:solidFill>
                    <a:latin typeface="Calibri"/>
                  </a:rPr>
                  <a:t>. 2. </a:t>
                </a:r>
                <a:r>
                  <a:rPr lang="vi-VN"/>
                  <a:t>y'=3x^2-4x+2&gt;0</a:t>
                </a:r>
                <a:r>
                  <a:rPr sz="1900">
                    <a:solidFill>
                      <a:srgbClr val="1E293B"/>
                    </a:solidFill>
                    <a:latin typeface="Calibri"/>
                  </a:rPr>
                  <a:t> với mọi </a:t>
                </a:r>
                <a:r>
                  <a:rPr lang="vi-VN"/>
                  <a:t>x\in\mathbb{R}</a:t>
                </a:r>
                <a:r>
                  <a:rPr sz="1900">
                    <a:solidFill>
                      <a:srgbClr val="1E293B"/>
                    </a:solidFill>
                    <a:latin typeface="Calibri"/>
                  </a:rPr>
                  <a:t>.</a:t>
                </a:r>
              </a:p>
            </p:txBody>
          </p:sp>
        </mc:Fallback>
      </mc:AlternateContent>
      <p:sp>
        <p:nvSpPr>
          <p:cNvPr id="10" name="s2_nen"/>
          <p:cNvSpPr/>
          <p:nvPr/>
        </p:nvSpPr>
        <p:spPr>
          <a:xfrm>
            <a:off x="548640" y="2499359"/>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5359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Hàm số đồng biến trên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không có cực trị.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m:t>
                    </m:r>
                  </m:oMath>
                </a14:m>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m:t>
                    </m:r>
                  </m:oMath>
                </a14:m>
                <a:r>
                  <a:rPr sz="1900">
                    <a:solidFill>
                      <a:srgbClr val="1E293B"/>
                    </a:solidFill>
                    <a:latin typeface="Calibri"/>
                  </a:rPr>
                  <a:t>.</a:t>
                </a:r>
              </a:p>
            </p:txBody>
          </p:sp>
        </mc:Choice>
        <mc:Fallback>
          <p:sp>
            <p:nvSpPr>
              <p:cNvPr id="11" name="TextBox 10"/>
              <p:cNvSpPr txBox="1"/>
              <p:nvPr/>
            </p:nvSpPr>
            <p:spPr>
              <a:xfrm>
                <a:off x="713232" y="2535935"/>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Hàm số đồng biến trên </a:t>
                </a:r>
                <a:r>
                  <a:rPr lang="vi-VN"/>
                  <a:t>(-\infty;\ +\infty)</a:t>
                </a:r>
                <a:r>
                  <a:rPr sz="1900">
                    <a:solidFill>
                      <a:srgbClr val="1E293B"/>
                    </a:solidFill>
                    <a:latin typeface="Calibri"/>
                  </a:rPr>
                  <a:t>, không có cực trị. </a:t>
                </a:r>
                <a:r>
                  <a:rPr lang="vi-VN"/>
                  <a:t>\lim\limits_{x\to-\infty}y=-\infty</a:t>
                </a:r>
                <a:r>
                  <a:rPr sz="1900">
                    <a:solidFill>
                      <a:srgbClr val="1E293B"/>
                    </a:solidFill>
                    <a:latin typeface="Calibri"/>
                  </a:rPr>
                  <a:t>; </a:t>
                </a:r>
                <a:r>
                  <a:rPr lang="vi-VN"/>
                  <a:t>\lim\limits_{x\to+\infty}y=+\infty</a:t>
                </a:r>
                <a:r>
                  <a:rPr sz="1900">
                    <a:solidFill>
                      <a:srgbClr val="1E293B"/>
                    </a:solidFill>
                    <a:latin typeface="Calibri"/>
                  </a:rPr>
                  <a:t>.</a:t>
                </a:r>
              </a:p>
            </p:txBody>
          </p:sp>
        </mc:Fallback>
      </mc:AlternateContent>
      <p:pic>
        <p:nvPicPr>
          <p:cNvPr id="12" name="s3_bbt" descr="b4_vd2bbt.png"/>
          <p:cNvPicPr>
            <a:picLocks noChangeAspect="1"/>
          </p:cNvPicPr>
          <p:nvPr/>
        </p:nvPicPr>
        <p:blipFill>
          <a:blip r:embed="rId3"/>
          <a:stretch>
            <a:fillRect/>
          </a:stretch>
        </p:blipFill>
        <p:spPr>
          <a:xfrm>
            <a:off x="4624754" y="3127247"/>
            <a:ext cx="2912012" cy="146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(SGK TR.28) (TIẾP) –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2.</a:t>
                </a:r>
                <a:r>
                  <a:rPr sz="2000">
                    <a:solidFill>
                      <a:srgbClr val="1E293B"/>
                    </a:solidFill>
                    <a:latin typeface="Calibri"/>
                  </a:rPr>
                  <a:t> Khảo sát sự biến thiên và vẽ đồ thị của hàm số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−2</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+2x−1</m:t>
                    </m:r>
                  </m:oMath>
                </a14:m>
                <a:r>
                  <a:rPr sz="2000">
                    <a:solidFill>
                      <a:srgbClr val="1E293B"/>
                    </a:solidFill>
                    <a:latin typeface="Calibri"/>
                  </a:rPr>
                  <a:t>.</a:t>
                </a:r>
              </a:p>
            </p:txBody>
          </p:sp>
        </mc:Choice>
        <mc:Fallback>
          <p:sp>
            <p:nvSpPr>
              <p:cNvPr id="7" name="TextBox 6"/>
              <p:cNvSpPr txBox="1"/>
              <p:nvPr/>
            </p:nvSpPr>
            <p:spPr>
              <a:xfrm>
                <a:off x="548640" y="1371600"/>
                <a:ext cx="731520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2.</a:t>
                </a:r>
                <a:r>
                  <a:rPr sz="2000">
                    <a:solidFill>
                      <a:srgbClr val="1E293B"/>
                    </a:solidFill>
                    <a:latin typeface="Calibri"/>
                  </a:rPr>
                  <a:t> Khảo sát sự biến thiên và vẽ đồ thị của hàm số </a:t>
                </a:r>
                <a:r>
                  <a:rPr lang="vi-VN"/>
                  <a:t>y=x^3-2x^2+2x-1</a:t>
                </a:r>
                <a:r>
                  <a:rPr sz="2000">
                    <a:solidFill>
                      <a:srgbClr val="1E293B"/>
                    </a:solidFill>
                    <a:latin typeface="Calibri"/>
                  </a:rPr>
                  <a:t>.</a:t>
                </a:r>
              </a:p>
            </p:txBody>
          </p:sp>
        </mc:Fallback>
      </mc:AlternateContent>
      <p:sp>
        <p:nvSpPr>
          <p:cNvPr id="8" name="s1_nen"/>
          <p:cNvSpPr/>
          <p:nvPr/>
        </p:nvSpPr>
        <p:spPr>
          <a:xfrm>
            <a:off x="548640" y="2264664"/>
            <a:ext cx="731520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01240"/>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9" name="TextBox 8"/>
              <p:cNvSpPr txBox="1"/>
              <p:nvPr/>
            </p:nvSpPr>
            <p:spPr>
              <a:xfrm>
                <a:off x="713232" y="2301240"/>
                <a:ext cx="698601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r>
                  <a:rPr lang="vi-VN"/>
                  <a:t>(0;\ -1)</a:t>
                </a:r>
                <a:r>
                  <a:rPr sz="2000">
                    <a:solidFill>
                      <a:srgbClr val="1E293B"/>
                    </a:solidFill>
                    <a:latin typeface="Calibri"/>
                  </a:rPr>
                  <a:t>.</a:t>
                </a:r>
              </a:p>
            </p:txBody>
          </p:sp>
        </mc:Fallback>
      </mc:AlternateContent>
      <p:sp>
        <p:nvSpPr>
          <p:cNvPr id="10" name="s2_nen"/>
          <p:cNvSpPr/>
          <p:nvPr/>
        </p:nvSpPr>
        <p:spPr>
          <a:xfrm>
            <a:off x="548640" y="2944368"/>
            <a:ext cx="73152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80944"/>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y=0⇔(x−1)(</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−x+1)=0⇔x=1</m:t>
                    </m:r>
                  </m:oMath>
                </a14:m>
                <a:r>
                  <a:rPr sz="2000">
                    <a:solidFill>
                      <a:srgbClr val="1E293B"/>
                    </a:solidFill>
                    <a:latin typeface="Calibri"/>
                  </a:rPr>
                  <a:t>: giao với trục hoành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11" name="TextBox 10"/>
              <p:cNvSpPr txBox="1"/>
              <p:nvPr/>
            </p:nvSpPr>
            <p:spPr>
              <a:xfrm>
                <a:off x="713232" y="2980944"/>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y=0\Leftrightarrow(x-1)(x^2-x+1)=0\Leftrightarrow x=1</a:t>
                </a:r>
                <a:r>
                  <a:rPr sz="2000">
                    <a:solidFill>
                      <a:srgbClr val="1E293B"/>
                    </a:solidFill>
                    <a:latin typeface="Calibri"/>
                  </a:rPr>
                  <a:t>: giao với trục hoành </a:t>
                </a:r>
                <a:r>
                  <a:rPr lang="vi-VN"/>
                  <a:t>(1;\ 0)</a:t>
                </a:r>
                <a:r>
                  <a:rPr sz="2000">
                    <a:solidFill>
                      <a:srgbClr val="1E293B"/>
                    </a:solidFill>
                    <a:latin typeface="Calibri"/>
                  </a:rPr>
                  <a:t>.</a:t>
                </a:r>
              </a:p>
            </p:txBody>
          </p:sp>
        </mc:Fallback>
      </mc:AlternateContent>
      <p:sp>
        <p:nvSpPr>
          <p:cNvPr id="12" name="s3_nen"/>
          <p:cNvSpPr/>
          <p:nvPr/>
        </p:nvSpPr>
        <p:spPr>
          <a:xfrm>
            <a:off x="548640" y="3928871"/>
            <a:ext cx="731520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965447"/>
                <a:ext cx="698601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Tâm đối xứng là điểm </a:t>
                </a:r>
                <a14:m>
                  <m:oMath xmlns:m="http://schemas.openxmlformats.org/officeDocument/2006/math">
                    <m:d>
                      <m:dPr>
                        <m:sepChr m:val=""/>
                      </m:dPr>
                      <m:e>
                        <m:f>
                          <m:fPr>
                            <m:type m:val="bar"/>
                          </m:fPr>
                          <m:num>
                            <m:r>
                              <a:rPr lang="vi-VN" sz="2000" b="0">
                                <a:solidFill>
                                  <a:srgbClr val="1E293B"/>
                                </a:solidFill>
                                <a:latin typeface="Cambria Math" panose="02040503050406030204" pitchFamily="18" charset="0"/>
                              </a:rPr>
                              <m:t>2</m:t>
                            </m:r>
                          </m:num>
                          <m:den>
                            <m:r>
                              <a:rPr lang="vi-VN" sz="2000" b="0">
                                <a:solidFill>
                                  <a:srgbClr val="1E293B"/>
                                </a:solidFill>
                                <a:latin typeface="Cambria Math" panose="02040503050406030204" pitchFamily="18" charset="0"/>
                              </a:rPr>
                              <m:t>3</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7</m:t>
                            </m:r>
                          </m:num>
                          <m:den>
                            <m:r>
                              <a:rPr lang="vi-VN" sz="2000" b="0">
                                <a:solidFill>
                                  <a:srgbClr val="1E293B"/>
                                </a:solidFill>
                                <a:latin typeface="Cambria Math" panose="02040503050406030204" pitchFamily="18" charset="0"/>
                              </a:rPr>
                              <m:t>27</m:t>
                            </m:r>
                          </m:den>
                        </m:f>
                      </m:e>
                    </m:d>
                  </m:oMath>
                </a14:m>
                <a:r>
                  <a:rPr sz="2000">
                    <a:solidFill>
                      <a:srgbClr val="1E293B"/>
                    </a:solidFill>
                    <a:latin typeface="Calibri"/>
                  </a:rPr>
                  <a:t>.</a:t>
                </a:r>
              </a:p>
            </p:txBody>
          </p:sp>
        </mc:Choice>
        <mc:Fallback>
          <p:sp>
            <p:nvSpPr>
              <p:cNvPr id="13" name="TextBox 12"/>
              <p:cNvSpPr txBox="1"/>
              <p:nvPr/>
            </p:nvSpPr>
            <p:spPr>
              <a:xfrm>
                <a:off x="713232" y="3965447"/>
                <a:ext cx="698601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Tâm đối xứng là điểm </a:t>
                </a:r>
                <a:r>
                  <a:rPr lang="vi-VN"/>
                  <a:t>\left(\frac{2}{3};\ -\frac{7}{27}\right)</a:t>
                </a:r>
                <a:r>
                  <a:rPr sz="2000">
                    <a:solidFill>
                      <a:srgbClr val="1E293B"/>
                    </a:solidFill>
                    <a:latin typeface="Calibri"/>
                  </a:rPr>
                  <a:t>.</a:t>
                </a:r>
              </a:p>
            </p:txBody>
          </p:sp>
        </mc:Fallback>
      </mc:AlternateContent>
      <p:pic>
        <p:nvPicPr>
          <p:cNvPr id="14" name="Picture 13" descr="b4_vd2.png"/>
          <p:cNvPicPr>
            <a:picLocks noChangeAspect="1"/>
          </p:cNvPicPr>
          <p:nvPr/>
        </p:nvPicPr>
        <p:blipFill>
          <a:blip r:embed="rId3"/>
          <a:stretch>
            <a:fillRect/>
          </a:stretch>
        </p:blipFill>
        <p:spPr>
          <a:xfrm>
            <a:off x="8138160" y="1656933"/>
            <a:ext cx="3474720" cy="3452693"/>
          </a:xfrm>
          <a:prstGeom prst="rect">
            <a:avLst/>
          </a:prstGeom>
        </p:spPr>
      </p:pic>
      <p:sp>
        <p:nvSpPr>
          <p:cNvPr id="15" name="TextBox 14"/>
          <p:cNvSpPr txBox="1"/>
          <p:nvPr/>
        </p:nvSpPr>
        <p:spPr>
          <a:xfrm>
            <a:off x="8138160" y="532180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1.29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1 (SGK TR.28)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498079"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Khảo sát sự biến thiên và vẽ đồ thị của hàm số </a:t>
                </a:r>
                <a14:m>
                  <m:oMath xmlns:m="http://schemas.openxmlformats.org/officeDocument/2006/math">
                    <m:r>
                      <a:rPr lang="vi-VN" sz="2100" b="0">
                        <a:solidFill>
                          <a:srgbClr val="1E293B"/>
                        </a:solidFill>
                        <a:latin typeface="Cambria Math" panose="02040503050406030204" pitchFamily="18" charset="0"/>
                      </a:rPr>
                      <m:t>y=−2</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3</m:t>
                        </m:r>
                      </m:sup>
                    </m:sSup>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−5x</m:t>
                    </m:r>
                  </m:oMath>
                </a14:m>
                <a:r>
                  <a:rPr sz="2100">
                    <a:solidFill>
                      <a:srgbClr val="1E293B"/>
                    </a:solidFill>
                    <a:latin typeface="Calibri"/>
                  </a:rPr>
                  <a:t>.</a:t>
                </a:r>
              </a:p>
            </p:txBody>
          </p:sp>
        </mc:Choice>
        <mc:Fallback>
          <p:sp>
            <p:nvSpPr>
              <p:cNvPr id="7" name="TextBox 6"/>
              <p:cNvSpPr txBox="1"/>
              <p:nvPr/>
            </p:nvSpPr>
            <p:spPr>
              <a:xfrm>
                <a:off x="548640" y="1371600"/>
                <a:ext cx="7498079"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Khảo sát sự biến thiên và vẽ đồ thị của hàm số </a:t>
                </a:r>
                <a:r>
                  <a:rPr lang="vi-VN"/>
                  <a:t>y=-2x^3+3x^2-5x</a:t>
                </a:r>
                <a:r>
                  <a:rPr sz="2100">
                    <a:solidFill>
                      <a:srgbClr val="1E293B"/>
                    </a:solidFill>
                    <a:latin typeface="Calibri"/>
                  </a:rPr>
                  <a:t>.</a:t>
                </a:r>
              </a:p>
            </p:txBody>
          </p:sp>
        </mc:Fallback>
      </mc:AlternateContent>
      <p:sp>
        <p:nvSpPr>
          <p:cNvPr id="8" name="s1_nen"/>
          <p:cNvSpPr/>
          <p:nvPr/>
        </p:nvSpPr>
        <p:spPr>
          <a:xfrm>
            <a:off x="548640" y="2276856"/>
            <a:ext cx="7498079" cy="12252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13432"/>
                <a:ext cx="7168895"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14:m>
                  <m:oMath xmlns:m="http://schemas.openxmlformats.org/officeDocument/2006/math">
                    <m:r>
                      <a:rPr lang="vi-VN" sz="2100" b="0">
                        <a:solidFill>
                          <a:srgbClr val="1E293B"/>
                        </a:solidFill>
                        <a:latin typeface="Cambria Math" panose="02040503050406030204" pitchFamily="18" charset="0"/>
                      </a:rPr>
                      <m:t>ℝ</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=−6</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+6x−5&lt;0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Δ</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=9−30&lt;0</m:t>
                    </m:r>
                  </m:oMath>
                </a14:m>
                <a:r>
                  <a:rPr sz="2100">
                    <a:solidFill>
                      <a:srgbClr val="1E293B"/>
                    </a:solidFill>
                    <a:latin typeface="Calibri"/>
                  </a:rPr>
                  <a:t>): hàm số nghịch biến trên </a:t>
                </a:r>
                <a14:m>
                  <m:oMath xmlns:m="http://schemas.openxmlformats.org/officeDocument/2006/math">
                    <m:r>
                      <a:rPr lang="vi-VN" sz="2100" b="0">
                        <a:solidFill>
                          <a:srgbClr val="1E293B"/>
                        </a:solidFill>
                        <a:latin typeface="Cambria Math" panose="02040503050406030204" pitchFamily="18" charset="0"/>
                      </a:rPr>
                      <m:t>ℝ</m:t>
                    </m:r>
                  </m:oMath>
                </a14:m>
                <a:r>
                  <a:rPr sz="2100">
                    <a:solidFill>
                      <a:srgbClr val="1E293B"/>
                    </a:solidFill>
                    <a:latin typeface="Calibri"/>
                  </a:rPr>
                  <a:t>, không có cực trị.</a:t>
                </a:r>
              </a:p>
            </p:txBody>
          </p:sp>
        </mc:Choice>
        <mc:Fallback>
          <p:sp>
            <p:nvSpPr>
              <p:cNvPr id="9" name="TextBox 8"/>
              <p:cNvSpPr txBox="1"/>
              <p:nvPr/>
            </p:nvSpPr>
            <p:spPr>
              <a:xfrm>
                <a:off x="713232" y="2313432"/>
                <a:ext cx="7168895"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Tập xác định </a:t>
                </a:r>
                <a:r>
                  <a:rPr lang="vi-VN"/>
                  <a:t>\mathbb{R}</a:t>
                </a:r>
                <a:r>
                  <a:rPr sz="2100">
                    <a:solidFill>
                      <a:srgbClr val="1E293B"/>
                    </a:solidFill>
                    <a:latin typeface="Calibri"/>
                  </a:rPr>
                  <a:t>; </a:t>
                </a:r>
                <a:r>
                  <a:rPr lang="vi-VN"/>
                  <a:t>y'=-6x^2+6x-5&lt;0</a:t>
                </a:r>
                <a:r>
                  <a:rPr sz="2100">
                    <a:solidFill>
                      <a:srgbClr val="1E293B"/>
                    </a:solidFill>
                    <a:latin typeface="Calibri"/>
                  </a:rPr>
                  <a:t> với mọi </a:t>
                </a:r>
                <a:r>
                  <a:rPr lang="vi-VN"/>
                  <a:t>x</a:t>
                </a:r>
                <a:r>
                  <a:rPr sz="2100">
                    <a:solidFill>
                      <a:srgbClr val="1E293B"/>
                    </a:solidFill>
                    <a:latin typeface="Calibri"/>
                  </a:rPr>
                  <a:t> (</a:t>
                </a:r>
                <a:r>
                  <a:rPr lang="vi-VN"/>
                  <a:t>\Delta'=9-30&lt;0</a:t>
                </a:r>
                <a:r>
                  <a:rPr sz="2100">
                    <a:solidFill>
                      <a:srgbClr val="1E293B"/>
                    </a:solidFill>
                    <a:latin typeface="Calibri"/>
                  </a:rPr>
                  <a:t>): hàm số nghịch biến trên </a:t>
                </a:r>
                <a:r>
                  <a:rPr lang="vi-VN"/>
                  <a:t>\mathbb{R}</a:t>
                </a:r>
                <a:r>
                  <a:rPr sz="2100">
                    <a:solidFill>
                      <a:srgbClr val="1E293B"/>
                    </a:solidFill>
                    <a:latin typeface="Calibri"/>
                  </a:rPr>
                  <a:t>, không có cực trị.</a:t>
                </a:r>
              </a:p>
            </p:txBody>
          </p:sp>
        </mc:Fallback>
      </mc:AlternateContent>
      <p:sp>
        <p:nvSpPr>
          <p:cNvPr id="10" name="s2_nen"/>
          <p:cNvSpPr/>
          <p:nvPr/>
        </p:nvSpPr>
        <p:spPr>
          <a:xfrm>
            <a:off x="548640" y="3593592"/>
            <a:ext cx="7498079"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x→−∞</m:t>
                        </m:r>
                      </m:lim>
                    </m:limLow>
                    <m:r>
                      <a:rPr lang="vi-VN" sz="2100" b="0">
                        <a:solidFill>
                          <a:srgbClr val="1E293B"/>
                        </a:solidFill>
                        <a:latin typeface="Cambria Math" panose="02040503050406030204" pitchFamily="18" charset="0"/>
                      </a:rPr>
                      <m:t>y=+∞</m:t>
                    </m:r>
                  </m:oMath>
                </a14:m>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x→+∞</m:t>
                        </m:r>
                      </m:lim>
                    </m:limLow>
                    <m:r>
                      <a:rPr lang="vi-VN" sz="2100" b="0">
                        <a:solidFill>
                          <a:srgbClr val="1E293B"/>
                        </a:solidFill>
                        <a:latin typeface="Cambria Math" panose="02040503050406030204" pitchFamily="18" charset="0"/>
                      </a:rPr>
                      <m:t>y=−∞</m:t>
                    </m:r>
                  </m:oMath>
                </a14:m>
                <a:r>
                  <a:rPr sz="2100">
                    <a:solidFill>
                      <a:srgbClr val="1E293B"/>
                    </a:solidFill>
                    <a:latin typeface="Calibri"/>
                  </a:rPr>
                  <a:t>. Đồ thị đi qua gốc toạ độ </a:t>
                </a:r>
                <a14:m>
                  <m:oMath xmlns:m="http://schemas.openxmlformats.org/officeDocument/2006/math">
                    <m:r>
                      <a:rPr lang="vi-VN" sz="2100" b="0">
                        <a:solidFill>
                          <a:srgbClr val="1E293B"/>
                        </a:solidFill>
                        <a:latin typeface="Cambria Math" panose="02040503050406030204" pitchFamily="18" charset="0"/>
                      </a:rPr>
                      <m:t>O(0;</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oMath>
                </a14:m>
                <a:r>
                  <a:rPr sz="2100">
                    <a:solidFill>
                      <a:srgbClr val="1E293B"/>
                    </a:solidFill>
                    <a:latin typeface="Calibri"/>
                  </a:rPr>
                  <a:t> (giao điểm duy nhất với trục hoành).</a:t>
                </a:r>
              </a:p>
            </p:txBody>
          </p:sp>
        </mc:Choice>
        <mc:Fallback>
          <p:sp>
            <p:nvSpPr>
              <p:cNvPr id="11" name="TextBox 10"/>
              <p:cNvSpPr txBox="1"/>
              <p:nvPr/>
            </p:nvSpPr>
            <p:spPr>
              <a:xfrm>
                <a:off x="713232" y="3630168"/>
                <a:ext cx="716889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\lim\limits_{x\to-\infty}y=+\infty</a:t>
                </a:r>
                <a:r>
                  <a:rPr sz="2100">
                    <a:solidFill>
                      <a:srgbClr val="1E293B"/>
                    </a:solidFill>
                    <a:latin typeface="Calibri"/>
                  </a:rPr>
                  <a:t>; </a:t>
                </a:r>
                <a:r>
                  <a:rPr lang="vi-VN"/>
                  <a:t>\lim\limits_{x\to+\infty}y=-\infty</a:t>
                </a:r>
                <a:r>
                  <a:rPr sz="2100">
                    <a:solidFill>
                      <a:srgbClr val="1E293B"/>
                    </a:solidFill>
                    <a:latin typeface="Calibri"/>
                  </a:rPr>
                  <a:t>. Đồ thị đi qua gốc toạ độ </a:t>
                </a:r>
                <a:r>
                  <a:rPr lang="vi-VN"/>
                  <a:t>O(0;\ 0)</a:t>
                </a:r>
                <a:r>
                  <a:rPr sz="2100">
                    <a:solidFill>
                      <a:srgbClr val="1E293B"/>
                    </a:solidFill>
                    <a:latin typeface="Calibri"/>
                  </a:rPr>
                  <a:t> (giao điểm duy nhất với trục hoành).</a:t>
                </a:r>
              </a:p>
            </p:txBody>
          </p:sp>
        </mc:Fallback>
      </mc:AlternateContent>
      <p:sp>
        <p:nvSpPr>
          <p:cNvPr id="12" name="s3_nen"/>
          <p:cNvSpPr/>
          <p:nvPr/>
        </p:nvSpPr>
        <p:spPr>
          <a:xfrm>
            <a:off x="548640" y="4590288"/>
            <a:ext cx="7498079"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4626864"/>
                <a:ext cx="7168895"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=−12x+6=0⇔x=</m:t>
                    </m:r>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 tâm đối xứng </a:t>
                </a:r>
                <a14:m>
                  <m:oMath xmlns:m="http://schemas.openxmlformats.org/officeDocument/2006/math">
                    <m:r>
                      <a:rPr lang="vi-VN" sz="2100" b="0">
                        <a:solidFill>
                          <a:srgbClr val="1E293B"/>
                        </a:solidFill>
                        <a:latin typeface="Cambria Math" panose="02040503050406030204" pitchFamily="18" charset="0"/>
                      </a:rPr>
                      <m:t>I</m:t>
                    </m:r>
                    <m:d>
                      <m:dPr>
                        <m:sepChr m:val=""/>
                      </m:dPr>
                      <m:e>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13" name="TextBox 12"/>
              <p:cNvSpPr txBox="1"/>
              <p:nvPr/>
            </p:nvSpPr>
            <p:spPr>
              <a:xfrm>
                <a:off x="713232" y="4626864"/>
                <a:ext cx="7168895"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y''=-12x+6=0\Leftrightarrow x=\frac{1}{2}</a:t>
                </a:r>
                <a:r>
                  <a:rPr sz="2100">
                    <a:solidFill>
                      <a:srgbClr val="1E293B"/>
                    </a:solidFill>
                    <a:latin typeface="Calibri"/>
                  </a:rPr>
                  <a:t>: tâm đối xứng </a:t>
                </a:r>
                <a:r>
                  <a:rPr lang="vi-VN"/>
                  <a:t>I\left(\frac{1}{2};\ -2\right)</a:t>
                </a:r>
                <a:r>
                  <a:rPr sz="2100">
                    <a:solidFill>
                      <a:srgbClr val="1E293B"/>
                    </a:solidFill>
                    <a:latin typeface="Calibri"/>
                  </a:rPr>
                  <a:t>.</a:t>
                </a:r>
              </a:p>
            </p:txBody>
          </p:sp>
        </mc:Fallback>
      </mc:AlternateContent>
      <p:pic>
        <p:nvPicPr>
          <p:cNvPr id="14" name="Picture 13" descr="b4_lt1.png"/>
          <p:cNvPicPr>
            <a:picLocks noChangeAspect="1"/>
          </p:cNvPicPr>
          <p:nvPr/>
        </p:nvPicPr>
        <p:blipFill>
          <a:blip r:embed="rId3"/>
          <a:stretch>
            <a:fillRect/>
          </a:stretch>
        </p:blipFill>
        <p:spPr>
          <a:xfrm>
            <a:off x="8321040" y="1473474"/>
            <a:ext cx="3291840" cy="32709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ĐỒ THỊ HÀM SỐ BẬC BA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d</m:t>
                    </m:r>
                  </m:oMath>
                </a14:m>
                <a:r>
                  <a:rPr sz="2200">
                    <a:solidFill>
                      <a:srgbClr val="1E293B"/>
                    </a:solidFill>
                    <a:latin typeface="Calibri"/>
                  </a:rPr>
                  <a:t> của </a:t>
                </a:r>
                <a14:m>
                  <m:oMath xmlns:m="http://schemas.openxmlformats.org/officeDocument/2006/math">
                    <m:r>
                      <a:rPr lang="vi-VN" sz="2200" b="0">
                        <a:solidFill>
                          <a:srgbClr val="1E293B"/>
                        </a:solidFill>
                        <a:latin typeface="Cambria Math" panose="02040503050406030204" pitchFamily="18" charset="0"/>
                      </a:rPr>
                      <m:t>y=a</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+cx+d</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dấu của </a:t>
                </a:r>
                <a14:m>
                  <m:oMath xmlns:m="http://schemas.openxmlformats.org/officeDocument/2006/math">
                    <m:r>
                      <a:rPr lang="vi-VN" sz="2200" b="0">
                        <a:solidFill>
                          <a:srgbClr val="1E293B"/>
                        </a:solidFill>
                        <a:latin typeface="Cambria Math" panose="02040503050406030204" pitchFamily="18" charset="0"/>
                      </a:rPr>
                      <m:t>a</m:t>
                    </m:r>
                  </m:oMath>
                </a14:m>
                <a:r>
                  <a:rPr sz="2200">
                    <a:solidFill>
                      <a:srgbClr val="1E293B"/>
                    </a:solidFill>
                    <a:latin typeface="Calibri"/>
                  </a:rPr>
                  <a:t> quyết định hướng đồ thị; số điểm cực trị (0 hoặc 2).</a:t>
                </a:r>
              </a:p>
              <a:p>
                <a:pPr algn="l" marL="365760" indent="-365760">
                  <a:spcAft>
                    <a:spcPts val="800"/>
                  </a:spcAft>
                  <a:buClr>
                    <a:srgbClr val="1E40AF"/>
                  </a:buClr>
                  <a:buFont typeface="Arial"/>
                  <a:buChar char="•"/>
                </a:pPr>
                <a:r>
                  <a:rPr sz="2200">
                    <a:solidFill>
                      <a:srgbClr val="1E293B"/>
                    </a:solidFill>
                    <a:latin typeface="Calibri"/>
                  </a:rPr>
                  <a:t>Điểm </a:t>
                </a:r>
                <a14:m>
                  <m:oMath xmlns:m="http://schemas.openxmlformats.org/officeDocument/2006/math">
                    <m:r>
                      <a:rPr lang="vi-VN" sz="2200" b="0">
                        <a:solidFill>
                          <a:srgbClr val="1E293B"/>
                        </a:solidFill>
                        <a:latin typeface="Cambria Math" panose="02040503050406030204" pitchFamily="18" charset="0"/>
                      </a:rPr>
                      <m:t>I</m:t>
                    </m:r>
                  </m:oMath>
                </a14:m>
                <a:r>
                  <a:rPr sz="2200">
                    <a:solidFill>
                      <a:srgbClr val="1E293B"/>
                    </a:solidFill>
                    <a:latin typeface="Calibri"/>
                  </a:rPr>
                  <a:t> (đỏ) – tâm đối xứng, có hoành độ </a:t>
                </a:r>
                <a14:m>
                  <m:oMath xmlns:m="http://schemas.openxmlformats.org/officeDocument/2006/math">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b</m:t>
                        </m:r>
                      </m:num>
                      <m:den>
                        <m:r>
                          <a:rPr lang="vi-VN" sz="2200" b="0">
                            <a:solidFill>
                              <a:srgbClr val="1E293B"/>
                            </a:solidFill>
                            <a:latin typeface="Cambria Math" panose="02040503050406030204" pitchFamily="18" charset="0"/>
                          </a:rPr>
                          <m:t>3a</m:t>
                        </m:r>
                      </m:den>
                    </m:f>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a,\ b,\ c,\ d</a:t>
                </a:r>
                <a:r>
                  <a:rPr sz="2200">
                    <a:solidFill>
                      <a:srgbClr val="1E293B"/>
                    </a:solidFill>
                    <a:latin typeface="Calibri"/>
                  </a:rPr>
                  <a:t> của </a:t>
                </a:r>
                <a:r>
                  <a:rPr lang="vi-VN"/>
                  <a:t>y=ax^3+bx^2+cx+d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dấu của </a:t>
                </a:r>
                <a:r>
                  <a:rPr lang="vi-VN"/>
                  <a:t>a</a:t>
                </a:r>
                <a:r>
                  <a:rPr sz="2200">
                    <a:solidFill>
                      <a:srgbClr val="1E293B"/>
                    </a:solidFill>
                    <a:latin typeface="Calibri"/>
                  </a:rPr>
                  <a:t> quyết định hướng đồ thị; số điểm cực trị (0 hoặc 2).</a:t>
                </a:r>
              </a:p>
              <a:p>
                <a:pPr algn="l" marL="365760" indent="-365760">
                  <a:spcAft>
                    <a:spcPts val="800"/>
                  </a:spcAft>
                  <a:buClr>
                    <a:srgbClr val="1E40AF"/>
                  </a:buClr>
                  <a:buFont typeface="Arial"/>
                  <a:buChar char="•"/>
                </a:pPr>
                <a:r>
                  <a:rPr sz="2200">
                    <a:solidFill>
                      <a:srgbClr val="1E293B"/>
                    </a:solidFill>
                    <a:latin typeface="Calibri"/>
                  </a:rPr>
                  <a:t>Điểm </a:t>
                </a:r>
                <a:r>
                  <a:rPr lang="vi-VN"/>
                  <a:t>I</a:t>
                </a:r>
                <a:r>
                  <a:rPr sz="2200">
                    <a:solidFill>
                      <a:srgbClr val="1E293B"/>
                    </a:solidFill>
                    <a:latin typeface="Calibri"/>
                  </a:rPr>
                  <a:t> (đỏ) – tâm đối xứng, có hoành độ </a:t>
                </a:r>
                <a:r>
                  <a:rPr lang="vi-VN"/>
                  <a:t>-\frac{b}{3a}</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4_vd1.png"/>
          <p:cNvPicPr>
            <a:picLocks noChangeAspect="1"/>
          </p:cNvPicPr>
          <p:nvPr/>
        </p:nvPicPr>
        <p:blipFill>
          <a:blip r:embed="rId5"/>
          <a:stretch>
            <a:fillRect/>
          </a:stretch>
        </p:blipFill>
        <p:spPr>
          <a:xfrm>
            <a:off x="7026588" y="1463040"/>
            <a:ext cx="4509144" cy="4480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19</a:t>
            </a:r>
          </a:p>
        </p:txBody>
      </p:sp>
      <p:sp>
        <p:nvSpPr>
          <p:cNvPr id="7" name="Rounded Rectangle 6"/>
          <p:cNvSpPr/>
          <p:nvPr/>
        </p:nvSpPr>
        <p:spPr>
          <a:xfrm>
            <a:off x="548640" y="1463040"/>
            <a:ext cx="11064240" cy="152247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44932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Hàm bậc ba: có 2 cực trị khi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 có hai nghiệm phân biệt, không có cực trị khi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không đổi dấu.</a:t>
                </a:r>
              </a:p>
              <a:p>
                <a:pPr algn="l" marL="365760" indent="-365760">
                  <a:spcAft>
                    <a:spcPts val="800"/>
                  </a:spcAft>
                  <a:buClr>
                    <a:srgbClr val="1E40AF"/>
                  </a:buClr>
                  <a:buFont typeface="Arial"/>
                  <a:buChar char="•"/>
                </a:pPr>
                <a:r>
                  <a:rPr sz="2200">
                    <a:solidFill>
                      <a:srgbClr val="1E293B"/>
                    </a:solidFill>
                    <a:latin typeface="Calibri"/>
                  </a:rPr>
                  <a:t>Tâm đối xứng: điểm có hoành độ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b</m:t>
                        </m:r>
                      </m:num>
                      <m:den>
                        <m:r>
                          <a:rPr lang="vi-VN" sz="2200" b="0">
                            <a:solidFill>
                              <a:srgbClr val="1E293B"/>
                            </a:solidFill>
                            <a:latin typeface="Cambria Math" panose="02040503050406030204" pitchFamily="18" charset="0"/>
                          </a:rPr>
                          <m:t>3a</m:t>
                        </m:r>
                      </m:den>
                    </m:f>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 không có tiệm cận.</a:t>
                </a:r>
              </a:p>
            </p:txBody>
          </p:sp>
        </mc:Choice>
        <mc:Fallback>
          <p:sp>
            <p:nvSpPr>
              <p:cNvPr id="8" name="TextBox 7"/>
              <p:cNvSpPr txBox="1"/>
              <p:nvPr/>
            </p:nvSpPr>
            <p:spPr>
              <a:xfrm>
                <a:off x="713232" y="1499616"/>
                <a:ext cx="10735056" cy="144932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Hàm bậc ba: có 2 cực trị khi </a:t>
                </a:r>
                <a:r>
                  <a:rPr lang="vi-VN"/>
                  <a:t>y'=0</a:t>
                </a:r>
                <a:r>
                  <a:rPr sz="2200">
                    <a:solidFill>
                      <a:srgbClr val="1E293B"/>
                    </a:solidFill>
                    <a:latin typeface="Calibri"/>
                  </a:rPr>
                  <a:t> có hai nghiệm phân biệt, không có cực trị khi </a:t>
                </a:r>
                <a:r>
                  <a:rPr lang="vi-VN"/>
                  <a:t>y'</a:t>
                </a:r>
                <a:r>
                  <a:rPr sz="2200">
                    <a:solidFill>
                      <a:srgbClr val="1E293B"/>
                    </a:solidFill>
                    <a:latin typeface="Calibri"/>
                  </a:rPr>
                  <a:t> không đổi dấu.</a:t>
                </a:r>
              </a:p>
              <a:p>
                <a:pPr algn="l" marL="365760" indent="-365760">
                  <a:spcAft>
                    <a:spcPts val="800"/>
                  </a:spcAft>
                  <a:buClr>
                    <a:srgbClr val="1E40AF"/>
                  </a:buClr>
                  <a:buFont typeface="Arial"/>
                  <a:buChar char="•"/>
                </a:pPr>
                <a:r>
                  <a:rPr sz="2200">
                    <a:solidFill>
                      <a:srgbClr val="1E293B"/>
                    </a:solidFill>
                    <a:latin typeface="Calibri"/>
                  </a:rPr>
                  <a:t>Tâm đối xứng: điểm có hoành độ </a:t>
                </a:r>
                <a:r>
                  <a:rPr lang="vi-VN"/>
                  <a:t>x=-\frac{b}{3a}</a:t>
                </a:r>
                <a:r>
                  <a:rPr sz="2200">
                    <a:solidFill>
                      <a:srgbClr val="1E293B"/>
                    </a:solidFill>
                    <a:latin typeface="Calibri"/>
                  </a:rPr>
                  <a:t> (</a:t>
                </a:r>
                <a:r>
                  <a:rPr lang="vi-VN"/>
                  <a:t>y''=0</a:t>
                </a:r>
                <a:r>
                  <a:rPr sz="2200">
                    <a:solidFill>
                      <a:srgbClr val="1E293B"/>
                    </a:solidFill>
                    <a:latin typeface="Calibri"/>
                  </a:rPr>
                  <a:t>); không có tiệm cận.</a:t>
                </a:r>
              </a:p>
            </p:txBody>
          </p:sp>
        </mc:Fallback>
      </mc:AlternateContent>
      <p:sp>
        <p:nvSpPr>
          <p:cNvPr id="9" name="Rounded Rectangle 8"/>
          <p:cNvSpPr/>
          <p:nvPr/>
        </p:nvSpPr>
        <p:spPr>
          <a:xfrm>
            <a:off x="548640" y="3214116"/>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250692"/>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1.21 (SGK tr.32).</a:t>
            </a:r>
          </a:p>
          <a:p>
            <a:pPr algn="l" marL="365760" indent="-365760">
              <a:spcAft>
                <a:spcPts val="800"/>
              </a:spcAft>
              <a:buClr>
                <a:srgbClr val="1E40AF"/>
              </a:buClr>
              <a:buFont typeface="Arial"/>
              <a:buChar char="•"/>
            </a:pPr>
            <a:r>
              <a:rPr sz="2200">
                <a:solidFill>
                  <a:srgbClr val="1E293B"/>
                </a:solidFill>
                <a:latin typeface="Calibri"/>
              </a:rPr>
              <a:t>Đọc trước mục 3a, Ví dụ 3 (SGK tr.28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(T16)</a:t>
            </a:r>
          </a:p>
          <a:p>
            <a:pPr>
              <a:spcAft>
                <a:spcPts val="600"/>
              </a:spcAft>
            </a:pPr>
            <a:r>
              <a:rPr sz="4000" b="1">
                <a:solidFill>
                  <a:srgbClr val="FFFFFF"/>
                </a:solidFill>
                <a:latin typeface="Cambria"/>
              </a:rPr>
              <a:t>Khảo sát hàm số phân thức (ax + b)/(cx + d)</a:t>
            </a:r>
          </a:p>
        </p:txBody>
      </p:sp>
      <mc:AlternateContent xmlns:mc="http://schemas.openxmlformats.org/markup-compatibility/2006">
        <mc:Choice xmlns:a14="http://schemas.microsoft.com/office/drawing/2010/main" Requires="a14">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Khảo sát, vẽ đồ thị hàm số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ax+b</m:t>
                        </m:r>
                      </m:num>
                      <m:den>
                        <m:r>
                          <a:rPr lang="vi-VN" sz="2200" b="0">
                            <a:solidFill>
                              <a:srgbClr val="1E293B"/>
                            </a:solidFill>
                            <a:latin typeface="Cambria Math" panose="02040503050406030204" pitchFamily="18" charset="0"/>
                          </a:rPr>
                          <m:t>cx+d</m:t>
                        </m:r>
                      </m:den>
                    </m:f>
                  </m:oMath>
                </a14:m>
                <a:r>
                  <a:rPr sz="2200">
                    <a:solidFill>
                      <a:srgbClr val="E0E7FF"/>
                    </a:solidFill>
                    <a:latin typeface="Calibri"/>
                  </a:rPr>
                  <a:t>.</a:t>
                </a:r>
              </a:p>
              <a:p>
                <a:pPr algn="l">
                  <a:spcAft>
                    <a:spcPts val="800"/>
                  </a:spcAft>
                </a:pPr>
                <a:r>
                  <a:rPr sz="2200">
                    <a:solidFill>
                      <a:srgbClr val="E0E7FF"/>
                    </a:solidFill>
                    <a:latin typeface="Calibri"/>
                  </a:rPr>
                  <a:t>• Giải bài toán thực tế: chi phí trung bình, nồng độ chất khử trùng.</a:t>
                </a:r>
              </a:p>
            </p:txBody>
          </p:sp>
        </mc:Choice>
        <mc:Fallback>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Mục tiêu tiết học:</a:t>
                </a:r>
              </a:p>
              <a:p>
                <a:pPr algn="l">
                  <a:spcAft>
                    <a:spcPts val="800"/>
                  </a:spcAft>
                </a:pPr>
                <a:r>
                  <a:rPr sz="2200">
                    <a:solidFill>
                      <a:srgbClr val="1E293B"/>
                    </a:solidFill>
                    <a:latin typeface="Calibri"/>
                  </a:rPr>
                  <a:t>• Khảo sát, vẽ đồ thị hàm số </a:t>
                </a:r>
                <a:r>
                  <a:rPr lang="vi-VN"/>
                  <a:t>y=\frac{ax+b}{cx+d}</a:t>
                </a:r>
                <a:r>
                  <a:rPr sz="2200">
                    <a:solidFill>
                      <a:srgbClr val="1E293B"/>
                    </a:solidFill>
                    <a:latin typeface="Calibri"/>
                  </a:rPr>
                  <a:t>.</a:t>
                </a:r>
              </a:p>
              <a:p>
                <a:pPr algn="l">
                  <a:spcAft>
                    <a:spcPts val="800"/>
                  </a:spcAft>
                </a:pPr>
                <a:r>
                  <a:rPr sz="2200">
                    <a:solidFill>
                      <a:srgbClr val="1E293B"/>
                    </a:solidFill>
                    <a:latin typeface="Calibri"/>
                  </a:rPr>
                  <a:t>• Giải bài toán thực tế: chi phí trung bình, nồng độ chất khử trùng.</a:t>
                </a:r>
              </a:p>
            </p:txBody>
          </p:sp>
        </mc:Fallback>
      </mc:AlternateContent>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TR.28 – 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3.</a:t>
                </a:r>
                <a:r>
                  <a:rPr sz="1900">
                    <a:solidFill>
                      <a:srgbClr val="1E293B"/>
                    </a:solidFill>
                    <a:latin typeface="Calibri"/>
                  </a:rPr>
                  <a:t> Khảo sát sự biến thiên và vẽ đồ thị của hàm số </a:t>
                </a:r>
                <a14:m>
                  <m:oMath xmlns:m="http://schemas.openxmlformats.org/officeDocument/2006/math">
                    <m:r>
                      <a:rPr lang="vi-VN" sz="1900" b="0">
                        <a:solidFill>
                          <a:srgbClr val="1E293B"/>
                        </a:solidFill>
                        <a:latin typeface="Cambria Math" panose="02040503050406030204" pitchFamily="18" charset="0"/>
                      </a:rPr>
                      <m:t>y=</m:t>
                    </m:r>
                    <m:f>
                      <m:fPr>
                        <m:type m:val="bar"/>
                      </m:fPr>
                      <m:num>
                        <m:r>
                          <a:rPr lang="vi-VN" sz="1900" b="0">
                            <a:solidFill>
                              <a:srgbClr val="1E293B"/>
                            </a:solidFill>
                            <a:latin typeface="Cambria Math" panose="02040503050406030204" pitchFamily="18" charset="0"/>
                          </a:rPr>
                          <m:t>x+1</m:t>
                        </m:r>
                      </m:num>
                      <m:den>
                        <m:r>
                          <a:rPr lang="vi-VN" sz="1900" b="0">
                            <a:solidFill>
                              <a:srgbClr val="1E293B"/>
                            </a:solidFill>
                            <a:latin typeface="Cambria Math" panose="02040503050406030204" pitchFamily="18" charset="0"/>
                          </a:rPr>
                          <m:t>x−2</m:t>
                        </m:r>
                      </m:den>
                    </m:f>
                  </m:oMath>
                </a14:m>
                <a:r>
                  <a:rPr sz="1900">
                    <a:solidFill>
                      <a:srgbClr val="1E293B"/>
                    </a:solidFill>
                    <a:latin typeface="Calibri"/>
                  </a:rPr>
                  <a:t>.</a:t>
                </a:r>
              </a:p>
            </p:txBody>
          </p:sp>
        </mc:Choice>
        <mc:Fallback>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3.</a:t>
                </a:r>
                <a:r>
                  <a:rPr sz="1900">
                    <a:solidFill>
                      <a:srgbClr val="1E293B"/>
                    </a:solidFill>
                    <a:latin typeface="Calibri"/>
                  </a:rPr>
                  <a:t> Khảo sát sự biến thiên và vẽ đồ thị của hàm số </a:t>
                </a:r>
                <a:r>
                  <a:rPr lang="vi-VN"/>
                  <a:t>y=\frac{x+1}{x-2}</a:t>
                </a:r>
                <a:r>
                  <a:rPr sz="1900">
                    <a:solidFill>
                      <a:srgbClr val="1E293B"/>
                    </a:solidFill>
                    <a:latin typeface="Calibri"/>
                  </a:rPr>
                  <a:t>.</a:t>
                </a:r>
              </a:p>
            </p:txBody>
          </p:sp>
        </mc:Fallback>
      </mc:AlternateContent>
      <p:sp>
        <p:nvSpPr>
          <p:cNvPr id="8" name="s1_nen"/>
          <p:cNvSpPr/>
          <p:nvPr/>
        </p:nvSpPr>
        <p:spPr>
          <a:xfrm>
            <a:off x="548640" y="2020061"/>
            <a:ext cx="11064240" cy="97459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56637"/>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14:m>
                  <m:oMath xmlns:m="http://schemas.openxmlformats.org/officeDocument/2006/math">
                    <m:r>
                      <a:rPr lang="vi-VN" sz="1900" b="0">
                        <a:solidFill>
                          <a:srgbClr val="1E293B"/>
                        </a:solidFill>
                        <a:latin typeface="Cambria Math" panose="02040503050406030204" pitchFamily="18" charset="0"/>
                      </a:rPr>
                      <m:t>ℝ⧵{2}</m:t>
                    </m:r>
                  </m:oMath>
                </a14:m>
                <a:r>
                  <a:rPr sz="1900">
                    <a:solidFill>
                      <a:srgbClr val="1E293B"/>
                    </a:solidFill>
                    <a:latin typeface="Calibri"/>
                  </a:rPr>
                  <a:t>. 2.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3</m:t>
                        </m:r>
                      </m:num>
                      <m:den>
                        <m:sSup>
                          <m:e>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m:t>
                                </m:r>
                              </m:e>
                            </m:d>
                          </m:e>
                          <m:sup>
                            <m:r>
                              <a:rPr lang="vi-VN" sz="1900" b="0">
                                <a:solidFill>
                                  <a:srgbClr val="1E293B"/>
                                </a:solidFill>
                                <a:latin typeface="Cambria Math" panose="02040503050406030204" pitchFamily="18" charset="0"/>
                              </a:rPr>
                              <m:t>2</m:t>
                            </m:r>
                          </m:sup>
                        </m:sSup>
                      </m:den>
                    </m:f>
                    <m:r>
                      <a:rPr lang="vi-VN" sz="1900" b="0">
                        <a:solidFill>
                          <a:srgbClr val="1E293B"/>
                        </a:solidFill>
                        <a:latin typeface="Cambria Math" panose="02040503050406030204" pitchFamily="18" charset="0"/>
                      </a:rPr>
                      <m:t>&lt;0</m:t>
                    </m:r>
                  </m:oMath>
                </a14:m>
                <a:r>
                  <a:rPr sz="1900">
                    <a:solidFill>
                      <a:srgbClr val="1E293B"/>
                    </a:solidFill>
                    <a:latin typeface="Calibri"/>
                  </a:rPr>
                  <a:t> với mọi </a:t>
                </a:r>
                <a14:m>
                  <m:oMath xmlns:m="http://schemas.openxmlformats.org/officeDocument/2006/math">
                    <m:r>
                      <a:rPr lang="vi-VN" sz="1900" b="0">
                        <a:solidFill>
                          <a:srgbClr val="1E293B"/>
                        </a:solidFill>
                        <a:latin typeface="Cambria Math" panose="02040503050406030204" pitchFamily="18" charset="0"/>
                      </a:rPr>
                      <m:t>x≠2</m:t>
                    </m:r>
                  </m:oMath>
                </a14:m>
                <a:r>
                  <a:rPr sz="1900">
                    <a:solidFill>
                      <a:srgbClr val="1E293B"/>
                    </a:solidFill>
                    <a:latin typeface="Calibri"/>
                  </a:rPr>
                  <a:t>: nghịch biến trên từng khoảng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m:t>
                        </m:r>
                      </m:e>
                    </m:d>
                  </m:oMath>
                </a14:m>
                <a:r>
                  <a:rPr sz="1900">
                    <a:solidFill>
                      <a:srgbClr val="1E293B"/>
                    </a:solidFill>
                    <a:latin typeface="Calibri"/>
                  </a:rPr>
                  <a:t> và </a:t>
                </a:r>
                <a14:m>
                  <m:oMath xmlns:m="http://schemas.openxmlformats.org/officeDocument/2006/math">
                    <m:d>
                      <m:dPr>
                        <m:sepChr m:val=""/>
                      </m:dPr>
                      <m:e>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không có cực trị.</a:t>
                </a:r>
              </a:p>
            </p:txBody>
          </p:sp>
        </mc:Choice>
        <mc:Fallback>
          <p:sp>
            <p:nvSpPr>
              <p:cNvPr id="9" name="TextBox 8"/>
              <p:cNvSpPr txBox="1"/>
              <p:nvPr/>
            </p:nvSpPr>
            <p:spPr>
              <a:xfrm>
                <a:off x="713232" y="2056637"/>
                <a:ext cx="10735056" cy="901446"/>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r>
                  <a:rPr lang="vi-VN"/>
                  <a:t>\mathbb{R}\setminus\{2\}</a:t>
                </a:r>
                <a:r>
                  <a:rPr sz="1900">
                    <a:solidFill>
                      <a:srgbClr val="1E293B"/>
                    </a:solidFill>
                    <a:latin typeface="Calibri"/>
                  </a:rPr>
                  <a:t>. 2. </a:t>
                </a:r>
                <a:r>
                  <a:rPr lang="vi-VN"/>
                  <a:t>y'=-\frac{3}{(x-2)^2}&lt;0</a:t>
                </a:r>
                <a:r>
                  <a:rPr sz="1900">
                    <a:solidFill>
                      <a:srgbClr val="1E293B"/>
                    </a:solidFill>
                    <a:latin typeface="Calibri"/>
                  </a:rPr>
                  <a:t> với mọi </a:t>
                </a:r>
                <a:r>
                  <a:rPr lang="vi-VN"/>
                  <a:t>x\ne 2</a:t>
                </a:r>
                <a:r>
                  <a:rPr sz="1900">
                    <a:solidFill>
                      <a:srgbClr val="1E293B"/>
                    </a:solidFill>
                    <a:latin typeface="Calibri"/>
                  </a:rPr>
                  <a:t>: nghịch biến trên từng khoảng </a:t>
                </a:r>
                <a:r>
                  <a:rPr lang="vi-VN"/>
                  <a:t>(-\infty;\ 2)</a:t>
                </a:r>
                <a:r>
                  <a:rPr sz="1900">
                    <a:solidFill>
                      <a:srgbClr val="1E293B"/>
                    </a:solidFill>
                    <a:latin typeface="Calibri"/>
                  </a:rPr>
                  <a:t> và </a:t>
                </a:r>
                <a:r>
                  <a:rPr lang="vi-VN"/>
                  <a:t>(2;\ +\infty)</a:t>
                </a:r>
                <a:r>
                  <a:rPr sz="1900">
                    <a:solidFill>
                      <a:srgbClr val="1E293B"/>
                    </a:solidFill>
                    <a:latin typeface="Calibri"/>
                  </a:rPr>
                  <a:t>; không có cực trị.</a:t>
                </a:r>
              </a:p>
            </p:txBody>
          </p:sp>
        </mc:Fallback>
      </mc:AlternateContent>
      <p:sp>
        <p:nvSpPr>
          <p:cNvPr id="10" name="s2_nen"/>
          <p:cNvSpPr/>
          <p:nvPr/>
        </p:nvSpPr>
        <p:spPr>
          <a:xfrm>
            <a:off x="548640" y="3049524"/>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86100"/>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y=−∞</m:t>
                    </m:r>
                  </m:oMath>
                </a14:m>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m:t>
                            </m:r>
                          </m:sup>
                        </m:sSup>
                      </m:lim>
                    </m:limLow>
                    <m:r>
                      <a:rPr lang="vi-VN" sz="1900" b="0">
                        <a:solidFill>
                          <a:srgbClr val="1E293B"/>
                        </a:solidFill>
                        <a:latin typeface="Cambria Math" panose="02040503050406030204" pitchFamily="18" charset="0"/>
                      </a:rPr>
                      <m:t>y=+∞</m:t>
                    </m:r>
                  </m:oMath>
                </a14:m>
                <a:r>
                  <a:rPr sz="1900">
                    <a:solidFill>
                      <a:srgbClr val="1E293B"/>
                    </a:solidFill>
                    <a:latin typeface="Calibri"/>
                  </a:rPr>
                  <a:t>: tiệm cận đứng </a:t>
                </a:r>
                <a14:m>
                  <m:oMath xmlns:m="http://schemas.openxmlformats.org/officeDocument/2006/math">
                    <m:r>
                      <a:rPr lang="vi-VN" sz="1900" b="0">
                        <a:solidFill>
                          <a:srgbClr val="1E293B"/>
                        </a:solidFill>
                        <a:latin typeface="Cambria Math" panose="02040503050406030204" pitchFamily="18" charset="0"/>
                      </a:rPr>
                      <m:t>x=2</m:t>
                    </m:r>
                  </m:oMath>
                </a14:m>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y=1</m:t>
                    </m:r>
                  </m:oMath>
                </a14:m>
                <a:r>
                  <a:rPr sz="1900">
                    <a:solidFill>
                      <a:srgbClr val="1E293B"/>
                    </a:solidFill>
                    <a:latin typeface="Calibri"/>
                  </a:rPr>
                  <a:t>: tiệm cận ngang </a:t>
                </a:r>
                <a14:m>
                  <m:oMath xmlns:m="http://schemas.openxmlformats.org/officeDocument/2006/math">
                    <m:r>
                      <a:rPr lang="vi-VN" sz="1900" b="0">
                        <a:solidFill>
                          <a:srgbClr val="1E293B"/>
                        </a:solidFill>
                        <a:latin typeface="Cambria Math" panose="02040503050406030204" pitchFamily="18" charset="0"/>
                      </a:rPr>
                      <m:t>y=1</m:t>
                    </m:r>
                  </m:oMath>
                </a14:m>
                <a:r>
                  <a:rPr sz="1900">
                    <a:solidFill>
                      <a:srgbClr val="1E293B"/>
                    </a:solidFill>
                    <a:latin typeface="Calibri"/>
                  </a:rPr>
                  <a:t>.</a:t>
                </a:r>
              </a:p>
            </p:txBody>
          </p:sp>
        </mc:Choice>
        <mc:Fallback>
          <p:sp>
            <p:nvSpPr>
              <p:cNvPr id="11" name="TextBox 10"/>
              <p:cNvSpPr txBox="1"/>
              <p:nvPr/>
            </p:nvSpPr>
            <p:spPr>
              <a:xfrm>
                <a:off x="713232" y="3086100"/>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 </a:t>
                </a:r>
                <a:r>
                  <a:rPr lang="vi-VN"/>
                  <a:t>\lim\limits_{x\to 2^-}y=-\infty</a:t>
                </a:r>
                <a:r>
                  <a:rPr sz="1900">
                    <a:solidFill>
                      <a:srgbClr val="1E293B"/>
                    </a:solidFill>
                    <a:latin typeface="Calibri"/>
                  </a:rPr>
                  <a:t>, </a:t>
                </a:r>
                <a:r>
                  <a:rPr lang="vi-VN"/>
                  <a:t>\lim\limits_{x\to 2^+}y=+\infty</a:t>
                </a:r>
                <a:r>
                  <a:rPr sz="1900">
                    <a:solidFill>
                      <a:srgbClr val="1E293B"/>
                    </a:solidFill>
                    <a:latin typeface="Calibri"/>
                  </a:rPr>
                  <a:t>: tiệm cận đứng </a:t>
                </a:r>
                <a:r>
                  <a:rPr lang="vi-VN"/>
                  <a:t>x=2</a:t>
                </a:r>
                <a:r>
                  <a:rPr sz="1900">
                    <a:solidFill>
                      <a:srgbClr val="1E293B"/>
                    </a:solidFill>
                    <a:latin typeface="Calibri"/>
                  </a:rPr>
                  <a:t>; </a:t>
                </a:r>
                <a:r>
                  <a:rPr lang="vi-VN"/>
                  <a:t>\lim\limits_{x\to\pm\infty}y=1</a:t>
                </a:r>
                <a:r>
                  <a:rPr sz="1900">
                    <a:solidFill>
                      <a:srgbClr val="1E293B"/>
                    </a:solidFill>
                    <a:latin typeface="Calibri"/>
                  </a:rPr>
                  <a:t>: tiệm cận ngang </a:t>
                </a:r>
                <a:r>
                  <a:rPr lang="vi-VN"/>
                  <a:t>y=1</a:t>
                </a:r>
                <a:r>
                  <a:rPr sz="1900">
                    <a:solidFill>
                      <a:srgbClr val="1E293B"/>
                    </a:solidFill>
                    <a:latin typeface="Calibri"/>
                  </a:rPr>
                  <a:t>.</a:t>
                </a:r>
              </a:p>
            </p:txBody>
          </p:sp>
        </mc:Fallback>
      </mc:AlternateContent>
      <p:pic>
        <p:nvPicPr>
          <p:cNvPr id="12" name="s3_bbt" descr="b4_vd3bbt.png"/>
          <p:cNvPicPr>
            <a:picLocks noChangeAspect="1"/>
          </p:cNvPicPr>
          <p:nvPr/>
        </p:nvPicPr>
        <p:blipFill>
          <a:blip r:embed="rId3"/>
          <a:stretch>
            <a:fillRect/>
          </a:stretch>
        </p:blipFill>
        <p:spPr>
          <a:xfrm>
            <a:off x="4445390" y="3677411"/>
            <a:ext cx="3270738" cy="146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(SGK TR.28 – 29) (TIẾP) –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3.</a:t>
                </a:r>
                <a:r>
                  <a:rPr sz="2000">
                    <a:solidFill>
                      <a:srgbClr val="1E293B"/>
                    </a:solidFill>
                    <a:latin typeface="Calibri"/>
                  </a:rPr>
                  <a:t> Khảo sát sự biến thiên và vẽ đồ thị của hàm số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x+1</m:t>
                        </m:r>
                      </m:num>
                      <m:den>
                        <m:r>
                          <a:rPr lang="vi-VN" sz="2000" b="0">
                            <a:solidFill>
                              <a:srgbClr val="1E293B"/>
                            </a:solidFill>
                            <a:latin typeface="Cambria Math" panose="02040503050406030204" pitchFamily="18" charset="0"/>
                          </a:rPr>
                          <m:t>x−2</m:t>
                        </m:r>
                      </m:den>
                    </m:f>
                  </m:oMath>
                </a14:m>
                <a:r>
                  <a:rPr sz="2000">
                    <a:solidFill>
                      <a:srgbClr val="1E293B"/>
                    </a:solidFill>
                    <a:latin typeface="Calibri"/>
                  </a:rPr>
                  <a:t>.</a:t>
                </a:r>
              </a:p>
            </p:txBody>
          </p:sp>
        </mc:Choice>
        <mc:Fallback>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3.</a:t>
                </a:r>
                <a:r>
                  <a:rPr sz="2000">
                    <a:solidFill>
                      <a:srgbClr val="1E293B"/>
                    </a:solidFill>
                    <a:latin typeface="Calibri"/>
                  </a:rPr>
                  <a:t> Khảo sát sự biến thiên và vẽ đồ thị của hàm số </a:t>
                </a:r>
                <a:r>
                  <a:rPr lang="vi-VN"/>
                  <a:t>y=\frac{x+1}{x-2}</a:t>
                </a:r>
                <a:r>
                  <a:rPr sz="2000">
                    <a:solidFill>
                      <a:srgbClr val="1E293B"/>
                    </a:solidFill>
                    <a:latin typeface="Calibri"/>
                  </a:rPr>
                  <a:t>.</a:t>
                </a:r>
              </a:p>
            </p:txBody>
          </p:sp>
        </mc:Fallback>
      </mc:AlternateContent>
      <p:sp>
        <p:nvSpPr>
          <p:cNvPr id="8" name="s1_nen"/>
          <p:cNvSpPr/>
          <p:nvPr/>
        </p:nvSpPr>
        <p:spPr>
          <a:xfrm>
            <a:off x="548640" y="2401824"/>
            <a:ext cx="731520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38400"/>
                <a:ext cx="698601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e>
                    </m:d>
                  </m:oMath>
                </a14:m>
                <a:r>
                  <a:rPr sz="2000">
                    <a:solidFill>
                      <a:srgbClr val="1E293B"/>
                    </a:solidFill>
                    <a:latin typeface="Calibri"/>
                  </a:rPr>
                  <a:t>; giao với trục hoành: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9" name="TextBox 8"/>
              <p:cNvSpPr txBox="1"/>
              <p:nvPr/>
            </p:nvSpPr>
            <p:spPr>
              <a:xfrm>
                <a:off x="713232" y="2438400"/>
                <a:ext cx="698601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r>
                  <a:rPr lang="vi-VN"/>
                  <a:t>\left(0;\ -\frac{1}{2}\right)</a:t>
                </a:r>
                <a:r>
                  <a:rPr sz="2000">
                    <a:solidFill>
                      <a:srgbClr val="1E293B"/>
                    </a:solidFill>
                    <a:latin typeface="Calibri"/>
                  </a:rPr>
                  <a:t>; giao với trục hoành: </a:t>
                </a:r>
                <a:r>
                  <a:rPr lang="vi-VN"/>
                  <a:t>(-1;\ 0)</a:t>
                </a:r>
                <a:r>
                  <a:rPr sz="2000">
                    <a:solidFill>
                      <a:srgbClr val="1E293B"/>
                    </a:solidFill>
                    <a:latin typeface="Calibri"/>
                  </a:rPr>
                  <a:t>.</a:t>
                </a:r>
              </a:p>
            </p:txBody>
          </p:sp>
        </mc:Fallback>
      </mc:AlternateContent>
      <p:sp>
        <p:nvSpPr>
          <p:cNvPr id="10" name="s2_nen"/>
          <p:cNvSpPr/>
          <p:nvPr/>
        </p:nvSpPr>
        <p:spPr>
          <a:xfrm>
            <a:off x="548640" y="3523488"/>
            <a:ext cx="731520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60064"/>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14:m>
                  <m:oMath xmlns:m="http://schemas.openxmlformats.org/officeDocument/2006/math">
                    <m:r>
                      <a:rPr lang="vi-VN" sz="2000" b="0">
                        <a:solidFill>
                          <a:srgbClr val="1E293B"/>
                        </a:solidFill>
                        <a:latin typeface="Cambria Math" panose="02040503050406030204" pitchFamily="18" charset="0"/>
                      </a:rPr>
                      <m:t>I(2;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của hai tiệm cận làm tâm đối xứng và nhận hai đường phân giác của các góc tạo bởi hai tiệm cận làm các trục đối xứng.</a:t>
                </a:r>
              </a:p>
            </p:txBody>
          </p:sp>
        </mc:Choice>
        <mc:Fallback>
          <p:sp>
            <p:nvSpPr>
              <p:cNvPr id="11" name="TextBox 10"/>
              <p:cNvSpPr txBox="1"/>
              <p:nvPr/>
            </p:nvSpPr>
            <p:spPr>
              <a:xfrm>
                <a:off x="713232" y="3560064"/>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r>
                  <a:rPr lang="vi-VN"/>
                  <a:t>I(2;\ 1)</a:t>
                </a:r>
                <a:r>
                  <a:rPr sz="2000">
                    <a:solidFill>
                      <a:srgbClr val="1E293B"/>
                    </a:solidFill>
                    <a:latin typeface="Calibri"/>
                  </a:rPr>
                  <a:t> của hai tiệm cận làm tâm đối xứng và nhận hai đường phân giác của các góc tạo bởi hai tiệm cận làm các trục đối xứng.</a:t>
                </a:r>
              </a:p>
            </p:txBody>
          </p:sp>
        </mc:Fallback>
      </mc:AlternateContent>
      <p:pic>
        <p:nvPicPr>
          <p:cNvPr id="12" name="Picture 11" descr="b4_vd3.png"/>
          <p:cNvPicPr>
            <a:picLocks noChangeAspect="1"/>
          </p:cNvPicPr>
          <p:nvPr/>
        </p:nvPicPr>
        <p:blipFill>
          <a:blip r:embed="rId3"/>
          <a:stretch>
            <a:fillRect/>
          </a:stretch>
        </p:blipFill>
        <p:spPr>
          <a:xfrm>
            <a:off x="8138160" y="1656933"/>
            <a:ext cx="3474720" cy="3452693"/>
          </a:xfrm>
          <a:prstGeom prst="rect">
            <a:avLst/>
          </a:prstGeom>
        </p:spPr>
      </p:pic>
      <p:sp>
        <p:nvSpPr>
          <p:cNvPr id="13" name="TextBox 12"/>
          <p:cNvSpPr txBox="1"/>
          <p:nvPr/>
        </p:nvSpPr>
        <p:spPr>
          <a:xfrm>
            <a:off x="8138160" y="532180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ĐỒ THỊ HÀM SỐ y = (AX + B)/(CX + d) (SGK TR.29)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23</a:t>
            </a:r>
          </a:p>
        </p:txBody>
      </p:sp>
      <p:sp>
        <p:nvSpPr>
          <p:cNvPr id="7" name="Rounded Rectangle 6"/>
          <p:cNvSpPr/>
          <p:nvPr/>
        </p:nvSpPr>
        <p:spPr>
          <a:xfrm>
            <a:off x="548640" y="1645920"/>
            <a:ext cx="11064240" cy="254279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2469642"/>
              </a:xfrm>
              <a:prstGeom prst="rect">
                <a:avLst/>
              </a:prstGeom>
              <a:noFill/>
            </p:spPr>
            <p:txBody>
              <a:bodyPr wrap="square" anchor="ctr" lIns="45720" rIns="45720">
                <a:spAutoFit/>
              </a:bodyPr>
              <a:lstStyle/>
              <a:p>
                <a:pPr algn="l">
                  <a:spcAft>
                    <a:spcPts val="800"/>
                  </a:spcAft>
                </a:pPr>
                <a:r>
                  <a:rPr sz="2500">
                    <a:solidFill>
                      <a:srgbClr val="1E293B"/>
                    </a:solidFill>
                    <a:latin typeface="Calibri"/>
                  </a:rPr>
                  <a:t>Đồ thị của hàm số phân thức </a:t>
                </a:r>
                <a14:m>
                  <m:oMath xmlns:m="http://schemas.openxmlformats.org/officeDocument/2006/math">
                    <m:r>
                      <a:rPr lang="vi-VN" sz="2500" b="0">
                        <a:solidFill>
                          <a:srgbClr val="1E293B"/>
                        </a:solidFill>
                        <a:latin typeface="Cambria Math" panose="02040503050406030204" pitchFamily="18" charset="0"/>
                      </a:rPr>
                      <m:t>y=</m:t>
                    </m:r>
                    <m:f>
                      <m:fPr>
                        <m:type m:val="bar"/>
                      </m:fPr>
                      <m:num>
                        <m:r>
                          <a:rPr lang="vi-VN" sz="2500" b="0">
                            <a:solidFill>
                              <a:srgbClr val="1E293B"/>
                            </a:solidFill>
                            <a:latin typeface="Cambria Math" panose="02040503050406030204" pitchFamily="18" charset="0"/>
                          </a:rPr>
                          <m:t>ax+b</m:t>
                        </m:r>
                      </m:num>
                      <m:den>
                        <m:r>
                          <a:rPr lang="vi-VN" sz="2500" b="0">
                            <a:solidFill>
                              <a:srgbClr val="1E293B"/>
                            </a:solidFill>
                            <a:latin typeface="Cambria Math" panose="02040503050406030204" pitchFamily="18" charset="0"/>
                          </a:rPr>
                          <m:t>cx+d</m:t>
                        </m:r>
                      </m:den>
                    </m:f>
                  </m:oMath>
                </a14:m>
                <a:r>
                  <a:rPr sz="2500">
                    <a:solidFill>
                      <a:srgbClr val="1E293B"/>
                    </a:solidFill>
                    <a:latin typeface="Calibri"/>
                  </a:rPr>
                  <a:t> (</a:t>
                </a:r>
                <a14:m>
                  <m:oMath xmlns:m="http://schemas.openxmlformats.org/officeDocument/2006/math">
                    <m:r>
                      <a:rPr lang="vi-VN" sz="2500" b="0">
                        <a:solidFill>
                          <a:srgbClr val="1E293B"/>
                        </a:solidFill>
                        <a:latin typeface="Cambria Math" panose="02040503050406030204" pitchFamily="18" charset="0"/>
                      </a:rPr>
                      <m:t>c≠0,</m:t>
                    </m:r>
                    <m:r>
                      <m:rPr>
                        <m:sty m:val="p"/>
                      </m:rPr>
                      <a:rPr lang="vi-VN" sz="2500" b="0">
                        <a:solidFill>
                          <a:srgbClr val="1E293B"/>
                        </a:solidFill>
                        <a:latin typeface="Cambria Math" panose="02040503050406030204" pitchFamily="18" charset="0"/>
                      </a:rPr>
                      <m:t> </m:t>
                    </m:r>
                    <m:r>
                      <a:rPr lang="vi-VN" sz="2500" b="0">
                        <a:solidFill>
                          <a:srgbClr val="1E293B"/>
                        </a:solidFill>
                        <a:latin typeface="Cambria Math" panose="02040503050406030204" pitchFamily="18" charset="0"/>
                      </a:rPr>
                      <m:t>ad−bc≠0</m:t>
                    </m:r>
                  </m:oMath>
                </a14:m>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Nhận giao điểm của tiệm cận đứng và tiệm cận ngang làm tâm đối xứng;</a:t>
                </a:r>
              </a:p>
              <a:p>
                <a:pPr algn="l" marL="365760" indent="-365760">
                  <a:spcAft>
                    <a:spcPts val="800"/>
                  </a:spcAft>
                  <a:buClr>
                    <a:srgbClr val="1E40AF"/>
                  </a:buClr>
                  <a:buFont typeface="Arial"/>
                  <a:buChar char="•"/>
                </a:pPr>
                <a:r>
                  <a:rPr sz="2500">
                    <a:solidFill>
                      <a:srgbClr val="1E293B"/>
                    </a:solidFill>
                    <a:latin typeface="Calibri"/>
                  </a:rPr>
                  <a:t>Nhận hai đường phân giác của các góc tạo bởi hai đường tiệm cận này làm các trục đối xứng.</a:t>
                </a:r>
              </a:p>
            </p:txBody>
          </p:sp>
        </mc:Choice>
        <mc:Fallback>
          <p:sp>
            <p:nvSpPr>
              <p:cNvPr id="8" name="TextBox 7"/>
              <p:cNvSpPr txBox="1"/>
              <p:nvPr/>
            </p:nvSpPr>
            <p:spPr>
              <a:xfrm>
                <a:off x="713232" y="1682496"/>
                <a:ext cx="10735056" cy="2469642"/>
              </a:xfrm>
              <a:prstGeom prst="rect">
                <a:avLst/>
              </a:prstGeom>
              <a:noFill/>
            </p:spPr>
            <p:txBody>
              <a:bodyPr wrap="square" anchor="ctr" lIns="45720" rIns="45720">
                <a:spAutoFit/>
              </a:bodyPr>
              <a:lstStyle/>
              <a:p>
                <a:pPr algn="l">
                  <a:spcAft>
                    <a:spcPts val="800"/>
                  </a:spcAft>
                </a:pPr>
                <a:r>
                  <a:rPr sz="2500">
                    <a:solidFill>
                      <a:srgbClr val="1E293B"/>
                    </a:solidFill>
                    <a:latin typeface="Calibri"/>
                  </a:rPr>
                  <a:t>Đồ thị của hàm số phân thức </a:t>
                </a:r>
                <a:r>
                  <a:rPr lang="vi-VN"/>
                  <a:t>y=\frac{ax+b}{cx+d}</a:t>
                </a:r>
                <a:r>
                  <a:rPr sz="2500">
                    <a:solidFill>
                      <a:srgbClr val="1E293B"/>
                    </a:solidFill>
                    <a:latin typeface="Calibri"/>
                  </a:rPr>
                  <a:t> (</a:t>
                </a:r>
                <a:r>
                  <a:rPr lang="vi-VN"/>
                  <a:t>c\ne 0,\ ad-bc\ne 0</a:t>
                </a:r>
                <a:r>
                  <a:rPr sz="2500">
                    <a:solidFill>
                      <a:srgbClr val="1E293B"/>
                    </a:solidFill>
                    <a:latin typeface="Calibri"/>
                  </a:rPr>
                  <a:t>):</a:t>
                </a:r>
              </a:p>
              <a:p>
                <a:pPr algn="l" marL="365760" indent="-365760">
                  <a:spcAft>
                    <a:spcPts val="800"/>
                  </a:spcAft>
                  <a:buClr>
                    <a:srgbClr val="1E40AF"/>
                  </a:buClr>
                  <a:buFont typeface="Arial"/>
                  <a:buChar char="•"/>
                </a:pPr>
                <a:r>
                  <a:rPr sz="2500">
                    <a:solidFill>
                      <a:srgbClr val="1E293B"/>
                    </a:solidFill>
                    <a:latin typeface="Calibri"/>
                  </a:rPr>
                  <a:t>Nhận giao điểm của tiệm cận đứng và tiệm cận ngang làm tâm đối xứng;</a:t>
                </a:r>
              </a:p>
              <a:p>
                <a:pPr algn="l" marL="365760" indent="-365760">
                  <a:spcAft>
                    <a:spcPts val="800"/>
                  </a:spcAft>
                  <a:buClr>
                    <a:srgbClr val="1E40AF"/>
                  </a:buClr>
                  <a:buFont typeface="Arial"/>
                  <a:buChar char="•"/>
                </a:pPr>
                <a:r>
                  <a:rPr sz="2500">
                    <a:solidFill>
                      <a:srgbClr val="1E293B"/>
                    </a:solidFill>
                    <a:latin typeface="Calibri"/>
                  </a:rPr>
                  <a:t>Nhận hai đường phân giác của các góc tạo bởi hai đường tiệm cận này làm các trục đối xứng.</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2 – GIẢI TÌNH HUỐNG MỞ ĐẦU (SGK TR.29)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13232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Giải bài toán ở tình huống mở đầu, coi </a:t>
                </a:r>
                <a14:m>
                  <m:oMath xmlns:m="http://schemas.openxmlformats.org/officeDocument/2006/math">
                    <m:r>
                      <a:rPr lang="vi-VN" sz="2100" b="0">
                        <a:solidFill>
                          <a:srgbClr val="1E293B"/>
                        </a:solidFill>
                        <a:latin typeface="Cambria Math" panose="02040503050406030204" pitchFamily="18" charset="0"/>
                      </a:rPr>
                      <m:t>f(x)=</m:t>
                    </m:r>
                    <m:f>
                      <m:fPr>
                        <m:type m:val="bar"/>
                      </m:fPr>
                      <m:num>
                        <m:r>
                          <a:rPr lang="vi-VN" sz="2100" b="0">
                            <a:solidFill>
                              <a:srgbClr val="1E293B"/>
                            </a:solidFill>
                            <a:latin typeface="Cambria Math" panose="02040503050406030204" pitchFamily="18" charset="0"/>
                          </a:rPr>
                          <m:t>2x+45</m:t>
                        </m:r>
                      </m:num>
                      <m:den>
                        <m:r>
                          <a:rPr lang="vi-VN" sz="2100" b="0">
                            <a:solidFill>
                              <a:srgbClr val="1E293B"/>
                            </a:solidFill>
                            <a:latin typeface="Cambria Math" panose="02040503050406030204" pitchFamily="18" charset="0"/>
                          </a:rPr>
                          <m:t>x</m:t>
                        </m:r>
                      </m:den>
                    </m:f>
                  </m:oMath>
                </a14:m>
                <a:r>
                  <a:rPr sz="2100">
                    <a:solidFill>
                      <a:srgbClr val="1E293B"/>
                    </a:solidFill>
                    <a:latin typeface="Calibri"/>
                  </a:rPr>
                  <a:t> là hàm số xác định với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a:t>
                </a:r>
              </a:p>
            </p:txBody>
          </p:sp>
        </mc:Choice>
        <mc:Fallback>
          <p:sp>
            <p:nvSpPr>
              <p:cNvPr id="7" name="TextBox 6"/>
              <p:cNvSpPr txBox="1"/>
              <p:nvPr/>
            </p:nvSpPr>
            <p:spPr>
              <a:xfrm>
                <a:off x="548640" y="1371600"/>
                <a:ext cx="713232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2.</a:t>
                </a:r>
                <a:r>
                  <a:rPr sz="2100">
                    <a:solidFill>
                      <a:srgbClr val="1E293B"/>
                    </a:solidFill>
                    <a:latin typeface="Calibri"/>
                  </a:rPr>
                  <a:t> Giải bài toán ở tình huống mở đầu, coi </a:t>
                </a:r>
                <a:r>
                  <a:rPr lang="vi-VN"/>
                  <a:t>f(x)=\frac{2x+45}{x}</a:t>
                </a:r>
                <a:r>
                  <a:rPr sz="2100">
                    <a:solidFill>
                      <a:srgbClr val="1E293B"/>
                    </a:solidFill>
                    <a:latin typeface="Calibri"/>
                  </a:rPr>
                  <a:t> là hàm số xác định với </a:t>
                </a:r>
                <a:r>
                  <a:rPr lang="vi-VN"/>
                  <a:t>x\ge 1</a:t>
                </a:r>
                <a:r>
                  <a:rPr sz="2100">
                    <a:solidFill>
                      <a:srgbClr val="1E293B"/>
                    </a:solidFill>
                    <a:latin typeface="Calibri"/>
                  </a:rPr>
                  <a:t>.</a:t>
                </a:r>
              </a:p>
            </p:txBody>
          </p:sp>
        </mc:Fallback>
      </mc:AlternateContent>
      <p:sp>
        <p:nvSpPr>
          <p:cNvPr id="8" name="s1_nen"/>
          <p:cNvSpPr/>
          <p:nvPr/>
        </p:nvSpPr>
        <p:spPr>
          <a:xfrm>
            <a:off x="548640" y="2420874"/>
            <a:ext cx="713232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57450"/>
                <a:ext cx="680313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f</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f>
                      <m:fPr>
                        <m:type m:val="bar"/>
                      </m:fPr>
                      <m:num>
                        <m:r>
                          <a:rPr lang="vi-VN" sz="2100" b="0">
                            <a:solidFill>
                              <a:srgbClr val="1E293B"/>
                            </a:solidFill>
                            <a:latin typeface="Cambria Math" panose="02040503050406030204" pitchFamily="18" charset="0"/>
                          </a:rPr>
                          <m:t>45</m:t>
                        </m:r>
                      </m:num>
                      <m:den>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&lt;0</m:t>
                    </m:r>
                  </m:oMath>
                </a14:m>
                <a:r>
                  <a:rPr sz="2100">
                    <a:solidFill>
                      <a:srgbClr val="1E293B"/>
                    </a:solidFill>
                    <a:latin typeface="Calibri"/>
                  </a:rPr>
                  <a:t> với mọi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 hàm số nghịch biến – chi phí trung bình giảm theo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a:t>
                </a:r>
              </a:p>
            </p:txBody>
          </p:sp>
        </mc:Choice>
        <mc:Fallback>
          <p:sp>
            <p:nvSpPr>
              <p:cNvPr id="9" name="TextBox 8"/>
              <p:cNvSpPr txBox="1"/>
              <p:nvPr/>
            </p:nvSpPr>
            <p:spPr>
              <a:xfrm>
                <a:off x="713232" y="2457450"/>
                <a:ext cx="680313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f'(x)=-\frac{45}{x^2}&lt;0</a:t>
                </a:r>
                <a:r>
                  <a:rPr sz="2100">
                    <a:solidFill>
                      <a:srgbClr val="1E293B"/>
                    </a:solidFill>
                    <a:latin typeface="Calibri"/>
                  </a:rPr>
                  <a:t> với mọi </a:t>
                </a:r>
                <a:r>
                  <a:rPr lang="vi-VN"/>
                  <a:t>x\ge 1</a:t>
                </a:r>
                <a:r>
                  <a:rPr sz="2100">
                    <a:solidFill>
                      <a:srgbClr val="1E293B"/>
                    </a:solidFill>
                    <a:latin typeface="Calibri"/>
                  </a:rPr>
                  <a:t>: hàm số nghịch biến – chi phí trung bình giảm theo </a:t>
                </a:r>
                <a:r>
                  <a:rPr lang="vi-VN"/>
                  <a:t>x</a:t>
                </a:r>
                <a:r>
                  <a:rPr sz="2100">
                    <a:solidFill>
                      <a:srgbClr val="1E293B"/>
                    </a:solidFill>
                    <a:latin typeface="Calibri"/>
                  </a:rPr>
                  <a:t>.</a:t>
                </a:r>
              </a:p>
            </p:txBody>
          </p:sp>
        </mc:Fallback>
      </mc:AlternateContent>
      <p:sp>
        <p:nvSpPr>
          <p:cNvPr id="10" name="s2_nen"/>
          <p:cNvSpPr/>
          <p:nvPr/>
        </p:nvSpPr>
        <p:spPr>
          <a:xfrm>
            <a:off x="548640" y="3561588"/>
            <a:ext cx="7132320" cy="136931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598164"/>
                <a:ext cx="6803136" cy="129616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x→+∞</m:t>
                        </m:r>
                      </m:lim>
                    </m:limLow>
                    <m:r>
                      <a:rPr lang="vi-VN" sz="2100" b="0">
                        <a:solidFill>
                          <a:srgbClr val="1E293B"/>
                        </a:solidFill>
                        <a:latin typeface="Cambria Math" panose="02040503050406030204" pitchFamily="18" charset="0"/>
                      </a:rPr>
                      <m:t>f(x)=2</m:t>
                    </m:r>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f(x)=2+</m:t>
                    </m:r>
                    <m:f>
                      <m:fPr>
                        <m:type m:val="bar"/>
                      </m:fPr>
                      <m:num>
                        <m:r>
                          <a:rPr lang="vi-VN" sz="2100" b="0">
                            <a:solidFill>
                              <a:srgbClr val="1E293B"/>
                            </a:solidFill>
                            <a:latin typeface="Cambria Math" panose="02040503050406030204" pitchFamily="18" charset="0"/>
                          </a:rPr>
                          <m:t>45</m:t>
                        </m:r>
                      </m:num>
                      <m:den>
                        <m:r>
                          <a:rPr lang="vi-VN" sz="2100" b="0">
                            <a:solidFill>
                              <a:srgbClr val="1E293B"/>
                            </a:solidFill>
                            <a:latin typeface="Cambria Math" panose="02040503050406030204" pitchFamily="18" charset="0"/>
                          </a:rPr>
                          <m:t>x</m:t>
                        </m:r>
                      </m:den>
                    </m:f>
                    <m:r>
                      <a:rPr lang="vi-VN" sz="2100" b="0">
                        <a:solidFill>
                          <a:srgbClr val="1E293B"/>
                        </a:solidFill>
                        <a:latin typeface="Cambria Math" panose="02040503050406030204" pitchFamily="18" charset="0"/>
                      </a:rPr>
                      <m:t>&gt;2</m:t>
                    </m:r>
                  </m:oMath>
                </a14:m>
                <a:r>
                  <a:rPr sz="2100">
                    <a:solidFill>
                      <a:srgbClr val="1E293B"/>
                    </a:solidFill>
                    <a:latin typeface="Calibri"/>
                  </a:rPr>
                  <a:t>: tiệm cận ngang </a:t>
                </a:r>
                <a14:m>
                  <m:oMath xmlns:m="http://schemas.openxmlformats.org/officeDocument/2006/math">
                    <m:r>
                      <a:rPr lang="vi-VN" sz="2100" b="0">
                        <a:solidFill>
                          <a:srgbClr val="1E293B"/>
                        </a:solidFill>
                        <a:latin typeface="Cambria Math" panose="02040503050406030204" pitchFamily="18" charset="0"/>
                      </a:rPr>
                      <m:t>y=2</m:t>
                    </m:r>
                  </m:oMath>
                </a14:m>
                <a:r>
                  <a:rPr sz="2100">
                    <a:solidFill>
                      <a:srgbClr val="1E293B"/>
                    </a:solidFill>
                    <a:latin typeface="Calibri"/>
                  </a:rPr>
                  <a:t>, chi phí trung bình luôn lớn hơn 2 triệu đồng.</a:t>
                </a:r>
              </a:p>
            </p:txBody>
          </p:sp>
        </mc:Choice>
        <mc:Fallback>
          <p:sp>
            <p:nvSpPr>
              <p:cNvPr id="11" name="TextBox 10"/>
              <p:cNvSpPr txBox="1"/>
              <p:nvPr/>
            </p:nvSpPr>
            <p:spPr>
              <a:xfrm>
                <a:off x="713232" y="3598164"/>
                <a:ext cx="6803136" cy="129616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\lim\limits_{x\to+\infty}f(x)=2</a:t>
                </a:r>
                <a:r>
                  <a:rPr sz="2100">
                    <a:solidFill>
                      <a:srgbClr val="1E293B"/>
                    </a:solidFill>
                    <a:latin typeface="Calibri"/>
                  </a:rPr>
                  <a:t> và </a:t>
                </a:r>
                <a:r>
                  <a:rPr lang="vi-VN"/>
                  <a:t>f(x)=2+\frac{45}{x}&gt;2</a:t>
                </a:r>
                <a:r>
                  <a:rPr sz="2100">
                    <a:solidFill>
                      <a:srgbClr val="1E293B"/>
                    </a:solidFill>
                    <a:latin typeface="Calibri"/>
                  </a:rPr>
                  <a:t>: tiệm cận ngang </a:t>
                </a:r>
                <a:r>
                  <a:rPr lang="vi-VN"/>
                  <a:t>y=2</a:t>
                </a:r>
                <a:r>
                  <a:rPr sz="2100">
                    <a:solidFill>
                      <a:srgbClr val="1E293B"/>
                    </a:solidFill>
                    <a:latin typeface="Calibri"/>
                  </a:rPr>
                  <a:t>, chi phí trung bình luôn lớn hơn 2 triệu đồng.</a:t>
                </a:r>
              </a:p>
            </p:txBody>
          </p:sp>
        </mc:Fallback>
      </mc:AlternateContent>
      <p:sp>
        <p:nvSpPr>
          <p:cNvPr id="12" name="s3_nen"/>
          <p:cNvSpPr/>
          <p:nvPr/>
        </p:nvSpPr>
        <p:spPr>
          <a:xfrm>
            <a:off x="548640" y="5022342"/>
            <a:ext cx="713232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058918"/>
                <a:ext cx="680313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đồ thị: đường cong đi xuống và tiến sát (nằm phía trên) đường thẳng </a:t>
                </a:r>
                <a14:m>
                  <m:oMath xmlns:m="http://schemas.openxmlformats.org/officeDocument/2006/math">
                    <m:r>
                      <a:rPr lang="vi-VN" sz="2100" b="0">
                        <a:solidFill>
                          <a:srgbClr val="1E293B"/>
                        </a:solidFill>
                        <a:latin typeface="Cambria Math" panose="02040503050406030204" pitchFamily="18" charset="0"/>
                      </a:rPr>
                      <m:t>y=2</m:t>
                    </m:r>
                  </m:oMath>
                </a14:m>
                <a:r>
                  <a:rPr sz="2100">
                    <a:solidFill>
                      <a:srgbClr val="1E293B"/>
                    </a:solidFill>
                    <a:latin typeface="Calibri"/>
                  </a:rPr>
                  <a:t> khi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a:t>
                </a:r>
              </a:p>
            </p:txBody>
          </p:sp>
        </mc:Choice>
        <mc:Fallback>
          <p:sp>
            <p:nvSpPr>
              <p:cNvPr id="13" name="TextBox 12"/>
              <p:cNvSpPr txBox="1"/>
              <p:nvPr/>
            </p:nvSpPr>
            <p:spPr>
              <a:xfrm>
                <a:off x="713232" y="5058918"/>
                <a:ext cx="6803136"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Trên đồ thị: đường cong đi xuống và tiến sát (nằm phía trên) đường thẳng </a:t>
                </a:r>
                <a:r>
                  <a:rPr lang="vi-VN"/>
                  <a:t>y=2</a:t>
                </a:r>
                <a:r>
                  <a:rPr sz="2100">
                    <a:solidFill>
                      <a:srgbClr val="1E293B"/>
                    </a:solidFill>
                    <a:latin typeface="Calibri"/>
                  </a:rPr>
                  <a:t> khi </a:t>
                </a:r>
                <a:r>
                  <a:rPr lang="vi-VN"/>
                  <a:t>x\to+\infty</a:t>
                </a:r>
                <a:r>
                  <a:rPr sz="2100">
                    <a:solidFill>
                      <a:srgbClr val="1E293B"/>
                    </a:solidFill>
                    <a:latin typeface="Calibri"/>
                  </a:rPr>
                  <a:t>.</a:t>
                </a:r>
              </a:p>
            </p:txBody>
          </p:sp>
        </mc:Fallback>
      </mc:AlternateContent>
      <p:pic>
        <p:nvPicPr>
          <p:cNvPr id="14" name="Picture 13" descr="b4_h127.png"/>
          <p:cNvPicPr>
            <a:picLocks noChangeAspect="1"/>
          </p:cNvPicPr>
          <p:nvPr/>
        </p:nvPicPr>
        <p:blipFill>
          <a:blip r:embed="rId3"/>
          <a:stretch>
            <a:fillRect/>
          </a:stretch>
        </p:blipFill>
        <p:spPr>
          <a:xfrm>
            <a:off x="7990486" y="1463040"/>
            <a:ext cx="3587186" cy="2560320"/>
          </a:xfrm>
          <a:prstGeom prst="rect">
            <a:avLst/>
          </a:prstGeom>
        </p:spPr>
      </p:pic>
      <p:sp>
        <p:nvSpPr>
          <p:cNvPr id="15" name="TextBox 14"/>
          <p:cNvSpPr txBox="1"/>
          <p:nvPr/>
        </p:nvSpPr>
        <p:spPr>
          <a:xfrm>
            <a:off x="7955279" y="4041648"/>
            <a:ext cx="365760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NỒNG ĐỘ CHẤT KHỬ TRÙNG (SGK TR.29 – 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046720" cy="1819656"/>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Vận dụng.</a:t>
                </a:r>
                <a:r>
                  <a:rPr sz="1800">
                    <a:solidFill>
                      <a:srgbClr val="1E293B"/>
                    </a:solidFill>
                    <a:latin typeface="Calibri"/>
                  </a:rPr>
                  <a:t> Một bể chứa ban đầu có 200 lít nước. Mỗi phút người ta bơm thêm 40 lít nước, đồng thời cho vào bể 20 gam chất khử trùng (hoà tan). a) Tính thể tích nước và khối lượng chất khử trùng sau </a:t>
                </a:r>
                <a14:m>
                  <m:oMath xmlns:m="http://schemas.openxmlformats.org/officeDocument/2006/math">
                    <m:r>
                      <a:rPr lang="vi-VN" sz="1800" b="0">
                        <a:solidFill>
                          <a:srgbClr val="1E293B"/>
                        </a:solidFill>
                        <a:latin typeface="Cambria Math" panose="02040503050406030204" pitchFamily="18" charset="0"/>
                      </a:rPr>
                      <m:t>t</m:t>
                    </m:r>
                  </m:oMath>
                </a14:m>
                <a:r>
                  <a:rPr sz="1800">
                    <a:solidFill>
                      <a:srgbClr val="1E293B"/>
                    </a:solidFill>
                    <a:latin typeface="Calibri"/>
                  </a:rPr>
                  <a:t> phút; tính nồng độ (g/l). b) Coi nồng độ là hàm </a:t>
                </a:r>
                <a14:m>
                  <m:oMath xmlns:m="http://schemas.openxmlformats.org/officeDocument/2006/math">
                    <m:r>
                      <a:rPr lang="vi-VN" sz="1800" b="0">
                        <a:solidFill>
                          <a:srgbClr val="1E293B"/>
                        </a:solidFill>
                        <a:latin typeface="Cambria Math" panose="02040503050406030204" pitchFamily="18" charset="0"/>
                      </a:rPr>
                      <m:t>f(t)</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t≥0</m:t>
                    </m:r>
                  </m:oMath>
                </a14:m>
                <a:r>
                  <a:rPr sz="1800">
                    <a:solidFill>
                      <a:srgbClr val="1E293B"/>
                    </a:solidFill>
                    <a:latin typeface="Calibri"/>
                  </a:rPr>
                  <a:t>. Khảo sát và vẽ đồ thị. c) Giải thích tại sao nồng độ tăng theo </a:t>
                </a:r>
                <a14:m>
                  <m:oMath xmlns:m="http://schemas.openxmlformats.org/officeDocument/2006/math">
                    <m:r>
                      <a:rPr lang="vi-VN" sz="1800" b="0">
                        <a:solidFill>
                          <a:srgbClr val="1E293B"/>
                        </a:solidFill>
                        <a:latin typeface="Cambria Math" panose="02040503050406030204" pitchFamily="18" charset="0"/>
                      </a:rPr>
                      <m:t>t</m:t>
                    </m:r>
                  </m:oMath>
                </a14:m>
                <a:r>
                  <a:rPr sz="1800">
                    <a:solidFill>
                      <a:srgbClr val="1E293B"/>
                    </a:solidFill>
                    <a:latin typeface="Calibri"/>
                  </a:rPr>
                  <a:t> nhưng không vượt ngưỡng 0,5 g/l.</a:t>
                </a:r>
              </a:p>
            </p:txBody>
          </p:sp>
        </mc:Choice>
        <mc:Fallback>
          <p:sp>
            <p:nvSpPr>
              <p:cNvPr id="7" name="TextBox 6"/>
              <p:cNvSpPr txBox="1"/>
              <p:nvPr/>
            </p:nvSpPr>
            <p:spPr>
              <a:xfrm>
                <a:off x="548640" y="1371600"/>
                <a:ext cx="8046720" cy="1819656"/>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Vận dụng.</a:t>
                </a:r>
                <a:r>
                  <a:rPr sz="1800">
                    <a:solidFill>
                      <a:srgbClr val="1E293B"/>
                    </a:solidFill>
                    <a:latin typeface="Calibri"/>
                  </a:rPr>
                  <a:t> Một bể chứa ban đầu có 200 lít nước. Mỗi phút người ta bơm thêm 40 lít nước, đồng thời cho vào bể 20 gam chất khử trùng (hoà tan). a) Tính thể tích nước và khối lượng chất khử trùng sau </a:t>
                </a:r>
                <a:r>
                  <a:rPr lang="vi-VN"/>
                  <a:t>t</a:t>
                </a:r>
                <a:r>
                  <a:rPr sz="1800">
                    <a:solidFill>
                      <a:srgbClr val="1E293B"/>
                    </a:solidFill>
                    <a:latin typeface="Calibri"/>
                  </a:rPr>
                  <a:t> phút; tính nồng độ (g/l). b) Coi nồng độ là hàm </a:t>
                </a:r>
                <a:r>
                  <a:rPr lang="vi-VN"/>
                  <a:t>f(t)</a:t>
                </a:r>
                <a:r>
                  <a:rPr sz="1800">
                    <a:solidFill>
                      <a:srgbClr val="1E293B"/>
                    </a:solidFill>
                    <a:latin typeface="Calibri"/>
                  </a:rPr>
                  <a:t>, </a:t>
                </a:r>
                <a:r>
                  <a:rPr lang="vi-VN"/>
                  <a:t>t\ge 0</a:t>
                </a:r>
                <a:r>
                  <a:rPr sz="1800">
                    <a:solidFill>
                      <a:srgbClr val="1E293B"/>
                    </a:solidFill>
                    <a:latin typeface="Calibri"/>
                  </a:rPr>
                  <a:t>. Khảo sát và vẽ đồ thị. c) Giải thích tại sao nồng độ tăng theo </a:t>
                </a:r>
                <a:r>
                  <a:rPr lang="vi-VN"/>
                  <a:t>t</a:t>
                </a:r>
                <a:r>
                  <a:rPr sz="1800">
                    <a:solidFill>
                      <a:srgbClr val="1E293B"/>
                    </a:solidFill>
                    <a:latin typeface="Calibri"/>
                  </a:rPr>
                  <a:t> nhưng không vượt ngưỡng 0,5 g/l.</a:t>
                </a:r>
              </a:p>
            </p:txBody>
          </p:sp>
        </mc:Fallback>
      </mc:AlternateContent>
      <p:sp>
        <p:nvSpPr>
          <p:cNvPr id="8" name="s1_nen"/>
          <p:cNvSpPr/>
          <p:nvPr/>
        </p:nvSpPr>
        <p:spPr>
          <a:xfrm>
            <a:off x="548640" y="3236976"/>
            <a:ext cx="8046720" cy="78638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73552"/>
                <a:ext cx="771753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14:m>
                  <m:oMath xmlns:m="http://schemas.openxmlformats.org/officeDocument/2006/math">
                    <m:r>
                      <a:rPr lang="vi-VN" sz="1800" b="0">
                        <a:solidFill>
                          <a:srgbClr val="1E293B"/>
                        </a:solidFill>
                        <a:latin typeface="Cambria Math" panose="02040503050406030204" pitchFamily="18" charset="0"/>
                      </a:rPr>
                      <m:t>V=200+40t</m:t>
                    </m:r>
                  </m:oMath>
                </a14:m>
                <a:r>
                  <a:rPr sz="1800">
                    <a:solidFill>
                      <a:srgbClr val="1E293B"/>
                    </a:solidFill>
                    <a:latin typeface="Calibri"/>
                  </a:rPr>
                  <a:t> (lít), </a:t>
                </a:r>
                <a14:m>
                  <m:oMath xmlns:m="http://schemas.openxmlformats.org/officeDocument/2006/math">
                    <m:r>
                      <a:rPr lang="vi-VN" sz="1800" b="0">
                        <a:solidFill>
                          <a:srgbClr val="1E293B"/>
                        </a:solidFill>
                        <a:latin typeface="Cambria Math" panose="02040503050406030204" pitchFamily="18" charset="0"/>
                      </a:rPr>
                      <m:t>m=20t</m:t>
                    </m:r>
                  </m:oMath>
                </a14:m>
                <a:r>
                  <a:rPr sz="1800">
                    <a:solidFill>
                      <a:srgbClr val="1E293B"/>
                    </a:solidFill>
                    <a:latin typeface="Calibri"/>
                  </a:rPr>
                  <a:t> (gam); </a:t>
                </a:r>
                <a14:m>
                  <m:oMath xmlns:m="http://schemas.openxmlformats.org/officeDocument/2006/math">
                    <m:r>
                      <a:rPr lang="vi-VN" sz="1800" b="0">
                        <a:solidFill>
                          <a:srgbClr val="1E293B"/>
                        </a:solidFill>
                        <a:latin typeface="Cambria Math" panose="02040503050406030204" pitchFamily="18" charset="0"/>
                      </a:rPr>
                      <m:t>f(t)=</m:t>
                    </m:r>
                    <m:f>
                      <m:fPr>
                        <m:type m:val="bar"/>
                      </m:fPr>
                      <m:num>
                        <m:r>
                          <a:rPr lang="vi-VN" sz="1800" b="0">
                            <a:solidFill>
                              <a:srgbClr val="1E293B"/>
                            </a:solidFill>
                            <a:latin typeface="Cambria Math" panose="02040503050406030204" pitchFamily="18" charset="0"/>
                          </a:rPr>
                          <m:t>20t</m:t>
                        </m:r>
                      </m:num>
                      <m:den>
                        <m:r>
                          <a:rPr lang="vi-VN" sz="1800" b="0">
                            <a:solidFill>
                              <a:srgbClr val="1E293B"/>
                            </a:solidFill>
                            <a:latin typeface="Cambria Math" panose="02040503050406030204" pitchFamily="18" charset="0"/>
                          </a:rPr>
                          <m:t>200+40t</m:t>
                        </m:r>
                      </m:den>
                    </m:f>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t</m:t>
                        </m:r>
                      </m:num>
                      <m:den>
                        <m:r>
                          <a:rPr lang="vi-VN" sz="1800" b="0">
                            <a:solidFill>
                              <a:srgbClr val="1E293B"/>
                            </a:solidFill>
                            <a:latin typeface="Cambria Math" panose="02040503050406030204" pitchFamily="18" charset="0"/>
                          </a:rPr>
                          <m:t>2t+10</m:t>
                        </m:r>
                      </m:den>
                    </m:f>
                  </m:oMath>
                </a14:m>
                <a:r>
                  <a:rPr sz="1800">
                    <a:solidFill>
                      <a:srgbClr val="1E293B"/>
                    </a:solidFill>
                    <a:latin typeface="Calibri"/>
                  </a:rPr>
                  <a:t>.</a:t>
                </a:r>
              </a:p>
            </p:txBody>
          </p:sp>
        </mc:Choice>
        <mc:Fallback>
          <p:sp>
            <p:nvSpPr>
              <p:cNvPr id="9" name="TextBox 8"/>
              <p:cNvSpPr txBox="1"/>
              <p:nvPr/>
            </p:nvSpPr>
            <p:spPr>
              <a:xfrm>
                <a:off x="713232" y="3273552"/>
                <a:ext cx="771753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r>
                  <a:rPr lang="vi-VN"/>
                  <a:t>V=200+40t</a:t>
                </a:r>
                <a:r>
                  <a:rPr sz="1800">
                    <a:solidFill>
                      <a:srgbClr val="1E293B"/>
                    </a:solidFill>
                    <a:latin typeface="Calibri"/>
                  </a:rPr>
                  <a:t> (lít), </a:t>
                </a:r>
                <a:r>
                  <a:rPr lang="vi-VN"/>
                  <a:t>m=20t</a:t>
                </a:r>
                <a:r>
                  <a:rPr sz="1800">
                    <a:solidFill>
                      <a:srgbClr val="1E293B"/>
                    </a:solidFill>
                    <a:latin typeface="Calibri"/>
                  </a:rPr>
                  <a:t> (gam); </a:t>
                </a:r>
                <a:r>
                  <a:rPr lang="vi-VN"/>
                  <a:t>f(t)=\frac{20t}{200+40t}=\frac{t}{2t+10}</a:t>
                </a:r>
                <a:r>
                  <a:rPr sz="1800">
                    <a:solidFill>
                      <a:srgbClr val="1E293B"/>
                    </a:solidFill>
                    <a:latin typeface="Calibri"/>
                  </a:rPr>
                  <a:t>.</a:t>
                </a:r>
              </a:p>
            </p:txBody>
          </p:sp>
        </mc:Fallback>
      </mc:AlternateContent>
      <p:sp>
        <p:nvSpPr>
          <p:cNvPr id="10" name="s2_nen"/>
          <p:cNvSpPr/>
          <p:nvPr/>
        </p:nvSpPr>
        <p:spPr>
          <a:xfrm>
            <a:off x="548640" y="4069079"/>
            <a:ext cx="8046720" cy="118414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105655"/>
                <a:ext cx="771753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b) </a:t>
                </a:r>
                <a14:m>
                  <m:oMath xmlns:m="http://schemas.openxmlformats.org/officeDocument/2006/math">
                    <m:sSup>
                      <m:e>
                        <m:r>
                          <a:rPr lang="vi-VN" sz="1800" b="0">
                            <a:solidFill>
                              <a:srgbClr val="1E293B"/>
                            </a:solidFill>
                            <a:latin typeface="Cambria Math" panose="02040503050406030204" pitchFamily="18" charset="0"/>
                          </a:rPr>
                          <m:t>f</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(t)=</m:t>
                    </m:r>
                    <m:f>
                      <m:fPr>
                        <m:type m:val="bar"/>
                      </m:fPr>
                      <m:num>
                        <m:r>
                          <a:rPr lang="vi-VN" sz="1800" b="0">
                            <a:solidFill>
                              <a:srgbClr val="1E293B"/>
                            </a:solidFill>
                            <a:latin typeface="Cambria Math" panose="02040503050406030204" pitchFamily="18" charset="0"/>
                          </a:rPr>
                          <m:t>10</m:t>
                        </m:r>
                      </m:num>
                      <m:den>
                        <m:sSup>
                          <m:e>
                            <m:d>
                              <m:dPr>
                                <m:sepChr m:val=""/>
                              </m:dPr>
                              <m:e>
                                <m:r>
                                  <a:rPr lang="vi-VN" sz="1800" b="0">
                                    <a:solidFill>
                                      <a:srgbClr val="1E293B"/>
                                    </a:solidFill>
                                    <a:latin typeface="Cambria Math" panose="02040503050406030204" pitchFamily="18" charset="0"/>
                                  </a:rPr>
                                  <m:t>2</m:t>
                                </m:r>
                                <m:r>
                                  <a:rPr lang="vi-VN" sz="1800" b="0">
                                    <a:solidFill>
                                      <a:srgbClr val="1E293B"/>
                                    </a:solidFill>
                                    <a:latin typeface="Cambria Math" panose="02040503050406030204" pitchFamily="18" charset="0"/>
                                  </a:rPr>
                                  <m:t>t</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10</m:t>
                                </m:r>
                              </m:e>
                            </m:d>
                          </m:e>
                          <m:sup>
                            <m:r>
                              <a:rPr lang="vi-VN" sz="1800" b="0">
                                <a:solidFill>
                                  <a:srgbClr val="1E293B"/>
                                </a:solidFill>
                                <a:latin typeface="Cambria Math" panose="02040503050406030204" pitchFamily="18" charset="0"/>
                              </a:rPr>
                              <m:t>2</m:t>
                            </m:r>
                          </m:sup>
                        </m:sSup>
                      </m:den>
                    </m:f>
                    <m:r>
                      <a:rPr lang="vi-VN" sz="1800" b="0">
                        <a:solidFill>
                          <a:srgbClr val="1E293B"/>
                        </a:solidFill>
                        <a:latin typeface="Cambria Math" panose="02040503050406030204" pitchFamily="18" charset="0"/>
                      </a:rPr>
                      <m:t>&gt;0</m:t>
                    </m:r>
                  </m:oMath>
                </a14:m>
                <a:r>
                  <a:rPr sz="1800">
                    <a:solidFill>
                      <a:srgbClr val="1E293B"/>
                    </a:solidFill>
                    <a:latin typeface="Calibri"/>
                  </a:rPr>
                  <a:t>: đồng biến trên </a:t>
                </a:r>
                <a14:m>
                  <m:oMath xmlns:m="http://schemas.openxmlformats.org/officeDocument/2006/math">
                    <m:r>
                      <a:rPr lang="vi-VN" sz="1800" b="0">
                        <a:solidFill>
                          <a:srgbClr val="1E293B"/>
                        </a:solidFill>
                        <a:latin typeface="Cambria Math" panose="02040503050406030204" pitchFamily="18" charset="0"/>
                      </a:rPr>
                      <m:t>[0;</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m:t>
                    </m:r>
                  </m:oMath>
                </a14:m>
                <a:r>
                  <a:rPr sz="1800">
                    <a:solidFill>
                      <a:srgbClr val="1E293B"/>
                    </a:solidFill>
                    <a:latin typeface="Calibri"/>
                  </a:rPr>
                  <a:t>; </a:t>
                </a:r>
                <a14:m>
                  <m:oMath xmlns:m="http://schemas.openxmlformats.org/officeDocument/2006/math">
                    <m:limLow>
                      <m:e>
                        <m:r>
                          <a:rPr lang="vi-VN" sz="1800" b="0">
                            <a:solidFill>
                              <a:srgbClr val="1E293B"/>
                            </a:solidFill>
                            <a:latin typeface="Cambria Math" panose="02040503050406030204" pitchFamily="18" charset="0"/>
                          </a:rPr>
                          <m:t>lim</m:t>
                        </m:r>
                      </m:e>
                      <m:lim>
                        <m:r>
                          <a:rPr lang="vi-VN" sz="1800" b="0">
                            <a:solidFill>
                              <a:srgbClr val="1E293B"/>
                            </a:solidFill>
                            <a:latin typeface="Cambria Math" panose="02040503050406030204" pitchFamily="18" charset="0"/>
                          </a:rPr>
                          <m:t>t→+∞</m:t>
                        </m:r>
                      </m:lim>
                    </m:limLow>
                    <m:r>
                      <a:rPr lang="vi-VN" sz="1800" b="0">
                        <a:solidFill>
                          <a:srgbClr val="1E293B"/>
                        </a:solidFill>
                        <a:latin typeface="Cambria Math" panose="02040503050406030204" pitchFamily="18" charset="0"/>
                      </a:rPr>
                      <m:t>f(t)=</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tiệm cận ngang </a:t>
                </a:r>
                <a14:m>
                  <m:oMath xmlns:m="http://schemas.openxmlformats.org/officeDocument/2006/math">
                    <m:r>
                      <a:rPr lang="vi-VN" sz="1800" b="0">
                        <a:solidFill>
                          <a:srgbClr val="1E293B"/>
                        </a:solidFill>
                        <a:latin typeface="Cambria Math" panose="02040503050406030204" pitchFamily="18" charset="0"/>
                      </a:rPr>
                      <m:t>y=</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a:t>
                </a:r>
              </a:p>
            </p:txBody>
          </p:sp>
        </mc:Choice>
        <mc:Fallback>
          <p:sp>
            <p:nvSpPr>
              <p:cNvPr id="11" name="TextBox 10"/>
              <p:cNvSpPr txBox="1"/>
              <p:nvPr/>
            </p:nvSpPr>
            <p:spPr>
              <a:xfrm>
                <a:off x="713232" y="4105655"/>
                <a:ext cx="771753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b) </a:t>
                </a:r>
                <a:r>
                  <a:rPr lang="vi-VN"/>
                  <a:t>f'(t)=\frac{10}{(2t+10)^2}&gt;0</a:t>
                </a:r>
                <a:r>
                  <a:rPr sz="1800">
                    <a:solidFill>
                      <a:srgbClr val="1E293B"/>
                    </a:solidFill>
                    <a:latin typeface="Calibri"/>
                  </a:rPr>
                  <a:t>: đồng biến trên </a:t>
                </a:r>
                <a:r>
                  <a:rPr lang="vi-VN"/>
                  <a:t>[0;\ +\infty)</a:t>
                </a:r>
                <a:r>
                  <a:rPr sz="1800">
                    <a:solidFill>
                      <a:srgbClr val="1E293B"/>
                    </a:solidFill>
                    <a:latin typeface="Calibri"/>
                  </a:rPr>
                  <a:t>; </a:t>
                </a:r>
                <a:r>
                  <a:rPr lang="vi-VN"/>
                  <a:t>\lim\limits_{t\to+\infty}f(t)=\frac{1}{2}</a:t>
                </a:r>
                <a:r>
                  <a:rPr sz="1800">
                    <a:solidFill>
                      <a:srgbClr val="1E293B"/>
                    </a:solidFill>
                    <a:latin typeface="Calibri"/>
                  </a:rPr>
                  <a:t>: tiệm cận ngang </a:t>
                </a:r>
                <a:r>
                  <a:rPr lang="vi-VN"/>
                  <a:t>y=\frac{1}{2}</a:t>
                </a:r>
                <a:r>
                  <a:rPr sz="1800">
                    <a:solidFill>
                      <a:srgbClr val="1E293B"/>
                    </a:solidFill>
                    <a:latin typeface="Calibri"/>
                  </a:rPr>
                  <a:t>.</a:t>
                </a:r>
              </a:p>
            </p:txBody>
          </p:sp>
        </mc:Fallback>
      </mc:AlternateContent>
      <p:sp>
        <p:nvSpPr>
          <p:cNvPr id="12" name="s3_nen"/>
          <p:cNvSpPr/>
          <p:nvPr/>
        </p:nvSpPr>
        <p:spPr>
          <a:xfrm>
            <a:off x="548640" y="5298947"/>
            <a:ext cx="8046720" cy="937259"/>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335523"/>
                <a:ext cx="7717536" cy="864108"/>
              </a:xfrm>
              <a:prstGeom prst="rect">
                <a:avLst/>
              </a:prstGeom>
              <a:noFill/>
            </p:spPr>
            <p:txBody>
              <a:bodyPr wrap="square" anchor="ctr" lIns="45720" rIns="45720">
                <a:spAutoFit/>
              </a:bodyPr>
              <a:lstStyle/>
              <a:p>
                <a:pPr algn="l">
                  <a:spcAft>
                    <a:spcPts val="800"/>
                  </a:spcAft>
                </a:pPr>
                <a:r>
                  <a:rPr sz="1800">
                    <a:solidFill>
                      <a:srgbClr val="1E293B"/>
                    </a:solidFill>
                    <a:latin typeface="Calibri"/>
                  </a:rPr>
                  <a:t>c) </a:t>
                </a:r>
                <a14:m>
                  <m:oMath xmlns:m="http://schemas.openxmlformats.org/officeDocument/2006/math">
                    <m:r>
                      <a:rPr lang="vi-VN" sz="1800" b="0">
                        <a:solidFill>
                          <a:srgbClr val="1E293B"/>
                        </a:solidFill>
                        <a:latin typeface="Cambria Math" panose="02040503050406030204" pitchFamily="18" charset="0"/>
                      </a:rPr>
                      <m:t>f</m:t>
                    </m:r>
                  </m:oMath>
                </a14:m>
                <a:r>
                  <a:rPr sz="1800">
                    <a:solidFill>
                      <a:srgbClr val="1E293B"/>
                    </a:solidFill>
                    <a:latin typeface="Calibri"/>
                  </a:rPr>
                  <a:t> tăng và </a:t>
                </a:r>
                <a14:m>
                  <m:oMath xmlns:m="http://schemas.openxmlformats.org/officeDocument/2006/math">
                    <m:r>
                      <a:rPr lang="vi-VN" sz="1800" b="0">
                        <a:solidFill>
                          <a:srgbClr val="1E293B"/>
                        </a:solidFill>
                        <a:latin typeface="Cambria Math" panose="02040503050406030204" pitchFamily="18" charset="0"/>
                      </a:rPr>
                      <m:t>f(t)&lt;</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với mọi </a:t>
                </a:r>
                <a14:m>
                  <m:oMath xmlns:m="http://schemas.openxmlformats.org/officeDocument/2006/math">
                    <m:r>
                      <a:rPr lang="vi-VN" sz="1800" b="0">
                        <a:solidFill>
                          <a:srgbClr val="1E293B"/>
                        </a:solidFill>
                        <a:latin typeface="Cambria Math" panose="02040503050406030204" pitchFamily="18" charset="0"/>
                      </a:rPr>
                      <m:t>t≥0</m:t>
                    </m:r>
                  </m:oMath>
                </a14:m>
                <a:r>
                  <a:rPr sz="1800">
                    <a:solidFill>
                      <a:srgbClr val="1E293B"/>
                    </a:solidFill>
                    <a:latin typeface="Calibri"/>
                  </a:rPr>
                  <a:t>: nồng độ tăng nhưng không vượt 0,5 g/l.</a:t>
                </a:r>
              </a:p>
            </p:txBody>
          </p:sp>
        </mc:Choice>
        <mc:Fallback>
          <p:sp>
            <p:nvSpPr>
              <p:cNvPr id="13" name="TextBox 12"/>
              <p:cNvSpPr txBox="1"/>
              <p:nvPr/>
            </p:nvSpPr>
            <p:spPr>
              <a:xfrm>
                <a:off x="713232" y="5335523"/>
                <a:ext cx="7717536" cy="864108"/>
              </a:xfrm>
              <a:prstGeom prst="rect">
                <a:avLst/>
              </a:prstGeom>
              <a:noFill/>
            </p:spPr>
            <p:txBody>
              <a:bodyPr wrap="square" anchor="ctr" lIns="45720" rIns="45720">
                <a:spAutoFit/>
              </a:bodyPr>
              <a:lstStyle/>
              <a:p>
                <a:pPr algn="l">
                  <a:spcAft>
                    <a:spcPts val="800"/>
                  </a:spcAft>
                </a:pPr>
                <a:r>
                  <a:rPr sz="1800">
                    <a:solidFill>
                      <a:srgbClr val="1E293B"/>
                    </a:solidFill>
                    <a:latin typeface="Calibri"/>
                  </a:rPr>
                  <a:t>c) </a:t>
                </a:r>
                <a:r>
                  <a:rPr lang="vi-VN"/>
                  <a:t>f</a:t>
                </a:r>
                <a:r>
                  <a:rPr sz="1800">
                    <a:solidFill>
                      <a:srgbClr val="1E293B"/>
                    </a:solidFill>
                    <a:latin typeface="Calibri"/>
                  </a:rPr>
                  <a:t> tăng và </a:t>
                </a:r>
                <a:r>
                  <a:rPr lang="vi-VN"/>
                  <a:t>f(t)&lt;\frac{1}{2}</a:t>
                </a:r>
                <a:r>
                  <a:rPr sz="1800">
                    <a:solidFill>
                      <a:srgbClr val="1E293B"/>
                    </a:solidFill>
                    <a:latin typeface="Calibri"/>
                  </a:rPr>
                  <a:t> với mọi </a:t>
                </a:r>
                <a:r>
                  <a:rPr lang="vi-VN"/>
                  <a:t>t\ge 0</a:t>
                </a:r>
                <a:r>
                  <a:rPr sz="1800">
                    <a:solidFill>
                      <a:srgbClr val="1E293B"/>
                    </a:solidFill>
                    <a:latin typeface="Calibri"/>
                  </a:rPr>
                  <a:t>: nồng độ tăng nhưng không vượt 0,5 g/l.</a:t>
                </a:r>
              </a:p>
            </p:txBody>
          </p:sp>
        </mc:Fallback>
      </mc:AlternateContent>
      <p:pic>
        <p:nvPicPr>
          <p:cNvPr id="14" name="Picture 13" descr="b4_khutrung.png"/>
          <p:cNvPicPr>
            <a:picLocks noChangeAspect="1"/>
          </p:cNvPicPr>
          <p:nvPr/>
        </p:nvPicPr>
        <p:blipFill>
          <a:blip r:embed="rId3"/>
          <a:stretch>
            <a:fillRect/>
          </a:stretch>
        </p:blipFill>
        <p:spPr>
          <a:xfrm>
            <a:off x="8869680" y="1593368"/>
            <a:ext cx="2743200" cy="19339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26</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Đ/S trong 20 giây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8229600" cy="659891"/>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Đồ thị hàm số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2x−1</m:t>
                        </m:r>
                      </m:num>
                      <m:den>
                        <m:r>
                          <a:rPr lang="vi-VN" sz="2200" b="0">
                            <a:solidFill>
                              <a:srgbClr val="1E293B"/>
                            </a:solidFill>
                            <a:latin typeface="Cambria Math" panose="02040503050406030204" pitchFamily="18" charset="0"/>
                          </a:rPr>
                          <m:t>x+1</m:t>
                        </m:r>
                      </m:den>
                    </m:f>
                  </m:oMath>
                </a14:m>
                <a:r>
                  <a:rPr sz="2200">
                    <a:solidFill>
                      <a:srgbClr val="1E293B"/>
                    </a:solidFill>
                    <a:latin typeface="Calibri"/>
                  </a:rPr>
                  <a:t>:</a:t>
                </a:r>
              </a:p>
            </p:txBody>
          </p:sp>
        </mc:Choice>
        <mc:Fallback>
          <p:sp>
            <p:nvSpPr>
              <p:cNvPr id="8" name="TextBox 7"/>
              <p:cNvSpPr txBox="1"/>
              <p:nvPr/>
            </p:nvSpPr>
            <p:spPr>
              <a:xfrm>
                <a:off x="548640" y="1828800"/>
                <a:ext cx="8229600" cy="659891"/>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Đồ thị hàm số </a:t>
                </a:r>
                <a:r>
                  <a:rPr lang="vi-VN"/>
                  <a:t>y=\frac{2x-1}{x+1}</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625851"/>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Có tiệm cận đứng </a:t>
                </a:r>
                <a14:m>
                  <m:oMath xmlns:m="http://schemas.openxmlformats.org/officeDocument/2006/math">
                    <m:r>
                      <a:rPr lang="vi-VN" sz="2100" b="0">
                        <a:solidFill>
                          <a:srgbClr val="1E293B"/>
                        </a:solidFill>
                        <a:latin typeface="Cambria Math" panose="02040503050406030204" pitchFamily="18" charset="0"/>
                      </a:rPr>
                      <m:t>x=−1</m:t>
                    </m:r>
                  </m:oMath>
                </a14:m>
                <a:r>
                  <a:rPr sz="2100">
                    <a:solidFill>
                      <a:srgbClr val="1E293B"/>
                    </a:solidFill>
                    <a:latin typeface="Calibri"/>
                  </a:rPr>
                  <a:t>.</a:t>
                </a:r>
              </a:p>
            </p:txBody>
          </p:sp>
        </mc:Choice>
        <mc:Fallback>
          <p:sp>
            <p:nvSpPr>
              <p:cNvPr id="9" name="TextBox 8"/>
              <p:cNvSpPr txBox="1"/>
              <p:nvPr/>
            </p:nvSpPr>
            <p:spPr>
              <a:xfrm>
                <a:off x="548640" y="2625851"/>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Có tiệm cận đứng </a:t>
                </a:r>
                <a:r>
                  <a:rPr lang="vi-VN"/>
                  <a:t>x=-1</a:t>
                </a:r>
                <a:r>
                  <a:rPr sz="2100">
                    <a:solidFill>
                      <a:srgbClr val="1E293B"/>
                    </a:solidFill>
                    <a:latin typeface="Calibri"/>
                  </a:rPr>
                  <a:t>.</a:t>
                </a:r>
              </a:p>
            </p:txBody>
          </p:sp>
        </mc:Fallback>
      </mc:AlternateContent>
      <p:sp>
        <p:nvSpPr>
          <p:cNvPr id="10" name="s1_nen"/>
          <p:cNvSpPr/>
          <p:nvPr/>
        </p:nvSpPr>
        <p:spPr>
          <a:xfrm>
            <a:off x="8961120" y="2625851"/>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8961120" y="2680715"/>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2" name="TextBox 11"/>
              <p:cNvSpPr txBox="1"/>
              <p:nvPr/>
            </p:nvSpPr>
            <p:spPr>
              <a:xfrm>
                <a:off x="548640" y="3512438"/>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Có tiệm cận ngang </a:t>
                </a:r>
                <a14:m>
                  <m:oMath xmlns:m="http://schemas.openxmlformats.org/officeDocument/2006/math">
                    <m:r>
                      <a:rPr lang="vi-VN" sz="2100" b="0">
                        <a:solidFill>
                          <a:srgbClr val="1E293B"/>
                        </a:solidFill>
                        <a:latin typeface="Cambria Math" panose="02040503050406030204" pitchFamily="18" charset="0"/>
                      </a:rPr>
                      <m:t>y=−1</m:t>
                    </m:r>
                  </m:oMath>
                </a14:m>
                <a:r>
                  <a:rPr sz="2100">
                    <a:solidFill>
                      <a:srgbClr val="1E293B"/>
                    </a:solidFill>
                    <a:latin typeface="Calibri"/>
                  </a:rPr>
                  <a:t>.</a:t>
                </a:r>
              </a:p>
            </p:txBody>
          </p:sp>
        </mc:Choice>
        <mc:Fallback>
          <p:sp>
            <p:nvSpPr>
              <p:cNvPr id="12" name="TextBox 11"/>
              <p:cNvSpPr txBox="1"/>
              <p:nvPr/>
            </p:nvSpPr>
            <p:spPr>
              <a:xfrm>
                <a:off x="548640" y="3512438"/>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Có tiệm cận ngang </a:t>
                </a:r>
                <a:r>
                  <a:rPr lang="vi-VN"/>
                  <a:t>y=-1</a:t>
                </a:r>
                <a:r>
                  <a:rPr sz="2100">
                    <a:solidFill>
                      <a:srgbClr val="1E293B"/>
                    </a:solidFill>
                    <a:latin typeface="Calibri"/>
                  </a:rPr>
                  <a:t>.</a:t>
                </a:r>
              </a:p>
            </p:txBody>
          </p:sp>
        </mc:Fallback>
      </mc:AlternateContent>
      <p:sp>
        <p:nvSpPr>
          <p:cNvPr id="13" name="s2_nen"/>
          <p:cNvSpPr/>
          <p:nvPr/>
        </p:nvSpPr>
        <p:spPr>
          <a:xfrm>
            <a:off x="8961120" y="3512438"/>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8961120" y="3567302"/>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(y = 2)</a:t>
            </a:r>
          </a:p>
        </p:txBody>
      </p:sp>
      <mc:AlternateContent xmlns:mc="http://schemas.openxmlformats.org/markup-compatibility/2006">
        <mc:Choice xmlns:a14="http://schemas.microsoft.com/office/drawing/2010/main" Requires="a14">
          <p:sp>
            <p:nvSpPr>
              <p:cNvPr id="15" name="TextBox 14"/>
              <p:cNvSpPr txBox="1"/>
              <p:nvPr/>
            </p:nvSpPr>
            <p:spPr>
              <a:xfrm>
                <a:off x="548640" y="4399026"/>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Có tâm đối xứng </a:t>
                </a:r>
                <a14:m>
                  <m:oMath xmlns:m="http://schemas.openxmlformats.org/officeDocument/2006/math">
                    <m:r>
                      <a:rPr lang="vi-VN" sz="2100" b="0">
                        <a:solidFill>
                          <a:srgbClr val="1E293B"/>
                        </a:solidFill>
                        <a:latin typeface="Cambria Math" panose="02040503050406030204" pitchFamily="18" charset="0"/>
                      </a:rPr>
                      <m:t>I(−1;</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oMath>
                </a14:m>
                <a:r>
                  <a:rPr sz="2100">
                    <a:solidFill>
                      <a:srgbClr val="1E293B"/>
                    </a:solidFill>
                    <a:latin typeface="Calibri"/>
                  </a:rPr>
                  <a:t>.</a:t>
                </a:r>
              </a:p>
            </p:txBody>
          </p:sp>
        </mc:Choice>
        <mc:Fallback>
          <p:sp>
            <p:nvSpPr>
              <p:cNvPr id="15" name="TextBox 14"/>
              <p:cNvSpPr txBox="1"/>
              <p:nvPr/>
            </p:nvSpPr>
            <p:spPr>
              <a:xfrm>
                <a:off x="548640" y="4399026"/>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Có tâm đối xứng </a:t>
                </a:r>
                <a:r>
                  <a:rPr lang="vi-VN"/>
                  <a:t>I(-1;\ 2)</a:t>
                </a:r>
                <a:r>
                  <a:rPr sz="2100">
                    <a:solidFill>
                      <a:srgbClr val="1E293B"/>
                    </a:solidFill>
                    <a:latin typeface="Calibri"/>
                  </a:rPr>
                  <a:t>.</a:t>
                </a:r>
              </a:p>
            </p:txBody>
          </p:sp>
        </mc:Fallback>
      </mc:AlternateContent>
      <p:sp>
        <p:nvSpPr>
          <p:cNvPr id="16" name="s3_nen"/>
          <p:cNvSpPr/>
          <p:nvPr/>
        </p:nvSpPr>
        <p:spPr>
          <a:xfrm>
            <a:off x="8961120" y="4399026"/>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8961120" y="4453889"/>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p:sp>
        <p:nvSpPr>
          <p:cNvPr id="18" name="TextBox 17"/>
          <p:cNvSpPr txBox="1"/>
          <p:nvPr/>
        </p:nvSpPr>
        <p:spPr>
          <a:xfrm>
            <a:off x="548640" y="5285613"/>
            <a:ext cx="8229600" cy="840867"/>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Hàm số nghịch biến trên từng khoảng xác định.</a:t>
            </a:r>
          </a:p>
        </p:txBody>
      </p:sp>
      <p:sp>
        <p:nvSpPr>
          <p:cNvPr id="19" name="s4_nen"/>
          <p:cNvSpPr/>
          <p:nvPr/>
        </p:nvSpPr>
        <p:spPr>
          <a:xfrm>
            <a:off x="8961120" y="5285613"/>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8961120" y="5340476"/>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(y' = 3/(x+1)² &gt; 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ĐỒ THỊ HÀM SỐ PHÂN THỨC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27</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a,</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b,</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c,</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d</m:t>
                    </m:r>
                  </m:oMath>
                </a14:m>
                <a:r>
                  <a:rPr sz="2200">
                    <a:solidFill>
                      <a:srgbClr val="1E293B"/>
                    </a:solidFill>
                    <a:latin typeface="Calibri"/>
                  </a:rPr>
                  <a:t> của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ax+b</m:t>
                        </m:r>
                      </m:num>
                      <m:den>
                        <m:r>
                          <a:rPr lang="vi-VN" sz="2200" b="0">
                            <a:solidFill>
                              <a:srgbClr val="1E293B"/>
                            </a:solidFill>
                            <a:latin typeface="Cambria Math" panose="02040503050406030204" pitchFamily="18" charset="0"/>
                          </a:rPr>
                          <m:t>cx+d</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Hai tiệm cận (xanh) cắt nhau tại tâm đối xứng </a:t>
                </a:r>
                <a14:m>
                  <m:oMath xmlns:m="http://schemas.openxmlformats.org/officeDocument/2006/math">
                    <m:r>
                      <a:rPr lang="vi-VN" sz="2200" b="0">
                        <a:solidFill>
                          <a:srgbClr val="1E293B"/>
                        </a:solidFill>
                        <a:latin typeface="Cambria Math" panose="02040503050406030204" pitchFamily="18" charset="0"/>
                      </a:rPr>
                      <m:t>I</m:t>
                    </m:r>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d</m:t>
                            </m:r>
                          </m:num>
                          <m:den>
                            <m:r>
                              <a:rPr lang="vi-VN" sz="2200" b="0">
                                <a:solidFill>
                                  <a:srgbClr val="1E293B"/>
                                </a:solidFill>
                                <a:latin typeface="Cambria Math" panose="02040503050406030204" pitchFamily="18" charset="0"/>
                              </a:rPr>
                              <m:t>c</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c</m:t>
                            </m:r>
                          </m:den>
                        </m:f>
                      </m:e>
                    </m:d>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a:t>
                </a:r>
                <a14:m>
                  <m:oMath xmlns:m="http://schemas.openxmlformats.org/officeDocument/2006/math">
                    <m:r>
                      <a:rPr lang="vi-VN" sz="2200" b="0">
                        <a:solidFill>
                          <a:srgbClr val="1E293B"/>
                        </a:solidFill>
                        <a:latin typeface="Cambria Math" panose="02040503050406030204" pitchFamily="18" charset="0"/>
                      </a:rPr>
                      <m:t>ad−bc=0</m:t>
                    </m:r>
                  </m:oMath>
                </a14:m>
                <a:r>
                  <a:rPr sz="2200">
                    <a:solidFill>
                      <a:srgbClr val="1E293B"/>
                    </a:solidFill>
                    <a:latin typeface="Calibri"/>
                  </a:rPr>
                  <a:t>, đồ thị suy biến thành đường thẳng.</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a,\ b,\ c,\ d</a:t>
                </a:r>
                <a:r>
                  <a:rPr sz="2200">
                    <a:solidFill>
                      <a:srgbClr val="1E293B"/>
                    </a:solidFill>
                    <a:latin typeface="Calibri"/>
                  </a:rPr>
                  <a:t> của </a:t>
                </a:r>
                <a:r>
                  <a:rPr lang="vi-VN"/>
                  <a:t>y=\frac{ax+b}{cx+d}</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Hai tiệm cận (xanh) cắt nhau tại tâm đối xứng </a:t>
                </a:r>
                <a:r>
                  <a:rPr lang="vi-VN"/>
                  <a:t>I\left(-\frac{d}{c};\ \frac{a}{c}\right)</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a:t>
                </a:r>
                <a:r>
                  <a:rPr lang="vi-VN"/>
                  <a:t>ad-bc=0</a:t>
                </a:r>
                <a:r>
                  <a:rPr sz="2200">
                    <a:solidFill>
                      <a:srgbClr val="1E293B"/>
                    </a:solidFill>
                    <a:latin typeface="Calibri"/>
                  </a:rPr>
                  <a:t>, đồ thị suy biến thành đường thẳng.</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4_vd3.png"/>
          <p:cNvPicPr>
            <a:picLocks noChangeAspect="1"/>
          </p:cNvPicPr>
          <p:nvPr/>
        </p:nvPicPr>
        <p:blipFill>
          <a:blip r:embed="rId5"/>
          <a:stretch>
            <a:fillRect/>
          </a:stretch>
        </p:blipFill>
        <p:spPr>
          <a:xfrm>
            <a:off x="7026588" y="1463040"/>
            <a:ext cx="4509144" cy="44805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28</a:t>
            </a:r>
          </a:p>
        </p:txBody>
      </p:sp>
      <p:sp>
        <p:nvSpPr>
          <p:cNvPr id="7" name="Rounded Rectangle 6"/>
          <p:cNvSpPr/>
          <p:nvPr/>
        </p:nvSpPr>
        <p:spPr>
          <a:xfrm>
            <a:off x="548640" y="1463040"/>
            <a:ext cx="11064240" cy="182422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751075"/>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ax+b</m:t>
                        </m:r>
                      </m:num>
                      <m:den>
                        <m:r>
                          <a:rPr lang="vi-VN" sz="2200" b="0">
                            <a:solidFill>
                              <a:srgbClr val="1E293B"/>
                            </a:solidFill>
                            <a:latin typeface="Cambria Math" panose="02040503050406030204" pitchFamily="18" charset="0"/>
                          </a:rPr>
                          <m:t>cx+d</m:t>
                        </m:r>
                      </m:den>
                    </m:f>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không đổi dấu – không có cực trị; tiệm cận đứng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d</m:t>
                        </m:r>
                      </m:num>
                      <m:den>
                        <m:r>
                          <a:rPr lang="vi-VN" sz="2200" b="0">
                            <a:solidFill>
                              <a:srgbClr val="1E293B"/>
                            </a:solidFill>
                            <a:latin typeface="Cambria Math" panose="02040503050406030204" pitchFamily="18" charset="0"/>
                          </a:rPr>
                          <m:t>c</m:t>
                        </m:r>
                      </m:den>
                    </m:f>
                  </m:oMath>
                </a14:m>
                <a:r>
                  <a:rPr sz="2200">
                    <a:solidFill>
                      <a:srgbClr val="1E293B"/>
                    </a:solidFill>
                    <a:latin typeface="Calibri"/>
                  </a:rPr>
                  <a:t>, tiệm cận ngang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c</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Tâm đối xứng là giao điểm hai tiệm cận.</a:t>
                </a:r>
              </a:p>
            </p:txBody>
          </p:sp>
        </mc:Choice>
        <mc:Fallback>
          <p:sp>
            <p:nvSpPr>
              <p:cNvPr id="8" name="TextBox 7"/>
              <p:cNvSpPr txBox="1"/>
              <p:nvPr/>
            </p:nvSpPr>
            <p:spPr>
              <a:xfrm>
                <a:off x="713232" y="1499616"/>
                <a:ext cx="10735056" cy="1751075"/>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y=\frac{ax+b}{cx+d}</a:t>
                </a:r>
                <a:r>
                  <a:rPr sz="2200">
                    <a:solidFill>
                      <a:srgbClr val="1E293B"/>
                    </a:solidFill>
                    <a:latin typeface="Calibri"/>
                  </a:rPr>
                  <a:t>: </a:t>
                </a:r>
                <a:r>
                  <a:rPr lang="vi-VN"/>
                  <a:t>y'</a:t>
                </a:r>
                <a:r>
                  <a:rPr sz="2200">
                    <a:solidFill>
                      <a:srgbClr val="1E293B"/>
                    </a:solidFill>
                    <a:latin typeface="Calibri"/>
                  </a:rPr>
                  <a:t> không đổi dấu – không có cực trị; tiệm cận đứng </a:t>
                </a:r>
                <a:r>
                  <a:rPr lang="vi-VN"/>
                  <a:t>x=-\frac{d}{c}</a:t>
                </a:r>
                <a:r>
                  <a:rPr sz="2200">
                    <a:solidFill>
                      <a:srgbClr val="1E293B"/>
                    </a:solidFill>
                    <a:latin typeface="Calibri"/>
                  </a:rPr>
                  <a:t>, tiệm cận ngang </a:t>
                </a:r>
                <a:r>
                  <a:rPr lang="vi-VN"/>
                  <a:t>y=\frac{a}{c}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Tâm đối xứng là giao điểm hai tiệm cận.</a:t>
                </a:r>
              </a:p>
            </p:txBody>
          </p:sp>
        </mc:Fallback>
      </mc:AlternateContent>
      <p:sp>
        <p:nvSpPr>
          <p:cNvPr id="9" name="Rounded Rectangle 8"/>
          <p:cNvSpPr/>
          <p:nvPr/>
        </p:nvSpPr>
        <p:spPr>
          <a:xfrm>
            <a:off x="548640" y="3515868"/>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52444"/>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1.22, 1.24 (SGK tr.32).</a:t>
            </a:r>
          </a:p>
          <a:p>
            <a:pPr algn="l" marL="365760" indent="-365760">
              <a:spcAft>
                <a:spcPts val="800"/>
              </a:spcAft>
              <a:buClr>
                <a:srgbClr val="1E40AF"/>
              </a:buClr>
              <a:buFont typeface="Arial"/>
              <a:buChar char="•"/>
            </a:pPr>
            <a:r>
              <a:rPr sz="2200">
                <a:solidFill>
                  <a:srgbClr val="1E293B"/>
                </a:solidFill>
                <a:latin typeface="Calibri"/>
              </a:rPr>
              <a:t>Đọc trước mục 3b, Ví dụ 4, 5 (SGK tr.30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4 (T17)</a:t>
            </a:r>
          </a:p>
          <a:p>
            <a:pPr>
              <a:spcAft>
                <a:spcPts val="600"/>
              </a:spcAft>
            </a:pPr>
            <a:r>
              <a:rPr sz="4000" b="1">
                <a:solidFill>
                  <a:srgbClr val="FFFFFF"/>
                </a:solidFill>
                <a:latin typeface="Cambria"/>
              </a:rPr>
              <a:t>Khảo sát hàm số phân thức bậc hai trên bậc nhất</a:t>
            </a:r>
          </a:p>
        </p:txBody>
      </p:sp>
      <mc:AlternateContent xmlns:mc="http://schemas.openxmlformats.org/markup-compatibility/2006">
        <mc:Choice xmlns:a14="http://schemas.microsoft.com/office/drawing/2010/main" Requires="a14">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Khảo sát, vẽ đồ thị hàm số </a:t>
                </a: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+bx+c</m:t>
                        </m:r>
                      </m:num>
                      <m:den>
                        <m:r>
                          <a:rPr lang="vi-VN" sz="2200" b="0">
                            <a:solidFill>
                              <a:srgbClr val="1E293B"/>
                            </a:solidFill>
                            <a:latin typeface="Cambria Math" panose="02040503050406030204" pitchFamily="18" charset="0"/>
                          </a:rPr>
                          <m:t>px+q</m:t>
                        </m:r>
                      </m:den>
                    </m:f>
                  </m:oMath>
                </a14:m>
                <a:r>
                  <a:rPr sz="2200">
                    <a:solidFill>
                      <a:srgbClr val="E0E7FF"/>
                    </a:solidFill>
                    <a:latin typeface="Calibri"/>
                  </a:rPr>
                  <a:t>.</a:t>
                </a:r>
              </a:p>
              <a:p>
                <a:pPr algn="l">
                  <a:spcAft>
                    <a:spcPts val="800"/>
                  </a:spcAft>
                </a:pPr>
                <a:r>
                  <a:rPr sz="2200">
                    <a:solidFill>
                      <a:srgbClr val="E0E7FF"/>
                    </a:solidFill>
                    <a:latin typeface="Calibri"/>
                  </a:rPr>
                  <a:t>• Nhận biết tâm đối xứng là giao điểm của tiệm cận đứng và tiệm cận xiên.</a:t>
                </a:r>
              </a:p>
            </p:txBody>
          </p:sp>
        </mc:Choice>
        <mc:Fallback>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Mục tiêu tiết học:</a:t>
                </a:r>
              </a:p>
              <a:p>
                <a:pPr algn="l">
                  <a:spcAft>
                    <a:spcPts val="800"/>
                  </a:spcAft>
                </a:pPr>
                <a:r>
                  <a:rPr sz="2200">
                    <a:solidFill>
                      <a:srgbClr val="1E293B"/>
                    </a:solidFill>
                    <a:latin typeface="Calibri"/>
                  </a:rPr>
                  <a:t>• Khảo sát, vẽ đồ thị hàm số </a:t>
                </a:r>
                <a:r>
                  <a:rPr lang="vi-VN"/>
                  <a:t>y=\frac{ax^2+bx+c}{px+q}</a:t>
                </a:r>
                <a:r>
                  <a:rPr sz="2200">
                    <a:solidFill>
                      <a:srgbClr val="1E293B"/>
                    </a:solidFill>
                    <a:latin typeface="Calibri"/>
                  </a:rPr>
                  <a:t>.</a:t>
                </a:r>
              </a:p>
              <a:p>
                <a:pPr algn="l">
                  <a:spcAft>
                    <a:spcPts val="800"/>
                  </a:spcAft>
                </a:pPr>
                <a:r>
                  <a:rPr sz="2200">
                    <a:solidFill>
                      <a:srgbClr val="1E293B"/>
                    </a:solidFill>
                    <a:latin typeface="Calibri"/>
                  </a:rPr>
                  <a:t>• Nhận biết tâm đối xứng là giao điểm của tiệm cận đứng và tiệm cận xiên.</a:t>
                </a:r>
              </a:p>
            </p:txBody>
          </p:sp>
        </mc:Fallback>
      </mc:AlternateContent>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30</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Viết </a:t>
                </a:r>
                <a14:m>
                  <m:oMath xmlns:m="http://schemas.openxmlformats.org/officeDocument/2006/math">
                    <m:r>
                      <a:rPr lang="vi-VN" sz="2200" b="0">
                        <a:solidFill>
                          <a:srgbClr val="1E293B"/>
                        </a:solidFill>
                        <a:latin typeface="Cambria Math" panose="02040503050406030204" pitchFamily="18" charset="0"/>
                      </a:rPr>
                      <m:t>y=</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−x−1</m:t>
                        </m:r>
                      </m:num>
                      <m:den>
                        <m:r>
                          <a:rPr lang="vi-VN" sz="2200" b="0">
                            <a:solidFill>
                              <a:srgbClr val="1E293B"/>
                            </a:solidFill>
                            <a:latin typeface="Cambria Math" panose="02040503050406030204" pitchFamily="18" charset="0"/>
                          </a:rPr>
                          <m:t>x−2</m:t>
                        </m:r>
                      </m:den>
                    </m:f>
                  </m:oMath>
                </a14:m>
                <a:r>
                  <a:rPr sz="2200">
                    <a:solidFill>
                      <a:srgbClr val="1E293B"/>
                    </a:solidFill>
                    <a:latin typeface="Calibri"/>
                  </a:rPr>
                  <a:t> dưới dạng </a:t>
                </a:r>
                <a14:m>
                  <m:oMath xmlns:m="http://schemas.openxmlformats.org/officeDocument/2006/math">
                    <m:r>
                      <a:rPr lang="vi-VN" sz="2200" b="0">
                        <a:solidFill>
                          <a:srgbClr val="1E293B"/>
                        </a:solidFill>
                        <a:latin typeface="Cambria Math" panose="02040503050406030204" pitchFamily="18" charset="0"/>
                      </a:rPr>
                      <m:t>y=ax+b+</m:t>
                    </m:r>
                    <m:f>
                      <m:fPr>
                        <m:type m:val="bar"/>
                      </m:fPr>
                      <m:num>
                        <m:r>
                          <a:rPr lang="vi-VN" sz="2200" b="0">
                            <a:solidFill>
                              <a:srgbClr val="1E293B"/>
                            </a:solidFill>
                            <a:latin typeface="Cambria Math" panose="02040503050406030204" pitchFamily="18" charset="0"/>
                          </a:rPr>
                          <m:t>k</m:t>
                        </m:r>
                      </m:num>
                      <m:den>
                        <m:r>
                          <a:rPr lang="vi-VN" sz="2200" b="0">
                            <a:solidFill>
                              <a:srgbClr val="1E293B"/>
                            </a:solidFill>
                            <a:latin typeface="Cambria Math" panose="02040503050406030204" pitchFamily="18" charset="0"/>
                          </a:rPr>
                          <m:t>x−2</m:t>
                        </m:r>
                      </m:den>
                    </m:f>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Viết </a:t>
                </a:r>
                <a:r>
                  <a:rPr lang="vi-VN"/>
                  <a:t>y=\frac{x^2-x-1}{x-2}</a:t>
                </a:r>
                <a:r>
                  <a:rPr sz="2200">
                    <a:solidFill>
                      <a:srgbClr val="1E293B"/>
                    </a:solidFill>
                    <a:latin typeface="Calibri"/>
                  </a:rPr>
                  <a:t> dưới dạng </a:t>
                </a:r>
                <a:r>
                  <a:rPr lang="vi-VN"/>
                  <a:t>y=ax+b+\frac{k}{x-2}</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m:t>
                    </m:r>
                  </m:oMath>
                </a14:m>
                <a:r>
                  <a:rPr sz="2400">
                    <a:solidFill>
                      <a:srgbClr val="1E293B"/>
                    </a:solidFill>
                    <a:latin typeface="Calibri"/>
                  </a:rPr>
                  <a:t>?</a:t>
                </a:r>
              </a:p>
            </p:txBody>
          </p:sp>
        </mc:Choice>
        <mc:Fallback>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a=</a:t>
                </a:r>
                <a:r>
                  <a:rPr sz="2400">
                    <a:solidFill>
                      <a:srgbClr val="1E293B"/>
                    </a:solidFill>
                    <a:latin typeface="Calibri"/>
                  </a:rPr>
                  <a:t>?</a:t>
                </a:r>
              </a:p>
            </p:txBody>
          </p:sp>
        </mc:Fallback>
      </mc:AlternateContent>
      <p:sp>
        <p:nvSpPr>
          <p:cNvPr id="10" name="s1_nen"/>
          <p:cNvSpPr/>
          <p:nvPr/>
        </p:nvSpPr>
        <p:spPr>
          <a:xfrm>
            <a:off x="4846320" y="2423160"/>
            <a:ext cx="256032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010912" y="245973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1" name="TextBox 10"/>
              <p:cNvSpPr txBox="1"/>
              <p:nvPr/>
            </p:nvSpPr>
            <p:spPr>
              <a:xfrm>
                <a:off x="5010912" y="245973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b=</m:t>
                    </m:r>
                  </m:oMath>
                </a14:m>
                <a:r>
                  <a:rPr sz="2400">
                    <a:solidFill>
                      <a:srgbClr val="1E293B"/>
                    </a:solidFill>
                    <a:latin typeface="Calibri"/>
                  </a:rPr>
                  <a:t>?</a:t>
                </a:r>
              </a:p>
            </p:txBody>
          </p:sp>
        </mc:Choice>
        <mc:Fallback>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b=</a:t>
                </a:r>
                <a:r>
                  <a:rPr sz="2400">
                    <a:solidFill>
                      <a:srgbClr val="1E293B"/>
                    </a:solidFill>
                    <a:latin typeface="Calibri"/>
                  </a:rPr>
                  <a:t>?</a:t>
                </a:r>
              </a:p>
            </p:txBody>
          </p:sp>
        </mc:Fallback>
      </mc:AlternateContent>
      <p:sp>
        <p:nvSpPr>
          <p:cNvPr id="13" name="s2_nen"/>
          <p:cNvSpPr/>
          <p:nvPr/>
        </p:nvSpPr>
        <p:spPr>
          <a:xfrm>
            <a:off x="4846320" y="3371850"/>
            <a:ext cx="256032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010912" y="340842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4" name="TextBox 13"/>
              <p:cNvSpPr txBox="1"/>
              <p:nvPr/>
            </p:nvSpPr>
            <p:spPr>
              <a:xfrm>
                <a:off x="5010912" y="340842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k=</m:t>
                    </m:r>
                  </m:oMath>
                </a14:m>
                <a:r>
                  <a:rPr sz="2400">
                    <a:solidFill>
                      <a:srgbClr val="1E293B"/>
                    </a:solidFill>
                    <a:latin typeface="Calibri"/>
                  </a:rPr>
                  <a:t>?</a:t>
                </a:r>
              </a:p>
            </p:txBody>
          </p:sp>
        </mc:Choice>
        <mc:Fallback>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k=</a:t>
                </a:r>
                <a:r>
                  <a:rPr sz="2400">
                    <a:solidFill>
                      <a:srgbClr val="1E293B"/>
                    </a:solidFill>
                    <a:latin typeface="Calibri"/>
                  </a:rPr>
                  <a:t>?</a:t>
                </a:r>
              </a:p>
            </p:txBody>
          </p:sp>
        </mc:Fallback>
      </mc:AlternateContent>
      <p:sp>
        <p:nvSpPr>
          <p:cNvPr id="16" name="s3_nen"/>
          <p:cNvSpPr/>
          <p:nvPr/>
        </p:nvSpPr>
        <p:spPr>
          <a:xfrm>
            <a:off x="4846320" y="4320540"/>
            <a:ext cx="256032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010912" y="435711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oMath>
                </a14:m>
              </a:p>
            </p:txBody>
          </p:sp>
        </mc:Choice>
        <mc:Fallback>
          <p:sp>
            <p:nvSpPr>
              <p:cNvPr id="17" name="TextBox 16"/>
              <p:cNvSpPr txBox="1"/>
              <p:nvPr/>
            </p:nvSpPr>
            <p:spPr>
              <a:xfrm>
                <a:off x="5010912" y="435711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a:t>
                </a:r>
              </a:p>
            </p:txBody>
          </p:sp>
        </mc:Fallback>
      </mc:AlternateContent>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Tiệm cận xiên?</a:t>
            </a:r>
          </a:p>
        </p:txBody>
      </p:sp>
      <p:sp>
        <p:nvSpPr>
          <p:cNvPr id="19" name="s4_nen"/>
          <p:cNvSpPr/>
          <p:nvPr/>
        </p:nvSpPr>
        <p:spPr>
          <a:xfrm>
            <a:off x="4846320" y="5269230"/>
            <a:ext cx="256032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010912" y="530580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y=x+1</m:t>
                    </m:r>
                  </m:oMath>
                </a14:m>
              </a:p>
            </p:txBody>
          </p:sp>
        </mc:Choice>
        <mc:Fallback>
          <p:sp>
            <p:nvSpPr>
              <p:cNvPr id="20" name="TextBox 19"/>
              <p:cNvSpPr txBox="1"/>
              <p:nvPr/>
            </p:nvSpPr>
            <p:spPr>
              <a:xfrm>
                <a:off x="5010912" y="5305806"/>
                <a:ext cx="223113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y=x+1</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TR.30 – 31)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4.</a:t>
                </a:r>
                <a:r>
                  <a:rPr sz="1900">
                    <a:solidFill>
                      <a:srgbClr val="1E293B"/>
                    </a:solidFill>
                    <a:latin typeface="Calibri"/>
                  </a:rPr>
                  <a:t> Khảo sát và vẽ đồ thị của hàm số </a:t>
                </a:r>
                <a14:m>
                  <m:oMath xmlns:m="http://schemas.openxmlformats.org/officeDocument/2006/math">
                    <m:r>
                      <a:rPr lang="vi-VN" sz="1900" b="0">
                        <a:solidFill>
                          <a:srgbClr val="1E293B"/>
                        </a:solidFill>
                        <a:latin typeface="Cambria Math" panose="02040503050406030204" pitchFamily="18" charset="0"/>
                      </a:rPr>
                      <m:t>y=</m:t>
                    </m:r>
                    <m:f>
                      <m:fPr>
                        <m:type m:val="bar"/>
                      </m:fPr>
                      <m:num>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−x−1</m:t>
                        </m:r>
                      </m:num>
                      <m:den>
                        <m:r>
                          <a:rPr lang="vi-VN" sz="1900" b="0">
                            <a:solidFill>
                              <a:srgbClr val="1E293B"/>
                            </a:solidFill>
                            <a:latin typeface="Cambria Math" panose="02040503050406030204" pitchFamily="18" charset="0"/>
                          </a:rPr>
                          <m:t>x−2</m:t>
                        </m:r>
                      </m:den>
                    </m:f>
                  </m:oMath>
                </a14:m>
                <a:r>
                  <a:rPr sz="1900">
                    <a:solidFill>
                      <a:srgbClr val="1E293B"/>
                    </a:solidFill>
                    <a:latin typeface="Calibri"/>
                  </a:rPr>
                  <a:t>.</a:t>
                </a:r>
              </a:p>
            </p:txBody>
          </p:sp>
        </mc:Choice>
        <mc:Fallback>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4.</a:t>
                </a:r>
                <a:r>
                  <a:rPr sz="1900">
                    <a:solidFill>
                      <a:srgbClr val="1E293B"/>
                    </a:solidFill>
                    <a:latin typeface="Calibri"/>
                  </a:rPr>
                  <a:t> Khảo sát và vẽ đồ thị của hàm số </a:t>
                </a:r>
                <a:r>
                  <a:rPr lang="vi-VN"/>
                  <a:t>y=\frac{x^2-x-1}{x-2}</a:t>
                </a:r>
                <a:r>
                  <a:rPr sz="1900">
                    <a:solidFill>
                      <a:srgbClr val="1E293B"/>
                    </a:solidFill>
                    <a:latin typeface="Calibri"/>
                  </a:rPr>
                  <a:t>.</a:t>
                </a:r>
              </a:p>
            </p:txBody>
          </p:sp>
        </mc:Fallback>
      </mc:AlternateContent>
      <p:sp>
        <p:nvSpPr>
          <p:cNvPr id="8" name="s1_nen"/>
          <p:cNvSpPr/>
          <p:nvPr/>
        </p:nvSpPr>
        <p:spPr>
          <a:xfrm>
            <a:off x="548640" y="2020061"/>
            <a:ext cx="11064240" cy="8153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56637"/>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14:m>
                  <m:oMath xmlns:m="http://schemas.openxmlformats.org/officeDocument/2006/math">
                    <m:r>
                      <a:rPr lang="vi-VN" sz="1900" b="0">
                        <a:solidFill>
                          <a:srgbClr val="1E293B"/>
                        </a:solidFill>
                        <a:latin typeface="Cambria Math" panose="02040503050406030204" pitchFamily="18" charset="0"/>
                      </a:rPr>
                      <m:t>ℝ⧵{2}</m:t>
                    </m:r>
                  </m:oMath>
                </a14:m>
                <a:r>
                  <a:rPr sz="1900">
                    <a:solidFill>
                      <a:srgbClr val="1E293B"/>
                    </a:solidFill>
                    <a:latin typeface="Calibri"/>
                  </a:rPr>
                  <a:t>. 2. Viết </a:t>
                </a:r>
                <a14:m>
                  <m:oMath xmlns:m="http://schemas.openxmlformats.org/officeDocument/2006/math">
                    <m:r>
                      <a:rPr lang="vi-VN" sz="1900" b="0">
                        <a:solidFill>
                          <a:srgbClr val="1E293B"/>
                        </a:solidFill>
                        <a:latin typeface="Cambria Math" panose="02040503050406030204" pitchFamily="18" charset="0"/>
                      </a:rPr>
                      <m:t>y=x+1+</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x−2</m:t>
                        </m:r>
                      </m:den>
                    </m:f>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m:t>
                    </m:r>
                    <m:f>
                      <m:fPr>
                        <m:type m:val="bar"/>
                      </m:fPr>
                      <m:num>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−4x+3</m:t>
                        </m:r>
                      </m:num>
                      <m:den>
                        <m:sSup>
                          <m:e>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m:t>
                                </m:r>
                              </m:e>
                            </m:d>
                          </m:e>
                          <m:sup>
                            <m:r>
                              <a:rPr lang="vi-VN" sz="1900" b="0">
                                <a:solidFill>
                                  <a:srgbClr val="1E293B"/>
                                </a:solidFill>
                                <a:latin typeface="Cambria Math" panose="02040503050406030204" pitchFamily="18" charset="0"/>
                              </a:rPr>
                              <m:t>2</m:t>
                            </m:r>
                          </m:sup>
                        </m:sSup>
                      </m:den>
                    </m:f>
                    <m:r>
                      <a:rPr lang="vi-VN" sz="1900" b="0">
                        <a:solidFill>
                          <a:srgbClr val="1E293B"/>
                        </a:solidFill>
                        <a:latin typeface="Cambria Math" panose="02040503050406030204" pitchFamily="18" charset="0"/>
                      </a:rPr>
                      <m:t>=0⇔x=1</m:t>
                    </m:r>
                  </m:oMath>
                </a14:m>
                <a:r>
                  <a:rPr sz="1900">
                    <a:solidFill>
                      <a:srgbClr val="1E293B"/>
                    </a:solidFill>
                    <a:latin typeface="Calibri"/>
                  </a:rPr>
                  <a:t> hoặc </a:t>
                </a:r>
                <a14:m>
                  <m:oMath xmlns:m="http://schemas.openxmlformats.org/officeDocument/2006/math">
                    <m:r>
                      <a:rPr lang="vi-VN" sz="1900" b="0">
                        <a:solidFill>
                          <a:srgbClr val="1E293B"/>
                        </a:solidFill>
                        <a:latin typeface="Cambria Math" panose="02040503050406030204" pitchFamily="18" charset="0"/>
                      </a:rPr>
                      <m:t>x=3</m:t>
                    </m:r>
                  </m:oMath>
                </a14:m>
                <a:r>
                  <a:rPr sz="1900">
                    <a:solidFill>
                      <a:srgbClr val="1E293B"/>
                    </a:solidFill>
                    <a:latin typeface="Calibri"/>
                  </a:rPr>
                  <a:t>.</a:t>
                </a:r>
              </a:p>
            </p:txBody>
          </p:sp>
        </mc:Choice>
        <mc:Fallback>
          <p:sp>
            <p:nvSpPr>
              <p:cNvPr id="9" name="TextBox 8"/>
              <p:cNvSpPr txBox="1"/>
              <p:nvPr/>
            </p:nvSpPr>
            <p:spPr>
              <a:xfrm>
                <a:off x="713232" y="2056637"/>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r>
                  <a:rPr lang="vi-VN"/>
                  <a:t>\mathbb{R}\setminus\{2\}</a:t>
                </a:r>
                <a:r>
                  <a:rPr sz="1900">
                    <a:solidFill>
                      <a:srgbClr val="1E293B"/>
                    </a:solidFill>
                    <a:latin typeface="Calibri"/>
                  </a:rPr>
                  <a:t>. 2. Viết </a:t>
                </a:r>
                <a:r>
                  <a:rPr lang="vi-VN"/>
                  <a:t>y=x+1+\frac{1}{x-2}</a:t>
                </a:r>
                <a:r>
                  <a:rPr sz="1900">
                    <a:solidFill>
                      <a:srgbClr val="1E293B"/>
                    </a:solidFill>
                    <a:latin typeface="Calibri"/>
                  </a:rPr>
                  <a:t>; </a:t>
                </a:r>
                <a:r>
                  <a:rPr lang="vi-VN"/>
                  <a:t>y'=\frac{x^2-4x+3}{(x-2)^2}=0\Leftrightarrow x=1</a:t>
                </a:r>
                <a:r>
                  <a:rPr sz="1900">
                    <a:solidFill>
                      <a:srgbClr val="1E293B"/>
                    </a:solidFill>
                    <a:latin typeface="Calibri"/>
                  </a:rPr>
                  <a:t> hoặc </a:t>
                </a:r>
                <a:r>
                  <a:rPr lang="vi-VN"/>
                  <a:t>x=3</a:t>
                </a:r>
                <a:r>
                  <a:rPr sz="1900">
                    <a:solidFill>
                      <a:srgbClr val="1E293B"/>
                    </a:solidFill>
                    <a:latin typeface="Calibri"/>
                  </a:rPr>
                  <a:t>.</a:t>
                </a:r>
              </a:p>
            </p:txBody>
          </p:sp>
        </mc:Fallback>
      </mc:AlternateContent>
      <p:sp>
        <p:nvSpPr>
          <p:cNvPr id="10" name="s2_nen"/>
          <p:cNvSpPr/>
          <p:nvPr/>
        </p:nvSpPr>
        <p:spPr>
          <a:xfrm>
            <a:off x="548640" y="2890266"/>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26842"/>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e>
                    </m:d>
                  </m:oMath>
                </a14:m>
                <a:r>
                  <a:rPr sz="1900">
                    <a:solidFill>
                      <a:srgbClr val="1E293B"/>
                    </a:solidFill>
                    <a:latin typeface="Calibri"/>
                  </a:rPr>
                  <a:t> và </a:t>
                </a:r>
                <a14:m>
                  <m:oMath xmlns:m="http://schemas.openxmlformats.org/officeDocument/2006/math">
                    <m:d>
                      <m:dPr>
                        <m:sepChr m:val=""/>
                      </m:dPr>
                      <m:e>
                        <m:r>
                          <a:rPr lang="vi-VN" sz="1900" b="0">
                            <a:solidFill>
                              <a:srgbClr val="1E293B"/>
                            </a:solidFill>
                            <a:latin typeface="Cambria Math" panose="02040503050406030204" pitchFamily="18" charset="0"/>
                          </a:rPr>
                          <m:t>3</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nghịch biến trên </a:t>
                </a:r>
                <a14:m>
                  <m:oMath xmlns:m="http://schemas.openxmlformats.org/officeDocument/2006/math">
                    <m:d>
                      <m:dPr>
                        <m:sepChr m:val=""/>
                      </m:dPr>
                      <m:e>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2</m:t>
                        </m:r>
                      </m:e>
                    </m:d>
                  </m:oMath>
                </a14:m>
                <a:r>
                  <a:rPr sz="1900">
                    <a:solidFill>
                      <a:srgbClr val="1E293B"/>
                    </a:solidFill>
                    <a:latin typeface="Calibri"/>
                  </a:rPr>
                  <a:t> và </a:t>
                </a:r>
                <a14:m>
                  <m:oMath xmlns:m="http://schemas.openxmlformats.org/officeDocument/2006/math">
                    <m:d>
                      <m:dPr>
                        <m:sepChr m:val=""/>
                      </m:dPr>
                      <m:e>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3</m:t>
                        </m:r>
                      </m:e>
                    </m:d>
                  </m:oMath>
                </a14:m>
                <a:r>
                  <a:rPr sz="1900">
                    <a:solidFill>
                      <a:srgbClr val="1E293B"/>
                    </a:solidFill>
                    <a:latin typeface="Calibri"/>
                  </a:rPr>
                  <a:t>. Cực đại tại </a:t>
                </a:r>
                <a14:m>
                  <m:oMath xmlns:m="http://schemas.openxmlformats.org/officeDocument/2006/math">
                    <m:r>
                      <a:rPr lang="vi-VN" sz="1900" b="0">
                        <a:solidFill>
                          <a:srgbClr val="1E293B"/>
                        </a:solidFill>
                        <a:latin typeface="Cambria Math" panose="02040503050406030204" pitchFamily="18" charset="0"/>
                      </a:rPr>
                      <m:t>x=1</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CĐ</m:t>
                        </m:r>
                      </m:sub>
                    </m:sSub>
                    <m:r>
                      <a:rPr lang="vi-VN" sz="1900" b="0">
                        <a:solidFill>
                          <a:srgbClr val="1E293B"/>
                        </a:solidFill>
                        <a:latin typeface="Cambria Math" panose="02040503050406030204" pitchFamily="18" charset="0"/>
                      </a:rPr>
                      <m:t>=1</m:t>
                    </m:r>
                  </m:oMath>
                </a14:m>
                <a:r>
                  <a:rPr sz="1900">
                    <a:solidFill>
                      <a:srgbClr val="1E293B"/>
                    </a:solidFill>
                    <a:latin typeface="Calibri"/>
                  </a:rPr>
                  <a:t>; cực tiểu tại </a:t>
                </a:r>
                <a14:m>
                  <m:oMath xmlns:m="http://schemas.openxmlformats.org/officeDocument/2006/math">
                    <m:r>
                      <a:rPr lang="vi-VN" sz="1900" b="0">
                        <a:solidFill>
                          <a:srgbClr val="1E293B"/>
                        </a:solidFill>
                        <a:latin typeface="Cambria Math" panose="02040503050406030204" pitchFamily="18" charset="0"/>
                      </a:rPr>
                      <m:t>x=3</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y</m:t>
                        </m:r>
                      </m:e>
                      <m:sub>
                        <m:r>
                          <a:rPr lang="vi-VN" sz="1900" b="0">
                            <a:solidFill>
                              <a:srgbClr val="1E293B"/>
                            </a:solidFill>
                            <a:latin typeface="Cambria Math" panose="02040503050406030204" pitchFamily="18" charset="0"/>
                          </a:rPr>
                          <m:t>CT</m:t>
                        </m:r>
                      </m:sub>
                    </m:sSub>
                    <m:r>
                      <a:rPr lang="vi-VN" sz="1900" b="0">
                        <a:solidFill>
                          <a:srgbClr val="1E293B"/>
                        </a:solidFill>
                        <a:latin typeface="Cambria Math" panose="02040503050406030204" pitchFamily="18" charset="0"/>
                      </a:rPr>
                      <m:t>=5</m:t>
                    </m:r>
                  </m:oMath>
                </a14:m>
                <a:r>
                  <a:rPr sz="1900">
                    <a:solidFill>
                      <a:srgbClr val="1E293B"/>
                    </a:solidFill>
                    <a:latin typeface="Calibri"/>
                  </a:rPr>
                  <a:t>.</a:t>
                </a:r>
              </a:p>
            </p:txBody>
          </p:sp>
        </mc:Choice>
        <mc:Fallback>
          <p:sp>
            <p:nvSpPr>
              <p:cNvPr id="11" name="TextBox 10"/>
              <p:cNvSpPr txBox="1"/>
              <p:nvPr/>
            </p:nvSpPr>
            <p:spPr>
              <a:xfrm>
                <a:off x="713232" y="2926842"/>
                <a:ext cx="107350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a:t>
                </a:r>
                <a:r>
                  <a:rPr lang="vi-VN"/>
                  <a:t>(-\infty;\ 1)</a:t>
                </a:r>
                <a:r>
                  <a:rPr sz="1900">
                    <a:solidFill>
                      <a:srgbClr val="1E293B"/>
                    </a:solidFill>
                    <a:latin typeface="Calibri"/>
                  </a:rPr>
                  <a:t> và </a:t>
                </a:r>
                <a:r>
                  <a:rPr lang="vi-VN"/>
                  <a:t>(3;\ +\infty)</a:t>
                </a:r>
                <a:r>
                  <a:rPr sz="1900">
                    <a:solidFill>
                      <a:srgbClr val="1E293B"/>
                    </a:solidFill>
                    <a:latin typeface="Calibri"/>
                  </a:rPr>
                  <a:t>; nghịch biến trên </a:t>
                </a:r>
                <a:r>
                  <a:rPr lang="vi-VN"/>
                  <a:t>(1;\ 2)</a:t>
                </a:r>
                <a:r>
                  <a:rPr sz="1900">
                    <a:solidFill>
                      <a:srgbClr val="1E293B"/>
                    </a:solidFill>
                    <a:latin typeface="Calibri"/>
                  </a:rPr>
                  <a:t> và </a:t>
                </a:r>
                <a:r>
                  <a:rPr lang="vi-VN"/>
                  <a:t>(2;\ 3)</a:t>
                </a:r>
                <a:r>
                  <a:rPr sz="1900">
                    <a:solidFill>
                      <a:srgbClr val="1E293B"/>
                    </a:solidFill>
                    <a:latin typeface="Calibri"/>
                  </a:rPr>
                  <a:t>. Cực đại tại </a:t>
                </a:r>
                <a:r>
                  <a:rPr lang="vi-VN"/>
                  <a:t>x=1</a:t>
                </a:r>
                <a:r>
                  <a:rPr sz="1900">
                    <a:solidFill>
                      <a:srgbClr val="1E293B"/>
                    </a:solidFill>
                    <a:latin typeface="Calibri"/>
                  </a:rPr>
                  <a:t>, </a:t>
                </a:r>
                <a:r>
                  <a:rPr lang="vi-VN"/>
                  <a:t>y_{CĐ}=1</a:t>
                </a:r>
                <a:r>
                  <a:rPr sz="1900">
                    <a:solidFill>
                      <a:srgbClr val="1E293B"/>
                    </a:solidFill>
                    <a:latin typeface="Calibri"/>
                  </a:rPr>
                  <a:t>; cực tiểu tại </a:t>
                </a:r>
                <a:r>
                  <a:rPr lang="vi-VN"/>
                  <a:t>x=3</a:t>
                </a:r>
                <a:r>
                  <a:rPr sz="1900">
                    <a:solidFill>
                      <a:srgbClr val="1E293B"/>
                    </a:solidFill>
                    <a:latin typeface="Calibri"/>
                  </a:rPr>
                  <a:t>, </a:t>
                </a:r>
                <a:r>
                  <a:rPr lang="vi-VN"/>
                  <a:t>y_{CT}=5</a:t>
                </a:r>
                <a:r>
                  <a:rPr sz="1900">
                    <a:solidFill>
                      <a:srgbClr val="1E293B"/>
                    </a:solidFill>
                    <a:latin typeface="Calibri"/>
                  </a:rPr>
                  <a:t>.</a:t>
                </a:r>
              </a:p>
            </p:txBody>
          </p:sp>
        </mc:Fallback>
      </mc:AlternateContent>
      <p:sp>
        <p:nvSpPr>
          <p:cNvPr id="12" name="s3_nen"/>
          <p:cNvSpPr/>
          <p:nvPr/>
        </p:nvSpPr>
        <p:spPr>
          <a:xfrm>
            <a:off x="548640" y="3789425"/>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826001"/>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Tiệm cận đứng </a:t>
                </a:r>
                <a14:m>
                  <m:oMath xmlns:m="http://schemas.openxmlformats.org/officeDocument/2006/math">
                    <m:r>
                      <a:rPr lang="vi-VN" sz="1900" b="0">
                        <a:solidFill>
                          <a:srgbClr val="1E293B"/>
                        </a:solidFill>
                        <a:latin typeface="Cambria Math" panose="02040503050406030204" pitchFamily="18" charset="0"/>
                      </a:rPr>
                      <m:t>x=2</m:t>
                    </m:r>
                  </m:oMath>
                </a14:m>
                <a:r>
                  <a:rPr sz="1900">
                    <a:solidFill>
                      <a:srgbClr val="1E293B"/>
                    </a:solidFill>
                    <a:latin typeface="Calibri"/>
                  </a:rPr>
                  <a:t>; </a:t>
                </a:r>
                <a14:m>
                  <m:oMath xmlns:m="http://schemas.openxmlformats.org/officeDocument/2006/math">
                    <m:limLow>
                      <m:e>
                        <m:r>
                          <a:rPr lang="vi-VN" sz="1900" b="0">
                            <a:solidFill>
                              <a:srgbClr val="1E293B"/>
                            </a:solidFill>
                            <a:latin typeface="Cambria Math" panose="02040503050406030204" pitchFamily="18" charset="0"/>
                          </a:rPr>
                          <m:t>lim</m:t>
                        </m:r>
                      </m:e>
                      <m:lim>
                        <m:r>
                          <a:rPr lang="vi-VN" sz="1900" b="0">
                            <a:solidFill>
                              <a:srgbClr val="1E293B"/>
                            </a:solidFill>
                            <a:latin typeface="Cambria Math" panose="02040503050406030204" pitchFamily="18" charset="0"/>
                          </a:rPr>
                          <m:t>x→±∞</m:t>
                        </m:r>
                      </m:lim>
                    </m:limLow>
                    <m:r>
                      <a:rPr lang="vi-VN" sz="1900" b="0">
                        <a:solidFill>
                          <a:srgbClr val="1E293B"/>
                        </a:solidFill>
                        <a:latin typeface="Cambria Math" panose="02040503050406030204" pitchFamily="18" charset="0"/>
                      </a:rPr>
                      <m:t>[y−(x+1)]=0</m:t>
                    </m:r>
                  </m:oMath>
                </a14:m>
                <a:r>
                  <a:rPr sz="1900">
                    <a:solidFill>
                      <a:srgbClr val="1E293B"/>
                    </a:solidFill>
                    <a:latin typeface="Calibri"/>
                  </a:rPr>
                  <a:t>: tiệm cận xiên </a:t>
                </a:r>
                <a14:m>
                  <m:oMath xmlns:m="http://schemas.openxmlformats.org/officeDocument/2006/math">
                    <m:r>
                      <a:rPr lang="vi-VN" sz="1900" b="0">
                        <a:solidFill>
                          <a:srgbClr val="1E293B"/>
                        </a:solidFill>
                        <a:latin typeface="Cambria Math" panose="02040503050406030204" pitchFamily="18" charset="0"/>
                      </a:rPr>
                      <m:t>y=x+1</m:t>
                    </m:r>
                  </m:oMath>
                </a14:m>
                <a:r>
                  <a:rPr sz="1900">
                    <a:solidFill>
                      <a:srgbClr val="1E293B"/>
                    </a:solidFill>
                    <a:latin typeface="Calibri"/>
                  </a:rPr>
                  <a:t>.</a:t>
                </a:r>
              </a:p>
            </p:txBody>
          </p:sp>
        </mc:Choice>
        <mc:Fallback>
          <p:sp>
            <p:nvSpPr>
              <p:cNvPr id="13" name="TextBox 12"/>
              <p:cNvSpPr txBox="1"/>
              <p:nvPr/>
            </p:nvSpPr>
            <p:spPr>
              <a:xfrm>
                <a:off x="713232" y="3826001"/>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Tiệm cận đứng </a:t>
                </a:r>
                <a:r>
                  <a:rPr lang="vi-VN"/>
                  <a:t>x=2</a:t>
                </a:r>
                <a:r>
                  <a:rPr sz="1900">
                    <a:solidFill>
                      <a:srgbClr val="1E293B"/>
                    </a:solidFill>
                    <a:latin typeface="Calibri"/>
                  </a:rPr>
                  <a:t>; </a:t>
                </a:r>
                <a:r>
                  <a:rPr lang="vi-VN"/>
                  <a:t>\lim\limits_{x\to\pm\infty}[y-(x+1)]=0</a:t>
                </a:r>
                <a:r>
                  <a:rPr sz="1900">
                    <a:solidFill>
                      <a:srgbClr val="1E293B"/>
                    </a:solidFill>
                    <a:latin typeface="Calibri"/>
                  </a:rPr>
                  <a:t>: tiệm cận xiên </a:t>
                </a:r>
                <a:r>
                  <a:rPr lang="vi-VN"/>
                  <a:t>y=x+1</a:t>
                </a:r>
                <a:r>
                  <a:rPr sz="1900">
                    <a:solidFill>
                      <a:srgbClr val="1E293B"/>
                    </a:solidFill>
                    <a:latin typeface="Calibri"/>
                  </a:rPr>
                  <a:t>.</a:t>
                </a:r>
              </a:p>
            </p:txBody>
          </p:sp>
        </mc:Fallback>
      </mc:AlternateContent>
      <p:pic>
        <p:nvPicPr>
          <p:cNvPr id="14" name="s4_bbt" descr="b4_vd4bbt.png"/>
          <p:cNvPicPr>
            <a:picLocks noChangeAspect="1"/>
          </p:cNvPicPr>
          <p:nvPr/>
        </p:nvPicPr>
        <p:blipFill>
          <a:blip r:embed="rId3"/>
          <a:stretch>
            <a:fillRect/>
          </a:stretch>
        </p:blipFill>
        <p:spPr>
          <a:xfrm>
            <a:off x="3759591" y="4417313"/>
            <a:ext cx="4642338" cy="137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4 (SGK TR.30 – 31) (TIẾP) –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Khảo sát và vẽ đồ thị của hàm số </a:t>
                </a:r>
                <a14:m>
                  <m:oMath xmlns:m="http://schemas.openxmlformats.org/officeDocument/2006/math">
                    <m:r>
                      <a:rPr lang="vi-VN" sz="2000" b="0">
                        <a:solidFill>
                          <a:srgbClr val="1E293B"/>
                        </a:solidFill>
                        <a:latin typeface="Cambria Math" panose="02040503050406030204" pitchFamily="18" charset="0"/>
                      </a:rPr>
                      <m:t>y=</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−x−1</m:t>
                        </m:r>
                      </m:num>
                      <m:den>
                        <m:r>
                          <a:rPr lang="vi-VN" sz="2000" b="0">
                            <a:solidFill>
                              <a:srgbClr val="1E293B"/>
                            </a:solidFill>
                            <a:latin typeface="Cambria Math" panose="02040503050406030204" pitchFamily="18" charset="0"/>
                          </a:rPr>
                          <m:t>x−2</m:t>
                        </m:r>
                      </m:den>
                    </m:f>
                  </m:oMath>
                </a14:m>
                <a:r>
                  <a:rPr sz="2000">
                    <a:solidFill>
                      <a:srgbClr val="1E293B"/>
                    </a:solidFill>
                    <a:latin typeface="Calibri"/>
                  </a:rPr>
                  <a:t>.</a:t>
                </a:r>
              </a:p>
            </p:txBody>
          </p:sp>
        </mc:Choice>
        <mc:Fallback>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4.</a:t>
                </a:r>
                <a:r>
                  <a:rPr sz="2000">
                    <a:solidFill>
                      <a:srgbClr val="1E293B"/>
                    </a:solidFill>
                    <a:latin typeface="Calibri"/>
                  </a:rPr>
                  <a:t> Khảo sát và vẽ đồ thị của hàm số </a:t>
                </a:r>
                <a:r>
                  <a:rPr lang="vi-VN"/>
                  <a:t>y=\frac{x^2-x-1}{x-2}</a:t>
                </a:r>
                <a:r>
                  <a:rPr sz="2000">
                    <a:solidFill>
                      <a:srgbClr val="1E293B"/>
                    </a:solidFill>
                    <a:latin typeface="Calibri"/>
                  </a:rPr>
                  <a:t>.</a:t>
                </a:r>
              </a:p>
            </p:txBody>
          </p:sp>
        </mc:Fallback>
      </mc:AlternateContent>
      <p:sp>
        <p:nvSpPr>
          <p:cNvPr id="8" name="s1_nen"/>
          <p:cNvSpPr/>
          <p:nvPr/>
        </p:nvSpPr>
        <p:spPr>
          <a:xfrm>
            <a:off x="548640" y="2401824"/>
            <a:ext cx="731520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38400"/>
                <a:ext cx="698601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e>
                    </m:d>
                  </m:oMath>
                </a14:m>
                <a:r>
                  <a:rPr sz="2000">
                    <a:solidFill>
                      <a:srgbClr val="1E293B"/>
                    </a:solidFill>
                    <a:latin typeface="Calibri"/>
                  </a:rPr>
                  <a:t>; giao với trục hoành: </a:t>
                </a:r>
                <a14:m>
                  <m:oMath xmlns:m="http://schemas.openxmlformats.org/officeDocument/2006/math">
                    <m:d>
                      <m:dPr>
                        <m:sepChr m:val=""/>
                      </m:dPr>
                      <m:e>
                        <m:f>
                          <m:fPr>
                            <m:type m:val="bar"/>
                          </m:fPr>
                          <m:num>
                            <m:r>
                              <a:rPr lang="vi-VN" sz="2000" b="0">
                                <a:solidFill>
                                  <a:srgbClr val="1E293B"/>
                                </a:solidFill>
                                <a:latin typeface="Cambria Math" panose="02040503050406030204" pitchFamily="18" charset="0"/>
                              </a:rPr>
                              <m:t>1±</m:t>
                            </m:r>
                            <m:rad>
                              <m:radPr>
                                <m:degHide m:val="on"/>
                              </m:radPr>
                              <m:deg/>
                              <m:e>
                                <m:r>
                                  <a:rPr lang="vi-VN" sz="2000" b="0">
                                    <a:solidFill>
                                      <a:srgbClr val="1E293B"/>
                                    </a:solidFill>
                                    <a:latin typeface="Cambria Math" panose="02040503050406030204" pitchFamily="18" charset="0"/>
                                  </a:rPr>
                                  <m:t>5</m:t>
                                </m:r>
                              </m:e>
                            </m:rad>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9" name="TextBox 8"/>
              <p:cNvSpPr txBox="1"/>
              <p:nvPr/>
            </p:nvSpPr>
            <p:spPr>
              <a:xfrm>
                <a:off x="713232" y="2438400"/>
                <a:ext cx="6986016"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r>
                  <a:rPr lang="vi-VN"/>
                  <a:t>\left(0;\ \frac{1}{2}\right)</a:t>
                </a:r>
                <a:r>
                  <a:rPr sz="2000">
                    <a:solidFill>
                      <a:srgbClr val="1E293B"/>
                    </a:solidFill>
                    <a:latin typeface="Calibri"/>
                  </a:rPr>
                  <a:t>; giao với trục hoành: </a:t>
                </a:r>
                <a:r>
                  <a:rPr lang="vi-VN"/>
                  <a:t>\left(\frac{1\pm\sqrt{5}}{2};\ 0\right)</a:t>
                </a:r>
                <a:r>
                  <a:rPr sz="2000">
                    <a:solidFill>
                      <a:srgbClr val="1E293B"/>
                    </a:solidFill>
                    <a:latin typeface="Calibri"/>
                  </a:rPr>
                  <a:t>.</a:t>
                </a:r>
              </a:p>
            </p:txBody>
          </p:sp>
        </mc:Fallback>
      </mc:AlternateContent>
      <p:sp>
        <p:nvSpPr>
          <p:cNvPr id="10" name="s2_nen"/>
          <p:cNvSpPr/>
          <p:nvPr/>
        </p:nvSpPr>
        <p:spPr>
          <a:xfrm>
            <a:off x="548640" y="3660647"/>
            <a:ext cx="731520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97223"/>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14:m>
                  <m:oMath xmlns:m="http://schemas.openxmlformats.org/officeDocument/2006/math">
                    <m:r>
                      <a:rPr lang="vi-VN" sz="2000" b="0">
                        <a:solidFill>
                          <a:srgbClr val="1E293B"/>
                        </a:solidFill>
                        <a:latin typeface="Cambria Math" panose="02040503050406030204" pitchFamily="18" charset="0"/>
                      </a:rPr>
                      <m:t>I(2;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oMath>
                </a14:m>
                <a:r>
                  <a:rPr sz="2000">
                    <a:solidFill>
                      <a:srgbClr val="1E293B"/>
                    </a:solidFill>
                    <a:latin typeface="Calibri"/>
                  </a:rPr>
                  <a:t> của hai tiệm cận làm tâm đối xứng và nhận hai đường phân giác của các góc tạo bởi hai tiệm cận làm các trục đối xứng.</a:t>
                </a:r>
              </a:p>
            </p:txBody>
          </p:sp>
        </mc:Choice>
        <mc:Fallback>
          <p:sp>
            <p:nvSpPr>
              <p:cNvPr id="11" name="TextBox 10"/>
              <p:cNvSpPr txBox="1"/>
              <p:nvPr/>
            </p:nvSpPr>
            <p:spPr>
              <a:xfrm>
                <a:off x="713232" y="3697223"/>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r>
                  <a:rPr lang="vi-VN"/>
                  <a:t>I(2;\ 3)</a:t>
                </a:r>
                <a:r>
                  <a:rPr sz="2000">
                    <a:solidFill>
                      <a:srgbClr val="1E293B"/>
                    </a:solidFill>
                    <a:latin typeface="Calibri"/>
                  </a:rPr>
                  <a:t> của hai tiệm cận làm tâm đối xứng và nhận hai đường phân giác của các góc tạo bởi hai tiệm cận làm các trục đối xứng.</a:t>
                </a:r>
              </a:p>
            </p:txBody>
          </p:sp>
        </mc:Fallback>
      </mc:AlternateContent>
      <p:pic>
        <p:nvPicPr>
          <p:cNvPr id="12" name="Picture 11" descr="b4_vd4.png"/>
          <p:cNvPicPr>
            <a:picLocks noChangeAspect="1"/>
          </p:cNvPicPr>
          <p:nvPr/>
        </p:nvPicPr>
        <p:blipFill>
          <a:blip r:embed="rId3"/>
          <a:stretch>
            <a:fillRect/>
          </a:stretch>
        </p:blipFill>
        <p:spPr>
          <a:xfrm>
            <a:off x="8138160" y="1656933"/>
            <a:ext cx="3474720" cy="3452693"/>
          </a:xfrm>
          <a:prstGeom prst="rect">
            <a:avLst/>
          </a:prstGeom>
        </p:spPr>
      </p:pic>
      <p:sp>
        <p:nvSpPr>
          <p:cNvPr id="13" name="TextBox 12"/>
          <p:cNvSpPr txBox="1"/>
          <p:nvPr/>
        </p:nvSpPr>
        <p:spPr>
          <a:xfrm>
            <a:off x="8138160" y="532180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(SGK TR.31 – 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5.</a:t>
                </a:r>
                <a:r>
                  <a:rPr sz="1900">
                    <a:solidFill>
                      <a:srgbClr val="1E293B"/>
                    </a:solidFill>
                    <a:latin typeface="Calibri"/>
                  </a:rPr>
                  <a:t> Khảo sát sự biến thiên và vẽ đồ thị của hàm số </a:t>
                </a:r>
                <a14:m>
                  <m:oMath xmlns:m="http://schemas.openxmlformats.org/officeDocument/2006/math">
                    <m:r>
                      <a:rPr lang="vi-VN" sz="1900" b="0">
                        <a:solidFill>
                          <a:srgbClr val="1E293B"/>
                        </a:solidFill>
                        <a:latin typeface="Cambria Math" panose="02040503050406030204" pitchFamily="18" charset="0"/>
                      </a:rPr>
                      <m:t>y=</m:t>
                    </m:r>
                    <m:f>
                      <m:fPr>
                        <m:type m:val="bar"/>
                      </m:fPr>
                      <m:num>
                        <m:sSup>
                          <m:e>
                            <m:r>
                              <a:rPr lang="vi-VN" sz="1900" b="0">
                                <a:solidFill>
                                  <a:srgbClr val="1E293B"/>
                                </a:solidFill>
                                <a:latin typeface="Cambria Math" panose="02040503050406030204" pitchFamily="18" charset="0"/>
                              </a:rPr>
                              <m:t>x</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+x−2</m:t>
                        </m:r>
                      </m:num>
                      <m:den>
                        <m:r>
                          <a:rPr lang="vi-VN" sz="1900" b="0">
                            <a:solidFill>
                              <a:srgbClr val="1E293B"/>
                            </a:solidFill>
                            <a:latin typeface="Cambria Math" panose="02040503050406030204" pitchFamily="18" charset="0"/>
                          </a:rPr>
                          <m:t>x+1</m:t>
                        </m:r>
                      </m:den>
                    </m:f>
                  </m:oMath>
                </a14:m>
                <a:r>
                  <a:rPr sz="1900">
                    <a:solidFill>
                      <a:srgbClr val="1E293B"/>
                    </a:solidFill>
                    <a:latin typeface="Calibri"/>
                  </a:rPr>
                  <a:t>.</a:t>
                </a:r>
              </a:p>
            </p:txBody>
          </p:sp>
        </mc:Choice>
        <mc:Fallback>
          <p:sp>
            <p:nvSpPr>
              <p:cNvPr id="7" name="TextBox 6"/>
              <p:cNvSpPr txBox="1"/>
              <p:nvPr/>
            </p:nvSpPr>
            <p:spPr>
              <a:xfrm>
                <a:off x="548640" y="1371600"/>
                <a:ext cx="11064240" cy="593598"/>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Ví dụ 5.</a:t>
                </a:r>
                <a:r>
                  <a:rPr sz="1900">
                    <a:solidFill>
                      <a:srgbClr val="1E293B"/>
                    </a:solidFill>
                    <a:latin typeface="Calibri"/>
                  </a:rPr>
                  <a:t> Khảo sát sự biến thiên và vẽ đồ thị của hàm số </a:t>
                </a:r>
                <a:r>
                  <a:rPr lang="vi-VN"/>
                  <a:t>y=\frac{x^2+x-2}{x+1}</a:t>
                </a:r>
                <a:r>
                  <a:rPr sz="1900">
                    <a:solidFill>
                      <a:srgbClr val="1E293B"/>
                    </a:solidFill>
                    <a:latin typeface="Calibri"/>
                  </a:rPr>
                  <a:t>.</a:t>
                </a:r>
              </a:p>
            </p:txBody>
          </p:sp>
        </mc:Fallback>
      </mc:AlternateContent>
      <p:sp>
        <p:nvSpPr>
          <p:cNvPr id="8" name="s1_nen"/>
          <p:cNvSpPr/>
          <p:nvPr/>
        </p:nvSpPr>
        <p:spPr>
          <a:xfrm>
            <a:off x="548640" y="2020061"/>
            <a:ext cx="11064240" cy="81534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56637"/>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14:m>
                  <m:oMath xmlns:m="http://schemas.openxmlformats.org/officeDocument/2006/math">
                    <m:r>
                      <a:rPr lang="vi-VN" sz="1900" b="0">
                        <a:solidFill>
                          <a:srgbClr val="1E293B"/>
                        </a:solidFill>
                        <a:latin typeface="Cambria Math" panose="02040503050406030204" pitchFamily="18" charset="0"/>
                      </a:rPr>
                      <m:t>ℝ⧵{−1}</m:t>
                    </m:r>
                  </m:oMath>
                </a14:m>
                <a:r>
                  <a:rPr sz="1900">
                    <a:solidFill>
                      <a:srgbClr val="1E293B"/>
                    </a:solidFill>
                    <a:latin typeface="Calibri"/>
                  </a:rPr>
                  <a:t>. 2. Viết </a:t>
                </a:r>
                <a14:m>
                  <m:oMath xmlns:m="http://schemas.openxmlformats.org/officeDocument/2006/math">
                    <m:r>
                      <a:rPr lang="vi-VN" sz="1900" b="0">
                        <a:solidFill>
                          <a:srgbClr val="1E293B"/>
                        </a:solidFill>
                        <a:latin typeface="Cambria Math" panose="02040503050406030204" pitchFamily="18" charset="0"/>
                      </a:rPr>
                      <m:t>y=x−</m:t>
                    </m:r>
                    <m:f>
                      <m:fPr>
                        <m:type m:val="bar"/>
                      </m:fPr>
                      <m:num>
                        <m:r>
                          <a:rPr lang="vi-VN" sz="1900" b="0">
                            <a:solidFill>
                              <a:srgbClr val="1E293B"/>
                            </a:solidFill>
                            <a:latin typeface="Cambria Math" panose="02040503050406030204" pitchFamily="18" charset="0"/>
                          </a:rPr>
                          <m:t>2</m:t>
                        </m:r>
                      </m:num>
                      <m:den>
                        <m:r>
                          <a:rPr lang="vi-VN" sz="1900" b="0">
                            <a:solidFill>
                              <a:srgbClr val="1E293B"/>
                            </a:solidFill>
                            <a:latin typeface="Cambria Math" panose="02040503050406030204" pitchFamily="18" charset="0"/>
                          </a:rPr>
                          <m:t>x+1</m:t>
                        </m:r>
                      </m:den>
                    </m:f>
                  </m:oMath>
                </a14:m>
                <a:r>
                  <a:rPr sz="1900">
                    <a:solidFill>
                      <a:srgbClr val="1E293B"/>
                    </a:solidFill>
                    <a:latin typeface="Calibri"/>
                  </a:rPr>
                  <a:t>; </a:t>
                </a:r>
                <a14:m>
                  <m:oMath xmlns:m="http://schemas.openxmlformats.org/officeDocument/2006/math">
                    <m:sSup>
                      <m:e>
                        <m:r>
                          <a:rPr lang="vi-VN" sz="1900" b="0">
                            <a:solidFill>
                              <a:srgbClr val="1E293B"/>
                            </a:solidFill>
                            <a:latin typeface="Cambria Math" panose="02040503050406030204" pitchFamily="18" charset="0"/>
                          </a:rPr>
                          <m:t>y</m:t>
                        </m:r>
                      </m:e>
                      <m:sup>
                        <m:r>
                          <a:rPr lang="vi-VN" sz="1900" b="0">
                            <a:solidFill>
                              <a:srgbClr val="1E293B"/>
                            </a:solidFill>
                            <a:latin typeface="Cambria Math" panose="02040503050406030204" pitchFamily="18" charset="0"/>
                          </a:rPr>
                          <m:t>′</m:t>
                        </m:r>
                      </m:sup>
                    </m:sSup>
                    <m:r>
                      <a:rPr lang="vi-VN" sz="1900" b="0">
                        <a:solidFill>
                          <a:srgbClr val="1E293B"/>
                        </a:solidFill>
                        <a:latin typeface="Cambria Math" panose="02040503050406030204" pitchFamily="18" charset="0"/>
                      </a:rPr>
                      <m:t>=1+</m:t>
                    </m:r>
                    <m:f>
                      <m:fPr>
                        <m:type m:val="bar"/>
                      </m:fPr>
                      <m:num>
                        <m:r>
                          <a:rPr lang="vi-VN" sz="1900" b="0">
                            <a:solidFill>
                              <a:srgbClr val="1E293B"/>
                            </a:solidFill>
                            <a:latin typeface="Cambria Math" panose="02040503050406030204" pitchFamily="18" charset="0"/>
                          </a:rPr>
                          <m:t>2</m:t>
                        </m:r>
                      </m:num>
                      <m:den>
                        <m:sSup>
                          <m:e>
                            <m:d>
                              <m:dPr>
                                <m:sepChr m:val=""/>
                              </m:dPr>
                              <m:e>
                                <m:r>
                                  <a:rPr lang="vi-VN" sz="1900" b="0">
                                    <a:solidFill>
                                      <a:srgbClr val="1E293B"/>
                                    </a:solidFill>
                                    <a:latin typeface="Cambria Math" panose="02040503050406030204" pitchFamily="18" charset="0"/>
                                  </a:rPr>
                                  <m:t>x</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e>
                            </m:d>
                          </m:e>
                          <m:sup>
                            <m:r>
                              <a:rPr lang="vi-VN" sz="1900" b="0">
                                <a:solidFill>
                                  <a:srgbClr val="1E293B"/>
                                </a:solidFill>
                                <a:latin typeface="Cambria Math" panose="02040503050406030204" pitchFamily="18" charset="0"/>
                              </a:rPr>
                              <m:t>2</m:t>
                            </m:r>
                          </m:sup>
                        </m:sSup>
                      </m:den>
                    </m:f>
                    <m:r>
                      <a:rPr lang="vi-VN" sz="1900" b="0">
                        <a:solidFill>
                          <a:srgbClr val="1E293B"/>
                        </a:solidFill>
                        <a:latin typeface="Cambria Math" panose="02040503050406030204" pitchFamily="18" charset="0"/>
                      </a:rPr>
                      <m:t>&gt;0</m:t>
                    </m:r>
                  </m:oMath>
                </a14:m>
                <a:r>
                  <a:rPr sz="1900">
                    <a:solidFill>
                      <a:srgbClr val="1E293B"/>
                    </a:solidFill>
                    <a:latin typeface="Calibri"/>
                  </a:rPr>
                  <a:t> với mọi </a:t>
                </a:r>
                <a14:m>
                  <m:oMath xmlns:m="http://schemas.openxmlformats.org/officeDocument/2006/math">
                    <m:r>
                      <a:rPr lang="vi-VN" sz="1900" b="0">
                        <a:solidFill>
                          <a:srgbClr val="1E293B"/>
                        </a:solidFill>
                        <a:latin typeface="Cambria Math" panose="02040503050406030204" pitchFamily="18" charset="0"/>
                      </a:rPr>
                      <m:t>x≠−1</m:t>
                    </m:r>
                  </m:oMath>
                </a14:m>
                <a:r>
                  <a:rPr sz="1900">
                    <a:solidFill>
                      <a:srgbClr val="1E293B"/>
                    </a:solidFill>
                    <a:latin typeface="Calibri"/>
                  </a:rPr>
                  <a:t>.</a:t>
                </a:r>
              </a:p>
            </p:txBody>
          </p:sp>
        </mc:Choice>
        <mc:Fallback>
          <p:sp>
            <p:nvSpPr>
              <p:cNvPr id="9" name="TextBox 8"/>
              <p:cNvSpPr txBox="1"/>
              <p:nvPr/>
            </p:nvSpPr>
            <p:spPr>
              <a:xfrm>
                <a:off x="713232" y="2056637"/>
                <a:ext cx="10735056" cy="742188"/>
              </a:xfrm>
              <a:prstGeom prst="rect">
                <a:avLst/>
              </a:prstGeom>
              <a:noFill/>
            </p:spPr>
            <p:txBody>
              <a:bodyPr wrap="square" anchor="ctr" lIns="45720" rIns="45720">
                <a:spAutoFit/>
              </a:bodyPr>
              <a:lstStyle/>
              <a:p>
                <a:pPr algn="l">
                  <a:spcAft>
                    <a:spcPts val="800"/>
                  </a:spcAft>
                </a:pPr>
                <a:r>
                  <a:rPr sz="1900">
                    <a:solidFill>
                      <a:srgbClr val="1E293B"/>
                    </a:solidFill>
                    <a:latin typeface="Calibri"/>
                  </a:rPr>
                  <a:t>1. Tập xác định </a:t>
                </a:r>
                <a:r>
                  <a:rPr lang="vi-VN"/>
                  <a:t>\mathbb{R}\setminus\{-1\}</a:t>
                </a:r>
                <a:r>
                  <a:rPr sz="1900">
                    <a:solidFill>
                      <a:srgbClr val="1E293B"/>
                    </a:solidFill>
                    <a:latin typeface="Calibri"/>
                  </a:rPr>
                  <a:t>. 2. Viết </a:t>
                </a:r>
                <a:r>
                  <a:rPr lang="vi-VN"/>
                  <a:t>y=x-\frac{2}{x+1}</a:t>
                </a:r>
                <a:r>
                  <a:rPr sz="1900">
                    <a:solidFill>
                      <a:srgbClr val="1E293B"/>
                    </a:solidFill>
                    <a:latin typeface="Calibri"/>
                  </a:rPr>
                  <a:t>; </a:t>
                </a:r>
                <a:r>
                  <a:rPr lang="vi-VN"/>
                  <a:t>y'=1+\frac{2}{(x+1)^2}&gt;0</a:t>
                </a:r>
                <a:r>
                  <a:rPr sz="1900">
                    <a:solidFill>
                      <a:srgbClr val="1E293B"/>
                    </a:solidFill>
                    <a:latin typeface="Calibri"/>
                  </a:rPr>
                  <a:t> với mọi </a:t>
                </a:r>
                <a:r>
                  <a:rPr lang="vi-VN"/>
                  <a:t>x\ne-1</a:t>
                </a:r>
                <a:r>
                  <a:rPr sz="1900">
                    <a:solidFill>
                      <a:srgbClr val="1E293B"/>
                    </a:solidFill>
                    <a:latin typeface="Calibri"/>
                  </a:rPr>
                  <a:t>.</a:t>
                </a:r>
              </a:p>
            </p:txBody>
          </p:sp>
        </mc:Fallback>
      </mc:AlternateContent>
      <p:sp>
        <p:nvSpPr>
          <p:cNvPr id="10" name="s2_nen"/>
          <p:cNvSpPr/>
          <p:nvPr/>
        </p:nvSpPr>
        <p:spPr>
          <a:xfrm>
            <a:off x="548640" y="2890266"/>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926842"/>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từng khoảng </a:t>
                </a:r>
                <a14:m>
                  <m:oMath xmlns:m="http://schemas.openxmlformats.org/officeDocument/2006/math">
                    <m:d>
                      <m:dPr>
                        <m:sepChr m:val="∞"/>
                      </m:dPr>
                      <m:e>
                        <m:r>
                          <a:rPr lang="vi-VN" sz="1900" b="0">
                            <a:solidFill>
                              <a:srgbClr val="1E293B"/>
                            </a:solidFill>
                            <a:latin typeface="Cambria Math" panose="02040503050406030204" pitchFamily="18" charset="0"/>
                          </a:rPr>
                          <m:t>−</m:t>
                        </m:r>
                      </m:e>
                      <m:e>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e>
                    </m:d>
                  </m:oMath>
                </a14:m>
                <a:r>
                  <a:rPr sz="1900">
                    <a:solidFill>
                      <a:srgbClr val="1E293B"/>
                    </a:solidFill>
                    <a:latin typeface="Calibri"/>
                  </a:rPr>
                  <a:t> và </a:t>
                </a:r>
                <a14:m>
                  <m:oMath xmlns:m="http://schemas.openxmlformats.org/officeDocument/2006/math">
                    <m:d>
                      <m:dPr>
                        <m:sepChr m:val=""/>
                      </m:dPr>
                      <m:e>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m:t>
                        </m:r>
                      </m:e>
                    </m:d>
                  </m:oMath>
                </a14:m>
                <a:r>
                  <a:rPr sz="1900">
                    <a:solidFill>
                      <a:srgbClr val="1E293B"/>
                    </a:solidFill>
                    <a:latin typeface="Calibri"/>
                  </a:rPr>
                  <a:t>; không có cực trị.</a:t>
                </a:r>
              </a:p>
            </p:txBody>
          </p:sp>
        </mc:Choice>
        <mc:Fallback>
          <p:sp>
            <p:nvSpPr>
              <p:cNvPr id="11" name="TextBox 10"/>
              <p:cNvSpPr txBox="1"/>
              <p:nvPr/>
            </p:nvSpPr>
            <p:spPr>
              <a:xfrm>
                <a:off x="713232" y="2926842"/>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Đồng biến trên từng khoảng </a:t>
                </a:r>
                <a:r>
                  <a:rPr lang="vi-VN"/>
                  <a:t>(-\infty;\ -1)</a:t>
                </a:r>
                <a:r>
                  <a:rPr sz="1900">
                    <a:solidFill>
                      <a:srgbClr val="1E293B"/>
                    </a:solidFill>
                    <a:latin typeface="Calibri"/>
                  </a:rPr>
                  <a:t> và </a:t>
                </a:r>
                <a:r>
                  <a:rPr lang="vi-VN"/>
                  <a:t>(-1;\ +\infty)</a:t>
                </a:r>
                <a:r>
                  <a:rPr sz="1900">
                    <a:solidFill>
                      <a:srgbClr val="1E293B"/>
                    </a:solidFill>
                    <a:latin typeface="Calibri"/>
                  </a:rPr>
                  <a:t>; không có cực trị.</a:t>
                </a:r>
              </a:p>
            </p:txBody>
          </p:sp>
        </mc:Fallback>
      </mc:AlternateContent>
      <p:sp>
        <p:nvSpPr>
          <p:cNvPr id="12" name="s3_nen"/>
          <p:cNvSpPr/>
          <p:nvPr/>
        </p:nvSpPr>
        <p:spPr>
          <a:xfrm>
            <a:off x="548640" y="3499865"/>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3536441"/>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Tiệm cận đứng </a:t>
                </a:r>
                <a14:m>
                  <m:oMath xmlns:m="http://schemas.openxmlformats.org/officeDocument/2006/math">
                    <m:r>
                      <a:rPr lang="vi-VN" sz="1900" b="0">
                        <a:solidFill>
                          <a:srgbClr val="1E293B"/>
                        </a:solidFill>
                        <a:latin typeface="Cambria Math" panose="02040503050406030204" pitchFamily="18" charset="0"/>
                      </a:rPr>
                      <m:t>x=−1</m:t>
                    </m:r>
                  </m:oMath>
                </a14:m>
                <a:r>
                  <a:rPr sz="1900">
                    <a:solidFill>
                      <a:srgbClr val="1E293B"/>
                    </a:solidFill>
                    <a:latin typeface="Calibri"/>
                  </a:rPr>
                  <a:t>; tiệm cận xiên </a:t>
                </a:r>
                <a14:m>
                  <m:oMath xmlns:m="http://schemas.openxmlformats.org/officeDocument/2006/math">
                    <m:r>
                      <a:rPr lang="vi-VN" sz="1900" b="0">
                        <a:solidFill>
                          <a:srgbClr val="1E293B"/>
                        </a:solidFill>
                        <a:latin typeface="Cambria Math" panose="02040503050406030204" pitchFamily="18" charset="0"/>
                      </a:rPr>
                      <m:t>y=x</m:t>
                    </m:r>
                  </m:oMath>
                </a14:m>
                <a:r>
                  <a:rPr sz="1900">
                    <a:solidFill>
                      <a:srgbClr val="1E293B"/>
                    </a:solidFill>
                    <a:latin typeface="Calibri"/>
                  </a:rPr>
                  <a:t>.</a:t>
                </a:r>
              </a:p>
            </p:txBody>
          </p:sp>
        </mc:Choice>
        <mc:Fallback>
          <p:sp>
            <p:nvSpPr>
              <p:cNvPr id="13" name="TextBox 12"/>
              <p:cNvSpPr txBox="1"/>
              <p:nvPr/>
            </p:nvSpPr>
            <p:spPr>
              <a:xfrm>
                <a:off x="713232" y="3536441"/>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Tiệm cận đứng </a:t>
                </a:r>
                <a:r>
                  <a:rPr lang="vi-VN"/>
                  <a:t>x=-1</a:t>
                </a:r>
                <a:r>
                  <a:rPr sz="1900">
                    <a:solidFill>
                      <a:srgbClr val="1E293B"/>
                    </a:solidFill>
                    <a:latin typeface="Calibri"/>
                  </a:rPr>
                  <a:t>; tiệm cận xiên </a:t>
                </a:r>
                <a:r>
                  <a:rPr lang="vi-VN"/>
                  <a:t>y=x</a:t>
                </a:r>
                <a:r>
                  <a:rPr sz="1900">
                    <a:solidFill>
                      <a:srgbClr val="1E293B"/>
                    </a:solidFill>
                    <a:latin typeface="Calibri"/>
                  </a:rPr>
                  <a:t>.</a:t>
                </a:r>
              </a:p>
            </p:txBody>
          </p:sp>
        </mc:Fallback>
      </mc:AlternateContent>
      <p:pic>
        <p:nvPicPr>
          <p:cNvPr id="14" name="s4_bbt" descr="b4_vd5bbt.png"/>
          <p:cNvPicPr>
            <a:picLocks noChangeAspect="1"/>
          </p:cNvPicPr>
          <p:nvPr/>
        </p:nvPicPr>
        <p:blipFill>
          <a:blip r:embed="rId3"/>
          <a:stretch>
            <a:fillRect/>
          </a:stretch>
        </p:blipFill>
        <p:spPr>
          <a:xfrm>
            <a:off x="4445390" y="4127753"/>
            <a:ext cx="3270738" cy="146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(SGK TR.31 – 32) (TIẾP) – ĐỒ THỊ</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5.</a:t>
                </a:r>
                <a:r>
                  <a:rPr sz="2000">
                    <a:solidFill>
                      <a:srgbClr val="1E293B"/>
                    </a:solidFill>
                    <a:latin typeface="Calibri"/>
                  </a:rPr>
                  <a:t> Khảo sát sự biến thiên và vẽ đồ thị của hàm số </a:t>
                </a:r>
                <a14:m>
                  <m:oMath xmlns:m="http://schemas.openxmlformats.org/officeDocument/2006/math">
                    <m:r>
                      <a:rPr lang="vi-VN" sz="2000" b="0">
                        <a:solidFill>
                          <a:srgbClr val="1E293B"/>
                        </a:solidFill>
                        <a:latin typeface="Cambria Math" panose="02040503050406030204" pitchFamily="18" charset="0"/>
                      </a:rPr>
                      <m:t>y=</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+x−2</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a:t>
                </a:r>
              </a:p>
            </p:txBody>
          </p:sp>
        </mc:Choice>
        <mc:Fallback>
          <p:sp>
            <p:nvSpPr>
              <p:cNvPr id="7" name="TextBox 6"/>
              <p:cNvSpPr txBox="1"/>
              <p:nvPr/>
            </p:nvSpPr>
            <p:spPr>
              <a:xfrm>
                <a:off x="548640" y="1371600"/>
                <a:ext cx="7315200"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Ví dụ 5.</a:t>
                </a:r>
                <a:r>
                  <a:rPr sz="2000">
                    <a:solidFill>
                      <a:srgbClr val="1E293B"/>
                    </a:solidFill>
                    <a:latin typeface="Calibri"/>
                  </a:rPr>
                  <a:t> Khảo sát sự biến thiên và vẽ đồ thị của hàm số </a:t>
                </a:r>
                <a:r>
                  <a:rPr lang="vi-VN"/>
                  <a:t>y=\frac{x^2+x-2}{x+1}</a:t>
                </a:r>
                <a:r>
                  <a:rPr sz="2000">
                    <a:solidFill>
                      <a:srgbClr val="1E293B"/>
                    </a:solidFill>
                    <a:latin typeface="Calibri"/>
                  </a:rPr>
                  <a:t>.</a:t>
                </a:r>
              </a:p>
            </p:txBody>
          </p:sp>
        </mc:Fallback>
      </mc:AlternateContent>
      <p:sp>
        <p:nvSpPr>
          <p:cNvPr id="8" name="s1_nen"/>
          <p:cNvSpPr/>
          <p:nvPr/>
        </p:nvSpPr>
        <p:spPr>
          <a:xfrm>
            <a:off x="548640" y="2401824"/>
            <a:ext cx="731520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38400"/>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oMath>
                </a14:m>
                <a:r>
                  <a:rPr sz="2000">
                    <a:solidFill>
                      <a:srgbClr val="1E293B"/>
                    </a:solidFill>
                    <a:latin typeface="Calibri"/>
                  </a:rPr>
                  <a:t>; giao với trục hoành: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 và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9" name="TextBox 8"/>
              <p:cNvSpPr txBox="1"/>
              <p:nvPr/>
            </p:nvSpPr>
            <p:spPr>
              <a:xfrm>
                <a:off x="713232" y="2438400"/>
                <a:ext cx="698601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3. Giao với trục tung: </a:t>
                </a:r>
                <a:r>
                  <a:rPr lang="vi-VN"/>
                  <a:t>(0;\ -2)</a:t>
                </a:r>
                <a:r>
                  <a:rPr sz="2000">
                    <a:solidFill>
                      <a:srgbClr val="1E293B"/>
                    </a:solidFill>
                    <a:latin typeface="Calibri"/>
                  </a:rPr>
                  <a:t>; giao với trục hoành: </a:t>
                </a:r>
                <a:r>
                  <a:rPr lang="vi-VN"/>
                  <a:t>(-2;\ 0)</a:t>
                </a:r>
                <a:r>
                  <a:rPr sz="2000">
                    <a:solidFill>
                      <a:srgbClr val="1E293B"/>
                    </a:solidFill>
                    <a:latin typeface="Calibri"/>
                  </a:rPr>
                  <a:t> và </a:t>
                </a:r>
                <a:r>
                  <a:rPr lang="vi-VN"/>
                  <a:t>(1;\ 0)</a:t>
                </a:r>
                <a:r>
                  <a:rPr sz="2000">
                    <a:solidFill>
                      <a:srgbClr val="1E293B"/>
                    </a:solidFill>
                    <a:latin typeface="Calibri"/>
                  </a:rPr>
                  <a:t>.</a:t>
                </a:r>
              </a:p>
            </p:txBody>
          </p:sp>
        </mc:Fallback>
      </mc:AlternateContent>
      <p:sp>
        <p:nvSpPr>
          <p:cNvPr id="10" name="s2_nen"/>
          <p:cNvSpPr/>
          <p:nvPr/>
        </p:nvSpPr>
        <p:spPr>
          <a:xfrm>
            <a:off x="548640" y="3386328"/>
            <a:ext cx="7315200" cy="11795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22904"/>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14:m>
                  <m:oMath xmlns:m="http://schemas.openxmlformats.org/officeDocument/2006/math">
                    <m:r>
                      <a:rPr lang="vi-VN" sz="2000" b="0">
                        <a:solidFill>
                          <a:srgbClr val="1E293B"/>
                        </a:solidFill>
                        <a:latin typeface="Cambria Math" panose="02040503050406030204" pitchFamily="18" charset="0"/>
                      </a:rPr>
                      <m:t>I(−1;</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 của hai tiệm cận làm tâm đối xứng và nhận hai đường phân giác của các góc tạo bởi hai tiệm cận làm các trục đối xứng.</a:t>
                </a:r>
              </a:p>
            </p:txBody>
          </p:sp>
        </mc:Choice>
        <mc:Fallback>
          <p:sp>
            <p:nvSpPr>
              <p:cNvPr id="11" name="TextBox 10"/>
              <p:cNvSpPr txBox="1"/>
              <p:nvPr/>
            </p:nvSpPr>
            <p:spPr>
              <a:xfrm>
                <a:off x="713232" y="3422904"/>
                <a:ext cx="698601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Đồ thị nhận giao điểm </a:t>
                </a:r>
                <a:r>
                  <a:rPr lang="vi-VN"/>
                  <a:t>I(-1;\ -1)</a:t>
                </a:r>
                <a:r>
                  <a:rPr sz="2000">
                    <a:solidFill>
                      <a:srgbClr val="1E293B"/>
                    </a:solidFill>
                    <a:latin typeface="Calibri"/>
                  </a:rPr>
                  <a:t> của hai tiệm cận làm tâm đối xứng và nhận hai đường phân giác của các góc tạo bởi hai tiệm cận làm các trục đối xứng.</a:t>
                </a:r>
              </a:p>
            </p:txBody>
          </p:sp>
        </mc:Fallback>
      </mc:AlternateContent>
      <p:pic>
        <p:nvPicPr>
          <p:cNvPr id="12" name="Picture 11" descr="b4_vd5.png"/>
          <p:cNvPicPr>
            <a:picLocks noChangeAspect="1"/>
          </p:cNvPicPr>
          <p:nvPr/>
        </p:nvPicPr>
        <p:blipFill>
          <a:blip r:embed="rId3"/>
          <a:stretch>
            <a:fillRect/>
          </a:stretch>
        </p:blipFill>
        <p:spPr>
          <a:xfrm>
            <a:off x="8138160" y="1656933"/>
            <a:ext cx="3474720" cy="3452693"/>
          </a:xfrm>
          <a:prstGeom prst="rect">
            <a:avLst/>
          </a:prstGeom>
        </p:spPr>
      </p:pic>
      <p:sp>
        <p:nvSpPr>
          <p:cNvPr id="13" name="TextBox 12"/>
          <p:cNvSpPr txBox="1"/>
          <p:nvPr/>
        </p:nvSpPr>
        <p:spPr>
          <a:xfrm>
            <a:off x="8138160" y="5321808"/>
            <a:ext cx="3474720" cy="365760"/>
          </a:xfrm>
          <a:prstGeom prst="rect">
            <a:avLst/>
          </a:prstGeom>
          <a:noFill/>
        </p:spPr>
        <p:txBody>
          <a:bodyPr wrap="square" anchor="t" lIns="45720" rIns="45720">
            <a:spAutoFit/>
          </a:bodyPr>
          <a:lstStyle/>
          <a:p>
            <a:pPr algn="ctr">
              <a:spcAft>
                <a:spcPts val="800"/>
              </a:spcAft>
            </a:pPr>
            <a:r>
              <a:rPr sz="1600">
                <a:solidFill>
                  <a:srgbClr val="64748B"/>
                </a:solidFill>
                <a:latin typeface="Calibri"/>
              </a:rPr>
              <a:t>Hình 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CHÚ Ý – ĐỒ THỊ HÀM SỐ y = (AX² + BX + C)/(PX + q)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35</a:t>
            </a:r>
          </a:p>
        </p:txBody>
      </p:sp>
      <p:sp>
        <p:nvSpPr>
          <p:cNvPr id="7" name="Rounded Rectangle 6"/>
          <p:cNvSpPr/>
          <p:nvPr/>
        </p:nvSpPr>
        <p:spPr>
          <a:xfrm>
            <a:off x="548640" y="1645920"/>
            <a:ext cx="11064240" cy="292379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682496"/>
                <a:ext cx="10735056" cy="2850642"/>
              </a:xfrm>
              <a:prstGeom prst="rect">
                <a:avLst/>
              </a:prstGeom>
              <a:noFill/>
            </p:spPr>
            <p:txBody>
              <a:bodyPr wrap="square" anchor="ctr" lIns="45720" rIns="45720">
                <a:spAutoFit/>
              </a:bodyPr>
              <a:lstStyle/>
              <a:p>
                <a:pPr algn="l">
                  <a:spcAft>
                    <a:spcPts val="800"/>
                  </a:spcAft>
                </a:pPr>
                <a:r>
                  <a:rPr sz="2500">
                    <a:solidFill>
                      <a:srgbClr val="1E293B"/>
                    </a:solidFill>
                    <a:latin typeface="Calibri"/>
                  </a:rPr>
                  <a:t>Đồ thị của hàm số phân thức </a:t>
                </a:r>
                <a14:m>
                  <m:oMath xmlns:m="http://schemas.openxmlformats.org/officeDocument/2006/math">
                    <m:r>
                      <a:rPr lang="vi-VN" sz="2500" b="0">
                        <a:solidFill>
                          <a:srgbClr val="1E293B"/>
                        </a:solidFill>
                        <a:latin typeface="Cambria Math" panose="02040503050406030204" pitchFamily="18" charset="0"/>
                      </a:rPr>
                      <m:t>y=</m:t>
                    </m:r>
                    <m:f>
                      <m:fPr>
                        <m:type m:val="bar"/>
                      </m:fPr>
                      <m:num>
                        <m:r>
                          <a:rPr lang="vi-VN" sz="2500" b="0">
                            <a:solidFill>
                              <a:srgbClr val="1E293B"/>
                            </a:solidFill>
                            <a:latin typeface="Cambria Math" panose="02040503050406030204" pitchFamily="18" charset="0"/>
                          </a:rPr>
                          <m:t>a</m:t>
                        </m:r>
                        <m:sSup>
                          <m:e>
                            <m:r>
                              <a:rPr lang="vi-VN" sz="2500" b="0">
                                <a:solidFill>
                                  <a:srgbClr val="1E293B"/>
                                </a:solidFill>
                                <a:latin typeface="Cambria Math" panose="02040503050406030204" pitchFamily="18" charset="0"/>
                              </a:rPr>
                              <m:t>x</m:t>
                            </m:r>
                          </m:e>
                          <m:sup>
                            <m:r>
                              <a:rPr lang="vi-VN" sz="2500" b="0">
                                <a:solidFill>
                                  <a:srgbClr val="1E293B"/>
                                </a:solidFill>
                                <a:latin typeface="Cambria Math" panose="02040503050406030204" pitchFamily="18" charset="0"/>
                              </a:rPr>
                              <m:t>2</m:t>
                            </m:r>
                          </m:sup>
                        </m:sSup>
                        <m:r>
                          <a:rPr lang="vi-VN" sz="2500" b="0">
                            <a:solidFill>
                              <a:srgbClr val="1E293B"/>
                            </a:solidFill>
                            <a:latin typeface="Cambria Math" panose="02040503050406030204" pitchFamily="18" charset="0"/>
                          </a:rPr>
                          <m:t>+bx+c</m:t>
                        </m:r>
                      </m:num>
                      <m:den>
                        <m:r>
                          <a:rPr lang="vi-VN" sz="2500" b="0">
                            <a:solidFill>
                              <a:srgbClr val="1E293B"/>
                            </a:solidFill>
                            <a:latin typeface="Cambria Math" panose="02040503050406030204" pitchFamily="18" charset="0"/>
                          </a:rPr>
                          <m:t>px+q</m:t>
                        </m:r>
                      </m:den>
                    </m:f>
                  </m:oMath>
                </a14:m>
                <a:r>
                  <a:rPr sz="2500">
                    <a:solidFill>
                      <a:srgbClr val="1E293B"/>
                    </a:solidFill>
                    <a:latin typeface="Calibri"/>
                  </a:rPr>
                  <a:t> (</a:t>
                </a:r>
                <a14:m>
                  <m:oMath xmlns:m="http://schemas.openxmlformats.org/officeDocument/2006/math">
                    <m:r>
                      <a:rPr lang="vi-VN" sz="2500" b="0">
                        <a:solidFill>
                          <a:srgbClr val="1E293B"/>
                        </a:solidFill>
                        <a:latin typeface="Cambria Math" panose="02040503050406030204" pitchFamily="18" charset="0"/>
                      </a:rPr>
                      <m:t>a≠0,</m:t>
                    </m:r>
                    <m:r>
                      <m:rPr>
                        <m:sty m:val="p"/>
                      </m:rPr>
                      <a:rPr lang="vi-VN" sz="2500" b="0">
                        <a:solidFill>
                          <a:srgbClr val="1E293B"/>
                        </a:solidFill>
                        <a:latin typeface="Cambria Math" panose="02040503050406030204" pitchFamily="18" charset="0"/>
                      </a:rPr>
                      <m:t> </m:t>
                    </m:r>
                    <m:r>
                      <a:rPr lang="vi-VN" sz="2500" b="0">
                        <a:solidFill>
                          <a:srgbClr val="1E293B"/>
                        </a:solidFill>
                        <a:latin typeface="Cambria Math" panose="02040503050406030204" pitchFamily="18" charset="0"/>
                      </a:rPr>
                      <m:t>p≠0</m:t>
                    </m:r>
                  </m:oMath>
                </a14:m>
                <a:r>
                  <a:rPr sz="2500">
                    <a:solidFill>
                      <a:srgbClr val="1E293B"/>
                    </a:solidFill>
                    <a:latin typeface="Calibri"/>
                  </a:rPr>
                  <a:t>, đa thức tử không chia hết cho đa thức mẫu):</a:t>
                </a:r>
              </a:p>
              <a:p>
                <a:pPr algn="l" marL="365760" indent="-365760">
                  <a:spcAft>
                    <a:spcPts val="800"/>
                  </a:spcAft>
                  <a:buClr>
                    <a:srgbClr val="1E40AF"/>
                  </a:buClr>
                  <a:buFont typeface="Arial"/>
                  <a:buChar char="•"/>
                </a:pPr>
                <a:r>
                  <a:rPr sz="2500">
                    <a:solidFill>
                      <a:srgbClr val="1E293B"/>
                    </a:solidFill>
                    <a:latin typeface="Calibri"/>
                  </a:rPr>
                  <a:t>Nhận giao điểm của tiệm cận đứng và tiệm cận xiên làm tâm đối xứng;</a:t>
                </a:r>
              </a:p>
              <a:p>
                <a:pPr algn="l" marL="365760" indent="-365760">
                  <a:spcAft>
                    <a:spcPts val="800"/>
                  </a:spcAft>
                  <a:buClr>
                    <a:srgbClr val="1E40AF"/>
                  </a:buClr>
                  <a:buFont typeface="Arial"/>
                  <a:buChar char="•"/>
                </a:pPr>
                <a:r>
                  <a:rPr sz="2500">
                    <a:solidFill>
                      <a:srgbClr val="1E293B"/>
                    </a:solidFill>
                    <a:latin typeface="Calibri"/>
                  </a:rPr>
                  <a:t>Nhận hai đường phân giác của các góc tạo bởi hai đường tiệm cận này làm các trục đối xứng.</a:t>
                </a:r>
              </a:p>
            </p:txBody>
          </p:sp>
        </mc:Choice>
        <mc:Fallback>
          <p:sp>
            <p:nvSpPr>
              <p:cNvPr id="8" name="TextBox 7"/>
              <p:cNvSpPr txBox="1"/>
              <p:nvPr/>
            </p:nvSpPr>
            <p:spPr>
              <a:xfrm>
                <a:off x="713232" y="1682496"/>
                <a:ext cx="10735056" cy="2850642"/>
              </a:xfrm>
              <a:prstGeom prst="rect">
                <a:avLst/>
              </a:prstGeom>
              <a:noFill/>
            </p:spPr>
            <p:txBody>
              <a:bodyPr wrap="square" anchor="ctr" lIns="45720" rIns="45720">
                <a:spAutoFit/>
              </a:bodyPr>
              <a:lstStyle/>
              <a:p>
                <a:pPr algn="l">
                  <a:spcAft>
                    <a:spcPts val="800"/>
                  </a:spcAft>
                </a:pPr>
                <a:r>
                  <a:rPr sz="2500">
                    <a:solidFill>
                      <a:srgbClr val="1E293B"/>
                    </a:solidFill>
                    <a:latin typeface="Calibri"/>
                  </a:rPr>
                  <a:t>Đồ thị của hàm số phân thức </a:t>
                </a:r>
                <a:r>
                  <a:rPr lang="vi-VN"/>
                  <a:t>y=\frac{ax^2+bx+c}{px+q}</a:t>
                </a:r>
                <a:r>
                  <a:rPr sz="2500">
                    <a:solidFill>
                      <a:srgbClr val="1E293B"/>
                    </a:solidFill>
                    <a:latin typeface="Calibri"/>
                  </a:rPr>
                  <a:t> (</a:t>
                </a:r>
                <a:r>
                  <a:rPr lang="vi-VN"/>
                  <a:t>a\ne 0,\ p\ne 0</a:t>
                </a:r>
                <a:r>
                  <a:rPr sz="2500">
                    <a:solidFill>
                      <a:srgbClr val="1E293B"/>
                    </a:solidFill>
                    <a:latin typeface="Calibri"/>
                  </a:rPr>
                  <a:t>, đa thức tử không chia hết cho đa thức mẫu):</a:t>
                </a:r>
              </a:p>
              <a:p>
                <a:pPr algn="l" marL="365760" indent="-365760">
                  <a:spcAft>
                    <a:spcPts val="800"/>
                  </a:spcAft>
                  <a:buClr>
                    <a:srgbClr val="1E40AF"/>
                  </a:buClr>
                  <a:buFont typeface="Arial"/>
                  <a:buChar char="•"/>
                </a:pPr>
                <a:r>
                  <a:rPr sz="2500">
                    <a:solidFill>
                      <a:srgbClr val="1E293B"/>
                    </a:solidFill>
                    <a:latin typeface="Calibri"/>
                  </a:rPr>
                  <a:t>Nhận giao điểm của tiệm cận đứng và tiệm cận xiên làm tâm đối xứng;</a:t>
                </a:r>
              </a:p>
              <a:p>
                <a:pPr algn="l" marL="365760" indent="-365760">
                  <a:spcAft>
                    <a:spcPts val="800"/>
                  </a:spcAft>
                  <a:buClr>
                    <a:srgbClr val="1E40AF"/>
                  </a:buClr>
                  <a:buFont typeface="Arial"/>
                  <a:buChar char="•"/>
                </a:pPr>
                <a:r>
                  <a:rPr sz="2500">
                    <a:solidFill>
                      <a:srgbClr val="1E293B"/>
                    </a:solidFill>
                    <a:latin typeface="Calibri"/>
                  </a:rPr>
                  <a:t>Nhận hai đường phân giác của các góc tạo bởi hai đường tiệm cận này làm các trục đối xứng.</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LUYỆN TẬP 3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498079"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3.</a:t>
                </a:r>
                <a:r>
                  <a:rPr sz="2000">
                    <a:solidFill>
                      <a:srgbClr val="1E293B"/>
                    </a:solidFill>
                    <a:latin typeface="Calibri"/>
                  </a:rPr>
                  <a:t> Khảo sát sự biến thiên và vẽ đồ thị của hàm số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+3x−1</m:t>
                        </m:r>
                      </m:num>
                      <m:den>
                        <m:r>
                          <a:rPr lang="vi-VN" sz="2000" b="0">
                            <a:solidFill>
                              <a:srgbClr val="1E293B"/>
                            </a:solidFill>
                            <a:latin typeface="Cambria Math" panose="02040503050406030204" pitchFamily="18" charset="0"/>
                          </a:rPr>
                          <m:t>x−2</m:t>
                        </m:r>
                      </m:den>
                    </m:f>
                  </m:oMath>
                </a14:m>
                <a:r>
                  <a:rPr sz="2000">
                    <a:solidFill>
                      <a:srgbClr val="1E293B"/>
                    </a:solidFill>
                    <a:latin typeface="Calibri"/>
                  </a:rPr>
                  <a:t>.</a:t>
                </a:r>
              </a:p>
            </p:txBody>
          </p:sp>
        </mc:Choice>
        <mc:Fallback>
          <p:sp>
            <p:nvSpPr>
              <p:cNvPr id="7" name="TextBox 6"/>
              <p:cNvSpPr txBox="1"/>
              <p:nvPr/>
            </p:nvSpPr>
            <p:spPr>
              <a:xfrm>
                <a:off x="548640" y="1371600"/>
                <a:ext cx="7498079" cy="92049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Luyện tập 3.</a:t>
                </a:r>
                <a:r>
                  <a:rPr sz="2000">
                    <a:solidFill>
                      <a:srgbClr val="1E293B"/>
                    </a:solidFill>
                    <a:latin typeface="Calibri"/>
                  </a:rPr>
                  <a:t> Khảo sát sự biến thiên và vẽ đồ thị của hàm số </a:t>
                </a:r>
                <a:r>
                  <a:rPr lang="vi-VN"/>
                  <a:t>y=\frac{-x^2+3x-1}{x-2}</a:t>
                </a:r>
                <a:r>
                  <a:rPr sz="2000">
                    <a:solidFill>
                      <a:srgbClr val="1E293B"/>
                    </a:solidFill>
                    <a:latin typeface="Calibri"/>
                  </a:rPr>
                  <a:t>.</a:t>
                </a:r>
              </a:p>
            </p:txBody>
          </p:sp>
        </mc:Fallback>
      </mc:AlternateContent>
      <p:sp>
        <p:nvSpPr>
          <p:cNvPr id="8" name="s1_nen"/>
          <p:cNvSpPr/>
          <p:nvPr/>
        </p:nvSpPr>
        <p:spPr>
          <a:xfrm>
            <a:off x="548640" y="2383536"/>
            <a:ext cx="7498079" cy="14538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20112"/>
                <a:ext cx="7168895" cy="13807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Tập xác định </a:t>
                </a:r>
                <a14:m>
                  <m:oMath xmlns:m="http://schemas.openxmlformats.org/officeDocument/2006/math">
                    <m:r>
                      <a:rPr lang="vi-VN" sz="2000" b="0">
                        <a:solidFill>
                          <a:srgbClr val="1E293B"/>
                        </a:solidFill>
                        <a:latin typeface="Cambria Math" panose="02040503050406030204" pitchFamily="18" charset="0"/>
                      </a:rPr>
                      <m:t>ℝ⧵{2}</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y=−x+1+</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x−2</m:t>
                        </m:r>
                      </m:den>
                    </m:f>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=−1−</m:t>
                    </m:r>
                    <m:f>
                      <m:fPr>
                        <m:type m:val="bar"/>
                      </m:fPr>
                      <m:num>
                        <m:r>
                          <a:rPr lang="vi-VN" sz="2000" b="0">
                            <a:solidFill>
                              <a:srgbClr val="1E293B"/>
                            </a:solidFill>
                            <a:latin typeface="Cambria Math" panose="02040503050406030204" pitchFamily="18" charset="0"/>
                          </a:rPr>
                          <m:t>1</m:t>
                        </m:r>
                      </m:num>
                      <m:den>
                        <m:sSup>
                          <m:e>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&lt;0</m:t>
                    </m:r>
                  </m:oMath>
                </a14:m>
                <a:r>
                  <a:rPr sz="2000">
                    <a:solidFill>
                      <a:srgbClr val="1E293B"/>
                    </a:solidFill>
                    <a:latin typeface="Calibri"/>
                  </a:rPr>
                  <a:t>: nghịch biến trên từng khoảng </a:t>
                </a:r>
                <a14:m>
                  <m:oMath xmlns:m="http://schemas.openxmlformats.org/officeDocument/2006/math">
                    <m:d>
                      <m:dPr>
                        <m:sepChr m:val="∞"/>
                      </m:dPr>
                      <m:e>
                        <m:r>
                          <a:rPr lang="vi-VN" sz="2000" b="0">
                            <a:solidFill>
                              <a:srgbClr val="1E293B"/>
                            </a:solidFill>
                            <a:latin typeface="Cambria Math" panose="02040503050406030204" pitchFamily="18" charset="0"/>
                          </a:rPr>
                          <m:t>−</m:t>
                        </m:r>
                      </m:e>
                      <m:e>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2</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e>
                    </m:d>
                  </m:oMath>
                </a14:m>
                <a:r>
                  <a:rPr sz="2000">
                    <a:solidFill>
                      <a:srgbClr val="1E293B"/>
                    </a:solidFill>
                    <a:latin typeface="Calibri"/>
                  </a:rPr>
                  <a:t>; không có cực trị.</a:t>
                </a:r>
              </a:p>
            </p:txBody>
          </p:sp>
        </mc:Choice>
        <mc:Fallback>
          <p:sp>
            <p:nvSpPr>
              <p:cNvPr id="9" name="TextBox 8"/>
              <p:cNvSpPr txBox="1"/>
              <p:nvPr/>
            </p:nvSpPr>
            <p:spPr>
              <a:xfrm>
                <a:off x="713232" y="2420112"/>
                <a:ext cx="7168895" cy="13807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Tập xác định </a:t>
                </a:r>
                <a:r>
                  <a:rPr lang="vi-VN"/>
                  <a:t>\mathbb{R}\setminus\{2\}</a:t>
                </a:r>
                <a:r>
                  <a:rPr sz="2000">
                    <a:solidFill>
                      <a:srgbClr val="1E293B"/>
                    </a:solidFill>
                    <a:latin typeface="Calibri"/>
                  </a:rPr>
                  <a:t>; </a:t>
                </a:r>
                <a:r>
                  <a:rPr lang="vi-VN"/>
                  <a:t>y=-x+1+\frac{1}{x-2}</a:t>
                </a:r>
                <a:r>
                  <a:rPr sz="2000">
                    <a:solidFill>
                      <a:srgbClr val="1E293B"/>
                    </a:solidFill>
                    <a:latin typeface="Calibri"/>
                  </a:rPr>
                  <a:t>; </a:t>
                </a:r>
                <a:r>
                  <a:rPr lang="vi-VN"/>
                  <a:t>y'=-1-\frac{1}{(x-2)^2}&lt;0</a:t>
                </a:r>
                <a:r>
                  <a:rPr sz="2000">
                    <a:solidFill>
                      <a:srgbClr val="1E293B"/>
                    </a:solidFill>
                    <a:latin typeface="Calibri"/>
                  </a:rPr>
                  <a:t>: nghịch biến trên từng khoảng </a:t>
                </a:r>
                <a:r>
                  <a:rPr lang="vi-VN"/>
                  <a:t>(-\infty;\ 2)</a:t>
                </a:r>
                <a:r>
                  <a:rPr sz="2000">
                    <a:solidFill>
                      <a:srgbClr val="1E293B"/>
                    </a:solidFill>
                    <a:latin typeface="Calibri"/>
                  </a:rPr>
                  <a:t>, </a:t>
                </a:r>
                <a:r>
                  <a:rPr lang="vi-VN"/>
                  <a:t>(2;\ +\infty)</a:t>
                </a:r>
                <a:r>
                  <a:rPr sz="2000">
                    <a:solidFill>
                      <a:srgbClr val="1E293B"/>
                    </a:solidFill>
                    <a:latin typeface="Calibri"/>
                  </a:rPr>
                  <a:t>; không có cực trị.</a:t>
                </a:r>
              </a:p>
            </p:txBody>
          </p:sp>
        </mc:Fallback>
      </mc:AlternateContent>
      <p:sp>
        <p:nvSpPr>
          <p:cNvPr id="10" name="s2_nen"/>
          <p:cNvSpPr/>
          <p:nvPr/>
        </p:nvSpPr>
        <p:spPr>
          <a:xfrm>
            <a:off x="548640" y="3928871"/>
            <a:ext cx="7498079"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65447"/>
                <a:ext cx="7168895"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Tiệm cận đứng </a:t>
                </a:r>
                <a14:m>
                  <m:oMath xmlns:m="http://schemas.openxmlformats.org/officeDocument/2006/math">
                    <m:r>
                      <a:rPr lang="vi-VN" sz="2000" b="0">
                        <a:solidFill>
                          <a:srgbClr val="1E293B"/>
                        </a:solidFill>
                        <a:latin typeface="Cambria Math" panose="02040503050406030204" pitchFamily="18" charset="0"/>
                      </a:rPr>
                      <m:t>x=2</m:t>
                    </m:r>
                  </m:oMath>
                </a14:m>
                <a:r>
                  <a:rPr sz="2000">
                    <a:solidFill>
                      <a:srgbClr val="1E293B"/>
                    </a:solidFill>
                    <a:latin typeface="Calibri"/>
                  </a:rPr>
                  <a:t>; tiệm cận xiên </a:t>
                </a:r>
                <a14:m>
                  <m:oMath xmlns:m="http://schemas.openxmlformats.org/officeDocument/2006/math">
                    <m:r>
                      <a:rPr lang="vi-VN" sz="2000" b="0">
                        <a:solidFill>
                          <a:srgbClr val="1E293B"/>
                        </a:solidFill>
                        <a:latin typeface="Cambria Math" panose="02040503050406030204" pitchFamily="18" charset="0"/>
                      </a:rPr>
                      <m:t>y=−x+1</m:t>
                    </m:r>
                  </m:oMath>
                </a14:m>
                <a:r>
                  <a:rPr sz="2000">
                    <a:solidFill>
                      <a:srgbClr val="1E293B"/>
                    </a:solidFill>
                    <a:latin typeface="Calibri"/>
                  </a:rPr>
                  <a:t>. Giao với </a:t>
                </a:r>
                <a14:m>
                  <m:oMath xmlns:m="http://schemas.openxmlformats.org/officeDocument/2006/math">
                    <m:r>
                      <a:rPr lang="vi-VN" sz="2000" b="0">
                        <a:solidFill>
                          <a:srgbClr val="1E293B"/>
                        </a:solidFill>
                        <a:latin typeface="Cambria Math" panose="02040503050406030204" pitchFamily="18" charset="0"/>
                      </a:rPr>
                      <m:t>Oy</m:t>
                    </m:r>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e>
                    </m:d>
                  </m:oMath>
                </a14:m>
                <a:r>
                  <a:rPr sz="2000">
                    <a:solidFill>
                      <a:srgbClr val="1E293B"/>
                    </a:solidFill>
                    <a:latin typeface="Calibri"/>
                  </a:rPr>
                  <a:t>; với </a:t>
                </a:r>
                <a14:m>
                  <m:oMath xmlns:m="http://schemas.openxmlformats.org/officeDocument/2006/math">
                    <m:r>
                      <a:rPr lang="vi-VN" sz="2000" b="0">
                        <a:solidFill>
                          <a:srgbClr val="1E293B"/>
                        </a:solidFill>
                        <a:latin typeface="Cambria Math" panose="02040503050406030204" pitchFamily="18" charset="0"/>
                      </a:rPr>
                      <m:t>Ox</m:t>
                    </m:r>
                  </m:oMath>
                </a14:m>
                <a:r>
                  <a:rPr sz="2000">
                    <a:solidFill>
                      <a:srgbClr val="1E293B"/>
                    </a:solidFill>
                    <a:latin typeface="Calibri"/>
                  </a:rPr>
                  <a:t>: </a:t>
                </a:r>
                <a14:m>
                  <m:oMath xmlns:m="http://schemas.openxmlformats.org/officeDocument/2006/math">
                    <m:d>
                      <m:dPr>
                        <m:sepChr m:val=""/>
                      </m:dPr>
                      <m:e>
                        <m:f>
                          <m:fPr>
                            <m:type m:val="bar"/>
                          </m:fPr>
                          <m:num>
                            <m:r>
                              <a:rPr lang="vi-VN" sz="2000" b="0">
                                <a:solidFill>
                                  <a:srgbClr val="1E293B"/>
                                </a:solidFill>
                                <a:latin typeface="Cambria Math" panose="02040503050406030204" pitchFamily="18" charset="0"/>
                              </a:rPr>
                              <m:t>3±</m:t>
                            </m:r>
                            <m:rad>
                              <m:radPr>
                                <m:degHide m:val="on"/>
                              </m:radPr>
                              <m:deg/>
                              <m:e>
                                <m:r>
                                  <a:rPr lang="vi-VN" sz="2000" b="0">
                                    <a:solidFill>
                                      <a:srgbClr val="1E293B"/>
                                    </a:solidFill>
                                    <a:latin typeface="Cambria Math" panose="02040503050406030204" pitchFamily="18" charset="0"/>
                                  </a:rPr>
                                  <m:t>5</m:t>
                                </m:r>
                              </m:e>
                            </m:rad>
                          </m:num>
                          <m:den>
                            <m:r>
                              <a:rPr lang="vi-VN" sz="2000" b="0">
                                <a:solidFill>
                                  <a:srgbClr val="1E293B"/>
                                </a:solidFill>
                                <a:latin typeface="Cambria Math" panose="02040503050406030204" pitchFamily="18" charset="0"/>
                              </a:rPr>
                              <m:t>2</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a:t>
                </a:r>
              </a:p>
            </p:txBody>
          </p:sp>
        </mc:Choice>
        <mc:Fallback>
          <p:sp>
            <p:nvSpPr>
              <p:cNvPr id="11" name="TextBox 10"/>
              <p:cNvSpPr txBox="1"/>
              <p:nvPr/>
            </p:nvSpPr>
            <p:spPr>
              <a:xfrm>
                <a:off x="713232" y="3965447"/>
                <a:ext cx="7168895" cy="107594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Tiệm cận đứng </a:t>
                </a:r>
                <a:r>
                  <a:rPr lang="vi-VN"/>
                  <a:t>x=2</a:t>
                </a:r>
                <a:r>
                  <a:rPr sz="2000">
                    <a:solidFill>
                      <a:srgbClr val="1E293B"/>
                    </a:solidFill>
                    <a:latin typeface="Calibri"/>
                  </a:rPr>
                  <a:t>; tiệm cận xiên </a:t>
                </a:r>
                <a:r>
                  <a:rPr lang="vi-VN"/>
                  <a:t>y=-x+1</a:t>
                </a:r>
                <a:r>
                  <a:rPr sz="2000">
                    <a:solidFill>
                      <a:srgbClr val="1E293B"/>
                    </a:solidFill>
                    <a:latin typeface="Calibri"/>
                  </a:rPr>
                  <a:t>. Giao với </a:t>
                </a:r>
                <a:r>
                  <a:rPr lang="vi-VN"/>
                  <a:t>Oy</a:t>
                </a:r>
                <a:r>
                  <a:rPr sz="2000">
                    <a:solidFill>
                      <a:srgbClr val="1E293B"/>
                    </a:solidFill>
                    <a:latin typeface="Calibri"/>
                  </a:rPr>
                  <a:t>: </a:t>
                </a:r>
                <a:r>
                  <a:rPr lang="vi-VN"/>
                  <a:t>\left(0;\ \frac{1}{2}\right)</a:t>
                </a:r>
                <a:r>
                  <a:rPr sz="2000">
                    <a:solidFill>
                      <a:srgbClr val="1E293B"/>
                    </a:solidFill>
                    <a:latin typeface="Calibri"/>
                  </a:rPr>
                  <a:t>; với </a:t>
                </a:r>
                <a:r>
                  <a:rPr lang="vi-VN"/>
                  <a:t>Ox</a:t>
                </a:r>
                <a:r>
                  <a:rPr sz="2000">
                    <a:solidFill>
                      <a:srgbClr val="1E293B"/>
                    </a:solidFill>
                    <a:latin typeface="Calibri"/>
                  </a:rPr>
                  <a:t>: </a:t>
                </a:r>
                <a:r>
                  <a:rPr lang="vi-VN"/>
                  <a:t>\left(\frac{3\pm\sqrt{5}}{2};\ 0\right)</a:t>
                </a:r>
                <a:r>
                  <a:rPr sz="2000">
                    <a:solidFill>
                      <a:srgbClr val="1E293B"/>
                    </a:solidFill>
                    <a:latin typeface="Calibri"/>
                  </a:rPr>
                  <a:t>.</a:t>
                </a:r>
              </a:p>
            </p:txBody>
          </p:sp>
        </mc:Fallback>
      </mc:AlternateContent>
      <p:sp>
        <p:nvSpPr>
          <p:cNvPr id="12" name="s3_nen"/>
          <p:cNvSpPr/>
          <p:nvPr/>
        </p:nvSpPr>
        <p:spPr>
          <a:xfrm>
            <a:off x="548640" y="5169407"/>
            <a:ext cx="7498079"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205983"/>
                <a:ext cx="7168895"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Tâm đối xứng </a:t>
                </a:r>
                <a14:m>
                  <m:oMath xmlns:m="http://schemas.openxmlformats.org/officeDocument/2006/math">
                    <m:r>
                      <a:rPr lang="vi-VN" sz="2000" b="0">
                        <a:solidFill>
                          <a:srgbClr val="1E293B"/>
                        </a:solidFill>
                        <a:latin typeface="Cambria Math" panose="02040503050406030204" pitchFamily="18" charset="0"/>
                      </a:rPr>
                      <m:t>I(2;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oMath>
                </a14:m>
                <a:r>
                  <a:rPr sz="2000">
                    <a:solidFill>
                      <a:srgbClr val="1E293B"/>
                    </a:solidFill>
                    <a:latin typeface="Calibri"/>
                  </a:rPr>
                  <a:t>.</a:t>
                </a:r>
              </a:p>
            </p:txBody>
          </p:sp>
        </mc:Choice>
        <mc:Fallback>
          <p:sp>
            <p:nvSpPr>
              <p:cNvPr id="13" name="TextBox 12"/>
              <p:cNvSpPr txBox="1"/>
              <p:nvPr/>
            </p:nvSpPr>
            <p:spPr>
              <a:xfrm>
                <a:off x="713232" y="5205983"/>
                <a:ext cx="7168895"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Tâm đối xứng </a:t>
                </a:r>
                <a:r>
                  <a:rPr lang="vi-VN"/>
                  <a:t>I(2;\ -1)</a:t>
                </a:r>
                <a:r>
                  <a:rPr sz="2000">
                    <a:solidFill>
                      <a:srgbClr val="1E293B"/>
                    </a:solidFill>
                    <a:latin typeface="Calibri"/>
                  </a:rPr>
                  <a:t>.</a:t>
                </a:r>
              </a:p>
            </p:txBody>
          </p:sp>
        </mc:Fallback>
      </mc:AlternateContent>
      <p:pic>
        <p:nvPicPr>
          <p:cNvPr id="14" name="Picture 13" descr="b4_lt3.png"/>
          <p:cNvPicPr>
            <a:picLocks noChangeAspect="1"/>
          </p:cNvPicPr>
          <p:nvPr/>
        </p:nvPicPr>
        <p:blipFill>
          <a:blip r:embed="rId3"/>
          <a:stretch>
            <a:fillRect/>
          </a:stretch>
        </p:blipFill>
        <p:spPr>
          <a:xfrm>
            <a:off x="8321040" y="1488879"/>
            <a:ext cx="3291840" cy="32401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37</a:t>
            </a:r>
          </a:p>
        </p:txBody>
      </p:sp>
      <p:sp>
        <p:nvSpPr>
          <p:cNvPr id="7" name="Rounded Rectangle 6"/>
          <p:cNvSpPr/>
          <p:nvPr/>
        </p:nvSpPr>
        <p:spPr>
          <a:xfrm>
            <a:off x="548640" y="1463040"/>
            <a:ext cx="11064240" cy="215950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208635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y=</m:t>
                    </m:r>
                    <m:f>
                      <m:fPr>
                        <m:type m:val="bar"/>
                      </m:fPr>
                      <m:num>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+bx+c</m:t>
                        </m:r>
                      </m:num>
                      <m:den>
                        <m:r>
                          <a:rPr lang="vi-VN" sz="2200" b="0">
                            <a:solidFill>
                              <a:srgbClr val="1E293B"/>
                            </a:solidFill>
                            <a:latin typeface="Cambria Math" panose="02040503050406030204" pitchFamily="18" charset="0"/>
                          </a:rPr>
                          <m:t>px+q</m:t>
                        </m:r>
                      </m:den>
                    </m:f>
                  </m:oMath>
                </a14:m>
                <a:r>
                  <a:rPr sz="2200">
                    <a:solidFill>
                      <a:srgbClr val="1E293B"/>
                    </a:solidFill>
                    <a:latin typeface="Calibri"/>
                  </a:rPr>
                  <a:t>: chia đa thức </a:t>
                </a:r>
                <a14:m>
                  <m:oMath xmlns:m="http://schemas.openxmlformats.org/officeDocument/2006/math">
                    <m:r>
                      <a:rPr lang="vi-VN" sz="2200" b="0">
                        <a:solidFill>
                          <a:srgbClr val="1E293B"/>
                        </a:solidFill>
                        <a:latin typeface="Cambria Math" panose="02040503050406030204" pitchFamily="18" charset="0"/>
                      </a:rPr>
                      <m:t>y=mx+n+</m:t>
                    </m:r>
                    <m:f>
                      <m:fPr>
                        <m:type m:val="bar"/>
                      </m:fPr>
                      <m:num>
                        <m:r>
                          <a:rPr lang="vi-VN" sz="2200" b="0">
                            <a:solidFill>
                              <a:srgbClr val="1E293B"/>
                            </a:solidFill>
                            <a:latin typeface="Cambria Math" panose="02040503050406030204" pitchFamily="18" charset="0"/>
                          </a:rPr>
                          <m:t>k</m:t>
                        </m:r>
                      </m:num>
                      <m:den>
                        <m:r>
                          <a:rPr lang="vi-VN" sz="2200" b="0">
                            <a:solidFill>
                              <a:srgbClr val="1E293B"/>
                            </a:solidFill>
                            <a:latin typeface="Cambria Math" panose="02040503050406030204" pitchFamily="18" charset="0"/>
                          </a:rPr>
                          <m:t>px+q</m:t>
                        </m:r>
                      </m:den>
                    </m:f>
                  </m:oMath>
                </a14:m>
                <a:r>
                  <a:rPr sz="2200">
                    <a:solidFill>
                      <a:srgbClr val="1E293B"/>
                    </a:solidFill>
                    <a:latin typeface="Calibri"/>
                  </a:rPr>
                  <a:t> → tiệm cận xiên </a:t>
                </a:r>
                <a14:m>
                  <m:oMath xmlns:m="http://schemas.openxmlformats.org/officeDocument/2006/math">
                    <m:r>
                      <a:rPr lang="vi-VN" sz="2200" b="0">
                        <a:solidFill>
                          <a:srgbClr val="1E293B"/>
                        </a:solidFill>
                        <a:latin typeface="Cambria Math" panose="02040503050406030204" pitchFamily="18" charset="0"/>
                      </a:rPr>
                      <m:t>y=mx+n</m:t>
                    </m:r>
                  </m:oMath>
                </a14:m>
                <a:r>
                  <a:rPr sz="2200">
                    <a:solidFill>
                      <a:srgbClr val="1E293B"/>
                    </a:solidFill>
                    <a:latin typeface="Calibri"/>
                  </a:rPr>
                  <a:t>, tiệm cận đứng </a:t>
                </a:r>
                <a14:m>
                  <m:oMath xmlns:m="http://schemas.openxmlformats.org/officeDocument/2006/math">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q</m:t>
                        </m:r>
                      </m:num>
                      <m:den>
                        <m:r>
                          <a:rPr lang="vi-VN" sz="2200" b="0">
                            <a:solidFill>
                              <a:srgbClr val="1E293B"/>
                            </a:solidFill>
                            <a:latin typeface="Cambria Math" panose="02040503050406030204" pitchFamily="18" charset="0"/>
                          </a:rPr>
                          <m:t>p</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Có 2 cực trị hoặc không có cực trị; tâm đối xứng là giao điểm hai tiệm cận.</a:t>
                </a:r>
              </a:p>
            </p:txBody>
          </p:sp>
        </mc:Choice>
        <mc:Fallback>
          <p:sp>
            <p:nvSpPr>
              <p:cNvPr id="8" name="TextBox 7"/>
              <p:cNvSpPr txBox="1"/>
              <p:nvPr/>
            </p:nvSpPr>
            <p:spPr>
              <a:xfrm>
                <a:off x="713232" y="1499616"/>
                <a:ext cx="10735056" cy="2086356"/>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y=\frac{ax^2+bx+c}{px+q}</a:t>
                </a:r>
                <a:r>
                  <a:rPr sz="2200">
                    <a:solidFill>
                      <a:srgbClr val="1E293B"/>
                    </a:solidFill>
                    <a:latin typeface="Calibri"/>
                  </a:rPr>
                  <a:t>: chia đa thức </a:t>
                </a:r>
                <a:r>
                  <a:rPr lang="vi-VN"/>
                  <a:t>y=mx+n+\frac{k}{px+q}</a:t>
                </a:r>
                <a:r>
                  <a:rPr sz="2200">
                    <a:solidFill>
                      <a:srgbClr val="1E293B"/>
                    </a:solidFill>
                    <a:latin typeface="Calibri"/>
                  </a:rPr>
                  <a:t> → tiệm cận xiên </a:t>
                </a:r>
                <a:r>
                  <a:rPr lang="vi-VN"/>
                  <a:t>y=mx+n</a:t>
                </a:r>
                <a:r>
                  <a:rPr sz="2200">
                    <a:solidFill>
                      <a:srgbClr val="1E293B"/>
                    </a:solidFill>
                    <a:latin typeface="Calibri"/>
                  </a:rPr>
                  <a:t>, tiệm cận đứng </a:t>
                </a:r>
                <a:r>
                  <a:rPr lang="vi-VN"/>
                  <a:t>x=-\frac{q}{p}</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Có 2 cực trị hoặc không có cực trị; tâm đối xứng là giao điểm hai tiệm cận.</a:t>
                </a:r>
              </a:p>
            </p:txBody>
          </p:sp>
        </mc:Fallback>
      </mc:AlternateContent>
      <p:sp>
        <p:nvSpPr>
          <p:cNvPr id="9" name="Rounded Rectangle 8"/>
          <p:cNvSpPr/>
          <p:nvPr/>
        </p:nvSpPr>
        <p:spPr>
          <a:xfrm>
            <a:off x="548640" y="3851148"/>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887724"/>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1.23, 1.25 (SGK tr.32).</a:t>
            </a:r>
          </a:p>
          <a:p>
            <a:pPr algn="l" marL="365760" indent="-365760">
              <a:spcAft>
                <a:spcPts val="800"/>
              </a:spcAft>
              <a:buClr>
                <a:srgbClr val="1E40AF"/>
              </a:buClr>
              <a:buFont typeface="Arial"/>
              <a:buChar char="•"/>
            </a:pPr>
            <a:r>
              <a:rPr sz="2200">
                <a:solidFill>
                  <a:srgbClr val="1E293B"/>
                </a:solidFill>
                <a:latin typeface="Calibri"/>
              </a:rPr>
              <a:t>Tiết sau chữa bài tập.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5 (T18)</a:t>
            </a:r>
          </a:p>
          <a:p>
            <a:pPr>
              <a:spcAft>
                <a:spcPts val="600"/>
              </a:spcAft>
            </a:pPr>
            <a:r>
              <a:rPr sz="4000" b="1">
                <a:solidFill>
                  <a:srgbClr val="FFFFFF"/>
                </a:solidFill>
                <a:latin typeface="Cambria"/>
              </a:rPr>
              <a:t>Chữa bài tập</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Khảo sát, vẽ đồ thị các dạng hàm số (Bài 1.21 – 1.23).</a:t>
            </a:r>
          </a:p>
          <a:p>
            <a:pPr algn="l">
              <a:spcAft>
                <a:spcPts val="800"/>
              </a:spcAft>
            </a:pPr>
            <a:r>
              <a:rPr sz="2200">
                <a:solidFill>
                  <a:srgbClr val="E0E7FF"/>
                </a:solidFill>
                <a:latin typeface="Calibri"/>
              </a:rPr>
              <a:t>• Mô hình thực tế (Bài 1.24, 1.25).</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1.21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39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1.21.</a:t>
                </a:r>
                <a:r>
                  <a:rPr sz="2000">
                    <a:solidFill>
                      <a:srgbClr val="1E293B"/>
                    </a:solidFill>
                    <a:latin typeface="Calibri"/>
                  </a:rPr>
                  <a:t> Khảo sát sự biến thiên và vẽ đồ thị: a)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+3x+1</m:t>
                    </m:r>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y=</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3</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−x−1</m:t>
                    </m:r>
                  </m:oMath>
                </a14:m>
                <a:r>
                  <a:rPr sz="2000">
                    <a:solidFill>
                      <a:srgbClr val="1E293B"/>
                    </a:solidFill>
                    <a:latin typeface="Calibri"/>
                  </a:rPr>
                  <a:t>.</a:t>
                </a:r>
              </a:p>
            </p:txBody>
          </p:sp>
        </mc:Choice>
        <mc:Fallback>
          <p:sp>
            <p:nvSpPr>
              <p:cNvPr id="7" name="TextBox 6"/>
              <p:cNvSpPr txBox="1"/>
              <p:nvPr/>
            </p:nvSpPr>
            <p:spPr>
              <a:xfrm>
                <a:off x="548640" y="1371600"/>
                <a:ext cx="11064240" cy="4785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1.21.</a:t>
                </a:r>
                <a:r>
                  <a:rPr sz="2000">
                    <a:solidFill>
                      <a:srgbClr val="1E293B"/>
                    </a:solidFill>
                    <a:latin typeface="Calibri"/>
                  </a:rPr>
                  <a:t> Khảo sát sự biến thiên và vẽ đồ thị: a) </a:t>
                </a:r>
                <a:r>
                  <a:rPr lang="vi-VN"/>
                  <a:t>y=-x^3+3x+1</a:t>
                </a:r>
                <a:r>
                  <a:rPr sz="2000">
                    <a:solidFill>
                      <a:srgbClr val="1E293B"/>
                    </a:solidFill>
                    <a:latin typeface="Calibri"/>
                  </a:rPr>
                  <a:t>; b) </a:t>
                </a:r>
                <a:r>
                  <a:rPr lang="vi-VN"/>
                  <a:t>y=x^3+3x^2-x-1</a:t>
                </a:r>
                <a:r>
                  <a:rPr sz="2000">
                    <a:solidFill>
                      <a:srgbClr val="1E293B"/>
                    </a:solidFill>
                    <a:latin typeface="Calibri"/>
                  </a:rPr>
                  <a:t>.</a:t>
                </a:r>
              </a:p>
            </p:txBody>
          </p:sp>
        </mc:Fallback>
      </mc:AlternateContent>
      <p:sp>
        <p:nvSpPr>
          <p:cNvPr id="8" name="s1_nen"/>
          <p:cNvSpPr/>
          <p:nvPr/>
        </p:nvSpPr>
        <p:spPr>
          <a:xfrm>
            <a:off x="548640" y="1941575"/>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1978151"/>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+3</m:t>
                    </m:r>
                  </m:oMath>
                </a14:m>
                <a:r>
                  <a:rPr sz="2000">
                    <a:solidFill>
                      <a:srgbClr val="1E293B"/>
                    </a:solidFill>
                    <a:latin typeface="Calibri"/>
                  </a:rPr>
                  <a:t>: CĐ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e>
                    </m:d>
                  </m:oMath>
                </a14:m>
                <a:r>
                  <a:rPr sz="2000">
                    <a:solidFill>
                      <a:srgbClr val="1E293B"/>
                    </a:solidFill>
                    <a:latin typeface="Calibri"/>
                  </a:rPr>
                  <a:t>, CT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tâm đối xứng </a:t>
                </a:r>
                <a14:m>
                  <m:oMath xmlns:m="http://schemas.openxmlformats.org/officeDocument/2006/math">
                    <m:d>
                      <m:dPr>
                        <m:sepChr m:val=""/>
                      </m:dPr>
                      <m:e>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9" name="TextBox 8"/>
              <p:cNvSpPr txBox="1"/>
              <p:nvPr/>
            </p:nvSpPr>
            <p:spPr>
              <a:xfrm>
                <a:off x="713232" y="1978151"/>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y'=-3x^2+3</a:t>
                </a:r>
                <a:r>
                  <a:rPr sz="2000">
                    <a:solidFill>
                      <a:srgbClr val="1E293B"/>
                    </a:solidFill>
                    <a:latin typeface="Calibri"/>
                  </a:rPr>
                  <a:t>: CĐ </a:t>
                </a:r>
                <a:r>
                  <a:rPr lang="vi-VN"/>
                  <a:t>(1;\ 3)</a:t>
                </a:r>
                <a:r>
                  <a:rPr sz="2000">
                    <a:solidFill>
                      <a:srgbClr val="1E293B"/>
                    </a:solidFill>
                    <a:latin typeface="Calibri"/>
                  </a:rPr>
                  <a:t>, CT </a:t>
                </a:r>
                <a:r>
                  <a:rPr lang="vi-VN"/>
                  <a:t>(-1;\ -1)</a:t>
                </a:r>
                <a:r>
                  <a:rPr sz="2000">
                    <a:solidFill>
                      <a:srgbClr val="1E293B"/>
                    </a:solidFill>
                    <a:latin typeface="Calibri"/>
                  </a:rPr>
                  <a:t>; tâm đối xứng </a:t>
                </a:r>
                <a:r>
                  <a:rPr lang="vi-VN"/>
                  <a:t>(0;\ 1)</a:t>
                </a:r>
                <a:r>
                  <a:rPr sz="2000">
                    <a:solidFill>
                      <a:srgbClr val="1E293B"/>
                    </a:solidFill>
                    <a:latin typeface="Calibri"/>
                  </a:rPr>
                  <a:t>.</a:t>
                </a:r>
              </a:p>
            </p:txBody>
          </p:sp>
        </mc:Fallback>
      </mc:AlternateContent>
      <p:sp>
        <p:nvSpPr>
          <p:cNvPr id="10" name="s2_nen"/>
          <p:cNvSpPr/>
          <p:nvPr/>
        </p:nvSpPr>
        <p:spPr>
          <a:xfrm>
            <a:off x="548640" y="2602991"/>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639567"/>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+6x−1</m:t>
                    </m:r>
                  </m:oMath>
                </a14:m>
                <a:r>
                  <a:rPr sz="2000">
                    <a:solidFill>
                      <a:srgbClr val="1E293B"/>
                    </a:solidFill>
                    <a:latin typeface="Calibri"/>
                  </a:rPr>
                  <a:t>: CĐ tại </a:t>
                </a:r>
                <a14:m>
                  <m:oMath xmlns:m="http://schemas.openxmlformats.org/officeDocument/2006/math">
                    <m:r>
                      <a:rPr lang="vi-VN" sz="2000" b="0">
                        <a:solidFill>
                          <a:srgbClr val="1E293B"/>
                        </a:solidFill>
                        <a:latin typeface="Cambria Math" panose="02040503050406030204" pitchFamily="18" charset="0"/>
                      </a:rPr>
                      <m:t>x=−1−</m:t>
                    </m:r>
                    <m:f>
                      <m:fPr>
                        <m:type m:val="bar"/>
                      </m:fPr>
                      <m:num>
                        <m:r>
                          <a:rPr lang="vi-VN" sz="2000" b="0">
                            <a:solidFill>
                              <a:srgbClr val="1E293B"/>
                            </a:solidFill>
                            <a:latin typeface="Cambria Math" panose="02040503050406030204" pitchFamily="18" charset="0"/>
                          </a:rPr>
                          <m:t>2</m:t>
                        </m:r>
                        <m:rad>
                          <m:radPr>
                            <m:degHide m:val="on"/>
                          </m:radPr>
                          <m:deg/>
                          <m:e>
                            <m:r>
                              <a:rPr lang="vi-VN" sz="2000" b="0">
                                <a:solidFill>
                                  <a:srgbClr val="1E293B"/>
                                </a:solidFill>
                                <a:latin typeface="Cambria Math" panose="02040503050406030204" pitchFamily="18" charset="0"/>
                              </a:rPr>
                              <m:t>3</m:t>
                            </m:r>
                          </m:e>
                        </m:rad>
                      </m:num>
                      <m:den>
                        <m:r>
                          <a:rPr lang="vi-VN" sz="2000" b="0">
                            <a:solidFill>
                              <a:srgbClr val="1E293B"/>
                            </a:solidFill>
                            <a:latin typeface="Cambria Math" panose="02040503050406030204" pitchFamily="18" charset="0"/>
                          </a:rPr>
                          <m:t>3</m:t>
                        </m:r>
                      </m:den>
                    </m:f>
                  </m:oMath>
                </a14:m>
                <a:r>
                  <a:rPr sz="2000">
                    <a:solidFill>
                      <a:srgbClr val="1E293B"/>
                    </a:solidFill>
                    <a:latin typeface="Calibri"/>
                  </a:rPr>
                  <a:t>, CT tại </a:t>
                </a:r>
                <a14:m>
                  <m:oMath xmlns:m="http://schemas.openxmlformats.org/officeDocument/2006/math">
                    <m:r>
                      <a:rPr lang="vi-VN" sz="2000" b="0">
                        <a:solidFill>
                          <a:srgbClr val="1E293B"/>
                        </a:solidFill>
                        <a:latin typeface="Cambria Math" panose="02040503050406030204" pitchFamily="18" charset="0"/>
                      </a:rPr>
                      <m:t>x=−1+</m:t>
                    </m:r>
                    <m:f>
                      <m:fPr>
                        <m:type m:val="bar"/>
                      </m:fPr>
                      <m:num>
                        <m:r>
                          <a:rPr lang="vi-VN" sz="2000" b="0">
                            <a:solidFill>
                              <a:srgbClr val="1E293B"/>
                            </a:solidFill>
                            <a:latin typeface="Cambria Math" panose="02040503050406030204" pitchFamily="18" charset="0"/>
                          </a:rPr>
                          <m:t>2</m:t>
                        </m:r>
                        <m:rad>
                          <m:radPr>
                            <m:degHide m:val="on"/>
                          </m:radPr>
                          <m:deg/>
                          <m:e>
                            <m:r>
                              <a:rPr lang="vi-VN" sz="2000" b="0">
                                <a:solidFill>
                                  <a:srgbClr val="1E293B"/>
                                </a:solidFill>
                                <a:latin typeface="Cambria Math" panose="02040503050406030204" pitchFamily="18" charset="0"/>
                              </a:rPr>
                              <m:t>3</m:t>
                            </m:r>
                          </m:e>
                        </m:rad>
                      </m:num>
                      <m:den>
                        <m:r>
                          <a:rPr lang="vi-VN" sz="2000" b="0">
                            <a:solidFill>
                              <a:srgbClr val="1E293B"/>
                            </a:solidFill>
                            <a:latin typeface="Cambria Math" panose="02040503050406030204" pitchFamily="18" charset="0"/>
                          </a:rPr>
                          <m:t>3</m:t>
                        </m:r>
                      </m:den>
                    </m:f>
                  </m:oMath>
                </a14:m>
                <a:r>
                  <a:rPr sz="2000">
                    <a:solidFill>
                      <a:srgbClr val="1E293B"/>
                    </a:solidFill>
                    <a:latin typeface="Calibri"/>
                  </a:rPr>
                  <a:t>; tâm đối xứng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a:t>
                </a:r>
              </a:p>
            </p:txBody>
          </p:sp>
        </mc:Choice>
        <mc:Fallback>
          <p:sp>
            <p:nvSpPr>
              <p:cNvPr id="11" name="TextBox 10"/>
              <p:cNvSpPr txBox="1"/>
              <p:nvPr/>
            </p:nvSpPr>
            <p:spPr>
              <a:xfrm>
                <a:off x="713232" y="2639567"/>
                <a:ext cx="10735056" cy="77114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y'=3x^2+6x-1</a:t>
                </a:r>
                <a:r>
                  <a:rPr sz="2000">
                    <a:solidFill>
                      <a:srgbClr val="1E293B"/>
                    </a:solidFill>
                    <a:latin typeface="Calibri"/>
                  </a:rPr>
                  <a:t>: CĐ tại </a:t>
                </a:r>
                <a:r>
                  <a:rPr lang="vi-VN"/>
                  <a:t>x=-1-\frac{2\sqrt{3}}{3}</a:t>
                </a:r>
                <a:r>
                  <a:rPr sz="2000">
                    <a:solidFill>
                      <a:srgbClr val="1E293B"/>
                    </a:solidFill>
                    <a:latin typeface="Calibri"/>
                  </a:rPr>
                  <a:t>, CT tại </a:t>
                </a:r>
                <a:r>
                  <a:rPr lang="vi-VN"/>
                  <a:t>x=-1+\frac{2\sqrt{3}}{3}</a:t>
                </a:r>
                <a:r>
                  <a:rPr sz="2000">
                    <a:solidFill>
                      <a:srgbClr val="1E293B"/>
                    </a:solidFill>
                    <a:latin typeface="Calibri"/>
                  </a:rPr>
                  <a:t>; tâm đối xứng </a:t>
                </a:r>
                <a:r>
                  <a:rPr lang="vi-VN"/>
                  <a:t>(-1;\ 2)</a:t>
                </a:r>
                <a:r>
                  <a:rPr sz="2000">
                    <a:solidFill>
                      <a:srgbClr val="1E293B"/>
                    </a:solidFill>
                    <a:latin typeface="Calibri"/>
                  </a:rPr>
                  <a:t>.</a:t>
                </a:r>
              </a:p>
            </p:txBody>
          </p:sp>
        </mc:Fallback>
      </mc:AlternateContent>
      <p:pic>
        <p:nvPicPr>
          <p:cNvPr id="12" name="s1_hinh" descr="b4_121a.png"/>
          <p:cNvPicPr>
            <a:picLocks noChangeAspect="1"/>
          </p:cNvPicPr>
          <p:nvPr/>
        </p:nvPicPr>
        <p:blipFill>
          <a:blip r:embed="rId3"/>
          <a:stretch>
            <a:fillRect/>
          </a:stretch>
        </p:blipFill>
        <p:spPr>
          <a:xfrm>
            <a:off x="2331442" y="3584447"/>
            <a:ext cx="2652316" cy="2633472"/>
          </a:xfrm>
          <a:prstGeom prst="rect">
            <a:avLst/>
          </a:prstGeom>
        </p:spPr>
      </p:pic>
      <p:pic>
        <p:nvPicPr>
          <p:cNvPr id="13" name="s2_hinh" descr="b4_121b.png"/>
          <p:cNvPicPr>
            <a:picLocks noChangeAspect="1"/>
          </p:cNvPicPr>
          <p:nvPr/>
        </p:nvPicPr>
        <p:blipFill>
          <a:blip r:embed="rId4"/>
          <a:stretch>
            <a:fillRect/>
          </a:stretch>
        </p:blipFill>
        <p:spPr>
          <a:xfrm>
            <a:off x="7086322" y="3584447"/>
            <a:ext cx="2652316" cy="26334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1.22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1.22.</a:t>
                </a:r>
                <a:r>
                  <a:rPr sz="2000">
                    <a:solidFill>
                      <a:srgbClr val="1E293B"/>
                    </a:solidFill>
                    <a:latin typeface="Calibri"/>
                  </a:rPr>
                  <a:t> Khảo sát sự biến thiên và vẽ đồ thị: a)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2x+1</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x+3</m:t>
                        </m:r>
                      </m:num>
                      <m:den>
                        <m:r>
                          <a:rPr lang="vi-VN" sz="2000" b="0">
                            <a:solidFill>
                              <a:srgbClr val="1E293B"/>
                            </a:solidFill>
                            <a:latin typeface="Cambria Math" panose="02040503050406030204" pitchFamily="18" charset="0"/>
                          </a:rPr>
                          <m:t>1−x</m:t>
                        </m:r>
                      </m:den>
                    </m:f>
                  </m:oMath>
                </a14:m>
                <a:r>
                  <a:rPr sz="2000">
                    <a:solidFill>
                      <a:srgbClr val="1E293B"/>
                    </a:solidFill>
                    <a:latin typeface="Calibri"/>
                  </a:rPr>
                  <a:t>.</a:t>
                </a:r>
              </a:p>
            </p:txBody>
          </p:sp>
        </mc:Choice>
        <mc:Fallback>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1.22.</a:t>
                </a:r>
                <a:r>
                  <a:rPr sz="2000">
                    <a:solidFill>
                      <a:srgbClr val="1E293B"/>
                    </a:solidFill>
                    <a:latin typeface="Calibri"/>
                  </a:rPr>
                  <a:t> Khảo sát sự biến thiên và vẽ đồ thị: a) </a:t>
                </a:r>
                <a:r>
                  <a:rPr lang="vi-VN"/>
                  <a:t>y=\frac{2x+1}{x+1}</a:t>
                </a:r>
                <a:r>
                  <a:rPr sz="2000">
                    <a:solidFill>
                      <a:srgbClr val="1E293B"/>
                    </a:solidFill>
                    <a:latin typeface="Calibri"/>
                  </a:rPr>
                  <a:t>; b) </a:t>
                </a:r>
                <a:r>
                  <a:rPr lang="vi-VN"/>
                  <a:t>y=\frac{x+3}{1-x}</a:t>
                </a:r>
                <a:r>
                  <a:rPr sz="2000">
                    <a:solidFill>
                      <a:srgbClr val="1E293B"/>
                    </a:solidFill>
                    <a:latin typeface="Calibri"/>
                  </a:rPr>
                  <a:t>.</a:t>
                </a:r>
              </a:p>
            </p:txBody>
          </p:sp>
        </mc:Fallback>
      </mc:AlternateContent>
      <p:sp>
        <p:nvSpPr>
          <p:cNvPr id="8" name="s1_nen"/>
          <p:cNvSpPr/>
          <p:nvPr/>
        </p:nvSpPr>
        <p:spPr>
          <a:xfrm>
            <a:off x="548640" y="2215896"/>
            <a:ext cx="1106424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2472"/>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sSup>
                          <m:e>
                            <m:d>
                              <m:dPr>
                                <m:sepChr m:val=""/>
                              </m:dPr>
                              <m:e>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&gt;0</m:t>
                    </m:r>
                  </m:oMath>
                </a14:m>
                <a:r>
                  <a:rPr sz="2000">
                    <a:solidFill>
                      <a:srgbClr val="1E293B"/>
                    </a:solidFill>
                    <a:latin typeface="Calibri"/>
                  </a:rPr>
                  <a:t>; tiệm cận đứng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tiệm cận ngang </a:t>
                </a:r>
                <a14:m>
                  <m:oMath xmlns:m="http://schemas.openxmlformats.org/officeDocument/2006/math">
                    <m:r>
                      <a:rPr lang="vi-VN" sz="2000" b="0">
                        <a:solidFill>
                          <a:srgbClr val="1E293B"/>
                        </a:solidFill>
                        <a:latin typeface="Cambria Math" panose="02040503050406030204" pitchFamily="18" charset="0"/>
                      </a:rPr>
                      <m:t>y=2</m:t>
                    </m:r>
                  </m:oMath>
                </a14:m>
                <a:r>
                  <a:rPr sz="2000">
                    <a:solidFill>
                      <a:srgbClr val="1E293B"/>
                    </a:solidFill>
                    <a:latin typeface="Calibri"/>
                  </a:rPr>
                  <a:t>; tâm đối xứng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2</m:t>
                        </m:r>
                      </m:e>
                    </m:d>
                  </m:oMath>
                </a14:m>
                <a:r>
                  <a:rPr sz="2000">
                    <a:solidFill>
                      <a:srgbClr val="1E293B"/>
                    </a:solidFill>
                    <a:latin typeface="Calibri"/>
                  </a:rPr>
                  <a:t>.</a:t>
                </a:r>
              </a:p>
            </p:txBody>
          </p:sp>
        </mc:Choice>
        <mc:Fallback>
          <p:sp>
            <p:nvSpPr>
              <p:cNvPr id="9" name="TextBox 8"/>
              <p:cNvSpPr txBox="1"/>
              <p:nvPr/>
            </p:nvSpPr>
            <p:spPr>
              <a:xfrm>
                <a:off x="713232" y="2252472"/>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y'=\frac{1}{(x+1)^2}&gt;0</a:t>
                </a:r>
                <a:r>
                  <a:rPr sz="2000">
                    <a:solidFill>
                      <a:srgbClr val="1E293B"/>
                    </a:solidFill>
                    <a:latin typeface="Calibri"/>
                  </a:rPr>
                  <a:t>; tiệm cận đứng </a:t>
                </a:r>
                <a:r>
                  <a:rPr lang="vi-VN"/>
                  <a:t>x=-1</a:t>
                </a:r>
                <a:r>
                  <a:rPr sz="2000">
                    <a:solidFill>
                      <a:srgbClr val="1E293B"/>
                    </a:solidFill>
                    <a:latin typeface="Calibri"/>
                  </a:rPr>
                  <a:t>, tiệm cận ngang </a:t>
                </a:r>
                <a:r>
                  <a:rPr lang="vi-VN"/>
                  <a:t>y=2</a:t>
                </a:r>
                <a:r>
                  <a:rPr sz="2000">
                    <a:solidFill>
                      <a:srgbClr val="1E293B"/>
                    </a:solidFill>
                    <a:latin typeface="Calibri"/>
                  </a:rPr>
                  <a:t>; tâm đối xứng </a:t>
                </a:r>
                <a:r>
                  <a:rPr lang="vi-VN"/>
                  <a:t>(-1;\ 2)</a:t>
                </a:r>
                <a:r>
                  <a:rPr sz="2000">
                    <a:solidFill>
                      <a:srgbClr val="1E293B"/>
                    </a:solidFill>
                    <a:latin typeface="Calibri"/>
                  </a:rPr>
                  <a:t>.</a:t>
                </a:r>
              </a:p>
            </p:txBody>
          </p:sp>
        </mc:Fallback>
      </mc:AlternateContent>
      <p:sp>
        <p:nvSpPr>
          <p:cNvPr id="10" name="s2_nen"/>
          <p:cNvSpPr/>
          <p:nvPr/>
        </p:nvSpPr>
        <p:spPr>
          <a:xfrm>
            <a:off x="548640" y="3014472"/>
            <a:ext cx="1106424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51048"/>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y</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4</m:t>
                        </m:r>
                      </m:num>
                      <m:den>
                        <m:sSup>
                          <m:e>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x</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&gt;0</m:t>
                    </m:r>
                  </m:oMath>
                </a14:m>
                <a:r>
                  <a:rPr sz="2000">
                    <a:solidFill>
                      <a:srgbClr val="1E293B"/>
                    </a:solidFill>
                    <a:latin typeface="Calibri"/>
                  </a:rPr>
                  <a:t>; tiệm cận đứng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tiệm cận ngang </a:t>
                </a:r>
                <a14:m>
                  <m:oMath xmlns:m="http://schemas.openxmlformats.org/officeDocument/2006/math">
                    <m:r>
                      <a:rPr lang="vi-VN" sz="2000" b="0">
                        <a:solidFill>
                          <a:srgbClr val="1E293B"/>
                        </a:solidFill>
                        <a:latin typeface="Cambria Math" panose="02040503050406030204" pitchFamily="18" charset="0"/>
                      </a:rPr>
                      <m:t>y=−1</m:t>
                    </m:r>
                  </m:oMath>
                </a14:m>
                <a:r>
                  <a:rPr sz="2000">
                    <a:solidFill>
                      <a:srgbClr val="1E293B"/>
                    </a:solidFill>
                    <a:latin typeface="Calibri"/>
                  </a:rPr>
                  <a:t>; tâm đối xứng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a:t>
                </a:r>
              </a:p>
            </p:txBody>
          </p:sp>
        </mc:Choice>
        <mc:Fallback>
          <p:sp>
            <p:nvSpPr>
              <p:cNvPr id="11" name="TextBox 10"/>
              <p:cNvSpPr txBox="1"/>
              <p:nvPr/>
            </p:nvSpPr>
            <p:spPr>
              <a:xfrm>
                <a:off x="713232" y="3051048"/>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y'=\frac{4}{(1-x)^2}&gt;0</a:t>
                </a:r>
                <a:r>
                  <a:rPr sz="2000">
                    <a:solidFill>
                      <a:srgbClr val="1E293B"/>
                    </a:solidFill>
                    <a:latin typeface="Calibri"/>
                  </a:rPr>
                  <a:t>; tiệm cận đứng </a:t>
                </a:r>
                <a:r>
                  <a:rPr lang="vi-VN"/>
                  <a:t>x=1</a:t>
                </a:r>
                <a:r>
                  <a:rPr sz="2000">
                    <a:solidFill>
                      <a:srgbClr val="1E293B"/>
                    </a:solidFill>
                    <a:latin typeface="Calibri"/>
                  </a:rPr>
                  <a:t>, tiệm cận ngang </a:t>
                </a:r>
                <a:r>
                  <a:rPr lang="vi-VN"/>
                  <a:t>y=-1</a:t>
                </a:r>
                <a:r>
                  <a:rPr sz="2000">
                    <a:solidFill>
                      <a:srgbClr val="1E293B"/>
                    </a:solidFill>
                    <a:latin typeface="Calibri"/>
                  </a:rPr>
                  <a:t>; tâm đối xứng </a:t>
                </a:r>
                <a:r>
                  <a:rPr lang="vi-VN"/>
                  <a:t>(1;\ -1)</a:t>
                </a:r>
                <a:r>
                  <a:rPr sz="2000">
                    <a:solidFill>
                      <a:srgbClr val="1E293B"/>
                    </a:solidFill>
                    <a:latin typeface="Calibri"/>
                  </a:rPr>
                  <a:t>.</a:t>
                </a:r>
              </a:p>
            </p:txBody>
          </p:sp>
        </mc:Fallback>
      </mc:AlternateContent>
      <p:pic>
        <p:nvPicPr>
          <p:cNvPr id="12" name="s1_hinh" descr="b4_122a.png"/>
          <p:cNvPicPr>
            <a:picLocks noChangeAspect="1"/>
          </p:cNvPicPr>
          <p:nvPr/>
        </p:nvPicPr>
        <p:blipFill>
          <a:blip r:embed="rId3"/>
          <a:stretch>
            <a:fillRect/>
          </a:stretch>
        </p:blipFill>
        <p:spPr>
          <a:xfrm>
            <a:off x="2469583" y="3858767"/>
            <a:ext cx="2376033" cy="2359152"/>
          </a:xfrm>
          <a:prstGeom prst="rect">
            <a:avLst/>
          </a:prstGeom>
        </p:spPr>
      </p:pic>
      <p:pic>
        <p:nvPicPr>
          <p:cNvPr id="13" name="s2_hinh" descr="b4_122b.png"/>
          <p:cNvPicPr>
            <a:picLocks noChangeAspect="1"/>
          </p:cNvPicPr>
          <p:nvPr/>
        </p:nvPicPr>
        <p:blipFill>
          <a:blip r:embed="rId4"/>
          <a:stretch>
            <a:fillRect/>
          </a:stretch>
        </p:blipFill>
        <p:spPr>
          <a:xfrm>
            <a:off x="7224463" y="3858767"/>
            <a:ext cx="2376033" cy="2359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1.23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1.23.</a:t>
                </a:r>
                <a:r>
                  <a:rPr sz="2000">
                    <a:solidFill>
                      <a:srgbClr val="1E293B"/>
                    </a:solidFill>
                    <a:latin typeface="Calibri"/>
                  </a:rPr>
                  <a:t> Khảo sát sự biến thiên và vẽ đồ thị: a) </a:t>
                </a:r>
                <a14:m>
                  <m:oMath xmlns:m="http://schemas.openxmlformats.org/officeDocument/2006/math">
                    <m:r>
                      <a:rPr lang="vi-VN" sz="2000" b="0">
                        <a:solidFill>
                          <a:srgbClr val="1E293B"/>
                        </a:solidFill>
                        <a:latin typeface="Cambria Math" panose="02040503050406030204" pitchFamily="18" charset="0"/>
                      </a:rPr>
                      <m:t>y=</m:t>
                    </m:r>
                    <m:f>
                      <m:fPr>
                        <m:type m:val="bar"/>
                      </m:fPr>
                      <m:num>
                        <m:r>
                          <a:rPr lang="vi-VN" sz="2000" b="0">
                            <a:solidFill>
                              <a:srgbClr val="1E293B"/>
                            </a:solidFill>
                            <a:latin typeface="Cambria Math" panose="02040503050406030204" pitchFamily="18" charset="0"/>
                          </a:rPr>
                          <m:t>2</m:t>
                        </m:r>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−x+4</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y=</m:t>
                    </m:r>
                    <m:f>
                      <m:fPr>
                        <m:type m:val="bar"/>
                      </m:fPr>
                      <m:num>
                        <m:sSup>
                          <m:e>
                            <m:r>
                              <a:rPr lang="vi-VN" sz="2000" b="0">
                                <a:solidFill>
                                  <a:srgbClr val="1E293B"/>
                                </a:solidFill>
                                <a:latin typeface="Cambria Math" panose="02040503050406030204" pitchFamily="18" charset="0"/>
                              </a:rPr>
                              <m:t>x</m:t>
                            </m:r>
                          </m:e>
                          <m:sup>
                            <m:r>
                              <a:rPr lang="vi-VN" sz="2000" b="0">
                                <a:solidFill>
                                  <a:srgbClr val="1E293B"/>
                                </a:solidFill>
                                <a:latin typeface="Cambria Math" panose="02040503050406030204" pitchFamily="18" charset="0"/>
                              </a:rPr>
                              <m:t>2</m:t>
                            </m:r>
                          </m:sup>
                        </m:sSup>
                        <m:r>
                          <a:rPr lang="vi-VN" sz="2000" b="0">
                            <a:solidFill>
                              <a:srgbClr val="1E293B"/>
                            </a:solidFill>
                            <a:latin typeface="Cambria Math" panose="02040503050406030204" pitchFamily="18" charset="0"/>
                          </a:rPr>
                          <m:t>+2x+1</m:t>
                        </m:r>
                      </m:num>
                      <m:den>
                        <m:r>
                          <a:rPr lang="vi-VN" sz="2000" b="0">
                            <a:solidFill>
                              <a:srgbClr val="1E293B"/>
                            </a:solidFill>
                            <a:latin typeface="Cambria Math" panose="02040503050406030204" pitchFamily="18" charset="0"/>
                          </a:rPr>
                          <m:t>x+3</m:t>
                        </m:r>
                      </m:den>
                    </m:f>
                  </m:oMath>
                </a14:m>
                <a:r>
                  <a:rPr sz="2000">
                    <a:solidFill>
                      <a:srgbClr val="1E293B"/>
                    </a:solidFill>
                    <a:latin typeface="Calibri"/>
                  </a:rPr>
                  <a:t>.</a:t>
                </a:r>
              </a:p>
            </p:txBody>
          </p:sp>
        </mc:Choice>
        <mc:Fallback>
          <p:sp>
            <p:nvSpPr>
              <p:cNvPr id="7" name="TextBox 6"/>
              <p:cNvSpPr txBox="1"/>
              <p:nvPr/>
            </p:nvSpPr>
            <p:spPr>
              <a:xfrm>
                <a:off x="548640" y="1371600"/>
                <a:ext cx="11064240" cy="75285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1.23.</a:t>
                </a:r>
                <a:r>
                  <a:rPr sz="2000">
                    <a:solidFill>
                      <a:srgbClr val="1E293B"/>
                    </a:solidFill>
                    <a:latin typeface="Calibri"/>
                  </a:rPr>
                  <a:t> Khảo sát sự biến thiên và vẽ đồ thị: a) </a:t>
                </a:r>
                <a:r>
                  <a:rPr lang="vi-VN"/>
                  <a:t>y=\frac{2x^2-x+4}{x-1}</a:t>
                </a:r>
                <a:r>
                  <a:rPr sz="2000">
                    <a:solidFill>
                      <a:srgbClr val="1E293B"/>
                    </a:solidFill>
                    <a:latin typeface="Calibri"/>
                  </a:rPr>
                  <a:t>; b) </a:t>
                </a:r>
                <a:r>
                  <a:rPr lang="vi-VN"/>
                  <a:t>y=\frac{x^2+2x+1}{x+3}</a:t>
                </a:r>
                <a:r>
                  <a:rPr sz="2000">
                    <a:solidFill>
                      <a:srgbClr val="1E293B"/>
                    </a:solidFill>
                    <a:latin typeface="Calibri"/>
                  </a:rPr>
                  <a:t>.</a:t>
                </a:r>
              </a:p>
            </p:txBody>
          </p:sp>
        </mc:Fallback>
      </mc:AlternateContent>
      <p:sp>
        <p:nvSpPr>
          <p:cNvPr id="8" name="s1_nen"/>
          <p:cNvSpPr/>
          <p:nvPr/>
        </p:nvSpPr>
        <p:spPr>
          <a:xfrm>
            <a:off x="548640" y="2215896"/>
            <a:ext cx="11064240" cy="12862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2472"/>
                <a:ext cx="10735056" cy="12131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y=2x+1+</m:t>
                    </m:r>
                    <m:f>
                      <m:fPr>
                        <m:type m:val="bar"/>
                      </m:fPr>
                      <m:num>
                        <m:r>
                          <a:rPr lang="vi-VN" sz="2000" b="0">
                            <a:solidFill>
                              <a:srgbClr val="1E293B"/>
                            </a:solidFill>
                            <a:latin typeface="Cambria Math" panose="02040503050406030204" pitchFamily="18" charset="0"/>
                          </a:rPr>
                          <m:t>5</m:t>
                        </m:r>
                      </m:num>
                      <m:den>
                        <m:r>
                          <a:rPr lang="vi-VN" sz="2000" b="0">
                            <a:solidFill>
                              <a:srgbClr val="1E293B"/>
                            </a:solidFill>
                            <a:latin typeface="Cambria Math" panose="02040503050406030204" pitchFamily="18" charset="0"/>
                          </a:rPr>
                          <m:t>x−1</m:t>
                        </m:r>
                      </m:den>
                    </m:f>
                  </m:oMath>
                </a14:m>
                <a:r>
                  <a:rPr sz="2000">
                    <a:solidFill>
                      <a:srgbClr val="1E293B"/>
                    </a:solidFill>
                    <a:latin typeface="Calibri"/>
                  </a:rPr>
                  <a:t>: CĐ tại </a:t>
                </a:r>
                <a14:m>
                  <m:oMath xmlns:m="http://schemas.openxmlformats.org/officeDocument/2006/math">
                    <m:r>
                      <a:rPr lang="vi-VN" sz="2000" b="0">
                        <a:solidFill>
                          <a:srgbClr val="1E293B"/>
                        </a:solidFill>
                        <a:latin typeface="Cambria Math" panose="02040503050406030204" pitchFamily="18" charset="0"/>
                      </a:rPr>
                      <m:t>x=1−</m:t>
                    </m:r>
                    <m:f>
                      <m:fPr>
                        <m:type m:val="bar"/>
                      </m:fPr>
                      <m:num>
                        <m:rad>
                          <m:radPr>
                            <m:degHide m:val="on"/>
                          </m:radPr>
                          <m:deg/>
                          <m:e>
                            <m:r>
                              <a:rPr lang="vi-VN" sz="2000" b="0">
                                <a:solidFill>
                                  <a:srgbClr val="1E293B"/>
                                </a:solidFill>
                                <a:latin typeface="Cambria Math" panose="02040503050406030204" pitchFamily="18" charset="0"/>
                              </a:rPr>
                              <m:t>10</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CĐ</m:t>
                        </m:r>
                      </m:sub>
                    </m:sSub>
                    <m:r>
                      <a:rPr lang="vi-VN" sz="2000" b="0">
                        <a:solidFill>
                          <a:srgbClr val="1E293B"/>
                        </a:solidFill>
                        <a:latin typeface="Cambria Math" panose="02040503050406030204" pitchFamily="18" charset="0"/>
                      </a:rPr>
                      <m:t>=3−2</m:t>
                    </m:r>
                    <m:rad>
                      <m:radPr>
                        <m:degHide m:val="on"/>
                      </m:radPr>
                      <m:deg/>
                      <m:e>
                        <m:r>
                          <a:rPr lang="vi-VN" sz="2000" b="0">
                            <a:solidFill>
                              <a:srgbClr val="1E293B"/>
                            </a:solidFill>
                            <a:latin typeface="Cambria Math" panose="02040503050406030204" pitchFamily="18" charset="0"/>
                          </a:rPr>
                          <m:t>10</m:t>
                        </m:r>
                      </m:e>
                    </m:rad>
                  </m:oMath>
                </a14:m>
                <a:r>
                  <a:rPr sz="2000">
                    <a:solidFill>
                      <a:srgbClr val="1E293B"/>
                    </a:solidFill>
                    <a:latin typeface="Calibri"/>
                  </a:rPr>
                  <a:t>), CT tại </a:t>
                </a:r>
                <a14:m>
                  <m:oMath xmlns:m="http://schemas.openxmlformats.org/officeDocument/2006/math">
                    <m:r>
                      <a:rPr lang="vi-VN" sz="2000" b="0">
                        <a:solidFill>
                          <a:srgbClr val="1E293B"/>
                        </a:solidFill>
                        <a:latin typeface="Cambria Math" panose="02040503050406030204" pitchFamily="18" charset="0"/>
                      </a:rPr>
                      <m:t>x=1+</m:t>
                    </m:r>
                    <m:f>
                      <m:fPr>
                        <m:type m:val="bar"/>
                      </m:fPr>
                      <m:num>
                        <m:rad>
                          <m:radPr>
                            <m:degHide m:val="on"/>
                          </m:radPr>
                          <m:deg/>
                          <m:e>
                            <m:r>
                              <a:rPr lang="vi-VN" sz="2000" b="0">
                                <a:solidFill>
                                  <a:srgbClr val="1E293B"/>
                                </a:solidFill>
                                <a:latin typeface="Cambria Math" panose="02040503050406030204" pitchFamily="18" charset="0"/>
                              </a:rPr>
                              <m:t>10</m:t>
                            </m:r>
                          </m:e>
                        </m:rad>
                      </m:num>
                      <m:den>
                        <m:r>
                          <a:rPr lang="vi-VN" sz="2000" b="0">
                            <a:solidFill>
                              <a:srgbClr val="1E293B"/>
                            </a:solidFill>
                            <a:latin typeface="Cambria Math" panose="02040503050406030204" pitchFamily="18" charset="0"/>
                          </a:rPr>
                          <m:t>2</m:t>
                        </m:r>
                      </m:den>
                    </m:f>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y</m:t>
                        </m:r>
                      </m:e>
                      <m:sub>
                        <m:r>
                          <a:rPr lang="vi-VN" sz="2000" b="0">
                            <a:solidFill>
                              <a:srgbClr val="1E293B"/>
                            </a:solidFill>
                            <a:latin typeface="Cambria Math" panose="02040503050406030204" pitchFamily="18" charset="0"/>
                          </a:rPr>
                          <m:t>CT</m:t>
                        </m:r>
                      </m:sub>
                    </m:sSub>
                    <m:r>
                      <a:rPr lang="vi-VN" sz="2000" b="0">
                        <a:solidFill>
                          <a:srgbClr val="1E293B"/>
                        </a:solidFill>
                        <a:latin typeface="Cambria Math" panose="02040503050406030204" pitchFamily="18" charset="0"/>
                      </a:rPr>
                      <m:t>=3+2</m:t>
                    </m:r>
                    <m:rad>
                      <m:radPr>
                        <m:degHide m:val="on"/>
                      </m:radPr>
                      <m:deg/>
                      <m:e>
                        <m:r>
                          <a:rPr lang="vi-VN" sz="2000" b="0">
                            <a:solidFill>
                              <a:srgbClr val="1E293B"/>
                            </a:solidFill>
                            <a:latin typeface="Cambria Math" panose="02040503050406030204" pitchFamily="18" charset="0"/>
                          </a:rPr>
                          <m:t>10</m:t>
                        </m:r>
                      </m:e>
                    </m:rad>
                  </m:oMath>
                </a14:m>
                <a:r>
                  <a:rPr sz="2000">
                    <a:solidFill>
                      <a:srgbClr val="1E293B"/>
                    </a:solidFill>
                    <a:latin typeface="Calibri"/>
                  </a:rPr>
                  <a:t>); tiệm cận </a:t>
                </a:r>
                <a14:m>
                  <m:oMath xmlns:m="http://schemas.openxmlformats.org/officeDocument/2006/math">
                    <m:r>
                      <a:rPr lang="vi-VN" sz="2000" b="0">
                        <a:solidFill>
                          <a:srgbClr val="1E293B"/>
                        </a:solidFill>
                        <a:latin typeface="Cambria Math" panose="02040503050406030204" pitchFamily="18" charset="0"/>
                      </a:rPr>
                      <m:t>x=1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y=2x+1</m:t>
                    </m:r>
                  </m:oMath>
                </a14:m>
                <a:r>
                  <a:rPr sz="2000">
                    <a:solidFill>
                      <a:srgbClr val="1E293B"/>
                    </a:solidFill>
                    <a:latin typeface="Calibri"/>
                  </a:rPr>
                  <a:t>; tâm </a:t>
                </a:r>
                <a14:m>
                  <m:oMath xmlns:m="http://schemas.openxmlformats.org/officeDocument/2006/math">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3</m:t>
                        </m:r>
                      </m:e>
                    </m:d>
                  </m:oMath>
                </a14:m>
                <a:r>
                  <a:rPr sz="2000">
                    <a:solidFill>
                      <a:srgbClr val="1E293B"/>
                    </a:solidFill>
                    <a:latin typeface="Calibri"/>
                  </a:rPr>
                  <a:t>.</a:t>
                </a:r>
              </a:p>
            </p:txBody>
          </p:sp>
        </mc:Choice>
        <mc:Fallback>
          <p:sp>
            <p:nvSpPr>
              <p:cNvPr id="9" name="TextBox 8"/>
              <p:cNvSpPr txBox="1"/>
              <p:nvPr/>
            </p:nvSpPr>
            <p:spPr>
              <a:xfrm>
                <a:off x="713232" y="2252472"/>
                <a:ext cx="10735056" cy="12131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y=2x+1+\frac{5}{x-1}</a:t>
                </a:r>
                <a:r>
                  <a:rPr sz="2000">
                    <a:solidFill>
                      <a:srgbClr val="1E293B"/>
                    </a:solidFill>
                    <a:latin typeface="Calibri"/>
                  </a:rPr>
                  <a:t>: CĐ tại </a:t>
                </a:r>
                <a:r>
                  <a:rPr lang="vi-VN"/>
                  <a:t>x=1-\frac{\sqrt{10}}{2}</a:t>
                </a:r>
                <a:r>
                  <a:rPr sz="2000">
                    <a:solidFill>
                      <a:srgbClr val="1E293B"/>
                    </a:solidFill>
                    <a:latin typeface="Calibri"/>
                  </a:rPr>
                  <a:t> (</a:t>
                </a:r>
                <a:r>
                  <a:rPr lang="vi-VN"/>
                  <a:t>y_{CĐ}=3-2\sqrt{10}</a:t>
                </a:r>
                <a:r>
                  <a:rPr sz="2000">
                    <a:solidFill>
                      <a:srgbClr val="1E293B"/>
                    </a:solidFill>
                    <a:latin typeface="Calibri"/>
                  </a:rPr>
                  <a:t>), CT tại </a:t>
                </a:r>
                <a:r>
                  <a:rPr lang="vi-VN"/>
                  <a:t>x=1+\frac{\sqrt{10}}{2}</a:t>
                </a:r>
                <a:r>
                  <a:rPr sz="2000">
                    <a:solidFill>
                      <a:srgbClr val="1E293B"/>
                    </a:solidFill>
                    <a:latin typeface="Calibri"/>
                  </a:rPr>
                  <a:t> (</a:t>
                </a:r>
                <a:r>
                  <a:rPr lang="vi-VN"/>
                  <a:t>y_{CT}=3+2\sqrt{10}</a:t>
                </a:r>
                <a:r>
                  <a:rPr sz="2000">
                    <a:solidFill>
                      <a:srgbClr val="1E293B"/>
                    </a:solidFill>
                    <a:latin typeface="Calibri"/>
                  </a:rPr>
                  <a:t>); tiệm cận </a:t>
                </a:r>
                <a:r>
                  <a:rPr lang="vi-VN"/>
                  <a:t>x=1</a:t>
                </a:r>
                <a:r>
                  <a:rPr sz="2000">
                    <a:solidFill>
                      <a:srgbClr val="1E293B"/>
                    </a:solidFill>
                    <a:latin typeface="Calibri"/>
                  </a:rPr>
                  <a:t>, </a:t>
                </a:r>
                <a:r>
                  <a:rPr lang="vi-VN"/>
                  <a:t>y=2x+1</a:t>
                </a:r>
                <a:r>
                  <a:rPr sz="2000">
                    <a:solidFill>
                      <a:srgbClr val="1E293B"/>
                    </a:solidFill>
                    <a:latin typeface="Calibri"/>
                  </a:rPr>
                  <a:t>; tâm </a:t>
                </a:r>
                <a:r>
                  <a:rPr lang="vi-VN"/>
                  <a:t>(1;\ 3)</a:t>
                </a:r>
                <a:r>
                  <a:rPr sz="2000">
                    <a:solidFill>
                      <a:srgbClr val="1E293B"/>
                    </a:solidFill>
                    <a:latin typeface="Calibri"/>
                  </a:rPr>
                  <a:t>.</a:t>
                </a:r>
              </a:p>
            </p:txBody>
          </p:sp>
        </mc:Fallback>
      </mc:AlternateContent>
      <p:sp>
        <p:nvSpPr>
          <p:cNvPr id="10" name="s2_nen"/>
          <p:cNvSpPr/>
          <p:nvPr/>
        </p:nvSpPr>
        <p:spPr>
          <a:xfrm>
            <a:off x="548640" y="3593592"/>
            <a:ext cx="1106424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r>
                      <a:rPr lang="vi-VN" sz="2000" b="0">
                        <a:solidFill>
                          <a:srgbClr val="1E293B"/>
                        </a:solidFill>
                        <a:latin typeface="Cambria Math" panose="02040503050406030204" pitchFamily="18" charset="0"/>
                      </a:rPr>
                      <m:t>y=x−1+</m:t>
                    </m:r>
                    <m:f>
                      <m:fPr>
                        <m:type m:val="bar"/>
                      </m:fPr>
                      <m:num>
                        <m:r>
                          <a:rPr lang="vi-VN" sz="2000" b="0">
                            <a:solidFill>
                              <a:srgbClr val="1E293B"/>
                            </a:solidFill>
                            <a:latin typeface="Cambria Math" panose="02040503050406030204" pitchFamily="18" charset="0"/>
                          </a:rPr>
                          <m:t>4</m:t>
                        </m:r>
                      </m:num>
                      <m:den>
                        <m:r>
                          <a:rPr lang="vi-VN" sz="2000" b="0">
                            <a:solidFill>
                              <a:srgbClr val="1E293B"/>
                            </a:solidFill>
                            <a:latin typeface="Cambria Math" panose="02040503050406030204" pitchFamily="18" charset="0"/>
                          </a:rPr>
                          <m:t>x+3</m:t>
                        </m:r>
                      </m:den>
                    </m:f>
                  </m:oMath>
                </a14:m>
                <a:r>
                  <a:rPr sz="2000">
                    <a:solidFill>
                      <a:srgbClr val="1E293B"/>
                    </a:solidFill>
                    <a:latin typeface="Calibri"/>
                  </a:rPr>
                  <a:t>: CĐ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5</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8</m:t>
                        </m:r>
                      </m:e>
                    </m:d>
                  </m:oMath>
                </a14:m>
                <a:r>
                  <a:rPr sz="2000">
                    <a:solidFill>
                      <a:srgbClr val="1E293B"/>
                    </a:solidFill>
                    <a:latin typeface="Calibri"/>
                  </a:rPr>
                  <a:t>, CT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e>
                    </m:d>
                  </m:oMath>
                </a14:m>
                <a:r>
                  <a:rPr sz="2000">
                    <a:solidFill>
                      <a:srgbClr val="1E293B"/>
                    </a:solidFill>
                    <a:latin typeface="Calibri"/>
                  </a:rPr>
                  <a:t>; tiệm cận </a:t>
                </a:r>
                <a14:m>
                  <m:oMath xmlns:m="http://schemas.openxmlformats.org/officeDocument/2006/math">
                    <m:r>
                      <a:rPr lang="vi-VN" sz="2000" b="0">
                        <a:solidFill>
                          <a:srgbClr val="1E293B"/>
                        </a:solidFill>
                        <a:latin typeface="Cambria Math" panose="02040503050406030204" pitchFamily="18" charset="0"/>
                      </a:rPr>
                      <m:t>x=−3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y=x−1</m:t>
                    </m:r>
                  </m:oMath>
                </a14:m>
                <a:r>
                  <a:rPr sz="2000">
                    <a:solidFill>
                      <a:srgbClr val="1E293B"/>
                    </a:solidFill>
                    <a:latin typeface="Calibri"/>
                  </a:rPr>
                  <a:t>; tâm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4</m:t>
                        </m:r>
                      </m:e>
                    </m:d>
                  </m:oMath>
                </a14:m>
                <a:r>
                  <a:rPr sz="2000">
                    <a:solidFill>
                      <a:srgbClr val="1E293B"/>
                    </a:solidFill>
                    <a:latin typeface="Calibri"/>
                  </a:rPr>
                  <a:t>.</a:t>
                </a:r>
              </a:p>
            </p:txBody>
          </p:sp>
        </mc:Choice>
        <mc:Fallback>
          <p:sp>
            <p:nvSpPr>
              <p:cNvPr id="11" name="TextBox 10"/>
              <p:cNvSpPr txBox="1"/>
              <p:nvPr/>
            </p:nvSpPr>
            <p:spPr>
              <a:xfrm>
                <a:off x="713232" y="3630168"/>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y=x-1+\frac{4}{x+3}</a:t>
                </a:r>
                <a:r>
                  <a:rPr sz="2000">
                    <a:solidFill>
                      <a:srgbClr val="1E293B"/>
                    </a:solidFill>
                    <a:latin typeface="Calibri"/>
                  </a:rPr>
                  <a:t>: CĐ </a:t>
                </a:r>
                <a:r>
                  <a:rPr lang="vi-VN"/>
                  <a:t>(-5;\ -8)</a:t>
                </a:r>
                <a:r>
                  <a:rPr sz="2000">
                    <a:solidFill>
                      <a:srgbClr val="1E293B"/>
                    </a:solidFill>
                    <a:latin typeface="Calibri"/>
                  </a:rPr>
                  <a:t>, CT </a:t>
                </a:r>
                <a:r>
                  <a:rPr lang="vi-VN"/>
                  <a:t>(-1;\ 0)</a:t>
                </a:r>
                <a:r>
                  <a:rPr sz="2000">
                    <a:solidFill>
                      <a:srgbClr val="1E293B"/>
                    </a:solidFill>
                    <a:latin typeface="Calibri"/>
                  </a:rPr>
                  <a:t>; tiệm cận </a:t>
                </a:r>
                <a:r>
                  <a:rPr lang="vi-VN"/>
                  <a:t>x=-3</a:t>
                </a:r>
                <a:r>
                  <a:rPr sz="2000">
                    <a:solidFill>
                      <a:srgbClr val="1E293B"/>
                    </a:solidFill>
                    <a:latin typeface="Calibri"/>
                  </a:rPr>
                  <a:t>, </a:t>
                </a:r>
                <a:r>
                  <a:rPr lang="vi-VN"/>
                  <a:t>y=x-1</a:t>
                </a:r>
                <a:r>
                  <a:rPr sz="2000">
                    <a:solidFill>
                      <a:srgbClr val="1E293B"/>
                    </a:solidFill>
                    <a:latin typeface="Calibri"/>
                  </a:rPr>
                  <a:t>; tâm </a:t>
                </a:r>
                <a:r>
                  <a:rPr lang="vi-VN"/>
                  <a:t>(-3;\ -4)</a:t>
                </a:r>
                <a:r>
                  <a:rPr sz="2000">
                    <a:solidFill>
                      <a:srgbClr val="1E293B"/>
                    </a:solidFill>
                    <a:latin typeface="Calibri"/>
                  </a:rPr>
                  <a:t>.</a:t>
                </a:r>
              </a:p>
            </p:txBody>
          </p:sp>
        </mc:Fallback>
      </mc:AlternateContent>
      <p:pic>
        <p:nvPicPr>
          <p:cNvPr id="12" name="s1_hinh" descr="b4_123a.png"/>
          <p:cNvPicPr>
            <a:picLocks noChangeAspect="1"/>
          </p:cNvPicPr>
          <p:nvPr/>
        </p:nvPicPr>
        <p:blipFill>
          <a:blip r:embed="rId3"/>
          <a:stretch>
            <a:fillRect/>
          </a:stretch>
        </p:blipFill>
        <p:spPr>
          <a:xfrm>
            <a:off x="2761215" y="4437887"/>
            <a:ext cx="1792769" cy="1780032"/>
          </a:xfrm>
          <a:prstGeom prst="rect">
            <a:avLst/>
          </a:prstGeom>
        </p:spPr>
      </p:pic>
      <p:pic>
        <p:nvPicPr>
          <p:cNvPr id="13" name="s2_hinh" descr="b4_123b.png"/>
          <p:cNvPicPr>
            <a:picLocks noChangeAspect="1"/>
          </p:cNvPicPr>
          <p:nvPr/>
        </p:nvPicPr>
        <p:blipFill>
          <a:blip r:embed="rId4"/>
          <a:stretch>
            <a:fillRect/>
          </a:stretch>
        </p:blipFill>
        <p:spPr>
          <a:xfrm>
            <a:off x="7516095" y="4437887"/>
            <a:ext cx="1792769" cy="17800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1.24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1.24.</a:t>
                </a:r>
                <a:r>
                  <a:rPr sz="2000">
                    <a:solidFill>
                      <a:srgbClr val="1E293B"/>
                    </a:solidFill>
                    <a:latin typeface="Calibri"/>
                  </a:rPr>
                  <a:t> Một cốc chứa 30 ml dung dịch KOH nồng độ 100 mg/ml. Trộn vào cốc dung dịch KOH nồng độ 8 mg/ml. a) Tính nồng độ </a:t>
                </a:r>
                <a14:m>
                  <m:oMath xmlns:m="http://schemas.openxmlformats.org/officeDocument/2006/math">
                    <m:r>
                      <a:rPr lang="vi-VN" sz="2000" b="0">
                        <a:solidFill>
                          <a:srgbClr val="1E293B"/>
                        </a:solidFill>
                        <a:latin typeface="Cambria Math" panose="02040503050406030204" pitchFamily="18" charset="0"/>
                      </a:rPr>
                      <m:t>C(x)</m:t>
                    </m:r>
                  </m:oMath>
                </a14:m>
                <a:r>
                  <a:rPr sz="2000">
                    <a:solidFill>
                      <a:srgbClr val="1E293B"/>
                    </a:solidFill>
                    <a:latin typeface="Calibri"/>
                  </a:rPr>
                  <a:t> sau khi trộn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(ml). b) Khảo sát và vẽ đồ thị </a:t>
                </a:r>
                <a14:m>
                  <m:oMath xmlns:m="http://schemas.openxmlformats.org/officeDocument/2006/math">
                    <m:r>
                      <a:rPr lang="vi-VN" sz="2000" b="0">
                        <a:solidFill>
                          <a:srgbClr val="1E293B"/>
                        </a:solidFill>
                        <a:latin typeface="Cambria Math" panose="02040503050406030204" pitchFamily="18" charset="0"/>
                      </a:rPr>
                      <m:t>C(x)</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x≥0</m:t>
                    </m:r>
                  </m:oMath>
                </a14:m>
                <a:r>
                  <a:rPr sz="2000">
                    <a:solidFill>
                      <a:srgbClr val="1E293B"/>
                    </a:solidFill>
                    <a:latin typeface="Calibri"/>
                  </a:rPr>
                  <a:t>. c) Giải thích tại sao nồng độ giảm theo </a:t>
                </a:r>
                <a14:m>
                  <m:oMath xmlns:m="http://schemas.openxmlformats.org/officeDocument/2006/math">
                    <m:r>
                      <a:rPr lang="vi-VN" sz="2000" b="0">
                        <a:solidFill>
                          <a:srgbClr val="1E293B"/>
                        </a:solidFill>
                        <a:latin typeface="Cambria Math" panose="02040503050406030204" pitchFamily="18" charset="0"/>
                      </a:rPr>
                      <m:t>x</m:t>
                    </m:r>
                  </m:oMath>
                </a14:m>
                <a:r>
                  <a:rPr sz="2000">
                    <a:solidFill>
                      <a:srgbClr val="1E293B"/>
                    </a:solidFill>
                    <a:latin typeface="Calibri"/>
                  </a:rPr>
                  <a:t> nhưng luôn lớn hơn 8 mg/ml.</a:t>
                </a:r>
              </a:p>
            </p:txBody>
          </p:sp>
        </mc:Choice>
        <mc:Fallback>
          <p:sp>
            <p:nvSpPr>
              <p:cNvPr id="7" name="TextBox 6"/>
              <p:cNvSpPr txBox="1"/>
              <p:nvPr/>
            </p:nvSpPr>
            <p:spPr>
              <a:xfrm>
                <a:off x="548640" y="1371600"/>
                <a:ext cx="7680960" cy="16977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1.24.</a:t>
                </a:r>
                <a:r>
                  <a:rPr sz="2000">
                    <a:solidFill>
                      <a:srgbClr val="1E293B"/>
                    </a:solidFill>
                    <a:latin typeface="Calibri"/>
                  </a:rPr>
                  <a:t> Một cốc chứa 30 ml dung dịch KOH nồng độ 100 mg/ml. Trộn vào cốc dung dịch KOH nồng độ 8 mg/ml. a) Tính nồng độ </a:t>
                </a:r>
                <a:r>
                  <a:rPr lang="vi-VN"/>
                  <a:t>C(x)</a:t>
                </a:r>
                <a:r>
                  <a:rPr sz="2000">
                    <a:solidFill>
                      <a:srgbClr val="1E293B"/>
                    </a:solidFill>
                    <a:latin typeface="Calibri"/>
                  </a:rPr>
                  <a:t> sau khi trộn </a:t>
                </a:r>
                <a:r>
                  <a:rPr lang="vi-VN"/>
                  <a:t>x</a:t>
                </a:r>
                <a:r>
                  <a:rPr sz="2000">
                    <a:solidFill>
                      <a:srgbClr val="1E293B"/>
                    </a:solidFill>
                    <a:latin typeface="Calibri"/>
                  </a:rPr>
                  <a:t> (ml). b) Khảo sát và vẽ đồ thị </a:t>
                </a:r>
                <a:r>
                  <a:rPr lang="vi-VN"/>
                  <a:t>C(x)</a:t>
                </a:r>
                <a:r>
                  <a:rPr sz="2000">
                    <a:solidFill>
                      <a:srgbClr val="1E293B"/>
                    </a:solidFill>
                    <a:latin typeface="Calibri"/>
                  </a:rPr>
                  <a:t>, </a:t>
                </a:r>
                <a:r>
                  <a:rPr lang="vi-VN"/>
                  <a:t>x\ge 0</a:t>
                </a:r>
                <a:r>
                  <a:rPr sz="2000">
                    <a:solidFill>
                      <a:srgbClr val="1E293B"/>
                    </a:solidFill>
                    <a:latin typeface="Calibri"/>
                  </a:rPr>
                  <a:t>. c) Giải thích tại sao nồng độ giảm theo </a:t>
                </a:r>
                <a:r>
                  <a:rPr lang="vi-VN"/>
                  <a:t>x</a:t>
                </a:r>
                <a:r>
                  <a:rPr sz="2000">
                    <a:solidFill>
                      <a:srgbClr val="1E293B"/>
                    </a:solidFill>
                    <a:latin typeface="Calibri"/>
                  </a:rPr>
                  <a:t> nhưng luôn lớn hơn 8 mg/ml.</a:t>
                </a:r>
              </a:p>
            </p:txBody>
          </p:sp>
        </mc:Fallback>
      </mc:AlternateContent>
      <p:sp>
        <p:nvSpPr>
          <p:cNvPr id="8" name="s1_nen"/>
          <p:cNvSpPr/>
          <p:nvPr/>
        </p:nvSpPr>
        <p:spPr>
          <a:xfrm>
            <a:off x="548640" y="3160776"/>
            <a:ext cx="768096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197352"/>
                <a:ext cx="735177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C(x)=</m:t>
                    </m:r>
                    <m:f>
                      <m:fPr>
                        <m:type m:val="bar"/>
                      </m:fPr>
                      <m:num>
                        <m:r>
                          <a:rPr lang="vi-VN" sz="2000" b="0">
                            <a:solidFill>
                              <a:srgbClr val="1E293B"/>
                            </a:solidFill>
                            <a:latin typeface="Cambria Math" panose="02040503050406030204" pitchFamily="18" charset="0"/>
                          </a:rPr>
                          <m:t>3</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000+8x</m:t>
                        </m:r>
                      </m:num>
                      <m:den>
                        <m:r>
                          <a:rPr lang="vi-VN" sz="2000" b="0">
                            <a:solidFill>
                              <a:srgbClr val="1E293B"/>
                            </a:solidFill>
                            <a:latin typeface="Cambria Math" panose="02040503050406030204" pitchFamily="18" charset="0"/>
                          </a:rPr>
                          <m:t>30+x</m:t>
                        </m:r>
                      </m:den>
                    </m:f>
                  </m:oMath>
                </a14:m>
                <a:r>
                  <a:rPr sz="2000">
                    <a:solidFill>
                      <a:srgbClr val="1E293B"/>
                    </a:solidFill>
                    <a:latin typeface="Calibri"/>
                  </a:rPr>
                  <a:t> (mg/ml).</a:t>
                </a:r>
              </a:p>
            </p:txBody>
          </p:sp>
        </mc:Choice>
        <mc:Fallback>
          <p:sp>
            <p:nvSpPr>
              <p:cNvPr id="9" name="TextBox 8"/>
              <p:cNvSpPr txBox="1"/>
              <p:nvPr/>
            </p:nvSpPr>
            <p:spPr>
              <a:xfrm>
                <a:off x="713232" y="3197352"/>
                <a:ext cx="735177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C(x)=\frac{3\ 000+8x}{30+x}</a:t>
                </a:r>
                <a:r>
                  <a:rPr sz="2000">
                    <a:solidFill>
                      <a:srgbClr val="1E293B"/>
                    </a:solidFill>
                    <a:latin typeface="Calibri"/>
                  </a:rPr>
                  <a:t> (mg/ml).</a:t>
                </a:r>
              </a:p>
            </p:txBody>
          </p:sp>
        </mc:Fallback>
      </mc:AlternateContent>
      <p:sp>
        <p:nvSpPr>
          <p:cNvPr id="10" name="s2_nen"/>
          <p:cNvSpPr/>
          <p:nvPr/>
        </p:nvSpPr>
        <p:spPr>
          <a:xfrm>
            <a:off x="548640" y="3959352"/>
            <a:ext cx="768096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995928"/>
                <a:ext cx="735177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(x)=−</m:t>
                    </m:r>
                    <m:f>
                      <m:fPr>
                        <m:type m:val="bar"/>
                      </m:fPr>
                      <m:num>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760</m:t>
                        </m:r>
                      </m:num>
                      <m:den>
                        <m:sSup>
                          <m:e>
                            <m:d>
                              <m:dPr>
                                <m:sepChr m:val=""/>
                              </m:dPr>
                              <m:e>
                                <m:r>
                                  <a:rPr lang="vi-VN" sz="2000" b="0">
                                    <a:solidFill>
                                      <a:srgbClr val="1E293B"/>
                                    </a:solidFill>
                                    <a:latin typeface="Cambria Math" panose="02040503050406030204" pitchFamily="18" charset="0"/>
                                  </a:rPr>
                                  <m:t>30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x</m:t>
                                </m:r>
                              </m:e>
                            </m:d>
                          </m:e>
                          <m:sup>
                            <m:r>
                              <a:rPr lang="vi-VN" sz="2000" b="0">
                                <a:solidFill>
                                  <a:srgbClr val="1E293B"/>
                                </a:solidFill>
                                <a:latin typeface="Cambria Math" panose="02040503050406030204" pitchFamily="18" charset="0"/>
                              </a:rPr>
                              <m:t>2</m:t>
                            </m:r>
                          </m:sup>
                        </m:sSup>
                      </m:den>
                    </m:f>
                    <m:r>
                      <a:rPr lang="vi-VN" sz="2000" b="0">
                        <a:solidFill>
                          <a:srgbClr val="1E293B"/>
                        </a:solidFill>
                        <a:latin typeface="Cambria Math" panose="02040503050406030204" pitchFamily="18" charset="0"/>
                      </a:rPr>
                      <m:t>&lt;0</m:t>
                    </m:r>
                  </m:oMath>
                </a14:m>
                <a:r>
                  <a:rPr sz="2000">
                    <a:solidFill>
                      <a:srgbClr val="1E293B"/>
                    </a:solidFill>
                    <a:latin typeface="Calibri"/>
                  </a:rPr>
                  <a:t>: nghịch biến; </a:t>
                </a:r>
                <a14:m>
                  <m:oMath xmlns:m="http://schemas.openxmlformats.org/officeDocument/2006/math">
                    <m:r>
                      <a:rPr lang="vi-VN" sz="2000" b="0">
                        <a:solidFill>
                          <a:srgbClr val="1E293B"/>
                        </a:solidFill>
                        <a:latin typeface="Cambria Math" panose="02040503050406030204" pitchFamily="18" charset="0"/>
                      </a:rPr>
                      <m:t>C(0)=100</m:t>
                    </m:r>
                  </m:oMath>
                </a14:m>
                <a:r>
                  <a:rPr sz="2000">
                    <a:solidFill>
                      <a:srgbClr val="1E293B"/>
                    </a:solidFill>
                    <a:latin typeface="Calibri"/>
                  </a:rPr>
                  <a:t>; </a:t>
                </a:r>
                <a14:m>
                  <m:oMath xmlns:m="http://schemas.openxmlformats.org/officeDocument/2006/math">
                    <m:limLow>
                      <m:e>
                        <m:r>
                          <a:rPr lang="vi-VN" sz="2000" b="0">
                            <a:solidFill>
                              <a:srgbClr val="1E293B"/>
                            </a:solidFill>
                            <a:latin typeface="Cambria Math" panose="02040503050406030204" pitchFamily="18" charset="0"/>
                          </a:rPr>
                          <m:t>lim</m:t>
                        </m:r>
                      </m:e>
                      <m:lim>
                        <m:r>
                          <a:rPr lang="vi-VN" sz="2000" b="0">
                            <a:solidFill>
                              <a:srgbClr val="1E293B"/>
                            </a:solidFill>
                            <a:latin typeface="Cambria Math" panose="02040503050406030204" pitchFamily="18" charset="0"/>
                          </a:rPr>
                          <m:t>x→+∞</m:t>
                        </m:r>
                      </m:lim>
                    </m:limLow>
                    <m:r>
                      <a:rPr lang="vi-VN" sz="2000" b="0">
                        <a:solidFill>
                          <a:srgbClr val="1E293B"/>
                        </a:solidFill>
                        <a:latin typeface="Cambria Math" panose="02040503050406030204" pitchFamily="18" charset="0"/>
                      </a:rPr>
                      <m:t>C(x)=8</m:t>
                    </m:r>
                  </m:oMath>
                </a14:m>
                <a:r>
                  <a:rPr sz="2000">
                    <a:solidFill>
                      <a:srgbClr val="1E293B"/>
                    </a:solidFill>
                    <a:latin typeface="Calibri"/>
                  </a:rPr>
                  <a:t>: tiệm cận ngang </a:t>
                </a:r>
                <a14:m>
                  <m:oMath xmlns:m="http://schemas.openxmlformats.org/officeDocument/2006/math">
                    <m:r>
                      <a:rPr lang="vi-VN" sz="2000" b="0">
                        <a:solidFill>
                          <a:srgbClr val="1E293B"/>
                        </a:solidFill>
                        <a:latin typeface="Cambria Math" panose="02040503050406030204" pitchFamily="18" charset="0"/>
                      </a:rPr>
                      <m:t>y=8</m:t>
                    </m:r>
                  </m:oMath>
                </a14:m>
                <a:r>
                  <a:rPr sz="2000">
                    <a:solidFill>
                      <a:srgbClr val="1E293B"/>
                    </a:solidFill>
                    <a:latin typeface="Calibri"/>
                  </a:rPr>
                  <a:t>.</a:t>
                </a:r>
              </a:p>
            </p:txBody>
          </p:sp>
        </mc:Choice>
        <mc:Fallback>
          <p:sp>
            <p:nvSpPr>
              <p:cNvPr id="11" name="TextBox 10"/>
              <p:cNvSpPr txBox="1"/>
              <p:nvPr/>
            </p:nvSpPr>
            <p:spPr>
              <a:xfrm>
                <a:off x="713232" y="3995928"/>
                <a:ext cx="735177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a:t>
                </a:r>
                <a:r>
                  <a:rPr lang="vi-VN"/>
                  <a:t>C'(x)=-\frac{2\ 760}{(30+x)^2}&lt;0</a:t>
                </a:r>
                <a:r>
                  <a:rPr sz="2000">
                    <a:solidFill>
                      <a:srgbClr val="1E293B"/>
                    </a:solidFill>
                    <a:latin typeface="Calibri"/>
                  </a:rPr>
                  <a:t>: nghịch biến; </a:t>
                </a:r>
                <a:r>
                  <a:rPr lang="vi-VN"/>
                  <a:t>C(0)=100</a:t>
                </a:r>
                <a:r>
                  <a:rPr sz="2000">
                    <a:solidFill>
                      <a:srgbClr val="1E293B"/>
                    </a:solidFill>
                    <a:latin typeface="Calibri"/>
                  </a:rPr>
                  <a:t>; </a:t>
                </a:r>
                <a:r>
                  <a:rPr lang="vi-VN"/>
                  <a:t>\lim\limits_{x\to+\infty}C(x)=8</a:t>
                </a:r>
                <a:r>
                  <a:rPr sz="2000">
                    <a:solidFill>
                      <a:srgbClr val="1E293B"/>
                    </a:solidFill>
                    <a:latin typeface="Calibri"/>
                  </a:rPr>
                  <a:t>: tiệm cận ngang </a:t>
                </a:r>
                <a:r>
                  <a:rPr lang="vi-VN"/>
                  <a:t>y=8</a:t>
                </a:r>
                <a:r>
                  <a:rPr sz="2000">
                    <a:solidFill>
                      <a:srgbClr val="1E293B"/>
                    </a:solidFill>
                    <a:latin typeface="Calibri"/>
                  </a:rPr>
                  <a:t>.</a:t>
                </a:r>
              </a:p>
            </p:txBody>
          </p:sp>
        </mc:Fallback>
      </mc:AlternateContent>
      <p:sp>
        <p:nvSpPr>
          <p:cNvPr id="12" name="s3_nen"/>
          <p:cNvSpPr/>
          <p:nvPr/>
        </p:nvSpPr>
        <p:spPr>
          <a:xfrm>
            <a:off x="548640" y="5062728"/>
            <a:ext cx="768096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099304"/>
                <a:ext cx="735177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14:m>
                  <m:oMath xmlns:m="http://schemas.openxmlformats.org/officeDocument/2006/math">
                    <m:r>
                      <a:rPr lang="vi-VN" sz="2000" b="0">
                        <a:solidFill>
                          <a:srgbClr val="1E293B"/>
                        </a:solidFill>
                        <a:latin typeface="Cambria Math" panose="02040503050406030204" pitchFamily="18" charset="0"/>
                      </a:rPr>
                      <m:t>C</m:t>
                    </m:r>
                  </m:oMath>
                </a14:m>
                <a:r>
                  <a:rPr sz="2000">
                    <a:solidFill>
                      <a:srgbClr val="1E293B"/>
                    </a:solidFill>
                    <a:latin typeface="Calibri"/>
                  </a:rPr>
                  <a:t> giảm và </a:t>
                </a:r>
                <a14:m>
                  <m:oMath xmlns:m="http://schemas.openxmlformats.org/officeDocument/2006/math">
                    <m:r>
                      <a:rPr lang="vi-VN" sz="2000" b="0">
                        <a:solidFill>
                          <a:srgbClr val="1E293B"/>
                        </a:solidFill>
                        <a:latin typeface="Cambria Math" panose="02040503050406030204" pitchFamily="18" charset="0"/>
                      </a:rPr>
                      <m:t>C(x)=8+</m:t>
                    </m:r>
                    <m:f>
                      <m:fPr>
                        <m:type m:val="bar"/>
                      </m:fPr>
                      <m:num>
                        <m:r>
                          <a:rPr lang="vi-VN" sz="2000" b="0">
                            <a:solidFill>
                              <a:srgbClr val="1E293B"/>
                            </a:solidFill>
                            <a:latin typeface="Cambria Math" panose="02040503050406030204" pitchFamily="18" charset="0"/>
                          </a:rPr>
                          <m:t>2</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760</m:t>
                        </m:r>
                      </m:num>
                      <m:den>
                        <m:r>
                          <a:rPr lang="vi-VN" sz="2000" b="0">
                            <a:solidFill>
                              <a:srgbClr val="1E293B"/>
                            </a:solidFill>
                            <a:latin typeface="Cambria Math" panose="02040503050406030204" pitchFamily="18" charset="0"/>
                          </a:rPr>
                          <m:t>30+x</m:t>
                        </m:r>
                      </m:den>
                    </m:f>
                    <m:r>
                      <a:rPr lang="vi-VN" sz="2000" b="0">
                        <a:solidFill>
                          <a:srgbClr val="1E293B"/>
                        </a:solidFill>
                        <a:latin typeface="Cambria Math" panose="02040503050406030204" pitchFamily="18" charset="0"/>
                      </a:rPr>
                      <m:t>&gt;8</m:t>
                    </m:r>
                  </m:oMath>
                </a14:m>
                <a:r>
                  <a:rPr sz="2000">
                    <a:solidFill>
                      <a:srgbClr val="1E293B"/>
                    </a:solidFill>
                    <a:latin typeface="Calibri"/>
                  </a:rPr>
                  <a:t>.</a:t>
                </a:r>
              </a:p>
            </p:txBody>
          </p:sp>
        </mc:Choice>
        <mc:Fallback>
          <p:sp>
            <p:nvSpPr>
              <p:cNvPr id="13" name="TextBox 12"/>
              <p:cNvSpPr txBox="1"/>
              <p:nvPr/>
            </p:nvSpPr>
            <p:spPr>
              <a:xfrm>
                <a:off x="713232" y="5099304"/>
                <a:ext cx="735177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c) </a:t>
                </a:r>
                <a:r>
                  <a:rPr lang="vi-VN"/>
                  <a:t>C</a:t>
                </a:r>
                <a:r>
                  <a:rPr sz="2000">
                    <a:solidFill>
                      <a:srgbClr val="1E293B"/>
                    </a:solidFill>
                    <a:latin typeface="Calibri"/>
                  </a:rPr>
                  <a:t> giảm và </a:t>
                </a:r>
                <a:r>
                  <a:rPr lang="vi-VN"/>
                  <a:t>C(x)=8+\frac{2\ 760}{30+x}&gt;8</a:t>
                </a:r>
                <a:r>
                  <a:rPr sz="2000">
                    <a:solidFill>
                      <a:srgbClr val="1E293B"/>
                    </a:solidFill>
                    <a:latin typeface="Calibri"/>
                  </a:rPr>
                  <a:t>.</a:t>
                </a:r>
              </a:p>
            </p:txBody>
          </p:sp>
        </mc:Fallback>
      </mc:AlternateContent>
      <p:pic>
        <p:nvPicPr>
          <p:cNvPr id="14" name="Picture 13" descr="b4_koh.png"/>
          <p:cNvPicPr>
            <a:picLocks noChangeAspect="1"/>
          </p:cNvPicPr>
          <p:nvPr/>
        </p:nvPicPr>
        <p:blipFill>
          <a:blip r:embed="rId3"/>
          <a:stretch>
            <a:fillRect/>
          </a:stretch>
        </p:blipFill>
        <p:spPr>
          <a:xfrm>
            <a:off x="8414905" y="1828800"/>
            <a:ext cx="3286990" cy="23774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1.25 (SGK TR.32)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680960" cy="191795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1.25.</a:t>
                </a:r>
                <a:r>
                  <a:rPr sz="2100">
                    <a:solidFill>
                      <a:srgbClr val="1E293B"/>
                    </a:solidFill>
                    <a:latin typeface="Calibri"/>
                  </a:rPr>
                  <a:t> Mắc song song điện trở 8 Ω với một biến trở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(Ω) (H.1.33): </a:t>
                </a:r>
                <a14:m>
                  <m:oMath xmlns:m="http://schemas.openxmlformats.org/officeDocument/2006/math">
                    <m:r>
                      <a:rPr lang="vi-VN" sz="2100" b="0">
                        <a:solidFill>
                          <a:srgbClr val="1E293B"/>
                        </a:solidFill>
                        <a:latin typeface="Cambria Math" panose="02040503050406030204" pitchFamily="18" charset="0"/>
                      </a:rPr>
                      <m:t>R=</m:t>
                    </m:r>
                    <m:f>
                      <m:fPr>
                        <m:type m:val="bar"/>
                      </m:fPr>
                      <m:num>
                        <m:sSub>
                          <m:e>
                            <m:r>
                              <a:rPr lang="vi-VN" sz="2100" b="0">
                                <a:solidFill>
                                  <a:srgbClr val="1E293B"/>
                                </a:solidFill>
                                <a:latin typeface="Cambria Math" panose="02040503050406030204" pitchFamily="18" charset="0"/>
                              </a:rPr>
                              <m:t>R</m:t>
                            </m:r>
                          </m:e>
                          <m:sub>
                            <m:r>
                              <a:rPr lang="vi-VN" sz="2100" b="0">
                                <a:solidFill>
                                  <a:srgbClr val="1E293B"/>
                                </a:solidFill>
                                <a:latin typeface="Cambria Math" panose="02040503050406030204" pitchFamily="18" charset="0"/>
                              </a:rPr>
                              <m:t>1</m:t>
                            </m:r>
                          </m:sub>
                        </m:sSub>
                        <m:sSub>
                          <m:e>
                            <m:r>
                              <a:rPr lang="vi-VN" sz="2100" b="0">
                                <a:solidFill>
                                  <a:srgbClr val="1E293B"/>
                                </a:solidFill>
                                <a:latin typeface="Cambria Math" panose="02040503050406030204" pitchFamily="18" charset="0"/>
                              </a:rPr>
                              <m:t>R</m:t>
                            </m:r>
                          </m:e>
                          <m:sub>
                            <m:r>
                              <a:rPr lang="vi-VN" sz="2100" b="0">
                                <a:solidFill>
                                  <a:srgbClr val="1E293B"/>
                                </a:solidFill>
                                <a:latin typeface="Cambria Math" panose="02040503050406030204" pitchFamily="18" charset="0"/>
                              </a:rPr>
                              <m:t>2</m:t>
                            </m:r>
                          </m:sub>
                        </m:sSub>
                      </m:num>
                      <m:den>
                        <m:sSub>
                          <m:e>
                            <m:r>
                              <a:rPr lang="vi-VN" sz="2100" b="0">
                                <a:solidFill>
                                  <a:srgbClr val="1E293B"/>
                                </a:solidFill>
                                <a:latin typeface="Cambria Math" panose="02040503050406030204" pitchFamily="18" charset="0"/>
                              </a:rPr>
                              <m:t>R</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R</m:t>
                            </m:r>
                          </m:e>
                          <m:sub>
                            <m:r>
                              <a:rPr lang="vi-VN" sz="2100" b="0">
                                <a:solidFill>
                                  <a:srgbClr val="1E293B"/>
                                </a:solidFill>
                                <a:latin typeface="Cambria Math" panose="02040503050406030204" pitchFamily="18" charset="0"/>
                              </a:rPr>
                              <m:t>2</m:t>
                            </m:r>
                          </m:sub>
                        </m:sSub>
                      </m:den>
                    </m:f>
                  </m:oMath>
                </a14:m>
                <a:r>
                  <a:rPr sz="2100">
                    <a:solidFill>
                      <a:srgbClr val="1E293B"/>
                    </a:solidFill>
                    <a:latin typeface="Calibri"/>
                  </a:rPr>
                  <a:t>. Vẽ đồ thị </a:t>
                </a:r>
                <a14:m>
                  <m:oMath xmlns:m="http://schemas.openxmlformats.org/officeDocument/2006/math">
                    <m:r>
                      <a:rPr lang="vi-VN" sz="2100" b="0">
                        <a:solidFill>
                          <a:srgbClr val="1E293B"/>
                        </a:solidFill>
                        <a:latin typeface="Cambria Math" panose="02040503050406030204" pitchFamily="18" charset="0"/>
                      </a:rPr>
                      <m:t>y=R(x)</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x&gt;0</m:t>
                    </m:r>
                  </m:oMath>
                </a14:m>
                <a:r>
                  <a:rPr sz="2100">
                    <a:solidFill>
                      <a:srgbClr val="1E293B"/>
                    </a:solidFill>
                    <a:latin typeface="Calibri"/>
                  </a:rPr>
                  <a:t> và trả lời: a) Điện trở tương đương thay đổi thế nào khi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tăng? b) Tại sao điện trở tương đương không bao giờ vượt quá 8 Ω?</a:t>
                </a:r>
              </a:p>
            </p:txBody>
          </p:sp>
        </mc:Choice>
        <mc:Fallback>
          <p:sp>
            <p:nvSpPr>
              <p:cNvPr id="7" name="TextBox 6"/>
              <p:cNvSpPr txBox="1"/>
              <p:nvPr/>
            </p:nvSpPr>
            <p:spPr>
              <a:xfrm>
                <a:off x="548640" y="1371600"/>
                <a:ext cx="7680960" cy="191795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1.25.</a:t>
                </a:r>
                <a:r>
                  <a:rPr sz="2100">
                    <a:solidFill>
                      <a:srgbClr val="1E293B"/>
                    </a:solidFill>
                    <a:latin typeface="Calibri"/>
                  </a:rPr>
                  <a:t> Mắc song song điện trở 8 Ω với một biến trở </a:t>
                </a:r>
                <a:r>
                  <a:rPr lang="vi-VN"/>
                  <a:t>x</a:t>
                </a:r>
                <a:r>
                  <a:rPr sz="2100">
                    <a:solidFill>
                      <a:srgbClr val="1E293B"/>
                    </a:solidFill>
                    <a:latin typeface="Calibri"/>
                  </a:rPr>
                  <a:t> (Ω) (H.1.33): </a:t>
                </a:r>
                <a:r>
                  <a:rPr lang="vi-VN"/>
                  <a:t>R=\frac{R_1R_2}{R_1+R_2}</a:t>
                </a:r>
                <a:r>
                  <a:rPr sz="2100">
                    <a:solidFill>
                      <a:srgbClr val="1E293B"/>
                    </a:solidFill>
                    <a:latin typeface="Calibri"/>
                  </a:rPr>
                  <a:t>. Vẽ đồ thị </a:t>
                </a:r>
                <a:r>
                  <a:rPr lang="vi-VN"/>
                  <a:t>y=R(x)</a:t>
                </a:r>
                <a:r>
                  <a:rPr sz="2100">
                    <a:solidFill>
                      <a:srgbClr val="1E293B"/>
                    </a:solidFill>
                    <a:latin typeface="Calibri"/>
                  </a:rPr>
                  <a:t>, </a:t>
                </a:r>
                <a:r>
                  <a:rPr lang="vi-VN"/>
                  <a:t>x&gt;0</a:t>
                </a:r>
                <a:r>
                  <a:rPr sz="2100">
                    <a:solidFill>
                      <a:srgbClr val="1E293B"/>
                    </a:solidFill>
                    <a:latin typeface="Calibri"/>
                  </a:rPr>
                  <a:t> và trả lời: a) Điện trở tương đương thay đổi thế nào khi </a:t>
                </a:r>
                <a:r>
                  <a:rPr lang="vi-VN"/>
                  <a:t>x</a:t>
                </a:r>
                <a:r>
                  <a:rPr sz="2100">
                    <a:solidFill>
                      <a:srgbClr val="1E293B"/>
                    </a:solidFill>
                    <a:latin typeface="Calibri"/>
                  </a:rPr>
                  <a:t> tăng? b) Tại sao điện trở tương đương không bao giờ vượt quá 8 Ω?</a:t>
                </a:r>
              </a:p>
            </p:txBody>
          </p:sp>
        </mc:Fallback>
      </mc:AlternateContent>
      <p:sp>
        <p:nvSpPr>
          <p:cNvPr id="8" name="s1_nen"/>
          <p:cNvSpPr/>
          <p:nvPr/>
        </p:nvSpPr>
        <p:spPr>
          <a:xfrm>
            <a:off x="548640" y="3399282"/>
            <a:ext cx="768096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435858"/>
                <a:ext cx="735177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R(x)=</m:t>
                    </m:r>
                    <m:f>
                      <m:fPr>
                        <m:type m:val="bar"/>
                      </m:fPr>
                      <m:num>
                        <m:r>
                          <a:rPr lang="vi-VN" sz="2100" b="0">
                            <a:solidFill>
                              <a:srgbClr val="1E293B"/>
                            </a:solidFill>
                            <a:latin typeface="Cambria Math" panose="02040503050406030204" pitchFamily="18" charset="0"/>
                          </a:rPr>
                          <m:t>8x</m:t>
                        </m:r>
                      </m:num>
                      <m:den>
                        <m:r>
                          <a:rPr lang="vi-VN" sz="2100" b="0">
                            <a:solidFill>
                              <a:srgbClr val="1E293B"/>
                            </a:solidFill>
                            <a:latin typeface="Cambria Math" panose="02040503050406030204" pitchFamily="18" charset="0"/>
                          </a:rPr>
                          <m:t>8+x</m:t>
                        </m:r>
                      </m:den>
                    </m:f>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R</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(x)=</m:t>
                    </m:r>
                    <m:f>
                      <m:fPr>
                        <m:type m:val="bar"/>
                      </m:fPr>
                      <m:num>
                        <m:r>
                          <a:rPr lang="vi-VN" sz="2100" b="0">
                            <a:solidFill>
                              <a:srgbClr val="1E293B"/>
                            </a:solidFill>
                            <a:latin typeface="Cambria Math" panose="02040503050406030204" pitchFamily="18" charset="0"/>
                          </a:rPr>
                          <m:t>64</m:t>
                        </m:r>
                      </m:num>
                      <m:den>
                        <m:sSup>
                          <m:e>
                            <m:d>
                              <m:dPr>
                                <m:sepChr m:val=""/>
                              </m:dPr>
                              <m:e>
                                <m:r>
                                  <a:rPr lang="vi-VN" sz="2100" b="0">
                                    <a:solidFill>
                                      <a:srgbClr val="1E293B"/>
                                    </a:solidFill>
                                    <a:latin typeface="Cambria Math" panose="02040503050406030204" pitchFamily="18" charset="0"/>
                                  </a:rPr>
                                  <m:t>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x</m:t>
                                </m:r>
                              </m:e>
                            </m:d>
                          </m:e>
                          <m:sup>
                            <m:r>
                              <a:rPr lang="vi-VN" sz="2100" b="0">
                                <a:solidFill>
                                  <a:srgbClr val="1E293B"/>
                                </a:solidFill>
                                <a:latin typeface="Cambria Math" panose="02040503050406030204" pitchFamily="18" charset="0"/>
                              </a:rPr>
                              <m:t>2</m:t>
                            </m:r>
                          </m:sup>
                        </m:sSup>
                      </m:den>
                    </m:f>
                    <m:r>
                      <a:rPr lang="vi-VN" sz="2100" b="0">
                        <a:solidFill>
                          <a:srgbClr val="1E293B"/>
                        </a:solidFill>
                        <a:latin typeface="Cambria Math" panose="02040503050406030204" pitchFamily="18" charset="0"/>
                      </a:rPr>
                      <m:t>&gt;0</m:t>
                    </m:r>
                  </m:oMath>
                </a14:m>
                <a:r>
                  <a:rPr sz="2100">
                    <a:solidFill>
                      <a:srgbClr val="1E293B"/>
                    </a:solidFill>
                    <a:latin typeface="Calibri"/>
                  </a:rPr>
                  <a:t>; </a:t>
                </a:r>
                <a14:m>
                  <m:oMath xmlns:m="http://schemas.openxmlformats.org/officeDocument/2006/math">
                    <m:limLow>
                      <m:e>
                        <m:r>
                          <a:rPr lang="vi-VN" sz="2100" b="0">
                            <a:solidFill>
                              <a:srgbClr val="1E293B"/>
                            </a:solidFill>
                            <a:latin typeface="Cambria Math" panose="02040503050406030204" pitchFamily="18" charset="0"/>
                          </a:rPr>
                          <m:t>lim</m:t>
                        </m:r>
                      </m:e>
                      <m:lim>
                        <m:r>
                          <a:rPr lang="vi-VN" sz="2100" b="0">
                            <a:solidFill>
                              <a:srgbClr val="1E293B"/>
                            </a:solidFill>
                            <a:latin typeface="Cambria Math" panose="02040503050406030204" pitchFamily="18" charset="0"/>
                          </a:rPr>
                          <m:t>x→+∞</m:t>
                        </m:r>
                      </m:lim>
                    </m:limLow>
                    <m:r>
                      <a:rPr lang="vi-VN" sz="2100" b="0">
                        <a:solidFill>
                          <a:srgbClr val="1E293B"/>
                        </a:solidFill>
                        <a:latin typeface="Cambria Math" panose="02040503050406030204" pitchFamily="18" charset="0"/>
                      </a:rPr>
                      <m:t>R(x)=8</m:t>
                    </m:r>
                  </m:oMath>
                </a14:m>
                <a:r>
                  <a:rPr sz="2100">
                    <a:solidFill>
                      <a:srgbClr val="1E293B"/>
                    </a:solidFill>
                    <a:latin typeface="Calibri"/>
                  </a:rPr>
                  <a:t>.</a:t>
                </a:r>
              </a:p>
            </p:txBody>
          </p:sp>
        </mc:Choice>
        <mc:Fallback>
          <p:sp>
            <p:nvSpPr>
              <p:cNvPr id="9" name="TextBox 8"/>
              <p:cNvSpPr txBox="1"/>
              <p:nvPr/>
            </p:nvSpPr>
            <p:spPr>
              <a:xfrm>
                <a:off x="713232" y="3435858"/>
                <a:ext cx="735177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R(x)=\frac{8x}{8+x}</a:t>
                </a:r>
                <a:r>
                  <a:rPr sz="2100">
                    <a:solidFill>
                      <a:srgbClr val="1E293B"/>
                    </a:solidFill>
                    <a:latin typeface="Calibri"/>
                  </a:rPr>
                  <a:t>; </a:t>
                </a:r>
                <a:r>
                  <a:rPr lang="vi-VN"/>
                  <a:t>R'(x)=\frac{64}{(8+x)^2}&gt;0</a:t>
                </a:r>
                <a:r>
                  <a:rPr sz="2100">
                    <a:solidFill>
                      <a:srgbClr val="1E293B"/>
                    </a:solidFill>
                    <a:latin typeface="Calibri"/>
                  </a:rPr>
                  <a:t>; </a:t>
                </a:r>
                <a:r>
                  <a:rPr lang="vi-VN"/>
                  <a:t>\lim\limits_{x\to+\infty}R(x)=8</a:t>
                </a:r>
                <a:r>
                  <a:rPr sz="2100">
                    <a:solidFill>
                      <a:srgbClr val="1E293B"/>
                    </a:solidFill>
                    <a:latin typeface="Calibri"/>
                  </a:rPr>
                  <a:t>.</a:t>
                </a:r>
              </a:p>
            </p:txBody>
          </p:sp>
        </mc:Fallback>
      </mc:AlternateContent>
      <p:sp>
        <p:nvSpPr>
          <p:cNvPr id="10" name="s2_nen"/>
          <p:cNvSpPr/>
          <p:nvPr/>
        </p:nvSpPr>
        <p:spPr>
          <a:xfrm>
            <a:off x="548640" y="4382262"/>
            <a:ext cx="768096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418838"/>
                <a:ext cx="735177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Khi </a:t>
                </a:r>
                <a14:m>
                  <m:oMath xmlns:m="http://schemas.openxmlformats.org/officeDocument/2006/math">
                    <m:r>
                      <a:rPr lang="vi-VN" sz="2100" b="0">
                        <a:solidFill>
                          <a:srgbClr val="1E293B"/>
                        </a:solidFill>
                        <a:latin typeface="Cambria Math" panose="02040503050406030204" pitchFamily="18" charset="0"/>
                      </a:rPr>
                      <m:t>x</m:t>
                    </m:r>
                  </m:oMath>
                </a14:m>
                <a:r>
                  <a:rPr sz="2100">
                    <a:solidFill>
                      <a:srgbClr val="1E293B"/>
                    </a:solidFill>
                    <a:latin typeface="Calibri"/>
                  </a:rPr>
                  <a:t> tăng, điện trở tương đương tăng. b) </a:t>
                </a:r>
                <a14:m>
                  <m:oMath xmlns:m="http://schemas.openxmlformats.org/officeDocument/2006/math">
                    <m:r>
                      <a:rPr lang="vi-VN" sz="2100" b="0">
                        <a:solidFill>
                          <a:srgbClr val="1E293B"/>
                        </a:solidFill>
                        <a:latin typeface="Cambria Math" panose="02040503050406030204" pitchFamily="18" charset="0"/>
                      </a:rPr>
                      <m:t>R(x)=8−</m:t>
                    </m:r>
                    <m:f>
                      <m:fPr>
                        <m:type m:val="bar"/>
                      </m:fPr>
                      <m:num>
                        <m:r>
                          <a:rPr lang="vi-VN" sz="2100" b="0">
                            <a:solidFill>
                              <a:srgbClr val="1E293B"/>
                            </a:solidFill>
                            <a:latin typeface="Cambria Math" panose="02040503050406030204" pitchFamily="18" charset="0"/>
                          </a:rPr>
                          <m:t>64</m:t>
                        </m:r>
                      </m:num>
                      <m:den>
                        <m:r>
                          <a:rPr lang="vi-VN" sz="2100" b="0">
                            <a:solidFill>
                              <a:srgbClr val="1E293B"/>
                            </a:solidFill>
                            <a:latin typeface="Cambria Math" panose="02040503050406030204" pitchFamily="18" charset="0"/>
                          </a:rPr>
                          <m:t>8+x</m:t>
                        </m:r>
                      </m:den>
                    </m:f>
                    <m:r>
                      <a:rPr lang="vi-VN" sz="2100" b="0">
                        <a:solidFill>
                          <a:srgbClr val="1E293B"/>
                        </a:solidFill>
                        <a:latin typeface="Cambria Math" panose="02040503050406030204" pitchFamily="18" charset="0"/>
                      </a:rPr>
                      <m:t>&lt;8</m:t>
                    </m:r>
                  </m:oMath>
                </a14:m>
                <a:r>
                  <a:rPr sz="2100">
                    <a:solidFill>
                      <a:srgbClr val="1E293B"/>
                    </a:solidFill>
                    <a:latin typeface="Calibri"/>
                  </a:rPr>
                  <a:t>: đồ thị nằm dưới tiệm cận ngang </a:t>
                </a:r>
                <a14:m>
                  <m:oMath xmlns:m="http://schemas.openxmlformats.org/officeDocument/2006/math">
                    <m:r>
                      <a:rPr lang="vi-VN" sz="2100" b="0">
                        <a:solidFill>
                          <a:srgbClr val="1E293B"/>
                        </a:solidFill>
                        <a:latin typeface="Cambria Math" panose="02040503050406030204" pitchFamily="18" charset="0"/>
                      </a:rPr>
                      <m:t>y=8</m:t>
                    </m:r>
                  </m:oMath>
                </a14:m>
                <a:r>
                  <a:rPr sz="2100">
                    <a:solidFill>
                      <a:srgbClr val="1E293B"/>
                    </a:solidFill>
                    <a:latin typeface="Calibri"/>
                  </a:rPr>
                  <a:t>.</a:t>
                </a:r>
              </a:p>
            </p:txBody>
          </p:sp>
        </mc:Choice>
        <mc:Fallback>
          <p:sp>
            <p:nvSpPr>
              <p:cNvPr id="11" name="TextBox 10"/>
              <p:cNvSpPr txBox="1"/>
              <p:nvPr/>
            </p:nvSpPr>
            <p:spPr>
              <a:xfrm>
                <a:off x="713232" y="4418838"/>
                <a:ext cx="735177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Khi </a:t>
                </a:r>
                <a:r>
                  <a:rPr lang="vi-VN"/>
                  <a:t>x</a:t>
                </a:r>
                <a:r>
                  <a:rPr sz="2100">
                    <a:solidFill>
                      <a:srgbClr val="1E293B"/>
                    </a:solidFill>
                    <a:latin typeface="Calibri"/>
                  </a:rPr>
                  <a:t> tăng, điện trở tương đương tăng. b) </a:t>
                </a:r>
                <a:r>
                  <a:rPr lang="vi-VN"/>
                  <a:t>R(x)=8-\frac{64}{8+x}&lt;8</a:t>
                </a:r>
                <a:r>
                  <a:rPr sz="2100">
                    <a:solidFill>
                      <a:srgbClr val="1E293B"/>
                    </a:solidFill>
                    <a:latin typeface="Calibri"/>
                  </a:rPr>
                  <a:t>: đồ thị nằm dưới tiệm cận ngang </a:t>
                </a:r>
                <a:r>
                  <a:rPr lang="vi-VN"/>
                  <a:t>y=8</a:t>
                </a:r>
                <a:r>
                  <a:rPr sz="2100">
                    <a:solidFill>
                      <a:srgbClr val="1E293B"/>
                    </a:solidFill>
                    <a:latin typeface="Calibri"/>
                  </a:rPr>
                  <a:t>.</a:t>
                </a:r>
              </a:p>
            </p:txBody>
          </p:sp>
        </mc:Fallback>
      </mc:AlternateContent>
      <p:pic>
        <p:nvPicPr>
          <p:cNvPr id="12" name="Picture 11" descr="b4_h133.png"/>
          <p:cNvPicPr>
            <a:picLocks noChangeAspect="1"/>
          </p:cNvPicPr>
          <p:nvPr/>
        </p:nvPicPr>
        <p:blipFill>
          <a:blip r:embed="rId3"/>
          <a:stretch>
            <a:fillRect/>
          </a:stretch>
        </p:blipFill>
        <p:spPr>
          <a:xfrm>
            <a:off x="8517280" y="1371600"/>
            <a:ext cx="2990800" cy="2103120"/>
          </a:xfrm>
          <a:prstGeom prst="rect">
            <a:avLst/>
          </a:prstGeom>
        </p:spPr>
      </p:pic>
      <p:pic>
        <p:nvPicPr>
          <p:cNvPr id="13" name="Picture 12" descr="b4_dientro.png"/>
          <p:cNvPicPr>
            <a:picLocks noChangeAspect="1"/>
          </p:cNvPicPr>
          <p:nvPr/>
        </p:nvPicPr>
        <p:blipFill>
          <a:blip r:embed="rId4"/>
          <a:stretch>
            <a:fillRect/>
          </a:stretch>
        </p:blipFill>
        <p:spPr>
          <a:xfrm>
            <a:off x="8507020" y="3657600"/>
            <a:ext cx="3102760" cy="23774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44</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Tâm đối xứng của đồ thị 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+2</m:t>
                    </m:r>
                  </m:oMath>
                </a14:m>
                <a:r>
                  <a:rPr sz="2600">
                    <a:solidFill>
                      <a:srgbClr val="1E293B"/>
                    </a:solidFill>
                    <a:latin typeface="Calibri"/>
                  </a:rPr>
                  <a:t> là</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Tâm đối xứng của đồ thị hàm số </a:t>
                </a:r>
                <a:r>
                  <a:rPr lang="vi-VN"/>
                  <a:t>y=x^3-3x^2+2</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(0;\ 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 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(2;\ -2)</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 -2)</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=6x−6=0⇔x=1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y(1)=0</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y''=6x-6=0\Leftrightarrow x=1</a:t>
                </a:r>
                <a:r>
                  <a:rPr sz="2200">
                    <a:solidFill>
                      <a:srgbClr val="1E293B"/>
                    </a:solidFill>
                    <a:latin typeface="Calibri"/>
                  </a:rPr>
                  <a:t>; </a:t>
                </a:r>
                <a:r>
                  <a:rPr lang="vi-VN"/>
                  <a:t>y(1)=0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Tâm đối xứng của đồ thị hàm số </a:t>
                </a:r>
                <a14:m>
                  <m:oMath xmlns:m="http://schemas.openxmlformats.org/officeDocument/2006/math">
                    <m:r>
                      <a:rPr lang="vi-VN" sz="2600" b="0">
                        <a:solidFill>
                          <a:srgbClr val="1E293B"/>
                        </a:solidFill>
                        <a:latin typeface="Cambria Math" panose="02040503050406030204" pitchFamily="18" charset="0"/>
                      </a:rPr>
                      <m:t>y=</m:t>
                    </m:r>
                    <m:f>
                      <m:fPr>
                        <m:type m:val="bar"/>
                      </m:fPr>
                      <m:num>
                        <m:r>
                          <a:rPr lang="vi-VN" sz="2600" b="0">
                            <a:solidFill>
                              <a:srgbClr val="1E293B"/>
                            </a:solidFill>
                            <a:latin typeface="Cambria Math" panose="02040503050406030204" pitchFamily="18" charset="0"/>
                          </a:rPr>
                          <m:t>2x−1</m:t>
                        </m:r>
                      </m:num>
                      <m:den>
                        <m:r>
                          <a:rPr lang="vi-VN" sz="2600" b="0">
                            <a:solidFill>
                              <a:srgbClr val="1E293B"/>
                            </a:solidFill>
                            <a:latin typeface="Cambria Math" panose="02040503050406030204" pitchFamily="18" charset="0"/>
                          </a:rPr>
                          <m:t>x+1</m:t>
                        </m:r>
                      </m:den>
                    </m:f>
                  </m:oMath>
                </a14:m>
                <a:r>
                  <a:rPr sz="2600">
                    <a:solidFill>
                      <a:srgbClr val="1E293B"/>
                    </a:solidFill>
                    <a:latin typeface="Calibri"/>
                  </a:rPr>
                  <a:t> là</a:t>
                </a:r>
              </a:p>
            </p:txBody>
          </p:sp>
        </mc:Choice>
        <mc:Fallback>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Tâm đối xứng của đồ thị hàm số </a:t>
                </a:r>
                <a:r>
                  <a:rPr lang="vi-VN"/>
                  <a:t>y=\frac{2x-1}{x+1}</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(-1;\ 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 -2)</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(2;\ -1)</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\left(\frac{1}{2};\ 0\right)</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Tiệm cận đứng </a:t>
                </a:r>
                <a14:m>
                  <m:oMath xmlns:m="http://schemas.openxmlformats.org/officeDocument/2006/math">
                    <m:r>
                      <a:rPr lang="vi-VN" sz="2200" b="0">
                        <a:solidFill>
                          <a:srgbClr val="1E293B"/>
                        </a:solidFill>
                        <a:latin typeface="Cambria Math" panose="02040503050406030204" pitchFamily="18" charset="0"/>
                      </a:rPr>
                      <m:t>x=−1</m:t>
                    </m:r>
                  </m:oMath>
                </a14:m>
                <a:r>
                  <a:rPr sz="2200">
                    <a:solidFill>
                      <a:srgbClr val="1E293B"/>
                    </a:solidFill>
                    <a:latin typeface="Calibri"/>
                  </a:rPr>
                  <a:t>, tiệm cận ngang </a:t>
                </a:r>
                <a14:m>
                  <m:oMath xmlns:m="http://schemas.openxmlformats.org/officeDocument/2006/math">
                    <m:r>
                      <a:rPr lang="vi-VN" sz="2200" b="0">
                        <a:solidFill>
                          <a:srgbClr val="1E293B"/>
                        </a:solidFill>
                        <a:latin typeface="Cambria Math" panose="02040503050406030204" pitchFamily="18" charset="0"/>
                      </a:rPr>
                      <m:t>y=2</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Tiệm cận đứng </a:t>
                </a:r>
                <a:r>
                  <a:rPr lang="vi-VN"/>
                  <a:t>x=-1</a:t>
                </a:r>
                <a:r>
                  <a:rPr sz="2200">
                    <a:solidFill>
                      <a:srgbClr val="1E293B"/>
                    </a:solidFill>
                    <a:latin typeface="Calibri"/>
                  </a:rPr>
                  <a:t>, tiệm cận ngang </a:t>
                </a:r>
                <a:r>
                  <a:rPr lang="vi-VN"/>
                  <a:t>y=2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47</a:t>
            </a:r>
          </a:p>
        </p:txBody>
      </p:sp>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Đồ thị hàm số nào sau đây không có tiệm cận?</a:t>
            </a:r>
          </a:p>
        </p:txBody>
      </p:sp>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x+1</m:t>
                        </m:r>
                      </m:num>
                      <m:den>
                        <m:r>
                          <a:rPr lang="vi-VN" sz="2400" b="0">
                            <a:solidFill>
                              <a:srgbClr val="1E293B"/>
                            </a:solidFill>
                            <a:latin typeface="Cambria Math" panose="02040503050406030204" pitchFamily="18" charset="0"/>
                          </a:rPr>
                          <m:t>x−1</m:t>
                        </m:r>
                      </m:den>
                    </m:f>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y=\frac{x+1}{x-1}</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−3x+1</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y=x^3-3x+1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x</m:t>
                        </m:r>
                      </m:den>
                    </m:f>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y=\frac{x^2+1}{x}</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x</m:t>
                        </m:r>
                      </m:den>
                    </m:f>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y=\frac{1}{x}</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Hàm bậc ba không có tiệm cận.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14:m>
                  <m:oMath xmlns:m="http://schemas.openxmlformats.org/officeDocument/2006/math">
                    <m:r>
                      <a:rPr lang="vi-VN" sz="2600" b="0">
                        <a:solidFill>
                          <a:srgbClr val="1E293B"/>
                        </a:solidFill>
                        <a:latin typeface="Cambria Math" panose="02040503050406030204" pitchFamily="18" charset="0"/>
                      </a:rPr>
                      <m:t>y=a</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+b</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+cx+d</m:t>
                    </m:r>
                  </m:oMath>
                </a14:m>
                <a:r>
                  <a:rPr sz="2600">
                    <a:solidFill>
                      <a:srgbClr val="1E293B"/>
                    </a:solidFill>
                    <a:latin typeface="Calibri"/>
                  </a:rPr>
                  <a:t> có đồ thị đi lên ở bên phải (</a:t>
                </a:r>
                <a14:m>
                  <m:oMath xmlns:m="http://schemas.openxmlformats.org/officeDocument/2006/math">
                    <m:limLow>
                      <m:e>
                        <m:r>
                          <a:rPr lang="vi-VN" sz="2600" b="0">
                            <a:solidFill>
                              <a:srgbClr val="1E293B"/>
                            </a:solidFill>
                            <a:latin typeface="Cambria Math" panose="02040503050406030204" pitchFamily="18" charset="0"/>
                          </a:rPr>
                          <m:t>lim</m:t>
                        </m:r>
                      </m:e>
                      <m:lim>
                        <m:r>
                          <a:rPr lang="vi-VN" sz="2600" b="0">
                            <a:solidFill>
                              <a:srgbClr val="1E293B"/>
                            </a:solidFill>
                            <a:latin typeface="Cambria Math" panose="02040503050406030204" pitchFamily="18" charset="0"/>
                          </a:rPr>
                          <m:t>x→+∞</m:t>
                        </m:r>
                      </m:lim>
                    </m:limLow>
                    <m:r>
                      <a:rPr lang="vi-VN" sz="2600" b="0">
                        <a:solidFill>
                          <a:srgbClr val="1E293B"/>
                        </a:solidFill>
                        <a:latin typeface="Cambria Math" panose="02040503050406030204" pitchFamily="18" charset="0"/>
                      </a:rPr>
                      <m:t>y=+∞</m:t>
                    </m:r>
                  </m:oMath>
                </a14:m>
                <a:r>
                  <a:rPr sz="2600">
                    <a:solidFill>
                      <a:srgbClr val="1E293B"/>
                    </a:solidFill>
                    <a:latin typeface="Calibri"/>
                  </a:rPr>
                  <a:t>) và có hai điểm cực trị. Khẳng định đúng là</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Hàm số </a:t>
                </a:r>
                <a:r>
                  <a:rPr lang="vi-VN"/>
                  <a:t>y=ax^3+bx^2+cx+d</a:t>
                </a:r>
                <a:r>
                  <a:rPr sz="2600">
                    <a:solidFill>
                      <a:srgbClr val="1E293B"/>
                    </a:solidFill>
                    <a:latin typeface="Calibri"/>
                  </a:rPr>
                  <a:t> có đồ thị đi lên ở bên phải (</a:t>
                </a:r>
                <a:r>
                  <a:rPr lang="vi-VN"/>
                  <a:t>\lim\limits_{x\to+\infty}y=+\infty</a:t>
                </a:r>
                <a:r>
                  <a:rPr sz="2600">
                    <a:solidFill>
                      <a:srgbClr val="1E293B"/>
                    </a:solidFill>
                    <a:latin typeface="Calibri"/>
                  </a:rPr>
                  <a:t>) và có hai điểm cực trị. Khẳng định đúng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a&lt;0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a&lt;0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a&gt;0</m:t>
                    </m:r>
                  </m:oMath>
                </a14:m>
                <a:r>
                  <a:rPr sz="2400">
                    <a:solidFill>
                      <a:srgbClr val="1E293B"/>
                    </a:solidFill>
                    <a:latin typeface="Calibri"/>
                  </a:rPr>
                  <a:t> và </a:t>
                </a:r>
                <a14:m>
                  <m:oMath xmlns:m="http://schemas.openxmlformats.org/officeDocument/2006/math">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−3ac&gt;0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a&gt;0</a:t>
                </a:r>
                <a:r>
                  <a:rPr sz="2400">
                    <a:solidFill>
                      <a:srgbClr val="1E293B"/>
                    </a:solidFill>
                    <a:latin typeface="Calibri"/>
                  </a:rPr>
                  <a:t> và </a:t>
                </a:r>
                <a:r>
                  <a:rPr lang="vi-VN"/>
                  <a:t>b^2-3ac&gt;0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a&gt;0</m:t>
                    </m:r>
                  </m:oMath>
                </a14:m>
                <a:r>
                  <a:rPr sz="2400">
                    <a:solidFill>
                      <a:srgbClr val="1E293B"/>
                    </a:solidFill>
                    <a:latin typeface="Calibri"/>
                  </a:rPr>
                  <a:t> và </a:t>
                </a:r>
                <a14:m>
                  <m:oMath xmlns:m="http://schemas.openxmlformats.org/officeDocument/2006/math">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−3ac&lt;0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a&gt;0</a:t>
                </a:r>
                <a:r>
                  <a:rPr sz="2400">
                    <a:solidFill>
                      <a:srgbClr val="1E293B"/>
                    </a:solidFill>
                    <a:latin typeface="Calibri"/>
                  </a:rPr>
                  <a:t> và </a:t>
                </a:r>
                <a:r>
                  <a:rPr lang="vi-VN"/>
                  <a:t>b^2-3ac&lt;0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a&lt;0</m:t>
                    </m:r>
                  </m:oMath>
                </a14:m>
                <a:r>
                  <a:rPr sz="2400">
                    <a:solidFill>
                      <a:srgbClr val="1E293B"/>
                    </a:solidFill>
                    <a:latin typeface="Calibri"/>
                  </a:rPr>
                  <a:t> và </a:t>
                </a:r>
                <a14:m>
                  <m:oMath xmlns:m="http://schemas.openxmlformats.org/officeDocument/2006/math">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−3ac&gt;0</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a&lt;0</a:t>
                </a:r>
                <a:r>
                  <a:rPr sz="2400">
                    <a:solidFill>
                      <a:srgbClr val="1E293B"/>
                    </a:solidFill>
                    <a:latin typeface="Calibri"/>
                  </a:rPr>
                  <a:t> và </a:t>
                </a:r>
                <a:r>
                  <a:rPr lang="vi-VN"/>
                  <a:t>b^2-3ac&gt;0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limLow>
                      <m:e>
                        <m: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lim>
                    </m:limLow>
                    <m:r>
                      <a:rPr lang="vi-VN" sz="2200" b="0">
                        <a:solidFill>
                          <a:srgbClr val="1E293B"/>
                        </a:solidFill>
                        <a:latin typeface="Cambria Math" panose="02040503050406030204" pitchFamily="18" charset="0"/>
                      </a:rPr>
                      <m:t>y=+∞⇒a&gt;0</m:t>
                    </m:r>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oMath>
                </a14:m>
                <a:r>
                  <a:rPr sz="2200">
                    <a:solidFill>
                      <a:srgbClr val="1E293B"/>
                    </a:solidFill>
                    <a:latin typeface="Calibri"/>
                  </a:rPr>
                  <a:t> có hai nghiệm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−3ac&gt;0</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\lim\limits_{x\to+\infty}y=+\infty\Rightarrow a&gt;0</a:t>
                </a:r>
                <a:r>
                  <a:rPr sz="2200">
                    <a:solidFill>
                      <a:srgbClr val="1E293B"/>
                    </a:solidFill>
                    <a:latin typeface="Calibri"/>
                  </a:rPr>
                  <a:t>; </a:t>
                </a:r>
                <a:r>
                  <a:rPr lang="vi-VN"/>
                  <a:t>y'=0</a:t>
                </a:r>
                <a:r>
                  <a:rPr sz="2200">
                    <a:solidFill>
                      <a:srgbClr val="1E293B"/>
                    </a:solidFill>
                    <a:latin typeface="Calibri"/>
                  </a:rPr>
                  <a:t> có hai nghiệm </a:t>
                </a:r>
                <a:r>
                  <a:rPr lang="vi-VN"/>
                  <a:t>\Leftrightarrow b^2-3ac&gt;0</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49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04087"/>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14:m>
                  <m:oMath xmlns:m="http://schemas.openxmlformats.org/officeDocument/2006/math">
                    <m:r>
                      <a:rPr lang="vi-VN" sz="2400" b="0">
                        <a:solidFill>
                          <a:srgbClr val="1E293B"/>
                        </a:solidFill>
                        <a:latin typeface="Cambria Math" panose="02040503050406030204" pitchFamily="18" charset="0"/>
                      </a:rPr>
                      <m:t>y=</m:t>
                    </m:r>
                    <m:f>
                      <m:fPr>
                        <m:type m:val="bar"/>
                      </m:fPr>
                      <m:num>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+3</m:t>
                        </m:r>
                      </m:num>
                      <m:den>
                        <m:r>
                          <a:rPr lang="vi-VN" sz="2400" b="0">
                            <a:solidFill>
                              <a:srgbClr val="1E293B"/>
                            </a:solidFill>
                            <a:latin typeface="Cambria Math" panose="02040503050406030204" pitchFamily="18" charset="0"/>
                          </a:rPr>
                          <m:t>x−1</m:t>
                        </m:r>
                      </m:den>
                    </m:f>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704087"/>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hàm số </a:t>
                </a:r>
                <a:r>
                  <a:rPr lang="vi-VN"/>
                  <a:t>y=\frac{x^2+3}{x-1}</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16712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Tiệm cận xiên của đồ thị là </a:t>
                </a:r>
                <a14:m>
                  <m:oMath xmlns:m="http://schemas.openxmlformats.org/officeDocument/2006/math">
                    <m:r>
                      <a:rPr lang="vi-VN" sz="2300" b="0">
                        <a:solidFill>
                          <a:srgbClr val="1E293B"/>
                        </a:solidFill>
                        <a:latin typeface="Cambria Math" panose="02040503050406030204" pitchFamily="18" charset="0"/>
                      </a:rPr>
                      <m:t>y=x+1</m:t>
                    </m:r>
                  </m:oMath>
                </a14:m>
                <a:r>
                  <a:rPr sz="2300">
                    <a:solidFill>
                      <a:srgbClr val="1E293B"/>
                    </a:solidFill>
                    <a:latin typeface="Calibri"/>
                  </a:rPr>
                  <a:t>.</a:t>
                </a:r>
              </a:p>
            </p:txBody>
          </p:sp>
        </mc:Choice>
        <mc:Fallback>
          <p:sp>
            <p:nvSpPr>
              <p:cNvPr id="8" name="TextBox 7"/>
              <p:cNvSpPr txBox="1"/>
              <p:nvPr/>
            </p:nvSpPr>
            <p:spPr>
              <a:xfrm>
                <a:off x="548640" y="216712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Tiệm cận xiên của đồ thị là </a:t>
                </a:r>
                <a:r>
                  <a:rPr lang="vi-VN"/>
                  <a:t>y=x+1</a:t>
                </a:r>
                <a:r>
                  <a:rPr sz="2300">
                    <a:solidFill>
                      <a:srgbClr val="1E293B"/>
                    </a:solidFill>
                    <a:latin typeface="Calibri"/>
                  </a:rPr>
                  <a:t>.</a:t>
                </a:r>
              </a:p>
            </p:txBody>
          </p:sp>
        </mc:Fallback>
      </mc:AlternateContent>
      <p:sp>
        <p:nvSpPr>
          <p:cNvPr id="9" name="s1_nen"/>
          <p:cNvSpPr/>
          <p:nvPr/>
        </p:nvSpPr>
        <p:spPr>
          <a:xfrm>
            <a:off x="8412480" y="213969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17627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3154680"/>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Hàm số đạt cực đại tại </a:t>
                </a:r>
                <a14:m>
                  <m:oMath xmlns:m="http://schemas.openxmlformats.org/officeDocument/2006/math">
                    <m:r>
                      <a:rPr lang="vi-VN" sz="2300" b="0">
                        <a:solidFill>
                          <a:srgbClr val="1E293B"/>
                        </a:solidFill>
                        <a:latin typeface="Cambria Math" panose="02040503050406030204" pitchFamily="18" charset="0"/>
                      </a:rPr>
                      <m:t>x=3</m:t>
                    </m:r>
                  </m:oMath>
                </a14:m>
                <a:r>
                  <a:rPr sz="2300">
                    <a:solidFill>
                      <a:srgbClr val="1E293B"/>
                    </a:solidFill>
                    <a:latin typeface="Calibri"/>
                  </a:rPr>
                  <a:t>.</a:t>
                </a:r>
              </a:p>
            </p:txBody>
          </p:sp>
        </mc:Choice>
        <mc:Fallback>
          <p:sp>
            <p:nvSpPr>
              <p:cNvPr id="11" name="TextBox 10"/>
              <p:cNvSpPr txBox="1"/>
              <p:nvPr/>
            </p:nvSpPr>
            <p:spPr>
              <a:xfrm>
                <a:off x="548640" y="3154680"/>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Hàm số đạt cực đại tại </a:t>
                </a:r>
                <a:r>
                  <a:rPr lang="vi-VN"/>
                  <a:t>x=3</a:t>
                </a:r>
                <a:r>
                  <a:rPr sz="2300">
                    <a:solidFill>
                      <a:srgbClr val="1E293B"/>
                    </a:solidFill>
                    <a:latin typeface="Calibri"/>
                  </a:rPr>
                  <a:t>.</a:t>
                </a:r>
              </a:p>
            </p:txBody>
          </p:sp>
        </mc:Fallback>
      </mc:AlternateContent>
      <p:sp>
        <p:nvSpPr>
          <p:cNvPr id="12" name="s2_nen"/>
          <p:cNvSpPr/>
          <p:nvPr/>
        </p:nvSpPr>
        <p:spPr>
          <a:xfrm>
            <a:off x="8412480" y="3127248"/>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3163824"/>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(cực tiểu)</a:t>
            </a:r>
          </a:p>
        </p:txBody>
      </p:sp>
      <p:sp>
        <p:nvSpPr>
          <p:cNvPr id="14" name="TextBox 13"/>
          <p:cNvSpPr txBox="1"/>
          <p:nvPr/>
        </p:nvSpPr>
        <p:spPr>
          <a:xfrm>
            <a:off x="548640" y="414223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Giá trị cực tiểu bằng 6.</a:t>
            </a:r>
          </a:p>
        </p:txBody>
      </p:sp>
      <p:sp>
        <p:nvSpPr>
          <p:cNvPr id="15" name="s3_nen"/>
          <p:cNvSpPr/>
          <p:nvPr/>
        </p:nvSpPr>
        <p:spPr>
          <a:xfrm>
            <a:off x="8412480" y="4114800"/>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15137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7" name="TextBox 16"/>
              <p:cNvSpPr txBox="1"/>
              <p:nvPr/>
            </p:nvSpPr>
            <p:spPr>
              <a:xfrm>
                <a:off x="548640" y="5129784"/>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Tâm đối xứng của đồ thị là </a:t>
                </a:r>
                <a14:m>
                  <m:oMath xmlns:m="http://schemas.openxmlformats.org/officeDocument/2006/math">
                    <m:r>
                      <a:rPr lang="vi-VN" sz="2300" b="0">
                        <a:solidFill>
                          <a:srgbClr val="1E293B"/>
                        </a:solidFill>
                        <a:latin typeface="Cambria Math" panose="02040503050406030204" pitchFamily="18" charset="0"/>
                      </a:rPr>
                      <m:t>I(1;</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2)</m:t>
                    </m:r>
                  </m:oMath>
                </a14:m>
                <a:r>
                  <a:rPr sz="2300">
                    <a:solidFill>
                      <a:srgbClr val="1E293B"/>
                    </a:solidFill>
                    <a:latin typeface="Calibri"/>
                  </a:rPr>
                  <a:t>.</a:t>
                </a:r>
              </a:p>
            </p:txBody>
          </p:sp>
        </mc:Choice>
        <mc:Fallback>
          <p:sp>
            <p:nvSpPr>
              <p:cNvPr id="17" name="TextBox 16"/>
              <p:cNvSpPr txBox="1"/>
              <p:nvPr/>
            </p:nvSpPr>
            <p:spPr>
              <a:xfrm>
                <a:off x="548640" y="5129784"/>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Tâm đối xứng của đồ thị là </a:t>
                </a:r>
                <a:r>
                  <a:rPr lang="vi-VN"/>
                  <a:t>I(1;\ 2)</a:t>
                </a:r>
                <a:r>
                  <a:rPr sz="2300">
                    <a:solidFill>
                      <a:srgbClr val="1E293B"/>
                    </a:solidFill>
                    <a:latin typeface="Calibri"/>
                  </a:rPr>
                  <a:t>.</a:t>
                </a:r>
              </a:p>
            </p:txBody>
          </p:sp>
        </mc:Fallback>
      </mc:AlternateContent>
      <p:sp>
        <p:nvSpPr>
          <p:cNvPr id="18" name="s4_nen"/>
          <p:cNvSpPr/>
          <p:nvPr/>
        </p:nvSpPr>
        <p:spPr>
          <a:xfrm>
            <a:off x="8412480" y="5102352"/>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5138928"/>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6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Đồ thị hàm số </a:t>
                </a:r>
                <a14:m>
                  <m:oMath xmlns:m="http://schemas.openxmlformats.org/officeDocument/2006/math">
                    <m:r>
                      <a:rPr lang="vi-VN" sz="2600" b="0">
                        <a:solidFill>
                          <a:srgbClr val="1E293B"/>
                        </a:solidFill>
                        <a:latin typeface="Cambria Math" panose="02040503050406030204" pitchFamily="18" charset="0"/>
                      </a:rPr>
                      <m:t>y=−</m:t>
                    </m:r>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3</m:t>
                        </m:r>
                      </m:sup>
                    </m:sSup>
                    <m:r>
                      <a:rPr lang="vi-VN" sz="2600" b="0">
                        <a:solidFill>
                          <a:srgbClr val="1E293B"/>
                        </a:solidFill>
                        <a:latin typeface="Cambria Math" panose="02040503050406030204" pitchFamily="18" charset="0"/>
                      </a:rPr>
                      <m:t>+3x+1</m:t>
                    </m:r>
                  </m:oMath>
                </a14:m>
                <a:r>
                  <a:rPr sz="2600">
                    <a:solidFill>
                      <a:srgbClr val="1E293B"/>
                    </a:solidFill>
                    <a:latin typeface="Calibri"/>
                  </a:rPr>
                  <a:t> có hai điểm cực trị </a:t>
                </a:r>
                <a14:m>
                  <m:oMath xmlns:m="http://schemas.openxmlformats.org/officeDocument/2006/math">
                    <m:r>
                      <a:rPr lang="vi-VN" sz="2600" b="0">
                        <a:solidFill>
                          <a:srgbClr val="1E293B"/>
                        </a:solidFill>
                        <a:latin typeface="Cambria Math" panose="02040503050406030204" pitchFamily="18" charset="0"/>
                      </a:rPr>
                      <m:t>A</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B</m:t>
                    </m:r>
                  </m:oMath>
                </a14:m>
                <a:r>
                  <a:rPr sz="2600">
                    <a:solidFill>
                      <a:srgbClr val="1E293B"/>
                    </a:solidFill>
                    <a:latin typeface="Calibri"/>
                  </a:rPr>
                  <a:t>. Tính tung độ trung điểm của </a:t>
                </a:r>
                <a14:m>
                  <m:oMath xmlns:m="http://schemas.openxmlformats.org/officeDocument/2006/math">
                    <m:r>
                      <a:rPr lang="vi-VN" sz="2600" b="0">
                        <a:solidFill>
                          <a:srgbClr val="1E293B"/>
                        </a:solidFill>
                        <a:latin typeface="Cambria Math" panose="02040503050406030204" pitchFamily="18" charset="0"/>
                      </a:rPr>
                      <m:t>AB</m:t>
                    </m:r>
                  </m:oMath>
                </a14:m>
                <a:r>
                  <a:rPr sz="2600">
                    <a:solidFill>
                      <a:srgbClr val="1E293B"/>
                    </a:solidFill>
                    <a:latin typeface="Calibri"/>
                  </a:rPr>
                  <a:t>.</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Đồ thị hàm số </a:t>
                </a:r>
                <a:r>
                  <a:rPr lang="vi-VN"/>
                  <a:t>y=-x^3+3x+1</a:t>
                </a:r>
                <a:r>
                  <a:rPr sz="2600">
                    <a:solidFill>
                      <a:srgbClr val="1E293B"/>
                    </a:solidFill>
                    <a:latin typeface="Calibri"/>
                  </a:rPr>
                  <a:t> có hai điểm cực trị </a:t>
                </a:r>
                <a:r>
                  <a:rPr lang="vi-VN"/>
                  <a:t>A</a:t>
                </a:r>
                <a:r>
                  <a:rPr sz="2600">
                    <a:solidFill>
                      <a:srgbClr val="1E293B"/>
                    </a:solidFill>
                    <a:latin typeface="Calibri"/>
                  </a:rPr>
                  <a:t>, </a:t>
                </a:r>
                <a:r>
                  <a:rPr lang="vi-VN"/>
                  <a:t>B</a:t>
                </a:r>
                <a:r>
                  <a:rPr sz="2600">
                    <a:solidFill>
                      <a:srgbClr val="1E293B"/>
                    </a:solidFill>
                    <a:latin typeface="Calibri"/>
                  </a:rPr>
                  <a:t>. Tính tung độ trung điểm của </a:t>
                </a:r>
                <a:r>
                  <a:rPr lang="vi-VN"/>
                  <a:t>AB</a:t>
                </a:r>
                <a:r>
                  <a:rPr sz="2600">
                    <a:solidFill>
                      <a:srgbClr val="1E293B"/>
                    </a:solidFill>
                    <a:latin typeface="Calibri"/>
                  </a:rPr>
                  <a:t>.</a:t>
                </a:r>
              </a:p>
            </p:txBody>
          </p:sp>
        </mc:Fallback>
      </mc:AlternateContent>
      <p:sp>
        <p:nvSpPr>
          <p:cNvPr id="8" name="s1_nen"/>
          <p:cNvSpPr/>
          <p:nvPr/>
        </p:nvSpPr>
        <p:spPr>
          <a:xfrm>
            <a:off x="548640" y="3931920"/>
            <a:ext cx="11064240" cy="996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B(1;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oMath>
                </a14:m>
                <a:r>
                  <a:rPr sz="2400">
                    <a:solidFill>
                      <a:srgbClr val="1E293B"/>
                    </a:solidFill>
                    <a:latin typeface="Calibri"/>
                  </a:rPr>
                  <a:t>; trung điểm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m:t>
                        </m:r>
                      </m:e>
                    </m:d>
                  </m:oMath>
                </a14:m>
                <a:r>
                  <a:rPr sz="2400">
                    <a:solidFill>
                      <a:srgbClr val="1E293B"/>
                    </a:solidFill>
                    <a:latin typeface="Calibri"/>
                  </a:rPr>
                  <a:t> – cũng là tâm đối xứng.</a:t>
                </a:r>
              </a:p>
            </p:txBody>
          </p:sp>
        </mc:Choice>
        <mc:Fallback>
          <p:sp>
            <p:nvSpPr>
              <p:cNvPr id="9" name="TextBox 8"/>
              <p:cNvSpPr txBox="1"/>
              <p:nvPr/>
            </p:nvSpPr>
            <p:spPr>
              <a:xfrm>
                <a:off x="713232" y="3968496"/>
                <a:ext cx="10735056" cy="923543"/>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a:t>
                </a:r>
                <a:r>
                  <a:rPr sz="2400">
                    <a:solidFill>
                      <a:srgbClr val="1E293B"/>
                    </a:solidFill>
                    <a:latin typeface="Calibri"/>
                  </a:rPr>
                  <a:t> </a:t>
                </a:r>
                <a:r>
                  <a:rPr lang="vi-VN"/>
                  <a:t>A(-1;\ -1)</a:t>
                </a:r>
                <a:r>
                  <a:rPr sz="2400">
                    <a:solidFill>
                      <a:srgbClr val="1E293B"/>
                    </a:solidFill>
                    <a:latin typeface="Calibri"/>
                  </a:rPr>
                  <a:t>, </a:t>
                </a:r>
                <a:r>
                  <a:rPr lang="vi-VN"/>
                  <a:t>B(1;\ 3)</a:t>
                </a:r>
                <a:r>
                  <a:rPr sz="2400">
                    <a:solidFill>
                      <a:srgbClr val="1E293B"/>
                    </a:solidFill>
                    <a:latin typeface="Calibri"/>
                  </a:rPr>
                  <a:t>; trung điểm </a:t>
                </a:r>
                <a:r>
                  <a:rPr lang="vi-VN"/>
                  <a:t>(0;\ 1)</a:t>
                </a:r>
                <a:r>
                  <a:rPr sz="2400">
                    <a:solidFill>
                      <a:srgbClr val="1E293B"/>
                    </a:solidFill>
                    <a:latin typeface="Calibri"/>
                  </a:rPr>
                  <a:t> – cũng là tâm đối xứng.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7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51</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Đồ thị hàm số </a:t>
                </a:r>
                <a14:m>
                  <m:oMath xmlns:m="http://schemas.openxmlformats.org/officeDocument/2006/math">
                    <m:r>
                      <a:rPr lang="vi-VN" sz="2600" b="0">
                        <a:solidFill>
                          <a:srgbClr val="1E293B"/>
                        </a:solidFill>
                        <a:latin typeface="Cambria Math" panose="02040503050406030204" pitchFamily="18" charset="0"/>
                      </a:rPr>
                      <m:t>y=</m:t>
                    </m:r>
                    <m:f>
                      <m:fPr>
                        <m:type m:val="bar"/>
                      </m:fPr>
                      <m:num>
                        <m:sSup>
                          <m:e>
                            <m:r>
                              <a:rPr lang="vi-VN" sz="2600" b="0">
                                <a:solidFill>
                                  <a:srgbClr val="1E293B"/>
                                </a:solidFill>
                                <a:latin typeface="Cambria Math" panose="02040503050406030204" pitchFamily="18" charset="0"/>
                              </a:rPr>
                              <m:t>x</m:t>
                            </m:r>
                          </m:e>
                          <m:sup>
                            <m:r>
                              <a:rPr lang="vi-VN" sz="2600" b="0">
                                <a:solidFill>
                                  <a:srgbClr val="1E293B"/>
                                </a:solidFill>
                                <a:latin typeface="Cambria Math" panose="02040503050406030204" pitchFamily="18" charset="0"/>
                              </a:rPr>
                              <m:t>2</m:t>
                            </m:r>
                          </m:sup>
                        </m:sSup>
                        <m:r>
                          <a:rPr lang="vi-VN" sz="2600" b="0">
                            <a:solidFill>
                              <a:srgbClr val="1E293B"/>
                            </a:solidFill>
                            <a:latin typeface="Cambria Math" panose="02040503050406030204" pitchFamily="18" charset="0"/>
                          </a:rPr>
                          <m:t>+2x+1</m:t>
                        </m:r>
                      </m:num>
                      <m:den>
                        <m:r>
                          <a:rPr lang="vi-VN" sz="2600" b="0">
                            <a:solidFill>
                              <a:srgbClr val="1E293B"/>
                            </a:solidFill>
                            <a:latin typeface="Cambria Math" panose="02040503050406030204" pitchFamily="18" charset="0"/>
                          </a:rPr>
                          <m:t>x+3</m:t>
                        </m:r>
                      </m:den>
                    </m:f>
                  </m:oMath>
                </a14:m>
                <a:r>
                  <a:rPr sz="2600">
                    <a:solidFill>
                      <a:srgbClr val="1E293B"/>
                    </a:solidFill>
                    <a:latin typeface="Calibri"/>
                  </a:rPr>
                  <a:t> có tâm đối xứng </a:t>
                </a:r>
                <a14:m>
                  <m:oMath xmlns:m="http://schemas.openxmlformats.org/officeDocument/2006/math">
                    <m:r>
                      <a:rPr lang="vi-VN" sz="2600" b="0">
                        <a:solidFill>
                          <a:srgbClr val="1E293B"/>
                        </a:solidFill>
                        <a:latin typeface="Cambria Math" panose="02040503050406030204" pitchFamily="18" charset="0"/>
                      </a:rPr>
                      <m:t>I(a;</m:t>
                    </m:r>
                    <m:r>
                      <m:rPr>
                        <m:sty m:val="p"/>
                      </m:rPr>
                      <a:rPr lang="vi-VN" sz="2600" b="0">
                        <a:solidFill>
                          <a:srgbClr val="1E293B"/>
                        </a:solidFill>
                        <a:latin typeface="Cambria Math" panose="02040503050406030204" pitchFamily="18" charset="0"/>
                      </a:rPr>
                      <m:t> </m:t>
                    </m:r>
                    <m:r>
                      <a:rPr lang="vi-VN" sz="2600" b="0">
                        <a:solidFill>
                          <a:srgbClr val="1E293B"/>
                        </a:solidFill>
                        <a:latin typeface="Cambria Math" panose="02040503050406030204" pitchFamily="18" charset="0"/>
                      </a:rPr>
                      <m:t>b)</m:t>
                    </m:r>
                  </m:oMath>
                </a14:m>
                <a:r>
                  <a:rPr sz="2600">
                    <a:solidFill>
                      <a:srgbClr val="1E293B"/>
                    </a:solidFill>
                    <a:latin typeface="Calibri"/>
                  </a:rPr>
                  <a:t>. Tính </a:t>
                </a:r>
                <a14:m>
                  <m:oMath xmlns:m="http://schemas.openxmlformats.org/officeDocument/2006/math">
                    <m:r>
                      <a:rPr lang="vi-VN" sz="2600" b="0">
                        <a:solidFill>
                          <a:srgbClr val="1E293B"/>
                        </a:solidFill>
                        <a:latin typeface="Cambria Math" panose="02040503050406030204" pitchFamily="18" charset="0"/>
                      </a:rPr>
                      <m:t>a+b</m:t>
                    </m:r>
                  </m:oMath>
                </a14:m>
                <a:r>
                  <a:rPr sz="2600">
                    <a:solidFill>
                      <a:srgbClr val="1E293B"/>
                    </a:solidFill>
                    <a:latin typeface="Calibri"/>
                  </a:rPr>
                  <a:t>.</a:t>
                </a:r>
              </a:p>
            </p:txBody>
          </p:sp>
        </mc:Choice>
        <mc:Fallback>
          <p:sp>
            <p:nvSpPr>
              <p:cNvPr id="7" name="TextBox 6"/>
              <p:cNvSpPr txBox="1"/>
              <p:nvPr/>
            </p:nvSpPr>
            <p:spPr>
              <a:xfrm>
                <a:off x="548640" y="146304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Đồ thị hàm số </a:t>
                </a:r>
                <a:r>
                  <a:rPr lang="vi-VN"/>
                  <a:t>y=\frac{x^2+2x+1}{x+3}</a:t>
                </a:r>
                <a:r>
                  <a:rPr sz="2600">
                    <a:solidFill>
                      <a:srgbClr val="1E293B"/>
                    </a:solidFill>
                    <a:latin typeface="Calibri"/>
                  </a:rPr>
                  <a:t> có tâm đối xứng </a:t>
                </a:r>
                <a:r>
                  <a:rPr lang="vi-VN"/>
                  <a:t>I(a;\ b)</a:t>
                </a:r>
                <a:r>
                  <a:rPr sz="2600">
                    <a:solidFill>
                      <a:srgbClr val="1E293B"/>
                    </a:solidFill>
                    <a:latin typeface="Calibri"/>
                  </a:rPr>
                  <a:t>. Tính </a:t>
                </a:r>
                <a:r>
                  <a:rPr lang="vi-VN"/>
                  <a:t>a+b</a:t>
                </a:r>
                <a:r>
                  <a:rPr sz="2600">
                    <a:solidFill>
                      <a:srgbClr val="1E293B"/>
                    </a:solidFill>
                    <a:latin typeface="Calibri"/>
                  </a:rPr>
                  <a: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−7.</a:t>
                </a:r>
                <a:r>
                  <a:rPr sz="2400">
                    <a:solidFill>
                      <a:srgbClr val="1E293B"/>
                    </a:solidFill>
                    <a:latin typeface="Calibri"/>
                  </a:rPr>
                  <a:t> Tiệm cận đứng </a:t>
                </a:r>
                <a14:m>
                  <m:oMath xmlns:m="http://schemas.openxmlformats.org/officeDocument/2006/math">
                    <m:r>
                      <a:rPr lang="vi-VN" sz="2400" b="0">
                        <a:solidFill>
                          <a:srgbClr val="1E293B"/>
                        </a:solidFill>
                        <a:latin typeface="Cambria Math" panose="02040503050406030204" pitchFamily="18" charset="0"/>
                      </a:rPr>
                      <m:t>x=−3</m:t>
                    </m:r>
                  </m:oMath>
                </a14:m>
                <a:r>
                  <a:rPr sz="2400">
                    <a:solidFill>
                      <a:srgbClr val="1E293B"/>
                    </a:solidFill>
                    <a:latin typeface="Calibri"/>
                  </a:rPr>
                  <a:t>, tiệm cận xiên </a:t>
                </a:r>
                <a14:m>
                  <m:oMath xmlns:m="http://schemas.openxmlformats.org/officeDocument/2006/math">
                    <m:r>
                      <a:rPr lang="vi-VN" sz="2400" b="0">
                        <a:solidFill>
                          <a:srgbClr val="1E293B"/>
                        </a:solidFill>
                        <a:latin typeface="Cambria Math" panose="02040503050406030204" pitchFamily="18" charset="0"/>
                      </a:rPr>
                      <m:t>y=x−1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I(−3;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oMath>
                </a14:m>
                <a:r>
                  <a:rPr sz="2400">
                    <a:solidFill>
                      <a:srgbClr val="1E293B"/>
                    </a:solidFill>
                    <a:latin typeface="Calibri"/>
                  </a:rPr>
                  <a:t>.</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−7.</a:t>
                </a:r>
                <a:r>
                  <a:rPr sz="2400">
                    <a:solidFill>
                      <a:srgbClr val="1E293B"/>
                    </a:solidFill>
                    <a:latin typeface="Calibri"/>
                  </a:rPr>
                  <a:t> Tiệm cận đứng </a:t>
                </a:r>
                <a:r>
                  <a:rPr lang="vi-VN"/>
                  <a:t>x=-3</a:t>
                </a:r>
                <a:r>
                  <a:rPr sz="2400">
                    <a:solidFill>
                      <a:srgbClr val="1E293B"/>
                    </a:solidFill>
                    <a:latin typeface="Calibri"/>
                  </a:rPr>
                  <a:t>, tiệm cận xiên </a:t>
                </a:r>
                <a:r>
                  <a:rPr lang="vi-VN"/>
                  <a:t>y=x-1</a:t>
                </a:r>
                <a:r>
                  <a:rPr sz="2400">
                    <a:solidFill>
                      <a:srgbClr val="1E293B"/>
                    </a:solidFill>
                    <a:latin typeface="Calibri"/>
                  </a:rPr>
                  <a:t>; </a:t>
                </a:r>
                <a:r>
                  <a:rPr lang="vi-VN"/>
                  <a:t>I(-3;\ -4)</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8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52</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1540764"/>
              </a:xfrm>
              <a:prstGeom prst="rect">
                <a:avLst/>
              </a:prstGeom>
              <a:noFill/>
            </p:spPr>
            <p:txBody>
              <a:bodyPr wrap="square" anchor="t" lIns="45720" rIns="45720">
                <a:spAutoFit/>
              </a:bodyPr>
              <a:lstStyle/>
              <a:p>
                <a:pPr algn="l">
                  <a:spcAft>
                    <a:spcPts val="800"/>
                  </a:spcAft>
                </a:pPr>
                <a:r>
                  <a:rPr sz="2600">
                    <a:solidFill>
                      <a:srgbClr val="1E293B"/>
                    </a:solidFill>
                    <a:latin typeface="Calibri"/>
                  </a:rPr>
                  <a:t>Lợi nhuận trung bình (triệu đồng) trên mỗi sản phẩm khi bán </a:t>
                </a:r>
                <a14:m>
                  <m:oMath xmlns:m="http://schemas.openxmlformats.org/officeDocument/2006/math">
                    <m:r>
                      <a:rPr lang="vi-VN" sz="2600" b="0">
                        <a:solidFill>
                          <a:srgbClr val="1E293B"/>
                        </a:solidFill>
                        <a:latin typeface="Cambria Math" panose="02040503050406030204" pitchFamily="18" charset="0"/>
                      </a:rPr>
                      <m:t>x</m:t>
                    </m:r>
                  </m:oMath>
                </a14:m>
                <a:r>
                  <a:rPr sz="2600">
                    <a:solidFill>
                      <a:srgbClr val="1E293B"/>
                    </a:solidFill>
                    <a:latin typeface="Calibri"/>
                  </a:rPr>
                  <a:t> sản phẩm là </a:t>
                </a:r>
                <a14:m>
                  <m:oMath xmlns:m="http://schemas.openxmlformats.org/officeDocument/2006/math">
                    <m:r>
                      <a:rPr lang="vi-VN" sz="2600" b="0">
                        <a:solidFill>
                          <a:srgbClr val="1E293B"/>
                        </a:solidFill>
                        <a:latin typeface="Cambria Math" panose="02040503050406030204" pitchFamily="18" charset="0"/>
                      </a:rPr>
                      <m:t>P(x)=</m:t>
                    </m:r>
                    <m:f>
                      <m:fPr>
                        <m:type m:val="bar"/>
                      </m:fPr>
                      <m:num>
                        <m:r>
                          <a:rPr lang="vi-VN" sz="2600" b="0">
                            <a:solidFill>
                              <a:srgbClr val="1E293B"/>
                            </a:solidFill>
                            <a:latin typeface="Cambria Math" panose="02040503050406030204" pitchFamily="18" charset="0"/>
                          </a:rPr>
                          <m:t>5x</m:t>
                        </m:r>
                      </m:num>
                      <m:den>
                        <m:r>
                          <a:rPr lang="vi-VN" sz="2600" b="0">
                            <a:solidFill>
                              <a:srgbClr val="1E293B"/>
                            </a:solidFill>
                            <a:latin typeface="Cambria Math" panose="02040503050406030204" pitchFamily="18" charset="0"/>
                          </a:rPr>
                          <m:t>x+10</m:t>
                        </m:r>
                      </m:den>
                    </m:f>
                  </m:oMath>
                </a14:m>
                <a:r>
                  <a:rPr sz="2600">
                    <a:solidFill>
                      <a:srgbClr val="1E293B"/>
                    </a:solidFill>
                    <a:latin typeface="Calibri"/>
                  </a:rPr>
                  <a:t>. Khi </a:t>
                </a:r>
                <a14:m>
                  <m:oMath xmlns:m="http://schemas.openxmlformats.org/officeDocument/2006/math">
                    <m:r>
                      <a:rPr lang="vi-VN" sz="2600" b="0">
                        <a:solidFill>
                          <a:srgbClr val="1E293B"/>
                        </a:solidFill>
                        <a:latin typeface="Cambria Math" panose="02040503050406030204" pitchFamily="18" charset="0"/>
                      </a:rPr>
                      <m:t>x</m:t>
                    </m:r>
                  </m:oMath>
                </a14:m>
                <a:r>
                  <a:rPr sz="2600">
                    <a:solidFill>
                      <a:srgbClr val="1E293B"/>
                    </a:solidFill>
                    <a:latin typeface="Calibri"/>
                  </a:rPr>
                  <a:t> rất lớn, lợi nhuận trung bình tiến tới bao nhiêu triệu đồng?</a:t>
                </a:r>
              </a:p>
            </p:txBody>
          </p:sp>
        </mc:Choice>
        <mc:Fallback>
          <p:sp>
            <p:nvSpPr>
              <p:cNvPr id="7" name="TextBox 6"/>
              <p:cNvSpPr txBox="1"/>
              <p:nvPr/>
            </p:nvSpPr>
            <p:spPr>
              <a:xfrm>
                <a:off x="548640" y="1463040"/>
                <a:ext cx="11064240" cy="1540764"/>
              </a:xfrm>
              <a:prstGeom prst="rect">
                <a:avLst/>
              </a:prstGeom>
              <a:noFill/>
            </p:spPr>
            <p:txBody>
              <a:bodyPr wrap="square" anchor="t" lIns="45720" rIns="45720">
                <a:spAutoFit/>
              </a:bodyPr>
              <a:lstStyle/>
              <a:p>
                <a:pPr algn="l">
                  <a:spcAft>
                    <a:spcPts val="800"/>
                  </a:spcAft>
                </a:pPr>
                <a:r>
                  <a:rPr sz="2600">
                    <a:solidFill>
                      <a:srgbClr val="1E293B"/>
                    </a:solidFill>
                    <a:latin typeface="Calibri"/>
                  </a:rPr>
                  <a:t>Lợi nhuận trung bình (triệu đồng) trên mỗi sản phẩm khi bán </a:t>
                </a:r>
                <a:r>
                  <a:rPr lang="vi-VN"/>
                  <a:t>x</a:t>
                </a:r>
                <a:r>
                  <a:rPr sz="2600">
                    <a:solidFill>
                      <a:srgbClr val="1E293B"/>
                    </a:solidFill>
                    <a:latin typeface="Calibri"/>
                  </a:rPr>
                  <a:t> sản phẩm là </a:t>
                </a:r>
                <a:r>
                  <a:rPr lang="vi-VN"/>
                  <a:t>P(x)=\frac{5x}{x+10}</a:t>
                </a:r>
                <a:r>
                  <a:rPr sz="2600">
                    <a:solidFill>
                      <a:srgbClr val="1E293B"/>
                    </a:solidFill>
                    <a:latin typeface="Calibri"/>
                  </a:rPr>
                  <a:t>. Khi </a:t>
                </a:r>
                <a:r>
                  <a:rPr lang="vi-VN"/>
                  <a:t>x</a:t>
                </a:r>
                <a:r>
                  <a:rPr sz="2600">
                    <a:solidFill>
                      <a:srgbClr val="1E293B"/>
                    </a:solidFill>
                    <a:latin typeface="Calibri"/>
                  </a:rPr>
                  <a:t> rất lớn, lợi nhuận trung bình tiến tới bao nhiêu triệu đồng?</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a:t>
                </a:r>
                <a:r>
                  <a:rPr sz="2400">
                    <a:solidFill>
                      <a:srgbClr val="1E293B"/>
                    </a:solidFill>
                    <a:latin typeface="Calibri"/>
                  </a:rPr>
                  <a:t> </a:t>
                </a:r>
                <a14:m>
                  <m:oMath xmlns:m="http://schemas.openxmlformats.org/officeDocument/2006/math">
                    <m:limLow>
                      <m:e>
                        <m:r>
                          <a:rPr lang="vi-VN" sz="2400" b="0">
                            <a:solidFill>
                              <a:srgbClr val="1E293B"/>
                            </a:solidFill>
                            <a:latin typeface="Cambria Math" panose="02040503050406030204" pitchFamily="18" charset="0"/>
                          </a:rPr>
                          <m:t>lim</m:t>
                        </m:r>
                      </m:e>
                      <m:lim>
                        <m:r>
                          <a:rPr lang="vi-VN" sz="2400" b="0">
                            <a:solidFill>
                              <a:srgbClr val="1E293B"/>
                            </a:solidFill>
                            <a:latin typeface="Cambria Math" panose="02040503050406030204" pitchFamily="18" charset="0"/>
                          </a:rPr>
                          <m:t>x→+∞</m:t>
                        </m:r>
                      </m:lim>
                    </m:limLow>
                    <m:f>
                      <m:fPr>
                        <m:type m:val="bar"/>
                      </m:fPr>
                      <m:num>
                        <m:r>
                          <a:rPr lang="vi-VN" sz="2400" b="0">
                            <a:solidFill>
                              <a:srgbClr val="1E293B"/>
                            </a:solidFill>
                            <a:latin typeface="Cambria Math" panose="02040503050406030204" pitchFamily="18" charset="0"/>
                          </a:rPr>
                          <m:t>5x</m:t>
                        </m:r>
                      </m:num>
                      <m:den>
                        <m:r>
                          <a:rPr lang="vi-VN" sz="2400" b="0">
                            <a:solidFill>
                              <a:srgbClr val="1E293B"/>
                            </a:solidFill>
                            <a:latin typeface="Cambria Math" panose="02040503050406030204" pitchFamily="18" charset="0"/>
                          </a:rPr>
                          <m:t>x+10</m:t>
                        </m:r>
                      </m:den>
                    </m:f>
                    <m:r>
                      <a:rPr lang="vi-VN" sz="2400" b="0">
                        <a:solidFill>
                          <a:srgbClr val="1E293B"/>
                        </a:solidFill>
                        <a:latin typeface="Cambria Math" panose="02040503050406030204" pitchFamily="18" charset="0"/>
                      </a:rPr>
                      <m:t>=5</m:t>
                    </m:r>
                  </m:oMath>
                </a14:m>
                <a:r>
                  <a:rPr sz="2400">
                    <a:solidFill>
                      <a:srgbClr val="1E293B"/>
                    </a:solidFill>
                    <a:latin typeface="Calibri"/>
                  </a:rPr>
                  <a:t>: tiệm cận ngang </a:t>
                </a:r>
                <a14:m>
                  <m:oMath xmlns:m="http://schemas.openxmlformats.org/officeDocument/2006/math">
                    <m:r>
                      <a:rPr lang="vi-VN" sz="2400" b="0">
                        <a:solidFill>
                          <a:srgbClr val="1E293B"/>
                        </a:solidFill>
                        <a:latin typeface="Cambria Math" panose="02040503050406030204" pitchFamily="18" charset="0"/>
                      </a:rPr>
                      <m:t>y=5</m:t>
                    </m:r>
                  </m:oMath>
                </a14:m>
                <a:r>
                  <a:rPr sz="2400">
                    <a:solidFill>
                      <a:srgbClr val="1E293B"/>
                    </a:solidFill>
                    <a:latin typeface="Calibri"/>
                  </a:rPr>
                  <a:t>.</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5.</a:t>
                </a:r>
                <a:r>
                  <a:rPr sz="2400">
                    <a:solidFill>
                      <a:srgbClr val="1E293B"/>
                    </a:solidFill>
                    <a:latin typeface="Calibri"/>
                  </a:rPr>
                  <a:t> </a:t>
                </a:r>
                <a:r>
                  <a:rPr lang="vi-VN"/>
                  <a:t>\lim\limits_{x\to+\infty}\frac{5x}{x+10}=5</a:t>
                </a:r>
                <a:r>
                  <a:rPr sz="2400">
                    <a:solidFill>
                      <a:srgbClr val="1E293B"/>
                    </a:solidFill>
                    <a:latin typeface="Calibri"/>
                  </a:rPr>
                  <a:t>: tiệm cận ngang </a:t>
                </a:r>
                <a:r>
                  <a:rPr lang="vi-VN"/>
                  <a:t>y=5</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53</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https://trangtu66.github.io/Taode_thi_online/cc_bai4_t12.html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1.21 – 1.25.</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5. Ứng dụng đạo hàm để giải quyết một số vấn đề liên quan đến thực tiễn</a:t>
            </a:r>
            <a:r>
              <a:rPr sz="2200">
                <a:solidFill>
                  <a:srgbClr val="1E293B"/>
                </a:solidFill>
                <a:latin typeface="Calibri"/>
              </a:rPr>
              <a:t> (SGK tr.33).</a:t>
            </a:r>
          </a:p>
        </p:txBody>
      </p:sp>
      <p:pic>
        <p:nvPicPr>
          <p:cNvPr id="8" name="Picture 7" descr="QR_CungCo_Bai4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54</a:t>
            </a:r>
          </a:p>
        </p:txBody>
      </p:sp>
      <p:pic>
        <p:nvPicPr>
          <p:cNvPr id="7" name="Picture 6" descr="SoDoTuDuy_TOAN12_Bai4_KhaoSatHamSo.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Bỏ qua bước tìm tập xác định; quên vạch kép tại điểm không xác định trong bảng biến thiên.</a:t>
                </a:r>
              </a:p>
              <a:p>
                <a:pPr algn="l" marL="365760" indent="-365760">
                  <a:spcAft>
                    <a:spcPts val="800"/>
                  </a:spcAft>
                  <a:buClr>
                    <a:srgbClr val="1E40AF"/>
                  </a:buClr>
                  <a:buFont typeface="Arial"/>
                  <a:buChar char="•"/>
                </a:pPr>
                <a:r>
                  <a:rPr sz="2100">
                    <a:solidFill>
                      <a:srgbClr val="1E293B"/>
                    </a:solidFill>
                    <a:latin typeface="Calibri"/>
                  </a:rPr>
                  <a:t>Vẽ đồ thị cắt tiệm cận đứng; vẽ nhánh không tiến sát tiệm cận.</a:t>
                </a:r>
              </a:p>
              <a:p>
                <a:pPr algn="l" marL="365760" indent="-365760">
                  <a:spcAft>
                    <a:spcPts val="800"/>
                  </a:spcAft>
                  <a:buClr>
                    <a:srgbClr val="1E40AF"/>
                  </a:buClr>
                  <a:buFont typeface="Arial"/>
                  <a:buChar char="•"/>
                </a:pPr>
                <a:r>
                  <a:rPr sz="2100">
                    <a:solidFill>
                      <a:srgbClr val="1E293B"/>
                    </a:solidFill>
                    <a:latin typeface="Calibri"/>
                  </a:rPr>
                  <a:t>Nhầm tâm đối xứng của hàm bậc ba với điểm cực trị; nhầm toạ độ giao điểm hai tiệm cận.</a:t>
                </a:r>
              </a:p>
              <a:p>
                <a:pPr algn="l" marL="365760" indent="-365760">
                  <a:spcAft>
                    <a:spcPts val="800"/>
                  </a:spcAft>
                  <a:buClr>
                    <a:srgbClr val="1E40AF"/>
                  </a:buClr>
                  <a:buFont typeface="Arial"/>
                  <a:buChar char="•"/>
                </a:pPr>
                <a:r>
                  <a:rPr sz="2100">
                    <a:solidFill>
                      <a:srgbClr val="1E293B"/>
                    </a:solidFill>
                    <a:latin typeface="Calibri"/>
                  </a:rPr>
                  <a:t>Chia đa thức sai dấu khi mẫu là </a:t>
                </a:r>
                <a14:m>
                  <m:oMath xmlns:m="http://schemas.openxmlformats.org/officeDocument/2006/math">
                    <m:r>
                      <a:rPr lang="vi-VN" sz="2100" b="0">
                        <a:solidFill>
                          <a:srgbClr val="1E293B"/>
                        </a:solidFill>
                        <a:latin typeface="Cambria Math" panose="02040503050406030204" pitchFamily="18" charset="0"/>
                      </a:rPr>
                      <m:t>1−x</m:t>
                    </m:r>
                  </m:oMath>
                </a14:m>
                <a:r>
                  <a:rPr sz="2100">
                    <a:solidFill>
                      <a:srgbClr val="1E293B"/>
                    </a:solidFill>
                    <a:latin typeface="Calibri"/>
                  </a:rPr>
                  <a:t> (Bài 1.22b).</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Bỏ qua bước tìm tập xác định; quên vạch kép tại điểm không xác định trong bảng biến thiên.</a:t>
                </a:r>
              </a:p>
              <a:p>
                <a:pPr algn="l" marL="365760" indent="-365760">
                  <a:spcAft>
                    <a:spcPts val="800"/>
                  </a:spcAft>
                  <a:buClr>
                    <a:srgbClr val="1E40AF"/>
                  </a:buClr>
                  <a:buFont typeface="Arial"/>
                  <a:buChar char="•"/>
                </a:pPr>
                <a:r>
                  <a:rPr sz="2100">
                    <a:solidFill>
                      <a:srgbClr val="1E293B"/>
                    </a:solidFill>
                    <a:latin typeface="Calibri"/>
                  </a:rPr>
                  <a:t>Vẽ đồ thị cắt tiệm cận đứng; vẽ nhánh không tiến sát tiệm cận.</a:t>
                </a:r>
              </a:p>
              <a:p>
                <a:pPr algn="l" marL="365760" indent="-365760">
                  <a:spcAft>
                    <a:spcPts val="800"/>
                  </a:spcAft>
                  <a:buClr>
                    <a:srgbClr val="1E40AF"/>
                  </a:buClr>
                  <a:buFont typeface="Arial"/>
                  <a:buChar char="•"/>
                </a:pPr>
                <a:r>
                  <a:rPr sz="2100">
                    <a:solidFill>
                      <a:srgbClr val="1E293B"/>
                    </a:solidFill>
                    <a:latin typeface="Calibri"/>
                  </a:rPr>
                  <a:t>Nhầm tâm đối xứng của hàm bậc ba với điểm cực trị; nhầm toạ độ giao điểm hai tiệm cận.</a:t>
                </a:r>
              </a:p>
              <a:p>
                <a:pPr algn="l" marL="365760" indent="-365760">
                  <a:spcAft>
                    <a:spcPts val="800"/>
                  </a:spcAft>
                  <a:buClr>
                    <a:srgbClr val="1E40AF"/>
                  </a:buClr>
                  <a:buFont typeface="Arial"/>
                  <a:buChar char="•"/>
                </a:pPr>
                <a:r>
                  <a:rPr sz="2100">
                    <a:solidFill>
                      <a:srgbClr val="1E293B"/>
                    </a:solidFill>
                    <a:latin typeface="Calibri"/>
                  </a:rPr>
                  <a:t>Chia đa thức sai dấu khi mẫu là </a:t>
                </a:r>
                <a:r>
                  <a:rPr lang="vi-VN"/>
                  <a:t>1-x</a:t>
                </a:r>
                <a:r>
                  <a:rPr sz="2100">
                    <a:solidFill>
                      <a:srgbClr val="1E293B"/>
                    </a:solidFill>
                    <a:latin typeface="Calibri"/>
                  </a:rPr>
                  <a:t> (Bài 1.22b).</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4. Khảo sát sự biến thiên và vẽ đồ thị của hàm số – Toán 12          56</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mẫu trình bày Ví dụ 1, 3 in sẵn; làm theo khung sơ đồ khảo sát.</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Luyện tập 3, Bài 1.23, 1.24; dùng GeoGebra khám phá ảnh hưởng của hệ số.</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mô tả đồ thị bằng lời theo bảng biến thiên; </a:t>
            </a:r>
            <a:r>
              <a:rPr sz="2000" b="1">
                <a:solidFill>
                  <a:srgbClr val="1E293B"/>
                </a:solidFill>
                <a:latin typeface="Calibri"/>
              </a:rPr>
              <a:t>12A3, 12A5, 12A7 (vận động):</a:t>
            </a:r>
            <a:r>
              <a:rPr sz="2000">
                <a:solidFill>
                  <a:srgbClr val="1E293B"/>
                </a:solidFill>
                <a:latin typeface="Calibri"/>
              </a:rPr>
              <a:t> trả lời tại chỗ, không lên bảng vẽ.</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giấy kẻ ô vẽ đồ thị; máy tính cầm tay lập bảng giá trị.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