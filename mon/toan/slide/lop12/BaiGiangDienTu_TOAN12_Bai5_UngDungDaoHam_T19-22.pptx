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Bìa. Đáp án, lời giải hiện theo click. Nút GeoGebra mở trang online (cần Internet).</a:t>
            </a:r>
          </a:p>
          <a:p>
            <a:r>
              <a:t>Lớp có HS khuyết tật: 12A2, 12A7 (khiếm thị) – GV đọc to công thức, bảng biến thiên, mô tả đồ thị; 12A3, 12A5, 12A7 (vận động) – HS trả lời tại chỗ, không cần lên bảng.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Yêu cầu cần đạt lấy từ khung 'Kiến thức, kĩ năng' SGK tr.33.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Chiếu để HS nắm lộ trình bài học.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1 (45'): Khởi động 5' – Khái niệm tốc độ thay đổi 7' – Ví dụ 1: 8' – Ví dụ 2: 7' – Ví dụ 3: 7' – Ví dụ 4: 5' – LT1, tổng kết 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HS dự đoán: giảm giá → doanh thu tăng hay giảm? Thử giá 90: 30 000 × 90 = 2 700 000 &gt; 2 700 000? (bằng 27 000 × 100). Giải ở Ví dụ 6 (Tiết 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GV giảng giải. Nhấn mạnh: đạo hàm f'(a) là tốc độ thay đổi tức thời tại x = 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GV trình bày. Click 1–3. Vận tốc âm: vật chuyển động ngược chiều dương (đi xuống).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Mô hình quần thể nấm men. Click 1–3. Ý nghĩa: tăng nhưng có ngưỡng (giới hạn 100 tế bào).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Click 1–3. C(201) − C(200) ≈ C'(200).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Click 1–3. Liên hệ: xử lí khí thải nhà máy chế biến cà phê ở địa phương.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HS bấm máy. Click 1, 2 (đã kiểm tra bằng sympy). Liên hệ sức khoẻ: đo huyết áp.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2 (45'): Quy trình 3' – Ví dụ 5: 6' – LT2: 6' – hàm cầu, doanh thu, lợi nhuận 3' – Ví dụ 6: 6' – Ví dụ 7: 6' – Vận dụng 6' – Rung chuông vàng (rút gọn) 9'.</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HS chép 3 bước. Khó nhất: lập hàm số và miền xác định.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Click 1–3. Chú ý (SGK): thể tích không đổi thì diện tích bề mặt nhỏ nhất khi h = 2r.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HS lập hàm thời gian T(x) theo nhóm. Click 1–3 (đã kiểm tra bằng sympy).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GV giảng giải các thuật ngữ kinh tế.</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Click 1–3. p = p(x) bậc nhất vì tốc độ thay đổi của x tỉ lệ với của 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Click 1–3. Đọc đồ thị: P(20) = 0 – hoà vốn.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Nhóm 4 HS. Click 1–3 (đã kiểm tra bằng sympy). Hàm cầu: p = 14 − 0,5·(x − 1 000)/100.</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Hướng dẫn, đáp số để HS tự kiểm tra (đối chiếu SGV tr.75 – 76; đã kiểm tra bằng sympy).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Hướng dẫn, đáp số (đã kiểm tra bằng sympy).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HS một bảng con. Mỗi câu 30 giây (Đ/S, trả lời ngắn, thực tế: 60 giây). Sai rời sàn thi; có thể 'cứu trợ' 1 lần. Cấu trúc 6 câu theo đề thi từ 2025: nhiều lựa chọn, Đúng/Sai, trả lời ngắn, thực tế. Đáp án đã kiểm tra bằng Python.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Nhiễu B: s(2) = 1; C: gia tốc a(2) = 6.</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Nhiễu A: C(50) = 3 500.</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Click 1–4. Đ – S – Đ – Đ.</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Click 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Click 1. Liên hệ vườn ươm cà phê ở Vĩnh Thạnh.</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HS quét QR làm bài củng cố online ở nhà. Đáp án chỉ mở khi GV cho phép.</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Củng cố cuối bài.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Chủ đề STEM theo KHBD_TOAN12_STEM_ThietKeHop_T21-22 (hồ sơ HO_SO_STEM_ThietKeHop_Toan12). Quy trình thiết kế kĩ thuật 5 hoạt động. Chuẩn bị: hộp mẫu x = 2, 4, 7 cm từ bìa A4; ca đong 50 mL; 2 kg gạo; Phiếu học tập số 1 – 3.</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3 (45'): HĐ1 Xác định vấn đề 8' – HĐ2 Kiến thức nền 22' – HĐ3 Lựa chọn giải pháp 13' – Giao HĐ4 về nhà 2'.</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GV cho xem 3 hộp gấp từ bìa A4 (x = 2, 4, 7 cm): hộp nào đựng nhiều nhất? HS dự đoán; chưa công bố đáp án.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HS tính bằng máy tính cầm tay theo nhóm. Click 1–2. Đáp án theo KHBD STEM (đã kiểm tra lại bằng sympy).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Nhóm làm Phiếu số 2. Click 1–3. Gợi lại Ví dụ 3 Bài 2 (tấm 60 cm) và Ví dụ 5, Chú ý SGK tr.37.</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Nhóm: 1 bạn giải V' = 0 bằng máy tính, 1 bạn nhập bảng tính (bước 0,1 cm), 1 bạn vẽ GeoGebra. Click 1–3.</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HS đối chiếu với kết quả máy tính và bảng tính.</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 Nhóm vẽ khai triển tỉ lệ 1 : 2, chọn x, tính kích thước, phân công. GV duyệt, ký trên Phiếu số 3.</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NLc: dùng công cụ giải từng bước hoặc bảng tính để kiểm tra; không chép kết quả AI khi chưa kiểm chứng. Click 1.</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giao việc cuối Tiết 3. Nộp ảnh, video lên nhóm Zalo lớp; mang sản phẩm đến Tiết 4. An toàn: dùng kéo, dao rọc giấy đúng cách.</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4 (45'): HĐ5 trưng bày, thuyết trình 28' – Luyện tập mở rộng 8' – Củng cố (sơ đồ tư duy, trắc nghiệm online) 9'.</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28'. Mỗi nhóm 3 phút trình bày, 1 – 2 phút trả lời. GV đong lại thể tích một vài hộp trước lớp. Các nhóm chấm chéo theo thang điểm.</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GV dùng để minh hoạ cách ghi phiếu kết quả thử nghiệm.</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 nhóm chấm chéo theo vòng tròn; kèm Phiếu đánh giá đồng đẳng, phiếu tự đánh giá (Phụ lục 2 của KHBD STEM).</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HS làm cá nhân, 2 HS trình bày. Click 1, 2 (đã kiểm tra bằng sympy). So sánh với Chú ý SGK tr.37.</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Bài củng cố chủ đề STEM. Đáp án chỉ mở khi GV cho phép.</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ẩn – chỉ GV xem khi chuẩn bị.</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ẩn – chỉ GV xem khi chuẩn bị.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7.png"/><Relationship Id="rId4" Type="http://schemas.openxmlformats.org/officeDocument/2006/relationships/hyperlink" Target="https://trangtu66.github.io/Taode_thi_online/cc_bai5_t12.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1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hyperlink" Target="https://trangtu66.github.io/Taode_thi_online/GGB_T12_Bai5_1_HopA4.html" TargetMode="External"/><Relationship Id="rId4" Type="http://schemas.openxmlformats.org/officeDocument/2006/relationships/image" Target="../media/image11.png"/><Relationship Id="rId5" Type="http://schemas.openxmlformats.org/officeDocument/2006/relationships/image" Target="../media/image1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12.png"/><Relationship Id="rId4" Type="http://schemas.openxmlformats.org/officeDocument/2006/relationships/hyperlink" Target="https://trangtu66.github.io/Taode_thi_online/cc_stem_hop_t12.html"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1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000" b="1">
                <a:solidFill>
                  <a:srgbClr val="FCD34D"/>
                </a:solidFill>
                <a:latin typeface="Cambria"/>
              </a:rPr>
              <a:t>CHƯƠNG I. ỨNG DỤNG ĐẠO HÀM ĐỂ KHẢO SÁT VÀ VẼ ĐỒ THỊ HÀM SỐ</a:t>
            </a:r>
          </a:p>
          <a:p>
            <a:pPr>
              <a:spcAft>
                <a:spcPts val="600"/>
              </a:spcAft>
            </a:pPr>
            <a:r>
              <a:rPr sz="3000" b="1">
                <a:solidFill>
                  <a:srgbClr val="FFFFFF"/>
                </a:solidFill>
                <a:latin typeface="Cambria"/>
              </a:rPr>
              <a:t>BÀI 5</a:t>
            </a:r>
          </a:p>
          <a:p>
            <a:pPr>
              <a:spcAft>
                <a:spcPts val="600"/>
              </a:spcAft>
            </a:pPr>
            <a:r>
              <a:rPr sz="4000" b="1">
                <a:solidFill>
                  <a:srgbClr val="FFFFFF"/>
                </a:solidFill>
                <a:latin typeface="Cambria"/>
              </a:rPr>
              <a:t>ỨNG DỤNG ĐẠO HÀM ĐỂ GIẢI QUYẾT MỘT SỐ VẤN ĐỀ LIÊN QUAN ĐẾN THỰC TIỄN</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4 tiết: T19 – T22</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MỤC TIÊU BÀI HỌC</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2</a:t>
            </a:r>
          </a:p>
        </p:txBody>
      </p:sp>
      <p:sp>
        <p:nvSpPr>
          <p:cNvPr id="7" name="Rounded Rectangle 6"/>
          <p:cNvSpPr/>
          <p:nvPr/>
        </p:nvSpPr>
        <p:spPr>
          <a:xfrm>
            <a:off x="548640" y="1417320"/>
            <a:ext cx="11064240" cy="137160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53896"/>
            <a:ext cx="10735056" cy="1298448"/>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Yêu cầu cần đạt</a:t>
            </a:r>
            <a:r>
              <a:rPr sz="2200">
                <a:solidFill>
                  <a:srgbClr val="1E293B"/>
                </a:solidFill>
                <a:latin typeface="Calibri"/>
              </a:rPr>
              <a:t> (SGK tr.33)</a:t>
            </a:r>
          </a:p>
          <a:p>
            <a:pPr algn="l" marL="365760" indent="-365760">
              <a:spcAft>
                <a:spcPts val="800"/>
              </a:spcAft>
              <a:buClr>
                <a:srgbClr val="1E40AF"/>
              </a:buClr>
              <a:buFont typeface="Arial"/>
              <a:buChar char="•"/>
            </a:pPr>
            <a:r>
              <a:rPr sz="2200">
                <a:solidFill>
                  <a:srgbClr val="1E293B"/>
                </a:solidFill>
                <a:latin typeface="Calibri"/>
              </a:rPr>
              <a:t>Vận dụng đạo hàm và khảo sát hàm số để giải quyết một số vấn đề liên quan đến thực tiễn.</a:t>
            </a:r>
          </a:p>
        </p:txBody>
      </p:sp>
      <p:sp>
        <p:nvSpPr>
          <p:cNvPr id="9" name="TextBox 8"/>
          <p:cNvSpPr txBox="1"/>
          <p:nvPr/>
        </p:nvSpPr>
        <p:spPr>
          <a:xfrm>
            <a:off x="548640" y="3017520"/>
            <a:ext cx="11064240" cy="274320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b="1">
                <a:solidFill>
                  <a:srgbClr val="1E293B"/>
                </a:solidFill>
                <a:latin typeface="Calibri"/>
              </a:rPr>
              <a:t>Năng lực toán học:</a:t>
            </a:r>
            <a:r>
              <a:rPr sz="2200">
                <a:solidFill>
                  <a:srgbClr val="1E293B"/>
                </a:solidFill>
                <a:latin typeface="Calibri"/>
              </a:rPr>
              <a:t> mô hình hoá toán học (lập hàm số từ bài toán thực tế); giải quyết vấn đề (tối ưu hoá); tư duy và lập luận (ý nghĩa của đạo hàm); sử dụng công cụ (máy tính cầm tay, GeoGebra).</a:t>
            </a:r>
          </a:p>
          <a:p>
            <a:pPr algn="l" marL="365760" indent="-365760">
              <a:spcAft>
                <a:spcPts val="800"/>
              </a:spcAft>
              <a:buClr>
                <a:srgbClr val="1E40AF"/>
              </a:buClr>
              <a:buFont typeface="Arial"/>
              <a:buChar char="•"/>
            </a:pPr>
            <a:r>
              <a:rPr sz="2200" b="1">
                <a:solidFill>
                  <a:srgbClr val="1E293B"/>
                </a:solidFill>
                <a:latin typeface="Calibri"/>
              </a:rPr>
              <a:t>Phẩm chất:</a:t>
            </a:r>
            <a:r>
              <a:rPr sz="2200">
                <a:solidFill>
                  <a:srgbClr val="1E293B"/>
                </a:solidFill>
                <a:latin typeface="Calibri"/>
              </a:rPr>
              <a:t> chăm chỉ, trung thực, trách nhiệm (tiết kiệm vật liệu, chi phí).</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LỘ TRÌNH 4 TIẾT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3</a:t>
            </a:r>
          </a:p>
        </p:txBody>
      </p:sp>
      <p:sp>
        <p:nvSpPr>
          <p:cNvPr id="7" name="Rounded Rectangle 6"/>
          <p:cNvSpPr/>
          <p:nvPr/>
        </p:nvSpPr>
        <p:spPr>
          <a:xfrm>
            <a:off x="548640" y="155448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27632"/>
            <a:ext cx="1188720" cy="594360"/>
          </a:xfrm>
          <a:prstGeom prst="rect">
            <a:avLst/>
          </a:prstGeom>
          <a:noFill/>
        </p:spPr>
        <p:txBody>
          <a:bodyPr wrap="square" anchor="t" lIns="45720" rIns="45720">
            <a:spAutoFit/>
          </a:bodyPr>
          <a:lstStyle/>
          <a:p>
            <a:pPr algn="ctr">
              <a:spcAft>
                <a:spcPts val="800"/>
              </a:spcAft>
            </a:pPr>
            <a:r>
              <a:rPr sz="2400" b="1">
                <a:solidFill>
                  <a:srgbClr val="FFFFFF"/>
                </a:solidFill>
                <a:latin typeface="Calibri"/>
              </a:rPr>
              <a:t>T19</a:t>
            </a:r>
          </a:p>
        </p:txBody>
      </p:sp>
      <p:sp>
        <p:nvSpPr>
          <p:cNvPr id="9" name="TextBox 8"/>
          <p:cNvSpPr txBox="1"/>
          <p:nvPr/>
        </p:nvSpPr>
        <p:spPr>
          <a:xfrm>
            <a:off x="1920240" y="1645920"/>
            <a:ext cx="603504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1. Tốc độ thay đổi của một đại lượng: Ví dụ 1 – 4; Luyện tập 1</a:t>
            </a:r>
          </a:p>
        </p:txBody>
      </p:sp>
      <p:sp>
        <p:nvSpPr>
          <p:cNvPr id="10" name="TextBox 9"/>
          <p:cNvSpPr txBox="1"/>
          <p:nvPr/>
        </p:nvSpPr>
        <p:spPr>
          <a:xfrm>
            <a:off x="8046720" y="1645920"/>
            <a:ext cx="3749039" cy="731520"/>
          </a:xfrm>
          <a:prstGeom prst="rect">
            <a:avLst/>
          </a:prstGeom>
          <a:noFill/>
        </p:spPr>
        <p:txBody>
          <a:bodyPr wrap="square" anchor="t" lIns="45720" rIns="45720">
            <a:spAutoFit/>
          </a:bodyPr>
          <a:lstStyle/>
          <a:p>
            <a:pPr algn="l">
              <a:spcAft>
                <a:spcPts val="800"/>
              </a:spcAft>
            </a:pPr>
            <a:r>
              <a:rPr sz="2000">
                <a:solidFill>
                  <a:srgbClr val="1E293B"/>
                </a:solidFill>
                <a:latin typeface="Calibri"/>
              </a:rPr>
              <a:t>🎮 Ai nhanh hơn</a:t>
            </a:r>
          </a:p>
        </p:txBody>
      </p:sp>
      <p:sp>
        <p:nvSpPr>
          <p:cNvPr id="11" name="Rounded Rectangle 10"/>
          <p:cNvSpPr/>
          <p:nvPr/>
        </p:nvSpPr>
        <p:spPr>
          <a:xfrm>
            <a:off x="548640" y="251460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587752"/>
            <a:ext cx="1188720" cy="594360"/>
          </a:xfrm>
          <a:prstGeom prst="rect">
            <a:avLst/>
          </a:prstGeom>
          <a:noFill/>
        </p:spPr>
        <p:txBody>
          <a:bodyPr wrap="square" anchor="t" lIns="45720" rIns="45720">
            <a:spAutoFit/>
          </a:bodyPr>
          <a:lstStyle/>
          <a:p>
            <a:pPr algn="ctr">
              <a:spcAft>
                <a:spcPts val="800"/>
              </a:spcAft>
            </a:pPr>
            <a:r>
              <a:rPr sz="2400" b="1">
                <a:solidFill>
                  <a:srgbClr val="FFFFFF"/>
                </a:solidFill>
                <a:latin typeface="Calibri"/>
              </a:rPr>
              <a:t>T20</a:t>
            </a:r>
          </a:p>
        </p:txBody>
      </p:sp>
      <p:sp>
        <p:nvSpPr>
          <p:cNvPr id="13" name="TextBox 12"/>
          <p:cNvSpPr txBox="1"/>
          <p:nvPr/>
        </p:nvSpPr>
        <p:spPr>
          <a:xfrm>
            <a:off x="1920240" y="2606040"/>
            <a:ext cx="603504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2. Bài toán tối ưu hoá: Ví dụ 5 – 7; Luyện tập 2; Vận dụng</a:t>
            </a:r>
          </a:p>
        </p:txBody>
      </p:sp>
      <p:sp>
        <p:nvSpPr>
          <p:cNvPr id="14" name="TextBox 13"/>
          <p:cNvSpPr txBox="1"/>
          <p:nvPr/>
        </p:nvSpPr>
        <p:spPr>
          <a:xfrm>
            <a:off x="8046720" y="2606040"/>
            <a:ext cx="3749039" cy="731520"/>
          </a:xfrm>
          <a:prstGeom prst="rect">
            <a:avLst/>
          </a:prstGeom>
          <a:noFill/>
        </p:spPr>
        <p:txBody>
          <a:bodyPr wrap="square" anchor="t" lIns="45720" rIns="45720">
            <a:spAutoFit/>
          </a:bodyPr>
          <a:lstStyle/>
          <a:p>
            <a:pPr algn="l">
              <a:spcAft>
                <a:spcPts val="800"/>
              </a:spcAft>
            </a:pPr>
            <a:r>
              <a:rPr sz="2000">
                <a:solidFill>
                  <a:srgbClr val="1E293B"/>
                </a:solidFill>
                <a:latin typeface="Calibri"/>
              </a:rPr>
              <a:t>🎮 Rung chuông vàng</a:t>
            </a:r>
          </a:p>
        </p:txBody>
      </p:sp>
      <p:sp>
        <p:nvSpPr>
          <p:cNvPr id="15" name="Rounded Rectangle 14"/>
          <p:cNvSpPr/>
          <p:nvPr/>
        </p:nvSpPr>
        <p:spPr>
          <a:xfrm>
            <a:off x="548640" y="347472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547872"/>
            <a:ext cx="1188720" cy="594360"/>
          </a:xfrm>
          <a:prstGeom prst="rect">
            <a:avLst/>
          </a:prstGeom>
          <a:noFill/>
        </p:spPr>
        <p:txBody>
          <a:bodyPr wrap="square" anchor="t" lIns="45720" rIns="45720">
            <a:spAutoFit/>
          </a:bodyPr>
          <a:lstStyle/>
          <a:p>
            <a:pPr algn="ctr">
              <a:spcAft>
                <a:spcPts val="800"/>
              </a:spcAft>
            </a:pPr>
            <a:r>
              <a:rPr sz="2400" b="1">
                <a:solidFill>
                  <a:srgbClr val="FFFFFF"/>
                </a:solidFill>
                <a:latin typeface="Calibri"/>
              </a:rPr>
              <a:t>T21</a:t>
            </a:r>
          </a:p>
        </p:txBody>
      </p:sp>
      <p:sp>
        <p:nvSpPr>
          <p:cNvPr id="17" name="TextBox 16"/>
          <p:cNvSpPr txBox="1"/>
          <p:nvPr/>
        </p:nvSpPr>
        <p:spPr>
          <a:xfrm>
            <a:off x="1920240" y="3566160"/>
            <a:ext cx="603504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STEM: Thiết kế hộp có thể tích lớn nhất – xác định vấn đề, kiến thức nền, bản thiết kế</a:t>
            </a:r>
          </a:p>
        </p:txBody>
      </p:sp>
      <p:sp>
        <p:nvSpPr>
          <p:cNvPr id="18" name="TextBox 17"/>
          <p:cNvSpPr txBox="1"/>
          <p:nvPr/>
        </p:nvSpPr>
        <p:spPr>
          <a:xfrm>
            <a:off x="8046720" y="3566160"/>
            <a:ext cx="3749039" cy="731520"/>
          </a:xfrm>
          <a:prstGeom prst="rect">
            <a:avLst/>
          </a:prstGeom>
          <a:noFill/>
        </p:spPr>
        <p:txBody>
          <a:bodyPr wrap="square" anchor="t" lIns="45720" rIns="45720">
            <a:spAutoFit/>
          </a:bodyPr>
          <a:lstStyle/>
          <a:p>
            <a:pPr algn="l">
              <a:spcAft>
                <a:spcPts val="800"/>
              </a:spcAft>
            </a:pPr>
            <a:r>
              <a:rPr sz="2000">
                <a:solidFill>
                  <a:srgbClr val="1E293B"/>
                </a:solidFill>
                <a:latin typeface="Calibri"/>
              </a:rPr>
              <a:t>🛠 Phiếu 1 – 3 · GeoGebra</a:t>
            </a:r>
          </a:p>
        </p:txBody>
      </p:sp>
      <p:sp>
        <p:nvSpPr>
          <p:cNvPr id="19" name="Rounded Rectangle 18"/>
          <p:cNvSpPr/>
          <p:nvPr/>
        </p:nvSpPr>
        <p:spPr>
          <a:xfrm>
            <a:off x="548640" y="443484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07992"/>
            <a:ext cx="1188720" cy="594360"/>
          </a:xfrm>
          <a:prstGeom prst="rect">
            <a:avLst/>
          </a:prstGeom>
          <a:noFill/>
        </p:spPr>
        <p:txBody>
          <a:bodyPr wrap="square" anchor="t" lIns="45720" rIns="45720">
            <a:spAutoFit/>
          </a:bodyPr>
          <a:lstStyle/>
          <a:p>
            <a:pPr algn="ctr">
              <a:spcAft>
                <a:spcPts val="800"/>
              </a:spcAft>
            </a:pPr>
            <a:r>
              <a:rPr sz="2400" b="1">
                <a:solidFill>
                  <a:srgbClr val="FFFFFF"/>
                </a:solidFill>
                <a:latin typeface="Calibri"/>
              </a:rPr>
              <a:t>T22</a:t>
            </a:r>
          </a:p>
        </p:txBody>
      </p:sp>
      <p:sp>
        <p:nvSpPr>
          <p:cNvPr id="21" name="TextBox 20"/>
          <p:cNvSpPr txBox="1"/>
          <p:nvPr/>
        </p:nvSpPr>
        <p:spPr>
          <a:xfrm>
            <a:off x="1920240" y="4526280"/>
            <a:ext cx="603504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STEM: Chia sẻ sản phẩm, đánh giá, mở rộng bài toán</a:t>
            </a:r>
          </a:p>
        </p:txBody>
      </p:sp>
      <p:sp>
        <p:nvSpPr>
          <p:cNvPr id="22" name="TextBox 21"/>
          <p:cNvSpPr txBox="1"/>
          <p:nvPr/>
        </p:nvSpPr>
        <p:spPr>
          <a:xfrm>
            <a:off x="8046720" y="4526280"/>
            <a:ext cx="3749039" cy="731520"/>
          </a:xfrm>
          <a:prstGeom prst="rect">
            <a:avLst/>
          </a:prstGeom>
          <a:noFill/>
        </p:spPr>
        <p:txBody>
          <a:bodyPr wrap="square" anchor="t" lIns="45720" rIns="45720">
            <a:spAutoFit/>
          </a:bodyPr>
          <a:lstStyle/>
          <a:p>
            <a:pPr algn="l">
              <a:spcAft>
                <a:spcPts val="800"/>
              </a:spcAft>
            </a:pPr>
            <a:r>
              <a:rPr sz="2000">
                <a:solidFill>
                  <a:srgbClr val="1E293B"/>
                </a:solidFill>
                <a:latin typeface="Calibri"/>
              </a:rPr>
              <a:t>🏆 Trưng bày – bình chọn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1 (T19)</a:t>
            </a:r>
          </a:p>
          <a:p>
            <a:pPr>
              <a:spcAft>
                <a:spcPts val="600"/>
              </a:spcAft>
            </a:pPr>
            <a:r>
              <a:rPr sz="4000" b="1">
                <a:solidFill>
                  <a:srgbClr val="FFFFFF"/>
                </a:solidFill>
                <a:latin typeface="Cambria"/>
              </a:rPr>
              <a:t>Tốc độ thay đổi của một đại lượng</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Hiểu đạo hàm là tốc độ thay đổi tức thời của một đại lượng.</a:t>
            </a:r>
          </a:p>
          <a:p>
            <a:pPr algn="l">
              <a:spcAft>
                <a:spcPts val="800"/>
              </a:spcAft>
            </a:pPr>
            <a:r>
              <a:rPr sz="2200">
                <a:solidFill>
                  <a:srgbClr val="E0E7FF"/>
                </a:solidFill>
                <a:latin typeface="Calibri"/>
              </a:rPr>
              <a:t>• Vận dụng vào vận tốc, gia tốc, tốc độ tăng trưởng, chi phí biên.</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KHỞI ĐỘNG</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KHỞI ĐỘNG – GIÁ VÉ SÂN VẬN ĐỘNG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5</a:t>
            </a:r>
          </a:p>
        </p:txBody>
      </p:sp>
      <p:sp>
        <p:nvSpPr>
          <p:cNvPr id="7" name="TextBox 6"/>
          <p:cNvSpPr txBox="1"/>
          <p:nvPr/>
        </p:nvSpPr>
        <p:spPr>
          <a:xfrm>
            <a:off x="548640" y="1417320"/>
            <a:ext cx="6766560" cy="4389120"/>
          </a:xfrm>
          <a:prstGeom prst="rect">
            <a:avLst/>
          </a:prstGeom>
          <a:noFill/>
        </p:spPr>
        <p:txBody>
          <a:bodyPr wrap="square" anchor="t" lIns="45720" rIns="45720">
            <a:spAutoFit/>
          </a:bodyPr>
          <a:lstStyle/>
          <a:p>
            <a:pPr algn="l">
              <a:spcAft>
                <a:spcPts val="800"/>
              </a:spcAft>
            </a:pPr>
            <a:r>
              <a:rPr sz="2200">
                <a:solidFill>
                  <a:srgbClr val="1E293B"/>
                </a:solidFill>
                <a:latin typeface="Calibri"/>
              </a:rPr>
              <a:t>Một đội bóng đá thi đấu trong một sân vận động có sức chứa 55 000 khán giả. Với giá mỗi vé là 100 nghìn đồng, số khán giả trung bình là 27 000 người. Qua thăm dò dư luận, mỗi khi giá vé giảm thêm 10 nghìn đồng, sẽ có thêm khoảng 3 000 khán giả. </a:t>
            </a:r>
            <a:r>
              <a:rPr sz="2200" b="1">
                <a:solidFill>
                  <a:srgbClr val="1E293B"/>
                </a:solidFill>
                <a:latin typeface="Calibri"/>
              </a:rPr>
              <a:t>Hỏi ban tổ chức nên đặt giá vé là bao nhiêu để doanh thu từ tiền bán vé là lớn nhất?</a:t>
            </a:r>
          </a:p>
          <a:p>
            <a:pPr algn="l">
              <a:spcAft>
                <a:spcPts val="800"/>
              </a:spcAft>
            </a:pPr>
            <a:r>
              <a:rPr sz="2000">
                <a:solidFill>
                  <a:srgbClr val="64748B"/>
                </a:solidFill>
                <a:latin typeface="Calibri"/>
              </a:rPr>
              <a:t>(SGK Toán 12 tập một, tr.33)</a:t>
            </a:r>
          </a:p>
        </p:txBody>
      </p:sp>
      <p:pic>
        <p:nvPicPr>
          <p:cNvPr id="8" name="Picture 7" descr="b5_sanvd.png"/>
          <p:cNvPicPr>
            <a:picLocks noChangeAspect="1"/>
          </p:cNvPicPr>
          <p:nvPr/>
        </p:nvPicPr>
        <p:blipFill>
          <a:blip r:embed="rId3"/>
          <a:stretch>
            <a:fillRect/>
          </a:stretch>
        </p:blipFill>
        <p:spPr>
          <a:xfrm>
            <a:off x="7498079" y="2113009"/>
            <a:ext cx="4206240" cy="272342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1. TỐC ĐỘ THAY ĐỔI CỦA MỘT ĐẠI LƯỢNG (SGK TR.33)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6</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1667256"/>
              </a:xfrm>
              <a:prstGeom prst="rect">
                <a:avLst/>
              </a:prstGeom>
              <a:noFill/>
            </p:spPr>
            <p:txBody>
              <a:bodyPr wrap="square" anchor="t" lIns="45720" rIns="45720">
                <a:spAutoFit/>
              </a:bodyPr>
              <a:lstStyle/>
              <a:p>
                <a:pPr algn="l">
                  <a:spcAft>
                    <a:spcPts val="800"/>
                  </a:spcAft>
                </a:pPr>
                <a:r>
                  <a:rPr sz="2000">
                    <a:solidFill>
                      <a:srgbClr val="1E293B"/>
                    </a:solidFill>
                    <a:latin typeface="Calibri"/>
                  </a:rPr>
                  <a:t>Giả sử </a:t>
                </a:r>
                <a14:m>
                  <m:oMath xmlns:m="http://schemas.openxmlformats.org/officeDocument/2006/math">
                    <m:r>
                      <a:rPr lang="vi-VN" sz="2000" b="0">
                        <a:solidFill>
                          <a:srgbClr val="1E293B"/>
                        </a:solidFill>
                        <a:latin typeface="Cambria Math" panose="02040503050406030204" pitchFamily="18" charset="0"/>
                      </a:rPr>
                      <m:t>y=f(x)</m:t>
                    </m:r>
                  </m:oMath>
                </a14:m>
                <a:r>
                  <a:rPr sz="2000">
                    <a:solidFill>
                      <a:srgbClr val="1E293B"/>
                    </a:solidFill>
                    <a:latin typeface="Calibri"/>
                  </a:rPr>
                  <a:t>. Nếu </a:t>
                </a:r>
                <a14:m>
                  <m:oMath xmlns:m="http://schemas.openxmlformats.org/officeDocument/2006/math">
                    <m:r>
                      <a:rPr lang="vi-VN" sz="2000" b="0">
                        <a:solidFill>
                          <a:srgbClr val="1E293B"/>
                        </a:solidFill>
                        <a:latin typeface="Cambria Math" panose="02040503050406030204" pitchFamily="18" charset="0"/>
                      </a:rPr>
                      <m:t>x</m:t>
                    </m:r>
                  </m:oMath>
                </a14:m>
                <a:r>
                  <a:rPr sz="2000">
                    <a:solidFill>
                      <a:srgbClr val="1E293B"/>
                    </a:solidFill>
                    <a:latin typeface="Calibri"/>
                  </a:rPr>
                  <a:t> thay đổi từ </a:t>
                </a:r>
                <a14:m>
                  <m:oMath xmlns:m="http://schemas.openxmlformats.org/officeDocument/2006/math">
                    <m:sSub>
                      <m:e>
                        <m:r>
                          <a:rPr lang="vi-VN" sz="2000" b="0">
                            <a:solidFill>
                              <a:srgbClr val="1E293B"/>
                            </a:solidFill>
                            <a:latin typeface="Cambria Math" panose="02040503050406030204" pitchFamily="18" charset="0"/>
                          </a:rPr>
                          <m:t>x</m:t>
                        </m:r>
                      </m:e>
                      <m:sub>
                        <m:r>
                          <a:rPr lang="vi-VN" sz="2000" b="0">
                            <a:solidFill>
                              <a:srgbClr val="1E293B"/>
                            </a:solidFill>
                            <a:latin typeface="Cambria Math" panose="02040503050406030204" pitchFamily="18" charset="0"/>
                          </a:rPr>
                          <m:t>1</m:t>
                        </m:r>
                      </m:sub>
                    </m:sSub>
                  </m:oMath>
                </a14:m>
                <a:r>
                  <a:rPr sz="2000">
                    <a:solidFill>
                      <a:srgbClr val="1E293B"/>
                    </a:solidFill>
                    <a:latin typeface="Calibri"/>
                  </a:rPr>
                  <a:t> đến </a:t>
                </a:r>
                <a14:m>
                  <m:oMath xmlns:m="http://schemas.openxmlformats.org/officeDocument/2006/math">
                    <m:sSub>
                      <m:e>
                        <m:r>
                          <a:rPr lang="vi-VN" sz="2000" b="0">
                            <a:solidFill>
                              <a:srgbClr val="1E293B"/>
                            </a:solidFill>
                            <a:latin typeface="Cambria Math" panose="02040503050406030204" pitchFamily="18" charset="0"/>
                          </a:rPr>
                          <m:t>x</m:t>
                        </m:r>
                      </m:e>
                      <m:sub>
                        <m:r>
                          <a:rPr lang="vi-VN" sz="2000" b="0">
                            <a:solidFill>
                              <a:srgbClr val="1E293B"/>
                            </a:solidFill>
                            <a:latin typeface="Cambria Math" panose="02040503050406030204" pitchFamily="18" charset="0"/>
                          </a:rPr>
                          <m:t>2</m:t>
                        </m:r>
                      </m:sub>
                    </m:sSub>
                  </m:oMath>
                </a14:m>
                <a:r>
                  <a:rPr sz="2000">
                    <a:solidFill>
                      <a:srgbClr val="1E293B"/>
                    </a:solidFill>
                    <a:latin typeface="Calibri"/>
                  </a:rPr>
                  <a:t> thì </a:t>
                </a:r>
                <a14:m>
                  <m:oMath xmlns:m="http://schemas.openxmlformats.org/officeDocument/2006/math">
                    <m:r>
                      <a:rPr lang="vi-VN" sz="2000" b="0">
                        <a:solidFill>
                          <a:srgbClr val="1E293B"/>
                        </a:solidFill>
                        <a:latin typeface="Cambria Math" panose="02040503050406030204" pitchFamily="18" charset="0"/>
                      </a:rPr>
                      <m:t>Δx=</m:t>
                    </m:r>
                    <m:sSub>
                      <m:e>
                        <m:r>
                          <a:rPr lang="vi-VN" sz="2000" b="0">
                            <a:solidFill>
                              <a:srgbClr val="1E293B"/>
                            </a:solidFill>
                            <a:latin typeface="Cambria Math" panose="02040503050406030204" pitchFamily="18" charset="0"/>
                          </a:rPr>
                          <m:t>x</m:t>
                        </m:r>
                      </m:e>
                      <m:sub>
                        <m:r>
                          <a:rPr lang="vi-VN" sz="2000" b="0">
                            <a:solidFill>
                              <a:srgbClr val="1E293B"/>
                            </a:solidFill>
                            <a:latin typeface="Cambria Math" panose="02040503050406030204" pitchFamily="18" charset="0"/>
                          </a:rPr>
                          <m:t>2</m:t>
                        </m:r>
                      </m:sub>
                    </m:sSub>
                    <m:r>
                      <a:rPr lang="vi-VN" sz="2000" b="0">
                        <a:solidFill>
                          <a:srgbClr val="1E293B"/>
                        </a:solidFill>
                        <a:latin typeface="Cambria Math" panose="02040503050406030204" pitchFamily="18" charset="0"/>
                      </a:rPr>
                      <m:t>−</m:t>
                    </m:r>
                    <m:sSub>
                      <m:e>
                        <m:r>
                          <a:rPr lang="vi-VN" sz="2000" b="0">
                            <a:solidFill>
                              <a:srgbClr val="1E293B"/>
                            </a:solidFill>
                            <a:latin typeface="Cambria Math" panose="02040503050406030204" pitchFamily="18" charset="0"/>
                          </a:rPr>
                          <m:t>x</m:t>
                        </m:r>
                      </m:e>
                      <m:sub>
                        <m:r>
                          <a:rPr lang="vi-VN" sz="2000" b="0">
                            <a:solidFill>
                              <a:srgbClr val="1E293B"/>
                            </a:solidFill>
                            <a:latin typeface="Cambria Math" panose="02040503050406030204" pitchFamily="18" charset="0"/>
                          </a:rPr>
                          <m:t>1</m:t>
                        </m:r>
                      </m:sub>
                    </m:sSub>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Δy=f(</m:t>
                    </m:r>
                    <m:sSub>
                      <m:e>
                        <m:r>
                          <a:rPr lang="vi-VN" sz="2000" b="0">
                            <a:solidFill>
                              <a:srgbClr val="1E293B"/>
                            </a:solidFill>
                            <a:latin typeface="Cambria Math" panose="02040503050406030204" pitchFamily="18" charset="0"/>
                          </a:rPr>
                          <m:t>x</m:t>
                        </m:r>
                      </m:e>
                      <m:sub>
                        <m:r>
                          <a:rPr lang="vi-VN" sz="2000" b="0">
                            <a:solidFill>
                              <a:srgbClr val="1E293B"/>
                            </a:solidFill>
                            <a:latin typeface="Cambria Math" panose="02040503050406030204" pitchFamily="18" charset="0"/>
                          </a:rPr>
                          <m:t>2</m:t>
                        </m:r>
                      </m:sub>
                    </m:sSub>
                    <m:r>
                      <a:rPr lang="vi-VN" sz="2000" b="0">
                        <a:solidFill>
                          <a:srgbClr val="1E293B"/>
                        </a:solidFill>
                        <a:latin typeface="Cambria Math" panose="02040503050406030204" pitchFamily="18" charset="0"/>
                      </a:rPr>
                      <m:t>)−f(</m:t>
                    </m:r>
                    <m:sSub>
                      <m:e>
                        <m:r>
                          <a:rPr lang="vi-VN" sz="2000" b="0">
                            <a:solidFill>
                              <a:srgbClr val="1E293B"/>
                            </a:solidFill>
                            <a:latin typeface="Cambria Math" panose="02040503050406030204" pitchFamily="18" charset="0"/>
                          </a:rPr>
                          <m:t>x</m:t>
                        </m:r>
                      </m:e>
                      <m:sub>
                        <m:r>
                          <a:rPr lang="vi-VN" sz="2000" b="0">
                            <a:solidFill>
                              <a:srgbClr val="1E293B"/>
                            </a:solidFill>
                            <a:latin typeface="Cambria Math" panose="02040503050406030204" pitchFamily="18" charset="0"/>
                          </a:rPr>
                          <m:t>1</m:t>
                        </m:r>
                      </m:sub>
                    </m:sSub>
                    <m:r>
                      <a:rPr lang="vi-VN" sz="2000" b="0">
                        <a:solidFill>
                          <a:srgbClr val="1E293B"/>
                        </a:solidFill>
                        <a:latin typeface="Cambria Math" panose="02040503050406030204" pitchFamily="18" charset="0"/>
                      </a:rPr>
                      <m:t>)</m:t>
                    </m:r>
                  </m:oMath>
                </a14:m>
                <a:r>
                  <a:rPr sz="2000">
                    <a:solidFill>
                      <a:srgbClr val="1E293B"/>
                    </a:solidFill>
                    <a:latin typeface="Calibri"/>
                  </a:rPr>
                  <a:t>. Tỉ số </a:t>
                </a:r>
                <a14:m>
                  <m:oMath xmlns:m="http://schemas.openxmlformats.org/officeDocument/2006/math">
                    <m:f>
                      <m:fPr>
                        <m:type m:val="bar"/>
                      </m:fPr>
                      <m:num>
                        <m:r>
                          <a:rPr lang="vi-VN" sz="2000" b="0">
                            <a:solidFill>
                              <a:srgbClr val="1E293B"/>
                            </a:solidFill>
                            <a:latin typeface="Cambria Math" panose="02040503050406030204" pitchFamily="18" charset="0"/>
                          </a:rPr>
                          <m:t>Δy</m:t>
                        </m:r>
                      </m:num>
                      <m:den>
                        <m:r>
                          <a:rPr lang="vi-VN" sz="2000" b="0">
                            <a:solidFill>
                              <a:srgbClr val="1E293B"/>
                            </a:solidFill>
                            <a:latin typeface="Cambria Math" panose="02040503050406030204" pitchFamily="18" charset="0"/>
                          </a:rPr>
                          <m:t>Δx</m:t>
                        </m:r>
                      </m:den>
                    </m:f>
                  </m:oMath>
                </a14:m>
                <a:r>
                  <a:rPr sz="2000">
                    <a:solidFill>
                      <a:srgbClr val="1E293B"/>
                    </a:solidFill>
                    <a:latin typeface="Calibri"/>
                  </a:rPr>
                  <a:t> được gọi là </a:t>
                </a:r>
                <a:r>
                  <a:rPr sz="2000" b="1">
                    <a:solidFill>
                      <a:srgbClr val="1E293B"/>
                    </a:solidFill>
                    <a:latin typeface="Calibri"/>
                  </a:rPr>
                  <a:t>tốc độ thay đổi trung bình</a:t>
                </a:r>
                <a:r>
                  <a:rPr sz="2000">
                    <a:solidFill>
                      <a:srgbClr val="1E293B"/>
                    </a:solidFill>
                    <a:latin typeface="Calibri"/>
                  </a:rPr>
                  <a:t> của </a:t>
                </a:r>
                <a14:m>
                  <m:oMath xmlns:m="http://schemas.openxmlformats.org/officeDocument/2006/math">
                    <m:r>
                      <a:rPr lang="vi-VN" sz="2000" b="0">
                        <a:solidFill>
                          <a:srgbClr val="1E293B"/>
                        </a:solidFill>
                        <a:latin typeface="Cambria Math" panose="02040503050406030204" pitchFamily="18" charset="0"/>
                      </a:rPr>
                      <m:t>y</m:t>
                    </m:r>
                  </m:oMath>
                </a14:m>
                <a:r>
                  <a:rPr sz="2000">
                    <a:solidFill>
                      <a:srgbClr val="1E293B"/>
                    </a:solidFill>
                    <a:latin typeface="Calibri"/>
                  </a:rPr>
                  <a:t> đối với </a:t>
                </a:r>
                <a14:m>
                  <m:oMath xmlns:m="http://schemas.openxmlformats.org/officeDocument/2006/math">
                    <m:r>
                      <a:rPr lang="vi-VN" sz="2000" b="0">
                        <a:solidFill>
                          <a:srgbClr val="1E293B"/>
                        </a:solidFill>
                        <a:latin typeface="Cambria Math" panose="02040503050406030204" pitchFamily="18" charset="0"/>
                      </a:rPr>
                      <m:t>x</m:t>
                    </m:r>
                  </m:oMath>
                </a14:m>
                <a:r>
                  <a:rPr sz="2000">
                    <a:solidFill>
                      <a:srgbClr val="1E293B"/>
                    </a:solidFill>
                    <a:latin typeface="Calibri"/>
                  </a:rPr>
                  <a:t> trên đoạn </a:t>
                </a:r>
                <a14:m>
                  <m:oMath xmlns:m="http://schemas.openxmlformats.org/officeDocument/2006/math">
                    <m:d>
                      <m:dPr>
                        <m:begChr m:val="["/>
                        <m:sepChr m:val=""/>
                        <m:endChr m:val="]"/>
                      </m:dPr>
                      <m:e>
                        <m:sSub>
                          <m:e>
                            <m:r>
                              <a:rPr lang="vi-VN" sz="2000" b="0">
                                <a:solidFill>
                                  <a:srgbClr val="1E293B"/>
                                </a:solidFill>
                                <a:latin typeface="Cambria Math" panose="02040503050406030204" pitchFamily="18" charset="0"/>
                              </a:rPr>
                              <m:t>x</m:t>
                            </m:r>
                          </m:e>
                          <m:sub>
                            <m:r>
                              <a:rPr lang="vi-VN" sz="2000" b="0">
                                <a:solidFill>
                                  <a:srgbClr val="1E293B"/>
                                </a:solidFill>
                                <a:latin typeface="Cambria Math" panose="02040503050406030204" pitchFamily="18" charset="0"/>
                              </a:rPr>
                              <m:t>1</m:t>
                            </m:r>
                          </m:sub>
                        </m:sSub>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sSub>
                          <m:e>
                            <m:r>
                              <a:rPr lang="vi-VN" sz="2000" b="0">
                                <a:solidFill>
                                  <a:srgbClr val="1E293B"/>
                                </a:solidFill>
                                <a:latin typeface="Cambria Math" panose="02040503050406030204" pitchFamily="18" charset="0"/>
                              </a:rPr>
                              <m:t>x</m:t>
                            </m:r>
                          </m:e>
                          <m:sub>
                            <m:r>
                              <a:rPr lang="vi-VN" sz="2000" b="0">
                                <a:solidFill>
                                  <a:srgbClr val="1E293B"/>
                                </a:solidFill>
                                <a:latin typeface="Cambria Math" panose="02040503050406030204" pitchFamily="18" charset="0"/>
                              </a:rPr>
                              <m:t>2</m:t>
                            </m:r>
                          </m:sub>
                        </m:sSub>
                      </m:e>
                    </m:d>
                  </m:oMath>
                </a14:m>
                <a:r>
                  <a:rPr sz="2000">
                    <a:solidFill>
                      <a:srgbClr val="1E293B"/>
                    </a:solidFill>
                    <a:latin typeface="Calibri"/>
                  </a:rPr>
                  <a:t>. Giới hạn </a:t>
                </a:r>
                <a14:m>
                  <m:oMath xmlns:m="http://schemas.openxmlformats.org/officeDocument/2006/math">
                    <m:limLow>
                      <m:e>
                        <m:r>
                          <a:rPr lang="vi-VN" sz="2000" b="0">
                            <a:solidFill>
                              <a:srgbClr val="1E293B"/>
                            </a:solidFill>
                            <a:latin typeface="Cambria Math" panose="02040503050406030204" pitchFamily="18" charset="0"/>
                          </a:rPr>
                          <m:t>lim</m:t>
                        </m:r>
                      </m:e>
                      <m:lim>
                        <m:r>
                          <a:rPr lang="vi-VN" sz="2000" b="0">
                            <a:solidFill>
                              <a:srgbClr val="1E293B"/>
                            </a:solidFill>
                            <a:latin typeface="Cambria Math" panose="02040503050406030204" pitchFamily="18" charset="0"/>
                          </a:rPr>
                          <m:t>Δx→0</m:t>
                        </m:r>
                      </m:lim>
                    </m:limLow>
                    <m:f>
                      <m:fPr>
                        <m:type m:val="bar"/>
                      </m:fPr>
                      <m:num>
                        <m:r>
                          <a:rPr lang="vi-VN" sz="2000" b="0">
                            <a:solidFill>
                              <a:srgbClr val="1E293B"/>
                            </a:solidFill>
                            <a:latin typeface="Cambria Math" panose="02040503050406030204" pitchFamily="18" charset="0"/>
                          </a:rPr>
                          <m:t>Δy</m:t>
                        </m:r>
                      </m:num>
                      <m:den>
                        <m:r>
                          <a:rPr lang="vi-VN" sz="2000" b="0">
                            <a:solidFill>
                              <a:srgbClr val="1E293B"/>
                            </a:solidFill>
                            <a:latin typeface="Cambria Math" panose="02040503050406030204" pitchFamily="18" charset="0"/>
                          </a:rPr>
                          <m:t>Δx</m:t>
                        </m:r>
                      </m:den>
                    </m:f>
                  </m:oMath>
                </a14:m>
                <a:r>
                  <a:rPr sz="2000">
                    <a:solidFill>
                      <a:srgbClr val="1E293B"/>
                    </a:solidFill>
                    <a:latin typeface="Calibri"/>
                  </a:rPr>
                  <a:t> được gọi là </a:t>
                </a:r>
                <a:r>
                  <a:rPr sz="2000" b="1">
                    <a:solidFill>
                      <a:srgbClr val="1E293B"/>
                    </a:solidFill>
                    <a:latin typeface="Calibri"/>
                  </a:rPr>
                  <a:t>tốc độ thay đổi tức thời</a:t>
                </a:r>
                <a:r>
                  <a:rPr sz="2000">
                    <a:solidFill>
                      <a:srgbClr val="1E293B"/>
                    </a:solidFill>
                    <a:latin typeface="Calibri"/>
                  </a:rPr>
                  <a:t> của </a:t>
                </a:r>
                <a14:m>
                  <m:oMath xmlns:m="http://schemas.openxmlformats.org/officeDocument/2006/math">
                    <m:r>
                      <a:rPr lang="vi-VN" sz="2000" b="0">
                        <a:solidFill>
                          <a:srgbClr val="1E293B"/>
                        </a:solidFill>
                        <a:latin typeface="Cambria Math" panose="02040503050406030204" pitchFamily="18" charset="0"/>
                      </a:rPr>
                      <m:t>y</m:t>
                    </m:r>
                  </m:oMath>
                </a14:m>
                <a:r>
                  <a:rPr sz="2000">
                    <a:solidFill>
                      <a:srgbClr val="1E293B"/>
                    </a:solidFill>
                    <a:latin typeface="Calibri"/>
                  </a:rPr>
                  <a:t> đối với </a:t>
                </a:r>
                <a14:m>
                  <m:oMath xmlns:m="http://schemas.openxmlformats.org/officeDocument/2006/math">
                    <m:r>
                      <a:rPr lang="vi-VN" sz="2000" b="0">
                        <a:solidFill>
                          <a:srgbClr val="1E293B"/>
                        </a:solidFill>
                        <a:latin typeface="Cambria Math" panose="02040503050406030204" pitchFamily="18" charset="0"/>
                      </a:rPr>
                      <m:t>x</m:t>
                    </m:r>
                  </m:oMath>
                </a14:m>
                <a:r>
                  <a:rPr sz="2000">
                    <a:solidFill>
                      <a:srgbClr val="1E293B"/>
                    </a:solidFill>
                    <a:latin typeface="Calibri"/>
                  </a:rPr>
                  <a:t> tại </a:t>
                </a:r>
                <a14:m>
                  <m:oMath xmlns:m="http://schemas.openxmlformats.org/officeDocument/2006/math">
                    <m:r>
                      <a:rPr lang="vi-VN" sz="2000" b="0">
                        <a:solidFill>
                          <a:srgbClr val="1E293B"/>
                        </a:solidFill>
                        <a:latin typeface="Cambria Math" panose="02040503050406030204" pitchFamily="18" charset="0"/>
                      </a:rPr>
                      <m:t>x=</m:t>
                    </m:r>
                    <m:sSub>
                      <m:e>
                        <m:r>
                          <a:rPr lang="vi-VN" sz="2000" b="0">
                            <a:solidFill>
                              <a:srgbClr val="1E293B"/>
                            </a:solidFill>
                            <a:latin typeface="Cambria Math" panose="02040503050406030204" pitchFamily="18" charset="0"/>
                          </a:rPr>
                          <m:t>x</m:t>
                        </m:r>
                      </m:e>
                      <m:sub>
                        <m:r>
                          <a:rPr lang="vi-VN" sz="2000" b="0">
                            <a:solidFill>
                              <a:srgbClr val="1E293B"/>
                            </a:solidFill>
                            <a:latin typeface="Cambria Math" panose="02040503050406030204" pitchFamily="18" charset="0"/>
                          </a:rPr>
                          <m:t>1</m:t>
                        </m:r>
                      </m:sub>
                    </m:sSub>
                  </m:oMath>
                </a14:m>
                <a:r>
                  <a:rPr sz="2000">
                    <a:solidFill>
                      <a:srgbClr val="1E293B"/>
                    </a:solidFill>
                    <a:latin typeface="Calibri"/>
                  </a:rPr>
                  <a:t>.</a:t>
                </a:r>
              </a:p>
            </p:txBody>
          </p:sp>
        </mc:Choice>
        <mc:Fallback>
          <p:sp>
            <p:nvSpPr>
              <p:cNvPr id="7" name="TextBox 6"/>
              <p:cNvSpPr txBox="1"/>
              <p:nvPr/>
            </p:nvSpPr>
            <p:spPr>
              <a:xfrm>
                <a:off x="548640" y="1371600"/>
                <a:ext cx="11064240" cy="1667256"/>
              </a:xfrm>
              <a:prstGeom prst="rect">
                <a:avLst/>
              </a:prstGeom>
              <a:noFill/>
            </p:spPr>
            <p:txBody>
              <a:bodyPr wrap="square" anchor="t" lIns="45720" rIns="45720">
                <a:spAutoFit/>
              </a:bodyPr>
              <a:lstStyle/>
              <a:p>
                <a:pPr algn="l">
                  <a:spcAft>
                    <a:spcPts val="800"/>
                  </a:spcAft>
                </a:pPr>
                <a:r>
                  <a:rPr sz="2000">
                    <a:solidFill>
                      <a:srgbClr val="1E293B"/>
                    </a:solidFill>
                    <a:latin typeface="Calibri"/>
                  </a:rPr>
                  <a:t>Giả sử </a:t>
                </a:r>
                <a:r>
                  <a:rPr lang="vi-VN"/>
                  <a:t>y=f(x)</a:t>
                </a:r>
                <a:r>
                  <a:rPr sz="2000">
                    <a:solidFill>
                      <a:srgbClr val="1E293B"/>
                    </a:solidFill>
                    <a:latin typeface="Calibri"/>
                  </a:rPr>
                  <a:t>. Nếu </a:t>
                </a:r>
                <a:r>
                  <a:rPr lang="vi-VN"/>
                  <a:t>x</a:t>
                </a:r>
                <a:r>
                  <a:rPr sz="2000">
                    <a:solidFill>
                      <a:srgbClr val="1E293B"/>
                    </a:solidFill>
                    <a:latin typeface="Calibri"/>
                  </a:rPr>
                  <a:t> thay đổi từ </a:t>
                </a:r>
                <a:r>
                  <a:rPr lang="vi-VN"/>
                  <a:t>x_1</a:t>
                </a:r>
                <a:r>
                  <a:rPr sz="2000">
                    <a:solidFill>
                      <a:srgbClr val="1E293B"/>
                    </a:solidFill>
                    <a:latin typeface="Calibri"/>
                  </a:rPr>
                  <a:t> đến </a:t>
                </a:r>
                <a:r>
                  <a:rPr lang="vi-VN"/>
                  <a:t>x_2</a:t>
                </a:r>
                <a:r>
                  <a:rPr sz="2000">
                    <a:solidFill>
                      <a:srgbClr val="1E293B"/>
                    </a:solidFill>
                    <a:latin typeface="Calibri"/>
                  </a:rPr>
                  <a:t> thì </a:t>
                </a:r>
                <a:r>
                  <a:rPr lang="vi-VN"/>
                  <a:t>\Delta x=x_2-x_1</a:t>
                </a:r>
                <a:r>
                  <a:rPr sz="2000">
                    <a:solidFill>
                      <a:srgbClr val="1E293B"/>
                    </a:solidFill>
                    <a:latin typeface="Calibri"/>
                  </a:rPr>
                  <a:t>, </a:t>
                </a:r>
                <a:r>
                  <a:rPr lang="vi-VN"/>
                  <a:t>\Delta y=f(x_2)-f(x_1)</a:t>
                </a:r>
                <a:r>
                  <a:rPr sz="2000">
                    <a:solidFill>
                      <a:srgbClr val="1E293B"/>
                    </a:solidFill>
                    <a:latin typeface="Calibri"/>
                  </a:rPr>
                  <a:t>. Tỉ số </a:t>
                </a:r>
                <a:r>
                  <a:rPr lang="vi-VN"/>
                  <a:t>\frac{\Delta y}{\Delta x}</a:t>
                </a:r>
                <a:r>
                  <a:rPr sz="2000">
                    <a:solidFill>
                      <a:srgbClr val="1E293B"/>
                    </a:solidFill>
                    <a:latin typeface="Calibri"/>
                  </a:rPr>
                  <a:t> được gọi là </a:t>
                </a:r>
                <a:r>
                  <a:rPr sz="2000" b="1">
                    <a:solidFill>
                      <a:srgbClr val="1E293B"/>
                    </a:solidFill>
                    <a:latin typeface="Calibri"/>
                  </a:rPr>
                  <a:t>tốc độ thay đổi trung bình</a:t>
                </a:r>
                <a:r>
                  <a:rPr sz="2000">
                    <a:solidFill>
                      <a:srgbClr val="1E293B"/>
                    </a:solidFill>
                    <a:latin typeface="Calibri"/>
                  </a:rPr>
                  <a:t> của </a:t>
                </a:r>
                <a:r>
                  <a:rPr lang="vi-VN"/>
                  <a:t>y</a:t>
                </a:r>
                <a:r>
                  <a:rPr sz="2000">
                    <a:solidFill>
                      <a:srgbClr val="1E293B"/>
                    </a:solidFill>
                    <a:latin typeface="Calibri"/>
                  </a:rPr>
                  <a:t> đối với </a:t>
                </a:r>
                <a:r>
                  <a:rPr lang="vi-VN"/>
                  <a:t>x</a:t>
                </a:r>
                <a:r>
                  <a:rPr sz="2000">
                    <a:solidFill>
                      <a:srgbClr val="1E293B"/>
                    </a:solidFill>
                    <a:latin typeface="Calibri"/>
                  </a:rPr>
                  <a:t> trên đoạn </a:t>
                </a:r>
                <a:r>
                  <a:rPr lang="vi-VN"/>
                  <a:t>[x_1;\ x_2]</a:t>
                </a:r>
                <a:r>
                  <a:rPr sz="2000">
                    <a:solidFill>
                      <a:srgbClr val="1E293B"/>
                    </a:solidFill>
                    <a:latin typeface="Calibri"/>
                  </a:rPr>
                  <a:t>. Giới hạn </a:t>
                </a:r>
                <a:r>
                  <a:rPr lang="vi-VN"/>
                  <a:t>\lim\limits_{\Delta x\to 0}\frac{\Delta y}{\Delta x}</a:t>
                </a:r>
                <a:r>
                  <a:rPr sz="2000">
                    <a:solidFill>
                      <a:srgbClr val="1E293B"/>
                    </a:solidFill>
                    <a:latin typeface="Calibri"/>
                  </a:rPr>
                  <a:t> được gọi là </a:t>
                </a:r>
                <a:r>
                  <a:rPr sz="2000" b="1">
                    <a:solidFill>
                      <a:srgbClr val="1E293B"/>
                    </a:solidFill>
                    <a:latin typeface="Calibri"/>
                  </a:rPr>
                  <a:t>tốc độ thay đổi tức thời</a:t>
                </a:r>
                <a:r>
                  <a:rPr sz="2000">
                    <a:solidFill>
                      <a:srgbClr val="1E293B"/>
                    </a:solidFill>
                    <a:latin typeface="Calibri"/>
                  </a:rPr>
                  <a:t> của </a:t>
                </a:r>
                <a:r>
                  <a:rPr lang="vi-VN"/>
                  <a:t>y</a:t>
                </a:r>
                <a:r>
                  <a:rPr sz="2000">
                    <a:solidFill>
                      <a:srgbClr val="1E293B"/>
                    </a:solidFill>
                    <a:latin typeface="Calibri"/>
                  </a:rPr>
                  <a:t> đối với </a:t>
                </a:r>
                <a:r>
                  <a:rPr lang="vi-VN"/>
                  <a:t>x</a:t>
                </a:r>
                <a:r>
                  <a:rPr sz="2000">
                    <a:solidFill>
                      <a:srgbClr val="1E293B"/>
                    </a:solidFill>
                    <a:latin typeface="Calibri"/>
                  </a:rPr>
                  <a:t> tại </a:t>
                </a:r>
                <a:r>
                  <a:rPr lang="vi-VN"/>
                  <a:t>x=x_1</a:t>
                </a:r>
                <a:r>
                  <a:rPr sz="2000">
                    <a:solidFill>
                      <a:srgbClr val="1E293B"/>
                    </a:solidFill>
                    <a:latin typeface="Calibri"/>
                  </a:rPr>
                  <a:t>.</a:t>
                </a:r>
              </a:p>
            </p:txBody>
          </p:sp>
        </mc:Fallback>
      </mc:AlternateContent>
      <p:sp>
        <p:nvSpPr>
          <p:cNvPr id="8" name="s1_nen"/>
          <p:cNvSpPr/>
          <p:nvPr/>
        </p:nvSpPr>
        <p:spPr>
          <a:xfrm>
            <a:off x="548640" y="3148584"/>
            <a:ext cx="11064240" cy="874775"/>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185160"/>
                <a:ext cx="1073505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Đạo hàm </a:t>
                </a:r>
                <a14:m>
                  <m:oMath xmlns:m="http://schemas.openxmlformats.org/officeDocument/2006/math">
                    <m:sSup>
                      <m:e>
                        <m:r>
                          <a:rPr lang="vi-VN" sz="2000" b="0">
                            <a:solidFill>
                              <a:srgbClr val="1E293B"/>
                            </a:solidFill>
                            <a:latin typeface="Cambria Math" panose="02040503050406030204" pitchFamily="18" charset="0"/>
                          </a:rPr>
                          <m:t>f</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(a)</m:t>
                    </m:r>
                  </m:oMath>
                </a14:m>
                <a:r>
                  <a:rPr sz="2000">
                    <a:solidFill>
                      <a:srgbClr val="1E293B"/>
                    </a:solidFill>
                    <a:latin typeface="Calibri"/>
                  </a:rPr>
                  <a:t> là tốc độ thay đổi tức thời của đại lượng </a:t>
                </a:r>
                <a14:m>
                  <m:oMath xmlns:m="http://schemas.openxmlformats.org/officeDocument/2006/math">
                    <m:r>
                      <a:rPr lang="vi-VN" sz="2000" b="0">
                        <a:solidFill>
                          <a:srgbClr val="1E293B"/>
                        </a:solidFill>
                        <a:latin typeface="Cambria Math" panose="02040503050406030204" pitchFamily="18" charset="0"/>
                      </a:rPr>
                      <m:t>y=f(x)</m:t>
                    </m:r>
                  </m:oMath>
                </a14:m>
                <a:r>
                  <a:rPr sz="2000">
                    <a:solidFill>
                      <a:srgbClr val="1E293B"/>
                    </a:solidFill>
                    <a:latin typeface="Calibri"/>
                  </a:rPr>
                  <a:t> đối với </a:t>
                </a:r>
                <a14:m>
                  <m:oMath xmlns:m="http://schemas.openxmlformats.org/officeDocument/2006/math">
                    <m:r>
                      <a:rPr lang="vi-VN" sz="2000" b="0">
                        <a:solidFill>
                          <a:srgbClr val="1E293B"/>
                        </a:solidFill>
                        <a:latin typeface="Cambria Math" panose="02040503050406030204" pitchFamily="18" charset="0"/>
                      </a:rPr>
                      <m:t>x</m:t>
                    </m:r>
                  </m:oMath>
                </a14:m>
                <a:r>
                  <a:rPr sz="2000">
                    <a:solidFill>
                      <a:srgbClr val="1E293B"/>
                    </a:solidFill>
                    <a:latin typeface="Calibri"/>
                  </a:rPr>
                  <a:t> tại điểm </a:t>
                </a:r>
                <a14:m>
                  <m:oMath xmlns:m="http://schemas.openxmlformats.org/officeDocument/2006/math">
                    <m:r>
                      <a:rPr lang="vi-VN" sz="2000" b="0">
                        <a:solidFill>
                          <a:srgbClr val="1E293B"/>
                        </a:solidFill>
                        <a:latin typeface="Cambria Math" panose="02040503050406030204" pitchFamily="18" charset="0"/>
                      </a:rPr>
                      <m:t>x=a</m:t>
                    </m:r>
                  </m:oMath>
                </a14:m>
                <a:r>
                  <a:rPr sz="2000">
                    <a:solidFill>
                      <a:srgbClr val="1E293B"/>
                    </a:solidFill>
                    <a:latin typeface="Calibri"/>
                  </a:rPr>
                  <a:t>.</a:t>
                </a:r>
              </a:p>
            </p:txBody>
          </p:sp>
        </mc:Choice>
        <mc:Fallback>
          <p:sp>
            <p:nvSpPr>
              <p:cNvPr id="9" name="TextBox 8"/>
              <p:cNvSpPr txBox="1"/>
              <p:nvPr/>
            </p:nvSpPr>
            <p:spPr>
              <a:xfrm>
                <a:off x="713232" y="3185160"/>
                <a:ext cx="1073505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Đạo hàm </a:t>
                </a:r>
                <a:r>
                  <a:rPr lang="vi-VN"/>
                  <a:t>f'(a)</a:t>
                </a:r>
                <a:r>
                  <a:rPr sz="2000">
                    <a:solidFill>
                      <a:srgbClr val="1E293B"/>
                    </a:solidFill>
                    <a:latin typeface="Calibri"/>
                  </a:rPr>
                  <a:t> là tốc độ thay đổi tức thời của đại lượng </a:t>
                </a:r>
                <a:r>
                  <a:rPr lang="vi-VN"/>
                  <a:t>y=f(x)</a:t>
                </a:r>
                <a:r>
                  <a:rPr sz="2000">
                    <a:solidFill>
                      <a:srgbClr val="1E293B"/>
                    </a:solidFill>
                    <a:latin typeface="Calibri"/>
                  </a:rPr>
                  <a:t> đối với </a:t>
                </a:r>
                <a:r>
                  <a:rPr lang="vi-VN"/>
                  <a:t>x</a:t>
                </a:r>
                <a:r>
                  <a:rPr sz="2000">
                    <a:solidFill>
                      <a:srgbClr val="1E293B"/>
                    </a:solidFill>
                    <a:latin typeface="Calibri"/>
                  </a:rPr>
                  <a:t> tại điểm </a:t>
                </a:r>
                <a:r>
                  <a:rPr lang="vi-VN"/>
                  <a:t>x=a</a:t>
                </a:r>
                <a:r>
                  <a:rPr sz="2000">
                    <a:solidFill>
                      <a:srgbClr val="1E293B"/>
                    </a:solidFill>
                    <a:latin typeface="Calibri"/>
                  </a:rPr>
                  <a:t>.</a:t>
                </a:r>
              </a:p>
            </p:txBody>
          </p:sp>
        </mc:Fallback>
      </mc:AlternateContent>
      <p:sp>
        <p:nvSpPr>
          <p:cNvPr id="10" name="s2_nen"/>
          <p:cNvSpPr/>
          <p:nvPr/>
        </p:nvSpPr>
        <p:spPr>
          <a:xfrm>
            <a:off x="548640" y="4133088"/>
            <a:ext cx="11064240" cy="209092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169664"/>
                <a:ext cx="10735056" cy="2017776"/>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000">
                    <a:solidFill>
                      <a:srgbClr val="1E293B"/>
                    </a:solidFill>
                    <a:latin typeface="Calibri"/>
                  </a:rPr>
                  <a:t>Vật lí: </a:t>
                </a:r>
                <a14:m>
                  <m:oMath xmlns:m="http://schemas.openxmlformats.org/officeDocument/2006/math">
                    <m:r>
                      <a:rPr lang="vi-VN" sz="2000" b="0">
                        <a:solidFill>
                          <a:srgbClr val="1E293B"/>
                        </a:solidFill>
                        <a:latin typeface="Cambria Math" panose="02040503050406030204" pitchFamily="18" charset="0"/>
                      </a:rPr>
                      <m:t>v=</m:t>
                    </m:r>
                    <m:sSup>
                      <m:e>
                        <m:r>
                          <a:rPr lang="vi-VN" sz="2000" b="0">
                            <a:solidFill>
                              <a:srgbClr val="1E293B"/>
                            </a:solidFill>
                            <a:latin typeface="Cambria Math" panose="02040503050406030204" pitchFamily="18" charset="0"/>
                          </a:rPr>
                          <m:t>s</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(t)</m:t>
                    </m:r>
                  </m:oMath>
                </a14:m>
                <a:r>
                  <a:rPr sz="2000">
                    <a:solidFill>
                      <a:srgbClr val="1E293B"/>
                    </a:solidFill>
                    <a:latin typeface="Calibri"/>
                  </a:rPr>
                  <a:t> là vận tốc tức thời; gia tốc </a:t>
                </a:r>
                <a14:m>
                  <m:oMath xmlns:m="http://schemas.openxmlformats.org/officeDocument/2006/math">
                    <m:r>
                      <a:rPr lang="vi-VN" sz="2000" b="0">
                        <a:solidFill>
                          <a:srgbClr val="1E293B"/>
                        </a:solidFill>
                        <a:latin typeface="Cambria Math" panose="02040503050406030204" pitchFamily="18" charset="0"/>
                      </a:rPr>
                      <m:t>a(t)=</m:t>
                    </m:r>
                    <m:sSup>
                      <m:e>
                        <m:r>
                          <a:rPr lang="vi-VN" sz="2000" b="0">
                            <a:solidFill>
                              <a:srgbClr val="1E293B"/>
                            </a:solidFill>
                            <a:latin typeface="Cambria Math" panose="02040503050406030204" pitchFamily="18" charset="0"/>
                          </a:rPr>
                          <m:t>v</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(t)=</m:t>
                    </m:r>
                    <m:sSup>
                      <m:e>
                        <m:r>
                          <a:rPr lang="vi-VN" sz="2000" b="0">
                            <a:solidFill>
                              <a:srgbClr val="1E293B"/>
                            </a:solidFill>
                            <a:latin typeface="Cambria Math" panose="02040503050406030204" pitchFamily="18" charset="0"/>
                          </a:rPr>
                          <m:t>s</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(t)</m:t>
                    </m:r>
                  </m:oMath>
                </a14:m>
                <a:r>
                  <a:rPr sz="2000">
                    <a:solidFill>
                      <a:srgbClr val="1E293B"/>
                    </a:solidFill>
                    <a:latin typeface="Calibri"/>
                  </a:rPr>
                  <a:t>.</a:t>
                </a:r>
              </a:p>
              <a:p>
                <a:pPr algn="l" marL="365760" indent="-365760">
                  <a:spcAft>
                    <a:spcPts val="800"/>
                  </a:spcAft>
                  <a:buClr>
                    <a:srgbClr val="1E40AF"/>
                  </a:buClr>
                  <a:buFont typeface="Arial"/>
                  <a:buChar char="•"/>
                </a:pPr>
                <a:r>
                  <a:rPr sz="2000">
                    <a:solidFill>
                      <a:srgbClr val="1E293B"/>
                    </a:solidFill>
                    <a:latin typeface="Calibri"/>
                  </a:rPr>
                  <a:t>Hoá học: </a:t>
                </a:r>
                <a14:m>
                  <m:oMath xmlns:m="http://schemas.openxmlformats.org/officeDocument/2006/math">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(t)</m:t>
                    </m:r>
                  </m:oMath>
                </a14:m>
                <a:r>
                  <a:rPr sz="2000">
                    <a:solidFill>
                      <a:srgbClr val="1E293B"/>
                    </a:solidFill>
                    <a:latin typeface="Calibri"/>
                  </a:rPr>
                  <a:t> là tốc độ phản ứng tức thời của chất có nồng độ </a:t>
                </a:r>
                <a14:m>
                  <m:oMath xmlns:m="http://schemas.openxmlformats.org/officeDocument/2006/math">
                    <m:r>
                      <a:rPr lang="vi-VN" sz="2000" b="0">
                        <a:solidFill>
                          <a:srgbClr val="1E293B"/>
                        </a:solidFill>
                        <a:latin typeface="Cambria Math" panose="02040503050406030204" pitchFamily="18" charset="0"/>
                      </a:rPr>
                      <m:t>C(t)</m:t>
                    </m:r>
                  </m:oMath>
                </a14:m>
                <a:r>
                  <a:rPr sz="2000">
                    <a:solidFill>
                      <a:srgbClr val="1E293B"/>
                    </a:solidFill>
                    <a:latin typeface="Calibri"/>
                  </a:rPr>
                  <a:t>.</a:t>
                </a:r>
              </a:p>
              <a:p>
                <a:pPr algn="l" marL="365760" indent="-365760">
                  <a:spcAft>
                    <a:spcPts val="800"/>
                  </a:spcAft>
                  <a:buClr>
                    <a:srgbClr val="1E40AF"/>
                  </a:buClr>
                  <a:buFont typeface="Arial"/>
                  <a:buChar char="•"/>
                </a:pPr>
                <a:r>
                  <a:rPr sz="2000">
                    <a:solidFill>
                      <a:srgbClr val="1E293B"/>
                    </a:solidFill>
                    <a:latin typeface="Calibri"/>
                  </a:rPr>
                  <a:t>Sinh học: </a:t>
                </a:r>
                <a14:m>
                  <m:oMath xmlns:m="http://schemas.openxmlformats.org/officeDocument/2006/math">
                    <m:sSup>
                      <m:e>
                        <m:r>
                          <a:rPr lang="vi-VN" sz="2000" b="0">
                            <a:solidFill>
                              <a:srgbClr val="1E293B"/>
                            </a:solidFill>
                            <a:latin typeface="Cambria Math" panose="02040503050406030204" pitchFamily="18" charset="0"/>
                          </a:rPr>
                          <m:t>P</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(t)</m:t>
                    </m:r>
                  </m:oMath>
                </a14:m>
                <a:r>
                  <a:rPr sz="2000">
                    <a:solidFill>
                      <a:srgbClr val="1E293B"/>
                    </a:solidFill>
                    <a:latin typeface="Calibri"/>
                  </a:rPr>
                  <a:t> là tốc độ tăng trưởng tức thời của quần thể.</a:t>
                </a:r>
              </a:p>
              <a:p>
                <a:pPr algn="l" marL="365760" indent="-365760">
                  <a:spcAft>
                    <a:spcPts val="800"/>
                  </a:spcAft>
                  <a:buClr>
                    <a:srgbClr val="1E40AF"/>
                  </a:buClr>
                  <a:buFont typeface="Arial"/>
                  <a:buChar char="•"/>
                </a:pPr>
                <a:r>
                  <a:rPr sz="2000">
                    <a:solidFill>
                      <a:srgbClr val="1E293B"/>
                    </a:solidFill>
                    <a:latin typeface="Calibri"/>
                  </a:rPr>
                  <a:t>Kinh tế: </a:t>
                </a:r>
                <a14:m>
                  <m:oMath xmlns:m="http://schemas.openxmlformats.org/officeDocument/2006/math">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(x)</m:t>
                    </m:r>
                  </m:oMath>
                </a14:m>
                <a:r>
                  <a:rPr sz="2000">
                    <a:solidFill>
                      <a:srgbClr val="1E293B"/>
                    </a:solidFill>
                    <a:latin typeface="Calibri"/>
                  </a:rPr>
                  <a:t> là </a:t>
                </a:r>
                <a:r>
                  <a:rPr sz="2000" b="1">
                    <a:solidFill>
                      <a:srgbClr val="1E293B"/>
                    </a:solidFill>
                    <a:latin typeface="Calibri"/>
                  </a:rPr>
                  <a:t>chi phí biên</a:t>
                </a:r>
                <a:r>
                  <a:rPr sz="2000">
                    <a:solidFill>
                      <a:srgbClr val="1E293B"/>
                    </a:solidFill>
                    <a:latin typeface="Calibri"/>
                  </a:rPr>
                  <a:t> – xấp xỉ chi phí sản xuất thêm đơn vị hàng hoá thứ </a:t>
                </a:r>
                <a14:m>
                  <m:oMath xmlns:m="http://schemas.openxmlformats.org/officeDocument/2006/math">
                    <m:r>
                      <a:rPr lang="vi-VN" sz="2000" b="0">
                        <a:solidFill>
                          <a:srgbClr val="1E293B"/>
                        </a:solidFill>
                        <a:latin typeface="Cambria Math" panose="02040503050406030204" pitchFamily="18" charset="0"/>
                      </a:rPr>
                      <m:t>x+1</m:t>
                    </m:r>
                  </m:oMath>
                </a14:m>
                <a:r>
                  <a:rPr sz="2000">
                    <a:solidFill>
                      <a:srgbClr val="1E293B"/>
                    </a:solidFill>
                    <a:latin typeface="Calibri"/>
                  </a:rPr>
                  <a:t>.</a:t>
                </a:r>
              </a:p>
            </p:txBody>
          </p:sp>
        </mc:Choice>
        <mc:Fallback>
          <p:sp>
            <p:nvSpPr>
              <p:cNvPr id="11" name="TextBox 10"/>
              <p:cNvSpPr txBox="1"/>
              <p:nvPr/>
            </p:nvSpPr>
            <p:spPr>
              <a:xfrm>
                <a:off x="713232" y="4169664"/>
                <a:ext cx="10735056" cy="2017776"/>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000">
                    <a:solidFill>
                      <a:srgbClr val="1E293B"/>
                    </a:solidFill>
                    <a:latin typeface="Calibri"/>
                  </a:rPr>
                  <a:t>Vật lí: </a:t>
                </a:r>
                <a:r>
                  <a:rPr lang="vi-VN"/>
                  <a:t>v=s'(t)</a:t>
                </a:r>
                <a:r>
                  <a:rPr sz="2000">
                    <a:solidFill>
                      <a:srgbClr val="1E293B"/>
                    </a:solidFill>
                    <a:latin typeface="Calibri"/>
                  </a:rPr>
                  <a:t> là vận tốc tức thời; gia tốc </a:t>
                </a:r>
                <a:r>
                  <a:rPr lang="vi-VN"/>
                  <a:t>a(t)=v'(t)=s''(t)</a:t>
                </a:r>
                <a:r>
                  <a:rPr sz="2000">
                    <a:solidFill>
                      <a:srgbClr val="1E293B"/>
                    </a:solidFill>
                    <a:latin typeface="Calibri"/>
                  </a:rPr>
                  <a:t>.</a:t>
                </a:r>
              </a:p>
              <a:p>
                <a:pPr algn="l" marL="365760" indent="-365760">
                  <a:spcAft>
                    <a:spcPts val="800"/>
                  </a:spcAft>
                  <a:buClr>
                    <a:srgbClr val="1E40AF"/>
                  </a:buClr>
                  <a:buFont typeface="Arial"/>
                  <a:buChar char="•"/>
                </a:pPr>
                <a:r>
                  <a:rPr sz="2000">
                    <a:solidFill>
                      <a:srgbClr val="1E293B"/>
                    </a:solidFill>
                    <a:latin typeface="Calibri"/>
                  </a:rPr>
                  <a:t>Hoá học: </a:t>
                </a:r>
                <a:r>
                  <a:rPr lang="vi-VN"/>
                  <a:t>C'(t)</a:t>
                </a:r>
                <a:r>
                  <a:rPr sz="2000">
                    <a:solidFill>
                      <a:srgbClr val="1E293B"/>
                    </a:solidFill>
                    <a:latin typeface="Calibri"/>
                  </a:rPr>
                  <a:t> là tốc độ phản ứng tức thời của chất có nồng độ </a:t>
                </a:r>
                <a:r>
                  <a:rPr lang="vi-VN"/>
                  <a:t>C(t)</a:t>
                </a:r>
                <a:r>
                  <a:rPr sz="2000">
                    <a:solidFill>
                      <a:srgbClr val="1E293B"/>
                    </a:solidFill>
                    <a:latin typeface="Calibri"/>
                  </a:rPr>
                  <a:t>.</a:t>
                </a:r>
              </a:p>
              <a:p>
                <a:pPr algn="l" marL="365760" indent="-365760">
                  <a:spcAft>
                    <a:spcPts val="800"/>
                  </a:spcAft>
                  <a:buClr>
                    <a:srgbClr val="1E40AF"/>
                  </a:buClr>
                  <a:buFont typeface="Arial"/>
                  <a:buChar char="•"/>
                </a:pPr>
                <a:r>
                  <a:rPr sz="2000">
                    <a:solidFill>
                      <a:srgbClr val="1E293B"/>
                    </a:solidFill>
                    <a:latin typeface="Calibri"/>
                  </a:rPr>
                  <a:t>Sinh học: </a:t>
                </a:r>
                <a:r>
                  <a:rPr lang="vi-VN"/>
                  <a:t>P'(t)</a:t>
                </a:r>
                <a:r>
                  <a:rPr sz="2000">
                    <a:solidFill>
                      <a:srgbClr val="1E293B"/>
                    </a:solidFill>
                    <a:latin typeface="Calibri"/>
                  </a:rPr>
                  <a:t> là tốc độ tăng trưởng tức thời của quần thể.</a:t>
                </a:r>
              </a:p>
              <a:p>
                <a:pPr algn="l" marL="365760" indent="-365760">
                  <a:spcAft>
                    <a:spcPts val="800"/>
                  </a:spcAft>
                  <a:buClr>
                    <a:srgbClr val="1E40AF"/>
                  </a:buClr>
                  <a:buFont typeface="Arial"/>
                  <a:buChar char="•"/>
                </a:pPr>
                <a:r>
                  <a:rPr sz="2000">
                    <a:solidFill>
                      <a:srgbClr val="1E293B"/>
                    </a:solidFill>
                    <a:latin typeface="Calibri"/>
                  </a:rPr>
                  <a:t>Kinh tế: </a:t>
                </a:r>
                <a:r>
                  <a:rPr lang="vi-VN"/>
                  <a:t>C'(x)</a:t>
                </a:r>
                <a:r>
                  <a:rPr sz="2000">
                    <a:solidFill>
                      <a:srgbClr val="1E293B"/>
                    </a:solidFill>
                    <a:latin typeface="Calibri"/>
                  </a:rPr>
                  <a:t> là </a:t>
                </a:r>
                <a:r>
                  <a:rPr sz="2000" b="1">
                    <a:solidFill>
                      <a:srgbClr val="1E293B"/>
                    </a:solidFill>
                    <a:latin typeface="Calibri"/>
                  </a:rPr>
                  <a:t>chi phí biên</a:t>
                </a:r>
                <a:r>
                  <a:rPr sz="2000">
                    <a:solidFill>
                      <a:srgbClr val="1E293B"/>
                    </a:solidFill>
                    <a:latin typeface="Calibri"/>
                  </a:rPr>
                  <a:t> – xấp xỉ chi phí sản xuất thêm đơn vị hàng hoá thứ </a:t>
                </a:r>
                <a:r>
                  <a:rPr lang="vi-VN"/>
                  <a:t>x+1</a:t>
                </a:r>
                <a:r>
                  <a:rPr sz="20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1 (SGK TR.34)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7</a:t>
            </a:r>
          </a:p>
        </p:txBody>
      </p:sp>
      <mc:AlternateContent xmlns:mc="http://schemas.openxmlformats.org/markup-compatibility/2006">
        <mc:Choice xmlns:a14="http://schemas.microsoft.com/office/drawing/2010/main" Requires="a14">
          <p:sp>
            <p:nvSpPr>
              <p:cNvPr id="7" name="TextBox 6"/>
              <p:cNvSpPr txBox="1"/>
              <p:nvPr/>
            </p:nvSpPr>
            <p:spPr>
              <a:xfrm>
                <a:off x="548640" y="1325880"/>
                <a:ext cx="7863840" cy="20025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Ví dụ 1.</a:t>
                </a:r>
                <a:r>
                  <a:rPr sz="2000">
                    <a:solidFill>
                      <a:srgbClr val="1E293B"/>
                    </a:solidFill>
                    <a:latin typeface="Calibri"/>
                  </a:rPr>
                  <a:t> Độ cao (mét) của một vật phóng thẳng đứng lên từ điểm cách mặt đất 2 m với vận tốc ban đầu 24,5 m/s là </a:t>
                </a:r>
                <a14:m>
                  <m:oMath xmlns:m="http://schemas.openxmlformats.org/officeDocument/2006/math">
                    <m:r>
                      <a:rPr lang="vi-VN" sz="2000" b="0">
                        <a:solidFill>
                          <a:srgbClr val="1E293B"/>
                        </a:solidFill>
                        <a:latin typeface="Cambria Math" panose="02040503050406030204" pitchFamily="18" charset="0"/>
                      </a:rPr>
                      <m:t>h(t)=2+24</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5t−4</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9</m:t>
                    </m:r>
                    <m:sSup>
                      <m:e>
                        <m:r>
                          <a:rPr lang="vi-VN" sz="2000" b="0">
                            <a:solidFill>
                              <a:srgbClr val="1E293B"/>
                            </a:solidFill>
                            <a:latin typeface="Cambria Math" panose="02040503050406030204" pitchFamily="18" charset="0"/>
                          </a:rPr>
                          <m:t>t</m:t>
                        </m:r>
                      </m:e>
                      <m:sup>
                        <m:r>
                          <a:rPr lang="vi-VN" sz="2000" b="0">
                            <a:solidFill>
                              <a:srgbClr val="1E293B"/>
                            </a:solidFill>
                            <a:latin typeface="Cambria Math" panose="02040503050406030204" pitchFamily="18" charset="0"/>
                          </a:rPr>
                          <m:t>2</m:t>
                        </m:r>
                      </m:sup>
                    </m:sSup>
                  </m:oMath>
                </a14:m>
                <a:r>
                  <a:rPr sz="2000">
                    <a:solidFill>
                      <a:srgbClr val="1E293B"/>
                    </a:solidFill>
                    <a:latin typeface="Calibri"/>
                  </a:rPr>
                  <a:t>. a) Tìm vận tốc của vật sau 2 giây. b) Khi nào vật đạt độ cao lớn nhất và độ cao lớn nhất đó là bao nhiêu? c) Khi nào vật chạm đất và vận tốc lúc chạm đất là bao nhiêu?</a:t>
                </a:r>
              </a:p>
            </p:txBody>
          </p:sp>
        </mc:Choice>
        <mc:Fallback>
          <p:sp>
            <p:nvSpPr>
              <p:cNvPr id="7" name="TextBox 6"/>
              <p:cNvSpPr txBox="1"/>
              <p:nvPr/>
            </p:nvSpPr>
            <p:spPr>
              <a:xfrm>
                <a:off x="548640" y="1325880"/>
                <a:ext cx="7863840" cy="20025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Ví dụ 1.</a:t>
                </a:r>
                <a:r>
                  <a:rPr sz="2000">
                    <a:solidFill>
                      <a:srgbClr val="1E293B"/>
                    </a:solidFill>
                    <a:latin typeface="Calibri"/>
                  </a:rPr>
                  <a:t> Độ cao (mét) của một vật phóng thẳng đứng lên từ điểm cách mặt đất 2 m với vận tốc ban đầu 24,5 m/s là </a:t>
                </a:r>
                <a:r>
                  <a:rPr lang="vi-VN"/>
                  <a:t>h(t)=2+24{,}5t-4{,}9t^2</a:t>
                </a:r>
                <a:r>
                  <a:rPr sz="2000">
                    <a:solidFill>
                      <a:srgbClr val="1E293B"/>
                    </a:solidFill>
                    <a:latin typeface="Calibri"/>
                  </a:rPr>
                  <a:t>. a) Tìm vận tốc của vật sau 2 giây. b) Khi nào vật đạt độ cao lớn nhất và độ cao lớn nhất đó là bao nhiêu? c) Khi nào vật chạm đất và vận tốc lúc chạm đất là bao nhiêu?</a:t>
                </a:r>
              </a:p>
            </p:txBody>
          </p:sp>
        </mc:Fallback>
      </mc:AlternateContent>
      <p:sp>
        <p:nvSpPr>
          <p:cNvPr id="8" name="s1_nen"/>
          <p:cNvSpPr/>
          <p:nvPr/>
        </p:nvSpPr>
        <p:spPr>
          <a:xfrm>
            <a:off x="548640" y="3392424"/>
            <a:ext cx="786384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429000"/>
                <a:ext cx="753465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14:m>
                  <m:oMath xmlns:m="http://schemas.openxmlformats.org/officeDocument/2006/math">
                    <m:r>
                      <a:rPr lang="vi-VN" sz="2000" b="0">
                        <a:solidFill>
                          <a:srgbClr val="1E293B"/>
                        </a:solidFill>
                        <a:latin typeface="Cambria Math" panose="02040503050406030204" pitchFamily="18" charset="0"/>
                      </a:rPr>
                      <m:t>v=</m:t>
                    </m:r>
                    <m:sSup>
                      <m:e>
                        <m:r>
                          <a:rPr lang="vi-VN" sz="2000" b="0">
                            <a:solidFill>
                              <a:srgbClr val="1E293B"/>
                            </a:solidFill>
                            <a:latin typeface="Cambria Math" panose="02040503050406030204" pitchFamily="18" charset="0"/>
                          </a:rPr>
                          <m:t>h</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(t)=24</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5−9</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8t</m:t>
                    </m:r>
                  </m:oMath>
                </a14:m>
                <a:r>
                  <a:rPr sz="2000">
                    <a:solidFill>
                      <a:srgbClr val="1E293B"/>
                    </a:solidFill>
                    <a:latin typeface="Calibri"/>
                  </a:rPr>
                  <a:t> (m/s); </a:t>
                </a:r>
                <a14:m>
                  <m:oMath xmlns:m="http://schemas.openxmlformats.org/officeDocument/2006/math">
                    <m:r>
                      <a:rPr lang="vi-VN" sz="2000" b="0">
                        <a:solidFill>
                          <a:srgbClr val="1E293B"/>
                        </a:solidFill>
                        <a:latin typeface="Cambria Math" panose="02040503050406030204" pitchFamily="18" charset="0"/>
                      </a:rPr>
                      <m:t>v(2)=24</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5−9</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8·2=4</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9</m:t>
                    </m:r>
                  </m:oMath>
                </a14:m>
                <a:r>
                  <a:rPr sz="2000">
                    <a:solidFill>
                      <a:srgbClr val="1E293B"/>
                    </a:solidFill>
                    <a:latin typeface="Calibri"/>
                  </a:rPr>
                  <a:t> (m/s).</a:t>
                </a:r>
              </a:p>
            </p:txBody>
          </p:sp>
        </mc:Choice>
        <mc:Fallback>
          <p:sp>
            <p:nvSpPr>
              <p:cNvPr id="9" name="TextBox 8"/>
              <p:cNvSpPr txBox="1"/>
              <p:nvPr/>
            </p:nvSpPr>
            <p:spPr>
              <a:xfrm>
                <a:off x="713232" y="3429000"/>
                <a:ext cx="753465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r>
                  <a:rPr lang="vi-VN"/>
                  <a:t>v=h'(t)=24{,}5-9{,}8t</a:t>
                </a:r>
                <a:r>
                  <a:rPr sz="2000">
                    <a:solidFill>
                      <a:srgbClr val="1E293B"/>
                    </a:solidFill>
                    <a:latin typeface="Calibri"/>
                  </a:rPr>
                  <a:t> (m/s); </a:t>
                </a:r>
                <a:r>
                  <a:rPr lang="vi-VN"/>
                  <a:t>v(2)=24{,}5-9{,}8\cdot 2=4{,}9</a:t>
                </a:r>
                <a:r>
                  <a:rPr sz="2000">
                    <a:solidFill>
                      <a:srgbClr val="1E293B"/>
                    </a:solidFill>
                    <a:latin typeface="Calibri"/>
                  </a:rPr>
                  <a:t> (m/s).</a:t>
                </a:r>
              </a:p>
            </p:txBody>
          </p:sp>
        </mc:Fallback>
      </mc:AlternateContent>
      <p:sp>
        <p:nvSpPr>
          <p:cNvPr id="10" name="s2_nen"/>
          <p:cNvSpPr/>
          <p:nvPr/>
        </p:nvSpPr>
        <p:spPr>
          <a:xfrm>
            <a:off x="548640" y="4331208"/>
            <a:ext cx="7863840" cy="1011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367784"/>
                <a:ext cx="7534656" cy="93878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a:t>
                </a:r>
                <a14:m>
                  <m:oMath xmlns:m="http://schemas.openxmlformats.org/officeDocument/2006/math">
                    <m:r>
                      <a:rPr lang="vi-VN" sz="2000" b="0">
                        <a:solidFill>
                          <a:srgbClr val="1E293B"/>
                        </a:solidFill>
                        <a:latin typeface="Cambria Math" panose="02040503050406030204" pitchFamily="18" charset="0"/>
                      </a:rPr>
                      <m:t>h(t)</m:t>
                    </m:r>
                  </m:oMath>
                </a14:m>
                <a:r>
                  <a:rPr sz="2000">
                    <a:solidFill>
                      <a:srgbClr val="1E293B"/>
                    </a:solidFill>
                    <a:latin typeface="Calibri"/>
                  </a:rPr>
                  <a:t> là hàm bậc hai có </a:t>
                </a:r>
                <a14:m>
                  <m:oMath xmlns:m="http://schemas.openxmlformats.org/officeDocument/2006/math">
                    <m:r>
                      <a:rPr lang="vi-VN" sz="2000" b="0">
                        <a:solidFill>
                          <a:srgbClr val="1E293B"/>
                        </a:solidFill>
                        <a:latin typeface="Cambria Math" panose="02040503050406030204" pitchFamily="18" charset="0"/>
                      </a:rPr>
                      <m:t>a=−4</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9&lt;0</m:t>
                    </m:r>
                  </m:oMath>
                </a14:m>
                <a:r>
                  <a:rPr sz="2000">
                    <a:solidFill>
                      <a:srgbClr val="1E293B"/>
                    </a:solidFill>
                    <a:latin typeface="Calibri"/>
                  </a:rPr>
                  <a:t> nên đạt lớn nhất tại </a:t>
                </a:r>
                <a14:m>
                  <m:oMath xmlns:m="http://schemas.openxmlformats.org/officeDocument/2006/math">
                    <m:r>
                      <a:rPr lang="vi-VN" sz="2000" b="0">
                        <a:solidFill>
                          <a:srgbClr val="1E293B"/>
                        </a:solidFill>
                        <a:latin typeface="Cambria Math" panose="02040503050406030204" pitchFamily="18" charset="0"/>
                      </a:rPr>
                      <m:t>t=−</m:t>
                    </m:r>
                    <m:f>
                      <m:fPr>
                        <m:type m:val="bar"/>
                      </m:fPr>
                      <m:num>
                        <m:r>
                          <a:rPr lang="vi-VN" sz="2000" b="0">
                            <a:solidFill>
                              <a:srgbClr val="1E293B"/>
                            </a:solidFill>
                            <a:latin typeface="Cambria Math" panose="02040503050406030204" pitchFamily="18" charset="0"/>
                          </a:rPr>
                          <m:t>b</m:t>
                        </m:r>
                      </m:num>
                      <m:den>
                        <m:r>
                          <a:rPr lang="vi-VN" sz="2000" b="0">
                            <a:solidFill>
                              <a:srgbClr val="1E293B"/>
                            </a:solidFill>
                            <a:latin typeface="Cambria Math" panose="02040503050406030204" pitchFamily="18" charset="0"/>
                          </a:rPr>
                          <m:t>2a</m:t>
                        </m:r>
                      </m:den>
                    </m:f>
                    <m:r>
                      <a:rPr lang="vi-VN" sz="2000" b="0">
                        <a:solidFill>
                          <a:srgbClr val="1E293B"/>
                        </a:solidFill>
                        <a:latin typeface="Cambria Math" panose="02040503050406030204" pitchFamily="18" charset="0"/>
                      </a:rPr>
                      <m:t>=2</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5</m:t>
                    </m:r>
                  </m:oMath>
                </a14:m>
                <a:r>
                  <a:rPr sz="2000">
                    <a:solidFill>
                      <a:srgbClr val="1E293B"/>
                    </a:solidFill>
                    <a:latin typeface="Calibri"/>
                  </a:rPr>
                  <a:t> (giây); </a:t>
                </a:r>
                <a14:m>
                  <m:oMath xmlns:m="http://schemas.openxmlformats.org/officeDocument/2006/math">
                    <m:r>
                      <a:rPr lang="vi-VN" sz="2000" b="0">
                        <a:solidFill>
                          <a:srgbClr val="1E293B"/>
                        </a:solidFill>
                        <a:latin typeface="Cambria Math" panose="02040503050406030204" pitchFamily="18" charset="0"/>
                      </a:rPr>
                      <m:t>h(2</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5)=32</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625</m:t>
                    </m:r>
                  </m:oMath>
                </a14:m>
                <a:r>
                  <a:rPr sz="2000">
                    <a:solidFill>
                      <a:srgbClr val="1E293B"/>
                    </a:solidFill>
                    <a:latin typeface="Calibri"/>
                  </a:rPr>
                  <a:t> (m).</a:t>
                </a:r>
              </a:p>
            </p:txBody>
          </p:sp>
        </mc:Choice>
        <mc:Fallback>
          <p:sp>
            <p:nvSpPr>
              <p:cNvPr id="11" name="TextBox 10"/>
              <p:cNvSpPr txBox="1"/>
              <p:nvPr/>
            </p:nvSpPr>
            <p:spPr>
              <a:xfrm>
                <a:off x="713232" y="4367784"/>
                <a:ext cx="7534656" cy="93878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a:t>
                </a:r>
                <a:r>
                  <a:rPr lang="vi-VN"/>
                  <a:t>h(t)</a:t>
                </a:r>
                <a:r>
                  <a:rPr sz="2000">
                    <a:solidFill>
                      <a:srgbClr val="1E293B"/>
                    </a:solidFill>
                    <a:latin typeface="Calibri"/>
                  </a:rPr>
                  <a:t> là hàm bậc hai có </a:t>
                </a:r>
                <a:r>
                  <a:rPr lang="vi-VN"/>
                  <a:t>a=-4{,}9&lt;0</a:t>
                </a:r>
                <a:r>
                  <a:rPr sz="2000">
                    <a:solidFill>
                      <a:srgbClr val="1E293B"/>
                    </a:solidFill>
                    <a:latin typeface="Calibri"/>
                  </a:rPr>
                  <a:t> nên đạt lớn nhất tại </a:t>
                </a:r>
                <a:r>
                  <a:rPr lang="vi-VN"/>
                  <a:t>t=-\frac{b}{2a}=2{,}5</a:t>
                </a:r>
                <a:r>
                  <a:rPr sz="2000">
                    <a:solidFill>
                      <a:srgbClr val="1E293B"/>
                    </a:solidFill>
                    <a:latin typeface="Calibri"/>
                  </a:rPr>
                  <a:t> (giây); </a:t>
                </a:r>
                <a:r>
                  <a:rPr lang="vi-VN"/>
                  <a:t>h(2{,}5)=32{,}625</a:t>
                </a:r>
                <a:r>
                  <a:rPr sz="2000">
                    <a:solidFill>
                      <a:srgbClr val="1E293B"/>
                    </a:solidFill>
                    <a:latin typeface="Calibri"/>
                  </a:rPr>
                  <a:t> (m).</a:t>
                </a:r>
              </a:p>
            </p:txBody>
          </p:sp>
        </mc:Fallback>
      </mc:AlternateContent>
      <p:sp>
        <p:nvSpPr>
          <p:cNvPr id="12" name="s3_nen"/>
          <p:cNvSpPr/>
          <p:nvPr/>
        </p:nvSpPr>
        <p:spPr>
          <a:xfrm>
            <a:off x="548640" y="5407152"/>
            <a:ext cx="786384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5443728"/>
                <a:ext cx="753465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c) </a:t>
                </a:r>
                <a14:m>
                  <m:oMath xmlns:m="http://schemas.openxmlformats.org/officeDocument/2006/math">
                    <m:r>
                      <a:rPr lang="vi-VN" sz="2000" b="0">
                        <a:solidFill>
                          <a:srgbClr val="1E293B"/>
                        </a:solidFill>
                        <a:latin typeface="Cambria Math" panose="02040503050406030204" pitchFamily="18" charset="0"/>
                      </a:rPr>
                      <m:t>h=0⇔t≈5</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08</m:t>
                    </m:r>
                  </m:oMath>
                </a14:m>
                <a:r>
                  <a:rPr sz="2000">
                    <a:solidFill>
                      <a:srgbClr val="1E293B"/>
                    </a:solidFill>
                    <a:latin typeface="Calibri"/>
                  </a:rPr>
                  <a:t> (giây); </a:t>
                </a:r>
                <a14:m>
                  <m:oMath xmlns:m="http://schemas.openxmlformats.org/officeDocument/2006/math">
                    <m:r>
                      <a:rPr lang="vi-VN" sz="2000" b="0">
                        <a:solidFill>
                          <a:srgbClr val="1E293B"/>
                        </a:solidFill>
                        <a:latin typeface="Cambria Math" panose="02040503050406030204" pitchFamily="18" charset="0"/>
                      </a:rPr>
                      <m:t>v(5</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08)=24</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5−9</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8·5</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08=−25</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284</m:t>
                    </m:r>
                  </m:oMath>
                </a14:m>
                <a:r>
                  <a:rPr sz="2000">
                    <a:solidFill>
                      <a:srgbClr val="1E293B"/>
                    </a:solidFill>
                    <a:latin typeface="Calibri"/>
                  </a:rPr>
                  <a:t> (m/s) – vật chuyển động ngược chiều dương.</a:t>
                </a:r>
              </a:p>
            </p:txBody>
          </p:sp>
        </mc:Choice>
        <mc:Fallback>
          <p:sp>
            <p:nvSpPr>
              <p:cNvPr id="13" name="TextBox 12"/>
              <p:cNvSpPr txBox="1"/>
              <p:nvPr/>
            </p:nvSpPr>
            <p:spPr>
              <a:xfrm>
                <a:off x="713232" y="5443728"/>
                <a:ext cx="753465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c) </a:t>
                </a:r>
                <a:r>
                  <a:rPr lang="vi-VN"/>
                  <a:t>h=0\Leftrightarrow t\approx 5{,}08</a:t>
                </a:r>
                <a:r>
                  <a:rPr sz="2000">
                    <a:solidFill>
                      <a:srgbClr val="1E293B"/>
                    </a:solidFill>
                    <a:latin typeface="Calibri"/>
                  </a:rPr>
                  <a:t> (giây); </a:t>
                </a:r>
                <a:r>
                  <a:rPr lang="vi-VN"/>
                  <a:t>v(5{,}08)=24{,}5-9{,}8\cdot 5{,}08=-25{,}284</a:t>
                </a:r>
                <a:r>
                  <a:rPr sz="2000">
                    <a:solidFill>
                      <a:srgbClr val="1E293B"/>
                    </a:solidFill>
                    <a:latin typeface="Calibri"/>
                  </a:rPr>
                  <a:t> (m/s) – vật chuyển động ngược chiều dương.</a:t>
                </a:r>
              </a:p>
            </p:txBody>
          </p:sp>
        </mc:Fallback>
      </mc:AlternateContent>
      <p:pic>
        <p:nvPicPr>
          <p:cNvPr id="14" name="Picture 13" descr="b1_bong.png"/>
          <p:cNvPicPr>
            <a:picLocks noChangeAspect="1"/>
          </p:cNvPicPr>
          <p:nvPr/>
        </p:nvPicPr>
        <p:blipFill>
          <a:blip r:embed="rId3"/>
          <a:stretch>
            <a:fillRect/>
          </a:stretch>
        </p:blipFill>
        <p:spPr>
          <a:xfrm>
            <a:off x="8595360" y="1831406"/>
            <a:ext cx="3108960" cy="255510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2 (SGK TR.34 – 35)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8</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1277874"/>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2.</a:t>
                </a:r>
                <a:r>
                  <a:rPr sz="2100">
                    <a:solidFill>
                      <a:srgbClr val="1E293B"/>
                    </a:solidFill>
                    <a:latin typeface="Calibri"/>
                  </a:rPr>
                  <a:t> Số lượng quần thể nấm men được mô hình hoá bằng </a:t>
                </a:r>
                <a14:m>
                  <m:oMath xmlns:m="http://schemas.openxmlformats.org/officeDocument/2006/math">
                    <m:r>
                      <a:rPr lang="vi-VN" sz="2100" b="0">
                        <a:solidFill>
                          <a:srgbClr val="1E293B"/>
                        </a:solidFill>
                        <a:latin typeface="Cambria Math" panose="02040503050406030204" pitchFamily="18" charset="0"/>
                      </a:rPr>
                      <m:t>P(t)=</m:t>
                    </m:r>
                    <m:f>
                      <m:fPr>
                        <m:type m:val="bar"/>
                      </m:fPr>
                      <m:num>
                        <m:r>
                          <a:rPr lang="vi-VN" sz="2100" b="0">
                            <a:solidFill>
                              <a:srgbClr val="1E293B"/>
                            </a:solidFill>
                            <a:latin typeface="Cambria Math" panose="02040503050406030204" pitchFamily="18" charset="0"/>
                          </a:rPr>
                          <m:t>a</m:t>
                        </m:r>
                      </m:num>
                      <m:den>
                        <m:r>
                          <a:rPr lang="vi-VN" sz="2100" b="0">
                            <a:solidFill>
                              <a:srgbClr val="1E293B"/>
                            </a:solidFill>
                            <a:latin typeface="Cambria Math" panose="02040503050406030204" pitchFamily="18" charset="0"/>
                          </a:rPr>
                          <m:t>b+</m:t>
                        </m:r>
                        <m:sSup>
                          <m:e>
                            <m:r>
                              <a:rPr lang="vi-VN" sz="2100" b="0">
                                <a:solidFill>
                                  <a:srgbClr val="1E293B"/>
                                </a:solidFill>
                                <a:latin typeface="Cambria Math" panose="02040503050406030204" pitchFamily="18" charset="0"/>
                              </a:rPr>
                              <m:t>e</m:t>
                            </m:r>
                          </m:e>
                          <m:sup>
                            <m:r>
                              <a:rPr lang="vi-VN" sz="2100" b="0">
                                <a:solidFill>
                                  <a:srgbClr val="1E293B"/>
                                </a:solidFill>
                                <a:latin typeface="Cambria Math" panose="02040503050406030204" pitchFamily="18" charset="0"/>
                              </a:rPr>
                              <m:t>−0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75t</m:t>
                            </m:r>
                          </m:sup>
                        </m:sSup>
                      </m:den>
                    </m:f>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t</m:t>
                    </m:r>
                  </m:oMath>
                </a14:m>
                <a:r>
                  <a:rPr sz="2100">
                    <a:solidFill>
                      <a:srgbClr val="1E293B"/>
                    </a:solidFill>
                    <a:latin typeface="Calibri"/>
                  </a:rPr>
                  <a:t>: giờ). Tại </a:t>
                </a:r>
                <a14:m>
                  <m:oMath xmlns:m="http://schemas.openxmlformats.org/officeDocument/2006/math">
                    <m:r>
                      <a:rPr lang="vi-VN" sz="2100" b="0">
                        <a:solidFill>
                          <a:srgbClr val="1E293B"/>
                        </a:solidFill>
                        <a:latin typeface="Cambria Math" panose="02040503050406030204" pitchFamily="18" charset="0"/>
                      </a:rPr>
                      <m:t>t=0</m:t>
                    </m:r>
                  </m:oMath>
                </a14:m>
                <a:r>
                  <a:rPr sz="2100">
                    <a:solidFill>
                      <a:srgbClr val="1E293B"/>
                    </a:solidFill>
                    <a:latin typeface="Calibri"/>
                  </a:rPr>
                  <a:t>, quần thể có 20 tế bào và tăng với tốc độ 12 tế bào/giờ. Tìm </a:t>
                </a:r>
                <a14:m>
                  <m:oMath xmlns:m="http://schemas.openxmlformats.org/officeDocument/2006/math">
                    <m:r>
                      <a:rPr lang="vi-VN" sz="2100" b="0">
                        <a:solidFill>
                          <a:srgbClr val="1E293B"/>
                        </a:solidFill>
                        <a:latin typeface="Cambria Math" panose="02040503050406030204" pitchFamily="18" charset="0"/>
                      </a:rPr>
                      <m:t>a</m:t>
                    </m:r>
                  </m:oMath>
                </a14:m>
                <a:r>
                  <a:rPr sz="2100">
                    <a:solidFill>
                      <a:srgbClr val="1E293B"/>
                    </a:solidFill>
                    <a:latin typeface="Calibri"/>
                  </a:rPr>
                  <a:t> và </a:t>
                </a:r>
                <a14:m>
                  <m:oMath xmlns:m="http://schemas.openxmlformats.org/officeDocument/2006/math">
                    <m:r>
                      <a:rPr lang="vi-VN" sz="2100" b="0">
                        <a:solidFill>
                          <a:srgbClr val="1E293B"/>
                        </a:solidFill>
                        <a:latin typeface="Cambria Math" panose="02040503050406030204" pitchFamily="18" charset="0"/>
                      </a:rPr>
                      <m:t>b</m:t>
                    </m:r>
                  </m:oMath>
                </a14:m>
                <a:r>
                  <a:rPr sz="2100">
                    <a:solidFill>
                      <a:srgbClr val="1E293B"/>
                    </a:solidFill>
                    <a:latin typeface="Calibri"/>
                  </a:rPr>
                  <a:t>. Theo mô hình này, điều gì xảy ra với quần thể nấm men về lâu dài?</a:t>
                </a:r>
              </a:p>
            </p:txBody>
          </p:sp>
        </mc:Choice>
        <mc:Fallback>
          <p:sp>
            <p:nvSpPr>
              <p:cNvPr id="7" name="TextBox 6"/>
              <p:cNvSpPr txBox="1"/>
              <p:nvPr/>
            </p:nvSpPr>
            <p:spPr>
              <a:xfrm>
                <a:off x="548640" y="1371600"/>
                <a:ext cx="11064240" cy="1277874"/>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2.</a:t>
                </a:r>
                <a:r>
                  <a:rPr sz="2100">
                    <a:solidFill>
                      <a:srgbClr val="1E293B"/>
                    </a:solidFill>
                    <a:latin typeface="Calibri"/>
                  </a:rPr>
                  <a:t> Số lượng quần thể nấm men được mô hình hoá bằng </a:t>
                </a:r>
                <a:r>
                  <a:rPr lang="vi-VN"/>
                  <a:t>P(t)=\frac{a}{b+e^{-0{,}75t}}</a:t>
                </a:r>
                <a:r>
                  <a:rPr sz="2100">
                    <a:solidFill>
                      <a:srgbClr val="1E293B"/>
                    </a:solidFill>
                    <a:latin typeface="Calibri"/>
                  </a:rPr>
                  <a:t> (</a:t>
                </a:r>
                <a:r>
                  <a:rPr lang="vi-VN"/>
                  <a:t>t</a:t>
                </a:r>
                <a:r>
                  <a:rPr sz="2100">
                    <a:solidFill>
                      <a:srgbClr val="1E293B"/>
                    </a:solidFill>
                    <a:latin typeface="Calibri"/>
                  </a:rPr>
                  <a:t>: giờ). Tại </a:t>
                </a:r>
                <a:r>
                  <a:rPr lang="vi-VN"/>
                  <a:t>t=0</a:t>
                </a:r>
                <a:r>
                  <a:rPr sz="2100">
                    <a:solidFill>
                      <a:srgbClr val="1E293B"/>
                    </a:solidFill>
                    <a:latin typeface="Calibri"/>
                  </a:rPr>
                  <a:t>, quần thể có 20 tế bào và tăng với tốc độ 12 tế bào/giờ. Tìm </a:t>
                </a:r>
                <a:r>
                  <a:rPr lang="vi-VN"/>
                  <a:t>a</a:t>
                </a:r>
                <a:r>
                  <a:rPr sz="2100">
                    <a:solidFill>
                      <a:srgbClr val="1E293B"/>
                    </a:solidFill>
                    <a:latin typeface="Calibri"/>
                  </a:rPr>
                  <a:t> và </a:t>
                </a:r>
                <a:r>
                  <a:rPr lang="vi-VN"/>
                  <a:t>b</a:t>
                </a:r>
                <a:r>
                  <a:rPr sz="2100">
                    <a:solidFill>
                      <a:srgbClr val="1E293B"/>
                    </a:solidFill>
                    <a:latin typeface="Calibri"/>
                  </a:rPr>
                  <a:t>. Theo mô hình này, điều gì xảy ra với quần thể nấm men về lâu dài?</a:t>
                </a:r>
              </a:p>
            </p:txBody>
          </p:sp>
        </mc:Fallback>
      </mc:AlternateContent>
      <p:sp>
        <p:nvSpPr>
          <p:cNvPr id="8" name="s1_nen"/>
          <p:cNvSpPr/>
          <p:nvPr/>
        </p:nvSpPr>
        <p:spPr>
          <a:xfrm>
            <a:off x="548640" y="2759202"/>
            <a:ext cx="11064240" cy="133731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795778"/>
                <a:ext cx="10735056" cy="1264158"/>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P</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(t)=</m:t>
                    </m:r>
                    <m:f>
                      <m:fPr>
                        <m:type m:val="bar"/>
                      </m:fPr>
                      <m:num>
                        <m:r>
                          <a:rPr lang="vi-VN" sz="2100" b="0">
                            <a:solidFill>
                              <a:srgbClr val="1E293B"/>
                            </a:solidFill>
                            <a:latin typeface="Cambria Math" panose="02040503050406030204" pitchFamily="18" charset="0"/>
                          </a:rPr>
                          <m:t>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75a</m:t>
                        </m:r>
                        <m:sSup>
                          <m:e>
                            <m:r>
                              <a:rPr lang="vi-VN" sz="2100" b="0">
                                <a:solidFill>
                                  <a:srgbClr val="1E293B"/>
                                </a:solidFill>
                                <a:latin typeface="Cambria Math" panose="02040503050406030204" pitchFamily="18" charset="0"/>
                              </a:rPr>
                              <m:t>e</m:t>
                            </m:r>
                          </m:e>
                          <m:sup>
                            <m:r>
                              <a:rPr lang="vi-VN" sz="2100" b="0">
                                <a:solidFill>
                                  <a:srgbClr val="1E293B"/>
                                </a:solidFill>
                                <a:latin typeface="Cambria Math" panose="02040503050406030204" pitchFamily="18" charset="0"/>
                              </a:rPr>
                              <m:t>−0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75t</m:t>
                            </m:r>
                          </m:sup>
                        </m:sSup>
                      </m:num>
                      <m:den>
                        <m:sSup>
                          <m:e>
                            <m:d>
                              <m:dPr>
                                <m:sepChr m:val=""/>
                              </m:dPr>
                              <m:e>
                                <m:r>
                                  <a:rPr lang="vi-VN" sz="2100" b="0">
                                    <a:solidFill>
                                      <a:srgbClr val="1E293B"/>
                                    </a:solidFill>
                                    <a:latin typeface="Cambria Math" panose="02040503050406030204" pitchFamily="18" charset="0"/>
                                  </a:rPr>
                                  <m:t>b</m:t>
                                </m:r>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e</m:t>
                                    </m:r>
                                  </m:e>
                                  <m:sup>
                                    <m:r>
                                      <a:rPr lang="vi-VN" sz="2100" b="0">
                                        <a:solidFill>
                                          <a:srgbClr val="1E293B"/>
                                        </a:solidFill>
                                        <a:latin typeface="Cambria Math" panose="02040503050406030204" pitchFamily="18" charset="0"/>
                                      </a:rPr>
                                      <m:t>−0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75t</m:t>
                                    </m:r>
                                  </m:sup>
                                </m:sSup>
                              </m:e>
                            </m:d>
                          </m:e>
                          <m:sup>
                            <m:r>
                              <a:rPr lang="vi-VN" sz="2100" b="0">
                                <a:solidFill>
                                  <a:srgbClr val="1E293B"/>
                                </a:solidFill>
                                <a:latin typeface="Cambria Math" panose="02040503050406030204" pitchFamily="18" charset="0"/>
                              </a:rPr>
                              <m:t>2</m:t>
                            </m:r>
                          </m:sup>
                        </m:sSup>
                      </m:den>
                    </m:f>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P(0)=20</m:t>
                    </m:r>
                  </m:oMath>
                </a14:m>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P</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(0)=12</m:t>
                    </m:r>
                  </m:oMath>
                </a14:m>
                <a:r>
                  <a:rPr sz="2100">
                    <a:solidFill>
                      <a:srgbClr val="1E293B"/>
                    </a:solidFill>
                    <a:latin typeface="Calibri"/>
                  </a:rPr>
                  <a:t>: </a:t>
                </a:r>
                <a14:m>
                  <m:oMath xmlns:m="http://schemas.openxmlformats.org/officeDocument/2006/math">
                    <m:f>
                      <m:fPr>
                        <m:type m:val="bar"/>
                      </m:fPr>
                      <m:num>
                        <m:r>
                          <a:rPr lang="vi-VN" sz="2100" b="0">
                            <a:solidFill>
                              <a:srgbClr val="1E293B"/>
                            </a:solidFill>
                            <a:latin typeface="Cambria Math" panose="02040503050406030204" pitchFamily="18" charset="0"/>
                          </a:rPr>
                          <m:t>a</m:t>
                        </m:r>
                      </m:num>
                      <m:den>
                        <m:r>
                          <a:rPr lang="vi-VN" sz="2100" b="0">
                            <a:solidFill>
                              <a:srgbClr val="1E293B"/>
                            </a:solidFill>
                            <a:latin typeface="Cambria Math" panose="02040503050406030204" pitchFamily="18" charset="0"/>
                          </a:rPr>
                          <m:t>b+1</m:t>
                        </m:r>
                      </m:den>
                    </m:f>
                    <m:r>
                      <a:rPr lang="vi-VN" sz="2100" b="0">
                        <a:solidFill>
                          <a:srgbClr val="1E293B"/>
                        </a:solidFill>
                        <a:latin typeface="Cambria Math" panose="02040503050406030204" pitchFamily="18" charset="0"/>
                      </a:rPr>
                      <m:t>=20</m:t>
                    </m:r>
                  </m:oMath>
                </a14:m>
                <a:r>
                  <a:rPr sz="2100">
                    <a:solidFill>
                      <a:srgbClr val="1E293B"/>
                    </a:solidFill>
                    <a:latin typeface="Calibri"/>
                  </a:rPr>
                  <a:t>, </a:t>
                </a:r>
                <a14:m>
                  <m:oMath xmlns:m="http://schemas.openxmlformats.org/officeDocument/2006/math">
                    <m:f>
                      <m:fPr>
                        <m:type m:val="bar"/>
                      </m:fPr>
                      <m:num>
                        <m:r>
                          <a:rPr lang="vi-VN" sz="2100" b="0">
                            <a:solidFill>
                              <a:srgbClr val="1E293B"/>
                            </a:solidFill>
                            <a:latin typeface="Cambria Math" panose="02040503050406030204" pitchFamily="18" charset="0"/>
                          </a:rPr>
                          <m:t>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75a</m:t>
                        </m:r>
                      </m:num>
                      <m:den>
                        <m:sSup>
                          <m:e>
                            <m:d>
                              <m:dPr>
                                <m:sepChr m:val=""/>
                              </m:dPr>
                              <m:e>
                                <m:r>
                                  <a:rPr lang="vi-VN" sz="2100" b="0">
                                    <a:solidFill>
                                      <a:srgbClr val="1E293B"/>
                                    </a:solidFill>
                                    <a:latin typeface="Cambria Math" panose="02040503050406030204" pitchFamily="18" charset="0"/>
                                  </a:rPr>
                                  <m:t>b</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1</m:t>
                                </m:r>
                              </m:e>
                            </m:d>
                          </m:e>
                          <m:sup>
                            <m:r>
                              <a:rPr lang="vi-VN" sz="2100" b="0">
                                <a:solidFill>
                                  <a:srgbClr val="1E293B"/>
                                </a:solidFill>
                                <a:latin typeface="Cambria Math" panose="02040503050406030204" pitchFamily="18" charset="0"/>
                              </a:rPr>
                              <m:t>2</m:t>
                            </m:r>
                          </m:sup>
                        </m:sSup>
                      </m:den>
                    </m:f>
                    <m:r>
                      <a:rPr lang="vi-VN" sz="2100" b="0">
                        <a:solidFill>
                          <a:srgbClr val="1E293B"/>
                        </a:solidFill>
                        <a:latin typeface="Cambria Math" panose="02040503050406030204" pitchFamily="18" charset="0"/>
                      </a:rPr>
                      <m:t>=12</m:t>
                    </m:r>
                  </m:oMath>
                </a14:m>
                <a:r>
                  <a:rPr sz="2100">
                    <a:solidFill>
                      <a:srgbClr val="1E293B"/>
                    </a:solidFill>
                    <a:latin typeface="Calibri"/>
                  </a:rPr>
                  <a:t> ⇒ </a:t>
                </a:r>
                <a14:m>
                  <m:oMath xmlns:m="http://schemas.openxmlformats.org/officeDocument/2006/math">
                    <m:r>
                      <a:rPr lang="vi-VN" sz="2100" b="0">
                        <a:solidFill>
                          <a:srgbClr val="1E293B"/>
                        </a:solidFill>
                        <a:latin typeface="Cambria Math" panose="02040503050406030204" pitchFamily="18" charset="0"/>
                      </a:rPr>
                      <m:t>a=25</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b=</m:t>
                    </m:r>
                    <m:f>
                      <m:fPr>
                        <m:type m:val="bar"/>
                      </m:fPr>
                      <m:num>
                        <m:r>
                          <a:rPr lang="vi-VN" sz="2100" b="0">
                            <a:solidFill>
                              <a:srgbClr val="1E293B"/>
                            </a:solidFill>
                            <a:latin typeface="Cambria Math" panose="02040503050406030204" pitchFamily="18" charset="0"/>
                          </a:rPr>
                          <m:t>1</m:t>
                        </m:r>
                      </m:num>
                      <m:den>
                        <m:r>
                          <a:rPr lang="vi-VN" sz="2100" b="0">
                            <a:solidFill>
                              <a:srgbClr val="1E293B"/>
                            </a:solidFill>
                            <a:latin typeface="Cambria Math" panose="02040503050406030204" pitchFamily="18" charset="0"/>
                          </a:rPr>
                          <m:t>4</m:t>
                        </m:r>
                      </m:den>
                    </m:f>
                  </m:oMath>
                </a14:m>
                <a:r>
                  <a:rPr sz="2100">
                    <a:solidFill>
                      <a:srgbClr val="1E293B"/>
                    </a:solidFill>
                    <a:latin typeface="Calibri"/>
                  </a:rPr>
                  <a:t>.</a:t>
                </a:r>
              </a:p>
            </p:txBody>
          </p:sp>
        </mc:Choice>
        <mc:Fallback>
          <p:sp>
            <p:nvSpPr>
              <p:cNvPr id="9" name="TextBox 8"/>
              <p:cNvSpPr txBox="1"/>
              <p:nvPr/>
            </p:nvSpPr>
            <p:spPr>
              <a:xfrm>
                <a:off x="713232" y="2795778"/>
                <a:ext cx="10735056" cy="1264158"/>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P'(t)=\frac{0{,}75ae^{-0{,}75t}}{(b+e^{-0{,}75t})^2}</a:t>
                </a:r>
                <a:r>
                  <a:rPr sz="2100">
                    <a:solidFill>
                      <a:srgbClr val="1E293B"/>
                    </a:solidFill>
                    <a:latin typeface="Calibri"/>
                  </a:rPr>
                  <a:t>. </a:t>
                </a:r>
                <a:r>
                  <a:rPr lang="vi-VN"/>
                  <a:t>P(0)=20</a:t>
                </a:r>
                <a:r>
                  <a:rPr sz="2100">
                    <a:solidFill>
                      <a:srgbClr val="1E293B"/>
                    </a:solidFill>
                    <a:latin typeface="Calibri"/>
                  </a:rPr>
                  <a:t>, </a:t>
                </a:r>
                <a:r>
                  <a:rPr lang="vi-VN"/>
                  <a:t>P'(0)=12</a:t>
                </a:r>
                <a:r>
                  <a:rPr sz="2100">
                    <a:solidFill>
                      <a:srgbClr val="1E293B"/>
                    </a:solidFill>
                    <a:latin typeface="Calibri"/>
                  </a:rPr>
                  <a:t>: </a:t>
                </a:r>
                <a:r>
                  <a:rPr lang="vi-VN"/>
                  <a:t>\frac{a}{b+1}=20</a:t>
                </a:r>
                <a:r>
                  <a:rPr sz="2100">
                    <a:solidFill>
                      <a:srgbClr val="1E293B"/>
                    </a:solidFill>
                    <a:latin typeface="Calibri"/>
                  </a:rPr>
                  <a:t>, </a:t>
                </a:r>
                <a:r>
                  <a:rPr lang="vi-VN"/>
                  <a:t>\frac{0{,}75a}{(b+1)^2}=12</a:t>
                </a:r>
                <a:r>
                  <a:rPr sz="2100">
                    <a:solidFill>
                      <a:srgbClr val="1E293B"/>
                    </a:solidFill>
                    <a:latin typeface="Calibri"/>
                  </a:rPr>
                  <a:t> ⇒ </a:t>
                </a:r>
                <a:r>
                  <a:rPr lang="vi-VN"/>
                  <a:t>a=25</a:t>
                </a:r>
                <a:r>
                  <a:rPr sz="2100">
                    <a:solidFill>
                      <a:srgbClr val="1E293B"/>
                    </a:solidFill>
                    <a:latin typeface="Calibri"/>
                  </a:rPr>
                  <a:t>, </a:t>
                </a:r>
                <a:r>
                  <a:rPr lang="vi-VN"/>
                  <a:t>b=\frac{1}{4}</a:t>
                </a:r>
                <a:r>
                  <a:rPr sz="2100">
                    <a:solidFill>
                      <a:srgbClr val="1E293B"/>
                    </a:solidFill>
                    <a:latin typeface="Calibri"/>
                  </a:rPr>
                  <a:t>.</a:t>
                </a:r>
              </a:p>
            </p:txBody>
          </p:sp>
        </mc:Fallback>
      </mc:AlternateContent>
      <p:sp>
        <p:nvSpPr>
          <p:cNvPr id="10" name="s2_nen"/>
          <p:cNvSpPr/>
          <p:nvPr/>
        </p:nvSpPr>
        <p:spPr>
          <a:xfrm>
            <a:off x="548640" y="4206240"/>
            <a:ext cx="11064240" cy="873251"/>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242816"/>
                <a:ext cx="10735056" cy="800099"/>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P</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(t)=</m:t>
                    </m:r>
                    <m:f>
                      <m:fPr>
                        <m:type m:val="bar"/>
                      </m:fPr>
                      <m:num>
                        <m:r>
                          <a:rPr lang="vi-VN" sz="2100" b="0">
                            <a:solidFill>
                              <a:srgbClr val="1E293B"/>
                            </a:solidFill>
                            <a:latin typeface="Cambria Math" panose="02040503050406030204" pitchFamily="18" charset="0"/>
                          </a:rPr>
                          <m:t>18</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75</m:t>
                        </m:r>
                        <m:sSup>
                          <m:e>
                            <m:r>
                              <a:rPr lang="vi-VN" sz="2100" b="0">
                                <a:solidFill>
                                  <a:srgbClr val="1E293B"/>
                                </a:solidFill>
                                <a:latin typeface="Cambria Math" panose="02040503050406030204" pitchFamily="18" charset="0"/>
                              </a:rPr>
                              <m:t>e</m:t>
                            </m:r>
                          </m:e>
                          <m:sup>
                            <m:r>
                              <a:rPr lang="vi-VN" sz="2100" b="0">
                                <a:solidFill>
                                  <a:srgbClr val="1E293B"/>
                                </a:solidFill>
                                <a:latin typeface="Cambria Math" panose="02040503050406030204" pitchFamily="18" charset="0"/>
                              </a:rPr>
                              <m:t>−0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75t</m:t>
                            </m:r>
                          </m:sup>
                        </m:sSup>
                      </m:num>
                      <m:den>
                        <m:sSup>
                          <m:e>
                            <m:d>
                              <m:dPr>
                                <m:sepChr m:val="+"/>
                              </m:dPr>
                              <m:e>
                                <m:f>
                                  <m:fPr>
                                    <m:type m:val="bar"/>
                                  </m:fPr>
                                  <m:num>
                                    <m:r>
                                      <a:rPr lang="vi-VN" sz="2100" b="0">
                                        <a:solidFill>
                                          <a:srgbClr val="1E293B"/>
                                        </a:solidFill>
                                        <a:latin typeface="Cambria Math" panose="02040503050406030204" pitchFamily="18" charset="0"/>
                                      </a:rPr>
                                      <m:t>1</m:t>
                                    </m:r>
                                  </m:num>
                                  <m:den>
                                    <m:r>
                                      <a:rPr lang="vi-VN" sz="2100" b="0">
                                        <a:solidFill>
                                          <a:srgbClr val="1E293B"/>
                                        </a:solidFill>
                                        <a:latin typeface="Cambria Math" panose="02040503050406030204" pitchFamily="18" charset="0"/>
                                      </a:rPr>
                                      <m:t>4</m:t>
                                    </m:r>
                                  </m:den>
                                </m:f>
                              </m:e>
                              <m:e>
                                <m:sSup>
                                  <m:e>
                                    <m:r>
                                      <a:rPr lang="vi-VN" sz="2100" b="0">
                                        <a:solidFill>
                                          <a:srgbClr val="1E293B"/>
                                        </a:solidFill>
                                        <a:latin typeface="Cambria Math" panose="02040503050406030204" pitchFamily="18" charset="0"/>
                                      </a:rPr>
                                      <m:t>e</m:t>
                                    </m:r>
                                  </m:e>
                                  <m:sup>
                                    <m:r>
                                      <a:rPr lang="vi-VN" sz="2100" b="0">
                                        <a:solidFill>
                                          <a:srgbClr val="1E293B"/>
                                        </a:solidFill>
                                        <a:latin typeface="Cambria Math" panose="02040503050406030204" pitchFamily="18" charset="0"/>
                                      </a:rPr>
                                      <m:t>−0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75t</m:t>
                                    </m:r>
                                  </m:sup>
                                </m:sSup>
                              </m:e>
                            </m:d>
                          </m:e>
                          <m:sup>
                            <m:r>
                              <a:rPr lang="vi-VN" sz="2100" b="0">
                                <a:solidFill>
                                  <a:srgbClr val="1E293B"/>
                                </a:solidFill>
                                <a:latin typeface="Cambria Math" panose="02040503050406030204" pitchFamily="18" charset="0"/>
                              </a:rPr>
                              <m:t>2</m:t>
                            </m:r>
                          </m:sup>
                        </m:sSup>
                      </m:den>
                    </m:f>
                    <m:r>
                      <a:rPr lang="vi-VN" sz="2100" b="0">
                        <a:solidFill>
                          <a:srgbClr val="1E293B"/>
                        </a:solidFill>
                        <a:latin typeface="Cambria Math" panose="02040503050406030204" pitchFamily="18" charset="0"/>
                      </a:rPr>
                      <m:t>&gt;0</m:t>
                    </m:r>
                  </m:oMath>
                </a14:m>
                <a:r>
                  <a:rPr sz="2100">
                    <a:solidFill>
                      <a:srgbClr val="1E293B"/>
                    </a:solidFill>
                    <a:latin typeface="Calibri"/>
                  </a:rPr>
                  <a:t>: số lượng quần thể luôn tăng.</a:t>
                </a:r>
              </a:p>
            </p:txBody>
          </p:sp>
        </mc:Choice>
        <mc:Fallback>
          <p:sp>
            <p:nvSpPr>
              <p:cNvPr id="11" name="TextBox 10"/>
              <p:cNvSpPr txBox="1"/>
              <p:nvPr/>
            </p:nvSpPr>
            <p:spPr>
              <a:xfrm>
                <a:off x="713232" y="4242816"/>
                <a:ext cx="10735056" cy="800099"/>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P'(t)=\frac{18{,}75e^{-0{,}75t}}{\left(\frac{1}{4}+e^{-0{,}75t}\right)^2}&gt;0</a:t>
                </a:r>
                <a:r>
                  <a:rPr sz="2100">
                    <a:solidFill>
                      <a:srgbClr val="1E293B"/>
                    </a:solidFill>
                    <a:latin typeface="Calibri"/>
                  </a:rPr>
                  <a:t>: số lượng quần thể luôn tăng.</a:t>
                </a:r>
              </a:p>
            </p:txBody>
          </p:sp>
        </mc:Fallback>
      </mc:AlternateContent>
      <p:sp>
        <p:nvSpPr>
          <p:cNvPr id="12" name="s3_nen"/>
          <p:cNvSpPr/>
          <p:nvPr/>
        </p:nvSpPr>
        <p:spPr>
          <a:xfrm>
            <a:off x="548640" y="5189220"/>
            <a:ext cx="11064240" cy="119329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5225796"/>
                <a:ext cx="10735056" cy="1120140"/>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limLow>
                      <m:e>
                        <m:r>
                          <a:rPr lang="vi-VN" sz="2100" b="0">
                            <a:solidFill>
                              <a:srgbClr val="1E293B"/>
                            </a:solidFill>
                            <a:latin typeface="Cambria Math" panose="02040503050406030204" pitchFamily="18" charset="0"/>
                          </a:rPr>
                          <m:t>lim</m:t>
                        </m:r>
                      </m:e>
                      <m:lim>
                        <m:r>
                          <a:rPr lang="vi-VN" sz="2100" b="0">
                            <a:solidFill>
                              <a:srgbClr val="1E293B"/>
                            </a:solidFill>
                            <a:latin typeface="Cambria Math" panose="02040503050406030204" pitchFamily="18" charset="0"/>
                          </a:rPr>
                          <m:t>t→+∞</m:t>
                        </m:r>
                      </m:lim>
                    </m:limLow>
                    <m:r>
                      <a:rPr lang="vi-VN" sz="2100" b="0">
                        <a:solidFill>
                          <a:srgbClr val="1E293B"/>
                        </a:solidFill>
                        <a:latin typeface="Cambria Math" panose="02040503050406030204" pitchFamily="18" charset="0"/>
                      </a:rPr>
                      <m:t>P(t)=</m:t>
                    </m:r>
                    <m:limLow>
                      <m:e>
                        <m:r>
                          <a:rPr lang="vi-VN" sz="2100" b="0">
                            <a:solidFill>
                              <a:srgbClr val="1E293B"/>
                            </a:solidFill>
                            <a:latin typeface="Cambria Math" panose="02040503050406030204" pitchFamily="18" charset="0"/>
                          </a:rPr>
                          <m:t>lim</m:t>
                        </m:r>
                      </m:e>
                      <m:lim>
                        <m:r>
                          <a:rPr lang="vi-VN" sz="2100" b="0">
                            <a:solidFill>
                              <a:srgbClr val="1E293B"/>
                            </a:solidFill>
                            <a:latin typeface="Cambria Math" panose="02040503050406030204" pitchFamily="18" charset="0"/>
                          </a:rPr>
                          <m:t>t→+∞</m:t>
                        </m:r>
                      </m:lim>
                    </m:limLow>
                    <m:f>
                      <m:fPr>
                        <m:type m:val="bar"/>
                      </m:fPr>
                      <m:num>
                        <m:r>
                          <a:rPr lang="vi-VN" sz="2100" b="0">
                            <a:solidFill>
                              <a:srgbClr val="1E293B"/>
                            </a:solidFill>
                            <a:latin typeface="Cambria Math" panose="02040503050406030204" pitchFamily="18" charset="0"/>
                          </a:rPr>
                          <m:t>25</m:t>
                        </m:r>
                      </m:num>
                      <m:den>
                        <m:f>
                          <m:fPr>
                            <m:type m:val="bar"/>
                          </m:fPr>
                          <m:num>
                            <m:r>
                              <a:rPr lang="vi-VN" sz="2100" b="0">
                                <a:solidFill>
                                  <a:srgbClr val="1E293B"/>
                                </a:solidFill>
                                <a:latin typeface="Cambria Math" panose="02040503050406030204" pitchFamily="18" charset="0"/>
                              </a:rPr>
                              <m:t>1</m:t>
                            </m:r>
                          </m:num>
                          <m:den>
                            <m:r>
                              <a:rPr lang="vi-VN" sz="2100" b="0">
                                <a:solidFill>
                                  <a:srgbClr val="1E293B"/>
                                </a:solidFill>
                                <a:latin typeface="Cambria Math" panose="02040503050406030204" pitchFamily="18" charset="0"/>
                              </a:rPr>
                              <m:t>4</m:t>
                            </m:r>
                          </m:den>
                        </m:f>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e</m:t>
                            </m:r>
                          </m:e>
                          <m:sup>
                            <m:r>
                              <a:rPr lang="vi-VN" sz="2100" b="0">
                                <a:solidFill>
                                  <a:srgbClr val="1E293B"/>
                                </a:solidFill>
                                <a:latin typeface="Cambria Math" panose="02040503050406030204" pitchFamily="18" charset="0"/>
                              </a:rPr>
                              <m:t>−0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75t</m:t>
                            </m:r>
                          </m:sup>
                        </m:sSup>
                      </m:den>
                    </m:f>
                    <m:r>
                      <a:rPr lang="vi-VN" sz="2100" b="0">
                        <a:solidFill>
                          <a:srgbClr val="1E293B"/>
                        </a:solidFill>
                        <a:latin typeface="Cambria Math" panose="02040503050406030204" pitchFamily="18" charset="0"/>
                      </a:rPr>
                      <m:t>=100</m:t>
                    </m:r>
                  </m:oMath>
                </a14:m>
                <a:r>
                  <a:rPr sz="2100">
                    <a:solidFill>
                      <a:srgbClr val="1E293B"/>
                    </a:solidFill>
                    <a:latin typeface="Calibri"/>
                  </a:rPr>
                  <a:t>: quần thể tăng nhưng không vượt quá 100 tế bào.</a:t>
                </a:r>
              </a:p>
            </p:txBody>
          </p:sp>
        </mc:Choice>
        <mc:Fallback>
          <p:sp>
            <p:nvSpPr>
              <p:cNvPr id="13" name="TextBox 12"/>
              <p:cNvSpPr txBox="1"/>
              <p:nvPr/>
            </p:nvSpPr>
            <p:spPr>
              <a:xfrm>
                <a:off x="713232" y="5225796"/>
                <a:ext cx="10735056" cy="1120140"/>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\lim\limits_{t\to+\infty}P(t)=\lim\limits_{t\to+\infty}\frac{25}{\frac{1}{4}+e^{-0{,}75t}}=100</a:t>
                </a:r>
                <a:r>
                  <a:rPr sz="2100">
                    <a:solidFill>
                      <a:srgbClr val="1E293B"/>
                    </a:solidFill>
                    <a:latin typeface="Calibri"/>
                  </a:rPr>
                  <a:t>: quần thể tăng nhưng không vượt quá 100 tế bào.</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3 – CHI PHÍ BIÊN (SGK TR.35)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9</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1514856"/>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Ví dụ 3.</a:t>
                </a:r>
                <a:r>
                  <a:rPr sz="2200">
                    <a:solidFill>
                      <a:srgbClr val="1E293B"/>
                    </a:solidFill>
                    <a:latin typeface="Calibri"/>
                  </a:rPr>
                  <a:t> Chi phí </a:t>
                </a:r>
                <a14:m>
                  <m:oMath xmlns:m="http://schemas.openxmlformats.org/officeDocument/2006/math">
                    <m:r>
                      <a:rPr lang="vi-VN" sz="2200" b="0">
                        <a:solidFill>
                          <a:srgbClr val="1E293B"/>
                        </a:solidFill>
                        <a:latin typeface="Cambria Math" panose="02040503050406030204" pitchFamily="18" charset="0"/>
                      </a:rPr>
                      <m:t>C(x)</m:t>
                    </m:r>
                  </m:oMath>
                </a14:m>
                <a:r>
                  <a:rPr sz="2200">
                    <a:solidFill>
                      <a:srgbClr val="1E293B"/>
                    </a:solidFill>
                    <a:latin typeface="Calibri"/>
                  </a:rPr>
                  <a:t> (nghìn đồng) để sản xuất </a:t>
                </a:r>
                <a14:m>
                  <m:oMath xmlns:m="http://schemas.openxmlformats.org/officeDocument/2006/math">
                    <m:r>
                      <a:rPr lang="vi-VN" sz="2200" b="0">
                        <a:solidFill>
                          <a:srgbClr val="1E293B"/>
                        </a:solidFill>
                        <a:latin typeface="Cambria Math" panose="02040503050406030204" pitchFamily="18" charset="0"/>
                      </a:rPr>
                      <m:t>x</m:t>
                    </m:r>
                  </m:oMath>
                </a14:m>
                <a:r>
                  <a:rPr sz="2200">
                    <a:solidFill>
                      <a:srgbClr val="1E293B"/>
                    </a:solidFill>
                    <a:latin typeface="Calibri"/>
                  </a:rPr>
                  <a:t> đơn vị hàng hoá là </a:t>
                </a:r>
                <a14:m>
                  <m:oMath xmlns:m="http://schemas.openxmlformats.org/officeDocument/2006/math">
                    <m:r>
                      <a:rPr lang="vi-VN" sz="2200" b="0">
                        <a:solidFill>
                          <a:srgbClr val="1E293B"/>
                        </a:solidFill>
                        <a:latin typeface="Cambria Math" panose="02040503050406030204" pitchFamily="18" charset="0"/>
                      </a:rPr>
                      <m:t>C(x)=30</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000+300x−2</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5</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125</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3</m:t>
                        </m:r>
                      </m:sup>
                    </m:sSup>
                  </m:oMath>
                </a14:m>
                <a:r>
                  <a:rPr sz="2200">
                    <a:solidFill>
                      <a:srgbClr val="1E293B"/>
                    </a:solidFill>
                    <a:latin typeface="Calibri"/>
                  </a:rPr>
                  <a:t>. a) Tìm hàm chi phí biên. b) Tìm </a:t>
                </a:r>
                <a14:m>
                  <m:oMath xmlns:m="http://schemas.openxmlformats.org/officeDocument/2006/math">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(200)</m:t>
                    </m:r>
                  </m:oMath>
                </a14:m>
                <a:r>
                  <a:rPr sz="2200">
                    <a:solidFill>
                      <a:srgbClr val="1E293B"/>
                    </a:solidFill>
                    <a:latin typeface="Calibri"/>
                  </a:rPr>
                  <a:t> và giải thích ý nghĩa. c) So sánh </a:t>
                </a:r>
                <a14:m>
                  <m:oMath xmlns:m="http://schemas.openxmlformats.org/officeDocument/2006/math">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(200)</m:t>
                    </m:r>
                  </m:oMath>
                </a14:m>
                <a:r>
                  <a:rPr sz="2200">
                    <a:solidFill>
                      <a:srgbClr val="1E293B"/>
                    </a:solidFill>
                    <a:latin typeface="Calibri"/>
                  </a:rPr>
                  <a:t> với chi phí sản xuất đơn vị hàng hoá thứ 201.</a:t>
                </a:r>
              </a:p>
            </p:txBody>
          </p:sp>
        </mc:Choice>
        <mc:Fallback>
          <p:sp>
            <p:nvSpPr>
              <p:cNvPr id="7" name="TextBox 6"/>
              <p:cNvSpPr txBox="1"/>
              <p:nvPr/>
            </p:nvSpPr>
            <p:spPr>
              <a:xfrm>
                <a:off x="548640" y="1371600"/>
                <a:ext cx="11064240" cy="1514856"/>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Ví dụ 3.</a:t>
                </a:r>
                <a:r>
                  <a:rPr sz="2200">
                    <a:solidFill>
                      <a:srgbClr val="1E293B"/>
                    </a:solidFill>
                    <a:latin typeface="Calibri"/>
                  </a:rPr>
                  <a:t> Chi phí </a:t>
                </a:r>
                <a:r>
                  <a:rPr lang="vi-VN"/>
                  <a:t>C(x)</a:t>
                </a:r>
                <a:r>
                  <a:rPr sz="2200">
                    <a:solidFill>
                      <a:srgbClr val="1E293B"/>
                    </a:solidFill>
                    <a:latin typeface="Calibri"/>
                  </a:rPr>
                  <a:t> (nghìn đồng) để sản xuất </a:t>
                </a:r>
                <a:r>
                  <a:rPr lang="vi-VN"/>
                  <a:t>x</a:t>
                </a:r>
                <a:r>
                  <a:rPr sz="2200">
                    <a:solidFill>
                      <a:srgbClr val="1E293B"/>
                    </a:solidFill>
                    <a:latin typeface="Calibri"/>
                  </a:rPr>
                  <a:t> đơn vị hàng hoá là </a:t>
                </a:r>
                <a:r>
                  <a:rPr lang="vi-VN"/>
                  <a:t>C(x)=30\ 000+300x-2{,}5x^2+0{,}125x^3</a:t>
                </a:r>
                <a:r>
                  <a:rPr sz="2200">
                    <a:solidFill>
                      <a:srgbClr val="1E293B"/>
                    </a:solidFill>
                    <a:latin typeface="Calibri"/>
                  </a:rPr>
                  <a:t>. a) Tìm hàm chi phí biên. b) Tìm </a:t>
                </a:r>
                <a:r>
                  <a:rPr lang="vi-VN"/>
                  <a:t>C'(200)</a:t>
                </a:r>
                <a:r>
                  <a:rPr sz="2200">
                    <a:solidFill>
                      <a:srgbClr val="1E293B"/>
                    </a:solidFill>
                    <a:latin typeface="Calibri"/>
                  </a:rPr>
                  <a:t> và giải thích ý nghĩa. c) So sánh </a:t>
                </a:r>
                <a:r>
                  <a:rPr lang="vi-VN"/>
                  <a:t>C'(200)</a:t>
                </a:r>
                <a:r>
                  <a:rPr sz="2200">
                    <a:solidFill>
                      <a:srgbClr val="1E293B"/>
                    </a:solidFill>
                    <a:latin typeface="Calibri"/>
                  </a:rPr>
                  <a:t> với chi phí sản xuất đơn vị hàng hoá thứ 201.</a:t>
                </a:r>
              </a:p>
            </p:txBody>
          </p:sp>
        </mc:Fallback>
      </mc:AlternateContent>
      <p:sp>
        <p:nvSpPr>
          <p:cNvPr id="8" name="s1_nen"/>
          <p:cNvSpPr/>
          <p:nvPr/>
        </p:nvSpPr>
        <p:spPr>
          <a:xfrm>
            <a:off x="548640" y="3023616"/>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060192"/>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a) </a:t>
                </a:r>
                <a14:m>
                  <m:oMath xmlns:m="http://schemas.openxmlformats.org/officeDocument/2006/math">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(x)=300−5x+0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375</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oMath>
                </a14:m>
                <a:r>
                  <a:rPr sz="2200">
                    <a:solidFill>
                      <a:srgbClr val="1E293B"/>
                    </a:solidFill>
                    <a:latin typeface="Calibri"/>
                  </a:rPr>
                  <a:t>.</a:t>
                </a:r>
              </a:p>
            </p:txBody>
          </p:sp>
        </mc:Choice>
        <mc:Fallback>
          <p:sp>
            <p:nvSpPr>
              <p:cNvPr id="9" name="TextBox 8"/>
              <p:cNvSpPr txBox="1"/>
              <p:nvPr/>
            </p:nvSpPr>
            <p:spPr>
              <a:xfrm>
                <a:off x="713232" y="3060192"/>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a) </a:t>
                </a:r>
                <a:r>
                  <a:rPr lang="vi-VN"/>
                  <a:t>C'(x)=300-5x+0{,}375x^2</a:t>
                </a:r>
                <a:r>
                  <a:rPr sz="2200">
                    <a:solidFill>
                      <a:srgbClr val="1E293B"/>
                    </a:solidFill>
                    <a:latin typeface="Calibri"/>
                  </a:rPr>
                  <a:t>.</a:t>
                </a:r>
              </a:p>
            </p:txBody>
          </p:sp>
        </mc:Fallback>
      </mc:AlternateContent>
      <p:sp>
        <p:nvSpPr>
          <p:cNvPr id="10" name="s2_nen"/>
          <p:cNvSpPr/>
          <p:nvPr/>
        </p:nvSpPr>
        <p:spPr>
          <a:xfrm>
            <a:off x="548640" y="3761232"/>
            <a:ext cx="11064240" cy="935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797808"/>
                <a:ext cx="1073505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b) </a:t>
                </a:r>
                <a14:m>
                  <m:oMath xmlns:m="http://schemas.openxmlformats.org/officeDocument/2006/math">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(200)=300−5·200+0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375·</m:t>
                    </m:r>
                    <m:sSup>
                      <m:e>
                        <m:r>
                          <a:rPr lang="vi-VN" sz="2200" b="0">
                            <a:solidFill>
                              <a:srgbClr val="1E293B"/>
                            </a:solidFill>
                            <a:latin typeface="Cambria Math" panose="02040503050406030204" pitchFamily="18" charset="0"/>
                          </a:rPr>
                          <m:t>200</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=14</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300</m:t>
                    </m:r>
                  </m:oMath>
                </a14:m>
                <a:r>
                  <a:rPr sz="2200">
                    <a:solidFill>
                      <a:srgbClr val="1E293B"/>
                    </a:solidFill>
                    <a:latin typeface="Calibri"/>
                  </a:rPr>
                  <a:t>: chi phí sản xuất thêm đơn vị hàng hoá thứ 201 là khoảng 14 300 nghìn đồng.</a:t>
                </a:r>
              </a:p>
            </p:txBody>
          </p:sp>
        </mc:Choice>
        <mc:Fallback>
          <p:sp>
            <p:nvSpPr>
              <p:cNvPr id="11" name="TextBox 10"/>
              <p:cNvSpPr txBox="1"/>
              <p:nvPr/>
            </p:nvSpPr>
            <p:spPr>
              <a:xfrm>
                <a:off x="713232" y="3797808"/>
                <a:ext cx="1073505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b) </a:t>
                </a:r>
                <a:r>
                  <a:rPr lang="vi-VN"/>
                  <a:t>C'(200)=300-5\cdot 200+0{,}375\cdot 200^2=14\ 300</a:t>
                </a:r>
                <a:r>
                  <a:rPr sz="2200">
                    <a:solidFill>
                      <a:srgbClr val="1E293B"/>
                    </a:solidFill>
                    <a:latin typeface="Calibri"/>
                  </a:rPr>
                  <a:t>: chi phí sản xuất thêm đơn vị hàng hoá thứ 201 là khoảng 14 300 nghìn đồng.</a:t>
                </a:r>
              </a:p>
            </p:txBody>
          </p:sp>
        </mc:Fallback>
      </mc:AlternateContent>
      <p:sp>
        <p:nvSpPr>
          <p:cNvPr id="12" name="s3_nen"/>
          <p:cNvSpPr/>
          <p:nvPr/>
        </p:nvSpPr>
        <p:spPr>
          <a:xfrm>
            <a:off x="548640" y="4834128"/>
            <a:ext cx="11064240" cy="935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4870704"/>
                <a:ext cx="1073505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c) </a:t>
                </a:r>
                <a14:m>
                  <m:oMath xmlns:m="http://schemas.openxmlformats.org/officeDocument/2006/math">
                    <m:r>
                      <a:rPr lang="vi-VN" sz="2200" b="0">
                        <a:solidFill>
                          <a:srgbClr val="1E293B"/>
                        </a:solidFill>
                        <a:latin typeface="Cambria Math" panose="02040503050406030204" pitchFamily="18" charset="0"/>
                      </a:rPr>
                      <m:t>C(201)−C(200)=1</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004</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372</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625−990</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000=14</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372</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625</m:t>
                    </m:r>
                  </m:oMath>
                </a14:m>
                <a:r>
                  <a:rPr sz="2200">
                    <a:solidFill>
                      <a:srgbClr val="1E293B"/>
                    </a:solidFill>
                    <a:latin typeface="Calibri"/>
                  </a:rPr>
                  <a:t> (nghìn đồng) – xấp xỉ </a:t>
                </a:r>
                <a14:m>
                  <m:oMath xmlns:m="http://schemas.openxmlformats.org/officeDocument/2006/math">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(200)</m:t>
                    </m:r>
                  </m:oMath>
                </a14:m>
                <a:r>
                  <a:rPr sz="2200">
                    <a:solidFill>
                      <a:srgbClr val="1E293B"/>
                    </a:solidFill>
                    <a:latin typeface="Calibri"/>
                  </a:rPr>
                  <a:t>.</a:t>
                </a:r>
              </a:p>
            </p:txBody>
          </p:sp>
        </mc:Choice>
        <mc:Fallback>
          <p:sp>
            <p:nvSpPr>
              <p:cNvPr id="13" name="TextBox 12"/>
              <p:cNvSpPr txBox="1"/>
              <p:nvPr/>
            </p:nvSpPr>
            <p:spPr>
              <a:xfrm>
                <a:off x="713232" y="4870704"/>
                <a:ext cx="1073505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c) </a:t>
                </a:r>
                <a:r>
                  <a:rPr lang="vi-VN"/>
                  <a:t>C(201)-C(200)=1\ 004\ 372{,}625-990\ 000=14\ 372{,}625</a:t>
                </a:r>
                <a:r>
                  <a:rPr sz="2200">
                    <a:solidFill>
                      <a:srgbClr val="1E293B"/>
                    </a:solidFill>
                    <a:latin typeface="Calibri"/>
                  </a:rPr>
                  <a:t> (nghìn đồng) – xấp xỉ </a:t>
                </a:r>
                <a:r>
                  <a:rPr lang="vi-VN"/>
                  <a:t>C'(200)</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VÍ DỤ 4 – CHI PHÍ XỬ LÍ Ô NHIỄM (SGK TR.35 – 36)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10</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863840" cy="183489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Ví dụ 4.</a:t>
                </a:r>
                <a:r>
                  <a:rPr sz="2000">
                    <a:solidFill>
                      <a:srgbClr val="1E293B"/>
                    </a:solidFill>
                    <a:latin typeface="Calibri"/>
                  </a:rPr>
                  <a:t> Để loại bỏ </a:t>
                </a:r>
                <a14:m>
                  <m:oMath xmlns:m="http://schemas.openxmlformats.org/officeDocument/2006/math">
                    <m:r>
                      <a:rPr lang="vi-VN" sz="2000" b="0">
                        <a:solidFill>
                          <a:srgbClr val="1E293B"/>
                        </a:solidFill>
                        <a:latin typeface="Cambria Math" panose="02040503050406030204" pitchFamily="18" charset="0"/>
                      </a:rPr>
                      <m:t>x%</m:t>
                    </m:r>
                  </m:oMath>
                </a14:m>
                <a:r>
                  <a:rPr sz="2000">
                    <a:solidFill>
                      <a:srgbClr val="1E293B"/>
                    </a:solidFill>
                    <a:latin typeface="Calibri"/>
                  </a:rPr>
                  <a:t> chất gây ô nhiễm không khí từ khí thải của một nhà máy, chi phí là </a:t>
                </a:r>
                <a14:m>
                  <m:oMath xmlns:m="http://schemas.openxmlformats.org/officeDocument/2006/math">
                    <m:r>
                      <a:rPr lang="vi-VN" sz="2000" b="0">
                        <a:solidFill>
                          <a:srgbClr val="1E293B"/>
                        </a:solidFill>
                        <a:latin typeface="Cambria Math" panose="02040503050406030204" pitchFamily="18" charset="0"/>
                      </a:rPr>
                      <m:t>C(x)=</m:t>
                    </m:r>
                    <m:f>
                      <m:fPr>
                        <m:type m:val="bar"/>
                      </m:fPr>
                      <m:num>
                        <m:r>
                          <a:rPr lang="vi-VN" sz="2000" b="0">
                            <a:solidFill>
                              <a:srgbClr val="1E293B"/>
                            </a:solidFill>
                            <a:latin typeface="Cambria Math" panose="02040503050406030204" pitchFamily="18" charset="0"/>
                          </a:rPr>
                          <m:t>300x</m:t>
                        </m:r>
                      </m:num>
                      <m:den>
                        <m:r>
                          <a:rPr lang="vi-VN" sz="2000" b="0">
                            <a:solidFill>
                              <a:srgbClr val="1E293B"/>
                            </a:solidFill>
                            <a:latin typeface="Cambria Math" panose="02040503050406030204" pitchFamily="18" charset="0"/>
                          </a:rPr>
                          <m:t>100−x</m:t>
                        </m:r>
                      </m:den>
                    </m:f>
                  </m:oMath>
                </a14:m>
                <a:r>
                  <a:rPr sz="2000">
                    <a:solidFill>
                      <a:srgbClr val="1E293B"/>
                    </a:solidFill>
                    <a:latin typeface="Calibri"/>
                  </a:rPr>
                  <a:t> (triệu đồng), </a:t>
                </a:r>
                <a14:m>
                  <m:oMath xmlns:m="http://schemas.openxmlformats.org/officeDocument/2006/math">
                    <m:r>
                      <a:rPr lang="vi-VN" sz="2000" b="0">
                        <a:solidFill>
                          <a:srgbClr val="1E293B"/>
                        </a:solidFill>
                        <a:latin typeface="Cambria Math" panose="02040503050406030204" pitchFamily="18" charset="0"/>
                      </a:rPr>
                      <m:t>0≤x&lt;100</m:t>
                    </m:r>
                  </m:oMath>
                </a14:m>
                <a:r>
                  <a:rPr sz="2000">
                    <a:solidFill>
                      <a:srgbClr val="1E293B"/>
                    </a:solidFill>
                    <a:latin typeface="Calibri"/>
                  </a:rPr>
                  <a:t>. Khảo sát và vẽ đồ thị </a:t>
                </a:r>
                <a14:m>
                  <m:oMath xmlns:m="http://schemas.openxmlformats.org/officeDocument/2006/math">
                    <m:r>
                      <a:rPr lang="vi-VN" sz="2000" b="0">
                        <a:solidFill>
                          <a:srgbClr val="1E293B"/>
                        </a:solidFill>
                        <a:latin typeface="Cambria Math" panose="02040503050406030204" pitchFamily="18" charset="0"/>
                      </a:rPr>
                      <m:t>y=C(x)</m:t>
                    </m:r>
                  </m:oMath>
                </a14:m>
                <a:r>
                  <a:rPr sz="2000">
                    <a:solidFill>
                      <a:srgbClr val="1E293B"/>
                    </a:solidFill>
                    <a:latin typeface="Calibri"/>
                  </a:rPr>
                  <a:t>. a) Chi phí thay đổi thế nào khi </a:t>
                </a:r>
                <a14:m>
                  <m:oMath xmlns:m="http://schemas.openxmlformats.org/officeDocument/2006/math">
                    <m:r>
                      <a:rPr lang="vi-VN" sz="2000" b="0">
                        <a:solidFill>
                          <a:srgbClr val="1E293B"/>
                        </a:solidFill>
                        <a:latin typeface="Cambria Math" panose="02040503050406030204" pitchFamily="18" charset="0"/>
                      </a:rPr>
                      <m:t>x</m:t>
                    </m:r>
                  </m:oMath>
                </a14:m>
                <a:r>
                  <a:rPr sz="2000">
                    <a:solidFill>
                      <a:srgbClr val="1E293B"/>
                    </a:solidFill>
                    <a:latin typeface="Calibri"/>
                  </a:rPr>
                  <a:t> tăng? b) Có thể loại bỏ được 100% chất gây ô nhiễm không? Vì sao?</a:t>
                </a:r>
              </a:p>
            </p:txBody>
          </p:sp>
        </mc:Choice>
        <mc:Fallback>
          <p:sp>
            <p:nvSpPr>
              <p:cNvPr id="7" name="TextBox 6"/>
              <p:cNvSpPr txBox="1"/>
              <p:nvPr/>
            </p:nvSpPr>
            <p:spPr>
              <a:xfrm>
                <a:off x="548640" y="1371600"/>
                <a:ext cx="7863840" cy="183489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Ví dụ 4.</a:t>
                </a:r>
                <a:r>
                  <a:rPr sz="2000">
                    <a:solidFill>
                      <a:srgbClr val="1E293B"/>
                    </a:solidFill>
                    <a:latin typeface="Calibri"/>
                  </a:rPr>
                  <a:t> Để loại bỏ </a:t>
                </a:r>
                <a:r>
                  <a:rPr lang="vi-VN"/>
                  <a:t>x\%</a:t>
                </a:r>
                <a:r>
                  <a:rPr sz="2000">
                    <a:solidFill>
                      <a:srgbClr val="1E293B"/>
                    </a:solidFill>
                    <a:latin typeface="Calibri"/>
                  </a:rPr>
                  <a:t> chất gây ô nhiễm không khí từ khí thải của một nhà máy, chi phí là </a:t>
                </a:r>
                <a:r>
                  <a:rPr lang="vi-VN"/>
                  <a:t>C(x)=\frac{300x}{100-x}</a:t>
                </a:r>
                <a:r>
                  <a:rPr sz="2000">
                    <a:solidFill>
                      <a:srgbClr val="1E293B"/>
                    </a:solidFill>
                    <a:latin typeface="Calibri"/>
                  </a:rPr>
                  <a:t> (triệu đồng), </a:t>
                </a:r>
                <a:r>
                  <a:rPr lang="vi-VN"/>
                  <a:t>0\le x&lt;100</a:t>
                </a:r>
                <a:r>
                  <a:rPr sz="2000">
                    <a:solidFill>
                      <a:srgbClr val="1E293B"/>
                    </a:solidFill>
                    <a:latin typeface="Calibri"/>
                  </a:rPr>
                  <a:t>. Khảo sát và vẽ đồ thị </a:t>
                </a:r>
                <a:r>
                  <a:rPr lang="vi-VN"/>
                  <a:t>y=C(x)</a:t>
                </a:r>
                <a:r>
                  <a:rPr sz="2000">
                    <a:solidFill>
                      <a:srgbClr val="1E293B"/>
                    </a:solidFill>
                    <a:latin typeface="Calibri"/>
                  </a:rPr>
                  <a:t>. a) Chi phí thay đổi thế nào khi </a:t>
                </a:r>
                <a:r>
                  <a:rPr lang="vi-VN"/>
                  <a:t>x</a:t>
                </a:r>
                <a:r>
                  <a:rPr sz="2000">
                    <a:solidFill>
                      <a:srgbClr val="1E293B"/>
                    </a:solidFill>
                    <a:latin typeface="Calibri"/>
                  </a:rPr>
                  <a:t> tăng? b) Có thể loại bỏ được 100% chất gây ô nhiễm không? Vì sao?</a:t>
                </a:r>
              </a:p>
            </p:txBody>
          </p:sp>
        </mc:Fallback>
      </mc:AlternateContent>
      <p:sp>
        <p:nvSpPr>
          <p:cNvPr id="8" name="s1_nen"/>
          <p:cNvSpPr/>
          <p:nvPr/>
        </p:nvSpPr>
        <p:spPr>
          <a:xfrm>
            <a:off x="548640" y="3297936"/>
            <a:ext cx="7863840" cy="1011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334512"/>
                <a:ext cx="7534656" cy="93878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14:m>
                  <m:oMath xmlns:m="http://schemas.openxmlformats.org/officeDocument/2006/math">
                    <m:sSup>
                      <m:e>
                        <m:r>
                          <a:rPr lang="vi-VN" sz="2000" b="0">
                            <a:solidFill>
                              <a:srgbClr val="1E293B"/>
                            </a:solidFill>
                            <a:latin typeface="Cambria Math" panose="02040503050406030204" pitchFamily="18" charset="0"/>
                          </a:rPr>
                          <m:t>y</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m:t>
                    </m:r>
                    <m:f>
                      <m:fPr>
                        <m:type m:val="bar"/>
                      </m:fPr>
                      <m:num>
                        <m:r>
                          <a:rPr lang="vi-VN" sz="2000" b="0">
                            <a:solidFill>
                              <a:srgbClr val="1E293B"/>
                            </a:solidFill>
                            <a:latin typeface="Cambria Math" panose="02040503050406030204" pitchFamily="18" charset="0"/>
                          </a:rPr>
                          <m:t>30</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000</m:t>
                        </m:r>
                      </m:num>
                      <m:den>
                        <m:sSup>
                          <m:e>
                            <m:d>
                              <m:dPr>
                                <m:sepChr m:val=""/>
                              </m:dPr>
                              <m:e>
                                <m:r>
                                  <a:rPr lang="vi-VN" sz="2000" b="0">
                                    <a:solidFill>
                                      <a:srgbClr val="1E293B"/>
                                    </a:solidFill>
                                    <a:latin typeface="Cambria Math" panose="02040503050406030204" pitchFamily="18" charset="0"/>
                                  </a:rPr>
                                  <m:t>100</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x</m:t>
                                </m:r>
                              </m:e>
                            </m:d>
                          </m:e>
                          <m:sup>
                            <m:r>
                              <a:rPr lang="vi-VN" sz="2000" b="0">
                                <a:solidFill>
                                  <a:srgbClr val="1E293B"/>
                                </a:solidFill>
                                <a:latin typeface="Cambria Math" panose="02040503050406030204" pitchFamily="18" charset="0"/>
                              </a:rPr>
                              <m:t>2</m:t>
                            </m:r>
                          </m:sup>
                        </m:sSup>
                      </m:den>
                    </m:f>
                    <m:r>
                      <a:rPr lang="vi-VN" sz="2000" b="0">
                        <a:solidFill>
                          <a:srgbClr val="1E293B"/>
                        </a:solidFill>
                        <a:latin typeface="Cambria Math" panose="02040503050406030204" pitchFamily="18" charset="0"/>
                      </a:rPr>
                      <m:t>&gt;0</m:t>
                    </m:r>
                  </m:oMath>
                </a14:m>
                <a:r>
                  <a:rPr sz="2000">
                    <a:solidFill>
                      <a:srgbClr val="1E293B"/>
                    </a:solidFill>
                    <a:latin typeface="Calibri"/>
                  </a:rPr>
                  <a:t> với mọi </a:t>
                </a:r>
                <a14:m>
                  <m:oMath xmlns:m="http://schemas.openxmlformats.org/officeDocument/2006/math">
                    <m:d>
                      <m:dPr>
                        <m:begChr m:val=""/>
                        <m:sepChr m:val=""/>
                      </m:dPr>
                      <m:e>
                        <m:r>
                          <a:rPr lang="vi-VN" sz="2000" b="0">
                            <a:solidFill>
                              <a:srgbClr val="1E293B"/>
                            </a:solidFill>
                            <a:latin typeface="Cambria Math" panose="02040503050406030204" pitchFamily="18" charset="0"/>
                          </a:rPr>
                          <m:t>x</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0</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100</m:t>
                        </m:r>
                      </m:e>
                    </m:d>
                  </m:oMath>
                </a14:m>
                <a:r>
                  <a:rPr sz="2000">
                    <a:solidFill>
                      <a:srgbClr val="1E293B"/>
                    </a:solidFill>
                    <a:latin typeface="Calibri"/>
                  </a:rPr>
                  <a:t>: đồng biến; </a:t>
                </a:r>
                <a14:m>
                  <m:oMath xmlns:m="http://schemas.openxmlformats.org/officeDocument/2006/math">
                    <m:limLow>
                      <m:e>
                        <m:r>
                          <a:rPr lang="vi-VN" sz="2000" b="0">
                            <a:solidFill>
                              <a:srgbClr val="1E293B"/>
                            </a:solidFill>
                            <a:latin typeface="Cambria Math" panose="02040503050406030204" pitchFamily="18" charset="0"/>
                          </a:rPr>
                          <m:t>lim</m:t>
                        </m:r>
                      </m:e>
                      <m:lim>
                        <m:r>
                          <a:rPr lang="vi-VN" sz="2000" b="0">
                            <a:solidFill>
                              <a:srgbClr val="1E293B"/>
                            </a:solidFill>
                            <a:latin typeface="Cambria Math" panose="02040503050406030204" pitchFamily="18" charset="0"/>
                          </a:rPr>
                          <m:t>x→</m:t>
                        </m:r>
                        <m:sSup>
                          <m:e>
                            <m:r>
                              <a:rPr lang="vi-VN" sz="2000" b="0">
                                <a:solidFill>
                                  <a:srgbClr val="1E293B"/>
                                </a:solidFill>
                                <a:latin typeface="Cambria Math" panose="02040503050406030204" pitchFamily="18" charset="0"/>
                              </a:rPr>
                              <m:t>100</m:t>
                            </m:r>
                          </m:e>
                          <m:sup>
                            <m:r>
                              <a:rPr lang="vi-VN" sz="2000" b="0">
                                <a:solidFill>
                                  <a:srgbClr val="1E293B"/>
                                </a:solidFill>
                                <a:latin typeface="Cambria Math" panose="02040503050406030204" pitchFamily="18" charset="0"/>
                              </a:rPr>
                              <m:t>−</m:t>
                            </m:r>
                          </m:sup>
                        </m:sSup>
                      </m:lim>
                    </m:limLow>
                    <m:r>
                      <a:rPr lang="vi-VN" sz="2000" b="0">
                        <a:solidFill>
                          <a:srgbClr val="1E293B"/>
                        </a:solidFill>
                        <a:latin typeface="Cambria Math" panose="02040503050406030204" pitchFamily="18" charset="0"/>
                      </a:rPr>
                      <m:t>C(x)=+∞</m:t>
                    </m:r>
                  </m:oMath>
                </a14:m>
                <a:r>
                  <a:rPr sz="2000">
                    <a:solidFill>
                      <a:srgbClr val="1E293B"/>
                    </a:solidFill>
                    <a:latin typeface="Calibri"/>
                  </a:rPr>
                  <a:t>: tiệm cận đứng </a:t>
                </a:r>
                <a14:m>
                  <m:oMath xmlns:m="http://schemas.openxmlformats.org/officeDocument/2006/math">
                    <m:r>
                      <a:rPr lang="vi-VN" sz="2000" b="0">
                        <a:solidFill>
                          <a:srgbClr val="1E293B"/>
                        </a:solidFill>
                        <a:latin typeface="Cambria Math" panose="02040503050406030204" pitchFamily="18" charset="0"/>
                      </a:rPr>
                      <m:t>x=100</m:t>
                    </m:r>
                  </m:oMath>
                </a14:m>
                <a:r>
                  <a:rPr sz="2000">
                    <a:solidFill>
                      <a:srgbClr val="1E293B"/>
                    </a:solidFill>
                    <a:latin typeface="Calibri"/>
                  </a:rPr>
                  <a:t>.</a:t>
                </a:r>
              </a:p>
            </p:txBody>
          </p:sp>
        </mc:Choice>
        <mc:Fallback>
          <p:sp>
            <p:nvSpPr>
              <p:cNvPr id="9" name="TextBox 8"/>
              <p:cNvSpPr txBox="1"/>
              <p:nvPr/>
            </p:nvSpPr>
            <p:spPr>
              <a:xfrm>
                <a:off x="713232" y="3334512"/>
                <a:ext cx="7534656" cy="93878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r>
                  <a:rPr lang="vi-VN"/>
                  <a:t>y'=\frac{30\ 000}{(100-x)^2}&gt;0</a:t>
                </a:r>
                <a:r>
                  <a:rPr sz="2000">
                    <a:solidFill>
                      <a:srgbClr val="1E293B"/>
                    </a:solidFill>
                    <a:latin typeface="Calibri"/>
                  </a:rPr>
                  <a:t> với mọi </a:t>
                </a:r>
                <a:r>
                  <a:rPr lang="vi-VN"/>
                  <a:t>x\in[0;\ 100)</a:t>
                </a:r>
                <a:r>
                  <a:rPr sz="2000">
                    <a:solidFill>
                      <a:srgbClr val="1E293B"/>
                    </a:solidFill>
                    <a:latin typeface="Calibri"/>
                  </a:rPr>
                  <a:t>: đồng biến; </a:t>
                </a:r>
                <a:r>
                  <a:rPr lang="vi-VN"/>
                  <a:t>\lim\limits_{x\to 100^-}C(x)=+\infty</a:t>
                </a:r>
                <a:r>
                  <a:rPr sz="2000">
                    <a:solidFill>
                      <a:srgbClr val="1E293B"/>
                    </a:solidFill>
                    <a:latin typeface="Calibri"/>
                  </a:rPr>
                  <a:t>: tiệm cận đứng </a:t>
                </a:r>
                <a:r>
                  <a:rPr lang="vi-VN"/>
                  <a:t>x=100</a:t>
                </a:r>
                <a:r>
                  <a:rPr sz="2000">
                    <a:solidFill>
                      <a:srgbClr val="1E293B"/>
                    </a:solidFill>
                    <a:latin typeface="Calibri"/>
                  </a:rPr>
                  <a:t>.</a:t>
                </a:r>
              </a:p>
            </p:txBody>
          </p:sp>
        </mc:Fallback>
      </mc:AlternateContent>
      <p:sp>
        <p:nvSpPr>
          <p:cNvPr id="10" name="s2_nen"/>
          <p:cNvSpPr/>
          <p:nvPr/>
        </p:nvSpPr>
        <p:spPr>
          <a:xfrm>
            <a:off x="548640" y="4401311"/>
            <a:ext cx="786384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437887"/>
                <a:ext cx="75346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Chi phí </a:t>
                </a:r>
                <a14:m>
                  <m:oMath xmlns:m="http://schemas.openxmlformats.org/officeDocument/2006/math">
                    <m:r>
                      <a:rPr lang="vi-VN" sz="2000" b="0">
                        <a:solidFill>
                          <a:srgbClr val="1E293B"/>
                        </a:solidFill>
                        <a:latin typeface="Cambria Math" panose="02040503050406030204" pitchFamily="18" charset="0"/>
                      </a:rPr>
                      <m:t>C(x)</m:t>
                    </m:r>
                  </m:oMath>
                </a14:m>
                <a:r>
                  <a:rPr sz="2000">
                    <a:solidFill>
                      <a:srgbClr val="1E293B"/>
                    </a:solidFill>
                    <a:latin typeface="Calibri"/>
                  </a:rPr>
                  <a:t> luôn tăng khi </a:t>
                </a:r>
                <a14:m>
                  <m:oMath xmlns:m="http://schemas.openxmlformats.org/officeDocument/2006/math">
                    <m:r>
                      <a:rPr lang="vi-VN" sz="2000" b="0">
                        <a:solidFill>
                          <a:srgbClr val="1E293B"/>
                        </a:solidFill>
                        <a:latin typeface="Cambria Math" panose="02040503050406030204" pitchFamily="18" charset="0"/>
                      </a:rPr>
                      <m:t>x</m:t>
                    </m:r>
                  </m:oMath>
                </a14:m>
                <a:r>
                  <a:rPr sz="2000">
                    <a:solidFill>
                      <a:srgbClr val="1E293B"/>
                    </a:solidFill>
                    <a:latin typeface="Calibri"/>
                  </a:rPr>
                  <a:t> tăng.</a:t>
                </a:r>
              </a:p>
            </p:txBody>
          </p:sp>
        </mc:Choice>
        <mc:Fallback>
          <p:sp>
            <p:nvSpPr>
              <p:cNvPr id="11" name="TextBox 10"/>
              <p:cNvSpPr txBox="1"/>
              <p:nvPr/>
            </p:nvSpPr>
            <p:spPr>
              <a:xfrm>
                <a:off x="713232" y="4437887"/>
                <a:ext cx="75346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Chi phí </a:t>
                </a:r>
                <a:r>
                  <a:rPr lang="vi-VN"/>
                  <a:t>C(x)</a:t>
                </a:r>
                <a:r>
                  <a:rPr sz="2000">
                    <a:solidFill>
                      <a:srgbClr val="1E293B"/>
                    </a:solidFill>
                    <a:latin typeface="Calibri"/>
                  </a:rPr>
                  <a:t> luôn tăng khi </a:t>
                </a:r>
                <a:r>
                  <a:rPr lang="vi-VN"/>
                  <a:t>x</a:t>
                </a:r>
                <a:r>
                  <a:rPr sz="2000">
                    <a:solidFill>
                      <a:srgbClr val="1E293B"/>
                    </a:solidFill>
                    <a:latin typeface="Calibri"/>
                  </a:rPr>
                  <a:t> tăng.</a:t>
                </a:r>
              </a:p>
            </p:txBody>
          </p:sp>
        </mc:Fallback>
      </mc:AlternateContent>
      <p:sp>
        <p:nvSpPr>
          <p:cNvPr id="12" name="s3_nen"/>
          <p:cNvSpPr/>
          <p:nvPr/>
        </p:nvSpPr>
        <p:spPr>
          <a:xfrm>
            <a:off x="548640" y="5062727"/>
            <a:ext cx="786384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5099303"/>
                <a:ext cx="753465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Không thể loại bỏ 100% chất gây ô nhiễm (hàm số không xác định tại </a:t>
                </a:r>
                <a14:m>
                  <m:oMath xmlns:m="http://schemas.openxmlformats.org/officeDocument/2006/math">
                    <m:r>
                      <a:rPr lang="vi-VN" sz="2000" b="0">
                        <a:solidFill>
                          <a:srgbClr val="1E293B"/>
                        </a:solidFill>
                        <a:latin typeface="Cambria Math" panose="02040503050406030204" pitchFamily="18" charset="0"/>
                      </a:rPr>
                      <m:t>x=100</m:t>
                    </m:r>
                  </m:oMath>
                </a14:m>
                <a:r>
                  <a:rPr sz="2000">
                    <a:solidFill>
                      <a:srgbClr val="1E293B"/>
                    </a:solidFill>
                    <a:latin typeface="Calibri"/>
                  </a:rPr>
                  <a:t>, chi phí tăng vô hạn khi </a:t>
                </a:r>
                <a14:m>
                  <m:oMath xmlns:m="http://schemas.openxmlformats.org/officeDocument/2006/math">
                    <m:r>
                      <a:rPr lang="vi-VN" sz="2000" b="0">
                        <a:solidFill>
                          <a:srgbClr val="1E293B"/>
                        </a:solidFill>
                        <a:latin typeface="Cambria Math" panose="02040503050406030204" pitchFamily="18" charset="0"/>
                      </a:rPr>
                      <m:t>x→</m:t>
                    </m:r>
                    <m:sSup>
                      <m:e>
                        <m:r>
                          <a:rPr lang="vi-VN" sz="2000" b="0">
                            <a:solidFill>
                              <a:srgbClr val="1E293B"/>
                            </a:solidFill>
                            <a:latin typeface="Cambria Math" panose="02040503050406030204" pitchFamily="18" charset="0"/>
                          </a:rPr>
                          <m:t>100</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a:t>
                </a:r>
              </a:p>
            </p:txBody>
          </p:sp>
        </mc:Choice>
        <mc:Fallback>
          <p:sp>
            <p:nvSpPr>
              <p:cNvPr id="13" name="TextBox 12"/>
              <p:cNvSpPr txBox="1"/>
              <p:nvPr/>
            </p:nvSpPr>
            <p:spPr>
              <a:xfrm>
                <a:off x="713232" y="5099303"/>
                <a:ext cx="753465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Không thể loại bỏ 100% chất gây ô nhiễm (hàm số không xác định tại </a:t>
                </a:r>
                <a:r>
                  <a:rPr lang="vi-VN"/>
                  <a:t>x=100</a:t>
                </a:r>
                <a:r>
                  <a:rPr sz="2000">
                    <a:solidFill>
                      <a:srgbClr val="1E293B"/>
                    </a:solidFill>
                    <a:latin typeface="Calibri"/>
                  </a:rPr>
                  <a:t>, chi phí tăng vô hạn khi </a:t>
                </a:r>
                <a:r>
                  <a:rPr lang="vi-VN"/>
                  <a:t>x\to 100^-</a:t>
                </a:r>
                <a:r>
                  <a:rPr sz="2000">
                    <a:solidFill>
                      <a:srgbClr val="1E293B"/>
                    </a:solidFill>
                    <a:latin typeface="Calibri"/>
                  </a:rPr>
                  <a:t>).</a:t>
                </a:r>
              </a:p>
            </p:txBody>
          </p:sp>
        </mc:Fallback>
      </mc:AlternateContent>
      <p:pic>
        <p:nvPicPr>
          <p:cNvPr id="14" name="Picture 13" descr="b5_h134.png"/>
          <p:cNvPicPr>
            <a:picLocks noChangeAspect="1"/>
          </p:cNvPicPr>
          <p:nvPr/>
        </p:nvPicPr>
        <p:blipFill>
          <a:blip r:embed="rId3"/>
          <a:stretch>
            <a:fillRect/>
          </a:stretch>
        </p:blipFill>
        <p:spPr>
          <a:xfrm>
            <a:off x="8686800" y="1676086"/>
            <a:ext cx="2926080" cy="2865748"/>
          </a:xfrm>
          <a:prstGeom prst="rect">
            <a:avLst/>
          </a:prstGeom>
        </p:spPr>
      </p:pic>
      <p:sp>
        <p:nvSpPr>
          <p:cNvPr id="15" name="TextBox 14"/>
          <p:cNvSpPr txBox="1"/>
          <p:nvPr/>
        </p:nvSpPr>
        <p:spPr>
          <a:xfrm>
            <a:off x="8686800" y="4773168"/>
            <a:ext cx="292608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1.34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LUYỆN TẬP 1 – HUYẾT ÁP (SGK TR.36)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11</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11064240" cy="1383030"/>
              </a:xfrm>
              <a:prstGeom prst="rect">
                <a:avLst/>
              </a:prstGeom>
              <a:noFill/>
            </p:spPr>
            <p:txBody>
              <a:bodyPr wrap="square" anchor="t" lIns="45720" rIns="45720">
                <a:spAutoFit/>
              </a:bodyPr>
              <a:lstStyle/>
              <a:p>
                <a:pPr algn="l">
                  <a:spcAft>
                    <a:spcPts val="800"/>
                  </a:spcAft>
                </a:pPr>
                <a:r>
                  <a:rPr sz="2300" b="1">
                    <a:solidFill>
                      <a:srgbClr val="1E293B"/>
                    </a:solidFill>
                    <a:latin typeface="Calibri"/>
                  </a:rPr>
                  <a:t>Luyện tập 1.</a:t>
                </a:r>
                <a:r>
                  <a:rPr sz="2300">
                    <a:solidFill>
                      <a:srgbClr val="1E293B"/>
                    </a:solidFill>
                    <a:latin typeface="Calibri"/>
                  </a:rPr>
                  <a:t> Huyết áp tâm thu </a:t>
                </a:r>
                <a14:m>
                  <m:oMath xmlns:m="http://schemas.openxmlformats.org/officeDocument/2006/math">
                    <m:r>
                      <a:rPr lang="vi-VN" sz="2300" b="0">
                        <a:solidFill>
                          <a:srgbClr val="1E293B"/>
                        </a:solidFill>
                        <a:latin typeface="Cambria Math" panose="02040503050406030204" pitchFamily="18" charset="0"/>
                      </a:rPr>
                      <m:t>P</m:t>
                    </m:r>
                  </m:oMath>
                </a14:m>
                <a:r>
                  <a:rPr sz="2300">
                    <a:solidFill>
                      <a:srgbClr val="1E293B"/>
                    </a:solidFill>
                    <a:latin typeface="Calibri"/>
                  </a:rPr>
                  <a:t> (mmHg) của một người được cho bởi </a:t>
                </a:r>
                <a14:m>
                  <m:oMath xmlns:m="http://schemas.openxmlformats.org/officeDocument/2006/math">
                    <m:r>
                      <a:rPr lang="vi-VN" sz="2300" b="0">
                        <a:solidFill>
                          <a:srgbClr val="1E293B"/>
                        </a:solidFill>
                        <a:latin typeface="Cambria Math" panose="02040503050406030204" pitchFamily="18" charset="0"/>
                      </a:rPr>
                      <m:t>P(t)=</m:t>
                    </m:r>
                    <m:f>
                      <m:fPr>
                        <m:type m:val="bar"/>
                      </m:fPr>
                      <m:num>
                        <m:r>
                          <a:rPr lang="vi-VN" sz="2300" b="0">
                            <a:solidFill>
                              <a:srgbClr val="1E293B"/>
                            </a:solidFill>
                            <a:latin typeface="Cambria Math" panose="02040503050406030204" pitchFamily="18" charset="0"/>
                          </a:rPr>
                          <m:t>25</m:t>
                        </m:r>
                        <m:sSup>
                          <m:e>
                            <m:r>
                              <a:rPr lang="vi-VN" sz="2300" b="0">
                                <a:solidFill>
                                  <a:srgbClr val="1E293B"/>
                                </a:solidFill>
                                <a:latin typeface="Cambria Math" panose="02040503050406030204" pitchFamily="18" charset="0"/>
                              </a:rPr>
                              <m:t>t</m:t>
                            </m:r>
                          </m:e>
                          <m:sup>
                            <m:r>
                              <a:rPr lang="vi-VN" sz="2300" b="0">
                                <a:solidFill>
                                  <a:srgbClr val="1E293B"/>
                                </a:solidFill>
                                <a:latin typeface="Cambria Math" panose="02040503050406030204" pitchFamily="18" charset="0"/>
                              </a:rPr>
                              <m:t>2</m:t>
                            </m:r>
                          </m:sup>
                        </m:sSup>
                        <m:r>
                          <a:rPr lang="vi-VN" sz="2300" b="0">
                            <a:solidFill>
                              <a:srgbClr val="1E293B"/>
                            </a:solidFill>
                            <a:latin typeface="Cambria Math" panose="02040503050406030204" pitchFamily="18" charset="0"/>
                          </a:rPr>
                          <m:t>+125</m:t>
                        </m:r>
                      </m:num>
                      <m:den>
                        <m:sSup>
                          <m:e>
                            <m:r>
                              <a:rPr lang="vi-VN" sz="2300" b="0">
                                <a:solidFill>
                                  <a:srgbClr val="1E293B"/>
                                </a:solidFill>
                                <a:latin typeface="Cambria Math" panose="02040503050406030204" pitchFamily="18" charset="0"/>
                              </a:rPr>
                              <m:t>t</m:t>
                            </m:r>
                          </m:e>
                          <m:sup>
                            <m:r>
                              <a:rPr lang="vi-VN" sz="2300" b="0">
                                <a:solidFill>
                                  <a:srgbClr val="1E293B"/>
                                </a:solidFill>
                                <a:latin typeface="Cambria Math" panose="02040503050406030204" pitchFamily="18" charset="0"/>
                              </a:rPr>
                              <m:t>2</m:t>
                            </m:r>
                          </m:sup>
                        </m:sSup>
                        <m:r>
                          <a:rPr lang="vi-VN" sz="2300" b="0">
                            <a:solidFill>
                              <a:srgbClr val="1E293B"/>
                            </a:solidFill>
                            <a:latin typeface="Cambria Math" panose="02040503050406030204" pitchFamily="18" charset="0"/>
                          </a:rPr>
                          <m:t>+1</m:t>
                        </m:r>
                      </m:den>
                    </m:f>
                  </m:oMath>
                </a14:m>
                <a:r>
                  <a:rPr sz="2300">
                    <a:solidFill>
                      <a:srgbClr val="1E293B"/>
                    </a:solidFill>
                    <a:latin typeface="Calibri"/>
                  </a:rPr>
                  <a:t>, </a:t>
                </a:r>
                <a14:m>
                  <m:oMath xmlns:m="http://schemas.openxmlformats.org/officeDocument/2006/math">
                    <m:r>
                      <a:rPr lang="vi-VN" sz="2300" b="0">
                        <a:solidFill>
                          <a:srgbClr val="1E293B"/>
                        </a:solidFill>
                        <a:latin typeface="Cambria Math" panose="02040503050406030204" pitchFamily="18" charset="0"/>
                      </a:rPr>
                      <m:t>0≤t≤10</m:t>
                    </m:r>
                  </m:oMath>
                </a14:m>
                <a:r>
                  <a:rPr sz="2300">
                    <a:solidFill>
                      <a:srgbClr val="1E293B"/>
                    </a:solidFill>
                    <a:latin typeface="Calibri"/>
                  </a:rPr>
                  <a:t> (</a:t>
                </a:r>
                <a14:m>
                  <m:oMath xmlns:m="http://schemas.openxmlformats.org/officeDocument/2006/math">
                    <m:r>
                      <a:rPr lang="vi-VN" sz="2300" b="0">
                        <a:solidFill>
                          <a:srgbClr val="1E293B"/>
                        </a:solidFill>
                        <a:latin typeface="Cambria Math" panose="02040503050406030204" pitchFamily="18" charset="0"/>
                      </a:rPr>
                      <m:t>t</m:t>
                    </m:r>
                  </m:oMath>
                </a14:m>
                <a:r>
                  <a:rPr sz="2300">
                    <a:solidFill>
                      <a:srgbClr val="1E293B"/>
                    </a:solidFill>
                    <a:latin typeface="Calibri"/>
                  </a:rPr>
                  <a:t>: giây). Tính tốc độ thay đổi của huyết áp sau 5 giây kể từ khi máu rời tim.</a:t>
                </a:r>
              </a:p>
            </p:txBody>
          </p:sp>
        </mc:Choice>
        <mc:Fallback>
          <p:sp>
            <p:nvSpPr>
              <p:cNvPr id="7" name="TextBox 6"/>
              <p:cNvSpPr txBox="1"/>
              <p:nvPr/>
            </p:nvSpPr>
            <p:spPr>
              <a:xfrm>
                <a:off x="548640" y="1463040"/>
                <a:ext cx="11064240" cy="1383030"/>
              </a:xfrm>
              <a:prstGeom prst="rect">
                <a:avLst/>
              </a:prstGeom>
              <a:noFill/>
            </p:spPr>
            <p:txBody>
              <a:bodyPr wrap="square" anchor="t" lIns="45720" rIns="45720">
                <a:spAutoFit/>
              </a:bodyPr>
              <a:lstStyle/>
              <a:p>
                <a:pPr algn="l">
                  <a:spcAft>
                    <a:spcPts val="800"/>
                  </a:spcAft>
                </a:pPr>
                <a:r>
                  <a:rPr sz="2300" b="1">
                    <a:solidFill>
                      <a:srgbClr val="1E293B"/>
                    </a:solidFill>
                    <a:latin typeface="Calibri"/>
                  </a:rPr>
                  <a:t>Luyện tập 1.</a:t>
                </a:r>
                <a:r>
                  <a:rPr sz="2300">
                    <a:solidFill>
                      <a:srgbClr val="1E293B"/>
                    </a:solidFill>
                    <a:latin typeface="Calibri"/>
                  </a:rPr>
                  <a:t> Huyết áp tâm thu </a:t>
                </a:r>
                <a:r>
                  <a:rPr lang="vi-VN"/>
                  <a:t>P</a:t>
                </a:r>
                <a:r>
                  <a:rPr sz="2300">
                    <a:solidFill>
                      <a:srgbClr val="1E293B"/>
                    </a:solidFill>
                    <a:latin typeface="Calibri"/>
                  </a:rPr>
                  <a:t> (mmHg) của một người được cho bởi </a:t>
                </a:r>
                <a:r>
                  <a:rPr lang="vi-VN"/>
                  <a:t>P(t)=\frac{25t^2+125}{t^2+1}</a:t>
                </a:r>
                <a:r>
                  <a:rPr sz="2300">
                    <a:solidFill>
                      <a:srgbClr val="1E293B"/>
                    </a:solidFill>
                    <a:latin typeface="Calibri"/>
                  </a:rPr>
                  <a:t>, </a:t>
                </a:r>
                <a:r>
                  <a:rPr lang="vi-VN"/>
                  <a:t>0\le t\le 10</a:t>
                </a:r>
                <a:r>
                  <a:rPr sz="2300">
                    <a:solidFill>
                      <a:srgbClr val="1E293B"/>
                    </a:solidFill>
                    <a:latin typeface="Calibri"/>
                  </a:rPr>
                  <a:t> (</a:t>
                </a:r>
                <a:r>
                  <a:rPr lang="vi-VN"/>
                  <a:t>t</a:t>
                </a:r>
                <a:r>
                  <a:rPr sz="2300">
                    <a:solidFill>
                      <a:srgbClr val="1E293B"/>
                    </a:solidFill>
                    <a:latin typeface="Calibri"/>
                  </a:rPr>
                  <a:t>: giây). Tính tốc độ thay đổi của huyết áp sau 5 giây kể từ khi máu rời tim.</a:t>
                </a:r>
              </a:p>
            </p:txBody>
          </p:sp>
        </mc:Fallback>
      </mc:AlternateContent>
      <p:sp>
        <p:nvSpPr>
          <p:cNvPr id="8" name="s1_nen"/>
          <p:cNvSpPr/>
          <p:nvPr/>
        </p:nvSpPr>
        <p:spPr>
          <a:xfrm>
            <a:off x="548640" y="3028950"/>
            <a:ext cx="11064240" cy="931163"/>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065526"/>
                <a:ext cx="10735056" cy="858011"/>
              </a:xfrm>
              <a:prstGeom prst="rect">
                <a:avLst/>
              </a:prstGeom>
              <a:noFill/>
            </p:spPr>
            <p:txBody>
              <a:bodyPr wrap="square" anchor="ctr" lIns="45720" rIns="45720">
                <a:spAutoFit/>
              </a:bodyPr>
              <a:lstStyle/>
              <a:p>
                <a:pPr algn="l">
                  <a:spcAft>
                    <a:spcPts val="800"/>
                  </a:spcAft>
                </a:pPr>
                <a:r>
                  <a:rPr sz="2300">
                    <a:solidFill>
                      <a:srgbClr val="1E293B"/>
                    </a:solidFill>
                    <a:latin typeface="Calibri"/>
                  </a:rPr>
                  <a:t> </a:t>
                </a:r>
                <a14:m>
                  <m:oMath xmlns:m="http://schemas.openxmlformats.org/officeDocument/2006/math">
                    <m:sSup>
                      <m:e>
                        <m:r>
                          <a:rPr lang="vi-VN" sz="2300" b="0">
                            <a:solidFill>
                              <a:srgbClr val="1E293B"/>
                            </a:solidFill>
                            <a:latin typeface="Cambria Math" panose="02040503050406030204" pitchFamily="18" charset="0"/>
                          </a:rPr>
                          <m:t>P</m:t>
                        </m:r>
                      </m:e>
                      <m:sup>
                        <m:r>
                          <a:rPr lang="vi-VN" sz="2300" b="0">
                            <a:solidFill>
                              <a:srgbClr val="1E293B"/>
                            </a:solidFill>
                            <a:latin typeface="Cambria Math" panose="02040503050406030204" pitchFamily="18" charset="0"/>
                          </a:rPr>
                          <m:t>′</m:t>
                        </m:r>
                      </m:sup>
                    </m:sSup>
                    <m:r>
                      <a:rPr lang="vi-VN" sz="2300" b="0">
                        <a:solidFill>
                          <a:srgbClr val="1E293B"/>
                        </a:solidFill>
                        <a:latin typeface="Cambria Math" panose="02040503050406030204" pitchFamily="18" charset="0"/>
                      </a:rPr>
                      <m:t>(t)=</m:t>
                    </m:r>
                    <m:f>
                      <m:fPr>
                        <m:type m:val="bar"/>
                      </m:fPr>
                      <m:num>
                        <m:r>
                          <a:rPr lang="vi-VN" sz="2300" b="0">
                            <a:solidFill>
                              <a:srgbClr val="1E293B"/>
                            </a:solidFill>
                            <a:latin typeface="Cambria Math" panose="02040503050406030204" pitchFamily="18" charset="0"/>
                          </a:rPr>
                          <m:t>50t(</m:t>
                        </m:r>
                        <m:sSup>
                          <m:e>
                            <m:r>
                              <a:rPr lang="vi-VN" sz="2300" b="0">
                                <a:solidFill>
                                  <a:srgbClr val="1E293B"/>
                                </a:solidFill>
                                <a:latin typeface="Cambria Math" panose="02040503050406030204" pitchFamily="18" charset="0"/>
                              </a:rPr>
                              <m:t>t</m:t>
                            </m:r>
                          </m:e>
                          <m:sup>
                            <m:r>
                              <a:rPr lang="vi-VN" sz="2300" b="0">
                                <a:solidFill>
                                  <a:srgbClr val="1E293B"/>
                                </a:solidFill>
                                <a:latin typeface="Cambria Math" panose="02040503050406030204" pitchFamily="18" charset="0"/>
                              </a:rPr>
                              <m:t>2</m:t>
                            </m:r>
                          </m:sup>
                        </m:sSup>
                        <m:r>
                          <a:rPr lang="vi-VN" sz="2300" b="0">
                            <a:solidFill>
                              <a:srgbClr val="1E293B"/>
                            </a:solidFill>
                            <a:latin typeface="Cambria Math" panose="02040503050406030204" pitchFamily="18" charset="0"/>
                          </a:rPr>
                          <m:t>+1)−2t(25</m:t>
                        </m:r>
                        <m:sSup>
                          <m:e>
                            <m:r>
                              <a:rPr lang="vi-VN" sz="2300" b="0">
                                <a:solidFill>
                                  <a:srgbClr val="1E293B"/>
                                </a:solidFill>
                                <a:latin typeface="Cambria Math" panose="02040503050406030204" pitchFamily="18" charset="0"/>
                              </a:rPr>
                              <m:t>t</m:t>
                            </m:r>
                          </m:e>
                          <m:sup>
                            <m:r>
                              <a:rPr lang="vi-VN" sz="2300" b="0">
                                <a:solidFill>
                                  <a:srgbClr val="1E293B"/>
                                </a:solidFill>
                                <a:latin typeface="Cambria Math" panose="02040503050406030204" pitchFamily="18" charset="0"/>
                              </a:rPr>
                              <m:t>2</m:t>
                            </m:r>
                          </m:sup>
                        </m:sSup>
                        <m:r>
                          <a:rPr lang="vi-VN" sz="2300" b="0">
                            <a:solidFill>
                              <a:srgbClr val="1E293B"/>
                            </a:solidFill>
                            <a:latin typeface="Cambria Math" panose="02040503050406030204" pitchFamily="18" charset="0"/>
                          </a:rPr>
                          <m:t>+125)</m:t>
                        </m:r>
                      </m:num>
                      <m:den>
                        <m:sSup>
                          <m:e>
                            <m:d>
                              <m:dPr>
                                <m:sepChr m:val=""/>
                              </m:dPr>
                              <m:e>
                                <m:sSup>
                                  <m:e>
                                    <m:r>
                                      <a:rPr lang="vi-VN" sz="2300" b="0">
                                        <a:solidFill>
                                          <a:srgbClr val="1E293B"/>
                                        </a:solidFill>
                                        <a:latin typeface="Cambria Math" panose="02040503050406030204" pitchFamily="18" charset="0"/>
                                      </a:rPr>
                                      <m:t>t</m:t>
                                    </m:r>
                                  </m:e>
                                  <m:sup>
                                    <m:r>
                                      <a:rPr lang="vi-VN" sz="2300" b="0">
                                        <a:solidFill>
                                          <a:srgbClr val="1E293B"/>
                                        </a:solidFill>
                                        <a:latin typeface="Cambria Math" panose="02040503050406030204" pitchFamily="18" charset="0"/>
                                      </a:rPr>
                                      <m:t>2</m:t>
                                    </m:r>
                                  </m:sup>
                                </m:sSup>
                                <m:r>
                                  <a:rPr lang="vi-VN" sz="2300" b="0">
                                    <a:solidFill>
                                      <a:srgbClr val="1E293B"/>
                                    </a:solidFill>
                                    <a:latin typeface="Cambria Math" panose="02040503050406030204" pitchFamily="18" charset="0"/>
                                  </a:rPr>
                                  <m:t>+</m:t>
                                </m:r>
                                <m:r>
                                  <a:rPr lang="vi-VN" sz="2300" b="0">
                                    <a:solidFill>
                                      <a:srgbClr val="1E293B"/>
                                    </a:solidFill>
                                    <a:latin typeface="Cambria Math" panose="02040503050406030204" pitchFamily="18" charset="0"/>
                                  </a:rPr>
                                  <m:t>1</m:t>
                                </m:r>
                              </m:e>
                            </m:d>
                          </m:e>
                          <m:sup>
                            <m:r>
                              <a:rPr lang="vi-VN" sz="2300" b="0">
                                <a:solidFill>
                                  <a:srgbClr val="1E293B"/>
                                </a:solidFill>
                                <a:latin typeface="Cambria Math" panose="02040503050406030204" pitchFamily="18" charset="0"/>
                              </a:rPr>
                              <m:t>2</m:t>
                            </m:r>
                          </m:sup>
                        </m:sSup>
                      </m:den>
                    </m:f>
                    <m:r>
                      <a:rPr lang="vi-VN" sz="2300" b="0">
                        <a:solidFill>
                          <a:srgbClr val="1E293B"/>
                        </a:solidFill>
                        <a:latin typeface="Cambria Math" panose="02040503050406030204" pitchFamily="18" charset="0"/>
                      </a:rPr>
                      <m:t>=</m:t>
                    </m:r>
                    <m:f>
                      <m:fPr>
                        <m:type m:val="bar"/>
                      </m:fPr>
                      <m:num>
                        <m:r>
                          <a:rPr lang="vi-VN" sz="2300" b="0">
                            <a:solidFill>
                              <a:srgbClr val="1E293B"/>
                            </a:solidFill>
                            <a:latin typeface="Cambria Math" panose="02040503050406030204" pitchFamily="18" charset="0"/>
                          </a:rPr>
                          <m:t>−200t</m:t>
                        </m:r>
                      </m:num>
                      <m:den>
                        <m:sSup>
                          <m:e>
                            <m:d>
                              <m:dPr>
                                <m:sepChr m:val=""/>
                              </m:dPr>
                              <m:e>
                                <m:sSup>
                                  <m:e>
                                    <m:r>
                                      <a:rPr lang="vi-VN" sz="2300" b="0">
                                        <a:solidFill>
                                          <a:srgbClr val="1E293B"/>
                                        </a:solidFill>
                                        <a:latin typeface="Cambria Math" panose="02040503050406030204" pitchFamily="18" charset="0"/>
                                      </a:rPr>
                                      <m:t>t</m:t>
                                    </m:r>
                                  </m:e>
                                  <m:sup>
                                    <m:r>
                                      <a:rPr lang="vi-VN" sz="2300" b="0">
                                        <a:solidFill>
                                          <a:srgbClr val="1E293B"/>
                                        </a:solidFill>
                                        <a:latin typeface="Cambria Math" panose="02040503050406030204" pitchFamily="18" charset="0"/>
                                      </a:rPr>
                                      <m:t>2</m:t>
                                    </m:r>
                                  </m:sup>
                                </m:sSup>
                                <m:r>
                                  <a:rPr lang="vi-VN" sz="2300" b="0">
                                    <a:solidFill>
                                      <a:srgbClr val="1E293B"/>
                                    </a:solidFill>
                                    <a:latin typeface="Cambria Math" panose="02040503050406030204" pitchFamily="18" charset="0"/>
                                  </a:rPr>
                                  <m:t>+</m:t>
                                </m:r>
                                <m:r>
                                  <a:rPr lang="vi-VN" sz="2300" b="0">
                                    <a:solidFill>
                                      <a:srgbClr val="1E293B"/>
                                    </a:solidFill>
                                    <a:latin typeface="Cambria Math" panose="02040503050406030204" pitchFamily="18" charset="0"/>
                                  </a:rPr>
                                  <m:t>1</m:t>
                                </m:r>
                              </m:e>
                            </m:d>
                          </m:e>
                          <m:sup>
                            <m:r>
                              <a:rPr lang="vi-VN" sz="2300" b="0">
                                <a:solidFill>
                                  <a:srgbClr val="1E293B"/>
                                </a:solidFill>
                                <a:latin typeface="Cambria Math" panose="02040503050406030204" pitchFamily="18" charset="0"/>
                              </a:rPr>
                              <m:t>2</m:t>
                            </m:r>
                          </m:sup>
                        </m:sSup>
                      </m:den>
                    </m:f>
                  </m:oMath>
                </a14:m>
                <a:r>
                  <a:rPr sz="2300">
                    <a:solidFill>
                      <a:srgbClr val="1E293B"/>
                    </a:solidFill>
                    <a:latin typeface="Calibri"/>
                  </a:rPr>
                  <a:t>.</a:t>
                </a:r>
              </a:p>
            </p:txBody>
          </p:sp>
        </mc:Choice>
        <mc:Fallback>
          <p:sp>
            <p:nvSpPr>
              <p:cNvPr id="9" name="TextBox 8"/>
              <p:cNvSpPr txBox="1"/>
              <p:nvPr/>
            </p:nvSpPr>
            <p:spPr>
              <a:xfrm>
                <a:off x="713232" y="3065526"/>
                <a:ext cx="10735056" cy="858011"/>
              </a:xfrm>
              <a:prstGeom prst="rect">
                <a:avLst/>
              </a:prstGeom>
              <a:noFill/>
            </p:spPr>
            <p:txBody>
              <a:bodyPr wrap="square" anchor="ctr" lIns="45720" rIns="45720">
                <a:spAutoFit/>
              </a:bodyPr>
              <a:lstStyle/>
              <a:p>
                <a:pPr algn="l">
                  <a:spcAft>
                    <a:spcPts val="800"/>
                  </a:spcAft>
                </a:pPr>
                <a:r>
                  <a:rPr sz="2300">
                    <a:solidFill>
                      <a:srgbClr val="1E293B"/>
                    </a:solidFill>
                    <a:latin typeface="Calibri"/>
                  </a:rPr>
                  <a:t> </a:t>
                </a:r>
                <a:r>
                  <a:rPr lang="vi-VN"/>
                  <a:t>P'(t)=\frac{50t(t^2+1)-2t(25t^2+125)}{(t^2+1)^2}=\frac{-200t}{(t^2+1)^2}</a:t>
                </a:r>
                <a:r>
                  <a:rPr sz="2300">
                    <a:solidFill>
                      <a:srgbClr val="1E293B"/>
                    </a:solidFill>
                    <a:latin typeface="Calibri"/>
                  </a:rPr>
                  <a:t>.</a:t>
                </a:r>
              </a:p>
            </p:txBody>
          </p:sp>
        </mc:Fallback>
      </mc:AlternateContent>
      <p:sp>
        <p:nvSpPr>
          <p:cNvPr id="10" name="s2_nen"/>
          <p:cNvSpPr/>
          <p:nvPr/>
        </p:nvSpPr>
        <p:spPr>
          <a:xfrm>
            <a:off x="548640" y="4142994"/>
            <a:ext cx="11064240" cy="1281684"/>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179570"/>
                <a:ext cx="10735056" cy="1208532"/>
              </a:xfrm>
              <a:prstGeom prst="rect">
                <a:avLst/>
              </a:prstGeom>
              <a:noFill/>
            </p:spPr>
            <p:txBody>
              <a:bodyPr wrap="square" anchor="ctr" lIns="45720" rIns="45720">
                <a:spAutoFit/>
              </a:bodyPr>
              <a:lstStyle/>
              <a:p>
                <a:pPr algn="l">
                  <a:spcAft>
                    <a:spcPts val="800"/>
                  </a:spcAft>
                </a:pPr>
                <a:r>
                  <a:rPr sz="2300">
                    <a:solidFill>
                      <a:srgbClr val="1E293B"/>
                    </a:solidFill>
                    <a:latin typeface="Calibri"/>
                  </a:rPr>
                  <a:t> </a:t>
                </a:r>
                <a14:m>
                  <m:oMath xmlns:m="http://schemas.openxmlformats.org/officeDocument/2006/math">
                    <m:sSup>
                      <m:e>
                        <m:r>
                          <a:rPr lang="vi-VN" sz="2300" b="0">
                            <a:solidFill>
                              <a:srgbClr val="1E293B"/>
                            </a:solidFill>
                            <a:latin typeface="Cambria Math" panose="02040503050406030204" pitchFamily="18" charset="0"/>
                          </a:rPr>
                          <m:t>P</m:t>
                        </m:r>
                      </m:e>
                      <m:sup>
                        <m:r>
                          <a:rPr lang="vi-VN" sz="2300" b="0">
                            <a:solidFill>
                              <a:srgbClr val="1E293B"/>
                            </a:solidFill>
                            <a:latin typeface="Cambria Math" panose="02040503050406030204" pitchFamily="18" charset="0"/>
                          </a:rPr>
                          <m:t>′</m:t>
                        </m:r>
                      </m:sup>
                    </m:sSup>
                    <m:r>
                      <a:rPr lang="vi-VN" sz="2300" b="0">
                        <a:solidFill>
                          <a:srgbClr val="1E293B"/>
                        </a:solidFill>
                        <a:latin typeface="Cambria Math" panose="02040503050406030204" pitchFamily="18" charset="0"/>
                      </a:rPr>
                      <m:t>(5)=</m:t>
                    </m:r>
                    <m:f>
                      <m:fPr>
                        <m:type m:val="bar"/>
                      </m:fPr>
                      <m:num>
                        <m:r>
                          <a:rPr lang="vi-VN" sz="2300" b="0">
                            <a:solidFill>
                              <a:srgbClr val="1E293B"/>
                            </a:solidFill>
                            <a:latin typeface="Cambria Math" panose="02040503050406030204" pitchFamily="18" charset="0"/>
                          </a:rPr>
                          <m:t>−1</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000</m:t>
                        </m:r>
                      </m:num>
                      <m:den>
                        <m:r>
                          <a:rPr lang="vi-VN" sz="2300" b="0">
                            <a:solidFill>
                              <a:srgbClr val="1E293B"/>
                            </a:solidFill>
                            <a:latin typeface="Cambria Math" panose="02040503050406030204" pitchFamily="18" charset="0"/>
                          </a:rPr>
                          <m:t>676</m:t>
                        </m:r>
                      </m:den>
                    </m:f>
                    <m:r>
                      <a:rPr lang="vi-VN" sz="2300" b="0">
                        <a:solidFill>
                          <a:srgbClr val="1E293B"/>
                        </a:solidFill>
                        <a:latin typeface="Cambria Math" panose="02040503050406030204" pitchFamily="18" charset="0"/>
                      </a:rPr>
                      <m:t>=−</m:t>
                    </m:r>
                    <m:f>
                      <m:fPr>
                        <m:type m:val="bar"/>
                      </m:fPr>
                      <m:num>
                        <m:r>
                          <a:rPr lang="vi-VN" sz="2300" b="0">
                            <a:solidFill>
                              <a:srgbClr val="1E293B"/>
                            </a:solidFill>
                            <a:latin typeface="Cambria Math" panose="02040503050406030204" pitchFamily="18" charset="0"/>
                          </a:rPr>
                          <m:t>250</m:t>
                        </m:r>
                      </m:num>
                      <m:den>
                        <m:r>
                          <a:rPr lang="vi-VN" sz="2300" b="0">
                            <a:solidFill>
                              <a:srgbClr val="1E293B"/>
                            </a:solidFill>
                            <a:latin typeface="Cambria Math" panose="02040503050406030204" pitchFamily="18" charset="0"/>
                          </a:rPr>
                          <m:t>169</m:t>
                        </m:r>
                      </m:den>
                    </m:f>
                    <m:r>
                      <a:rPr lang="vi-VN" sz="2300" b="0">
                        <a:solidFill>
                          <a:srgbClr val="1E293B"/>
                        </a:solidFill>
                        <a:latin typeface="Cambria Math" panose="02040503050406030204" pitchFamily="18" charset="0"/>
                      </a:rPr>
                      <m:t>≈−1</m:t>
                    </m:r>
                    <m:r>
                      <a:rPr lang="vi-VN" sz="2300" b="0">
                        <a:solidFill>
                          <a:srgbClr val="1E293B"/>
                        </a:solidFill>
                        <a:latin typeface="Cambria Math" panose="02040503050406030204" pitchFamily="18" charset="0"/>
                      </a:rPr>
                      <m:t>,</m:t>
                    </m:r>
                    <m:r>
                      <a:rPr lang="vi-VN" sz="2300" b="0">
                        <a:solidFill>
                          <a:srgbClr val="1E293B"/>
                        </a:solidFill>
                        <a:latin typeface="Cambria Math" panose="02040503050406030204" pitchFamily="18" charset="0"/>
                      </a:rPr>
                      <m:t>48</m:t>
                    </m:r>
                  </m:oMath>
                </a14:m>
                <a:r>
                  <a:rPr sz="2300">
                    <a:solidFill>
                      <a:srgbClr val="1E293B"/>
                    </a:solidFill>
                    <a:latin typeface="Calibri"/>
                  </a:rPr>
                  <a:t> (mmHg/giây): sau 5 giây, huyết áp đang giảm với tốc độ khoảng 1,48 mmHg/giây.</a:t>
                </a:r>
              </a:p>
            </p:txBody>
          </p:sp>
        </mc:Choice>
        <mc:Fallback>
          <p:sp>
            <p:nvSpPr>
              <p:cNvPr id="11" name="TextBox 10"/>
              <p:cNvSpPr txBox="1"/>
              <p:nvPr/>
            </p:nvSpPr>
            <p:spPr>
              <a:xfrm>
                <a:off x="713232" y="4179570"/>
                <a:ext cx="10735056" cy="1208532"/>
              </a:xfrm>
              <a:prstGeom prst="rect">
                <a:avLst/>
              </a:prstGeom>
              <a:noFill/>
            </p:spPr>
            <p:txBody>
              <a:bodyPr wrap="square" anchor="ctr" lIns="45720" rIns="45720">
                <a:spAutoFit/>
              </a:bodyPr>
              <a:lstStyle/>
              <a:p>
                <a:pPr algn="l">
                  <a:spcAft>
                    <a:spcPts val="800"/>
                  </a:spcAft>
                </a:pPr>
                <a:r>
                  <a:rPr sz="2300">
                    <a:solidFill>
                      <a:srgbClr val="1E293B"/>
                    </a:solidFill>
                    <a:latin typeface="Calibri"/>
                  </a:rPr>
                  <a:t> </a:t>
                </a:r>
                <a:r>
                  <a:rPr lang="vi-VN"/>
                  <a:t>P'(5)=\frac{-1\ 000}{676}=-\frac{250}{169}\approx-1{,}48</a:t>
                </a:r>
                <a:r>
                  <a:rPr sz="2300">
                    <a:solidFill>
                      <a:srgbClr val="1E293B"/>
                    </a:solidFill>
                    <a:latin typeface="Calibri"/>
                  </a:rPr>
                  <a:t> (mmHg/giây): sau 5 giây, huyết áp đang giảm với tốc độ khoảng 1,48 mmHg/giây.</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TỔNG KẾT TIẾT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12</a:t>
            </a:r>
          </a:p>
        </p:txBody>
      </p:sp>
      <p:sp>
        <p:nvSpPr>
          <p:cNvPr id="7" name="Rounded Rectangle 6"/>
          <p:cNvSpPr/>
          <p:nvPr/>
        </p:nvSpPr>
        <p:spPr>
          <a:xfrm>
            <a:off x="548640" y="1463040"/>
            <a:ext cx="11064240" cy="17068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99616"/>
            <a:ext cx="10735056" cy="1633728"/>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Đạo hàm = tốc độ thay đổi tức thời: vận tốc, gia tốc, tốc độ phản ứng, tốc độ tăng trưởng, chi phí biên.</a:t>
            </a:r>
          </a:p>
          <a:p>
            <a:pPr algn="l" marL="365760" indent="-365760">
              <a:spcAft>
                <a:spcPts val="800"/>
              </a:spcAft>
              <a:buClr>
                <a:srgbClr val="1E40AF"/>
              </a:buClr>
              <a:buFont typeface="Arial"/>
              <a:buChar char="•"/>
            </a:pPr>
            <a:r>
              <a:rPr sz="2200">
                <a:solidFill>
                  <a:srgbClr val="1E293B"/>
                </a:solidFill>
                <a:latin typeface="Calibri"/>
              </a:rPr>
              <a:t>Dấu của đạo hàm cho biết đại lượng đang tăng hay giảm; giới hạn tại vô cực cho "ngưỡng".</a:t>
            </a:r>
          </a:p>
        </p:txBody>
      </p:sp>
      <p:sp>
        <p:nvSpPr>
          <p:cNvPr id="9" name="Rounded Rectangle 8"/>
          <p:cNvSpPr/>
          <p:nvPr/>
        </p:nvSpPr>
        <p:spPr>
          <a:xfrm>
            <a:off x="548640" y="3398520"/>
            <a:ext cx="11064240" cy="1472184"/>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3435096"/>
            <a:ext cx="10735056" cy="1399032"/>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Làm Bài tập 1.26, 1.27 (SGK tr.40 – 41).</a:t>
            </a:r>
          </a:p>
          <a:p>
            <a:pPr algn="l" marL="365760" indent="-365760">
              <a:spcAft>
                <a:spcPts val="800"/>
              </a:spcAft>
              <a:buClr>
                <a:srgbClr val="1E40AF"/>
              </a:buClr>
              <a:buFont typeface="Arial"/>
              <a:buChar char="•"/>
            </a:pPr>
            <a:r>
              <a:rPr sz="2200">
                <a:solidFill>
                  <a:srgbClr val="1E293B"/>
                </a:solidFill>
                <a:latin typeface="Calibri"/>
              </a:rPr>
              <a:t>Đọc trước mục 2 (SGK tr.36 – 40).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2 (T20)</a:t>
            </a:r>
          </a:p>
          <a:p>
            <a:pPr>
              <a:spcAft>
                <a:spcPts val="600"/>
              </a:spcAft>
            </a:pPr>
            <a:r>
              <a:rPr sz="4000" b="1">
                <a:solidFill>
                  <a:srgbClr val="FFFFFF"/>
                </a:solidFill>
                <a:latin typeface="Cambria"/>
              </a:rPr>
              <a:t>Một vài bài toán tối ưu hoá đơn giản</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Thực hiện quy trình 3 bước giải bài toán tối ưu hoá.</a:t>
            </a:r>
          </a:p>
          <a:p>
            <a:pPr algn="l">
              <a:spcAft>
                <a:spcPts val="800"/>
              </a:spcAft>
            </a:pPr>
            <a:r>
              <a:rPr sz="2200">
                <a:solidFill>
                  <a:srgbClr val="E0E7FF"/>
                </a:solidFill>
                <a:latin typeface="Calibri"/>
              </a:rPr>
              <a:t>• Giải bài toán doanh thu, lợi nhuận, chi phí.</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2. QUY TRÌNH GIẢI BÀI TOÁN TỐI ƯU HOÁ (SGK TR.36 – 37)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14</a:t>
            </a:r>
          </a:p>
        </p:txBody>
      </p:sp>
      <p:sp>
        <p:nvSpPr>
          <p:cNvPr id="7" name="Rounded Rectangle 6"/>
          <p:cNvSpPr/>
          <p:nvPr/>
        </p:nvSpPr>
        <p:spPr>
          <a:xfrm>
            <a:off x="548640" y="1554480"/>
            <a:ext cx="11064240" cy="3392424"/>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591056"/>
                <a:ext cx="10735056" cy="3319272"/>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Bước 1.</a:t>
                </a:r>
                <a:r>
                  <a:rPr sz="2400">
                    <a:solidFill>
                      <a:srgbClr val="1E293B"/>
                    </a:solidFill>
                    <a:latin typeface="Calibri"/>
                  </a:rPr>
                  <a:t> Xác định đại lượng </a:t>
                </a:r>
                <a14:m>
                  <m:oMath xmlns:m="http://schemas.openxmlformats.org/officeDocument/2006/math">
                    <m:r>
                      <a:rPr lang="vi-VN" sz="2400" b="0">
                        <a:solidFill>
                          <a:srgbClr val="1E293B"/>
                        </a:solidFill>
                        <a:latin typeface="Cambria Math" panose="02040503050406030204" pitchFamily="18" charset="0"/>
                      </a:rPr>
                      <m:t>Q</m:t>
                    </m:r>
                  </m:oMath>
                </a14:m>
                <a:r>
                  <a:rPr sz="2400">
                    <a:solidFill>
                      <a:srgbClr val="1E293B"/>
                    </a:solidFill>
                    <a:latin typeface="Calibri"/>
                  </a:rPr>
                  <a:t> mà ta cần làm cho giá trị của đại lượng ấy lớn nhất hoặc nhỏ nhất và biểu diễn nó qua các đại lượng khác trong bài toán.</a:t>
                </a:r>
              </a:p>
              <a:p>
                <a:pPr algn="l">
                  <a:spcAft>
                    <a:spcPts val="800"/>
                  </a:spcAft>
                </a:pPr>
                <a:r>
                  <a:rPr sz="2400" b="1">
                    <a:solidFill>
                      <a:srgbClr val="1E293B"/>
                    </a:solidFill>
                    <a:latin typeface="Calibri"/>
                  </a:rPr>
                  <a:t>Bước 2.</a:t>
                </a:r>
                <a:r>
                  <a:rPr sz="2400">
                    <a:solidFill>
                      <a:srgbClr val="1E293B"/>
                    </a:solidFill>
                    <a:latin typeface="Calibri"/>
                  </a:rPr>
                  <a:t> Chọn một đại lượng thích hợp nào đó, kí hiệu là </a:t>
                </a:r>
                <a14:m>
                  <m:oMath xmlns:m="http://schemas.openxmlformats.org/officeDocument/2006/math">
                    <m:r>
                      <a:rPr lang="vi-VN" sz="2400" b="0">
                        <a:solidFill>
                          <a:srgbClr val="1E293B"/>
                        </a:solidFill>
                        <a:latin typeface="Cambria Math" panose="02040503050406030204" pitchFamily="18" charset="0"/>
                      </a:rPr>
                      <m:t>x</m:t>
                    </m:r>
                  </m:oMath>
                </a14:m>
                <a:r>
                  <a:rPr sz="2400">
                    <a:solidFill>
                      <a:srgbClr val="1E293B"/>
                    </a:solidFill>
                    <a:latin typeface="Calibri"/>
                  </a:rPr>
                  <a:t>, và biểu diễn các đại lượng khác ở Bước 1 theo </a:t>
                </a:r>
                <a14:m>
                  <m:oMath xmlns:m="http://schemas.openxmlformats.org/officeDocument/2006/math">
                    <m:r>
                      <a:rPr lang="vi-VN" sz="2400" b="0">
                        <a:solidFill>
                          <a:srgbClr val="1E293B"/>
                        </a:solidFill>
                        <a:latin typeface="Cambria Math" panose="02040503050406030204" pitchFamily="18" charset="0"/>
                      </a:rPr>
                      <m:t>x</m:t>
                    </m:r>
                  </m:oMath>
                </a14:m>
                <a:r>
                  <a:rPr sz="2400">
                    <a:solidFill>
                      <a:srgbClr val="1E293B"/>
                    </a:solidFill>
                    <a:latin typeface="Calibri"/>
                  </a:rPr>
                  <a:t>. Khi đó, </a:t>
                </a:r>
                <a14:m>
                  <m:oMath xmlns:m="http://schemas.openxmlformats.org/officeDocument/2006/math">
                    <m:r>
                      <a:rPr lang="vi-VN" sz="2400" b="0">
                        <a:solidFill>
                          <a:srgbClr val="1E293B"/>
                        </a:solidFill>
                        <a:latin typeface="Cambria Math" panose="02040503050406030204" pitchFamily="18" charset="0"/>
                      </a:rPr>
                      <m:t>Q</m:t>
                    </m:r>
                  </m:oMath>
                </a14:m>
                <a:r>
                  <a:rPr sz="2400">
                    <a:solidFill>
                      <a:srgbClr val="1E293B"/>
                    </a:solidFill>
                    <a:latin typeface="Calibri"/>
                  </a:rPr>
                  <a:t> sẽ là hàm số của một biến </a:t>
                </a:r>
                <a14:m>
                  <m:oMath xmlns:m="http://schemas.openxmlformats.org/officeDocument/2006/math">
                    <m:r>
                      <a:rPr lang="vi-VN" sz="2400" b="0">
                        <a:solidFill>
                          <a:srgbClr val="1E293B"/>
                        </a:solidFill>
                        <a:latin typeface="Cambria Math" panose="02040503050406030204" pitchFamily="18" charset="0"/>
                      </a:rPr>
                      <m:t>x</m:t>
                    </m:r>
                  </m:oMath>
                </a14:m>
                <a:r>
                  <a:rPr sz="2400">
                    <a:solidFill>
                      <a:srgbClr val="1E293B"/>
                    </a:solidFill>
                    <a:latin typeface="Calibri"/>
                  </a:rPr>
                  <a:t>. Tìm tập xác định của hàm số </a:t>
                </a:r>
                <a14:m>
                  <m:oMath xmlns:m="http://schemas.openxmlformats.org/officeDocument/2006/math">
                    <m:r>
                      <a:rPr lang="vi-VN" sz="2400" b="0">
                        <a:solidFill>
                          <a:srgbClr val="1E293B"/>
                        </a:solidFill>
                        <a:latin typeface="Cambria Math" panose="02040503050406030204" pitchFamily="18" charset="0"/>
                      </a:rPr>
                      <m:t>Q=Q(x)</m:t>
                    </m:r>
                  </m:oMath>
                </a14:m>
                <a:r>
                  <a:rPr sz="2400">
                    <a:solidFill>
                      <a:srgbClr val="1E293B"/>
                    </a:solidFill>
                    <a:latin typeface="Calibri"/>
                  </a:rPr>
                  <a:t>.</a:t>
                </a:r>
              </a:p>
              <a:p>
                <a:pPr algn="l">
                  <a:spcAft>
                    <a:spcPts val="800"/>
                  </a:spcAft>
                </a:pPr>
                <a:r>
                  <a:rPr sz="2400" b="1">
                    <a:solidFill>
                      <a:srgbClr val="1E293B"/>
                    </a:solidFill>
                    <a:latin typeface="Calibri"/>
                  </a:rPr>
                  <a:t>Bước 3.</a:t>
                </a:r>
                <a:r>
                  <a:rPr sz="2400">
                    <a:solidFill>
                      <a:srgbClr val="1E293B"/>
                    </a:solidFill>
                    <a:latin typeface="Calibri"/>
                  </a:rPr>
                  <a:t> Tìm giá trị lớn nhất hoặc giá trị nhỏ nhất của hàm số </a:t>
                </a:r>
                <a14:m>
                  <m:oMath xmlns:m="http://schemas.openxmlformats.org/officeDocument/2006/math">
                    <m:r>
                      <a:rPr lang="vi-VN" sz="2400" b="0">
                        <a:solidFill>
                          <a:srgbClr val="1E293B"/>
                        </a:solidFill>
                        <a:latin typeface="Cambria Math" panose="02040503050406030204" pitchFamily="18" charset="0"/>
                      </a:rPr>
                      <m:t>Q=Q(x)</m:t>
                    </m:r>
                  </m:oMath>
                </a14:m>
                <a:r>
                  <a:rPr sz="2400">
                    <a:solidFill>
                      <a:srgbClr val="1E293B"/>
                    </a:solidFill>
                    <a:latin typeface="Calibri"/>
                  </a:rPr>
                  <a:t> bằng các phương pháp đã biết và kết luận.</a:t>
                </a:r>
              </a:p>
            </p:txBody>
          </p:sp>
        </mc:Choice>
        <mc:Fallback>
          <p:sp>
            <p:nvSpPr>
              <p:cNvPr id="8" name="TextBox 7"/>
              <p:cNvSpPr txBox="1"/>
              <p:nvPr/>
            </p:nvSpPr>
            <p:spPr>
              <a:xfrm>
                <a:off x="713232" y="1591056"/>
                <a:ext cx="10735056" cy="3319272"/>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Bước 1.</a:t>
                </a:r>
                <a:r>
                  <a:rPr sz="2400">
                    <a:solidFill>
                      <a:srgbClr val="1E293B"/>
                    </a:solidFill>
                    <a:latin typeface="Calibri"/>
                  </a:rPr>
                  <a:t> Xác định đại lượng </a:t>
                </a:r>
                <a:r>
                  <a:rPr lang="vi-VN"/>
                  <a:t>Q</a:t>
                </a:r>
                <a:r>
                  <a:rPr sz="2400">
                    <a:solidFill>
                      <a:srgbClr val="1E293B"/>
                    </a:solidFill>
                    <a:latin typeface="Calibri"/>
                  </a:rPr>
                  <a:t> mà ta cần làm cho giá trị của đại lượng ấy lớn nhất hoặc nhỏ nhất và biểu diễn nó qua các đại lượng khác trong bài toán.</a:t>
                </a:r>
              </a:p>
              <a:p>
                <a:pPr algn="l">
                  <a:spcAft>
                    <a:spcPts val="800"/>
                  </a:spcAft>
                </a:pPr>
                <a:r>
                  <a:rPr sz="2400" b="1">
                    <a:solidFill>
                      <a:srgbClr val="1E293B"/>
                    </a:solidFill>
                    <a:latin typeface="Calibri"/>
                  </a:rPr>
                  <a:t>Bước 2.</a:t>
                </a:r>
                <a:r>
                  <a:rPr sz="2400">
                    <a:solidFill>
                      <a:srgbClr val="1E293B"/>
                    </a:solidFill>
                    <a:latin typeface="Calibri"/>
                  </a:rPr>
                  <a:t> Chọn một đại lượng thích hợp nào đó, kí hiệu là </a:t>
                </a:r>
                <a:r>
                  <a:rPr lang="vi-VN"/>
                  <a:t>x</a:t>
                </a:r>
                <a:r>
                  <a:rPr sz="2400">
                    <a:solidFill>
                      <a:srgbClr val="1E293B"/>
                    </a:solidFill>
                    <a:latin typeface="Calibri"/>
                  </a:rPr>
                  <a:t>, và biểu diễn các đại lượng khác ở Bước 1 theo </a:t>
                </a:r>
                <a:r>
                  <a:rPr lang="vi-VN"/>
                  <a:t>x</a:t>
                </a:r>
                <a:r>
                  <a:rPr sz="2400">
                    <a:solidFill>
                      <a:srgbClr val="1E293B"/>
                    </a:solidFill>
                    <a:latin typeface="Calibri"/>
                  </a:rPr>
                  <a:t>. Khi đó, </a:t>
                </a:r>
                <a:r>
                  <a:rPr lang="vi-VN"/>
                  <a:t>Q</a:t>
                </a:r>
                <a:r>
                  <a:rPr sz="2400">
                    <a:solidFill>
                      <a:srgbClr val="1E293B"/>
                    </a:solidFill>
                    <a:latin typeface="Calibri"/>
                  </a:rPr>
                  <a:t> sẽ là hàm số của một biến </a:t>
                </a:r>
                <a:r>
                  <a:rPr lang="vi-VN"/>
                  <a:t>x</a:t>
                </a:r>
                <a:r>
                  <a:rPr sz="2400">
                    <a:solidFill>
                      <a:srgbClr val="1E293B"/>
                    </a:solidFill>
                    <a:latin typeface="Calibri"/>
                  </a:rPr>
                  <a:t>. Tìm tập xác định của hàm số </a:t>
                </a:r>
                <a:r>
                  <a:rPr lang="vi-VN"/>
                  <a:t>Q=Q(x)</a:t>
                </a:r>
                <a:r>
                  <a:rPr sz="2400">
                    <a:solidFill>
                      <a:srgbClr val="1E293B"/>
                    </a:solidFill>
                    <a:latin typeface="Calibri"/>
                  </a:rPr>
                  <a:t>.</a:t>
                </a:r>
              </a:p>
              <a:p>
                <a:pPr algn="l">
                  <a:spcAft>
                    <a:spcPts val="800"/>
                  </a:spcAft>
                </a:pPr>
                <a:r>
                  <a:rPr sz="2400" b="1">
                    <a:solidFill>
                      <a:srgbClr val="1E293B"/>
                    </a:solidFill>
                    <a:latin typeface="Calibri"/>
                  </a:rPr>
                  <a:t>Bước 3.</a:t>
                </a:r>
                <a:r>
                  <a:rPr sz="2400">
                    <a:solidFill>
                      <a:srgbClr val="1E293B"/>
                    </a:solidFill>
                    <a:latin typeface="Calibri"/>
                  </a:rPr>
                  <a:t> Tìm giá trị lớn nhất hoặc giá trị nhỏ nhất của hàm số </a:t>
                </a:r>
                <a:r>
                  <a:rPr lang="vi-VN"/>
                  <a:t>Q=Q(x)</a:t>
                </a:r>
                <a:r>
                  <a:rPr sz="2400">
                    <a:solidFill>
                      <a:srgbClr val="1E293B"/>
                    </a:solidFill>
                    <a:latin typeface="Calibri"/>
                  </a:rPr>
                  <a:t> bằng các phương pháp đã biết và kết luận.</a:t>
                </a:r>
              </a:p>
            </p:txBody>
          </p:sp>
        </mc:Fallback>
      </mc:AlternateContent>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5 – HỘP ĐỰNG HÌNH TRỤ (SGK TR.37)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15</a:t>
            </a:r>
          </a:p>
        </p:txBody>
      </p:sp>
      <p:sp>
        <p:nvSpPr>
          <p:cNvPr id="7" name="TextBox 6"/>
          <p:cNvSpPr txBox="1"/>
          <p:nvPr/>
        </p:nvSpPr>
        <p:spPr>
          <a:xfrm>
            <a:off x="548640" y="1371600"/>
            <a:ext cx="1106424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5.</a:t>
            </a:r>
            <a:r>
              <a:rPr sz="2100">
                <a:solidFill>
                  <a:srgbClr val="1E293B"/>
                </a:solidFill>
                <a:latin typeface="Calibri"/>
              </a:rPr>
              <a:t> Làm hộp đựng hình trụ có thể tích 1 lít. Tìm kích thước của hộp để chi phí vật liệu là nhỏ nhất (tính theo cm, làm tròn đến hàng phần trăm).</a:t>
            </a:r>
          </a:p>
        </p:txBody>
      </p:sp>
      <p:sp>
        <p:nvSpPr>
          <p:cNvPr id="8" name="s1_nen"/>
          <p:cNvSpPr/>
          <p:nvPr/>
        </p:nvSpPr>
        <p:spPr>
          <a:xfrm>
            <a:off x="548640" y="2295144"/>
            <a:ext cx="11064240" cy="873251"/>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331720"/>
                <a:ext cx="10735056" cy="800099"/>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V=π</m:t>
                    </m:r>
                    <m:sSup>
                      <m:e>
                        <m:r>
                          <a:rPr lang="vi-VN" sz="2100" b="0">
                            <a:solidFill>
                              <a:srgbClr val="1E293B"/>
                            </a:solidFill>
                            <a:latin typeface="Cambria Math" panose="02040503050406030204" pitchFamily="18" charset="0"/>
                          </a:rPr>
                          <m:t>r</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h=1</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000⇒h=</m:t>
                    </m:r>
                    <m:f>
                      <m:fPr>
                        <m:type m:val="bar"/>
                      </m:fPr>
                      <m:num>
                        <m:r>
                          <a:rPr lang="vi-VN" sz="2100" b="0">
                            <a:solidFill>
                              <a:srgbClr val="1E293B"/>
                            </a:solidFill>
                            <a:latin typeface="Cambria Math" panose="02040503050406030204" pitchFamily="18" charset="0"/>
                          </a:rPr>
                          <m:t>1</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000</m:t>
                        </m:r>
                      </m:num>
                      <m:den>
                        <m:r>
                          <a:rPr lang="vi-VN" sz="2100" b="0">
                            <a:solidFill>
                              <a:srgbClr val="1E293B"/>
                            </a:solidFill>
                            <a:latin typeface="Cambria Math" panose="02040503050406030204" pitchFamily="18" charset="0"/>
                          </a:rPr>
                          <m:t>π</m:t>
                        </m:r>
                        <m:sSup>
                          <m:e>
                            <m:r>
                              <a:rPr lang="vi-VN" sz="2100" b="0">
                                <a:solidFill>
                                  <a:srgbClr val="1E293B"/>
                                </a:solidFill>
                                <a:latin typeface="Cambria Math" panose="02040503050406030204" pitchFamily="18" charset="0"/>
                              </a:rPr>
                              <m:t>r</m:t>
                            </m:r>
                          </m:e>
                          <m:sup>
                            <m:r>
                              <a:rPr lang="vi-VN" sz="2100" b="0">
                                <a:solidFill>
                                  <a:srgbClr val="1E293B"/>
                                </a:solidFill>
                                <a:latin typeface="Cambria Math" panose="02040503050406030204" pitchFamily="18" charset="0"/>
                              </a:rPr>
                              <m:t>2</m:t>
                            </m:r>
                          </m:sup>
                        </m:sSup>
                      </m:den>
                    </m:f>
                  </m:oMath>
                </a14:m>
                <a:r>
                  <a:rPr sz="2100">
                    <a:solidFill>
                      <a:srgbClr val="1E293B"/>
                    </a:solidFill>
                    <a:latin typeface="Calibri"/>
                  </a:rPr>
                  <a:t>; diện tích toàn phần </a:t>
                </a:r>
                <a14:m>
                  <m:oMath xmlns:m="http://schemas.openxmlformats.org/officeDocument/2006/math">
                    <m:r>
                      <a:rPr lang="vi-VN" sz="2100" b="0">
                        <a:solidFill>
                          <a:srgbClr val="1E293B"/>
                        </a:solidFill>
                        <a:latin typeface="Cambria Math" panose="02040503050406030204" pitchFamily="18" charset="0"/>
                      </a:rPr>
                      <m:t>S=2π</m:t>
                    </m:r>
                    <m:sSup>
                      <m:e>
                        <m:r>
                          <a:rPr lang="vi-VN" sz="2100" b="0">
                            <a:solidFill>
                              <a:srgbClr val="1E293B"/>
                            </a:solidFill>
                            <a:latin typeface="Cambria Math" panose="02040503050406030204" pitchFamily="18" charset="0"/>
                          </a:rPr>
                          <m:t>r</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+2πrh=2π</m:t>
                    </m:r>
                    <m:sSup>
                      <m:e>
                        <m:r>
                          <a:rPr lang="vi-VN" sz="2100" b="0">
                            <a:solidFill>
                              <a:srgbClr val="1E293B"/>
                            </a:solidFill>
                            <a:latin typeface="Cambria Math" panose="02040503050406030204" pitchFamily="18" charset="0"/>
                          </a:rPr>
                          <m:t>r</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m:t>
                    </m:r>
                    <m:f>
                      <m:fPr>
                        <m:type m:val="bar"/>
                      </m:fPr>
                      <m:num>
                        <m:r>
                          <a:rPr lang="vi-VN" sz="2100" b="0">
                            <a:solidFill>
                              <a:srgbClr val="1E293B"/>
                            </a:solidFill>
                            <a:latin typeface="Cambria Math" panose="02040503050406030204" pitchFamily="18" charset="0"/>
                          </a:rPr>
                          <m:t>2</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000</m:t>
                        </m:r>
                      </m:num>
                      <m:den>
                        <m:r>
                          <a:rPr lang="vi-VN" sz="2100" b="0">
                            <a:solidFill>
                              <a:srgbClr val="1E293B"/>
                            </a:solidFill>
                            <a:latin typeface="Cambria Math" panose="02040503050406030204" pitchFamily="18" charset="0"/>
                          </a:rPr>
                          <m:t>r</m:t>
                        </m:r>
                      </m:den>
                    </m:f>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r&gt;0</m:t>
                    </m:r>
                  </m:oMath>
                </a14:m>
                <a:r>
                  <a:rPr sz="2100">
                    <a:solidFill>
                      <a:srgbClr val="1E293B"/>
                    </a:solidFill>
                    <a:latin typeface="Calibri"/>
                  </a:rPr>
                  <a:t>.</a:t>
                </a:r>
              </a:p>
            </p:txBody>
          </p:sp>
        </mc:Choice>
        <mc:Fallback>
          <p:sp>
            <p:nvSpPr>
              <p:cNvPr id="9" name="TextBox 8"/>
              <p:cNvSpPr txBox="1"/>
              <p:nvPr/>
            </p:nvSpPr>
            <p:spPr>
              <a:xfrm>
                <a:off x="713232" y="2331720"/>
                <a:ext cx="10735056" cy="800099"/>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V=\pi r^2h=1\ 000\Rightarrow h=\frac{1\ 000}{\pi r^2}</a:t>
                </a:r>
                <a:r>
                  <a:rPr sz="2100">
                    <a:solidFill>
                      <a:srgbClr val="1E293B"/>
                    </a:solidFill>
                    <a:latin typeface="Calibri"/>
                  </a:rPr>
                  <a:t>; diện tích toàn phần </a:t>
                </a:r>
                <a:r>
                  <a:rPr lang="vi-VN"/>
                  <a:t>S=2\pi r^2+2\pi rh=2\pi r^2+\frac{2\ 000}{r}</a:t>
                </a:r>
                <a:r>
                  <a:rPr sz="2100">
                    <a:solidFill>
                      <a:srgbClr val="1E293B"/>
                    </a:solidFill>
                    <a:latin typeface="Calibri"/>
                  </a:rPr>
                  <a:t>, </a:t>
                </a:r>
                <a:r>
                  <a:rPr lang="vi-VN"/>
                  <a:t>r&gt;0</a:t>
                </a:r>
                <a:r>
                  <a:rPr sz="2100">
                    <a:solidFill>
                      <a:srgbClr val="1E293B"/>
                    </a:solidFill>
                    <a:latin typeface="Calibri"/>
                  </a:rPr>
                  <a:t>.</a:t>
                </a:r>
              </a:p>
            </p:txBody>
          </p:sp>
        </mc:Fallback>
      </mc:AlternateContent>
      <p:sp>
        <p:nvSpPr>
          <p:cNvPr id="10" name="s2_nen"/>
          <p:cNvSpPr/>
          <p:nvPr/>
        </p:nvSpPr>
        <p:spPr>
          <a:xfrm>
            <a:off x="548640" y="3278124"/>
            <a:ext cx="11064240" cy="119329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314700"/>
                <a:ext cx="10735056" cy="1120140"/>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S</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=4πr−</m:t>
                    </m:r>
                    <m:f>
                      <m:fPr>
                        <m:type m:val="bar"/>
                      </m:fPr>
                      <m:num>
                        <m:r>
                          <a:rPr lang="vi-VN" sz="2100" b="0">
                            <a:solidFill>
                              <a:srgbClr val="1E293B"/>
                            </a:solidFill>
                            <a:latin typeface="Cambria Math" panose="02040503050406030204" pitchFamily="18" charset="0"/>
                          </a:rPr>
                          <m:t>2</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000</m:t>
                        </m:r>
                      </m:num>
                      <m:den>
                        <m:sSup>
                          <m:e>
                            <m:r>
                              <a:rPr lang="vi-VN" sz="2100" b="0">
                                <a:solidFill>
                                  <a:srgbClr val="1E293B"/>
                                </a:solidFill>
                                <a:latin typeface="Cambria Math" panose="02040503050406030204" pitchFamily="18" charset="0"/>
                              </a:rPr>
                              <m:t>r</m:t>
                            </m:r>
                          </m:e>
                          <m:sup>
                            <m:r>
                              <a:rPr lang="vi-VN" sz="2100" b="0">
                                <a:solidFill>
                                  <a:srgbClr val="1E293B"/>
                                </a:solidFill>
                                <a:latin typeface="Cambria Math" panose="02040503050406030204" pitchFamily="18" charset="0"/>
                              </a:rPr>
                              <m:t>2</m:t>
                            </m:r>
                          </m:sup>
                        </m:sSup>
                      </m:den>
                    </m:f>
                    <m:r>
                      <a:rPr lang="vi-VN" sz="2100" b="0">
                        <a:solidFill>
                          <a:srgbClr val="1E293B"/>
                        </a:solidFill>
                        <a:latin typeface="Cambria Math" panose="02040503050406030204" pitchFamily="18" charset="0"/>
                      </a:rPr>
                      <m:t>=0⇔r=</m:t>
                    </m:r>
                    <m:rad>
                      <m:radPr>
                        <m:degHide m:val="off"/>
                      </m:radPr>
                      <m:deg>
                        <m:r>
                          <a:rPr lang="vi-VN" sz="2100" b="0">
                            <a:solidFill>
                              <a:srgbClr val="1E293B"/>
                            </a:solidFill>
                            <a:latin typeface="Cambria Math" panose="02040503050406030204" pitchFamily="18" charset="0"/>
                          </a:rPr>
                          <m:t>3</m:t>
                        </m:r>
                      </m:deg>
                      <m:e>
                        <m:f>
                          <m:fPr>
                            <m:type m:val="bar"/>
                          </m:fPr>
                          <m:num>
                            <m:r>
                              <a:rPr lang="vi-VN" sz="2100" b="0">
                                <a:solidFill>
                                  <a:srgbClr val="1E293B"/>
                                </a:solidFill>
                                <a:latin typeface="Cambria Math" panose="02040503050406030204" pitchFamily="18" charset="0"/>
                              </a:rPr>
                              <m:t>500</m:t>
                            </m:r>
                          </m:num>
                          <m:den>
                            <m:r>
                              <a:rPr lang="vi-VN" sz="2100" b="0">
                                <a:solidFill>
                                  <a:srgbClr val="1E293B"/>
                                </a:solidFill>
                                <a:latin typeface="Cambria Math" panose="02040503050406030204" pitchFamily="18" charset="0"/>
                              </a:rPr>
                              <m:t>π</m:t>
                            </m:r>
                          </m:den>
                        </m:f>
                      </m:e>
                    </m:rad>
                  </m:oMath>
                </a14:m>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S</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đổi dấu từ </a:t>
                </a:r>
                <a14:m>
                  <m:oMath xmlns:m="http://schemas.openxmlformats.org/officeDocument/2006/math">
                    <m:r>
                      <a:rPr lang="vi-VN" sz="2100" b="0">
                        <a:solidFill>
                          <a:srgbClr val="1E293B"/>
                        </a:solidFill>
                        <a:latin typeface="Cambria Math" panose="02040503050406030204" pitchFamily="18" charset="0"/>
                      </a:rPr>
                      <m:t>−</m:t>
                    </m:r>
                  </m:oMath>
                </a14:m>
                <a:r>
                  <a:rPr sz="2100">
                    <a:solidFill>
                      <a:srgbClr val="1E293B"/>
                    </a:solidFill>
                    <a:latin typeface="Calibri"/>
                  </a:rPr>
                  <a:t> sang </a:t>
                </a:r>
                <a14:m>
                  <m:oMath xmlns:m="http://schemas.openxmlformats.org/officeDocument/2006/math">
                    <m:r>
                      <a:rPr lang="vi-VN" sz="2100" b="0">
                        <a:solidFill>
                          <a:srgbClr val="1E293B"/>
                        </a:solidFill>
                        <a:latin typeface="Cambria Math" panose="02040503050406030204" pitchFamily="18" charset="0"/>
                      </a:rPr>
                      <m:t>+</m:t>
                    </m:r>
                  </m:oMath>
                </a14:m>
                <a:r>
                  <a:rPr sz="2100">
                    <a:solidFill>
                      <a:srgbClr val="1E293B"/>
                    </a:solidFill>
                    <a:latin typeface="Calibri"/>
                  </a:rPr>
                  <a:t> nên </a:t>
                </a:r>
                <a14:m>
                  <m:oMath xmlns:m="http://schemas.openxmlformats.org/officeDocument/2006/math">
                    <m:r>
                      <a:rPr lang="vi-VN" sz="2100" b="0">
                        <a:solidFill>
                          <a:srgbClr val="1E293B"/>
                        </a:solidFill>
                        <a:latin typeface="Cambria Math" panose="02040503050406030204" pitchFamily="18" charset="0"/>
                      </a:rPr>
                      <m:t>S</m:t>
                    </m:r>
                  </m:oMath>
                </a14:m>
                <a:r>
                  <a:rPr sz="2100">
                    <a:solidFill>
                      <a:srgbClr val="1E293B"/>
                    </a:solidFill>
                    <a:latin typeface="Calibri"/>
                  </a:rPr>
                  <a:t> nhỏ nhất tại đó.</a:t>
                </a:r>
              </a:p>
            </p:txBody>
          </p:sp>
        </mc:Choice>
        <mc:Fallback>
          <p:sp>
            <p:nvSpPr>
              <p:cNvPr id="11" name="TextBox 10"/>
              <p:cNvSpPr txBox="1"/>
              <p:nvPr/>
            </p:nvSpPr>
            <p:spPr>
              <a:xfrm>
                <a:off x="713232" y="3314700"/>
                <a:ext cx="10735056" cy="1120140"/>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S'=4\pi r-\frac{2\ 000}{r^2}=0\Leftrightarrow r=\sqrt[3]{\frac{500}{\pi}}</a:t>
                </a:r>
                <a:r>
                  <a:rPr sz="2100">
                    <a:solidFill>
                      <a:srgbClr val="1E293B"/>
                    </a:solidFill>
                    <a:latin typeface="Calibri"/>
                  </a:rPr>
                  <a:t>; </a:t>
                </a:r>
                <a:r>
                  <a:rPr lang="vi-VN"/>
                  <a:t>S'</a:t>
                </a:r>
                <a:r>
                  <a:rPr sz="2100">
                    <a:solidFill>
                      <a:srgbClr val="1E293B"/>
                    </a:solidFill>
                    <a:latin typeface="Calibri"/>
                  </a:rPr>
                  <a:t> đổi dấu từ </a:t>
                </a:r>
                <a:r>
                  <a:rPr lang="vi-VN"/>
                  <a:t>-</a:t>
                </a:r>
                <a:r>
                  <a:rPr sz="2100">
                    <a:solidFill>
                      <a:srgbClr val="1E293B"/>
                    </a:solidFill>
                    <a:latin typeface="Calibri"/>
                  </a:rPr>
                  <a:t> sang </a:t>
                </a:r>
                <a:r>
                  <a:rPr lang="vi-VN"/>
                  <a:t>+</a:t>
                </a:r>
                <a:r>
                  <a:rPr sz="2100">
                    <a:solidFill>
                      <a:srgbClr val="1E293B"/>
                    </a:solidFill>
                    <a:latin typeface="Calibri"/>
                  </a:rPr>
                  <a:t> nên </a:t>
                </a:r>
                <a:r>
                  <a:rPr lang="vi-VN"/>
                  <a:t>S</a:t>
                </a:r>
                <a:r>
                  <a:rPr sz="2100">
                    <a:solidFill>
                      <a:srgbClr val="1E293B"/>
                    </a:solidFill>
                    <a:latin typeface="Calibri"/>
                  </a:rPr>
                  <a:t> nhỏ nhất tại đó.</a:t>
                </a:r>
              </a:p>
            </p:txBody>
          </p:sp>
        </mc:Fallback>
      </mc:AlternateContent>
      <p:sp>
        <p:nvSpPr>
          <p:cNvPr id="12" name="s3_nen"/>
          <p:cNvSpPr/>
          <p:nvPr/>
        </p:nvSpPr>
        <p:spPr>
          <a:xfrm>
            <a:off x="548640" y="4581144"/>
            <a:ext cx="11064240" cy="119329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4617720"/>
                <a:ext cx="10735056" cy="1120140"/>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r=</m:t>
                    </m:r>
                    <m:rad>
                      <m:radPr>
                        <m:degHide m:val="off"/>
                      </m:radPr>
                      <m:deg>
                        <m:r>
                          <a:rPr lang="vi-VN" sz="2100" b="0">
                            <a:solidFill>
                              <a:srgbClr val="1E293B"/>
                            </a:solidFill>
                            <a:latin typeface="Cambria Math" panose="02040503050406030204" pitchFamily="18" charset="0"/>
                          </a:rPr>
                          <m:t>3</m:t>
                        </m:r>
                      </m:deg>
                      <m:e>
                        <m:f>
                          <m:fPr>
                            <m:type m:val="bar"/>
                          </m:fPr>
                          <m:num>
                            <m:r>
                              <a:rPr lang="vi-VN" sz="2100" b="0">
                                <a:solidFill>
                                  <a:srgbClr val="1E293B"/>
                                </a:solidFill>
                                <a:latin typeface="Cambria Math" panose="02040503050406030204" pitchFamily="18" charset="0"/>
                              </a:rPr>
                              <m:t>500</m:t>
                            </m:r>
                          </m:num>
                          <m:den>
                            <m:r>
                              <a:rPr lang="vi-VN" sz="2100" b="0">
                                <a:solidFill>
                                  <a:srgbClr val="1E293B"/>
                                </a:solidFill>
                                <a:latin typeface="Cambria Math" panose="02040503050406030204" pitchFamily="18" charset="0"/>
                              </a:rPr>
                              <m:t>π</m:t>
                            </m:r>
                          </m:den>
                        </m:f>
                      </m:e>
                    </m:rad>
                    <m:r>
                      <a:rPr lang="vi-VN" sz="2100" b="0">
                        <a:solidFill>
                          <a:srgbClr val="1E293B"/>
                        </a:solidFill>
                        <a:latin typeface="Cambria Math" panose="02040503050406030204" pitchFamily="18" charset="0"/>
                      </a:rPr>
                      <m:t>≈5</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42</m:t>
                    </m:r>
                  </m:oMath>
                </a14:m>
                <a:r>
                  <a:rPr sz="2100">
                    <a:solidFill>
                      <a:srgbClr val="1E293B"/>
                    </a:solidFill>
                    <a:latin typeface="Calibri"/>
                  </a:rPr>
                  <a:t> cm, </a:t>
                </a:r>
                <a14:m>
                  <m:oMath xmlns:m="http://schemas.openxmlformats.org/officeDocument/2006/math">
                    <m:r>
                      <a:rPr lang="vi-VN" sz="2100" b="0">
                        <a:solidFill>
                          <a:srgbClr val="1E293B"/>
                        </a:solidFill>
                        <a:latin typeface="Cambria Math" panose="02040503050406030204" pitchFamily="18" charset="0"/>
                      </a:rPr>
                      <m:t>h=</m:t>
                    </m:r>
                    <m:f>
                      <m:fPr>
                        <m:type m:val="bar"/>
                      </m:fPr>
                      <m:num>
                        <m:r>
                          <a:rPr lang="vi-VN" sz="2100" b="0">
                            <a:solidFill>
                              <a:srgbClr val="1E293B"/>
                            </a:solidFill>
                            <a:latin typeface="Cambria Math" panose="02040503050406030204" pitchFamily="18" charset="0"/>
                          </a:rPr>
                          <m:t>100</m:t>
                        </m:r>
                      </m:num>
                      <m:den>
                        <m:rad>
                          <m:radPr>
                            <m:degHide m:val="off"/>
                          </m:radPr>
                          <m:deg>
                            <m:r>
                              <a:rPr lang="vi-VN" sz="2100" b="0">
                                <a:solidFill>
                                  <a:srgbClr val="1E293B"/>
                                </a:solidFill>
                                <a:latin typeface="Cambria Math" panose="02040503050406030204" pitchFamily="18" charset="0"/>
                              </a:rPr>
                              <m:t>3</m:t>
                            </m:r>
                          </m:deg>
                          <m:e>
                            <m:r>
                              <a:rPr lang="vi-VN" sz="2100" b="0">
                                <a:solidFill>
                                  <a:srgbClr val="1E293B"/>
                                </a:solidFill>
                                <a:latin typeface="Cambria Math" panose="02040503050406030204" pitchFamily="18" charset="0"/>
                              </a:rPr>
                              <m:t>250π</m:t>
                            </m:r>
                          </m:e>
                        </m:rad>
                      </m:den>
                    </m:f>
                    <m:r>
                      <a:rPr lang="vi-VN" sz="2100" b="0">
                        <a:solidFill>
                          <a:srgbClr val="1E293B"/>
                        </a:solidFill>
                        <a:latin typeface="Cambria Math" panose="02040503050406030204" pitchFamily="18" charset="0"/>
                      </a:rPr>
                      <m:t>≈10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84</m:t>
                    </m:r>
                  </m:oMath>
                </a14:m>
                <a:r>
                  <a:rPr sz="2100">
                    <a:solidFill>
                      <a:srgbClr val="1E293B"/>
                    </a:solidFill>
                    <a:latin typeface="Calibri"/>
                  </a:rPr>
                  <a:t> cm. </a:t>
                </a:r>
                <a:r>
                  <a:rPr sz="2100" b="1">
                    <a:solidFill>
                      <a:srgbClr val="1E293B"/>
                    </a:solidFill>
                    <a:latin typeface="Calibri"/>
                  </a:rPr>
                  <a:t>Chú ý.</a:t>
                </a:r>
                <a:r>
                  <a:rPr sz="2100">
                    <a:solidFill>
                      <a:srgbClr val="1E293B"/>
                    </a:solidFill>
                    <a:latin typeface="Calibri"/>
                  </a:rPr>
                  <a:t> Thể tích không đổi thì diện tích bề mặt nhỏ nhất khi chiều cao bằng đường kính đáy.</a:t>
                </a:r>
              </a:p>
            </p:txBody>
          </p:sp>
        </mc:Choice>
        <mc:Fallback>
          <p:sp>
            <p:nvSpPr>
              <p:cNvPr id="13" name="TextBox 12"/>
              <p:cNvSpPr txBox="1"/>
              <p:nvPr/>
            </p:nvSpPr>
            <p:spPr>
              <a:xfrm>
                <a:off x="713232" y="4617720"/>
                <a:ext cx="10735056" cy="1120140"/>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r=\sqrt[3]{\frac{500}{\pi}}\approx 5{,}42</a:t>
                </a:r>
                <a:r>
                  <a:rPr sz="2100">
                    <a:solidFill>
                      <a:srgbClr val="1E293B"/>
                    </a:solidFill>
                    <a:latin typeface="Calibri"/>
                  </a:rPr>
                  <a:t> cm, </a:t>
                </a:r>
                <a:r>
                  <a:rPr lang="vi-VN"/>
                  <a:t>h=\frac{100}{\sqrt[3]{250\pi}}\approx 10{,}84</a:t>
                </a:r>
                <a:r>
                  <a:rPr sz="2100">
                    <a:solidFill>
                      <a:srgbClr val="1E293B"/>
                    </a:solidFill>
                    <a:latin typeface="Calibri"/>
                  </a:rPr>
                  <a:t> cm. </a:t>
                </a:r>
                <a:r>
                  <a:rPr sz="2100" b="1">
                    <a:solidFill>
                      <a:srgbClr val="1E293B"/>
                    </a:solidFill>
                    <a:latin typeface="Calibri"/>
                  </a:rPr>
                  <a:t>Chú ý.</a:t>
                </a:r>
                <a:r>
                  <a:rPr sz="2100">
                    <a:solidFill>
                      <a:srgbClr val="1E293B"/>
                    </a:solidFill>
                    <a:latin typeface="Calibri"/>
                  </a:rPr>
                  <a:t> Thể tích không đổi thì diện tích bề mặt nhỏ nhất khi chiều cao bằng đường kính đáy.</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LUYỆN TẬP 2 – CHÈO THUYỀN VÀ CHẠY BỘ (SGK TR.38)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16</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778240" cy="16977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Luyện tập 2.</a:t>
                </a:r>
                <a:r>
                  <a:rPr sz="2000">
                    <a:solidFill>
                      <a:srgbClr val="1E293B"/>
                    </a:solidFill>
                    <a:latin typeface="Calibri"/>
                  </a:rPr>
                  <a:t> Anh An chèo thuyền từ </a:t>
                </a:r>
                <a14:m>
                  <m:oMath xmlns:m="http://schemas.openxmlformats.org/officeDocument/2006/math">
                    <m:r>
                      <a:rPr lang="vi-VN" sz="2000" b="0">
                        <a:solidFill>
                          <a:srgbClr val="1E293B"/>
                        </a:solidFill>
                        <a:latin typeface="Cambria Math" panose="02040503050406030204" pitchFamily="18" charset="0"/>
                      </a:rPr>
                      <m:t>A</m:t>
                    </m:r>
                  </m:oMath>
                </a14:m>
                <a:r>
                  <a:rPr sz="2000">
                    <a:solidFill>
                      <a:srgbClr val="1E293B"/>
                    </a:solidFill>
                    <a:latin typeface="Calibri"/>
                  </a:rPr>
                  <a:t> trên bờ sông rộng 3 km, muốn đến </a:t>
                </a:r>
                <a14:m>
                  <m:oMath xmlns:m="http://schemas.openxmlformats.org/officeDocument/2006/math">
                    <m:r>
                      <a:rPr lang="vi-VN" sz="2000" b="0">
                        <a:solidFill>
                          <a:srgbClr val="1E293B"/>
                        </a:solidFill>
                        <a:latin typeface="Cambria Math" panose="02040503050406030204" pitchFamily="18" charset="0"/>
                      </a:rPr>
                      <m:t>B</m:t>
                    </m:r>
                  </m:oMath>
                </a14:m>
                <a:r>
                  <a:rPr sz="2000">
                    <a:solidFill>
                      <a:srgbClr val="1E293B"/>
                    </a:solidFill>
                    <a:latin typeface="Calibri"/>
                  </a:rPr>
                  <a:t> ở bờ đối diện cách 8 km về phía hạ lưu càng nhanh càng tốt (H.1.35): chèo đến </a:t>
                </a:r>
                <a14:m>
                  <m:oMath xmlns:m="http://schemas.openxmlformats.org/officeDocument/2006/math">
                    <m:r>
                      <a:rPr lang="vi-VN" sz="2000" b="0">
                        <a:solidFill>
                          <a:srgbClr val="1E293B"/>
                        </a:solidFill>
                        <a:latin typeface="Cambria Math" panose="02040503050406030204" pitchFamily="18" charset="0"/>
                      </a:rPr>
                      <m:t>D</m:t>
                    </m:r>
                  </m:oMath>
                </a14:m>
                <a:r>
                  <a:rPr sz="2000">
                    <a:solidFill>
                      <a:srgbClr val="1E293B"/>
                    </a:solidFill>
                    <a:latin typeface="Calibri"/>
                  </a:rPr>
                  <a:t> giữa </a:t>
                </a:r>
                <a14:m>
                  <m:oMath xmlns:m="http://schemas.openxmlformats.org/officeDocument/2006/math">
                    <m:r>
                      <a:rPr lang="vi-VN" sz="2000" b="0">
                        <a:solidFill>
                          <a:srgbClr val="1E293B"/>
                        </a:solidFill>
                        <a:latin typeface="Cambria Math" panose="02040503050406030204" pitchFamily="18" charset="0"/>
                      </a:rPr>
                      <m:t>C</m:t>
                    </m:r>
                  </m:oMath>
                </a14:m>
                <a:r>
                  <a:rPr sz="2000">
                    <a:solidFill>
                      <a:srgbClr val="1E293B"/>
                    </a:solidFill>
                    <a:latin typeface="Calibri"/>
                  </a:rPr>
                  <a:t> và </a:t>
                </a:r>
                <a14:m>
                  <m:oMath xmlns:m="http://schemas.openxmlformats.org/officeDocument/2006/math">
                    <m:r>
                      <a:rPr lang="vi-VN" sz="2000" b="0">
                        <a:solidFill>
                          <a:srgbClr val="1E293B"/>
                        </a:solidFill>
                        <a:latin typeface="Cambria Math" panose="02040503050406030204" pitchFamily="18" charset="0"/>
                      </a:rPr>
                      <m:t>B</m:t>
                    </m:r>
                  </m:oMath>
                </a14:m>
                <a:r>
                  <a:rPr sz="2000">
                    <a:solidFill>
                      <a:srgbClr val="1E293B"/>
                    </a:solidFill>
                    <a:latin typeface="Calibri"/>
                  </a:rPr>
                  <a:t> rồi chạy bộ đến </a:t>
                </a:r>
                <a14:m>
                  <m:oMath xmlns:m="http://schemas.openxmlformats.org/officeDocument/2006/math">
                    <m:r>
                      <a:rPr lang="vi-VN" sz="2000" b="0">
                        <a:solidFill>
                          <a:srgbClr val="1E293B"/>
                        </a:solidFill>
                        <a:latin typeface="Cambria Math" panose="02040503050406030204" pitchFamily="18" charset="0"/>
                      </a:rPr>
                      <m:t>B</m:t>
                    </m:r>
                  </m:oMath>
                </a14:m>
                <a:r>
                  <a:rPr sz="2000">
                    <a:solidFill>
                      <a:srgbClr val="1E293B"/>
                    </a:solidFill>
                    <a:latin typeface="Calibri"/>
                  </a:rPr>
                  <a:t>. Vận tốc chèo 6 km/h, chạy bộ 8 km/h. Anh phải chèo thuyền sang bờ ở điểm nào?</a:t>
                </a:r>
              </a:p>
            </p:txBody>
          </p:sp>
        </mc:Choice>
        <mc:Fallback>
          <p:sp>
            <p:nvSpPr>
              <p:cNvPr id="7" name="TextBox 6"/>
              <p:cNvSpPr txBox="1"/>
              <p:nvPr/>
            </p:nvSpPr>
            <p:spPr>
              <a:xfrm>
                <a:off x="548640" y="1371600"/>
                <a:ext cx="8778240" cy="16977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Luyện tập 2.</a:t>
                </a:r>
                <a:r>
                  <a:rPr sz="2000">
                    <a:solidFill>
                      <a:srgbClr val="1E293B"/>
                    </a:solidFill>
                    <a:latin typeface="Calibri"/>
                  </a:rPr>
                  <a:t> Anh An chèo thuyền từ </a:t>
                </a:r>
                <a:r>
                  <a:rPr lang="vi-VN"/>
                  <a:t>A</a:t>
                </a:r>
                <a:r>
                  <a:rPr sz="2000">
                    <a:solidFill>
                      <a:srgbClr val="1E293B"/>
                    </a:solidFill>
                    <a:latin typeface="Calibri"/>
                  </a:rPr>
                  <a:t> trên bờ sông rộng 3 km, muốn đến </a:t>
                </a:r>
                <a:r>
                  <a:rPr lang="vi-VN"/>
                  <a:t>B</a:t>
                </a:r>
                <a:r>
                  <a:rPr sz="2000">
                    <a:solidFill>
                      <a:srgbClr val="1E293B"/>
                    </a:solidFill>
                    <a:latin typeface="Calibri"/>
                  </a:rPr>
                  <a:t> ở bờ đối diện cách 8 km về phía hạ lưu càng nhanh càng tốt (H.1.35): chèo đến </a:t>
                </a:r>
                <a:r>
                  <a:rPr lang="vi-VN"/>
                  <a:t>D</a:t>
                </a:r>
                <a:r>
                  <a:rPr sz="2000">
                    <a:solidFill>
                      <a:srgbClr val="1E293B"/>
                    </a:solidFill>
                    <a:latin typeface="Calibri"/>
                  </a:rPr>
                  <a:t> giữa </a:t>
                </a:r>
                <a:r>
                  <a:rPr lang="vi-VN"/>
                  <a:t>C</a:t>
                </a:r>
                <a:r>
                  <a:rPr sz="2000">
                    <a:solidFill>
                      <a:srgbClr val="1E293B"/>
                    </a:solidFill>
                    <a:latin typeface="Calibri"/>
                  </a:rPr>
                  <a:t> và </a:t>
                </a:r>
                <a:r>
                  <a:rPr lang="vi-VN"/>
                  <a:t>B</a:t>
                </a:r>
                <a:r>
                  <a:rPr sz="2000">
                    <a:solidFill>
                      <a:srgbClr val="1E293B"/>
                    </a:solidFill>
                    <a:latin typeface="Calibri"/>
                  </a:rPr>
                  <a:t> rồi chạy bộ đến </a:t>
                </a:r>
                <a:r>
                  <a:rPr lang="vi-VN"/>
                  <a:t>B</a:t>
                </a:r>
                <a:r>
                  <a:rPr sz="2000">
                    <a:solidFill>
                      <a:srgbClr val="1E293B"/>
                    </a:solidFill>
                    <a:latin typeface="Calibri"/>
                  </a:rPr>
                  <a:t>. Vận tốc chèo 6 km/h, chạy bộ 8 km/h. Anh phải chèo thuyền sang bờ ở điểm nào?</a:t>
                </a:r>
              </a:p>
            </p:txBody>
          </p:sp>
        </mc:Fallback>
      </mc:AlternateContent>
      <p:sp>
        <p:nvSpPr>
          <p:cNvPr id="8" name="s1_nen"/>
          <p:cNvSpPr/>
          <p:nvPr/>
        </p:nvSpPr>
        <p:spPr>
          <a:xfrm>
            <a:off x="548640" y="3160776"/>
            <a:ext cx="877824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197352"/>
                <a:ext cx="8449056" cy="77114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Đặt </a:t>
                </a:r>
                <a14:m>
                  <m:oMath xmlns:m="http://schemas.openxmlformats.org/officeDocument/2006/math">
                    <m:r>
                      <a:rPr lang="vi-VN" sz="2000" b="0">
                        <a:solidFill>
                          <a:srgbClr val="1E293B"/>
                        </a:solidFill>
                        <a:latin typeface="Cambria Math" panose="02040503050406030204" pitchFamily="18" charset="0"/>
                      </a:rPr>
                      <m:t>CD=x</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0≤x≤8</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T(x)=</m:t>
                    </m:r>
                    <m:f>
                      <m:fPr>
                        <m:type m:val="bar"/>
                      </m:fPr>
                      <m:num>
                        <m:rad>
                          <m:radPr>
                            <m:degHide m:val="on"/>
                          </m:radPr>
                          <m:deg/>
                          <m:e>
                            <m:r>
                              <a:rPr lang="vi-VN" sz="2000" b="0">
                                <a:solidFill>
                                  <a:srgbClr val="1E293B"/>
                                </a:solidFill>
                                <a:latin typeface="Cambria Math" panose="02040503050406030204" pitchFamily="18" charset="0"/>
                              </a:rPr>
                              <m:t>9+</m:t>
                            </m:r>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e>
                        </m:rad>
                      </m:num>
                      <m:den>
                        <m:r>
                          <a:rPr lang="vi-VN" sz="2000" b="0">
                            <a:solidFill>
                              <a:srgbClr val="1E293B"/>
                            </a:solidFill>
                            <a:latin typeface="Cambria Math" panose="02040503050406030204" pitchFamily="18" charset="0"/>
                          </a:rPr>
                          <m:t>6</m:t>
                        </m:r>
                      </m:den>
                    </m:f>
                    <m:r>
                      <a:rPr lang="vi-VN" sz="2000" b="0">
                        <a:solidFill>
                          <a:srgbClr val="1E293B"/>
                        </a:solidFill>
                        <a:latin typeface="Cambria Math" panose="02040503050406030204" pitchFamily="18" charset="0"/>
                      </a:rPr>
                      <m:t>+</m:t>
                    </m:r>
                    <m:f>
                      <m:fPr>
                        <m:type m:val="bar"/>
                      </m:fPr>
                      <m:num>
                        <m:r>
                          <a:rPr lang="vi-VN" sz="2000" b="0">
                            <a:solidFill>
                              <a:srgbClr val="1E293B"/>
                            </a:solidFill>
                            <a:latin typeface="Cambria Math" panose="02040503050406030204" pitchFamily="18" charset="0"/>
                          </a:rPr>
                          <m:t>8−x</m:t>
                        </m:r>
                      </m:num>
                      <m:den>
                        <m:r>
                          <a:rPr lang="vi-VN" sz="2000" b="0">
                            <a:solidFill>
                              <a:srgbClr val="1E293B"/>
                            </a:solidFill>
                            <a:latin typeface="Cambria Math" panose="02040503050406030204" pitchFamily="18" charset="0"/>
                          </a:rPr>
                          <m:t>8</m:t>
                        </m:r>
                      </m:den>
                    </m:f>
                  </m:oMath>
                </a14:m>
                <a:r>
                  <a:rPr sz="2000">
                    <a:solidFill>
                      <a:srgbClr val="1E293B"/>
                    </a:solidFill>
                    <a:latin typeface="Calibri"/>
                  </a:rPr>
                  <a:t> (giờ).</a:t>
                </a:r>
              </a:p>
            </p:txBody>
          </p:sp>
        </mc:Choice>
        <mc:Fallback>
          <p:sp>
            <p:nvSpPr>
              <p:cNvPr id="9" name="TextBox 8"/>
              <p:cNvSpPr txBox="1"/>
              <p:nvPr/>
            </p:nvSpPr>
            <p:spPr>
              <a:xfrm>
                <a:off x="713232" y="3197352"/>
                <a:ext cx="8449056" cy="77114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Đặt </a:t>
                </a:r>
                <a:r>
                  <a:rPr lang="vi-VN"/>
                  <a:t>CD=x</a:t>
                </a:r>
                <a:r>
                  <a:rPr sz="2000">
                    <a:solidFill>
                      <a:srgbClr val="1E293B"/>
                    </a:solidFill>
                    <a:latin typeface="Calibri"/>
                  </a:rPr>
                  <a:t> (</a:t>
                </a:r>
                <a:r>
                  <a:rPr lang="vi-VN"/>
                  <a:t>0\le x\le 8</a:t>
                </a:r>
                <a:r>
                  <a:rPr sz="2000">
                    <a:solidFill>
                      <a:srgbClr val="1E293B"/>
                    </a:solidFill>
                    <a:latin typeface="Calibri"/>
                  </a:rPr>
                  <a:t>): </a:t>
                </a:r>
                <a:r>
                  <a:rPr lang="vi-VN"/>
                  <a:t>T(x)=\frac{\sqrt{9+x^2}}{6}+\frac{8-x}{8}</a:t>
                </a:r>
                <a:r>
                  <a:rPr sz="2000">
                    <a:solidFill>
                      <a:srgbClr val="1E293B"/>
                    </a:solidFill>
                    <a:latin typeface="Calibri"/>
                  </a:rPr>
                  <a:t> (giờ).</a:t>
                </a:r>
              </a:p>
            </p:txBody>
          </p:sp>
        </mc:Fallback>
      </mc:AlternateContent>
      <p:sp>
        <p:nvSpPr>
          <p:cNvPr id="10" name="s2_nen"/>
          <p:cNvSpPr/>
          <p:nvPr/>
        </p:nvSpPr>
        <p:spPr>
          <a:xfrm>
            <a:off x="548640" y="4096511"/>
            <a:ext cx="8778240" cy="9814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133087"/>
                <a:ext cx="8449056" cy="90830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14:m>
                  <m:oMath xmlns:m="http://schemas.openxmlformats.org/officeDocument/2006/math">
                    <m:sSup>
                      <m:e>
                        <m:r>
                          <a:rPr lang="vi-VN" sz="2000" b="0">
                            <a:solidFill>
                              <a:srgbClr val="1E293B"/>
                            </a:solidFill>
                            <a:latin typeface="Cambria Math" panose="02040503050406030204" pitchFamily="18" charset="0"/>
                          </a:rPr>
                          <m:t>T</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(x)=</m:t>
                    </m:r>
                    <m:f>
                      <m:fPr>
                        <m:type m:val="bar"/>
                      </m:fPr>
                      <m:num>
                        <m:r>
                          <a:rPr lang="vi-VN" sz="2000" b="0">
                            <a:solidFill>
                              <a:srgbClr val="1E293B"/>
                            </a:solidFill>
                            <a:latin typeface="Cambria Math" panose="02040503050406030204" pitchFamily="18" charset="0"/>
                          </a:rPr>
                          <m:t>x</m:t>
                        </m:r>
                      </m:num>
                      <m:den>
                        <m:r>
                          <a:rPr lang="vi-VN" sz="2000" b="0">
                            <a:solidFill>
                              <a:srgbClr val="1E293B"/>
                            </a:solidFill>
                            <a:latin typeface="Cambria Math" panose="02040503050406030204" pitchFamily="18" charset="0"/>
                          </a:rPr>
                          <m:t>6</m:t>
                        </m:r>
                        <m:rad>
                          <m:radPr>
                            <m:degHide m:val="on"/>
                          </m:radPr>
                          <m:deg/>
                          <m:e>
                            <m:r>
                              <a:rPr lang="vi-VN" sz="2000" b="0">
                                <a:solidFill>
                                  <a:srgbClr val="1E293B"/>
                                </a:solidFill>
                                <a:latin typeface="Cambria Math" panose="02040503050406030204" pitchFamily="18" charset="0"/>
                              </a:rPr>
                              <m:t>9+</m:t>
                            </m:r>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e>
                        </m:rad>
                      </m:den>
                    </m:f>
                    <m:r>
                      <a:rPr lang="vi-VN" sz="2000" b="0">
                        <a:solidFill>
                          <a:srgbClr val="1E293B"/>
                        </a:solidFill>
                        <a:latin typeface="Cambria Math" panose="02040503050406030204" pitchFamily="18" charset="0"/>
                      </a:rPr>
                      <m:t>−</m:t>
                    </m:r>
                    <m:f>
                      <m:fPr>
                        <m:type m:val="bar"/>
                      </m:fPr>
                      <m:num>
                        <m:r>
                          <a:rPr lang="vi-VN" sz="2000" b="0">
                            <a:solidFill>
                              <a:srgbClr val="1E293B"/>
                            </a:solidFill>
                            <a:latin typeface="Cambria Math" panose="02040503050406030204" pitchFamily="18" charset="0"/>
                          </a:rPr>
                          <m:t>1</m:t>
                        </m:r>
                      </m:num>
                      <m:den>
                        <m:r>
                          <a:rPr lang="vi-VN" sz="2000" b="0">
                            <a:solidFill>
                              <a:srgbClr val="1E293B"/>
                            </a:solidFill>
                            <a:latin typeface="Cambria Math" panose="02040503050406030204" pitchFamily="18" charset="0"/>
                          </a:rPr>
                          <m:t>8</m:t>
                        </m:r>
                      </m:den>
                    </m:f>
                    <m:r>
                      <a:rPr lang="vi-VN" sz="2000" b="0">
                        <a:solidFill>
                          <a:srgbClr val="1E293B"/>
                        </a:solidFill>
                        <a:latin typeface="Cambria Math" panose="02040503050406030204" pitchFamily="18" charset="0"/>
                      </a:rPr>
                      <m:t>=0⇔4x=3</m:t>
                    </m:r>
                    <m:rad>
                      <m:radPr>
                        <m:degHide m:val="on"/>
                      </m:radPr>
                      <m:deg/>
                      <m:e>
                        <m:r>
                          <a:rPr lang="vi-VN" sz="2000" b="0">
                            <a:solidFill>
                              <a:srgbClr val="1E293B"/>
                            </a:solidFill>
                            <a:latin typeface="Cambria Math" panose="02040503050406030204" pitchFamily="18" charset="0"/>
                          </a:rPr>
                          <m:t>9+</m:t>
                        </m:r>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e>
                    </m:rad>
                    <m:r>
                      <a:rPr lang="vi-VN" sz="2000" b="0">
                        <a:solidFill>
                          <a:srgbClr val="1E293B"/>
                        </a:solidFill>
                        <a:latin typeface="Cambria Math" panose="02040503050406030204" pitchFamily="18" charset="0"/>
                      </a:rPr>
                      <m:t>⇔x=</m:t>
                    </m:r>
                    <m:f>
                      <m:fPr>
                        <m:type m:val="bar"/>
                      </m:fPr>
                      <m:num>
                        <m:r>
                          <a:rPr lang="vi-VN" sz="2000" b="0">
                            <a:solidFill>
                              <a:srgbClr val="1E293B"/>
                            </a:solidFill>
                            <a:latin typeface="Cambria Math" panose="02040503050406030204" pitchFamily="18" charset="0"/>
                          </a:rPr>
                          <m:t>9</m:t>
                        </m:r>
                      </m:num>
                      <m:den>
                        <m:rad>
                          <m:radPr>
                            <m:degHide m:val="on"/>
                          </m:radPr>
                          <m:deg/>
                          <m:e>
                            <m:r>
                              <a:rPr lang="vi-VN" sz="2000" b="0">
                                <a:solidFill>
                                  <a:srgbClr val="1E293B"/>
                                </a:solidFill>
                                <a:latin typeface="Cambria Math" panose="02040503050406030204" pitchFamily="18" charset="0"/>
                              </a:rPr>
                              <m:t>7</m:t>
                            </m:r>
                          </m:e>
                        </m:rad>
                      </m:den>
                    </m:f>
                    <m:r>
                      <a:rPr lang="vi-VN" sz="2000" b="0">
                        <a:solidFill>
                          <a:srgbClr val="1E293B"/>
                        </a:solidFill>
                        <a:latin typeface="Cambria Math" panose="02040503050406030204" pitchFamily="18" charset="0"/>
                      </a:rPr>
                      <m:t>≈3</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40</m:t>
                    </m:r>
                  </m:oMath>
                </a14:m>
                <a:r>
                  <a:rPr sz="2000">
                    <a:solidFill>
                      <a:srgbClr val="1E293B"/>
                    </a:solidFill>
                    <a:latin typeface="Calibri"/>
                  </a:rPr>
                  <a:t>.</a:t>
                </a:r>
              </a:p>
            </p:txBody>
          </p:sp>
        </mc:Choice>
        <mc:Fallback>
          <p:sp>
            <p:nvSpPr>
              <p:cNvPr id="11" name="TextBox 10"/>
              <p:cNvSpPr txBox="1"/>
              <p:nvPr/>
            </p:nvSpPr>
            <p:spPr>
              <a:xfrm>
                <a:off x="713232" y="4133087"/>
                <a:ext cx="8449056" cy="90830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r>
                  <a:rPr lang="vi-VN"/>
                  <a:t>T'(x)=\frac{x}{6\sqrt{9+x^2}}-\frac{1}{8}=0\Leftrightarrow 4x=3\sqrt{9+x^2}\Leftrightarrow x=\frac{9}{\sqrt{7}}\approx 3{,}40</a:t>
                </a:r>
                <a:r>
                  <a:rPr sz="2000">
                    <a:solidFill>
                      <a:srgbClr val="1E293B"/>
                    </a:solidFill>
                    <a:latin typeface="Calibri"/>
                  </a:rPr>
                  <a:t>.</a:t>
                </a:r>
              </a:p>
            </p:txBody>
          </p:sp>
        </mc:Fallback>
      </mc:AlternateContent>
      <p:sp>
        <p:nvSpPr>
          <p:cNvPr id="12" name="s3_nen"/>
          <p:cNvSpPr/>
          <p:nvPr/>
        </p:nvSpPr>
        <p:spPr>
          <a:xfrm>
            <a:off x="548640" y="5169407"/>
            <a:ext cx="8778240" cy="114909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5205983"/>
                <a:ext cx="8449056" cy="107594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T(0)=1</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5</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T(8)≈1</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42</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T</m:t>
                    </m:r>
                    <m:d>
                      <m:dPr>
                        <m:sepChr m:val=""/>
                      </m:dPr>
                      <m:e>
                        <m:f>
                          <m:fPr>
                            <m:type m:val="bar"/>
                          </m:fPr>
                          <m:num>
                            <m:r>
                              <a:rPr lang="vi-VN" sz="2000" b="0">
                                <a:solidFill>
                                  <a:srgbClr val="1E293B"/>
                                </a:solidFill>
                                <a:latin typeface="Cambria Math" panose="02040503050406030204" pitchFamily="18" charset="0"/>
                              </a:rPr>
                              <m:t>9</m:t>
                            </m:r>
                          </m:num>
                          <m:den>
                            <m:rad>
                              <m:radPr>
                                <m:degHide m:val="on"/>
                              </m:radPr>
                              <m:deg/>
                              <m:e>
                                <m:r>
                                  <a:rPr lang="vi-VN" sz="2000" b="0">
                                    <a:solidFill>
                                      <a:srgbClr val="1E293B"/>
                                    </a:solidFill>
                                    <a:latin typeface="Cambria Math" panose="02040503050406030204" pitchFamily="18" charset="0"/>
                                  </a:rPr>
                                  <m:t>7</m:t>
                                </m:r>
                              </m:e>
                            </m:rad>
                          </m:den>
                        </m:f>
                      </m:e>
                    </m:d>
                    <m:r>
                      <a:rPr lang="vi-VN" sz="2000" b="0">
                        <a:solidFill>
                          <a:srgbClr val="1E293B"/>
                        </a:solidFill>
                        <a:latin typeface="Cambria Math" panose="02040503050406030204" pitchFamily="18" charset="0"/>
                      </a:rPr>
                      <m:t>=1+</m:t>
                    </m:r>
                    <m:f>
                      <m:fPr>
                        <m:type m:val="bar"/>
                      </m:fPr>
                      <m:num>
                        <m:rad>
                          <m:radPr>
                            <m:degHide m:val="on"/>
                          </m:radPr>
                          <m:deg/>
                          <m:e>
                            <m:r>
                              <a:rPr lang="vi-VN" sz="2000" b="0">
                                <a:solidFill>
                                  <a:srgbClr val="1E293B"/>
                                </a:solidFill>
                                <a:latin typeface="Cambria Math" panose="02040503050406030204" pitchFamily="18" charset="0"/>
                              </a:rPr>
                              <m:t>7</m:t>
                            </m:r>
                          </m:e>
                        </m:rad>
                      </m:num>
                      <m:den>
                        <m:r>
                          <a:rPr lang="vi-VN" sz="2000" b="0">
                            <a:solidFill>
                              <a:srgbClr val="1E293B"/>
                            </a:solidFill>
                            <a:latin typeface="Cambria Math" panose="02040503050406030204" pitchFamily="18" charset="0"/>
                          </a:rPr>
                          <m:t>8</m:t>
                        </m:r>
                      </m:den>
                    </m:f>
                    <m:r>
                      <a:rPr lang="vi-VN" sz="2000" b="0">
                        <a:solidFill>
                          <a:srgbClr val="1E293B"/>
                        </a:solidFill>
                        <a:latin typeface="Cambria Math" panose="02040503050406030204" pitchFamily="18" charset="0"/>
                      </a:rPr>
                      <m:t>≈1</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33</m:t>
                    </m:r>
                  </m:oMath>
                </a14:m>
                <a:r>
                  <a:rPr sz="2000">
                    <a:solidFill>
                      <a:srgbClr val="1E293B"/>
                    </a:solidFill>
                    <a:latin typeface="Calibri"/>
                  </a:rPr>
                  <a:t> giờ. Chèo đến </a:t>
                </a:r>
                <a14:m>
                  <m:oMath xmlns:m="http://schemas.openxmlformats.org/officeDocument/2006/math">
                    <m:r>
                      <a:rPr lang="vi-VN" sz="2000" b="0">
                        <a:solidFill>
                          <a:srgbClr val="1E293B"/>
                        </a:solidFill>
                        <a:latin typeface="Cambria Math" panose="02040503050406030204" pitchFamily="18" charset="0"/>
                      </a:rPr>
                      <m:t>D</m:t>
                    </m:r>
                  </m:oMath>
                </a14:m>
                <a:r>
                  <a:rPr sz="2000">
                    <a:solidFill>
                      <a:srgbClr val="1E293B"/>
                    </a:solidFill>
                    <a:latin typeface="Calibri"/>
                  </a:rPr>
                  <a:t> cách </a:t>
                </a:r>
                <a14:m>
                  <m:oMath xmlns:m="http://schemas.openxmlformats.org/officeDocument/2006/math">
                    <m:r>
                      <a:rPr lang="vi-VN" sz="2000" b="0">
                        <a:solidFill>
                          <a:srgbClr val="1E293B"/>
                        </a:solidFill>
                        <a:latin typeface="Cambria Math" panose="02040503050406030204" pitchFamily="18" charset="0"/>
                      </a:rPr>
                      <m:t>C</m:t>
                    </m:r>
                  </m:oMath>
                </a14:m>
                <a:r>
                  <a:rPr sz="2000">
                    <a:solidFill>
                      <a:srgbClr val="1E293B"/>
                    </a:solidFill>
                    <a:latin typeface="Calibri"/>
                  </a:rPr>
                  <a:t> khoảng 3,4 km.</a:t>
                </a:r>
              </a:p>
            </p:txBody>
          </p:sp>
        </mc:Choice>
        <mc:Fallback>
          <p:sp>
            <p:nvSpPr>
              <p:cNvPr id="13" name="TextBox 12"/>
              <p:cNvSpPr txBox="1"/>
              <p:nvPr/>
            </p:nvSpPr>
            <p:spPr>
              <a:xfrm>
                <a:off x="713232" y="5205983"/>
                <a:ext cx="8449056" cy="107594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r>
                  <a:rPr lang="vi-VN"/>
                  <a:t>T(0)=1{,}5</a:t>
                </a:r>
                <a:r>
                  <a:rPr sz="2000">
                    <a:solidFill>
                      <a:srgbClr val="1E293B"/>
                    </a:solidFill>
                    <a:latin typeface="Calibri"/>
                  </a:rPr>
                  <a:t>; </a:t>
                </a:r>
                <a:r>
                  <a:rPr lang="vi-VN"/>
                  <a:t>T(8)\approx 1{,}42</a:t>
                </a:r>
                <a:r>
                  <a:rPr sz="2000">
                    <a:solidFill>
                      <a:srgbClr val="1E293B"/>
                    </a:solidFill>
                    <a:latin typeface="Calibri"/>
                  </a:rPr>
                  <a:t>; </a:t>
                </a:r>
                <a:r>
                  <a:rPr lang="vi-VN"/>
                  <a:t>T\left(\frac{9}{\sqrt{7}}\right)=1+\frac{\sqrt{7}}{8}\approx 1{,}33</a:t>
                </a:r>
                <a:r>
                  <a:rPr sz="2000">
                    <a:solidFill>
                      <a:srgbClr val="1E293B"/>
                    </a:solidFill>
                    <a:latin typeface="Calibri"/>
                  </a:rPr>
                  <a:t> giờ. Chèo đến </a:t>
                </a:r>
                <a:r>
                  <a:rPr lang="vi-VN"/>
                  <a:t>D</a:t>
                </a:r>
                <a:r>
                  <a:rPr sz="2000">
                    <a:solidFill>
                      <a:srgbClr val="1E293B"/>
                    </a:solidFill>
                    <a:latin typeface="Calibri"/>
                  </a:rPr>
                  <a:t> cách </a:t>
                </a:r>
                <a:r>
                  <a:rPr lang="vi-VN"/>
                  <a:t>C</a:t>
                </a:r>
                <a:r>
                  <a:rPr sz="2000">
                    <a:solidFill>
                      <a:srgbClr val="1E293B"/>
                    </a:solidFill>
                    <a:latin typeface="Calibri"/>
                  </a:rPr>
                  <a:t> khoảng 3,4 km.</a:t>
                </a:r>
              </a:p>
            </p:txBody>
          </p:sp>
        </mc:Fallback>
      </mc:AlternateContent>
      <p:pic>
        <p:nvPicPr>
          <p:cNvPr id="14" name="Picture 13" descr="b5_h135.png"/>
          <p:cNvPicPr>
            <a:picLocks noChangeAspect="1"/>
          </p:cNvPicPr>
          <p:nvPr/>
        </p:nvPicPr>
        <p:blipFill>
          <a:blip r:embed="rId3"/>
          <a:stretch>
            <a:fillRect/>
          </a:stretch>
        </p:blipFill>
        <p:spPr>
          <a:xfrm>
            <a:off x="9601200" y="1740107"/>
            <a:ext cx="1828800" cy="34692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HÀM CẦU – DOANH THU – LỢI NHUẬN (SGK TR.38)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17</a:t>
            </a:r>
          </a:p>
        </p:txBody>
      </p:sp>
      <p:sp>
        <p:nvSpPr>
          <p:cNvPr id="7" name="Rounded Rectangle 6"/>
          <p:cNvSpPr/>
          <p:nvPr/>
        </p:nvSpPr>
        <p:spPr>
          <a:xfrm>
            <a:off x="548640" y="1645920"/>
            <a:ext cx="11064240" cy="1990344"/>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682496"/>
                <a:ext cx="10735056" cy="1917192"/>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500">
                    <a:solidFill>
                      <a:srgbClr val="1E293B"/>
                    </a:solidFill>
                    <a:latin typeface="Calibri"/>
                  </a:rPr>
                  <a:t>Chi phí biên: </a:t>
                </a:r>
                <a14:m>
                  <m:oMath xmlns:m="http://schemas.openxmlformats.org/officeDocument/2006/math">
                    <m:sSup>
                      <m:e>
                        <m:r>
                          <a:rPr lang="vi-VN" sz="2500" b="0">
                            <a:solidFill>
                              <a:srgbClr val="1E293B"/>
                            </a:solidFill>
                            <a:latin typeface="Cambria Math" panose="02040503050406030204" pitchFamily="18" charset="0"/>
                          </a:rPr>
                          <m:t>C</m:t>
                        </m:r>
                      </m:e>
                      <m:sup>
                        <m:r>
                          <a:rPr lang="vi-VN" sz="2500" b="0">
                            <a:solidFill>
                              <a:srgbClr val="1E293B"/>
                            </a:solidFill>
                            <a:latin typeface="Cambria Math" panose="02040503050406030204" pitchFamily="18" charset="0"/>
                          </a:rPr>
                          <m:t>′</m:t>
                        </m:r>
                      </m:sup>
                    </m:sSup>
                    <m:r>
                      <a:rPr lang="vi-VN" sz="2500" b="0">
                        <a:solidFill>
                          <a:srgbClr val="1E293B"/>
                        </a:solidFill>
                        <a:latin typeface="Cambria Math" panose="02040503050406030204" pitchFamily="18" charset="0"/>
                      </a:rPr>
                      <m:t>(x)</m:t>
                    </m:r>
                  </m:oMath>
                </a14:m>
                <a:r>
                  <a:rPr sz="2500">
                    <a:solidFill>
                      <a:srgbClr val="1E293B"/>
                    </a:solidFill>
                    <a:latin typeface="Calibri"/>
                  </a:rPr>
                  <a:t>.  Hàm cầu (hàm giá): </a:t>
                </a:r>
                <a14:m>
                  <m:oMath xmlns:m="http://schemas.openxmlformats.org/officeDocument/2006/math">
                    <m:r>
                      <a:rPr lang="vi-VN" sz="2500" b="0">
                        <a:solidFill>
                          <a:srgbClr val="1E293B"/>
                        </a:solidFill>
                        <a:latin typeface="Cambria Math" panose="02040503050406030204" pitchFamily="18" charset="0"/>
                      </a:rPr>
                      <m:t>p=p(x)</m:t>
                    </m:r>
                  </m:oMath>
                </a14:m>
                <a:r>
                  <a:rPr sz="2500">
                    <a:solidFill>
                      <a:srgbClr val="1E293B"/>
                    </a:solidFill>
                    <a:latin typeface="Calibri"/>
                  </a:rPr>
                  <a:t> – giá bán mỗi đơn vị khi bán </a:t>
                </a:r>
                <a14:m>
                  <m:oMath xmlns:m="http://schemas.openxmlformats.org/officeDocument/2006/math">
                    <m:r>
                      <a:rPr lang="vi-VN" sz="2500" b="0">
                        <a:solidFill>
                          <a:srgbClr val="1E293B"/>
                        </a:solidFill>
                        <a:latin typeface="Cambria Math" panose="02040503050406030204" pitchFamily="18" charset="0"/>
                      </a:rPr>
                      <m:t>x</m:t>
                    </m:r>
                  </m:oMath>
                </a14:m>
                <a:r>
                  <a:rPr sz="2500">
                    <a:solidFill>
                      <a:srgbClr val="1E293B"/>
                    </a:solidFill>
                    <a:latin typeface="Calibri"/>
                  </a:rPr>
                  <a:t> đơn vị (thường là hàm giảm).</a:t>
                </a:r>
              </a:p>
              <a:p>
                <a:pPr algn="l" marL="365760" indent="-365760">
                  <a:spcAft>
                    <a:spcPts val="800"/>
                  </a:spcAft>
                  <a:buClr>
                    <a:srgbClr val="1E40AF"/>
                  </a:buClr>
                  <a:buFont typeface="Arial"/>
                  <a:buChar char="•"/>
                </a:pPr>
                <a:r>
                  <a:rPr sz="2500">
                    <a:solidFill>
                      <a:srgbClr val="1E293B"/>
                    </a:solidFill>
                    <a:latin typeface="Calibri"/>
                  </a:rPr>
                  <a:t>Hàm doanh thu: </a:t>
                </a:r>
                <a14:m>
                  <m:oMath xmlns:m="http://schemas.openxmlformats.org/officeDocument/2006/math">
                    <m:r>
                      <a:rPr lang="vi-VN" sz="2500" b="0">
                        <a:solidFill>
                          <a:srgbClr val="1E293B"/>
                        </a:solidFill>
                        <a:latin typeface="Cambria Math" panose="02040503050406030204" pitchFamily="18" charset="0"/>
                      </a:rPr>
                      <m:t>R(x)=x·p(x)</m:t>
                    </m:r>
                  </m:oMath>
                </a14:m>
                <a:r>
                  <a:rPr sz="2500">
                    <a:solidFill>
                      <a:srgbClr val="1E293B"/>
                    </a:solidFill>
                    <a:latin typeface="Calibri"/>
                  </a:rPr>
                  <a:t>; hàm doanh thu biên: </a:t>
                </a:r>
                <a14:m>
                  <m:oMath xmlns:m="http://schemas.openxmlformats.org/officeDocument/2006/math">
                    <m:sSup>
                      <m:e>
                        <m:r>
                          <a:rPr lang="vi-VN" sz="2500" b="0">
                            <a:solidFill>
                              <a:srgbClr val="1E293B"/>
                            </a:solidFill>
                            <a:latin typeface="Cambria Math" panose="02040503050406030204" pitchFamily="18" charset="0"/>
                          </a:rPr>
                          <m:t>R</m:t>
                        </m:r>
                      </m:e>
                      <m:sup>
                        <m:r>
                          <a:rPr lang="vi-VN" sz="2500" b="0">
                            <a:solidFill>
                              <a:srgbClr val="1E293B"/>
                            </a:solidFill>
                            <a:latin typeface="Cambria Math" panose="02040503050406030204" pitchFamily="18" charset="0"/>
                          </a:rPr>
                          <m:t>′</m:t>
                        </m:r>
                      </m:sup>
                    </m:sSup>
                    <m:r>
                      <a:rPr lang="vi-VN" sz="2500" b="0">
                        <a:solidFill>
                          <a:srgbClr val="1E293B"/>
                        </a:solidFill>
                        <a:latin typeface="Cambria Math" panose="02040503050406030204" pitchFamily="18" charset="0"/>
                      </a:rPr>
                      <m:t>(x)</m:t>
                    </m:r>
                  </m:oMath>
                </a14:m>
                <a:r>
                  <a:rPr sz="2500">
                    <a:solidFill>
                      <a:srgbClr val="1E293B"/>
                    </a:solidFill>
                    <a:latin typeface="Calibri"/>
                  </a:rPr>
                  <a:t>.</a:t>
                </a:r>
              </a:p>
              <a:p>
                <a:pPr algn="l" marL="365760" indent="-365760">
                  <a:spcAft>
                    <a:spcPts val="800"/>
                  </a:spcAft>
                  <a:buClr>
                    <a:srgbClr val="1E40AF"/>
                  </a:buClr>
                  <a:buFont typeface="Arial"/>
                  <a:buChar char="•"/>
                </a:pPr>
                <a:r>
                  <a:rPr sz="2500">
                    <a:solidFill>
                      <a:srgbClr val="1E293B"/>
                    </a:solidFill>
                    <a:latin typeface="Calibri"/>
                  </a:rPr>
                  <a:t>Hàm lợi nhuận: </a:t>
                </a:r>
                <a14:m>
                  <m:oMath xmlns:m="http://schemas.openxmlformats.org/officeDocument/2006/math">
                    <m:r>
                      <a:rPr lang="vi-VN" sz="2500" b="0">
                        <a:solidFill>
                          <a:srgbClr val="1E293B"/>
                        </a:solidFill>
                        <a:latin typeface="Cambria Math" panose="02040503050406030204" pitchFamily="18" charset="0"/>
                      </a:rPr>
                      <m:t>P(x)=R(x)−C(x)</m:t>
                    </m:r>
                  </m:oMath>
                </a14:m>
                <a:r>
                  <a:rPr sz="2500">
                    <a:solidFill>
                      <a:srgbClr val="1E293B"/>
                    </a:solidFill>
                    <a:latin typeface="Calibri"/>
                  </a:rPr>
                  <a:t>; hàm lợi nhuận biên: </a:t>
                </a:r>
                <a14:m>
                  <m:oMath xmlns:m="http://schemas.openxmlformats.org/officeDocument/2006/math">
                    <m:sSup>
                      <m:e>
                        <m:r>
                          <a:rPr lang="vi-VN" sz="2500" b="0">
                            <a:solidFill>
                              <a:srgbClr val="1E293B"/>
                            </a:solidFill>
                            <a:latin typeface="Cambria Math" panose="02040503050406030204" pitchFamily="18" charset="0"/>
                          </a:rPr>
                          <m:t>P</m:t>
                        </m:r>
                      </m:e>
                      <m:sup>
                        <m:r>
                          <a:rPr lang="vi-VN" sz="2500" b="0">
                            <a:solidFill>
                              <a:srgbClr val="1E293B"/>
                            </a:solidFill>
                            <a:latin typeface="Cambria Math" panose="02040503050406030204" pitchFamily="18" charset="0"/>
                          </a:rPr>
                          <m:t>′</m:t>
                        </m:r>
                      </m:sup>
                    </m:sSup>
                    <m:r>
                      <a:rPr lang="vi-VN" sz="2500" b="0">
                        <a:solidFill>
                          <a:srgbClr val="1E293B"/>
                        </a:solidFill>
                        <a:latin typeface="Cambria Math" panose="02040503050406030204" pitchFamily="18" charset="0"/>
                      </a:rPr>
                      <m:t>(x)</m:t>
                    </m:r>
                  </m:oMath>
                </a14:m>
                <a:r>
                  <a:rPr sz="2500">
                    <a:solidFill>
                      <a:srgbClr val="1E293B"/>
                    </a:solidFill>
                    <a:latin typeface="Calibri"/>
                  </a:rPr>
                  <a:t>.</a:t>
                </a:r>
              </a:p>
            </p:txBody>
          </p:sp>
        </mc:Choice>
        <mc:Fallback>
          <p:sp>
            <p:nvSpPr>
              <p:cNvPr id="8" name="TextBox 7"/>
              <p:cNvSpPr txBox="1"/>
              <p:nvPr/>
            </p:nvSpPr>
            <p:spPr>
              <a:xfrm>
                <a:off x="713232" y="1682496"/>
                <a:ext cx="10735056" cy="1917192"/>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500">
                    <a:solidFill>
                      <a:srgbClr val="1E293B"/>
                    </a:solidFill>
                    <a:latin typeface="Calibri"/>
                  </a:rPr>
                  <a:t>Chi phí biên: </a:t>
                </a:r>
                <a:r>
                  <a:rPr lang="vi-VN"/>
                  <a:t>C'(x)</a:t>
                </a:r>
                <a:r>
                  <a:rPr sz="2500">
                    <a:solidFill>
                      <a:srgbClr val="1E293B"/>
                    </a:solidFill>
                    <a:latin typeface="Calibri"/>
                  </a:rPr>
                  <a:t>.  Hàm cầu (hàm giá): </a:t>
                </a:r>
                <a:r>
                  <a:rPr lang="vi-VN"/>
                  <a:t>p=p(x)</a:t>
                </a:r>
                <a:r>
                  <a:rPr sz="2500">
                    <a:solidFill>
                      <a:srgbClr val="1E293B"/>
                    </a:solidFill>
                    <a:latin typeface="Calibri"/>
                  </a:rPr>
                  <a:t> – giá bán mỗi đơn vị khi bán </a:t>
                </a:r>
                <a:r>
                  <a:rPr lang="vi-VN"/>
                  <a:t>x</a:t>
                </a:r>
                <a:r>
                  <a:rPr sz="2500">
                    <a:solidFill>
                      <a:srgbClr val="1E293B"/>
                    </a:solidFill>
                    <a:latin typeface="Calibri"/>
                  </a:rPr>
                  <a:t> đơn vị (thường là hàm giảm).</a:t>
                </a:r>
              </a:p>
              <a:p>
                <a:pPr algn="l" marL="365760" indent="-365760">
                  <a:spcAft>
                    <a:spcPts val="800"/>
                  </a:spcAft>
                  <a:buClr>
                    <a:srgbClr val="1E40AF"/>
                  </a:buClr>
                  <a:buFont typeface="Arial"/>
                  <a:buChar char="•"/>
                </a:pPr>
                <a:r>
                  <a:rPr sz="2500">
                    <a:solidFill>
                      <a:srgbClr val="1E293B"/>
                    </a:solidFill>
                    <a:latin typeface="Calibri"/>
                  </a:rPr>
                  <a:t>Hàm doanh thu: </a:t>
                </a:r>
                <a:r>
                  <a:rPr lang="vi-VN"/>
                  <a:t>R(x)=x\cdot p(x)</a:t>
                </a:r>
                <a:r>
                  <a:rPr sz="2500">
                    <a:solidFill>
                      <a:srgbClr val="1E293B"/>
                    </a:solidFill>
                    <a:latin typeface="Calibri"/>
                  </a:rPr>
                  <a:t>; hàm doanh thu biên: </a:t>
                </a:r>
                <a:r>
                  <a:rPr lang="vi-VN"/>
                  <a:t>R'(x)</a:t>
                </a:r>
                <a:r>
                  <a:rPr sz="2500">
                    <a:solidFill>
                      <a:srgbClr val="1E293B"/>
                    </a:solidFill>
                    <a:latin typeface="Calibri"/>
                  </a:rPr>
                  <a:t>.</a:t>
                </a:r>
              </a:p>
              <a:p>
                <a:pPr algn="l" marL="365760" indent="-365760">
                  <a:spcAft>
                    <a:spcPts val="800"/>
                  </a:spcAft>
                  <a:buClr>
                    <a:srgbClr val="1E40AF"/>
                  </a:buClr>
                  <a:buFont typeface="Arial"/>
                  <a:buChar char="•"/>
                </a:pPr>
                <a:r>
                  <a:rPr sz="2500">
                    <a:solidFill>
                      <a:srgbClr val="1E293B"/>
                    </a:solidFill>
                    <a:latin typeface="Calibri"/>
                  </a:rPr>
                  <a:t>Hàm lợi nhuận: </a:t>
                </a:r>
                <a:r>
                  <a:rPr lang="vi-VN"/>
                  <a:t>P(x)=R(x)-C(x)</a:t>
                </a:r>
                <a:r>
                  <a:rPr sz="2500">
                    <a:solidFill>
                      <a:srgbClr val="1E293B"/>
                    </a:solidFill>
                    <a:latin typeface="Calibri"/>
                  </a:rPr>
                  <a:t>; hàm lợi nhuận biên: </a:t>
                </a:r>
                <a:r>
                  <a:rPr lang="vi-VN"/>
                  <a:t>P'(x)</a:t>
                </a:r>
                <a:r>
                  <a:rPr sz="2500">
                    <a:solidFill>
                      <a:srgbClr val="1E293B"/>
                    </a:solidFill>
                    <a:latin typeface="Calibri"/>
                  </a:rPr>
                  <a:t>.</a:t>
                </a:r>
              </a:p>
            </p:txBody>
          </p:sp>
        </mc:Fallback>
      </mc:AlternateContent>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VÍ DỤ 6 – GIẢI TÌNH HUỐNG MỞ ĐẦU (SGK TR.38 – 39)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18</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680960" cy="813815"/>
              </a:xfrm>
              <a:prstGeom prst="rect">
                <a:avLst/>
              </a:prstGeom>
              <a:noFill/>
            </p:spPr>
            <p:txBody>
              <a:bodyPr wrap="square" anchor="t" lIns="45720" rIns="45720">
                <a:spAutoFit/>
              </a:bodyPr>
              <a:lstStyle/>
              <a:p>
                <a:pPr algn="l">
                  <a:spcAft>
                    <a:spcPts val="800"/>
                  </a:spcAft>
                </a:pPr>
                <a:r>
                  <a:rPr sz="2100">
                    <a:solidFill>
                      <a:srgbClr val="1E293B"/>
                    </a:solidFill>
                    <a:latin typeface="Calibri"/>
                  </a:rPr>
                  <a:t>Gọi </a:t>
                </a:r>
                <a14:m>
                  <m:oMath xmlns:m="http://schemas.openxmlformats.org/officeDocument/2006/math">
                    <m:r>
                      <a:rPr lang="vi-VN" sz="2100" b="0">
                        <a:solidFill>
                          <a:srgbClr val="1E293B"/>
                        </a:solidFill>
                        <a:latin typeface="Cambria Math" panose="02040503050406030204" pitchFamily="18" charset="0"/>
                      </a:rPr>
                      <m:t>p</m:t>
                    </m:r>
                  </m:oMath>
                </a14:m>
                <a:r>
                  <a:rPr sz="2100">
                    <a:solidFill>
                      <a:srgbClr val="1E293B"/>
                    </a:solidFill>
                    <a:latin typeface="Calibri"/>
                  </a:rPr>
                  <a:t> (nghìn đồng) là giá mỗi vé, </a:t>
                </a:r>
                <a14:m>
                  <m:oMath xmlns:m="http://schemas.openxmlformats.org/officeDocument/2006/math">
                    <m:r>
                      <a:rPr lang="vi-VN" sz="2100" b="0">
                        <a:solidFill>
                          <a:srgbClr val="1E293B"/>
                        </a:solidFill>
                        <a:latin typeface="Cambria Math" panose="02040503050406030204" pitchFamily="18" charset="0"/>
                      </a:rPr>
                      <m:t>x</m:t>
                    </m:r>
                  </m:oMath>
                </a14:m>
                <a:r>
                  <a:rPr sz="2100">
                    <a:solidFill>
                      <a:srgbClr val="1E293B"/>
                    </a:solidFill>
                    <a:latin typeface="Calibri"/>
                  </a:rPr>
                  <a:t> là số khán giả. Hàm cầu bậc nhất qua </a:t>
                </a:r>
                <a14:m>
                  <m:oMath xmlns:m="http://schemas.openxmlformats.org/officeDocument/2006/math">
                    <m:d>
                      <m:dPr>
                        <m:sepChr m:val=""/>
                      </m:dPr>
                      <m:e>
                        <m:r>
                          <a:rPr lang="vi-VN" sz="2100" b="0">
                            <a:solidFill>
                              <a:srgbClr val="1E293B"/>
                            </a:solidFill>
                            <a:latin typeface="Cambria Math" panose="02040503050406030204" pitchFamily="18" charset="0"/>
                          </a:rPr>
                          <m:t>27</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000</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100</m:t>
                        </m:r>
                      </m:e>
                    </m:d>
                  </m:oMath>
                </a14:m>
                <a:r>
                  <a:rPr sz="2100">
                    <a:solidFill>
                      <a:srgbClr val="1E293B"/>
                    </a:solidFill>
                    <a:latin typeface="Calibri"/>
                  </a:rPr>
                  <a:t> và </a:t>
                </a:r>
                <a14:m>
                  <m:oMath xmlns:m="http://schemas.openxmlformats.org/officeDocument/2006/math">
                    <m:d>
                      <m:dPr>
                        <m:sepChr m:val=""/>
                      </m:dPr>
                      <m:e>
                        <m:r>
                          <a:rPr lang="vi-VN" sz="2100" b="0">
                            <a:solidFill>
                              <a:srgbClr val="1E293B"/>
                            </a:solidFill>
                            <a:latin typeface="Cambria Math" panose="02040503050406030204" pitchFamily="18" charset="0"/>
                          </a:rPr>
                          <m:t>30</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000</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90</m:t>
                        </m:r>
                      </m:e>
                    </m:d>
                  </m:oMath>
                </a14:m>
                <a:r>
                  <a:rPr sz="2100">
                    <a:solidFill>
                      <a:srgbClr val="1E293B"/>
                    </a:solidFill>
                    <a:latin typeface="Calibri"/>
                  </a:rPr>
                  <a:t>.</a:t>
                </a:r>
              </a:p>
            </p:txBody>
          </p:sp>
        </mc:Choice>
        <mc:Fallback>
          <p:sp>
            <p:nvSpPr>
              <p:cNvPr id="7" name="TextBox 6"/>
              <p:cNvSpPr txBox="1"/>
              <p:nvPr/>
            </p:nvSpPr>
            <p:spPr>
              <a:xfrm>
                <a:off x="548640" y="1371600"/>
                <a:ext cx="7680960" cy="813815"/>
              </a:xfrm>
              <a:prstGeom prst="rect">
                <a:avLst/>
              </a:prstGeom>
              <a:noFill/>
            </p:spPr>
            <p:txBody>
              <a:bodyPr wrap="square" anchor="t" lIns="45720" rIns="45720">
                <a:spAutoFit/>
              </a:bodyPr>
              <a:lstStyle/>
              <a:p>
                <a:pPr algn="l">
                  <a:spcAft>
                    <a:spcPts val="800"/>
                  </a:spcAft>
                </a:pPr>
                <a:r>
                  <a:rPr sz="2100">
                    <a:solidFill>
                      <a:srgbClr val="1E293B"/>
                    </a:solidFill>
                    <a:latin typeface="Calibri"/>
                  </a:rPr>
                  <a:t>Gọi </a:t>
                </a:r>
                <a:r>
                  <a:rPr lang="vi-VN"/>
                  <a:t>p</a:t>
                </a:r>
                <a:r>
                  <a:rPr sz="2100">
                    <a:solidFill>
                      <a:srgbClr val="1E293B"/>
                    </a:solidFill>
                    <a:latin typeface="Calibri"/>
                  </a:rPr>
                  <a:t> (nghìn đồng) là giá mỗi vé, </a:t>
                </a:r>
                <a:r>
                  <a:rPr lang="vi-VN"/>
                  <a:t>x</a:t>
                </a:r>
                <a:r>
                  <a:rPr sz="2100">
                    <a:solidFill>
                      <a:srgbClr val="1E293B"/>
                    </a:solidFill>
                    <a:latin typeface="Calibri"/>
                  </a:rPr>
                  <a:t> là số khán giả. Hàm cầu bậc nhất qua </a:t>
                </a:r>
                <a:r>
                  <a:rPr lang="vi-VN"/>
                  <a:t>(27\ 000;\ 100)</a:t>
                </a:r>
                <a:r>
                  <a:rPr sz="2100">
                    <a:solidFill>
                      <a:srgbClr val="1E293B"/>
                    </a:solidFill>
                    <a:latin typeface="Calibri"/>
                  </a:rPr>
                  <a:t> và </a:t>
                </a:r>
                <a:r>
                  <a:rPr lang="vi-VN"/>
                  <a:t>(30\ 000;\ 90)</a:t>
                </a:r>
                <a:r>
                  <a:rPr sz="2100">
                    <a:solidFill>
                      <a:srgbClr val="1E293B"/>
                    </a:solidFill>
                    <a:latin typeface="Calibri"/>
                  </a:rPr>
                  <a:t>.</a:t>
                </a:r>
              </a:p>
            </p:txBody>
          </p:sp>
        </mc:Fallback>
      </mc:AlternateContent>
      <p:sp>
        <p:nvSpPr>
          <p:cNvPr id="8" name="s1_nen"/>
          <p:cNvSpPr/>
          <p:nvPr/>
        </p:nvSpPr>
        <p:spPr>
          <a:xfrm>
            <a:off x="548640" y="2276856"/>
            <a:ext cx="7680960" cy="729233"/>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313432"/>
                <a:ext cx="7351776" cy="656081"/>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p−100=−</m:t>
                    </m:r>
                    <m:f>
                      <m:fPr>
                        <m:type m:val="bar"/>
                      </m:fPr>
                      <m:num>
                        <m:r>
                          <a:rPr lang="vi-VN" sz="2100" b="0">
                            <a:solidFill>
                              <a:srgbClr val="1E293B"/>
                            </a:solidFill>
                            <a:latin typeface="Cambria Math" panose="02040503050406030204" pitchFamily="18" charset="0"/>
                          </a:rPr>
                          <m:t>1</m:t>
                        </m:r>
                      </m:num>
                      <m:den>
                        <m:r>
                          <a:rPr lang="vi-VN" sz="2100" b="0">
                            <a:solidFill>
                              <a:srgbClr val="1E293B"/>
                            </a:solidFill>
                            <a:latin typeface="Cambria Math" panose="02040503050406030204" pitchFamily="18" charset="0"/>
                          </a:rPr>
                          <m:t>300</m:t>
                        </m:r>
                      </m:den>
                    </m:f>
                    <m:r>
                      <a:rPr lang="vi-VN" sz="2100" b="0">
                        <a:solidFill>
                          <a:srgbClr val="1E293B"/>
                        </a:solidFill>
                        <a:latin typeface="Cambria Math" panose="02040503050406030204" pitchFamily="18" charset="0"/>
                      </a:rPr>
                      <m:t>(x−27</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000)</m:t>
                    </m:r>
                  </m:oMath>
                </a14:m>
                <a:r>
                  <a:rPr sz="2100">
                    <a:solidFill>
                      <a:srgbClr val="1E293B"/>
                    </a:solidFill>
                    <a:latin typeface="Calibri"/>
                  </a:rPr>
                  <a:t>, tức là </a:t>
                </a:r>
                <a14:m>
                  <m:oMath xmlns:m="http://schemas.openxmlformats.org/officeDocument/2006/math">
                    <m:r>
                      <a:rPr lang="vi-VN" sz="2100" b="0">
                        <a:solidFill>
                          <a:srgbClr val="1E293B"/>
                        </a:solidFill>
                        <a:latin typeface="Cambria Math" panose="02040503050406030204" pitchFamily="18" charset="0"/>
                      </a:rPr>
                      <m:t>x=−300p+57</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000</m:t>
                    </m:r>
                  </m:oMath>
                </a14:m>
                <a:r>
                  <a:rPr sz="2100">
                    <a:solidFill>
                      <a:srgbClr val="1E293B"/>
                    </a:solidFill>
                    <a:latin typeface="Calibri"/>
                  </a:rPr>
                  <a:t>.</a:t>
                </a:r>
              </a:p>
            </p:txBody>
          </p:sp>
        </mc:Choice>
        <mc:Fallback>
          <p:sp>
            <p:nvSpPr>
              <p:cNvPr id="9" name="TextBox 8"/>
              <p:cNvSpPr txBox="1"/>
              <p:nvPr/>
            </p:nvSpPr>
            <p:spPr>
              <a:xfrm>
                <a:off x="713232" y="2313432"/>
                <a:ext cx="7351776" cy="656081"/>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p-100=-\frac{1}{300}(x-27\ 000)</a:t>
                </a:r>
                <a:r>
                  <a:rPr sz="2100">
                    <a:solidFill>
                      <a:srgbClr val="1E293B"/>
                    </a:solidFill>
                    <a:latin typeface="Calibri"/>
                  </a:rPr>
                  <a:t>, tức là </a:t>
                </a:r>
                <a:r>
                  <a:rPr lang="vi-VN"/>
                  <a:t>x=-300p+57\ 000</a:t>
                </a:r>
                <a:r>
                  <a:rPr sz="2100">
                    <a:solidFill>
                      <a:srgbClr val="1E293B"/>
                    </a:solidFill>
                    <a:latin typeface="Calibri"/>
                  </a:rPr>
                  <a:t>.</a:t>
                </a:r>
              </a:p>
            </p:txBody>
          </p:sp>
        </mc:Fallback>
      </mc:AlternateContent>
      <p:sp>
        <p:nvSpPr>
          <p:cNvPr id="10" name="s2_nen"/>
          <p:cNvSpPr/>
          <p:nvPr/>
        </p:nvSpPr>
        <p:spPr>
          <a:xfrm>
            <a:off x="548640" y="3097529"/>
            <a:ext cx="768096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134106"/>
                <a:ext cx="735177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Doanh thu </a:t>
                </a:r>
                <a14:m>
                  <m:oMath xmlns:m="http://schemas.openxmlformats.org/officeDocument/2006/math">
                    <m:r>
                      <a:rPr lang="vi-VN" sz="2100" b="0">
                        <a:solidFill>
                          <a:srgbClr val="1E293B"/>
                        </a:solidFill>
                        <a:latin typeface="Cambria Math" panose="02040503050406030204" pitchFamily="18" charset="0"/>
                      </a:rPr>
                      <m:t>R(p)=px=−300</m:t>
                    </m:r>
                    <m:sSup>
                      <m:e>
                        <m:r>
                          <a:rPr lang="vi-VN" sz="2100" b="0">
                            <a:solidFill>
                              <a:srgbClr val="1E293B"/>
                            </a:solidFill>
                            <a:latin typeface="Cambria Math" panose="02040503050406030204" pitchFamily="18" charset="0"/>
                          </a:rPr>
                          <m:t>p</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+57</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000p</m:t>
                    </m:r>
                  </m:oMath>
                </a14:m>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R</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(p)=−600p+57</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000=0⇔p=95</m:t>
                    </m:r>
                  </m:oMath>
                </a14:m>
                <a:r>
                  <a:rPr sz="2100">
                    <a:solidFill>
                      <a:srgbClr val="1E293B"/>
                    </a:solidFill>
                    <a:latin typeface="Calibri"/>
                  </a:rPr>
                  <a:t>.</a:t>
                </a:r>
              </a:p>
            </p:txBody>
          </p:sp>
        </mc:Choice>
        <mc:Fallback>
          <p:sp>
            <p:nvSpPr>
              <p:cNvPr id="11" name="TextBox 10"/>
              <p:cNvSpPr txBox="1"/>
              <p:nvPr/>
            </p:nvSpPr>
            <p:spPr>
              <a:xfrm>
                <a:off x="713232" y="3134106"/>
                <a:ext cx="735177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Doanh thu </a:t>
                </a:r>
                <a:r>
                  <a:rPr lang="vi-VN"/>
                  <a:t>R(p)=px=-300p^2+57\ 000p</a:t>
                </a:r>
                <a:r>
                  <a:rPr sz="2100">
                    <a:solidFill>
                      <a:srgbClr val="1E293B"/>
                    </a:solidFill>
                    <a:latin typeface="Calibri"/>
                  </a:rPr>
                  <a:t>; </a:t>
                </a:r>
                <a:r>
                  <a:rPr lang="vi-VN"/>
                  <a:t>R'(p)=-600p+57\ 000=0\Leftrightarrow p=95</a:t>
                </a:r>
                <a:r>
                  <a:rPr sz="2100">
                    <a:solidFill>
                      <a:srgbClr val="1E293B"/>
                    </a:solidFill>
                    <a:latin typeface="Calibri"/>
                  </a:rPr>
                  <a:t>.</a:t>
                </a:r>
              </a:p>
            </p:txBody>
          </p:sp>
        </mc:Fallback>
      </mc:AlternateContent>
      <p:sp>
        <p:nvSpPr>
          <p:cNvPr id="12" name="s3_nen"/>
          <p:cNvSpPr/>
          <p:nvPr/>
        </p:nvSpPr>
        <p:spPr>
          <a:xfrm>
            <a:off x="548640" y="4094225"/>
            <a:ext cx="768096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4130801"/>
                <a:ext cx="735177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R</m:t>
                    </m:r>
                  </m:oMath>
                </a14:m>
                <a:r>
                  <a:rPr sz="2100">
                    <a:solidFill>
                      <a:srgbClr val="1E293B"/>
                    </a:solidFill>
                    <a:latin typeface="Calibri"/>
                  </a:rPr>
                  <a:t> lớn nhất bằng 2 707 500 (nghìn đồng) khi </a:t>
                </a:r>
                <a14:m>
                  <m:oMath xmlns:m="http://schemas.openxmlformats.org/officeDocument/2006/math">
                    <m:r>
                      <a:rPr lang="vi-VN" sz="2100" b="0">
                        <a:solidFill>
                          <a:srgbClr val="1E293B"/>
                        </a:solidFill>
                        <a:latin typeface="Cambria Math" panose="02040503050406030204" pitchFamily="18" charset="0"/>
                      </a:rPr>
                      <m:t>p=95</m:t>
                    </m:r>
                  </m:oMath>
                </a14:m>
                <a:r>
                  <a:rPr sz="2100">
                    <a:solidFill>
                      <a:srgbClr val="1E293B"/>
                    </a:solidFill>
                    <a:latin typeface="Calibri"/>
                  </a:rPr>
                  <a:t>: nên đặt giá vé </a:t>
                </a:r>
                <a:r>
                  <a:rPr sz="2100" b="1">
                    <a:solidFill>
                      <a:srgbClr val="1E293B"/>
                    </a:solidFill>
                    <a:latin typeface="Calibri"/>
                  </a:rPr>
                  <a:t>95 nghìn đồng</a:t>
                </a:r>
                <a:r>
                  <a:rPr sz="2100">
                    <a:solidFill>
                      <a:srgbClr val="1E293B"/>
                    </a:solidFill>
                    <a:latin typeface="Calibri"/>
                  </a:rPr>
                  <a:t>.</a:t>
                </a:r>
              </a:p>
            </p:txBody>
          </p:sp>
        </mc:Choice>
        <mc:Fallback>
          <p:sp>
            <p:nvSpPr>
              <p:cNvPr id="13" name="TextBox 12"/>
              <p:cNvSpPr txBox="1"/>
              <p:nvPr/>
            </p:nvSpPr>
            <p:spPr>
              <a:xfrm>
                <a:off x="713232" y="4130801"/>
                <a:ext cx="735177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R</a:t>
                </a:r>
                <a:r>
                  <a:rPr sz="2100">
                    <a:solidFill>
                      <a:srgbClr val="1E293B"/>
                    </a:solidFill>
                    <a:latin typeface="Calibri"/>
                  </a:rPr>
                  <a:t> lớn nhất bằng 2 707 500 (nghìn đồng) khi </a:t>
                </a:r>
                <a:r>
                  <a:rPr lang="vi-VN"/>
                  <a:t>p=95</a:t>
                </a:r>
                <a:r>
                  <a:rPr sz="2100">
                    <a:solidFill>
                      <a:srgbClr val="1E293B"/>
                    </a:solidFill>
                    <a:latin typeface="Calibri"/>
                  </a:rPr>
                  <a:t>: nên đặt giá vé </a:t>
                </a:r>
                <a:r>
                  <a:rPr sz="2100" b="1">
                    <a:solidFill>
                      <a:srgbClr val="1E293B"/>
                    </a:solidFill>
                    <a:latin typeface="Calibri"/>
                  </a:rPr>
                  <a:t>95 nghìn đồng</a:t>
                </a:r>
                <a:r>
                  <a:rPr sz="2100">
                    <a:solidFill>
                      <a:srgbClr val="1E293B"/>
                    </a:solidFill>
                    <a:latin typeface="Calibri"/>
                  </a:rPr>
                  <a:t>.</a:t>
                </a:r>
              </a:p>
            </p:txBody>
          </p:sp>
        </mc:Fallback>
      </mc:AlternateContent>
      <p:pic>
        <p:nvPicPr>
          <p:cNvPr id="14" name="Picture 13" descr="b5_ve.png"/>
          <p:cNvPicPr>
            <a:picLocks noChangeAspect="1"/>
          </p:cNvPicPr>
          <p:nvPr/>
        </p:nvPicPr>
        <p:blipFill>
          <a:blip r:embed="rId3"/>
          <a:stretch>
            <a:fillRect/>
          </a:stretch>
        </p:blipFill>
        <p:spPr>
          <a:xfrm>
            <a:off x="8503920" y="1691710"/>
            <a:ext cx="3108959" cy="283449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VÍ DỤ 7 – LỢI NHUẬN MÁY XAY SINH TỐ (SGK TR.39 – 40)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19</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863840" cy="1621536"/>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Ví dụ 7.</a:t>
                </a:r>
                <a:r>
                  <a:rPr sz="1900">
                    <a:solidFill>
                      <a:srgbClr val="1E293B"/>
                    </a:solidFill>
                    <a:latin typeface="Calibri"/>
                  </a:rPr>
                  <a:t> Lợi nhuận (nghìn đồng) khi sản xuất và bán </a:t>
                </a:r>
                <a14:m>
                  <m:oMath xmlns:m="http://schemas.openxmlformats.org/officeDocument/2006/math">
                    <m:r>
                      <a:rPr lang="vi-VN" sz="1900" b="0">
                        <a:solidFill>
                          <a:srgbClr val="1E293B"/>
                        </a:solidFill>
                        <a:latin typeface="Cambria Math" panose="02040503050406030204" pitchFamily="18" charset="0"/>
                      </a:rPr>
                      <m:t>x</m:t>
                    </m:r>
                  </m:oMath>
                </a14:m>
                <a:r>
                  <a:rPr sz="1900">
                    <a:solidFill>
                      <a:srgbClr val="1E293B"/>
                    </a:solidFill>
                    <a:latin typeface="Calibri"/>
                  </a:rPr>
                  <a:t> máy xay sinh tố mỗi tháng là </a:t>
                </a:r>
                <a14:m>
                  <m:oMath xmlns:m="http://schemas.openxmlformats.org/officeDocument/2006/math">
                    <m:r>
                      <a:rPr lang="vi-VN" sz="1900" b="0">
                        <a:solidFill>
                          <a:srgbClr val="1E293B"/>
                        </a:solidFill>
                        <a:latin typeface="Cambria Math" panose="02040503050406030204" pitchFamily="18" charset="0"/>
                      </a:rPr>
                      <m:t>P(x)=−0</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3</m:t>
                    </m:r>
                    <m:sSup>
                      <m:e>
                        <m:r>
                          <a:rPr lang="vi-VN" sz="1900" b="0">
                            <a:solidFill>
                              <a:srgbClr val="1E293B"/>
                            </a:solidFill>
                            <a:latin typeface="Cambria Math" panose="02040503050406030204" pitchFamily="18" charset="0"/>
                          </a:rPr>
                          <m:t>x</m:t>
                        </m:r>
                      </m:e>
                      <m:sup>
                        <m:r>
                          <a:rPr lang="vi-VN" sz="1900" b="0">
                            <a:solidFill>
                              <a:srgbClr val="1E293B"/>
                            </a:solidFill>
                            <a:latin typeface="Cambria Math" panose="02040503050406030204" pitchFamily="18" charset="0"/>
                          </a:rPr>
                          <m:t>3</m:t>
                        </m:r>
                      </m:sup>
                    </m:sSup>
                    <m:r>
                      <a:rPr lang="vi-VN" sz="1900" b="0">
                        <a:solidFill>
                          <a:srgbClr val="1E293B"/>
                        </a:solidFill>
                        <a:latin typeface="Cambria Math" panose="02040503050406030204" pitchFamily="18" charset="0"/>
                      </a:rPr>
                      <m:t>+36</m:t>
                    </m:r>
                    <m:sSup>
                      <m:e>
                        <m:r>
                          <a:rPr lang="vi-VN" sz="1900" b="0">
                            <a:solidFill>
                              <a:srgbClr val="1E293B"/>
                            </a:solidFill>
                            <a:latin typeface="Cambria Math" panose="02040503050406030204" pitchFamily="18" charset="0"/>
                          </a:rPr>
                          <m:t>x</m:t>
                        </m:r>
                      </m:e>
                      <m:sup>
                        <m:r>
                          <a:rPr lang="vi-VN" sz="1900" b="0">
                            <a:solidFill>
                              <a:srgbClr val="1E293B"/>
                            </a:solidFill>
                            <a:latin typeface="Cambria Math" panose="02040503050406030204" pitchFamily="18" charset="0"/>
                          </a:rPr>
                          <m:t>2</m:t>
                        </m:r>
                      </m:sup>
                    </m:sSup>
                    <m:r>
                      <a:rPr lang="vi-VN" sz="1900" b="0">
                        <a:solidFill>
                          <a:srgbClr val="1E293B"/>
                        </a:solidFill>
                        <a:latin typeface="Cambria Math" panose="02040503050406030204" pitchFamily="18" charset="0"/>
                      </a:rPr>
                      <m:t>+1</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800x−48</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000</m:t>
                    </m:r>
                  </m:oMath>
                </a14:m>
                <a:r>
                  <a:rPr sz="1900">
                    <a:solidFill>
                      <a:srgbClr val="1E293B"/>
                    </a:solidFill>
                    <a:latin typeface="Calibri"/>
                  </a:rPr>
                  <a:t>. Khảo sát, vẽ đồ thị </a:t>
                </a:r>
                <a14:m>
                  <m:oMath xmlns:m="http://schemas.openxmlformats.org/officeDocument/2006/math">
                    <m:r>
                      <a:rPr lang="vi-VN" sz="1900" b="0">
                        <a:solidFill>
                          <a:srgbClr val="1E293B"/>
                        </a:solidFill>
                        <a:latin typeface="Cambria Math" panose="02040503050406030204" pitchFamily="18" charset="0"/>
                      </a:rPr>
                      <m:t>y=P(x)</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x≥0</m:t>
                    </m:r>
                  </m:oMath>
                </a14:m>
                <a:r>
                  <a:rPr sz="1900">
                    <a:solidFill>
                      <a:srgbClr val="1E293B"/>
                    </a:solidFill>
                    <a:latin typeface="Calibri"/>
                  </a:rPr>
                  <a:t>. a) Phải sản xuất ít nhất bao nhiêu máy để hoà vốn? b) Lợi nhuận lớn nhất là bao nhiêu? Có nên sản xuất 200 máy mỗi tháng không?</a:t>
                </a:r>
              </a:p>
            </p:txBody>
          </p:sp>
        </mc:Choice>
        <mc:Fallback>
          <p:sp>
            <p:nvSpPr>
              <p:cNvPr id="7" name="TextBox 6"/>
              <p:cNvSpPr txBox="1"/>
              <p:nvPr/>
            </p:nvSpPr>
            <p:spPr>
              <a:xfrm>
                <a:off x="548640" y="1371600"/>
                <a:ext cx="7863840" cy="1621536"/>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Ví dụ 7.</a:t>
                </a:r>
                <a:r>
                  <a:rPr sz="1900">
                    <a:solidFill>
                      <a:srgbClr val="1E293B"/>
                    </a:solidFill>
                    <a:latin typeface="Calibri"/>
                  </a:rPr>
                  <a:t> Lợi nhuận (nghìn đồng) khi sản xuất và bán </a:t>
                </a:r>
                <a:r>
                  <a:rPr lang="vi-VN"/>
                  <a:t>x</a:t>
                </a:r>
                <a:r>
                  <a:rPr sz="1900">
                    <a:solidFill>
                      <a:srgbClr val="1E293B"/>
                    </a:solidFill>
                    <a:latin typeface="Calibri"/>
                  </a:rPr>
                  <a:t> máy xay sinh tố mỗi tháng là </a:t>
                </a:r>
                <a:r>
                  <a:rPr lang="vi-VN"/>
                  <a:t>P(x)=-0{,}3x^3+36x^2+1\ 800x-48\ 000</a:t>
                </a:r>
                <a:r>
                  <a:rPr sz="1900">
                    <a:solidFill>
                      <a:srgbClr val="1E293B"/>
                    </a:solidFill>
                    <a:latin typeface="Calibri"/>
                  </a:rPr>
                  <a:t>. Khảo sát, vẽ đồ thị </a:t>
                </a:r>
                <a:r>
                  <a:rPr lang="vi-VN"/>
                  <a:t>y=P(x)</a:t>
                </a:r>
                <a:r>
                  <a:rPr sz="1900">
                    <a:solidFill>
                      <a:srgbClr val="1E293B"/>
                    </a:solidFill>
                    <a:latin typeface="Calibri"/>
                  </a:rPr>
                  <a:t>, </a:t>
                </a:r>
                <a:r>
                  <a:rPr lang="vi-VN"/>
                  <a:t>x\ge 0</a:t>
                </a:r>
                <a:r>
                  <a:rPr sz="1900">
                    <a:solidFill>
                      <a:srgbClr val="1E293B"/>
                    </a:solidFill>
                    <a:latin typeface="Calibri"/>
                  </a:rPr>
                  <a:t>. a) Phải sản xuất ít nhất bao nhiêu máy để hoà vốn? b) Lợi nhuận lớn nhất là bao nhiêu? Có nên sản xuất 200 máy mỗi tháng không?</a:t>
                </a:r>
              </a:p>
            </p:txBody>
          </p:sp>
        </mc:Fallback>
      </mc:AlternateContent>
      <p:sp>
        <p:nvSpPr>
          <p:cNvPr id="8" name="s1_nen"/>
          <p:cNvSpPr/>
          <p:nvPr/>
        </p:nvSpPr>
        <p:spPr>
          <a:xfrm>
            <a:off x="548640" y="3057144"/>
            <a:ext cx="786384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093720"/>
                <a:ext cx="75346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 </a:t>
                </a:r>
                <a14:m>
                  <m:oMath xmlns:m="http://schemas.openxmlformats.org/officeDocument/2006/math">
                    <m:sSup>
                      <m:e>
                        <m:r>
                          <a:rPr lang="vi-VN" sz="1900" b="0">
                            <a:solidFill>
                              <a:srgbClr val="1E293B"/>
                            </a:solidFill>
                            <a:latin typeface="Cambria Math" panose="02040503050406030204" pitchFamily="18" charset="0"/>
                          </a:rPr>
                          <m:t>P</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(x)=−0</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9</m:t>
                    </m:r>
                    <m:sSup>
                      <m:e>
                        <m:r>
                          <a:rPr lang="vi-VN" sz="1900" b="0">
                            <a:solidFill>
                              <a:srgbClr val="1E293B"/>
                            </a:solidFill>
                            <a:latin typeface="Cambria Math" panose="02040503050406030204" pitchFamily="18" charset="0"/>
                          </a:rPr>
                          <m:t>x</m:t>
                        </m:r>
                      </m:e>
                      <m:sup>
                        <m:r>
                          <a:rPr lang="vi-VN" sz="1900" b="0">
                            <a:solidFill>
                              <a:srgbClr val="1E293B"/>
                            </a:solidFill>
                            <a:latin typeface="Cambria Math" panose="02040503050406030204" pitchFamily="18" charset="0"/>
                          </a:rPr>
                          <m:t>2</m:t>
                        </m:r>
                      </m:sup>
                    </m:sSup>
                    <m:r>
                      <a:rPr lang="vi-VN" sz="1900" b="0">
                        <a:solidFill>
                          <a:srgbClr val="1E293B"/>
                        </a:solidFill>
                        <a:latin typeface="Cambria Math" panose="02040503050406030204" pitchFamily="18" charset="0"/>
                      </a:rPr>
                      <m:t>+72x+1</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800=0⇔x=100</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x≥0</m:t>
                    </m:r>
                  </m:oMath>
                </a14:m>
                <a:r>
                  <a:rPr sz="1900">
                    <a:solidFill>
                      <a:srgbClr val="1E293B"/>
                    </a:solidFill>
                    <a:latin typeface="Calibri"/>
                  </a:rPr>
                  <a:t>): đồng biến trên </a:t>
                </a:r>
                <a14:m>
                  <m:oMath xmlns:m="http://schemas.openxmlformats.org/officeDocument/2006/math">
                    <m:r>
                      <a:rPr lang="vi-VN" sz="1900" b="0">
                        <a:solidFill>
                          <a:srgbClr val="1E293B"/>
                        </a:solidFill>
                        <a:latin typeface="Cambria Math" panose="02040503050406030204" pitchFamily="18" charset="0"/>
                      </a:rPr>
                      <m:t>[0;</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100)</m:t>
                    </m:r>
                  </m:oMath>
                </a14:m>
                <a:r>
                  <a:rPr sz="1900">
                    <a:solidFill>
                      <a:srgbClr val="1E293B"/>
                    </a:solidFill>
                    <a:latin typeface="Calibri"/>
                  </a:rPr>
                  <a:t>, nghịch biến trên </a:t>
                </a:r>
                <a14:m>
                  <m:oMath xmlns:m="http://schemas.openxmlformats.org/officeDocument/2006/math">
                    <m:d>
                      <m:dPr>
                        <m:sepChr m:val=""/>
                      </m:dPr>
                      <m:e>
                        <m:r>
                          <a:rPr lang="vi-VN" sz="1900" b="0">
                            <a:solidFill>
                              <a:srgbClr val="1E293B"/>
                            </a:solidFill>
                            <a:latin typeface="Cambria Math" panose="02040503050406030204" pitchFamily="18" charset="0"/>
                          </a:rPr>
                          <m:t>100</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m:t>
                        </m:r>
                      </m:e>
                    </m:d>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y</m:t>
                        </m:r>
                      </m:e>
                      <m:sub>
                        <m:r>
                          <a:rPr lang="vi-VN" sz="1900" b="0">
                            <a:solidFill>
                              <a:srgbClr val="1E293B"/>
                            </a:solidFill>
                            <a:latin typeface="Cambria Math" panose="02040503050406030204" pitchFamily="18" charset="0"/>
                          </a:rPr>
                          <m:t>CĐ</m:t>
                        </m:r>
                      </m:sub>
                    </m:sSub>
                    <m:r>
                      <a:rPr lang="vi-VN" sz="1900" b="0">
                        <a:solidFill>
                          <a:srgbClr val="1E293B"/>
                        </a:solidFill>
                        <a:latin typeface="Cambria Math" panose="02040503050406030204" pitchFamily="18" charset="0"/>
                      </a:rPr>
                      <m:t>=P(100)=192</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000</m:t>
                    </m:r>
                  </m:oMath>
                </a14:m>
                <a:r>
                  <a:rPr sz="1900">
                    <a:solidFill>
                      <a:srgbClr val="1E293B"/>
                    </a:solidFill>
                    <a:latin typeface="Calibri"/>
                  </a:rPr>
                  <a:t>.</a:t>
                </a:r>
              </a:p>
            </p:txBody>
          </p:sp>
        </mc:Choice>
        <mc:Fallback>
          <p:sp>
            <p:nvSpPr>
              <p:cNvPr id="9" name="TextBox 8"/>
              <p:cNvSpPr txBox="1"/>
              <p:nvPr/>
            </p:nvSpPr>
            <p:spPr>
              <a:xfrm>
                <a:off x="713232" y="3093720"/>
                <a:ext cx="75346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 </a:t>
                </a:r>
                <a:r>
                  <a:rPr lang="vi-VN"/>
                  <a:t>P'(x)=-0{,}9x^2+72x+1\ 800=0\Leftrightarrow x=100</a:t>
                </a:r>
                <a:r>
                  <a:rPr sz="1900">
                    <a:solidFill>
                      <a:srgbClr val="1E293B"/>
                    </a:solidFill>
                    <a:latin typeface="Calibri"/>
                  </a:rPr>
                  <a:t> (</a:t>
                </a:r>
                <a:r>
                  <a:rPr lang="vi-VN"/>
                  <a:t>x\ge 0</a:t>
                </a:r>
                <a:r>
                  <a:rPr sz="1900">
                    <a:solidFill>
                      <a:srgbClr val="1E293B"/>
                    </a:solidFill>
                    <a:latin typeface="Calibri"/>
                  </a:rPr>
                  <a:t>): đồng biến trên </a:t>
                </a:r>
                <a:r>
                  <a:rPr lang="vi-VN"/>
                  <a:t>[0;\ 100)</a:t>
                </a:r>
                <a:r>
                  <a:rPr sz="1900">
                    <a:solidFill>
                      <a:srgbClr val="1E293B"/>
                    </a:solidFill>
                    <a:latin typeface="Calibri"/>
                  </a:rPr>
                  <a:t>, nghịch biến trên </a:t>
                </a:r>
                <a:r>
                  <a:rPr lang="vi-VN"/>
                  <a:t>(100;\ +\infty)</a:t>
                </a:r>
                <a:r>
                  <a:rPr sz="1900">
                    <a:solidFill>
                      <a:srgbClr val="1E293B"/>
                    </a:solidFill>
                    <a:latin typeface="Calibri"/>
                  </a:rPr>
                  <a:t>; </a:t>
                </a:r>
                <a:r>
                  <a:rPr lang="vi-VN"/>
                  <a:t>y_{CĐ}=P(100)=192\ 000</a:t>
                </a:r>
                <a:r>
                  <a:rPr sz="1900">
                    <a:solidFill>
                      <a:srgbClr val="1E293B"/>
                    </a:solidFill>
                    <a:latin typeface="Calibri"/>
                  </a:rPr>
                  <a:t>.</a:t>
                </a:r>
              </a:p>
            </p:txBody>
          </p:sp>
        </mc:Fallback>
      </mc:AlternateContent>
      <p:sp>
        <p:nvSpPr>
          <p:cNvPr id="10" name="s2_nen"/>
          <p:cNvSpPr/>
          <p:nvPr/>
        </p:nvSpPr>
        <p:spPr>
          <a:xfrm>
            <a:off x="548640" y="3965448"/>
            <a:ext cx="786384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002024"/>
                <a:ext cx="75346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a) Đồ thị cắt trục hoành lần đầu tại </a:t>
                </a:r>
                <a14:m>
                  <m:oMath xmlns:m="http://schemas.openxmlformats.org/officeDocument/2006/math">
                    <m:r>
                      <a:rPr lang="vi-VN" sz="1900" b="0">
                        <a:solidFill>
                          <a:srgbClr val="1E293B"/>
                        </a:solidFill>
                        <a:latin typeface="Cambria Math" panose="02040503050406030204" pitchFamily="18" charset="0"/>
                      </a:rPr>
                      <m:t>x=20</m:t>
                    </m:r>
                  </m:oMath>
                </a14:m>
                <a:r>
                  <a:rPr sz="1900">
                    <a:solidFill>
                      <a:srgbClr val="1E293B"/>
                    </a:solidFill>
                    <a:latin typeface="Calibri"/>
                  </a:rPr>
                  <a:t>: cần sản xuất ít nhất 20 máy để hoà vốn.</a:t>
                </a:r>
              </a:p>
            </p:txBody>
          </p:sp>
        </mc:Choice>
        <mc:Fallback>
          <p:sp>
            <p:nvSpPr>
              <p:cNvPr id="11" name="TextBox 10"/>
              <p:cNvSpPr txBox="1"/>
              <p:nvPr/>
            </p:nvSpPr>
            <p:spPr>
              <a:xfrm>
                <a:off x="713232" y="4002024"/>
                <a:ext cx="75346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a) Đồ thị cắt trục hoành lần đầu tại </a:t>
                </a:r>
                <a:r>
                  <a:rPr lang="vi-VN"/>
                  <a:t>x=20</a:t>
                </a:r>
                <a:r>
                  <a:rPr sz="1900">
                    <a:solidFill>
                      <a:srgbClr val="1E293B"/>
                    </a:solidFill>
                    <a:latin typeface="Calibri"/>
                  </a:rPr>
                  <a:t>: cần sản xuất ít nhất 20 máy để hoà vốn.</a:t>
                </a:r>
              </a:p>
            </p:txBody>
          </p:sp>
        </mc:Fallback>
      </mc:AlternateContent>
      <p:sp>
        <p:nvSpPr>
          <p:cNvPr id="12" name="s3_nen"/>
          <p:cNvSpPr/>
          <p:nvPr/>
        </p:nvSpPr>
        <p:spPr>
          <a:xfrm>
            <a:off x="548640" y="4873752"/>
            <a:ext cx="7863840" cy="11338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3_chu"/>
          <p:cNvSpPr txBox="1"/>
          <p:nvPr/>
        </p:nvSpPr>
        <p:spPr>
          <a:xfrm>
            <a:off x="713232" y="4910328"/>
            <a:ext cx="7534656" cy="1060704"/>
          </a:xfrm>
          <a:prstGeom prst="rect">
            <a:avLst/>
          </a:prstGeom>
          <a:noFill/>
        </p:spPr>
        <p:txBody>
          <a:bodyPr wrap="square" anchor="ctr" lIns="45720" rIns="45720">
            <a:spAutoFit/>
          </a:bodyPr>
          <a:lstStyle/>
          <a:p>
            <a:pPr algn="l">
              <a:spcAft>
                <a:spcPts val="800"/>
              </a:spcAft>
            </a:pPr>
            <a:r>
              <a:rPr sz="1900">
                <a:solidFill>
                  <a:srgbClr val="1E293B"/>
                </a:solidFill>
                <a:latin typeface="Calibri"/>
              </a:rPr>
              <a:t>b) Lợi nhuận lớn nhất 192 triệu đồng khi sản xuất 100 máy; sản xuất hơn 100 máy thì lợi nhuận giảm – không nên sản xuất 200 máy.</a:t>
            </a:r>
          </a:p>
        </p:txBody>
      </p:sp>
      <p:pic>
        <p:nvPicPr>
          <p:cNvPr id="14" name="Picture 13" descr="b5_h136.png"/>
          <p:cNvPicPr>
            <a:picLocks noChangeAspect="1"/>
          </p:cNvPicPr>
          <p:nvPr/>
        </p:nvPicPr>
        <p:blipFill>
          <a:blip r:embed="rId3"/>
          <a:stretch>
            <a:fillRect/>
          </a:stretch>
        </p:blipFill>
        <p:spPr>
          <a:xfrm>
            <a:off x="8686800" y="1937407"/>
            <a:ext cx="2926080" cy="2343106"/>
          </a:xfrm>
          <a:prstGeom prst="rect">
            <a:avLst/>
          </a:prstGeom>
        </p:spPr>
      </p:pic>
      <p:sp>
        <p:nvSpPr>
          <p:cNvPr id="15" name="TextBox 14"/>
          <p:cNvSpPr txBox="1"/>
          <p:nvPr/>
        </p:nvSpPr>
        <p:spPr>
          <a:xfrm>
            <a:off x="8686800" y="4773168"/>
            <a:ext cx="292608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1.36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VẬN DỤNG – BÁN TI VI (SGK TR.40)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20</a:t>
            </a:r>
          </a:p>
        </p:txBody>
      </p:sp>
      <mc:AlternateContent xmlns:mc="http://schemas.openxmlformats.org/markup-compatibility/2006">
        <mc:Choice xmlns:a14="http://schemas.microsoft.com/office/drawing/2010/main" Requires="a14">
          <p:sp>
            <p:nvSpPr>
              <p:cNvPr id="7" name="TextBox 6"/>
              <p:cNvSpPr txBox="1"/>
              <p:nvPr/>
            </p:nvSpPr>
            <p:spPr>
              <a:xfrm>
                <a:off x="548640" y="1325880"/>
                <a:ext cx="11064240" cy="16977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Vận dụng.</a:t>
                </a:r>
                <a:r>
                  <a:rPr sz="2000">
                    <a:solidFill>
                      <a:srgbClr val="1E293B"/>
                    </a:solidFill>
                    <a:latin typeface="Calibri"/>
                  </a:rPr>
                  <a:t> Một nhà sản xuất bán được 1 000 ti vi mỗi tuần với giá 14 triệu đồng một chiếc. Nếu cứ giảm giá 500 nghìn đồng, số ti vi bán ra tăng thêm khoảng 100 chiếc mỗi tuần. a) Tìm hàm cầu. b) Nên giảm giá bao nhiêu để doanh thu lớn nhất? c) Nếu hàm chi phí hằng tuần là </a:t>
                </a:r>
                <a14:m>
                  <m:oMath xmlns:m="http://schemas.openxmlformats.org/officeDocument/2006/math">
                    <m:r>
                      <a:rPr lang="vi-VN" sz="2000" b="0">
                        <a:solidFill>
                          <a:srgbClr val="1E293B"/>
                        </a:solidFill>
                        <a:latin typeface="Cambria Math" panose="02040503050406030204" pitchFamily="18" charset="0"/>
                      </a:rPr>
                      <m:t>C(x)=12</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000−3x</m:t>
                    </m:r>
                  </m:oMath>
                </a14:m>
                <a:r>
                  <a:rPr sz="2000">
                    <a:solidFill>
                      <a:srgbClr val="1E293B"/>
                    </a:solidFill>
                    <a:latin typeface="Calibri"/>
                  </a:rPr>
                  <a:t> (triệu đồng), nên đặt giá bán như thế nào để lợi nhuận lớn nhất?</a:t>
                </a:r>
              </a:p>
            </p:txBody>
          </p:sp>
        </mc:Choice>
        <mc:Fallback>
          <p:sp>
            <p:nvSpPr>
              <p:cNvPr id="7" name="TextBox 6"/>
              <p:cNvSpPr txBox="1"/>
              <p:nvPr/>
            </p:nvSpPr>
            <p:spPr>
              <a:xfrm>
                <a:off x="548640" y="1325880"/>
                <a:ext cx="11064240" cy="16977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Vận dụng.</a:t>
                </a:r>
                <a:r>
                  <a:rPr sz="2000">
                    <a:solidFill>
                      <a:srgbClr val="1E293B"/>
                    </a:solidFill>
                    <a:latin typeface="Calibri"/>
                  </a:rPr>
                  <a:t> Một nhà sản xuất bán được 1 000 ti vi mỗi tuần với giá 14 triệu đồng một chiếc. Nếu cứ giảm giá 500 nghìn đồng, số ti vi bán ra tăng thêm khoảng 100 chiếc mỗi tuần. a) Tìm hàm cầu. b) Nên giảm giá bao nhiêu để doanh thu lớn nhất? c) Nếu hàm chi phí hằng tuần là </a:t>
                </a:r>
                <a:r>
                  <a:rPr lang="vi-VN"/>
                  <a:t>C(x)=12\ 000-3x</a:t>
                </a:r>
                <a:r>
                  <a:rPr sz="2000">
                    <a:solidFill>
                      <a:srgbClr val="1E293B"/>
                    </a:solidFill>
                    <a:latin typeface="Calibri"/>
                  </a:rPr>
                  <a:t> (triệu đồng), nên đặt giá bán như thế nào để lợi nhuận lớn nhất?</a:t>
                </a:r>
              </a:p>
            </p:txBody>
          </p:sp>
        </mc:Fallback>
      </mc:AlternateContent>
      <p:sp>
        <p:nvSpPr>
          <p:cNvPr id="8" name="s1_nen"/>
          <p:cNvSpPr/>
          <p:nvPr/>
        </p:nvSpPr>
        <p:spPr>
          <a:xfrm>
            <a:off x="548640" y="3096768"/>
            <a:ext cx="1106424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133344"/>
                <a:ext cx="10735056" cy="77114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14:m>
                  <m:oMath xmlns:m="http://schemas.openxmlformats.org/officeDocument/2006/math">
                    <m:r>
                      <a:rPr lang="vi-VN" sz="2000" b="0">
                        <a:solidFill>
                          <a:srgbClr val="1E293B"/>
                        </a:solidFill>
                        <a:latin typeface="Cambria Math" panose="02040503050406030204" pitchFamily="18" charset="0"/>
                      </a:rPr>
                      <m:t>p(x)=14−</m:t>
                    </m:r>
                    <m:f>
                      <m:fPr>
                        <m:type m:val="bar"/>
                      </m:fPr>
                      <m:num>
                        <m:r>
                          <a:rPr lang="vi-VN" sz="2000" b="0">
                            <a:solidFill>
                              <a:srgbClr val="1E293B"/>
                            </a:solidFill>
                            <a:latin typeface="Cambria Math" panose="02040503050406030204" pitchFamily="18" charset="0"/>
                          </a:rPr>
                          <m:t>0</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5(x−1</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000)</m:t>
                        </m:r>
                      </m:num>
                      <m:den>
                        <m:r>
                          <a:rPr lang="vi-VN" sz="2000" b="0">
                            <a:solidFill>
                              <a:srgbClr val="1E293B"/>
                            </a:solidFill>
                            <a:latin typeface="Cambria Math" panose="02040503050406030204" pitchFamily="18" charset="0"/>
                          </a:rPr>
                          <m:t>100</m:t>
                        </m:r>
                      </m:den>
                    </m:f>
                    <m:r>
                      <a:rPr lang="vi-VN" sz="2000" b="0">
                        <a:solidFill>
                          <a:srgbClr val="1E293B"/>
                        </a:solidFill>
                        <a:latin typeface="Cambria Math" panose="02040503050406030204" pitchFamily="18" charset="0"/>
                      </a:rPr>
                      <m:t>=19−</m:t>
                    </m:r>
                    <m:f>
                      <m:fPr>
                        <m:type m:val="bar"/>
                      </m:fPr>
                      <m:num>
                        <m:r>
                          <a:rPr lang="vi-VN" sz="2000" b="0">
                            <a:solidFill>
                              <a:srgbClr val="1E293B"/>
                            </a:solidFill>
                            <a:latin typeface="Cambria Math" panose="02040503050406030204" pitchFamily="18" charset="0"/>
                          </a:rPr>
                          <m:t>x</m:t>
                        </m:r>
                      </m:num>
                      <m:den>
                        <m:r>
                          <a:rPr lang="vi-VN" sz="2000" b="0">
                            <a:solidFill>
                              <a:srgbClr val="1E293B"/>
                            </a:solidFill>
                            <a:latin typeface="Cambria Math" panose="02040503050406030204" pitchFamily="18" charset="0"/>
                          </a:rPr>
                          <m:t>200</m:t>
                        </m:r>
                      </m:den>
                    </m:f>
                  </m:oMath>
                </a14:m>
                <a:r>
                  <a:rPr sz="2000">
                    <a:solidFill>
                      <a:srgbClr val="1E293B"/>
                    </a:solidFill>
                    <a:latin typeface="Calibri"/>
                  </a:rPr>
                  <a:t> (triệu đồng).</a:t>
                </a:r>
              </a:p>
            </p:txBody>
          </p:sp>
        </mc:Choice>
        <mc:Fallback>
          <p:sp>
            <p:nvSpPr>
              <p:cNvPr id="9" name="TextBox 8"/>
              <p:cNvSpPr txBox="1"/>
              <p:nvPr/>
            </p:nvSpPr>
            <p:spPr>
              <a:xfrm>
                <a:off x="713232" y="3133344"/>
                <a:ext cx="10735056" cy="77114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r>
                  <a:rPr lang="vi-VN"/>
                  <a:t>p(x)=14-\frac{0{,}5(x-1\ 000)}{100}=19-\frac{x}{200}</a:t>
                </a:r>
                <a:r>
                  <a:rPr sz="2000">
                    <a:solidFill>
                      <a:srgbClr val="1E293B"/>
                    </a:solidFill>
                    <a:latin typeface="Calibri"/>
                  </a:rPr>
                  <a:t> (triệu đồng).</a:t>
                </a:r>
              </a:p>
            </p:txBody>
          </p:sp>
        </mc:Fallback>
      </mc:AlternateContent>
      <p:sp>
        <p:nvSpPr>
          <p:cNvPr id="10" name="s2_nen"/>
          <p:cNvSpPr/>
          <p:nvPr/>
        </p:nvSpPr>
        <p:spPr>
          <a:xfrm>
            <a:off x="548640" y="4014215"/>
            <a:ext cx="1106424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050791"/>
                <a:ext cx="10735056" cy="77114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a:t>
                </a:r>
                <a14:m>
                  <m:oMath xmlns:m="http://schemas.openxmlformats.org/officeDocument/2006/math">
                    <m:r>
                      <a:rPr lang="vi-VN" sz="2000" b="0">
                        <a:solidFill>
                          <a:srgbClr val="1E293B"/>
                        </a:solidFill>
                        <a:latin typeface="Cambria Math" panose="02040503050406030204" pitchFamily="18" charset="0"/>
                      </a:rPr>
                      <m:t>R(x)=19x−</m:t>
                    </m:r>
                    <m:f>
                      <m:fPr>
                        <m:type m:val="bar"/>
                      </m:fPr>
                      <m:num>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num>
                      <m:den>
                        <m:r>
                          <a:rPr lang="vi-VN" sz="2000" b="0">
                            <a:solidFill>
                              <a:srgbClr val="1E293B"/>
                            </a:solidFill>
                            <a:latin typeface="Cambria Math" panose="02040503050406030204" pitchFamily="18" charset="0"/>
                          </a:rPr>
                          <m:t>200</m:t>
                        </m:r>
                      </m:den>
                    </m:f>
                  </m:oMath>
                </a14:m>
                <a:r>
                  <a:rPr sz="2000">
                    <a:solidFill>
                      <a:srgbClr val="1E293B"/>
                    </a:solidFill>
                    <a:latin typeface="Calibri"/>
                  </a:rPr>
                  <a:t>, </a:t>
                </a:r>
                <a14:m>
                  <m:oMath xmlns:m="http://schemas.openxmlformats.org/officeDocument/2006/math">
                    <m:sSup>
                      <m:e>
                        <m:r>
                          <a:rPr lang="vi-VN" sz="2000" b="0">
                            <a:solidFill>
                              <a:srgbClr val="1E293B"/>
                            </a:solidFill>
                            <a:latin typeface="Cambria Math" panose="02040503050406030204" pitchFamily="18" charset="0"/>
                          </a:rPr>
                          <m:t>R</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(x)=19−</m:t>
                    </m:r>
                    <m:f>
                      <m:fPr>
                        <m:type m:val="bar"/>
                      </m:fPr>
                      <m:num>
                        <m:r>
                          <a:rPr lang="vi-VN" sz="2000" b="0">
                            <a:solidFill>
                              <a:srgbClr val="1E293B"/>
                            </a:solidFill>
                            <a:latin typeface="Cambria Math" panose="02040503050406030204" pitchFamily="18" charset="0"/>
                          </a:rPr>
                          <m:t>x</m:t>
                        </m:r>
                      </m:num>
                      <m:den>
                        <m:r>
                          <a:rPr lang="vi-VN" sz="2000" b="0">
                            <a:solidFill>
                              <a:srgbClr val="1E293B"/>
                            </a:solidFill>
                            <a:latin typeface="Cambria Math" panose="02040503050406030204" pitchFamily="18" charset="0"/>
                          </a:rPr>
                          <m:t>100</m:t>
                        </m:r>
                      </m:den>
                    </m:f>
                    <m:r>
                      <a:rPr lang="vi-VN" sz="2000" b="0">
                        <a:solidFill>
                          <a:srgbClr val="1E293B"/>
                        </a:solidFill>
                        <a:latin typeface="Cambria Math" panose="02040503050406030204" pitchFamily="18" charset="0"/>
                      </a:rPr>
                      <m:t>=0⇔x=1</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900</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p=9</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5</m:t>
                    </m:r>
                  </m:oMath>
                </a14:m>
                <a:r>
                  <a:rPr sz="2000">
                    <a:solidFill>
                      <a:srgbClr val="1E293B"/>
                    </a:solidFill>
                    <a:latin typeface="Calibri"/>
                  </a:rPr>
                  <a:t>: giảm giá 4,5 triệu đồng.</a:t>
                </a:r>
              </a:p>
            </p:txBody>
          </p:sp>
        </mc:Choice>
        <mc:Fallback>
          <p:sp>
            <p:nvSpPr>
              <p:cNvPr id="11" name="TextBox 10"/>
              <p:cNvSpPr txBox="1"/>
              <p:nvPr/>
            </p:nvSpPr>
            <p:spPr>
              <a:xfrm>
                <a:off x="713232" y="4050791"/>
                <a:ext cx="10735056" cy="77114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a:t>
                </a:r>
                <a:r>
                  <a:rPr lang="vi-VN"/>
                  <a:t>R(x)=19x-\frac{x^2}{200}</a:t>
                </a:r>
                <a:r>
                  <a:rPr sz="2000">
                    <a:solidFill>
                      <a:srgbClr val="1E293B"/>
                    </a:solidFill>
                    <a:latin typeface="Calibri"/>
                  </a:rPr>
                  <a:t>, </a:t>
                </a:r>
                <a:r>
                  <a:rPr lang="vi-VN"/>
                  <a:t>R'(x)=19-\frac{x}{100}=0\Leftrightarrow x=1\ 900</a:t>
                </a:r>
                <a:r>
                  <a:rPr sz="2000">
                    <a:solidFill>
                      <a:srgbClr val="1E293B"/>
                    </a:solidFill>
                    <a:latin typeface="Calibri"/>
                  </a:rPr>
                  <a:t>; </a:t>
                </a:r>
                <a:r>
                  <a:rPr lang="vi-VN"/>
                  <a:t>p=9{,}5</a:t>
                </a:r>
                <a:r>
                  <a:rPr sz="2000">
                    <a:solidFill>
                      <a:srgbClr val="1E293B"/>
                    </a:solidFill>
                    <a:latin typeface="Calibri"/>
                  </a:rPr>
                  <a:t>: giảm giá 4,5 triệu đồng.</a:t>
                </a:r>
              </a:p>
            </p:txBody>
          </p:sp>
        </mc:Fallback>
      </mc:AlternateContent>
      <p:sp>
        <p:nvSpPr>
          <p:cNvPr id="12" name="s3_nen"/>
          <p:cNvSpPr/>
          <p:nvPr/>
        </p:nvSpPr>
        <p:spPr>
          <a:xfrm>
            <a:off x="548640" y="4931663"/>
            <a:ext cx="11064240" cy="1011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4968239"/>
                <a:ext cx="10735056" cy="93878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c) </a:t>
                </a:r>
                <a14:m>
                  <m:oMath xmlns:m="http://schemas.openxmlformats.org/officeDocument/2006/math">
                    <m:r>
                      <a:rPr lang="vi-VN" sz="2000" b="0">
                        <a:solidFill>
                          <a:srgbClr val="1E293B"/>
                        </a:solidFill>
                        <a:latin typeface="Cambria Math" panose="02040503050406030204" pitchFamily="18" charset="0"/>
                      </a:rPr>
                      <m:t>P(x)=R(x)−C(x)=22x−</m:t>
                    </m:r>
                    <m:f>
                      <m:fPr>
                        <m:type m:val="bar"/>
                      </m:fPr>
                      <m:num>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num>
                      <m:den>
                        <m:r>
                          <a:rPr lang="vi-VN" sz="2000" b="0">
                            <a:solidFill>
                              <a:srgbClr val="1E293B"/>
                            </a:solidFill>
                            <a:latin typeface="Cambria Math" panose="02040503050406030204" pitchFamily="18" charset="0"/>
                          </a:rPr>
                          <m:t>200</m:t>
                        </m:r>
                      </m:den>
                    </m:f>
                    <m:r>
                      <a:rPr lang="vi-VN" sz="2000" b="0">
                        <a:solidFill>
                          <a:srgbClr val="1E293B"/>
                        </a:solidFill>
                        <a:latin typeface="Cambria Math" panose="02040503050406030204" pitchFamily="18" charset="0"/>
                      </a:rPr>
                      <m:t>−12</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000</m:t>
                    </m:r>
                  </m:oMath>
                </a14:m>
                <a:r>
                  <a:rPr sz="2000">
                    <a:solidFill>
                      <a:srgbClr val="1E293B"/>
                    </a:solidFill>
                    <a:latin typeface="Calibri"/>
                  </a:rPr>
                  <a:t>, </a:t>
                </a:r>
                <a14:m>
                  <m:oMath xmlns:m="http://schemas.openxmlformats.org/officeDocument/2006/math">
                    <m:sSup>
                      <m:e>
                        <m:r>
                          <a:rPr lang="vi-VN" sz="2000" b="0">
                            <a:solidFill>
                              <a:srgbClr val="1E293B"/>
                            </a:solidFill>
                            <a:latin typeface="Cambria Math" panose="02040503050406030204" pitchFamily="18" charset="0"/>
                          </a:rPr>
                          <m:t>P</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(x)=0⇔x=2</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200</m:t>
                    </m:r>
                  </m:oMath>
                </a14:m>
                <a:r>
                  <a:rPr sz="2000">
                    <a:solidFill>
                      <a:srgbClr val="1E293B"/>
                    </a:solidFill>
                    <a:latin typeface="Calibri"/>
                  </a:rPr>
                  <a:t>; đặt giá </a:t>
                </a:r>
                <a14:m>
                  <m:oMath xmlns:m="http://schemas.openxmlformats.org/officeDocument/2006/math">
                    <m:r>
                      <a:rPr lang="vi-VN" sz="2000" b="0">
                        <a:solidFill>
                          <a:srgbClr val="1E293B"/>
                        </a:solidFill>
                        <a:latin typeface="Cambria Math" panose="02040503050406030204" pitchFamily="18" charset="0"/>
                      </a:rPr>
                      <m:t>p=8</m:t>
                    </m:r>
                  </m:oMath>
                </a14:m>
                <a:r>
                  <a:rPr sz="2000">
                    <a:solidFill>
                      <a:srgbClr val="1E293B"/>
                    </a:solidFill>
                    <a:latin typeface="Calibri"/>
                  </a:rPr>
                  <a:t> triệu đồng/chiếc.</a:t>
                </a:r>
              </a:p>
            </p:txBody>
          </p:sp>
        </mc:Choice>
        <mc:Fallback>
          <p:sp>
            <p:nvSpPr>
              <p:cNvPr id="13" name="TextBox 12"/>
              <p:cNvSpPr txBox="1"/>
              <p:nvPr/>
            </p:nvSpPr>
            <p:spPr>
              <a:xfrm>
                <a:off x="713232" y="4968239"/>
                <a:ext cx="10735056" cy="93878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c) </a:t>
                </a:r>
                <a:r>
                  <a:rPr lang="vi-VN"/>
                  <a:t>P(x)=R(x)-C(x)=22x-\frac{x^2}{200}-12\ 000</a:t>
                </a:r>
                <a:r>
                  <a:rPr sz="2000">
                    <a:solidFill>
                      <a:srgbClr val="1E293B"/>
                    </a:solidFill>
                    <a:latin typeface="Calibri"/>
                  </a:rPr>
                  <a:t>, </a:t>
                </a:r>
                <a:r>
                  <a:rPr lang="vi-VN"/>
                  <a:t>P'(x)=0\Leftrightarrow x=2\ 200</a:t>
                </a:r>
                <a:r>
                  <a:rPr sz="2000">
                    <a:solidFill>
                      <a:srgbClr val="1E293B"/>
                    </a:solidFill>
                    <a:latin typeface="Calibri"/>
                  </a:rPr>
                  <a:t>; đặt giá </a:t>
                </a:r>
                <a:r>
                  <a:rPr lang="vi-VN"/>
                  <a:t>p=8</a:t>
                </a:r>
                <a:r>
                  <a:rPr sz="2000">
                    <a:solidFill>
                      <a:srgbClr val="1E293B"/>
                    </a:solidFill>
                    <a:latin typeface="Calibri"/>
                  </a:rPr>
                  <a:t> triệu đồng/chiếc.</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VỀ NHÀ 1.26 – 1.27 (SGK TR.40 – 41)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21</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104241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1.26.</a:t>
                </a:r>
                <a:r>
                  <a:rPr sz="1900">
                    <a:solidFill>
                      <a:srgbClr val="1E293B"/>
                    </a:solidFill>
                    <a:latin typeface="Calibri"/>
                  </a:rPr>
                  <a:t> Toạ độ của hạt </a:t>
                </a:r>
                <a14:m>
                  <m:oMath xmlns:m="http://schemas.openxmlformats.org/officeDocument/2006/math">
                    <m:r>
                      <a:rPr lang="vi-VN" sz="1900" b="0">
                        <a:solidFill>
                          <a:srgbClr val="1E293B"/>
                        </a:solidFill>
                        <a:latin typeface="Cambria Math" panose="02040503050406030204" pitchFamily="18" charset="0"/>
                      </a:rPr>
                      <m:t>y=</m:t>
                    </m:r>
                    <m:sSup>
                      <m:e>
                        <m:r>
                          <a:rPr lang="vi-VN" sz="1900" b="0">
                            <a:solidFill>
                              <a:srgbClr val="1E293B"/>
                            </a:solidFill>
                            <a:latin typeface="Cambria Math" panose="02040503050406030204" pitchFamily="18" charset="0"/>
                          </a:rPr>
                          <m:t>t</m:t>
                        </m:r>
                      </m:e>
                      <m:sup>
                        <m:r>
                          <a:rPr lang="vi-VN" sz="1900" b="0">
                            <a:solidFill>
                              <a:srgbClr val="1E293B"/>
                            </a:solidFill>
                            <a:latin typeface="Cambria Math" panose="02040503050406030204" pitchFamily="18" charset="0"/>
                          </a:rPr>
                          <m:t>3</m:t>
                        </m:r>
                      </m:sup>
                    </m:sSup>
                    <m:r>
                      <a:rPr lang="vi-VN" sz="1900" b="0">
                        <a:solidFill>
                          <a:srgbClr val="1E293B"/>
                        </a:solidFill>
                        <a:latin typeface="Cambria Math" panose="02040503050406030204" pitchFamily="18" charset="0"/>
                      </a:rPr>
                      <m:t>−12t+3</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t≥0</m:t>
                    </m:r>
                  </m:oMath>
                </a14:m>
                <a:r>
                  <a:rPr sz="1900">
                    <a:solidFill>
                      <a:srgbClr val="1E293B"/>
                    </a:solidFill>
                    <a:latin typeface="Calibri"/>
                  </a:rPr>
                  <a:t> (m, s). a) Tìm hàm vận tốc, gia tốc. b) Khi nào hạt chuyển động lên trên, xuống dưới? c) Quãng đường trong </a:t>
                </a:r>
                <a14:m>
                  <m:oMath xmlns:m="http://schemas.openxmlformats.org/officeDocument/2006/math">
                    <m:r>
                      <a:rPr lang="vi-VN" sz="1900" b="0">
                        <a:solidFill>
                          <a:srgbClr val="1E293B"/>
                        </a:solidFill>
                        <a:latin typeface="Cambria Math" panose="02040503050406030204" pitchFamily="18" charset="0"/>
                      </a:rPr>
                      <m:t>0≤t≤3</m:t>
                    </m:r>
                  </m:oMath>
                </a14:m>
                <a:r>
                  <a:rPr sz="1900">
                    <a:solidFill>
                      <a:srgbClr val="1E293B"/>
                    </a:solidFill>
                    <a:latin typeface="Calibri"/>
                  </a:rPr>
                  <a:t>. d) Khi nào hạt tăng tốc, giảm tốc?</a:t>
                </a:r>
              </a:p>
            </p:txBody>
          </p:sp>
        </mc:Choice>
        <mc:Fallback>
          <p:sp>
            <p:nvSpPr>
              <p:cNvPr id="7" name="TextBox 6"/>
              <p:cNvSpPr txBox="1"/>
              <p:nvPr/>
            </p:nvSpPr>
            <p:spPr>
              <a:xfrm>
                <a:off x="548640" y="1371600"/>
                <a:ext cx="11064240" cy="104241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1.26.</a:t>
                </a:r>
                <a:r>
                  <a:rPr sz="1900">
                    <a:solidFill>
                      <a:srgbClr val="1E293B"/>
                    </a:solidFill>
                    <a:latin typeface="Calibri"/>
                  </a:rPr>
                  <a:t> Toạ độ của hạt </a:t>
                </a:r>
                <a:r>
                  <a:rPr lang="vi-VN"/>
                  <a:t>y=t^3-12t+3</a:t>
                </a:r>
                <a:r>
                  <a:rPr sz="1900">
                    <a:solidFill>
                      <a:srgbClr val="1E293B"/>
                    </a:solidFill>
                    <a:latin typeface="Calibri"/>
                  </a:rPr>
                  <a:t>, </a:t>
                </a:r>
                <a:r>
                  <a:rPr lang="vi-VN"/>
                  <a:t>t\ge 0</a:t>
                </a:r>
                <a:r>
                  <a:rPr sz="1900">
                    <a:solidFill>
                      <a:srgbClr val="1E293B"/>
                    </a:solidFill>
                    <a:latin typeface="Calibri"/>
                  </a:rPr>
                  <a:t> (m, s). a) Tìm hàm vận tốc, gia tốc. b) Khi nào hạt chuyển động lên trên, xuống dưới? c) Quãng đường trong </a:t>
                </a:r>
                <a:r>
                  <a:rPr lang="vi-VN"/>
                  <a:t>0\le t\le 3</a:t>
                </a:r>
                <a:r>
                  <a:rPr sz="1900">
                    <a:solidFill>
                      <a:srgbClr val="1E293B"/>
                    </a:solidFill>
                    <a:latin typeface="Calibri"/>
                  </a:rPr>
                  <a:t>. d) Khi nào hạt tăng tốc, giảm tốc?</a:t>
                </a:r>
              </a:p>
            </p:txBody>
          </p:sp>
        </mc:Fallback>
      </mc:AlternateContent>
      <p:sp>
        <p:nvSpPr>
          <p:cNvPr id="8" name="s1_nen"/>
          <p:cNvSpPr/>
          <p:nvPr/>
        </p:nvSpPr>
        <p:spPr>
          <a:xfrm>
            <a:off x="548640" y="2478024"/>
            <a:ext cx="1106424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514600"/>
                <a:ext cx="107350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a) </a:t>
                </a:r>
                <a14:m>
                  <m:oMath xmlns:m="http://schemas.openxmlformats.org/officeDocument/2006/math">
                    <m:r>
                      <a:rPr lang="vi-VN" sz="1900" b="0">
                        <a:solidFill>
                          <a:srgbClr val="1E293B"/>
                        </a:solidFill>
                        <a:latin typeface="Cambria Math" panose="02040503050406030204" pitchFamily="18" charset="0"/>
                      </a:rPr>
                      <m:t>v=3</m:t>
                    </m:r>
                    <m:sSup>
                      <m:e>
                        <m:r>
                          <a:rPr lang="vi-VN" sz="1900" b="0">
                            <a:solidFill>
                              <a:srgbClr val="1E293B"/>
                            </a:solidFill>
                            <a:latin typeface="Cambria Math" panose="02040503050406030204" pitchFamily="18" charset="0"/>
                          </a:rPr>
                          <m:t>t</m:t>
                        </m:r>
                      </m:e>
                      <m:sup>
                        <m:r>
                          <a:rPr lang="vi-VN" sz="1900" b="0">
                            <a:solidFill>
                              <a:srgbClr val="1E293B"/>
                            </a:solidFill>
                            <a:latin typeface="Cambria Math" panose="02040503050406030204" pitchFamily="18" charset="0"/>
                          </a:rPr>
                          <m:t>2</m:t>
                        </m:r>
                      </m:sup>
                    </m:sSup>
                    <m:r>
                      <a:rPr lang="vi-VN" sz="1900" b="0">
                        <a:solidFill>
                          <a:srgbClr val="1E293B"/>
                        </a:solidFill>
                        <a:latin typeface="Cambria Math" panose="02040503050406030204" pitchFamily="18" charset="0"/>
                      </a:rPr>
                      <m:t>−12</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a=6t</m:t>
                    </m:r>
                  </m:oMath>
                </a14:m>
                <a:r>
                  <a:rPr sz="1900">
                    <a:solidFill>
                      <a:srgbClr val="1E293B"/>
                    </a:solidFill>
                    <a:latin typeface="Calibri"/>
                  </a:rPr>
                  <a:t>. b) Lên trên khi </a:t>
                </a:r>
                <a14:m>
                  <m:oMath xmlns:m="http://schemas.openxmlformats.org/officeDocument/2006/math">
                    <m:r>
                      <a:rPr lang="vi-VN" sz="1900" b="0">
                        <a:solidFill>
                          <a:srgbClr val="1E293B"/>
                        </a:solidFill>
                        <a:latin typeface="Cambria Math" panose="02040503050406030204" pitchFamily="18" charset="0"/>
                      </a:rPr>
                      <m:t>t&gt;2</m:t>
                    </m:r>
                  </m:oMath>
                </a14:m>
                <a:r>
                  <a:rPr sz="1900">
                    <a:solidFill>
                      <a:srgbClr val="1E293B"/>
                    </a:solidFill>
                    <a:latin typeface="Calibri"/>
                  </a:rPr>
                  <a:t>, xuống dưới khi </a:t>
                </a:r>
                <a14:m>
                  <m:oMath xmlns:m="http://schemas.openxmlformats.org/officeDocument/2006/math">
                    <m:r>
                      <a:rPr lang="vi-VN" sz="1900" b="0">
                        <a:solidFill>
                          <a:srgbClr val="1E293B"/>
                        </a:solidFill>
                        <a:latin typeface="Cambria Math" panose="02040503050406030204" pitchFamily="18" charset="0"/>
                      </a:rPr>
                      <m:t>0≤t&lt;2</m:t>
                    </m:r>
                  </m:oMath>
                </a14:m>
                <a:r>
                  <a:rPr sz="1900">
                    <a:solidFill>
                      <a:srgbClr val="1E293B"/>
                    </a:solidFill>
                    <a:latin typeface="Calibri"/>
                  </a:rPr>
                  <a:t>. c) </a:t>
                </a:r>
                <a14:m>
                  <m:oMath xmlns:m="http://schemas.openxmlformats.org/officeDocument/2006/math">
                    <m:r>
                      <a:rPr lang="vi-VN" sz="1900" b="0">
                        <a:solidFill>
                          <a:srgbClr val="1E293B"/>
                        </a:solidFill>
                        <a:latin typeface="Cambria Math" panose="02040503050406030204" pitchFamily="18" charset="0"/>
                      </a:rPr>
                      <m:t>|y(2)−y(0)|+|y(3)−y(2)|=16+7=23</m:t>
                    </m:r>
                  </m:oMath>
                </a14:m>
                <a:r>
                  <a:rPr sz="1900">
                    <a:solidFill>
                      <a:srgbClr val="1E293B"/>
                    </a:solidFill>
                    <a:latin typeface="Calibri"/>
                  </a:rPr>
                  <a:t> m. d) Tăng tốc khi </a:t>
                </a:r>
                <a14:m>
                  <m:oMath xmlns:m="http://schemas.openxmlformats.org/officeDocument/2006/math">
                    <m:r>
                      <a:rPr lang="vi-VN" sz="1900" b="0">
                        <a:solidFill>
                          <a:srgbClr val="1E293B"/>
                        </a:solidFill>
                        <a:latin typeface="Cambria Math" panose="02040503050406030204" pitchFamily="18" charset="0"/>
                      </a:rPr>
                      <m:t>t&gt;2</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v</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a</m:t>
                    </m:r>
                  </m:oMath>
                </a14:m>
                <a:r>
                  <a:rPr sz="1900">
                    <a:solidFill>
                      <a:srgbClr val="1E293B"/>
                    </a:solidFill>
                    <a:latin typeface="Calibri"/>
                  </a:rPr>
                  <a:t> cùng dấu), giảm tốc khi </a:t>
                </a:r>
                <a14:m>
                  <m:oMath xmlns:m="http://schemas.openxmlformats.org/officeDocument/2006/math">
                    <m:r>
                      <a:rPr lang="vi-VN" sz="1900" b="0">
                        <a:solidFill>
                          <a:srgbClr val="1E293B"/>
                        </a:solidFill>
                        <a:latin typeface="Cambria Math" panose="02040503050406030204" pitchFamily="18" charset="0"/>
                      </a:rPr>
                      <m:t>0&lt;t&lt;2</m:t>
                    </m:r>
                  </m:oMath>
                </a14:m>
                <a:r>
                  <a:rPr sz="1900">
                    <a:solidFill>
                      <a:srgbClr val="1E293B"/>
                    </a:solidFill>
                    <a:latin typeface="Calibri"/>
                  </a:rPr>
                  <a:t>.</a:t>
                </a:r>
              </a:p>
            </p:txBody>
          </p:sp>
        </mc:Choice>
        <mc:Fallback>
          <p:sp>
            <p:nvSpPr>
              <p:cNvPr id="9" name="TextBox 8"/>
              <p:cNvSpPr txBox="1"/>
              <p:nvPr/>
            </p:nvSpPr>
            <p:spPr>
              <a:xfrm>
                <a:off x="713232" y="2514600"/>
                <a:ext cx="107350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a) </a:t>
                </a:r>
                <a:r>
                  <a:rPr lang="vi-VN"/>
                  <a:t>v=3t^2-12</a:t>
                </a:r>
                <a:r>
                  <a:rPr sz="1900">
                    <a:solidFill>
                      <a:srgbClr val="1E293B"/>
                    </a:solidFill>
                    <a:latin typeface="Calibri"/>
                  </a:rPr>
                  <a:t>, </a:t>
                </a:r>
                <a:r>
                  <a:rPr lang="vi-VN"/>
                  <a:t>a=6t</a:t>
                </a:r>
                <a:r>
                  <a:rPr sz="1900">
                    <a:solidFill>
                      <a:srgbClr val="1E293B"/>
                    </a:solidFill>
                    <a:latin typeface="Calibri"/>
                  </a:rPr>
                  <a:t>. b) Lên trên khi </a:t>
                </a:r>
                <a:r>
                  <a:rPr lang="vi-VN"/>
                  <a:t>t&gt;2</a:t>
                </a:r>
                <a:r>
                  <a:rPr sz="1900">
                    <a:solidFill>
                      <a:srgbClr val="1E293B"/>
                    </a:solidFill>
                    <a:latin typeface="Calibri"/>
                  </a:rPr>
                  <a:t>, xuống dưới khi </a:t>
                </a:r>
                <a:r>
                  <a:rPr lang="vi-VN"/>
                  <a:t>0\le t&lt;2</a:t>
                </a:r>
                <a:r>
                  <a:rPr sz="1900">
                    <a:solidFill>
                      <a:srgbClr val="1E293B"/>
                    </a:solidFill>
                    <a:latin typeface="Calibri"/>
                  </a:rPr>
                  <a:t>. c) </a:t>
                </a:r>
                <a:r>
                  <a:rPr lang="vi-VN"/>
                  <a:t>|y(2)-y(0)|+|y(3)-y(2)|=16+7=23</a:t>
                </a:r>
                <a:r>
                  <a:rPr sz="1900">
                    <a:solidFill>
                      <a:srgbClr val="1E293B"/>
                    </a:solidFill>
                    <a:latin typeface="Calibri"/>
                  </a:rPr>
                  <a:t> m. d) Tăng tốc khi </a:t>
                </a:r>
                <a:r>
                  <a:rPr lang="vi-VN"/>
                  <a:t>t&gt;2</a:t>
                </a:r>
                <a:r>
                  <a:rPr sz="1900">
                    <a:solidFill>
                      <a:srgbClr val="1E293B"/>
                    </a:solidFill>
                    <a:latin typeface="Calibri"/>
                  </a:rPr>
                  <a:t> (</a:t>
                </a:r>
                <a:r>
                  <a:rPr lang="vi-VN"/>
                  <a:t>v</a:t>
                </a:r>
                <a:r>
                  <a:rPr sz="1900">
                    <a:solidFill>
                      <a:srgbClr val="1E293B"/>
                    </a:solidFill>
                    <a:latin typeface="Calibri"/>
                  </a:rPr>
                  <a:t>, </a:t>
                </a:r>
                <a:r>
                  <a:rPr lang="vi-VN"/>
                  <a:t>a</a:t>
                </a:r>
                <a:r>
                  <a:rPr sz="1900">
                    <a:solidFill>
                      <a:srgbClr val="1E293B"/>
                    </a:solidFill>
                    <a:latin typeface="Calibri"/>
                  </a:rPr>
                  <a:t> cùng dấu), giảm tốc khi </a:t>
                </a:r>
                <a:r>
                  <a:rPr lang="vi-VN"/>
                  <a:t>0&lt;t&lt;2</a:t>
                </a:r>
                <a:r>
                  <a:rPr sz="19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3386328"/>
                <a:ext cx="11064240" cy="75285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1.27.</a:t>
                </a:r>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C(x)=23</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000+50x−0</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5</m:t>
                    </m:r>
                    <m:sSup>
                      <m:e>
                        <m:r>
                          <a:rPr lang="vi-VN" sz="1900" b="0">
                            <a:solidFill>
                              <a:srgbClr val="1E293B"/>
                            </a:solidFill>
                            <a:latin typeface="Cambria Math" panose="02040503050406030204" pitchFamily="18" charset="0"/>
                          </a:rPr>
                          <m:t>x</m:t>
                        </m:r>
                      </m:e>
                      <m:sup>
                        <m:r>
                          <a:rPr lang="vi-VN" sz="1900" b="0">
                            <a:solidFill>
                              <a:srgbClr val="1E293B"/>
                            </a:solidFill>
                            <a:latin typeface="Cambria Math" panose="02040503050406030204" pitchFamily="18" charset="0"/>
                          </a:rPr>
                          <m:t>2</m:t>
                        </m:r>
                      </m:sup>
                    </m:sSup>
                    <m:r>
                      <a:rPr lang="vi-VN" sz="1900" b="0">
                        <a:solidFill>
                          <a:srgbClr val="1E293B"/>
                        </a:solidFill>
                        <a:latin typeface="Cambria Math" panose="02040503050406030204" pitchFamily="18" charset="0"/>
                      </a:rPr>
                      <m:t>+0</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00175</m:t>
                    </m:r>
                    <m:sSup>
                      <m:e>
                        <m:r>
                          <a:rPr lang="vi-VN" sz="1900" b="0">
                            <a:solidFill>
                              <a:srgbClr val="1E293B"/>
                            </a:solidFill>
                            <a:latin typeface="Cambria Math" panose="02040503050406030204" pitchFamily="18" charset="0"/>
                          </a:rPr>
                          <m:t>x</m:t>
                        </m:r>
                      </m:e>
                      <m:sup>
                        <m:r>
                          <a:rPr lang="vi-VN" sz="1900" b="0">
                            <a:solidFill>
                              <a:srgbClr val="1E293B"/>
                            </a:solidFill>
                            <a:latin typeface="Cambria Math" panose="02040503050406030204" pitchFamily="18" charset="0"/>
                          </a:rPr>
                          <m:t>3</m:t>
                        </m:r>
                      </m:sup>
                    </m:sSup>
                  </m:oMath>
                </a14:m>
                <a:r>
                  <a:rPr sz="1900">
                    <a:solidFill>
                      <a:srgbClr val="1E293B"/>
                    </a:solidFill>
                    <a:latin typeface="Calibri"/>
                  </a:rPr>
                  <a:t> (trăm nghìn đồng). a) Hàm chi phí biên. b) </a:t>
                </a:r>
                <a14:m>
                  <m:oMath xmlns:m="http://schemas.openxmlformats.org/officeDocument/2006/math">
                    <m:sSup>
                      <m:e>
                        <m:r>
                          <a:rPr lang="vi-VN" sz="1900" b="0">
                            <a:solidFill>
                              <a:srgbClr val="1E293B"/>
                            </a:solidFill>
                            <a:latin typeface="Cambria Math" panose="02040503050406030204" pitchFamily="18" charset="0"/>
                          </a:rPr>
                          <m:t>C</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(100)</m:t>
                    </m:r>
                  </m:oMath>
                </a14:m>
                <a:r>
                  <a:rPr sz="1900">
                    <a:solidFill>
                      <a:srgbClr val="1E293B"/>
                    </a:solidFill>
                    <a:latin typeface="Calibri"/>
                  </a:rPr>
                  <a:t> và ý nghĩa. c) So sánh với chi phí sản xuất đơn vị thứ 101.</a:t>
                </a:r>
              </a:p>
            </p:txBody>
          </p:sp>
        </mc:Choice>
        <mc:Fallback>
          <p:sp>
            <p:nvSpPr>
              <p:cNvPr id="10" name="TextBox 9"/>
              <p:cNvSpPr txBox="1"/>
              <p:nvPr/>
            </p:nvSpPr>
            <p:spPr>
              <a:xfrm>
                <a:off x="548640" y="3386328"/>
                <a:ext cx="11064240" cy="75285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1.27.</a:t>
                </a:r>
                <a:r>
                  <a:rPr sz="1900">
                    <a:solidFill>
                      <a:srgbClr val="1E293B"/>
                    </a:solidFill>
                    <a:latin typeface="Calibri"/>
                  </a:rPr>
                  <a:t> </a:t>
                </a:r>
                <a:r>
                  <a:rPr lang="vi-VN"/>
                  <a:t>C(x)=23\ 000+50x-0{,}5x^2+0{,}00175x^3</a:t>
                </a:r>
                <a:r>
                  <a:rPr sz="1900">
                    <a:solidFill>
                      <a:srgbClr val="1E293B"/>
                    </a:solidFill>
                    <a:latin typeface="Calibri"/>
                  </a:rPr>
                  <a:t> (trăm nghìn đồng). a) Hàm chi phí biên. b) </a:t>
                </a:r>
                <a:r>
                  <a:rPr lang="vi-VN"/>
                  <a:t>C'(100)</a:t>
                </a:r>
                <a:r>
                  <a:rPr sz="1900">
                    <a:solidFill>
                      <a:srgbClr val="1E293B"/>
                    </a:solidFill>
                    <a:latin typeface="Calibri"/>
                  </a:rPr>
                  <a:t> và ý nghĩa. c) So sánh với chi phí sản xuất đơn vị thứ 101.</a:t>
                </a:r>
              </a:p>
            </p:txBody>
          </p:sp>
        </mc:Fallback>
      </mc:AlternateContent>
      <p:sp>
        <p:nvSpPr>
          <p:cNvPr id="11" name="s3_nen"/>
          <p:cNvSpPr/>
          <p:nvPr/>
        </p:nvSpPr>
        <p:spPr>
          <a:xfrm>
            <a:off x="548640" y="4203192"/>
            <a:ext cx="1106424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4239768"/>
                <a:ext cx="107350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a) </a:t>
                </a:r>
                <a14:m>
                  <m:oMath xmlns:m="http://schemas.openxmlformats.org/officeDocument/2006/math">
                    <m:sSup>
                      <m:e>
                        <m:r>
                          <a:rPr lang="vi-VN" sz="1900" b="0">
                            <a:solidFill>
                              <a:srgbClr val="1E293B"/>
                            </a:solidFill>
                            <a:latin typeface="Cambria Math" panose="02040503050406030204" pitchFamily="18" charset="0"/>
                          </a:rPr>
                          <m:t>C</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(x)=50−x+0</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00525</m:t>
                    </m:r>
                    <m:sSup>
                      <m:e>
                        <m:r>
                          <a:rPr lang="vi-VN" sz="1900" b="0">
                            <a:solidFill>
                              <a:srgbClr val="1E293B"/>
                            </a:solidFill>
                            <a:latin typeface="Cambria Math" panose="02040503050406030204" pitchFamily="18" charset="0"/>
                          </a:rPr>
                          <m:t>x</m:t>
                        </m:r>
                      </m:e>
                      <m:sup>
                        <m:r>
                          <a:rPr lang="vi-VN" sz="1900" b="0">
                            <a:solidFill>
                              <a:srgbClr val="1E293B"/>
                            </a:solidFill>
                            <a:latin typeface="Cambria Math" panose="02040503050406030204" pitchFamily="18" charset="0"/>
                          </a:rPr>
                          <m:t>2</m:t>
                        </m:r>
                      </m:sup>
                    </m:sSup>
                  </m:oMath>
                </a14:m>
                <a:r>
                  <a:rPr sz="1900">
                    <a:solidFill>
                      <a:srgbClr val="1E293B"/>
                    </a:solidFill>
                    <a:latin typeface="Calibri"/>
                  </a:rPr>
                  <a:t>. b) </a:t>
                </a:r>
                <a14:m>
                  <m:oMath xmlns:m="http://schemas.openxmlformats.org/officeDocument/2006/math">
                    <m:sSup>
                      <m:e>
                        <m:r>
                          <a:rPr lang="vi-VN" sz="1900" b="0">
                            <a:solidFill>
                              <a:srgbClr val="1E293B"/>
                            </a:solidFill>
                            <a:latin typeface="Cambria Math" panose="02040503050406030204" pitchFamily="18" charset="0"/>
                          </a:rPr>
                          <m:t>C</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(100)=2</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5</m:t>
                    </m:r>
                  </m:oMath>
                </a14:m>
                <a:r>
                  <a:rPr sz="1900">
                    <a:solidFill>
                      <a:srgbClr val="1E293B"/>
                    </a:solidFill>
                    <a:latin typeface="Calibri"/>
                  </a:rPr>
                  <a:t>: chi phí sản xuất thêm đơn vị thứ 101 khoảng 250 nghìn đồng. c) </a:t>
                </a:r>
                <a14:m>
                  <m:oMath xmlns:m="http://schemas.openxmlformats.org/officeDocument/2006/math">
                    <m:r>
                      <a:rPr lang="vi-VN" sz="1900" b="0">
                        <a:solidFill>
                          <a:srgbClr val="1E293B"/>
                        </a:solidFill>
                        <a:latin typeface="Cambria Math" panose="02040503050406030204" pitchFamily="18" charset="0"/>
                      </a:rPr>
                      <m:t>C(101)−C(100)≈2</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527</m:t>
                    </m:r>
                  </m:oMath>
                </a14:m>
                <a:r>
                  <a:rPr sz="1900">
                    <a:solidFill>
                      <a:srgbClr val="1E293B"/>
                    </a:solidFill>
                    <a:latin typeface="Calibri"/>
                  </a:rPr>
                  <a:t> – xấp xỉ </a:t>
                </a:r>
                <a14:m>
                  <m:oMath xmlns:m="http://schemas.openxmlformats.org/officeDocument/2006/math">
                    <m:sSup>
                      <m:e>
                        <m:r>
                          <a:rPr lang="vi-VN" sz="1900" b="0">
                            <a:solidFill>
                              <a:srgbClr val="1E293B"/>
                            </a:solidFill>
                            <a:latin typeface="Cambria Math" panose="02040503050406030204" pitchFamily="18" charset="0"/>
                          </a:rPr>
                          <m:t>C</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(100)</m:t>
                    </m:r>
                  </m:oMath>
                </a14:m>
                <a:r>
                  <a:rPr sz="1900">
                    <a:solidFill>
                      <a:srgbClr val="1E293B"/>
                    </a:solidFill>
                    <a:latin typeface="Calibri"/>
                  </a:rPr>
                  <a:t>.</a:t>
                </a:r>
              </a:p>
            </p:txBody>
          </p:sp>
        </mc:Choice>
        <mc:Fallback>
          <p:sp>
            <p:nvSpPr>
              <p:cNvPr id="12" name="TextBox 11"/>
              <p:cNvSpPr txBox="1"/>
              <p:nvPr/>
            </p:nvSpPr>
            <p:spPr>
              <a:xfrm>
                <a:off x="713232" y="4239768"/>
                <a:ext cx="107350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a) </a:t>
                </a:r>
                <a:r>
                  <a:rPr lang="vi-VN"/>
                  <a:t>C'(x)=50-x+0{,}00525x^2</a:t>
                </a:r>
                <a:r>
                  <a:rPr sz="1900">
                    <a:solidFill>
                      <a:srgbClr val="1E293B"/>
                    </a:solidFill>
                    <a:latin typeface="Calibri"/>
                  </a:rPr>
                  <a:t>. b) </a:t>
                </a:r>
                <a:r>
                  <a:rPr lang="vi-VN"/>
                  <a:t>C'(100)=2{,}5</a:t>
                </a:r>
                <a:r>
                  <a:rPr sz="1900">
                    <a:solidFill>
                      <a:srgbClr val="1E293B"/>
                    </a:solidFill>
                    <a:latin typeface="Calibri"/>
                  </a:rPr>
                  <a:t>: chi phí sản xuất thêm đơn vị thứ 101 khoảng 250 nghìn đồng. c) </a:t>
                </a:r>
                <a:r>
                  <a:rPr lang="vi-VN"/>
                  <a:t>C(101)-C(100)\approx 2{,}527</a:t>
                </a:r>
                <a:r>
                  <a:rPr sz="1900">
                    <a:solidFill>
                      <a:srgbClr val="1E293B"/>
                    </a:solidFill>
                    <a:latin typeface="Calibri"/>
                  </a:rPr>
                  <a:t> – xấp xỉ </a:t>
                </a:r>
                <a:r>
                  <a:rPr lang="vi-VN"/>
                  <a:t>C'(100)</a:t>
                </a:r>
                <a:r>
                  <a:rPr sz="19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VỀ NHÀ 1.28 – 1.29 (SGK TR.41)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22</a:t>
            </a:r>
          </a:p>
        </p:txBody>
      </p:sp>
      <p:sp>
        <p:nvSpPr>
          <p:cNvPr id="7" name="TextBox 6"/>
          <p:cNvSpPr txBox="1"/>
          <p:nvPr/>
        </p:nvSpPr>
        <p:spPr>
          <a:xfrm>
            <a:off x="548640" y="1371600"/>
            <a:ext cx="11064240" cy="75285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1.28.</a:t>
            </a:r>
            <a:r>
              <a:rPr sz="1900">
                <a:solidFill>
                  <a:srgbClr val="1E293B"/>
                </a:solidFill>
                <a:latin typeface="Calibri"/>
              </a:rPr>
              <a:t> 100 căn hộ, giá thuê 8 triệu đồng/tháng thì kín; mỗi lần tăng giá 100 nghìn đồng thì thêm một căn bị bỏ trống. Đặt giá thuê bao nhiêu để doanh thu lớn nhất?</a:t>
            </a:r>
          </a:p>
        </p:txBody>
      </p:sp>
      <p:sp>
        <p:nvSpPr>
          <p:cNvPr id="8" name="s1_nen"/>
          <p:cNvSpPr/>
          <p:nvPr/>
        </p:nvSpPr>
        <p:spPr>
          <a:xfrm>
            <a:off x="548640" y="2188464"/>
            <a:ext cx="1106424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225040"/>
                <a:ext cx="107350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Tăng giá </a:t>
                </a:r>
                <a14:m>
                  <m:oMath xmlns:m="http://schemas.openxmlformats.org/officeDocument/2006/math">
                    <m:r>
                      <a:rPr lang="vi-VN" sz="1900" b="0">
                        <a:solidFill>
                          <a:srgbClr val="1E293B"/>
                        </a:solidFill>
                        <a:latin typeface="Cambria Math" panose="02040503050406030204" pitchFamily="18" charset="0"/>
                      </a:rPr>
                      <m:t>k</m:t>
                    </m:r>
                  </m:oMath>
                </a14:m>
                <a:r>
                  <a:rPr sz="1900">
                    <a:solidFill>
                      <a:srgbClr val="1E293B"/>
                    </a:solidFill>
                    <a:latin typeface="Calibri"/>
                  </a:rPr>
                  <a:t> lần: </a:t>
                </a:r>
                <a14:m>
                  <m:oMath xmlns:m="http://schemas.openxmlformats.org/officeDocument/2006/math">
                    <m:r>
                      <a:rPr lang="vi-VN" sz="1900" b="0">
                        <a:solidFill>
                          <a:srgbClr val="1E293B"/>
                        </a:solidFill>
                        <a:latin typeface="Cambria Math" panose="02040503050406030204" pitchFamily="18" charset="0"/>
                      </a:rPr>
                      <m:t>R=(8+0</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1k)(100−k)</m:t>
                    </m:r>
                  </m:oMath>
                </a14:m>
                <a:r>
                  <a:rPr sz="1900">
                    <a:solidFill>
                      <a:srgbClr val="1E293B"/>
                    </a:solidFill>
                    <a:latin typeface="Calibri"/>
                  </a:rPr>
                  <a:t>, </a:t>
                </a:r>
                <a14:m>
                  <m:oMath xmlns:m="http://schemas.openxmlformats.org/officeDocument/2006/math">
                    <m:sSup>
                      <m:e>
                        <m:r>
                          <a:rPr lang="vi-VN" sz="1900" b="0">
                            <a:solidFill>
                              <a:srgbClr val="1E293B"/>
                            </a:solidFill>
                            <a:latin typeface="Cambria Math" panose="02040503050406030204" pitchFamily="18" charset="0"/>
                          </a:rPr>
                          <m:t>R</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=0⇔k=10</m:t>
                    </m:r>
                  </m:oMath>
                </a14:m>
                <a:r>
                  <a:rPr sz="1900">
                    <a:solidFill>
                      <a:srgbClr val="1E293B"/>
                    </a:solidFill>
                    <a:latin typeface="Calibri"/>
                  </a:rPr>
                  <a:t>: giá thuê </a:t>
                </a:r>
                <a:r>
                  <a:rPr sz="1900" b="1">
                    <a:solidFill>
                      <a:srgbClr val="1E293B"/>
                    </a:solidFill>
                    <a:latin typeface="Calibri"/>
                  </a:rPr>
                  <a:t>9 triệu đồng</a:t>
                </a:r>
                <a:r>
                  <a:rPr sz="1900">
                    <a:solidFill>
                      <a:srgbClr val="1E293B"/>
                    </a:solidFill>
                    <a:latin typeface="Calibri"/>
                  </a:rPr>
                  <a:t>, doanh thu 810 triệu đồng/tháng.</a:t>
                </a:r>
              </a:p>
            </p:txBody>
          </p:sp>
        </mc:Choice>
        <mc:Fallback>
          <p:sp>
            <p:nvSpPr>
              <p:cNvPr id="9" name="TextBox 8"/>
              <p:cNvSpPr txBox="1"/>
              <p:nvPr/>
            </p:nvSpPr>
            <p:spPr>
              <a:xfrm>
                <a:off x="713232" y="2225040"/>
                <a:ext cx="107350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Tăng giá </a:t>
                </a:r>
                <a:r>
                  <a:rPr lang="vi-VN"/>
                  <a:t>k</a:t>
                </a:r>
                <a:r>
                  <a:rPr sz="1900">
                    <a:solidFill>
                      <a:srgbClr val="1E293B"/>
                    </a:solidFill>
                    <a:latin typeface="Calibri"/>
                  </a:rPr>
                  <a:t> lần: </a:t>
                </a:r>
                <a:r>
                  <a:rPr lang="vi-VN"/>
                  <a:t>R=(8+0{,}1k)(100-k)</a:t>
                </a:r>
                <a:r>
                  <a:rPr sz="1900">
                    <a:solidFill>
                      <a:srgbClr val="1E293B"/>
                    </a:solidFill>
                    <a:latin typeface="Calibri"/>
                  </a:rPr>
                  <a:t>, </a:t>
                </a:r>
                <a:r>
                  <a:rPr lang="vi-VN"/>
                  <a:t>R'=0\Leftrightarrow k=10</a:t>
                </a:r>
                <a:r>
                  <a:rPr sz="1900">
                    <a:solidFill>
                      <a:srgbClr val="1E293B"/>
                    </a:solidFill>
                    <a:latin typeface="Calibri"/>
                  </a:rPr>
                  <a:t>: giá thuê </a:t>
                </a:r>
                <a:r>
                  <a:rPr sz="1900" b="1">
                    <a:solidFill>
                      <a:srgbClr val="1E293B"/>
                    </a:solidFill>
                    <a:latin typeface="Calibri"/>
                  </a:rPr>
                  <a:t>9 triệu đồng</a:t>
                </a:r>
                <a:r>
                  <a:rPr sz="1900">
                    <a:solidFill>
                      <a:srgbClr val="1E293B"/>
                    </a:solidFill>
                    <a:latin typeface="Calibri"/>
                  </a:rPr>
                  <a:t>, doanh thu 810 triệu đồng/tháng.</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3096768"/>
                <a:ext cx="11064240" cy="1172718"/>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1.29.</a:t>
                </a:r>
                <a:r>
                  <a:rPr sz="1900">
                    <a:solidFill>
                      <a:srgbClr val="1E293B"/>
                    </a:solidFill>
                    <a:latin typeface="Calibri"/>
                  </a:rPr>
                  <a:t> Hàm cầu </a:t>
                </a:r>
                <a14:m>
                  <m:oMath xmlns:m="http://schemas.openxmlformats.org/officeDocument/2006/math">
                    <m:r>
                      <a:rPr lang="vi-VN" sz="1900" b="0">
                        <a:solidFill>
                          <a:srgbClr val="1E293B"/>
                        </a:solidFill>
                        <a:latin typeface="Cambria Math" panose="02040503050406030204" pitchFamily="18" charset="0"/>
                      </a:rPr>
                      <m:t>p=</m:t>
                    </m:r>
                    <m:f>
                      <m:fPr>
                        <m:type m:val="bar"/>
                      </m:fPr>
                      <m:num>
                        <m:r>
                          <a:rPr lang="vi-VN" sz="1900" b="0">
                            <a:solidFill>
                              <a:srgbClr val="1E293B"/>
                            </a:solidFill>
                            <a:latin typeface="Cambria Math" panose="02040503050406030204" pitchFamily="18" charset="0"/>
                          </a:rPr>
                          <m:t>354</m:t>
                        </m:r>
                      </m:num>
                      <m:den>
                        <m:r>
                          <a:rPr lang="vi-VN" sz="1900" b="0">
                            <a:solidFill>
                              <a:srgbClr val="1E293B"/>
                            </a:solidFill>
                            <a:latin typeface="Cambria Math" panose="02040503050406030204" pitchFamily="18" charset="0"/>
                          </a:rPr>
                          <m:t>1+0</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01x</m:t>
                        </m:r>
                      </m:den>
                    </m:f>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x≥0</m:t>
                    </m:r>
                  </m:oMath>
                </a14:m>
                <a:r>
                  <a:rPr sz="1900">
                    <a:solidFill>
                      <a:srgbClr val="1E293B"/>
                    </a:solidFill>
                    <a:latin typeface="Calibri"/>
                  </a:rPr>
                  <a:t>. a) Tìm </a:t>
                </a:r>
                <a14:m>
                  <m:oMath xmlns:m="http://schemas.openxmlformats.org/officeDocument/2006/math">
                    <m:r>
                      <a:rPr lang="vi-VN" sz="1900" b="0">
                        <a:solidFill>
                          <a:srgbClr val="1E293B"/>
                        </a:solidFill>
                        <a:latin typeface="Cambria Math" panose="02040503050406030204" pitchFamily="18" charset="0"/>
                      </a:rPr>
                      <m:t>x</m:t>
                    </m:r>
                  </m:oMath>
                </a14:m>
                <a:r>
                  <a:rPr sz="1900">
                    <a:solidFill>
                      <a:srgbClr val="1E293B"/>
                    </a:solidFill>
                    <a:latin typeface="Calibri"/>
                  </a:rPr>
                  <a:t> theo </a:t>
                </a:r>
                <a14:m>
                  <m:oMath xmlns:m="http://schemas.openxmlformats.org/officeDocument/2006/math">
                    <m:r>
                      <a:rPr lang="vi-VN" sz="1900" b="0">
                        <a:solidFill>
                          <a:srgbClr val="1E293B"/>
                        </a:solidFill>
                        <a:latin typeface="Cambria Math" panose="02040503050406030204" pitchFamily="18" charset="0"/>
                      </a:rPr>
                      <m:t>p</m:t>
                    </m:r>
                  </m:oMath>
                </a14:m>
                <a:r>
                  <a:rPr sz="1900">
                    <a:solidFill>
                      <a:srgbClr val="1E293B"/>
                    </a:solidFill>
                    <a:latin typeface="Calibri"/>
                  </a:rPr>
                  <a:t>, tập xác định; số sản phẩm bán được khi </a:t>
                </a:r>
                <a14:m>
                  <m:oMath xmlns:m="http://schemas.openxmlformats.org/officeDocument/2006/math">
                    <m:r>
                      <a:rPr lang="vi-VN" sz="1900" b="0">
                        <a:solidFill>
                          <a:srgbClr val="1E293B"/>
                        </a:solidFill>
                        <a:latin typeface="Cambria Math" panose="02040503050406030204" pitchFamily="18" charset="0"/>
                      </a:rPr>
                      <m:t>p=240</m:t>
                    </m:r>
                  </m:oMath>
                </a14:m>
                <a:r>
                  <a:rPr sz="1900">
                    <a:solidFill>
                      <a:srgbClr val="1E293B"/>
                    </a:solidFill>
                    <a:latin typeface="Calibri"/>
                  </a:rPr>
                  <a:t>. b) Khảo sát </a:t>
                </a:r>
                <a14:m>
                  <m:oMath xmlns:m="http://schemas.openxmlformats.org/officeDocument/2006/math">
                    <m:r>
                      <a:rPr lang="vi-VN" sz="1900" b="0">
                        <a:solidFill>
                          <a:srgbClr val="1E293B"/>
                        </a:solidFill>
                        <a:latin typeface="Cambria Math" panose="02040503050406030204" pitchFamily="18" charset="0"/>
                      </a:rPr>
                      <m:t>x=x(p)</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x</m:t>
                    </m:r>
                  </m:oMath>
                </a14:m>
                <a:r>
                  <a:rPr sz="1900">
                    <a:solidFill>
                      <a:srgbClr val="1E293B"/>
                    </a:solidFill>
                    <a:latin typeface="Calibri"/>
                  </a:rPr>
                  <a:t> thay đổi thế nào khi </a:t>
                </a:r>
                <a14:m>
                  <m:oMath xmlns:m="http://schemas.openxmlformats.org/officeDocument/2006/math">
                    <m:r>
                      <a:rPr lang="vi-VN" sz="1900" b="0">
                        <a:solidFill>
                          <a:srgbClr val="1E293B"/>
                        </a:solidFill>
                        <a:latin typeface="Cambria Math" panose="02040503050406030204" pitchFamily="18" charset="0"/>
                      </a:rPr>
                      <m:t>p</m:t>
                    </m:r>
                  </m:oMath>
                </a14:m>
                <a:r>
                  <a:rPr sz="1900">
                    <a:solidFill>
                      <a:srgbClr val="1E293B"/>
                    </a:solidFill>
                    <a:latin typeface="Calibri"/>
                  </a:rPr>
                  <a:t> tăng; ý nghĩa của </a:t>
                </a:r>
                <a14:m>
                  <m:oMath xmlns:m="http://schemas.openxmlformats.org/officeDocument/2006/math">
                    <m:limLow>
                      <m:e>
                        <m:r>
                          <a:rPr lang="vi-VN" sz="1900" b="0">
                            <a:solidFill>
                              <a:srgbClr val="1E293B"/>
                            </a:solidFill>
                            <a:latin typeface="Cambria Math" panose="02040503050406030204" pitchFamily="18" charset="0"/>
                          </a:rPr>
                          <m:t>lim</m:t>
                        </m:r>
                      </m:e>
                      <m:lim>
                        <m:r>
                          <a:rPr lang="vi-VN" sz="1900" b="0">
                            <a:solidFill>
                              <a:srgbClr val="1E293B"/>
                            </a:solidFill>
                            <a:latin typeface="Cambria Math" panose="02040503050406030204" pitchFamily="18" charset="0"/>
                          </a:rPr>
                          <m:t>p→</m:t>
                        </m:r>
                        <m:sSup>
                          <m:e>
                            <m:r>
                              <a:rPr lang="vi-VN" sz="1900" b="0">
                                <a:solidFill>
                                  <a:srgbClr val="1E293B"/>
                                </a:solidFill>
                                <a:latin typeface="Cambria Math" panose="02040503050406030204" pitchFamily="18" charset="0"/>
                              </a:rPr>
                              <m:t>0</m:t>
                            </m:r>
                          </m:e>
                          <m:sup>
                            <m:r>
                              <a:rPr lang="vi-VN" sz="1900" b="0">
                                <a:solidFill>
                                  <a:srgbClr val="1E293B"/>
                                </a:solidFill>
                                <a:latin typeface="Cambria Math" panose="02040503050406030204" pitchFamily="18" charset="0"/>
                              </a:rPr>
                              <m:t>+</m:t>
                            </m:r>
                          </m:sup>
                        </m:sSup>
                      </m:lim>
                    </m:limLow>
                    <m:r>
                      <a:rPr lang="vi-VN" sz="1900" b="0">
                        <a:solidFill>
                          <a:srgbClr val="1E293B"/>
                        </a:solidFill>
                        <a:latin typeface="Cambria Math" panose="02040503050406030204" pitchFamily="18" charset="0"/>
                      </a:rPr>
                      <m:t>x(p)</m:t>
                    </m:r>
                  </m:oMath>
                </a14:m>
                <a:r>
                  <a:rPr sz="1900">
                    <a:solidFill>
                      <a:srgbClr val="1E293B"/>
                    </a:solidFill>
                    <a:latin typeface="Calibri"/>
                  </a:rPr>
                  <a:t>.</a:t>
                </a:r>
              </a:p>
            </p:txBody>
          </p:sp>
        </mc:Choice>
        <mc:Fallback>
          <p:sp>
            <p:nvSpPr>
              <p:cNvPr id="10" name="TextBox 9"/>
              <p:cNvSpPr txBox="1"/>
              <p:nvPr/>
            </p:nvSpPr>
            <p:spPr>
              <a:xfrm>
                <a:off x="548640" y="3096768"/>
                <a:ext cx="11064240" cy="1172718"/>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1.29.</a:t>
                </a:r>
                <a:r>
                  <a:rPr sz="1900">
                    <a:solidFill>
                      <a:srgbClr val="1E293B"/>
                    </a:solidFill>
                    <a:latin typeface="Calibri"/>
                  </a:rPr>
                  <a:t> Hàm cầu </a:t>
                </a:r>
                <a:r>
                  <a:rPr lang="vi-VN"/>
                  <a:t>p=\frac{354}{1+0{,}01x}</a:t>
                </a:r>
                <a:r>
                  <a:rPr sz="1900">
                    <a:solidFill>
                      <a:srgbClr val="1E293B"/>
                    </a:solidFill>
                    <a:latin typeface="Calibri"/>
                  </a:rPr>
                  <a:t>, </a:t>
                </a:r>
                <a:r>
                  <a:rPr lang="vi-VN"/>
                  <a:t>x\ge 0</a:t>
                </a:r>
                <a:r>
                  <a:rPr sz="1900">
                    <a:solidFill>
                      <a:srgbClr val="1E293B"/>
                    </a:solidFill>
                    <a:latin typeface="Calibri"/>
                  </a:rPr>
                  <a:t>. a) Tìm </a:t>
                </a:r>
                <a:r>
                  <a:rPr lang="vi-VN"/>
                  <a:t>x</a:t>
                </a:r>
                <a:r>
                  <a:rPr sz="1900">
                    <a:solidFill>
                      <a:srgbClr val="1E293B"/>
                    </a:solidFill>
                    <a:latin typeface="Calibri"/>
                  </a:rPr>
                  <a:t> theo </a:t>
                </a:r>
                <a:r>
                  <a:rPr lang="vi-VN"/>
                  <a:t>p</a:t>
                </a:r>
                <a:r>
                  <a:rPr sz="1900">
                    <a:solidFill>
                      <a:srgbClr val="1E293B"/>
                    </a:solidFill>
                    <a:latin typeface="Calibri"/>
                  </a:rPr>
                  <a:t>, tập xác định; số sản phẩm bán được khi </a:t>
                </a:r>
                <a:r>
                  <a:rPr lang="vi-VN"/>
                  <a:t>p=240</a:t>
                </a:r>
                <a:r>
                  <a:rPr sz="1900">
                    <a:solidFill>
                      <a:srgbClr val="1E293B"/>
                    </a:solidFill>
                    <a:latin typeface="Calibri"/>
                  </a:rPr>
                  <a:t>. b) Khảo sát </a:t>
                </a:r>
                <a:r>
                  <a:rPr lang="vi-VN"/>
                  <a:t>x=x(p)</a:t>
                </a:r>
                <a:r>
                  <a:rPr sz="1900">
                    <a:solidFill>
                      <a:srgbClr val="1E293B"/>
                    </a:solidFill>
                    <a:latin typeface="Calibri"/>
                  </a:rPr>
                  <a:t>; </a:t>
                </a:r>
                <a:r>
                  <a:rPr lang="vi-VN"/>
                  <a:t>x</a:t>
                </a:r>
                <a:r>
                  <a:rPr sz="1900">
                    <a:solidFill>
                      <a:srgbClr val="1E293B"/>
                    </a:solidFill>
                    <a:latin typeface="Calibri"/>
                  </a:rPr>
                  <a:t> thay đổi thế nào khi </a:t>
                </a:r>
                <a:r>
                  <a:rPr lang="vi-VN"/>
                  <a:t>p</a:t>
                </a:r>
                <a:r>
                  <a:rPr sz="1900">
                    <a:solidFill>
                      <a:srgbClr val="1E293B"/>
                    </a:solidFill>
                    <a:latin typeface="Calibri"/>
                  </a:rPr>
                  <a:t> tăng; ý nghĩa của </a:t>
                </a:r>
                <a:r>
                  <a:rPr lang="vi-VN"/>
                  <a:t>\lim\limits_{p\to 0^+}x(p)</a:t>
                </a:r>
                <a:r>
                  <a:rPr sz="1900">
                    <a:solidFill>
                      <a:srgbClr val="1E293B"/>
                    </a:solidFill>
                    <a:latin typeface="Calibri"/>
                  </a:rPr>
                  <a:t>.</a:t>
                </a:r>
              </a:p>
            </p:txBody>
          </p:sp>
        </mc:Fallback>
      </mc:AlternateContent>
      <p:sp>
        <p:nvSpPr>
          <p:cNvPr id="11" name="s3_nen"/>
          <p:cNvSpPr/>
          <p:nvPr/>
        </p:nvSpPr>
        <p:spPr>
          <a:xfrm>
            <a:off x="548640" y="4333494"/>
            <a:ext cx="11064240" cy="110490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4370070"/>
                <a:ext cx="10735056" cy="1031748"/>
              </a:xfrm>
              <a:prstGeom prst="rect">
                <a:avLst/>
              </a:prstGeom>
              <a:noFill/>
            </p:spPr>
            <p:txBody>
              <a:bodyPr wrap="square" anchor="ctr" lIns="45720" rIns="45720">
                <a:spAutoFit/>
              </a:bodyPr>
              <a:lstStyle/>
              <a:p>
                <a:pPr algn="l">
                  <a:spcAft>
                    <a:spcPts val="800"/>
                  </a:spcAft>
                </a:pPr>
                <a:r>
                  <a:rPr sz="1900">
                    <a:solidFill>
                      <a:srgbClr val="1E293B"/>
                    </a:solidFill>
                    <a:latin typeface="Calibri"/>
                  </a:rPr>
                  <a:t>a) </a:t>
                </a:r>
                <a14:m>
                  <m:oMath xmlns:m="http://schemas.openxmlformats.org/officeDocument/2006/math">
                    <m:r>
                      <a:rPr lang="vi-VN" sz="1900" b="0">
                        <a:solidFill>
                          <a:srgbClr val="1E293B"/>
                        </a:solidFill>
                        <a:latin typeface="Cambria Math" panose="02040503050406030204" pitchFamily="18" charset="0"/>
                      </a:rPr>
                      <m:t>x=</m:t>
                    </m:r>
                    <m:f>
                      <m:fPr>
                        <m:type m:val="bar"/>
                      </m:fPr>
                      <m:num>
                        <m:r>
                          <a:rPr lang="vi-VN" sz="1900" b="0">
                            <a:solidFill>
                              <a:srgbClr val="1E293B"/>
                            </a:solidFill>
                            <a:latin typeface="Cambria Math" panose="02040503050406030204" pitchFamily="18" charset="0"/>
                          </a:rPr>
                          <m:t>35</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400</m:t>
                        </m:r>
                      </m:num>
                      <m:den>
                        <m:r>
                          <a:rPr lang="vi-VN" sz="1900" b="0">
                            <a:solidFill>
                              <a:srgbClr val="1E293B"/>
                            </a:solidFill>
                            <a:latin typeface="Cambria Math" panose="02040503050406030204" pitchFamily="18" charset="0"/>
                          </a:rPr>
                          <m:t>p</m:t>
                        </m:r>
                      </m:den>
                    </m:f>
                    <m:r>
                      <a:rPr lang="vi-VN" sz="1900" b="0">
                        <a:solidFill>
                          <a:srgbClr val="1E293B"/>
                        </a:solidFill>
                        <a:latin typeface="Cambria Math" panose="02040503050406030204" pitchFamily="18" charset="0"/>
                      </a:rPr>
                      <m:t>−100</m:t>
                    </m:r>
                  </m:oMath>
                </a14:m>
                <a:r>
                  <a:rPr sz="1900">
                    <a:solidFill>
                      <a:srgbClr val="1E293B"/>
                    </a:solidFill>
                    <a:latin typeface="Calibri"/>
                  </a:rPr>
                  <a:t>, </a:t>
                </a:r>
                <a14:m>
                  <m:oMath xmlns:m="http://schemas.openxmlformats.org/officeDocument/2006/math">
                    <m:d>
                      <m:dPr>
                        <m:begChr m:val=""/>
                        <m:sepChr m:val=""/>
                        <m:endChr m:val="]"/>
                      </m:dPr>
                      <m:e>
                        <m:r>
                          <a:rPr lang="vi-VN" sz="1900" b="0">
                            <a:solidFill>
                              <a:srgbClr val="1E293B"/>
                            </a:solidFill>
                            <a:latin typeface="Cambria Math" panose="02040503050406030204" pitchFamily="18" charset="0"/>
                          </a:rPr>
                          <m:t>p</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0</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354</m:t>
                        </m:r>
                      </m:e>
                    </m:d>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x(240)=47</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5</m:t>
                    </m:r>
                  </m:oMath>
                </a14:m>
                <a:r>
                  <a:rPr sz="1900">
                    <a:solidFill>
                      <a:srgbClr val="1E293B"/>
                    </a:solidFill>
                    <a:latin typeface="Calibri"/>
                  </a:rPr>
                  <a:t>. b) </a:t>
                </a:r>
                <a14:m>
                  <m:oMath xmlns:m="http://schemas.openxmlformats.org/officeDocument/2006/math">
                    <m:sSup>
                      <m:e>
                        <m:r>
                          <a:rPr lang="vi-VN" sz="1900" b="0">
                            <a:solidFill>
                              <a:srgbClr val="1E293B"/>
                            </a:solidFill>
                            <a:latin typeface="Cambria Math" panose="02040503050406030204" pitchFamily="18" charset="0"/>
                          </a:rPr>
                          <m:t>x</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(p)=−</m:t>
                    </m:r>
                    <m:f>
                      <m:fPr>
                        <m:type m:val="bar"/>
                      </m:fPr>
                      <m:num>
                        <m:r>
                          <a:rPr lang="vi-VN" sz="1900" b="0">
                            <a:solidFill>
                              <a:srgbClr val="1E293B"/>
                            </a:solidFill>
                            <a:latin typeface="Cambria Math" panose="02040503050406030204" pitchFamily="18" charset="0"/>
                          </a:rPr>
                          <m:t>35</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400</m:t>
                        </m:r>
                      </m:num>
                      <m:den>
                        <m:sSup>
                          <m:e>
                            <m:r>
                              <a:rPr lang="vi-VN" sz="1900" b="0">
                                <a:solidFill>
                                  <a:srgbClr val="1E293B"/>
                                </a:solidFill>
                                <a:latin typeface="Cambria Math" panose="02040503050406030204" pitchFamily="18" charset="0"/>
                              </a:rPr>
                              <m:t>p</m:t>
                            </m:r>
                          </m:e>
                          <m:sup>
                            <m:r>
                              <a:rPr lang="vi-VN" sz="1900" b="0">
                                <a:solidFill>
                                  <a:srgbClr val="1E293B"/>
                                </a:solidFill>
                                <a:latin typeface="Cambria Math" panose="02040503050406030204" pitchFamily="18" charset="0"/>
                              </a:rPr>
                              <m:t>2</m:t>
                            </m:r>
                          </m:sup>
                        </m:sSup>
                      </m:den>
                    </m:f>
                    <m:r>
                      <a:rPr lang="vi-VN" sz="1900" b="0">
                        <a:solidFill>
                          <a:srgbClr val="1E293B"/>
                        </a:solidFill>
                        <a:latin typeface="Cambria Math" panose="02040503050406030204" pitchFamily="18" charset="0"/>
                      </a:rPr>
                      <m:t>&lt;0</m:t>
                    </m:r>
                  </m:oMath>
                </a14:m>
                <a:r>
                  <a:rPr sz="1900">
                    <a:solidFill>
                      <a:srgbClr val="1E293B"/>
                    </a:solidFill>
                    <a:latin typeface="Calibri"/>
                  </a:rPr>
                  <a:t>: giá tăng thì số lượng bán giảm; </a:t>
                </a:r>
                <a14:m>
                  <m:oMath xmlns:m="http://schemas.openxmlformats.org/officeDocument/2006/math">
                    <m:limLow>
                      <m:e>
                        <m:r>
                          <a:rPr lang="vi-VN" sz="1900" b="0">
                            <a:solidFill>
                              <a:srgbClr val="1E293B"/>
                            </a:solidFill>
                            <a:latin typeface="Cambria Math" panose="02040503050406030204" pitchFamily="18" charset="0"/>
                          </a:rPr>
                          <m:t>lim</m:t>
                        </m:r>
                      </m:e>
                      <m:lim>
                        <m:r>
                          <a:rPr lang="vi-VN" sz="1900" b="0">
                            <a:solidFill>
                              <a:srgbClr val="1E293B"/>
                            </a:solidFill>
                            <a:latin typeface="Cambria Math" panose="02040503050406030204" pitchFamily="18" charset="0"/>
                          </a:rPr>
                          <m:t>p→</m:t>
                        </m:r>
                        <m:sSup>
                          <m:e>
                            <m:r>
                              <a:rPr lang="vi-VN" sz="1900" b="0">
                                <a:solidFill>
                                  <a:srgbClr val="1E293B"/>
                                </a:solidFill>
                                <a:latin typeface="Cambria Math" panose="02040503050406030204" pitchFamily="18" charset="0"/>
                              </a:rPr>
                              <m:t>0</m:t>
                            </m:r>
                          </m:e>
                          <m:sup>
                            <m:r>
                              <a:rPr lang="vi-VN" sz="1900" b="0">
                                <a:solidFill>
                                  <a:srgbClr val="1E293B"/>
                                </a:solidFill>
                                <a:latin typeface="Cambria Math" panose="02040503050406030204" pitchFamily="18" charset="0"/>
                              </a:rPr>
                              <m:t>+</m:t>
                            </m:r>
                          </m:sup>
                        </m:sSup>
                      </m:lim>
                    </m:limLow>
                    <m:r>
                      <a:rPr lang="vi-VN" sz="1900" b="0">
                        <a:solidFill>
                          <a:srgbClr val="1E293B"/>
                        </a:solidFill>
                        <a:latin typeface="Cambria Math" panose="02040503050406030204" pitchFamily="18" charset="0"/>
                      </a:rPr>
                      <m:t>x(p)=+∞</m:t>
                    </m:r>
                  </m:oMath>
                </a14:m>
                <a:r>
                  <a:rPr sz="1900">
                    <a:solidFill>
                      <a:srgbClr val="1E293B"/>
                    </a:solidFill>
                    <a:latin typeface="Calibri"/>
                  </a:rPr>
                  <a:t>: giá càng rẻ, nhu cầu càng lớn.</a:t>
                </a:r>
              </a:p>
            </p:txBody>
          </p:sp>
        </mc:Choice>
        <mc:Fallback>
          <p:sp>
            <p:nvSpPr>
              <p:cNvPr id="12" name="TextBox 11"/>
              <p:cNvSpPr txBox="1"/>
              <p:nvPr/>
            </p:nvSpPr>
            <p:spPr>
              <a:xfrm>
                <a:off x="713232" y="4370070"/>
                <a:ext cx="10735056" cy="1031748"/>
              </a:xfrm>
              <a:prstGeom prst="rect">
                <a:avLst/>
              </a:prstGeom>
              <a:noFill/>
            </p:spPr>
            <p:txBody>
              <a:bodyPr wrap="square" anchor="ctr" lIns="45720" rIns="45720">
                <a:spAutoFit/>
              </a:bodyPr>
              <a:lstStyle/>
              <a:p>
                <a:pPr algn="l">
                  <a:spcAft>
                    <a:spcPts val="800"/>
                  </a:spcAft>
                </a:pPr>
                <a:r>
                  <a:rPr sz="1900">
                    <a:solidFill>
                      <a:srgbClr val="1E293B"/>
                    </a:solidFill>
                    <a:latin typeface="Calibri"/>
                  </a:rPr>
                  <a:t>a) </a:t>
                </a:r>
                <a:r>
                  <a:rPr lang="vi-VN"/>
                  <a:t>x=\frac{35\ 400}{p}-100</a:t>
                </a:r>
                <a:r>
                  <a:rPr sz="1900">
                    <a:solidFill>
                      <a:srgbClr val="1E293B"/>
                    </a:solidFill>
                    <a:latin typeface="Calibri"/>
                  </a:rPr>
                  <a:t>, </a:t>
                </a:r>
                <a:r>
                  <a:rPr lang="vi-VN"/>
                  <a:t>p\in(0;\ 354]</a:t>
                </a:r>
                <a:r>
                  <a:rPr sz="1900">
                    <a:solidFill>
                      <a:srgbClr val="1E293B"/>
                    </a:solidFill>
                    <a:latin typeface="Calibri"/>
                  </a:rPr>
                  <a:t>; </a:t>
                </a:r>
                <a:r>
                  <a:rPr lang="vi-VN"/>
                  <a:t>x(240)=47{,}5</a:t>
                </a:r>
                <a:r>
                  <a:rPr sz="1900">
                    <a:solidFill>
                      <a:srgbClr val="1E293B"/>
                    </a:solidFill>
                    <a:latin typeface="Calibri"/>
                  </a:rPr>
                  <a:t>. b) </a:t>
                </a:r>
                <a:r>
                  <a:rPr lang="vi-VN"/>
                  <a:t>x'(p)=-\frac{35\ 400}{p^2}&lt;0</a:t>
                </a:r>
                <a:r>
                  <a:rPr sz="1900">
                    <a:solidFill>
                      <a:srgbClr val="1E293B"/>
                    </a:solidFill>
                    <a:latin typeface="Calibri"/>
                  </a:rPr>
                  <a:t>: giá tăng thì số lượng bán giảm; </a:t>
                </a:r>
                <a:r>
                  <a:rPr lang="vi-VN"/>
                  <a:t>\lim\limits_{p\to 0^+}x(p)=+\infty</a:t>
                </a:r>
                <a:r>
                  <a:rPr sz="1900">
                    <a:solidFill>
                      <a:srgbClr val="1E293B"/>
                    </a:solidFill>
                    <a:latin typeface="Calibri"/>
                  </a:rPr>
                  <a:t>: giá càng rẻ, nhu cầu càng lớn.</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TRÒ CHƠI: RUNG CHUÔNG VÀNG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23</a:t>
            </a:r>
          </a:p>
        </p:txBody>
      </p:sp>
      <p:sp>
        <p:nvSpPr>
          <p:cNvPr id="7" name="Rounded Rectangle 6"/>
          <p:cNvSpPr/>
          <p:nvPr/>
        </p:nvSpPr>
        <p:spPr>
          <a:xfrm>
            <a:off x="1371600" y="1554480"/>
            <a:ext cx="9418320" cy="2962656"/>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36192" y="1591056"/>
            <a:ext cx="9089136" cy="2889504"/>
          </a:xfrm>
          <a:prstGeom prst="rect">
            <a:avLst/>
          </a:prstGeom>
          <a:noFill/>
        </p:spPr>
        <p:txBody>
          <a:bodyPr wrap="square" anchor="ctr" lIns="45720" rIns="45720">
            <a:spAutoFit/>
          </a:bodyPr>
          <a:lstStyle/>
          <a:p>
            <a:pPr algn="ctr">
              <a:spcAft>
                <a:spcPts val="800"/>
              </a:spcAft>
            </a:pPr>
            <a:r>
              <a:rPr sz="3000">
                <a:solidFill>
                  <a:srgbClr val="1E293B"/>
                </a:solidFill>
                <a:latin typeface="Calibri"/>
              </a:rPr>
              <a:t>🔔 </a:t>
            </a:r>
            <a:r>
              <a:rPr sz="3000" b="1">
                <a:solidFill>
                  <a:srgbClr val="1E293B"/>
                </a:solidFill>
                <a:latin typeface="Calibri"/>
              </a:rPr>
              <a:t>Luật chơi</a:t>
            </a:r>
          </a:p>
          <a:p>
            <a:pPr algn="l" marL="365760" indent="-365760">
              <a:spcAft>
                <a:spcPts val="800"/>
              </a:spcAft>
              <a:buClr>
                <a:srgbClr val="1E40AF"/>
              </a:buClr>
              <a:buFont typeface="Arial"/>
              <a:buChar char="•"/>
            </a:pPr>
            <a:r>
              <a:rPr sz="2400">
                <a:solidFill>
                  <a:srgbClr val="1E293B"/>
                </a:solidFill>
                <a:latin typeface="Calibri"/>
              </a:rPr>
              <a:t>Mỗi bạn một bảng con – viết đáp án khi hết giờ.</a:t>
            </a:r>
          </a:p>
          <a:p>
            <a:pPr algn="l" marL="365760" indent="-365760">
              <a:spcAft>
                <a:spcPts val="800"/>
              </a:spcAft>
              <a:buClr>
                <a:srgbClr val="1E40AF"/>
              </a:buClr>
              <a:buFont typeface="Arial"/>
              <a:buChar char="•"/>
            </a:pPr>
            <a:r>
              <a:rPr sz="2400">
                <a:solidFill>
                  <a:srgbClr val="1E293B"/>
                </a:solidFill>
                <a:latin typeface="Calibri"/>
              </a:rPr>
              <a:t>Câu nhiều lựa chọn: ghi A, B, C hoặc D (30 giây).</a:t>
            </a:r>
          </a:p>
          <a:p>
            <a:pPr algn="l" marL="365760" indent="-365760">
              <a:spcAft>
                <a:spcPts val="800"/>
              </a:spcAft>
              <a:buClr>
                <a:srgbClr val="1E40AF"/>
              </a:buClr>
              <a:buFont typeface="Arial"/>
              <a:buChar char="•"/>
            </a:pPr>
            <a:r>
              <a:rPr sz="2400">
                <a:solidFill>
                  <a:srgbClr val="1E293B"/>
                </a:solidFill>
                <a:latin typeface="Calibri"/>
              </a:rPr>
              <a:t>Câu Đúng/Sai: ghi Đ hoặc S cho từng ý (60 giây).</a:t>
            </a:r>
          </a:p>
          <a:p>
            <a:pPr algn="l" marL="365760" indent="-365760">
              <a:spcAft>
                <a:spcPts val="800"/>
              </a:spcAft>
              <a:buClr>
                <a:srgbClr val="1E40AF"/>
              </a:buClr>
              <a:buFont typeface="Arial"/>
              <a:buChar char="•"/>
            </a:pPr>
            <a:r>
              <a:rPr sz="2400">
                <a:solidFill>
                  <a:srgbClr val="1E293B"/>
                </a:solidFill>
                <a:latin typeface="Calibri"/>
              </a:rPr>
              <a:t>Câu trả lời ngắn, thực tế: ghi một số (60 giây).</a:t>
            </a:r>
          </a:p>
          <a:p>
            <a:pPr algn="l" marL="365760" indent="-365760">
              <a:spcAft>
                <a:spcPts val="800"/>
              </a:spcAft>
              <a:buClr>
                <a:srgbClr val="1E40AF"/>
              </a:buClr>
              <a:buFont typeface="Arial"/>
              <a:buChar char="•"/>
            </a:pPr>
            <a:r>
              <a:rPr sz="2400">
                <a:solidFill>
                  <a:srgbClr val="1E293B"/>
                </a:solidFill>
                <a:latin typeface="Calibri"/>
              </a:rPr>
              <a:t>Sai: rời sàn thi. Bạn trụ lại cuối cùng </a:t>
            </a:r>
            <a:r>
              <a:rPr sz="2400" b="1">
                <a:solidFill>
                  <a:srgbClr val="1E293B"/>
                </a:solidFill>
                <a:latin typeface="Calibri"/>
              </a:rPr>
              <a:t>rung chuông vàng</a:t>
            </a:r>
            <a:r>
              <a:rPr sz="2400">
                <a:solidFill>
                  <a:srgbClr val="1E293B"/>
                </a:solidFill>
                <a:latin typeface="Calibri"/>
              </a:rPr>
              <a: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1 (BIẾT)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24</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Một vật chuyển động theo phương trình </a:t>
                </a:r>
                <a14:m>
                  <m:oMath xmlns:m="http://schemas.openxmlformats.org/officeDocument/2006/math">
                    <m:r>
                      <a:rPr lang="vi-VN" sz="2600" b="0">
                        <a:solidFill>
                          <a:srgbClr val="1E293B"/>
                        </a:solidFill>
                        <a:latin typeface="Cambria Math" panose="02040503050406030204" pitchFamily="18" charset="0"/>
                      </a:rPr>
                      <m:t>s(t)=</m:t>
                    </m:r>
                    <m:sSup>
                      <m:e>
                        <m:r>
                          <a:rPr lang="vi-VN" sz="2600" b="0">
                            <a:solidFill>
                              <a:srgbClr val="1E293B"/>
                            </a:solidFill>
                            <a:latin typeface="Cambria Math" panose="02040503050406030204" pitchFamily="18" charset="0"/>
                          </a:rPr>
                          <m:t>t</m:t>
                        </m:r>
                      </m:e>
                      <m:sup>
                        <m:r>
                          <a:rPr lang="vi-VN" sz="2600" b="0">
                            <a:solidFill>
                              <a:srgbClr val="1E293B"/>
                            </a:solidFill>
                            <a:latin typeface="Cambria Math" panose="02040503050406030204" pitchFamily="18" charset="0"/>
                          </a:rPr>
                          <m:t>3</m:t>
                        </m:r>
                      </m:sup>
                    </m:sSup>
                    <m:r>
                      <a:rPr lang="vi-VN" sz="2600" b="0">
                        <a:solidFill>
                          <a:srgbClr val="1E293B"/>
                        </a:solidFill>
                        <a:latin typeface="Cambria Math" panose="02040503050406030204" pitchFamily="18" charset="0"/>
                      </a:rPr>
                      <m:t>−3</m:t>
                    </m:r>
                    <m:sSup>
                      <m:e>
                        <m:r>
                          <a:rPr lang="vi-VN" sz="2600" b="0">
                            <a:solidFill>
                              <a:srgbClr val="1E293B"/>
                            </a:solidFill>
                            <a:latin typeface="Cambria Math" panose="02040503050406030204" pitchFamily="18" charset="0"/>
                          </a:rPr>
                          <m:t>t</m:t>
                        </m:r>
                      </m:e>
                      <m:sup>
                        <m:r>
                          <a:rPr lang="vi-VN" sz="2600" b="0">
                            <a:solidFill>
                              <a:srgbClr val="1E293B"/>
                            </a:solidFill>
                            <a:latin typeface="Cambria Math" panose="02040503050406030204" pitchFamily="18" charset="0"/>
                          </a:rPr>
                          <m:t>2</m:t>
                        </m:r>
                      </m:sup>
                    </m:sSup>
                    <m:r>
                      <a:rPr lang="vi-VN" sz="2600" b="0">
                        <a:solidFill>
                          <a:srgbClr val="1E293B"/>
                        </a:solidFill>
                        <a:latin typeface="Cambria Math" panose="02040503050406030204" pitchFamily="18" charset="0"/>
                      </a:rPr>
                      <m:t>+5</m:t>
                    </m:r>
                  </m:oMath>
                </a14:m>
                <a:r>
                  <a:rPr sz="2600">
                    <a:solidFill>
                      <a:srgbClr val="1E293B"/>
                    </a:solidFill>
                    <a:latin typeface="Calibri"/>
                  </a:rPr>
                  <a:t> (m, s). Vận tốc của vật tại </a:t>
                </a:r>
                <a14:m>
                  <m:oMath xmlns:m="http://schemas.openxmlformats.org/officeDocument/2006/math">
                    <m:r>
                      <a:rPr lang="vi-VN" sz="2600" b="0">
                        <a:solidFill>
                          <a:srgbClr val="1E293B"/>
                        </a:solidFill>
                        <a:latin typeface="Cambria Math" panose="02040503050406030204" pitchFamily="18" charset="0"/>
                      </a:rPr>
                      <m:t>t=2</m:t>
                    </m:r>
                  </m:oMath>
                </a14:m>
                <a:r>
                  <a:rPr sz="2600">
                    <a:solidFill>
                      <a:srgbClr val="1E293B"/>
                    </a:solidFill>
                    <a:latin typeface="Calibri"/>
                  </a:rPr>
                  <a:t> giây bằng</a:t>
                </a:r>
              </a:p>
            </p:txBody>
          </p:sp>
        </mc:Choice>
        <mc:Fallback>
          <p:sp>
            <p:nvSpPr>
              <p:cNvPr id="7" name="TextBox 6"/>
              <p:cNvSpPr txBox="1"/>
              <p:nvPr/>
            </p:nvSpPr>
            <p:spPr>
              <a:xfrm>
                <a:off x="548640" y="137160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Một vật chuyển động theo phương trình </a:t>
                </a:r>
                <a:r>
                  <a:rPr lang="vi-VN"/>
                  <a:t>s(t)=t^3-3t^2+5</a:t>
                </a:r>
                <a:r>
                  <a:rPr sz="2600">
                    <a:solidFill>
                      <a:srgbClr val="1E293B"/>
                    </a:solidFill>
                    <a:latin typeface="Calibri"/>
                  </a:rPr>
                  <a:t> (m, s). Vận tốc của vật tại </a:t>
                </a:r>
                <a:r>
                  <a:rPr lang="vi-VN"/>
                  <a:t>t=2</a:t>
                </a:r>
                <a:r>
                  <a:rPr sz="2600">
                    <a:solidFill>
                      <a:srgbClr val="1E293B"/>
                    </a:solidFill>
                    <a:latin typeface="Calibri"/>
                  </a:rPr>
                  <a:t> giây bằng</a:t>
                </a:r>
              </a:p>
            </p:txBody>
          </p:sp>
        </mc:Fallback>
      </mc:AlternateContent>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0</m:t>
                    </m:r>
                  </m:oMath>
                </a14:m>
                <a:r>
                  <a:rPr sz="2400">
                    <a:solidFill>
                      <a:srgbClr val="1E293B"/>
                    </a:solidFill>
                    <a:latin typeface="Calibri"/>
                  </a:rPr>
                  <a:t> m/s</a:t>
                </a:r>
              </a:p>
            </p:txBody>
          </p:sp>
        </mc:Choice>
        <mc:Fallback>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0</a:t>
                </a:r>
                <a:r>
                  <a:rPr sz="2400">
                    <a:solidFill>
                      <a:srgbClr val="1E293B"/>
                    </a:solidFill>
                    <a:latin typeface="Calibri"/>
                  </a:rPr>
                  <a:t> m/s</a:t>
                </a:r>
              </a:p>
            </p:txBody>
          </p:sp>
        </mc:Fallback>
      </mc:AlternateContent>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1</m:t>
                    </m:r>
                  </m:oMath>
                </a14:m>
                <a:r>
                  <a:rPr sz="2400">
                    <a:solidFill>
                      <a:srgbClr val="1E293B"/>
                    </a:solidFill>
                    <a:latin typeface="Calibri"/>
                  </a:rPr>
                  <a:t> m/s</a:t>
                </a:r>
              </a:p>
            </p:txBody>
          </p:sp>
        </mc:Choice>
        <mc:Fallback>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1</a:t>
                </a:r>
                <a:r>
                  <a:rPr sz="2400">
                    <a:solidFill>
                      <a:srgbClr val="1E293B"/>
                    </a:solidFill>
                    <a:latin typeface="Calibri"/>
                  </a:rPr>
                  <a:t> m/s</a:t>
                </a:r>
              </a:p>
            </p:txBody>
          </p:sp>
        </mc:Fallback>
      </mc:AlternateContent>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6</m:t>
                    </m:r>
                  </m:oMath>
                </a14:m>
                <a:r>
                  <a:rPr sz="2400">
                    <a:solidFill>
                      <a:srgbClr val="1E293B"/>
                    </a:solidFill>
                    <a:latin typeface="Calibri"/>
                  </a:rPr>
                  <a:t> m/s</a:t>
                </a:r>
              </a:p>
            </p:txBody>
          </p:sp>
        </mc:Choice>
        <mc:Fallback>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6</a:t>
                </a:r>
                <a:r>
                  <a:rPr sz="2400">
                    <a:solidFill>
                      <a:srgbClr val="1E293B"/>
                    </a:solidFill>
                    <a:latin typeface="Calibri"/>
                  </a:rPr>
                  <a:t> m/s</a:t>
                </a:r>
              </a:p>
            </p:txBody>
          </p:sp>
        </mc:Fallback>
      </mc:AlternateContent>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12</m:t>
                    </m:r>
                  </m:oMath>
                </a14:m>
                <a:r>
                  <a:rPr sz="2400">
                    <a:solidFill>
                      <a:srgbClr val="1E293B"/>
                    </a:solidFill>
                    <a:latin typeface="Calibri"/>
                  </a:rPr>
                  <a:t> m/s</a:t>
                </a:r>
              </a:p>
            </p:txBody>
          </p:sp>
        </mc:Choice>
        <mc:Fallback>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12</a:t>
                </a:r>
                <a:r>
                  <a:rPr sz="2400">
                    <a:solidFill>
                      <a:srgbClr val="1E293B"/>
                    </a:solidFill>
                    <a:latin typeface="Calibri"/>
                  </a:rPr>
                  <a:t> m/s</a:t>
                </a:r>
              </a:p>
            </p:txBody>
          </p:sp>
        </mc:Fallback>
      </mc:AlternateContent>
      <p:sp>
        <p:nvSpPr>
          <p:cNvPr id="16" name="s1_nen"/>
          <p:cNvSpPr/>
          <p:nvPr/>
        </p:nvSpPr>
        <p:spPr>
          <a:xfrm>
            <a:off x="548640" y="461772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1_chu"/>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A.</a:t>
                </a:r>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v=3</m:t>
                    </m:r>
                    <m:sSup>
                      <m:e>
                        <m:r>
                          <a:rPr lang="vi-VN" sz="2200" b="0">
                            <a:solidFill>
                              <a:srgbClr val="1E293B"/>
                            </a:solidFill>
                            <a:latin typeface="Cambria Math" panose="02040503050406030204" pitchFamily="18" charset="0"/>
                          </a:rPr>
                          <m:t>t</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−6t</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v(2)=0</m:t>
                    </m:r>
                  </m:oMath>
                </a14:m>
                <a:r>
                  <a:rPr sz="2200">
                    <a:solidFill>
                      <a:srgbClr val="1E293B"/>
                    </a:solidFill>
                    <a:latin typeface="Calibri"/>
                  </a:rPr>
                  <a:t>.</a:t>
                </a:r>
              </a:p>
            </p:txBody>
          </p:sp>
        </mc:Choice>
        <mc:Fallback>
          <p:sp>
            <p:nvSpPr>
              <p:cNvPr id="17" name="TextBox 16"/>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A.</a:t>
                </a:r>
                <a:r>
                  <a:rPr sz="2200">
                    <a:solidFill>
                      <a:srgbClr val="1E293B"/>
                    </a:solidFill>
                    <a:latin typeface="Calibri"/>
                  </a:rPr>
                  <a:t> </a:t>
                </a:r>
                <a:r>
                  <a:rPr lang="vi-VN"/>
                  <a:t>v=3t^2-6t</a:t>
                </a:r>
                <a:r>
                  <a:rPr sz="2200">
                    <a:solidFill>
                      <a:srgbClr val="1E293B"/>
                    </a:solidFill>
                    <a:latin typeface="Calibri"/>
                  </a:rPr>
                  <a:t>; </a:t>
                </a:r>
                <a:r>
                  <a:rPr lang="vi-VN"/>
                  <a:t>v(2)=0</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2 (HIỂU)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25</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Chi phí </a:t>
                </a:r>
                <a14:m>
                  <m:oMath xmlns:m="http://schemas.openxmlformats.org/officeDocument/2006/math">
                    <m:r>
                      <a:rPr lang="vi-VN" sz="2600" b="0">
                        <a:solidFill>
                          <a:srgbClr val="1E293B"/>
                        </a:solidFill>
                        <a:latin typeface="Cambria Math" panose="02040503050406030204" pitchFamily="18" charset="0"/>
                      </a:rPr>
                      <m:t>C(x)=</m:t>
                    </m:r>
                    <m:sSup>
                      <m:e>
                        <m:r>
                          <a:rPr lang="vi-VN" sz="2600" b="0">
                            <a:solidFill>
                              <a:srgbClr val="1E293B"/>
                            </a:solidFill>
                            <a:latin typeface="Cambria Math" panose="02040503050406030204" pitchFamily="18" charset="0"/>
                          </a:rPr>
                          <m:t>x</m:t>
                        </m:r>
                      </m:e>
                      <m:sup>
                        <m:r>
                          <a:rPr lang="vi-VN" sz="2600" b="0">
                            <a:solidFill>
                              <a:srgbClr val="1E293B"/>
                            </a:solidFill>
                            <a:latin typeface="Cambria Math" panose="02040503050406030204" pitchFamily="18" charset="0"/>
                          </a:rPr>
                          <m:t>2</m:t>
                        </m:r>
                      </m:sup>
                    </m:sSup>
                    <m:r>
                      <a:rPr lang="vi-VN" sz="2600" b="0">
                        <a:solidFill>
                          <a:srgbClr val="1E293B"/>
                        </a:solidFill>
                        <a:latin typeface="Cambria Math" panose="02040503050406030204" pitchFamily="18" charset="0"/>
                      </a:rPr>
                      <m:t>+10x+500</m:t>
                    </m:r>
                  </m:oMath>
                </a14:m>
                <a:r>
                  <a:rPr sz="2600">
                    <a:solidFill>
                      <a:srgbClr val="1E293B"/>
                    </a:solidFill>
                    <a:latin typeface="Calibri"/>
                  </a:rPr>
                  <a:t> (nghìn đồng). Chi phí biên tại </a:t>
                </a:r>
                <a14:m>
                  <m:oMath xmlns:m="http://schemas.openxmlformats.org/officeDocument/2006/math">
                    <m:r>
                      <a:rPr lang="vi-VN" sz="2600" b="0">
                        <a:solidFill>
                          <a:srgbClr val="1E293B"/>
                        </a:solidFill>
                        <a:latin typeface="Cambria Math" panose="02040503050406030204" pitchFamily="18" charset="0"/>
                      </a:rPr>
                      <m:t>x=50</m:t>
                    </m:r>
                  </m:oMath>
                </a14:m>
                <a:r>
                  <a:rPr sz="2600">
                    <a:solidFill>
                      <a:srgbClr val="1E293B"/>
                    </a:solidFill>
                    <a:latin typeface="Calibri"/>
                  </a:rPr>
                  <a:t> bằng</a:t>
                </a:r>
              </a:p>
            </p:txBody>
          </p:sp>
        </mc:Choice>
        <mc:Fallback>
          <p:sp>
            <p:nvSpPr>
              <p:cNvPr id="7" name="TextBox 6"/>
              <p:cNvSpPr txBox="1"/>
              <p:nvPr/>
            </p:nvSpPr>
            <p:spPr>
              <a:xfrm>
                <a:off x="548640" y="137160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Chi phí </a:t>
                </a:r>
                <a:r>
                  <a:rPr lang="vi-VN"/>
                  <a:t>C(x)=x^2+10x+500</a:t>
                </a:r>
                <a:r>
                  <a:rPr sz="2600">
                    <a:solidFill>
                      <a:srgbClr val="1E293B"/>
                    </a:solidFill>
                    <a:latin typeface="Calibri"/>
                  </a:rPr>
                  <a:t> (nghìn đồng). Chi phí biên tại </a:t>
                </a:r>
                <a:r>
                  <a:rPr lang="vi-VN"/>
                  <a:t>x=50</a:t>
                </a:r>
                <a:r>
                  <a:rPr sz="2600">
                    <a:solidFill>
                      <a:srgbClr val="1E293B"/>
                    </a:solidFill>
                    <a:latin typeface="Calibri"/>
                  </a:rPr>
                  <a:t> bằng</a:t>
                </a:r>
              </a:p>
            </p:txBody>
          </p:sp>
        </mc:Fallback>
      </mc:AlternateContent>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3</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500</m:t>
                    </m:r>
                  </m:oMath>
                </a14:m>
              </a:p>
            </p:txBody>
          </p:sp>
        </mc:Choice>
        <mc:Fallback>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3\ 500</a:t>
                </a:r>
              </a:p>
            </p:txBody>
          </p:sp>
        </mc:Fallback>
      </mc:AlternateContent>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110</m:t>
                    </m:r>
                  </m:oMath>
                </a14:m>
              </a:p>
            </p:txBody>
          </p:sp>
        </mc:Choice>
        <mc:Fallback>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110</a:t>
                </a:r>
              </a:p>
            </p:txBody>
          </p:sp>
        </mc:Fallback>
      </mc:AlternateContent>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60</m:t>
                    </m:r>
                  </m:oMath>
                </a14:m>
              </a:p>
            </p:txBody>
          </p:sp>
        </mc:Choice>
        <mc:Fallback>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60</a:t>
                </a:r>
              </a:p>
            </p:txBody>
          </p:sp>
        </mc:Fallback>
      </mc:AlternateContent>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100</m:t>
                    </m:r>
                  </m:oMath>
                </a14:m>
              </a:p>
            </p:txBody>
          </p:sp>
        </mc:Choice>
        <mc:Fallback>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100</a:t>
                </a:r>
              </a:p>
            </p:txBody>
          </p:sp>
        </mc:Fallback>
      </mc:AlternateContent>
      <p:sp>
        <p:nvSpPr>
          <p:cNvPr id="16" name="s1_nen"/>
          <p:cNvSpPr/>
          <p:nvPr/>
        </p:nvSpPr>
        <p:spPr>
          <a:xfrm>
            <a:off x="548640" y="461772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1_chu"/>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14:m>
                  <m:oMath xmlns:m="http://schemas.openxmlformats.org/officeDocument/2006/math">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(x)=2x+10</m:t>
                    </m:r>
                  </m:oMath>
                </a14:m>
                <a:r>
                  <a:rPr sz="2200">
                    <a:solidFill>
                      <a:srgbClr val="1E293B"/>
                    </a:solidFill>
                    <a:latin typeface="Calibri"/>
                  </a:rPr>
                  <a:t>; </a:t>
                </a:r>
                <a14:m>
                  <m:oMath xmlns:m="http://schemas.openxmlformats.org/officeDocument/2006/math">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(50)=110</m:t>
                    </m:r>
                  </m:oMath>
                </a14:m>
                <a:r>
                  <a:rPr sz="2200">
                    <a:solidFill>
                      <a:srgbClr val="1E293B"/>
                    </a:solidFill>
                    <a:latin typeface="Calibri"/>
                  </a:rPr>
                  <a:t> (nghìn đồng).</a:t>
                </a:r>
              </a:p>
            </p:txBody>
          </p:sp>
        </mc:Choice>
        <mc:Fallback>
          <p:sp>
            <p:nvSpPr>
              <p:cNvPr id="17" name="TextBox 16"/>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r>
                  <a:rPr lang="vi-VN"/>
                  <a:t>C'(x)=2x+10</a:t>
                </a:r>
                <a:r>
                  <a:rPr sz="2200">
                    <a:solidFill>
                      <a:srgbClr val="1E293B"/>
                    </a:solidFill>
                    <a:latin typeface="Calibri"/>
                  </a:rPr>
                  <a:t>; </a:t>
                </a:r>
                <a:r>
                  <a:rPr lang="vi-VN"/>
                  <a:t>C'(50)=110</a:t>
                </a:r>
                <a:r>
                  <a:rPr sz="2200">
                    <a:solidFill>
                      <a:srgbClr val="1E293B"/>
                    </a:solidFill>
                    <a:latin typeface="Calibri"/>
                  </a:rPr>
                  <a:t> (nghìn đồng).</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3 (ĐÚNG/SAI)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26</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905255"/>
              </a:xfrm>
              <a:prstGeom prst="rect">
                <a:avLst/>
              </a:prstGeom>
              <a:noFill/>
            </p:spPr>
            <p:txBody>
              <a:bodyPr wrap="square" anchor="t" lIns="45720" rIns="45720">
                <a:spAutoFit/>
              </a:bodyPr>
              <a:lstStyle/>
              <a:p>
                <a:pPr algn="l">
                  <a:spcAft>
                    <a:spcPts val="800"/>
                  </a:spcAft>
                </a:pPr>
                <a:r>
                  <a:rPr sz="2400">
                    <a:solidFill>
                      <a:srgbClr val="1E293B"/>
                    </a:solidFill>
                    <a:latin typeface="Calibri"/>
                  </a:rPr>
                  <a:t>Lợi nhuận </a:t>
                </a:r>
                <a14:m>
                  <m:oMath xmlns:m="http://schemas.openxmlformats.org/officeDocument/2006/math">
                    <m:r>
                      <a:rPr lang="vi-VN" sz="2400" b="0">
                        <a:solidFill>
                          <a:srgbClr val="1E293B"/>
                        </a:solidFill>
                        <a:latin typeface="Cambria Math" panose="02040503050406030204" pitchFamily="18" charset="0"/>
                      </a:rPr>
                      <m:t>P(x)=−0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3</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3</m:t>
                        </m:r>
                      </m:sup>
                    </m:sSup>
                    <m:r>
                      <a:rPr lang="vi-VN" sz="2400" b="0">
                        <a:solidFill>
                          <a:srgbClr val="1E293B"/>
                        </a:solidFill>
                        <a:latin typeface="Cambria Math" panose="02040503050406030204" pitchFamily="18" charset="0"/>
                      </a:rPr>
                      <m:t>+36</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+1</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800x−48</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000</m:t>
                    </m:r>
                  </m:oMath>
                </a14:m>
                <a:r>
                  <a:rPr sz="2400">
                    <a:solidFill>
                      <a:srgbClr val="1E293B"/>
                    </a:solidFill>
                    <a:latin typeface="Calibri"/>
                  </a:rPr>
                  <a:t> (Ví dụ 7). Xét tính đúng, sai:</a:t>
                </a:r>
              </a:p>
            </p:txBody>
          </p:sp>
        </mc:Choice>
        <mc:Fallback>
          <p:sp>
            <p:nvSpPr>
              <p:cNvPr id="7" name="TextBox 6"/>
              <p:cNvSpPr txBox="1"/>
              <p:nvPr/>
            </p:nvSpPr>
            <p:spPr>
              <a:xfrm>
                <a:off x="548640" y="1371600"/>
                <a:ext cx="11064240" cy="905255"/>
              </a:xfrm>
              <a:prstGeom prst="rect">
                <a:avLst/>
              </a:prstGeom>
              <a:noFill/>
            </p:spPr>
            <p:txBody>
              <a:bodyPr wrap="square" anchor="t" lIns="45720" rIns="45720">
                <a:spAutoFit/>
              </a:bodyPr>
              <a:lstStyle/>
              <a:p>
                <a:pPr algn="l">
                  <a:spcAft>
                    <a:spcPts val="800"/>
                  </a:spcAft>
                </a:pPr>
                <a:r>
                  <a:rPr sz="2400">
                    <a:solidFill>
                      <a:srgbClr val="1E293B"/>
                    </a:solidFill>
                    <a:latin typeface="Calibri"/>
                  </a:rPr>
                  <a:t>Lợi nhuận </a:t>
                </a:r>
                <a:r>
                  <a:rPr lang="vi-VN"/>
                  <a:t>P(x)=-0{,}3x^3+36x^2+1\ 800x-48\ 000</a:t>
                </a:r>
                <a:r>
                  <a:rPr sz="2400">
                    <a:solidFill>
                      <a:srgbClr val="1E293B"/>
                    </a:solidFill>
                    <a:latin typeface="Calibri"/>
                  </a:rPr>
                  <a:t> (Ví dụ 7). Xét tính đúng, sai:</a:t>
                </a:r>
              </a:p>
            </p:txBody>
          </p:sp>
        </mc:Fallback>
      </mc:AlternateContent>
      <mc:AlternateContent xmlns:mc="http://schemas.openxmlformats.org/markup-compatibility/2006">
        <mc:Choice xmlns:a14="http://schemas.microsoft.com/office/drawing/2010/main" Requires="a14">
          <p:sp>
            <p:nvSpPr>
              <p:cNvPr id="8" name="TextBox 7"/>
              <p:cNvSpPr txBox="1"/>
              <p:nvPr/>
            </p:nvSpPr>
            <p:spPr>
              <a:xfrm>
                <a:off x="548640" y="2368296"/>
                <a:ext cx="7680960" cy="916686"/>
              </a:xfrm>
              <a:prstGeom prst="rect">
                <a:avLst/>
              </a:prstGeom>
              <a:noFill/>
            </p:spPr>
            <p:txBody>
              <a:bodyPr wrap="square" anchor="t" lIns="45720" rIns="45720">
                <a:spAutoFit/>
              </a:bodyPr>
              <a:lstStyle/>
              <a:p>
                <a:pPr algn="l">
                  <a:spcAft>
                    <a:spcPts val="800"/>
                  </a:spcAft>
                </a:pPr>
                <a:r>
                  <a:rPr sz="2300">
                    <a:solidFill>
                      <a:srgbClr val="1E293B"/>
                    </a:solidFill>
                    <a:latin typeface="Calibri"/>
                  </a:rPr>
                  <a:t>a) </a:t>
                </a:r>
                <a14:m>
                  <m:oMath xmlns:m="http://schemas.openxmlformats.org/officeDocument/2006/math">
                    <m:sSup>
                      <m:e>
                        <m:r>
                          <a:rPr lang="vi-VN" sz="2300" b="0">
                            <a:solidFill>
                              <a:srgbClr val="1E293B"/>
                            </a:solidFill>
                            <a:latin typeface="Cambria Math" panose="02040503050406030204" pitchFamily="18" charset="0"/>
                          </a:rPr>
                          <m:t>P</m:t>
                        </m:r>
                      </m:e>
                      <m:sup>
                        <m:r>
                          <a:rPr lang="vi-VN" sz="2300" b="0">
                            <a:solidFill>
                              <a:srgbClr val="1E293B"/>
                            </a:solidFill>
                            <a:latin typeface="Cambria Math" panose="02040503050406030204" pitchFamily="18" charset="0"/>
                          </a:rPr>
                          <m:t>′</m:t>
                        </m:r>
                      </m:sup>
                    </m:sSup>
                    <m:r>
                      <a:rPr lang="vi-VN" sz="2300" b="0">
                        <a:solidFill>
                          <a:srgbClr val="1E293B"/>
                        </a:solidFill>
                        <a:latin typeface="Cambria Math" panose="02040503050406030204" pitchFamily="18" charset="0"/>
                      </a:rPr>
                      <m:t>(x)=−0</m:t>
                    </m:r>
                    <m:r>
                      <a:rPr lang="vi-VN" sz="2300" b="0">
                        <a:solidFill>
                          <a:srgbClr val="1E293B"/>
                        </a:solidFill>
                        <a:latin typeface="Cambria Math" panose="02040503050406030204" pitchFamily="18" charset="0"/>
                      </a:rPr>
                      <m:t>,</m:t>
                    </m:r>
                    <m:r>
                      <a:rPr lang="vi-VN" sz="2300" b="0">
                        <a:solidFill>
                          <a:srgbClr val="1E293B"/>
                        </a:solidFill>
                        <a:latin typeface="Cambria Math" panose="02040503050406030204" pitchFamily="18" charset="0"/>
                      </a:rPr>
                      <m:t>9</m:t>
                    </m:r>
                    <m:sSup>
                      <m:e>
                        <m:r>
                          <a:rPr lang="vi-VN" sz="2300" b="0">
                            <a:solidFill>
                              <a:srgbClr val="1E293B"/>
                            </a:solidFill>
                            <a:latin typeface="Cambria Math" panose="02040503050406030204" pitchFamily="18" charset="0"/>
                          </a:rPr>
                          <m:t>x</m:t>
                        </m:r>
                      </m:e>
                      <m:sup>
                        <m:r>
                          <a:rPr lang="vi-VN" sz="2300" b="0">
                            <a:solidFill>
                              <a:srgbClr val="1E293B"/>
                            </a:solidFill>
                            <a:latin typeface="Cambria Math" panose="02040503050406030204" pitchFamily="18" charset="0"/>
                          </a:rPr>
                          <m:t>2</m:t>
                        </m:r>
                      </m:sup>
                    </m:sSup>
                    <m:r>
                      <a:rPr lang="vi-VN" sz="2300" b="0">
                        <a:solidFill>
                          <a:srgbClr val="1E293B"/>
                        </a:solidFill>
                        <a:latin typeface="Cambria Math" panose="02040503050406030204" pitchFamily="18" charset="0"/>
                      </a:rPr>
                      <m:t>+72x+1</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800</m:t>
                    </m:r>
                  </m:oMath>
                </a14:m>
                <a:r>
                  <a:rPr sz="2300">
                    <a:solidFill>
                      <a:srgbClr val="1E293B"/>
                    </a:solidFill>
                    <a:latin typeface="Calibri"/>
                  </a:rPr>
                  <a:t>.</a:t>
                </a:r>
              </a:p>
            </p:txBody>
          </p:sp>
        </mc:Choice>
        <mc:Fallback>
          <p:sp>
            <p:nvSpPr>
              <p:cNvPr id="8" name="TextBox 7"/>
              <p:cNvSpPr txBox="1"/>
              <p:nvPr/>
            </p:nvSpPr>
            <p:spPr>
              <a:xfrm>
                <a:off x="548640" y="2368296"/>
                <a:ext cx="7680960" cy="916686"/>
              </a:xfrm>
              <a:prstGeom prst="rect">
                <a:avLst/>
              </a:prstGeom>
              <a:noFill/>
            </p:spPr>
            <p:txBody>
              <a:bodyPr wrap="square" anchor="t" lIns="45720" rIns="45720">
                <a:spAutoFit/>
              </a:bodyPr>
              <a:lstStyle/>
              <a:p>
                <a:pPr algn="l">
                  <a:spcAft>
                    <a:spcPts val="800"/>
                  </a:spcAft>
                </a:pPr>
                <a:r>
                  <a:rPr sz="2300">
                    <a:solidFill>
                      <a:srgbClr val="1E293B"/>
                    </a:solidFill>
                    <a:latin typeface="Calibri"/>
                  </a:rPr>
                  <a:t>a) </a:t>
                </a:r>
                <a:r>
                  <a:rPr lang="vi-VN"/>
                  <a:t>P'(x)=-0{,}9x^2+72x+1\ 800</a:t>
                </a:r>
                <a:r>
                  <a:rPr sz="2300">
                    <a:solidFill>
                      <a:srgbClr val="1E293B"/>
                    </a:solidFill>
                    <a:latin typeface="Calibri"/>
                  </a:rPr>
                  <a:t>.</a:t>
                </a:r>
              </a:p>
            </p:txBody>
          </p:sp>
        </mc:Fallback>
      </mc:AlternateContent>
      <p:sp>
        <p:nvSpPr>
          <p:cNvPr id="9" name="s1_nen"/>
          <p:cNvSpPr/>
          <p:nvPr/>
        </p:nvSpPr>
        <p:spPr>
          <a:xfrm>
            <a:off x="8412480" y="2340864"/>
            <a:ext cx="3200400" cy="77952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1_chu"/>
          <p:cNvSpPr txBox="1"/>
          <p:nvPr/>
        </p:nvSpPr>
        <p:spPr>
          <a:xfrm>
            <a:off x="8577072" y="2377440"/>
            <a:ext cx="2871216" cy="706374"/>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ĐÚNG</a:t>
            </a:r>
          </a:p>
        </p:txBody>
      </p:sp>
      <mc:AlternateContent xmlns:mc="http://schemas.openxmlformats.org/markup-compatibility/2006">
        <mc:Choice xmlns:a14="http://schemas.microsoft.com/office/drawing/2010/main" Requires="a14">
          <p:sp>
            <p:nvSpPr>
              <p:cNvPr id="11" name="TextBox 10"/>
              <p:cNvSpPr txBox="1"/>
              <p:nvPr/>
            </p:nvSpPr>
            <p:spPr>
              <a:xfrm>
                <a:off x="548640" y="3330702"/>
                <a:ext cx="7680960" cy="916686"/>
              </a:xfrm>
              <a:prstGeom prst="rect">
                <a:avLst/>
              </a:prstGeom>
              <a:noFill/>
            </p:spPr>
            <p:txBody>
              <a:bodyPr wrap="square" anchor="t" lIns="45720" rIns="45720">
                <a:spAutoFit/>
              </a:bodyPr>
              <a:lstStyle/>
              <a:p>
                <a:pPr algn="l">
                  <a:spcAft>
                    <a:spcPts val="800"/>
                  </a:spcAft>
                </a:pPr>
                <a:r>
                  <a:rPr sz="2300">
                    <a:solidFill>
                      <a:srgbClr val="1E293B"/>
                    </a:solidFill>
                    <a:latin typeface="Calibri"/>
                  </a:rPr>
                  <a:t>b) Lợi nhuận lớn nhất khi </a:t>
                </a:r>
                <a14:m>
                  <m:oMath xmlns:m="http://schemas.openxmlformats.org/officeDocument/2006/math">
                    <m:r>
                      <a:rPr lang="vi-VN" sz="2300" b="0">
                        <a:solidFill>
                          <a:srgbClr val="1E293B"/>
                        </a:solidFill>
                        <a:latin typeface="Cambria Math" panose="02040503050406030204" pitchFamily="18" charset="0"/>
                      </a:rPr>
                      <m:t>x=120</m:t>
                    </m:r>
                  </m:oMath>
                </a14:m>
                <a:r>
                  <a:rPr sz="2300">
                    <a:solidFill>
                      <a:srgbClr val="1E293B"/>
                    </a:solidFill>
                    <a:latin typeface="Calibri"/>
                  </a:rPr>
                  <a:t>.</a:t>
                </a:r>
              </a:p>
            </p:txBody>
          </p:sp>
        </mc:Choice>
        <mc:Fallback>
          <p:sp>
            <p:nvSpPr>
              <p:cNvPr id="11" name="TextBox 10"/>
              <p:cNvSpPr txBox="1"/>
              <p:nvPr/>
            </p:nvSpPr>
            <p:spPr>
              <a:xfrm>
                <a:off x="548640" y="3330702"/>
                <a:ext cx="7680960" cy="916686"/>
              </a:xfrm>
              <a:prstGeom prst="rect">
                <a:avLst/>
              </a:prstGeom>
              <a:noFill/>
            </p:spPr>
            <p:txBody>
              <a:bodyPr wrap="square" anchor="t" lIns="45720" rIns="45720">
                <a:spAutoFit/>
              </a:bodyPr>
              <a:lstStyle/>
              <a:p>
                <a:pPr algn="l">
                  <a:spcAft>
                    <a:spcPts val="800"/>
                  </a:spcAft>
                </a:pPr>
                <a:r>
                  <a:rPr sz="2300">
                    <a:solidFill>
                      <a:srgbClr val="1E293B"/>
                    </a:solidFill>
                    <a:latin typeface="Calibri"/>
                  </a:rPr>
                  <a:t>b) Lợi nhuận lớn nhất khi </a:t>
                </a:r>
                <a:r>
                  <a:rPr lang="vi-VN"/>
                  <a:t>x=120</a:t>
                </a:r>
                <a:r>
                  <a:rPr sz="2300">
                    <a:solidFill>
                      <a:srgbClr val="1E293B"/>
                    </a:solidFill>
                    <a:latin typeface="Calibri"/>
                  </a:rPr>
                  <a:t>.</a:t>
                </a:r>
              </a:p>
            </p:txBody>
          </p:sp>
        </mc:Fallback>
      </mc:AlternateContent>
      <p:sp>
        <p:nvSpPr>
          <p:cNvPr id="12" name="s2_nen"/>
          <p:cNvSpPr/>
          <p:nvPr/>
        </p:nvSpPr>
        <p:spPr>
          <a:xfrm>
            <a:off x="8412480" y="3303270"/>
            <a:ext cx="3200400" cy="77952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2_chu"/>
          <p:cNvSpPr txBox="1"/>
          <p:nvPr/>
        </p:nvSpPr>
        <p:spPr>
          <a:xfrm>
            <a:off x="8577072" y="3339846"/>
            <a:ext cx="2871216" cy="706374"/>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SAI</a:t>
            </a:r>
            <a:r>
              <a:rPr sz="2100">
                <a:solidFill>
                  <a:srgbClr val="1E293B"/>
                </a:solidFill>
                <a:latin typeface="Calibri"/>
              </a:rPr>
              <a:t> (x = 100)</a:t>
            </a:r>
          </a:p>
        </p:txBody>
      </p:sp>
      <p:sp>
        <p:nvSpPr>
          <p:cNvPr id="14" name="TextBox 13"/>
          <p:cNvSpPr txBox="1"/>
          <p:nvPr/>
        </p:nvSpPr>
        <p:spPr>
          <a:xfrm>
            <a:off x="548640" y="4293108"/>
            <a:ext cx="7680960" cy="916686"/>
          </a:xfrm>
          <a:prstGeom prst="rect">
            <a:avLst/>
          </a:prstGeom>
          <a:noFill/>
        </p:spPr>
        <p:txBody>
          <a:bodyPr wrap="square" anchor="t" lIns="45720" rIns="45720">
            <a:spAutoFit/>
          </a:bodyPr>
          <a:lstStyle/>
          <a:p>
            <a:pPr algn="l">
              <a:spcAft>
                <a:spcPts val="800"/>
              </a:spcAft>
            </a:pPr>
            <a:r>
              <a:rPr sz="2300">
                <a:solidFill>
                  <a:srgbClr val="1E293B"/>
                </a:solidFill>
                <a:latin typeface="Calibri"/>
              </a:rPr>
              <a:t>c) Sản xuất 20 máy thì hoà vốn.</a:t>
            </a:r>
          </a:p>
        </p:txBody>
      </p:sp>
      <p:sp>
        <p:nvSpPr>
          <p:cNvPr id="15" name="s3_nen"/>
          <p:cNvSpPr/>
          <p:nvPr/>
        </p:nvSpPr>
        <p:spPr>
          <a:xfrm>
            <a:off x="8412480" y="4265676"/>
            <a:ext cx="3200400" cy="77952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3_chu"/>
          <p:cNvSpPr txBox="1"/>
          <p:nvPr/>
        </p:nvSpPr>
        <p:spPr>
          <a:xfrm>
            <a:off x="8577072" y="4302252"/>
            <a:ext cx="2871216" cy="706374"/>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ĐÚNG</a:t>
            </a:r>
            <a:r>
              <a:rPr sz="2100">
                <a:solidFill>
                  <a:srgbClr val="1E293B"/>
                </a:solidFill>
                <a:latin typeface="Calibri"/>
              </a:rPr>
              <a:t> (P(20) = 0)</a:t>
            </a:r>
          </a:p>
        </p:txBody>
      </p:sp>
      <p:sp>
        <p:nvSpPr>
          <p:cNvPr id="17" name="TextBox 16"/>
          <p:cNvSpPr txBox="1"/>
          <p:nvPr/>
        </p:nvSpPr>
        <p:spPr>
          <a:xfrm>
            <a:off x="548640" y="5255514"/>
            <a:ext cx="7680960" cy="916686"/>
          </a:xfrm>
          <a:prstGeom prst="rect">
            <a:avLst/>
          </a:prstGeom>
          <a:noFill/>
        </p:spPr>
        <p:txBody>
          <a:bodyPr wrap="square" anchor="t" lIns="45720" rIns="45720">
            <a:spAutoFit/>
          </a:bodyPr>
          <a:lstStyle/>
          <a:p>
            <a:pPr algn="l">
              <a:spcAft>
                <a:spcPts val="800"/>
              </a:spcAft>
            </a:pPr>
            <a:r>
              <a:rPr sz="2300">
                <a:solidFill>
                  <a:srgbClr val="1E293B"/>
                </a:solidFill>
                <a:latin typeface="Calibri"/>
              </a:rPr>
              <a:t>d) Lợi nhuận lớn nhất là 192 triệu đồng.</a:t>
            </a:r>
          </a:p>
        </p:txBody>
      </p:sp>
      <p:sp>
        <p:nvSpPr>
          <p:cNvPr id="18" name="s4_nen"/>
          <p:cNvSpPr/>
          <p:nvPr/>
        </p:nvSpPr>
        <p:spPr>
          <a:xfrm>
            <a:off x="8412480" y="5228081"/>
            <a:ext cx="3200400" cy="77952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4_chu"/>
          <p:cNvSpPr txBox="1"/>
          <p:nvPr/>
        </p:nvSpPr>
        <p:spPr>
          <a:xfrm>
            <a:off x="8577072" y="5264657"/>
            <a:ext cx="2871216" cy="706374"/>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ĐÚNG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4 (TRẢ LỜI NGẮN)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27</a:t>
            </a:r>
          </a:p>
        </p:txBody>
      </p:sp>
      <p:sp>
        <p:nvSpPr>
          <p:cNvPr id="7" name="TextBox 6"/>
          <p:cNvSpPr txBox="1"/>
          <p:nvPr/>
        </p:nvSpPr>
        <p:spPr>
          <a:xfrm>
            <a:off x="548640" y="146304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Bác Ba có 40 m lưới để rào một mảnh vườn hình chữ nhật. Diện tích lớn nhất của mảnh vườn là bao nhiêu mét vuông?</a:t>
            </a:r>
          </a:p>
        </p:txBody>
      </p:sp>
      <p:sp>
        <p:nvSpPr>
          <p:cNvPr id="8" name="s1_nen"/>
          <p:cNvSpPr/>
          <p:nvPr/>
        </p:nvSpPr>
        <p:spPr>
          <a:xfrm>
            <a:off x="548640" y="3931920"/>
            <a:ext cx="11064240" cy="9966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968496"/>
                <a:ext cx="10735056" cy="923543"/>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100.</a:t>
                </a:r>
                <a:r>
                  <a:rPr sz="2400">
                    <a:solidFill>
                      <a:srgbClr val="1E293B"/>
                    </a:solidFill>
                    <a:latin typeface="Calibri"/>
                  </a:rPr>
                  <a:t> Cạnh </a:t>
                </a:r>
                <a14:m>
                  <m:oMath xmlns:m="http://schemas.openxmlformats.org/officeDocument/2006/math">
                    <m:r>
                      <a:rPr lang="vi-VN" sz="2400" b="0">
                        <a:solidFill>
                          <a:srgbClr val="1E293B"/>
                        </a:solidFill>
                        <a:latin typeface="Cambria Math" panose="02040503050406030204" pitchFamily="18" charset="0"/>
                      </a:rPr>
                      <m:t>x</m:t>
                    </m:r>
                  </m:oMath>
                </a14:m>
                <a:r>
                  <a:rPr sz="2400">
                    <a:solidFill>
                      <a:srgbClr val="1E293B"/>
                    </a:solidFill>
                    <a:latin typeface="Calibri"/>
                  </a:rPr>
                  <a:t>, cạnh kia </a:t>
                </a:r>
                <a14:m>
                  <m:oMath xmlns:m="http://schemas.openxmlformats.org/officeDocument/2006/math">
                    <m:r>
                      <a:rPr lang="vi-VN" sz="2400" b="0">
                        <a:solidFill>
                          <a:srgbClr val="1E293B"/>
                        </a:solidFill>
                        <a:latin typeface="Cambria Math" panose="02040503050406030204" pitchFamily="18" charset="0"/>
                      </a:rPr>
                      <m:t>20−x</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S=x(20−x)</m:t>
                    </m:r>
                  </m:oMath>
                </a14:m>
                <a:r>
                  <a:rPr sz="2400">
                    <a:solidFill>
                      <a:srgbClr val="1E293B"/>
                    </a:solidFill>
                    <a:latin typeface="Calibri"/>
                  </a:rPr>
                  <a:t> lớn nhất khi </a:t>
                </a:r>
                <a14:m>
                  <m:oMath xmlns:m="http://schemas.openxmlformats.org/officeDocument/2006/math">
                    <m:r>
                      <a:rPr lang="vi-VN" sz="2400" b="0">
                        <a:solidFill>
                          <a:srgbClr val="1E293B"/>
                        </a:solidFill>
                        <a:latin typeface="Cambria Math" panose="02040503050406030204" pitchFamily="18" charset="0"/>
                      </a:rPr>
                      <m:t>x=10</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S=100</m:t>
                    </m:r>
                  </m:oMath>
                </a14:m>
                <a:r>
                  <a:rPr sz="2400">
                    <a:solidFill>
                      <a:srgbClr val="1E293B"/>
                    </a:solidFill>
                    <a:latin typeface="Calibri"/>
                  </a:rPr>
                  <a:t> m².</a:t>
                </a:r>
              </a:p>
            </p:txBody>
          </p:sp>
        </mc:Choice>
        <mc:Fallback>
          <p:sp>
            <p:nvSpPr>
              <p:cNvPr id="9" name="TextBox 8"/>
              <p:cNvSpPr txBox="1"/>
              <p:nvPr/>
            </p:nvSpPr>
            <p:spPr>
              <a:xfrm>
                <a:off x="713232" y="3968496"/>
                <a:ext cx="10735056" cy="923543"/>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100.</a:t>
                </a:r>
                <a:r>
                  <a:rPr sz="2400">
                    <a:solidFill>
                      <a:srgbClr val="1E293B"/>
                    </a:solidFill>
                    <a:latin typeface="Calibri"/>
                  </a:rPr>
                  <a:t> Cạnh </a:t>
                </a:r>
                <a:r>
                  <a:rPr lang="vi-VN"/>
                  <a:t>x</a:t>
                </a:r>
                <a:r>
                  <a:rPr sz="2400">
                    <a:solidFill>
                      <a:srgbClr val="1E293B"/>
                    </a:solidFill>
                    <a:latin typeface="Calibri"/>
                  </a:rPr>
                  <a:t>, cạnh kia </a:t>
                </a:r>
                <a:r>
                  <a:rPr lang="vi-VN"/>
                  <a:t>20-x</a:t>
                </a:r>
                <a:r>
                  <a:rPr sz="2400">
                    <a:solidFill>
                      <a:srgbClr val="1E293B"/>
                    </a:solidFill>
                    <a:latin typeface="Calibri"/>
                  </a:rPr>
                  <a:t>: </a:t>
                </a:r>
                <a:r>
                  <a:rPr lang="vi-VN"/>
                  <a:t>S=x(20-x)</a:t>
                </a:r>
                <a:r>
                  <a:rPr sz="2400">
                    <a:solidFill>
                      <a:srgbClr val="1E293B"/>
                    </a:solidFill>
                    <a:latin typeface="Calibri"/>
                  </a:rPr>
                  <a:t> lớn nhất khi </a:t>
                </a:r>
                <a:r>
                  <a:rPr lang="vi-VN"/>
                  <a:t>x=10</a:t>
                </a:r>
                <a:r>
                  <a:rPr sz="2400">
                    <a:solidFill>
                      <a:srgbClr val="1E293B"/>
                    </a:solidFill>
                    <a:latin typeface="Calibri"/>
                  </a:rPr>
                  <a:t>, </a:t>
                </a:r>
                <a:r>
                  <a:rPr lang="vi-VN"/>
                  <a:t>S=100</a:t>
                </a:r>
                <a:r>
                  <a:rPr sz="2400">
                    <a:solidFill>
                      <a:srgbClr val="1E293B"/>
                    </a:solidFill>
                    <a:latin typeface="Calibri"/>
                  </a:rPr>
                  <a:t> m².</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5 (THỰC TẾ)</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28</a:t>
            </a:r>
          </a:p>
        </p:txBody>
      </p:sp>
      <p:sp>
        <p:nvSpPr>
          <p:cNvPr id="7" name="TextBox 6"/>
          <p:cNvSpPr txBox="1"/>
          <p:nvPr/>
        </p:nvSpPr>
        <p:spPr>
          <a:xfrm>
            <a:off x="548640" y="1463040"/>
            <a:ext cx="11064240" cy="1362456"/>
          </a:xfrm>
          <a:prstGeom prst="rect">
            <a:avLst/>
          </a:prstGeom>
          <a:noFill/>
        </p:spPr>
        <p:txBody>
          <a:bodyPr wrap="square" anchor="t" lIns="45720" rIns="45720">
            <a:spAutoFit/>
          </a:bodyPr>
          <a:lstStyle/>
          <a:p>
            <a:pPr algn="l">
              <a:spcAft>
                <a:spcPts val="800"/>
              </a:spcAft>
            </a:pPr>
            <a:r>
              <a:rPr sz="2600">
                <a:solidFill>
                  <a:srgbClr val="1E293B"/>
                </a:solidFill>
                <a:latin typeface="Calibri"/>
              </a:rPr>
              <a:t>Một cửa hàng bán 100 cây cà phê giống mỗi ngày với giá 20 nghìn đồng/cây; cứ giảm 1 nghìn đồng thì bán thêm 10 cây. Giá bán bao nhiêu nghìn đồng/cây để doanh thu lớn nhất?</a:t>
            </a:r>
          </a:p>
        </p:txBody>
      </p:sp>
      <p:sp>
        <p:nvSpPr>
          <p:cNvPr id="8" name="s1_nen"/>
          <p:cNvSpPr/>
          <p:nvPr/>
        </p:nvSpPr>
        <p:spPr>
          <a:xfrm>
            <a:off x="548640" y="3931920"/>
            <a:ext cx="11064240" cy="9966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968496"/>
                <a:ext cx="10735056" cy="923543"/>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15.</a:t>
                </a:r>
                <a:r>
                  <a:rPr sz="2400">
                    <a:solidFill>
                      <a:srgbClr val="1E293B"/>
                    </a:solidFill>
                    <a:latin typeface="Calibri"/>
                  </a:rPr>
                  <a:t> Giá </a:t>
                </a:r>
                <a14:m>
                  <m:oMath xmlns:m="http://schemas.openxmlformats.org/officeDocument/2006/math">
                    <m:r>
                      <a:rPr lang="vi-VN" sz="2400" b="0">
                        <a:solidFill>
                          <a:srgbClr val="1E293B"/>
                        </a:solidFill>
                        <a:latin typeface="Cambria Math" panose="02040503050406030204" pitchFamily="18" charset="0"/>
                      </a:rPr>
                      <m:t>p</m:t>
                    </m:r>
                  </m:oMath>
                </a14:m>
                <a:r>
                  <a:rPr sz="2400">
                    <a:solidFill>
                      <a:srgbClr val="1E293B"/>
                    </a:solidFill>
                    <a:latin typeface="Calibri"/>
                  </a:rPr>
                  <a:t>: số cây </a:t>
                </a:r>
                <a14:m>
                  <m:oMath xmlns:m="http://schemas.openxmlformats.org/officeDocument/2006/math">
                    <m:r>
                      <a:rPr lang="vi-VN" sz="2400" b="0">
                        <a:solidFill>
                          <a:srgbClr val="1E293B"/>
                        </a:solidFill>
                        <a:latin typeface="Cambria Math" panose="02040503050406030204" pitchFamily="18" charset="0"/>
                      </a:rPr>
                      <m:t>100+10(20−p)=300−10p</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R=p(300−10p)</m:t>
                    </m:r>
                  </m:oMath>
                </a14:m>
                <a:r>
                  <a:rPr sz="2400">
                    <a:solidFill>
                      <a:srgbClr val="1E293B"/>
                    </a:solidFill>
                    <a:latin typeface="Calibri"/>
                  </a:rPr>
                  <a:t>, </a:t>
                </a:r>
                <a14:m>
                  <m:oMath xmlns:m="http://schemas.openxmlformats.org/officeDocument/2006/math">
                    <m:sSup>
                      <m:e>
                        <m:r>
                          <a:rPr lang="vi-VN" sz="2400" b="0">
                            <a:solidFill>
                              <a:srgbClr val="1E293B"/>
                            </a:solidFill>
                            <a:latin typeface="Cambria Math" panose="02040503050406030204" pitchFamily="18" charset="0"/>
                          </a:rPr>
                          <m:t>R</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=300−20p=0⇔p=15</m:t>
                    </m:r>
                  </m:oMath>
                </a14:m>
                <a:r>
                  <a:rPr sz="2400">
                    <a:solidFill>
                      <a:srgbClr val="1E293B"/>
                    </a:solidFill>
                    <a:latin typeface="Calibri"/>
                  </a:rPr>
                  <a:t>.</a:t>
                </a:r>
              </a:p>
            </p:txBody>
          </p:sp>
        </mc:Choice>
        <mc:Fallback>
          <p:sp>
            <p:nvSpPr>
              <p:cNvPr id="9" name="TextBox 8"/>
              <p:cNvSpPr txBox="1"/>
              <p:nvPr/>
            </p:nvSpPr>
            <p:spPr>
              <a:xfrm>
                <a:off x="713232" y="3968496"/>
                <a:ext cx="10735056" cy="923543"/>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15.</a:t>
                </a:r>
                <a:r>
                  <a:rPr sz="2400">
                    <a:solidFill>
                      <a:srgbClr val="1E293B"/>
                    </a:solidFill>
                    <a:latin typeface="Calibri"/>
                  </a:rPr>
                  <a:t> Giá </a:t>
                </a:r>
                <a:r>
                  <a:rPr lang="vi-VN"/>
                  <a:t>p</a:t>
                </a:r>
                <a:r>
                  <a:rPr sz="2400">
                    <a:solidFill>
                      <a:srgbClr val="1E293B"/>
                    </a:solidFill>
                    <a:latin typeface="Calibri"/>
                  </a:rPr>
                  <a:t>: số cây </a:t>
                </a:r>
                <a:r>
                  <a:rPr lang="vi-VN"/>
                  <a:t>100+10(20-p)=300-10p</a:t>
                </a:r>
                <a:r>
                  <a:rPr sz="2400">
                    <a:solidFill>
                      <a:srgbClr val="1E293B"/>
                    </a:solidFill>
                    <a:latin typeface="Calibri"/>
                  </a:rPr>
                  <a:t>; </a:t>
                </a:r>
                <a:r>
                  <a:rPr lang="vi-VN"/>
                  <a:t>R=p(300-10p)</a:t>
                </a:r>
                <a:r>
                  <a:rPr sz="2400">
                    <a:solidFill>
                      <a:srgbClr val="1E293B"/>
                    </a:solidFill>
                    <a:latin typeface="Calibri"/>
                  </a:rPr>
                  <a:t>, </a:t>
                </a:r>
                <a:r>
                  <a:rPr lang="vi-VN"/>
                  <a:t>R'=300-20p=0\Leftrightarrow p=15</a:t>
                </a:r>
                <a:r>
                  <a:rPr sz="24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CỦNG CỐ TRỰC TUYẾN – NHIỆM VỤ VỀ NHÀ</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29</a:t>
            </a:r>
          </a:p>
        </p:txBody>
      </p:sp>
      <p:sp>
        <p:nvSpPr>
          <p:cNvPr id="7" name="TextBox 6"/>
          <p:cNvSpPr txBox="1"/>
          <p:nvPr/>
        </p:nvSpPr>
        <p:spPr>
          <a:xfrm>
            <a:off x="548640" y="1417320"/>
            <a:ext cx="7589520" cy="475488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Bài củng cố trực tuyến</a:t>
            </a:r>
            <a:r>
              <a:rPr sz="2200">
                <a:solidFill>
                  <a:srgbClr val="1E293B"/>
                </a:solidFill>
                <a:latin typeface="Calibri"/>
              </a:rPr>
              <a:t> – quét mã QR hoặc mở đường link:</a:t>
            </a:r>
          </a:p>
          <a:p>
            <a:pPr algn="l">
              <a:spcAft>
                <a:spcPts val="800"/>
              </a:spcAft>
            </a:pPr>
            <a:r>
              <a:rPr sz="2000">
                <a:solidFill>
                  <a:srgbClr val="64748B"/>
                </a:solidFill>
                <a:latin typeface="Calibri"/>
              </a:rPr>
              <a:t>https://trangtu66.github.io/Taode_thi_online/cc_bai5_t12.html</a:t>
            </a:r>
          </a:p>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Hoàn thành Bài tập 1.26 – 1.29.</a:t>
            </a:r>
          </a:p>
          <a:p>
            <a:pPr algn="l" marL="365760" indent="-365760">
              <a:spcAft>
                <a:spcPts val="800"/>
              </a:spcAft>
              <a:buClr>
                <a:srgbClr val="1E40AF"/>
              </a:buClr>
              <a:buFont typeface="Arial"/>
              <a:buChar char="•"/>
            </a:pPr>
            <a:r>
              <a:rPr sz="2200">
                <a:solidFill>
                  <a:srgbClr val="1E293B"/>
                </a:solidFill>
                <a:latin typeface="Calibri"/>
              </a:rPr>
              <a:t>Chuẩn bị cho </a:t>
            </a:r>
            <a:r>
              <a:rPr sz="2200" b="1">
                <a:solidFill>
                  <a:srgbClr val="1E293B"/>
                </a:solidFill>
                <a:latin typeface="Calibri"/>
              </a:rPr>
              <a:t>chủ đề STEM</a:t>
            </a:r>
            <a:r>
              <a:rPr sz="2200">
                <a:solidFill>
                  <a:srgbClr val="1E293B"/>
                </a:solidFill>
                <a:latin typeface="Calibri"/>
              </a:rPr>
              <a:t> (T21): mỗi nhóm 2 tấm bìa A4, kéo, băng dính, thước, máy tính cầm tay.</a:t>
            </a:r>
          </a:p>
        </p:txBody>
      </p:sp>
      <p:pic>
        <p:nvPicPr>
          <p:cNvPr id="8" name="Picture 7" descr="QR_CungCo_Bai5_Toan12.png"/>
          <p:cNvPicPr>
            <a:picLocks noChangeAspect="1"/>
          </p:cNvPicPr>
          <p:nvPr/>
        </p:nvPicPr>
        <p:blipFill>
          <a:blip r:embed="rId3"/>
          <a:stretch>
            <a:fillRect/>
          </a:stretch>
        </p:blipFill>
        <p:spPr>
          <a:xfrm>
            <a:off x="8412480" y="1554480"/>
            <a:ext cx="3291840" cy="3291840"/>
          </a:xfrm>
          <a:prstGeom prst="rect">
            <a:avLst/>
          </a:prstGeom>
        </p:spPr>
      </p:pic>
      <p:sp>
        <p:nvSpPr>
          <p:cNvPr id="9" name="Rounded Rectangle 8">
            <a:hlinkClick r:id="rId4"/>
          </p:cNvPr>
          <p:cNvSpPr/>
          <p:nvPr/>
        </p:nvSpPr>
        <p:spPr>
          <a:xfrm>
            <a:off x="8412480" y="5029200"/>
            <a:ext cx="3291840" cy="59436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MỞ BÀI CỦNG CỐ</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SƠ ĐỒ TƯ DUY – BÀI 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30</a:t>
            </a:r>
          </a:p>
        </p:txBody>
      </p:sp>
      <p:pic>
        <p:nvPicPr>
          <p:cNvPr id="7" name="Picture 6" descr="SoDoTuDuy_TOAN12_Bai5_UngDungDaoHam_T19-20.png"/>
          <p:cNvPicPr>
            <a:picLocks noChangeAspect="1"/>
          </p:cNvPicPr>
          <p:nvPr/>
        </p:nvPicPr>
        <p:blipFill>
          <a:blip r:embed="rId3"/>
          <a:stretch>
            <a:fillRect/>
          </a:stretch>
        </p:blipFill>
        <p:spPr>
          <a:xfrm>
            <a:off x="1765397" y="1371600"/>
            <a:ext cx="8630725" cy="484632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000" b="1">
                <a:solidFill>
                  <a:srgbClr val="FCD34D"/>
                </a:solidFill>
                <a:latin typeface="Cambria"/>
              </a:rPr>
              <a:t>CHƯƠNG I. ỨNG DỤNG ĐẠO HÀM ĐỂ KHẢO SÁT VÀ VẼ ĐỒ THỊ HÀM SỐ</a:t>
            </a:r>
          </a:p>
          <a:p>
            <a:pPr>
              <a:spcAft>
                <a:spcPts val="600"/>
              </a:spcAft>
            </a:pPr>
            <a:r>
              <a:rPr sz="3000" b="1">
                <a:solidFill>
                  <a:srgbClr val="FFFFFF"/>
                </a:solidFill>
                <a:latin typeface="Cambria"/>
              </a:rPr>
              <a:t>CHỦ ĐỀ STEM</a:t>
            </a:r>
          </a:p>
          <a:p>
            <a:pPr>
              <a:spcAft>
                <a:spcPts val="600"/>
              </a:spcAft>
            </a:pPr>
            <a:r>
              <a:rPr sz="3400" b="1">
                <a:solidFill>
                  <a:srgbClr val="FFFFFF"/>
                </a:solidFill>
                <a:latin typeface="Cambria"/>
              </a:rPr>
              <a:t>THIẾT KẾ HỘP CÓ THỂ TÍCH LỚN NHẤT VỚI LƯỢNG VẬT LIỆU CHO TRƯỚC</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Thuộc Bài 5 – 2 tiết: T21 – T22 (và thời gian ngoài giờ lên lớp)</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3 (T21)</a:t>
            </a:r>
          </a:p>
          <a:p>
            <a:pPr>
              <a:spcAft>
                <a:spcPts val="600"/>
              </a:spcAft>
            </a:pPr>
            <a:r>
              <a:rPr sz="4000" b="1">
                <a:solidFill>
                  <a:srgbClr val="FFFFFF"/>
                </a:solidFill>
                <a:latin typeface="Cambria"/>
              </a:rPr>
              <a:t>STEM – Xác định vấn đề, kiến thức nền, bản thiết kế</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Lập hàm thể tích hộp, tìm giá trị lớn nhất bằng đạo hàm.</a:t>
            </a:r>
          </a:p>
          <a:p>
            <a:pPr algn="l">
              <a:spcAft>
                <a:spcPts val="800"/>
              </a:spcAft>
            </a:pPr>
            <a:r>
              <a:rPr sz="2200">
                <a:solidFill>
                  <a:srgbClr val="E0E7FF"/>
                </a:solidFill>
                <a:latin typeface="Calibri"/>
              </a:rPr>
              <a:t>• Lập bản thiết kế hộp từ một tấm bìa A4; kiểm chứng lời giải AI.</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KHỞI ĐỘNG</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HĐ1. XÁC ĐỊNH VẤN ĐỀ – HỘP ĐỰNG CÀ PHÊ</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33</a:t>
            </a:r>
          </a:p>
        </p:txBody>
      </p:sp>
      <mc:AlternateContent xmlns:mc="http://schemas.openxmlformats.org/markup-compatibility/2006">
        <mc:Choice xmlns:a14="http://schemas.microsoft.com/office/drawing/2010/main" Requires="a14">
          <p:sp>
            <p:nvSpPr>
              <p:cNvPr id="7" name="TextBox 6"/>
              <p:cNvSpPr txBox="1"/>
              <p:nvPr/>
            </p:nvSpPr>
            <p:spPr>
              <a:xfrm>
                <a:off x="548640" y="1325880"/>
                <a:ext cx="7680960" cy="1545336"/>
              </a:xfrm>
              <a:prstGeom prst="rect">
                <a:avLst/>
              </a:prstGeom>
              <a:noFill/>
            </p:spPr>
            <p:txBody>
              <a:bodyPr wrap="square" anchor="t" lIns="45720" rIns="45720">
                <a:spAutoFit/>
              </a:bodyPr>
              <a:lstStyle/>
              <a:p>
                <a:pPr algn="l">
                  <a:spcAft>
                    <a:spcPts val="800"/>
                  </a:spcAft>
                </a:pPr>
                <a:r>
                  <a:rPr sz="1800">
                    <a:solidFill>
                      <a:srgbClr val="1E293B"/>
                    </a:solidFill>
                    <a:latin typeface="Calibri"/>
                  </a:rPr>
                  <a:t>Hợp tác xã cà phê ở địa phương muốn đóng gói cà phê hạt rang bằng hộp giấy </a:t>
                </a:r>
                <a:r>
                  <a:rPr sz="1800" b="1">
                    <a:solidFill>
                      <a:srgbClr val="1E293B"/>
                    </a:solidFill>
                    <a:latin typeface="Calibri"/>
                  </a:rPr>
                  <a:t>không nắp</a:t>
                </a:r>
                <a:r>
                  <a:rPr sz="1800">
                    <a:solidFill>
                      <a:srgbClr val="1E293B"/>
                    </a:solidFill>
                    <a:latin typeface="Calibri"/>
                  </a:rPr>
                  <a:t> làm từ những tấm bìa khổ </a:t>
                </a:r>
                <a:r>
                  <a:rPr sz="1800" b="1">
                    <a:solidFill>
                      <a:srgbClr val="1E293B"/>
                    </a:solidFill>
                    <a:latin typeface="Calibri"/>
                  </a:rPr>
                  <a:t>A4</a:t>
                </a:r>
                <a:r>
                  <a:rPr sz="1800">
                    <a:solidFill>
                      <a:srgbClr val="1E293B"/>
                    </a:solidFill>
                    <a:latin typeface="Calibri"/>
                  </a:rPr>
                  <a:t> (21 cm × 29,7 cm). Mỗi hộp làm từ đúng một tấm bìa bằng cách cắt bỏ ở bốn góc bốn hình vuông bằng nhau cạnh </a:t>
                </a:r>
                <a14:m>
                  <m:oMath xmlns:m="http://schemas.openxmlformats.org/officeDocument/2006/math">
                    <m:r>
                      <a:rPr lang="vi-VN" sz="1800" b="0">
                        <a:solidFill>
                          <a:srgbClr val="1E293B"/>
                        </a:solidFill>
                        <a:latin typeface="Cambria Math" panose="02040503050406030204" pitchFamily="18" charset="0"/>
                      </a:rPr>
                      <m:t>x</m:t>
                    </m:r>
                  </m:oMath>
                </a14:m>
                <a:r>
                  <a:rPr sz="1800">
                    <a:solidFill>
                      <a:srgbClr val="1E293B"/>
                    </a:solidFill>
                    <a:latin typeface="Calibri"/>
                  </a:rPr>
                  <a:t> rồi gập lên. </a:t>
                </a:r>
                <a:r>
                  <a:rPr sz="1800" b="1">
                    <a:solidFill>
                      <a:srgbClr val="1E293B"/>
                    </a:solidFill>
                    <a:latin typeface="Calibri"/>
                  </a:rPr>
                  <a:t>Cần cắt góc bao nhiêu để hộp đựng được nhiều cà phê nhất?</a:t>
                </a:r>
              </a:p>
            </p:txBody>
          </p:sp>
        </mc:Choice>
        <mc:Fallback>
          <p:sp>
            <p:nvSpPr>
              <p:cNvPr id="7" name="TextBox 6"/>
              <p:cNvSpPr txBox="1"/>
              <p:nvPr/>
            </p:nvSpPr>
            <p:spPr>
              <a:xfrm>
                <a:off x="548640" y="1325880"/>
                <a:ext cx="7680960" cy="1545336"/>
              </a:xfrm>
              <a:prstGeom prst="rect">
                <a:avLst/>
              </a:prstGeom>
              <a:noFill/>
            </p:spPr>
            <p:txBody>
              <a:bodyPr wrap="square" anchor="t" lIns="45720" rIns="45720">
                <a:spAutoFit/>
              </a:bodyPr>
              <a:lstStyle/>
              <a:p>
                <a:pPr algn="l">
                  <a:spcAft>
                    <a:spcPts val="800"/>
                  </a:spcAft>
                </a:pPr>
                <a:r>
                  <a:rPr sz="1800">
                    <a:solidFill>
                      <a:srgbClr val="1E293B"/>
                    </a:solidFill>
                    <a:latin typeface="Calibri"/>
                  </a:rPr>
                  <a:t>Hợp tác xã cà phê ở địa phương muốn đóng gói cà phê hạt rang bằng hộp giấy </a:t>
                </a:r>
                <a:r>
                  <a:rPr sz="1800" b="1">
                    <a:solidFill>
                      <a:srgbClr val="1E293B"/>
                    </a:solidFill>
                    <a:latin typeface="Calibri"/>
                  </a:rPr>
                  <a:t>không nắp</a:t>
                </a:r>
                <a:r>
                  <a:rPr sz="1800">
                    <a:solidFill>
                      <a:srgbClr val="1E293B"/>
                    </a:solidFill>
                    <a:latin typeface="Calibri"/>
                  </a:rPr>
                  <a:t> làm từ những tấm bìa khổ </a:t>
                </a:r>
                <a:r>
                  <a:rPr sz="1800" b="1">
                    <a:solidFill>
                      <a:srgbClr val="1E293B"/>
                    </a:solidFill>
                    <a:latin typeface="Calibri"/>
                  </a:rPr>
                  <a:t>A4</a:t>
                </a:r>
                <a:r>
                  <a:rPr sz="1800">
                    <a:solidFill>
                      <a:srgbClr val="1E293B"/>
                    </a:solidFill>
                    <a:latin typeface="Calibri"/>
                  </a:rPr>
                  <a:t> (21 cm × 29,7 cm). Mỗi hộp làm từ đúng một tấm bìa bằng cách cắt bỏ ở bốn góc bốn hình vuông bằng nhau cạnh </a:t>
                </a:r>
                <a:r>
                  <a:rPr lang="vi-VN"/>
                  <a:t>x</a:t>
                </a:r>
                <a:r>
                  <a:rPr sz="1800">
                    <a:solidFill>
                      <a:srgbClr val="1E293B"/>
                    </a:solidFill>
                    <a:latin typeface="Calibri"/>
                  </a:rPr>
                  <a:t> rồi gập lên. </a:t>
                </a:r>
                <a:r>
                  <a:rPr sz="1800" b="1">
                    <a:solidFill>
                      <a:srgbClr val="1E293B"/>
                    </a:solidFill>
                    <a:latin typeface="Calibri"/>
                  </a:rPr>
                  <a:t>Cần cắt góc bao nhiêu để hộp đựng được nhiều cà phê nhất?</a:t>
                </a:r>
              </a:p>
            </p:txBody>
          </p:sp>
        </mc:Fallback>
      </mc:AlternateContent>
      <p:sp>
        <p:nvSpPr>
          <p:cNvPr id="8" name="s1_nen"/>
          <p:cNvSpPr/>
          <p:nvPr/>
        </p:nvSpPr>
        <p:spPr>
          <a:xfrm>
            <a:off x="548640" y="2944368"/>
            <a:ext cx="7680960" cy="3136392"/>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1_chu"/>
          <p:cNvSpPr txBox="1"/>
          <p:nvPr/>
        </p:nvSpPr>
        <p:spPr>
          <a:xfrm>
            <a:off x="713232" y="2980944"/>
            <a:ext cx="7351776" cy="3063240"/>
          </a:xfrm>
          <a:prstGeom prst="rect">
            <a:avLst/>
          </a:prstGeom>
          <a:noFill/>
        </p:spPr>
        <p:txBody>
          <a:bodyPr wrap="square" anchor="ctr" lIns="45720" rIns="45720">
            <a:spAutoFit/>
          </a:bodyPr>
          <a:lstStyle/>
          <a:p>
            <a:pPr algn="l">
              <a:spcAft>
                <a:spcPts val="800"/>
              </a:spcAft>
            </a:pPr>
            <a:r>
              <a:rPr sz="1800" b="1">
                <a:solidFill>
                  <a:srgbClr val="1E293B"/>
                </a:solidFill>
                <a:latin typeface="Calibri"/>
              </a:rPr>
              <a:t>Nhiệm vụ STEM – 4 tiêu chí sản phẩm:</a:t>
            </a:r>
          </a:p>
          <a:p>
            <a:pPr algn="l" marL="365760" indent="-365760">
              <a:spcAft>
                <a:spcPts val="800"/>
              </a:spcAft>
              <a:buClr>
                <a:srgbClr val="1E40AF"/>
              </a:buClr>
              <a:buFont typeface="Arial"/>
              <a:buChar char="•"/>
            </a:pPr>
            <a:r>
              <a:rPr sz="1800">
                <a:solidFill>
                  <a:srgbClr val="1E293B"/>
                </a:solidFill>
                <a:latin typeface="Calibri"/>
              </a:rPr>
              <a:t>1. Vật liệu: đúng một tấm bìa A4, không ghép thêm bìa (được dùng băng dính cố định góc).</a:t>
            </a:r>
          </a:p>
          <a:p>
            <a:pPr algn="l" marL="365760" indent="-365760">
              <a:spcAft>
                <a:spcPts val="800"/>
              </a:spcAft>
              <a:buClr>
                <a:srgbClr val="1E40AF"/>
              </a:buClr>
              <a:buFont typeface="Arial"/>
              <a:buChar char="•"/>
            </a:pPr>
            <a:r>
              <a:rPr sz="1800">
                <a:solidFill>
                  <a:srgbClr val="1E293B"/>
                </a:solidFill>
                <a:latin typeface="Calibri"/>
              </a:rPr>
              <a:t>2. Thể tích: kích thước được tính toán để thể tích lớn nhất; thể tích đo thực tế sai lệch không quá 10% so với thiết kế.</a:t>
            </a:r>
          </a:p>
          <a:p>
            <a:pPr algn="l" marL="365760" indent="-365760">
              <a:spcAft>
                <a:spcPts val="800"/>
              </a:spcAft>
              <a:buClr>
                <a:srgbClr val="1E40AF"/>
              </a:buClr>
              <a:buFont typeface="Arial"/>
              <a:buChar char="•"/>
            </a:pPr>
            <a:r>
              <a:rPr sz="1800">
                <a:solidFill>
                  <a:srgbClr val="1E293B"/>
                </a:solidFill>
                <a:latin typeface="Calibri"/>
              </a:rPr>
              <a:t>3. Độ bền: hộp đứng vững, chứa đầy gạo không bị bung, biến dạng.</a:t>
            </a:r>
          </a:p>
          <a:p>
            <a:pPr algn="l" marL="365760" indent="-365760">
              <a:spcAft>
                <a:spcPts val="800"/>
              </a:spcAft>
              <a:buClr>
                <a:srgbClr val="1E40AF"/>
              </a:buClr>
              <a:buFont typeface="Arial"/>
              <a:buChar char="•"/>
            </a:pPr>
            <a:r>
              <a:rPr sz="1800">
                <a:solidFill>
                  <a:srgbClr val="1E293B"/>
                </a:solidFill>
                <a:latin typeface="Calibri"/>
              </a:rPr>
              <a:t>4. Thẩm mĩ, thông tin: có nhãn sản phẩm, ghi kích thước và thể tích.</a:t>
            </a:r>
          </a:p>
        </p:txBody>
      </p:sp>
      <p:pic>
        <p:nvPicPr>
          <p:cNvPr id="10" name="Picture 9" descr="khai_trien.png"/>
          <p:cNvPicPr>
            <a:picLocks noChangeAspect="1"/>
          </p:cNvPicPr>
          <p:nvPr/>
        </p:nvPicPr>
        <p:blipFill>
          <a:blip r:embed="rId3"/>
          <a:stretch>
            <a:fillRect/>
          </a:stretch>
        </p:blipFill>
        <p:spPr>
          <a:xfrm>
            <a:off x="8412480" y="1463040"/>
            <a:ext cx="3291840" cy="24688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KHỞI ĐỘNG</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PHIẾU HỌC TẬP SỐ 1 – DỰ ĐOÁN VÀ THỬ TÍNH</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34</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11064240" cy="874775"/>
              </a:xfrm>
              <a:prstGeom prst="rect">
                <a:avLst/>
              </a:prstGeom>
              <a:noFill/>
            </p:spPr>
            <p:txBody>
              <a:bodyPr wrap="square" anchor="t" lIns="45720" rIns="45720">
                <a:spAutoFit/>
              </a:bodyPr>
              <a:lstStyle/>
              <a:p>
                <a:pPr algn="l">
                  <a:spcAft>
                    <a:spcPts val="800"/>
                  </a:spcAft>
                </a:pPr>
                <a:r>
                  <a:rPr sz="2300">
                    <a:solidFill>
                      <a:srgbClr val="1E293B"/>
                    </a:solidFill>
                    <a:latin typeface="Calibri"/>
                  </a:rPr>
                  <a:t>Dự đoán cạnh </a:t>
                </a:r>
                <a14:m>
                  <m:oMath xmlns:m="http://schemas.openxmlformats.org/officeDocument/2006/math">
                    <m:r>
                      <a:rPr lang="vi-VN" sz="2300" b="0">
                        <a:solidFill>
                          <a:srgbClr val="1E293B"/>
                        </a:solidFill>
                        <a:latin typeface="Cambria Math" panose="02040503050406030204" pitchFamily="18" charset="0"/>
                      </a:rPr>
                      <m:t>x</m:t>
                    </m:r>
                  </m:oMath>
                </a14:m>
                <a:r>
                  <a:rPr sz="2300">
                    <a:solidFill>
                      <a:srgbClr val="1E293B"/>
                    </a:solidFill>
                    <a:latin typeface="Calibri"/>
                  </a:rPr>
                  <a:t> nên cắt. Tính thể tích hộp </a:t>
                </a:r>
                <a14:m>
                  <m:oMath xmlns:m="http://schemas.openxmlformats.org/officeDocument/2006/math">
                    <m:r>
                      <a:rPr lang="vi-VN" sz="2300" b="0">
                        <a:solidFill>
                          <a:srgbClr val="1E293B"/>
                        </a:solidFill>
                        <a:latin typeface="Cambria Math" panose="02040503050406030204" pitchFamily="18" charset="0"/>
                      </a:rPr>
                      <m:t>V=x(21−2x)(29</m:t>
                    </m:r>
                    <m:r>
                      <a:rPr lang="vi-VN" sz="2300" b="0">
                        <a:solidFill>
                          <a:srgbClr val="1E293B"/>
                        </a:solidFill>
                        <a:latin typeface="Cambria Math" panose="02040503050406030204" pitchFamily="18" charset="0"/>
                      </a:rPr>
                      <m:t>,</m:t>
                    </m:r>
                    <m:r>
                      <a:rPr lang="vi-VN" sz="2300" b="0">
                        <a:solidFill>
                          <a:srgbClr val="1E293B"/>
                        </a:solidFill>
                        <a:latin typeface="Cambria Math" panose="02040503050406030204" pitchFamily="18" charset="0"/>
                      </a:rPr>
                      <m:t>7−2x)</m:t>
                    </m:r>
                  </m:oMath>
                </a14:m>
                <a:r>
                  <a:rPr sz="2300">
                    <a:solidFill>
                      <a:srgbClr val="1E293B"/>
                    </a:solidFill>
                    <a:latin typeface="Calibri"/>
                  </a:rPr>
                  <a:t> (cm³) với </a:t>
                </a:r>
                <a14:m>
                  <m:oMath xmlns:m="http://schemas.openxmlformats.org/officeDocument/2006/math">
                    <m:r>
                      <a:rPr lang="vi-VN" sz="2300" b="0">
                        <a:solidFill>
                          <a:srgbClr val="1E293B"/>
                        </a:solidFill>
                        <a:latin typeface="Cambria Math" panose="02040503050406030204" pitchFamily="18" charset="0"/>
                      </a:rPr>
                      <m:t>x=2;</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3;</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5;</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7</m:t>
                    </m:r>
                  </m:oMath>
                </a14:m>
                <a:r>
                  <a:rPr sz="2300">
                    <a:solidFill>
                      <a:srgbClr val="1E293B"/>
                    </a:solidFill>
                    <a:latin typeface="Calibri"/>
                  </a:rPr>
                  <a:t> (cm) và nhận xét.</a:t>
                </a:r>
              </a:p>
            </p:txBody>
          </p:sp>
        </mc:Choice>
        <mc:Fallback>
          <p:sp>
            <p:nvSpPr>
              <p:cNvPr id="7" name="TextBox 6"/>
              <p:cNvSpPr txBox="1"/>
              <p:nvPr/>
            </p:nvSpPr>
            <p:spPr>
              <a:xfrm>
                <a:off x="548640" y="1463040"/>
                <a:ext cx="11064240" cy="874775"/>
              </a:xfrm>
              <a:prstGeom prst="rect">
                <a:avLst/>
              </a:prstGeom>
              <a:noFill/>
            </p:spPr>
            <p:txBody>
              <a:bodyPr wrap="square" anchor="t" lIns="45720" rIns="45720">
                <a:spAutoFit/>
              </a:bodyPr>
              <a:lstStyle/>
              <a:p>
                <a:pPr algn="l">
                  <a:spcAft>
                    <a:spcPts val="800"/>
                  </a:spcAft>
                </a:pPr>
                <a:r>
                  <a:rPr sz="2300">
                    <a:solidFill>
                      <a:srgbClr val="1E293B"/>
                    </a:solidFill>
                    <a:latin typeface="Calibri"/>
                  </a:rPr>
                  <a:t>Dự đoán cạnh </a:t>
                </a:r>
                <a:r>
                  <a:rPr lang="vi-VN"/>
                  <a:t>x</a:t>
                </a:r>
                <a:r>
                  <a:rPr sz="2300">
                    <a:solidFill>
                      <a:srgbClr val="1E293B"/>
                    </a:solidFill>
                    <a:latin typeface="Calibri"/>
                  </a:rPr>
                  <a:t> nên cắt. Tính thể tích hộp </a:t>
                </a:r>
                <a:r>
                  <a:rPr lang="vi-VN"/>
                  <a:t>V=x(21-2x)(29{,}7-2x)</a:t>
                </a:r>
                <a:r>
                  <a:rPr sz="2300">
                    <a:solidFill>
                      <a:srgbClr val="1E293B"/>
                    </a:solidFill>
                    <a:latin typeface="Calibri"/>
                  </a:rPr>
                  <a:t> (cm³) với </a:t>
                </a:r>
                <a:r>
                  <a:rPr lang="vi-VN"/>
                  <a:t>x=2;\ 3;\ 5;\ 7</a:t>
                </a:r>
                <a:r>
                  <a:rPr sz="2300">
                    <a:solidFill>
                      <a:srgbClr val="1E293B"/>
                    </a:solidFill>
                    <a:latin typeface="Calibri"/>
                  </a:rPr>
                  <a:t> (cm) và nhận xét.</a:t>
                </a:r>
              </a:p>
            </p:txBody>
          </p:sp>
        </mc:Fallback>
      </mc:AlternateContent>
      <p:sp>
        <p:nvSpPr>
          <p:cNvPr id="8" name="s1_nen"/>
          <p:cNvSpPr/>
          <p:nvPr/>
        </p:nvSpPr>
        <p:spPr>
          <a:xfrm>
            <a:off x="548640" y="2566416"/>
            <a:ext cx="11064240" cy="6156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602992"/>
                <a:ext cx="10735056" cy="542543"/>
              </a:xfrm>
              <a:prstGeom prst="rect">
                <a:avLst/>
              </a:prstGeom>
              <a:noFill/>
            </p:spPr>
            <p:txBody>
              <a:bodyPr wrap="square" anchor="ctr" lIns="45720" rIns="45720">
                <a:spAutoFit/>
              </a:bodyPr>
              <a:lstStyle/>
              <a:p>
                <a:pPr algn="l">
                  <a:spcAft>
                    <a:spcPts val="800"/>
                  </a:spcAft>
                </a:pPr>
                <a:r>
                  <a:rPr sz="2300">
                    <a:solidFill>
                      <a:srgbClr val="1E293B"/>
                    </a:solidFill>
                    <a:latin typeface="Calibri"/>
                  </a:rPr>
                  <a:t> </a:t>
                </a:r>
                <a14:m>
                  <m:oMath xmlns:m="http://schemas.openxmlformats.org/officeDocument/2006/math">
                    <m:r>
                      <a:rPr lang="vi-VN" sz="2300" b="0">
                        <a:solidFill>
                          <a:srgbClr val="1E293B"/>
                        </a:solidFill>
                        <a:latin typeface="Cambria Math" panose="02040503050406030204" pitchFamily="18" charset="0"/>
                      </a:rPr>
                      <m:t>V(2)=873</m:t>
                    </m:r>
                    <m:r>
                      <a:rPr lang="vi-VN" sz="2300" b="0">
                        <a:solidFill>
                          <a:srgbClr val="1E293B"/>
                        </a:solidFill>
                        <a:latin typeface="Cambria Math" panose="02040503050406030204" pitchFamily="18" charset="0"/>
                      </a:rPr>
                      <m:t>,</m:t>
                    </m:r>
                    <m:r>
                      <a:rPr lang="vi-VN" sz="2300" b="0">
                        <a:solidFill>
                          <a:srgbClr val="1E293B"/>
                        </a:solidFill>
                        <a:latin typeface="Cambria Math" panose="02040503050406030204" pitchFamily="18" charset="0"/>
                      </a:rPr>
                      <m:t>8</m:t>
                    </m:r>
                  </m:oMath>
                </a14:m>
                <a:r>
                  <a:rPr sz="2300">
                    <a:solidFill>
                      <a:srgbClr val="1E293B"/>
                    </a:solidFill>
                    <a:latin typeface="Calibri"/>
                  </a:rPr>
                  <a:t>; </a:t>
                </a:r>
                <a14:m>
                  <m:oMath xmlns:m="http://schemas.openxmlformats.org/officeDocument/2006/math">
                    <m:r>
                      <a:rPr lang="vi-VN" sz="2300" b="0">
                        <a:solidFill>
                          <a:srgbClr val="1E293B"/>
                        </a:solidFill>
                        <a:latin typeface="Cambria Math" panose="02040503050406030204" pitchFamily="18" charset="0"/>
                      </a:rPr>
                      <m:t>V(3)=1</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066</m:t>
                    </m:r>
                    <m:r>
                      <a:rPr lang="vi-VN" sz="2300" b="0">
                        <a:solidFill>
                          <a:srgbClr val="1E293B"/>
                        </a:solidFill>
                        <a:latin typeface="Cambria Math" panose="02040503050406030204" pitchFamily="18" charset="0"/>
                      </a:rPr>
                      <m:t>,</m:t>
                    </m:r>
                    <m:r>
                      <a:rPr lang="vi-VN" sz="2300" b="0">
                        <a:solidFill>
                          <a:srgbClr val="1E293B"/>
                        </a:solidFill>
                        <a:latin typeface="Cambria Math" panose="02040503050406030204" pitchFamily="18" charset="0"/>
                      </a:rPr>
                      <m:t>5</m:t>
                    </m:r>
                  </m:oMath>
                </a14:m>
                <a:r>
                  <a:rPr sz="2300">
                    <a:solidFill>
                      <a:srgbClr val="1E293B"/>
                    </a:solidFill>
                    <a:latin typeface="Calibri"/>
                  </a:rPr>
                  <a:t>; </a:t>
                </a:r>
                <a14:m>
                  <m:oMath xmlns:m="http://schemas.openxmlformats.org/officeDocument/2006/math">
                    <m:r>
                      <a:rPr lang="vi-VN" sz="2300" b="0">
                        <a:solidFill>
                          <a:srgbClr val="1E293B"/>
                        </a:solidFill>
                        <a:latin typeface="Cambria Math" panose="02040503050406030204" pitchFamily="18" charset="0"/>
                      </a:rPr>
                      <m:t>V(5)=1</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083</m:t>
                    </m:r>
                    <m:r>
                      <a:rPr lang="vi-VN" sz="2300" b="0">
                        <a:solidFill>
                          <a:srgbClr val="1E293B"/>
                        </a:solidFill>
                        <a:latin typeface="Cambria Math" panose="02040503050406030204" pitchFamily="18" charset="0"/>
                      </a:rPr>
                      <m:t>,</m:t>
                    </m:r>
                    <m:r>
                      <a:rPr lang="vi-VN" sz="2300" b="0">
                        <a:solidFill>
                          <a:srgbClr val="1E293B"/>
                        </a:solidFill>
                        <a:latin typeface="Cambria Math" panose="02040503050406030204" pitchFamily="18" charset="0"/>
                      </a:rPr>
                      <m:t>5</m:t>
                    </m:r>
                  </m:oMath>
                </a14:m>
                <a:r>
                  <a:rPr sz="2300">
                    <a:solidFill>
                      <a:srgbClr val="1E293B"/>
                    </a:solidFill>
                    <a:latin typeface="Calibri"/>
                  </a:rPr>
                  <a:t>; </a:t>
                </a:r>
                <a14:m>
                  <m:oMath xmlns:m="http://schemas.openxmlformats.org/officeDocument/2006/math">
                    <m:r>
                      <a:rPr lang="vi-VN" sz="2300" b="0">
                        <a:solidFill>
                          <a:srgbClr val="1E293B"/>
                        </a:solidFill>
                        <a:latin typeface="Cambria Math" panose="02040503050406030204" pitchFamily="18" charset="0"/>
                      </a:rPr>
                      <m:t>V(7)=769</m:t>
                    </m:r>
                    <m:r>
                      <a:rPr lang="vi-VN" sz="2300" b="0">
                        <a:solidFill>
                          <a:srgbClr val="1E293B"/>
                        </a:solidFill>
                        <a:latin typeface="Cambria Math" panose="02040503050406030204" pitchFamily="18" charset="0"/>
                      </a:rPr>
                      <m:t>,</m:t>
                    </m:r>
                    <m:r>
                      <a:rPr lang="vi-VN" sz="2300" b="0">
                        <a:solidFill>
                          <a:srgbClr val="1E293B"/>
                        </a:solidFill>
                        <a:latin typeface="Cambria Math" panose="02040503050406030204" pitchFamily="18" charset="0"/>
                      </a:rPr>
                      <m:t>3</m:t>
                    </m:r>
                  </m:oMath>
                </a14:m>
                <a:r>
                  <a:rPr sz="2300">
                    <a:solidFill>
                      <a:srgbClr val="1E293B"/>
                    </a:solidFill>
                    <a:latin typeface="Calibri"/>
                  </a:rPr>
                  <a:t> (cm³).</a:t>
                </a:r>
              </a:p>
            </p:txBody>
          </p:sp>
        </mc:Choice>
        <mc:Fallback>
          <p:sp>
            <p:nvSpPr>
              <p:cNvPr id="9" name="TextBox 8"/>
              <p:cNvSpPr txBox="1"/>
              <p:nvPr/>
            </p:nvSpPr>
            <p:spPr>
              <a:xfrm>
                <a:off x="713232" y="2602992"/>
                <a:ext cx="10735056" cy="542543"/>
              </a:xfrm>
              <a:prstGeom prst="rect">
                <a:avLst/>
              </a:prstGeom>
              <a:noFill/>
            </p:spPr>
            <p:txBody>
              <a:bodyPr wrap="square" anchor="ctr" lIns="45720" rIns="45720">
                <a:spAutoFit/>
              </a:bodyPr>
              <a:lstStyle/>
              <a:p>
                <a:pPr algn="l">
                  <a:spcAft>
                    <a:spcPts val="800"/>
                  </a:spcAft>
                </a:pPr>
                <a:r>
                  <a:rPr sz="2300">
                    <a:solidFill>
                      <a:srgbClr val="1E293B"/>
                    </a:solidFill>
                    <a:latin typeface="Calibri"/>
                  </a:rPr>
                  <a:t> </a:t>
                </a:r>
                <a:r>
                  <a:rPr lang="vi-VN"/>
                  <a:t>V(2)=873{,}8</a:t>
                </a:r>
                <a:r>
                  <a:rPr sz="2300">
                    <a:solidFill>
                      <a:srgbClr val="1E293B"/>
                    </a:solidFill>
                    <a:latin typeface="Calibri"/>
                  </a:rPr>
                  <a:t>; </a:t>
                </a:r>
                <a:r>
                  <a:rPr lang="vi-VN"/>
                  <a:t>V(3)=1\ 066{,}5</a:t>
                </a:r>
                <a:r>
                  <a:rPr sz="2300">
                    <a:solidFill>
                      <a:srgbClr val="1E293B"/>
                    </a:solidFill>
                    <a:latin typeface="Calibri"/>
                  </a:rPr>
                  <a:t>; </a:t>
                </a:r>
                <a:r>
                  <a:rPr lang="vi-VN"/>
                  <a:t>V(5)=1\ 083{,}5</a:t>
                </a:r>
                <a:r>
                  <a:rPr sz="2300">
                    <a:solidFill>
                      <a:srgbClr val="1E293B"/>
                    </a:solidFill>
                    <a:latin typeface="Calibri"/>
                  </a:rPr>
                  <a:t>; </a:t>
                </a:r>
                <a:r>
                  <a:rPr lang="vi-VN"/>
                  <a:t>V(7)=769{,}3</a:t>
                </a:r>
                <a:r>
                  <a:rPr sz="2300">
                    <a:solidFill>
                      <a:srgbClr val="1E293B"/>
                    </a:solidFill>
                    <a:latin typeface="Calibri"/>
                  </a:rPr>
                  <a:t> (cm³).</a:t>
                </a:r>
              </a:p>
            </p:txBody>
          </p:sp>
        </mc:Fallback>
      </mc:AlternateContent>
      <p:sp>
        <p:nvSpPr>
          <p:cNvPr id="10" name="s2_nen"/>
          <p:cNvSpPr/>
          <p:nvPr/>
        </p:nvSpPr>
        <p:spPr>
          <a:xfrm>
            <a:off x="548640" y="3410712"/>
            <a:ext cx="11064240" cy="96621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447288"/>
                <a:ext cx="10735056" cy="893064"/>
              </a:xfrm>
              <a:prstGeom prst="rect">
                <a:avLst/>
              </a:prstGeom>
              <a:noFill/>
            </p:spPr>
            <p:txBody>
              <a:bodyPr wrap="square" anchor="ctr" lIns="45720" rIns="45720">
                <a:spAutoFit/>
              </a:bodyPr>
              <a:lstStyle/>
              <a:p>
                <a:pPr algn="l">
                  <a:spcAft>
                    <a:spcPts val="800"/>
                  </a:spcAft>
                </a:pPr>
                <a:r>
                  <a:rPr sz="2300">
                    <a:solidFill>
                      <a:srgbClr val="1E293B"/>
                    </a:solidFill>
                    <a:latin typeface="Calibri"/>
                  </a:rPr>
                  <a:t>Thể tích tăng rồi giảm: giá trị lớn nhất nằm trong khoảng từ 3 đến 5 cm. Thể tích là một </a:t>
                </a:r>
                <a:r>
                  <a:rPr sz="2300" b="1">
                    <a:solidFill>
                      <a:srgbClr val="1E293B"/>
                    </a:solidFill>
                    <a:latin typeface="Calibri"/>
                  </a:rPr>
                  <a:t>hàm số</a:t>
                </a:r>
                <a:r>
                  <a:rPr sz="2300">
                    <a:solidFill>
                      <a:srgbClr val="1E293B"/>
                    </a:solidFill>
                    <a:latin typeface="Calibri"/>
                  </a:rPr>
                  <a:t> của </a:t>
                </a:r>
                <a14:m>
                  <m:oMath xmlns:m="http://schemas.openxmlformats.org/officeDocument/2006/math">
                    <m:r>
                      <a:rPr lang="vi-VN" sz="2300" b="0">
                        <a:solidFill>
                          <a:srgbClr val="1E293B"/>
                        </a:solidFill>
                        <a:latin typeface="Cambria Math" panose="02040503050406030204" pitchFamily="18" charset="0"/>
                      </a:rPr>
                      <m:t>x</m:t>
                    </m:r>
                  </m:oMath>
                </a14:m>
                <a:r>
                  <a:rPr sz="2300">
                    <a:solidFill>
                      <a:srgbClr val="1E293B"/>
                    </a:solidFill>
                    <a:latin typeface="Calibri"/>
                  </a:rPr>
                  <a:t> → cần tìm giá trị lớn nhất (Bài 5).</a:t>
                </a:r>
              </a:p>
            </p:txBody>
          </p:sp>
        </mc:Choice>
        <mc:Fallback>
          <p:sp>
            <p:nvSpPr>
              <p:cNvPr id="11" name="TextBox 10"/>
              <p:cNvSpPr txBox="1"/>
              <p:nvPr/>
            </p:nvSpPr>
            <p:spPr>
              <a:xfrm>
                <a:off x="713232" y="3447288"/>
                <a:ext cx="10735056" cy="893064"/>
              </a:xfrm>
              <a:prstGeom prst="rect">
                <a:avLst/>
              </a:prstGeom>
              <a:noFill/>
            </p:spPr>
            <p:txBody>
              <a:bodyPr wrap="square" anchor="ctr" lIns="45720" rIns="45720">
                <a:spAutoFit/>
              </a:bodyPr>
              <a:lstStyle/>
              <a:p>
                <a:pPr algn="l">
                  <a:spcAft>
                    <a:spcPts val="800"/>
                  </a:spcAft>
                </a:pPr>
                <a:r>
                  <a:rPr sz="2300">
                    <a:solidFill>
                      <a:srgbClr val="1E293B"/>
                    </a:solidFill>
                    <a:latin typeface="Calibri"/>
                  </a:rPr>
                  <a:t>Thể tích tăng rồi giảm: giá trị lớn nhất nằm trong khoảng từ 3 đến 5 cm. Thể tích là một </a:t>
                </a:r>
                <a:r>
                  <a:rPr sz="2300" b="1">
                    <a:solidFill>
                      <a:srgbClr val="1E293B"/>
                    </a:solidFill>
                    <a:latin typeface="Calibri"/>
                  </a:rPr>
                  <a:t>hàm số</a:t>
                </a:r>
                <a:r>
                  <a:rPr sz="2300">
                    <a:solidFill>
                      <a:srgbClr val="1E293B"/>
                    </a:solidFill>
                    <a:latin typeface="Calibri"/>
                  </a:rPr>
                  <a:t> của </a:t>
                </a:r>
                <a:r>
                  <a:rPr lang="vi-VN"/>
                  <a:t>x</a:t>
                </a:r>
                <a:r>
                  <a:rPr sz="2300">
                    <a:solidFill>
                      <a:srgbClr val="1E293B"/>
                    </a:solidFill>
                    <a:latin typeface="Calibri"/>
                  </a:rPr>
                  <a:t> → cần tìm giá trị lớn nhất (Bài 5).</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HĐ2. KIẾN THỨC NỀN – HỘP TỪ TẤM BÌA HÌNH VUÔNG (PHIẾU SỐ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35</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1179576"/>
              </a:xfrm>
              <a:prstGeom prst="rect">
                <a:avLst/>
              </a:prstGeom>
              <a:noFill/>
            </p:spPr>
            <p:txBody>
              <a:bodyPr wrap="square" anchor="t" lIns="45720" rIns="45720">
                <a:spAutoFit/>
              </a:bodyPr>
              <a:lstStyle/>
              <a:p>
                <a:pPr algn="l">
                  <a:spcAft>
                    <a:spcPts val="800"/>
                  </a:spcAft>
                </a:pPr>
                <a:r>
                  <a:rPr sz="2200">
                    <a:solidFill>
                      <a:srgbClr val="1E293B"/>
                    </a:solidFill>
                    <a:latin typeface="Calibri"/>
                  </a:rPr>
                  <a:t>Từ một tấm bìa hình vuông cạnh </a:t>
                </a:r>
                <a14:m>
                  <m:oMath xmlns:m="http://schemas.openxmlformats.org/officeDocument/2006/math">
                    <m:r>
                      <a:rPr lang="vi-VN" sz="2200" b="0">
                        <a:solidFill>
                          <a:srgbClr val="1E293B"/>
                        </a:solidFill>
                        <a:latin typeface="Cambria Math" panose="02040503050406030204" pitchFamily="18" charset="0"/>
                      </a:rPr>
                      <m:t>a</m:t>
                    </m:r>
                  </m:oMath>
                </a14:m>
                <a:r>
                  <a:rPr sz="2200">
                    <a:solidFill>
                      <a:srgbClr val="1E293B"/>
                    </a:solidFill>
                    <a:latin typeface="Calibri"/>
                  </a:rPr>
                  <a:t>, cắt bỏ ở bốn góc bốn hình vuông bằng nhau cạnh </a:t>
                </a:r>
                <a14:m>
                  <m:oMath xmlns:m="http://schemas.openxmlformats.org/officeDocument/2006/math">
                    <m:r>
                      <a:rPr lang="vi-VN" sz="2200" b="0">
                        <a:solidFill>
                          <a:srgbClr val="1E293B"/>
                        </a:solidFill>
                        <a:latin typeface="Cambria Math" panose="02040503050406030204" pitchFamily="18" charset="0"/>
                      </a:rPr>
                      <m:t>x</m:t>
                    </m:r>
                  </m:oMath>
                </a14:m>
                <a:r>
                  <a:rPr sz="2200">
                    <a:solidFill>
                      <a:srgbClr val="1E293B"/>
                    </a:solidFill>
                    <a:latin typeface="Calibri"/>
                  </a:rPr>
                  <a:t> rồi gập thành hộp không nắp. a) Biểu diễn </a:t>
                </a:r>
                <a14:m>
                  <m:oMath xmlns:m="http://schemas.openxmlformats.org/officeDocument/2006/math">
                    <m:r>
                      <a:rPr lang="vi-VN" sz="2200" b="0">
                        <a:solidFill>
                          <a:srgbClr val="1E293B"/>
                        </a:solidFill>
                        <a:latin typeface="Cambria Math" panose="02040503050406030204" pitchFamily="18" charset="0"/>
                      </a:rPr>
                      <m:t>V</m:t>
                    </m:r>
                  </m:oMath>
                </a14:m>
                <a:r>
                  <a:rPr sz="2200">
                    <a:solidFill>
                      <a:srgbClr val="1E293B"/>
                    </a:solidFill>
                    <a:latin typeface="Calibri"/>
                  </a:rPr>
                  <a:t> theo </a:t>
                </a:r>
                <a14:m>
                  <m:oMath xmlns:m="http://schemas.openxmlformats.org/officeDocument/2006/math">
                    <m:r>
                      <a:rPr lang="vi-VN" sz="2200" b="0">
                        <a:solidFill>
                          <a:srgbClr val="1E293B"/>
                        </a:solidFill>
                        <a:latin typeface="Cambria Math" panose="02040503050406030204" pitchFamily="18" charset="0"/>
                      </a:rPr>
                      <m:t>a</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x</m:t>
                    </m:r>
                  </m:oMath>
                </a14:m>
                <a:r>
                  <a:rPr sz="2200">
                    <a:solidFill>
                      <a:srgbClr val="1E293B"/>
                    </a:solidFill>
                    <a:latin typeface="Calibri"/>
                  </a:rPr>
                  <a:t>; tìm điều kiện của </a:t>
                </a:r>
                <a14:m>
                  <m:oMath xmlns:m="http://schemas.openxmlformats.org/officeDocument/2006/math">
                    <m:r>
                      <a:rPr lang="vi-VN" sz="2200" b="0">
                        <a:solidFill>
                          <a:srgbClr val="1E293B"/>
                        </a:solidFill>
                        <a:latin typeface="Cambria Math" panose="02040503050406030204" pitchFamily="18" charset="0"/>
                      </a:rPr>
                      <m:t>x</m:t>
                    </m:r>
                  </m:oMath>
                </a14:m>
                <a:r>
                  <a:rPr sz="2200">
                    <a:solidFill>
                      <a:srgbClr val="1E293B"/>
                    </a:solidFill>
                    <a:latin typeface="Calibri"/>
                  </a:rPr>
                  <a:t>. b) Tìm </a:t>
                </a:r>
                <a14:m>
                  <m:oMath xmlns:m="http://schemas.openxmlformats.org/officeDocument/2006/math">
                    <m:r>
                      <a:rPr lang="vi-VN" sz="2200" b="0">
                        <a:solidFill>
                          <a:srgbClr val="1E293B"/>
                        </a:solidFill>
                        <a:latin typeface="Cambria Math" panose="02040503050406030204" pitchFamily="18" charset="0"/>
                      </a:rPr>
                      <m:t>x</m:t>
                    </m:r>
                  </m:oMath>
                </a14:m>
                <a:r>
                  <a:rPr sz="2200">
                    <a:solidFill>
                      <a:srgbClr val="1E293B"/>
                    </a:solidFill>
                    <a:latin typeface="Calibri"/>
                  </a:rPr>
                  <a:t> để </a:t>
                </a:r>
                <a14:m>
                  <m:oMath xmlns:m="http://schemas.openxmlformats.org/officeDocument/2006/math">
                    <m:r>
                      <a:rPr lang="vi-VN" sz="2200" b="0">
                        <a:solidFill>
                          <a:srgbClr val="1E293B"/>
                        </a:solidFill>
                        <a:latin typeface="Cambria Math" panose="02040503050406030204" pitchFamily="18" charset="0"/>
                      </a:rPr>
                      <m:t>V</m:t>
                    </m:r>
                  </m:oMath>
                </a14:m>
                <a:r>
                  <a:rPr sz="2200">
                    <a:solidFill>
                      <a:srgbClr val="1E293B"/>
                    </a:solidFill>
                    <a:latin typeface="Calibri"/>
                  </a:rPr>
                  <a:t> lớn nhất; tính </a:t>
                </a:r>
                <a14:m>
                  <m:oMath xmlns:m="http://schemas.openxmlformats.org/officeDocument/2006/math">
                    <m:sSub>
                      <m:e>
                        <m:r>
                          <a:rPr lang="vi-VN" sz="2200" b="0">
                            <a:solidFill>
                              <a:srgbClr val="1E293B"/>
                            </a:solidFill>
                            <a:latin typeface="Cambria Math" panose="02040503050406030204" pitchFamily="18" charset="0"/>
                          </a:rPr>
                          <m:t>V</m:t>
                        </m:r>
                      </m:e>
                      <m:sub>
                        <m:r>
                          <a:rPr lang="vi-VN" sz="2200" b="0">
                            <a:solidFill>
                              <a:srgbClr val="1E293B"/>
                            </a:solidFill>
                            <a:latin typeface="Cambria Math" panose="02040503050406030204" pitchFamily="18" charset="0"/>
                          </a:rPr>
                          <m:t>max</m:t>
                        </m:r>
                      </m:sub>
                    </m:sSub>
                  </m:oMath>
                </a14:m>
                <a:r>
                  <a:rPr sz="2200">
                    <a:solidFill>
                      <a:srgbClr val="1E293B"/>
                    </a:solidFill>
                    <a:latin typeface="Calibri"/>
                  </a:rPr>
                  <a:t>. c) Áp dụng với </a:t>
                </a:r>
                <a14:m>
                  <m:oMath xmlns:m="http://schemas.openxmlformats.org/officeDocument/2006/math">
                    <m:r>
                      <a:rPr lang="vi-VN" sz="2200" b="0">
                        <a:solidFill>
                          <a:srgbClr val="1E293B"/>
                        </a:solidFill>
                        <a:latin typeface="Cambria Math" panose="02040503050406030204" pitchFamily="18" charset="0"/>
                      </a:rPr>
                      <m:t>a=30</m:t>
                    </m:r>
                  </m:oMath>
                </a14:m>
                <a:r>
                  <a:rPr sz="2200">
                    <a:solidFill>
                      <a:srgbClr val="1E293B"/>
                    </a:solidFill>
                    <a:latin typeface="Calibri"/>
                  </a:rPr>
                  <a:t> cm.</a:t>
                </a:r>
              </a:p>
            </p:txBody>
          </p:sp>
        </mc:Choice>
        <mc:Fallback>
          <p:sp>
            <p:nvSpPr>
              <p:cNvPr id="7" name="TextBox 6"/>
              <p:cNvSpPr txBox="1"/>
              <p:nvPr/>
            </p:nvSpPr>
            <p:spPr>
              <a:xfrm>
                <a:off x="548640" y="1371600"/>
                <a:ext cx="11064240" cy="1179576"/>
              </a:xfrm>
              <a:prstGeom prst="rect">
                <a:avLst/>
              </a:prstGeom>
              <a:noFill/>
            </p:spPr>
            <p:txBody>
              <a:bodyPr wrap="square" anchor="t" lIns="45720" rIns="45720">
                <a:spAutoFit/>
              </a:bodyPr>
              <a:lstStyle/>
              <a:p>
                <a:pPr algn="l">
                  <a:spcAft>
                    <a:spcPts val="800"/>
                  </a:spcAft>
                </a:pPr>
                <a:r>
                  <a:rPr sz="2200">
                    <a:solidFill>
                      <a:srgbClr val="1E293B"/>
                    </a:solidFill>
                    <a:latin typeface="Calibri"/>
                  </a:rPr>
                  <a:t>Từ một tấm bìa hình vuông cạnh </a:t>
                </a:r>
                <a:r>
                  <a:rPr lang="vi-VN"/>
                  <a:t>a</a:t>
                </a:r>
                <a:r>
                  <a:rPr sz="2200">
                    <a:solidFill>
                      <a:srgbClr val="1E293B"/>
                    </a:solidFill>
                    <a:latin typeface="Calibri"/>
                  </a:rPr>
                  <a:t>, cắt bỏ ở bốn góc bốn hình vuông bằng nhau cạnh </a:t>
                </a:r>
                <a:r>
                  <a:rPr lang="vi-VN"/>
                  <a:t>x</a:t>
                </a:r>
                <a:r>
                  <a:rPr sz="2200">
                    <a:solidFill>
                      <a:srgbClr val="1E293B"/>
                    </a:solidFill>
                    <a:latin typeface="Calibri"/>
                  </a:rPr>
                  <a:t> rồi gập thành hộp không nắp. a) Biểu diễn </a:t>
                </a:r>
                <a:r>
                  <a:rPr lang="vi-VN"/>
                  <a:t>V</a:t>
                </a:r>
                <a:r>
                  <a:rPr sz="2200">
                    <a:solidFill>
                      <a:srgbClr val="1E293B"/>
                    </a:solidFill>
                    <a:latin typeface="Calibri"/>
                  </a:rPr>
                  <a:t> theo </a:t>
                </a:r>
                <a:r>
                  <a:rPr lang="vi-VN"/>
                  <a:t>a</a:t>
                </a:r>
                <a:r>
                  <a:rPr sz="2200">
                    <a:solidFill>
                      <a:srgbClr val="1E293B"/>
                    </a:solidFill>
                    <a:latin typeface="Calibri"/>
                  </a:rPr>
                  <a:t>, </a:t>
                </a:r>
                <a:r>
                  <a:rPr lang="vi-VN"/>
                  <a:t>x</a:t>
                </a:r>
                <a:r>
                  <a:rPr sz="2200">
                    <a:solidFill>
                      <a:srgbClr val="1E293B"/>
                    </a:solidFill>
                    <a:latin typeface="Calibri"/>
                  </a:rPr>
                  <a:t>; tìm điều kiện của </a:t>
                </a:r>
                <a:r>
                  <a:rPr lang="vi-VN"/>
                  <a:t>x</a:t>
                </a:r>
                <a:r>
                  <a:rPr sz="2200">
                    <a:solidFill>
                      <a:srgbClr val="1E293B"/>
                    </a:solidFill>
                    <a:latin typeface="Calibri"/>
                  </a:rPr>
                  <a:t>. b) Tìm </a:t>
                </a:r>
                <a:r>
                  <a:rPr lang="vi-VN"/>
                  <a:t>x</a:t>
                </a:r>
                <a:r>
                  <a:rPr sz="2200">
                    <a:solidFill>
                      <a:srgbClr val="1E293B"/>
                    </a:solidFill>
                    <a:latin typeface="Calibri"/>
                  </a:rPr>
                  <a:t> để </a:t>
                </a:r>
                <a:r>
                  <a:rPr lang="vi-VN"/>
                  <a:t>V</a:t>
                </a:r>
                <a:r>
                  <a:rPr sz="2200">
                    <a:solidFill>
                      <a:srgbClr val="1E293B"/>
                    </a:solidFill>
                    <a:latin typeface="Calibri"/>
                  </a:rPr>
                  <a:t> lớn nhất; tính </a:t>
                </a:r>
                <a:r>
                  <a:rPr lang="vi-VN"/>
                  <a:t>V_{\max}</a:t>
                </a:r>
                <a:r>
                  <a:rPr sz="2200">
                    <a:solidFill>
                      <a:srgbClr val="1E293B"/>
                    </a:solidFill>
                    <a:latin typeface="Calibri"/>
                  </a:rPr>
                  <a:t>. c) Áp dụng với </a:t>
                </a:r>
                <a:r>
                  <a:rPr lang="vi-VN"/>
                  <a:t>a=30</a:t>
                </a:r>
                <a:r>
                  <a:rPr sz="2200">
                    <a:solidFill>
                      <a:srgbClr val="1E293B"/>
                    </a:solidFill>
                    <a:latin typeface="Calibri"/>
                  </a:rPr>
                  <a:t> cm.</a:t>
                </a:r>
              </a:p>
            </p:txBody>
          </p:sp>
        </mc:Fallback>
      </mc:AlternateContent>
      <p:sp>
        <p:nvSpPr>
          <p:cNvPr id="8" name="s1_nen"/>
          <p:cNvSpPr/>
          <p:nvPr/>
        </p:nvSpPr>
        <p:spPr>
          <a:xfrm>
            <a:off x="548640" y="2688336"/>
            <a:ext cx="11064240" cy="751331"/>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724912"/>
                <a:ext cx="10735056" cy="678179"/>
              </a:xfrm>
              <a:prstGeom prst="rect">
                <a:avLst/>
              </a:prstGeom>
              <a:noFill/>
            </p:spPr>
            <p:txBody>
              <a:bodyPr wrap="square" anchor="ctr" lIns="45720" rIns="45720">
                <a:spAutoFit/>
              </a:bodyPr>
              <a:lstStyle/>
              <a:p>
                <a:pPr algn="l">
                  <a:spcAft>
                    <a:spcPts val="800"/>
                  </a:spcAft>
                </a:pPr>
                <a:r>
                  <a:rPr sz="2200">
                    <a:solidFill>
                      <a:srgbClr val="1E293B"/>
                    </a:solidFill>
                    <a:latin typeface="Calibri"/>
                  </a:rPr>
                  <a:t>a) </a:t>
                </a:r>
                <a14:m>
                  <m:oMath xmlns:m="http://schemas.openxmlformats.org/officeDocument/2006/math">
                    <m:r>
                      <a:rPr lang="vi-VN" sz="2200" b="0">
                        <a:solidFill>
                          <a:srgbClr val="1E293B"/>
                        </a:solidFill>
                        <a:latin typeface="Cambria Math" panose="02040503050406030204" pitchFamily="18" charset="0"/>
                      </a:rPr>
                      <m:t>V(x)=x(a−2x</m:t>
                    </m:r>
                    <m:sSup>
                      <m:e>
                        <m:r>
                          <a:rPr lang="vi-VN" sz="2200" b="0">
                            <a:solidFill>
                              <a:srgbClr val="1E293B"/>
                            </a:solidFill>
                            <a:latin typeface="Cambria Math" panose="02040503050406030204" pitchFamily="18" charset="0"/>
                          </a:rPr>
                          <m:t>)</m:t>
                        </m:r>
                      </m:e>
                      <m:sup>
                        <m:r>
                          <a:rPr lang="vi-VN" sz="2200" b="0">
                            <a:solidFill>
                              <a:srgbClr val="1E293B"/>
                            </a:solidFill>
                            <a:latin typeface="Cambria Math" panose="02040503050406030204" pitchFamily="18" charset="0"/>
                          </a:rPr>
                          <m:t>2</m:t>
                        </m:r>
                      </m:sup>
                    </m:sSup>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0&lt;x&lt;</m:t>
                    </m:r>
                    <m:f>
                      <m:fPr>
                        <m:type m:val="bar"/>
                      </m:fPr>
                      <m:num>
                        <m:r>
                          <a:rPr lang="vi-VN" sz="2200" b="0">
                            <a:solidFill>
                              <a:srgbClr val="1E293B"/>
                            </a:solidFill>
                            <a:latin typeface="Cambria Math" panose="02040503050406030204" pitchFamily="18" charset="0"/>
                          </a:rPr>
                          <m:t>a</m:t>
                        </m:r>
                      </m:num>
                      <m:den>
                        <m:r>
                          <a:rPr lang="vi-VN" sz="2200" b="0">
                            <a:solidFill>
                              <a:srgbClr val="1E293B"/>
                            </a:solidFill>
                            <a:latin typeface="Cambria Math" panose="02040503050406030204" pitchFamily="18" charset="0"/>
                          </a:rPr>
                          <m:t>2</m:t>
                        </m:r>
                      </m:den>
                    </m:f>
                  </m:oMath>
                </a14:m>
                <a:r>
                  <a:rPr sz="2200">
                    <a:solidFill>
                      <a:srgbClr val="1E293B"/>
                    </a:solidFill>
                    <a:latin typeface="Calibri"/>
                  </a:rPr>
                  <a:t>.</a:t>
                </a:r>
              </a:p>
            </p:txBody>
          </p:sp>
        </mc:Choice>
        <mc:Fallback>
          <p:sp>
            <p:nvSpPr>
              <p:cNvPr id="9" name="TextBox 8"/>
              <p:cNvSpPr txBox="1"/>
              <p:nvPr/>
            </p:nvSpPr>
            <p:spPr>
              <a:xfrm>
                <a:off x="713232" y="2724912"/>
                <a:ext cx="10735056" cy="678179"/>
              </a:xfrm>
              <a:prstGeom prst="rect">
                <a:avLst/>
              </a:prstGeom>
              <a:noFill/>
            </p:spPr>
            <p:txBody>
              <a:bodyPr wrap="square" anchor="ctr" lIns="45720" rIns="45720">
                <a:spAutoFit/>
              </a:bodyPr>
              <a:lstStyle/>
              <a:p>
                <a:pPr algn="l">
                  <a:spcAft>
                    <a:spcPts val="800"/>
                  </a:spcAft>
                </a:pPr>
                <a:r>
                  <a:rPr sz="2200">
                    <a:solidFill>
                      <a:srgbClr val="1E293B"/>
                    </a:solidFill>
                    <a:latin typeface="Calibri"/>
                  </a:rPr>
                  <a:t>a) </a:t>
                </a:r>
                <a:r>
                  <a:rPr lang="vi-VN"/>
                  <a:t>V(x)=x(a-2x)^2</a:t>
                </a:r>
                <a:r>
                  <a:rPr sz="2200">
                    <a:solidFill>
                      <a:srgbClr val="1E293B"/>
                    </a:solidFill>
                    <a:latin typeface="Calibri"/>
                  </a:rPr>
                  <a:t>, </a:t>
                </a:r>
                <a:r>
                  <a:rPr lang="vi-VN"/>
                  <a:t>0&lt;x&lt;\frac{a}{2}</a:t>
                </a:r>
                <a:r>
                  <a:rPr sz="2200">
                    <a:solidFill>
                      <a:srgbClr val="1E293B"/>
                    </a:solidFill>
                    <a:latin typeface="Calibri"/>
                  </a:rPr>
                  <a:t>.</a:t>
                </a:r>
              </a:p>
            </p:txBody>
          </p:sp>
        </mc:Fallback>
      </mc:AlternateContent>
      <p:sp>
        <p:nvSpPr>
          <p:cNvPr id="10" name="s2_nen"/>
          <p:cNvSpPr/>
          <p:nvPr/>
        </p:nvSpPr>
        <p:spPr>
          <a:xfrm>
            <a:off x="548640" y="3576828"/>
            <a:ext cx="11064240" cy="1388364"/>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613404"/>
                <a:ext cx="10735056" cy="1315212"/>
              </a:xfrm>
              <a:prstGeom prst="rect">
                <a:avLst/>
              </a:prstGeom>
              <a:noFill/>
            </p:spPr>
            <p:txBody>
              <a:bodyPr wrap="square" anchor="ctr" lIns="45720" rIns="45720">
                <a:spAutoFit/>
              </a:bodyPr>
              <a:lstStyle/>
              <a:p>
                <a:pPr algn="l">
                  <a:spcAft>
                    <a:spcPts val="800"/>
                  </a:spcAft>
                </a:pPr>
                <a:r>
                  <a:rPr sz="2200">
                    <a:solidFill>
                      <a:srgbClr val="1E293B"/>
                    </a:solidFill>
                    <a:latin typeface="Calibri"/>
                  </a:rPr>
                  <a:t>b) </a:t>
                </a:r>
                <a14:m>
                  <m:oMath xmlns:m="http://schemas.openxmlformats.org/officeDocument/2006/math">
                    <m:sSup>
                      <m:e>
                        <m:r>
                          <a:rPr lang="vi-VN" sz="2200" b="0">
                            <a:solidFill>
                              <a:srgbClr val="1E293B"/>
                            </a:solidFill>
                            <a:latin typeface="Cambria Math" panose="02040503050406030204" pitchFamily="18" charset="0"/>
                          </a:rPr>
                          <m:t>V</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(x)=(a−2x)(a−6x)=0⇔x=</m:t>
                    </m:r>
                    <m:f>
                      <m:fPr>
                        <m:type m:val="bar"/>
                      </m:fPr>
                      <m:num>
                        <m:r>
                          <a:rPr lang="vi-VN" sz="2200" b="0">
                            <a:solidFill>
                              <a:srgbClr val="1E293B"/>
                            </a:solidFill>
                            <a:latin typeface="Cambria Math" panose="02040503050406030204" pitchFamily="18" charset="0"/>
                          </a:rPr>
                          <m:t>a</m:t>
                        </m:r>
                      </m:num>
                      <m:den>
                        <m:r>
                          <a:rPr lang="vi-VN" sz="2200" b="0">
                            <a:solidFill>
                              <a:srgbClr val="1E293B"/>
                            </a:solidFill>
                            <a:latin typeface="Cambria Math" panose="02040503050406030204" pitchFamily="18" charset="0"/>
                          </a:rPr>
                          <m:t>6</m:t>
                        </m:r>
                      </m:den>
                    </m:f>
                  </m:oMath>
                </a14:m>
                <a:r>
                  <a:rPr sz="2200">
                    <a:solidFill>
                      <a:srgbClr val="1E293B"/>
                    </a:solidFill>
                    <a:latin typeface="Calibri"/>
                  </a:rPr>
                  <a:t> (loại </a:t>
                </a:r>
                <a14:m>
                  <m:oMath xmlns:m="http://schemas.openxmlformats.org/officeDocument/2006/math">
                    <m:r>
                      <a:rPr lang="vi-VN" sz="2200" b="0">
                        <a:solidFill>
                          <a:srgbClr val="1E293B"/>
                        </a:solidFill>
                        <a:latin typeface="Cambria Math" panose="02040503050406030204" pitchFamily="18" charset="0"/>
                      </a:rPr>
                      <m:t>x=</m:t>
                    </m:r>
                    <m:f>
                      <m:fPr>
                        <m:type m:val="bar"/>
                      </m:fPr>
                      <m:num>
                        <m:r>
                          <a:rPr lang="vi-VN" sz="2200" b="0">
                            <a:solidFill>
                              <a:srgbClr val="1E293B"/>
                            </a:solidFill>
                            <a:latin typeface="Cambria Math" panose="02040503050406030204" pitchFamily="18" charset="0"/>
                          </a:rPr>
                          <m:t>a</m:t>
                        </m:r>
                      </m:num>
                      <m:den>
                        <m:r>
                          <a:rPr lang="vi-VN" sz="2200" b="0">
                            <a:solidFill>
                              <a:srgbClr val="1E293B"/>
                            </a:solidFill>
                            <a:latin typeface="Cambria Math" panose="02040503050406030204" pitchFamily="18" charset="0"/>
                          </a:rPr>
                          <m:t>2</m:t>
                        </m:r>
                      </m:den>
                    </m:f>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V</m:t>
                    </m:r>
                  </m:oMath>
                </a14:m>
                <a:r>
                  <a:rPr sz="2200">
                    <a:solidFill>
                      <a:srgbClr val="1E293B"/>
                    </a:solidFill>
                    <a:latin typeface="Calibri"/>
                  </a:rPr>
                  <a:t> đồng biến trên </a:t>
                </a:r>
                <a14:m>
                  <m:oMath xmlns:m="http://schemas.openxmlformats.org/officeDocument/2006/math">
                    <m:d>
                      <m:dPr>
                        <m:sepChr m:val=""/>
                      </m:dPr>
                      <m:e>
                        <m:r>
                          <a:rPr lang="vi-VN" sz="2200" b="0">
                            <a:solidFill>
                              <a:srgbClr val="1E293B"/>
                            </a:solidFill>
                            <a:latin typeface="Cambria Math" panose="02040503050406030204" pitchFamily="18" charset="0"/>
                          </a:rPr>
                          <m:t>0</m:t>
                        </m:r>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f>
                          <m:fPr>
                            <m:type m:val="bar"/>
                          </m:fPr>
                          <m:num>
                            <m:r>
                              <a:rPr lang="vi-VN" sz="2200" b="0">
                                <a:solidFill>
                                  <a:srgbClr val="1E293B"/>
                                </a:solidFill>
                                <a:latin typeface="Cambria Math" panose="02040503050406030204" pitchFamily="18" charset="0"/>
                              </a:rPr>
                              <m:t>a</m:t>
                            </m:r>
                          </m:num>
                          <m:den>
                            <m:r>
                              <a:rPr lang="vi-VN" sz="2200" b="0">
                                <a:solidFill>
                                  <a:srgbClr val="1E293B"/>
                                </a:solidFill>
                                <a:latin typeface="Cambria Math" panose="02040503050406030204" pitchFamily="18" charset="0"/>
                              </a:rPr>
                              <m:t>6</m:t>
                            </m:r>
                          </m:den>
                        </m:f>
                      </m:e>
                    </m:d>
                  </m:oMath>
                </a14:m>
                <a:r>
                  <a:rPr sz="2200">
                    <a:solidFill>
                      <a:srgbClr val="1E293B"/>
                    </a:solidFill>
                    <a:latin typeface="Calibri"/>
                  </a:rPr>
                  <a:t>, nghịch biến trên </a:t>
                </a:r>
                <a14:m>
                  <m:oMath xmlns:m="http://schemas.openxmlformats.org/officeDocument/2006/math">
                    <m:d>
                      <m:dPr>
                        <m:sepChr m:val=""/>
                      </m:dPr>
                      <m:e>
                        <m:f>
                          <m:fPr>
                            <m:type m:val="bar"/>
                          </m:fPr>
                          <m:num>
                            <m:r>
                              <a:rPr lang="vi-VN" sz="2200" b="0">
                                <a:solidFill>
                                  <a:srgbClr val="1E293B"/>
                                </a:solidFill>
                                <a:latin typeface="Cambria Math" panose="02040503050406030204" pitchFamily="18" charset="0"/>
                              </a:rPr>
                              <m:t>a</m:t>
                            </m:r>
                          </m:num>
                          <m:den>
                            <m:r>
                              <a:rPr lang="vi-VN" sz="2200" b="0">
                                <a:solidFill>
                                  <a:srgbClr val="1E293B"/>
                                </a:solidFill>
                                <a:latin typeface="Cambria Math" panose="02040503050406030204" pitchFamily="18" charset="0"/>
                              </a:rPr>
                              <m:t>6</m:t>
                            </m:r>
                          </m:den>
                        </m:f>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f>
                          <m:fPr>
                            <m:type m:val="bar"/>
                          </m:fPr>
                          <m:num>
                            <m:r>
                              <a:rPr lang="vi-VN" sz="2200" b="0">
                                <a:solidFill>
                                  <a:srgbClr val="1E293B"/>
                                </a:solidFill>
                                <a:latin typeface="Cambria Math" panose="02040503050406030204" pitchFamily="18" charset="0"/>
                              </a:rPr>
                              <m:t>a</m:t>
                            </m:r>
                          </m:num>
                          <m:den>
                            <m:r>
                              <a:rPr lang="vi-VN" sz="2200" b="0">
                                <a:solidFill>
                                  <a:srgbClr val="1E293B"/>
                                </a:solidFill>
                                <a:latin typeface="Cambria Math" panose="02040503050406030204" pitchFamily="18" charset="0"/>
                              </a:rPr>
                              <m:t>2</m:t>
                            </m:r>
                          </m:den>
                        </m:f>
                      </m:e>
                    </m:d>
                  </m:oMath>
                </a14:m>
                <a:r>
                  <a:rPr sz="2200">
                    <a:solidFill>
                      <a:srgbClr val="1E293B"/>
                    </a:solidFill>
                    <a:latin typeface="Calibri"/>
                  </a:rPr>
                  <a:t>: </a:t>
                </a:r>
                <a14:m>
                  <m:oMath xmlns:m="http://schemas.openxmlformats.org/officeDocument/2006/math">
                    <m:sSub>
                      <m:e>
                        <m:r>
                          <a:rPr lang="vi-VN" sz="2200" b="0">
                            <a:solidFill>
                              <a:srgbClr val="1E293B"/>
                            </a:solidFill>
                            <a:latin typeface="Cambria Math" panose="02040503050406030204" pitchFamily="18" charset="0"/>
                          </a:rPr>
                          <m:t>V</m:t>
                        </m:r>
                      </m:e>
                      <m:sub>
                        <m:r>
                          <a:rPr lang="vi-VN" sz="2200" b="0">
                            <a:solidFill>
                              <a:srgbClr val="1E293B"/>
                            </a:solidFill>
                            <a:latin typeface="Cambria Math" panose="02040503050406030204" pitchFamily="18" charset="0"/>
                          </a:rPr>
                          <m:t>max</m:t>
                        </m:r>
                      </m:sub>
                    </m:sSub>
                    <m:r>
                      <a:rPr lang="vi-VN" sz="2200" b="0">
                        <a:solidFill>
                          <a:srgbClr val="1E293B"/>
                        </a:solidFill>
                        <a:latin typeface="Cambria Math" panose="02040503050406030204" pitchFamily="18" charset="0"/>
                      </a:rPr>
                      <m:t>=V</m:t>
                    </m:r>
                    <m:d>
                      <m:dPr>
                        <m:sepChr m:val=""/>
                      </m:dPr>
                      <m:e>
                        <m:f>
                          <m:fPr>
                            <m:type m:val="bar"/>
                          </m:fPr>
                          <m:num>
                            <m:r>
                              <a:rPr lang="vi-VN" sz="2200" b="0">
                                <a:solidFill>
                                  <a:srgbClr val="1E293B"/>
                                </a:solidFill>
                                <a:latin typeface="Cambria Math" panose="02040503050406030204" pitchFamily="18" charset="0"/>
                              </a:rPr>
                              <m:t>a</m:t>
                            </m:r>
                          </m:num>
                          <m:den>
                            <m:r>
                              <a:rPr lang="vi-VN" sz="2200" b="0">
                                <a:solidFill>
                                  <a:srgbClr val="1E293B"/>
                                </a:solidFill>
                                <a:latin typeface="Cambria Math" panose="02040503050406030204" pitchFamily="18" charset="0"/>
                              </a:rPr>
                              <m:t>6</m:t>
                            </m:r>
                          </m:den>
                        </m:f>
                      </m:e>
                    </m:d>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2</m:t>
                        </m:r>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3</m:t>
                            </m:r>
                          </m:sup>
                        </m:sSup>
                      </m:num>
                      <m:den>
                        <m:r>
                          <a:rPr lang="vi-VN" sz="2200" b="0">
                            <a:solidFill>
                              <a:srgbClr val="1E293B"/>
                            </a:solidFill>
                            <a:latin typeface="Cambria Math" panose="02040503050406030204" pitchFamily="18" charset="0"/>
                          </a:rPr>
                          <m:t>27</m:t>
                        </m:r>
                      </m:den>
                    </m:f>
                  </m:oMath>
                </a14:m>
                <a:r>
                  <a:rPr sz="2200">
                    <a:solidFill>
                      <a:srgbClr val="1E293B"/>
                    </a:solidFill>
                    <a:latin typeface="Calibri"/>
                  </a:rPr>
                  <a:t>.</a:t>
                </a:r>
              </a:p>
            </p:txBody>
          </p:sp>
        </mc:Choice>
        <mc:Fallback>
          <p:sp>
            <p:nvSpPr>
              <p:cNvPr id="11" name="TextBox 10"/>
              <p:cNvSpPr txBox="1"/>
              <p:nvPr/>
            </p:nvSpPr>
            <p:spPr>
              <a:xfrm>
                <a:off x="713232" y="3613404"/>
                <a:ext cx="10735056" cy="1315212"/>
              </a:xfrm>
              <a:prstGeom prst="rect">
                <a:avLst/>
              </a:prstGeom>
              <a:noFill/>
            </p:spPr>
            <p:txBody>
              <a:bodyPr wrap="square" anchor="ctr" lIns="45720" rIns="45720">
                <a:spAutoFit/>
              </a:bodyPr>
              <a:lstStyle/>
              <a:p>
                <a:pPr algn="l">
                  <a:spcAft>
                    <a:spcPts val="800"/>
                  </a:spcAft>
                </a:pPr>
                <a:r>
                  <a:rPr sz="2200">
                    <a:solidFill>
                      <a:srgbClr val="1E293B"/>
                    </a:solidFill>
                    <a:latin typeface="Calibri"/>
                  </a:rPr>
                  <a:t>b) </a:t>
                </a:r>
                <a:r>
                  <a:rPr lang="vi-VN"/>
                  <a:t>V'(x)=(a-2x)(a-6x)=0\Leftrightarrow x=\frac{a}{6}</a:t>
                </a:r>
                <a:r>
                  <a:rPr sz="2200">
                    <a:solidFill>
                      <a:srgbClr val="1E293B"/>
                    </a:solidFill>
                    <a:latin typeface="Calibri"/>
                  </a:rPr>
                  <a:t> (loại </a:t>
                </a:r>
                <a:r>
                  <a:rPr lang="vi-VN"/>
                  <a:t>x=\frac{a}{2}</a:t>
                </a:r>
                <a:r>
                  <a:rPr sz="2200">
                    <a:solidFill>
                      <a:srgbClr val="1E293B"/>
                    </a:solidFill>
                    <a:latin typeface="Calibri"/>
                  </a:rPr>
                  <a:t>); </a:t>
                </a:r>
                <a:r>
                  <a:rPr lang="vi-VN"/>
                  <a:t>V</a:t>
                </a:r>
                <a:r>
                  <a:rPr sz="2200">
                    <a:solidFill>
                      <a:srgbClr val="1E293B"/>
                    </a:solidFill>
                    <a:latin typeface="Calibri"/>
                  </a:rPr>
                  <a:t> đồng biến trên </a:t>
                </a:r>
                <a:r>
                  <a:rPr lang="vi-VN"/>
                  <a:t>\left(0;\ \frac{a}{6}\right)</a:t>
                </a:r>
                <a:r>
                  <a:rPr sz="2200">
                    <a:solidFill>
                      <a:srgbClr val="1E293B"/>
                    </a:solidFill>
                    <a:latin typeface="Calibri"/>
                  </a:rPr>
                  <a:t>, nghịch biến trên </a:t>
                </a:r>
                <a:r>
                  <a:rPr lang="vi-VN"/>
                  <a:t>\left(\frac{a}{6};\ \frac{a}{2}\right)</a:t>
                </a:r>
                <a:r>
                  <a:rPr sz="2200">
                    <a:solidFill>
                      <a:srgbClr val="1E293B"/>
                    </a:solidFill>
                    <a:latin typeface="Calibri"/>
                  </a:rPr>
                  <a:t>: </a:t>
                </a:r>
                <a:r>
                  <a:rPr lang="vi-VN"/>
                  <a:t>V_{\max}=V\left(\frac{a}{6}\right)=\frac{2a^3}{27}</a:t>
                </a:r>
                <a:r>
                  <a:rPr sz="2200">
                    <a:solidFill>
                      <a:srgbClr val="1E293B"/>
                    </a:solidFill>
                    <a:latin typeface="Calibri"/>
                  </a:rPr>
                  <a:t>.</a:t>
                </a:r>
              </a:p>
            </p:txBody>
          </p:sp>
        </mc:Fallback>
      </mc:AlternateContent>
      <p:sp>
        <p:nvSpPr>
          <p:cNvPr id="12" name="s3_nen"/>
          <p:cNvSpPr/>
          <p:nvPr/>
        </p:nvSpPr>
        <p:spPr>
          <a:xfrm>
            <a:off x="548640" y="5102352"/>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5138928"/>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c) </a:t>
                </a:r>
                <a14:m>
                  <m:oMath xmlns:m="http://schemas.openxmlformats.org/officeDocument/2006/math">
                    <m:r>
                      <a:rPr lang="vi-VN" sz="2200" b="0">
                        <a:solidFill>
                          <a:srgbClr val="1E293B"/>
                        </a:solidFill>
                        <a:latin typeface="Cambria Math" panose="02040503050406030204" pitchFamily="18" charset="0"/>
                      </a:rPr>
                      <m:t>a=30</m:t>
                    </m:r>
                  </m:oMath>
                </a14:m>
                <a:r>
                  <a:rPr sz="2200">
                    <a:solidFill>
                      <a:srgbClr val="1E293B"/>
                    </a:solidFill>
                    <a:latin typeface="Calibri"/>
                  </a:rPr>
                  <a:t> cm: </a:t>
                </a:r>
                <a14:m>
                  <m:oMath xmlns:m="http://schemas.openxmlformats.org/officeDocument/2006/math">
                    <m:r>
                      <a:rPr lang="vi-VN" sz="2200" b="0">
                        <a:solidFill>
                          <a:srgbClr val="1E293B"/>
                        </a:solidFill>
                        <a:latin typeface="Cambria Math" panose="02040503050406030204" pitchFamily="18" charset="0"/>
                      </a:rPr>
                      <m:t>x=5</m:t>
                    </m:r>
                  </m:oMath>
                </a14:m>
                <a:r>
                  <a:rPr sz="2200">
                    <a:solidFill>
                      <a:srgbClr val="1E293B"/>
                    </a:solidFill>
                    <a:latin typeface="Calibri"/>
                  </a:rPr>
                  <a:t> cm, </a:t>
                </a:r>
                <a14:m>
                  <m:oMath xmlns:m="http://schemas.openxmlformats.org/officeDocument/2006/math">
                    <m:sSub>
                      <m:e>
                        <m:r>
                          <a:rPr lang="vi-VN" sz="2200" b="0">
                            <a:solidFill>
                              <a:srgbClr val="1E293B"/>
                            </a:solidFill>
                            <a:latin typeface="Cambria Math" panose="02040503050406030204" pitchFamily="18" charset="0"/>
                          </a:rPr>
                          <m:t>V</m:t>
                        </m:r>
                      </m:e>
                      <m:sub>
                        <m:r>
                          <a:rPr lang="vi-VN" sz="2200" b="0">
                            <a:solidFill>
                              <a:srgbClr val="1E293B"/>
                            </a:solidFill>
                            <a:latin typeface="Cambria Math" panose="02040503050406030204" pitchFamily="18" charset="0"/>
                          </a:rPr>
                          <m:t>max</m:t>
                        </m:r>
                      </m:sub>
                    </m:sSub>
                    <m:r>
                      <a:rPr lang="vi-VN" sz="2200" b="0">
                        <a:solidFill>
                          <a:srgbClr val="1E293B"/>
                        </a:solidFill>
                        <a:latin typeface="Cambria Math" panose="02040503050406030204" pitchFamily="18" charset="0"/>
                      </a:rPr>
                      <m:t>=2</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000</m:t>
                    </m:r>
                  </m:oMath>
                </a14:m>
                <a:r>
                  <a:rPr sz="2200">
                    <a:solidFill>
                      <a:srgbClr val="1E293B"/>
                    </a:solidFill>
                    <a:latin typeface="Calibri"/>
                  </a:rPr>
                  <a:t> cm³.</a:t>
                </a:r>
              </a:p>
            </p:txBody>
          </p:sp>
        </mc:Choice>
        <mc:Fallback>
          <p:sp>
            <p:nvSpPr>
              <p:cNvPr id="13" name="TextBox 12"/>
              <p:cNvSpPr txBox="1"/>
              <p:nvPr/>
            </p:nvSpPr>
            <p:spPr>
              <a:xfrm>
                <a:off x="713232" y="5138928"/>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c) </a:t>
                </a:r>
                <a:r>
                  <a:rPr lang="vi-VN"/>
                  <a:t>a=30</a:t>
                </a:r>
                <a:r>
                  <a:rPr sz="2200">
                    <a:solidFill>
                      <a:srgbClr val="1E293B"/>
                    </a:solidFill>
                    <a:latin typeface="Calibri"/>
                  </a:rPr>
                  <a:t> cm: </a:t>
                </a:r>
                <a:r>
                  <a:rPr lang="vi-VN"/>
                  <a:t>x=5</a:t>
                </a:r>
                <a:r>
                  <a:rPr sz="2200">
                    <a:solidFill>
                      <a:srgbClr val="1E293B"/>
                    </a:solidFill>
                    <a:latin typeface="Calibri"/>
                  </a:rPr>
                  <a:t> cm, </a:t>
                </a:r>
                <a:r>
                  <a:rPr lang="vi-VN"/>
                  <a:t>V_{\max}=2\ 000</a:t>
                </a:r>
                <a:r>
                  <a:rPr sz="2200">
                    <a:solidFill>
                      <a:srgbClr val="1E293B"/>
                    </a:solidFill>
                    <a:latin typeface="Calibri"/>
                  </a:rPr>
                  <a:t> cm³.</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KIẾN THỨC NỀN – HỘP TỪ TẤM BÌA A4 (21 CM × 29,7 CM)</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36</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6766560" cy="783335"/>
              </a:xfrm>
              <a:prstGeom prst="rect">
                <a:avLst/>
              </a:prstGeom>
              <a:noFill/>
            </p:spPr>
            <p:txBody>
              <a:bodyPr wrap="square" anchor="t" lIns="45720" rIns="45720">
                <a:spAutoFit/>
              </a:bodyPr>
              <a:lstStyle/>
              <a:p>
                <a:pPr algn="l">
                  <a:spcAft>
                    <a:spcPts val="800"/>
                  </a:spcAft>
                </a:pPr>
                <a:r>
                  <a:rPr sz="2000">
                    <a:solidFill>
                      <a:srgbClr val="1E293B"/>
                    </a:solidFill>
                    <a:latin typeface="Calibri"/>
                  </a:rPr>
                  <a:t>Áp dụng cho tấm bìa A4: </a:t>
                </a:r>
                <a14:m>
                  <m:oMath xmlns:m="http://schemas.openxmlformats.org/officeDocument/2006/math">
                    <m:r>
                      <a:rPr lang="vi-VN" sz="2000" b="0">
                        <a:solidFill>
                          <a:srgbClr val="1E293B"/>
                        </a:solidFill>
                        <a:latin typeface="Cambria Math" panose="02040503050406030204" pitchFamily="18" charset="0"/>
                      </a:rPr>
                      <m:t>V(x)=x(21−2x)(29</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7−2x)</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0&lt;x&lt;10</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5</m:t>
                    </m:r>
                  </m:oMath>
                </a14:m>
                <a:r>
                  <a:rPr sz="2000">
                    <a:solidFill>
                      <a:srgbClr val="1E293B"/>
                    </a:solidFill>
                    <a:latin typeface="Calibri"/>
                  </a:rPr>
                  <a:t>.</a:t>
                </a:r>
              </a:p>
            </p:txBody>
          </p:sp>
        </mc:Choice>
        <mc:Fallback>
          <p:sp>
            <p:nvSpPr>
              <p:cNvPr id="7" name="TextBox 6"/>
              <p:cNvSpPr txBox="1"/>
              <p:nvPr/>
            </p:nvSpPr>
            <p:spPr>
              <a:xfrm>
                <a:off x="548640" y="1371600"/>
                <a:ext cx="6766560" cy="783335"/>
              </a:xfrm>
              <a:prstGeom prst="rect">
                <a:avLst/>
              </a:prstGeom>
              <a:noFill/>
            </p:spPr>
            <p:txBody>
              <a:bodyPr wrap="square" anchor="t" lIns="45720" rIns="45720">
                <a:spAutoFit/>
              </a:bodyPr>
              <a:lstStyle/>
              <a:p>
                <a:pPr algn="l">
                  <a:spcAft>
                    <a:spcPts val="800"/>
                  </a:spcAft>
                </a:pPr>
                <a:r>
                  <a:rPr sz="2000">
                    <a:solidFill>
                      <a:srgbClr val="1E293B"/>
                    </a:solidFill>
                    <a:latin typeface="Calibri"/>
                  </a:rPr>
                  <a:t>Áp dụng cho tấm bìa A4: </a:t>
                </a:r>
                <a:r>
                  <a:rPr lang="vi-VN"/>
                  <a:t>V(x)=x(21-2x)(29{,}7-2x)</a:t>
                </a:r>
                <a:r>
                  <a:rPr sz="2000">
                    <a:solidFill>
                      <a:srgbClr val="1E293B"/>
                    </a:solidFill>
                    <a:latin typeface="Calibri"/>
                  </a:rPr>
                  <a:t>, </a:t>
                </a:r>
                <a:r>
                  <a:rPr lang="vi-VN"/>
                  <a:t>0&lt;x&lt;10{,}5</a:t>
                </a:r>
                <a:r>
                  <a:rPr sz="2000">
                    <a:solidFill>
                      <a:srgbClr val="1E293B"/>
                    </a:solidFill>
                    <a:latin typeface="Calibri"/>
                  </a:rPr>
                  <a:t>.</a:t>
                </a:r>
              </a:p>
            </p:txBody>
          </p:sp>
        </mc:Fallback>
      </mc:AlternateContent>
      <p:sp>
        <p:nvSpPr>
          <p:cNvPr id="8" name="s1_nen"/>
          <p:cNvSpPr/>
          <p:nvPr/>
        </p:nvSpPr>
        <p:spPr>
          <a:xfrm>
            <a:off x="548640" y="2246376"/>
            <a:ext cx="676656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282952"/>
                <a:ext cx="643737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V(x)=4</m:t>
                    </m:r>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3</m:t>
                        </m:r>
                      </m:sup>
                    </m:sSup>
                    <m:r>
                      <a:rPr lang="vi-VN" sz="2000" b="0">
                        <a:solidFill>
                          <a:srgbClr val="1E293B"/>
                        </a:solidFill>
                        <a:latin typeface="Cambria Math" panose="02040503050406030204" pitchFamily="18" charset="0"/>
                      </a:rPr>
                      <m:t>−101</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4</m:t>
                    </m:r>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+623</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7x</m:t>
                    </m:r>
                  </m:oMath>
                </a14:m>
                <a:r>
                  <a:rPr sz="2000">
                    <a:solidFill>
                      <a:srgbClr val="1E293B"/>
                    </a:solidFill>
                    <a:latin typeface="Calibri"/>
                  </a:rPr>
                  <a:t>; </a:t>
                </a:r>
                <a14:m>
                  <m:oMath xmlns:m="http://schemas.openxmlformats.org/officeDocument/2006/math">
                    <m:sSup>
                      <m:e>
                        <m:r>
                          <a:rPr lang="vi-VN" sz="2000" b="0">
                            <a:solidFill>
                              <a:srgbClr val="1E293B"/>
                            </a:solidFill>
                            <a:latin typeface="Cambria Math" panose="02040503050406030204" pitchFamily="18" charset="0"/>
                          </a:rPr>
                          <m:t>V</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(x)=12</m:t>
                    </m:r>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−202</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8x+623</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7=0⇔x≈4</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04</m:t>
                    </m:r>
                  </m:oMath>
                </a14:m>
                <a:r>
                  <a:rPr sz="2000">
                    <a:solidFill>
                      <a:srgbClr val="1E293B"/>
                    </a:solidFill>
                    <a:latin typeface="Calibri"/>
                  </a:rPr>
                  <a:t> hoặc </a:t>
                </a:r>
                <a14:m>
                  <m:oMath xmlns:m="http://schemas.openxmlformats.org/officeDocument/2006/math">
                    <m:r>
                      <a:rPr lang="vi-VN" sz="2000" b="0">
                        <a:solidFill>
                          <a:srgbClr val="1E293B"/>
                        </a:solidFill>
                        <a:latin typeface="Cambria Math" panose="02040503050406030204" pitchFamily="18" charset="0"/>
                      </a:rPr>
                      <m:t>x≈12</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86</m:t>
                    </m:r>
                  </m:oMath>
                </a14:m>
                <a:r>
                  <a:rPr sz="2000">
                    <a:solidFill>
                      <a:srgbClr val="1E293B"/>
                    </a:solidFill>
                    <a:latin typeface="Calibri"/>
                  </a:rPr>
                  <a:t> (loại).</a:t>
                </a:r>
              </a:p>
            </p:txBody>
          </p:sp>
        </mc:Choice>
        <mc:Fallback>
          <p:sp>
            <p:nvSpPr>
              <p:cNvPr id="9" name="TextBox 8"/>
              <p:cNvSpPr txBox="1"/>
              <p:nvPr/>
            </p:nvSpPr>
            <p:spPr>
              <a:xfrm>
                <a:off x="713232" y="2282952"/>
                <a:ext cx="643737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r>
                  <a:rPr lang="vi-VN"/>
                  <a:t>V(x)=4x^3-101{,}4x^2+623{,}7x</a:t>
                </a:r>
                <a:r>
                  <a:rPr sz="2000">
                    <a:solidFill>
                      <a:srgbClr val="1E293B"/>
                    </a:solidFill>
                    <a:latin typeface="Calibri"/>
                  </a:rPr>
                  <a:t>; </a:t>
                </a:r>
                <a:r>
                  <a:rPr lang="vi-VN"/>
                  <a:t>V'(x)=12x^2-202{,}8x+623{,}7=0\Leftrightarrow x\approx 4{,}04</a:t>
                </a:r>
                <a:r>
                  <a:rPr sz="2000">
                    <a:solidFill>
                      <a:srgbClr val="1E293B"/>
                    </a:solidFill>
                    <a:latin typeface="Calibri"/>
                  </a:rPr>
                  <a:t> hoặc </a:t>
                </a:r>
                <a:r>
                  <a:rPr lang="vi-VN"/>
                  <a:t>x\approx 12{,}86</a:t>
                </a:r>
                <a:r>
                  <a:rPr sz="2000">
                    <a:solidFill>
                      <a:srgbClr val="1E293B"/>
                    </a:solidFill>
                    <a:latin typeface="Calibri"/>
                  </a:rPr>
                  <a:t> (loại).</a:t>
                </a:r>
              </a:p>
            </p:txBody>
          </p:sp>
        </mc:Fallback>
      </mc:AlternateContent>
      <p:sp>
        <p:nvSpPr>
          <p:cNvPr id="10" name="s2_nen"/>
          <p:cNvSpPr/>
          <p:nvPr/>
        </p:nvSpPr>
        <p:spPr>
          <a:xfrm>
            <a:off x="548640" y="3212592"/>
            <a:ext cx="676656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249168"/>
                <a:ext cx="643737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V</m:t>
                    </m:r>
                  </m:oMath>
                </a14:m>
                <a:r>
                  <a:rPr sz="2000">
                    <a:solidFill>
                      <a:srgbClr val="1E293B"/>
                    </a:solidFill>
                    <a:latin typeface="Calibri"/>
                  </a:rPr>
                  <a:t> lớn nhất </a:t>
                </a:r>
                <a14:m>
                  <m:oMath xmlns:m="http://schemas.openxmlformats.org/officeDocument/2006/math">
                    <m:r>
                      <a:rPr lang="vi-VN" sz="2000" b="0">
                        <a:solidFill>
                          <a:srgbClr val="1E293B"/>
                        </a:solidFill>
                        <a:latin typeface="Cambria Math" panose="02040503050406030204" pitchFamily="18" charset="0"/>
                      </a:rPr>
                      <m:t>≈1</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128</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5</m:t>
                    </m:r>
                  </m:oMath>
                </a14:m>
                <a:r>
                  <a:rPr sz="2000">
                    <a:solidFill>
                      <a:srgbClr val="1E293B"/>
                    </a:solidFill>
                    <a:latin typeface="Calibri"/>
                  </a:rPr>
                  <a:t> cm³ (khoảng 1,13 lít) tại </a:t>
                </a:r>
                <a14:m>
                  <m:oMath xmlns:m="http://schemas.openxmlformats.org/officeDocument/2006/math">
                    <m:r>
                      <a:rPr lang="vi-VN" sz="2000" b="0">
                        <a:solidFill>
                          <a:srgbClr val="1E293B"/>
                        </a:solidFill>
                        <a:latin typeface="Cambria Math" panose="02040503050406030204" pitchFamily="18" charset="0"/>
                      </a:rPr>
                      <m:t>x≈4</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04</m:t>
                    </m:r>
                  </m:oMath>
                </a14:m>
                <a:r>
                  <a:rPr sz="2000">
                    <a:solidFill>
                      <a:srgbClr val="1E293B"/>
                    </a:solidFill>
                    <a:latin typeface="Calibri"/>
                  </a:rPr>
                  <a:t> cm; đáy khoảng 12,92 cm × 21,62 cm.</a:t>
                </a:r>
              </a:p>
            </p:txBody>
          </p:sp>
        </mc:Choice>
        <mc:Fallback>
          <p:sp>
            <p:nvSpPr>
              <p:cNvPr id="11" name="TextBox 10"/>
              <p:cNvSpPr txBox="1"/>
              <p:nvPr/>
            </p:nvSpPr>
            <p:spPr>
              <a:xfrm>
                <a:off x="713232" y="3249168"/>
                <a:ext cx="643737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r>
                  <a:rPr lang="vi-VN"/>
                  <a:t>V</a:t>
                </a:r>
                <a:r>
                  <a:rPr sz="2000">
                    <a:solidFill>
                      <a:srgbClr val="1E293B"/>
                    </a:solidFill>
                    <a:latin typeface="Calibri"/>
                  </a:rPr>
                  <a:t> lớn nhất </a:t>
                </a:r>
                <a:r>
                  <a:rPr lang="vi-VN"/>
                  <a:t>\approx 1\ 128{,}5</a:t>
                </a:r>
                <a:r>
                  <a:rPr sz="2000">
                    <a:solidFill>
                      <a:srgbClr val="1E293B"/>
                    </a:solidFill>
                    <a:latin typeface="Calibri"/>
                  </a:rPr>
                  <a:t> cm³ (khoảng 1,13 lít) tại </a:t>
                </a:r>
                <a:r>
                  <a:rPr lang="vi-VN"/>
                  <a:t>x\approx 4{,}04</a:t>
                </a:r>
                <a:r>
                  <a:rPr sz="2000">
                    <a:solidFill>
                      <a:srgbClr val="1E293B"/>
                    </a:solidFill>
                    <a:latin typeface="Calibri"/>
                  </a:rPr>
                  <a:t> cm; đáy khoảng 12,92 cm × 21,62 cm.</a:t>
                </a:r>
              </a:p>
            </p:txBody>
          </p:sp>
        </mc:Fallback>
      </mc:AlternateContent>
      <p:sp>
        <p:nvSpPr>
          <p:cNvPr id="12" name="s3_nen"/>
          <p:cNvSpPr/>
          <p:nvPr/>
        </p:nvSpPr>
        <p:spPr>
          <a:xfrm>
            <a:off x="548640" y="4178807"/>
            <a:ext cx="676656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4215383"/>
                <a:ext cx="643737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Khi cắt thực tế lấy </a:t>
                </a:r>
                <a14:m>
                  <m:oMath xmlns:m="http://schemas.openxmlformats.org/officeDocument/2006/math">
                    <m:r>
                      <a:rPr lang="vi-VN" sz="2000" b="0">
                        <a:solidFill>
                          <a:srgbClr val="1E293B"/>
                        </a:solidFill>
                        <a:latin typeface="Cambria Math" panose="02040503050406030204" pitchFamily="18" charset="0"/>
                      </a:rPr>
                      <m:t>x=4</m:t>
                    </m:r>
                  </m:oMath>
                </a14:m>
                <a:r>
                  <a:rPr sz="2000">
                    <a:solidFill>
                      <a:srgbClr val="1E293B"/>
                    </a:solidFill>
                    <a:latin typeface="Calibri"/>
                  </a:rPr>
                  <a:t> cm (đo được bằng thước): </a:t>
                </a:r>
                <a14:m>
                  <m:oMath xmlns:m="http://schemas.openxmlformats.org/officeDocument/2006/math">
                    <m:r>
                      <a:rPr lang="vi-VN" sz="2000" b="0">
                        <a:solidFill>
                          <a:srgbClr val="1E293B"/>
                        </a:solidFill>
                        <a:latin typeface="Cambria Math" panose="02040503050406030204" pitchFamily="18" charset="0"/>
                      </a:rPr>
                      <m:t>V(4)≈1</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128</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4</m:t>
                    </m:r>
                  </m:oMath>
                </a14:m>
                <a:r>
                  <a:rPr sz="2000">
                    <a:solidFill>
                      <a:srgbClr val="1E293B"/>
                    </a:solidFill>
                    <a:latin typeface="Calibri"/>
                  </a:rPr>
                  <a:t> cm³ – giảm không đáng kể.</a:t>
                </a:r>
              </a:p>
            </p:txBody>
          </p:sp>
        </mc:Choice>
        <mc:Fallback>
          <p:sp>
            <p:nvSpPr>
              <p:cNvPr id="13" name="TextBox 12"/>
              <p:cNvSpPr txBox="1"/>
              <p:nvPr/>
            </p:nvSpPr>
            <p:spPr>
              <a:xfrm>
                <a:off x="713232" y="4215383"/>
                <a:ext cx="643737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Khi cắt thực tế lấy </a:t>
                </a:r>
                <a:r>
                  <a:rPr lang="vi-VN"/>
                  <a:t>x=4</a:t>
                </a:r>
                <a:r>
                  <a:rPr sz="2000">
                    <a:solidFill>
                      <a:srgbClr val="1E293B"/>
                    </a:solidFill>
                    <a:latin typeface="Calibri"/>
                  </a:rPr>
                  <a:t> cm (đo được bằng thước): </a:t>
                </a:r>
                <a:r>
                  <a:rPr lang="vi-VN"/>
                  <a:t>V(4)\approx 1\ 128{,}4</a:t>
                </a:r>
                <a:r>
                  <a:rPr sz="2000">
                    <a:solidFill>
                      <a:srgbClr val="1E293B"/>
                    </a:solidFill>
                    <a:latin typeface="Calibri"/>
                  </a:rPr>
                  <a:t> cm³ – giảm không đáng kể.</a:t>
                </a:r>
              </a:p>
            </p:txBody>
          </p:sp>
        </mc:Fallback>
      </mc:AlternateContent>
      <p:pic>
        <p:nvPicPr>
          <p:cNvPr id="14" name="Picture 13" descr="do_thi_V.png"/>
          <p:cNvPicPr>
            <a:picLocks noChangeAspect="1"/>
          </p:cNvPicPr>
          <p:nvPr/>
        </p:nvPicPr>
        <p:blipFill>
          <a:blip r:embed="rId3"/>
          <a:stretch>
            <a:fillRect/>
          </a:stretch>
        </p:blipFill>
        <p:spPr>
          <a:xfrm>
            <a:off x="7589520" y="1549400"/>
            <a:ext cx="4023359" cy="257047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GEOGEBRA</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GEOGEBRA – HỘP KHÔNG NẮP TỪ TẤM BÌA A4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37</a:t>
            </a:r>
          </a:p>
        </p:txBody>
      </p:sp>
      <mc:AlternateContent xmlns:mc="http://schemas.openxmlformats.org/markup-compatibility/2006">
        <mc:Choice xmlns:a14="http://schemas.microsoft.com/office/drawing/2010/main" Requires="a14">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Kéo thanh trượt </a:t>
                </a:r>
                <a14:m>
                  <m:oMath xmlns:m="http://schemas.openxmlformats.org/officeDocument/2006/math">
                    <m:r>
                      <a:rPr lang="vi-VN" sz="2200" b="0">
                        <a:solidFill>
                          <a:srgbClr val="1E293B"/>
                        </a:solidFill>
                        <a:latin typeface="Cambria Math" panose="02040503050406030204" pitchFamily="18" charset="0"/>
                      </a:rPr>
                      <m:t>x</m:t>
                    </m:r>
                  </m:oMath>
                </a14:m>
                <a:r>
                  <a:rPr sz="2200">
                    <a:solidFill>
                      <a:srgbClr val="1E293B"/>
                    </a:solidFill>
                    <a:latin typeface="Calibri"/>
                  </a:rPr>
                  <a:t> (cm) từ 0 đến 10,5.</a:t>
                </a:r>
              </a:p>
              <a:p>
                <a:pPr algn="l" marL="365760" indent="-365760">
                  <a:spcAft>
                    <a:spcPts val="800"/>
                  </a:spcAft>
                  <a:buClr>
                    <a:srgbClr val="1E40AF"/>
                  </a:buClr>
                  <a:buFont typeface="Arial"/>
                  <a:buChar char="•"/>
                </a:pPr>
                <a:r>
                  <a:rPr sz="2200">
                    <a:solidFill>
                      <a:srgbClr val="1E293B"/>
                    </a:solidFill>
                    <a:latin typeface="Calibri"/>
                  </a:rPr>
                  <a:t>Điểm </a:t>
                </a:r>
                <a14:m>
                  <m:oMath xmlns:m="http://schemas.openxmlformats.org/officeDocument/2006/math">
                    <m:r>
                      <a:rPr lang="vi-VN" sz="2200" b="0">
                        <a:solidFill>
                          <a:srgbClr val="1E293B"/>
                        </a:solidFill>
                        <a:latin typeface="Cambria Math" panose="02040503050406030204" pitchFamily="18" charset="0"/>
                      </a:rPr>
                      <m:t>P(x;</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V(x))</m:t>
                    </m:r>
                  </m:oMath>
                </a14:m>
                <a:r>
                  <a:rPr sz="2200">
                    <a:solidFill>
                      <a:srgbClr val="1E293B"/>
                    </a:solidFill>
                    <a:latin typeface="Calibri"/>
                  </a:rPr>
                  <a:t> chạy trên đồ thị </a:t>
                </a:r>
                <a14:m>
                  <m:oMath xmlns:m="http://schemas.openxmlformats.org/officeDocument/2006/math">
                    <m:r>
                      <a:rPr lang="vi-VN" sz="2200" b="0">
                        <a:solidFill>
                          <a:srgbClr val="1E293B"/>
                        </a:solidFill>
                        <a:latin typeface="Cambria Math" panose="02040503050406030204" pitchFamily="18" charset="0"/>
                      </a:rPr>
                      <m:t>V(x)=x(21−2x)(29</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7−2x)</m:t>
                    </m:r>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Điểm </a:t>
                </a:r>
                <a14:m>
                  <m:oMath xmlns:m="http://schemas.openxmlformats.org/officeDocument/2006/math">
                    <m:r>
                      <a:rPr lang="vi-VN" sz="2200" b="0">
                        <a:solidFill>
                          <a:srgbClr val="1E293B"/>
                        </a:solidFill>
                        <a:latin typeface="Cambria Math" panose="02040503050406030204" pitchFamily="18" charset="0"/>
                      </a:rPr>
                      <m:t>M</m:t>
                    </m:r>
                  </m:oMath>
                </a14:m>
                <a:r>
                  <a:rPr sz="2200">
                    <a:solidFill>
                      <a:srgbClr val="1E293B"/>
                    </a:solidFill>
                    <a:latin typeface="Calibri"/>
                  </a:rPr>
                  <a:t> (xanh): thể tích lớn nhất </a:t>
                </a:r>
                <a14:m>
                  <m:oMath xmlns:m="http://schemas.openxmlformats.org/officeDocument/2006/math">
                    <m:r>
                      <a:rPr lang="vi-VN" sz="2200" b="0">
                        <a:solidFill>
                          <a:srgbClr val="1E293B"/>
                        </a:solidFill>
                        <a:latin typeface="Cambria Math" panose="02040503050406030204" pitchFamily="18" charset="0"/>
                      </a:rPr>
                      <m:t>≈1</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128</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5</m:t>
                    </m:r>
                  </m:oMath>
                </a14:m>
                <a:r>
                  <a:rPr sz="2200">
                    <a:solidFill>
                      <a:srgbClr val="1E293B"/>
                    </a:solidFill>
                    <a:latin typeface="Calibri"/>
                  </a:rPr>
                  <a:t> cm³ khi </a:t>
                </a:r>
                <a14:m>
                  <m:oMath xmlns:m="http://schemas.openxmlformats.org/officeDocument/2006/math">
                    <m:r>
                      <a:rPr lang="vi-VN" sz="2200" b="0">
                        <a:solidFill>
                          <a:srgbClr val="1E293B"/>
                        </a:solidFill>
                        <a:latin typeface="Cambria Math" panose="02040503050406030204" pitchFamily="18" charset="0"/>
                      </a:rPr>
                      <m:t>x≈4</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04</m:t>
                    </m:r>
                  </m:oMath>
                </a14:m>
                <a:r>
                  <a:rPr sz="2200">
                    <a:solidFill>
                      <a:srgbClr val="1E293B"/>
                    </a:solidFill>
                    <a:latin typeface="Calibri"/>
                  </a:rPr>
                  <a:t> cm.</a:t>
                </a:r>
              </a:p>
            </p:txBody>
          </p:sp>
        </mc:Choice>
        <mc:Fallback>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Kéo thanh trượt </a:t>
                </a:r>
                <a:r>
                  <a:rPr lang="vi-VN"/>
                  <a:t>x</a:t>
                </a:r>
                <a:r>
                  <a:rPr sz="2200">
                    <a:solidFill>
                      <a:srgbClr val="1E293B"/>
                    </a:solidFill>
                    <a:latin typeface="Calibri"/>
                  </a:rPr>
                  <a:t> (cm) từ 0 đến 10,5.</a:t>
                </a:r>
              </a:p>
              <a:p>
                <a:pPr algn="l" marL="365760" indent="-365760">
                  <a:spcAft>
                    <a:spcPts val="800"/>
                  </a:spcAft>
                  <a:buClr>
                    <a:srgbClr val="1E40AF"/>
                  </a:buClr>
                  <a:buFont typeface="Arial"/>
                  <a:buChar char="•"/>
                </a:pPr>
                <a:r>
                  <a:rPr sz="2200">
                    <a:solidFill>
                      <a:srgbClr val="1E293B"/>
                    </a:solidFill>
                    <a:latin typeface="Calibri"/>
                  </a:rPr>
                  <a:t>Điểm </a:t>
                </a:r>
                <a:r>
                  <a:rPr lang="vi-VN"/>
                  <a:t>P(x;\ V(x))</a:t>
                </a:r>
                <a:r>
                  <a:rPr sz="2200">
                    <a:solidFill>
                      <a:srgbClr val="1E293B"/>
                    </a:solidFill>
                    <a:latin typeface="Calibri"/>
                  </a:rPr>
                  <a:t> chạy trên đồ thị </a:t>
                </a:r>
                <a:r>
                  <a:rPr lang="vi-VN"/>
                  <a:t>V(x)=x(21-2x)(29{,}7-2x)</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Điểm </a:t>
                </a:r>
                <a:r>
                  <a:rPr lang="vi-VN"/>
                  <a:t>M</a:t>
                </a:r>
                <a:r>
                  <a:rPr sz="2200">
                    <a:solidFill>
                      <a:srgbClr val="1E293B"/>
                    </a:solidFill>
                    <a:latin typeface="Calibri"/>
                  </a:rPr>
                  <a:t> (xanh): thể tích lớn nhất </a:t>
                </a:r>
                <a:r>
                  <a:rPr lang="vi-VN"/>
                  <a:t>\approx 1\ 128{,}5</a:t>
                </a:r>
                <a:r>
                  <a:rPr sz="2200">
                    <a:solidFill>
                      <a:srgbClr val="1E293B"/>
                    </a:solidFill>
                    <a:latin typeface="Calibri"/>
                  </a:rPr>
                  <a:t> cm³ khi </a:t>
                </a:r>
                <a:r>
                  <a:rPr lang="vi-VN"/>
                  <a:t>x\approx 4{,}04</a:t>
                </a:r>
                <a:r>
                  <a:rPr sz="2200">
                    <a:solidFill>
                      <a:srgbClr val="1E293B"/>
                    </a:solidFill>
                    <a:latin typeface="Calibri"/>
                  </a:rPr>
                  <a:t> cm.</a:t>
                </a:r>
              </a:p>
            </p:txBody>
          </p:sp>
        </mc:Fallback>
      </mc:AlternateContent>
      <p:sp>
        <p:nvSpPr>
          <p:cNvPr id="8" name="Rounded Rectangle 7">
            <a:hlinkClick r:id="rId3"/>
          </p:cNvPr>
          <p:cNvSpPr/>
          <p:nvPr/>
        </p:nvSpPr>
        <p:spPr>
          <a:xfrm>
            <a:off x="548640" y="5074920"/>
            <a:ext cx="3840480" cy="6858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  MỞ GEOGEBRA</a:t>
            </a:r>
          </a:p>
        </p:txBody>
      </p:sp>
      <p:pic>
        <p:nvPicPr>
          <p:cNvPr id="9" name="Picture 8" descr="qr_ggb_1.png"/>
          <p:cNvPicPr>
            <a:picLocks noChangeAspect="1"/>
          </p:cNvPicPr>
          <p:nvPr/>
        </p:nvPicPr>
        <p:blipFill>
          <a:blip r:embed="rId4"/>
          <a:stretch>
            <a:fillRect/>
          </a:stretch>
        </p:blipFill>
        <p:spPr>
          <a:xfrm>
            <a:off x="4572000" y="4572000"/>
            <a:ext cx="1325880" cy="1325880"/>
          </a:xfrm>
          <a:prstGeom prst="rect">
            <a:avLst/>
          </a:prstGeom>
        </p:spPr>
      </p:pic>
      <p:sp>
        <p:nvSpPr>
          <p:cNvPr id="10" name="TextBox 9"/>
          <p:cNvSpPr txBox="1"/>
          <p:nvPr/>
        </p:nvSpPr>
        <p:spPr>
          <a:xfrm>
            <a:off x="548640" y="5806440"/>
            <a:ext cx="3931920" cy="457200"/>
          </a:xfrm>
          <a:prstGeom prst="rect">
            <a:avLst/>
          </a:prstGeom>
          <a:noFill/>
        </p:spPr>
        <p:txBody>
          <a:bodyPr wrap="square" anchor="t" lIns="45720" rIns="45720">
            <a:spAutoFit/>
          </a:bodyPr>
          <a:lstStyle/>
          <a:p>
            <a:pPr algn="l">
              <a:spcAft>
                <a:spcPts val="800"/>
              </a:spcAft>
            </a:pPr>
            <a:r>
              <a:rPr sz="1400">
                <a:solidFill>
                  <a:srgbClr val="64748B"/>
                </a:solidFill>
                <a:latin typeface="Calibri"/>
              </a:rPr>
              <a:t>Quét QR mở trên điện thoại. Kéo điểm để thay đổi hình.</a:t>
            </a:r>
          </a:p>
        </p:txBody>
      </p:sp>
      <p:pic>
        <p:nvPicPr>
          <p:cNvPr id="11" name="Picture 10" descr="do_thi_V.png"/>
          <p:cNvPicPr>
            <a:picLocks noChangeAspect="1"/>
          </p:cNvPicPr>
          <p:nvPr/>
        </p:nvPicPr>
        <p:blipFill>
          <a:blip r:embed="rId5"/>
          <a:stretch>
            <a:fillRect/>
          </a:stretch>
        </p:blipFill>
        <p:spPr>
          <a:xfrm>
            <a:off x="6858000" y="2155190"/>
            <a:ext cx="4846320" cy="309626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HĐ3. LỰA CHỌN GIẢI PHÁP – BẢN THIẾT KẾ (PHIẾU SỐ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38</a:t>
            </a:r>
          </a:p>
        </p:txBody>
      </p:sp>
      <p:sp>
        <p:nvSpPr>
          <p:cNvPr id="7" name="Rounded Rectangle 6"/>
          <p:cNvSpPr/>
          <p:nvPr/>
        </p:nvSpPr>
        <p:spPr>
          <a:xfrm>
            <a:off x="548640" y="1463040"/>
            <a:ext cx="7680960" cy="4288536"/>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99616"/>
                <a:ext cx="7351776" cy="4215383"/>
              </a:xfrm>
              <a:prstGeom prst="rect">
                <a:avLst/>
              </a:prstGeom>
              <a:noFill/>
            </p:spPr>
            <p:txBody>
              <a:bodyPr wrap="square" anchor="ctr" lIns="45720" rIns="45720">
                <a:spAutoFit/>
              </a:bodyPr>
              <a:lstStyle/>
              <a:p>
                <a:pPr algn="l">
                  <a:spcAft>
                    <a:spcPts val="800"/>
                  </a:spcAft>
                </a:pPr>
                <a:r>
                  <a:rPr sz="2100" b="1">
                    <a:solidFill>
                      <a:srgbClr val="1E293B"/>
                    </a:solidFill>
                    <a:latin typeface="Calibri"/>
                  </a:rPr>
                  <a:t>Phiếu học tập số 3 – Bản thiết kế hộp</a:t>
                </a:r>
              </a:p>
              <a:p>
                <a:pPr algn="l" marL="365760" indent="-365760">
                  <a:spcAft>
                    <a:spcPts val="800"/>
                  </a:spcAft>
                  <a:buClr>
                    <a:srgbClr val="1E40AF"/>
                  </a:buClr>
                  <a:buFont typeface="Arial"/>
                  <a:buChar char="•"/>
                </a:pPr>
                <a:r>
                  <a:rPr sz="2100">
                    <a:solidFill>
                      <a:srgbClr val="1E293B"/>
                    </a:solidFill>
                    <a:latin typeface="Calibri"/>
                  </a:rPr>
                  <a:t>1. Mô hình toán học: </a:t>
                </a:r>
                <a14:m>
                  <m:oMath xmlns:m="http://schemas.openxmlformats.org/officeDocument/2006/math">
                    <m:r>
                      <a:rPr lang="vi-VN" sz="2100" b="0">
                        <a:solidFill>
                          <a:srgbClr val="1E293B"/>
                        </a:solidFill>
                        <a:latin typeface="Cambria Math" panose="02040503050406030204" pitchFamily="18" charset="0"/>
                      </a:rPr>
                      <m:t>V(x)</m:t>
                    </m:r>
                  </m:oMath>
                </a14:m>
                <a:r>
                  <a:rPr sz="2100">
                    <a:solidFill>
                      <a:srgbClr val="1E293B"/>
                    </a:solidFill>
                    <a:latin typeface="Calibri"/>
                  </a:rPr>
                  <a:t>, tập xác định, </a:t>
                </a:r>
                <a14:m>
                  <m:oMath xmlns:m="http://schemas.openxmlformats.org/officeDocument/2006/math">
                    <m:sSup>
                      <m:e>
                        <m:r>
                          <a:rPr lang="vi-VN" sz="2100" b="0">
                            <a:solidFill>
                              <a:srgbClr val="1E293B"/>
                            </a:solidFill>
                            <a:latin typeface="Cambria Math" panose="02040503050406030204" pitchFamily="18" charset="0"/>
                          </a:rPr>
                          <m:t>V</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(x)</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x</m:t>
                    </m:r>
                  </m:oMath>
                </a14:m>
                <a:r>
                  <a:rPr sz="2100">
                    <a:solidFill>
                      <a:srgbClr val="1E293B"/>
                    </a:solidFill>
                    <a:latin typeface="Calibri"/>
                  </a:rPr>
                  <a:t> tối ưu, </a:t>
                </a:r>
                <a14:m>
                  <m:oMath xmlns:m="http://schemas.openxmlformats.org/officeDocument/2006/math">
                    <m:sSub>
                      <m:e>
                        <m:r>
                          <a:rPr lang="vi-VN" sz="2100" b="0">
                            <a:solidFill>
                              <a:srgbClr val="1E293B"/>
                            </a:solidFill>
                            <a:latin typeface="Cambria Math" panose="02040503050406030204" pitchFamily="18" charset="0"/>
                          </a:rPr>
                          <m:t>V</m:t>
                        </m:r>
                      </m:e>
                      <m:sub>
                        <m:r>
                          <a:rPr lang="vi-VN" sz="2100" b="0">
                            <a:solidFill>
                              <a:srgbClr val="1E293B"/>
                            </a:solidFill>
                            <a:latin typeface="Cambria Math" panose="02040503050406030204" pitchFamily="18" charset="0"/>
                          </a:rPr>
                          <m:t>max</m:t>
                        </m:r>
                      </m:sub>
                    </m:sSub>
                  </m:oMath>
                </a14:m>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2. Giá trị </a:t>
                </a:r>
                <a14:m>
                  <m:oMath xmlns:m="http://schemas.openxmlformats.org/officeDocument/2006/math">
                    <m:r>
                      <a:rPr lang="vi-VN" sz="2100" b="0">
                        <a:solidFill>
                          <a:srgbClr val="1E293B"/>
                        </a:solidFill>
                        <a:latin typeface="Cambria Math" panose="02040503050406030204" pitchFamily="18" charset="0"/>
                      </a:rPr>
                      <m:t>x</m:t>
                    </m:r>
                  </m:oMath>
                </a14:m>
                <a:r>
                  <a:rPr sz="2100">
                    <a:solidFill>
                      <a:srgbClr val="1E293B"/>
                    </a:solidFill>
                    <a:latin typeface="Calibri"/>
                  </a:rPr>
                  <a:t> chọn để cắt; kích thước hộp; thể tích dự kiến.</a:t>
                </a:r>
              </a:p>
              <a:p>
                <a:pPr algn="l" marL="365760" indent="-365760">
                  <a:spcAft>
                    <a:spcPts val="800"/>
                  </a:spcAft>
                  <a:buClr>
                    <a:srgbClr val="1E40AF"/>
                  </a:buClr>
                  <a:buFont typeface="Arial"/>
                  <a:buChar char="•"/>
                </a:pPr>
                <a:r>
                  <a:rPr sz="2100">
                    <a:solidFill>
                      <a:srgbClr val="1E293B"/>
                    </a:solidFill>
                    <a:latin typeface="Calibri"/>
                  </a:rPr>
                  <a:t>3. Hình khai triển trên tấm A4 (tỉ lệ 1 : 2): phần cắt bỏ, nét gấp, mép dán.</a:t>
                </a:r>
              </a:p>
              <a:p>
                <a:pPr algn="l" marL="365760" indent="-365760">
                  <a:spcAft>
                    <a:spcPts val="800"/>
                  </a:spcAft>
                  <a:buClr>
                    <a:srgbClr val="1E40AF"/>
                  </a:buClr>
                  <a:buFont typeface="Arial"/>
                  <a:buChar char="•"/>
                </a:pPr>
                <a:r>
                  <a:rPr sz="2100">
                    <a:solidFill>
                      <a:srgbClr val="1E293B"/>
                    </a:solidFill>
                    <a:latin typeface="Calibri"/>
                  </a:rPr>
                  <a:t>4. Kế hoạch: dụng cụ; phân công đo kẻ – cắt – gấp dán – thử nghiệm – ghi hình – slide; thời hạn.</a:t>
                </a:r>
              </a:p>
              <a:p>
                <a:pPr algn="l">
                  <a:spcAft>
                    <a:spcPts val="800"/>
                  </a:spcAft>
                </a:pPr>
                <a:r>
                  <a:rPr sz="2100">
                    <a:solidFill>
                      <a:srgbClr val="1E293B"/>
                    </a:solidFill>
                    <a:latin typeface="Calibri"/>
                  </a:rPr>
                  <a:t>❓ Câu hỏi phản biện: Vì sao chọn </a:t>
                </a:r>
                <a14:m>
                  <m:oMath xmlns:m="http://schemas.openxmlformats.org/officeDocument/2006/math">
                    <m:r>
                      <a:rPr lang="vi-VN" sz="2100" b="0">
                        <a:solidFill>
                          <a:srgbClr val="1E293B"/>
                        </a:solidFill>
                        <a:latin typeface="Cambria Math" panose="02040503050406030204" pitchFamily="18" charset="0"/>
                      </a:rPr>
                      <m:t>x=4</m:t>
                    </m:r>
                  </m:oMath>
                </a14:m>
                <a:r>
                  <a:rPr sz="2100">
                    <a:solidFill>
                      <a:srgbClr val="1E293B"/>
                    </a:solidFill>
                    <a:latin typeface="Calibri"/>
                  </a:rPr>
                  <a:t> mà không lấy 4,04? Dán mép thế nào để hộp không bị bung?</a:t>
                </a:r>
              </a:p>
            </p:txBody>
          </p:sp>
        </mc:Choice>
        <mc:Fallback>
          <p:sp>
            <p:nvSpPr>
              <p:cNvPr id="8" name="TextBox 7"/>
              <p:cNvSpPr txBox="1"/>
              <p:nvPr/>
            </p:nvSpPr>
            <p:spPr>
              <a:xfrm>
                <a:off x="713232" y="1499616"/>
                <a:ext cx="7351776" cy="4215383"/>
              </a:xfrm>
              <a:prstGeom prst="rect">
                <a:avLst/>
              </a:prstGeom>
              <a:noFill/>
            </p:spPr>
            <p:txBody>
              <a:bodyPr wrap="square" anchor="ctr" lIns="45720" rIns="45720">
                <a:spAutoFit/>
              </a:bodyPr>
              <a:lstStyle/>
              <a:p>
                <a:pPr algn="l">
                  <a:spcAft>
                    <a:spcPts val="800"/>
                  </a:spcAft>
                </a:pPr>
                <a:r>
                  <a:rPr sz="2100" b="1">
                    <a:solidFill>
                      <a:srgbClr val="1E293B"/>
                    </a:solidFill>
                    <a:latin typeface="Calibri"/>
                  </a:rPr>
                  <a:t>Phiếu học tập số 3 – Bản thiết kế hộp</a:t>
                </a:r>
              </a:p>
              <a:p>
                <a:pPr algn="l" marL="365760" indent="-365760">
                  <a:spcAft>
                    <a:spcPts val="800"/>
                  </a:spcAft>
                  <a:buClr>
                    <a:srgbClr val="1E40AF"/>
                  </a:buClr>
                  <a:buFont typeface="Arial"/>
                  <a:buChar char="•"/>
                </a:pPr>
                <a:r>
                  <a:rPr sz="2100">
                    <a:solidFill>
                      <a:srgbClr val="1E293B"/>
                    </a:solidFill>
                    <a:latin typeface="Calibri"/>
                  </a:rPr>
                  <a:t>1. Mô hình toán học: </a:t>
                </a:r>
                <a:r>
                  <a:rPr lang="vi-VN"/>
                  <a:t>V(x)</a:t>
                </a:r>
                <a:r>
                  <a:rPr sz="2100">
                    <a:solidFill>
                      <a:srgbClr val="1E293B"/>
                    </a:solidFill>
                    <a:latin typeface="Calibri"/>
                  </a:rPr>
                  <a:t>, tập xác định, </a:t>
                </a:r>
                <a:r>
                  <a:rPr lang="vi-VN"/>
                  <a:t>V'(x)</a:t>
                </a:r>
                <a:r>
                  <a:rPr sz="2100">
                    <a:solidFill>
                      <a:srgbClr val="1E293B"/>
                    </a:solidFill>
                    <a:latin typeface="Calibri"/>
                  </a:rPr>
                  <a:t>, </a:t>
                </a:r>
                <a:r>
                  <a:rPr lang="vi-VN"/>
                  <a:t>x</a:t>
                </a:r>
                <a:r>
                  <a:rPr sz="2100">
                    <a:solidFill>
                      <a:srgbClr val="1E293B"/>
                    </a:solidFill>
                    <a:latin typeface="Calibri"/>
                  </a:rPr>
                  <a:t> tối ưu, </a:t>
                </a:r>
                <a:r>
                  <a:rPr lang="vi-VN"/>
                  <a:t>V_{\max}</a:t>
                </a:r>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2. Giá trị </a:t>
                </a:r>
                <a:r>
                  <a:rPr lang="vi-VN"/>
                  <a:t>x</a:t>
                </a:r>
                <a:r>
                  <a:rPr sz="2100">
                    <a:solidFill>
                      <a:srgbClr val="1E293B"/>
                    </a:solidFill>
                    <a:latin typeface="Calibri"/>
                  </a:rPr>
                  <a:t> chọn để cắt; kích thước hộp; thể tích dự kiến.</a:t>
                </a:r>
              </a:p>
              <a:p>
                <a:pPr algn="l" marL="365760" indent="-365760">
                  <a:spcAft>
                    <a:spcPts val="800"/>
                  </a:spcAft>
                  <a:buClr>
                    <a:srgbClr val="1E40AF"/>
                  </a:buClr>
                  <a:buFont typeface="Arial"/>
                  <a:buChar char="•"/>
                </a:pPr>
                <a:r>
                  <a:rPr sz="2100">
                    <a:solidFill>
                      <a:srgbClr val="1E293B"/>
                    </a:solidFill>
                    <a:latin typeface="Calibri"/>
                  </a:rPr>
                  <a:t>3. Hình khai triển trên tấm A4 (tỉ lệ 1 : 2): phần cắt bỏ, nét gấp, mép dán.</a:t>
                </a:r>
              </a:p>
              <a:p>
                <a:pPr algn="l" marL="365760" indent="-365760">
                  <a:spcAft>
                    <a:spcPts val="800"/>
                  </a:spcAft>
                  <a:buClr>
                    <a:srgbClr val="1E40AF"/>
                  </a:buClr>
                  <a:buFont typeface="Arial"/>
                  <a:buChar char="•"/>
                </a:pPr>
                <a:r>
                  <a:rPr sz="2100">
                    <a:solidFill>
                      <a:srgbClr val="1E293B"/>
                    </a:solidFill>
                    <a:latin typeface="Calibri"/>
                  </a:rPr>
                  <a:t>4. Kế hoạch: dụng cụ; phân công đo kẻ – cắt – gấp dán – thử nghiệm – ghi hình – slide; thời hạn.</a:t>
                </a:r>
              </a:p>
              <a:p>
                <a:pPr algn="l">
                  <a:spcAft>
                    <a:spcPts val="800"/>
                  </a:spcAft>
                </a:pPr>
                <a:r>
                  <a:rPr sz="2100">
                    <a:solidFill>
                      <a:srgbClr val="1E293B"/>
                    </a:solidFill>
                    <a:latin typeface="Calibri"/>
                  </a:rPr>
                  <a:t>❓ Câu hỏi phản biện: Vì sao chọn </a:t>
                </a:r>
                <a:r>
                  <a:rPr lang="vi-VN"/>
                  <a:t>x=4</a:t>
                </a:r>
                <a:r>
                  <a:rPr sz="2100">
                    <a:solidFill>
                      <a:srgbClr val="1E293B"/>
                    </a:solidFill>
                    <a:latin typeface="Calibri"/>
                  </a:rPr>
                  <a:t> mà không lấy 4,04? Dán mép thế nào để hộp không bị bung?</a:t>
                </a:r>
              </a:p>
            </p:txBody>
          </p:sp>
        </mc:Fallback>
      </mc:AlternateContent>
      <p:pic>
        <p:nvPicPr>
          <p:cNvPr id="9" name="Picture 8" descr="khai_trien.png"/>
          <p:cNvPicPr>
            <a:picLocks noChangeAspect="1"/>
          </p:cNvPicPr>
          <p:nvPr/>
        </p:nvPicPr>
        <p:blipFill>
          <a:blip r:embed="rId3"/>
          <a:stretch>
            <a:fillRect/>
          </a:stretch>
        </p:blipFill>
        <p:spPr>
          <a:xfrm>
            <a:off x="8412480" y="1645920"/>
            <a:ext cx="3291840" cy="246888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TRẠM KIỂM CHỨNG AI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39</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11064240" cy="1540764"/>
              </a:xfrm>
              <a:prstGeom prst="rect">
                <a:avLst/>
              </a:prstGeom>
              <a:noFill/>
            </p:spPr>
            <p:txBody>
              <a:bodyPr wrap="square" anchor="t" lIns="45720" rIns="45720">
                <a:spAutoFit/>
              </a:bodyPr>
              <a:lstStyle/>
              <a:p>
                <a:pPr algn="l">
                  <a:spcAft>
                    <a:spcPts val="800"/>
                  </a:spcAft>
                </a:pPr>
                <a:r>
                  <a:rPr sz="2300">
                    <a:solidFill>
                      <a:srgbClr val="1E293B"/>
                    </a:solidFill>
                    <a:latin typeface="Calibri"/>
                  </a:rPr>
                  <a:t>Một chatbot AI trả lời bài toán hộp từ tấm A4: "Theo công thức, cạnh cắt bỏ tối ưu là </a:t>
                </a:r>
                <a14:m>
                  <m:oMath xmlns:m="http://schemas.openxmlformats.org/officeDocument/2006/math">
                    <m:r>
                      <a:rPr lang="vi-VN" sz="2300" b="0">
                        <a:solidFill>
                          <a:srgbClr val="1E293B"/>
                        </a:solidFill>
                        <a:latin typeface="Cambria Math" panose="02040503050406030204" pitchFamily="18" charset="0"/>
                      </a:rPr>
                      <m:t>x=</m:t>
                    </m:r>
                    <m:f>
                      <m:fPr>
                        <m:type m:val="bar"/>
                      </m:fPr>
                      <m:num>
                        <m:r>
                          <a:rPr lang="vi-VN" sz="2300" b="0">
                            <a:solidFill>
                              <a:srgbClr val="1E293B"/>
                            </a:solidFill>
                            <a:latin typeface="Cambria Math" panose="02040503050406030204" pitchFamily="18" charset="0"/>
                          </a:rPr>
                          <m:t>a</m:t>
                        </m:r>
                      </m:num>
                      <m:den>
                        <m:r>
                          <a:rPr lang="vi-VN" sz="2300" b="0">
                            <a:solidFill>
                              <a:srgbClr val="1E293B"/>
                            </a:solidFill>
                            <a:latin typeface="Cambria Math" panose="02040503050406030204" pitchFamily="18" charset="0"/>
                          </a:rPr>
                          <m:t>6</m:t>
                        </m:r>
                      </m:den>
                    </m:f>
                    <m:r>
                      <a:rPr lang="vi-VN" sz="2300" b="0">
                        <a:solidFill>
                          <a:srgbClr val="1E293B"/>
                        </a:solidFill>
                        <a:latin typeface="Cambria Math" panose="02040503050406030204" pitchFamily="18" charset="0"/>
                      </a:rPr>
                      <m:t>=</m:t>
                    </m:r>
                    <m:f>
                      <m:fPr>
                        <m:type m:val="bar"/>
                      </m:fPr>
                      <m:num>
                        <m:r>
                          <a:rPr lang="vi-VN" sz="2300" b="0">
                            <a:solidFill>
                              <a:srgbClr val="1E293B"/>
                            </a:solidFill>
                            <a:latin typeface="Cambria Math" panose="02040503050406030204" pitchFamily="18" charset="0"/>
                          </a:rPr>
                          <m:t>21</m:t>
                        </m:r>
                      </m:num>
                      <m:den>
                        <m:r>
                          <a:rPr lang="vi-VN" sz="2300" b="0">
                            <a:solidFill>
                              <a:srgbClr val="1E293B"/>
                            </a:solidFill>
                            <a:latin typeface="Cambria Math" panose="02040503050406030204" pitchFamily="18" charset="0"/>
                          </a:rPr>
                          <m:t>6</m:t>
                        </m:r>
                      </m:den>
                    </m:f>
                    <m:r>
                      <a:rPr lang="vi-VN" sz="2300" b="0">
                        <a:solidFill>
                          <a:srgbClr val="1E293B"/>
                        </a:solidFill>
                        <a:latin typeface="Cambria Math" panose="02040503050406030204" pitchFamily="18" charset="0"/>
                      </a:rPr>
                      <m:t>=3</m:t>
                    </m:r>
                    <m:r>
                      <a:rPr lang="vi-VN" sz="2300" b="0">
                        <a:solidFill>
                          <a:srgbClr val="1E293B"/>
                        </a:solidFill>
                        <a:latin typeface="Cambria Math" panose="02040503050406030204" pitchFamily="18" charset="0"/>
                      </a:rPr>
                      <m:t>,</m:t>
                    </m:r>
                    <m:r>
                      <a:rPr lang="vi-VN" sz="2300" b="0">
                        <a:solidFill>
                          <a:srgbClr val="1E293B"/>
                        </a:solidFill>
                        <a:latin typeface="Cambria Math" panose="02040503050406030204" pitchFamily="18" charset="0"/>
                      </a:rPr>
                      <m:t>5</m:t>
                    </m:r>
                  </m:oMath>
                </a14:m>
                <a:r>
                  <a:rPr sz="2300">
                    <a:solidFill>
                      <a:srgbClr val="1E293B"/>
                    </a:solidFill>
                    <a:latin typeface="Calibri"/>
                  </a:rPr>
                  <a:t> cm, thể tích lớn nhất là </a:t>
                </a:r>
                <a14:m>
                  <m:oMath xmlns:m="http://schemas.openxmlformats.org/officeDocument/2006/math">
                    <m:r>
                      <a:rPr lang="vi-VN" sz="2300" b="0">
                        <a:solidFill>
                          <a:srgbClr val="1E293B"/>
                        </a:solidFill>
                        <a:latin typeface="Cambria Math" panose="02040503050406030204" pitchFamily="18" charset="0"/>
                      </a:rPr>
                      <m:t>3</m:t>
                    </m:r>
                    <m:r>
                      <a:rPr lang="vi-VN" sz="2300" b="0">
                        <a:solidFill>
                          <a:srgbClr val="1E293B"/>
                        </a:solidFill>
                        <a:latin typeface="Cambria Math" panose="02040503050406030204" pitchFamily="18" charset="0"/>
                      </a:rPr>
                      <m:t>,</m:t>
                    </m:r>
                    <m:r>
                      <a:rPr lang="vi-VN" sz="2300" b="0">
                        <a:solidFill>
                          <a:srgbClr val="1E293B"/>
                        </a:solidFill>
                        <a:latin typeface="Cambria Math" panose="02040503050406030204" pitchFamily="18" charset="0"/>
                      </a:rPr>
                      <m:t>5·14·22</m:t>
                    </m:r>
                    <m:r>
                      <a:rPr lang="vi-VN" sz="2300" b="0">
                        <a:solidFill>
                          <a:srgbClr val="1E293B"/>
                        </a:solidFill>
                        <a:latin typeface="Cambria Math" panose="02040503050406030204" pitchFamily="18" charset="0"/>
                      </a:rPr>
                      <m:t>,</m:t>
                    </m:r>
                    <m:r>
                      <a:rPr lang="vi-VN" sz="2300" b="0">
                        <a:solidFill>
                          <a:srgbClr val="1E293B"/>
                        </a:solidFill>
                        <a:latin typeface="Cambria Math" panose="02040503050406030204" pitchFamily="18" charset="0"/>
                      </a:rPr>
                      <m:t>7=1</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112</m:t>
                    </m:r>
                    <m:r>
                      <a:rPr lang="vi-VN" sz="2300" b="0">
                        <a:solidFill>
                          <a:srgbClr val="1E293B"/>
                        </a:solidFill>
                        <a:latin typeface="Cambria Math" panose="02040503050406030204" pitchFamily="18" charset="0"/>
                      </a:rPr>
                      <m:t>,</m:t>
                    </m:r>
                    <m:r>
                      <a:rPr lang="vi-VN" sz="2300" b="0">
                        <a:solidFill>
                          <a:srgbClr val="1E293B"/>
                        </a:solidFill>
                        <a:latin typeface="Cambria Math" panose="02040503050406030204" pitchFamily="18" charset="0"/>
                      </a:rPr>
                      <m:t>3</m:t>
                    </m:r>
                  </m:oMath>
                </a14:m>
                <a:r>
                  <a:rPr sz="2300">
                    <a:solidFill>
                      <a:srgbClr val="1E293B"/>
                    </a:solidFill>
                    <a:latin typeface="Calibri"/>
                  </a:rPr>
                  <a:t> cm³." – Lời giải đúng hay sai?</a:t>
                </a:r>
              </a:p>
            </p:txBody>
          </p:sp>
        </mc:Choice>
        <mc:Fallback>
          <p:sp>
            <p:nvSpPr>
              <p:cNvPr id="7" name="TextBox 6"/>
              <p:cNvSpPr txBox="1"/>
              <p:nvPr/>
            </p:nvSpPr>
            <p:spPr>
              <a:xfrm>
                <a:off x="548640" y="1463040"/>
                <a:ext cx="11064240" cy="1540764"/>
              </a:xfrm>
              <a:prstGeom prst="rect">
                <a:avLst/>
              </a:prstGeom>
              <a:noFill/>
            </p:spPr>
            <p:txBody>
              <a:bodyPr wrap="square" anchor="t" lIns="45720" rIns="45720">
                <a:spAutoFit/>
              </a:bodyPr>
              <a:lstStyle/>
              <a:p>
                <a:pPr algn="l">
                  <a:spcAft>
                    <a:spcPts val="800"/>
                  </a:spcAft>
                </a:pPr>
                <a:r>
                  <a:rPr sz="2300">
                    <a:solidFill>
                      <a:srgbClr val="1E293B"/>
                    </a:solidFill>
                    <a:latin typeface="Calibri"/>
                  </a:rPr>
                  <a:t>Một chatbot AI trả lời bài toán hộp từ tấm A4: "Theo công thức, cạnh cắt bỏ tối ưu là </a:t>
                </a:r>
                <a:r>
                  <a:rPr lang="vi-VN"/>
                  <a:t>x=\frac{a}{6}=\frac{21}{6}=3{,}5</a:t>
                </a:r>
                <a:r>
                  <a:rPr sz="2300">
                    <a:solidFill>
                      <a:srgbClr val="1E293B"/>
                    </a:solidFill>
                    <a:latin typeface="Calibri"/>
                  </a:rPr>
                  <a:t> cm, thể tích lớn nhất là </a:t>
                </a:r>
                <a:r>
                  <a:rPr lang="vi-VN"/>
                  <a:t>3{,}5\cdot 14\cdot 22{,}7=1\ 112{,}3</a:t>
                </a:r>
                <a:r>
                  <a:rPr sz="2300">
                    <a:solidFill>
                      <a:srgbClr val="1E293B"/>
                    </a:solidFill>
                    <a:latin typeface="Calibri"/>
                  </a:rPr>
                  <a:t> cm³." – Lời giải đúng hay sai?</a:t>
                </a:r>
              </a:p>
            </p:txBody>
          </p:sp>
        </mc:Fallback>
      </mc:AlternateContent>
      <p:sp>
        <p:nvSpPr>
          <p:cNvPr id="8" name="s1_nen"/>
          <p:cNvSpPr/>
          <p:nvPr/>
        </p:nvSpPr>
        <p:spPr>
          <a:xfrm>
            <a:off x="548640" y="3232404"/>
            <a:ext cx="11064240" cy="147447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268980"/>
                <a:ext cx="10735056" cy="1401318"/>
              </a:xfrm>
              <a:prstGeom prst="rect">
                <a:avLst/>
              </a:prstGeom>
              <a:noFill/>
            </p:spPr>
            <p:txBody>
              <a:bodyPr wrap="square" anchor="ctr" lIns="45720" rIns="45720">
                <a:spAutoFit/>
              </a:bodyPr>
              <a:lstStyle/>
              <a:p>
                <a:pPr algn="l">
                  <a:spcAft>
                    <a:spcPts val="800"/>
                  </a:spcAft>
                </a:pPr>
                <a:r>
                  <a:rPr sz="2300" b="1">
                    <a:solidFill>
                      <a:srgbClr val="1E293B"/>
                    </a:solidFill>
                    <a:latin typeface="Calibri"/>
                  </a:rPr>
                  <a:t>Sai.</a:t>
                </a:r>
                <a:r>
                  <a:rPr sz="2300">
                    <a:solidFill>
                      <a:srgbClr val="1E293B"/>
                    </a:solidFill>
                    <a:latin typeface="Calibri"/>
                  </a:rPr>
                  <a:t> Công thức </a:t>
                </a:r>
                <a14:m>
                  <m:oMath xmlns:m="http://schemas.openxmlformats.org/officeDocument/2006/math">
                    <m:r>
                      <a:rPr lang="vi-VN" sz="2300" b="0">
                        <a:solidFill>
                          <a:srgbClr val="1E293B"/>
                        </a:solidFill>
                        <a:latin typeface="Cambria Math" panose="02040503050406030204" pitchFamily="18" charset="0"/>
                      </a:rPr>
                      <m:t>x=</m:t>
                    </m:r>
                    <m:f>
                      <m:fPr>
                        <m:type m:val="bar"/>
                      </m:fPr>
                      <m:num>
                        <m:r>
                          <a:rPr lang="vi-VN" sz="2300" b="0">
                            <a:solidFill>
                              <a:srgbClr val="1E293B"/>
                            </a:solidFill>
                            <a:latin typeface="Cambria Math" panose="02040503050406030204" pitchFamily="18" charset="0"/>
                          </a:rPr>
                          <m:t>a</m:t>
                        </m:r>
                      </m:num>
                      <m:den>
                        <m:r>
                          <a:rPr lang="vi-VN" sz="2300" b="0">
                            <a:solidFill>
                              <a:srgbClr val="1E293B"/>
                            </a:solidFill>
                            <a:latin typeface="Cambria Math" panose="02040503050406030204" pitchFamily="18" charset="0"/>
                          </a:rPr>
                          <m:t>6</m:t>
                        </m:r>
                      </m:den>
                    </m:f>
                  </m:oMath>
                </a14:m>
                <a:r>
                  <a:rPr sz="2300">
                    <a:solidFill>
                      <a:srgbClr val="1E293B"/>
                    </a:solidFill>
                    <a:latin typeface="Calibri"/>
                  </a:rPr>
                  <a:t> chỉ đúng với tấm bìa </a:t>
                </a:r>
                <a:r>
                  <a:rPr sz="2300" b="1">
                    <a:solidFill>
                      <a:srgbClr val="1E293B"/>
                    </a:solidFill>
                    <a:latin typeface="Calibri"/>
                  </a:rPr>
                  <a:t>hình vuông</a:t>
                </a:r>
                <a:r>
                  <a:rPr sz="2300">
                    <a:solidFill>
                      <a:srgbClr val="1E293B"/>
                    </a:solidFill>
                    <a:latin typeface="Calibri"/>
                  </a:rPr>
                  <a:t>. Với tấm A4: </a:t>
                </a:r>
                <a14:m>
                  <m:oMath xmlns:m="http://schemas.openxmlformats.org/officeDocument/2006/math">
                    <m:r>
                      <a:rPr lang="vi-VN" sz="2300" b="0">
                        <a:solidFill>
                          <a:srgbClr val="1E293B"/>
                        </a:solidFill>
                        <a:latin typeface="Cambria Math" panose="02040503050406030204" pitchFamily="18" charset="0"/>
                      </a:rPr>
                      <m:t>V(3</m:t>
                    </m:r>
                    <m:r>
                      <a:rPr lang="vi-VN" sz="2300" b="0">
                        <a:solidFill>
                          <a:srgbClr val="1E293B"/>
                        </a:solidFill>
                        <a:latin typeface="Cambria Math" panose="02040503050406030204" pitchFamily="18" charset="0"/>
                      </a:rPr>
                      <m:t>,</m:t>
                    </m:r>
                    <m:r>
                      <a:rPr lang="vi-VN" sz="2300" b="0">
                        <a:solidFill>
                          <a:srgbClr val="1E293B"/>
                        </a:solidFill>
                        <a:latin typeface="Cambria Math" panose="02040503050406030204" pitchFamily="18" charset="0"/>
                      </a:rPr>
                      <m:t>5)≈1</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112</m:t>
                    </m:r>
                    <m:r>
                      <a:rPr lang="vi-VN" sz="2300" b="0">
                        <a:solidFill>
                          <a:srgbClr val="1E293B"/>
                        </a:solidFill>
                        <a:latin typeface="Cambria Math" panose="02040503050406030204" pitchFamily="18" charset="0"/>
                      </a:rPr>
                      <m:t>,</m:t>
                    </m:r>
                    <m:r>
                      <a:rPr lang="vi-VN" sz="2300" b="0">
                        <a:solidFill>
                          <a:srgbClr val="1E293B"/>
                        </a:solidFill>
                        <a:latin typeface="Cambria Math" panose="02040503050406030204" pitchFamily="18" charset="0"/>
                      </a:rPr>
                      <m:t>3&lt;V(4</m:t>
                    </m:r>
                    <m:r>
                      <a:rPr lang="vi-VN" sz="2300" b="0">
                        <a:solidFill>
                          <a:srgbClr val="1E293B"/>
                        </a:solidFill>
                        <a:latin typeface="Cambria Math" panose="02040503050406030204" pitchFamily="18" charset="0"/>
                      </a:rPr>
                      <m:t>,</m:t>
                    </m:r>
                    <m:r>
                      <a:rPr lang="vi-VN" sz="2300" b="0">
                        <a:solidFill>
                          <a:srgbClr val="1E293B"/>
                        </a:solidFill>
                        <a:latin typeface="Cambria Math" panose="02040503050406030204" pitchFamily="18" charset="0"/>
                      </a:rPr>
                      <m:t>04)≈1</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128</m:t>
                    </m:r>
                    <m:r>
                      <a:rPr lang="vi-VN" sz="2300" b="0">
                        <a:solidFill>
                          <a:srgbClr val="1E293B"/>
                        </a:solidFill>
                        <a:latin typeface="Cambria Math" panose="02040503050406030204" pitchFamily="18" charset="0"/>
                      </a:rPr>
                      <m:t>,</m:t>
                    </m:r>
                    <m:r>
                      <a:rPr lang="vi-VN" sz="2300" b="0">
                        <a:solidFill>
                          <a:srgbClr val="1E293B"/>
                        </a:solidFill>
                        <a:latin typeface="Cambria Math" panose="02040503050406030204" pitchFamily="18" charset="0"/>
                      </a:rPr>
                      <m:t>5</m:t>
                    </m:r>
                  </m:oMath>
                </a14:m>
                <a:r>
                  <a:rPr sz="2300">
                    <a:solidFill>
                      <a:srgbClr val="1E293B"/>
                    </a:solidFill>
                    <a:latin typeface="Calibri"/>
                  </a:rPr>
                  <a:t>; phải lập </a:t>
                </a:r>
                <a14:m>
                  <m:oMath xmlns:m="http://schemas.openxmlformats.org/officeDocument/2006/math">
                    <m:r>
                      <a:rPr lang="vi-VN" sz="2300" b="0">
                        <a:solidFill>
                          <a:srgbClr val="1E293B"/>
                        </a:solidFill>
                        <a:latin typeface="Cambria Math" panose="02040503050406030204" pitchFamily="18" charset="0"/>
                      </a:rPr>
                      <m:t>V(x)=x(21−2x)(29</m:t>
                    </m:r>
                    <m:r>
                      <a:rPr lang="vi-VN" sz="2300" b="0">
                        <a:solidFill>
                          <a:srgbClr val="1E293B"/>
                        </a:solidFill>
                        <a:latin typeface="Cambria Math" panose="02040503050406030204" pitchFamily="18" charset="0"/>
                      </a:rPr>
                      <m:t>,</m:t>
                    </m:r>
                    <m:r>
                      <a:rPr lang="vi-VN" sz="2300" b="0">
                        <a:solidFill>
                          <a:srgbClr val="1E293B"/>
                        </a:solidFill>
                        <a:latin typeface="Cambria Math" panose="02040503050406030204" pitchFamily="18" charset="0"/>
                      </a:rPr>
                      <m:t>7−2x)</m:t>
                    </m:r>
                  </m:oMath>
                </a14:m>
                <a:r>
                  <a:rPr sz="2300">
                    <a:solidFill>
                      <a:srgbClr val="1E293B"/>
                    </a:solidFill>
                    <a:latin typeface="Calibri"/>
                  </a:rPr>
                  <a:t> và giải </a:t>
                </a:r>
                <a14:m>
                  <m:oMath xmlns:m="http://schemas.openxmlformats.org/officeDocument/2006/math">
                    <m:sSup>
                      <m:e>
                        <m:r>
                          <a:rPr lang="vi-VN" sz="2300" b="0">
                            <a:solidFill>
                              <a:srgbClr val="1E293B"/>
                            </a:solidFill>
                            <a:latin typeface="Cambria Math" panose="02040503050406030204" pitchFamily="18" charset="0"/>
                          </a:rPr>
                          <m:t>V</m:t>
                        </m:r>
                      </m:e>
                      <m:sup>
                        <m:r>
                          <a:rPr lang="vi-VN" sz="2300" b="0">
                            <a:solidFill>
                              <a:srgbClr val="1E293B"/>
                            </a:solidFill>
                            <a:latin typeface="Cambria Math" panose="02040503050406030204" pitchFamily="18" charset="0"/>
                          </a:rPr>
                          <m:t>′</m:t>
                        </m:r>
                      </m:sup>
                    </m:sSup>
                    <m:r>
                      <a:rPr lang="vi-VN" sz="2300" b="0">
                        <a:solidFill>
                          <a:srgbClr val="1E293B"/>
                        </a:solidFill>
                        <a:latin typeface="Cambria Math" panose="02040503050406030204" pitchFamily="18" charset="0"/>
                      </a:rPr>
                      <m:t>(x)=0</m:t>
                    </m:r>
                  </m:oMath>
                </a14:m>
                <a:r>
                  <a:rPr sz="2300">
                    <a:solidFill>
                      <a:srgbClr val="1E293B"/>
                    </a:solidFill>
                    <a:latin typeface="Calibri"/>
                  </a:rPr>
                  <a:t>. Bài học: kiểm tra điều kiện áp dụng công thức.</a:t>
                </a:r>
              </a:p>
            </p:txBody>
          </p:sp>
        </mc:Choice>
        <mc:Fallback>
          <p:sp>
            <p:nvSpPr>
              <p:cNvPr id="9" name="TextBox 8"/>
              <p:cNvSpPr txBox="1"/>
              <p:nvPr/>
            </p:nvSpPr>
            <p:spPr>
              <a:xfrm>
                <a:off x="713232" y="3268980"/>
                <a:ext cx="10735056" cy="1401318"/>
              </a:xfrm>
              <a:prstGeom prst="rect">
                <a:avLst/>
              </a:prstGeom>
              <a:noFill/>
            </p:spPr>
            <p:txBody>
              <a:bodyPr wrap="square" anchor="ctr" lIns="45720" rIns="45720">
                <a:spAutoFit/>
              </a:bodyPr>
              <a:lstStyle/>
              <a:p>
                <a:pPr algn="l">
                  <a:spcAft>
                    <a:spcPts val="800"/>
                  </a:spcAft>
                </a:pPr>
                <a:r>
                  <a:rPr sz="2300" b="1">
                    <a:solidFill>
                      <a:srgbClr val="1E293B"/>
                    </a:solidFill>
                    <a:latin typeface="Calibri"/>
                  </a:rPr>
                  <a:t>Sai.</a:t>
                </a:r>
                <a:r>
                  <a:rPr sz="2300">
                    <a:solidFill>
                      <a:srgbClr val="1E293B"/>
                    </a:solidFill>
                    <a:latin typeface="Calibri"/>
                  </a:rPr>
                  <a:t> Công thức </a:t>
                </a:r>
                <a:r>
                  <a:rPr lang="vi-VN"/>
                  <a:t>x=\frac{a}{6}</a:t>
                </a:r>
                <a:r>
                  <a:rPr sz="2300">
                    <a:solidFill>
                      <a:srgbClr val="1E293B"/>
                    </a:solidFill>
                    <a:latin typeface="Calibri"/>
                  </a:rPr>
                  <a:t> chỉ đúng với tấm bìa </a:t>
                </a:r>
                <a:r>
                  <a:rPr sz="2300" b="1">
                    <a:solidFill>
                      <a:srgbClr val="1E293B"/>
                    </a:solidFill>
                    <a:latin typeface="Calibri"/>
                  </a:rPr>
                  <a:t>hình vuông</a:t>
                </a:r>
                <a:r>
                  <a:rPr sz="2300">
                    <a:solidFill>
                      <a:srgbClr val="1E293B"/>
                    </a:solidFill>
                    <a:latin typeface="Calibri"/>
                  </a:rPr>
                  <a:t>. Với tấm A4: </a:t>
                </a:r>
                <a:r>
                  <a:rPr lang="vi-VN"/>
                  <a:t>V(3{,}5)\approx 1\ 112{,}3&lt;V(4{,}04)\approx 1\ 128{,}5</a:t>
                </a:r>
                <a:r>
                  <a:rPr sz="2300">
                    <a:solidFill>
                      <a:srgbClr val="1E293B"/>
                    </a:solidFill>
                    <a:latin typeface="Calibri"/>
                  </a:rPr>
                  <a:t>; phải lập </a:t>
                </a:r>
                <a:r>
                  <a:rPr lang="vi-VN"/>
                  <a:t>V(x)=x(21-2x)(29{,}7-2x)</a:t>
                </a:r>
                <a:r>
                  <a:rPr sz="2300">
                    <a:solidFill>
                      <a:srgbClr val="1E293B"/>
                    </a:solidFill>
                    <a:latin typeface="Calibri"/>
                  </a:rPr>
                  <a:t> và giải </a:t>
                </a:r>
                <a:r>
                  <a:rPr lang="vi-VN"/>
                  <a:t>V'(x)=0</a:t>
                </a:r>
                <a:r>
                  <a:rPr sz="2300">
                    <a:solidFill>
                      <a:srgbClr val="1E293B"/>
                    </a:solidFill>
                    <a:latin typeface="Calibri"/>
                  </a:rPr>
                  <a:t>. Bài học: kiểm tra điều kiện áp dụng công thức.</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HĐ4. CHẾ TẠO, THỬ NGHIỆM (NGOÀI GIỜ LÊN LỚP)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40</a:t>
            </a:r>
          </a:p>
        </p:txBody>
      </p:sp>
      <p:sp>
        <p:nvSpPr>
          <p:cNvPr id="7" name="Rounded Rectangle 6"/>
          <p:cNvSpPr/>
          <p:nvPr/>
        </p:nvSpPr>
        <p:spPr>
          <a:xfrm>
            <a:off x="548640" y="1463040"/>
            <a:ext cx="11064240" cy="3792473"/>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99616"/>
                <a:ext cx="10735056" cy="3719321"/>
              </a:xfrm>
              <a:prstGeom prst="rect">
                <a:avLst/>
              </a:prstGeom>
              <a:noFill/>
            </p:spPr>
            <p:txBody>
              <a:bodyPr wrap="square" anchor="ctr" lIns="45720" rIns="45720">
                <a:spAutoFit/>
              </a:bodyPr>
              <a:lstStyle/>
              <a:p>
                <a:pPr algn="l">
                  <a:spcAft>
                    <a:spcPts val="800"/>
                  </a:spcAft>
                </a:pPr>
                <a:r>
                  <a:rPr sz="2100" b="1">
                    <a:solidFill>
                      <a:srgbClr val="1E293B"/>
                    </a:solidFill>
                    <a:latin typeface="Calibri"/>
                  </a:rPr>
                  <a:t>Nhiệm vụ về nhà (3 – 4 ngày):</a:t>
                </a:r>
              </a:p>
              <a:p>
                <a:pPr algn="l" marL="365760" indent="-365760">
                  <a:spcAft>
                    <a:spcPts val="800"/>
                  </a:spcAft>
                  <a:buClr>
                    <a:srgbClr val="1E40AF"/>
                  </a:buClr>
                  <a:buFont typeface="Arial"/>
                  <a:buChar char="•"/>
                </a:pPr>
                <a:r>
                  <a:rPr sz="2100">
                    <a:solidFill>
                      <a:srgbClr val="1E293B"/>
                    </a:solidFill>
                    <a:latin typeface="Calibri"/>
                  </a:rPr>
                  <a:t>Đo, kẻ, cắt bốn góc hình vuông cạnh </a:t>
                </a:r>
                <a14:m>
                  <m:oMath xmlns:m="http://schemas.openxmlformats.org/officeDocument/2006/math">
                    <m:r>
                      <a:rPr lang="vi-VN" sz="2100" b="0">
                        <a:solidFill>
                          <a:srgbClr val="1E293B"/>
                        </a:solidFill>
                        <a:latin typeface="Cambria Math" panose="02040503050406030204" pitchFamily="18" charset="0"/>
                      </a:rPr>
                      <m:t>x</m:t>
                    </m:r>
                  </m:oMath>
                </a14:m>
                <a:r>
                  <a:rPr sz="2100">
                    <a:solidFill>
                      <a:srgbClr val="1E293B"/>
                    </a:solidFill>
                    <a:latin typeface="Calibri"/>
                  </a:rPr>
                  <a:t> đã chọn; gập theo nét đứt, dán góc hộp.</a:t>
                </a:r>
              </a:p>
              <a:p>
                <a:pPr algn="l" marL="365760" indent="-365760">
                  <a:spcAft>
                    <a:spcPts val="800"/>
                  </a:spcAft>
                  <a:buClr>
                    <a:srgbClr val="1E40AF"/>
                  </a:buClr>
                  <a:buFont typeface="Arial"/>
                  <a:buChar char="•"/>
                </a:pPr>
                <a:r>
                  <a:rPr sz="2100">
                    <a:solidFill>
                      <a:srgbClr val="1E293B"/>
                    </a:solidFill>
                    <a:latin typeface="Calibri"/>
                  </a:rPr>
                  <a:t>Thử nghiệm: đổ đầy gạo (hoặc hạt cà phê) ngang miệng hộp, đong lại bằng ca để đo thể tích thực tế </a:t>
                </a:r>
                <a14:m>
                  <m:oMath xmlns:m="http://schemas.openxmlformats.org/officeDocument/2006/math">
                    <m:sSub>
                      <m:e>
                        <m:r>
                          <a:rPr lang="vi-VN" sz="2100" b="0">
                            <a:solidFill>
                              <a:srgbClr val="1E293B"/>
                            </a:solidFill>
                            <a:latin typeface="Cambria Math" panose="02040503050406030204" pitchFamily="18" charset="0"/>
                          </a:rPr>
                          <m:t>V</m:t>
                        </m:r>
                      </m:e>
                      <m:sub>
                        <m:r>
                          <a:rPr lang="vi-VN" sz="2100" b="0">
                            <a:solidFill>
                              <a:srgbClr val="1E293B"/>
                            </a:solidFill>
                            <a:latin typeface="Cambria Math" panose="02040503050406030204" pitchFamily="18" charset="0"/>
                          </a:rPr>
                          <m:t>tt</m:t>
                        </m:r>
                      </m:sub>
                    </m:sSub>
                  </m:oMath>
                </a14:m>
                <a:r>
                  <a:rPr sz="2100">
                    <a:solidFill>
                      <a:srgbClr val="1E293B"/>
                    </a:solidFill>
                    <a:latin typeface="Calibri"/>
                  </a:rPr>
                  <a:t>; tính sai số </a:t>
                </a:r>
                <a14:m>
                  <m:oMath xmlns:m="http://schemas.openxmlformats.org/officeDocument/2006/math">
                    <m:r>
                      <a:rPr lang="vi-VN" sz="2100" b="0">
                        <a:solidFill>
                          <a:srgbClr val="1E293B"/>
                        </a:solidFill>
                        <a:latin typeface="Cambria Math" panose="02040503050406030204" pitchFamily="18" charset="0"/>
                      </a:rPr>
                      <m:t>δ=</m:t>
                    </m:r>
                    <m:f>
                      <m:fPr>
                        <m:type m:val="bar"/>
                      </m:fPr>
                      <m:num>
                        <m:d>
                          <m:dPr>
                            <m:begChr m:val="|"/>
                            <m:sepChr m:val=""/>
                            <m:endChr m:val="|"/>
                          </m:dPr>
                          <m:e>
                            <m:sSub>
                              <m:e>
                                <m:r>
                                  <a:rPr lang="vi-VN" sz="2100" b="0">
                                    <a:solidFill>
                                      <a:srgbClr val="1E293B"/>
                                    </a:solidFill>
                                    <a:latin typeface="Cambria Math" panose="02040503050406030204" pitchFamily="18" charset="0"/>
                                  </a:rPr>
                                  <m:t>V</m:t>
                                </m:r>
                              </m:e>
                              <m:sub>
                                <m:r>
                                  <a:rPr lang="vi-VN" sz="2100" b="0">
                                    <a:solidFill>
                                      <a:srgbClr val="1E293B"/>
                                    </a:solidFill>
                                    <a:latin typeface="Cambria Math" panose="02040503050406030204" pitchFamily="18" charset="0"/>
                                  </a:rPr>
                                  <m:t>tt</m:t>
                                </m:r>
                              </m:sub>
                            </m:sSub>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V</m:t>
                                </m:r>
                              </m:e>
                              <m:sub>
                                <m:r>
                                  <a:rPr lang="vi-VN" sz="2100" b="0">
                                    <a:solidFill>
                                      <a:srgbClr val="1E293B"/>
                                    </a:solidFill>
                                    <a:latin typeface="Cambria Math" panose="02040503050406030204" pitchFamily="18" charset="0"/>
                                  </a:rPr>
                                  <m:t>tk</m:t>
                                </m:r>
                              </m:sub>
                            </m:sSub>
                          </m:e>
                        </m:d>
                      </m:num>
                      <m:den>
                        <m:sSub>
                          <m:e>
                            <m:r>
                              <a:rPr lang="vi-VN" sz="2100" b="0">
                                <a:solidFill>
                                  <a:srgbClr val="1E293B"/>
                                </a:solidFill>
                                <a:latin typeface="Cambria Math" panose="02040503050406030204" pitchFamily="18" charset="0"/>
                              </a:rPr>
                              <m:t>V</m:t>
                            </m:r>
                          </m:e>
                          <m:sub>
                            <m:r>
                              <a:rPr lang="vi-VN" sz="2100" b="0">
                                <a:solidFill>
                                  <a:srgbClr val="1E293B"/>
                                </a:solidFill>
                                <a:latin typeface="Cambria Math" panose="02040503050406030204" pitchFamily="18" charset="0"/>
                              </a:rPr>
                              <m:t>tk</m:t>
                            </m:r>
                          </m:sub>
                        </m:sSub>
                      </m:den>
                    </m:f>
                    <m:r>
                      <a:rPr lang="vi-VN" sz="2100" b="0">
                        <a:solidFill>
                          <a:srgbClr val="1E293B"/>
                        </a:solidFill>
                        <a:latin typeface="Cambria Math" panose="02040503050406030204" pitchFamily="18" charset="0"/>
                      </a:rPr>
                      <m:t>·100%</m:t>
                    </m:r>
                  </m:oMath>
                </a14:m>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Làm hộp đối chứng thứ hai với </a:t>
                </a:r>
                <a14:m>
                  <m:oMath xmlns:m="http://schemas.openxmlformats.org/officeDocument/2006/math">
                    <m:r>
                      <a:rPr lang="vi-VN" sz="2100" b="0">
                        <a:solidFill>
                          <a:srgbClr val="1E293B"/>
                        </a:solidFill>
                        <a:latin typeface="Cambria Math" panose="02040503050406030204" pitchFamily="18" charset="0"/>
                      </a:rPr>
                      <m:t>x</m:t>
                    </m:r>
                  </m:oMath>
                </a14:m>
                <a:r>
                  <a:rPr sz="2100">
                    <a:solidFill>
                      <a:srgbClr val="1E293B"/>
                    </a:solidFill>
                    <a:latin typeface="Calibri"/>
                  </a:rPr>
                  <a:t> khác (ví dụ </a:t>
                </a:r>
                <a14:m>
                  <m:oMath xmlns:m="http://schemas.openxmlformats.org/officeDocument/2006/math">
                    <m:r>
                      <a:rPr lang="vi-VN" sz="2100" b="0">
                        <a:solidFill>
                          <a:srgbClr val="1E293B"/>
                        </a:solidFill>
                        <a:latin typeface="Cambria Math" panose="02040503050406030204" pitchFamily="18" charset="0"/>
                      </a:rPr>
                      <m:t>x=2</m:t>
                    </m:r>
                  </m:oMath>
                </a14:m>
                <a:r>
                  <a:rPr sz="2100">
                    <a:solidFill>
                      <a:srgbClr val="1E293B"/>
                    </a:solidFill>
                    <a:latin typeface="Calibri"/>
                  </a:rPr>
                  <a:t> cm) để so sánh.</a:t>
                </a:r>
              </a:p>
              <a:p>
                <a:pPr algn="l" marL="365760" indent="-365760">
                  <a:spcAft>
                    <a:spcPts val="800"/>
                  </a:spcAft>
                  <a:buClr>
                    <a:srgbClr val="1E40AF"/>
                  </a:buClr>
                  <a:buFont typeface="Arial"/>
                  <a:buChar char="•"/>
                </a:pPr>
                <a:r>
                  <a:rPr sz="2100">
                    <a:solidFill>
                      <a:srgbClr val="1E293B"/>
                    </a:solidFill>
                    <a:latin typeface="Calibri"/>
                  </a:rPr>
                  <a:t>Trang trí nhãn "Cà phê quê hương"; làm 3 – 5 slide báo cáo; ghi Nhật ký sử dụng AI (nếu có).</a:t>
                </a:r>
              </a:p>
              <a:p>
                <a:pPr algn="l">
                  <a:spcAft>
                    <a:spcPts val="800"/>
                  </a:spcAft>
                </a:pPr>
                <a:r>
                  <a:rPr sz="2100">
                    <a:solidFill>
                      <a:srgbClr val="1E293B"/>
                    </a:solidFill>
                    <a:latin typeface="Calibri"/>
                  </a:rPr>
                  <a:t>⚠ An toàn: cắt trên bìa lót, cất dao ngay sau khi dùng; thu lại gạo, hạt cà phê sau thử nghiệm.</a:t>
                </a:r>
              </a:p>
            </p:txBody>
          </p:sp>
        </mc:Choice>
        <mc:Fallback>
          <p:sp>
            <p:nvSpPr>
              <p:cNvPr id="8" name="TextBox 7"/>
              <p:cNvSpPr txBox="1"/>
              <p:nvPr/>
            </p:nvSpPr>
            <p:spPr>
              <a:xfrm>
                <a:off x="713232" y="1499616"/>
                <a:ext cx="10735056" cy="3719321"/>
              </a:xfrm>
              <a:prstGeom prst="rect">
                <a:avLst/>
              </a:prstGeom>
              <a:noFill/>
            </p:spPr>
            <p:txBody>
              <a:bodyPr wrap="square" anchor="ctr" lIns="45720" rIns="45720">
                <a:spAutoFit/>
              </a:bodyPr>
              <a:lstStyle/>
              <a:p>
                <a:pPr algn="l">
                  <a:spcAft>
                    <a:spcPts val="800"/>
                  </a:spcAft>
                </a:pPr>
                <a:r>
                  <a:rPr sz="2100" b="1">
                    <a:solidFill>
                      <a:srgbClr val="1E293B"/>
                    </a:solidFill>
                    <a:latin typeface="Calibri"/>
                  </a:rPr>
                  <a:t>Nhiệm vụ về nhà (3 – 4 ngày):</a:t>
                </a:r>
              </a:p>
              <a:p>
                <a:pPr algn="l" marL="365760" indent="-365760">
                  <a:spcAft>
                    <a:spcPts val="800"/>
                  </a:spcAft>
                  <a:buClr>
                    <a:srgbClr val="1E40AF"/>
                  </a:buClr>
                  <a:buFont typeface="Arial"/>
                  <a:buChar char="•"/>
                </a:pPr>
                <a:r>
                  <a:rPr sz="2100">
                    <a:solidFill>
                      <a:srgbClr val="1E293B"/>
                    </a:solidFill>
                    <a:latin typeface="Calibri"/>
                  </a:rPr>
                  <a:t>Đo, kẻ, cắt bốn góc hình vuông cạnh </a:t>
                </a:r>
                <a:r>
                  <a:rPr lang="vi-VN"/>
                  <a:t>x</a:t>
                </a:r>
                <a:r>
                  <a:rPr sz="2100">
                    <a:solidFill>
                      <a:srgbClr val="1E293B"/>
                    </a:solidFill>
                    <a:latin typeface="Calibri"/>
                  </a:rPr>
                  <a:t> đã chọn; gập theo nét đứt, dán góc hộp.</a:t>
                </a:r>
              </a:p>
              <a:p>
                <a:pPr algn="l" marL="365760" indent="-365760">
                  <a:spcAft>
                    <a:spcPts val="800"/>
                  </a:spcAft>
                  <a:buClr>
                    <a:srgbClr val="1E40AF"/>
                  </a:buClr>
                  <a:buFont typeface="Arial"/>
                  <a:buChar char="•"/>
                </a:pPr>
                <a:r>
                  <a:rPr sz="2100">
                    <a:solidFill>
                      <a:srgbClr val="1E293B"/>
                    </a:solidFill>
                    <a:latin typeface="Calibri"/>
                  </a:rPr>
                  <a:t>Thử nghiệm: đổ đầy gạo (hoặc hạt cà phê) ngang miệng hộp, đong lại bằng ca để đo thể tích thực tế </a:t>
                </a:r>
                <a:r>
                  <a:rPr lang="vi-VN"/>
                  <a:t>V_{tt}</a:t>
                </a:r>
                <a:r>
                  <a:rPr sz="2100">
                    <a:solidFill>
                      <a:srgbClr val="1E293B"/>
                    </a:solidFill>
                    <a:latin typeface="Calibri"/>
                  </a:rPr>
                  <a:t>; tính sai số </a:t>
                </a:r>
                <a:r>
                  <a:rPr lang="vi-VN"/>
                  <a:t>\delta=\frac{|V_{tt}-V_{tk}|}{V_{tk}}\cdot 100\%</a:t>
                </a:r>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Làm hộp đối chứng thứ hai với </a:t>
                </a:r>
                <a:r>
                  <a:rPr lang="vi-VN"/>
                  <a:t>x</a:t>
                </a:r>
                <a:r>
                  <a:rPr sz="2100">
                    <a:solidFill>
                      <a:srgbClr val="1E293B"/>
                    </a:solidFill>
                    <a:latin typeface="Calibri"/>
                  </a:rPr>
                  <a:t> khác (ví dụ </a:t>
                </a:r>
                <a:r>
                  <a:rPr lang="vi-VN"/>
                  <a:t>x=2</a:t>
                </a:r>
                <a:r>
                  <a:rPr sz="2100">
                    <a:solidFill>
                      <a:srgbClr val="1E293B"/>
                    </a:solidFill>
                    <a:latin typeface="Calibri"/>
                  </a:rPr>
                  <a:t> cm) để so sánh.</a:t>
                </a:r>
              </a:p>
              <a:p>
                <a:pPr algn="l" marL="365760" indent="-365760">
                  <a:spcAft>
                    <a:spcPts val="800"/>
                  </a:spcAft>
                  <a:buClr>
                    <a:srgbClr val="1E40AF"/>
                  </a:buClr>
                  <a:buFont typeface="Arial"/>
                  <a:buChar char="•"/>
                </a:pPr>
                <a:r>
                  <a:rPr sz="2100">
                    <a:solidFill>
                      <a:srgbClr val="1E293B"/>
                    </a:solidFill>
                    <a:latin typeface="Calibri"/>
                  </a:rPr>
                  <a:t>Trang trí nhãn "Cà phê quê hương"; làm 3 – 5 slide báo cáo; ghi Nhật ký sử dụng AI (nếu có).</a:t>
                </a:r>
              </a:p>
              <a:p>
                <a:pPr algn="l">
                  <a:spcAft>
                    <a:spcPts val="800"/>
                  </a:spcAft>
                </a:pPr>
                <a:r>
                  <a:rPr sz="2100">
                    <a:solidFill>
                      <a:srgbClr val="1E293B"/>
                    </a:solidFill>
                    <a:latin typeface="Calibri"/>
                  </a:rPr>
                  <a:t>⚠ An toàn: cắt trên bìa lót, cất dao ngay sau khi dùng; thu lại gạo, hạt cà phê sau thử nghiệm.</a:t>
                </a:r>
              </a:p>
            </p:txBody>
          </p:sp>
        </mc:Fallback>
      </mc:AlternateContent>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4 (T22)</a:t>
            </a:r>
          </a:p>
          <a:p>
            <a:pPr>
              <a:spcAft>
                <a:spcPts val="600"/>
              </a:spcAft>
            </a:pPr>
            <a:r>
              <a:rPr sz="4000" b="1">
                <a:solidFill>
                  <a:srgbClr val="FFFFFF"/>
                </a:solidFill>
                <a:latin typeface="Cambria"/>
              </a:rPr>
              <a:t>STEM – Chia sẻ, thảo luận và điều chỉnh</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Giới thiệu, bảo vệ sản phẩm; đánh giá theo tiêu chí.</a:t>
            </a:r>
          </a:p>
          <a:p>
            <a:pPr algn="l">
              <a:spcAft>
                <a:spcPts val="800"/>
              </a:spcAft>
            </a:pPr>
            <a:r>
              <a:rPr sz="2200">
                <a:solidFill>
                  <a:srgbClr val="E0E7FF"/>
                </a:solidFill>
                <a:latin typeface="Calibri"/>
              </a:rPr>
              <a:t>• Mở rộng: hộp có nắp đáy vuông, lon hình trụ.</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HĐ5. TRƯNG BÀY – THUYẾT TRÌNH SẢN PHẨM</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42</a:t>
            </a:r>
          </a:p>
        </p:txBody>
      </p:sp>
      <p:sp>
        <p:nvSpPr>
          <p:cNvPr id="7" name="Rounded Rectangle 6"/>
          <p:cNvSpPr/>
          <p:nvPr/>
        </p:nvSpPr>
        <p:spPr>
          <a:xfrm>
            <a:off x="548640" y="1371600"/>
            <a:ext cx="11064240" cy="280720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08176"/>
                <a:ext cx="10735056" cy="2734056"/>
              </a:xfrm>
              <a:prstGeom prst="rect">
                <a:avLst/>
              </a:prstGeom>
              <a:noFill/>
            </p:spPr>
            <p:txBody>
              <a:bodyPr wrap="square" anchor="ctr" lIns="45720" rIns="45720">
                <a:spAutoFit/>
              </a:bodyPr>
              <a:lstStyle/>
              <a:p>
                <a:pPr algn="l">
                  <a:spcAft>
                    <a:spcPts val="800"/>
                  </a:spcAft>
                </a:pPr>
                <a:r>
                  <a:rPr sz="2100" b="1">
                    <a:solidFill>
                      <a:srgbClr val="1E293B"/>
                    </a:solidFill>
                    <a:latin typeface="Calibri"/>
                  </a:rPr>
                  <a:t>Nội dung báo cáo của mỗi nhóm:</a:t>
                </a:r>
              </a:p>
              <a:p>
                <a:pPr algn="l" marL="365760" indent="-365760">
                  <a:spcAft>
                    <a:spcPts val="800"/>
                  </a:spcAft>
                  <a:buClr>
                    <a:srgbClr val="1E40AF"/>
                  </a:buClr>
                  <a:buFont typeface="Arial"/>
                  <a:buChar char="•"/>
                </a:pPr>
                <a:r>
                  <a:rPr sz="2100">
                    <a:solidFill>
                      <a:srgbClr val="1E293B"/>
                    </a:solidFill>
                    <a:latin typeface="Calibri"/>
                  </a:rPr>
                  <a:t>Giới thiệu hộp; mô hình toán học (</a:t>
                </a:r>
                <a14:m>
                  <m:oMath xmlns:m="http://schemas.openxmlformats.org/officeDocument/2006/math">
                    <m:r>
                      <a:rPr lang="vi-VN" sz="2100" b="0">
                        <a:solidFill>
                          <a:srgbClr val="1E293B"/>
                        </a:solidFill>
                        <a:latin typeface="Cambria Math" panose="02040503050406030204" pitchFamily="18" charset="0"/>
                      </a:rPr>
                      <m:t>V(x)</m:t>
                    </m:r>
                  </m:oMath>
                </a14:m>
                <a:r>
                  <a:rPr sz="2100">
                    <a:solidFill>
                      <a:srgbClr val="1E293B"/>
                    </a:solidFill>
                    <a:latin typeface="Calibri"/>
                  </a:rPr>
                  <a:t>, bảng biến thiên, giá trị </a:t>
                </a:r>
                <a14:m>
                  <m:oMath xmlns:m="http://schemas.openxmlformats.org/officeDocument/2006/math">
                    <m:r>
                      <a:rPr lang="vi-VN" sz="2100" b="0">
                        <a:solidFill>
                          <a:srgbClr val="1E293B"/>
                        </a:solidFill>
                        <a:latin typeface="Cambria Math" panose="02040503050406030204" pitchFamily="18" charset="0"/>
                      </a:rPr>
                      <m:t>x</m:t>
                    </m:r>
                  </m:oMath>
                </a14:m>
                <a:r>
                  <a:rPr sz="2100">
                    <a:solidFill>
                      <a:srgbClr val="1E293B"/>
                    </a:solidFill>
                    <a:latin typeface="Calibri"/>
                  </a:rPr>
                  <a:t> được chọn); đồ thị GeoGebra/bảng tính.</a:t>
                </a:r>
              </a:p>
              <a:p>
                <a:pPr algn="l" marL="365760" indent="-365760">
                  <a:spcAft>
                    <a:spcPts val="800"/>
                  </a:spcAft>
                  <a:buClr>
                    <a:srgbClr val="1E40AF"/>
                  </a:buClr>
                  <a:buFont typeface="Arial"/>
                  <a:buChar char="•"/>
                </a:pPr>
                <a:r>
                  <a:rPr sz="2100">
                    <a:solidFill>
                      <a:srgbClr val="1E293B"/>
                    </a:solidFill>
                    <a:latin typeface="Calibri"/>
                  </a:rPr>
                  <a:t>Kết quả thử nghiệm: thể tích thực tế, sai số, so sánh với hộp đối chứng; những điều chỉnh đã làm.</a:t>
                </a:r>
              </a:p>
              <a:p>
                <a:pPr algn="l" marL="365760" indent="-365760">
                  <a:spcAft>
                    <a:spcPts val="800"/>
                  </a:spcAft>
                  <a:buClr>
                    <a:srgbClr val="1E40AF"/>
                  </a:buClr>
                  <a:buFont typeface="Arial"/>
                  <a:buChar char="•"/>
                </a:pPr>
                <a:r>
                  <a:rPr sz="2100">
                    <a:solidFill>
                      <a:srgbClr val="1E293B"/>
                    </a:solidFill>
                    <a:latin typeface="Calibri"/>
                  </a:rPr>
                  <a:t>Bài học kinh nghiệm, đề xuất cải tiến (gấp mép chồng, làm thêm nắp từ tấm bìa thứ hai…).</a:t>
                </a:r>
              </a:p>
            </p:txBody>
          </p:sp>
        </mc:Choice>
        <mc:Fallback>
          <p:sp>
            <p:nvSpPr>
              <p:cNvPr id="8" name="TextBox 7"/>
              <p:cNvSpPr txBox="1"/>
              <p:nvPr/>
            </p:nvSpPr>
            <p:spPr>
              <a:xfrm>
                <a:off x="713232" y="1408176"/>
                <a:ext cx="10735056" cy="2734056"/>
              </a:xfrm>
              <a:prstGeom prst="rect">
                <a:avLst/>
              </a:prstGeom>
              <a:noFill/>
            </p:spPr>
            <p:txBody>
              <a:bodyPr wrap="square" anchor="ctr" lIns="45720" rIns="45720">
                <a:spAutoFit/>
              </a:bodyPr>
              <a:lstStyle/>
              <a:p>
                <a:pPr algn="l">
                  <a:spcAft>
                    <a:spcPts val="800"/>
                  </a:spcAft>
                </a:pPr>
                <a:r>
                  <a:rPr sz="2100" b="1">
                    <a:solidFill>
                      <a:srgbClr val="1E293B"/>
                    </a:solidFill>
                    <a:latin typeface="Calibri"/>
                  </a:rPr>
                  <a:t>Nội dung báo cáo của mỗi nhóm:</a:t>
                </a:r>
              </a:p>
              <a:p>
                <a:pPr algn="l" marL="365760" indent="-365760">
                  <a:spcAft>
                    <a:spcPts val="800"/>
                  </a:spcAft>
                  <a:buClr>
                    <a:srgbClr val="1E40AF"/>
                  </a:buClr>
                  <a:buFont typeface="Arial"/>
                  <a:buChar char="•"/>
                </a:pPr>
                <a:r>
                  <a:rPr sz="2100">
                    <a:solidFill>
                      <a:srgbClr val="1E293B"/>
                    </a:solidFill>
                    <a:latin typeface="Calibri"/>
                  </a:rPr>
                  <a:t>Giới thiệu hộp; mô hình toán học (</a:t>
                </a:r>
                <a:r>
                  <a:rPr lang="vi-VN"/>
                  <a:t>V(x)</a:t>
                </a:r>
                <a:r>
                  <a:rPr sz="2100">
                    <a:solidFill>
                      <a:srgbClr val="1E293B"/>
                    </a:solidFill>
                    <a:latin typeface="Calibri"/>
                  </a:rPr>
                  <a:t>, bảng biến thiên, giá trị </a:t>
                </a:r>
                <a:r>
                  <a:rPr lang="vi-VN"/>
                  <a:t>x</a:t>
                </a:r>
                <a:r>
                  <a:rPr sz="2100">
                    <a:solidFill>
                      <a:srgbClr val="1E293B"/>
                    </a:solidFill>
                    <a:latin typeface="Calibri"/>
                  </a:rPr>
                  <a:t> được chọn); đồ thị GeoGebra/bảng tính.</a:t>
                </a:r>
              </a:p>
              <a:p>
                <a:pPr algn="l" marL="365760" indent="-365760">
                  <a:spcAft>
                    <a:spcPts val="800"/>
                  </a:spcAft>
                  <a:buClr>
                    <a:srgbClr val="1E40AF"/>
                  </a:buClr>
                  <a:buFont typeface="Arial"/>
                  <a:buChar char="•"/>
                </a:pPr>
                <a:r>
                  <a:rPr sz="2100">
                    <a:solidFill>
                      <a:srgbClr val="1E293B"/>
                    </a:solidFill>
                    <a:latin typeface="Calibri"/>
                  </a:rPr>
                  <a:t>Kết quả thử nghiệm: thể tích thực tế, sai số, so sánh với hộp đối chứng; những điều chỉnh đã làm.</a:t>
                </a:r>
              </a:p>
              <a:p>
                <a:pPr algn="l" marL="365760" indent="-365760">
                  <a:spcAft>
                    <a:spcPts val="800"/>
                  </a:spcAft>
                  <a:buClr>
                    <a:srgbClr val="1E40AF"/>
                  </a:buClr>
                  <a:buFont typeface="Arial"/>
                  <a:buChar char="•"/>
                </a:pPr>
                <a:r>
                  <a:rPr sz="2100">
                    <a:solidFill>
                      <a:srgbClr val="1E293B"/>
                    </a:solidFill>
                    <a:latin typeface="Calibri"/>
                  </a:rPr>
                  <a:t>Bài học kinh nghiệm, đề xuất cải tiến (gấp mép chồng, làm thêm nắp từ tấm bìa thứ hai…).</a:t>
                </a:r>
              </a:p>
            </p:txBody>
          </p:sp>
        </mc:Fallback>
      </mc:AlternateContent>
      <p:sp>
        <p:nvSpPr>
          <p:cNvPr id="9" name="Rounded Rectangle 8"/>
          <p:cNvSpPr/>
          <p:nvPr/>
        </p:nvSpPr>
        <p:spPr>
          <a:xfrm>
            <a:off x="548640" y="3931920"/>
            <a:ext cx="11064240" cy="585215"/>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3968496"/>
            <a:ext cx="107350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Bình chọn: </a:t>
            </a:r>
            <a:r>
              <a:rPr sz="2100" b="1">
                <a:solidFill>
                  <a:srgbClr val="1E293B"/>
                </a:solidFill>
                <a:latin typeface="Calibri"/>
              </a:rPr>
              <a:t>"Hộp đựng nhiều nhất"</a:t>
            </a:r>
            <a:r>
              <a:rPr sz="2100">
                <a:solidFill>
                  <a:srgbClr val="1E293B"/>
                </a:solidFill>
                <a:latin typeface="Calibri"/>
              </a:rPr>
              <a:t> và </a:t>
            </a:r>
            <a:r>
              <a:rPr sz="2100" b="1">
                <a:solidFill>
                  <a:srgbClr val="1E293B"/>
                </a:solidFill>
                <a:latin typeface="Calibri"/>
              </a:rPr>
              <a:t>"Hộp đẹp nhất"</a:t>
            </a:r>
            <a:r>
              <a:rPr sz="2100">
                <a:solidFill>
                  <a:srgbClr val="1E293B"/>
                </a:solidFill>
                <a:latin typeface="Calibri"/>
              </a:rPr>
              <a: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VÍ DỤ KẾT QUẢ THỬ NGHIỆM (GIẢI PHÁP MẪU)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43</a:t>
            </a:r>
          </a:p>
        </p:txBody>
      </p:sp>
      <p:sp>
        <p:nvSpPr>
          <p:cNvPr id="7" name="Rounded Rectangle 6"/>
          <p:cNvSpPr/>
          <p:nvPr/>
        </p:nvSpPr>
        <p:spPr>
          <a:xfrm>
            <a:off x="822960" y="1554480"/>
            <a:ext cx="2560320" cy="585216"/>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1591056"/>
            <a:ext cx="2231136" cy="512064"/>
          </a:xfrm>
          <a:prstGeom prst="rect">
            <a:avLst/>
          </a:prstGeom>
          <a:noFill/>
        </p:spPr>
        <p:txBody>
          <a:bodyPr wrap="square" anchor="ctr" lIns="45720" rIns="45720">
            <a:spAutoFit/>
          </a:bodyPr>
          <a:lstStyle/>
          <a:p>
            <a:pPr algn="ctr">
              <a:spcAft>
                <a:spcPts val="800"/>
              </a:spcAft>
            </a:pPr>
            <a:r>
              <a:rPr sz="2000" b="1">
                <a:solidFill>
                  <a:srgbClr val="1E293B"/>
                </a:solidFill>
                <a:latin typeface="Calibri"/>
              </a:rPr>
              <a:t>Đại lượng</a:t>
            </a:r>
          </a:p>
        </p:txBody>
      </p:sp>
      <p:sp>
        <p:nvSpPr>
          <p:cNvPr id="9" name="Rounded Rectangle 8"/>
          <p:cNvSpPr/>
          <p:nvPr/>
        </p:nvSpPr>
        <p:spPr>
          <a:xfrm>
            <a:off x="3474720" y="1554480"/>
            <a:ext cx="2560320" cy="585216"/>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39312" y="1591056"/>
            <a:ext cx="2231136" cy="512064"/>
          </a:xfrm>
          <a:prstGeom prst="rect">
            <a:avLst/>
          </a:prstGeom>
          <a:noFill/>
        </p:spPr>
        <p:txBody>
          <a:bodyPr wrap="square" anchor="ctr" lIns="45720" rIns="45720">
            <a:spAutoFit/>
          </a:bodyPr>
          <a:lstStyle/>
          <a:p>
            <a:pPr algn="ctr">
              <a:spcAft>
                <a:spcPts val="800"/>
              </a:spcAft>
            </a:pPr>
            <a:r>
              <a:rPr sz="2000" b="1">
                <a:solidFill>
                  <a:srgbClr val="1E293B"/>
                </a:solidFill>
                <a:latin typeface="Calibri"/>
              </a:rPr>
              <a:t>Thiết kế</a:t>
            </a:r>
          </a:p>
        </p:txBody>
      </p:sp>
      <p:sp>
        <p:nvSpPr>
          <p:cNvPr id="11" name="Rounded Rectangle 10"/>
          <p:cNvSpPr/>
          <p:nvPr/>
        </p:nvSpPr>
        <p:spPr>
          <a:xfrm>
            <a:off x="6126480" y="1554480"/>
            <a:ext cx="2560320" cy="585216"/>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1072" y="1591056"/>
            <a:ext cx="2231136" cy="512064"/>
          </a:xfrm>
          <a:prstGeom prst="rect">
            <a:avLst/>
          </a:prstGeom>
          <a:noFill/>
        </p:spPr>
        <p:txBody>
          <a:bodyPr wrap="square" anchor="ctr" lIns="45720" rIns="45720">
            <a:spAutoFit/>
          </a:bodyPr>
          <a:lstStyle/>
          <a:p>
            <a:pPr algn="ctr">
              <a:spcAft>
                <a:spcPts val="800"/>
              </a:spcAft>
            </a:pPr>
            <a:r>
              <a:rPr sz="2000" b="1">
                <a:solidFill>
                  <a:srgbClr val="1E293B"/>
                </a:solidFill>
                <a:latin typeface="Calibri"/>
              </a:rPr>
              <a:t>Thực tế</a:t>
            </a:r>
          </a:p>
        </p:txBody>
      </p:sp>
      <p:sp>
        <p:nvSpPr>
          <p:cNvPr id="13" name="Rounded Rectangle 12"/>
          <p:cNvSpPr/>
          <p:nvPr/>
        </p:nvSpPr>
        <p:spPr>
          <a:xfrm>
            <a:off x="8778240" y="1554480"/>
            <a:ext cx="2560320" cy="585216"/>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42832" y="1591056"/>
            <a:ext cx="2231136" cy="512064"/>
          </a:xfrm>
          <a:prstGeom prst="rect">
            <a:avLst/>
          </a:prstGeom>
          <a:noFill/>
        </p:spPr>
        <p:txBody>
          <a:bodyPr wrap="square" anchor="ctr" lIns="45720" rIns="45720">
            <a:spAutoFit/>
          </a:bodyPr>
          <a:lstStyle/>
          <a:p>
            <a:pPr algn="ctr">
              <a:spcAft>
                <a:spcPts val="800"/>
              </a:spcAft>
            </a:pPr>
            <a:r>
              <a:rPr sz="2000" b="1">
                <a:solidFill>
                  <a:srgbClr val="1E293B"/>
                </a:solidFill>
                <a:latin typeface="Calibri"/>
              </a:rPr>
              <a:t>Sai lệch</a:t>
            </a:r>
          </a:p>
        </p:txBody>
      </p:sp>
      <p:sp>
        <p:nvSpPr>
          <p:cNvPr id="15" name="Rounded Rectangle 14"/>
          <p:cNvSpPr/>
          <p:nvPr/>
        </p:nvSpPr>
        <p:spPr>
          <a:xfrm>
            <a:off x="822960" y="2212848"/>
            <a:ext cx="2560320" cy="585216"/>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6" name="TextBox 15"/>
              <p:cNvSpPr txBox="1"/>
              <p:nvPr/>
            </p:nvSpPr>
            <p:spPr>
              <a:xfrm>
                <a:off x="987552" y="2249424"/>
                <a:ext cx="2231136" cy="512064"/>
              </a:xfrm>
              <a:prstGeom prst="rect">
                <a:avLst/>
              </a:prstGeom>
              <a:noFill/>
            </p:spPr>
            <p:txBody>
              <a:bodyPr wrap="square" anchor="ctr" lIns="45720" rIns="45720">
                <a:spAutoFit/>
              </a:bodyPr>
              <a:lstStyle/>
              <a:p>
                <a:pPr algn="ctr">
                  <a:spcAft>
                    <a:spcPts val="800"/>
                  </a:spcAft>
                </a:pPr>
                <a:r>
                  <a:rPr sz="2000">
                    <a:solidFill>
                      <a:srgbClr val="1E293B"/>
                    </a:solidFill>
                    <a:latin typeface="Calibri"/>
                  </a:rPr>
                  <a:t>Cạnh cắt bỏ </a:t>
                </a:r>
                <a14:m>
                  <m:oMath xmlns:m="http://schemas.openxmlformats.org/officeDocument/2006/math">
                    <m:r>
                      <a:rPr lang="vi-VN" sz="2000" b="0">
                        <a:solidFill>
                          <a:srgbClr val="1E293B"/>
                        </a:solidFill>
                        <a:latin typeface="Cambria Math" panose="02040503050406030204" pitchFamily="18" charset="0"/>
                      </a:rPr>
                      <m:t>x</m:t>
                    </m:r>
                  </m:oMath>
                </a14:m>
                <a:r>
                  <a:rPr sz="2000">
                    <a:solidFill>
                      <a:srgbClr val="1E293B"/>
                    </a:solidFill>
                    <a:latin typeface="Calibri"/>
                  </a:rPr>
                  <a:t> (cm)</a:t>
                </a:r>
              </a:p>
            </p:txBody>
          </p:sp>
        </mc:Choice>
        <mc:Fallback>
          <p:sp>
            <p:nvSpPr>
              <p:cNvPr id="16" name="TextBox 15"/>
              <p:cNvSpPr txBox="1"/>
              <p:nvPr/>
            </p:nvSpPr>
            <p:spPr>
              <a:xfrm>
                <a:off x="987552" y="2249424"/>
                <a:ext cx="2231136" cy="512064"/>
              </a:xfrm>
              <a:prstGeom prst="rect">
                <a:avLst/>
              </a:prstGeom>
              <a:noFill/>
            </p:spPr>
            <p:txBody>
              <a:bodyPr wrap="square" anchor="ctr" lIns="45720" rIns="45720">
                <a:spAutoFit/>
              </a:bodyPr>
              <a:lstStyle/>
              <a:p>
                <a:pPr algn="ctr">
                  <a:spcAft>
                    <a:spcPts val="800"/>
                  </a:spcAft>
                </a:pPr>
                <a:r>
                  <a:rPr sz="2000">
                    <a:solidFill>
                      <a:srgbClr val="1E293B"/>
                    </a:solidFill>
                    <a:latin typeface="Calibri"/>
                  </a:rPr>
                  <a:t>Cạnh cắt bỏ </a:t>
                </a:r>
                <a:r>
                  <a:rPr lang="vi-VN"/>
                  <a:t>x</a:t>
                </a:r>
                <a:r>
                  <a:rPr sz="2000">
                    <a:solidFill>
                      <a:srgbClr val="1E293B"/>
                    </a:solidFill>
                    <a:latin typeface="Calibri"/>
                  </a:rPr>
                  <a:t> (cm)</a:t>
                </a:r>
              </a:p>
            </p:txBody>
          </p:sp>
        </mc:Fallback>
      </mc:AlternateContent>
      <p:sp>
        <p:nvSpPr>
          <p:cNvPr id="17" name="Rounded Rectangle 16"/>
          <p:cNvSpPr/>
          <p:nvPr/>
        </p:nvSpPr>
        <p:spPr>
          <a:xfrm>
            <a:off x="3474720" y="2212848"/>
            <a:ext cx="2560320" cy="585216"/>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39312" y="2249424"/>
            <a:ext cx="2231136" cy="512064"/>
          </a:xfrm>
          <a:prstGeom prst="rect">
            <a:avLst/>
          </a:prstGeom>
          <a:noFill/>
        </p:spPr>
        <p:txBody>
          <a:bodyPr wrap="square" anchor="ctr" lIns="45720" rIns="45720">
            <a:spAutoFit/>
          </a:bodyPr>
          <a:lstStyle/>
          <a:p>
            <a:pPr algn="ctr">
              <a:spcAft>
                <a:spcPts val="800"/>
              </a:spcAft>
            </a:pPr>
            <a:r>
              <a:rPr sz="2000">
                <a:solidFill>
                  <a:srgbClr val="1E293B"/>
                </a:solidFill>
                <a:latin typeface="Calibri"/>
              </a:rPr>
              <a:t>4</a:t>
            </a:r>
          </a:p>
        </p:txBody>
      </p:sp>
      <p:sp>
        <p:nvSpPr>
          <p:cNvPr id="19" name="Rounded Rectangle 18"/>
          <p:cNvSpPr/>
          <p:nvPr/>
        </p:nvSpPr>
        <p:spPr>
          <a:xfrm>
            <a:off x="6126480" y="2212848"/>
            <a:ext cx="2560320" cy="585216"/>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1072" y="2249424"/>
            <a:ext cx="2231136" cy="512064"/>
          </a:xfrm>
          <a:prstGeom prst="rect">
            <a:avLst/>
          </a:prstGeom>
          <a:noFill/>
        </p:spPr>
        <p:txBody>
          <a:bodyPr wrap="square" anchor="ctr" lIns="45720" rIns="45720">
            <a:spAutoFit/>
          </a:bodyPr>
          <a:lstStyle/>
          <a:p>
            <a:pPr algn="ctr">
              <a:spcAft>
                <a:spcPts val="800"/>
              </a:spcAft>
            </a:pPr>
            <a:r>
              <a:rPr sz="2000">
                <a:solidFill>
                  <a:srgbClr val="1E293B"/>
                </a:solidFill>
                <a:latin typeface="Calibri"/>
              </a:rPr>
              <a:t>4</a:t>
            </a:r>
          </a:p>
        </p:txBody>
      </p:sp>
      <p:sp>
        <p:nvSpPr>
          <p:cNvPr id="21" name="Rounded Rectangle 20"/>
          <p:cNvSpPr/>
          <p:nvPr/>
        </p:nvSpPr>
        <p:spPr>
          <a:xfrm>
            <a:off x="8778240" y="2212848"/>
            <a:ext cx="2560320" cy="585216"/>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42832" y="2249424"/>
            <a:ext cx="2231136" cy="512064"/>
          </a:xfrm>
          <a:prstGeom prst="rect">
            <a:avLst/>
          </a:prstGeom>
          <a:noFill/>
        </p:spPr>
        <p:txBody>
          <a:bodyPr wrap="square" anchor="ctr" lIns="45720" rIns="45720">
            <a:spAutoFit/>
          </a:bodyPr>
          <a:lstStyle/>
          <a:p>
            <a:pPr algn="ctr">
              <a:spcAft>
                <a:spcPts val="800"/>
              </a:spcAft>
            </a:pPr>
            <a:r>
              <a:rPr sz="2000">
                <a:solidFill>
                  <a:srgbClr val="1E293B"/>
                </a:solidFill>
                <a:latin typeface="Calibri"/>
              </a:rPr>
              <a:t>0</a:t>
            </a:r>
          </a:p>
        </p:txBody>
      </p:sp>
      <p:sp>
        <p:nvSpPr>
          <p:cNvPr id="23" name="Rounded Rectangle 22"/>
          <p:cNvSpPr/>
          <p:nvPr/>
        </p:nvSpPr>
        <p:spPr>
          <a:xfrm>
            <a:off x="822960" y="2871215"/>
            <a:ext cx="2560320" cy="585216"/>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7552" y="2907791"/>
            <a:ext cx="2231136" cy="512064"/>
          </a:xfrm>
          <a:prstGeom prst="rect">
            <a:avLst/>
          </a:prstGeom>
          <a:noFill/>
        </p:spPr>
        <p:txBody>
          <a:bodyPr wrap="square" anchor="ctr" lIns="45720" rIns="45720">
            <a:spAutoFit/>
          </a:bodyPr>
          <a:lstStyle/>
          <a:p>
            <a:pPr algn="ctr">
              <a:spcAft>
                <a:spcPts val="800"/>
              </a:spcAft>
            </a:pPr>
            <a:r>
              <a:rPr sz="2000">
                <a:solidFill>
                  <a:srgbClr val="1E293B"/>
                </a:solidFill>
                <a:latin typeface="Calibri"/>
              </a:rPr>
              <a:t>Kích thước đáy (cm)</a:t>
            </a:r>
          </a:p>
        </p:txBody>
      </p:sp>
      <p:sp>
        <p:nvSpPr>
          <p:cNvPr id="25" name="Rounded Rectangle 24"/>
          <p:cNvSpPr/>
          <p:nvPr/>
        </p:nvSpPr>
        <p:spPr>
          <a:xfrm>
            <a:off x="3474720" y="2871215"/>
            <a:ext cx="2560320" cy="585216"/>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39312" y="2907791"/>
            <a:ext cx="2231136" cy="512064"/>
          </a:xfrm>
          <a:prstGeom prst="rect">
            <a:avLst/>
          </a:prstGeom>
          <a:noFill/>
        </p:spPr>
        <p:txBody>
          <a:bodyPr wrap="square" anchor="ctr" lIns="45720" rIns="45720">
            <a:spAutoFit/>
          </a:bodyPr>
          <a:lstStyle/>
          <a:p>
            <a:pPr algn="ctr">
              <a:spcAft>
                <a:spcPts val="800"/>
              </a:spcAft>
            </a:pPr>
            <a:r>
              <a:rPr sz="2000">
                <a:solidFill>
                  <a:srgbClr val="1E293B"/>
                </a:solidFill>
                <a:latin typeface="Calibri"/>
              </a:rPr>
              <a:t>13 × 21,7</a:t>
            </a:r>
          </a:p>
        </p:txBody>
      </p:sp>
      <p:sp>
        <p:nvSpPr>
          <p:cNvPr id="27" name="Rounded Rectangle 26"/>
          <p:cNvSpPr/>
          <p:nvPr/>
        </p:nvSpPr>
        <p:spPr>
          <a:xfrm>
            <a:off x="6126480" y="2871215"/>
            <a:ext cx="2560320" cy="585216"/>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1072" y="2907791"/>
            <a:ext cx="2231136" cy="512064"/>
          </a:xfrm>
          <a:prstGeom prst="rect">
            <a:avLst/>
          </a:prstGeom>
          <a:noFill/>
        </p:spPr>
        <p:txBody>
          <a:bodyPr wrap="square" anchor="ctr" lIns="45720" rIns="45720">
            <a:spAutoFit/>
          </a:bodyPr>
          <a:lstStyle/>
          <a:p>
            <a:pPr algn="ctr">
              <a:spcAft>
                <a:spcPts val="800"/>
              </a:spcAft>
            </a:pPr>
            <a:r>
              <a:rPr sz="2000">
                <a:solidFill>
                  <a:srgbClr val="1E293B"/>
                </a:solidFill>
                <a:latin typeface="Calibri"/>
              </a:rPr>
              <a:t>12,8 × 21,5</a:t>
            </a:r>
          </a:p>
        </p:txBody>
      </p:sp>
      <p:sp>
        <p:nvSpPr>
          <p:cNvPr id="29" name="Rounded Rectangle 28"/>
          <p:cNvSpPr/>
          <p:nvPr/>
        </p:nvSpPr>
        <p:spPr>
          <a:xfrm>
            <a:off x="8778240" y="2871215"/>
            <a:ext cx="2560320" cy="585216"/>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42832" y="2907791"/>
            <a:ext cx="2231136" cy="512064"/>
          </a:xfrm>
          <a:prstGeom prst="rect">
            <a:avLst/>
          </a:prstGeom>
          <a:noFill/>
        </p:spPr>
        <p:txBody>
          <a:bodyPr wrap="square" anchor="ctr" lIns="45720" rIns="45720">
            <a:spAutoFit/>
          </a:bodyPr>
          <a:lstStyle/>
          <a:p>
            <a:pPr algn="ctr">
              <a:spcAft>
                <a:spcPts val="800"/>
              </a:spcAft>
            </a:pPr>
            <a:r>
              <a:rPr sz="2000">
                <a:solidFill>
                  <a:srgbClr val="1E293B"/>
                </a:solidFill>
                <a:latin typeface="Calibri"/>
              </a:rPr>
              <a:t>–</a:t>
            </a:r>
          </a:p>
        </p:txBody>
      </p:sp>
      <p:sp>
        <p:nvSpPr>
          <p:cNvPr id="31" name="Rounded Rectangle 30"/>
          <p:cNvSpPr/>
          <p:nvPr/>
        </p:nvSpPr>
        <p:spPr>
          <a:xfrm>
            <a:off x="822960" y="3529584"/>
            <a:ext cx="2560320" cy="585216"/>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87552" y="3566160"/>
            <a:ext cx="2231136" cy="512064"/>
          </a:xfrm>
          <a:prstGeom prst="rect">
            <a:avLst/>
          </a:prstGeom>
          <a:noFill/>
        </p:spPr>
        <p:txBody>
          <a:bodyPr wrap="square" anchor="ctr" lIns="45720" rIns="45720">
            <a:spAutoFit/>
          </a:bodyPr>
          <a:lstStyle/>
          <a:p>
            <a:pPr algn="ctr">
              <a:spcAft>
                <a:spcPts val="800"/>
              </a:spcAft>
            </a:pPr>
            <a:r>
              <a:rPr sz="2000">
                <a:solidFill>
                  <a:srgbClr val="1E293B"/>
                </a:solidFill>
                <a:latin typeface="Calibri"/>
              </a:rPr>
              <a:t>Thể tích (mL)</a:t>
            </a:r>
          </a:p>
        </p:txBody>
      </p:sp>
      <p:sp>
        <p:nvSpPr>
          <p:cNvPr id="33" name="Rounded Rectangle 32"/>
          <p:cNvSpPr/>
          <p:nvPr/>
        </p:nvSpPr>
        <p:spPr>
          <a:xfrm>
            <a:off x="3474720" y="3529584"/>
            <a:ext cx="2560320" cy="585216"/>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39312" y="3566160"/>
            <a:ext cx="2231136" cy="512064"/>
          </a:xfrm>
          <a:prstGeom prst="rect">
            <a:avLst/>
          </a:prstGeom>
          <a:noFill/>
        </p:spPr>
        <p:txBody>
          <a:bodyPr wrap="square" anchor="ctr" lIns="45720" rIns="45720">
            <a:spAutoFit/>
          </a:bodyPr>
          <a:lstStyle/>
          <a:p>
            <a:pPr algn="ctr">
              <a:spcAft>
                <a:spcPts val="800"/>
              </a:spcAft>
            </a:pPr>
            <a:r>
              <a:rPr sz="2000">
                <a:solidFill>
                  <a:srgbClr val="1E293B"/>
                </a:solidFill>
                <a:latin typeface="Calibri"/>
              </a:rPr>
              <a:t>1 128</a:t>
            </a:r>
          </a:p>
        </p:txBody>
      </p:sp>
      <p:sp>
        <p:nvSpPr>
          <p:cNvPr id="35" name="Rounded Rectangle 34"/>
          <p:cNvSpPr/>
          <p:nvPr/>
        </p:nvSpPr>
        <p:spPr>
          <a:xfrm>
            <a:off x="6126480" y="3529584"/>
            <a:ext cx="2560320" cy="585216"/>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1072" y="3566160"/>
            <a:ext cx="2231136" cy="512064"/>
          </a:xfrm>
          <a:prstGeom prst="rect">
            <a:avLst/>
          </a:prstGeom>
          <a:noFill/>
        </p:spPr>
        <p:txBody>
          <a:bodyPr wrap="square" anchor="ctr" lIns="45720" rIns="45720">
            <a:spAutoFit/>
          </a:bodyPr>
          <a:lstStyle/>
          <a:p>
            <a:pPr algn="ctr">
              <a:spcAft>
                <a:spcPts val="800"/>
              </a:spcAft>
            </a:pPr>
            <a:r>
              <a:rPr sz="2000">
                <a:solidFill>
                  <a:srgbClr val="1E293B"/>
                </a:solidFill>
                <a:latin typeface="Calibri"/>
              </a:rPr>
              <a:t>1 050</a:t>
            </a:r>
          </a:p>
        </p:txBody>
      </p:sp>
      <p:sp>
        <p:nvSpPr>
          <p:cNvPr id="37" name="Rounded Rectangle 36"/>
          <p:cNvSpPr/>
          <p:nvPr/>
        </p:nvSpPr>
        <p:spPr>
          <a:xfrm>
            <a:off x="8778240" y="3529584"/>
            <a:ext cx="2560320" cy="585216"/>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42832" y="3566160"/>
            <a:ext cx="2231136" cy="512064"/>
          </a:xfrm>
          <a:prstGeom prst="rect">
            <a:avLst/>
          </a:prstGeom>
          <a:noFill/>
        </p:spPr>
        <p:txBody>
          <a:bodyPr wrap="square" anchor="ctr" lIns="45720" rIns="45720">
            <a:spAutoFit/>
          </a:bodyPr>
          <a:lstStyle/>
          <a:p>
            <a:pPr algn="ctr">
              <a:spcAft>
                <a:spcPts val="800"/>
              </a:spcAft>
            </a:pPr>
            <a:r>
              <a:rPr sz="2000">
                <a:solidFill>
                  <a:srgbClr val="1E293B"/>
                </a:solidFill>
                <a:latin typeface="Calibri"/>
              </a:rPr>
              <a:t>6,9%</a:t>
            </a:r>
          </a:p>
        </p:txBody>
      </p:sp>
      <p:sp>
        <p:nvSpPr>
          <p:cNvPr id="39" name="Rounded Rectangle 38"/>
          <p:cNvSpPr/>
          <p:nvPr/>
        </p:nvSpPr>
        <p:spPr>
          <a:xfrm>
            <a:off x="822960" y="4187952"/>
            <a:ext cx="2560320" cy="585216"/>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40" name="TextBox 39"/>
              <p:cNvSpPr txBox="1"/>
              <p:nvPr/>
            </p:nvSpPr>
            <p:spPr>
              <a:xfrm>
                <a:off x="987552" y="4224528"/>
                <a:ext cx="2231136" cy="512064"/>
              </a:xfrm>
              <a:prstGeom prst="rect">
                <a:avLst/>
              </a:prstGeom>
              <a:noFill/>
            </p:spPr>
            <p:txBody>
              <a:bodyPr wrap="square" anchor="ctr" lIns="45720" rIns="45720">
                <a:spAutoFit/>
              </a:bodyPr>
              <a:lstStyle/>
              <a:p>
                <a:pPr algn="ctr">
                  <a:spcAft>
                    <a:spcPts val="800"/>
                  </a:spcAft>
                </a:pPr>
                <a:r>
                  <a:rPr sz="2000">
                    <a:solidFill>
                      <a:srgbClr val="1E293B"/>
                    </a:solidFill>
                    <a:latin typeface="Calibri"/>
                  </a:rPr>
                  <a:t>Hộp đối chứng </a:t>
                </a:r>
                <a14:m>
                  <m:oMath xmlns:m="http://schemas.openxmlformats.org/officeDocument/2006/math">
                    <m:r>
                      <a:rPr lang="vi-VN" sz="2000" b="0">
                        <a:solidFill>
                          <a:srgbClr val="1E293B"/>
                        </a:solidFill>
                        <a:latin typeface="Cambria Math" panose="02040503050406030204" pitchFamily="18" charset="0"/>
                      </a:rPr>
                      <m:t>x=2</m:t>
                    </m:r>
                  </m:oMath>
                </a14:m>
                <a:r>
                  <a:rPr sz="2000">
                    <a:solidFill>
                      <a:srgbClr val="1E293B"/>
                    </a:solidFill>
                    <a:latin typeface="Calibri"/>
                  </a:rPr>
                  <a:t> cm (mL)</a:t>
                </a:r>
              </a:p>
            </p:txBody>
          </p:sp>
        </mc:Choice>
        <mc:Fallback>
          <p:sp>
            <p:nvSpPr>
              <p:cNvPr id="40" name="TextBox 39"/>
              <p:cNvSpPr txBox="1"/>
              <p:nvPr/>
            </p:nvSpPr>
            <p:spPr>
              <a:xfrm>
                <a:off x="987552" y="4224528"/>
                <a:ext cx="2231136" cy="512064"/>
              </a:xfrm>
              <a:prstGeom prst="rect">
                <a:avLst/>
              </a:prstGeom>
              <a:noFill/>
            </p:spPr>
            <p:txBody>
              <a:bodyPr wrap="square" anchor="ctr" lIns="45720" rIns="45720">
                <a:spAutoFit/>
              </a:bodyPr>
              <a:lstStyle/>
              <a:p>
                <a:pPr algn="ctr">
                  <a:spcAft>
                    <a:spcPts val="800"/>
                  </a:spcAft>
                </a:pPr>
                <a:r>
                  <a:rPr sz="2000">
                    <a:solidFill>
                      <a:srgbClr val="1E293B"/>
                    </a:solidFill>
                    <a:latin typeface="Calibri"/>
                  </a:rPr>
                  <a:t>Hộp đối chứng </a:t>
                </a:r>
                <a:r>
                  <a:rPr lang="vi-VN"/>
                  <a:t>x=2</a:t>
                </a:r>
                <a:r>
                  <a:rPr sz="2000">
                    <a:solidFill>
                      <a:srgbClr val="1E293B"/>
                    </a:solidFill>
                    <a:latin typeface="Calibri"/>
                  </a:rPr>
                  <a:t> cm (mL)</a:t>
                </a:r>
              </a:p>
            </p:txBody>
          </p:sp>
        </mc:Fallback>
      </mc:AlternateContent>
      <p:sp>
        <p:nvSpPr>
          <p:cNvPr id="41" name="Rounded Rectangle 40"/>
          <p:cNvSpPr/>
          <p:nvPr/>
        </p:nvSpPr>
        <p:spPr>
          <a:xfrm>
            <a:off x="3474720" y="4187952"/>
            <a:ext cx="2560320" cy="585216"/>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39312" y="4224528"/>
            <a:ext cx="2231136" cy="512064"/>
          </a:xfrm>
          <a:prstGeom prst="rect">
            <a:avLst/>
          </a:prstGeom>
          <a:noFill/>
        </p:spPr>
        <p:txBody>
          <a:bodyPr wrap="square" anchor="ctr" lIns="45720" rIns="45720">
            <a:spAutoFit/>
          </a:bodyPr>
          <a:lstStyle/>
          <a:p>
            <a:pPr algn="ctr">
              <a:spcAft>
                <a:spcPts val="800"/>
              </a:spcAft>
            </a:pPr>
            <a:r>
              <a:rPr sz="2000">
                <a:solidFill>
                  <a:srgbClr val="1E293B"/>
                </a:solidFill>
                <a:latin typeface="Calibri"/>
              </a:rPr>
              <a:t>874</a:t>
            </a:r>
          </a:p>
        </p:txBody>
      </p:sp>
      <p:sp>
        <p:nvSpPr>
          <p:cNvPr id="43" name="Rounded Rectangle 42"/>
          <p:cNvSpPr/>
          <p:nvPr/>
        </p:nvSpPr>
        <p:spPr>
          <a:xfrm>
            <a:off x="6126480" y="4187952"/>
            <a:ext cx="2560320" cy="585216"/>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1072" y="4224528"/>
            <a:ext cx="2231136" cy="512064"/>
          </a:xfrm>
          <a:prstGeom prst="rect">
            <a:avLst/>
          </a:prstGeom>
          <a:noFill/>
        </p:spPr>
        <p:txBody>
          <a:bodyPr wrap="square" anchor="ctr" lIns="45720" rIns="45720">
            <a:spAutoFit/>
          </a:bodyPr>
          <a:lstStyle/>
          <a:p>
            <a:pPr algn="ctr">
              <a:spcAft>
                <a:spcPts val="800"/>
              </a:spcAft>
            </a:pPr>
            <a:r>
              <a:rPr sz="2000">
                <a:solidFill>
                  <a:srgbClr val="1E293B"/>
                </a:solidFill>
                <a:latin typeface="Calibri"/>
              </a:rPr>
              <a:t>830</a:t>
            </a:r>
          </a:p>
        </p:txBody>
      </p:sp>
      <p:sp>
        <p:nvSpPr>
          <p:cNvPr id="45" name="Rounded Rectangle 44"/>
          <p:cNvSpPr/>
          <p:nvPr/>
        </p:nvSpPr>
        <p:spPr>
          <a:xfrm>
            <a:off x="8778240" y="4187952"/>
            <a:ext cx="2560320" cy="585216"/>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42832" y="4224528"/>
            <a:ext cx="2231136" cy="512064"/>
          </a:xfrm>
          <a:prstGeom prst="rect">
            <a:avLst/>
          </a:prstGeom>
          <a:noFill/>
        </p:spPr>
        <p:txBody>
          <a:bodyPr wrap="square" anchor="ctr" lIns="45720" rIns="45720">
            <a:spAutoFit/>
          </a:bodyPr>
          <a:lstStyle/>
          <a:p>
            <a:pPr algn="ctr">
              <a:spcAft>
                <a:spcPts val="800"/>
              </a:spcAft>
            </a:pPr>
            <a:r>
              <a:rPr sz="2000">
                <a:solidFill>
                  <a:srgbClr val="1E293B"/>
                </a:solidFill>
                <a:latin typeface="Calibri"/>
              </a:rPr>
              <a:t>5,0%</a:t>
            </a:r>
          </a:p>
        </p:txBody>
      </p:sp>
      <p:sp>
        <p:nvSpPr>
          <p:cNvPr id="47" name="s1_nen"/>
          <p:cNvSpPr/>
          <p:nvPr/>
        </p:nvSpPr>
        <p:spPr>
          <a:xfrm>
            <a:off x="822960" y="4983480"/>
            <a:ext cx="1051560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1_chu"/>
          <p:cNvSpPr txBox="1"/>
          <p:nvPr/>
        </p:nvSpPr>
        <p:spPr>
          <a:xfrm>
            <a:off x="987552" y="5020056"/>
            <a:ext cx="1018641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Sai lệch nhỏ hơn 10% nên đạt Tiêu chí 2; nguyên nhân chủ yếu do nếp gấp làm hụt kích thước đáy và gạo không lấp kín hết các khe.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THANG ĐÁNH GIÁ SẢN PHẨM HỘP (10 ĐIỂM)</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44</a:t>
            </a:r>
          </a:p>
        </p:txBody>
      </p:sp>
      <p:sp>
        <p:nvSpPr>
          <p:cNvPr id="7" name="Rounded Rectangle 6"/>
          <p:cNvSpPr/>
          <p:nvPr/>
        </p:nvSpPr>
        <p:spPr>
          <a:xfrm>
            <a:off x="548640" y="1417320"/>
            <a:ext cx="3291840" cy="694944"/>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53896"/>
            <a:ext cx="2962656" cy="621792"/>
          </a:xfrm>
          <a:prstGeom prst="rect">
            <a:avLst/>
          </a:prstGeom>
          <a:noFill/>
        </p:spPr>
        <p:txBody>
          <a:bodyPr wrap="square" anchor="ctr" lIns="45720" rIns="45720">
            <a:spAutoFit/>
          </a:bodyPr>
          <a:lstStyle/>
          <a:p>
            <a:pPr algn="l">
              <a:spcAft>
                <a:spcPts val="800"/>
              </a:spcAft>
            </a:pPr>
            <a:r>
              <a:rPr sz="1900" b="1">
                <a:solidFill>
                  <a:srgbClr val="1E293B"/>
                </a:solidFill>
                <a:latin typeface="Calibri"/>
              </a:rPr>
              <a:t>Tiêu chí</a:t>
            </a:r>
          </a:p>
        </p:txBody>
      </p:sp>
      <p:sp>
        <p:nvSpPr>
          <p:cNvPr id="9" name="Rounded Rectangle 8"/>
          <p:cNvSpPr/>
          <p:nvPr/>
        </p:nvSpPr>
        <p:spPr>
          <a:xfrm>
            <a:off x="3977639" y="1417320"/>
            <a:ext cx="6492240" cy="694944"/>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42231" y="1453896"/>
            <a:ext cx="6163055" cy="621792"/>
          </a:xfrm>
          <a:prstGeom prst="rect">
            <a:avLst/>
          </a:prstGeom>
          <a:noFill/>
        </p:spPr>
        <p:txBody>
          <a:bodyPr wrap="square" anchor="ctr" lIns="45720" rIns="45720">
            <a:spAutoFit/>
          </a:bodyPr>
          <a:lstStyle/>
          <a:p>
            <a:pPr algn="l">
              <a:spcAft>
                <a:spcPts val="800"/>
              </a:spcAft>
            </a:pPr>
            <a:r>
              <a:rPr sz="1900" b="1">
                <a:solidFill>
                  <a:srgbClr val="1E293B"/>
                </a:solidFill>
                <a:latin typeface="Calibri"/>
              </a:rPr>
              <a:t>Mức tốt</a:t>
            </a:r>
          </a:p>
        </p:txBody>
      </p:sp>
      <p:sp>
        <p:nvSpPr>
          <p:cNvPr id="11" name="Rounded Rectangle 10"/>
          <p:cNvSpPr/>
          <p:nvPr/>
        </p:nvSpPr>
        <p:spPr>
          <a:xfrm>
            <a:off x="10607040" y="1417320"/>
            <a:ext cx="1005840" cy="694944"/>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71632" y="1453896"/>
            <a:ext cx="676656" cy="621792"/>
          </a:xfrm>
          <a:prstGeom prst="rect">
            <a:avLst/>
          </a:prstGeom>
          <a:noFill/>
        </p:spPr>
        <p:txBody>
          <a:bodyPr wrap="square" anchor="ctr" lIns="45720" rIns="45720">
            <a:spAutoFit/>
          </a:bodyPr>
          <a:lstStyle/>
          <a:p>
            <a:pPr algn="ctr">
              <a:spcAft>
                <a:spcPts val="800"/>
              </a:spcAft>
            </a:pPr>
            <a:r>
              <a:rPr sz="1900" b="1">
                <a:solidFill>
                  <a:srgbClr val="1E293B"/>
                </a:solidFill>
                <a:latin typeface="Calibri"/>
              </a:rPr>
              <a:t>Điểm</a:t>
            </a:r>
          </a:p>
        </p:txBody>
      </p:sp>
      <p:sp>
        <p:nvSpPr>
          <p:cNvPr id="13" name="Rounded Rectangle 12"/>
          <p:cNvSpPr/>
          <p:nvPr/>
        </p:nvSpPr>
        <p:spPr>
          <a:xfrm>
            <a:off x="548640" y="2194560"/>
            <a:ext cx="3291840" cy="694944"/>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231136"/>
            <a:ext cx="2962656" cy="621792"/>
          </a:xfrm>
          <a:prstGeom prst="rect">
            <a:avLst/>
          </a:prstGeom>
          <a:noFill/>
        </p:spPr>
        <p:txBody>
          <a:bodyPr wrap="square" anchor="ctr" lIns="45720" rIns="45720">
            <a:spAutoFit/>
          </a:bodyPr>
          <a:lstStyle/>
          <a:p>
            <a:pPr algn="l">
              <a:spcAft>
                <a:spcPts val="800"/>
              </a:spcAft>
            </a:pPr>
            <a:r>
              <a:rPr sz="1900">
                <a:solidFill>
                  <a:srgbClr val="1E293B"/>
                </a:solidFill>
                <a:latin typeface="Calibri"/>
              </a:rPr>
              <a:t>1. Mô hình toán học</a:t>
            </a:r>
          </a:p>
        </p:txBody>
      </p:sp>
      <p:sp>
        <p:nvSpPr>
          <p:cNvPr id="15" name="Rounded Rectangle 14"/>
          <p:cNvSpPr/>
          <p:nvPr/>
        </p:nvSpPr>
        <p:spPr>
          <a:xfrm>
            <a:off x="3977639" y="2194560"/>
            <a:ext cx="6492240" cy="694944"/>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6" name="TextBox 15"/>
              <p:cNvSpPr txBox="1"/>
              <p:nvPr/>
            </p:nvSpPr>
            <p:spPr>
              <a:xfrm>
                <a:off x="4142231" y="2231136"/>
                <a:ext cx="6163055" cy="621792"/>
              </a:xfrm>
              <a:prstGeom prst="rect">
                <a:avLst/>
              </a:prstGeom>
              <a:noFill/>
            </p:spPr>
            <p:txBody>
              <a:bodyPr wrap="square" anchor="ctr" lIns="45720" rIns="45720">
                <a:spAutoFit/>
              </a:bodyPr>
              <a:lstStyle/>
              <a:p>
                <a:pPr algn="l">
                  <a:spcAft>
                    <a:spcPts val="800"/>
                  </a:spcAft>
                </a:pPr>
                <a:r>
                  <a:rPr sz="1900">
                    <a:solidFill>
                      <a:srgbClr val="1E293B"/>
                    </a:solidFill>
                    <a:latin typeface="Calibri"/>
                  </a:rPr>
                  <a:t>Lập đúng </a:t>
                </a:r>
                <a14:m>
                  <m:oMath xmlns:m="http://schemas.openxmlformats.org/officeDocument/2006/math">
                    <m:r>
                      <a:rPr lang="vi-VN" sz="1900" b="0">
                        <a:solidFill>
                          <a:srgbClr val="1E293B"/>
                        </a:solidFill>
                        <a:latin typeface="Cambria Math" panose="02040503050406030204" pitchFamily="18" charset="0"/>
                      </a:rPr>
                      <m:t>V(x)</m:t>
                    </m:r>
                  </m:oMath>
                </a14:m>
                <a:r>
                  <a:rPr sz="1900">
                    <a:solidFill>
                      <a:srgbClr val="1E293B"/>
                    </a:solidFill>
                    <a:latin typeface="Calibri"/>
                  </a:rPr>
                  <a:t>, tập xác định, bảng biến thiên; chọn đúng </a:t>
                </a:r>
                <a14:m>
                  <m:oMath xmlns:m="http://schemas.openxmlformats.org/officeDocument/2006/math">
                    <m:r>
                      <a:rPr lang="vi-VN" sz="1900" b="0">
                        <a:solidFill>
                          <a:srgbClr val="1E293B"/>
                        </a:solidFill>
                        <a:latin typeface="Cambria Math" panose="02040503050406030204" pitchFamily="18" charset="0"/>
                      </a:rPr>
                      <m:t>x</m:t>
                    </m:r>
                  </m:oMath>
                </a14:m>
                <a:r>
                  <a:rPr sz="1900">
                    <a:solidFill>
                      <a:srgbClr val="1E293B"/>
                    </a:solidFill>
                    <a:latin typeface="Calibri"/>
                  </a:rPr>
                  <a:t> tối ưu</a:t>
                </a:r>
              </a:p>
            </p:txBody>
          </p:sp>
        </mc:Choice>
        <mc:Fallback>
          <p:sp>
            <p:nvSpPr>
              <p:cNvPr id="16" name="TextBox 15"/>
              <p:cNvSpPr txBox="1"/>
              <p:nvPr/>
            </p:nvSpPr>
            <p:spPr>
              <a:xfrm>
                <a:off x="4142231" y="2231136"/>
                <a:ext cx="6163055" cy="621792"/>
              </a:xfrm>
              <a:prstGeom prst="rect">
                <a:avLst/>
              </a:prstGeom>
              <a:noFill/>
            </p:spPr>
            <p:txBody>
              <a:bodyPr wrap="square" anchor="ctr" lIns="45720" rIns="45720">
                <a:spAutoFit/>
              </a:bodyPr>
              <a:lstStyle/>
              <a:p>
                <a:pPr algn="l">
                  <a:spcAft>
                    <a:spcPts val="800"/>
                  </a:spcAft>
                </a:pPr>
                <a:r>
                  <a:rPr sz="1900">
                    <a:solidFill>
                      <a:srgbClr val="1E293B"/>
                    </a:solidFill>
                    <a:latin typeface="Calibri"/>
                  </a:rPr>
                  <a:t>Lập đúng </a:t>
                </a:r>
                <a:r>
                  <a:rPr lang="vi-VN"/>
                  <a:t>V(x)</a:t>
                </a:r>
                <a:r>
                  <a:rPr sz="1900">
                    <a:solidFill>
                      <a:srgbClr val="1E293B"/>
                    </a:solidFill>
                    <a:latin typeface="Calibri"/>
                  </a:rPr>
                  <a:t>, tập xác định, bảng biến thiên; chọn đúng </a:t>
                </a:r>
                <a:r>
                  <a:rPr lang="vi-VN"/>
                  <a:t>x</a:t>
                </a:r>
                <a:r>
                  <a:rPr sz="1900">
                    <a:solidFill>
                      <a:srgbClr val="1E293B"/>
                    </a:solidFill>
                    <a:latin typeface="Calibri"/>
                  </a:rPr>
                  <a:t> tối ưu</a:t>
                </a:r>
              </a:p>
            </p:txBody>
          </p:sp>
        </mc:Fallback>
      </mc:AlternateContent>
      <p:sp>
        <p:nvSpPr>
          <p:cNvPr id="17" name="Rounded Rectangle 16"/>
          <p:cNvSpPr/>
          <p:nvPr/>
        </p:nvSpPr>
        <p:spPr>
          <a:xfrm>
            <a:off x="10607040" y="2194560"/>
            <a:ext cx="1005840" cy="694944"/>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71632" y="2231136"/>
            <a:ext cx="676656" cy="621792"/>
          </a:xfrm>
          <a:prstGeom prst="rect">
            <a:avLst/>
          </a:prstGeom>
          <a:noFill/>
        </p:spPr>
        <p:txBody>
          <a:bodyPr wrap="square" anchor="ctr" lIns="45720" rIns="45720">
            <a:spAutoFit/>
          </a:bodyPr>
          <a:lstStyle/>
          <a:p>
            <a:pPr algn="ctr">
              <a:spcAft>
                <a:spcPts val="800"/>
              </a:spcAft>
            </a:pPr>
            <a:r>
              <a:rPr sz="1900">
                <a:solidFill>
                  <a:srgbClr val="1E293B"/>
                </a:solidFill>
                <a:latin typeface="Calibri"/>
              </a:rPr>
              <a:t>3</a:t>
            </a:r>
          </a:p>
        </p:txBody>
      </p:sp>
      <p:sp>
        <p:nvSpPr>
          <p:cNvPr id="19" name="Rounded Rectangle 18"/>
          <p:cNvSpPr/>
          <p:nvPr/>
        </p:nvSpPr>
        <p:spPr>
          <a:xfrm>
            <a:off x="548640" y="2971800"/>
            <a:ext cx="3291840" cy="694944"/>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3008376"/>
            <a:ext cx="2962656" cy="621792"/>
          </a:xfrm>
          <a:prstGeom prst="rect">
            <a:avLst/>
          </a:prstGeom>
          <a:noFill/>
        </p:spPr>
        <p:txBody>
          <a:bodyPr wrap="square" anchor="ctr" lIns="45720" rIns="45720">
            <a:spAutoFit/>
          </a:bodyPr>
          <a:lstStyle/>
          <a:p>
            <a:pPr algn="l">
              <a:spcAft>
                <a:spcPts val="800"/>
              </a:spcAft>
            </a:pPr>
            <a:r>
              <a:rPr sz="1900">
                <a:solidFill>
                  <a:srgbClr val="1E293B"/>
                </a:solidFill>
                <a:latin typeface="Calibri"/>
              </a:rPr>
              <a:t>2. Thể tích thực tế</a:t>
            </a:r>
          </a:p>
        </p:txBody>
      </p:sp>
      <p:sp>
        <p:nvSpPr>
          <p:cNvPr id="21" name="Rounded Rectangle 20"/>
          <p:cNvSpPr/>
          <p:nvPr/>
        </p:nvSpPr>
        <p:spPr>
          <a:xfrm>
            <a:off x="3977639" y="2971800"/>
            <a:ext cx="6492240" cy="694944"/>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42231" y="3008376"/>
            <a:ext cx="6163055" cy="621792"/>
          </a:xfrm>
          <a:prstGeom prst="rect">
            <a:avLst/>
          </a:prstGeom>
          <a:noFill/>
        </p:spPr>
        <p:txBody>
          <a:bodyPr wrap="square" anchor="ctr" lIns="45720" rIns="45720">
            <a:spAutoFit/>
          </a:bodyPr>
          <a:lstStyle/>
          <a:p>
            <a:pPr algn="l">
              <a:spcAft>
                <a:spcPts val="800"/>
              </a:spcAft>
            </a:pPr>
            <a:r>
              <a:rPr sz="1900">
                <a:solidFill>
                  <a:srgbClr val="1E293B"/>
                </a:solidFill>
                <a:latin typeface="Calibri"/>
              </a:rPr>
              <a:t>Sai lệch ≤ 10% so với thiết kế</a:t>
            </a:r>
          </a:p>
        </p:txBody>
      </p:sp>
      <p:sp>
        <p:nvSpPr>
          <p:cNvPr id="23" name="Rounded Rectangle 22"/>
          <p:cNvSpPr/>
          <p:nvPr/>
        </p:nvSpPr>
        <p:spPr>
          <a:xfrm>
            <a:off x="10607040" y="2971800"/>
            <a:ext cx="1005840" cy="694944"/>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771632" y="3008376"/>
            <a:ext cx="676656" cy="621792"/>
          </a:xfrm>
          <a:prstGeom prst="rect">
            <a:avLst/>
          </a:prstGeom>
          <a:noFill/>
        </p:spPr>
        <p:txBody>
          <a:bodyPr wrap="square" anchor="ctr" lIns="45720" rIns="45720">
            <a:spAutoFit/>
          </a:bodyPr>
          <a:lstStyle/>
          <a:p>
            <a:pPr algn="ctr">
              <a:spcAft>
                <a:spcPts val="800"/>
              </a:spcAft>
            </a:pPr>
            <a:r>
              <a:rPr sz="1900">
                <a:solidFill>
                  <a:srgbClr val="1E293B"/>
                </a:solidFill>
                <a:latin typeface="Calibri"/>
              </a:rPr>
              <a:t>2</a:t>
            </a:r>
          </a:p>
        </p:txBody>
      </p:sp>
      <p:sp>
        <p:nvSpPr>
          <p:cNvPr id="25" name="Rounded Rectangle 24"/>
          <p:cNvSpPr/>
          <p:nvPr/>
        </p:nvSpPr>
        <p:spPr>
          <a:xfrm>
            <a:off x="548640" y="3749039"/>
            <a:ext cx="3291840" cy="694944"/>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3232" y="3785615"/>
            <a:ext cx="2962656" cy="621792"/>
          </a:xfrm>
          <a:prstGeom prst="rect">
            <a:avLst/>
          </a:prstGeom>
          <a:noFill/>
        </p:spPr>
        <p:txBody>
          <a:bodyPr wrap="square" anchor="ctr" lIns="45720" rIns="45720">
            <a:spAutoFit/>
          </a:bodyPr>
          <a:lstStyle/>
          <a:p>
            <a:pPr algn="l">
              <a:spcAft>
                <a:spcPts val="800"/>
              </a:spcAft>
            </a:pPr>
            <a:r>
              <a:rPr sz="1900">
                <a:solidFill>
                  <a:srgbClr val="1E293B"/>
                </a:solidFill>
                <a:latin typeface="Calibri"/>
              </a:rPr>
              <a:t>3. Độ bền, đúng ràng buộc</a:t>
            </a:r>
          </a:p>
        </p:txBody>
      </p:sp>
      <p:sp>
        <p:nvSpPr>
          <p:cNvPr id="27" name="Rounded Rectangle 26"/>
          <p:cNvSpPr/>
          <p:nvPr/>
        </p:nvSpPr>
        <p:spPr>
          <a:xfrm>
            <a:off x="3977639" y="3749039"/>
            <a:ext cx="6492240" cy="694944"/>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42231" y="3785615"/>
            <a:ext cx="6163055" cy="621792"/>
          </a:xfrm>
          <a:prstGeom prst="rect">
            <a:avLst/>
          </a:prstGeom>
          <a:noFill/>
        </p:spPr>
        <p:txBody>
          <a:bodyPr wrap="square" anchor="ctr" lIns="45720" rIns="45720">
            <a:spAutoFit/>
          </a:bodyPr>
          <a:lstStyle/>
          <a:p>
            <a:pPr algn="l">
              <a:spcAft>
                <a:spcPts val="800"/>
              </a:spcAft>
            </a:pPr>
            <a:r>
              <a:rPr sz="1900">
                <a:solidFill>
                  <a:srgbClr val="1E293B"/>
                </a:solidFill>
                <a:latin typeface="Calibri"/>
              </a:rPr>
              <a:t>Một tấm A4, đứng vững, không biến dạng khi đầy</a:t>
            </a:r>
          </a:p>
        </p:txBody>
      </p:sp>
      <p:sp>
        <p:nvSpPr>
          <p:cNvPr id="29" name="Rounded Rectangle 28"/>
          <p:cNvSpPr/>
          <p:nvPr/>
        </p:nvSpPr>
        <p:spPr>
          <a:xfrm>
            <a:off x="10607040" y="3749039"/>
            <a:ext cx="1005840" cy="694944"/>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771632" y="3785615"/>
            <a:ext cx="676656" cy="621792"/>
          </a:xfrm>
          <a:prstGeom prst="rect">
            <a:avLst/>
          </a:prstGeom>
          <a:noFill/>
        </p:spPr>
        <p:txBody>
          <a:bodyPr wrap="square" anchor="ctr" lIns="45720" rIns="45720">
            <a:spAutoFit/>
          </a:bodyPr>
          <a:lstStyle/>
          <a:p>
            <a:pPr algn="ctr">
              <a:spcAft>
                <a:spcPts val="800"/>
              </a:spcAft>
            </a:pPr>
            <a:r>
              <a:rPr sz="1900">
                <a:solidFill>
                  <a:srgbClr val="1E293B"/>
                </a:solidFill>
                <a:latin typeface="Calibri"/>
              </a:rPr>
              <a:t>2</a:t>
            </a:r>
          </a:p>
        </p:txBody>
      </p:sp>
      <p:sp>
        <p:nvSpPr>
          <p:cNvPr id="31" name="Rounded Rectangle 30"/>
          <p:cNvSpPr/>
          <p:nvPr/>
        </p:nvSpPr>
        <p:spPr>
          <a:xfrm>
            <a:off x="548640" y="4526280"/>
            <a:ext cx="3291840" cy="694944"/>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4562856"/>
            <a:ext cx="2962656" cy="621792"/>
          </a:xfrm>
          <a:prstGeom prst="rect">
            <a:avLst/>
          </a:prstGeom>
          <a:noFill/>
        </p:spPr>
        <p:txBody>
          <a:bodyPr wrap="square" anchor="ctr" lIns="45720" rIns="45720">
            <a:spAutoFit/>
          </a:bodyPr>
          <a:lstStyle/>
          <a:p>
            <a:pPr algn="l">
              <a:spcAft>
                <a:spcPts val="800"/>
              </a:spcAft>
            </a:pPr>
            <a:r>
              <a:rPr sz="1900">
                <a:solidFill>
                  <a:srgbClr val="1E293B"/>
                </a:solidFill>
                <a:latin typeface="Calibri"/>
              </a:rPr>
              <a:t>4. Thẩm mĩ, nhãn</a:t>
            </a:r>
          </a:p>
        </p:txBody>
      </p:sp>
      <p:sp>
        <p:nvSpPr>
          <p:cNvPr id="33" name="Rounded Rectangle 32"/>
          <p:cNvSpPr/>
          <p:nvPr/>
        </p:nvSpPr>
        <p:spPr>
          <a:xfrm>
            <a:off x="3977639" y="4526280"/>
            <a:ext cx="6492240" cy="694944"/>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42231" y="4562856"/>
            <a:ext cx="6163055" cy="621792"/>
          </a:xfrm>
          <a:prstGeom prst="rect">
            <a:avLst/>
          </a:prstGeom>
          <a:noFill/>
        </p:spPr>
        <p:txBody>
          <a:bodyPr wrap="square" anchor="ctr" lIns="45720" rIns="45720">
            <a:spAutoFit/>
          </a:bodyPr>
          <a:lstStyle/>
          <a:p>
            <a:pPr algn="l">
              <a:spcAft>
                <a:spcPts val="800"/>
              </a:spcAft>
            </a:pPr>
            <a:r>
              <a:rPr sz="1900">
                <a:solidFill>
                  <a:srgbClr val="1E293B"/>
                </a:solidFill>
                <a:latin typeface="Calibri"/>
              </a:rPr>
              <a:t>Nhãn đẹp, đủ kích thước, thể tích</a:t>
            </a:r>
          </a:p>
        </p:txBody>
      </p:sp>
      <p:sp>
        <p:nvSpPr>
          <p:cNvPr id="35" name="Rounded Rectangle 34"/>
          <p:cNvSpPr/>
          <p:nvPr/>
        </p:nvSpPr>
        <p:spPr>
          <a:xfrm>
            <a:off x="10607040" y="4526280"/>
            <a:ext cx="1005840" cy="694944"/>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771632" y="4562856"/>
            <a:ext cx="676656" cy="621792"/>
          </a:xfrm>
          <a:prstGeom prst="rect">
            <a:avLst/>
          </a:prstGeom>
          <a:noFill/>
        </p:spPr>
        <p:txBody>
          <a:bodyPr wrap="square" anchor="ctr" lIns="45720" rIns="45720">
            <a:spAutoFit/>
          </a:bodyPr>
          <a:lstStyle/>
          <a:p>
            <a:pPr algn="ctr">
              <a:spcAft>
                <a:spcPts val="800"/>
              </a:spcAft>
            </a:pPr>
            <a:r>
              <a:rPr sz="1900">
                <a:solidFill>
                  <a:srgbClr val="1E293B"/>
                </a:solidFill>
                <a:latin typeface="Calibri"/>
              </a:rPr>
              <a:t>1</a:t>
            </a:r>
          </a:p>
        </p:txBody>
      </p:sp>
      <p:sp>
        <p:nvSpPr>
          <p:cNvPr id="37" name="Rounded Rectangle 36"/>
          <p:cNvSpPr/>
          <p:nvPr/>
        </p:nvSpPr>
        <p:spPr>
          <a:xfrm>
            <a:off x="548640" y="5303520"/>
            <a:ext cx="3291840" cy="694944"/>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13232" y="5340096"/>
            <a:ext cx="2962656" cy="621792"/>
          </a:xfrm>
          <a:prstGeom prst="rect">
            <a:avLst/>
          </a:prstGeom>
          <a:noFill/>
        </p:spPr>
        <p:txBody>
          <a:bodyPr wrap="square" anchor="ctr" lIns="45720" rIns="45720">
            <a:spAutoFit/>
          </a:bodyPr>
          <a:lstStyle/>
          <a:p>
            <a:pPr algn="l">
              <a:spcAft>
                <a:spcPts val="800"/>
              </a:spcAft>
            </a:pPr>
            <a:r>
              <a:rPr sz="1900">
                <a:solidFill>
                  <a:srgbClr val="1E293B"/>
                </a:solidFill>
                <a:latin typeface="Calibri"/>
              </a:rPr>
              <a:t>5. Thuyết trình, công nghệ số, AI</a:t>
            </a:r>
          </a:p>
        </p:txBody>
      </p:sp>
      <p:sp>
        <p:nvSpPr>
          <p:cNvPr id="39" name="Rounded Rectangle 38"/>
          <p:cNvSpPr/>
          <p:nvPr/>
        </p:nvSpPr>
        <p:spPr>
          <a:xfrm>
            <a:off x="3977639" y="5303520"/>
            <a:ext cx="6492240" cy="694944"/>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42231" y="5340096"/>
            <a:ext cx="6163055" cy="621792"/>
          </a:xfrm>
          <a:prstGeom prst="rect">
            <a:avLst/>
          </a:prstGeom>
          <a:noFill/>
        </p:spPr>
        <p:txBody>
          <a:bodyPr wrap="square" anchor="ctr" lIns="45720" rIns="45720">
            <a:spAutoFit/>
          </a:bodyPr>
          <a:lstStyle/>
          <a:p>
            <a:pPr algn="l">
              <a:spcAft>
                <a:spcPts val="800"/>
              </a:spcAft>
            </a:pPr>
            <a:r>
              <a:rPr sz="1900">
                <a:solidFill>
                  <a:srgbClr val="1E293B"/>
                </a:solidFill>
                <a:latin typeface="Calibri"/>
              </a:rPr>
              <a:t>Slide rõ, có đồ thị GeoGebra/bảng tính; Nhật ký AI đầy đủ</a:t>
            </a:r>
          </a:p>
        </p:txBody>
      </p:sp>
      <p:sp>
        <p:nvSpPr>
          <p:cNvPr id="41" name="Rounded Rectangle 40"/>
          <p:cNvSpPr/>
          <p:nvPr/>
        </p:nvSpPr>
        <p:spPr>
          <a:xfrm>
            <a:off x="10607040" y="5303520"/>
            <a:ext cx="1005840" cy="694944"/>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771632" y="5340096"/>
            <a:ext cx="676656" cy="621792"/>
          </a:xfrm>
          <a:prstGeom prst="rect">
            <a:avLst/>
          </a:prstGeom>
          <a:noFill/>
        </p:spPr>
        <p:txBody>
          <a:bodyPr wrap="square" anchor="ctr" lIns="45720" rIns="45720">
            <a:spAutoFit/>
          </a:bodyPr>
          <a:lstStyle/>
          <a:p>
            <a:pPr algn="ctr">
              <a:spcAft>
                <a:spcPts val="800"/>
              </a:spcAft>
            </a:pPr>
            <a:r>
              <a:rPr sz="1900">
                <a:solidFill>
                  <a:srgbClr val="1E293B"/>
                </a:solidFill>
                <a:latin typeface="Calibri"/>
              </a:rPr>
              <a:t>2</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LUYỆN TẬP MỞ RỘNG (KHBD STEM)</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45</a:t>
            </a:r>
          </a:p>
        </p:txBody>
      </p:sp>
      <p:sp>
        <p:nvSpPr>
          <p:cNvPr id="7" name="TextBox 6"/>
          <p:cNvSpPr txBox="1"/>
          <p:nvPr/>
        </p:nvSpPr>
        <p:spPr>
          <a:xfrm>
            <a:off x="548640" y="1371600"/>
            <a:ext cx="1106424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Bài 1.</a:t>
            </a:r>
            <a:r>
              <a:rPr sz="2100">
                <a:solidFill>
                  <a:srgbClr val="1E293B"/>
                </a:solidFill>
                <a:latin typeface="Calibri"/>
              </a:rPr>
              <a:t> Một hộp có nắp dạng hình hộp chữ nhật đáy vuông được làm từ 600 cm² bìa. Tìm kích thước của hộp để thể tích lớn nhất.</a:t>
            </a:r>
          </a:p>
        </p:txBody>
      </p:sp>
      <p:sp>
        <p:nvSpPr>
          <p:cNvPr id="8" name="s1_nen"/>
          <p:cNvSpPr/>
          <p:nvPr/>
        </p:nvSpPr>
        <p:spPr>
          <a:xfrm>
            <a:off x="548640" y="2249424"/>
            <a:ext cx="11064240" cy="133731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286000"/>
                <a:ext cx="10735056" cy="1264158"/>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2</m:t>
                    </m:r>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+4xh=600⇒h=</m:t>
                    </m:r>
                    <m:f>
                      <m:fPr>
                        <m:type m:val="bar"/>
                      </m:fPr>
                      <m:num>
                        <m:r>
                          <a:rPr lang="vi-VN" sz="2100" b="0">
                            <a:solidFill>
                              <a:srgbClr val="1E293B"/>
                            </a:solidFill>
                            <a:latin typeface="Cambria Math" panose="02040503050406030204" pitchFamily="18" charset="0"/>
                          </a:rPr>
                          <m:t>300−</m:t>
                        </m:r>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2</m:t>
                            </m:r>
                          </m:sup>
                        </m:sSup>
                      </m:num>
                      <m:den>
                        <m:r>
                          <a:rPr lang="vi-VN" sz="2100" b="0">
                            <a:solidFill>
                              <a:srgbClr val="1E293B"/>
                            </a:solidFill>
                            <a:latin typeface="Cambria Math" panose="02040503050406030204" pitchFamily="18" charset="0"/>
                          </a:rPr>
                          <m:t>2x</m:t>
                        </m:r>
                      </m:den>
                    </m:f>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V=</m:t>
                    </m:r>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h=</m:t>
                    </m:r>
                    <m:f>
                      <m:fPr>
                        <m:type m:val="bar"/>
                      </m:fPr>
                      <m:num>
                        <m:r>
                          <a:rPr lang="vi-VN" sz="2100" b="0">
                            <a:solidFill>
                              <a:srgbClr val="1E293B"/>
                            </a:solidFill>
                            <a:latin typeface="Cambria Math" panose="02040503050406030204" pitchFamily="18" charset="0"/>
                          </a:rPr>
                          <m:t>300x−</m:t>
                        </m:r>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3</m:t>
                            </m:r>
                          </m:sup>
                        </m:sSup>
                      </m:num>
                      <m:den>
                        <m:r>
                          <a:rPr lang="vi-VN" sz="2100" b="0">
                            <a:solidFill>
                              <a:srgbClr val="1E293B"/>
                            </a:solidFill>
                            <a:latin typeface="Cambria Math" panose="02040503050406030204" pitchFamily="18" charset="0"/>
                          </a:rPr>
                          <m:t>2</m:t>
                        </m:r>
                      </m:den>
                    </m:f>
                  </m:oMath>
                </a14:m>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V</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f>
                      <m:fPr>
                        <m:type m:val="bar"/>
                      </m:fPr>
                      <m:num>
                        <m:r>
                          <a:rPr lang="vi-VN" sz="2100" b="0">
                            <a:solidFill>
                              <a:srgbClr val="1E293B"/>
                            </a:solidFill>
                            <a:latin typeface="Cambria Math" panose="02040503050406030204" pitchFamily="18" charset="0"/>
                          </a:rPr>
                          <m:t>300−3</m:t>
                        </m:r>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2</m:t>
                            </m:r>
                          </m:sup>
                        </m:sSup>
                      </m:num>
                      <m:den>
                        <m:r>
                          <a:rPr lang="vi-VN" sz="2100" b="0">
                            <a:solidFill>
                              <a:srgbClr val="1E293B"/>
                            </a:solidFill>
                            <a:latin typeface="Cambria Math" panose="02040503050406030204" pitchFamily="18" charset="0"/>
                          </a:rPr>
                          <m:t>2</m:t>
                        </m:r>
                      </m:den>
                    </m:f>
                    <m:r>
                      <a:rPr lang="vi-VN" sz="2100" b="0">
                        <a:solidFill>
                          <a:srgbClr val="1E293B"/>
                        </a:solidFill>
                        <a:latin typeface="Cambria Math" panose="02040503050406030204" pitchFamily="18" charset="0"/>
                      </a:rPr>
                      <m:t>=0⇔x=10</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h=10</m:t>
                    </m:r>
                  </m:oMath>
                </a14:m>
                <a:r>
                  <a:rPr sz="2100">
                    <a:solidFill>
                      <a:srgbClr val="1E293B"/>
                    </a:solidFill>
                    <a:latin typeface="Calibri"/>
                  </a:rPr>
                  <a:t>: hình lập phương cạnh 10 cm, </a:t>
                </a:r>
                <a14:m>
                  <m:oMath xmlns:m="http://schemas.openxmlformats.org/officeDocument/2006/math">
                    <m:sSub>
                      <m:e>
                        <m:r>
                          <a:rPr lang="vi-VN" sz="2100" b="0">
                            <a:solidFill>
                              <a:srgbClr val="1E293B"/>
                            </a:solidFill>
                            <a:latin typeface="Cambria Math" panose="02040503050406030204" pitchFamily="18" charset="0"/>
                          </a:rPr>
                          <m:t>V</m:t>
                        </m:r>
                      </m:e>
                      <m:sub>
                        <m:r>
                          <a:rPr lang="vi-VN" sz="2100" b="0">
                            <a:solidFill>
                              <a:srgbClr val="1E293B"/>
                            </a:solidFill>
                            <a:latin typeface="Cambria Math" panose="02040503050406030204" pitchFamily="18" charset="0"/>
                          </a:rPr>
                          <m:t>max</m:t>
                        </m:r>
                      </m:sub>
                    </m:sSub>
                    <m:r>
                      <a:rPr lang="vi-VN" sz="2100" b="0">
                        <a:solidFill>
                          <a:srgbClr val="1E293B"/>
                        </a:solidFill>
                        <a:latin typeface="Cambria Math" panose="02040503050406030204" pitchFamily="18" charset="0"/>
                      </a:rPr>
                      <m:t>=1</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000</m:t>
                    </m:r>
                  </m:oMath>
                </a14:m>
                <a:r>
                  <a:rPr sz="2100">
                    <a:solidFill>
                      <a:srgbClr val="1E293B"/>
                    </a:solidFill>
                    <a:latin typeface="Calibri"/>
                  </a:rPr>
                  <a:t> cm³.</a:t>
                </a:r>
              </a:p>
            </p:txBody>
          </p:sp>
        </mc:Choice>
        <mc:Fallback>
          <p:sp>
            <p:nvSpPr>
              <p:cNvPr id="9" name="TextBox 8"/>
              <p:cNvSpPr txBox="1"/>
              <p:nvPr/>
            </p:nvSpPr>
            <p:spPr>
              <a:xfrm>
                <a:off x="713232" y="2286000"/>
                <a:ext cx="10735056" cy="1264158"/>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2x^2+4xh=600\Rightarrow h=\frac{300-x^2}{2x}</a:t>
                </a:r>
                <a:r>
                  <a:rPr sz="2100">
                    <a:solidFill>
                      <a:srgbClr val="1E293B"/>
                    </a:solidFill>
                    <a:latin typeface="Calibri"/>
                  </a:rPr>
                  <a:t>; </a:t>
                </a:r>
                <a:r>
                  <a:rPr lang="vi-VN"/>
                  <a:t>V=x^2h=\frac{300x-x^3}{2}</a:t>
                </a:r>
                <a:r>
                  <a:rPr sz="2100">
                    <a:solidFill>
                      <a:srgbClr val="1E293B"/>
                    </a:solidFill>
                    <a:latin typeface="Calibri"/>
                  </a:rPr>
                  <a:t>, </a:t>
                </a:r>
                <a:r>
                  <a:rPr lang="vi-VN"/>
                  <a:t>V'=\frac{300-3x^2}{2}=0\Leftrightarrow x=10</a:t>
                </a:r>
                <a:r>
                  <a:rPr sz="2100">
                    <a:solidFill>
                      <a:srgbClr val="1E293B"/>
                    </a:solidFill>
                    <a:latin typeface="Calibri"/>
                  </a:rPr>
                  <a:t>; </a:t>
                </a:r>
                <a:r>
                  <a:rPr lang="vi-VN"/>
                  <a:t>h=10</a:t>
                </a:r>
                <a:r>
                  <a:rPr sz="2100">
                    <a:solidFill>
                      <a:srgbClr val="1E293B"/>
                    </a:solidFill>
                    <a:latin typeface="Calibri"/>
                  </a:rPr>
                  <a:t>: hình lập phương cạnh 10 cm, </a:t>
                </a:r>
                <a:r>
                  <a:rPr lang="vi-VN"/>
                  <a:t>V_{\max}=1\ 000</a:t>
                </a:r>
                <a:r>
                  <a:rPr sz="2100">
                    <a:solidFill>
                      <a:srgbClr val="1E293B"/>
                    </a:solidFill>
                    <a:latin typeface="Calibri"/>
                  </a:rPr>
                  <a:t> cm³.</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3650742"/>
                <a:ext cx="1106424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Bài 2.</a:t>
                </a:r>
                <a:r>
                  <a:rPr sz="2100">
                    <a:solidFill>
                      <a:srgbClr val="1E293B"/>
                    </a:solidFill>
                    <a:latin typeface="Calibri"/>
                  </a:rPr>
                  <a:t> Một lon hình trụ có nắp được làm từ </a:t>
                </a:r>
                <a14:m>
                  <m:oMath xmlns:m="http://schemas.openxmlformats.org/officeDocument/2006/math">
                    <m:r>
                      <a:rPr lang="vi-VN" sz="2100" b="0">
                        <a:solidFill>
                          <a:srgbClr val="1E293B"/>
                        </a:solidFill>
                        <a:latin typeface="Cambria Math" panose="02040503050406030204" pitchFamily="18" charset="0"/>
                      </a:rPr>
                      <m:t>54π</m:t>
                    </m:r>
                  </m:oMath>
                </a14:m>
                <a:r>
                  <a:rPr sz="2100">
                    <a:solidFill>
                      <a:srgbClr val="1E293B"/>
                    </a:solidFill>
                    <a:latin typeface="Calibri"/>
                  </a:rPr>
                  <a:t> cm² vật liệu. Tìm bán kính đáy và chiều cao để lon có thể tích lớn nhất.</a:t>
                </a:r>
              </a:p>
            </p:txBody>
          </p:sp>
        </mc:Choice>
        <mc:Fallback>
          <p:sp>
            <p:nvSpPr>
              <p:cNvPr id="10" name="TextBox 9"/>
              <p:cNvSpPr txBox="1"/>
              <p:nvPr/>
            </p:nvSpPr>
            <p:spPr>
              <a:xfrm>
                <a:off x="548640" y="3650742"/>
                <a:ext cx="1106424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Bài 2.</a:t>
                </a:r>
                <a:r>
                  <a:rPr sz="2100">
                    <a:solidFill>
                      <a:srgbClr val="1E293B"/>
                    </a:solidFill>
                    <a:latin typeface="Calibri"/>
                  </a:rPr>
                  <a:t> Một lon hình trụ có nắp được làm từ </a:t>
                </a:r>
                <a:r>
                  <a:rPr lang="vi-VN"/>
                  <a:t>54\pi</a:t>
                </a:r>
                <a:r>
                  <a:rPr sz="2100">
                    <a:solidFill>
                      <a:srgbClr val="1E293B"/>
                    </a:solidFill>
                    <a:latin typeface="Calibri"/>
                  </a:rPr>
                  <a:t> cm² vật liệu. Tìm bán kính đáy và chiều cao để lon có thể tích lớn nhất.</a:t>
                </a:r>
              </a:p>
            </p:txBody>
          </p:sp>
        </mc:Fallback>
      </mc:AlternateContent>
      <p:sp>
        <p:nvSpPr>
          <p:cNvPr id="11" name="s3_nen"/>
          <p:cNvSpPr/>
          <p:nvPr/>
        </p:nvSpPr>
        <p:spPr>
          <a:xfrm>
            <a:off x="548640" y="4528566"/>
            <a:ext cx="11064240" cy="1049274"/>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4565142"/>
                <a:ext cx="10735056" cy="976122"/>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2π</m:t>
                    </m:r>
                    <m:sSup>
                      <m:e>
                        <m:r>
                          <a:rPr lang="vi-VN" sz="2100" b="0">
                            <a:solidFill>
                              <a:srgbClr val="1E293B"/>
                            </a:solidFill>
                            <a:latin typeface="Cambria Math" panose="02040503050406030204" pitchFamily="18" charset="0"/>
                          </a:rPr>
                          <m:t>r</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+2πrh=54π⇒h=</m:t>
                    </m:r>
                    <m:f>
                      <m:fPr>
                        <m:type m:val="bar"/>
                      </m:fPr>
                      <m:num>
                        <m:r>
                          <a:rPr lang="vi-VN" sz="2100" b="0">
                            <a:solidFill>
                              <a:srgbClr val="1E293B"/>
                            </a:solidFill>
                            <a:latin typeface="Cambria Math" panose="02040503050406030204" pitchFamily="18" charset="0"/>
                          </a:rPr>
                          <m:t>27−</m:t>
                        </m:r>
                        <m:sSup>
                          <m:e>
                            <m:r>
                              <a:rPr lang="vi-VN" sz="2100" b="0">
                                <a:solidFill>
                                  <a:srgbClr val="1E293B"/>
                                </a:solidFill>
                                <a:latin typeface="Cambria Math" panose="02040503050406030204" pitchFamily="18" charset="0"/>
                              </a:rPr>
                              <m:t>r</m:t>
                            </m:r>
                          </m:e>
                          <m:sup>
                            <m:r>
                              <a:rPr lang="vi-VN" sz="2100" b="0">
                                <a:solidFill>
                                  <a:srgbClr val="1E293B"/>
                                </a:solidFill>
                                <a:latin typeface="Cambria Math" panose="02040503050406030204" pitchFamily="18" charset="0"/>
                              </a:rPr>
                              <m:t>2</m:t>
                            </m:r>
                          </m:sup>
                        </m:sSup>
                      </m:num>
                      <m:den>
                        <m:r>
                          <a:rPr lang="vi-VN" sz="2100" b="0">
                            <a:solidFill>
                              <a:srgbClr val="1E293B"/>
                            </a:solidFill>
                            <a:latin typeface="Cambria Math" panose="02040503050406030204" pitchFamily="18" charset="0"/>
                          </a:rPr>
                          <m:t>r</m:t>
                        </m:r>
                      </m:den>
                    </m:f>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V=π(27r−</m:t>
                    </m:r>
                    <m:sSup>
                      <m:e>
                        <m:r>
                          <a:rPr lang="vi-VN" sz="2100" b="0">
                            <a:solidFill>
                              <a:srgbClr val="1E293B"/>
                            </a:solidFill>
                            <a:latin typeface="Cambria Math" panose="02040503050406030204" pitchFamily="18" charset="0"/>
                          </a:rPr>
                          <m:t>r</m:t>
                        </m:r>
                      </m:e>
                      <m:sup>
                        <m:r>
                          <a:rPr lang="vi-VN" sz="2100" b="0">
                            <a:solidFill>
                              <a:srgbClr val="1E293B"/>
                            </a:solidFill>
                            <a:latin typeface="Cambria Math" panose="02040503050406030204" pitchFamily="18" charset="0"/>
                          </a:rPr>
                          <m:t>3</m:t>
                        </m:r>
                      </m:sup>
                    </m:sSup>
                    <m:r>
                      <a:rPr lang="vi-VN" sz="2100" b="0">
                        <a:solidFill>
                          <a:srgbClr val="1E293B"/>
                        </a:solidFill>
                        <a:latin typeface="Cambria Math" panose="02040503050406030204" pitchFamily="18" charset="0"/>
                      </a:rPr>
                      <m:t>)</m:t>
                    </m:r>
                  </m:oMath>
                </a14:m>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V</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=0⇔r=3</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h=6=2r</m:t>
                    </m:r>
                  </m:oMath>
                </a14:m>
                <a:r>
                  <a:rPr sz="2100">
                    <a:solidFill>
                      <a:srgbClr val="1E293B"/>
                    </a:solidFill>
                    <a:latin typeface="Calibri"/>
                  </a:rPr>
                  <a:t> (chiều cao bằng đường kính đáy); </a:t>
                </a:r>
                <a14:m>
                  <m:oMath xmlns:m="http://schemas.openxmlformats.org/officeDocument/2006/math">
                    <m:sSub>
                      <m:e>
                        <m:r>
                          <a:rPr lang="vi-VN" sz="2100" b="0">
                            <a:solidFill>
                              <a:srgbClr val="1E293B"/>
                            </a:solidFill>
                            <a:latin typeface="Cambria Math" panose="02040503050406030204" pitchFamily="18" charset="0"/>
                          </a:rPr>
                          <m:t>V</m:t>
                        </m:r>
                      </m:e>
                      <m:sub>
                        <m:r>
                          <a:rPr lang="vi-VN" sz="2100" b="0">
                            <a:solidFill>
                              <a:srgbClr val="1E293B"/>
                            </a:solidFill>
                            <a:latin typeface="Cambria Math" panose="02040503050406030204" pitchFamily="18" charset="0"/>
                          </a:rPr>
                          <m:t>max</m:t>
                        </m:r>
                      </m:sub>
                    </m:sSub>
                    <m:r>
                      <a:rPr lang="vi-VN" sz="2100" b="0">
                        <a:solidFill>
                          <a:srgbClr val="1E293B"/>
                        </a:solidFill>
                        <a:latin typeface="Cambria Math" panose="02040503050406030204" pitchFamily="18" charset="0"/>
                      </a:rPr>
                      <m:t>=54π</m:t>
                    </m:r>
                  </m:oMath>
                </a14:m>
                <a:r>
                  <a:rPr sz="2100">
                    <a:solidFill>
                      <a:srgbClr val="1E293B"/>
                    </a:solidFill>
                    <a:latin typeface="Calibri"/>
                  </a:rPr>
                  <a:t> cm³.</a:t>
                </a:r>
              </a:p>
            </p:txBody>
          </p:sp>
        </mc:Choice>
        <mc:Fallback>
          <p:sp>
            <p:nvSpPr>
              <p:cNvPr id="12" name="TextBox 11"/>
              <p:cNvSpPr txBox="1"/>
              <p:nvPr/>
            </p:nvSpPr>
            <p:spPr>
              <a:xfrm>
                <a:off x="713232" y="4565142"/>
                <a:ext cx="10735056" cy="976122"/>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2\pi r^2+2\pi rh=54\pi\Rightarrow h=\frac{27-r^2}{r}</a:t>
                </a:r>
                <a:r>
                  <a:rPr sz="2100">
                    <a:solidFill>
                      <a:srgbClr val="1E293B"/>
                    </a:solidFill>
                    <a:latin typeface="Calibri"/>
                  </a:rPr>
                  <a:t>; </a:t>
                </a:r>
                <a:r>
                  <a:rPr lang="vi-VN"/>
                  <a:t>V=\pi(27r-r^3)</a:t>
                </a:r>
                <a:r>
                  <a:rPr sz="2100">
                    <a:solidFill>
                      <a:srgbClr val="1E293B"/>
                    </a:solidFill>
                    <a:latin typeface="Calibri"/>
                  </a:rPr>
                  <a:t>, </a:t>
                </a:r>
                <a:r>
                  <a:rPr lang="vi-VN"/>
                  <a:t>V'=0\Leftrightarrow r=3</a:t>
                </a:r>
                <a:r>
                  <a:rPr sz="2100">
                    <a:solidFill>
                      <a:srgbClr val="1E293B"/>
                    </a:solidFill>
                    <a:latin typeface="Calibri"/>
                  </a:rPr>
                  <a:t>; </a:t>
                </a:r>
                <a:r>
                  <a:rPr lang="vi-VN"/>
                  <a:t>h=6=2r</a:t>
                </a:r>
                <a:r>
                  <a:rPr sz="2100">
                    <a:solidFill>
                      <a:srgbClr val="1E293B"/>
                    </a:solidFill>
                    <a:latin typeface="Calibri"/>
                  </a:rPr>
                  <a:t> (chiều cao bằng đường kính đáy); </a:t>
                </a:r>
                <a:r>
                  <a:rPr lang="vi-VN"/>
                  <a:t>V_{\max}=54\pi</a:t>
                </a:r>
                <a:r>
                  <a:rPr sz="2100">
                    <a:solidFill>
                      <a:srgbClr val="1E293B"/>
                    </a:solidFill>
                    <a:latin typeface="Calibri"/>
                  </a:rPr>
                  <a:t> cm³.</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TỔNG KẾT CHỦ ĐỀ STEM</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46</a:t>
            </a:r>
          </a:p>
        </p:txBody>
      </p:sp>
      <p:sp>
        <p:nvSpPr>
          <p:cNvPr id="7" name="Rounded Rectangle 6"/>
          <p:cNvSpPr/>
          <p:nvPr/>
        </p:nvSpPr>
        <p:spPr>
          <a:xfrm>
            <a:off x="548640" y="1463040"/>
            <a:ext cx="11064240" cy="1857756"/>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99616"/>
                <a:ext cx="10735056" cy="1784604"/>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Bài toán tối ưu thể tích: lập hàm </a:t>
                </a:r>
                <a14:m>
                  <m:oMath xmlns:m="http://schemas.openxmlformats.org/officeDocument/2006/math">
                    <m:r>
                      <a:rPr lang="vi-VN" sz="2200" b="0">
                        <a:solidFill>
                          <a:srgbClr val="1E293B"/>
                        </a:solidFill>
                        <a:latin typeface="Cambria Math" panose="02040503050406030204" pitchFamily="18" charset="0"/>
                      </a:rPr>
                      <m:t>V(x)</m:t>
                    </m:r>
                  </m:oMath>
                </a14:m>
                <a:r>
                  <a:rPr sz="2200">
                    <a:solidFill>
                      <a:srgbClr val="1E293B"/>
                    </a:solidFill>
                    <a:latin typeface="Calibri"/>
                  </a:rPr>
                  <a:t> → tập xác định → đạo hàm, bảng biến thiên → kết luận và đối chiếu thực tế.</a:t>
                </a:r>
              </a:p>
              <a:p>
                <a:pPr algn="l" marL="365760" indent="-365760">
                  <a:spcAft>
                    <a:spcPts val="800"/>
                  </a:spcAft>
                  <a:buClr>
                    <a:srgbClr val="1E40AF"/>
                  </a:buClr>
                  <a:buFont typeface="Arial"/>
                  <a:buChar char="•"/>
                </a:pPr>
                <a:r>
                  <a:rPr sz="2200">
                    <a:solidFill>
                      <a:srgbClr val="1E293B"/>
                    </a:solidFill>
                    <a:latin typeface="Calibri"/>
                  </a:rPr>
                  <a:t>Tấm bìa vuông cạnh </a:t>
                </a:r>
                <a14:m>
                  <m:oMath xmlns:m="http://schemas.openxmlformats.org/officeDocument/2006/math">
                    <m:r>
                      <a:rPr lang="vi-VN" sz="2200" b="0">
                        <a:solidFill>
                          <a:srgbClr val="1E293B"/>
                        </a:solidFill>
                        <a:latin typeface="Cambria Math" panose="02040503050406030204" pitchFamily="18" charset="0"/>
                      </a:rPr>
                      <m:t>a</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x=</m:t>
                    </m:r>
                    <m:f>
                      <m:fPr>
                        <m:type m:val="bar"/>
                      </m:fPr>
                      <m:num>
                        <m:r>
                          <a:rPr lang="vi-VN" sz="2200" b="0">
                            <a:solidFill>
                              <a:srgbClr val="1E293B"/>
                            </a:solidFill>
                            <a:latin typeface="Cambria Math" panose="02040503050406030204" pitchFamily="18" charset="0"/>
                          </a:rPr>
                          <m:t>a</m:t>
                        </m:r>
                      </m:num>
                      <m:den>
                        <m:r>
                          <a:rPr lang="vi-VN" sz="2200" b="0">
                            <a:solidFill>
                              <a:srgbClr val="1E293B"/>
                            </a:solidFill>
                            <a:latin typeface="Cambria Math" panose="02040503050406030204" pitchFamily="18" charset="0"/>
                          </a:rPr>
                          <m:t>6</m:t>
                        </m:r>
                      </m:den>
                    </m:f>
                  </m:oMath>
                </a14:m>
                <a:r>
                  <a:rPr sz="2200">
                    <a:solidFill>
                      <a:srgbClr val="1E293B"/>
                    </a:solidFill>
                    <a:latin typeface="Calibri"/>
                  </a:rPr>
                  <a:t>; tấm chữ nhật phải giải </a:t>
                </a:r>
                <a14:m>
                  <m:oMath xmlns:m="http://schemas.openxmlformats.org/officeDocument/2006/math">
                    <m:sSup>
                      <m:e>
                        <m:r>
                          <a:rPr lang="vi-VN" sz="2200" b="0">
                            <a:solidFill>
                              <a:srgbClr val="1E293B"/>
                            </a:solidFill>
                            <a:latin typeface="Cambria Math" panose="02040503050406030204" pitchFamily="18" charset="0"/>
                          </a:rPr>
                          <m:t>V</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(x)=0</m:t>
                    </m:r>
                  </m:oMath>
                </a14:m>
                <a:r>
                  <a:rPr sz="2200">
                    <a:solidFill>
                      <a:srgbClr val="1E293B"/>
                    </a:solidFill>
                    <a:latin typeface="Calibri"/>
                  </a:rPr>
                  <a:t>. Hộp có nắp đáy vuông tối ưu là hình lập phương; lon trụ tối ưu khi </a:t>
                </a:r>
                <a14:m>
                  <m:oMath xmlns:m="http://schemas.openxmlformats.org/officeDocument/2006/math">
                    <m:r>
                      <a:rPr lang="vi-VN" sz="2200" b="0">
                        <a:solidFill>
                          <a:srgbClr val="1E293B"/>
                        </a:solidFill>
                        <a:latin typeface="Cambria Math" panose="02040503050406030204" pitchFamily="18" charset="0"/>
                      </a:rPr>
                      <m:t>h=2r</m:t>
                    </m:r>
                  </m:oMath>
                </a14:m>
                <a:r>
                  <a:rPr sz="2200">
                    <a:solidFill>
                      <a:srgbClr val="1E293B"/>
                    </a:solidFill>
                    <a:latin typeface="Calibri"/>
                  </a:rPr>
                  <a:t>.</a:t>
                </a:r>
              </a:p>
            </p:txBody>
          </p:sp>
        </mc:Choice>
        <mc:Fallback>
          <p:sp>
            <p:nvSpPr>
              <p:cNvPr id="8" name="TextBox 7"/>
              <p:cNvSpPr txBox="1"/>
              <p:nvPr/>
            </p:nvSpPr>
            <p:spPr>
              <a:xfrm>
                <a:off x="713232" y="1499616"/>
                <a:ext cx="10735056" cy="1784604"/>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Bài toán tối ưu thể tích: lập hàm </a:t>
                </a:r>
                <a:r>
                  <a:rPr lang="vi-VN"/>
                  <a:t>V(x)</a:t>
                </a:r>
                <a:r>
                  <a:rPr sz="2200">
                    <a:solidFill>
                      <a:srgbClr val="1E293B"/>
                    </a:solidFill>
                    <a:latin typeface="Calibri"/>
                  </a:rPr>
                  <a:t> → tập xác định → đạo hàm, bảng biến thiên → kết luận và đối chiếu thực tế.</a:t>
                </a:r>
              </a:p>
              <a:p>
                <a:pPr algn="l" marL="365760" indent="-365760">
                  <a:spcAft>
                    <a:spcPts val="800"/>
                  </a:spcAft>
                  <a:buClr>
                    <a:srgbClr val="1E40AF"/>
                  </a:buClr>
                  <a:buFont typeface="Arial"/>
                  <a:buChar char="•"/>
                </a:pPr>
                <a:r>
                  <a:rPr sz="2200">
                    <a:solidFill>
                      <a:srgbClr val="1E293B"/>
                    </a:solidFill>
                    <a:latin typeface="Calibri"/>
                  </a:rPr>
                  <a:t>Tấm bìa vuông cạnh </a:t>
                </a:r>
                <a:r>
                  <a:rPr lang="vi-VN"/>
                  <a:t>a</a:t>
                </a:r>
                <a:r>
                  <a:rPr sz="2200">
                    <a:solidFill>
                      <a:srgbClr val="1E293B"/>
                    </a:solidFill>
                    <a:latin typeface="Calibri"/>
                  </a:rPr>
                  <a:t>: </a:t>
                </a:r>
                <a:r>
                  <a:rPr lang="vi-VN"/>
                  <a:t>x=\frac{a}{6}</a:t>
                </a:r>
                <a:r>
                  <a:rPr sz="2200">
                    <a:solidFill>
                      <a:srgbClr val="1E293B"/>
                    </a:solidFill>
                    <a:latin typeface="Calibri"/>
                  </a:rPr>
                  <a:t>; tấm chữ nhật phải giải </a:t>
                </a:r>
                <a:r>
                  <a:rPr lang="vi-VN"/>
                  <a:t>V'(x)=0</a:t>
                </a:r>
                <a:r>
                  <a:rPr sz="2200">
                    <a:solidFill>
                      <a:srgbClr val="1E293B"/>
                    </a:solidFill>
                    <a:latin typeface="Calibri"/>
                  </a:rPr>
                  <a:t>. Hộp có nắp đáy vuông tối ưu là hình lập phương; lon trụ tối ưu khi </a:t>
                </a:r>
                <a:r>
                  <a:rPr lang="vi-VN"/>
                  <a:t>h=2r</a:t>
                </a:r>
                <a:r>
                  <a:rPr sz="2200">
                    <a:solidFill>
                      <a:srgbClr val="1E293B"/>
                    </a:solidFill>
                    <a:latin typeface="Calibri"/>
                  </a:rPr>
                  <a:t>.</a:t>
                </a:r>
              </a:p>
            </p:txBody>
          </p:sp>
        </mc:Fallback>
      </mc:AlternateContent>
      <p:sp>
        <p:nvSpPr>
          <p:cNvPr id="9" name="Rounded Rectangle 8"/>
          <p:cNvSpPr/>
          <p:nvPr/>
        </p:nvSpPr>
        <p:spPr>
          <a:xfrm>
            <a:off x="548640" y="3549396"/>
            <a:ext cx="11064240" cy="1807464"/>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3585972"/>
            <a:ext cx="10735056" cy="1734312"/>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Hoàn thiện sản phẩm theo góp ý; nộp slide, Nhật ký AI.</a:t>
            </a:r>
          </a:p>
          <a:p>
            <a:pPr algn="l" marL="365760" indent="-365760">
              <a:spcAft>
                <a:spcPts val="800"/>
              </a:spcAft>
              <a:buClr>
                <a:srgbClr val="1E40AF"/>
              </a:buClr>
              <a:buFont typeface="Arial"/>
              <a:buChar char="•"/>
            </a:pPr>
            <a:r>
              <a:rPr sz="2200">
                <a:solidFill>
                  <a:srgbClr val="1E293B"/>
                </a:solidFill>
                <a:latin typeface="Calibri"/>
              </a:rPr>
              <a:t>Ôn tập Chương I, làm trước Bài 1.30 – 1.39 (</a:t>
            </a:r>
            <a:r>
              <a:rPr sz="2200" b="1">
                <a:solidFill>
                  <a:srgbClr val="1E293B"/>
                </a:solidFill>
                <a:latin typeface="Calibri"/>
              </a:rPr>
              <a:t>Bài tập cuối chương I</a:t>
            </a:r>
            <a:r>
              <a:rPr sz="2200">
                <a:solidFill>
                  <a:srgbClr val="1E293B"/>
                </a:solidFill>
                <a:latin typeface="Calibri"/>
              </a:rPr>
              <a:t>, SGK tr.42 – 43).</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CỦNG CỐ TRỰC TUYẾN – NHIỆM VỤ VỀ NHÀ</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47</a:t>
            </a:r>
          </a:p>
        </p:txBody>
      </p:sp>
      <p:sp>
        <p:nvSpPr>
          <p:cNvPr id="7" name="TextBox 6"/>
          <p:cNvSpPr txBox="1"/>
          <p:nvPr/>
        </p:nvSpPr>
        <p:spPr>
          <a:xfrm>
            <a:off x="548640" y="1417320"/>
            <a:ext cx="7589520" cy="475488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Bài củng cố trực tuyến</a:t>
            </a:r>
            <a:r>
              <a:rPr sz="2200">
                <a:solidFill>
                  <a:srgbClr val="1E293B"/>
                </a:solidFill>
                <a:latin typeface="Calibri"/>
              </a:rPr>
              <a:t> – quét mã QR hoặc mở đường link:</a:t>
            </a:r>
          </a:p>
          <a:p>
            <a:pPr algn="l">
              <a:spcAft>
                <a:spcPts val="800"/>
              </a:spcAft>
            </a:pPr>
            <a:r>
              <a:rPr sz="2000">
                <a:solidFill>
                  <a:srgbClr val="64748B"/>
                </a:solidFill>
                <a:latin typeface="Calibri"/>
              </a:rPr>
              <a:t>https://trangtu66.github.io/Taode_thi_online/cc_stem_hop_t12.html</a:t>
            </a:r>
          </a:p>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Làm bài củng cố STEM (7 câu).</a:t>
            </a:r>
          </a:p>
          <a:p>
            <a:pPr algn="l" marL="365760" indent="-365760">
              <a:spcAft>
                <a:spcPts val="800"/>
              </a:spcAft>
              <a:buClr>
                <a:srgbClr val="1E40AF"/>
              </a:buClr>
              <a:buFont typeface="Arial"/>
              <a:buChar char="•"/>
            </a:pPr>
            <a:r>
              <a:rPr sz="2200">
                <a:solidFill>
                  <a:srgbClr val="1E293B"/>
                </a:solidFill>
                <a:latin typeface="Calibri"/>
              </a:rPr>
              <a:t>Hoàn thiện Phiếu tự đánh giá, Phiếu đánh giá đồng đẳng.</a:t>
            </a:r>
          </a:p>
        </p:txBody>
      </p:sp>
      <p:pic>
        <p:nvPicPr>
          <p:cNvPr id="8" name="Picture 7" descr="QR_CungCo_STEM_Hop_Toan12.png"/>
          <p:cNvPicPr>
            <a:picLocks noChangeAspect="1"/>
          </p:cNvPicPr>
          <p:nvPr/>
        </p:nvPicPr>
        <p:blipFill>
          <a:blip r:embed="rId3"/>
          <a:stretch>
            <a:fillRect/>
          </a:stretch>
        </p:blipFill>
        <p:spPr>
          <a:xfrm>
            <a:off x="8412480" y="1554480"/>
            <a:ext cx="3291840" cy="3291840"/>
          </a:xfrm>
          <a:prstGeom prst="rect">
            <a:avLst/>
          </a:prstGeom>
        </p:spPr>
      </p:pic>
      <p:sp>
        <p:nvSpPr>
          <p:cNvPr id="9" name="Rounded Rectangle 8">
            <a:hlinkClick r:id="rId4"/>
          </p:cNvPr>
          <p:cNvSpPr/>
          <p:nvPr/>
        </p:nvSpPr>
        <p:spPr>
          <a:xfrm>
            <a:off x="8412480" y="5029200"/>
            <a:ext cx="3291840" cy="59436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MỞ BÀI CỦNG CỐ</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SƠ ĐỒ TƯ DUY – CHỦ ĐỀ STEM</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48</a:t>
            </a:r>
          </a:p>
        </p:txBody>
      </p:sp>
      <p:pic>
        <p:nvPicPr>
          <p:cNvPr id="7" name="Picture 6" descr="mindmap.png"/>
          <p:cNvPicPr>
            <a:picLocks noChangeAspect="1"/>
          </p:cNvPicPr>
          <p:nvPr/>
        </p:nvPicPr>
        <p:blipFill>
          <a:blip r:embed="rId3"/>
          <a:stretch>
            <a:fillRect/>
          </a:stretch>
        </p:blipFill>
        <p:spPr>
          <a:xfrm>
            <a:off x="1765397" y="1371600"/>
            <a:ext cx="8630725" cy="484632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106863" y="457200"/>
            <a:ext cx="1536192"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DÀNH CHO GV</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PHỤ LỤC 1 – SAI LẦM THƯỜNG GẶP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49</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100">
                    <a:solidFill>
                      <a:srgbClr val="1E293B"/>
                    </a:solidFill>
                    <a:latin typeface="Calibri"/>
                  </a:rPr>
                  <a:t>Lập hàm số sai đơn vị (nghìn đồng – triệu đồng, lít – cm³); quên điều kiện của biến.</a:t>
                </a:r>
              </a:p>
              <a:p>
                <a:pPr algn="l" marL="365760" indent="-365760">
                  <a:spcAft>
                    <a:spcPts val="800"/>
                  </a:spcAft>
                  <a:buClr>
                    <a:srgbClr val="1E40AF"/>
                  </a:buClr>
                  <a:buFont typeface="Arial"/>
                  <a:buChar char="•"/>
                </a:pPr>
                <a:r>
                  <a:rPr sz="2100">
                    <a:solidFill>
                      <a:srgbClr val="1E293B"/>
                    </a:solidFill>
                    <a:latin typeface="Calibri"/>
                  </a:rPr>
                  <a:t>Nhầm vận tốc với quãng đường; quãng đường khi vật đổi chiều phải cộng từng đoạn (Bài 1.26c).</a:t>
                </a:r>
              </a:p>
              <a:p>
                <a:pPr algn="l" marL="365760" indent="-365760">
                  <a:spcAft>
                    <a:spcPts val="800"/>
                  </a:spcAft>
                  <a:buClr>
                    <a:srgbClr val="1E40AF"/>
                  </a:buClr>
                  <a:buFont typeface="Arial"/>
                  <a:buChar char="•"/>
                </a:pPr>
                <a:r>
                  <a:rPr sz="2100">
                    <a:solidFill>
                      <a:srgbClr val="1E293B"/>
                    </a:solidFill>
                    <a:latin typeface="Calibri"/>
                  </a:rPr>
                  <a:t>Nhầm chi phí biên </a:t>
                </a:r>
                <a14:m>
                  <m:oMath xmlns:m="http://schemas.openxmlformats.org/officeDocument/2006/math">
                    <m:sSup>
                      <m:e>
                        <m:r>
                          <a:rPr lang="vi-VN" sz="2100" b="0">
                            <a:solidFill>
                              <a:srgbClr val="1E293B"/>
                            </a:solidFill>
                            <a:latin typeface="Cambria Math" panose="02040503050406030204" pitchFamily="18" charset="0"/>
                          </a:rPr>
                          <m:t>C</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(x)</m:t>
                    </m:r>
                  </m:oMath>
                </a14:m>
                <a:r>
                  <a:rPr sz="2100">
                    <a:solidFill>
                      <a:srgbClr val="1E293B"/>
                    </a:solidFill>
                    <a:latin typeface="Calibri"/>
                  </a:rPr>
                  <a:t> với chi phí </a:t>
                </a:r>
                <a14:m>
                  <m:oMath xmlns:m="http://schemas.openxmlformats.org/officeDocument/2006/math">
                    <m:r>
                      <a:rPr lang="vi-VN" sz="2100" b="0">
                        <a:solidFill>
                          <a:srgbClr val="1E293B"/>
                        </a:solidFill>
                        <a:latin typeface="Cambria Math" panose="02040503050406030204" pitchFamily="18" charset="0"/>
                      </a:rPr>
                      <m:t>C(x)</m:t>
                    </m:r>
                  </m:oMath>
                </a14:m>
                <a:r>
                  <a:rPr sz="2100">
                    <a:solidFill>
                      <a:srgbClr val="1E293B"/>
                    </a:solidFill>
                    <a:latin typeface="Calibri"/>
                  </a:rPr>
                  <a:t>; nhầm doanh thu với lợi nhuận.</a:t>
                </a:r>
              </a:p>
              <a:p>
                <a:pPr algn="l" marL="365760" indent="-365760">
                  <a:spcAft>
                    <a:spcPts val="800"/>
                  </a:spcAft>
                  <a:buClr>
                    <a:srgbClr val="1E40AF"/>
                  </a:buClr>
                  <a:buFont typeface="Arial"/>
                  <a:buChar char="•"/>
                </a:pPr>
                <a:r>
                  <a:rPr sz="2100">
                    <a:solidFill>
                      <a:srgbClr val="1E293B"/>
                    </a:solidFill>
                    <a:latin typeface="Calibri"/>
                  </a:rPr>
                  <a:t>Chỉ giải </a:t>
                </a:r>
                <a14:m>
                  <m:oMath xmlns:m="http://schemas.openxmlformats.org/officeDocument/2006/math">
                    <m:sSup>
                      <m:e>
                        <m:r>
                          <a:rPr lang="vi-VN" sz="2100" b="0">
                            <a:solidFill>
                              <a:srgbClr val="1E293B"/>
                            </a:solidFill>
                            <a:latin typeface="Cambria Math" panose="02040503050406030204" pitchFamily="18" charset="0"/>
                          </a:rPr>
                          <m:t>Q</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=0</m:t>
                    </m:r>
                  </m:oMath>
                </a14:m>
                <a:r>
                  <a:rPr sz="2100">
                    <a:solidFill>
                      <a:srgbClr val="1E293B"/>
                    </a:solidFill>
                    <a:latin typeface="Calibri"/>
                  </a:rPr>
                  <a:t> mà không so sánh giá trị tại đầu mút (Luyện tập 2).</a:t>
                </a:r>
              </a:p>
            </p:txBody>
          </p:sp>
        </mc:Choice>
        <mc:Fallback>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100">
                    <a:solidFill>
                      <a:srgbClr val="1E293B"/>
                    </a:solidFill>
                    <a:latin typeface="Calibri"/>
                  </a:rPr>
                  <a:t>Lập hàm số sai đơn vị (nghìn đồng – triệu đồng, lít – cm³); quên điều kiện của biến.</a:t>
                </a:r>
              </a:p>
              <a:p>
                <a:pPr algn="l" marL="365760" indent="-365760">
                  <a:spcAft>
                    <a:spcPts val="800"/>
                  </a:spcAft>
                  <a:buClr>
                    <a:srgbClr val="1E40AF"/>
                  </a:buClr>
                  <a:buFont typeface="Arial"/>
                  <a:buChar char="•"/>
                </a:pPr>
                <a:r>
                  <a:rPr sz="2100">
                    <a:solidFill>
                      <a:srgbClr val="1E293B"/>
                    </a:solidFill>
                    <a:latin typeface="Calibri"/>
                  </a:rPr>
                  <a:t>Nhầm vận tốc với quãng đường; quãng đường khi vật đổi chiều phải cộng từng đoạn (Bài 1.26c).</a:t>
                </a:r>
              </a:p>
              <a:p>
                <a:pPr algn="l" marL="365760" indent="-365760">
                  <a:spcAft>
                    <a:spcPts val="800"/>
                  </a:spcAft>
                  <a:buClr>
                    <a:srgbClr val="1E40AF"/>
                  </a:buClr>
                  <a:buFont typeface="Arial"/>
                  <a:buChar char="•"/>
                </a:pPr>
                <a:r>
                  <a:rPr sz="2100">
                    <a:solidFill>
                      <a:srgbClr val="1E293B"/>
                    </a:solidFill>
                    <a:latin typeface="Calibri"/>
                  </a:rPr>
                  <a:t>Nhầm chi phí biên </a:t>
                </a:r>
                <a:r>
                  <a:rPr lang="vi-VN"/>
                  <a:t>C'(x)</a:t>
                </a:r>
                <a:r>
                  <a:rPr sz="2100">
                    <a:solidFill>
                      <a:srgbClr val="1E293B"/>
                    </a:solidFill>
                    <a:latin typeface="Calibri"/>
                  </a:rPr>
                  <a:t> với chi phí </a:t>
                </a:r>
                <a:r>
                  <a:rPr lang="vi-VN"/>
                  <a:t>C(x)</a:t>
                </a:r>
                <a:r>
                  <a:rPr sz="2100">
                    <a:solidFill>
                      <a:srgbClr val="1E293B"/>
                    </a:solidFill>
                    <a:latin typeface="Calibri"/>
                  </a:rPr>
                  <a:t>; nhầm doanh thu với lợi nhuận.</a:t>
                </a:r>
              </a:p>
              <a:p>
                <a:pPr algn="l" marL="365760" indent="-365760">
                  <a:spcAft>
                    <a:spcPts val="800"/>
                  </a:spcAft>
                  <a:buClr>
                    <a:srgbClr val="1E40AF"/>
                  </a:buClr>
                  <a:buFont typeface="Arial"/>
                  <a:buChar char="•"/>
                </a:pPr>
                <a:r>
                  <a:rPr sz="2100">
                    <a:solidFill>
                      <a:srgbClr val="1E293B"/>
                    </a:solidFill>
                    <a:latin typeface="Calibri"/>
                  </a:rPr>
                  <a:t>Chỉ giải </a:t>
                </a:r>
                <a:r>
                  <a:rPr lang="vi-VN"/>
                  <a:t>Q'=0</a:t>
                </a:r>
                <a:r>
                  <a:rPr sz="2100">
                    <a:solidFill>
                      <a:srgbClr val="1E293B"/>
                    </a:solidFill>
                    <a:latin typeface="Calibri"/>
                  </a:rPr>
                  <a:t> mà không so sánh giá trị tại đầu mút (Luyện tập 2).</a:t>
                </a:r>
              </a:p>
            </p:txBody>
          </p:sp>
        </mc:Fallback>
      </mc:AlternateContent>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106863" y="457200"/>
            <a:ext cx="1536192"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DÀNH CHO GV</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PHỤ LỤC 2 – PHÂN HOÁ, DỰ PHÒNG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5. Ứng dụng đạo hàm để giải quyết một số vấn đề liên quan đến thực tiễn – Toán 12          50</a:t>
            </a:r>
          </a:p>
        </p:txBody>
      </p:sp>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b="1">
                <a:solidFill>
                  <a:srgbClr val="1E293B"/>
                </a:solidFill>
                <a:latin typeface="Calibri"/>
              </a:rPr>
              <a:t>HS cần hỗ trợ:</a:t>
            </a:r>
            <a:r>
              <a:rPr sz="2000">
                <a:solidFill>
                  <a:srgbClr val="1E293B"/>
                </a:solidFill>
                <a:latin typeface="Calibri"/>
              </a:rPr>
              <a:t> Ví dụ 1, Luyện tập 1, Ví dụ 6 theo 3 bước in sẵn.</a:t>
            </a:r>
          </a:p>
          <a:p>
            <a:pPr algn="l" marL="365760" indent="-365760">
              <a:spcAft>
                <a:spcPts val="800"/>
              </a:spcAft>
              <a:buClr>
                <a:srgbClr val="1E40AF"/>
              </a:buClr>
              <a:buFont typeface="Arial"/>
              <a:buChar char="•"/>
            </a:pPr>
            <a:r>
              <a:rPr sz="2000" b="1">
                <a:solidFill>
                  <a:srgbClr val="1E293B"/>
                </a:solidFill>
                <a:latin typeface="Calibri"/>
              </a:rPr>
              <a:t>HS khá, giỏi:</a:t>
            </a:r>
            <a:r>
              <a:rPr sz="2000">
                <a:solidFill>
                  <a:srgbClr val="1E293B"/>
                </a:solidFill>
                <a:latin typeface="Calibri"/>
              </a:rPr>
              <a:t> Luyện tập 2, Vận dụng, Bài 1.28, 1.29; tự đặt bài toán tối ưu gắn với vườn cà phê, hồ tiêu.</a:t>
            </a:r>
          </a:p>
          <a:p>
            <a:pPr algn="l" marL="365760" indent="-365760">
              <a:spcAft>
                <a:spcPts val="800"/>
              </a:spcAft>
              <a:buClr>
                <a:srgbClr val="1E40AF"/>
              </a:buClr>
              <a:buFont typeface="Arial"/>
              <a:buChar char="•"/>
            </a:pPr>
            <a:r>
              <a:rPr sz="2000" b="1">
                <a:solidFill>
                  <a:srgbClr val="1E293B"/>
                </a:solidFill>
                <a:latin typeface="Calibri"/>
              </a:rPr>
              <a:t>12A2, 12A7 (khiếm thị):</a:t>
            </a:r>
            <a:r>
              <a:rPr sz="2000">
                <a:solidFill>
                  <a:srgbClr val="1E293B"/>
                </a:solidFill>
                <a:latin typeface="Calibri"/>
              </a:rPr>
              <a:t> GV đọc to đề, số liệu; </a:t>
            </a:r>
            <a:r>
              <a:rPr sz="2000" b="1">
                <a:solidFill>
                  <a:srgbClr val="1E293B"/>
                </a:solidFill>
                <a:latin typeface="Calibri"/>
              </a:rPr>
              <a:t>12A3, 12A5, 12A7 (vận động):</a:t>
            </a:r>
            <a:r>
              <a:rPr sz="2000">
                <a:solidFill>
                  <a:srgbClr val="1E293B"/>
                </a:solidFill>
                <a:latin typeface="Calibri"/>
              </a:rPr>
              <a:t> trả lời tại chỗ.</a:t>
            </a:r>
          </a:p>
          <a:p>
            <a:pPr algn="l" marL="365760" indent="-365760">
              <a:spcAft>
                <a:spcPts val="800"/>
              </a:spcAft>
              <a:buClr>
                <a:srgbClr val="1E40AF"/>
              </a:buClr>
              <a:buFont typeface="Arial"/>
              <a:buChar char="•"/>
            </a:pPr>
            <a:r>
              <a:rPr sz="2000" b="1">
                <a:solidFill>
                  <a:srgbClr val="1E293B"/>
                </a:solidFill>
                <a:latin typeface="Calibri"/>
              </a:rPr>
              <a:t>Mất điện/mạng:</a:t>
            </a:r>
            <a:r>
              <a:rPr sz="2000">
                <a:solidFill>
                  <a:srgbClr val="1E293B"/>
                </a:solidFill>
                <a:latin typeface="Calibri"/>
              </a:rPr>
              <a:t> KHBD in; máy tính cầm tay tính giá trị hàm.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