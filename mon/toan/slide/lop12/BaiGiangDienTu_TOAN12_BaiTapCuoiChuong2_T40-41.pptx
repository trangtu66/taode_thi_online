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Tiết 1: hệ thống kiến thức + trắc nghiệm (Rung chuông vàng) + tự luận vectơ. Tiết 2: tự luận toạ độ + vận dụng.</a:t>
            </a:r>
          </a:p>
          <a:p>
            <a:r>
              <a:t>Lớp 12A2, 12A7 có HS khiếm thị: GV đọc to đề, phương án; HS trả lời miệng.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tr.73 – 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Sơ đồ tư duy 8' – Rung chuông vàng 2.25 – 2.34 (15') – Tự luận 2.35 – 2.37 (20') – Giao việc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HS nhìn sơ đồ, nhắc lại từng nhánh; GV gọi ngẫu nhiên.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tóm tắt – để lại trên màn hình khi HS làm trắc nghiệm nếu lớp yếu.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10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C đúng vì BC + BD = 2BN = 3BG.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A là AC'.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A, D cùng vế trái – một đúng một sai.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Đã kiểm tra bằng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chỉ nhân thành phần đầu.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B là D tính theo AD = CB.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sai dấu; lấy trung bình.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sai dấu thành phần cuối.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45° (quên dấu âm).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đại diện trình bày; click hiện lời giải (đối chiếu SGV, KHBD; 2.36 kiểm tra bằng toạ độ ngẫu nhiên).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đại diện trình bày; click hiện lời giải (đối chiếu SGV, KHBD; 2.36 kiểm tra bằng toạ độ ngẫu nhiên).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Đúng hay Sai 5' – 2.38 – 2.41 (22') – Vận dụng 2.42, GeoGebra 12' – Củng cố online 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Dữ liệu Bài 2.38. Click lật đáp án: Đ – Đ – S – Đ – Đ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5'; click hiện lời giải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5'; click hiện lời giải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Nhóm chọn hệ trục (chấp nhận nhiều cách). Theo KHBD: O tại góc trần, Oz hướng xuống. Click 1–3. Khoảng cách √0,11 ≈ 0,3 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D1=(1.2,1.6,0.5), D2=(1.5,1.5,0.4), d=Distance(D1,D2).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trangtu66.github.io/Taode_thi_online/GGB3D_T12_BTCC2_1_ChiecDen.html" TargetMode="External"/><Relationship Id="rId4" Type="http://schemas.openxmlformats.org/officeDocument/2006/relationships/image" Target="../media/image3.png"/><Relationship Id="rId5"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hyperlink" Target="https://trangtu66.github.io/Taode_thi_online/cc_chuong2_t12.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4400" b="1">
                <a:solidFill>
                  <a:srgbClr val="FFFFFF"/>
                </a:solidFill>
                <a:latin typeface="Cambria"/>
              </a:rPr>
              <a:t>BÀI TẬP CUỐI CHƯƠNG II</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12 – Kết nối tri thức với cuộc sống (SGK tập một, tr.73 – 74)</a:t>
            </a:r>
          </a:p>
          <a:p>
            <a:pPr algn="l">
              <a:spcAft>
                <a:spcPts val="800"/>
              </a:spcAft>
            </a:pPr>
            <a:r>
              <a:rPr sz="2200">
                <a:solidFill>
                  <a:srgbClr val="E0E7FF"/>
                </a:solidFill>
                <a:latin typeface="Calibri"/>
              </a:rPr>
              <a:t>2 tiết: T40 – T41</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a:t>
            </a:r>
          </a:p>
        </p:txBody>
      </p:sp>
      <p:sp>
        <p:nvSpPr>
          <p:cNvPr id="7" name="Rounded Rectangle 6"/>
          <p:cNvSpPr/>
          <p:nvPr/>
        </p:nvSpPr>
        <p:spPr>
          <a:xfrm>
            <a:off x="548640" y="1417320"/>
            <a:ext cx="11064240" cy="21427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2069591"/>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tr.73 – 74)</a:t>
            </a:r>
          </a:p>
          <a:p>
            <a:pPr algn="l" marL="365760" indent="-365760">
              <a:spcAft>
                <a:spcPts val="800"/>
              </a:spcAft>
              <a:buClr>
                <a:srgbClr val="1E40AF"/>
              </a:buClr>
              <a:buFont typeface="Arial"/>
              <a:buChar char="•"/>
            </a:pPr>
            <a:r>
              <a:rPr sz="2200">
                <a:solidFill>
                  <a:srgbClr val="1E293B"/>
                </a:solidFill>
                <a:latin typeface="Calibri"/>
              </a:rPr>
              <a:t>Hệ thống, củng cố kiến thức về vectơ trong không gian, hệ trục toạ độ, biểu thức toạ độ của các phép toán vectơ.</a:t>
            </a:r>
          </a:p>
          <a:p>
            <a:pPr algn="l" marL="365760" indent="-365760">
              <a:spcAft>
                <a:spcPts val="800"/>
              </a:spcAft>
              <a:buClr>
                <a:srgbClr val="1E40AF"/>
              </a:buClr>
              <a:buFont typeface="Arial"/>
              <a:buChar char="•"/>
            </a:pPr>
            <a:r>
              <a:rPr sz="2200">
                <a:solidFill>
                  <a:srgbClr val="1E293B"/>
                </a:solidFill>
                <a:latin typeface="Calibri"/>
              </a:rPr>
              <a:t>Vận dụng giải bài tập trắc nghiệm, tự luận và bài toán thực tiễn (Bài tập 2.25 – 2.42).</a:t>
            </a:r>
          </a:p>
        </p:txBody>
      </p:sp>
      <p:sp>
        <p:nvSpPr>
          <p:cNvPr id="9" name="TextBox 8"/>
          <p:cNvSpPr txBox="1"/>
          <p:nvPr/>
        </p:nvSpPr>
        <p:spPr>
          <a:xfrm>
            <a:off x="548640" y="378866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(vị trí chiếc đèn); giải quyết vấn đề; sử dụng công cụ (máy tính cầm tay,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2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T40</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Sơ đồ tư duy chương II; Trắc nghiệm 2.25 – 2.34; Tự luận vectơ 2.35 – 2.37</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T41</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Tự luận toạ độ 2.38 – 2.41; Vận dụng 2.42 (chiếc đèn)</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GeoGebra 3D · Đúng hay Sai?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(T40)</a:t>
            </a:r>
          </a:p>
          <a:p>
            <a:pPr>
              <a:spcAft>
                <a:spcPts val="600"/>
              </a:spcAft>
            </a:pPr>
            <a:r>
              <a:rPr sz="4000" b="1">
                <a:solidFill>
                  <a:srgbClr val="FFFFFF"/>
                </a:solidFill>
                <a:latin typeface="Cambria"/>
              </a:rPr>
              <a:t>Ôn tập. Trắc nghiệm. Tự luận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Hệ thống kiến thức Chương II.</a:t>
            </a:r>
          </a:p>
          <a:p>
            <a:pPr algn="l">
              <a:spcAft>
                <a:spcPts val="800"/>
              </a:spcAft>
            </a:pPr>
            <a:r>
              <a:rPr sz="2200">
                <a:solidFill>
                  <a:srgbClr val="E0E7FF"/>
                </a:solidFill>
                <a:latin typeface="Calibri"/>
              </a:rPr>
              <a:t>• Giải Bài tập 2.25 – 2.37.</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HỆ THỐNG KIẾN THỨC CHƯƠNG II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5</a:t>
            </a:r>
          </a:p>
        </p:txBody>
      </p:sp>
      <p:pic>
        <p:nvPicPr>
          <p:cNvPr id="7" name="Picture 6" descr="SoDoTuDuy_TOAN12_BaiTapCuoiChuong2_T40-41.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CÔNG THỨC CẦN NHỚ</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6</a:t>
            </a:r>
          </a:p>
        </p:txBody>
      </p:sp>
      <p:sp>
        <p:nvSpPr>
          <p:cNvPr id="7" name="Rounded Rectangle 6"/>
          <p:cNvSpPr/>
          <p:nvPr/>
        </p:nvSpPr>
        <p:spPr>
          <a:xfrm>
            <a:off x="548640" y="1463040"/>
            <a:ext cx="11064240" cy="306476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299161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Vectơ:</a:t>
                </a:r>
                <a:r>
                  <a:rPr sz="2200">
                    <a:solidFill>
                      <a:srgbClr val="1E293B"/>
                    </a:solidFill>
                    <a:latin typeface="Calibri"/>
                  </a:rPr>
                  <a:t> quy tắc ba điểm, hình bình hành, </a:t>
                </a:r>
                <a:r>
                  <a:rPr sz="2200" b="1">
                    <a:solidFill>
                      <a:srgbClr val="1E293B"/>
                    </a:solidFill>
                    <a:latin typeface="Calibri"/>
                  </a:rPr>
                  <a:t>hình hộp</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trọng tâm tứ diện;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Toạ độ:</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theo từng thành phần.</a:t>
                </a:r>
              </a:p>
              <a:p>
                <a:pPr algn="l" marL="365760" indent="-365760">
                  <a:spcAft>
                    <a:spcPts val="800"/>
                  </a:spcAft>
                  <a:buClr>
                    <a:srgbClr val="1E40AF"/>
                  </a:buClr>
                  <a:buFont typeface="Arial"/>
                  <a:buChar char="•"/>
                </a:pPr>
                <a:r>
                  <a:rPr sz="2200" b="1">
                    <a:solidFill>
                      <a:srgbClr val="1E293B"/>
                    </a:solidFill>
                    <a:latin typeface="Calibri"/>
                  </a:rPr>
                  <a:t>Tích vô hướng:</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+z</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ad>
                      <m:radPr>
                        <m:degHide m:val="on"/>
                      </m:radPr>
                      <m:deg/>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+z</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num>
                      <m:den>
                        <m:d>
                          <m:dPr>
                            <m:begChr m:val="|"/>
                            <m:sepChr m:val=""/>
                            <m:endChr m:val="|"/>
                          </m:dPr>
                          <m:e>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e>
                        </m:d>
                      </m:den>
                    </m:f>
                  </m:oMath>
                </a14:m>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Trung điểm, trọng tâm:</a:t>
                </a:r>
                <a:r>
                  <a:rPr sz="2200">
                    <a:solidFill>
                      <a:srgbClr val="1E293B"/>
                    </a:solidFill>
                    <a:latin typeface="Calibri"/>
                  </a:rPr>
                  <a:t> trung bình cộng toạ độ; </a:t>
                </a:r>
                <a14:m>
                  <m:oMath xmlns:m="http://schemas.openxmlformats.org/officeDocument/2006/math">
                    <m:r>
                      <a:rPr lang="vi-VN" sz="2200" b="0">
                        <a:solidFill>
                          <a:srgbClr val="1E293B"/>
                        </a:solidFill>
                        <a:latin typeface="Cambria Math" panose="02040503050406030204" pitchFamily="18" charset="0"/>
                      </a:rPr>
                      <m:t>AB=</m:t>
                    </m:r>
                    <m:rad>
                      <m:radPr>
                        <m:degHide m:val="on"/>
                      </m:radPr>
                      <m:deg/>
                      <m:e>
                        <m:sSup>
                          <m:e>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A</m:t>
                                    </m:r>
                                  </m:sub>
                                </m:sSub>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A</m:t>
                                    </m:r>
                                  </m:sub>
                                </m:sSub>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p:sp>
            <p:nvSpPr>
              <p:cNvPr id="8" name="TextBox 7"/>
              <p:cNvSpPr txBox="1"/>
              <p:nvPr/>
            </p:nvSpPr>
            <p:spPr>
              <a:xfrm>
                <a:off x="713232" y="1499616"/>
                <a:ext cx="10735056" cy="299161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Vectơ:</a:t>
                </a:r>
                <a:r>
                  <a:rPr sz="2200">
                    <a:solidFill>
                      <a:srgbClr val="1E293B"/>
                    </a:solidFill>
                    <a:latin typeface="Calibri"/>
                  </a:rPr>
                  <a:t> quy tắc ba điểm, hình bình hành, </a:t>
                </a:r>
                <a:r>
                  <a:rPr sz="2200" b="1">
                    <a:solidFill>
                      <a:srgbClr val="1E293B"/>
                    </a:solidFill>
                    <a:latin typeface="Calibri"/>
                  </a:rPr>
                  <a:t>hình hộp</a:t>
                </a:r>
                <a:r>
                  <a:rPr sz="2200">
                    <a:solidFill>
                      <a:srgbClr val="1E293B"/>
                    </a:solidFill>
                    <a:latin typeface="Calibri"/>
                  </a:rPr>
                  <a:t> </a:t>
                </a:r>
                <a:r>
                  <a:rPr lang="vi-VN"/>
                  <a:t>\overrightarrow{AB}+\overrightarrow{AD}+\overrightarrow{AA'}=\overrightarrow{AC'}</a:t>
                </a:r>
                <a:r>
                  <a:rPr sz="2200">
                    <a:solidFill>
                      <a:srgbClr val="1E293B"/>
                    </a:solidFill>
                    <a:latin typeface="Calibri"/>
                  </a:rPr>
                  <a:t>; trọng tâm tứ diện; </a:t>
                </a:r>
                <a:r>
                  <a:rPr lang="vi-VN"/>
                  <a:t>\vec{a}\cdot\vec{b}=|\vec{a}||\vec{b}|\cos(\vec{a},\vec{b})</a:t>
                </a:r>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Toạ độ:</a:t>
                </a:r>
                <a:r>
                  <a:rPr sz="2200">
                    <a:solidFill>
                      <a:srgbClr val="1E293B"/>
                    </a:solidFill>
                    <a:latin typeface="Calibri"/>
                  </a:rPr>
                  <a:t> </a:t>
                </a:r>
                <a:r>
                  <a:rPr lang="vi-VN"/>
                  <a:t>\overrightarrow{MN}=(x_N-x_M;\ y_N-y_M;\ z_N-z_M)</a:t>
                </a:r>
                <a:r>
                  <a:rPr sz="2200">
                    <a:solidFill>
                      <a:srgbClr val="1E293B"/>
                    </a:solidFill>
                    <a:latin typeface="Calibri"/>
                  </a:rPr>
                  <a:t>; </a:t>
                </a:r>
                <a:r>
                  <a:rPr lang="vi-VN"/>
                  <a:t>\vec{a}\pm\vec{b}</a:t>
                </a:r>
                <a:r>
                  <a:rPr sz="2200">
                    <a:solidFill>
                      <a:srgbClr val="1E293B"/>
                    </a:solidFill>
                    <a:latin typeface="Calibri"/>
                  </a:rPr>
                  <a:t>, </a:t>
                </a:r>
                <a:r>
                  <a:rPr lang="vi-VN"/>
                  <a:t>k\vec{a}</a:t>
                </a:r>
                <a:r>
                  <a:rPr sz="2200">
                    <a:solidFill>
                      <a:srgbClr val="1E293B"/>
                    </a:solidFill>
                    <a:latin typeface="Calibri"/>
                  </a:rPr>
                  <a:t> theo từng thành phần.</a:t>
                </a:r>
              </a:p>
              <a:p>
                <a:pPr algn="l" marL="365760" indent="-365760">
                  <a:spcAft>
                    <a:spcPts val="800"/>
                  </a:spcAft>
                  <a:buClr>
                    <a:srgbClr val="1E40AF"/>
                  </a:buClr>
                  <a:buFont typeface="Arial"/>
                  <a:buChar char="•"/>
                </a:pPr>
                <a:r>
                  <a:rPr sz="2200" b="1">
                    <a:solidFill>
                      <a:srgbClr val="1E293B"/>
                    </a:solidFill>
                    <a:latin typeface="Calibri"/>
                  </a:rPr>
                  <a:t>Tích vô hướng:</a:t>
                </a:r>
                <a:r>
                  <a:rPr sz="2200">
                    <a:solidFill>
                      <a:srgbClr val="1E293B"/>
                    </a:solidFill>
                    <a:latin typeface="Calibri"/>
                  </a:rPr>
                  <a:t> </a:t>
                </a:r>
                <a:r>
                  <a:rPr lang="vi-VN"/>
                  <a:t>\vec{a}\cdot\vec{b}=xx'+yy'+zz'</a:t>
                </a:r>
                <a:r>
                  <a:rPr sz="2200">
                    <a:solidFill>
                      <a:srgbClr val="1E293B"/>
                    </a:solidFill>
                    <a:latin typeface="Calibri"/>
                  </a:rPr>
                  <a:t>; </a:t>
                </a:r>
                <a:r>
                  <a:rPr lang="vi-VN"/>
                  <a:t>|\vec{a}|=\sqrt{x^2+y^2+z^2}</a:t>
                </a:r>
                <a:r>
                  <a:rPr sz="2200">
                    <a:solidFill>
                      <a:srgbClr val="1E293B"/>
                    </a:solidFill>
                    <a:latin typeface="Calibri"/>
                  </a:rPr>
                  <a:t>; </a:t>
                </a:r>
                <a:r>
                  <a:rPr lang="vi-VN"/>
                  <a:t>\cos(\vec{a},\vec{b})=\frac{xx'+yy'+zz'}{|\vec{a}|\cdot|\vec{b}|}</a:t>
                </a:r>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Trung điểm, trọng tâm:</a:t>
                </a:r>
                <a:r>
                  <a:rPr sz="2200">
                    <a:solidFill>
                      <a:srgbClr val="1E293B"/>
                    </a:solidFill>
                    <a:latin typeface="Calibri"/>
                  </a:rPr>
                  <a:t> trung bình cộng toạ độ; </a:t>
                </a:r>
                <a:r>
                  <a:rPr lang="vi-VN"/>
                  <a:t>AB=\sqrt{(x_B-x_A)^2+(y_B-y_A)^2+(z_B-z_A)^2}</a:t>
                </a:r>
                <a:r>
                  <a:rPr sz="2200">
                    <a:solidFill>
                      <a:srgbClr val="1E293B"/>
                    </a:solidFill>
                    <a:latin typeface="Calibri"/>
                  </a:rPr>
                  <a:t>.</a:t>
                </a:r>
              </a:p>
            </p:txBody>
          </p:sp>
        </mc:Fallback>
      </mc:AlternateContent>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7</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G</m:t>
                    </m:r>
                  </m:oMath>
                </a14:m>
                <a:r>
                  <a:rPr sz="2600">
                    <a:solidFill>
                      <a:srgbClr val="1E293B"/>
                    </a:solidFill>
                    <a:latin typeface="Calibri"/>
                  </a:rPr>
                  <a:t> là trọng tâm tam giác </a:t>
                </a:r>
                <a14:m>
                  <m:oMath xmlns:m="http://schemas.openxmlformats.org/officeDocument/2006/math">
                    <m:r>
                      <a:rPr lang="vi-VN" sz="2600" b="0">
                        <a:solidFill>
                          <a:srgbClr val="1E293B"/>
                        </a:solidFill>
                        <a:latin typeface="Cambria Math" panose="02040503050406030204" pitchFamily="18" charset="0"/>
                      </a:rPr>
                      <m:t>BCD</m:t>
                    </m:r>
                  </m:oMath>
                </a14:m>
                <a:r>
                  <a:rPr sz="2600">
                    <a:solidFill>
                      <a:srgbClr val="1E293B"/>
                    </a:solidFill>
                    <a:latin typeface="Calibri"/>
                  </a:rPr>
                  <a:t>. Khẳng định nào sau đây là </a:t>
                </a:r>
                <a:r>
                  <a:rPr sz="2600" b="1">
                    <a:solidFill>
                      <a:srgbClr val="1E293B"/>
                    </a:solidFill>
                    <a:latin typeface="Calibri"/>
                  </a:rPr>
                  <a:t>sai</a:t>
                </a:r>
                <a:r>
                  <a:rPr sz="2600">
                    <a:solidFill>
                      <a:srgbClr val="1E293B"/>
                    </a:solidFill>
                    <a:latin typeface="Calibri"/>
                  </a:rPr>
                  <a:t>?</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r>
                  <a:rPr lang="vi-VN"/>
                  <a:t>ABCD</a:t>
                </a:r>
                <a:r>
                  <a:rPr sz="2600">
                    <a:solidFill>
                      <a:srgbClr val="1E293B"/>
                    </a:solidFill>
                    <a:latin typeface="Calibri"/>
                  </a:rPr>
                  <a:t>, </a:t>
                </a:r>
                <a:r>
                  <a:rPr lang="vi-VN"/>
                  <a:t>G</a:t>
                </a:r>
                <a:r>
                  <a:rPr sz="2600">
                    <a:solidFill>
                      <a:srgbClr val="1E293B"/>
                    </a:solidFill>
                    <a:latin typeface="Calibri"/>
                  </a:rPr>
                  <a:t> là trọng tâm tam giác </a:t>
                </a:r>
                <a:r>
                  <a:rPr lang="vi-VN"/>
                  <a:t>BCD</a:t>
                </a:r>
                <a:r>
                  <a:rPr sz="2600">
                    <a:solidFill>
                      <a:srgbClr val="1E293B"/>
                    </a:solidFill>
                    <a:latin typeface="Calibri"/>
                  </a:rPr>
                  <a:t>. Khẳng định nào sau đây là </a:t>
                </a:r>
                <a:r>
                  <a:rPr sz="2600" b="1">
                    <a:solidFill>
                      <a:srgbClr val="1E293B"/>
                    </a:solidFill>
                    <a:latin typeface="Calibri"/>
                  </a:rPr>
                  <a:t>sai</a:t>
                </a:r>
                <a:r>
                  <a:rPr sz="2600">
                    <a:solidFill>
                      <a:srgbClr val="1E293B"/>
                    </a:solidFill>
                    <a:latin typeface="Calibri"/>
                  </a:rPr>
                  <a:t>?</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BG</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CG</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DG</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\overrightarrow{BG}</a:t>
                </a:r>
                <a:r>
                  <a:rPr sz="2400">
                    <a:solidFill>
                      <a:srgbClr val="1E293B"/>
                    </a:solidFill>
                    <a:latin typeface="Calibri"/>
                  </a:rPr>
                  <a:t> + </a:t>
                </a:r>
                <a:r>
                  <a:rPr lang="vi-VN"/>
                  <a:t>\overrightarrow{CG}</a:t>
                </a:r>
                <a:r>
                  <a:rPr sz="2400">
                    <a:solidFill>
                      <a:srgbClr val="1E293B"/>
                    </a:solidFill>
                    <a:latin typeface="Calibri"/>
                  </a:rPr>
                  <a:t> + </a:t>
                </a:r>
                <a:r>
                  <a:rPr lang="vi-VN"/>
                  <a:t>\overrightarrow{DG}</a:t>
                </a:r>
                <a:r>
                  <a:rPr sz="2400">
                    <a:solidFill>
                      <a:srgbClr val="1E293B"/>
                    </a:solidFill>
                    <a:latin typeface="Calibri"/>
                  </a:rPr>
                  <a:t> = </a:t>
                </a:r>
                <a:r>
                  <a:rPr lang="vi-VN"/>
                  <a:t>\vec{0}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3</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AG</m:t>
                        </m:r>
                      </m:e>
                    </m:acc>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\overrightarrow{AB}</a:t>
                </a:r>
                <a:r>
                  <a:rPr sz="2400">
                    <a:solidFill>
                      <a:srgbClr val="1E293B"/>
                    </a:solidFill>
                    <a:latin typeface="Calibri"/>
                  </a:rPr>
                  <a:t> + </a:t>
                </a:r>
                <a:r>
                  <a:rPr lang="vi-VN"/>
                  <a:t>\overrightarrow{AC}</a:t>
                </a:r>
                <a:r>
                  <a:rPr sz="2400">
                    <a:solidFill>
                      <a:srgbClr val="1E293B"/>
                    </a:solidFill>
                    <a:latin typeface="Calibri"/>
                  </a:rPr>
                  <a:t> + </a:t>
                </a:r>
                <a:r>
                  <a:rPr lang="vi-VN"/>
                  <a:t>\overrightarrow{AD}</a:t>
                </a:r>
                <a:r>
                  <a:rPr sz="2400">
                    <a:solidFill>
                      <a:srgbClr val="1E293B"/>
                    </a:solidFill>
                    <a:latin typeface="Calibri"/>
                  </a:rPr>
                  <a:t> = </a:t>
                </a:r>
                <a:r>
                  <a:rPr lang="vi-VN"/>
                  <a:t>3</a:t>
                </a:r>
                <a:r>
                  <a:rPr sz="2400">
                    <a:solidFill>
                      <a:srgbClr val="1E293B"/>
                    </a:solidFill>
                    <a:latin typeface="Calibri"/>
                  </a:rPr>
                  <a:t> </a:t>
                </a:r>
                <a:r>
                  <a:rPr lang="vi-VN"/>
                  <a:t>\overrightarrow{AG}</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BC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BD</m:t>
                        </m:r>
                      </m:e>
                    </m:acc>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3</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BG</m:t>
                        </m:r>
                      </m:e>
                    </m:acc>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\overrightarrow{BC}</a:t>
                </a:r>
                <a:r>
                  <a:rPr sz="2400">
                    <a:solidFill>
                      <a:srgbClr val="1E293B"/>
                    </a:solidFill>
                    <a:latin typeface="Calibri"/>
                  </a:rPr>
                  <a:t> + </a:t>
                </a:r>
                <a:r>
                  <a:rPr lang="vi-VN"/>
                  <a:t>\overrightarrow{BD}</a:t>
                </a:r>
                <a:r>
                  <a:rPr sz="2400">
                    <a:solidFill>
                      <a:srgbClr val="1E293B"/>
                    </a:solidFill>
                    <a:latin typeface="Calibri"/>
                  </a:rPr>
                  <a:t> = </a:t>
                </a:r>
                <a:r>
                  <a:rPr lang="vi-VN"/>
                  <a:t>3</a:t>
                </a:r>
                <a:r>
                  <a:rPr sz="2400">
                    <a:solidFill>
                      <a:srgbClr val="1E293B"/>
                    </a:solidFill>
                    <a:latin typeface="Calibri"/>
                  </a:rPr>
                  <a:t> </a:t>
                </a:r>
                <a:r>
                  <a:rPr lang="vi-VN"/>
                  <a:t>\overrightarrow{BG}</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GA</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GB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GC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GD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\overrightarrow{GA}</a:t>
                </a:r>
                <a:r>
                  <a:rPr sz="2400">
                    <a:solidFill>
                      <a:srgbClr val="1E293B"/>
                    </a:solidFill>
                    <a:latin typeface="Calibri"/>
                  </a:rPr>
                  <a:t> + </a:t>
                </a:r>
                <a:r>
                  <a:rPr lang="vi-VN"/>
                  <a:t>\overrightarrow{GB}</a:t>
                </a:r>
                <a:r>
                  <a:rPr sz="2400">
                    <a:solidFill>
                      <a:srgbClr val="1E293B"/>
                    </a:solidFill>
                    <a:latin typeface="Calibri"/>
                  </a:rPr>
                  <a:t> + </a:t>
                </a:r>
                <a:r>
                  <a:rPr lang="vi-VN"/>
                  <a:t>\overrightarrow{GC}</a:t>
                </a:r>
                <a:r>
                  <a:rPr sz="2400">
                    <a:solidFill>
                      <a:srgbClr val="1E293B"/>
                    </a:solidFill>
                    <a:latin typeface="Calibri"/>
                  </a:rPr>
                  <a:t> + </a:t>
                </a:r>
                <a:r>
                  <a:rPr lang="vi-VN"/>
                  <a:t>\overrightarrow{GD}</a:t>
                </a:r>
                <a:r>
                  <a:rPr sz="2400">
                    <a:solidFill>
                      <a:srgbClr val="1E293B"/>
                    </a:solidFill>
                    <a:latin typeface="Calibri"/>
                  </a:rPr>
                  <a:t> = </a:t>
                </a:r>
                <a:r>
                  <a:rPr lang="vi-VN"/>
                  <a:t>\vec{0}</a:t>
                </a:r>
              </a:p>
            </p:txBody>
          </p:sp>
        </mc:Fallback>
      </mc:AlternateContent>
      <p:sp>
        <p:nvSpPr>
          <p:cNvPr id="16" name="s1_nen"/>
          <p:cNvSpPr/>
          <p:nvPr/>
        </p:nvSpPr>
        <p:spPr>
          <a:xfrm>
            <a:off x="548640" y="461772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GB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GC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GD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nên tổng ở D bằng </a:t>
                </a:r>
                <a14:m>
                  <m:oMath xmlns:m="http://schemas.openxmlformats.org/officeDocument/2006/math">
                    <m:acc>
                      <m:accPr>
                        <m:chr m:val="⃗"/>
                      </m:accPr>
                      <m:e>
                        <m:r>
                          <a:rPr lang="vi-VN" sz="2200" b="0">
                            <a:solidFill>
                              <a:srgbClr val="1E293B"/>
                            </a:solidFill>
                            <a:latin typeface="Cambria Math" panose="02040503050406030204" pitchFamily="18" charset="0"/>
                          </a:rPr>
                          <m:t>GA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(G không phải trọng tâm tứ diện).</a:t>
                </a:r>
              </a:p>
            </p:txBody>
          </p:sp>
        </mc:Choice>
        <mc:Fallback>
          <p:sp>
            <p:nvSpPr>
              <p:cNvPr id="17" name="TextBox 16"/>
              <p:cNvSpPr txBox="1"/>
              <p:nvPr/>
            </p:nvSpPr>
            <p:spPr>
              <a:xfrm>
                <a:off x="713232" y="465429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r>
                  <a:rPr lang="vi-VN"/>
                  <a:t>\overrightarrow{GB}</a:t>
                </a:r>
                <a:r>
                  <a:rPr sz="2200">
                    <a:solidFill>
                      <a:srgbClr val="1E293B"/>
                    </a:solidFill>
                    <a:latin typeface="Calibri"/>
                  </a:rPr>
                  <a:t> + </a:t>
                </a:r>
                <a:r>
                  <a:rPr lang="vi-VN"/>
                  <a:t>\overrightarrow{GC}</a:t>
                </a:r>
                <a:r>
                  <a:rPr sz="2200">
                    <a:solidFill>
                      <a:srgbClr val="1E293B"/>
                    </a:solidFill>
                    <a:latin typeface="Calibri"/>
                  </a:rPr>
                  <a:t> + </a:t>
                </a:r>
                <a:r>
                  <a:rPr lang="vi-VN"/>
                  <a:t>\overrightarrow{GD}</a:t>
                </a:r>
                <a:r>
                  <a:rPr sz="2200">
                    <a:solidFill>
                      <a:srgbClr val="1E293B"/>
                    </a:solidFill>
                    <a:latin typeface="Calibri"/>
                  </a:rPr>
                  <a:t> = </a:t>
                </a:r>
                <a:r>
                  <a:rPr lang="vi-VN"/>
                  <a:t>\vec{0}</a:t>
                </a:r>
                <a:r>
                  <a:rPr sz="2200">
                    <a:solidFill>
                      <a:srgbClr val="1E293B"/>
                    </a:solidFill>
                    <a:latin typeface="Calibri"/>
                  </a:rPr>
                  <a:t> nên tổng ở D bằng </a:t>
                </a:r>
                <a:r>
                  <a:rPr lang="vi-VN"/>
                  <a:t>\overrightarrow{GA}</a:t>
                </a:r>
                <a:r>
                  <a:rPr sz="2200">
                    <a:solidFill>
                      <a:srgbClr val="1E293B"/>
                    </a:solidFill>
                    <a:latin typeface="Calibri"/>
                  </a:rPr>
                  <a:t> ≠ </a:t>
                </a:r>
                <a:r>
                  <a:rPr lang="vi-VN"/>
                  <a:t>\vec{0}</a:t>
                </a:r>
                <a:r>
                  <a:rPr sz="2200">
                    <a:solidFill>
                      <a:srgbClr val="1E293B"/>
                    </a:solidFill>
                    <a:latin typeface="Calibri"/>
                  </a:rPr>
                  <a:t> (G không phải trọng tâm tứ diện).</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 là trung điểm </a:t>
                </a:r>
                <a14:m>
                  <m:oMath xmlns:m="http://schemas.openxmlformats.org/officeDocument/2006/math">
                    <m:r>
                      <a:rPr lang="vi-VN" sz="2600" b="0">
                        <a:solidFill>
                          <a:srgbClr val="1E293B"/>
                        </a:solidFill>
                        <a:latin typeface="Cambria Math" panose="02040503050406030204" pitchFamily="18" charset="0"/>
                      </a:rPr>
                      <m:t>C</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Vectơ </a:t>
                </a:r>
                <a14:m>
                  <m:oMath xmlns:m="http://schemas.openxmlformats.org/officeDocument/2006/math">
                    <m:acc>
                      <m:accPr>
                        <m:chr m:val="⃗"/>
                      </m:accPr>
                      <m:e>
                        <m:r>
                          <a:rPr lang="vi-VN" sz="2600" b="0">
                            <a:solidFill>
                              <a:srgbClr val="1E293B"/>
                            </a:solidFill>
                            <a:latin typeface="Cambria Math" panose="02040503050406030204" pitchFamily="18" charset="0"/>
                          </a:rPr>
                          <m:t>AM</m:t>
                        </m:r>
                      </m:e>
                    </m:acc>
                  </m:oMath>
                </a14:m>
                <a:r>
                  <a:rPr sz="2600">
                    <a:solidFill>
                      <a:srgbClr val="1E293B"/>
                    </a:solidFill>
                    <a:latin typeface="Calibri"/>
                  </a:rPr>
                  <a:t>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r>
                  <a:rPr lang="vi-VN"/>
                  <a:t>ABCD.A'B'C'D'</a:t>
                </a:r>
                <a:r>
                  <a:rPr sz="2600">
                    <a:solidFill>
                      <a:srgbClr val="1E293B"/>
                    </a:solidFill>
                    <a:latin typeface="Calibri"/>
                  </a:rPr>
                  <a:t>, </a:t>
                </a:r>
                <a:r>
                  <a:rPr lang="vi-VN"/>
                  <a:t>M</a:t>
                </a:r>
                <a:r>
                  <a:rPr sz="2600">
                    <a:solidFill>
                      <a:srgbClr val="1E293B"/>
                    </a:solidFill>
                    <a:latin typeface="Calibri"/>
                  </a:rPr>
                  <a:t> là trung điểm </a:t>
                </a:r>
                <a:r>
                  <a:rPr lang="vi-VN"/>
                  <a:t>CC'</a:t>
                </a:r>
                <a:r>
                  <a:rPr sz="2600">
                    <a:solidFill>
                      <a:srgbClr val="1E293B"/>
                    </a:solidFill>
                    <a:latin typeface="Calibri"/>
                  </a:rPr>
                  <a:t>. Vectơ </a:t>
                </a:r>
                <a:r>
                  <a:rPr lang="vi-VN"/>
                  <a:t>\overrightarrow{AM}</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\overrightarrow{AA'}</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\frac{1}{2}</a:t>
                </a:r>
                <a:r>
                  <a:rPr sz="2400">
                    <a:solidFill>
                      <a:srgbClr val="1E293B"/>
                    </a:solidFill>
                    <a:latin typeface="Calibri"/>
                  </a:rPr>
                  <a:t> </a:t>
                </a:r>
                <a:r>
                  <a:rPr lang="vi-VN"/>
                  <a:t>\overrightarrow{AA'}</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\overrightarrow{AB}</a:t>
                </a:r>
                <a:r>
                  <a:rPr sz="2400">
                    <a:solidFill>
                      <a:srgbClr val="1E293B"/>
                    </a:solidFill>
                    <a:latin typeface="Calibri"/>
                  </a:rPr>
                  <a:t> + </a:t>
                </a:r>
                <a:r>
                  <a:rPr lang="vi-VN"/>
                  <a:t>\frac{1}{2}</a:t>
                </a:r>
                <a:r>
                  <a:rPr sz="2400">
                    <a:solidFill>
                      <a:srgbClr val="1E293B"/>
                    </a:solidFill>
                    <a:latin typeface="Calibri"/>
                  </a:rPr>
                  <a:t> </a:t>
                </a:r>
                <a:r>
                  <a:rPr lang="vi-VN"/>
                  <a:t>\overrightarrow{AD}</a:t>
                </a:r>
                <a:r>
                  <a:rPr sz="2400">
                    <a:solidFill>
                      <a:srgbClr val="1E293B"/>
                    </a:solidFill>
                    <a:latin typeface="Calibri"/>
                  </a:rPr>
                  <a:t> + </a:t>
                </a:r>
                <a:r>
                  <a:rPr lang="vi-VN"/>
                  <a:t>\frac{1}{2}</a:t>
                </a:r>
                <a:r>
                  <a:rPr sz="2400">
                    <a:solidFill>
                      <a:srgbClr val="1E293B"/>
                    </a:solidFill>
                    <a:latin typeface="Calibri"/>
                  </a:rPr>
                  <a:t> </a:t>
                </a:r>
                <a:r>
                  <a:rPr lang="vi-VN"/>
                  <a:t>\overrightarrow{AA'}</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\frac{1}{2}</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\overrightarrow{AA'}</a:t>
                </a:r>
              </a:p>
            </p:txBody>
          </p:sp>
        </mc:Fallback>
      </mc:AlternateContent>
      <p:sp>
        <p:nvSpPr>
          <p:cNvPr id="16" name="s1_nen"/>
          <p:cNvSpPr/>
          <p:nvPr/>
        </p:nvSpPr>
        <p:spPr>
          <a:xfrm>
            <a:off x="548640" y="4617720"/>
            <a:ext cx="1106424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678179"/>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CM</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7" name="TextBox 16"/>
              <p:cNvSpPr txBox="1"/>
              <p:nvPr/>
            </p:nvSpPr>
            <p:spPr>
              <a:xfrm>
                <a:off x="713232" y="4654296"/>
                <a:ext cx="10735056" cy="678179"/>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\overrightarrow{AM}</a:t>
                </a:r>
                <a:r>
                  <a:rPr sz="2200">
                    <a:solidFill>
                      <a:srgbClr val="1E293B"/>
                    </a:solidFill>
                    <a:latin typeface="Calibri"/>
                  </a:rPr>
                  <a:t> = </a:t>
                </a:r>
                <a:r>
                  <a:rPr lang="vi-VN"/>
                  <a:t>\overrightarrow{AC}</a:t>
                </a:r>
                <a:r>
                  <a:rPr sz="2200">
                    <a:solidFill>
                      <a:srgbClr val="1E293B"/>
                    </a:solidFill>
                    <a:latin typeface="Calibri"/>
                  </a:rPr>
                  <a:t> + </a:t>
                </a:r>
                <a:r>
                  <a:rPr lang="vi-VN"/>
                  <a:t>\overrightarrow{CM}</a:t>
                </a:r>
                <a:r>
                  <a:rPr sz="2200">
                    <a:solidFill>
                      <a:srgbClr val="1E293B"/>
                    </a:solidFill>
                    <a:latin typeface="Calibri"/>
                  </a:rPr>
                  <a:t> = </a:t>
                </a:r>
                <a:r>
                  <a:rPr lang="vi-VN"/>
                  <a:t>\overrightarrow{AB}</a:t>
                </a:r>
                <a:r>
                  <a:rPr sz="2200">
                    <a:solidFill>
                      <a:srgbClr val="1E293B"/>
                    </a:solidFill>
                    <a:latin typeface="Calibri"/>
                  </a:rPr>
                  <a:t> + </a:t>
                </a:r>
                <a:r>
                  <a:rPr lang="vi-VN"/>
                  <a:t>\overrightarrow{AD}</a:t>
                </a:r>
                <a:r>
                  <a:rPr sz="2200">
                    <a:solidFill>
                      <a:srgbClr val="1E293B"/>
                    </a:solidFill>
                    <a:latin typeface="Calibri"/>
                  </a:rPr>
                  <a:t> + </a:t>
                </a:r>
                <a:r>
                  <a:rPr lang="vi-VN"/>
                  <a:t>\frac{1}{2}</a:t>
                </a:r>
                <a:r>
                  <a:rPr sz="2200">
                    <a:solidFill>
                      <a:srgbClr val="1E293B"/>
                    </a:solidFill>
                    <a:latin typeface="Calibri"/>
                  </a:rPr>
                  <a:t> </a:t>
                </a:r>
                <a:r>
                  <a:rPr lang="vi-VN"/>
                  <a:t>\overrightarrow{AA'}</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Khẳng định nào dưới đây là </a:t>
                </a:r>
                <a:r>
                  <a:rPr sz="2600" b="1">
                    <a:solidFill>
                      <a:srgbClr val="1E293B"/>
                    </a:solidFill>
                    <a:latin typeface="Calibri"/>
                  </a:rPr>
                  <a:t>sai</a:t>
                </a:r>
                <a:r>
                  <a:rPr sz="2600">
                    <a:solidFill>
                      <a:srgbClr val="1E293B"/>
                    </a:solidFill>
                    <a:latin typeface="Calibri"/>
                  </a:rPr>
                  <a:t>?</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r>
                  <a:rPr lang="vi-VN"/>
                  <a:t>ABCD.A'B'C'D'</a:t>
                </a:r>
                <a:r>
                  <a:rPr sz="2600">
                    <a:solidFill>
                      <a:srgbClr val="1E293B"/>
                    </a:solidFill>
                    <a:latin typeface="Calibri"/>
                  </a:rPr>
                  <a:t>. Khẳng định nào dưới đây là </a:t>
                </a:r>
                <a:r>
                  <a:rPr sz="2600" b="1">
                    <a:solidFill>
                      <a:srgbClr val="1E293B"/>
                    </a:solidFill>
                    <a:latin typeface="Calibri"/>
                  </a:rPr>
                  <a:t>sai</a:t>
                </a:r>
                <a:r>
                  <a:rPr sz="2600">
                    <a:solidFill>
                      <a:srgbClr val="1E293B"/>
                    </a:solidFill>
                    <a:latin typeface="Calibri"/>
                  </a:rPr>
                  <a:t>?</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e>
                    </m:acc>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\overrightarrow{AB}</a:t>
                </a:r>
                <a:r>
                  <a:rPr sz="2400">
                    <a:solidFill>
                      <a:srgbClr val="1E293B"/>
                    </a:solidFill>
                    <a:latin typeface="Calibri"/>
                  </a:rPr>
                  <a:t> + </a:t>
                </a:r>
                <a:r>
                  <a:rPr lang="vi-VN"/>
                  <a:t>\overrightarrow{CC'}</a:t>
                </a:r>
                <a:r>
                  <a:rPr sz="2400">
                    <a:solidFill>
                      <a:srgbClr val="1E293B"/>
                    </a:solidFill>
                    <a:latin typeface="Calibri"/>
                  </a:rPr>
                  <a:t> = </a:t>
                </a:r>
                <a:r>
                  <a:rPr lang="vi-VN"/>
                  <a:t>\overrightarrow{AB'}</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\overrightarrow{AA'}</a:t>
                </a:r>
                <a:r>
                  <a:rPr sz="2400">
                    <a:solidFill>
                      <a:srgbClr val="1E293B"/>
                    </a:solidFill>
                    <a:latin typeface="Calibri"/>
                  </a:rPr>
                  <a:t> = </a:t>
                </a:r>
                <a:r>
                  <a:rPr lang="vi-VN"/>
                  <a:t>\overrightarrow{AC'}</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B</m:t>
                        </m:r>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\overrightarrow{AD}</a:t>
                </a:r>
                <a:r>
                  <a:rPr sz="2400">
                    <a:solidFill>
                      <a:srgbClr val="1E293B"/>
                    </a:solidFill>
                    <a:latin typeface="Calibri"/>
                  </a:rPr>
                  <a:t> + </a:t>
                </a:r>
                <a:r>
                  <a:rPr lang="vi-VN"/>
                  <a:t>\overrightarrow{BB'}</a:t>
                </a:r>
                <a:r>
                  <a:rPr sz="2400">
                    <a:solidFill>
                      <a:srgbClr val="1E293B"/>
                    </a:solidFill>
                    <a:latin typeface="Calibri"/>
                  </a:rPr>
                  <a:t> = </a:t>
                </a:r>
                <a:r>
                  <a:rPr lang="vi-VN"/>
                  <a:t>\overrightarrow{AD'}</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\overrightarrow{AB}</a:t>
                </a:r>
                <a:r>
                  <a:rPr sz="2400">
                    <a:solidFill>
                      <a:srgbClr val="1E293B"/>
                    </a:solidFill>
                    <a:latin typeface="Calibri"/>
                  </a:rPr>
                  <a:t> + </a:t>
                </a:r>
                <a:r>
                  <a:rPr lang="vi-VN"/>
                  <a:t>\overrightarrow{CC'}</a:t>
                </a:r>
                <a:r>
                  <a:rPr sz="2400">
                    <a:solidFill>
                      <a:srgbClr val="1E293B"/>
                    </a:solidFill>
                    <a:latin typeface="Calibri"/>
                  </a:rPr>
                  <a:t> = </a:t>
                </a:r>
                <a:r>
                  <a:rPr lang="vi-VN"/>
                  <a:t>\overrightarrow{AC'}</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C</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r>
                  <a:rPr lang="vi-VN"/>
                  <a:t>\overrightarrow{CC'}</a:t>
                </a:r>
                <a:r>
                  <a:rPr sz="2200">
                    <a:solidFill>
                      <a:srgbClr val="1E293B"/>
                    </a:solidFill>
                    <a:latin typeface="Calibri"/>
                  </a:rPr>
                  <a:t> = </a:t>
                </a:r>
                <a:r>
                  <a:rPr lang="vi-VN"/>
                  <a:t>\overrightarrow{BB'}</a:t>
                </a:r>
                <a:r>
                  <a:rPr sz="2200">
                    <a:solidFill>
                      <a:srgbClr val="1E293B"/>
                    </a:solidFill>
                    <a:latin typeface="Calibri"/>
                  </a:rPr>
                  <a:t> nên </a:t>
                </a:r>
                <a:r>
                  <a:rPr lang="vi-VN"/>
                  <a:t>\overrightarrow{AB}</a:t>
                </a:r>
                <a:r>
                  <a:rPr sz="2200">
                    <a:solidFill>
                      <a:srgbClr val="1E293B"/>
                    </a:solidFill>
                    <a:latin typeface="Calibri"/>
                  </a:rPr>
                  <a:t> + </a:t>
                </a:r>
                <a:r>
                  <a:rPr lang="vi-VN"/>
                  <a:t>\overrightarrow{CC'}</a:t>
                </a:r>
                <a:r>
                  <a:rPr sz="2200">
                    <a:solidFill>
                      <a:srgbClr val="1E293B"/>
                    </a:solidFill>
                    <a:latin typeface="Calibri"/>
                  </a:rPr>
                  <a:t> = </a:t>
                </a:r>
                <a:r>
                  <a:rPr lang="vi-VN"/>
                  <a:t>\overrightarrow{AB'}</a:t>
                </a:r>
                <a:r>
                  <a:rPr sz="2200">
                    <a:solidFill>
                      <a:srgbClr val="1E293B"/>
                    </a:solidFill>
                    <a:latin typeface="Calibri"/>
                  </a:rPr>
                  <a:t> ≠ </a:t>
                </a:r>
                <a:r>
                  <a:rPr lang="vi-VN"/>
                  <a:t>\overrightarrow{AC'}</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đều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cạnh </a:t>
                </a:r>
                <a14:m>
                  <m:oMath xmlns:m="http://schemas.openxmlformats.org/officeDocument/2006/math">
                    <m:r>
                      <a:rPr lang="vi-VN" sz="2600" b="0">
                        <a:solidFill>
                          <a:srgbClr val="1E293B"/>
                        </a:solidFill>
                        <a:latin typeface="Cambria Math" panose="02040503050406030204" pitchFamily="18" charset="0"/>
                      </a:rPr>
                      <m:t>a</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 là trung điểm </a:t>
                </a:r>
                <a14:m>
                  <m:oMath xmlns:m="http://schemas.openxmlformats.org/officeDocument/2006/math">
                    <m:r>
                      <a:rPr lang="vi-VN" sz="2600" b="0">
                        <a:solidFill>
                          <a:srgbClr val="1E293B"/>
                        </a:solidFill>
                        <a:latin typeface="Cambria Math" panose="02040503050406030204" pitchFamily="18" charset="0"/>
                      </a:rPr>
                      <m:t>CD</m:t>
                    </m:r>
                  </m:oMath>
                </a14:m>
                <a:r>
                  <a:rPr sz="2600">
                    <a:solidFill>
                      <a:srgbClr val="1E293B"/>
                    </a:solidFill>
                    <a:latin typeface="Calibri"/>
                  </a:rPr>
                  <a:t>. Tích vô hướng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r>
                  <a:rPr sz="2600">
                    <a:solidFill>
                      <a:srgbClr val="1E293B"/>
                    </a:solidFill>
                    <a:latin typeface="Calibri"/>
                  </a:rPr>
                  <a:t> · </a:t>
                </a:r>
                <a14:m>
                  <m:oMath xmlns:m="http://schemas.openxmlformats.org/officeDocument/2006/math">
                    <m:acc>
                      <m:accPr>
                        <m:chr m:val="⃗"/>
                      </m:accPr>
                      <m:e>
                        <m:r>
                          <a:rPr lang="vi-VN" sz="2600" b="0">
                            <a:solidFill>
                              <a:srgbClr val="1E293B"/>
                            </a:solidFill>
                            <a:latin typeface="Cambria Math" panose="02040503050406030204" pitchFamily="18" charset="0"/>
                          </a:rPr>
                          <m:t>AM</m:t>
                        </m:r>
                      </m:e>
                    </m:acc>
                  </m:oMath>
                </a14:m>
                <a:r>
                  <a:rPr sz="2600">
                    <a:solidFill>
                      <a:srgbClr val="1E293B"/>
                    </a:solidFill>
                    <a:latin typeface="Calibri"/>
                  </a:rPr>
                  <a:t>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đều </a:t>
                </a:r>
                <a:r>
                  <a:rPr lang="vi-VN"/>
                  <a:t>ABCD</a:t>
                </a:r>
                <a:r>
                  <a:rPr sz="2600">
                    <a:solidFill>
                      <a:srgbClr val="1E293B"/>
                    </a:solidFill>
                    <a:latin typeface="Calibri"/>
                  </a:rPr>
                  <a:t> cạnh </a:t>
                </a:r>
                <a:r>
                  <a:rPr lang="vi-VN"/>
                  <a:t>a</a:t>
                </a:r>
                <a:r>
                  <a:rPr sz="2600">
                    <a:solidFill>
                      <a:srgbClr val="1E293B"/>
                    </a:solidFill>
                    <a:latin typeface="Calibri"/>
                  </a:rPr>
                  <a:t>, </a:t>
                </a:r>
                <a:r>
                  <a:rPr lang="vi-VN"/>
                  <a:t>M</a:t>
                </a:r>
                <a:r>
                  <a:rPr sz="2600">
                    <a:solidFill>
                      <a:srgbClr val="1E293B"/>
                    </a:solidFill>
                    <a:latin typeface="Calibri"/>
                  </a:rPr>
                  <a:t> là trung điểm </a:t>
                </a:r>
                <a:r>
                  <a:rPr lang="vi-VN"/>
                  <a:t>CD</a:t>
                </a:r>
                <a:r>
                  <a:rPr sz="2600">
                    <a:solidFill>
                      <a:srgbClr val="1E293B"/>
                    </a:solidFill>
                    <a:latin typeface="Calibri"/>
                  </a:rPr>
                  <a:t>. Tích vô hướng </a:t>
                </a:r>
                <a:r>
                  <a:rPr lang="vi-VN"/>
                  <a:t>\overrightarrow{AB}</a:t>
                </a:r>
                <a:r>
                  <a:rPr sz="2600">
                    <a:solidFill>
                      <a:srgbClr val="1E293B"/>
                    </a:solidFill>
                    <a:latin typeface="Calibri"/>
                  </a:rPr>
                  <a:t> · </a:t>
                </a:r>
                <a:r>
                  <a:rPr lang="vi-VN"/>
                  <a:t>\overrightarrow{AM}</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f>
                      <m:fPr>
                        <m:type m:val="bar"/>
                      </m:fPr>
                      <m:num>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num>
                      <m:den>
                        <m:r>
                          <a:rPr lang="vi-VN" sz="2400" b="0">
                            <a:solidFill>
                              <a:srgbClr val="1E293B"/>
                            </a:solidFill>
                            <a:latin typeface="Cambria Math" panose="02040503050406030204" pitchFamily="18" charset="0"/>
                          </a:rPr>
                          <m:t>4</m:t>
                        </m:r>
                      </m:den>
                    </m:f>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\frac{a^2}{4}</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f>
                      <m:fPr>
                        <m:type m:val="bar"/>
                      </m:fPr>
                      <m:num>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num>
                      <m:den>
                        <m:r>
                          <a:rPr lang="vi-VN" sz="2400" b="0">
                            <a:solidFill>
                              <a:srgbClr val="1E293B"/>
                            </a:solidFill>
                            <a:latin typeface="Cambria Math" panose="02040503050406030204" pitchFamily="18" charset="0"/>
                          </a:rPr>
                          <m:t>2</m:t>
                        </m:r>
                      </m:den>
                    </m:f>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\frac{a^2}{2}</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f>
                      <m:fPr>
                        <m:type m:val="bar"/>
                      </m:fPr>
                      <m:num>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num>
                      <m:den>
                        <m:r>
                          <a:rPr lang="vi-VN" sz="2400" b="0">
                            <a:solidFill>
                              <a:srgbClr val="1E293B"/>
                            </a:solidFill>
                            <a:latin typeface="Cambria Math" panose="02040503050406030204" pitchFamily="18" charset="0"/>
                          </a:rPr>
                          <m:t>3</m:t>
                        </m:r>
                      </m:den>
                    </m:f>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\frac{a^2}{3}</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a^2</a:t>
                </a:r>
              </a:p>
            </p:txBody>
          </p:sp>
        </mc:Fallback>
      </mc:AlternateContent>
      <p:sp>
        <p:nvSpPr>
          <p:cNvPr id="16" name="s1_nen"/>
          <p:cNvSpPr/>
          <p:nvPr/>
        </p:nvSpPr>
        <p:spPr>
          <a:xfrm>
            <a:off x="548640" y="4617720"/>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9799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oMath>
                </a14:m>
                <a:r>
                  <a:rPr sz="2200">
                    <a:solidFill>
                      <a:srgbClr val="1E293B"/>
                    </a:solidFill>
                    <a:latin typeface="Calibri"/>
                  </a:rPr>
                  <a:t>(</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d>
                      <m:dPr>
                        <m:sepChr m:val="+"/>
                      </m:dPr>
                      <m:e>
                        <m:f>
                          <m:fPr>
                            <m:type m:val="bar"/>
                          </m:fPr>
                          <m:num>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e>
                      <m:e>
                        <m:f>
                          <m:fPr>
                            <m:type m:val="bar"/>
                          </m:fPr>
                          <m:num>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e>
                    </m:d>
                    <m:r>
                      <a:rPr lang="vi-VN" sz="2200" b="0">
                        <a:solidFill>
                          <a:srgbClr val="1E293B"/>
                        </a:solidFill>
                        <a:latin typeface="Cambria Math" panose="02040503050406030204" pitchFamily="18" charset="0"/>
                      </a:rPr>
                      <m:t>=</m:t>
                    </m:r>
                    <m:f>
                      <m:fPr>
                        <m:type m:val="bar"/>
                      </m:fPr>
                      <m:num>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oMath>
                </a14:m>
                <a:r>
                  <a:rPr sz="2200">
                    <a:solidFill>
                      <a:srgbClr val="1E293B"/>
                    </a:solidFill>
                    <a:latin typeface="Calibri"/>
                  </a:rPr>
                  <a:t>.</a:t>
                </a:r>
              </a:p>
            </p:txBody>
          </p:sp>
        </mc:Choice>
        <mc:Fallback>
          <p:sp>
            <p:nvSpPr>
              <p:cNvPr id="17" name="TextBox 16"/>
              <p:cNvSpPr txBox="1"/>
              <p:nvPr/>
            </p:nvSpPr>
            <p:spPr>
              <a:xfrm>
                <a:off x="713232" y="4654296"/>
                <a:ext cx="10735056" cy="9799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\overrightarrow{AB}</a:t>
                </a:r>
                <a:r>
                  <a:rPr sz="2200">
                    <a:solidFill>
                      <a:srgbClr val="1E293B"/>
                    </a:solidFill>
                    <a:latin typeface="Calibri"/>
                  </a:rPr>
                  <a:t> · </a:t>
                </a:r>
                <a:r>
                  <a:rPr lang="vi-VN"/>
                  <a:t>\overrightarrow{AM}</a:t>
                </a:r>
                <a:r>
                  <a:rPr sz="2200">
                    <a:solidFill>
                      <a:srgbClr val="1E293B"/>
                    </a:solidFill>
                    <a:latin typeface="Calibri"/>
                  </a:rPr>
                  <a:t> = </a:t>
                </a:r>
                <a:r>
                  <a:rPr lang="vi-VN"/>
                  <a:t>\frac{1}{2}</a:t>
                </a:r>
                <a:r>
                  <a:rPr sz="2200">
                    <a:solidFill>
                      <a:srgbClr val="1E293B"/>
                    </a:solidFill>
                    <a:latin typeface="Calibri"/>
                  </a:rPr>
                  <a:t>(</a:t>
                </a:r>
                <a:r>
                  <a:rPr lang="vi-VN"/>
                  <a:t>\overrightarrow{AB}</a:t>
                </a:r>
                <a:r>
                  <a:rPr sz="2200">
                    <a:solidFill>
                      <a:srgbClr val="1E293B"/>
                    </a:solidFill>
                    <a:latin typeface="Calibri"/>
                  </a:rPr>
                  <a:t> · </a:t>
                </a:r>
                <a:r>
                  <a:rPr lang="vi-VN"/>
                  <a:t>\overrightarrow{AC}</a:t>
                </a:r>
                <a:r>
                  <a:rPr sz="2200">
                    <a:solidFill>
                      <a:srgbClr val="1E293B"/>
                    </a:solidFill>
                    <a:latin typeface="Calibri"/>
                  </a:rPr>
                  <a:t> + </a:t>
                </a:r>
                <a:r>
                  <a:rPr lang="vi-VN"/>
                  <a:t>\overrightarrow{AB}</a:t>
                </a:r>
                <a:r>
                  <a:rPr sz="2200">
                    <a:solidFill>
                      <a:srgbClr val="1E293B"/>
                    </a:solidFill>
                    <a:latin typeface="Calibri"/>
                  </a:rPr>
                  <a:t> · </a:t>
                </a:r>
                <a:r>
                  <a:rPr lang="vi-VN"/>
                  <a:t>\overrightarrow{AD}</a:t>
                </a:r>
                <a:r>
                  <a:rPr sz="2200">
                    <a:solidFill>
                      <a:srgbClr val="1E293B"/>
                    </a:solidFill>
                    <a:latin typeface="Calibri"/>
                  </a:rPr>
                  <a:t>) = </a:t>
                </a:r>
                <a:r>
                  <a:rPr lang="vi-VN"/>
                  <a:t>\frac{1}{2}\left(\frac{a^2}{2}+\frac{a^2}{2}\right)=\frac{a^2}{2}</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=(1;−2;2)</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=(−2;0;3)</m:t>
                    </m:r>
                  </m:oMath>
                </a14:m>
                <a:r>
                  <a:rPr sz="2600">
                    <a:solidFill>
                      <a:srgbClr val="1E293B"/>
                    </a:solidFill>
                    <a:latin typeface="Calibri"/>
                  </a:rPr>
                  <a:t>. Khẳng định nào dưới đây là </a:t>
                </a:r>
                <a:r>
                  <a:rPr sz="2600" b="1">
                    <a:solidFill>
                      <a:srgbClr val="1E293B"/>
                    </a:solidFill>
                    <a:latin typeface="Calibri"/>
                  </a:rPr>
                  <a:t>sai</a:t>
                </a:r>
                <a:r>
                  <a:rPr sz="2600">
                    <a:solidFill>
                      <a:srgbClr val="1E293B"/>
                    </a:solidFill>
                    <a:latin typeface="Calibri"/>
                  </a:rPr>
                  <a:t>?</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\vec{a}=(1;-2;2)</a:t>
                </a:r>
                <a:r>
                  <a:rPr sz="2600">
                    <a:solidFill>
                      <a:srgbClr val="1E293B"/>
                    </a:solidFill>
                    <a:latin typeface="Calibri"/>
                  </a:rPr>
                  <a:t>, </a:t>
                </a:r>
                <a:r>
                  <a:rPr lang="vi-VN"/>
                  <a:t>\vec{b}=(-2;0;3)</a:t>
                </a:r>
                <a:r>
                  <a:rPr sz="2600">
                    <a:solidFill>
                      <a:srgbClr val="1E293B"/>
                    </a:solidFill>
                    <a:latin typeface="Calibri"/>
                  </a:rPr>
                  <a:t>. Khẳng định nào dưới đây là </a:t>
                </a:r>
                <a:r>
                  <a:rPr sz="2600" b="1">
                    <a:solidFill>
                      <a:srgbClr val="1E293B"/>
                    </a:solidFill>
                    <a:latin typeface="Calibri"/>
                  </a:rPr>
                  <a:t>sai</a:t>
                </a:r>
                <a:r>
                  <a:rPr sz="2600">
                    <a:solidFill>
                      <a:srgbClr val="1E293B"/>
                    </a:solidFill>
                    <a:latin typeface="Calibri"/>
                  </a:rPr>
                  <a:t>?</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=(−1;−2;5)</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\vec{a}+\vec{b}=(-1;-2;5)</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=(3;−2;−1)</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\vec{a}-\vec{b}=(3;-2;-1)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=(3;−2;2)</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3\vec{a}=(3;-2;2)</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=(0;−4;7)</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2\vec{a}+\vec{b}=(0;-4;7)</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=(3;−6;6)</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r>
                  <a:rPr lang="vi-VN"/>
                  <a:t>3\vec{a}=(3;-6;6)</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bình hành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có </a:t>
                </a:r>
                <a14:m>
                  <m:oMath xmlns:m="http://schemas.openxmlformats.org/officeDocument/2006/math">
                    <m:r>
                      <a:rPr lang="vi-VN" sz="2600" b="0">
                        <a:solidFill>
                          <a:srgbClr val="1E293B"/>
                        </a:solidFill>
                        <a:latin typeface="Cambria Math" panose="02040503050406030204" pitchFamily="18" charset="0"/>
                      </a:rPr>
                      <m:t>A(−1;0;3)</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B(2;1;−1)</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C(3;2;2)</m:t>
                    </m:r>
                  </m:oMath>
                </a14:m>
                <a:r>
                  <a:rPr sz="2600">
                    <a:solidFill>
                      <a:srgbClr val="1E293B"/>
                    </a:solidFill>
                    <a:latin typeface="Calibri"/>
                  </a:rPr>
                  <a:t>. Toạ độ điểm </a:t>
                </a:r>
                <a14:m>
                  <m:oMath xmlns:m="http://schemas.openxmlformats.org/officeDocument/2006/math">
                    <m:r>
                      <a:rPr lang="vi-VN" sz="2600" b="0">
                        <a:solidFill>
                          <a:srgbClr val="1E293B"/>
                        </a:solidFill>
                        <a:latin typeface="Cambria Math" panose="02040503050406030204" pitchFamily="18" charset="0"/>
                      </a:rPr>
                      <m:t>D</m:t>
                    </m:r>
                  </m:oMath>
                </a14:m>
                <a:r>
                  <a:rPr sz="2600">
                    <a:solidFill>
                      <a:srgbClr val="1E293B"/>
                    </a:solidFill>
                    <a:latin typeface="Calibri"/>
                  </a:rPr>
                  <a:t> là</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bình hành </a:t>
                </a:r>
                <a:r>
                  <a:rPr lang="vi-VN"/>
                  <a:t>ABCD</a:t>
                </a:r>
                <a:r>
                  <a:rPr sz="2600">
                    <a:solidFill>
                      <a:srgbClr val="1E293B"/>
                    </a:solidFill>
                    <a:latin typeface="Calibri"/>
                  </a:rPr>
                  <a:t> có </a:t>
                </a:r>
                <a:r>
                  <a:rPr lang="vi-VN"/>
                  <a:t>A(-1;0;3)</a:t>
                </a:r>
                <a:r>
                  <a:rPr sz="2600">
                    <a:solidFill>
                      <a:srgbClr val="1E293B"/>
                    </a:solidFill>
                    <a:latin typeface="Calibri"/>
                  </a:rPr>
                  <a:t>, </a:t>
                </a:r>
                <a:r>
                  <a:rPr lang="vi-VN"/>
                  <a:t>B(2;1;-1)</a:t>
                </a:r>
                <a:r>
                  <a:rPr sz="2600">
                    <a:solidFill>
                      <a:srgbClr val="1E293B"/>
                    </a:solidFill>
                    <a:latin typeface="Calibri"/>
                  </a:rPr>
                  <a:t>, </a:t>
                </a:r>
                <a:r>
                  <a:rPr lang="vi-VN"/>
                  <a:t>C(3;2;2)</a:t>
                </a:r>
                <a:r>
                  <a:rPr sz="2600">
                    <a:solidFill>
                      <a:srgbClr val="1E293B"/>
                    </a:solidFill>
                    <a:latin typeface="Calibri"/>
                  </a:rPr>
                  <a:t>. Toạ độ điểm </a:t>
                </a:r>
                <a:r>
                  <a:rPr lang="vi-VN"/>
                  <a:t>D</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(2;-1;0)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6</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(0;-1;-6)</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6</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(0;1;6)</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(-2;1;0)</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D(0;1;6)</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r>
                  <a:rPr lang="vi-VN"/>
                  <a:t>\overrightarrow{AD}</a:t>
                </a:r>
                <a:r>
                  <a:rPr sz="2200">
                    <a:solidFill>
                      <a:srgbClr val="1E293B"/>
                    </a:solidFill>
                    <a:latin typeface="Calibri"/>
                  </a:rPr>
                  <a:t> = </a:t>
                </a:r>
                <a:r>
                  <a:rPr lang="vi-VN"/>
                  <a:t>\overrightarrow{BC}</a:t>
                </a:r>
                <a:r>
                  <a:rPr sz="2200">
                    <a:solidFill>
                      <a:srgbClr val="1E293B"/>
                    </a:solidFill>
                    <a:latin typeface="Calibri"/>
                  </a:rPr>
                  <a:t> = </a:t>
                </a:r>
                <a:r>
                  <a:rPr lang="vi-VN"/>
                  <a:t>(1;1;3)</a:t>
                </a:r>
                <a:r>
                  <a:rPr sz="2200">
                    <a:solidFill>
                      <a:srgbClr val="1E293B"/>
                    </a:solidFill>
                    <a:latin typeface="Calibri"/>
                  </a:rPr>
                  <a:t> ⇒ </a:t>
                </a:r>
                <a:r>
                  <a:rPr lang="vi-VN"/>
                  <a:t>D(0;1;6)</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A(1;0;−1)</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B(0;−1;2)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G(2;1;0)</m:t>
                    </m:r>
                  </m:oMath>
                </a14:m>
                <a:r>
                  <a:rPr sz="2600">
                    <a:solidFill>
                      <a:srgbClr val="1E293B"/>
                    </a:solidFill>
                    <a:latin typeface="Calibri"/>
                  </a:rPr>
                  <a:t>. Tam giác </a:t>
                </a:r>
                <a14:m>
                  <m:oMath xmlns:m="http://schemas.openxmlformats.org/officeDocument/2006/math">
                    <m:r>
                      <a:rPr lang="vi-VN" sz="2600" b="0">
                        <a:solidFill>
                          <a:srgbClr val="1E293B"/>
                        </a:solidFill>
                        <a:latin typeface="Cambria Math" panose="02040503050406030204" pitchFamily="18" charset="0"/>
                      </a:rPr>
                      <m:t>ABC</m:t>
                    </m:r>
                  </m:oMath>
                </a14:m>
                <a:r>
                  <a:rPr sz="2600">
                    <a:solidFill>
                      <a:srgbClr val="1E293B"/>
                    </a:solidFill>
                    <a:latin typeface="Calibri"/>
                  </a:rPr>
                  <a:t> có trọng tâm </a:t>
                </a:r>
                <a14:m>
                  <m:oMath xmlns:m="http://schemas.openxmlformats.org/officeDocument/2006/math">
                    <m:r>
                      <a:rPr lang="vi-VN" sz="2600" b="0">
                        <a:solidFill>
                          <a:srgbClr val="1E293B"/>
                        </a:solidFill>
                        <a:latin typeface="Cambria Math" panose="02040503050406030204" pitchFamily="18" charset="0"/>
                      </a:rPr>
                      <m:t>G</m:t>
                    </m:r>
                  </m:oMath>
                </a14:m>
                <a:r>
                  <a:rPr sz="2600">
                    <a:solidFill>
                      <a:srgbClr val="1E293B"/>
                    </a:solidFill>
                    <a:latin typeface="Calibri"/>
                  </a:rPr>
                  <a:t>. Toạ độ điểm </a:t>
                </a:r>
                <a14:m>
                  <m:oMath xmlns:m="http://schemas.openxmlformats.org/officeDocument/2006/math">
                    <m:r>
                      <a:rPr lang="vi-VN" sz="2600" b="0">
                        <a:solidFill>
                          <a:srgbClr val="1E293B"/>
                        </a:solidFill>
                        <a:latin typeface="Cambria Math" panose="02040503050406030204" pitchFamily="18" charset="0"/>
                      </a:rPr>
                      <m:t>C</m:t>
                    </m:r>
                  </m:oMath>
                </a14:m>
                <a:r>
                  <a:rPr sz="2600">
                    <a:solidFill>
                      <a:srgbClr val="1E293B"/>
                    </a:solidFill>
                    <a:latin typeface="Calibri"/>
                  </a:rPr>
                  <a:t> là</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A(1;0;-1)</a:t>
                </a:r>
                <a:r>
                  <a:rPr sz="2600">
                    <a:solidFill>
                      <a:srgbClr val="1E293B"/>
                    </a:solidFill>
                    <a:latin typeface="Calibri"/>
                  </a:rPr>
                  <a:t>, </a:t>
                </a:r>
                <a:r>
                  <a:rPr lang="vi-VN"/>
                  <a:t>B(0;-1;2)</a:t>
                </a:r>
                <a:r>
                  <a:rPr sz="2600">
                    <a:solidFill>
                      <a:srgbClr val="1E293B"/>
                    </a:solidFill>
                    <a:latin typeface="Calibri"/>
                  </a:rPr>
                  <a:t>, </a:t>
                </a:r>
                <a:r>
                  <a:rPr lang="vi-VN"/>
                  <a:t>G(2;1;0)</a:t>
                </a:r>
                <a:r>
                  <a:rPr sz="2600">
                    <a:solidFill>
                      <a:srgbClr val="1E293B"/>
                    </a:solidFill>
                    <a:latin typeface="Calibri"/>
                  </a:rPr>
                  <a:t>. Tam giác </a:t>
                </a:r>
                <a:r>
                  <a:rPr lang="vi-VN"/>
                  <a:t>ABC</a:t>
                </a:r>
                <a:r>
                  <a:rPr sz="2600">
                    <a:solidFill>
                      <a:srgbClr val="1E293B"/>
                    </a:solidFill>
                    <a:latin typeface="Calibri"/>
                  </a:rPr>
                  <a:t> có trọng tâm </a:t>
                </a:r>
                <a:r>
                  <a:rPr lang="vi-VN"/>
                  <a:t>G</a:t>
                </a:r>
                <a:r>
                  <a:rPr sz="2600">
                    <a:solidFill>
                      <a:srgbClr val="1E293B"/>
                    </a:solidFill>
                    <a:latin typeface="Calibri"/>
                  </a:rPr>
                  <a:t>. Toạ độ điểm </a:t>
                </a:r>
                <a:r>
                  <a:rPr lang="vi-VN"/>
                  <a:t>C</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(5;4;-1)</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(-5;-4;1)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(1;2;-1)</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(-1;-2;1)</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C=3G−A−B=(6−1−0;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3−0+1;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0+1−2)=(5;4;−1)</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C=3G-A-B=(6-1-0;\ 3-0+1;\ 0+1-2)=(5;4;-1)</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=(2;1;−3)</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=(−2;−1;2)</m:t>
                    </m:r>
                  </m:oMath>
                </a14:m>
                <a:r>
                  <a:rPr sz="2600">
                    <a:solidFill>
                      <a:srgbClr val="1E293B"/>
                    </a:solidFill>
                    <a:latin typeface="Calibri"/>
                  </a:rPr>
                  <a:t>. Tích vô hướng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\vec{a}=(2;1;-3)</a:t>
                </a:r>
                <a:r>
                  <a:rPr sz="2600">
                    <a:solidFill>
                      <a:srgbClr val="1E293B"/>
                    </a:solidFill>
                    <a:latin typeface="Calibri"/>
                  </a:rPr>
                  <a:t>, </a:t>
                </a:r>
                <a:r>
                  <a:rPr lang="vi-VN"/>
                  <a:t>\vec{b}=(-2;-1;2)</a:t>
                </a:r>
                <a:r>
                  <a:rPr sz="2600">
                    <a:solidFill>
                      <a:srgbClr val="1E293B"/>
                    </a:solidFill>
                    <a:latin typeface="Calibri"/>
                  </a:rPr>
                  <a:t>. Tích vô hướng </a:t>
                </a:r>
                <a:r>
                  <a:rPr lang="vi-VN"/>
                  <a:t>\vec{a}\cdot\vec{b}</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-2</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−11</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11</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11</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−4−1−6=−11</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-4-1-6=-11</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=(2;1;−2)</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=(0;−1;1)</m:t>
                    </m:r>
                  </m:oMath>
                </a14:m>
                <a:r>
                  <a:rPr sz="2600">
                    <a:solidFill>
                      <a:srgbClr val="1E293B"/>
                    </a:solidFill>
                    <a:latin typeface="Calibri"/>
                  </a:rPr>
                  <a:t>. Góc giữa hai vectơ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\vec{a}=(2;1;-2)</a:t>
                </a:r>
                <a:r>
                  <a:rPr sz="2600">
                    <a:solidFill>
                      <a:srgbClr val="1E293B"/>
                    </a:solidFill>
                    <a:latin typeface="Calibri"/>
                  </a:rPr>
                  <a:t>, </a:t>
                </a:r>
                <a:r>
                  <a:rPr lang="vi-VN"/>
                  <a:t>\vec{b}=(0;-1;1)</a:t>
                </a:r>
                <a:r>
                  <a:rPr sz="2600">
                    <a:solidFill>
                      <a:srgbClr val="1E293B"/>
                    </a:solidFill>
                    <a:latin typeface="Calibri"/>
                  </a:rPr>
                  <a:t>. Góc giữa hai vectơ </a:t>
                </a:r>
                <a:r>
                  <a:rPr lang="vi-VN"/>
                  <a:t>\vec{a},\ \vec{b}</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60</m:t>
                        </m:r>
                      </m:e>
                      <m:sup>
                        <m:r>
                          <a:rPr lang="vi-VN" sz="2400" b="0">
                            <a:solidFill>
                              <a:srgbClr val="1E293B"/>
                            </a:solidFill>
                            <a:latin typeface="Cambria Math" panose="02040503050406030204" pitchFamily="18" charset="0"/>
                          </a:rPr>
                          <m:t>∘</m:t>
                        </m:r>
                      </m:sup>
                    </m:sSup>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60^\circ</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135</m:t>
                        </m:r>
                      </m:e>
                      <m:sup>
                        <m:r>
                          <a:rPr lang="vi-VN" sz="2400" b="0">
                            <a:solidFill>
                              <a:srgbClr val="1E293B"/>
                            </a:solidFill>
                            <a:latin typeface="Cambria Math" panose="02040503050406030204" pitchFamily="18" charset="0"/>
                          </a:rPr>
                          <m:t>∘</m:t>
                        </m:r>
                      </m:sup>
                    </m:sSup>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135^\circ</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120</m:t>
                        </m:r>
                      </m:e>
                      <m:sup>
                        <m:r>
                          <a:rPr lang="vi-VN" sz="2400" b="0">
                            <a:solidFill>
                              <a:srgbClr val="1E293B"/>
                            </a:solidFill>
                            <a:latin typeface="Cambria Math" panose="02040503050406030204" pitchFamily="18" charset="0"/>
                          </a:rPr>
                          <m:t>∘</m:t>
                        </m:r>
                      </m:sup>
                    </m:sSup>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120^\circ</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45^\circ</a:t>
                </a:r>
              </a:p>
            </p:txBody>
          </p:sp>
        </mc:Fallback>
      </mc:AlternateContent>
      <p:sp>
        <p:nvSpPr>
          <p:cNvPr id="16" name="s1_nen"/>
          <p:cNvSpPr/>
          <p:nvPr/>
        </p:nvSpPr>
        <p:spPr>
          <a:xfrm>
            <a:off x="548640" y="4617720"/>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−3</m:t>
                        </m:r>
                      </m:num>
                      <m:den>
                        <m:r>
                          <a:rPr lang="vi-VN" sz="2200" b="0">
                            <a:solidFill>
                              <a:srgbClr val="1E293B"/>
                            </a:solidFill>
                            <a:latin typeface="Cambria Math" panose="02040503050406030204" pitchFamily="18" charset="0"/>
                          </a:rPr>
                          <m:t>3</m:t>
                        </m:r>
                        <m:rad>
                          <m:radPr>
                            <m:degHide m:val="on"/>
                          </m:radPr>
                          <m:deg/>
                          <m:e>
                            <m:r>
                              <a:rPr lang="vi-VN" sz="2200" b="0">
                                <a:solidFill>
                                  <a:srgbClr val="1E293B"/>
                                </a:solidFill>
                                <a:latin typeface="Cambria Math" panose="02040503050406030204" pitchFamily="18" charset="0"/>
                              </a:rPr>
                              <m:t>2</m:t>
                            </m:r>
                          </m:e>
                        </m:rad>
                      </m:den>
                    </m:f>
                    <m:r>
                      <a:rPr lang="vi-VN" sz="2200" b="0">
                        <a:solidFill>
                          <a:srgbClr val="1E293B"/>
                        </a:solidFill>
                        <a:latin typeface="Cambria Math" panose="02040503050406030204" pitchFamily="18" charset="0"/>
                      </a:rPr>
                      <m:t>=−</m:t>
                    </m:r>
                    <m:f>
                      <m:fPr>
                        <m:type m:val="bar"/>
                      </m:fPr>
                      <m:num>
                        <m:rad>
                          <m:radPr>
                            <m:degHide m:val="on"/>
                          </m:radPr>
                          <m:deg/>
                          <m:e>
                            <m:r>
                              <a:rPr lang="vi-VN" sz="2200" b="0">
                                <a:solidFill>
                                  <a:srgbClr val="1E293B"/>
                                </a:solidFill>
                                <a:latin typeface="Cambria Math" panose="02040503050406030204" pitchFamily="18" charset="0"/>
                              </a:rPr>
                              <m:t>2</m:t>
                            </m:r>
                          </m:e>
                        </m:rad>
                      </m:num>
                      <m:den>
                        <m:r>
                          <a:rPr lang="vi-VN" sz="2200" b="0">
                            <a:solidFill>
                              <a:srgbClr val="1E293B"/>
                            </a:solidFill>
                            <a:latin typeface="Cambria Math" panose="02040503050406030204" pitchFamily="18" charset="0"/>
                          </a:rPr>
                          <m:t>2</m:t>
                        </m:r>
                      </m:den>
                    </m:f>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135</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7" name="TextBox 16"/>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\cos=\frac{-3}{3\sqrt{2}}=-\frac{\sqrt{2}}{2}</a:t>
                </a:r>
                <a:r>
                  <a:rPr sz="2200">
                    <a:solidFill>
                      <a:srgbClr val="1E293B"/>
                    </a:solidFill>
                    <a:latin typeface="Calibri"/>
                  </a:rPr>
                  <a:t> ⇒ </a:t>
                </a:r>
                <a:r>
                  <a:rPr lang="vi-VN"/>
                  <a:t>135^\circ</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=(−2;2;2)</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=(1;−1;−2)</m:t>
                    </m:r>
                  </m:oMath>
                </a14:m>
                <a:r>
                  <a:rPr sz="2600">
                    <a:solidFill>
                      <a:srgbClr val="1E293B"/>
                    </a:solidFill>
                    <a:latin typeface="Calibri"/>
                  </a:rPr>
                  <a:t>. Côsin của góc giữa hai vectơ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\vec{a}=(-2;2;2)</a:t>
                </a:r>
                <a:r>
                  <a:rPr sz="2600">
                    <a:solidFill>
                      <a:srgbClr val="1E293B"/>
                    </a:solidFill>
                    <a:latin typeface="Calibri"/>
                  </a:rPr>
                  <a:t>, </a:t>
                </a:r>
                <a:r>
                  <a:rPr lang="vi-VN"/>
                  <a:t>\vec{b}=(1;-1;-2)</a:t>
                </a:r>
                <a:r>
                  <a:rPr sz="2600">
                    <a:solidFill>
                      <a:srgbClr val="1E293B"/>
                    </a:solidFill>
                    <a:latin typeface="Calibri"/>
                  </a:rPr>
                  <a:t>. Côsin của góc giữa hai vectơ </a:t>
                </a:r>
                <a:r>
                  <a:rPr lang="vi-VN"/>
                  <a:t>\vec{a},\ \vec{b}</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−2</m:t>
                        </m:r>
                        <m:rad>
                          <m:radPr>
                            <m:degHide m:val="on"/>
                          </m:radPr>
                          <m:deg/>
                          <m:e>
                            <m:r>
                              <a:rPr lang="vi-VN" sz="2400" b="0">
                                <a:solidFill>
                                  <a:srgbClr val="1E293B"/>
                                </a:solidFill>
                                <a:latin typeface="Cambria Math" panose="02040503050406030204" pitchFamily="18" charset="0"/>
                              </a:rPr>
                              <m:t>2</m:t>
                            </m:r>
                          </m:e>
                        </m:rad>
                      </m:num>
                      <m:den>
                        <m:r>
                          <a:rPr lang="vi-VN" sz="2400" b="0">
                            <a:solidFill>
                              <a:srgbClr val="1E293B"/>
                            </a:solidFill>
                            <a:latin typeface="Cambria Math" panose="02040503050406030204" pitchFamily="18" charset="0"/>
                          </a:rPr>
                          <m:t>3</m:t>
                        </m:r>
                      </m:den>
                    </m:f>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\frac{-2\sqrt{2}}{3}</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2</m:t>
                        </m:r>
                        <m:rad>
                          <m:radPr>
                            <m:degHide m:val="on"/>
                          </m:radPr>
                          <m:deg/>
                          <m:e>
                            <m:r>
                              <a:rPr lang="vi-VN" sz="2400" b="0">
                                <a:solidFill>
                                  <a:srgbClr val="1E293B"/>
                                </a:solidFill>
                                <a:latin typeface="Cambria Math" panose="02040503050406030204" pitchFamily="18" charset="0"/>
                              </a:rPr>
                              <m:t>2</m:t>
                            </m:r>
                          </m:e>
                        </m:rad>
                      </m:num>
                      <m:den>
                        <m:r>
                          <a:rPr lang="vi-VN" sz="2400" b="0">
                            <a:solidFill>
                              <a:srgbClr val="1E293B"/>
                            </a:solidFill>
                            <a:latin typeface="Cambria Math" panose="02040503050406030204" pitchFamily="18" charset="0"/>
                          </a:rPr>
                          <m:t>3</m:t>
                        </m:r>
                      </m:den>
                    </m:f>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\frac{2\sqrt{2}}{3}</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f>
                      <m:fPr>
                        <m:type m:val="bar"/>
                      </m:fPr>
                      <m:num>
                        <m:rad>
                          <m:radPr>
                            <m:degHide m:val="on"/>
                          </m:radPr>
                          <m:deg/>
                          <m:e>
                            <m:r>
                              <a:rPr lang="vi-VN" sz="2400" b="0">
                                <a:solidFill>
                                  <a:srgbClr val="1E293B"/>
                                </a:solidFill>
                                <a:latin typeface="Cambria Math" panose="02040503050406030204" pitchFamily="18" charset="0"/>
                              </a:rPr>
                              <m:t>2</m:t>
                            </m:r>
                          </m:e>
                        </m:rad>
                      </m:num>
                      <m:den>
                        <m:r>
                          <a:rPr lang="vi-VN" sz="2400" b="0">
                            <a:solidFill>
                              <a:srgbClr val="1E293B"/>
                            </a:solidFill>
                            <a:latin typeface="Cambria Math" panose="02040503050406030204" pitchFamily="18" charset="0"/>
                          </a:rPr>
                          <m:t>3</m:t>
                        </m:r>
                      </m:den>
                    </m:f>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\frac{\sqrt{2}}{3}</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m:t>
                        </m:r>
                        <m:rad>
                          <m:radPr>
                            <m:degHide m:val="on"/>
                          </m:radPr>
                          <m:deg/>
                          <m:e>
                            <m:r>
                              <a:rPr lang="vi-VN" sz="2400" b="0">
                                <a:solidFill>
                                  <a:srgbClr val="1E293B"/>
                                </a:solidFill>
                                <a:latin typeface="Cambria Math" panose="02040503050406030204" pitchFamily="18" charset="0"/>
                              </a:rPr>
                              <m:t>2</m:t>
                            </m:r>
                          </m:e>
                        </m:rad>
                      </m:num>
                      <m:den>
                        <m:r>
                          <a:rPr lang="vi-VN" sz="2400" b="0">
                            <a:solidFill>
                              <a:srgbClr val="1E293B"/>
                            </a:solidFill>
                            <a:latin typeface="Cambria Math" panose="02040503050406030204" pitchFamily="18" charset="0"/>
                          </a:rPr>
                          <m:t>3</m:t>
                        </m:r>
                      </m:den>
                    </m:f>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\frac{-\sqrt{2}}{3}</a:t>
                </a:r>
              </a:p>
            </p:txBody>
          </p:sp>
        </mc:Fallback>
      </mc:AlternateContent>
      <p:sp>
        <p:nvSpPr>
          <p:cNvPr id="16" name="s1_nen"/>
          <p:cNvSpPr/>
          <p:nvPr/>
        </p:nvSpPr>
        <p:spPr>
          <a:xfrm>
            <a:off x="548640" y="4617720"/>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9799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−2−2−4</m:t>
                        </m:r>
                      </m:num>
                      <m:den>
                        <m:r>
                          <a:rPr lang="vi-VN" sz="2200" b="0">
                            <a:solidFill>
                              <a:srgbClr val="1E293B"/>
                            </a:solidFill>
                            <a:latin typeface="Cambria Math" panose="02040503050406030204" pitchFamily="18" charset="0"/>
                          </a:rPr>
                          <m:t>2</m:t>
                        </m:r>
                        <m:rad>
                          <m:radPr>
                            <m:degHide m:val="on"/>
                          </m:radPr>
                          <m:deg/>
                          <m:e>
                            <m:r>
                              <a:rPr lang="vi-VN" sz="2200" b="0">
                                <a:solidFill>
                                  <a:srgbClr val="1E293B"/>
                                </a:solidFill>
                                <a:latin typeface="Cambria Math" panose="02040503050406030204" pitchFamily="18" charset="0"/>
                              </a:rPr>
                              <m:t>3</m:t>
                            </m:r>
                          </m:e>
                        </m:rad>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6</m:t>
                            </m:r>
                          </m:e>
                        </m:rad>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−8</m:t>
                        </m:r>
                      </m:num>
                      <m:den>
                        <m:r>
                          <a:rPr lang="vi-VN" sz="2200" b="0">
                            <a:solidFill>
                              <a:srgbClr val="1E293B"/>
                            </a:solidFill>
                            <a:latin typeface="Cambria Math" panose="02040503050406030204" pitchFamily="18" charset="0"/>
                          </a:rPr>
                          <m:t>6</m:t>
                        </m:r>
                        <m:rad>
                          <m:radPr>
                            <m:degHide m:val="on"/>
                          </m:radPr>
                          <m:deg/>
                          <m:e>
                            <m:r>
                              <a:rPr lang="vi-VN" sz="2200" b="0">
                                <a:solidFill>
                                  <a:srgbClr val="1E293B"/>
                                </a:solidFill>
                                <a:latin typeface="Cambria Math" panose="02040503050406030204" pitchFamily="18" charset="0"/>
                              </a:rPr>
                              <m:t>2</m:t>
                            </m:r>
                          </m:e>
                        </m:rad>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−2</m:t>
                        </m:r>
                        <m:rad>
                          <m:radPr>
                            <m:degHide m:val="on"/>
                          </m:radPr>
                          <m:deg/>
                          <m:e>
                            <m:r>
                              <a:rPr lang="vi-VN" sz="2200" b="0">
                                <a:solidFill>
                                  <a:srgbClr val="1E293B"/>
                                </a:solidFill>
                                <a:latin typeface="Cambria Math" panose="02040503050406030204" pitchFamily="18" charset="0"/>
                              </a:rPr>
                              <m:t>2</m:t>
                            </m:r>
                          </m:e>
                        </m:rad>
                      </m:num>
                      <m:den>
                        <m:r>
                          <a:rPr lang="vi-VN" sz="2200" b="0">
                            <a:solidFill>
                              <a:srgbClr val="1E293B"/>
                            </a:solidFill>
                            <a:latin typeface="Cambria Math" panose="02040503050406030204" pitchFamily="18" charset="0"/>
                          </a:rPr>
                          <m:t>3</m:t>
                        </m:r>
                      </m:den>
                    </m:f>
                  </m:oMath>
                </a14:m>
                <a:r>
                  <a:rPr sz="2200">
                    <a:solidFill>
                      <a:srgbClr val="1E293B"/>
                    </a:solidFill>
                    <a:latin typeface="Calibri"/>
                  </a:rPr>
                  <a:t>.</a:t>
                </a:r>
              </a:p>
            </p:txBody>
          </p:sp>
        </mc:Choice>
        <mc:Fallback>
          <p:sp>
            <p:nvSpPr>
              <p:cNvPr id="17" name="TextBox 16"/>
              <p:cNvSpPr txBox="1"/>
              <p:nvPr/>
            </p:nvSpPr>
            <p:spPr>
              <a:xfrm>
                <a:off x="713232" y="4654296"/>
                <a:ext cx="10735056" cy="9799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\cos=\frac{-2-2-4}{2\sqrt{3}\cdot\sqrt{6}}=\frac{-8}{6\sqrt{2}}=\frac{-2\sqrt{2}}{3}</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TỰ LUẬN 2.35 – 2.36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4935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2.35.</a:t>
                </a:r>
                <a:r>
                  <a:rPr sz="2000">
                    <a:solidFill>
                      <a:srgbClr val="1E293B"/>
                    </a:solidFill>
                    <a:latin typeface="Calibri"/>
                  </a:rPr>
                  <a:t> Cho hình chóp </a:t>
                </a:r>
                <a14:m>
                  <m:oMath xmlns:m="http://schemas.openxmlformats.org/officeDocument/2006/math">
                    <m:r>
                      <a:rPr lang="vi-VN" sz="2000" b="0">
                        <a:solidFill>
                          <a:srgbClr val="1E293B"/>
                        </a:solidFill>
                        <a:latin typeface="Cambria Math" panose="02040503050406030204" pitchFamily="18" charset="0"/>
                      </a:rPr>
                      <m:t>S.ABCD</m:t>
                    </m:r>
                  </m:oMath>
                </a14:m>
                <a:r>
                  <a:rPr sz="2000">
                    <a:solidFill>
                      <a:srgbClr val="1E293B"/>
                    </a:solidFill>
                    <a:latin typeface="Calibri"/>
                  </a:rPr>
                  <a:t> có đáy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là hình chữ nhật. Chứng minh rằng </a:t>
                </a:r>
                <a14:m>
                  <m:oMath xmlns:m="http://schemas.openxmlformats.org/officeDocument/2006/math">
                    <m:acc>
                      <m:accPr>
                        <m:chr m:val="⃗"/>
                      </m:accPr>
                      <m:e>
                        <m:r>
                          <a:rPr lang="vi-VN" sz="2000" b="0">
                            <a:solidFill>
                              <a:srgbClr val="1E293B"/>
                            </a:solidFill>
                            <a:latin typeface="Cambria Math" panose="02040503050406030204" pitchFamily="18" charset="0"/>
                          </a:rPr>
                          <m:t>SA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SD</m:t>
                        </m:r>
                      </m:e>
                    </m:acc>
                  </m:oMath>
                </a14:m>
                <a:r>
                  <a:rPr sz="2000">
                    <a:solidFill>
                      <a:srgbClr val="1E293B"/>
                    </a:solidFill>
                    <a:latin typeface="Calibri"/>
                  </a:rPr>
                  <a:t>.</a:t>
                </a:r>
              </a:p>
              <a:p>
                <a:pPr algn="l">
                  <a:spcAft>
                    <a:spcPts val="800"/>
                  </a:spcAft>
                </a:pPr>
                <a:r>
                  <a:rPr sz="2000" b="1">
                    <a:solidFill>
                      <a:srgbClr val="1E293B"/>
                    </a:solidFill>
                    <a:latin typeface="Calibri"/>
                  </a:rPr>
                  <a:t>2.36.</a:t>
                </a:r>
                <a:r>
                  <a:rPr sz="2000">
                    <a:solidFill>
                      <a:srgbClr val="1E293B"/>
                    </a:solidFill>
                    <a:latin typeface="Calibri"/>
                  </a:rPr>
                  <a:t> Cho tứ diện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lấy hai điểm </a:t>
                </a:r>
                <a14:m>
                  <m:oMath xmlns:m="http://schemas.openxmlformats.org/officeDocument/2006/math">
                    <m:r>
                      <a:rPr lang="vi-VN" sz="2000" b="0">
                        <a:solidFill>
                          <a:srgbClr val="1E293B"/>
                        </a:solidFill>
                        <a:latin typeface="Cambria Math" panose="02040503050406030204" pitchFamily="18" charset="0"/>
                      </a:rPr>
                      <m:t>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m:t>
                    </m:r>
                  </m:oMath>
                </a14:m>
                <a:r>
                  <a:rPr sz="2000">
                    <a:solidFill>
                      <a:srgbClr val="1E293B"/>
                    </a:solidFill>
                    <a:latin typeface="Calibri"/>
                  </a:rPr>
                  <a:t> thoả mãn </a:t>
                </a:r>
                <a14:m>
                  <m:oMath xmlns:m="http://schemas.openxmlformats.org/officeDocument/2006/math">
                    <m:acc>
                      <m:accPr>
                        <m:chr m:val="⃗"/>
                      </m:accPr>
                      <m:e>
                        <m:r>
                          <a:rPr lang="vi-VN" sz="2000" b="0">
                            <a:solidFill>
                              <a:srgbClr val="1E293B"/>
                            </a:solidFill>
                            <a:latin typeface="Cambria Math" panose="02040503050406030204" pitchFamily="18" charset="0"/>
                          </a:rPr>
                          <m:t>MB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NC</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DN</m:t>
                        </m:r>
                      </m:e>
                    </m:acc>
                  </m:oMath>
                </a14:m>
                <a:r>
                  <a:rPr sz="2000">
                    <a:solidFill>
                      <a:srgbClr val="1E293B"/>
                    </a:solidFill>
                    <a:latin typeface="Calibri"/>
                  </a:rPr>
                  <a:t>. Hãy biểu diễn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theo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a:t>
                </a:r>
              </a:p>
            </p:txBody>
          </p:sp>
        </mc:Choice>
        <mc:Fallback>
          <p:sp>
            <p:nvSpPr>
              <p:cNvPr id="7" name="TextBox 6"/>
              <p:cNvSpPr txBox="1"/>
              <p:nvPr/>
            </p:nvSpPr>
            <p:spPr>
              <a:xfrm>
                <a:off x="548640" y="1371600"/>
                <a:ext cx="11064240" cy="14935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2.35.</a:t>
                </a:r>
                <a:r>
                  <a:rPr sz="2000">
                    <a:solidFill>
                      <a:srgbClr val="1E293B"/>
                    </a:solidFill>
                    <a:latin typeface="Calibri"/>
                  </a:rPr>
                  <a:t> Cho hình chóp </a:t>
                </a:r>
                <a:r>
                  <a:rPr lang="vi-VN"/>
                  <a:t>S.ABCD</a:t>
                </a:r>
                <a:r>
                  <a:rPr sz="2000">
                    <a:solidFill>
                      <a:srgbClr val="1E293B"/>
                    </a:solidFill>
                    <a:latin typeface="Calibri"/>
                  </a:rPr>
                  <a:t> có đáy </a:t>
                </a:r>
                <a:r>
                  <a:rPr lang="vi-VN"/>
                  <a:t>ABCD</a:t>
                </a:r>
                <a:r>
                  <a:rPr sz="2000">
                    <a:solidFill>
                      <a:srgbClr val="1E293B"/>
                    </a:solidFill>
                    <a:latin typeface="Calibri"/>
                  </a:rPr>
                  <a:t> là hình chữ nhật. Chứng minh rằng </a:t>
                </a:r>
                <a:r>
                  <a:rPr lang="vi-VN"/>
                  <a:t>\overrightarrow{SA}</a:t>
                </a:r>
                <a:r>
                  <a:rPr sz="2000">
                    <a:solidFill>
                      <a:srgbClr val="1E293B"/>
                    </a:solidFill>
                    <a:latin typeface="Calibri"/>
                  </a:rPr>
                  <a:t> + </a:t>
                </a:r>
                <a:r>
                  <a:rPr lang="vi-VN"/>
                  <a:t>\overrightarrow{SC}</a:t>
                </a:r>
                <a:r>
                  <a:rPr sz="2000">
                    <a:solidFill>
                      <a:srgbClr val="1E293B"/>
                    </a:solidFill>
                    <a:latin typeface="Calibri"/>
                  </a:rPr>
                  <a:t> = </a:t>
                </a:r>
                <a:r>
                  <a:rPr lang="vi-VN"/>
                  <a:t>\overrightarrow{SB}</a:t>
                </a:r>
                <a:r>
                  <a:rPr sz="2000">
                    <a:solidFill>
                      <a:srgbClr val="1E293B"/>
                    </a:solidFill>
                    <a:latin typeface="Calibri"/>
                  </a:rPr>
                  <a:t> + </a:t>
                </a:r>
                <a:r>
                  <a:rPr lang="vi-VN"/>
                  <a:t>\overrightarrow{SD}</a:t>
                </a:r>
                <a:r>
                  <a:rPr sz="2000">
                    <a:solidFill>
                      <a:srgbClr val="1E293B"/>
                    </a:solidFill>
                    <a:latin typeface="Calibri"/>
                  </a:rPr>
                  <a:t>.</a:t>
                </a:r>
              </a:p>
              <a:p>
                <a:pPr algn="l">
                  <a:spcAft>
                    <a:spcPts val="800"/>
                  </a:spcAft>
                </a:pPr>
                <a:r>
                  <a:rPr sz="2000" b="1">
                    <a:solidFill>
                      <a:srgbClr val="1E293B"/>
                    </a:solidFill>
                    <a:latin typeface="Calibri"/>
                  </a:rPr>
                  <a:t>2.36.</a:t>
                </a:r>
                <a:r>
                  <a:rPr sz="2000">
                    <a:solidFill>
                      <a:srgbClr val="1E293B"/>
                    </a:solidFill>
                    <a:latin typeface="Calibri"/>
                  </a:rPr>
                  <a:t> Cho tứ diện </a:t>
                </a:r>
                <a:r>
                  <a:rPr lang="vi-VN"/>
                  <a:t>ABCD</a:t>
                </a:r>
                <a:r>
                  <a:rPr sz="2000">
                    <a:solidFill>
                      <a:srgbClr val="1E293B"/>
                    </a:solidFill>
                    <a:latin typeface="Calibri"/>
                  </a:rPr>
                  <a:t>, lấy hai điểm </a:t>
                </a:r>
                <a:r>
                  <a:rPr lang="vi-VN"/>
                  <a:t>M,\ N</a:t>
                </a:r>
                <a:r>
                  <a:rPr sz="2000">
                    <a:solidFill>
                      <a:srgbClr val="1E293B"/>
                    </a:solidFill>
                    <a:latin typeface="Calibri"/>
                  </a:rPr>
                  <a:t> thoả mãn </a:t>
                </a:r>
                <a:r>
                  <a:rPr lang="vi-VN"/>
                  <a:t>\overrightarrow{MB}</a:t>
                </a:r>
                <a:r>
                  <a:rPr sz="2000">
                    <a:solidFill>
                      <a:srgbClr val="1E293B"/>
                    </a:solidFill>
                    <a:latin typeface="Calibri"/>
                  </a:rPr>
                  <a:t> + </a:t>
                </a:r>
                <a:r>
                  <a:rPr lang="vi-VN"/>
                  <a:t>2</a:t>
                </a:r>
                <a:r>
                  <a:rPr sz="2000">
                    <a:solidFill>
                      <a:srgbClr val="1E293B"/>
                    </a:solidFill>
                    <a:latin typeface="Calibri"/>
                  </a:rPr>
                  <a:t> </a:t>
                </a:r>
                <a:r>
                  <a:rPr lang="vi-VN"/>
                  <a:t>\overrightarrow{MA}</a:t>
                </a:r>
                <a:r>
                  <a:rPr sz="2000">
                    <a:solidFill>
                      <a:srgbClr val="1E293B"/>
                    </a:solidFill>
                    <a:latin typeface="Calibri"/>
                  </a:rPr>
                  <a:t> = </a:t>
                </a:r>
                <a:r>
                  <a:rPr lang="vi-VN"/>
                  <a:t>\vec{0}</a:t>
                </a:r>
                <a:r>
                  <a:rPr sz="2000">
                    <a:solidFill>
                      <a:srgbClr val="1E293B"/>
                    </a:solidFill>
                    <a:latin typeface="Calibri"/>
                  </a:rPr>
                  <a:t> và </a:t>
                </a:r>
                <a:r>
                  <a:rPr lang="vi-VN"/>
                  <a:t>\overrightarrow{NC}</a:t>
                </a:r>
                <a:r>
                  <a:rPr sz="2000">
                    <a:solidFill>
                      <a:srgbClr val="1E293B"/>
                    </a:solidFill>
                    <a:latin typeface="Calibri"/>
                  </a:rPr>
                  <a:t> = </a:t>
                </a:r>
                <a:r>
                  <a:rPr lang="vi-VN"/>
                  <a:t>2</a:t>
                </a:r>
                <a:r>
                  <a:rPr sz="2000">
                    <a:solidFill>
                      <a:srgbClr val="1E293B"/>
                    </a:solidFill>
                    <a:latin typeface="Calibri"/>
                  </a:rPr>
                  <a:t> </a:t>
                </a:r>
                <a:r>
                  <a:rPr lang="vi-VN"/>
                  <a:t>\overrightarrow{DN}</a:t>
                </a:r>
                <a:r>
                  <a:rPr sz="2000">
                    <a:solidFill>
                      <a:srgbClr val="1E293B"/>
                    </a:solidFill>
                    <a:latin typeface="Calibri"/>
                  </a:rPr>
                  <a:t>. Hãy biểu diễn </a:t>
                </a:r>
                <a:r>
                  <a:rPr lang="vi-VN"/>
                  <a:t>\overrightarrow{MN}</a:t>
                </a:r>
                <a:r>
                  <a:rPr sz="2000">
                    <a:solidFill>
                      <a:srgbClr val="1E293B"/>
                    </a:solidFill>
                    <a:latin typeface="Calibri"/>
                  </a:rPr>
                  <a:t> theo </a:t>
                </a:r>
                <a:r>
                  <a:rPr lang="vi-VN"/>
                  <a:t>\overrightarrow{AD}</a:t>
                </a:r>
                <a:r>
                  <a:rPr sz="2000">
                    <a:solidFill>
                      <a:srgbClr val="1E293B"/>
                    </a:solidFill>
                    <a:latin typeface="Calibri"/>
                  </a:rPr>
                  <a:t> và </a:t>
                </a:r>
                <a:r>
                  <a:rPr lang="vi-VN"/>
                  <a:t>\overrightarrow{BC}</a:t>
                </a:r>
                <a:r>
                  <a:rPr sz="2000">
                    <a:solidFill>
                      <a:srgbClr val="1E293B"/>
                    </a:solidFill>
                    <a:latin typeface="Calibri"/>
                  </a:rPr>
                  <a:t>.</a:t>
                </a:r>
              </a:p>
            </p:txBody>
          </p:sp>
        </mc:Fallback>
      </mc:AlternateContent>
      <p:sp>
        <p:nvSpPr>
          <p:cNvPr id="8" name="s1_nen"/>
          <p:cNvSpPr/>
          <p:nvPr/>
        </p:nvSpPr>
        <p:spPr>
          <a:xfrm>
            <a:off x="548640" y="3002280"/>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38856"/>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2.35.</a:t>
                </a:r>
                <a:r>
                  <a:rPr sz="2000">
                    <a:solidFill>
                      <a:srgbClr val="1E293B"/>
                    </a:solidFill>
                    <a:latin typeface="Calibri"/>
                  </a:rPr>
                  <a:t> Gọi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là giao điểm hai đường chéo (trung điểm </a:t>
                </a:r>
                <a14:m>
                  <m:oMath xmlns:m="http://schemas.openxmlformats.org/officeDocument/2006/math">
                    <m:r>
                      <a:rPr lang="vi-VN" sz="2000" b="0">
                        <a:solidFill>
                          <a:srgbClr val="1E293B"/>
                        </a:solidFill>
                        <a:latin typeface="Cambria Math" panose="02040503050406030204" pitchFamily="18" charset="0"/>
                      </a:rPr>
                      <m:t>AC</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BD</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SA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SC</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SO</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SD</m:t>
                        </m:r>
                      </m:e>
                    </m:acc>
                  </m:oMath>
                </a14:m>
                <a:r>
                  <a:rPr sz="2000">
                    <a:solidFill>
                      <a:srgbClr val="1E293B"/>
                    </a:solidFill>
                    <a:latin typeface="Calibri"/>
                  </a:rPr>
                  <a:t>.</a:t>
                </a:r>
              </a:p>
            </p:txBody>
          </p:sp>
        </mc:Choice>
        <mc:Fallback>
          <p:sp>
            <p:nvSpPr>
              <p:cNvPr id="9" name="TextBox 8"/>
              <p:cNvSpPr txBox="1"/>
              <p:nvPr/>
            </p:nvSpPr>
            <p:spPr>
              <a:xfrm>
                <a:off x="713232" y="3038856"/>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2.35.</a:t>
                </a:r>
                <a:r>
                  <a:rPr sz="2000">
                    <a:solidFill>
                      <a:srgbClr val="1E293B"/>
                    </a:solidFill>
                    <a:latin typeface="Calibri"/>
                  </a:rPr>
                  <a:t> Gọi </a:t>
                </a:r>
                <a:r>
                  <a:rPr lang="vi-VN"/>
                  <a:t>O</a:t>
                </a:r>
                <a:r>
                  <a:rPr sz="2000">
                    <a:solidFill>
                      <a:srgbClr val="1E293B"/>
                    </a:solidFill>
                    <a:latin typeface="Calibri"/>
                  </a:rPr>
                  <a:t> là giao điểm hai đường chéo (trung điểm </a:t>
                </a:r>
                <a:r>
                  <a:rPr lang="vi-VN"/>
                  <a:t>AC</a:t>
                </a:r>
                <a:r>
                  <a:rPr sz="2000">
                    <a:solidFill>
                      <a:srgbClr val="1E293B"/>
                    </a:solidFill>
                    <a:latin typeface="Calibri"/>
                  </a:rPr>
                  <a:t> và </a:t>
                </a:r>
                <a:r>
                  <a:rPr lang="vi-VN"/>
                  <a:t>BD</a:t>
                </a:r>
                <a:r>
                  <a:rPr sz="2000">
                    <a:solidFill>
                      <a:srgbClr val="1E293B"/>
                    </a:solidFill>
                    <a:latin typeface="Calibri"/>
                  </a:rPr>
                  <a:t>): </a:t>
                </a:r>
                <a:r>
                  <a:rPr lang="vi-VN"/>
                  <a:t>\overrightarrow{SA}</a:t>
                </a:r>
                <a:r>
                  <a:rPr sz="2000">
                    <a:solidFill>
                      <a:srgbClr val="1E293B"/>
                    </a:solidFill>
                    <a:latin typeface="Calibri"/>
                  </a:rPr>
                  <a:t> + </a:t>
                </a:r>
                <a:r>
                  <a:rPr lang="vi-VN"/>
                  <a:t>\overrightarrow{SC}</a:t>
                </a:r>
                <a:r>
                  <a:rPr sz="2000">
                    <a:solidFill>
                      <a:srgbClr val="1E293B"/>
                    </a:solidFill>
                    <a:latin typeface="Calibri"/>
                  </a:rPr>
                  <a:t> = </a:t>
                </a:r>
                <a:r>
                  <a:rPr lang="vi-VN"/>
                  <a:t>2</a:t>
                </a:r>
                <a:r>
                  <a:rPr sz="2000">
                    <a:solidFill>
                      <a:srgbClr val="1E293B"/>
                    </a:solidFill>
                    <a:latin typeface="Calibri"/>
                  </a:rPr>
                  <a:t> </a:t>
                </a:r>
                <a:r>
                  <a:rPr lang="vi-VN"/>
                  <a:t>\overrightarrow{SO}</a:t>
                </a:r>
                <a:r>
                  <a:rPr sz="2000">
                    <a:solidFill>
                      <a:srgbClr val="1E293B"/>
                    </a:solidFill>
                    <a:latin typeface="Calibri"/>
                  </a:rPr>
                  <a:t> = </a:t>
                </a:r>
                <a:r>
                  <a:rPr lang="vi-VN"/>
                  <a:t>\overrightarrow{SB}</a:t>
                </a:r>
                <a:r>
                  <a:rPr sz="2000">
                    <a:solidFill>
                      <a:srgbClr val="1E293B"/>
                    </a:solidFill>
                    <a:latin typeface="Calibri"/>
                  </a:rPr>
                  <a:t> + </a:t>
                </a:r>
                <a:r>
                  <a:rPr lang="vi-VN"/>
                  <a:t>\overrightarrow{SD}</a:t>
                </a:r>
                <a:r>
                  <a:rPr sz="2000">
                    <a:solidFill>
                      <a:srgbClr val="1E293B"/>
                    </a:solidFill>
                    <a:latin typeface="Calibri"/>
                  </a:rPr>
                  <a:t>.</a:t>
                </a:r>
              </a:p>
            </p:txBody>
          </p:sp>
        </mc:Fallback>
      </mc:AlternateContent>
      <p:sp>
        <p:nvSpPr>
          <p:cNvPr id="10" name="s2_nen"/>
          <p:cNvSpPr/>
          <p:nvPr/>
        </p:nvSpPr>
        <p:spPr>
          <a:xfrm>
            <a:off x="548640" y="3968496"/>
            <a:ext cx="11064240" cy="14538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05072"/>
                <a:ext cx="10735056" cy="13807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2.36.</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DN</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CN</m:t>
                        </m:r>
                      </m:e>
                    </m:acc>
                  </m:oMath>
                </a14:m>
                <a:r>
                  <a:rPr sz="2000">
                    <a:solidFill>
                      <a:srgbClr val="1E293B"/>
                    </a:solidFill>
                    <a:latin typeface="Calibri"/>
                  </a:rPr>
                  <a:t>. Nhân phương trình đầu với 2 rồi cộng, dùng </a:t>
                </a:r>
                <a14:m>
                  <m:oMath xmlns:m="http://schemas.openxmlformats.org/officeDocument/2006/math">
                    <m:r>
                      <a:rPr lang="vi-VN" sz="2000" b="0">
                        <a:solidFill>
                          <a:srgbClr val="1E293B"/>
                        </a:solidFill>
                        <a:latin typeface="Cambria Math" panose="02040503050406030204" pitchFamily="18" charset="0"/>
                      </a:rPr>
                      <m:t>2</m:t>
                    </m:r>
                  </m:oMath>
                </a14:m>
                <a14:m>
                  <m:oMath xmlns:m="http://schemas.openxmlformats.org/officeDocument/2006/math">
                    <m:acc>
                      <m:accPr>
                        <m:chr m:val="⃗"/>
                      </m:accPr>
                      <m:e>
                        <m:r>
                          <a:rPr lang="vi-VN" sz="2000" b="0">
                            <a:solidFill>
                              <a:srgbClr val="1E293B"/>
                            </a:solidFill>
                            <a:latin typeface="Cambria Math" panose="02040503050406030204" pitchFamily="18" charset="0"/>
                          </a:rPr>
                          <m:t>MA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m:t>
                    </m:r>
                  </m:oMath>
                </a14:m>
                <a14:m>
                  <m:oMath xmlns:m="http://schemas.openxmlformats.org/officeDocument/2006/math">
                    <m:acc>
                      <m:accPr>
                        <m:chr m:val="⃗"/>
                      </m:accPr>
                      <m:e>
                        <m:r>
                          <a:rPr lang="vi-VN" sz="2000" b="0">
                            <a:solidFill>
                              <a:srgbClr val="1E293B"/>
                            </a:solidFill>
                            <a:latin typeface="Cambria Math" panose="02040503050406030204" pitchFamily="18" charset="0"/>
                          </a:rPr>
                          <m:t>DN</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CN</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f>
                      <m:fPr>
                        <m:type m:val="bar"/>
                      </m:fPr>
                      <m:num>
                        <m:r>
                          <a:rPr lang="vi-VN" sz="2000" b="0">
                            <a:solidFill>
                              <a:srgbClr val="1E293B"/>
                            </a:solidFill>
                            <a:latin typeface="Cambria Math" panose="02040503050406030204" pitchFamily="18" charset="0"/>
                          </a:rPr>
                          <m:t>2</m:t>
                        </m:r>
                      </m:num>
                      <m:den>
                        <m:r>
                          <a:rPr lang="vi-VN" sz="2000" b="0">
                            <a:solidFill>
                              <a:srgbClr val="1E293B"/>
                            </a:solidFill>
                            <a:latin typeface="Cambria Math" panose="02040503050406030204" pitchFamily="18" charset="0"/>
                          </a:rPr>
                          <m:t>3</m:t>
                        </m:r>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a:t>
                </a:r>
              </a:p>
            </p:txBody>
          </p:sp>
        </mc:Choice>
        <mc:Fallback>
          <p:sp>
            <p:nvSpPr>
              <p:cNvPr id="11" name="TextBox 10"/>
              <p:cNvSpPr txBox="1"/>
              <p:nvPr/>
            </p:nvSpPr>
            <p:spPr>
              <a:xfrm>
                <a:off x="713232" y="4005072"/>
                <a:ext cx="10735056" cy="13807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2.36.</a:t>
                </a:r>
                <a:r>
                  <a:rPr sz="2000">
                    <a:solidFill>
                      <a:srgbClr val="1E293B"/>
                    </a:solidFill>
                    <a:latin typeface="Calibri"/>
                  </a:rPr>
                  <a:t> </a:t>
                </a:r>
                <a:r>
                  <a:rPr lang="vi-VN"/>
                  <a:t>\overrightarrow{MN}</a:t>
                </a:r>
                <a:r>
                  <a:rPr sz="2000">
                    <a:solidFill>
                      <a:srgbClr val="1E293B"/>
                    </a:solidFill>
                    <a:latin typeface="Calibri"/>
                  </a:rPr>
                  <a:t> = </a:t>
                </a:r>
                <a:r>
                  <a:rPr lang="vi-VN"/>
                  <a:t>\overrightarrow{MA}</a:t>
                </a:r>
                <a:r>
                  <a:rPr sz="2000">
                    <a:solidFill>
                      <a:srgbClr val="1E293B"/>
                    </a:solidFill>
                    <a:latin typeface="Calibri"/>
                  </a:rPr>
                  <a:t> + </a:t>
                </a:r>
                <a:r>
                  <a:rPr lang="vi-VN"/>
                  <a:t>\overrightarrow{AD}</a:t>
                </a:r>
                <a:r>
                  <a:rPr sz="2000">
                    <a:solidFill>
                      <a:srgbClr val="1E293B"/>
                    </a:solidFill>
                    <a:latin typeface="Calibri"/>
                  </a:rPr>
                  <a:t> + </a:t>
                </a:r>
                <a:r>
                  <a:rPr lang="vi-VN"/>
                  <a:t>\overrightarrow{DN}</a:t>
                </a:r>
                <a:r>
                  <a:rPr sz="2000">
                    <a:solidFill>
                      <a:srgbClr val="1E293B"/>
                    </a:solidFill>
                    <a:latin typeface="Calibri"/>
                  </a:rPr>
                  <a:t> và </a:t>
                </a:r>
                <a:r>
                  <a:rPr lang="vi-VN"/>
                  <a:t>\overrightarrow{MN}</a:t>
                </a:r>
                <a:r>
                  <a:rPr sz="2000">
                    <a:solidFill>
                      <a:srgbClr val="1E293B"/>
                    </a:solidFill>
                    <a:latin typeface="Calibri"/>
                  </a:rPr>
                  <a:t> = </a:t>
                </a:r>
                <a:r>
                  <a:rPr lang="vi-VN"/>
                  <a:t>\overrightarrow{MB}</a:t>
                </a:r>
                <a:r>
                  <a:rPr sz="2000">
                    <a:solidFill>
                      <a:srgbClr val="1E293B"/>
                    </a:solidFill>
                    <a:latin typeface="Calibri"/>
                  </a:rPr>
                  <a:t> + </a:t>
                </a:r>
                <a:r>
                  <a:rPr lang="vi-VN"/>
                  <a:t>\overrightarrow{BC}</a:t>
                </a:r>
                <a:r>
                  <a:rPr sz="2000">
                    <a:solidFill>
                      <a:srgbClr val="1E293B"/>
                    </a:solidFill>
                    <a:latin typeface="Calibri"/>
                  </a:rPr>
                  <a:t> + </a:t>
                </a:r>
                <a:r>
                  <a:rPr lang="vi-VN"/>
                  <a:t>\overrightarrow{CN}</a:t>
                </a:r>
                <a:r>
                  <a:rPr sz="2000">
                    <a:solidFill>
                      <a:srgbClr val="1E293B"/>
                    </a:solidFill>
                    <a:latin typeface="Calibri"/>
                  </a:rPr>
                  <a:t>. Nhân phương trình đầu với 2 rồi cộng, dùng </a:t>
                </a:r>
                <a:r>
                  <a:rPr lang="vi-VN"/>
                  <a:t>2</a:t>
                </a:r>
                <a:r>
                  <a:rPr lang="vi-VN"/>
                  <a:t>\overrightarrow{MA}</a:t>
                </a:r>
                <a:r>
                  <a:rPr sz="2000">
                    <a:solidFill>
                      <a:srgbClr val="1E293B"/>
                    </a:solidFill>
                    <a:latin typeface="Calibri"/>
                  </a:rPr>
                  <a:t> + </a:t>
                </a:r>
                <a:r>
                  <a:rPr lang="vi-VN"/>
                  <a:t>\overrightarrow{MB}</a:t>
                </a:r>
                <a:r>
                  <a:rPr sz="2000">
                    <a:solidFill>
                      <a:srgbClr val="1E293B"/>
                    </a:solidFill>
                    <a:latin typeface="Calibri"/>
                  </a:rPr>
                  <a:t> = </a:t>
                </a:r>
                <a:r>
                  <a:rPr lang="vi-VN"/>
                  <a:t>\vec{0}</a:t>
                </a:r>
                <a:r>
                  <a:rPr sz="2000">
                    <a:solidFill>
                      <a:srgbClr val="1E293B"/>
                    </a:solidFill>
                    <a:latin typeface="Calibri"/>
                  </a:rPr>
                  <a:t>, </a:t>
                </a:r>
                <a:r>
                  <a:rPr lang="vi-VN"/>
                  <a:t>2</a:t>
                </a:r>
                <a:r>
                  <a:rPr lang="vi-VN"/>
                  <a:t>\overrightarrow{DN}</a:t>
                </a:r>
                <a:r>
                  <a:rPr sz="2000">
                    <a:solidFill>
                      <a:srgbClr val="1E293B"/>
                    </a:solidFill>
                    <a:latin typeface="Calibri"/>
                  </a:rPr>
                  <a:t> + </a:t>
                </a:r>
                <a:r>
                  <a:rPr lang="vi-VN"/>
                  <a:t>\overrightarrow{CN}</a:t>
                </a:r>
                <a:r>
                  <a:rPr sz="2000">
                    <a:solidFill>
                      <a:srgbClr val="1E293B"/>
                    </a:solidFill>
                    <a:latin typeface="Calibri"/>
                  </a:rPr>
                  <a:t> = </a:t>
                </a:r>
                <a:r>
                  <a:rPr lang="vi-VN"/>
                  <a:t>\vec{0}</a:t>
                </a:r>
                <a:r>
                  <a:rPr sz="2000">
                    <a:solidFill>
                      <a:srgbClr val="1E293B"/>
                    </a:solidFill>
                    <a:latin typeface="Calibri"/>
                  </a:rPr>
                  <a:t>: </a:t>
                </a:r>
                <a:r>
                  <a:rPr lang="vi-VN"/>
                  <a:t>3</a:t>
                </a:r>
                <a:r>
                  <a:rPr sz="2000">
                    <a:solidFill>
                      <a:srgbClr val="1E293B"/>
                    </a:solidFill>
                    <a:latin typeface="Calibri"/>
                  </a:rPr>
                  <a:t> </a:t>
                </a:r>
                <a:r>
                  <a:rPr lang="vi-VN"/>
                  <a:t>\overrightarrow{MN}</a:t>
                </a:r>
                <a:r>
                  <a:rPr sz="2000">
                    <a:solidFill>
                      <a:srgbClr val="1E293B"/>
                    </a:solidFill>
                    <a:latin typeface="Calibri"/>
                  </a:rPr>
                  <a:t> = </a:t>
                </a:r>
                <a:r>
                  <a:rPr lang="vi-VN"/>
                  <a:t>2</a:t>
                </a:r>
                <a:r>
                  <a:rPr sz="2000">
                    <a:solidFill>
                      <a:srgbClr val="1E293B"/>
                    </a:solidFill>
                    <a:latin typeface="Calibri"/>
                  </a:rPr>
                  <a:t> </a:t>
                </a:r>
                <a:r>
                  <a:rPr lang="vi-VN"/>
                  <a:t>\overrightarrow{AD}</a:t>
                </a:r>
                <a:r>
                  <a:rPr sz="2000">
                    <a:solidFill>
                      <a:srgbClr val="1E293B"/>
                    </a:solidFill>
                    <a:latin typeface="Calibri"/>
                  </a:rPr>
                  <a:t> + </a:t>
                </a:r>
                <a:r>
                  <a:rPr lang="vi-VN"/>
                  <a:t>\overrightarrow{BC}</a:t>
                </a:r>
                <a:r>
                  <a:rPr sz="2000">
                    <a:solidFill>
                      <a:srgbClr val="1E293B"/>
                    </a:solidFill>
                    <a:latin typeface="Calibri"/>
                  </a:rPr>
                  <a:t> ⇒ </a:t>
                </a:r>
                <a:r>
                  <a:rPr lang="vi-VN"/>
                  <a:t>\overrightarrow{MN}</a:t>
                </a:r>
                <a:r>
                  <a:rPr sz="2000">
                    <a:solidFill>
                      <a:srgbClr val="1E293B"/>
                    </a:solidFill>
                    <a:latin typeface="Calibri"/>
                  </a:rPr>
                  <a:t> = </a:t>
                </a:r>
                <a:r>
                  <a:rPr lang="vi-VN"/>
                  <a:t>\frac{2}{3}</a:t>
                </a:r>
                <a:r>
                  <a:rPr sz="2000">
                    <a:solidFill>
                      <a:srgbClr val="1E293B"/>
                    </a:solidFill>
                    <a:latin typeface="Calibri"/>
                  </a:rPr>
                  <a:t> </a:t>
                </a:r>
                <a:r>
                  <a:rPr lang="vi-VN"/>
                  <a:t>\overrightarrow{AD}</a:t>
                </a:r>
                <a:r>
                  <a:rPr sz="2000">
                    <a:solidFill>
                      <a:srgbClr val="1E293B"/>
                    </a:solidFill>
                    <a:latin typeface="Calibri"/>
                  </a:rPr>
                  <a:t> + </a:t>
                </a:r>
                <a:r>
                  <a:rPr lang="vi-VN"/>
                  <a:t>\frac{1}{3}</a:t>
                </a:r>
                <a:r>
                  <a:rPr sz="2000">
                    <a:solidFill>
                      <a:srgbClr val="1E293B"/>
                    </a:solidFill>
                    <a:latin typeface="Calibri"/>
                  </a:rPr>
                  <a:t> </a:t>
                </a:r>
                <a:r>
                  <a:rPr lang="vi-VN"/>
                  <a:t>\overrightarrow{BC}</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TỰ LUẬN 2.37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2.37.</a:t>
                </a:r>
                <a:r>
                  <a:rPr sz="2000">
                    <a:solidFill>
                      <a:srgbClr val="1E293B"/>
                    </a:solidFill>
                    <a:latin typeface="Calibri"/>
                  </a:rPr>
                  <a:t> Cho hình hộp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Gọi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là trọng tâm của tam giác </a:t>
                </a:r>
                <a14:m>
                  <m:oMath xmlns:m="http://schemas.openxmlformats.org/officeDocument/2006/math">
                    <m:r>
                      <a:rPr lang="vi-VN" sz="2000" b="0">
                        <a:solidFill>
                          <a:srgbClr val="1E293B"/>
                        </a:solidFill>
                        <a:latin typeface="Cambria Math" panose="02040503050406030204" pitchFamily="18" charset="0"/>
                      </a:rPr>
                      <m:t>BD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 Biểu diễn </a:t>
                </a:r>
                <a14:m>
                  <m:oMath xmlns:m="http://schemas.openxmlformats.org/officeDocument/2006/math">
                    <m:acc>
                      <m:accPr>
                        <m:chr m:val="⃗"/>
                      </m:accPr>
                      <m:e>
                        <m:r>
                          <a:rPr lang="vi-VN" sz="2000" b="0">
                            <a:solidFill>
                              <a:srgbClr val="1E293B"/>
                            </a:solidFill>
                            <a:latin typeface="Cambria Math" panose="02040503050406030204" pitchFamily="18" charset="0"/>
                          </a:rPr>
                          <m:t>AG</m:t>
                        </m:r>
                      </m:e>
                    </m:acc>
                  </m:oMath>
                </a14:m>
                <a:r>
                  <a:rPr sz="2000">
                    <a:solidFill>
                      <a:srgbClr val="1E293B"/>
                    </a:solidFill>
                    <a:latin typeface="Calibri"/>
                  </a:rPr>
                  <a:t> theo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Từ câu a, hãy chứng tỏ ba điểm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G</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thẳng hàng.</a:t>
                </a:r>
              </a:p>
            </p:txBody>
          </p:sp>
        </mc:Choice>
        <mc:Fallback>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2.37.</a:t>
                </a:r>
                <a:r>
                  <a:rPr sz="2000">
                    <a:solidFill>
                      <a:srgbClr val="1E293B"/>
                    </a:solidFill>
                    <a:latin typeface="Calibri"/>
                  </a:rPr>
                  <a:t> Cho hình hộp </a:t>
                </a:r>
                <a:r>
                  <a:rPr lang="vi-VN"/>
                  <a:t>ABCD.A'B'C'D'</a:t>
                </a:r>
                <a:r>
                  <a:rPr sz="2000">
                    <a:solidFill>
                      <a:srgbClr val="1E293B"/>
                    </a:solidFill>
                    <a:latin typeface="Calibri"/>
                  </a:rPr>
                  <a:t>. Gọi </a:t>
                </a:r>
                <a:r>
                  <a:rPr lang="vi-VN"/>
                  <a:t>G</a:t>
                </a:r>
                <a:r>
                  <a:rPr sz="2000">
                    <a:solidFill>
                      <a:srgbClr val="1E293B"/>
                    </a:solidFill>
                    <a:latin typeface="Calibri"/>
                  </a:rPr>
                  <a:t> là trọng tâm của tam giác </a:t>
                </a:r>
                <a:r>
                  <a:rPr lang="vi-VN"/>
                  <a:t>BDA'</a:t>
                </a:r>
                <a:r>
                  <a:rPr sz="2000">
                    <a:solidFill>
                      <a:srgbClr val="1E293B"/>
                    </a:solidFill>
                    <a:latin typeface="Calibri"/>
                  </a:rPr>
                  <a:t>. a) Biểu diễn </a:t>
                </a:r>
                <a:r>
                  <a:rPr lang="vi-VN"/>
                  <a:t>\overrightarrow{AG}</a:t>
                </a:r>
                <a:r>
                  <a:rPr sz="2000">
                    <a:solidFill>
                      <a:srgbClr val="1E293B"/>
                    </a:solidFill>
                    <a:latin typeface="Calibri"/>
                  </a:rPr>
                  <a:t> theo </a:t>
                </a:r>
                <a:r>
                  <a:rPr lang="vi-VN"/>
                  <a:t>\overrightarrow{AB}</a:t>
                </a:r>
                <a:r>
                  <a:rPr sz="2000">
                    <a:solidFill>
                      <a:srgbClr val="1E293B"/>
                    </a:solidFill>
                    <a:latin typeface="Calibri"/>
                  </a:rPr>
                  <a:t>, </a:t>
                </a:r>
                <a:r>
                  <a:rPr lang="vi-VN"/>
                  <a:t>\overrightarrow{AD}</a:t>
                </a:r>
                <a:r>
                  <a:rPr sz="2000">
                    <a:solidFill>
                      <a:srgbClr val="1E293B"/>
                    </a:solidFill>
                    <a:latin typeface="Calibri"/>
                  </a:rPr>
                  <a:t> và </a:t>
                </a:r>
                <a:r>
                  <a:rPr lang="vi-VN"/>
                  <a:t>\overrightarrow{AA'}</a:t>
                </a:r>
                <a:r>
                  <a:rPr sz="2000">
                    <a:solidFill>
                      <a:srgbClr val="1E293B"/>
                    </a:solidFill>
                    <a:latin typeface="Calibri"/>
                  </a:rPr>
                  <a:t>. b) Từ câu a, hãy chứng tỏ ba điểm </a:t>
                </a:r>
                <a:r>
                  <a:rPr lang="vi-VN"/>
                  <a:t>A,\ G</a:t>
                </a:r>
                <a:r>
                  <a:rPr sz="2000">
                    <a:solidFill>
                      <a:srgbClr val="1E293B"/>
                    </a:solidFill>
                    <a:latin typeface="Calibri"/>
                  </a:rPr>
                  <a:t> và </a:t>
                </a:r>
                <a:r>
                  <a:rPr lang="vi-VN"/>
                  <a:t>C'</a:t>
                </a:r>
                <a:r>
                  <a:rPr sz="2000">
                    <a:solidFill>
                      <a:srgbClr val="1E293B"/>
                    </a:solidFill>
                    <a:latin typeface="Calibri"/>
                  </a:rPr>
                  <a:t> thẳng hàng.</a:t>
                </a:r>
              </a:p>
            </p:txBody>
          </p:sp>
        </mc:Fallback>
      </mc:AlternateContent>
      <p:sp>
        <p:nvSpPr>
          <p:cNvPr id="8" name="s1_nen"/>
          <p:cNvSpPr/>
          <p:nvPr/>
        </p:nvSpPr>
        <p:spPr>
          <a:xfrm>
            <a:off x="548640" y="2596896"/>
            <a:ext cx="1106424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33472"/>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là trọng tâm tam giác </a:t>
                </a:r>
                <a14:m>
                  <m:oMath xmlns:m="http://schemas.openxmlformats.org/officeDocument/2006/math">
                    <m:r>
                      <a:rPr lang="vi-VN" sz="2000" b="0">
                        <a:solidFill>
                          <a:srgbClr val="1E293B"/>
                        </a:solidFill>
                        <a:latin typeface="Cambria Math" panose="02040503050406030204" pitchFamily="18" charset="0"/>
                      </a:rPr>
                      <m:t>BD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AG</m:t>
                        </m:r>
                      </m:e>
                    </m:acc>
                  </m:oMath>
                </a14:m>
                <a:r>
                  <a:rPr sz="2000">
                    <a:solidFill>
                      <a:srgbClr val="1E293B"/>
                    </a:solidFill>
                    <a:latin typeface="Calibri"/>
                  </a:rPr>
                  <a:t> = </a:t>
                </a:r>
                <a14:m>
                  <m:oMath xmlns:m="http://schemas.openxmlformats.org/officeDocument/2006/math">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oMath>
                </a14:m>
                <a:r>
                  <a:rPr sz="2000">
                    <a:solidFill>
                      <a:srgbClr val="1E293B"/>
                    </a:solidFill>
                    <a:latin typeface="Calibri"/>
                  </a:rPr>
                  <a:t>(</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9" name="TextBox 8"/>
              <p:cNvSpPr txBox="1"/>
              <p:nvPr/>
            </p:nvSpPr>
            <p:spPr>
              <a:xfrm>
                <a:off x="713232" y="2633472"/>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G</a:t>
                </a:r>
                <a:r>
                  <a:rPr sz="2000">
                    <a:solidFill>
                      <a:srgbClr val="1E293B"/>
                    </a:solidFill>
                    <a:latin typeface="Calibri"/>
                  </a:rPr>
                  <a:t> là trọng tâm tam giác </a:t>
                </a:r>
                <a:r>
                  <a:rPr lang="vi-VN"/>
                  <a:t>BDA'</a:t>
                </a:r>
                <a:r>
                  <a:rPr sz="2000">
                    <a:solidFill>
                      <a:srgbClr val="1E293B"/>
                    </a:solidFill>
                    <a:latin typeface="Calibri"/>
                  </a:rPr>
                  <a:t>: </a:t>
                </a:r>
                <a:r>
                  <a:rPr lang="vi-VN"/>
                  <a:t>\overrightarrow{AG}</a:t>
                </a:r>
                <a:r>
                  <a:rPr sz="2000">
                    <a:solidFill>
                      <a:srgbClr val="1E293B"/>
                    </a:solidFill>
                    <a:latin typeface="Calibri"/>
                  </a:rPr>
                  <a:t> = </a:t>
                </a:r>
                <a:r>
                  <a:rPr lang="vi-VN"/>
                  <a:t>\frac{1}{3}</a:t>
                </a:r>
                <a:r>
                  <a:rPr sz="2000">
                    <a:solidFill>
                      <a:srgbClr val="1E293B"/>
                    </a:solidFill>
                    <a:latin typeface="Calibri"/>
                  </a:rPr>
                  <a:t>(</a:t>
                </a:r>
                <a:r>
                  <a:rPr lang="vi-VN"/>
                  <a:t>\overrightarrow{AB}</a:t>
                </a:r>
                <a:r>
                  <a:rPr sz="2000">
                    <a:solidFill>
                      <a:srgbClr val="1E293B"/>
                    </a:solidFill>
                    <a:latin typeface="Calibri"/>
                  </a:rPr>
                  <a:t> + </a:t>
                </a:r>
                <a:r>
                  <a:rPr lang="vi-VN"/>
                  <a:t>\overrightarrow{AD}</a:t>
                </a:r>
                <a:r>
                  <a:rPr sz="2000">
                    <a:solidFill>
                      <a:srgbClr val="1E293B"/>
                    </a:solidFill>
                    <a:latin typeface="Calibri"/>
                  </a:rPr>
                  <a:t> + </a:t>
                </a:r>
                <a:r>
                  <a:rPr lang="vi-VN"/>
                  <a:t>\overrightarrow{AA'}</a:t>
                </a:r>
                <a:r>
                  <a:rPr sz="2000">
                    <a:solidFill>
                      <a:srgbClr val="1E293B"/>
                    </a:solidFill>
                    <a:latin typeface="Calibri"/>
                  </a:rPr>
                  <a:t>).</a:t>
                </a:r>
              </a:p>
            </p:txBody>
          </p:sp>
        </mc:Fallback>
      </mc:AlternateContent>
      <p:sp>
        <p:nvSpPr>
          <p:cNvPr id="10" name="s2_nen"/>
          <p:cNvSpPr/>
          <p:nvPr/>
        </p:nvSpPr>
        <p:spPr>
          <a:xfrm>
            <a:off x="548640" y="3395472"/>
            <a:ext cx="110642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32048"/>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Quy tắc hình hộp: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AG</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G,</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thẳng hàng, </a:t>
                </a:r>
                <a14:m>
                  <m:oMath xmlns:m="http://schemas.openxmlformats.org/officeDocument/2006/math">
                    <m:r>
                      <a:rPr lang="vi-VN" sz="2000" b="0">
                        <a:solidFill>
                          <a:srgbClr val="1E293B"/>
                        </a:solidFill>
                        <a:latin typeface="Cambria Math" panose="02040503050406030204" pitchFamily="18" charset="0"/>
                      </a:rPr>
                      <m:t>AG=</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1" name="TextBox 10"/>
              <p:cNvSpPr txBox="1"/>
              <p:nvPr/>
            </p:nvSpPr>
            <p:spPr>
              <a:xfrm>
                <a:off x="713232" y="3432048"/>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Quy tắc hình hộp: </a:t>
                </a:r>
                <a:r>
                  <a:rPr lang="vi-VN"/>
                  <a:t>\overrightarrow{AC'}</a:t>
                </a:r>
                <a:r>
                  <a:rPr sz="2000">
                    <a:solidFill>
                      <a:srgbClr val="1E293B"/>
                    </a:solidFill>
                    <a:latin typeface="Calibri"/>
                  </a:rPr>
                  <a:t> = </a:t>
                </a:r>
                <a:r>
                  <a:rPr lang="vi-VN"/>
                  <a:t>\overrightarrow{AB}</a:t>
                </a:r>
                <a:r>
                  <a:rPr sz="2000">
                    <a:solidFill>
                      <a:srgbClr val="1E293B"/>
                    </a:solidFill>
                    <a:latin typeface="Calibri"/>
                  </a:rPr>
                  <a:t> + </a:t>
                </a:r>
                <a:r>
                  <a:rPr lang="vi-VN"/>
                  <a:t>\overrightarrow{AD}</a:t>
                </a:r>
                <a:r>
                  <a:rPr sz="2000">
                    <a:solidFill>
                      <a:srgbClr val="1E293B"/>
                    </a:solidFill>
                    <a:latin typeface="Calibri"/>
                  </a:rPr>
                  <a:t> + </a:t>
                </a:r>
                <a:r>
                  <a:rPr lang="vi-VN"/>
                  <a:t>\overrightarrow{AA'}</a:t>
                </a:r>
                <a:r>
                  <a:rPr sz="2000">
                    <a:solidFill>
                      <a:srgbClr val="1E293B"/>
                    </a:solidFill>
                    <a:latin typeface="Calibri"/>
                  </a:rPr>
                  <a:t> = </a:t>
                </a:r>
                <a:r>
                  <a:rPr lang="vi-VN"/>
                  <a:t>3</a:t>
                </a:r>
                <a:r>
                  <a:rPr sz="2000">
                    <a:solidFill>
                      <a:srgbClr val="1E293B"/>
                    </a:solidFill>
                    <a:latin typeface="Calibri"/>
                  </a:rPr>
                  <a:t> </a:t>
                </a:r>
                <a:r>
                  <a:rPr lang="vi-VN"/>
                  <a:t>\overrightarrow{AG}</a:t>
                </a:r>
                <a:r>
                  <a:rPr sz="2000">
                    <a:solidFill>
                      <a:srgbClr val="1E293B"/>
                    </a:solidFill>
                    <a:latin typeface="Calibri"/>
                  </a:rPr>
                  <a:t> ⇒ </a:t>
                </a:r>
                <a:r>
                  <a:rPr lang="vi-VN"/>
                  <a:t>A,\ G,\ C'</a:t>
                </a:r>
                <a:r>
                  <a:rPr sz="2000">
                    <a:solidFill>
                      <a:srgbClr val="1E293B"/>
                    </a:solidFill>
                    <a:latin typeface="Calibri"/>
                  </a:rPr>
                  <a:t> thẳng hàng, </a:t>
                </a:r>
                <a:r>
                  <a:rPr lang="vi-VN"/>
                  <a:t>AG=\frac{1}{3}AC'</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20</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Trắc nghiệm: ôn quy tắc hình hộp, trọng tâm, biểu thức toạ độ, góc giữa hai vectơ.</a:t>
            </a:r>
          </a:p>
          <a:p>
            <a:pPr algn="l" marL="365760" indent="-365760">
              <a:spcAft>
                <a:spcPts val="800"/>
              </a:spcAft>
              <a:buClr>
                <a:srgbClr val="1E40AF"/>
              </a:buClr>
              <a:buFont typeface="Arial"/>
              <a:buChar char="•"/>
            </a:pPr>
            <a:r>
              <a:rPr sz="2200">
                <a:solidFill>
                  <a:srgbClr val="1E293B"/>
                </a:solidFill>
                <a:latin typeface="Calibri"/>
              </a:rPr>
              <a:t>Tự luận vectơ: chèn điểm, dùng trung điểm/trọng tâm, quy tắc hình hộp.</a:t>
            </a:r>
          </a:p>
        </p:txBody>
      </p:sp>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2.38 – 2.41 (SGK tr.74).</a:t>
            </a:r>
          </a:p>
          <a:p>
            <a:pPr algn="l" marL="365760" indent="-365760">
              <a:spcAft>
                <a:spcPts val="800"/>
              </a:spcAft>
              <a:buClr>
                <a:srgbClr val="1E40AF"/>
              </a:buClr>
              <a:buFont typeface="Arial"/>
              <a:buChar char="•"/>
            </a:pPr>
            <a:r>
              <a:rPr sz="2200">
                <a:solidFill>
                  <a:srgbClr val="1E293B"/>
                </a:solidFill>
                <a:latin typeface="Calibri"/>
              </a:rPr>
              <a:t>Đọc Bài tập 2.42: chuẩn bị đo trần, tường nhà mình.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(T41)</a:t>
            </a:r>
          </a:p>
          <a:p>
            <a:pPr>
              <a:spcAft>
                <a:spcPts val="600"/>
              </a:spcAft>
            </a:pPr>
            <a:r>
              <a:rPr sz="4000" b="1">
                <a:solidFill>
                  <a:srgbClr val="FFFFFF"/>
                </a:solidFill>
                <a:latin typeface="Cambria"/>
              </a:rPr>
              <a:t>Tự luận toạ độ. Vận dụng</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Giải Bài tập 2.38 – 2.41 bằng toạ độ.</a:t>
            </a:r>
          </a:p>
          <a:p>
            <a:pPr algn="l">
              <a:spcAft>
                <a:spcPts val="800"/>
              </a:spcAft>
            </a:pPr>
            <a:r>
              <a:rPr sz="2200">
                <a:solidFill>
                  <a:srgbClr val="E0E7FF"/>
                </a:solidFill>
                <a:latin typeface="Calibri"/>
              </a:rPr>
              <a:t>• Lập hệ toạ độ giải bài toán thực tiễn 2.42.</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22</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Giơ thẻ Đ / S trong 10 giây cho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822960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14:m>
                  <m:oMath xmlns:m="http://schemas.openxmlformats.org/officeDocument/2006/math">
                    <m:r>
                      <a:rPr lang="vi-VN" sz="2200" b="0">
                        <a:solidFill>
                          <a:srgbClr val="1E293B"/>
                        </a:solidFill>
                        <a:latin typeface="Cambria Math" panose="02040503050406030204" pitchFamily="18" charset="0"/>
                      </a:rPr>
                      <m:t>A(2;−1;3)</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B(1;1;−1)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C(−1;0;2)</m:t>
                    </m:r>
                  </m:oMath>
                </a14:m>
                <a:r>
                  <a:rPr sz="2200">
                    <a:solidFill>
                      <a:srgbClr val="1E293B"/>
                    </a:solidFill>
                    <a:latin typeface="Calibri"/>
                  </a:rPr>
                  <a:t>.</a:t>
                </a:r>
              </a:p>
            </p:txBody>
          </p:sp>
        </mc:Choice>
        <mc:Fallback>
          <p:sp>
            <p:nvSpPr>
              <p:cNvPr id="8" name="TextBox 7"/>
              <p:cNvSpPr txBox="1"/>
              <p:nvPr/>
            </p:nvSpPr>
            <p:spPr>
              <a:xfrm>
                <a:off x="548640" y="1828800"/>
                <a:ext cx="822960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A(2;-1;3)</a:t>
                </a:r>
                <a:r>
                  <a:rPr sz="2200">
                    <a:solidFill>
                      <a:srgbClr val="1E293B"/>
                    </a:solidFill>
                    <a:latin typeface="Calibri"/>
                  </a:rPr>
                  <a:t>, </a:t>
                </a:r>
                <a:r>
                  <a:rPr lang="vi-VN"/>
                  <a:t>B(1;1;-1)</a:t>
                </a:r>
                <a:r>
                  <a:rPr sz="2200">
                    <a:solidFill>
                      <a:srgbClr val="1E293B"/>
                    </a:solidFill>
                    <a:latin typeface="Calibri"/>
                  </a:rPr>
                  <a:t>, </a:t>
                </a:r>
                <a:r>
                  <a:rPr lang="vi-VN"/>
                  <a:t>C(-1;0;2)</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74976"/>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4</m:t>
                        </m:r>
                      </m:e>
                    </m:d>
                  </m:oMath>
                </a14:m>
                <a:r>
                  <a:rPr sz="2100">
                    <a:solidFill>
                      <a:srgbClr val="1E293B"/>
                    </a:solidFill>
                    <a:latin typeface="Calibri"/>
                  </a:rPr>
                  <a:t>.</a:t>
                </a:r>
              </a:p>
            </p:txBody>
          </p:sp>
        </mc:Choice>
        <mc:Fallback>
          <p:sp>
            <p:nvSpPr>
              <p:cNvPr id="9" name="TextBox 8"/>
              <p:cNvSpPr txBox="1"/>
              <p:nvPr/>
            </p:nvSpPr>
            <p:spPr>
              <a:xfrm>
                <a:off x="548640" y="2474976"/>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r>
                  <a:rPr lang="vi-VN"/>
                  <a:t>\overrightarrow{AB}</a:t>
                </a:r>
                <a:r>
                  <a:rPr sz="2100">
                    <a:solidFill>
                      <a:srgbClr val="1E293B"/>
                    </a:solidFill>
                    <a:latin typeface="Calibri"/>
                  </a:rPr>
                  <a:t> = </a:t>
                </a:r>
                <a:r>
                  <a:rPr lang="vi-VN"/>
                  <a:t>(-1;\ 2;\ -4)</a:t>
                </a:r>
                <a:r>
                  <a:rPr sz="2100">
                    <a:solidFill>
                      <a:srgbClr val="1E293B"/>
                    </a:solidFill>
                    <a:latin typeface="Calibri"/>
                  </a:rPr>
                  <a:t>.</a:t>
                </a:r>
              </a:p>
            </p:txBody>
          </p:sp>
        </mc:Fallback>
      </mc:AlternateContent>
      <p:sp>
        <p:nvSpPr>
          <p:cNvPr id="10" name="s1_nen"/>
          <p:cNvSpPr/>
          <p:nvPr/>
        </p:nvSpPr>
        <p:spPr>
          <a:xfrm>
            <a:off x="8961120" y="2474976"/>
            <a:ext cx="2651759" cy="629716"/>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8961120" y="2529840"/>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2" name="TextBox 11"/>
              <p:cNvSpPr txBox="1"/>
              <p:nvPr/>
            </p:nvSpPr>
            <p:spPr>
              <a:xfrm>
                <a:off x="548640" y="3214420"/>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Trung điểm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là </a:t>
                </a:r>
                <a14:m>
                  <m:oMath xmlns:m="http://schemas.openxmlformats.org/officeDocument/2006/math">
                    <m:d>
                      <m:dPr>
                        <m:sepChr m:val=""/>
                      </m:dPr>
                      <m:e>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d>
                  </m:oMath>
                </a14:m>
                <a:r>
                  <a:rPr sz="2100">
                    <a:solidFill>
                      <a:srgbClr val="1E293B"/>
                    </a:solidFill>
                    <a:latin typeface="Calibri"/>
                  </a:rPr>
                  <a:t>.</a:t>
                </a:r>
              </a:p>
            </p:txBody>
          </p:sp>
        </mc:Choice>
        <mc:Fallback>
          <p:sp>
            <p:nvSpPr>
              <p:cNvPr id="12" name="TextBox 11"/>
              <p:cNvSpPr txBox="1"/>
              <p:nvPr/>
            </p:nvSpPr>
            <p:spPr>
              <a:xfrm>
                <a:off x="548640" y="3214420"/>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Trung điểm </a:t>
                </a:r>
                <a:r>
                  <a:rPr lang="vi-VN"/>
                  <a:t>AB</a:t>
                </a:r>
                <a:r>
                  <a:rPr sz="2100">
                    <a:solidFill>
                      <a:srgbClr val="1E293B"/>
                    </a:solidFill>
                    <a:latin typeface="Calibri"/>
                  </a:rPr>
                  <a:t> là </a:t>
                </a:r>
                <a:r>
                  <a:rPr lang="vi-VN"/>
                  <a:t>\left(\frac{3}{2};\ 0;\ 1\right)</a:t>
                </a:r>
                <a:r>
                  <a:rPr sz="2100">
                    <a:solidFill>
                      <a:srgbClr val="1E293B"/>
                    </a:solidFill>
                    <a:latin typeface="Calibri"/>
                  </a:rPr>
                  <a:t>.</a:t>
                </a:r>
              </a:p>
            </p:txBody>
          </p:sp>
        </mc:Fallback>
      </mc:AlternateContent>
      <p:sp>
        <p:nvSpPr>
          <p:cNvPr id="13" name="s2_nen"/>
          <p:cNvSpPr/>
          <p:nvPr/>
        </p:nvSpPr>
        <p:spPr>
          <a:xfrm>
            <a:off x="8961120" y="3214420"/>
            <a:ext cx="2651759" cy="629716"/>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8961120" y="3269284"/>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5" name="TextBox 14"/>
              <p:cNvSpPr txBox="1"/>
              <p:nvPr/>
            </p:nvSpPr>
            <p:spPr>
              <a:xfrm>
                <a:off x="548640" y="3953865"/>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Trọng tâm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là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e>
                    </m:d>
                  </m:oMath>
                </a14:m>
                <a:r>
                  <a:rPr sz="2100">
                    <a:solidFill>
                      <a:srgbClr val="1E293B"/>
                    </a:solidFill>
                    <a:latin typeface="Calibri"/>
                  </a:rPr>
                  <a:t>.</a:t>
                </a:r>
              </a:p>
            </p:txBody>
          </p:sp>
        </mc:Choice>
        <mc:Fallback>
          <p:sp>
            <p:nvSpPr>
              <p:cNvPr id="15" name="TextBox 14"/>
              <p:cNvSpPr txBox="1"/>
              <p:nvPr/>
            </p:nvSpPr>
            <p:spPr>
              <a:xfrm>
                <a:off x="548640" y="3953865"/>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Trọng tâm tam giác </a:t>
                </a:r>
                <a:r>
                  <a:rPr lang="vi-VN"/>
                  <a:t>ABC</a:t>
                </a:r>
                <a:r>
                  <a:rPr sz="2100">
                    <a:solidFill>
                      <a:srgbClr val="1E293B"/>
                    </a:solidFill>
                    <a:latin typeface="Calibri"/>
                  </a:rPr>
                  <a:t> là </a:t>
                </a:r>
                <a:r>
                  <a:rPr lang="vi-VN"/>
                  <a:t>(1;\ 0;\ 2)</a:t>
                </a:r>
                <a:r>
                  <a:rPr sz="2100">
                    <a:solidFill>
                      <a:srgbClr val="1E293B"/>
                    </a:solidFill>
                    <a:latin typeface="Calibri"/>
                  </a:rPr>
                  <a:t>.</a:t>
                </a:r>
              </a:p>
            </p:txBody>
          </p:sp>
        </mc:Fallback>
      </mc:AlternateContent>
      <p:sp>
        <p:nvSpPr>
          <p:cNvPr id="16" name="s3_nen"/>
          <p:cNvSpPr/>
          <p:nvPr/>
        </p:nvSpPr>
        <p:spPr>
          <a:xfrm>
            <a:off x="8961120" y="3953865"/>
            <a:ext cx="2651759" cy="629716"/>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8961120" y="4008729"/>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(đúng: (2/3; 0; 4/3))</a:t>
            </a:r>
          </a:p>
        </p:txBody>
      </p:sp>
      <mc:AlternateContent xmlns:mc="http://schemas.openxmlformats.org/markup-compatibility/2006">
        <mc:Choice xmlns:a14="http://schemas.microsoft.com/office/drawing/2010/main" Requires="a14">
          <p:sp>
            <p:nvSpPr>
              <p:cNvPr id="18" name="TextBox 17"/>
              <p:cNvSpPr txBox="1"/>
              <p:nvPr/>
            </p:nvSpPr>
            <p:spPr>
              <a:xfrm>
                <a:off x="548640" y="4693310"/>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oMath>
                </a14:m>
                <a:r>
                  <a:rPr sz="2100">
                    <a:solidFill>
                      <a:srgbClr val="1E293B"/>
                    </a:solidFill>
                    <a:latin typeface="Calibri"/>
                  </a:rPr>
                  <a:t>.</a:t>
                </a:r>
              </a:p>
            </p:txBody>
          </p:sp>
        </mc:Choice>
        <mc:Fallback>
          <p:sp>
            <p:nvSpPr>
              <p:cNvPr id="18" name="TextBox 17"/>
              <p:cNvSpPr txBox="1"/>
              <p:nvPr/>
            </p:nvSpPr>
            <p:spPr>
              <a:xfrm>
                <a:off x="548640" y="4693310"/>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a:t>
                </a:r>
                <a:r>
                  <a:rPr lang="vi-VN"/>
                  <a:t>\overrightarrow{AC}</a:t>
                </a:r>
                <a:r>
                  <a:rPr sz="2100">
                    <a:solidFill>
                      <a:srgbClr val="1E293B"/>
                    </a:solidFill>
                    <a:latin typeface="Calibri"/>
                  </a:rPr>
                  <a:t> = </a:t>
                </a:r>
                <a:r>
                  <a:rPr lang="vi-VN"/>
                  <a:t>(-3;\ 1;\ -1)</a:t>
                </a:r>
                <a:r>
                  <a:rPr sz="2100">
                    <a:solidFill>
                      <a:srgbClr val="1E293B"/>
                    </a:solidFill>
                    <a:latin typeface="Calibri"/>
                  </a:rPr>
                  <a:t>.</a:t>
                </a:r>
              </a:p>
            </p:txBody>
          </p:sp>
        </mc:Fallback>
      </mc:AlternateContent>
      <p:sp>
        <p:nvSpPr>
          <p:cNvPr id="19" name="s4_nen"/>
          <p:cNvSpPr/>
          <p:nvPr/>
        </p:nvSpPr>
        <p:spPr>
          <a:xfrm>
            <a:off x="8961120" y="4693310"/>
            <a:ext cx="2651759" cy="629716"/>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8961120" y="4748174"/>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21" name="TextBox 20"/>
              <p:cNvSpPr txBox="1"/>
              <p:nvPr/>
            </p:nvSpPr>
            <p:spPr>
              <a:xfrm>
                <a:off x="548640" y="5432755"/>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m:t>
                    </m:r>
                    <m:rad>
                      <m:radPr>
                        <m:degHide m:val="on"/>
                      </m:radPr>
                      <m:deg/>
                      <m:e>
                        <m:r>
                          <a:rPr lang="vi-VN" sz="2100" b="0">
                            <a:solidFill>
                              <a:srgbClr val="1E293B"/>
                            </a:solidFill>
                            <a:latin typeface="Cambria Math" panose="02040503050406030204" pitchFamily="18" charset="0"/>
                          </a:rPr>
                          <m:t>21</m:t>
                        </m:r>
                      </m:e>
                    </m:rad>
                  </m:oMath>
                </a14:m>
                <a:r>
                  <a:rPr sz="2100">
                    <a:solidFill>
                      <a:srgbClr val="1E293B"/>
                    </a:solidFill>
                    <a:latin typeface="Calibri"/>
                  </a:rPr>
                  <a:t>.</a:t>
                </a:r>
              </a:p>
            </p:txBody>
          </p:sp>
        </mc:Choice>
        <mc:Fallback>
          <p:sp>
            <p:nvSpPr>
              <p:cNvPr id="21" name="TextBox 20"/>
              <p:cNvSpPr txBox="1"/>
              <p:nvPr/>
            </p:nvSpPr>
            <p:spPr>
              <a:xfrm>
                <a:off x="548640" y="5432755"/>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a:t>
                </a:r>
                <a:r>
                  <a:rPr lang="vi-VN"/>
                  <a:t>AB=\sqrt{21}</a:t>
                </a:r>
                <a:r>
                  <a:rPr sz="2100">
                    <a:solidFill>
                      <a:srgbClr val="1E293B"/>
                    </a:solidFill>
                    <a:latin typeface="Calibri"/>
                  </a:rPr>
                  <a:t>.</a:t>
                </a:r>
              </a:p>
            </p:txBody>
          </p:sp>
        </mc:Fallback>
      </mc:AlternateContent>
      <p:sp>
        <p:nvSpPr>
          <p:cNvPr id="22" name="s5_nen"/>
          <p:cNvSpPr/>
          <p:nvPr/>
        </p:nvSpPr>
        <p:spPr>
          <a:xfrm>
            <a:off x="8961120" y="5432755"/>
            <a:ext cx="2651759" cy="629716"/>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5_chu"/>
          <p:cNvSpPr txBox="1"/>
          <p:nvPr/>
        </p:nvSpPr>
        <p:spPr>
          <a:xfrm>
            <a:off x="8961120" y="5487619"/>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2.38 – 2.39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4935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2.38.</a:t>
                </a:r>
                <a:r>
                  <a:rPr sz="2000">
                    <a:solidFill>
                      <a:srgbClr val="1E293B"/>
                    </a:solidFill>
                    <a:latin typeface="Calibri"/>
                  </a:rPr>
                  <a:t> Cho </a:t>
                </a:r>
                <a14:m>
                  <m:oMath xmlns:m="http://schemas.openxmlformats.org/officeDocument/2006/math">
                    <m:r>
                      <a:rPr lang="vi-VN" sz="2000" b="0">
                        <a:solidFill>
                          <a:srgbClr val="1E293B"/>
                        </a:solidFill>
                        <a:latin typeface="Cambria Math" panose="02040503050406030204" pitchFamily="18" charset="0"/>
                      </a:rPr>
                      <m:t>A(2;−1;3)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B(1;1;−1)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C(−1;0;2)</m:t>
                    </m:r>
                  </m:oMath>
                </a14:m>
                <a:r>
                  <a:rPr sz="2000">
                    <a:solidFill>
                      <a:srgbClr val="1E293B"/>
                    </a:solidFill>
                    <a:latin typeface="Calibri"/>
                  </a:rPr>
                  <a:t>. a) Tìm toạ độ trọng tâm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của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b) Tìm toạ độ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thuộc trục </a:t>
                </a:r>
                <a14:m>
                  <m:oMath xmlns:m="http://schemas.openxmlformats.org/officeDocument/2006/math">
                    <m:r>
                      <a:rPr lang="vi-VN" sz="2000" b="0">
                        <a:solidFill>
                          <a:srgbClr val="1E293B"/>
                        </a:solidFill>
                        <a:latin typeface="Cambria Math" panose="02040503050406030204" pitchFamily="18" charset="0"/>
                      </a:rPr>
                      <m:t>Oz</m:t>
                    </m:r>
                  </m:oMath>
                </a14:m>
                <a:r>
                  <a:rPr sz="2000">
                    <a:solidFill>
                      <a:srgbClr val="1E293B"/>
                    </a:solidFill>
                    <a:latin typeface="Calibri"/>
                  </a:rPr>
                  <a:t> sao cho </a:t>
                </a:r>
                <a14:m>
                  <m:oMath xmlns:m="http://schemas.openxmlformats.org/officeDocument/2006/math">
                    <m:r>
                      <a:rPr lang="vi-VN" sz="2000" b="0">
                        <a:solidFill>
                          <a:srgbClr val="1E293B"/>
                        </a:solidFill>
                        <a:latin typeface="Cambria Math" panose="02040503050406030204" pitchFamily="18" charset="0"/>
                      </a:rPr>
                      <m:t>BM⟂AC</m:t>
                    </m:r>
                  </m:oMath>
                </a14:m>
                <a:r>
                  <a:rPr sz="2000">
                    <a:solidFill>
                      <a:srgbClr val="1E293B"/>
                    </a:solidFill>
                    <a:latin typeface="Calibri"/>
                  </a:rPr>
                  <a:t>.</a:t>
                </a:r>
              </a:p>
              <a:p>
                <a:pPr algn="l">
                  <a:spcAft>
                    <a:spcPts val="800"/>
                  </a:spcAft>
                </a:pPr>
                <a:r>
                  <a:rPr sz="2000" b="1">
                    <a:solidFill>
                      <a:srgbClr val="1E293B"/>
                    </a:solidFill>
                    <a:latin typeface="Calibri"/>
                  </a:rPr>
                  <a:t>2.39.</a:t>
                </a:r>
                <a:r>
                  <a:rPr sz="2000">
                    <a:solidFill>
                      <a:srgbClr val="1E293B"/>
                    </a:solidFill>
                    <a:latin typeface="Calibri"/>
                  </a:rPr>
                  <a:t> Cho hình hộp </a:t>
                </a:r>
                <a14:m>
                  <m:oMath xmlns:m="http://schemas.openxmlformats.org/officeDocument/2006/math">
                    <m:r>
                      <a:rPr lang="vi-VN" sz="2000" b="0">
                        <a:solidFill>
                          <a:srgbClr val="1E293B"/>
                        </a:solidFill>
                        <a:latin typeface="Cambria Math" panose="02040503050406030204" pitchFamily="18" charset="0"/>
                      </a:rPr>
                      <m:t>OABC.</m:t>
                    </m:r>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có </a:t>
                </a:r>
                <a14:m>
                  <m:oMath xmlns:m="http://schemas.openxmlformats.org/officeDocument/2006/math">
                    <m:r>
                      <a:rPr lang="vi-VN" sz="2000" b="0">
                        <a:solidFill>
                          <a:srgbClr val="1E293B"/>
                        </a:solidFill>
                        <a:latin typeface="Cambria Math" panose="02040503050406030204" pitchFamily="18" charset="0"/>
                      </a:rPr>
                      <m:t>A(2;3;1)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C(−1;2;3)</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(1;−2;2)</m:t>
                    </m:r>
                  </m:oMath>
                </a14:m>
                <a:r>
                  <a:rPr sz="2000">
                    <a:solidFill>
                      <a:srgbClr val="1E293B"/>
                    </a:solidFill>
                    <a:latin typeface="Calibri"/>
                  </a:rPr>
                  <a:t>. Tìm toạ độ các đỉnh còn lại của hình hộp.</a:t>
                </a:r>
              </a:p>
            </p:txBody>
          </p:sp>
        </mc:Choice>
        <mc:Fallback>
          <p:sp>
            <p:nvSpPr>
              <p:cNvPr id="7" name="TextBox 6"/>
              <p:cNvSpPr txBox="1"/>
              <p:nvPr/>
            </p:nvSpPr>
            <p:spPr>
              <a:xfrm>
                <a:off x="548640" y="1371600"/>
                <a:ext cx="11064240" cy="14935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2.38.</a:t>
                </a:r>
                <a:r>
                  <a:rPr sz="2000">
                    <a:solidFill>
                      <a:srgbClr val="1E293B"/>
                    </a:solidFill>
                    <a:latin typeface="Calibri"/>
                  </a:rPr>
                  <a:t> Cho </a:t>
                </a:r>
                <a:r>
                  <a:rPr lang="vi-VN"/>
                  <a:t>A(2;-1;3)</a:t>
                </a:r>
                <a:r>
                  <a:rPr sz="2000">
                    <a:solidFill>
                      <a:srgbClr val="1E293B"/>
                    </a:solidFill>
                    <a:latin typeface="Calibri"/>
                  </a:rPr>
                  <a:t>, </a:t>
                </a:r>
                <a:r>
                  <a:rPr lang="vi-VN"/>
                  <a:t>B(1;1;-1)</a:t>
                </a:r>
                <a:r>
                  <a:rPr sz="2000">
                    <a:solidFill>
                      <a:srgbClr val="1E293B"/>
                    </a:solidFill>
                    <a:latin typeface="Calibri"/>
                  </a:rPr>
                  <a:t>, </a:t>
                </a:r>
                <a:r>
                  <a:rPr lang="vi-VN"/>
                  <a:t>C(-1;0;2)</a:t>
                </a:r>
                <a:r>
                  <a:rPr sz="2000">
                    <a:solidFill>
                      <a:srgbClr val="1E293B"/>
                    </a:solidFill>
                    <a:latin typeface="Calibri"/>
                  </a:rPr>
                  <a:t>. a) Tìm toạ độ trọng tâm </a:t>
                </a:r>
                <a:r>
                  <a:rPr lang="vi-VN"/>
                  <a:t>G</a:t>
                </a:r>
                <a:r>
                  <a:rPr sz="2000">
                    <a:solidFill>
                      <a:srgbClr val="1E293B"/>
                    </a:solidFill>
                    <a:latin typeface="Calibri"/>
                  </a:rPr>
                  <a:t> của tam giác </a:t>
                </a:r>
                <a:r>
                  <a:rPr lang="vi-VN"/>
                  <a:t>ABC</a:t>
                </a:r>
                <a:r>
                  <a:rPr sz="2000">
                    <a:solidFill>
                      <a:srgbClr val="1E293B"/>
                    </a:solidFill>
                    <a:latin typeface="Calibri"/>
                  </a:rPr>
                  <a:t>. b) Tìm toạ độ điểm </a:t>
                </a:r>
                <a:r>
                  <a:rPr lang="vi-VN"/>
                  <a:t>M</a:t>
                </a:r>
                <a:r>
                  <a:rPr sz="2000">
                    <a:solidFill>
                      <a:srgbClr val="1E293B"/>
                    </a:solidFill>
                    <a:latin typeface="Calibri"/>
                  </a:rPr>
                  <a:t> thuộc trục </a:t>
                </a:r>
                <a:r>
                  <a:rPr lang="vi-VN"/>
                  <a:t>Oz</a:t>
                </a:r>
                <a:r>
                  <a:rPr sz="2000">
                    <a:solidFill>
                      <a:srgbClr val="1E293B"/>
                    </a:solidFill>
                    <a:latin typeface="Calibri"/>
                  </a:rPr>
                  <a:t> sao cho </a:t>
                </a:r>
                <a:r>
                  <a:rPr lang="vi-VN"/>
                  <a:t>BM\perp AC</a:t>
                </a:r>
                <a:r>
                  <a:rPr sz="2000">
                    <a:solidFill>
                      <a:srgbClr val="1E293B"/>
                    </a:solidFill>
                    <a:latin typeface="Calibri"/>
                  </a:rPr>
                  <a:t>.</a:t>
                </a:r>
              </a:p>
              <a:p>
                <a:pPr algn="l">
                  <a:spcAft>
                    <a:spcPts val="800"/>
                  </a:spcAft>
                </a:pPr>
                <a:r>
                  <a:rPr sz="2000" b="1">
                    <a:solidFill>
                      <a:srgbClr val="1E293B"/>
                    </a:solidFill>
                    <a:latin typeface="Calibri"/>
                  </a:rPr>
                  <a:t>2.39.</a:t>
                </a:r>
                <a:r>
                  <a:rPr sz="2000">
                    <a:solidFill>
                      <a:srgbClr val="1E293B"/>
                    </a:solidFill>
                    <a:latin typeface="Calibri"/>
                  </a:rPr>
                  <a:t> Cho hình hộp </a:t>
                </a:r>
                <a:r>
                  <a:rPr lang="vi-VN"/>
                  <a:t>OABC.O'A'B'C'</a:t>
                </a:r>
                <a:r>
                  <a:rPr sz="2000">
                    <a:solidFill>
                      <a:srgbClr val="1E293B"/>
                    </a:solidFill>
                    <a:latin typeface="Calibri"/>
                  </a:rPr>
                  <a:t> có </a:t>
                </a:r>
                <a:r>
                  <a:rPr lang="vi-VN"/>
                  <a:t>A(2;3;1)</a:t>
                </a:r>
                <a:r>
                  <a:rPr sz="2000">
                    <a:solidFill>
                      <a:srgbClr val="1E293B"/>
                    </a:solidFill>
                    <a:latin typeface="Calibri"/>
                  </a:rPr>
                  <a:t>, </a:t>
                </a:r>
                <a:r>
                  <a:rPr lang="vi-VN"/>
                  <a:t>C(-1;2;3)</a:t>
                </a:r>
                <a:r>
                  <a:rPr sz="2000">
                    <a:solidFill>
                      <a:srgbClr val="1E293B"/>
                    </a:solidFill>
                    <a:latin typeface="Calibri"/>
                  </a:rPr>
                  <a:t> và </a:t>
                </a:r>
                <a:r>
                  <a:rPr lang="vi-VN"/>
                  <a:t>O'(1;-2;2)</a:t>
                </a:r>
                <a:r>
                  <a:rPr sz="2000">
                    <a:solidFill>
                      <a:srgbClr val="1E293B"/>
                    </a:solidFill>
                    <a:latin typeface="Calibri"/>
                  </a:rPr>
                  <a:t>. Tìm toạ độ các đỉnh còn lại của hình hộp.</a:t>
                </a:r>
              </a:p>
            </p:txBody>
          </p:sp>
        </mc:Fallback>
      </mc:AlternateContent>
      <p:sp>
        <p:nvSpPr>
          <p:cNvPr id="8" name="s1_nen"/>
          <p:cNvSpPr/>
          <p:nvPr/>
        </p:nvSpPr>
        <p:spPr>
          <a:xfrm>
            <a:off x="548640" y="3002280"/>
            <a:ext cx="11064240" cy="11490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38856"/>
                <a:ext cx="1073505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2.38.</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G</m:t>
                    </m:r>
                    <m:d>
                      <m:dPr>
                        <m:sepChr m:val=""/>
                      </m:dPr>
                      <m:e>
                        <m:f>
                          <m:fPr>
                            <m:type m:val="bar"/>
                          </m:fPr>
                          <m:num>
                            <m:r>
                              <a:rPr lang="vi-VN" sz="2000" b="0">
                                <a:solidFill>
                                  <a:srgbClr val="1E293B"/>
                                </a:solidFill>
                                <a:latin typeface="Cambria Math" panose="02040503050406030204" pitchFamily="18" charset="0"/>
                              </a:rPr>
                              <m:t>2</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f>
                          <m:fPr>
                            <m:type m:val="bar"/>
                          </m:fPr>
                          <m:num>
                            <m:r>
                              <a:rPr lang="vi-VN" sz="2000" b="0">
                                <a:solidFill>
                                  <a:srgbClr val="1E293B"/>
                                </a:solidFill>
                                <a:latin typeface="Cambria Math" panose="02040503050406030204" pitchFamily="18" charset="0"/>
                              </a:rPr>
                              <m:t>4</m:t>
                            </m:r>
                          </m:num>
                          <m:den>
                            <m:r>
                              <a:rPr lang="vi-VN" sz="2000" b="0">
                                <a:solidFill>
                                  <a:srgbClr val="1E293B"/>
                                </a:solidFill>
                                <a:latin typeface="Cambria Math" panose="02040503050406030204" pitchFamily="18" charset="0"/>
                              </a:rPr>
                              <m:t>3</m:t>
                            </m:r>
                          </m:den>
                        </m:f>
                      </m:e>
                    </m:d>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M(0;0;z)</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z</m:t>
                        </m:r>
                      </m:e>
                      <m:e>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3−1−(z+1)=0</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z=1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M(0;0;1)</m:t>
                    </m:r>
                  </m:oMath>
                </a14:m>
                <a:r>
                  <a:rPr sz="2000">
                    <a:solidFill>
                      <a:srgbClr val="1E293B"/>
                    </a:solidFill>
                    <a:latin typeface="Calibri"/>
                  </a:rPr>
                  <a:t>.</a:t>
                </a:r>
              </a:p>
            </p:txBody>
          </p:sp>
        </mc:Choice>
        <mc:Fallback>
          <p:sp>
            <p:nvSpPr>
              <p:cNvPr id="9" name="TextBox 8"/>
              <p:cNvSpPr txBox="1"/>
              <p:nvPr/>
            </p:nvSpPr>
            <p:spPr>
              <a:xfrm>
                <a:off x="713232" y="3038856"/>
                <a:ext cx="1073505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2.38.</a:t>
                </a:r>
                <a:r>
                  <a:rPr sz="2000">
                    <a:solidFill>
                      <a:srgbClr val="1E293B"/>
                    </a:solidFill>
                    <a:latin typeface="Calibri"/>
                  </a:rPr>
                  <a:t> a) </a:t>
                </a:r>
                <a:r>
                  <a:rPr lang="vi-VN"/>
                  <a:t>G\left(\frac{2}{3};\ 0;\ \frac{4}{3}\right)</a:t>
                </a:r>
                <a:r>
                  <a:rPr sz="2000">
                    <a:solidFill>
                      <a:srgbClr val="1E293B"/>
                    </a:solidFill>
                    <a:latin typeface="Calibri"/>
                  </a:rPr>
                  <a:t>. b) </a:t>
                </a:r>
                <a:r>
                  <a:rPr lang="vi-VN"/>
                  <a:t>M(0;0;z)</a:t>
                </a:r>
                <a:r>
                  <a:rPr sz="2000">
                    <a:solidFill>
                      <a:srgbClr val="1E293B"/>
                    </a:solidFill>
                    <a:latin typeface="Calibri"/>
                  </a:rPr>
                  <a:t>: </a:t>
                </a:r>
                <a:r>
                  <a:rPr lang="vi-VN"/>
                  <a:t>\overrightarrow{BM}</a:t>
                </a:r>
                <a:r>
                  <a:rPr sz="2000">
                    <a:solidFill>
                      <a:srgbClr val="1E293B"/>
                    </a:solidFill>
                    <a:latin typeface="Calibri"/>
                  </a:rPr>
                  <a:t> = </a:t>
                </a:r>
                <a:r>
                  <a:rPr lang="vi-VN"/>
                  <a:t>(-1;-1;z+1)</a:t>
                </a:r>
                <a:r>
                  <a:rPr sz="2000">
                    <a:solidFill>
                      <a:srgbClr val="1E293B"/>
                    </a:solidFill>
                    <a:latin typeface="Calibri"/>
                  </a:rPr>
                  <a:t>, </a:t>
                </a:r>
                <a:r>
                  <a:rPr lang="vi-VN"/>
                  <a:t>\overrightarrow{AC}</a:t>
                </a:r>
                <a:r>
                  <a:rPr sz="2000">
                    <a:solidFill>
                      <a:srgbClr val="1E293B"/>
                    </a:solidFill>
                    <a:latin typeface="Calibri"/>
                  </a:rPr>
                  <a:t> = </a:t>
                </a:r>
                <a:r>
                  <a:rPr lang="vi-VN"/>
                  <a:t>(-3;1;-1)</a:t>
                </a:r>
                <a:r>
                  <a:rPr sz="2000">
                    <a:solidFill>
                      <a:srgbClr val="1E293B"/>
                    </a:solidFill>
                    <a:latin typeface="Calibri"/>
                  </a:rPr>
                  <a:t>; </a:t>
                </a:r>
                <a:r>
                  <a:rPr lang="vi-VN"/>
                  <a:t>3-1-(z+1)=0</a:t>
                </a:r>
                <a:r>
                  <a:rPr sz="2000">
                    <a:solidFill>
                      <a:srgbClr val="1E293B"/>
                    </a:solidFill>
                    <a:latin typeface="Calibri"/>
                  </a:rPr>
                  <a:t> ⇒ </a:t>
                </a:r>
                <a:r>
                  <a:rPr lang="vi-VN"/>
                  <a:t>z=1</a:t>
                </a:r>
                <a:r>
                  <a:rPr sz="2000">
                    <a:solidFill>
                      <a:srgbClr val="1E293B"/>
                    </a:solidFill>
                    <a:latin typeface="Calibri"/>
                  </a:rPr>
                  <a:t>, </a:t>
                </a:r>
                <a:r>
                  <a:rPr lang="vi-VN"/>
                  <a:t>M(0;0;1)</a:t>
                </a:r>
                <a:r>
                  <a:rPr sz="2000">
                    <a:solidFill>
                      <a:srgbClr val="1E293B"/>
                    </a:solidFill>
                    <a:latin typeface="Calibri"/>
                  </a:rPr>
                  <a:t>.</a:t>
                </a:r>
              </a:p>
            </p:txBody>
          </p:sp>
        </mc:Fallback>
      </mc:AlternateContent>
      <p:sp>
        <p:nvSpPr>
          <p:cNvPr id="10" name="s2_nen"/>
          <p:cNvSpPr/>
          <p:nvPr/>
        </p:nvSpPr>
        <p:spPr>
          <a:xfrm>
            <a:off x="548640" y="4242816"/>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79392"/>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2.39.</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OA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OC</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B(1;5;4)</m:t>
                    </m:r>
                  </m:oMath>
                </a14:m>
                <a:r>
                  <a:rPr sz="2000">
                    <a:solidFill>
                      <a:srgbClr val="1E293B"/>
                    </a:solidFill>
                    <a:latin typeface="Calibri"/>
                  </a:rPr>
                  <a:t>; cộng thêm </a:t>
                </a:r>
                <a14:m>
                  <m:oMath xmlns:m="http://schemas.openxmlformats.org/officeDocument/2006/math">
                    <m:acc>
                      <m:accPr>
                        <m:chr m:val="⃗"/>
                      </m:accPr>
                      <m:e>
                        <m:r>
                          <a:rPr lang="vi-VN" sz="2000" b="0">
                            <a:solidFill>
                              <a:srgbClr val="1E293B"/>
                            </a:solidFill>
                            <a:latin typeface="Cambria Math" panose="02040503050406030204" pitchFamily="18" charset="0"/>
                          </a:rPr>
                          <m:t>O</m:t>
                        </m:r>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(3;1;3)</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(2;3;6)</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(0;0;5)</m:t>
                    </m:r>
                  </m:oMath>
                </a14:m>
                <a:r>
                  <a:rPr sz="2000">
                    <a:solidFill>
                      <a:srgbClr val="1E293B"/>
                    </a:solidFill>
                    <a:latin typeface="Calibri"/>
                  </a:rPr>
                  <a:t>.</a:t>
                </a:r>
              </a:p>
            </p:txBody>
          </p:sp>
        </mc:Choice>
        <mc:Fallback>
          <p:sp>
            <p:nvSpPr>
              <p:cNvPr id="11" name="TextBox 10"/>
              <p:cNvSpPr txBox="1"/>
              <p:nvPr/>
            </p:nvSpPr>
            <p:spPr>
              <a:xfrm>
                <a:off x="713232" y="4279392"/>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2.39.</a:t>
                </a:r>
                <a:r>
                  <a:rPr sz="2000">
                    <a:solidFill>
                      <a:srgbClr val="1E293B"/>
                    </a:solidFill>
                    <a:latin typeface="Calibri"/>
                  </a:rPr>
                  <a:t> </a:t>
                </a:r>
                <a:r>
                  <a:rPr lang="vi-VN"/>
                  <a:t>\overrightarrow{OB}</a:t>
                </a:r>
                <a:r>
                  <a:rPr sz="2000">
                    <a:solidFill>
                      <a:srgbClr val="1E293B"/>
                    </a:solidFill>
                    <a:latin typeface="Calibri"/>
                  </a:rPr>
                  <a:t> = </a:t>
                </a:r>
                <a:r>
                  <a:rPr lang="vi-VN"/>
                  <a:t>\overrightarrow{OA}</a:t>
                </a:r>
                <a:r>
                  <a:rPr sz="2000">
                    <a:solidFill>
                      <a:srgbClr val="1E293B"/>
                    </a:solidFill>
                    <a:latin typeface="Calibri"/>
                  </a:rPr>
                  <a:t> + </a:t>
                </a:r>
                <a:r>
                  <a:rPr lang="vi-VN"/>
                  <a:t>\overrightarrow{OC}</a:t>
                </a:r>
                <a:r>
                  <a:rPr sz="2000">
                    <a:solidFill>
                      <a:srgbClr val="1E293B"/>
                    </a:solidFill>
                    <a:latin typeface="Calibri"/>
                  </a:rPr>
                  <a:t> ⇒ </a:t>
                </a:r>
                <a:r>
                  <a:rPr lang="vi-VN"/>
                  <a:t>B(1;5;4)</a:t>
                </a:r>
                <a:r>
                  <a:rPr sz="2000">
                    <a:solidFill>
                      <a:srgbClr val="1E293B"/>
                    </a:solidFill>
                    <a:latin typeface="Calibri"/>
                  </a:rPr>
                  <a:t>; cộng thêm </a:t>
                </a:r>
                <a:r>
                  <a:rPr lang="vi-VN"/>
                  <a:t>\overrightarrow{OO'}</a:t>
                </a:r>
                <a:r>
                  <a:rPr sz="2000">
                    <a:solidFill>
                      <a:srgbClr val="1E293B"/>
                    </a:solidFill>
                    <a:latin typeface="Calibri"/>
                  </a:rPr>
                  <a:t>: </a:t>
                </a:r>
                <a:r>
                  <a:rPr lang="vi-VN"/>
                  <a:t>A'(3;1;3)</a:t>
                </a:r>
                <a:r>
                  <a:rPr sz="2000">
                    <a:solidFill>
                      <a:srgbClr val="1E293B"/>
                    </a:solidFill>
                    <a:latin typeface="Calibri"/>
                  </a:rPr>
                  <a:t>, </a:t>
                </a:r>
                <a:r>
                  <a:rPr lang="vi-VN"/>
                  <a:t>B'(2;3;6)</a:t>
                </a:r>
                <a:r>
                  <a:rPr sz="2000">
                    <a:solidFill>
                      <a:srgbClr val="1E293B"/>
                    </a:solidFill>
                    <a:latin typeface="Calibri"/>
                  </a:rPr>
                  <a:t>, </a:t>
                </a:r>
                <a:r>
                  <a:rPr lang="vi-VN"/>
                  <a:t>C'(0;0;5)</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2.40 – 2.41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7983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2.40.</a:t>
                </a:r>
                <a:r>
                  <a:rPr sz="2000">
                    <a:solidFill>
                      <a:srgbClr val="1E293B"/>
                    </a:solidFill>
                    <a:latin typeface="Calibri"/>
                  </a:rPr>
                  <a:t>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=(−2;1;2)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=(1;1;−1)</m:t>
                    </m:r>
                  </m:oMath>
                </a14:m>
                <a:r>
                  <a:rPr sz="2000">
                    <a:solidFill>
                      <a:srgbClr val="1E293B"/>
                    </a:solidFill>
                    <a:latin typeface="Calibri"/>
                  </a:rPr>
                  <a:t>. a) Xác định toạ độ của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b) Tính độ dài của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c) Tính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oMath>
                </a14:m>
                <a:r>
                  <a:rPr sz="2000">
                    <a:solidFill>
                      <a:srgbClr val="1E293B"/>
                    </a:solidFill>
                    <a:latin typeface="Calibri"/>
                  </a:rPr>
                  <a:t>.</a:t>
                </a:r>
              </a:p>
              <a:p>
                <a:pPr algn="l">
                  <a:spcAft>
                    <a:spcPts val="800"/>
                  </a:spcAft>
                </a:pPr>
                <a:r>
                  <a:rPr sz="2000" b="1">
                    <a:solidFill>
                      <a:srgbClr val="1E293B"/>
                    </a:solidFill>
                    <a:latin typeface="Calibri"/>
                  </a:rPr>
                  <a:t>2.41.</a:t>
                </a:r>
                <a:r>
                  <a:rPr sz="2000">
                    <a:solidFill>
                      <a:srgbClr val="1E293B"/>
                    </a:solidFill>
                    <a:latin typeface="Calibri"/>
                  </a:rPr>
                  <a:t> Cho </a:t>
                </a:r>
                <a14:m>
                  <m:oMath xmlns:m="http://schemas.openxmlformats.org/officeDocument/2006/math">
                    <m:r>
                      <a:rPr lang="vi-VN" sz="2000" b="0">
                        <a:solidFill>
                          <a:srgbClr val="1E293B"/>
                        </a:solidFill>
                        <a:latin typeface="Cambria Math" panose="02040503050406030204" pitchFamily="18" charset="0"/>
                      </a:rPr>
                      <m:t>A(4;2;−1)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B(1;−1;2)</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C(0;−2;3)</m:t>
                    </m:r>
                  </m:oMath>
                </a14:m>
                <a:r>
                  <a:rPr sz="2000">
                    <a:solidFill>
                      <a:srgbClr val="1E293B"/>
                    </a:solidFill>
                    <a:latin typeface="Calibri"/>
                  </a:rPr>
                  <a:t>. a) Tìm toạ độ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và tính độ dài đoạn thẳng </a:t>
                </a:r>
                <a14:m>
                  <m:oMath xmlns:m="http://schemas.openxmlformats.org/officeDocument/2006/math">
                    <m:r>
                      <a:rPr lang="vi-VN" sz="2000" b="0">
                        <a:solidFill>
                          <a:srgbClr val="1E293B"/>
                        </a:solidFill>
                        <a:latin typeface="Cambria Math" panose="02040503050406030204" pitchFamily="18" charset="0"/>
                      </a:rPr>
                      <m:t>AB</m:t>
                    </m:r>
                  </m:oMath>
                </a14:m>
                <a:r>
                  <a:rPr sz="2000">
                    <a:solidFill>
                      <a:srgbClr val="1E293B"/>
                    </a:solidFill>
                    <a:latin typeface="Calibri"/>
                  </a:rPr>
                  <a:t>. b) Tìm toạ độ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 Tìm toạ độ điểm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thuộc mặt phẳng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y</m:t>
                        </m:r>
                      </m:e>
                    </m:d>
                  </m:oMath>
                </a14:m>
                <a:r>
                  <a:rPr sz="2000">
                    <a:solidFill>
                      <a:srgbClr val="1E293B"/>
                    </a:solidFill>
                    <a:latin typeface="Calibri"/>
                  </a:rPr>
                  <a:t> sao cho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m:t>
                    </m:r>
                  </m:oMath>
                </a14:m>
                <a:r>
                  <a:rPr sz="2000">
                    <a:solidFill>
                      <a:srgbClr val="1E293B"/>
                    </a:solidFill>
                    <a:latin typeface="Calibri"/>
                  </a:rPr>
                  <a:t> thẳng hàng.</a:t>
                </a:r>
              </a:p>
            </p:txBody>
          </p:sp>
        </mc:Choice>
        <mc:Fallback>
          <p:sp>
            <p:nvSpPr>
              <p:cNvPr id="7" name="TextBox 6"/>
              <p:cNvSpPr txBox="1"/>
              <p:nvPr/>
            </p:nvSpPr>
            <p:spPr>
              <a:xfrm>
                <a:off x="548640" y="1371600"/>
                <a:ext cx="11064240" cy="17983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2.40.</a:t>
                </a:r>
                <a:r>
                  <a:rPr sz="2000">
                    <a:solidFill>
                      <a:srgbClr val="1E293B"/>
                    </a:solidFill>
                    <a:latin typeface="Calibri"/>
                  </a:rPr>
                  <a:t> Cho </a:t>
                </a:r>
                <a:r>
                  <a:rPr lang="vi-VN"/>
                  <a:t>\vec{a}=(-2;1;2)</a:t>
                </a:r>
                <a:r>
                  <a:rPr sz="2000">
                    <a:solidFill>
                      <a:srgbClr val="1E293B"/>
                    </a:solidFill>
                    <a:latin typeface="Calibri"/>
                  </a:rPr>
                  <a:t>, </a:t>
                </a:r>
                <a:r>
                  <a:rPr lang="vi-VN"/>
                  <a:t>\vec{b}=(1;1;-1)</a:t>
                </a:r>
                <a:r>
                  <a:rPr sz="2000">
                    <a:solidFill>
                      <a:srgbClr val="1E293B"/>
                    </a:solidFill>
                    <a:latin typeface="Calibri"/>
                  </a:rPr>
                  <a:t>. a) Xác định toạ độ của </a:t>
                </a:r>
                <a:r>
                  <a:rPr lang="vi-VN"/>
                  <a:t>\vec{u}=\vec{a}-2\vec{b}</a:t>
                </a:r>
                <a:r>
                  <a:rPr sz="2000">
                    <a:solidFill>
                      <a:srgbClr val="1E293B"/>
                    </a:solidFill>
                    <a:latin typeface="Calibri"/>
                  </a:rPr>
                  <a:t>. b) Tính độ dài của </a:t>
                </a:r>
                <a:r>
                  <a:rPr lang="vi-VN"/>
                  <a:t>\vec{u}</a:t>
                </a:r>
                <a:r>
                  <a:rPr sz="2000">
                    <a:solidFill>
                      <a:srgbClr val="1E293B"/>
                    </a:solidFill>
                    <a:latin typeface="Calibri"/>
                  </a:rPr>
                  <a:t>. c) Tính </a:t>
                </a:r>
                <a:r>
                  <a:rPr lang="vi-VN"/>
                  <a:t>\cos(\vec{a},\vec{b})</a:t>
                </a:r>
                <a:r>
                  <a:rPr sz="2000">
                    <a:solidFill>
                      <a:srgbClr val="1E293B"/>
                    </a:solidFill>
                    <a:latin typeface="Calibri"/>
                  </a:rPr>
                  <a:t>.</a:t>
                </a:r>
              </a:p>
              <a:p>
                <a:pPr algn="l">
                  <a:spcAft>
                    <a:spcPts val="800"/>
                  </a:spcAft>
                </a:pPr>
                <a:r>
                  <a:rPr sz="2000" b="1">
                    <a:solidFill>
                      <a:srgbClr val="1E293B"/>
                    </a:solidFill>
                    <a:latin typeface="Calibri"/>
                  </a:rPr>
                  <a:t>2.41.</a:t>
                </a:r>
                <a:r>
                  <a:rPr sz="2000">
                    <a:solidFill>
                      <a:srgbClr val="1E293B"/>
                    </a:solidFill>
                    <a:latin typeface="Calibri"/>
                  </a:rPr>
                  <a:t> Cho </a:t>
                </a:r>
                <a:r>
                  <a:rPr lang="vi-VN"/>
                  <a:t>A(4;2;-1)</a:t>
                </a:r>
                <a:r>
                  <a:rPr sz="2000">
                    <a:solidFill>
                      <a:srgbClr val="1E293B"/>
                    </a:solidFill>
                    <a:latin typeface="Calibri"/>
                  </a:rPr>
                  <a:t>, </a:t>
                </a:r>
                <a:r>
                  <a:rPr lang="vi-VN"/>
                  <a:t>B(1;-1;2)</a:t>
                </a:r>
                <a:r>
                  <a:rPr sz="2000">
                    <a:solidFill>
                      <a:srgbClr val="1E293B"/>
                    </a:solidFill>
                    <a:latin typeface="Calibri"/>
                  </a:rPr>
                  <a:t> và </a:t>
                </a:r>
                <a:r>
                  <a:rPr lang="vi-VN"/>
                  <a:t>C(0;-2;3)</a:t>
                </a:r>
                <a:r>
                  <a:rPr sz="2000">
                    <a:solidFill>
                      <a:srgbClr val="1E293B"/>
                    </a:solidFill>
                    <a:latin typeface="Calibri"/>
                  </a:rPr>
                  <a:t>. a) Tìm toạ độ </a:t>
                </a:r>
                <a:r>
                  <a:rPr lang="vi-VN"/>
                  <a:t>\overrightarrow{AB}</a:t>
                </a:r>
                <a:r>
                  <a:rPr sz="2000">
                    <a:solidFill>
                      <a:srgbClr val="1E293B"/>
                    </a:solidFill>
                    <a:latin typeface="Calibri"/>
                  </a:rPr>
                  <a:t> và tính độ dài đoạn thẳng </a:t>
                </a:r>
                <a:r>
                  <a:rPr lang="vi-VN"/>
                  <a:t>AB</a:t>
                </a:r>
                <a:r>
                  <a:rPr sz="2000">
                    <a:solidFill>
                      <a:srgbClr val="1E293B"/>
                    </a:solidFill>
                    <a:latin typeface="Calibri"/>
                  </a:rPr>
                  <a:t>. b) Tìm toạ độ điểm </a:t>
                </a:r>
                <a:r>
                  <a:rPr lang="vi-VN"/>
                  <a:t>M</a:t>
                </a:r>
                <a:r>
                  <a:rPr sz="2000">
                    <a:solidFill>
                      <a:srgbClr val="1E293B"/>
                    </a:solidFill>
                    <a:latin typeface="Calibri"/>
                  </a:rPr>
                  <a:t> sao cho </a:t>
                </a:r>
                <a:r>
                  <a:rPr lang="vi-VN"/>
                  <a:t>\overrightarrow{AB}</a:t>
                </a:r>
                <a:r>
                  <a:rPr sz="2000">
                    <a:solidFill>
                      <a:srgbClr val="1E293B"/>
                    </a:solidFill>
                    <a:latin typeface="Calibri"/>
                  </a:rPr>
                  <a:t> + </a:t>
                </a:r>
                <a:r>
                  <a:rPr lang="vi-VN"/>
                  <a:t>\overrightarrow{CM}</a:t>
                </a:r>
                <a:r>
                  <a:rPr sz="2000">
                    <a:solidFill>
                      <a:srgbClr val="1E293B"/>
                    </a:solidFill>
                    <a:latin typeface="Calibri"/>
                  </a:rPr>
                  <a:t> = </a:t>
                </a:r>
                <a:r>
                  <a:rPr lang="vi-VN"/>
                  <a:t>\vec{0}</a:t>
                </a:r>
                <a:r>
                  <a:rPr sz="2000">
                    <a:solidFill>
                      <a:srgbClr val="1E293B"/>
                    </a:solidFill>
                    <a:latin typeface="Calibri"/>
                  </a:rPr>
                  <a:t>. c) Tìm toạ độ điểm </a:t>
                </a:r>
                <a:r>
                  <a:rPr lang="vi-VN"/>
                  <a:t>N</a:t>
                </a:r>
                <a:r>
                  <a:rPr sz="2000">
                    <a:solidFill>
                      <a:srgbClr val="1E293B"/>
                    </a:solidFill>
                    <a:latin typeface="Calibri"/>
                  </a:rPr>
                  <a:t> thuộc mặt phẳng </a:t>
                </a:r>
                <a:r>
                  <a:rPr lang="vi-VN"/>
                  <a:t>(Oxy)</a:t>
                </a:r>
                <a:r>
                  <a:rPr sz="2000">
                    <a:solidFill>
                      <a:srgbClr val="1E293B"/>
                    </a:solidFill>
                    <a:latin typeface="Calibri"/>
                  </a:rPr>
                  <a:t> sao cho </a:t>
                </a:r>
                <a:r>
                  <a:rPr lang="vi-VN"/>
                  <a:t>A,\ B,\ N</a:t>
                </a:r>
                <a:r>
                  <a:rPr sz="2000">
                    <a:solidFill>
                      <a:srgbClr val="1E293B"/>
                    </a:solidFill>
                    <a:latin typeface="Calibri"/>
                  </a:rPr>
                  <a:t> thẳng hàng.</a:t>
                </a:r>
              </a:p>
            </p:txBody>
          </p:sp>
        </mc:Fallback>
      </mc:AlternateContent>
      <p:sp>
        <p:nvSpPr>
          <p:cNvPr id="8" name="s1_nen"/>
          <p:cNvSpPr/>
          <p:nvPr/>
        </p:nvSpPr>
        <p:spPr>
          <a:xfrm>
            <a:off x="548640" y="3307080"/>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343656"/>
                <a:ext cx="10735056" cy="77114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2.40.</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=(−4;−1;4)</m:t>
                    </m:r>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33</m:t>
                        </m:r>
                      </m:e>
                    </m:rad>
                  </m:oMath>
                </a14:m>
                <a:r>
                  <a:rPr sz="2000">
                    <a:solidFill>
                      <a:srgbClr val="1E293B"/>
                    </a:solidFill>
                    <a:latin typeface="Calibri"/>
                  </a:rPr>
                  <a:t>. c)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−3</m:t>
                        </m:r>
                      </m:num>
                      <m:den>
                        <m:r>
                          <a:rPr lang="vi-VN" sz="2000" b="0">
                            <a:solidFill>
                              <a:srgbClr val="1E293B"/>
                            </a:solidFill>
                            <a:latin typeface="Cambria Math" panose="02040503050406030204" pitchFamily="18" charset="0"/>
                          </a:rPr>
                          <m:t>3·</m:t>
                        </m:r>
                        <m:rad>
                          <m:radPr>
                            <m:degHide m:val="on"/>
                          </m:radPr>
                          <m:deg/>
                          <m:e>
                            <m:r>
                              <a:rPr lang="vi-VN" sz="2000" b="0">
                                <a:solidFill>
                                  <a:srgbClr val="1E293B"/>
                                </a:solidFill>
                                <a:latin typeface="Cambria Math" panose="02040503050406030204" pitchFamily="18" charset="0"/>
                              </a:rPr>
                              <m:t>3</m:t>
                            </m:r>
                          </m:e>
                        </m:rad>
                      </m:den>
                    </m:f>
                    <m:r>
                      <a:rPr lang="vi-VN" sz="2000" b="0">
                        <a:solidFill>
                          <a:srgbClr val="1E293B"/>
                        </a:solidFill>
                        <a:latin typeface="Cambria Math" panose="02040503050406030204" pitchFamily="18" charset="0"/>
                      </a:rPr>
                      <m:t>=−</m:t>
                    </m:r>
                    <m:f>
                      <m:fPr>
                        <m:type m:val="bar"/>
                      </m:fPr>
                      <m:num>
                        <m:rad>
                          <m:radPr>
                            <m:degHide m:val="on"/>
                          </m:radPr>
                          <m:deg/>
                          <m:e>
                            <m:r>
                              <a:rPr lang="vi-VN" sz="2000" b="0">
                                <a:solidFill>
                                  <a:srgbClr val="1E293B"/>
                                </a:solidFill>
                                <a:latin typeface="Cambria Math" panose="02040503050406030204" pitchFamily="18" charset="0"/>
                              </a:rPr>
                              <m:t>3</m:t>
                            </m:r>
                          </m:e>
                        </m:rad>
                      </m:num>
                      <m:den>
                        <m:r>
                          <a:rPr lang="vi-VN" sz="2000" b="0">
                            <a:solidFill>
                              <a:srgbClr val="1E293B"/>
                            </a:solidFill>
                            <a:latin typeface="Cambria Math" panose="02040503050406030204" pitchFamily="18" charset="0"/>
                          </a:rPr>
                          <m:t>3</m:t>
                        </m:r>
                      </m:den>
                    </m:f>
                  </m:oMath>
                </a14:m>
                <a:r>
                  <a:rPr sz="2000">
                    <a:solidFill>
                      <a:srgbClr val="1E293B"/>
                    </a:solidFill>
                    <a:latin typeface="Calibri"/>
                  </a:rPr>
                  <a:t>.</a:t>
                </a:r>
              </a:p>
            </p:txBody>
          </p:sp>
        </mc:Choice>
        <mc:Fallback>
          <p:sp>
            <p:nvSpPr>
              <p:cNvPr id="9" name="TextBox 8"/>
              <p:cNvSpPr txBox="1"/>
              <p:nvPr/>
            </p:nvSpPr>
            <p:spPr>
              <a:xfrm>
                <a:off x="713232" y="3343656"/>
                <a:ext cx="10735056" cy="77114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2.40.</a:t>
                </a:r>
                <a:r>
                  <a:rPr sz="2000">
                    <a:solidFill>
                      <a:srgbClr val="1E293B"/>
                    </a:solidFill>
                    <a:latin typeface="Calibri"/>
                  </a:rPr>
                  <a:t> a) </a:t>
                </a:r>
                <a:r>
                  <a:rPr lang="vi-VN"/>
                  <a:t>\vec{u}=(-4;-1;4)</a:t>
                </a:r>
                <a:r>
                  <a:rPr sz="2000">
                    <a:solidFill>
                      <a:srgbClr val="1E293B"/>
                    </a:solidFill>
                    <a:latin typeface="Calibri"/>
                  </a:rPr>
                  <a:t>. b) </a:t>
                </a:r>
                <a:r>
                  <a:rPr lang="vi-VN"/>
                  <a:t>|\vec{u}|=\sqrt{33}</a:t>
                </a:r>
                <a:r>
                  <a:rPr sz="2000">
                    <a:solidFill>
                      <a:srgbClr val="1E293B"/>
                    </a:solidFill>
                    <a:latin typeface="Calibri"/>
                  </a:rPr>
                  <a:t>. c) </a:t>
                </a:r>
                <a:r>
                  <a:rPr lang="vi-VN"/>
                  <a:t>\cos(\vec{a},\vec{b})=\frac{-3}{3\cdot\sqrt{3}}=-\frac{\sqrt{3}}{3}</a:t>
                </a:r>
                <a:r>
                  <a:rPr sz="2000">
                    <a:solidFill>
                      <a:srgbClr val="1E293B"/>
                    </a:solidFill>
                    <a:latin typeface="Calibri"/>
                  </a:rPr>
                  <a:t>.</a:t>
                </a:r>
              </a:p>
            </p:txBody>
          </p:sp>
        </mc:Fallback>
      </mc:AlternateContent>
      <p:sp>
        <p:nvSpPr>
          <p:cNvPr id="10" name="s2_nen"/>
          <p:cNvSpPr/>
          <p:nvPr/>
        </p:nvSpPr>
        <p:spPr>
          <a:xfrm>
            <a:off x="548640" y="4242816"/>
            <a:ext cx="110642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79392"/>
                <a:ext cx="10735056" cy="93878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2.41.</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AB=3</m:t>
                    </m:r>
                    <m:rad>
                      <m:radPr>
                        <m:degHide m:val="on"/>
                      </m:radPr>
                      <m:deg/>
                      <m:e>
                        <m:r>
                          <a:rPr lang="vi-VN" sz="2000" b="0">
                            <a:solidFill>
                              <a:srgbClr val="1E293B"/>
                            </a:solidFill>
                            <a:latin typeface="Cambria Math" panose="02040503050406030204" pitchFamily="18" charset="0"/>
                          </a:rPr>
                          <m:t>3</m:t>
                        </m:r>
                      </m:e>
                    </m:rad>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CM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M(3;1;0)</m:t>
                    </m:r>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N=A+t</m:t>
                    </m:r>
                  </m:oMath>
                </a14:m>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z</m:t>
                        </m:r>
                      </m:e>
                      <m:sub>
                        <m:r>
                          <a:rPr lang="vi-VN" sz="2000" b="0">
                            <a:solidFill>
                              <a:srgbClr val="1E293B"/>
                            </a:solidFill>
                            <a:latin typeface="Cambria Math" panose="02040503050406030204" pitchFamily="18" charset="0"/>
                          </a:rPr>
                          <m:t>N</m:t>
                        </m:r>
                      </m:sub>
                    </m:sSub>
                    <m:r>
                      <a:rPr lang="vi-VN" sz="2000" b="0">
                        <a:solidFill>
                          <a:srgbClr val="1E293B"/>
                        </a:solidFill>
                        <a:latin typeface="Cambria Math" panose="02040503050406030204" pitchFamily="18" charset="0"/>
                      </a:rPr>
                      <m:t>=−1+3t=0</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N(3;1;0)</m:t>
                    </m:r>
                  </m:oMath>
                </a14:m>
                <a:r>
                  <a:rPr sz="2000">
                    <a:solidFill>
                      <a:srgbClr val="1E293B"/>
                    </a:solidFill>
                    <a:latin typeface="Calibri"/>
                  </a:rPr>
                  <a:t>.</a:t>
                </a:r>
              </a:p>
            </p:txBody>
          </p:sp>
        </mc:Choice>
        <mc:Fallback>
          <p:sp>
            <p:nvSpPr>
              <p:cNvPr id="11" name="TextBox 10"/>
              <p:cNvSpPr txBox="1"/>
              <p:nvPr/>
            </p:nvSpPr>
            <p:spPr>
              <a:xfrm>
                <a:off x="713232" y="4279392"/>
                <a:ext cx="10735056" cy="93878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2.41.</a:t>
                </a:r>
                <a:r>
                  <a:rPr sz="2000">
                    <a:solidFill>
                      <a:srgbClr val="1E293B"/>
                    </a:solidFill>
                    <a:latin typeface="Calibri"/>
                  </a:rPr>
                  <a:t> a) </a:t>
                </a:r>
                <a:r>
                  <a:rPr lang="vi-VN"/>
                  <a:t>\overrightarrow{AB}</a:t>
                </a:r>
                <a:r>
                  <a:rPr sz="2000">
                    <a:solidFill>
                      <a:srgbClr val="1E293B"/>
                    </a:solidFill>
                    <a:latin typeface="Calibri"/>
                  </a:rPr>
                  <a:t> = </a:t>
                </a:r>
                <a:r>
                  <a:rPr lang="vi-VN"/>
                  <a:t>(-3;-3;3)</a:t>
                </a:r>
                <a:r>
                  <a:rPr sz="2000">
                    <a:solidFill>
                      <a:srgbClr val="1E293B"/>
                    </a:solidFill>
                    <a:latin typeface="Calibri"/>
                  </a:rPr>
                  <a:t>, </a:t>
                </a:r>
                <a:r>
                  <a:rPr lang="vi-VN"/>
                  <a:t>AB=3\sqrt{3}</a:t>
                </a:r>
                <a:r>
                  <a:rPr sz="2000">
                    <a:solidFill>
                      <a:srgbClr val="1E293B"/>
                    </a:solidFill>
                    <a:latin typeface="Calibri"/>
                  </a:rPr>
                  <a:t>. b) </a:t>
                </a:r>
                <a:r>
                  <a:rPr lang="vi-VN"/>
                  <a:t>\overrightarrow{CM}</a:t>
                </a:r>
                <a:r>
                  <a:rPr sz="2000">
                    <a:solidFill>
                      <a:srgbClr val="1E293B"/>
                    </a:solidFill>
                    <a:latin typeface="Calibri"/>
                  </a:rPr>
                  <a:t> = −</a:t>
                </a:r>
                <a:r>
                  <a:rPr lang="vi-VN"/>
                  <a:t>\overrightarrow{AB}</a:t>
                </a:r>
                <a:r>
                  <a:rPr sz="2000">
                    <a:solidFill>
                      <a:srgbClr val="1E293B"/>
                    </a:solidFill>
                    <a:latin typeface="Calibri"/>
                  </a:rPr>
                  <a:t> ⇒ </a:t>
                </a:r>
                <a:r>
                  <a:rPr lang="vi-VN"/>
                  <a:t>M(3;1;0)</a:t>
                </a:r>
                <a:r>
                  <a:rPr sz="2000">
                    <a:solidFill>
                      <a:srgbClr val="1E293B"/>
                    </a:solidFill>
                    <a:latin typeface="Calibri"/>
                  </a:rPr>
                  <a:t>. c) </a:t>
                </a:r>
                <a:r>
                  <a:rPr lang="vi-VN"/>
                  <a:t>N=A+t</a:t>
                </a:r>
                <a:r>
                  <a:rPr lang="vi-VN"/>
                  <a:t>\overrightarrow{AB}</a:t>
                </a:r>
                <a:r>
                  <a:rPr sz="2000">
                    <a:solidFill>
                      <a:srgbClr val="1E293B"/>
                    </a:solidFill>
                    <a:latin typeface="Calibri"/>
                  </a:rPr>
                  <a:t>, </a:t>
                </a:r>
                <a:r>
                  <a:rPr lang="vi-VN"/>
                  <a:t>z_N=-1+3t=0</a:t>
                </a:r>
                <a:r>
                  <a:rPr sz="2000">
                    <a:solidFill>
                      <a:srgbClr val="1E293B"/>
                    </a:solidFill>
                    <a:latin typeface="Calibri"/>
                  </a:rPr>
                  <a:t> ⇒ </a:t>
                </a:r>
                <a:r>
                  <a:rPr lang="vi-VN"/>
                  <a:t>t=\frac{1}{3}</a:t>
                </a:r>
                <a:r>
                  <a:rPr sz="2000">
                    <a:solidFill>
                      <a:srgbClr val="1E293B"/>
                    </a:solidFill>
                    <a:latin typeface="Calibri"/>
                  </a:rPr>
                  <a:t>, </a:t>
                </a:r>
                <a:r>
                  <a:rPr lang="vi-VN"/>
                  <a:t>N(3;1;0)</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BÀI TẬP 2.42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2490216"/>
              </a:xfrm>
              <a:prstGeom prst="rect">
                <a:avLst/>
              </a:prstGeom>
              <a:noFill/>
            </p:spPr>
            <p:txBody>
              <a:bodyPr wrap="square" anchor="t" lIns="45720" rIns="45720">
                <a:spAutoFit/>
              </a:bodyPr>
              <a:lstStyle/>
              <a:p>
                <a:pPr algn="l">
                  <a:spcAft>
                    <a:spcPts val="800"/>
                  </a:spcAft>
                </a:pPr>
                <a:r>
                  <a:rPr sz="1900">
                    <a:solidFill>
                      <a:srgbClr val="1E293B"/>
                    </a:solidFill>
                    <a:latin typeface="Calibri"/>
                  </a:rPr>
                  <a:t>Một chiếc đèn được treo cách trần nhà 0,5 m, cách hai tường lần lượt 1,2 m và 1,6 m. Hai bức tường vuông góc với nhau và cùng vuông góc với trần nhà. Người ta di chuyển chiếc đèn đến vị trí mới cách trần nhà 0,4 m, cách hai tường đều là 1,5 m. a) Lập một hệ trục toạ độ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phù hợp và xác định toạ độ của chiếc đèn lúc đầu và sau khi di chuyển. b) Vị trí mới cách vị trí ban đầu bao nhiêu mét? (Làm tròn đến chữ số thập phân thứ nhất.)</a:t>
                </a:r>
              </a:p>
            </p:txBody>
          </p:sp>
        </mc:Choice>
        <mc:Fallback>
          <p:sp>
            <p:nvSpPr>
              <p:cNvPr id="7" name="TextBox 6"/>
              <p:cNvSpPr txBox="1"/>
              <p:nvPr/>
            </p:nvSpPr>
            <p:spPr>
              <a:xfrm>
                <a:off x="548640" y="1371600"/>
                <a:ext cx="7863840" cy="2490216"/>
              </a:xfrm>
              <a:prstGeom prst="rect">
                <a:avLst/>
              </a:prstGeom>
              <a:noFill/>
            </p:spPr>
            <p:txBody>
              <a:bodyPr wrap="square" anchor="t" lIns="45720" rIns="45720">
                <a:spAutoFit/>
              </a:bodyPr>
              <a:lstStyle/>
              <a:p>
                <a:pPr algn="l">
                  <a:spcAft>
                    <a:spcPts val="800"/>
                  </a:spcAft>
                </a:pPr>
                <a:r>
                  <a:rPr sz="1900">
                    <a:solidFill>
                      <a:srgbClr val="1E293B"/>
                    </a:solidFill>
                    <a:latin typeface="Calibri"/>
                  </a:rPr>
                  <a:t>Một chiếc đèn được treo cách trần nhà 0,5 m, cách hai tường lần lượt 1,2 m và 1,6 m. Hai bức tường vuông góc với nhau và cùng vuông góc với trần nhà. Người ta di chuyển chiếc đèn đến vị trí mới cách trần nhà 0,4 m, cách hai tường đều là 1,5 m. a) Lập một hệ trục toạ độ </a:t>
                </a:r>
                <a:r>
                  <a:rPr lang="vi-VN"/>
                  <a:t>Oxyz</a:t>
                </a:r>
                <a:r>
                  <a:rPr sz="1900">
                    <a:solidFill>
                      <a:srgbClr val="1E293B"/>
                    </a:solidFill>
                    <a:latin typeface="Calibri"/>
                  </a:rPr>
                  <a:t> phù hợp và xác định toạ độ của chiếc đèn lúc đầu và sau khi di chuyển. b) Vị trí mới cách vị trí ban đầu bao nhiêu mét? (Làm tròn đến chữ số thập phân thứ nhất.)</a:t>
                </a:r>
              </a:p>
            </p:txBody>
          </p:sp>
        </mc:Fallback>
      </mc:AlternateContent>
      <p:sp>
        <p:nvSpPr>
          <p:cNvPr id="8" name="s1_nen"/>
          <p:cNvSpPr/>
          <p:nvPr/>
        </p:nvSpPr>
        <p:spPr>
          <a:xfrm>
            <a:off x="548640" y="3934967"/>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71543"/>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tại góc trần;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oMath>
                </a14:m>
                <a:r>
                  <a:rPr sz="1900">
                    <a:solidFill>
                      <a:srgbClr val="1E293B"/>
                    </a:solidFill>
                    <a:latin typeface="Calibri"/>
                  </a:rPr>
                  <a:t> theo giao tuyến của trần với hai bức tường; </a:t>
                </a:r>
                <a14:m>
                  <m:oMath xmlns:m="http://schemas.openxmlformats.org/officeDocument/2006/math">
                    <m:r>
                      <a:rPr lang="vi-VN" sz="1900" b="0">
                        <a:solidFill>
                          <a:srgbClr val="1E293B"/>
                        </a:solidFill>
                        <a:latin typeface="Cambria Math" panose="02040503050406030204" pitchFamily="18" charset="0"/>
                      </a:rPr>
                      <m:t>Oz</m:t>
                    </m:r>
                  </m:oMath>
                </a14:m>
                <a:r>
                  <a:rPr sz="1900">
                    <a:solidFill>
                      <a:srgbClr val="1E293B"/>
                    </a:solidFill>
                    <a:latin typeface="Calibri"/>
                  </a:rPr>
                  <a:t> thẳng đứng hướng xuống; đơn vị mét.</a:t>
                </a:r>
              </a:p>
            </p:txBody>
          </p:sp>
        </mc:Choice>
        <mc:Fallback>
          <p:sp>
            <p:nvSpPr>
              <p:cNvPr id="9" name="TextBox 8"/>
              <p:cNvSpPr txBox="1"/>
              <p:nvPr/>
            </p:nvSpPr>
            <p:spPr>
              <a:xfrm>
                <a:off x="713232" y="3971543"/>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O</a:t>
                </a:r>
                <a:r>
                  <a:rPr sz="1900">
                    <a:solidFill>
                      <a:srgbClr val="1E293B"/>
                    </a:solidFill>
                    <a:latin typeface="Calibri"/>
                  </a:rPr>
                  <a:t> tại góc trần; </a:t>
                </a:r>
                <a:r>
                  <a:rPr lang="vi-VN"/>
                  <a:t>Ox,\ Oy</a:t>
                </a:r>
                <a:r>
                  <a:rPr sz="1900">
                    <a:solidFill>
                      <a:srgbClr val="1E293B"/>
                    </a:solidFill>
                    <a:latin typeface="Calibri"/>
                  </a:rPr>
                  <a:t> theo giao tuyến của trần với hai bức tường; </a:t>
                </a:r>
                <a:r>
                  <a:rPr lang="vi-VN"/>
                  <a:t>Oz</a:t>
                </a:r>
                <a:r>
                  <a:rPr sz="1900">
                    <a:solidFill>
                      <a:srgbClr val="1E293B"/>
                    </a:solidFill>
                    <a:latin typeface="Calibri"/>
                  </a:rPr>
                  <a:t> thẳng đứng hướng xuống; đơn vị mét.</a:t>
                </a:r>
              </a:p>
            </p:txBody>
          </p:sp>
        </mc:Fallback>
      </mc:AlternateContent>
      <p:sp>
        <p:nvSpPr>
          <p:cNvPr id="10" name="s2_nen"/>
          <p:cNvSpPr/>
          <p:nvPr/>
        </p:nvSpPr>
        <p:spPr>
          <a:xfrm>
            <a:off x="548640" y="4852415"/>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888991"/>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Lúc đầu </a:t>
                </a:r>
                <a14:m>
                  <m:oMath xmlns:m="http://schemas.openxmlformats.org/officeDocument/2006/math">
                    <m:d>
                      <m:dPr>
                        <m:sepChr m:val=""/>
                      </m:dPr>
                      <m:e>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6</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sau khi di chuyển </a:t>
                </a:r>
                <a14:m>
                  <m:oMath xmlns:m="http://schemas.openxmlformats.org/officeDocument/2006/math">
                    <m:d>
                      <m:dPr>
                        <m:sepChr m:val=""/>
                      </m:dPr>
                      <m:e>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4</m:t>
                        </m:r>
                      </m:e>
                    </m:d>
                  </m:oMath>
                </a14:m>
                <a:r>
                  <a:rPr sz="1900">
                    <a:solidFill>
                      <a:srgbClr val="1E293B"/>
                    </a:solidFill>
                    <a:latin typeface="Calibri"/>
                  </a:rPr>
                  <a:t>.</a:t>
                </a:r>
              </a:p>
            </p:txBody>
          </p:sp>
        </mc:Choice>
        <mc:Fallback>
          <p:sp>
            <p:nvSpPr>
              <p:cNvPr id="11" name="TextBox 10"/>
              <p:cNvSpPr txBox="1"/>
              <p:nvPr/>
            </p:nvSpPr>
            <p:spPr>
              <a:xfrm>
                <a:off x="713232" y="4888991"/>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Lúc đầu </a:t>
                </a:r>
                <a:r>
                  <a:rPr lang="vi-VN"/>
                  <a:t>(1{,}2;\ 1{,}6;\ 0{,}5)</a:t>
                </a:r>
                <a:r>
                  <a:rPr sz="1900">
                    <a:solidFill>
                      <a:srgbClr val="1E293B"/>
                    </a:solidFill>
                    <a:latin typeface="Calibri"/>
                  </a:rPr>
                  <a:t>; sau khi di chuyển </a:t>
                </a:r>
                <a:r>
                  <a:rPr lang="vi-VN"/>
                  <a:t>(1{,}5;\ 1{,}5;\ 0{,}4)</a:t>
                </a:r>
                <a:r>
                  <a:rPr sz="1900">
                    <a:solidFill>
                      <a:srgbClr val="1E293B"/>
                    </a:solidFill>
                    <a:latin typeface="Calibri"/>
                  </a:rPr>
                  <a:t>.</a:t>
                </a:r>
              </a:p>
            </p:txBody>
          </p:sp>
        </mc:Fallback>
      </mc:AlternateContent>
      <p:sp>
        <p:nvSpPr>
          <p:cNvPr id="12" name="s3_nen"/>
          <p:cNvSpPr/>
          <p:nvPr/>
        </p:nvSpPr>
        <p:spPr>
          <a:xfrm>
            <a:off x="548640" y="5480303"/>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516879"/>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14:m>
                  <m:oMath xmlns:m="http://schemas.openxmlformats.org/officeDocument/2006/math">
                    <m:rad>
                      <m:radPr>
                        <m:degHide m:val="on"/>
                      </m:radPr>
                      <m:deg/>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3</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sSup>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sSup>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11</m:t>
                        </m:r>
                      </m:e>
                    </m:rad>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oMath>
                </a14:m>
                <a:r>
                  <a:rPr sz="1900">
                    <a:solidFill>
                      <a:srgbClr val="1E293B"/>
                    </a:solidFill>
                    <a:latin typeface="Calibri"/>
                  </a:rPr>
                  <a:t> (m).</a:t>
                </a:r>
              </a:p>
            </p:txBody>
          </p:sp>
        </mc:Choice>
        <mc:Fallback>
          <p:sp>
            <p:nvSpPr>
              <p:cNvPr id="13" name="TextBox 12"/>
              <p:cNvSpPr txBox="1"/>
              <p:nvPr/>
            </p:nvSpPr>
            <p:spPr>
              <a:xfrm>
                <a:off x="713232" y="5516879"/>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\sqrt{0{,}3^2+(-0{,}1)^2+(-0{,}1)^2}=\sqrt{0{,}11}\approx 0{,}3</a:t>
                </a:r>
                <a:r>
                  <a:rPr sz="1900">
                    <a:solidFill>
                      <a:srgbClr val="1E293B"/>
                    </a:solidFill>
                    <a:latin typeface="Calibri"/>
                  </a:rPr>
                  <a:t> (m).</a:t>
                </a:r>
              </a:p>
            </p:txBody>
          </p:sp>
        </mc:Fallback>
      </mc:AlternateContent>
      <p:pic>
        <p:nvPicPr>
          <p:cNvPr id="14" name="Picture 13" descr="hinh_h253.png"/>
          <p:cNvPicPr>
            <a:picLocks noChangeAspect="1"/>
          </p:cNvPicPr>
          <p:nvPr/>
        </p:nvPicPr>
        <p:blipFill>
          <a:blip r:embed="rId3"/>
          <a:stretch>
            <a:fillRect/>
          </a:stretch>
        </p:blipFill>
        <p:spPr>
          <a:xfrm>
            <a:off x="8595360" y="1645658"/>
            <a:ext cx="3108959" cy="274372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DI CHUYỂN CHIẾC ĐÈN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26</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Góc trần là gốc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trục </a:t>
                </a:r>
                <a14:m>
                  <m:oMath xmlns:m="http://schemas.openxmlformats.org/officeDocument/2006/math">
                    <m:r>
                      <a:rPr lang="vi-VN" sz="2200" b="0">
                        <a:solidFill>
                          <a:srgbClr val="1E293B"/>
                        </a:solidFill>
                        <a:latin typeface="Cambria Math" panose="02040503050406030204" pitchFamily="18" charset="0"/>
                      </a:rPr>
                      <m:t>Oz</m:t>
                    </m:r>
                  </m:oMath>
                </a14:m>
                <a:r>
                  <a:rPr sz="2200">
                    <a:solidFill>
                      <a:srgbClr val="1E293B"/>
                    </a:solidFill>
                    <a:latin typeface="Calibri"/>
                  </a:rPr>
                  <a:t> hướng xuống (trần ở trên).</a:t>
                </a:r>
              </a:p>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6;</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oMath>
                </a14:m>
                <a:r>
                  <a:rPr sz="2200">
                    <a:solidFill>
                      <a:srgbClr val="1E293B"/>
                    </a:solidFill>
                    <a:latin typeface="Calibri"/>
                  </a:rPr>
                  <a:t> – vị trí cũ; </a:t>
                </a:r>
                <a14:m>
                  <m:oMath xmlns:m="http://schemas.openxmlformats.org/officeDocument/2006/math">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4)</m:t>
                    </m:r>
                  </m:oMath>
                </a14:m>
                <a:r>
                  <a:rPr sz="2200">
                    <a:solidFill>
                      <a:srgbClr val="1E293B"/>
                    </a:solidFill>
                    <a:latin typeface="Calibri"/>
                  </a:rPr>
                  <a:t> – vị trí mới.</a:t>
                </a:r>
              </a:p>
              <a:p>
                <a:pPr algn="l" marL="365760" indent="-365760">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1</m:t>
                        </m:r>
                      </m:sub>
                    </m:sSub>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33</m:t>
                    </m:r>
                  </m:oMath>
                </a14:m>
                <a:r>
                  <a:rPr sz="2200">
                    <a:solidFill>
                      <a:srgbClr val="1E293B"/>
                    </a:solidFill>
                    <a:latin typeface="Calibri"/>
                  </a:rPr>
                  <a:t> m. Kéo </a:t>
                </a:r>
                <a14:m>
                  <m:oMath xmlns:m="http://schemas.openxmlformats.org/officeDocument/2006/math">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2</m:t>
                        </m:r>
                      </m:sub>
                    </m:sSub>
                  </m:oMath>
                </a14:m>
                <a:r>
                  <a:rPr sz="2200">
                    <a:solidFill>
                      <a:srgbClr val="1E293B"/>
                    </a:solidFill>
                    <a:latin typeface="Calibri"/>
                  </a:rPr>
                  <a:t> để thử vị trí khác.</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Góc trần là gốc </a:t>
                </a:r>
                <a:r>
                  <a:rPr lang="vi-VN"/>
                  <a:t>O</a:t>
                </a:r>
                <a:r>
                  <a:rPr sz="2200">
                    <a:solidFill>
                      <a:srgbClr val="1E293B"/>
                    </a:solidFill>
                    <a:latin typeface="Calibri"/>
                  </a:rPr>
                  <a:t>; trục </a:t>
                </a:r>
                <a:r>
                  <a:rPr lang="vi-VN"/>
                  <a:t>Oz</a:t>
                </a:r>
                <a:r>
                  <a:rPr sz="2200">
                    <a:solidFill>
                      <a:srgbClr val="1E293B"/>
                    </a:solidFill>
                    <a:latin typeface="Calibri"/>
                  </a:rPr>
                  <a:t> hướng xuống (trần ở trên).</a:t>
                </a:r>
              </a:p>
              <a:p>
                <a:pPr algn="l" marL="365760" indent="-365760">
                  <a:spcAft>
                    <a:spcPts val="800"/>
                  </a:spcAft>
                  <a:buClr>
                    <a:srgbClr val="1E40AF"/>
                  </a:buClr>
                  <a:buFont typeface="Arial"/>
                  <a:buChar char="•"/>
                </a:pPr>
                <a:r>
                  <a:rPr lang="vi-VN"/>
                  <a:t>D_1(1{,}2;\ 1{,}6;\ 0{,}5)</a:t>
                </a:r>
                <a:r>
                  <a:rPr sz="2200">
                    <a:solidFill>
                      <a:srgbClr val="1E293B"/>
                    </a:solidFill>
                    <a:latin typeface="Calibri"/>
                  </a:rPr>
                  <a:t> – vị trí cũ; </a:t>
                </a:r>
                <a:r>
                  <a:rPr lang="vi-VN"/>
                  <a:t>D_2(1{,}5;\ 1{,}5;\ 0{,}4)</a:t>
                </a:r>
                <a:r>
                  <a:rPr sz="2200">
                    <a:solidFill>
                      <a:srgbClr val="1E293B"/>
                    </a:solidFill>
                    <a:latin typeface="Calibri"/>
                  </a:rPr>
                  <a:t> – vị trí mới.</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D_1D_2\approx 0{,}33</a:t>
                </a:r>
                <a:r>
                  <a:rPr sz="2200">
                    <a:solidFill>
                      <a:srgbClr val="1E293B"/>
                    </a:solidFill>
                    <a:latin typeface="Calibri"/>
                  </a:rPr>
                  <a:t> m. Kéo </a:t>
                </a:r>
                <a:r>
                  <a:rPr lang="vi-VN"/>
                  <a:t>D_2</a:t>
                </a:r>
                <a:r>
                  <a:rPr sz="2200">
                    <a:solidFill>
                      <a:srgbClr val="1E293B"/>
                    </a:solidFill>
                    <a:latin typeface="Calibri"/>
                  </a:rPr>
                  <a:t> để thử vị trí khác.</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inh_h253.png"/>
          <p:cNvPicPr>
            <a:picLocks noChangeAspect="1"/>
          </p:cNvPicPr>
          <p:nvPr/>
        </p:nvPicPr>
        <p:blipFill>
          <a:blip r:embed="rId5"/>
          <a:stretch>
            <a:fillRect/>
          </a:stretch>
        </p:blipFill>
        <p:spPr>
          <a:xfrm>
            <a:off x="6858000" y="1564829"/>
            <a:ext cx="4846320" cy="4276981"/>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27</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https://trangtu66.github.io/Taode_thi_online/cc_chuong2_t12.html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các bài tập còn lại của chương.</a:t>
            </a:r>
          </a:p>
          <a:p>
            <a:pPr algn="l" marL="365760" indent="-365760">
              <a:spcAft>
                <a:spcPts val="800"/>
              </a:spcAft>
              <a:buClr>
                <a:srgbClr val="1E40AF"/>
              </a:buClr>
              <a:buFont typeface="Arial"/>
              <a:buChar char="•"/>
            </a:pPr>
            <a:r>
              <a:rPr sz="2200">
                <a:solidFill>
                  <a:srgbClr val="1E293B"/>
                </a:solidFill>
                <a:latin typeface="Calibri"/>
              </a:rPr>
              <a:t>Ôn tập chuẩn bị kiểm tra cuối chương II.</a:t>
            </a:r>
          </a:p>
          <a:p>
            <a:pPr algn="l" marL="365760" indent="-365760">
              <a:spcAft>
                <a:spcPts val="800"/>
              </a:spcAft>
              <a:buClr>
                <a:srgbClr val="1E40AF"/>
              </a:buClr>
              <a:buFont typeface="Arial"/>
              <a:buChar char="•"/>
            </a:pPr>
            <a:r>
              <a:rPr sz="2200">
                <a:solidFill>
                  <a:srgbClr val="1E293B"/>
                </a:solidFill>
                <a:latin typeface="Calibri"/>
              </a:rPr>
              <a:t>Nhóm: đo phòng ngủ, lập hệ toạ độ, tính khoảng cách từ đèn đến góc phòng xa nhất.</a:t>
            </a:r>
          </a:p>
        </p:txBody>
      </p:sp>
      <p:pic>
        <p:nvPicPr>
          <p:cNvPr id="8" name="Picture 7" descr="QR_CungCo_Chuong2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28</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trọng tâm tam giác với trọng tâm tứ diện (2.25).</a:t>
            </a:r>
          </a:p>
          <a:p>
            <a:pPr algn="l" marL="365760" indent="-365760">
              <a:spcAft>
                <a:spcPts val="800"/>
              </a:spcAft>
              <a:buClr>
                <a:srgbClr val="1E40AF"/>
              </a:buClr>
              <a:buFont typeface="Arial"/>
              <a:buChar char="•"/>
            </a:pPr>
            <a:r>
              <a:rPr sz="2100">
                <a:solidFill>
                  <a:srgbClr val="1E293B"/>
                </a:solidFill>
                <a:latin typeface="Calibri"/>
              </a:rPr>
              <a:t>Quên hệ số ½ khi M là trung điểm cạnh bên (2.26).</a:t>
            </a:r>
          </a:p>
          <a:p>
            <a:pPr algn="l" marL="365760" indent="-365760">
              <a:spcAft>
                <a:spcPts val="800"/>
              </a:spcAft>
              <a:buClr>
                <a:srgbClr val="1E40AF"/>
              </a:buClr>
              <a:buFont typeface="Arial"/>
              <a:buChar char="•"/>
            </a:pPr>
            <a:r>
              <a:rPr sz="2100">
                <a:solidFill>
                  <a:srgbClr val="1E293B"/>
                </a:solidFill>
                <a:latin typeface="Calibri"/>
              </a:rPr>
              <a:t>Sai dấu khi tính góc ⇒ chọn 45° thay vì 135° (2.33).</a:t>
            </a:r>
          </a:p>
          <a:p>
            <a:pPr algn="l" marL="365760" indent="-365760">
              <a:spcAft>
                <a:spcPts val="800"/>
              </a:spcAft>
              <a:buClr>
                <a:srgbClr val="1E40AF"/>
              </a:buClr>
              <a:buFont typeface="Arial"/>
              <a:buChar char="•"/>
            </a:pPr>
            <a:r>
              <a:rPr sz="2100">
                <a:solidFill>
                  <a:srgbClr val="1E293B"/>
                </a:solidFill>
                <a:latin typeface="Calibri"/>
              </a:rPr>
              <a:t>2.38b: lấy BM · AB thay vì BM · AC.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29</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để slide công thức trên màn hình; ưu tiên 2.29 – 2.34, 2.38a, 2.40.</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2.36, 2.37, 2.41c; tự ra bài toán thực tiễn tương tự 2.42.</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đề, phương án; HS trả lời miệng. </a:t>
            </a:r>
            <a:r>
              <a:rPr sz="2000" b="1">
                <a:solidFill>
                  <a:srgbClr val="1E293B"/>
                </a:solidFill>
                <a:latin typeface="Calibri"/>
              </a:rPr>
              <a:t>12A3, 12A5, 12A7 (vận động):</a:t>
            </a:r>
            <a:r>
              <a:rPr sz="2000">
                <a:solidFill>
                  <a:srgbClr val="1E293B"/>
                </a:solidFill>
                <a:latin typeface="Calibri"/>
              </a:rPr>
              <a:t> trả lời tại chỗ, bảng con.</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phiếu in 10 câu trắc nghiệm;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