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Tiết 1: hệ thống kiến thức + trắc nghiệm (Rung chuông vàng) + tự luận vectơ. Tiết 2: tự luận toạ độ + vận dụng.</a:t>
            </a:r>
          </a:p>
          <a:p>
            <a:r>
              <a:t>Lớp 12A2, 12A7 có HS khiếm thị: GV đọc to đề, phương án; HS trả lời miệng.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tr.73 – 74.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Sơ đồ tư duy 8' – Rung chuông vàng 2.25 – 2.34 (15') – Tự luận 2.35 – 2.37 (20') – Giao việc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HS nhìn sơ đồ, nhắc lại từng nhánh; GV gọi ngẫu nhiên.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tóm tắt – để lại trên màn hình khi HS làm trắc nghiệm nếu lớp yếu.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10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C đúng vì BC + BD = 2BN = 3BG.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A là AC'.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A, D cùng vế trái – một đúng một sai.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Đã kiểm tra bằng toạ độ.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chỉ nhân thành phần đầu.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B là D tính theo AD = CB.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sai dấu; lấy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sai dấu thành phần cuối.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Nhiễu: 45° (quên dấu âm).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Đáp án SGV/KHBD, đã kiểm tra bằng Python.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đại diện trình bày; click hiện lời giải (đối chiếu SGV, KHBD; 2.36 kiểm tra bằng toạ độ ngẫu nhiên).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đại diện trình bày; click hiện lời giải (đối chiếu SGV, KHBD; 2.36 kiểm tra bằng toạ độ ngẫu nhiên).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Đúng hay Sai 5' – 2.38 – 2.41 (22') – Vận dụng 2.42, GeoGebra 12' – Củng cố online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Dữ liệu Bài 2.38. Click lật đáp án: Đ – Đ – S – Đ – Đ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5'; click hiện lời giải (đối chiếu SGV,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 làm nhóm 5'; click hiện lời giải (đối chiếu SGV, KHBD;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Nhóm chọn hệ trục (chấp nhận nhiều cách). Theo KHBD: O tại góc trần, Oz hướng xuống. Click 1–3. Khoảng cách √0,11 ≈ 0,3 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Lệnh: D1=(1.2,1.6,0.5), D2=(1.5,1.5,0.4), d=Distance(D1,D2).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trangtu66.github.io/Taode_thi_online/GGB3D_T12_BTCC2_1_ChiecDen.html" TargetMode="External"/><Relationship Id="rId4" Type="http://schemas.openxmlformats.org/officeDocument/2006/relationships/image" Target="../media/image3.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hyperlink" Target="https://trangtu66.github.io/Taode_thi_online/cc_chuong2_t12.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200" b="1">
                <a:solidFill>
                  <a:srgbClr val="FCD34D"/>
                </a:solidFill>
                <a:latin typeface="Cambria"/>
              </a:rPr>
              <a:t>CHƯƠNG II. VECTƠ VÀ HỆ TRỤC TOẠ ĐỘ TRONG KHÔNG GIAN</a:t>
            </a:r>
          </a:p>
          <a:p>
            <a:pPr>
              <a:spcAft>
                <a:spcPts val="600"/>
              </a:spcAft>
            </a:pPr>
            <a:r>
              <a:rPr sz="4400" b="1">
                <a:solidFill>
                  <a:srgbClr val="FFFFFF"/>
                </a:solidFill>
                <a:latin typeface="Cambria"/>
              </a:rPr>
              <a:t>BÀI TẬP CUỐI CHƯƠNG II</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Toán 12 – Kết nối tri thức với cuộc sống (SGK tập một, tr.73 – 74)</a:t>
            </a:r>
          </a:p>
          <a:p>
            <a:pPr algn="l">
              <a:spcAft>
                <a:spcPts val="800"/>
              </a:spcAft>
            </a:pPr>
            <a:r>
              <a:rPr sz="2200">
                <a:solidFill>
                  <a:srgbClr val="E0E7FF"/>
                </a:solidFill>
                <a:latin typeface="Calibri"/>
              </a:rPr>
              <a:t>2 tiết: T40 – T41</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a:t>
            </a:r>
          </a:p>
        </p:txBody>
      </p:sp>
      <p:sp>
        <p:nvSpPr>
          <p:cNvPr id="7" name="Rounded Rectangle 6"/>
          <p:cNvSpPr/>
          <p:nvPr/>
        </p:nvSpPr>
        <p:spPr>
          <a:xfrm>
            <a:off x="548640" y="1417320"/>
            <a:ext cx="11064240" cy="214274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53896"/>
            <a:ext cx="10735056" cy="2069591"/>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tr.73 – 74)</a:t>
            </a:r>
          </a:p>
          <a:p>
            <a:pPr algn="l" marL="365760" indent="-365760">
              <a:spcAft>
                <a:spcPts val="800"/>
              </a:spcAft>
              <a:buClr>
                <a:srgbClr val="1E40AF"/>
              </a:buClr>
              <a:buFont typeface="Arial"/>
              <a:buChar char="•"/>
            </a:pPr>
            <a:r>
              <a:rPr sz="2200">
                <a:solidFill>
                  <a:srgbClr val="1E293B"/>
                </a:solidFill>
                <a:latin typeface="Calibri"/>
              </a:rPr>
              <a:t>Hệ thống, củng cố kiến thức về vectơ trong không gian, hệ trục toạ độ, biểu thức toạ độ của các phép toán vectơ.</a:t>
            </a:r>
          </a:p>
          <a:p>
            <a:pPr algn="l" marL="365760" indent="-365760">
              <a:spcAft>
                <a:spcPts val="800"/>
              </a:spcAft>
              <a:buClr>
                <a:srgbClr val="1E40AF"/>
              </a:buClr>
              <a:buFont typeface="Arial"/>
              <a:buChar char="•"/>
            </a:pPr>
            <a:r>
              <a:rPr sz="2200">
                <a:solidFill>
                  <a:srgbClr val="1E293B"/>
                </a:solidFill>
                <a:latin typeface="Calibri"/>
              </a:rPr>
              <a:t>Vận dụng giải bài tập trắc nghiệm, tự luận và bài toán thực tiễn (Bài tập 2.25 – 2.42).</a:t>
            </a:r>
          </a:p>
        </p:txBody>
      </p:sp>
      <p:sp>
        <p:nvSpPr>
          <p:cNvPr id="9" name="TextBox 8"/>
          <p:cNvSpPr txBox="1"/>
          <p:nvPr/>
        </p:nvSpPr>
        <p:spPr>
          <a:xfrm>
            <a:off x="548640" y="3788664"/>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(vị trí chiếc đèn); giải quyết vấn đề; sử dụng công cụ (máy tính cầm tay, GeoGebra 3D).</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khi tự kiểm tra kết quả, trách nhiệm khi làm việc nhóm.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T40</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Sơ đồ tư duy chương II; Trắc nghiệm 2.25 – 2.34; Tự luận vectơ 2.35 – 2.37</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T41</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Tự luận toạ độ 2.38 – 2.41; Vận dụng 2.42 (chiếc đèn)</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GeoGebra 3D · Đúng hay Sai?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(T40)</a:t>
            </a:r>
          </a:p>
          <a:p>
            <a:pPr>
              <a:spcAft>
                <a:spcPts val="600"/>
              </a:spcAft>
            </a:pPr>
            <a:r>
              <a:rPr sz="4000" b="1">
                <a:solidFill>
                  <a:srgbClr val="FFFFFF"/>
                </a:solidFill>
                <a:latin typeface="Cambria"/>
              </a:rPr>
              <a:t>Ôn tập. Trắc nghiệm. Tự luận vectơ</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Hệ thống kiến thức Chương II.</a:t>
            </a:r>
          </a:p>
          <a:p>
            <a:pPr algn="l">
              <a:spcAft>
                <a:spcPts val="800"/>
              </a:spcAft>
            </a:pPr>
            <a:r>
              <a:rPr sz="2200">
                <a:solidFill>
                  <a:srgbClr val="E0E7FF"/>
                </a:solidFill>
                <a:latin typeface="Calibri"/>
              </a:rPr>
              <a:t>• Giải Bài tập 2.25 – 2.37.</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HỆ THỐNG KIẾN THỨC CHƯƠNG II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5</a:t>
            </a:r>
          </a:p>
        </p:txBody>
      </p:sp>
      <p:pic>
        <p:nvPicPr>
          <p:cNvPr id="7" name="Picture 6" descr="SoDoTuDuy_TOAN12_BaiTapCuoiChuong2_T40-41.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CÔNG THỨC CẦN NHỚ</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6</a:t>
            </a:r>
          </a:p>
        </p:txBody>
      </p:sp>
      <p:sp>
        <p:nvSpPr>
          <p:cNvPr id="7" name="Rounded Rectangle 6"/>
          <p:cNvSpPr/>
          <p:nvPr/>
        </p:nvSpPr>
        <p:spPr>
          <a:xfrm>
            <a:off x="548640" y="1463040"/>
            <a:ext cx="11064240" cy="3064764"/>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299161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Vectơ:</a:t>
                </a:r>
                <a:r>
                  <a:rPr sz="2200">
                    <a:solidFill>
                      <a:srgbClr val="1E293B"/>
                    </a:solidFill>
                    <a:latin typeface="Calibri"/>
                  </a:rPr>
                  <a:t> quy tắc ba điểm, hình bình hành, </a:t>
                </a:r>
                <a:r>
                  <a:rPr sz="2200" b="1">
                    <a:solidFill>
                      <a:srgbClr val="1E293B"/>
                    </a:solidFill>
                    <a:latin typeface="Calibri"/>
                  </a:rPr>
                  <a:t>hình hộp</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AD</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trọng tâm tứ diện;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oMath>
                </a14:m>
                <a:r>
                  <a:rPr sz="2200">
                    <a:solidFill>
                      <a:srgbClr val="1E293B"/>
                    </a:solidFill>
                    <a:latin typeface="Calibri"/>
                  </a:rPr>
                  <a:t>.</a:t>
                </a:r>
              </a:p>
              <a:p>
                <a:pPr algn="l" marL="365760" indent="-365760">
                  <a:spcAft>
                    <a:spcPts val="800"/>
                  </a:spcAft>
                  <a:buClr>
                    <a:srgbClr val="1E40AF"/>
                  </a:buClr>
                  <a:buFont typeface="Arial"/>
                  <a:buChar char="•"/>
                </a:pPr>
                <a:r>
                  <a:rPr sz="2200" b="1">
                    <a:solidFill>
                      <a:srgbClr val="1E293B"/>
                    </a:solidFill>
                    <a:latin typeface="Calibri"/>
                  </a:rPr>
                  <a:t>Toạ độ:</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MN</m:t>
                        </m:r>
                      </m:e>
                    </m:acc>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M</m:t>
                        </m:r>
                      </m:sub>
                    </m:sSub>
                    <m:r>
                      <a:rPr lang="vi-VN" sz="2200" b="0">
                        <a:solidFill>
                          <a:srgbClr val="1E293B"/>
                        </a:solidFill>
                        <a:latin typeface="Cambria Math" panose="02040503050406030204" pitchFamily="18" charset="0"/>
                      </a:rPr>
                      <m:t>)</m:t>
                    </m:r>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k</m:t>
                    </m:r>
                    <m:acc>
                      <m:accPr>
                        <m:chr m:val="⃗"/>
                      </m:accPr>
                      <m:e>
                        <m:r>
                          <a:rPr lang="vi-VN" sz="2200" b="0">
                            <a:solidFill>
                              <a:srgbClr val="1E293B"/>
                            </a:solidFill>
                            <a:latin typeface="Cambria Math" panose="02040503050406030204" pitchFamily="18" charset="0"/>
                          </a:rPr>
                          <m:t>a</m:t>
                        </m:r>
                      </m:e>
                    </m:acc>
                  </m:oMath>
                </a14:m>
                <a:r>
                  <a:rPr sz="2200">
                    <a:solidFill>
                      <a:srgbClr val="1E293B"/>
                    </a:solidFill>
                    <a:latin typeface="Calibri"/>
                  </a:rPr>
                  <a:t> theo từng thành phần.</a:t>
                </a:r>
              </a:p>
              <a:p>
                <a:pPr algn="l" marL="365760" indent="-365760">
                  <a:spcAft>
                    <a:spcPts val="800"/>
                  </a:spcAft>
                  <a:buClr>
                    <a:srgbClr val="1E40AF"/>
                  </a:buClr>
                  <a:buFont typeface="Arial"/>
                  <a:buChar char="•"/>
                </a:pPr>
                <a:r>
                  <a:rPr sz="2200" b="1">
                    <a:solidFill>
                      <a:srgbClr val="1E293B"/>
                    </a:solidFill>
                    <a:latin typeface="Calibri"/>
                  </a:rPr>
                  <a:t>Tích vô hướng:</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+z</m:t>
                    </m:r>
                    <m:sSup>
                      <m:e>
                        <m:r>
                          <a:rPr lang="vi-VN" sz="2200" b="0">
                            <a:solidFill>
                              <a:srgbClr val="1E293B"/>
                            </a:solidFill>
                            <a:latin typeface="Cambria Math" panose="02040503050406030204" pitchFamily="18" charset="0"/>
                          </a:rPr>
                          <m:t>z</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ad>
                      <m:radPr>
                        <m:degHide m:val="on"/>
                      </m:radPr>
                      <m:deg/>
                      <m:e>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z</m:t>
                            </m:r>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x</m:t>
                        </m:r>
                        <m:sSup>
                          <m:e>
                            <m:r>
                              <a:rPr lang="vi-VN" sz="2200" b="0">
                                <a:solidFill>
                                  <a:srgbClr val="1E293B"/>
                                </a:solidFill>
                                <a:latin typeface="Cambria Math" panose="02040503050406030204" pitchFamily="18" charset="0"/>
                              </a:rPr>
                              <m:t>x</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+y</m:t>
                        </m:r>
                        <m:sSup>
                          <m:e>
                            <m:r>
                              <a:rPr lang="vi-VN" sz="2200" b="0">
                                <a:solidFill>
                                  <a:srgbClr val="1E293B"/>
                                </a:solidFill>
                                <a:latin typeface="Cambria Math" panose="02040503050406030204" pitchFamily="18" charset="0"/>
                              </a:rPr>
                              <m:t>y</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+z</m:t>
                        </m:r>
                        <m:sSup>
                          <m:e>
                            <m:r>
                              <a:rPr lang="vi-VN" sz="2200" b="0">
                                <a:solidFill>
                                  <a:srgbClr val="1E293B"/>
                                </a:solidFill>
                                <a:latin typeface="Cambria Math" panose="02040503050406030204" pitchFamily="18" charset="0"/>
                              </a:rPr>
                              <m:t>z</m:t>
                            </m:r>
                          </m:e>
                          <m:sup>
                            <m:r>
                              <a:rPr lang="vi-VN" sz="2200" b="0">
                                <a:solidFill>
                                  <a:srgbClr val="1E293B"/>
                                </a:solidFill>
                                <a:latin typeface="Cambria Math" panose="02040503050406030204" pitchFamily="18" charset="0"/>
                              </a:rPr>
                              <m:t>′</m:t>
                            </m:r>
                          </m:sup>
                        </m:sSup>
                      </m:num>
                      <m:den>
                        <m:d>
                          <m:dPr>
                            <m:begChr m:val="|"/>
                            <m:sepChr m:val=""/>
                            <m:endChr m:val="|"/>
                          </m:dPr>
                          <m:e>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acc>
                              <m:accPr>
                                <m:chr m:val="⃗"/>
                              </m:accPr>
                              <m:e>
                                <m:r>
                                  <a:rPr lang="vi-VN" sz="2200" b="0">
                                    <a:solidFill>
                                      <a:srgbClr val="1E293B"/>
                                    </a:solidFill>
                                    <a:latin typeface="Cambria Math" panose="02040503050406030204" pitchFamily="18" charset="0"/>
                                  </a:rPr>
                                  <m:t>b</m:t>
                                </m:r>
                              </m:e>
                            </m:acc>
                          </m:e>
                        </m:d>
                      </m:den>
                    </m:f>
                  </m:oMath>
                </a14:m>
                <a:r>
                  <a:rPr sz="2200">
                    <a:solidFill>
                      <a:srgbClr val="1E293B"/>
                    </a:solidFill>
                    <a:latin typeface="Calibri"/>
                  </a:rPr>
                  <a:t>.</a:t>
                </a:r>
              </a:p>
              <a:p>
                <a:pPr algn="l" marL="365760" indent="-365760">
                  <a:spcAft>
                    <a:spcPts val="800"/>
                  </a:spcAft>
                  <a:buClr>
                    <a:srgbClr val="1E40AF"/>
                  </a:buClr>
                  <a:buFont typeface="Arial"/>
                  <a:buChar char="•"/>
                </a:pPr>
                <a:r>
                  <a:rPr sz="2200" b="1">
                    <a:solidFill>
                      <a:srgbClr val="1E293B"/>
                    </a:solidFill>
                    <a:latin typeface="Calibri"/>
                  </a:rPr>
                  <a:t>Trung điểm, trọng tâm:</a:t>
                </a:r>
                <a:r>
                  <a:rPr sz="2200">
                    <a:solidFill>
                      <a:srgbClr val="1E293B"/>
                    </a:solidFill>
                    <a:latin typeface="Calibri"/>
                  </a:rPr>
                  <a:t> trung bình cộng toạ độ; </a:t>
                </a:r>
                <a14:m>
                  <m:oMath xmlns:m="http://schemas.openxmlformats.org/officeDocument/2006/math">
                    <m:r>
                      <a:rPr lang="vi-VN" sz="2200" b="0">
                        <a:solidFill>
                          <a:srgbClr val="1E293B"/>
                        </a:solidFill>
                        <a:latin typeface="Cambria Math" panose="02040503050406030204" pitchFamily="18" charset="0"/>
                      </a:rPr>
                      <m:t>AB=</m:t>
                    </m:r>
                    <m:rad>
                      <m:radPr>
                        <m:degHide m:val="on"/>
                      </m:radPr>
                      <m:deg/>
                      <m:e>
                        <m:sSup>
                          <m:e>
                            <m:d>
                              <m:dPr>
                                <m:sepChr m:val=""/>
                              </m:dPr>
                              <m:e>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B</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x</m:t>
                                    </m:r>
                                  </m:e>
                                  <m:sub>
                                    <m:r>
                                      <a:rPr lang="vi-VN" sz="2200" b="0">
                                        <a:solidFill>
                                          <a:srgbClr val="1E293B"/>
                                        </a:solidFill>
                                        <a:latin typeface="Cambria Math" panose="02040503050406030204" pitchFamily="18" charset="0"/>
                                      </a:rPr>
                                      <m:t>A</m:t>
                                    </m:r>
                                  </m:sub>
                                </m:sSub>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B</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y</m:t>
                                    </m:r>
                                  </m:e>
                                  <m:sub>
                                    <m:r>
                                      <a:rPr lang="vi-VN" sz="2200" b="0">
                                        <a:solidFill>
                                          <a:srgbClr val="1E293B"/>
                                        </a:solidFill>
                                        <a:latin typeface="Cambria Math" panose="02040503050406030204" pitchFamily="18" charset="0"/>
                                      </a:rPr>
                                      <m:t>A</m:t>
                                    </m:r>
                                  </m:sub>
                                </m:sSub>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B</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z</m:t>
                                    </m:r>
                                  </m:e>
                                  <m:sub>
                                    <m:r>
                                      <a:rPr lang="vi-VN" sz="2200" b="0">
                                        <a:solidFill>
                                          <a:srgbClr val="1E293B"/>
                                        </a:solidFill>
                                        <a:latin typeface="Cambria Math" panose="02040503050406030204" pitchFamily="18" charset="0"/>
                                      </a:rPr>
                                      <m:t>A</m:t>
                                    </m:r>
                                  </m:sub>
                                </m:sSub>
                              </m:e>
                            </m:d>
                          </m:e>
                          <m:sup>
                            <m:r>
                              <a:rPr lang="vi-VN" sz="2200" b="0">
                                <a:solidFill>
                                  <a:srgbClr val="1E293B"/>
                                </a:solidFill>
                                <a:latin typeface="Cambria Math" panose="02040503050406030204" pitchFamily="18" charset="0"/>
                              </a:rPr>
                              <m:t>2</m:t>
                            </m:r>
                          </m:sup>
                        </m:sSup>
                      </m:e>
                    </m:rad>
                  </m:oMath>
                </a14:m>
                <a:r>
                  <a:rPr sz="2200">
                    <a:solidFill>
                      <a:srgbClr val="1E293B"/>
                    </a:solidFill>
                    <a:latin typeface="Calibri"/>
                  </a:rPr>
                  <a:t>.</a:t>
                </a:r>
              </a:p>
            </p:txBody>
          </p:sp>
        </mc:Choice>
        <mc:Fallback>
          <p:sp>
            <p:nvSpPr>
              <p:cNvPr id="8" name="TextBox 7"/>
              <p:cNvSpPr txBox="1"/>
              <p:nvPr/>
            </p:nvSpPr>
            <p:spPr>
              <a:xfrm>
                <a:off x="713232" y="1499616"/>
                <a:ext cx="10735056" cy="2991612"/>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Vectơ:</a:t>
                </a:r>
                <a:r>
                  <a:rPr sz="2200">
                    <a:solidFill>
                      <a:srgbClr val="1E293B"/>
                    </a:solidFill>
                    <a:latin typeface="Calibri"/>
                  </a:rPr>
                  <a:t> quy tắc ba điểm, hình bình hành, </a:t>
                </a:r>
                <a:r>
                  <a:rPr sz="2200" b="1">
                    <a:solidFill>
                      <a:srgbClr val="1E293B"/>
                    </a:solidFill>
                    <a:latin typeface="Calibri"/>
                  </a:rPr>
                  <a:t>hình hộp</a:t>
                </a:r>
                <a:r>
                  <a:rPr sz="2200">
                    <a:solidFill>
                      <a:srgbClr val="1E293B"/>
                    </a:solidFill>
                    <a:latin typeface="Calibri"/>
                  </a:rPr>
                  <a:t> </a:t>
                </a:r>
                <a:r>
                  <a:rPr lang="vi-VN"/>
                  <a:t>\overrightarrow{AB}+\overrightarrow{AD}+\overrightarrow{AA'}=\overrightarrow{AC'}</a:t>
                </a:r>
                <a:r>
                  <a:rPr sz="2200">
                    <a:solidFill>
                      <a:srgbClr val="1E293B"/>
                    </a:solidFill>
                    <a:latin typeface="Calibri"/>
                  </a:rPr>
                  <a:t>; trọng tâm tứ diện; </a:t>
                </a:r>
                <a:r>
                  <a:rPr lang="vi-VN"/>
                  <a:t>\vec{a}\cdot\vec{b}=|\vec{a}||\vec{b}|\cos(\vec{a},\vec{b})</a:t>
                </a:r>
                <a:r>
                  <a:rPr sz="2200">
                    <a:solidFill>
                      <a:srgbClr val="1E293B"/>
                    </a:solidFill>
                    <a:latin typeface="Calibri"/>
                  </a:rPr>
                  <a:t>.</a:t>
                </a:r>
              </a:p>
              <a:p>
                <a:pPr algn="l" marL="365760" indent="-365760">
                  <a:spcAft>
                    <a:spcPts val="800"/>
                  </a:spcAft>
                  <a:buClr>
                    <a:srgbClr val="1E40AF"/>
                  </a:buClr>
                  <a:buFont typeface="Arial"/>
                  <a:buChar char="•"/>
                </a:pPr>
                <a:r>
                  <a:rPr sz="2200" b="1">
                    <a:solidFill>
                      <a:srgbClr val="1E293B"/>
                    </a:solidFill>
                    <a:latin typeface="Calibri"/>
                  </a:rPr>
                  <a:t>Toạ độ:</a:t>
                </a:r>
                <a:r>
                  <a:rPr sz="2200">
                    <a:solidFill>
                      <a:srgbClr val="1E293B"/>
                    </a:solidFill>
                    <a:latin typeface="Calibri"/>
                  </a:rPr>
                  <a:t> </a:t>
                </a:r>
                <a:r>
                  <a:rPr lang="vi-VN"/>
                  <a:t>\overrightarrow{MN}=(x_N-x_M;\ y_N-y_M;\ z_N-z_M)</a:t>
                </a:r>
                <a:r>
                  <a:rPr sz="2200">
                    <a:solidFill>
                      <a:srgbClr val="1E293B"/>
                    </a:solidFill>
                    <a:latin typeface="Calibri"/>
                  </a:rPr>
                  <a:t>; </a:t>
                </a:r>
                <a:r>
                  <a:rPr lang="vi-VN"/>
                  <a:t>\vec{a}\pm\vec{b}</a:t>
                </a:r>
                <a:r>
                  <a:rPr sz="2200">
                    <a:solidFill>
                      <a:srgbClr val="1E293B"/>
                    </a:solidFill>
                    <a:latin typeface="Calibri"/>
                  </a:rPr>
                  <a:t>, </a:t>
                </a:r>
                <a:r>
                  <a:rPr lang="vi-VN"/>
                  <a:t>k\vec{a}</a:t>
                </a:r>
                <a:r>
                  <a:rPr sz="2200">
                    <a:solidFill>
                      <a:srgbClr val="1E293B"/>
                    </a:solidFill>
                    <a:latin typeface="Calibri"/>
                  </a:rPr>
                  <a:t> theo từng thành phần.</a:t>
                </a:r>
              </a:p>
              <a:p>
                <a:pPr algn="l" marL="365760" indent="-365760">
                  <a:spcAft>
                    <a:spcPts val="800"/>
                  </a:spcAft>
                  <a:buClr>
                    <a:srgbClr val="1E40AF"/>
                  </a:buClr>
                  <a:buFont typeface="Arial"/>
                  <a:buChar char="•"/>
                </a:pPr>
                <a:r>
                  <a:rPr sz="2200" b="1">
                    <a:solidFill>
                      <a:srgbClr val="1E293B"/>
                    </a:solidFill>
                    <a:latin typeface="Calibri"/>
                  </a:rPr>
                  <a:t>Tích vô hướng:</a:t>
                </a:r>
                <a:r>
                  <a:rPr sz="2200">
                    <a:solidFill>
                      <a:srgbClr val="1E293B"/>
                    </a:solidFill>
                    <a:latin typeface="Calibri"/>
                  </a:rPr>
                  <a:t> </a:t>
                </a:r>
                <a:r>
                  <a:rPr lang="vi-VN"/>
                  <a:t>\vec{a}\cdot\vec{b}=xx'+yy'+zz'</a:t>
                </a:r>
                <a:r>
                  <a:rPr sz="2200">
                    <a:solidFill>
                      <a:srgbClr val="1E293B"/>
                    </a:solidFill>
                    <a:latin typeface="Calibri"/>
                  </a:rPr>
                  <a:t>; </a:t>
                </a:r>
                <a:r>
                  <a:rPr lang="vi-VN"/>
                  <a:t>|\vec{a}|=\sqrt{x^2+y^2+z^2}</a:t>
                </a:r>
                <a:r>
                  <a:rPr sz="2200">
                    <a:solidFill>
                      <a:srgbClr val="1E293B"/>
                    </a:solidFill>
                    <a:latin typeface="Calibri"/>
                  </a:rPr>
                  <a:t>; </a:t>
                </a:r>
                <a:r>
                  <a:rPr lang="vi-VN"/>
                  <a:t>\cos(\vec{a},\vec{b})=\frac{xx'+yy'+zz'}{|\vec{a}|\cdot|\vec{b}|}</a:t>
                </a:r>
                <a:r>
                  <a:rPr sz="2200">
                    <a:solidFill>
                      <a:srgbClr val="1E293B"/>
                    </a:solidFill>
                    <a:latin typeface="Calibri"/>
                  </a:rPr>
                  <a:t>.</a:t>
                </a:r>
              </a:p>
              <a:p>
                <a:pPr algn="l" marL="365760" indent="-365760">
                  <a:spcAft>
                    <a:spcPts val="800"/>
                  </a:spcAft>
                  <a:buClr>
                    <a:srgbClr val="1E40AF"/>
                  </a:buClr>
                  <a:buFont typeface="Arial"/>
                  <a:buChar char="•"/>
                </a:pPr>
                <a:r>
                  <a:rPr sz="2200" b="1">
                    <a:solidFill>
                      <a:srgbClr val="1E293B"/>
                    </a:solidFill>
                    <a:latin typeface="Calibri"/>
                  </a:rPr>
                  <a:t>Trung điểm, trọng tâm:</a:t>
                </a:r>
                <a:r>
                  <a:rPr sz="2200">
                    <a:solidFill>
                      <a:srgbClr val="1E293B"/>
                    </a:solidFill>
                    <a:latin typeface="Calibri"/>
                  </a:rPr>
                  <a:t> trung bình cộng toạ độ; </a:t>
                </a:r>
                <a:r>
                  <a:rPr lang="vi-VN"/>
                  <a:t>AB=\sqrt{(x_B-x_A)^2+(y_B-y_A)^2+(z_B-z_A)^2}</a:t>
                </a:r>
                <a:r>
                  <a:rPr sz="2200">
                    <a:solidFill>
                      <a:srgbClr val="1E293B"/>
                    </a:solidFill>
                    <a:latin typeface="Calibri"/>
                  </a:rPr>
                  <a:t>.</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7</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2.25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a:t>
                </a:r>
                <a14:m>
                  <m:oMath xmlns:m="http://schemas.openxmlformats.org/officeDocument/2006/math">
                    <m:r>
                      <a:rPr lang="vi-VN" sz="2600" b="0">
                        <a:solidFill>
                          <a:srgbClr val="1E293B"/>
                        </a:solidFill>
                        <a:latin typeface="Cambria Math" panose="02040503050406030204" pitchFamily="18" charset="0"/>
                      </a:rPr>
                      <m:t>ABCD</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G</m:t>
                    </m:r>
                  </m:oMath>
                </a14:m>
                <a:r>
                  <a:rPr sz="2600">
                    <a:solidFill>
                      <a:srgbClr val="1E293B"/>
                    </a:solidFill>
                    <a:latin typeface="Calibri"/>
                  </a:rPr>
                  <a:t> là trọng tâm tam giác </a:t>
                </a:r>
                <a14:m>
                  <m:oMath xmlns:m="http://schemas.openxmlformats.org/officeDocument/2006/math">
                    <m:r>
                      <a:rPr lang="vi-VN" sz="2600" b="0">
                        <a:solidFill>
                          <a:srgbClr val="1E293B"/>
                        </a:solidFill>
                        <a:latin typeface="Cambria Math" panose="02040503050406030204" pitchFamily="18" charset="0"/>
                      </a:rPr>
                      <m:t>BCD</m:t>
                    </m:r>
                  </m:oMath>
                </a14:m>
                <a:r>
                  <a:rPr sz="2600">
                    <a:solidFill>
                      <a:srgbClr val="1E293B"/>
                    </a:solidFill>
                    <a:latin typeface="Calibri"/>
                  </a:rPr>
                  <a:t>. Khẳng định nào sau đây là </a:t>
                </a:r>
                <a:r>
                  <a:rPr sz="2600" b="1">
                    <a:solidFill>
                      <a:srgbClr val="1E293B"/>
                    </a:solidFill>
                    <a:latin typeface="Calibri"/>
                  </a:rPr>
                  <a:t>sai</a:t>
                </a:r>
                <a:r>
                  <a:rPr sz="2600">
                    <a:solidFill>
                      <a:srgbClr val="1E293B"/>
                    </a:solidFill>
                    <a:latin typeface="Calibri"/>
                  </a:rPr>
                  <a:t>?</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a:t>
                </a:r>
                <a:r>
                  <a:rPr lang="vi-VN"/>
                  <a:t>ABCD</a:t>
                </a:r>
                <a:r>
                  <a:rPr sz="2600">
                    <a:solidFill>
                      <a:srgbClr val="1E293B"/>
                    </a:solidFill>
                    <a:latin typeface="Calibri"/>
                  </a:rPr>
                  <a:t>, </a:t>
                </a:r>
                <a:r>
                  <a:rPr lang="vi-VN"/>
                  <a:t>G</a:t>
                </a:r>
                <a:r>
                  <a:rPr sz="2600">
                    <a:solidFill>
                      <a:srgbClr val="1E293B"/>
                    </a:solidFill>
                    <a:latin typeface="Calibri"/>
                  </a:rPr>
                  <a:t> là trọng tâm tam giác </a:t>
                </a:r>
                <a:r>
                  <a:rPr lang="vi-VN"/>
                  <a:t>BCD</a:t>
                </a:r>
                <a:r>
                  <a:rPr sz="2600">
                    <a:solidFill>
                      <a:srgbClr val="1E293B"/>
                    </a:solidFill>
                    <a:latin typeface="Calibri"/>
                  </a:rPr>
                  <a:t>. Khẳng định nào sau đây là </a:t>
                </a:r>
                <a:r>
                  <a:rPr sz="2600" b="1">
                    <a:solidFill>
                      <a:srgbClr val="1E293B"/>
                    </a:solidFill>
                    <a:latin typeface="Calibri"/>
                  </a:rPr>
                  <a:t>sai</a:t>
                </a:r>
                <a:r>
                  <a:rPr sz="2600">
                    <a:solidFill>
                      <a:srgbClr val="1E293B"/>
                    </a:solidFill>
                    <a:latin typeface="Calibri"/>
                  </a:rPr>
                  <a:t>?</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BG</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CG</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DG</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0</m:t>
                        </m:r>
                      </m:e>
                    </m:acc>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\overrightarrow{BG}</a:t>
                </a:r>
                <a:r>
                  <a:rPr sz="2400">
                    <a:solidFill>
                      <a:srgbClr val="1E293B"/>
                    </a:solidFill>
                    <a:latin typeface="Calibri"/>
                  </a:rPr>
                  <a:t> + </a:t>
                </a:r>
                <a:r>
                  <a:rPr lang="vi-VN"/>
                  <a:t>\overrightarrow{CG}</a:t>
                </a:r>
                <a:r>
                  <a:rPr sz="2400">
                    <a:solidFill>
                      <a:srgbClr val="1E293B"/>
                    </a:solidFill>
                    <a:latin typeface="Calibri"/>
                  </a:rPr>
                  <a:t> + </a:t>
                </a:r>
                <a:r>
                  <a:rPr lang="vi-VN"/>
                  <a:t>\overrightarrow{DG}</a:t>
                </a:r>
                <a:r>
                  <a:rPr sz="2400">
                    <a:solidFill>
                      <a:srgbClr val="1E293B"/>
                    </a:solidFill>
                    <a:latin typeface="Calibri"/>
                  </a:rPr>
                  <a:t> = </a:t>
                </a:r>
                <a:r>
                  <a:rPr lang="vi-VN"/>
                  <a:t>\vec{0}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3</m:t>
                    </m:r>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AG</m:t>
                        </m:r>
                      </m:e>
                    </m:acc>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\overrightarrow{AB}</a:t>
                </a:r>
                <a:r>
                  <a:rPr sz="2400">
                    <a:solidFill>
                      <a:srgbClr val="1E293B"/>
                    </a:solidFill>
                    <a:latin typeface="Calibri"/>
                  </a:rPr>
                  <a:t> + </a:t>
                </a:r>
                <a:r>
                  <a:rPr lang="vi-VN"/>
                  <a:t>\overrightarrow{AC}</a:t>
                </a:r>
                <a:r>
                  <a:rPr sz="2400">
                    <a:solidFill>
                      <a:srgbClr val="1E293B"/>
                    </a:solidFill>
                    <a:latin typeface="Calibri"/>
                  </a:rPr>
                  <a:t> + </a:t>
                </a:r>
                <a:r>
                  <a:rPr lang="vi-VN"/>
                  <a:t>\overrightarrow{AD}</a:t>
                </a:r>
                <a:r>
                  <a:rPr sz="2400">
                    <a:solidFill>
                      <a:srgbClr val="1E293B"/>
                    </a:solidFill>
                    <a:latin typeface="Calibri"/>
                  </a:rPr>
                  <a:t> = </a:t>
                </a:r>
                <a:r>
                  <a:rPr lang="vi-VN"/>
                  <a:t>3</a:t>
                </a:r>
                <a:r>
                  <a:rPr sz="2400">
                    <a:solidFill>
                      <a:srgbClr val="1E293B"/>
                    </a:solidFill>
                    <a:latin typeface="Calibri"/>
                  </a:rPr>
                  <a:t> </a:t>
                </a:r>
                <a:r>
                  <a:rPr lang="vi-VN"/>
                  <a:t>\overrightarrow{AG}</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BC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BD</m:t>
                        </m:r>
                      </m:e>
                    </m:acc>
                  </m:oMath>
                </a14:m>
                <a:r>
                  <a:rPr sz="2400">
                    <a:solidFill>
                      <a:srgbClr val="1E293B"/>
                    </a:solidFill>
                    <a:latin typeface="Calibri"/>
                  </a:rPr>
                  <a:t> = </a:t>
                </a:r>
                <a14:m>
                  <m:oMath xmlns:m="http://schemas.openxmlformats.org/officeDocument/2006/math">
                    <m:r>
                      <a:rPr lang="vi-VN" sz="2400" b="0">
                        <a:solidFill>
                          <a:srgbClr val="1E293B"/>
                        </a:solidFill>
                        <a:latin typeface="Cambria Math" panose="02040503050406030204" pitchFamily="18" charset="0"/>
                      </a:rPr>
                      <m:t>3</m:t>
                    </m:r>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BG</m:t>
                        </m:r>
                      </m:e>
                    </m:acc>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\overrightarrow{BC}</a:t>
                </a:r>
                <a:r>
                  <a:rPr sz="2400">
                    <a:solidFill>
                      <a:srgbClr val="1E293B"/>
                    </a:solidFill>
                    <a:latin typeface="Calibri"/>
                  </a:rPr>
                  <a:t> + </a:t>
                </a:r>
                <a:r>
                  <a:rPr lang="vi-VN"/>
                  <a:t>\overrightarrow{BD}</a:t>
                </a:r>
                <a:r>
                  <a:rPr sz="2400">
                    <a:solidFill>
                      <a:srgbClr val="1E293B"/>
                    </a:solidFill>
                    <a:latin typeface="Calibri"/>
                  </a:rPr>
                  <a:t> = </a:t>
                </a:r>
                <a:r>
                  <a:rPr lang="vi-VN"/>
                  <a:t>3</a:t>
                </a:r>
                <a:r>
                  <a:rPr sz="2400">
                    <a:solidFill>
                      <a:srgbClr val="1E293B"/>
                    </a:solidFill>
                    <a:latin typeface="Calibri"/>
                  </a:rPr>
                  <a:t> </a:t>
                </a:r>
                <a:r>
                  <a:rPr lang="vi-VN"/>
                  <a:t>\overrightarrow{BG}</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GA</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GB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GC</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GD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0</m:t>
                        </m:r>
                      </m:e>
                    </m:acc>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\overrightarrow{GA}</a:t>
                </a:r>
                <a:r>
                  <a:rPr sz="2400">
                    <a:solidFill>
                      <a:srgbClr val="1E293B"/>
                    </a:solidFill>
                    <a:latin typeface="Calibri"/>
                  </a:rPr>
                  <a:t> + </a:t>
                </a:r>
                <a:r>
                  <a:rPr lang="vi-VN"/>
                  <a:t>\overrightarrow{GB}</a:t>
                </a:r>
                <a:r>
                  <a:rPr sz="2400">
                    <a:solidFill>
                      <a:srgbClr val="1E293B"/>
                    </a:solidFill>
                    <a:latin typeface="Calibri"/>
                  </a:rPr>
                  <a:t> + </a:t>
                </a:r>
                <a:r>
                  <a:rPr lang="vi-VN"/>
                  <a:t>\overrightarrow{GC}</a:t>
                </a:r>
                <a:r>
                  <a:rPr sz="2400">
                    <a:solidFill>
                      <a:srgbClr val="1E293B"/>
                    </a:solidFill>
                    <a:latin typeface="Calibri"/>
                  </a:rPr>
                  <a:t> + </a:t>
                </a:r>
                <a:r>
                  <a:rPr lang="vi-VN"/>
                  <a:t>\overrightarrow{GD}</a:t>
                </a:r>
                <a:r>
                  <a:rPr sz="2400">
                    <a:solidFill>
                      <a:srgbClr val="1E293B"/>
                    </a:solidFill>
                    <a:latin typeface="Calibri"/>
                  </a:rPr>
                  <a:t> = </a:t>
                </a:r>
                <a:r>
                  <a:rPr lang="vi-VN"/>
                  <a:t>\vec{0}</a:t>
                </a:r>
              </a:p>
            </p:txBody>
          </p:sp>
        </mc:Fallback>
      </mc:AlternateContent>
      <p:sp>
        <p:nvSpPr>
          <p:cNvPr id="16" name="s1_nen"/>
          <p:cNvSpPr/>
          <p:nvPr/>
        </p:nvSpPr>
        <p:spPr>
          <a:xfrm>
            <a:off x="548640" y="4617720"/>
            <a:ext cx="11064240" cy="935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D.</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GB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GC</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GD</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nên tổng ở D bằng </a:t>
                </a:r>
                <a14:m>
                  <m:oMath xmlns:m="http://schemas.openxmlformats.org/officeDocument/2006/math">
                    <m:acc>
                      <m:accPr>
                        <m:chr m:val="⃗"/>
                      </m:accPr>
                      <m:e>
                        <m:r>
                          <a:rPr lang="vi-VN" sz="2200" b="0">
                            <a:solidFill>
                              <a:srgbClr val="1E293B"/>
                            </a:solidFill>
                            <a:latin typeface="Cambria Math" panose="02040503050406030204" pitchFamily="18" charset="0"/>
                          </a:rPr>
                          <m:t>GA</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0</m:t>
                        </m:r>
                      </m:e>
                    </m:acc>
                  </m:oMath>
                </a14:m>
                <a:r>
                  <a:rPr sz="2200">
                    <a:solidFill>
                      <a:srgbClr val="1E293B"/>
                    </a:solidFill>
                    <a:latin typeface="Calibri"/>
                  </a:rPr>
                  <a:t> (G không phải trọng tâm tứ diện).</a:t>
                </a:r>
              </a:p>
            </p:txBody>
          </p:sp>
        </mc:Choice>
        <mc:Fallback>
          <p:sp>
            <p:nvSpPr>
              <p:cNvPr id="17" name="TextBox 16"/>
              <p:cNvSpPr txBox="1"/>
              <p:nvPr/>
            </p:nvSpPr>
            <p:spPr>
              <a:xfrm>
                <a:off x="713232" y="4654296"/>
                <a:ext cx="10735056" cy="862583"/>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D.</a:t>
                </a:r>
                <a:r>
                  <a:rPr sz="2200">
                    <a:solidFill>
                      <a:srgbClr val="1E293B"/>
                    </a:solidFill>
                    <a:latin typeface="Calibri"/>
                  </a:rPr>
                  <a:t> </a:t>
                </a:r>
                <a:r>
                  <a:rPr lang="vi-VN"/>
                  <a:t>\overrightarrow{GB}</a:t>
                </a:r>
                <a:r>
                  <a:rPr sz="2200">
                    <a:solidFill>
                      <a:srgbClr val="1E293B"/>
                    </a:solidFill>
                    <a:latin typeface="Calibri"/>
                  </a:rPr>
                  <a:t> + </a:t>
                </a:r>
                <a:r>
                  <a:rPr lang="vi-VN"/>
                  <a:t>\overrightarrow{GC}</a:t>
                </a:r>
                <a:r>
                  <a:rPr sz="2200">
                    <a:solidFill>
                      <a:srgbClr val="1E293B"/>
                    </a:solidFill>
                    <a:latin typeface="Calibri"/>
                  </a:rPr>
                  <a:t> + </a:t>
                </a:r>
                <a:r>
                  <a:rPr lang="vi-VN"/>
                  <a:t>\overrightarrow{GD}</a:t>
                </a:r>
                <a:r>
                  <a:rPr sz="2200">
                    <a:solidFill>
                      <a:srgbClr val="1E293B"/>
                    </a:solidFill>
                    <a:latin typeface="Calibri"/>
                  </a:rPr>
                  <a:t> = </a:t>
                </a:r>
                <a:r>
                  <a:rPr lang="vi-VN"/>
                  <a:t>\vec{0}</a:t>
                </a:r>
                <a:r>
                  <a:rPr sz="2200">
                    <a:solidFill>
                      <a:srgbClr val="1E293B"/>
                    </a:solidFill>
                    <a:latin typeface="Calibri"/>
                  </a:rPr>
                  <a:t> nên tổng ở D bằng </a:t>
                </a:r>
                <a:r>
                  <a:rPr lang="vi-VN"/>
                  <a:t>\overrightarrow{GA}</a:t>
                </a:r>
                <a:r>
                  <a:rPr sz="2200">
                    <a:solidFill>
                      <a:srgbClr val="1E293B"/>
                    </a:solidFill>
                    <a:latin typeface="Calibri"/>
                  </a:rPr>
                  <a:t> ≠ </a:t>
                </a:r>
                <a:r>
                  <a:rPr lang="vi-VN"/>
                  <a:t>\vec{0}</a:t>
                </a:r>
                <a:r>
                  <a:rPr sz="2200">
                    <a:solidFill>
                      <a:srgbClr val="1E293B"/>
                    </a:solidFill>
                    <a:latin typeface="Calibri"/>
                  </a:rPr>
                  <a:t> (G không phải trọng tâm tứ diện).</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2.26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14:m>
                  <m:oMath xmlns:m="http://schemas.openxmlformats.org/officeDocument/2006/math">
                    <m:r>
                      <a:rPr lang="vi-VN" sz="2600" b="0">
                        <a:solidFill>
                          <a:srgbClr val="1E293B"/>
                        </a:solidFill>
                        <a:latin typeface="Cambria Math" panose="02040503050406030204" pitchFamily="18" charset="0"/>
                      </a:rPr>
                      <m:t>ABCD.</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m:t>
                    </m:r>
                  </m:oMath>
                </a14:m>
                <a:r>
                  <a:rPr sz="2600">
                    <a:solidFill>
                      <a:srgbClr val="1E293B"/>
                    </a:solidFill>
                    <a:latin typeface="Calibri"/>
                  </a:rPr>
                  <a:t> là trung điểm </a:t>
                </a:r>
                <a14:m>
                  <m:oMath xmlns:m="http://schemas.openxmlformats.org/officeDocument/2006/math">
                    <m:r>
                      <a:rPr lang="vi-VN" sz="2600" b="0">
                        <a:solidFill>
                          <a:srgbClr val="1E293B"/>
                        </a:solidFill>
                        <a:latin typeface="Cambria Math" panose="02040503050406030204" pitchFamily="18" charset="0"/>
                      </a:rPr>
                      <m:t>C</m:t>
                    </m:r>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Vectơ </a:t>
                </a:r>
                <a14:m>
                  <m:oMath xmlns:m="http://schemas.openxmlformats.org/officeDocument/2006/math">
                    <m:acc>
                      <m:accPr>
                        <m:chr m:val="⃗"/>
                      </m:accPr>
                      <m:e>
                        <m:r>
                          <a:rPr lang="vi-VN" sz="2600" b="0">
                            <a:solidFill>
                              <a:srgbClr val="1E293B"/>
                            </a:solidFill>
                            <a:latin typeface="Cambria Math" panose="02040503050406030204" pitchFamily="18" charset="0"/>
                          </a:rPr>
                          <m:t>AM</m:t>
                        </m:r>
                      </m:e>
                    </m:acc>
                  </m:oMath>
                </a14:m>
                <a:r>
                  <a:rPr sz="2600">
                    <a:solidFill>
                      <a:srgbClr val="1E293B"/>
                    </a:solidFill>
                    <a:latin typeface="Calibri"/>
                  </a:rPr>
                  <a:t>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r>
                  <a:rPr lang="vi-VN"/>
                  <a:t>ABCD.A'B'C'D'</a:t>
                </a:r>
                <a:r>
                  <a:rPr sz="2600">
                    <a:solidFill>
                      <a:srgbClr val="1E293B"/>
                    </a:solidFill>
                    <a:latin typeface="Calibri"/>
                  </a:rPr>
                  <a:t>, </a:t>
                </a:r>
                <a:r>
                  <a:rPr lang="vi-VN"/>
                  <a:t>M</a:t>
                </a:r>
                <a:r>
                  <a:rPr sz="2600">
                    <a:solidFill>
                      <a:srgbClr val="1E293B"/>
                    </a:solidFill>
                    <a:latin typeface="Calibri"/>
                  </a:rPr>
                  <a:t> là trung điểm </a:t>
                </a:r>
                <a:r>
                  <a:rPr lang="vi-VN"/>
                  <a:t>CC'</a:t>
                </a:r>
                <a:r>
                  <a:rPr sz="2600">
                    <a:solidFill>
                      <a:srgbClr val="1E293B"/>
                    </a:solidFill>
                    <a:latin typeface="Calibri"/>
                  </a:rPr>
                  <a:t>. Vectơ </a:t>
                </a:r>
                <a:r>
                  <a:rPr lang="vi-VN"/>
                  <a:t>\overrightarrow{AM}</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\overrightarrow{AB}</a:t>
                </a:r>
                <a:r>
                  <a:rPr sz="2400">
                    <a:solidFill>
                      <a:srgbClr val="1E293B"/>
                    </a:solidFill>
                    <a:latin typeface="Calibri"/>
                  </a:rPr>
                  <a:t> + </a:t>
                </a:r>
                <a:r>
                  <a:rPr lang="vi-VN"/>
                  <a:t>\overrightarrow{AD}</a:t>
                </a:r>
                <a:r>
                  <a:rPr sz="2400">
                    <a:solidFill>
                      <a:srgbClr val="1E293B"/>
                    </a:solidFill>
                    <a:latin typeface="Calibri"/>
                  </a:rPr>
                  <a:t> + </a:t>
                </a:r>
                <a:r>
                  <a:rPr lang="vi-VN"/>
                  <a:t>\overrightarrow{AA'}</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\overrightarrow{AB}</a:t>
                </a:r>
                <a:r>
                  <a:rPr sz="2400">
                    <a:solidFill>
                      <a:srgbClr val="1E293B"/>
                    </a:solidFill>
                    <a:latin typeface="Calibri"/>
                  </a:rPr>
                  <a:t> + </a:t>
                </a:r>
                <a:r>
                  <a:rPr lang="vi-VN"/>
                  <a:t>\overrightarrow{AD}</a:t>
                </a:r>
                <a:r>
                  <a:rPr sz="2400">
                    <a:solidFill>
                      <a:srgbClr val="1E293B"/>
                    </a:solidFill>
                    <a:latin typeface="Calibri"/>
                  </a:rPr>
                  <a:t> + </a:t>
                </a:r>
                <a:r>
                  <a:rPr lang="vi-VN"/>
                  <a:t>\frac{1}{2}</a:t>
                </a:r>
                <a:r>
                  <a:rPr sz="2400">
                    <a:solidFill>
                      <a:srgbClr val="1E293B"/>
                    </a:solidFill>
                    <a:latin typeface="Calibri"/>
                  </a:rPr>
                  <a:t> </a:t>
                </a:r>
                <a:r>
                  <a:rPr lang="vi-VN"/>
                  <a:t>\overrightarrow{AA'}</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\overrightarrow{AB}</a:t>
                </a:r>
                <a:r>
                  <a:rPr sz="2400">
                    <a:solidFill>
                      <a:srgbClr val="1E293B"/>
                    </a:solidFill>
                    <a:latin typeface="Calibri"/>
                  </a:rPr>
                  <a:t> + </a:t>
                </a:r>
                <a:r>
                  <a:rPr lang="vi-VN"/>
                  <a:t>\frac{1}{2}</a:t>
                </a:r>
                <a:r>
                  <a:rPr sz="2400">
                    <a:solidFill>
                      <a:srgbClr val="1E293B"/>
                    </a:solidFill>
                    <a:latin typeface="Calibri"/>
                  </a:rPr>
                  <a:t> </a:t>
                </a:r>
                <a:r>
                  <a:rPr lang="vi-VN"/>
                  <a:t>\overrightarrow{AD}</a:t>
                </a:r>
                <a:r>
                  <a:rPr sz="2400">
                    <a:solidFill>
                      <a:srgbClr val="1E293B"/>
                    </a:solidFill>
                    <a:latin typeface="Calibri"/>
                  </a:rPr>
                  <a:t> + </a:t>
                </a:r>
                <a:r>
                  <a:rPr lang="vi-VN"/>
                  <a:t>\frac{1}{2}</a:t>
                </a:r>
                <a:r>
                  <a:rPr sz="2400">
                    <a:solidFill>
                      <a:srgbClr val="1E293B"/>
                    </a:solidFill>
                    <a:latin typeface="Calibri"/>
                  </a:rPr>
                  <a:t> </a:t>
                </a:r>
                <a:r>
                  <a:rPr lang="vi-VN"/>
                  <a:t>\overrightarrow{AA'}</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\frac{1}{2}</a:t>
                </a:r>
                <a:r>
                  <a:rPr sz="2400">
                    <a:solidFill>
                      <a:srgbClr val="1E293B"/>
                    </a:solidFill>
                    <a:latin typeface="Calibri"/>
                  </a:rPr>
                  <a:t> </a:t>
                </a:r>
                <a:r>
                  <a:rPr lang="vi-VN"/>
                  <a:t>\overrightarrow{AB}</a:t>
                </a:r>
                <a:r>
                  <a:rPr sz="2400">
                    <a:solidFill>
                      <a:srgbClr val="1E293B"/>
                    </a:solidFill>
                    <a:latin typeface="Calibri"/>
                  </a:rPr>
                  <a:t> + </a:t>
                </a:r>
                <a:r>
                  <a:rPr lang="vi-VN"/>
                  <a:t>\overrightarrow{AD}</a:t>
                </a:r>
                <a:r>
                  <a:rPr sz="2400">
                    <a:solidFill>
                      <a:srgbClr val="1E293B"/>
                    </a:solidFill>
                    <a:latin typeface="Calibri"/>
                  </a:rPr>
                  <a:t> + </a:t>
                </a:r>
                <a:r>
                  <a:rPr lang="vi-VN"/>
                  <a:t>\overrightarrow{AA'}</a:t>
                </a:r>
              </a:p>
            </p:txBody>
          </p:sp>
        </mc:Fallback>
      </mc:AlternateContent>
      <p:sp>
        <p:nvSpPr>
          <p:cNvPr id="16" name="s1_nen"/>
          <p:cNvSpPr/>
          <p:nvPr/>
        </p:nvSpPr>
        <p:spPr>
          <a:xfrm>
            <a:off x="548640" y="4617720"/>
            <a:ext cx="11064240" cy="75133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678179"/>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CM</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17" name="TextBox 16"/>
              <p:cNvSpPr txBox="1"/>
              <p:nvPr/>
            </p:nvSpPr>
            <p:spPr>
              <a:xfrm>
                <a:off x="713232" y="4654296"/>
                <a:ext cx="10735056" cy="678179"/>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\overrightarrow{AM}</a:t>
                </a:r>
                <a:r>
                  <a:rPr sz="2200">
                    <a:solidFill>
                      <a:srgbClr val="1E293B"/>
                    </a:solidFill>
                    <a:latin typeface="Calibri"/>
                  </a:rPr>
                  <a:t> = </a:t>
                </a:r>
                <a:r>
                  <a:rPr lang="vi-VN"/>
                  <a:t>\overrightarrow{AC}</a:t>
                </a:r>
                <a:r>
                  <a:rPr sz="2200">
                    <a:solidFill>
                      <a:srgbClr val="1E293B"/>
                    </a:solidFill>
                    <a:latin typeface="Calibri"/>
                  </a:rPr>
                  <a:t> + </a:t>
                </a:r>
                <a:r>
                  <a:rPr lang="vi-VN"/>
                  <a:t>\overrightarrow{CM}</a:t>
                </a:r>
                <a:r>
                  <a:rPr sz="2200">
                    <a:solidFill>
                      <a:srgbClr val="1E293B"/>
                    </a:solidFill>
                    <a:latin typeface="Calibri"/>
                  </a:rPr>
                  <a:t> = </a:t>
                </a:r>
                <a:r>
                  <a:rPr lang="vi-VN"/>
                  <a:t>\overrightarrow{AB}</a:t>
                </a:r>
                <a:r>
                  <a:rPr sz="2200">
                    <a:solidFill>
                      <a:srgbClr val="1E293B"/>
                    </a:solidFill>
                    <a:latin typeface="Calibri"/>
                  </a:rPr>
                  <a:t> + </a:t>
                </a:r>
                <a:r>
                  <a:rPr lang="vi-VN"/>
                  <a:t>\overrightarrow{AD}</a:t>
                </a:r>
                <a:r>
                  <a:rPr sz="2200">
                    <a:solidFill>
                      <a:srgbClr val="1E293B"/>
                    </a:solidFill>
                    <a:latin typeface="Calibri"/>
                  </a:rPr>
                  <a:t> + </a:t>
                </a:r>
                <a:r>
                  <a:rPr lang="vi-VN"/>
                  <a:t>\frac{1}{2}</a:t>
                </a:r>
                <a:r>
                  <a:rPr sz="2200">
                    <a:solidFill>
                      <a:srgbClr val="1E293B"/>
                    </a:solidFill>
                    <a:latin typeface="Calibri"/>
                  </a:rPr>
                  <a:t> </a:t>
                </a:r>
                <a:r>
                  <a:rPr lang="vi-VN"/>
                  <a:t>\overrightarrow{AA'}</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2.27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14:m>
                  <m:oMath xmlns:m="http://schemas.openxmlformats.org/officeDocument/2006/math">
                    <m:r>
                      <a:rPr lang="vi-VN" sz="2600" b="0">
                        <a:solidFill>
                          <a:srgbClr val="1E293B"/>
                        </a:solidFill>
                        <a:latin typeface="Cambria Math" panose="02040503050406030204" pitchFamily="18" charset="0"/>
                      </a:rPr>
                      <m:t>ABCD.</m:t>
                    </m:r>
                    <m:sSup>
                      <m:e>
                        <m:r>
                          <a:rPr lang="vi-VN" sz="2600" b="0">
                            <a:solidFill>
                              <a:srgbClr val="1E293B"/>
                            </a:solidFill>
                            <a:latin typeface="Cambria Math" panose="02040503050406030204" pitchFamily="18" charset="0"/>
                          </a:rPr>
                          <m:t>A</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B</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C</m:t>
                        </m:r>
                      </m:e>
                      <m:sup>
                        <m:r>
                          <a:rPr lang="vi-VN" sz="2600" b="0">
                            <a:solidFill>
                              <a:srgbClr val="1E293B"/>
                            </a:solidFill>
                            <a:latin typeface="Cambria Math" panose="02040503050406030204" pitchFamily="18" charset="0"/>
                          </a:rPr>
                          <m:t>′</m:t>
                        </m:r>
                      </m:sup>
                    </m:sSup>
                    <m:sSup>
                      <m:e>
                        <m:r>
                          <a:rPr lang="vi-VN" sz="2600" b="0">
                            <a:solidFill>
                              <a:srgbClr val="1E293B"/>
                            </a:solidFill>
                            <a:latin typeface="Cambria Math" panose="02040503050406030204" pitchFamily="18" charset="0"/>
                          </a:rPr>
                          <m:t>D</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Khẳng định nào dưới đây là </a:t>
                </a:r>
                <a:r>
                  <a:rPr sz="2600" b="1">
                    <a:solidFill>
                      <a:srgbClr val="1E293B"/>
                    </a:solidFill>
                    <a:latin typeface="Calibri"/>
                  </a:rPr>
                  <a:t>sai</a:t>
                </a:r>
                <a:r>
                  <a:rPr sz="2600">
                    <a:solidFill>
                      <a:srgbClr val="1E293B"/>
                    </a:solidFill>
                    <a:latin typeface="Calibri"/>
                  </a:rPr>
                  <a:t>?</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hộp </a:t>
                </a:r>
                <a:r>
                  <a:rPr lang="vi-VN"/>
                  <a:t>ABCD.A'B'C'D'</a:t>
                </a:r>
                <a:r>
                  <a:rPr sz="2600">
                    <a:solidFill>
                      <a:srgbClr val="1E293B"/>
                    </a:solidFill>
                    <a:latin typeface="Calibri"/>
                  </a:rPr>
                  <a:t>. Khẳng định nào dưới đây là </a:t>
                </a:r>
                <a:r>
                  <a:rPr sz="2600" b="1">
                    <a:solidFill>
                      <a:srgbClr val="1E293B"/>
                    </a:solidFill>
                    <a:latin typeface="Calibri"/>
                  </a:rPr>
                  <a:t>sai</a:t>
                </a:r>
                <a:r>
                  <a:rPr sz="2600">
                    <a:solidFill>
                      <a:srgbClr val="1E293B"/>
                    </a:solidFill>
                    <a:latin typeface="Calibri"/>
                  </a:rPr>
                  <a:t>?</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e>
                    </m:acc>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\overrightarrow{AB}</a:t>
                </a:r>
                <a:r>
                  <a:rPr sz="2400">
                    <a:solidFill>
                      <a:srgbClr val="1E293B"/>
                    </a:solidFill>
                    <a:latin typeface="Calibri"/>
                  </a:rPr>
                  <a:t> + </a:t>
                </a:r>
                <a:r>
                  <a:rPr lang="vi-VN"/>
                  <a:t>\overrightarrow{CC'}</a:t>
                </a:r>
                <a:r>
                  <a:rPr sz="2400">
                    <a:solidFill>
                      <a:srgbClr val="1E293B"/>
                    </a:solidFill>
                    <a:latin typeface="Calibri"/>
                  </a:rPr>
                  <a:t> = </a:t>
                </a:r>
                <a:r>
                  <a:rPr lang="vi-VN"/>
                  <a:t>\overrightarrow{AB'}</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m:t>
                            </m:r>
                          </m:sup>
                        </m:sSup>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\overrightarrow{AB}</a:t>
                </a:r>
                <a:r>
                  <a:rPr sz="2400">
                    <a:solidFill>
                      <a:srgbClr val="1E293B"/>
                    </a:solidFill>
                    <a:latin typeface="Calibri"/>
                  </a:rPr>
                  <a:t> + </a:t>
                </a:r>
                <a:r>
                  <a:rPr lang="vi-VN"/>
                  <a:t>\overrightarrow{AD}</a:t>
                </a:r>
                <a:r>
                  <a:rPr sz="2400">
                    <a:solidFill>
                      <a:srgbClr val="1E293B"/>
                    </a:solidFill>
                    <a:latin typeface="Calibri"/>
                  </a:rPr>
                  <a:t> + </a:t>
                </a:r>
                <a:r>
                  <a:rPr lang="vi-VN"/>
                  <a:t>\overrightarrow{AA'}</a:t>
                </a:r>
                <a:r>
                  <a:rPr sz="2400">
                    <a:solidFill>
                      <a:srgbClr val="1E293B"/>
                    </a:solidFill>
                    <a:latin typeface="Calibri"/>
                  </a:rPr>
                  <a:t> = </a:t>
                </a:r>
                <a:r>
                  <a:rPr lang="vi-VN"/>
                  <a:t>\overrightarrow{AC'}</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AD</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B</m:t>
                        </m:r>
                        <m:sSup>
                          <m:e>
                            <m:r>
                              <a:rPr lang="vi-VN" sz="2400" b="0">
                                <a:solidFill>
                                  <a:srgbClr val="1E293B"/>
                                </a:solidFill>
                                <a:latin typeface="Cambria Math" panose="02040503050406030204" pitchFamily="18" charset="0"/>
                              </a:rPr>
                              <m:t>B</m:t>
                            </m:r>
                          </m:e>
                          <m:sup>
                            <m:r>
                              <a:rPr lang="vi-VN" sz="2400" b="0">
                                <a:solidFill>
                                  <a:srgbClr val="1E293B"/>
                                </a:solidFill>
                                <a:latin typeface="Cambria Math" panose="02040503050406030204" pitchFamily="18" charset="0"/>
                              </a:rPr>
                              <m:t>′</m:t>
                            </m:r>
                          </m:sup>
                        </m:sSup>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D</m:t>
                            </m:r>
                          </m:e>
                          <m:sup>
                            <m:r>
                              <a:rPr lang="vi-VN" sz="2400" b="0">
                                <a:solidFill>
                                  <a:srgbClr val="1E293B"/>
                                </a:solidFill>
                                <a:latin typeface="Cambria Math" panose="02040503050406030204" pitchFamily="18" charset="0"/>
                              </a:rPr>
                              <m:t>′</m:t>
                            </m:r>
                          </m:sup>
                        </m:sSup>
                      </m:e>
                    </m:acc>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\overrightarrow{AD}</a:t>
                </a:r>
                <a:r>
                  <a:rPr sz="2400">
                    <a:solidFill>
                      <a:srgbClr val="1E293B"/>
                    </a:solidFill>
                    <a:latin typeface="Calibri"/>
                  </a:rPr>
                  <a:t> + </a:t>
                </a:r>
                <a:r>
                  <a:rPr lang="vi-VN"/>
                  <a:t>\overrightarrow{BB'}</a:t>
                </a:r>
                <a:r>
                  <a:rPr sz="2400">
                    <a:solidFill>
                      <a:srgbClr val="1E293B"/>
                    </a:solidFill>
                    <a:latin typeface="Calibri"/>
                  </a:rPr>
                  <a:t> = </a:t>
                </a:r>
                <a:r>
                  <a:rPr lang="vi-VN"/>
                  <a:t>\overrightarrow{AD'}</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AB</m:t>
                        </m:r>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C</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r>
                  <a:rPr sz="2400">
                    <a:solidFill>
                      <a:srgbClr val="1E293B"/>
                    </a:solidFill>
                    <a:latin typeface="Calibri"/>
                  </a:rPr>
                  <a:t> = </a:t>
                </a:r>
                <a14:m>
                  <m:oMath xmlns:m="http://schemas.openxmlformats.org/officeDocument/2006/math">
                    <m:acc>
                      <m:accPr>
                        <m:chr m:val="⃗"/>
                      </m:accPr>
                      <m:e>
                        <m:r>
                          <a:rPr lang="vi-VN" sz="2400" b="0">
                            <a:solidFill>
                              <a:srgbClr val="1E293B"/>
                            </a:solidFill>
                            <a:latin typeface="Cambria Math" panose="02040503050406030204" pitchFamily="18" charset="0"/>
                          </a:rPr>
                          <m:t>A</m:t>
                        </m:r>
                        <m:sSup>
                          <m:e>
                            <m:r>
                              <a:rPr lang="vi-VN" sz="2400" b="0">
                                <a:solidFill>
                                  <a:srgbClr val="1E293B"/>
                                </a:solidFill>
                                <a:latin typeface="Cambria Math" panose="02040503050406030204" pitchFamily="18" charset="0"/>
                              </a:rPr>
                              <m:t>C</m:t>
                            </m:r>
                          </m:e>
                          <m:sup>
                            <m:r>
                              <a:rPr lang="vi-VN" sz="2400" b="0">
                                <a:solidFill>
                                  <a:srgbClr val="1E293B"/>
                                </a:solidFill>
                                <a:latin typeface="Cambria Math" panose="02040503050406030204" pitchFamily="18" charset="0"/>
                              </a:rPr>
                              <m:t>′</m:t>
                            </m:r>
                          </m:sup>
                        </m:sSup>
                      </m:e>
                    </m:acc>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\overrightarrow{AB}</a:t>
                </a:r>
                <a:r>
                  <a:rPr sz="2400">
                    <a:solidFill>
                      <a:srgbClr val="1E293B"/>
                    </a:solidFill>
                    <a:latin typeface="Calibri"/>
                  </a:rPr>
                  <a:t> + </a:t>
                </a:r>
                <a:r>
                  <a:rPr lang="vi-VN"/>
                  <a:t>\overrightarrow{CC'}</a:t>
                </a:r>
                <a:r>
                  <a:rPr sz="2400">
                    <a:solidFill>
                      <a:srgbClr val="1E293B"/>
                    </a:solidFill>
                    <a:latin typeface="Calibri"/>
                  </a:rPr>
                  <a:t> = </a:t>
                </a:r>
                <a:r>
                  <a:rPr lang="vi-VN"/>
                  <a:t>\overrightarrow{AC'}</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D.</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C</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B</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nên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C</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B</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m:t>
                        </m:r>
                        <m:sSup>
                          <m:e>
                            <m:r>
                              <a:rPr lang="vi-VN" sz="2200" b="0">
                                <a:solidFill>
                                  <a:srgbClr val="1E293B"/>
                                </a:solidFill>
                                <a:latin typeface="Cambria Math" panose="02040503050406030204" pitchFamily="18" charset="0"/>
                              </a:rPr>
                              <m:t>C</m:t>
                            </m:r>
                          </m:e>
                          <m:sup>
                            <m:r>
                              <a:rPr lang="vi-VN" sz="2200" b="0">
                                <a:solidFill>
                                  <a:srgbClr val="1E293B"/>
                                </a:solidFill>
                                <a:latin typeface="Cambria Math" panose="02040503050406030204" pitchFamily="18" charset="0"/>
                              </a:rPr>
                              <m:t>′</m:t>
                            </m:r>
                          </m:sup>
                        </m:sSup>
                      </m:e>
                    </m:acc>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D.</a:t>
                </a:r>
                <a:r>
                  <a:rPr sz="2200">
                    <a:solidFill>
                      <a:srgbClr val="1E293B"/>
                    </a:solidFill>
                    <a:latin typeface="Calibri"/>
                  </a:rPr>
                  <a:t> </a:t>
                </a:r>
                <a:r>
                  <a:rPr lang="vi-VN"/>
                  <a:t>\overrightarrow{CC'}</a:t>
                </a:r>
                <a:r>
                  <a:rPr sz="2200">
                    <a:solidFill>
                      <a:srgbClr val="1E293B"/>
                    </a:solidFill>
                    <a:latin typeface="Calibri"/>
                  </a:rPr>
                  <a:t> = </a:t>
                </a:r>
                <a:r>
                  <a:rPr lang="vi-VN"/>
                  <a:t>\overrightarrow{BB'}</a:t>
                </a:r>
                <a:r>
                  <a:rPr sz="2200">
                    <a:solidFill>
                      <a:srgbClr val="1E293B"/>
                    </a:solidFill>
                    <a:latin typeface="Calibri"/>
                  </a:rPr>
                  <a:t> nên </a:t>
                </a:r>
                <a:r>
                  <a:rPr lang="vi-VN"/>
                  <a:t>\overrightarrow{AB}</a:t>
                </a:r>
                <a:r>
                  <a:rPr sz="2200">
                    <a:solidFill>
                      <a:srgbClr val="1E293B"/>
                    </a:solidFill>
                    <a:latin typeface="Calibri"/>
                  </a:rPr>
                  <a:t> + </a:t>
                </a:r>
                <a:r>
                  <a:rPr lang="vi-VN"/>
                  <a:t>\overrightarrow{CC'}</a:t>
                </a:r>
                <a:r>
                  <a:rPr sz="2200">
                    <a:solidFill>
                      <a:srgbClr val="1E293B"/>
                    </a:solidFill>
                    <a:latin typeface="Calibri"/>
                  </a:rPr>
                  <a:t> = </a:t>
                </a:r>
                <a:r>
                  <a:rPr lang="vi-VN"/>
                  <a:t>\overrightarrow{AB'}</a:t>
                </a:r>
                <a:r>
                  <a:rPr sz="2200">
                    <a:solidFill>
                      <a:srgbClr val="1E293B"/>
                    </a:solidFill>
                    <a:latin typeface="Calibri"/>
                  </a:rPr>
                  <a:t> ≠ </a:t>
                </a:r>
                <a:r>
                  <a:rPr lang="vi-VN"/>
                  <a:t>\overrightarrow{AC'}</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2.28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đều </a:t>
                </a:r>
                <a14:m>
                  <m:oMath xmlns:m="http://schemas.openxmlformats.org/officeDocument/2006/math">
                    <m:r>
                      <a:rPr lang="vi-VN" sz="2600" b="0">
                        <a:solidFill>
                          <a:srgbClr val="1E293B"/>
                        </a:solidFill>
                        <a:latin typeface="Cambria Math" panose="02040503050406030204" pitchFamily="18" charset="0"/>
                      </a:rPr>
                      <m:t>ABCD</m:t>
                    </m:r>
                  </m:oMath>
                </a14:m>
                <a:r>
                  <a:rPr sz="2600">
                    <a:solidFill>
                      <a:srgbClr val="1E293B"/>
                    </a:solidFill>
                    <a:latin typeface="Calibri"/>
                  </a:rPr>
                  <a:t> cạnh </a:t>
                </a:r>
                <a14:m>
                  <m:oMath xmlns:m="http://schemas.openxmlformats.org/officeDocument/2006/math">
                    <m:r>
                      <a:rPr lang="vi-VN" sz="2600" b="0">
                        <a:solidFill>
                          <a:srgbClr val="1E293B"/>
                        </a:solidFill>
                        <a:latin typeface="Cambria Math" panose="02040503050406030204" pitchFamily="18" charset="0"/>
                      </a:rPr>
                      <m:t>a</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M</m:t>
                    </m:r>
                  </m:oMath>
                </a14:m>
                <a:r>
                  <a:rPr sz="2600">
                    <a:solidFill>
                      <a:srgbClr val="1E293B"/>
                    </a:solidFill>
                    <a:latin typeface="Calibri"/>
                  </a:rPr>
                  <a:t> là trung điểm </a:t>
                </a:r>
                <a14:m>
                  <m:oMath xmlns:m="http://schemas.openxmlformats.org/officeDocument/2006/math">
                    <m:r>
                      <a:rPr lang="vi-VN" sz="2600" b="0">
                        <a:solidFill>
                          <a:srgbClr val="1E293B"/>
                        </a:solidFill>
                        <a:latin typeface="Cambria Math" panose="02040503050406030204" pitchFamily="18" charset="0"/>
                      </a:rPr>
                      <m:t>CD</m:t>
                    </m:r>
                  </m:oMath>
                </a14:m>
                <a:r>
                  <a:rPr sz="2600">
                    <a:solidFill>
                      <a:srgbClr val="1E293B"/>
                    </a:solidFill>
                    <a:latin typeface="Calibri"/>
                  </a:rPr>
                  <a:t>. Tích vô hướng </a:t>
                </a:r>
                <a14:m>
                  <m:oMath xmlns:m="http://schemas.openxmlformats.org/officeDocument/2006/math">
                    <m:acc>
                      <m:accPr>
                        <m:chr m:val="⃗"/>
                      </m:accPr>
                      <m:e>
                        <m:r>
                          <a:rPr lang="vi-VN" sz="2600" b="0">
                            <a:solidFill>
                              <a:srgbClr val="1E293B"/>
                            </a:solidFill>
                            <a:latin typeface="Cambria Math" panose="02040503050406030204" pitchFamily="18" charset="0"/>
                          </a:rPr>
                          <m:t>AB</m:t>
                        </m:r>
                      </m:e>
                    </m:acc>
                  </m:oMath>
                </a14:m>
                <a:r>
                  <a:rPr sz="2600">
                    <a:solidFill>
                      <a:srgbClr val="1E293B"/>
                    </a:solidFill>
                    <a:latin typeface="Calibri"/>
                  </a:rPr>
                  <a:t> · </a:t>
                </a:r>
                <a14:m>
                  <m:oMath xmlns:m="http://schemas.openxmlformats.org/officeDocument/2006/math">
                    <m:acc>
                      <m:accPr>
                        <m:chr m:val="⃗"/>
                      </m:accPr>
                      <m:e>
                        <m:r>
                          <a:rPr lang="vi-VN" sz="2600" b="0">
                            <a:solidFill>
                              <a:srgbClr val="1E293B"/>
                            </a:solidFill>
                            <a:latin typeface="Cambria Math" panose="02040503050406030204" pitchFamily="18" charset="0"/>
                          </a:rPr>
                          <m:t>AM</m:t>
                        </m:r>
                      </m:e>
                    </m:acc>
                  </m:oMath>
                </a14:m>
                <a:r>
                  <a:rPr sz="2600">
                    <a:solidFill>
                      <a:srgbClr val="1E293B"/>
                    </a:solidFill>
                    <a:latin typeface="Calibri"/>
                  </a:rPr>
                  <a:t>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tứ diện đều </a:t>
                </a:r>
                <a:r>
                  <a:rPr lang="vi-VN"/>
                  <a:t>ABCD</a:t>
                </a:r>
                <a:r>
                  <a:rPr sz="2600">
                    <a:solidFill>
                      <a:srgbClr val="1E293B"/>
                    </a:solidFill>
                    <a:latin typeface="Calibri"/>
                  </a:rPr>
                  <a:t> cạnh </a:t>
                </a:r>
                <a:r>
                  <a:rPr lang="vi-VN"/>
                  <a:t>a</a:t>
                </a:r>
                <a:r>
                  <a:rPr sz="2600">
                    <a:solidFill>
                      <a:srgbClr val="1E293B"/>
                    </a:solidFill>
                    <a:latin typeface="Calibri"/>
                  </a:rPr>
                  <a:t>, </a:t>
                </a:r>
                <a:r>
                  <a:rPr lang="vi-VN"/>
                  <a:t>M</a:t>
                </a:r>
                <a:r>
                  <a:rPr sz="2600">
                    <a:solidFill>
                      <a:srgbClr val="1E293B"/>
                    </a:solidFill>
                    <a:latin typeface="Calibri"/>
                  </a:rPr>
                  <a:t> là trung điểm </a:t>
                </a:r>
                <a:r>
                  <a:rPr lang="vi-VN"/>
                  <a:t>CD</a:t>
                </a:r>
                <a:r>
                  <a:rPr sz="2600">
                    <a:solidFill>
                      <a:srgbClr val="1E293B"/>
                    </a:solidFill>
                    <a:latin typeface="Calibri"/>
                  </a:rPr>
                  <a:t>. Tích vô hướng </a:t>
                </a:r>
                <a:r>
                  <a:rPr lang="vi-VN"/>
                  <a:t>\overrightarrow{AB}</a:t>
                </a:r>
                <a:r>
                  <a:rPr sz="2600">
                    <a:solidFill>
                      <a:srgbClr val="1E293B"/>
                    </a:solidFill>
                    <a:latin typeface="Calibri"/>
                  </a:rPr>
                  <a:t> · </a:t>
                </a:r>
                <a:r>
                  <a:rPr lang="vi-VN"/>
                  <a:t>\overrightarrow{AM}</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f>
                      <m:fPr>
                        <m:type m:val="bar"/>
                      </m:fPr>
                      <m:num>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2</m:t>
                            </m:r>
                          </m:sup>
                        </m:sSup>
                      </m:num>
                      <m:den>
                        <m:r>
                          <a:rPr lang="vi-VN" sz="2400" b="0">
                            <a:solidFill>
                              <a:srgbClr val="1E293B"/>
                            </a:solidFill>
                            <a:latin typeface="Cambria Math" panose="02040503050406030204" pitchFamily="18" charset="0"/>
                          </a:rPr>
                          <m:t>4</m:t>
                        </m:r>
                      </m:den>
                    </m:f>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\frac{a^2}{4}</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f>
                      <m:fPr>
                        <m:type m:val="bar"/>
                      </m:fPr>
                      <m:num>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2</m:t>
                            </m:r>
                          </m:sup>
                        </m:sSup>
                      </m:num>
                      <m:den>
                        <m:r>
                          <a:rPr lang="vi-VN" sz="2400" b="0">
                            <a:solidFill>
                              <a:srgbClr val="1E293B"/>
                            </a:solidFill>
                            <a:latin typeface="Cambria Math" panose="02040503050406030204" pitchFamily="18" charset="0"/>
                          </a:rPr>
                          <m:t>2</m:t>
                        </m:r>
                      </m:den>
                    </m:f>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\frac{a^2}{2}</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f>
                      <m:fPr>
                        <m:type m:val="bar"/>
                      </m:fPr>
                      <m:num>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2</m:t>
                            </m:r>
                          </m:sup>
                        </m:sSup>
                      </m:num>
                      <m:den>
                        <m:r>
                          <a:rPr lang="vi-VN" sz="2400" b="0">
                            <a:solidFill>
                              <a:srgbClr val="1E293B"/>
                            </a:solidFill>
                            <a:latin typeface="Cambria Math" panose="02040503050406030204" pitchFamily="18" charset="0"/>
                          </a:rPr>
                          <m:t>3</m:t>
                        </m:r>
                      </m:den>
                    </m:f>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\frac{a^2}{3}</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a</m:t>
                        </m:r>
                      </m:e>
                      <m:sup>
                        <m:r>
                          <a:rPr lang="vi-VN" sz="2400" b="0">
                            <a:solidFill>
                              <a:srgbClr val="1E293B"/>
                            </a:solidFill>
                            <a:latin typeface="Cambria Math" panose="02040503050406030204" pitchFamily="18" charset="0"/>
                          </a:rPr>
                          <m:t>2</m:t>
                        </m:r>
                      </m:sup>
                    </m:sSup>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a^2</a:t>
                </a:r>
              </a:p>
            </p:txBody>
          </p:sp>
        </mc:Fallback>
      </mc:AlternateContent>
      <p:sp>
        <p:nvSpPr>
          <p:cNvPr id="16" name="s1_nen"/>
          <p:cNvSpPr/>
          <p:nvPr/>
        </p:nvSpPr>
        <p:spPr>
          <a:xfrm>
            <a:off x="548640" y="4617720"/>
            <a:ext cx="11064240" cy="10530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9799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AM</m:t>
                        </m:r>
                      </m:e>
                    </m:acc>
                  </m:oMath>
                </a14:m>
                <a:r>
                  <a:rPr sz="2200">
                    <a:solidFill>
                      <a:srgbClr val="1E293B"/>
                    </a:solidFill>
                    <a:latin typeface="Calibri"/>
                  </a:rPr>
                  <a:t> =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AC</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AB</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 </a:t>
                </a:r>
                <a14:m>
                  <m:oMath xmlns:m="http://schemas.openxmlformats.org/officeDocument/2006/math">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d>
                      <m:dPr>
                        <m:sepChr m:val="+"/>
                      </m:dPr>
                      <m:e>
                        <m:f>
                          <m:fPr>
                            <m:type m:val="bar"/>
                          </m:fPr>
                          <m:num>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m:t>
                            </m:r>
                          </m:den>
                        </m:f>
                      </m:e>
                      <m:e>
                        <m:f>
                          <m:fPr>
                            <m:type m:val="bar"/>
                          </m:fPr>
                          <m:num>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m:t>
                            </m:r>
                          </m:den>
                        </m:f>
                      </m:e>
                    </m:d>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a</m:t>
                            </m:r>
                          </m:e>
                          <m:sup>
                            <m:r>
                              <a:rPr lang="vi-VN" sz="2200" b="0">
                                <a:solidFill>
                                  <a:srgbClr val="1E293B"/>
                                </a:solidFill>
                                <a:latin typeface="Cambria Math" panose="02040503050406030204" pitchFamily="18" charset="0"/>
                              </a:rPr>
                              <m:t>2</m:t>
                            </m:r>
                          </m:sup>
                        </m:sSup>
                      </m:num>
                      <m:den>
                        <m:r>
                          <a:rPr lang="vi-VN" sz="2200" b="0">
                            <a:solidFill>
                              <a:srgbClr val="1E293B"/>
                            </a:solidFill>
                            <a:latin typeface="Cambria Math" panose="02040503050406030204" pitchFamily="18" charset="0"/>
                          </a:rPr>
                          <m:t>2</m:t>
                        </m:r>
                      </m:den>
                    </m:f>
                  </m:oMath>
                </a14:m>
                <a:r>
                  <a:rPr sz="2200">
                    <a:solidFill>
                      <a:srgbClr val="1E293B"/>
                    </a:solidFill>
                    <a:latin typeface="Calibri"/>
                  </a:rPr>
                  <a:t>.</a:t>
                </a:r>
              </a:p>
            </p:txBody>
          </p:sp>
        </mc:Choice>
        <mc:Fallback>
          <p:sp>
            <p:nvSpPr>
              <p:cNvPr id="17" name="TextBox 16"/>
              <p:cNvSpPr txBox="1"/>
              <p:nvPr/>
            </p:nvSpPr>
            <p:spPr>
              <a:xfrm>
                <a:off x="713232" y="4654296"/>
                <a:ext cx="10735056" cy="9799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\overrightarrow{AB}</a:t>
                </a:r>
                <a:r>
                  <a:rPr sz="2200">
                    <a:solidFill>
                      <a:srgbClr val="1E293B"/>
                    </a:solidFill>
                    <a:latin typeface="Calibri"/>
                  </a:rPr>
                  <a:t> · </a:t>
                </a:r>
                <a:r>
                  <a:rPr lang="vi-VN"/>
                  <a:t>\overrightarrow{AM}</a:t>
                </a:r>
                <a:r>
                  <a:rPr sz="2200">
                    <a:solidFill>
                      <a:srgbClr val="1E293B"/>
                    </a:solidFill>
                    <a:latin typeface="Calibri"/>
                  </a:rPr>
                  <a:t> = </a:t>
                </a:r>
                <a:r>
                  <a:rPr lang="vi-VN"/>
                  <a:t>\frac{1}{2}</a:t>
                </a:r>
                <a:r>
                  <a:rPr sz="2200">
                    <a:solidFill>
                      <a:srgbClr val="1E293B"/>
                    </a:solidFill>
                    <a:latin typeface="Calibri"/>
                  </a:rPr>
                  <a:t>(</a:t>
                </a:r>
                <a:r>
                  <a:rPr lang="vi-VN"/>
                  <a:t>\overrightarrow{AB}</a:t>
                </a:r>
                <a:r>
                  <a:rPr sz="2200">
                    <a:solidFill>
                      <a:srgbClr val="1E293B"/>
                    </a:solidFill>
                    <a:latin typeface="Calibri"/>
                  </a:rPr>
                  <a:t> · </a:t>
                </a:r>
                <a:r>
                  <a:rPr lang="vi-VN"/>
                  <a:t>\overrightarrow{AC}</a:t>
                </a:r>
                <a:r>
                  <a:rPr sz="2200">
                    <a:solidFill>
                      <a:srgbClr val="1E293B"/>
                    </a:solidFill>
                    <a:latin typeface="Calibri"/>
                  </a:rPr>
                  <a:t> + </a:t>
                </a:r>
                <a:r>
                  <a:rPr lang="vi-VN"/>
                  <a:t>\overrightarrow{AB}</a:t>
                </a:r>
                <a:r>
                  <a:rPr sz="2200">
                    <a:solidFill>
                      <a:srgbClr val="1E293B"/>
                    </a:solidFill>
                    <a:latin typeface="Calibri"/>
                  </a:rPr>
                  <a:t> · </a:t>
                </a:r>
                <a:r>
                  <a:rPr lang="vi-VN"/>
                  <a:t>\overrightarrow{AD}</a:t>
                </a:r>
                <a:r>
                  <a:rPr sz="2200">
                    <a:solidFill>
                      <a:srgbClr val="1E293B"/>
                    </a:solidFill>
                    <a:latin typeface="Calibri"/>
                  </a:rPr>
                  <a:t>) = </a:t>
                </a:r>
                <a:r>
                  <a:rPr lang="vi-VN"/>
                  <a:t>\frac{1}{2}\left(\frac{a^2}{2}+\frac{a^2}{2}\right)=\frac{a^2}{2}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2.29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=(1;−2;2)</m:t>
                    </m:r>
                  </m:oMath>
                </a14:m>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=(−2;0;3)</m:t>
                    </m:r>
                  </m:oMath>
                </a14:m>
                <a:r>
                  <a:rPr sz="2600">
                    <a:solidFill>
                      <a:srgbClr val="1E293B"/>
                    </a:solidFill>
                    <a:latin typeface="Calibri"/>
                  </a:rPr>
                  <a:t>. Khẳng định nào dưới đây là </a:t>
                </a:r>
                <a:r>
                  <a:rPr sz="2600" b="1">
                    <a:solidFill>
                      <a:srgbClr val="1E293B"/>
                    </a:solidFill>
                    <a:latin typeface="Calibri"/>
                  </a:rPr>
                  <a:t>sai</a:t>
                </a:r>
                <a:r>
                  <a:rPr sz="2600">
                    <a:solidFill>
                      <a:srgbClr val="1E293B"/>
                    </a:solidFill>
                    <a:latin typeface="Calibri"/>
                  </a:rPr>
                  <a:t>?</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\vec{a}=(1;-2;2)</a:t>
                </a:r>
                <a:r>
                  <a:rPr sz="2600">
                    <a:solidFill>
                      <a:srgbClr val="1E293B"/>
                    </a:solidFill>
                    <a:latin typeface="Calibri"/>
                  </a:rPr>
                  <a:t>, </a:t>
                </a:r>
                <a:r>
                  <a:rPr lang="vi-VN"/>
                  <a:t>\vec{b}=(-2;0;3)</a:t>
                </a:r>
                <a:r>
                  <a:rPr sz="2600">
                    <a:solidFill>
                      <a:srgbClr val="1E293B"/>
                    </a:solidFill>
                    <a:latin typeface="Calibri"/>
                  </a:rPr>
                  <a:t>. Khẳng định nào dưới đây là </a:t>
                </a:r>
                <a:r>
                  <a:rPr sz="2600" b="1">
                    <a:solidFill>
                      <a:srgbClr val="1E293B"/>
                    </a:solidFill>
                    <a:latin typeface="Calibri"/>
                  </a:rPr>
                  <a:t>sai</a:t>
                </a:r>
                <a:r>
                  <a:rPr sz="2600">
                    <a:solidFill>
                      <a:srgbClr val="1E293B"/>
                    </a:solidFill>
                    <a:latin typeface="Calibri"/>
                  </a:rPr>
                  <a:t>?</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=(−1;−2;5)</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\vec{a}+\vec{b}=(-1;-2;5)</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=(3;−2;−1)</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\vec{a}-\vec{b}=(3;-2;-1)</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=(3;−2;2)</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3\vec{a}=(3;-2;2)</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acc>
                      <m:accPr>
                        <m:chr m:val="⃗"/>
                      </m:accPr>
                      <m:e>
                        <m:r>
                          <a:rPr lang="vi-VN" sz="2400" b="0">
                            <a:solidFill>
                              <a:srgbClr val="1E293B"/>
                            </a:solidFill>
                            <a:latin typeface="Cambria Math" panose="02040503050406030204" pitchFamily="18" charset="0"/>
                          </a:rPr>
                          <m:t>a</m:t>
                        </m:r>
                      </m:e>
                    </m:acc>
                    <m:r>
                      <a:rPr lang="vi-VN" sz="2400" b="0">
                        <a:solidFill>
                          <a:srgbClr val="1E293B"/>
                        </a:solidFill>
                        <a:latin typeface="Cambria Math" panose="02040503050406030204" pitchFamily="18" charset="0"/>
                      </a:rPr>
                      <m:t>+</m:t>
                    </m:r>
                    <m:acc>
                      <m:accPr>
                        <m:chr m:val="⃗"/>
                      </m:accPr>
                      <m:e>
                        <m:r>
                          <a:rPr lang="vi-VN" sz="2400" b="0">
                            <a:solidFill>
                              <a:srgbClr val="1E293B"/>
                            </a:solidFill>
                            <a:latin typeface="Cambria Math" panose="02040503050406030204" pitchFamily="18" charset="0"/>
                          </a:rPr>
                          <m:t>b</m:t>
                        </m:r>
                      </m:e>
                    </m:acc>
                    <m:r>
                      <a:rPr lang="vi-VN" sz="2400" b="0">
                        <a:solidFill>
                          <a:srgbClr val="1E293B"/>
                        </a:solidFill>
                        <a:latin typeface="Cambria Math" panose="02040503050406030204" pitchFamily="18" charset="0"/>
                      </a:rPr>
                      <m:t>=(0;−4;7)</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2\vec{a}+\vec{b}=(0;-4;7)</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3</m:t>
                    </m:r>
                    <m:acc>
                      <m:accPr>
                        <m:chr m:val="⃗"/>
                      </m:accPr>
                      <m:e>
                        <m:r>
                          <a:rPr lang="vi-VN" sz="2200" b="0">
                            <a:solidFill>
                              <a:srgbClr val="1E293B"/>
                            </a:solidFill>
                            <a:latin typeface="Cambria Math" panose="02040503050406030204" pitchFamily="18" charset="0"/>
                          </a:rPr>
                          <m:t>a</m:t>
                        </m:r>
                      </m:e>
                    </m:acc>
                    <m:r>
                      <a:rPr lang="vi-VN" sz="2200" b="0">
                        <a:solidFill>
                          <a:srgbClr val="1E293B"/>
                        </a:solidFill>
                        <a:latin typeface="Cambria Math" panose="02040503050406030204" pitchFamily="18" charset="0"/>
                      </a:rPr>
                      <m:t>=(3;−6;6)</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r>
                  <a:rPr lang="vi-VN"/>
                  <a:t>3\vec{a}=(3;-6;6)</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2.30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bình hành </a:t>
                </a:r>
                <a14:m>
                  <m:oMath xmlns:m="http://schemas.openxmlformats.org/officeDocument/2006/math">
                    <m:r>
                      <a:rPr lang="vi-VN" sz="2600" b="0">
                        <a:solidFill>
                          <a:srgbClr val="1E293B"/>
                        </a:solidFill>
                        <a:latin typeface="Cambria Math" panose="02040503050406030204" pitchFamily="18" charset="0"/>
                      </a:rPr>
                      <m:t>ABCD</m:t>
                    </m:r>
                  </m:oMath>
                </a14:m>
                <a:r>
                  <a:rPr sz="2600">
                    <a:solidFill>
                      <a:srgbClr val="1E293B"/>
                    </a:solidFill>
                    <a:latin typeface="Calibri"/>
                  </a:rPr>
                  <a:t> có </a:t>
                </a:r>
                <a14:m>
                  <m:oMath xmlns:m="http://schemas.openxmlformats.org/officeDocument/2006/math">
                    <m:r>
                      <a:rPr lang="vi-VN" sz="2600" b="0">
                        <a:solidFill>
                          <a:srgbClr val="1E293B"/>
                        </a:solidFill>
                        <a:latin typeface="Cambria Math" panose="02040503050406030204" pitchFamily="18" charset="0"/>
                      </a:rPr>
                      <m:t>A(−1;0;3)</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B(2;1;−1)</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C(3;2;2)</m:t>
                    </m:r>
                  </m:oMath>
                </a14:m>
                <a:r>
                  <a:rPr sz="2600">
                    <a:solidFill>
                      <a:srgbClr val="1E293B"/>
                    </a:solidFill>
                    <a:latin typeface="Calibri"/>
                  </a:rPr>
                  <a:t>. Toạ độ điểm </a:t>
                </a:r>
                <a14:m>
                  <m:oMath xmlns:m="http://schemas.openxmlformats.org/officeDocument/2006/math">
                    <m:r>
                      <a:rPr lang="vi-VN" sz="2600" b="0">
                        <a:solidFill>
                          <a:srgbClr val="1E293B"/>
                        </a:solidFill>
                        <a:latin typeface="Cambria Math" panose="02040503050406030204" pitchFamily="18" charset="0"/>
                      </a:rPr>
                      <m:t>D</m:t>
                    </m:r>
                  </m:oMath>
                </a14:m>
                <a:r>
                  <a:rPr sz="2600">
                    <a:solidFill>
                      <a:srgbClr val="1E293B"/>
                    </a:solidFill>
                    <a:latin typeface="Calibri"/>
                  </a:rPr>
                  <a:t> là</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hình bình hành </a:t>
                </a:r>
                <a:r>
                  <a:rPr lang="vi-VN"/>
                  <a:t>ABCD</a:t>
                </a:r>
                <a:r>
                  <a:rPr sz="2600">
                    <a:solidFill>
                      <a:srgbClr val="1E293B"/>
                    </a:solidFill>
                    <a:latin typeface="Calibri"/>
                  </a:rPr>
                  <a:t> có </a:t>
                </a:r>
                <a:r>
                  <a:rPr lang="vi-VN"/>
                  <a:t>A(-1;0;3)</a:t>
                </a:r>
                <a:r>
                  <a:rPr sz="2600">
                    <a:solidFill>
                      <a:srgbClr val="1E293B"/>
                    </a:solidFill>
                    <a:latin typeface="Calibri"/>
                  </a:rPr>
                  <a:t>, </a:t>
                </a:r>
                <a:r>
                  <a:rPr lang="vi-VN"/>
                  <a:t>B(2;1;-1)</a:t>
                </a:r>
                <a:r>
                  <a:rPr sz="2600">
                    <a:solidFill>
                      <a:srgbClr val="1E293B"/>
                    </a:solidFill>
                    <a:latin typeface="Calibri"/>
                  </a:rPr>
                  <a:t>, </a:t>
                </a:r>
                <a:r>
                  <a:rPr lang="vi-VN"/>
                  <a:t>C(3;2;2)</a:t>
                </a:r>
                <a:r>
                  <a:rPr sz="2600">
                    <a:solidFill>
                      <a:srgbClr val="1E293B"/>
                    </a:solidFill>
                    <a:latin typeface="Calibri"/>
                  </a:rPr>
                  <a:t>. Toạ độ điểm </a:t>
                </a:r>
                <a:r>
                  <a:rPr lang="vi-VN"/>
                  <a:t>D</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(2;-1;0)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(0;-1;-6)</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6</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(0;1;6)</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m:t>
                        </m:r>
                      </m:e>
                    </m:d>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(-2;1;0)</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14:m>
                  <m:oMath xmlns:m="http://schemas.openxmlformats.org/officeDocument/2006/math">
                    <m:acc>
                      <m:accPr>
                        <m:chr m:val="⃗"/>
                      </m:accPr>
                      <m:e>
                        <m:r>
                          <a:rPr lang="vi-VN" sz="2200" b="0">
                            <a:solidFill>
                              <a:srgbClr val="1E293B"/>
                            </a:solidFill>
                            <a:latin typeface="Cambria Math" panose="02040503050406030204" pitchFamily="18" charset="0"/>
                          </a:rPr>
                          <m:t>AD</m:t>
                        </m:r>
                      </m:e>
                    </m:acc>
                  </m:oMath>
                </a14:m>
                <a:r>
                  <a:rPr sz="2200">
                    <a:solidFill>
                      <a:srgbClr val="1E293B"/>
                    </a:solidFill>
                    <a:latin typeface="Calibri"/>
                  </a:rPr>
                  <a:t> = </a:t>
                </a:r>
                <a14:m>
                  <m:oMath xmlns:m="http://schemas.openxmlformats.org/officeDocument/2006/math">
                    <m:acc>
                      <m:accPr>
                        <m:chr m:val="⃗"/>
                      </m:accPr>
                      <m:e>
                        <m:r>
                          <a:rPr lang="vi-VN" sz="2200" b="0">
                            <a:solidFill>
                              <a:srgbClr val="1E293B"/>
                            </a:solidFill>
                            <a:latin typeface="Cambria Math" panose="02040503050406030204" pitchFamily="18" charset="0"/>
                          </a:rPr>
                          <m:t>BC</m:t>
                        </m:r>
                      </m:e>
                    </m:acc>
                  </m:oMath>
                </a14:m>
                <a:r>
                  <a:rPr sz="2200">
                    <a:solidFill>
                      <a:srgbClr val="1E293B"/>
                    </a:solidFill>
                    <a:latin typeface="Calibri"/>
                  </a:rPr>
                  <a:t> = </a:t>
                </a:r>
                <a14:m>
                  <m:oMath xmlns:m="http://schemas.openxmlformats.org/officeDocument/2006/math">
                    <m:d>
                      <m:dPr>
                        <m:sepChr m:val=""/>
                      </m:dPr>
                      <m:e>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m:t>
                        </m:r>
                      </m:e>
                    </m:d>
                  </m:oMath>
                </a14:m>
                <a:r>
                  <a:rPr sz="2200">
                    <a:solidFill>
                      <a:srgbClr val="1E293B"/>
                    </a:solidFill>
                    <a:latin typeface="Calibri"/>
                  </a:rPr>
                  <a:t> ⇒ </a:t>
                </a:r>
                <a14:m>
                  <m:oMath xmlns:m="http://schemas.openxmlformats.org/officeDocument/2006/math">
                    <m:r>
                      <a:rPr lang="vi-VN" sz="2200" b="0">
                        <a:solidFill>
                          <a:srgbClr val="1E293B"/>
                        </a:solidFill>
                        <a:latin typeface="Cambria Math" panose="02040503050406030204" pitchFamily="18" charset="0"/>
                      </a:rPr>
                      <m:t>D(0;1;6)</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a:t>
                </a:r>
                <a:r>
                  <a:rPr lang="vi-VN"/>
                  <a:t>\overrightarrow{AD}</a:t>
                </a:r>
                <a:r>
                  <a:rPr sz="2200">
                    <a:solidFill>
                      <a:srgbClr val="1E293B"/>
                    </a:solidFill>
                    <a:latin typeface="Calibri"/>
                  </a:rPr>
                  <a:t> = </a:t>
                </a:r>
                <a:r>
                  <a:rPr lang="vi-VN"/>
                  <a:t>\overrightarrow{BC}</a:t>
                </a:r>
                <a:r>
                  <a:rPr sz="2200">
                    <a:solidFill>
                      <a:srgbClr val="1E293B"/>
                    </a:solidFill>
                    <a:latin typeface="Calibri"/>
                  </a:rPr>
                  <a:t> = </a:t>
                </a:r>
                <a:r>
                  <a:rPr lang="vi-VN"/>
                  <a:t>(1;1;3)</a:t>
                </a:r>
                <a:r>
                  <a:rPr sz="2200">
                    <a:solidFill>
                      <a:srgbClr val="1E293B"/>
                    </a:solidFill>
                    <a:latin typeface="Calibri"/>
                  </a:rPr>
                  <a:t> ⇒ </a:t>
                </a:r>
                <a:r>
                  <a:rPr lang="vi-VN"/>
                  <a:t>D(0;1;6)</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2.31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r>
                      <a:rPr lang="vi-VN" sz="2600" b="0">
                        <a:solidFill>
                          <a:srgbClr val="1E293B"/>
                        </a:solidFill>
                        <a:latin typeface="Cambria Math" panose="02040503050406030204" pitchFamily="18" charset="0"/>
                      </a:rPr>
                      <m:t>A(1;0;−1)</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B(0;−1;2)</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G(2;1;0)</m:t>
                    </m:r>
                  </m:oMath>
                </a14:m>
                <a:r>
                  <a:rPr sz="2600">
                    <a:solidFill>
                      <a:srgbClr val="1E293B"/>
                    </a:solidFill>
                    <a:latin typeface="Calibri"/>
                  </a:rPr>
                  <a:t>. Tam giác </a:t>
                </a:r>
                <a14:m>
                  <m:oMath xmlns:m="http://schemas.openxmlformats.org/officeDocument/2006/math">
                    <m:r>
                      <a:rPr lang="vi-VN" sz="2600" b="0">
                        <a:solidFill>
                          <a:srgbClr val="1E293B"/>
                        </a:solidFill>
                        <a:latin typeface="Cambria Math" panose="02040503050406030204" pitchFamily="18" charset="0"/>
                      </a:rPr>
                      <m:t>ABC</m:t>
                    </m:r>
                  </m:oMath>
                </a14:m>
                <a:r>
                  <a:rPr sz="2600">
                    <a:solidFill>
                      <a:srgbClr val="1E293B"/>
                    </a:solidFill>
                    <a:latin typeface="Calibri"/>
                  </a:rPr>
                  <a:t> có trọng tâm </a:t>
                </a:r>
                <a14:m>
                  <m:oMath xmlns:m="http://schemas.openxmlformats.org/officeDocument/2006/math">
                    <m:r>
                      <a:rPr lang="vi-VN" sz="2600" b="0">
                        <a:solidFill>
                          <a:srgbClr val="1E293B"/>
                        </a:solidFill>
                        <a:latin typeface="Cambria Math" panose="02040503050406030204" pitchFamily="18" charset="0"/>
                      </a:rPr>
                      <m:t>G</m:t>
                    </m:r>
                  </m:oMath>
                </a14:m>
                <a:r>
                  <a:rPr sz="2600">
                    <a:solidFill>
                      <a:srgbClr val="1E293B"/>
                    </a:solidFill>
                    <a:latin typeface="Calibri"/>
                  </a:rPr>
                  <a:t>. Toạ độ điểm </a:t>
                </a:r>
                <a14:m>
                  <m:oMath xmlns:m="http://schemas.openxmlformats.org/officeDocument/2006/math">
                    <m:r>
                      <a:rPr lang="vi-VN" sz="2600" b="0">
                        <a:solidFill>
                          <a:srgbClr val="1E293B"/>
                        </a:solidFill>
                        <a:latin typeface="Cambria Math" panose="02040503050406030204" pitchFamily="18" charset="0"/>
                      </a:rPr>
                      <m:t>C</m:t>
                    </m:r>
                  </m:oMath>
                </a14:m>
                <a:r>
                  <a:rPr sz="2600">
                    <a:solidFill>
                      <a:srgbClr val="1E293B"/>
                    </a:solidFill>
                    <a:latin typeface="Calibri"/>
                  </a:rPr>
                  <a:t> là</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A(1;0;-1)</a:t>
                </a:r>
                <a:r>
                  <a:rPr sz="2600">
                    <a:solidFill>
                      <a:srgbClr val="1E293B"/>
                    </a:solidFill>
                    <a:latin typeface="Calibri"/>
                  </a:rPr>
                  <a:t>, </a:t>
                </a:r>
                <a:r>
                  <a:rPr lang="vi-VN"/>
                  <a:t>B(0;-1;2)</a:t>
                </a:r>
                <a:r>
                  <a:rPr sz="2600">
                    <a:solidFill>
                      <a:srgbClr val="1E293B"/>
                    </a:solidFill>
                    <a:latin typeface="Calibri"/>
                  </a:rPr>
                  <a:t>, </a:t>
                </a:r>
                <a:r>
                  <a:rPr lang="vi-VN"/>
                  <a:t>G(2;1;0)</a:t>
                </a:r>
                <a:r>
                  <a:rPr sz="2600">
                    <a:solidFill>
                      <a:srgbClr val="1E293B"/>
                    </a:solidFill>
                    <a:latin typeface="Calibri"/>
                  </a:rPr>
                  <a:t>. Tam giác </a:t>
                </a:r>
                <a:r>
                  <a:rPr lang="vi-VN"/>
                  <a:t>ABC</a:t>
                </a:r>
                <a:r>
                  <a:rPr sz="2600">
                    <a:solidFill>
                      <a:srgbClr val="1E293B"/>
                    </a:solidFill>
                    <a:latin typeface="Calibri"/>
                  </a:rPr>
                  <a:t> có trọng tâm </a:t>
                </a:r>
                <a:r>
                  <a:rPr lang="vi-VN"/>
                  <a:t>G</a:t>
                </a:r>
                <a:r>
                  <a:rPr sz="2600">
                    <a:solidFill>
                      <a:srgbClr val="1E293B"/>
                    </a:solidFill>
                    <a:latin typeface="Calibri"/>
                  </a:rPr>
                  <a:t>. Toạ độ điểm </a:t>
                </a:r>
                <a:r>
                  <a:rPr lang="vi-VN"/>
                  <a:t>C</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(5;4;-1)</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5</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(-5;-4;1)</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(1;2;-1)</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d>
                      <m:dPr>
                        <m:sepChr m:val=""/>
                      </m:dPr>
                      <m:e>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(-1;-2;1)</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C=3G−A−B=(6−1−0;</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3−0+1;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0+1−2)=(5;4;−1)</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C=3G-A-B=(6-1-0;\ 3-0+1;\ 0+1-2)=(5;4;-1)</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2.32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=(2;1;−3)</m:t>
                    </m:r>
                  </m:oMath>
                </a14:m>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=(−2;−1;2)</m:t>
                    </m:r>
                  </m:oMath>
                </a14:m>
                <a:r>
                  <a:rPr sz="2600">
                    <a:solidFill>
                      <a:srgbClr val="1E293B"/>
                    </a:solidFill>
                    <a:latin typeface="Calibri"/>
                  </a:rPr>
                  <a:t>. Tích vô hướng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acc>
                      <m:accPr>
                        <m:chr m:val="⃗"/>
                      </m:accPr>
                      <m:e>
                        <m:r>
                          <a:rPr lang="vi-VN" sz="2600" b="0">
                            <a:solidFill>
                              <a:srgbClr val="1E293B"/>
                            </a:solidFill>
                            <a:latin typeface="Cambria Math" panose="02040503050406030204" pitchFamily="18" charset="0"/>
                          </a:rPr>
                          <m:t>b</m:t>
                        </m:r>
                      </m:e>
                    </m:acc>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\vec{a}=(2;1;-3)</a:t>
                </a:r>
                <a:r>
                  <a:rPr sz="2600">
                    <a:solidFill>
                      <a:srgbClr val="1E293B"/>
                    </a:solidFill>
                    <a:latin typeface="Calibri"/>
                  </a:rPr>
                  <a:t>, </a:t>
                </a:r>
                <a:r>
                  <a:rPr lang="vi-VN"/>
                  <a:t>\vec{b}=(-2;-1;2)</a:t>
                </a:r>
                <a:r>
                  <a:rPr sz="2600">
                    <a:solidFill>
                      <a:srgbClr val="1E293B"/>
                    </a:solidFill>
                    <a:latin typeface="Calibri"/>
                  </a:rPr>
                  <a:t>. Tích vô hướng </a:t>
                </a:r>
                <a:r>
                  <a:rPr lang="vi-VN"/>
                  <a:t>\vec{a}\cdot\vec{b}</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-2</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−11</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-11</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11</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11</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2</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−4−1−6=−11</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-4-1-6=-11</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2.33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=(2;1;−2)</m:t>
                    </m:r>
                  </m:oMath>
                </a14:m>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=(0;−1;1)</m:t>
                    </m:r>
                  </m:oMath>
                </a14:m>
                <a:r>
                  <a:rPr sz="2600">
                    <a:solidFill>
                      <a:srgbClr val="1E293B"/>
                    </a:solidFill>
                    <a:latin typeface="Calibri"/>
                  </a:rPr>
                  <a:t>. Góc giữa hai vectơ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b</m:t>
                        </m:r>
                      </m:e>
                    </m:acc>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\vec{a}=(2;1;-2)</a:t>
                </a:r>
                <a:r>
                  <a:rPr sz="2600">
                    <a:solidFill>
                      <a:srgbClr val="1E293B"/>
                    </a:solidFill>
                    <a:latin typeface="Calibri"/>
                  </a:rPr>
                  <a:t>, </a:t>
                </a:r>
                <a:r>
                  <a:rPr lang="vi-VN"/>
                  <a:t>\vec{b}=(0;-1;1)</a:t>
                </a:r>
                <a:r>
                  <a:rPr sz="2600">
                    <a:solidFill>
                      <a:srgbClr val="1E293B"/>
                    </a:solidFill>
                    <a:latin typeface="Calibri"/>
                  </a:rPr>
                  <a:t>. Góc giữa hai vectơ </a:t>
                </a:r>
                <a:r>
                  <a:rPr lang="vi-VN"/>
                  <a:t>\vec{a},\ \vec{b}</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60</m:t>
                        </m:r>
                      </m:e>
                      <m:sup>
                        <m:r>
                          <a:rPr lang="vi-VN" sz="2400" b="0">
                            <a:solidFill>
                              <a:srgbClr val="1E293B"/>
                            </a:solidFill>
                            <a:latin typeface="Cambria Math" panose="02040503050406030204" pitchFamily="18" charset="0"/>
                          </a:rPr>
                          <m:t>∘</m:t>
                        </m:r>
                      </m:sup>
                    </m:sSup>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60^\circ</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135</m:t>
                        </m:r>
                      </m:e>
                      <m:sup>
                        <m:r>
                          <a:rPr lang="vi-VN" sz="2400" b="0">
                            <a:solidFill>
                              <a:srgbClr val="1E293B"/>
                            </a:solidFill>
                            <a:latin typeface="Cambria Math" panose="02040503050406030204" pitchFamily="18" charset="0"/>
                          </a:rPr>
                          <m:t>∘</m:t>
                        </m:r>
                      </m:sup>
                    </m:sSup>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135^\circ</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120</m:t>
                        </m:r>
                      </m:e>
                      <m:sup>
                        <m:r>
                          <a:rPr lang="vi-VN" sz="2400" b="0">
                            <a:solidFill>
                              <a:srgbClr val="1E293B"/>
                            </a:solidFill>
                            <a:latin typeface="Cambria Math" panose="02040503050406030204" pitchFamily="18" charset="0"/>
                          </a:rPr>
                          <m:t>∘</m:t>
                        </m:r>
                      </m:sup>
                    </m:sSup>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120^\circ</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45</m:t>
                        </m:r>
                      </m:e>
                      <m:sup>
                        <m:r>
                          <a:rPr lang="vi-VN" sz="2400" b="0">
                            <a:solidFill>
                              <a:srgbClr val="1E293B"/>
                            </a:solidFill>
                            <a:latin typeface="Cambria Math" panose="02040503050406030204" pitchFamily="18" charset="0"/>
                          </a:rPr>
                          <m:t>∘</m:t>
                        </m:r>
                      </m:sup>
                    </m:sSup>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45^\circ</a:t>
                </a:r>
              </a:p>
            </p:txBody>
          </p:sp>
        </mc:Fallback>
      </mc:AlternateContent>
      <p:sp>
        <p:nvSpPr>
          <p:cNvPr id="16" name="s1_nen"/>
          <p:cNvSpPr/>
          <p:nvPr/>
        </p:nvSpPr>
        <p:spPr>
          <a:xfrm>
            <a:off x="548640" y="4617720"/>
            <a:ext cx="11064240" cy="90220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82905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3</m:t>
                        </m:r>
                        <m:rad>
                          <m:radPr>
                            <m:degHide m:val="on"/>
                          </m:radPr>
                          <m:deg/>
                          <m:e>
                            <m:r>
                              <a:rPr lang="vi-VN" sz="2200" b="0">
                                <a:solidFill>
                                  <a:srgbClr val="1E293B"/>
                                </a:solidFill>
                                <a:latin typeface="Cambria Math" panose="02040503050406030204" pitchFamily="18" charset="0"/>
                              </a:rPr>
                              <m:t>2</m:t>
                            </m:r>
                          </m:e>
                        </m:rad>
                      </m:den>
                    </m:f>
                    <m:r>
                      <a:rPr lang="vi-VN" sz="2200" b="0">
                        <a:solidFill>
                          <a:srgbClr val="1E293B"/>
                        </a:solidFill>
                        <a:latin typeface="Cambria Math" panose="02040503050406030204" pitchFamily="18" charset="0"/>
                      </a:rPr>
                      <m:t>=−</m:t>
                    </m:r>
                    <m:f>
                      <m:fPr>
                        <m:type m:val="bar"/>
                      </m:fPr>
                      <m:num>
                        <m:rad>
                          <m:radPr>
                            <m:degHide m:val="on"/>
                          </m:radPr>
                          <m:deg/>
                          <m:e>
                            <m:r>
                              <a:rPr lang="vi-VN" sz="2200" b="0">
                                <a:solidFill>
                                  <a:srgbClr val="1E293B"/>
                                </a:solidFill>
                                <a:latin typeface="Cambria Math" panose="02040503050406030204" pitchFamily="18" charset="0"/>
                              </a:rPr>
                              <m:t>2</m:t>
                            </m:r>
                          </m:e>
                        </m:rad>
                      </m:num>
                      <m:den>
                        <m:r>
                          <a:rPr lang="vi-VN" sz="2200" b="0">
                            <a:solidFill>
                              <a:srgbClr val="1E293B"/>
                            </a:solidFill>
                            <a:latin typeface="Cambria Math" panose="02040503050406030204" pitchFamily="18" charset="0"/>
                          </a:rPr>
                          <m:t>2</m:t>
                        </m:r>
                      </m:den>
                    </m:f>
                  </m:oMath>
                </a14:m>
                <a:r>
                  <a:rPr sz="2200">
                    <a:solidFill>
                      <a:srgbClr val="1E293B"/>
                    </a:solidFill>
                    <a:latin typeface="Calibri"/>
                  </a:rPr>
                  <a:t> ⇒ </a:t>
                </a:r>
                <a14:m>
                  <m:oMath xmlns:m="http://schemas.openxmlformats.org/officeDocument/2006/math">
                    <m:sSup>
                      <m:e>
                        <m:r>
                          <a:rPr lang="vi-VN" sz="2200" b="0">
                            <a:solidFill>
                              <a:srgbClr val="1E293B"/>
                            </a:solidFill>
                            <a:latin typeface="Cambria Math" panose="02040503050406030204" pitchFamily="18" charset="0"/>
                          </a:rPr>
                          <m:t>135</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7" name="TextBox 16"/>
              <p:cNvSpPr txBox="1"/>
              <p:nvPr/>
            </p:nvSpPr>
            <p:spPr>
              <a:xfrm>
                <a:off x="713232" y="4654296"/>
                <a:ext cx="10735056" cy="82905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\cos=\frac{-3}{3\sqrt{2}}=-\frac{\sqrt{2}}{2}</a:t>
                </a:r>
                <a:r>
                  <a:rPr sz="2200">
                    <a:solidFill>
                      <a:srgbClr val="1E293B"/>
                    </a:solidFill>
                    <a:latin typeface="Calibri"/>
                  </a:rPr>
                  <a:t> ⇒ </a:t>
                </a:r>
                <a:r>
                  <a:rPr lang="vi-VN"/>
                  <a:t>135^\circ</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2.34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=(−2;2;2)</m:t>
                    </m:r>
                  </m:oMath>
                </a14:m>
                <a:r>
                  <a:rPr sz="2600">
                    <a:solidFill>
                      <a:srgbClr val="1E293B"/>
                    </a:solidFill>
                    <a:latin typeface="Calibri"/>
                  </a:rPr>
                  <a:t>, </a:t>
                </a:r>
                <a14:m>
                  <m:oMath xmlns:m="http://schemas.openxmlformats.org/officeDocument/2006/math">
                    <m:acc>
                      <m:accPr>
                        <m:chr m:val="⃗"/>
                      </m:accPr>
                      <m:e>
                        <m:r>
                          <a:rPr lang="vi-VN" sz="2600" b="0">
                            <a:solidFill>
                              <a:srgbClr val="1E293B"/>
                            </a:solidFill>
                            <a:latin typeface="Cambria Math" panose="02040503050406030204" pitchFamily="18" charset="0"/>
                          </a:rPr>
                          <m:t>b</m:t>
                        </m:r>
                      </m:e>
                    </m:acc>
                    <m:r>
                      <a:rPr lang="vi-VN" sz="2600" b="0">
                        <a:solidFill>
                          <a:srgbClr val="1E293B"/>
                        </a:solidFill>
                        <a:latin typeface="Cambria Math" panose="02040503050406030204" pitchFamily="18" charset="0"/>
                      </a:rPr>
                      <m:t>=(1;−1;−2)</m:t>
                    </m:r>
                  </m:oMath>
                </a14:m>
                <a:r>
                  <a:rPr sz="2600">
                    <a:solidFill>
                      <a:srgbClr val="1E293B"/>
                    </a:solidFill>
                    <a:latin typeface="Calibri"/>
                  </a:rPr>
                  <a:t>. Côsin của góc giữa hai vectơ </a:t>
                </a:r>
                <a14:m>
                  <m:oMath xmlns:m="http://schemas.openxmlformats.org/officeDocument/2006/math">
                    <m:acc>
                      <m:accPr>
                        <m:chr m:val="⃗"/>
                      </m:accPr>
                      <m:e>
                        <m:r>
                          <a:rPr lang="vi-VN" sz="2600" b="0">
                            <a:solidFill>
                              <a:srgbClr val="1E293B"/>
                            </a:solidFill>
                            <a:latin typeface="Cambria Math" panose="02040503050406030204" pitchFamily="18" charset="0"/>
                          </a:rPr>
                          <m:t>a</m:t>
                        </m:r>
                      </m:e>
                    </m:acc>
                    <m:r>
                      <a:rPr lang="vi-VN" sz="2600" b="0">
                        <a:solidFill>
                          <a:srgbClr val="1E293B"/>
                        </a:solidFill>
                        <a:latin typeface="Cambria Math" panose="02040503050406030204" pitchFamily="18" charset="0"/>
                      </a:rPr>
                      <m:t>,</m:t>
                    </m:r>
                    <m:r>
                      <m:rPr>
                        <m:sty m:val="p"/>
                      </m:rPr>
                      <a:rPr lang="vi-VN" sz="2600" b="0">
                        <a:solidFill>
                          <a:srgbClr val="1E293B"/>
                        </a:solidFill>
                        <a:latin typeface="Cambria Math" panose="02040503050406030204" pitchFamily="18" charset="0"/>
                      </a:rPr>
                      <m:t> </m:t>
                    </m:r>
                    <m:acc>
                      <m:accPr>
                        <m:chr m:val="⃗"/>
                      </m:accPr>
                      <m:e>
                        <m:r>
                          <a:rPr lang="vi-VN" sz="2600" b="0">
                            <a:solidFill>
                              <a:srgbClr val="1E293B"/>
                            </a:solidFill>
                            <a:latin typeface="Cambria Math" panose="02040503050406030204" pitchFamily="18" charset="0"/>
                          </a:rPr>
                          <m:t>b</m:t>
                        </m:r>
                      </m:e>
                    </m:acc>
                  </m:oMath>
                </a14:m>
                <a:r>
                  <a:rPr sz="2600">
                    <a:solidFill>
                      <a:srgbClr val="1E293B"/>
                    </a:solidFill>
                    <a:latin typeface="Calibri"/>
                  </a:rPr>
                  <a:t> bằng</a:t>
                </a:r>
              </a:p>
            </p:txBody>
          </p:sp>
        </mc:Choice>
        <mc:Fallback>
          <p:sp>
            <p:nvSpPr>
              <p:cNvPr id="7" name="TextBox 6"/>
              <p:cNvSpPr txBox="1"/>
              <p:nvPr/>
            </p:nvSpPr>
            <p:spPr>
              <a:xfrm>
                <a:off x="548640" y="137160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\vec{a}=(-2;2;2)</a:t>
                </a:r>
                <a:r>
                  <a:rPr sz="2600">
                    <a:solidFill>
                      <a:srgbClr val="1E293B"/>
                    </a:solidFill>
                    <a:latin typeface="Calibri"/>
                  </a:rPr>
                  <a:t>, </a:t>
                </a:r>
                <a:r>
                  <a:rPr lang="vi-VN"/>
                  <a:t>\vec{b}=(1;-1;-2)</a:t>
                </a:r>
                <a:r>
                  <a:rPr sz="2600">
                    <a:solidFill>
                      <a:srgbClr val="1E293B"/>
                    </a:solidFill>
                    <a:latin typeface="Calibri"/>
                  </a:rPr>
                  <a:t>. Côsin của góc giữa hai vectơ </a:t>
                </a:r>
                <a:r>
                  <a:rPr lang="vi-VN"/>
                  <a:t>\vec{a},\ \vec{b}</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−2</m:t>
                        </m:r>
                        <m:rad>
                          <m:radPr>
                            <m:degHide m:val="on"/>
                          </m:radPr>
                          <m:deg/>
                          <m:e>
                            <m:r>
                              <a:rPr lang="vi-VN" sz="2400" b="0">
                                <a:solidFill>
                                  <a:srgbClr val="1E293B"/>
                                </a:solidFill>
                                <a:latin typeface="Cambria Math" panose="02040503050406030204" pitchFamily="18" charset="0"/>
                              </a:rPr>
                              <m:t>2</m:t>
                            </m:r>
                          </m:e>
                        </m:rad>
                      </m:num>
                      <m:den>
                        <m:r>
                          <a:rPr lang="vi-VN" sz="2400" b="0">
                            <a:solidFill>
                              <a:srgbClr val="1E293B"/>
                            </a:solidFill>
                            <a:latin typeface="Cambria Math" panose="02040503050406030204" pitchFamily="18" charset="0"/>
                          </a:rPr>
                          <m:t>3</m:t>
                        </m:r>
                      </m:den>
                    </m:f>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\frac{-2\sqrt{2}}{3}</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2</m:t>
                        </m:r>
                        <m:rad>
                          <m:radPr>
                            <m:degHide m:val="on"/>
                          </m:radPr>
                          <m:deg/>
                          <m:e>
                            <m:r>
                              <a:rPr lang="vi-VN" sz="2400" b="0">
                                <a:solidFill>
                                  <a:srgbClr val="1E293B"/>
                                </a:solidFill>
                                <a:latin typeface="Cambria Math" panose="02040503050406030204" pitchFamily="18" charset="0"/>
                              </a:rPr>
                              <m:t>2</m:t>
                            </m:r>
                          </m:e>
                        </m:rad>
                      </m:num>
                      <m:den>
                        <m:r>
                          <a:rPr lang="vi-VN" sz="2400" b="0">
                            <a:solidFill>
                              <a:srgbClr val="1E293B"/>
                            </a:solidFill>
                            <a:latin typeface="Cambria Math" panose="02040503050406030204" pitchFamily="18" charset="0"/>
                          </a:rPr>
                          <m:t>3</m:t>
                        </m:r>
                      </m:den>
                    </m:f>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\frac{2\sqrt{2}}{3}</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f>
                      <m:fPr>
                        <m:type m:val="bar"/>
                      </m:fPr>
                      <m:num>
                        <m:rad>
                          <m:radPr>
                            <m:degHide m:val="on"/>
                          </m:radPr>
                          <m:deg/>
                          <m:e>
                            <m:r>
                              <a:rPr lang="vi-VN" sz="2400" b="0">
                                <a:solidFill>
                                  <a:srgbClr val="1E293B"/>
                                </a:solidFill>
                                <a:latin typeface="Cambria Math" panose="02040503050406030204" pitchFamily="18" charset="0"/>
                              </a:rPr>
                              <m:t>2</m:t>
                            </m:r>
                          </m:e>
                        </m:rad>
                      </m:num>
                      <m:den>
                        <m:r>
                          <a:rPr lang="vi-VN" sz="2400" b="0">
                            <a:solidFill>
                              <a:srgbClr val="1E293B"/>
                            </a:solidFill>
                            <a:latin typeface="Cambria Math" panose="02040503050406030204" pitchFamily="18" charset="0"/>
                          </a:rPr>
                          <m:t>3</m:t>
                        </m:r>
                      </m:den>
                    </m:f>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\frac{\sqrt{2}}{3}</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m:t>
                        </m:r>
                        <m:rad>
                          <m:radPr>
                            <m:degHide m:val="on"/>
                          </m:radPr>
                          <m:deg/>
                          <m:e>
                            <m:r>
                              <a:rPr lang="vi-VN" sz="2400" b="0">
                                <a:solidFill>
                                  <a:srgbClr val="1E293B"/>
                                </a:solidFill>
                                <a:latin typeface="Cambria Math" panose="02040503050406030204" pitchFamily="18" charset="0"/>
                              </a:rPr>
                              <m:t>2</m:t>
                            </m:r>
                          </m:e>
                        </m:rad>
                      </m:num>
                      <m:den>
                        <m:r>
                          <a:rPr lang="vi-VN" sz="2400" b="0">
                            <a:solidFill>
                              <a:srgbClr val="1E293B"/>
                            </a:solidFill>
                            <a:latin typeface="Cambria Math" panose="02040503050406030204" pitchFamily="18" charset="0"/>
                          </a:rPr>
                          <m:t>3</m:t>
                        </m:r>
                      </m:den>
                    </m:f>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\frac{-\sqrt{2}}{3}</a:t>
                </a:r>
              </a:p>
            </p:txBody>
          </p:sp>
        </mc:Fallback>
      </mc:AlternateContent>
      <p:sp>
        <p:nvSpPr>
          <p:cNvPr id="16" name="s1_nen"/>
          <p:cNvSpPr/>
          <p:nvPr/>
        </p:nvSpPr>
        <p:spPr>
          <a:xfrm>
            <a:off x="548640" y="4617720"/>
            <a:ext cx="11064240" cy="10530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9799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cos</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−2−2−4</m:t>
                        </m:r>
                      </m:num>
                      <m:den>
                        <m:r>
                          <a:rPr lang="vi-VN" sz="2200" b="0">
                            <a:solidFill>
                              <a:srgbClr val="1E293B"/>
                            </a:solidFill>
                            <a:latin typeface="Cambria Math" panose="02040503050406030204" pitchFamily="18" charset="0"/>
                          </a:rPr>
                          <m:t>2</m:t>
                        </m:r>
                        <m:rad>
                          <m:radPr>
                            <m:degHide m:val="on"/>
                          </m:radPr>
                          <m:deg/>
                          <m:e>
                            <m:r>
                              <a:rPr lang="vi-VN" sz="2200" b="0">
                                <a:solidFill>
                                  <a:srgbClr val="1E293B"/>
                                </a:solidFill>
                                <a:latin typeface="Cambria Math" panose="02040503050406030204" pitchFamily="18" charset="0"/>
                              </a:rPr>
                              <m:t>3</m:t>
                            </m:r>
                          </m:e>
                        </m:rad>
                        <m:r>
                          <a:rPr lang="vi-VN" sz="2200" b="0">
                            <a:solidFill>
                              <a:srgbClr val="1E293B"/>
                            </a:solidFill>
                            <a:latin typeface="Cambria Math" panose="02040503050406030204" pitchFamily="18" charset="0"/>
                          </a:rPr>
                          <m:t>·</m:t>
                        </m:r>
                        <m:rad>
                          <m:radPr>
                            <m:degHide m:val="on"/>
                          </m:radPr>
                          <m:deg/>
                          <m:e>
                            <m:r>
                              <a:rPr lang="vi-VN" sz="2200" b="0">
                                <a:solidFill>
                                  <a:srgbClr val="1E293B"/>
                                </a:solidFill>
                                <a:latin typeface="Cambria Math" panose="02040503050406030204" pitchFamily="18" charset="0"/>
                              </a:rPr>
                              <m:t>6</m:t>
                            </m:r>
                          </m:e>
                        </m:rad>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−8</m:t>
                        </m:r>
                      </m:num>
                      <m:den>
                        <m:r>
                          <a:rPr lang="vi-VN" sz="2200" b="0">
                            <a:solidFill>
                              <a:srgbClr val="1E293B"/>
                            </a:solidFill>
                            <a:latin typeface="Cambria Math" panose="02040503050406030204" pitchFamily="18" charset="0"/>
                          </a:rPr>
                          <m:t>6</m:t>
                        </m:r>
                        <m:rad>
                          <m:radPr>
                            <m:degHide m:val="on"/>
                          </m:radPr>
                          <m:deg/>
                          <m:e>
                            <m:r>
                              <a:rPr lang="vi-VN" sz="2200" b="0">
                                <a:solidFill>
                                  <a:srgbClr val="1E293B"/>
                                </a:solidFill>
                                <a:latin typeface="Cambria Math" panose="02040503050406030204" pitchFamily="18" charset="0"/>
                              </a:rPr>
                              <m:t>2</m:t>
                            </m:r>
                          </m:e>
                        </m:rad>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−2</m:t>
                        </m:r>
                        <m:rad>
                          <m:radPr>
                            <m:degHide m:val="on"/>
                          </m:radPr>
                          <m:deg/>
                          <m:e>
                            <m:r>
                              <a:rPr lang="vi-VN" sz="2200" b="0">
                                <a:solidFill>
                                  <a:srgbClr val="1E293B"/>
                                </a:solidFill>
                                <a:latin typeface="Cambria Math" panose="02040503050406030204" pitchFamily="18" charset="0"/>
                              </a:rPr>
                              <m:t>2</m:t>
                            </m:r>
                          </m:e>
                        </m:rad>
                      </m:num>
                      <m:den>
                        <m:r>
                          <a:rPr lang="vi-VN" sz="2200" b="0">
                            <a:solidFill>
                              <a:srgbClr val="1E293B"/>
                            </a:solidFill>
                            <a:latin typeface="Cambria Math" panose="02040503050406030204" pitchFamily="18" charset="0"/>
                          </a:rPr>
                          <m:t>3</m:t>
                        </m:r>
                      </m:den>
                    </m:f>
                  </m:oMath>
                </a14:m>
                <a:r>
                  <a:rPr sz="2200">
                    <a:solidFill>
                      <a:srgbClr val="1E293B"/>
                    </a:solidFill>
                    <a:latin typeface="Calibri"/>
                  </a:rPr>
                  <a:t>.</a:t>
                </a:r>
              </a:p>
            </p:txBody>
          </p:sp>
        </mc:Choice>
        <mc:Fallback>
          <p:sp>
            <p:nvSpPr>
              <p:cNvPr id="17" name="TextBox 16"/>
              <p:cNvSpPr txBox="1"/>
              <p:nvPr/>
            </p:nvSpPr>
            <p:spPr>
              <a:xfrm>
                <a:off x="713232" y="4654296"/>
                <a:ext cx="10735056" cy="9799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\cos=\frac{-2-2-4}{2\sqrt{3}\cdot\sqrt{6}}=\frac{-8}{6\sqrt{2}}=\frac{-2\sqrt{2}}{3}</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TỰ LUẬN 2.35 – 2.36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2.35.</a:t>
                </a:r>
                <a:r>
                  <a:rPr sz="2000">
                    <a:solidFill>
                      <a:srgbClr val="1E293B"/>
                    </a:solidFill>
                    <a:latin typeface="Calibri"/>
                  </a:rPr>
                  <a:t> Cho hình chóp </a:t>
                </a:r>
                <a14:m>
                  <m:oMath xmlns:m="http://schemas.openxmlformats.org/officeDocument/2006/math">
                    <m:r>
                      <a:rPr lang="vi-VN" sz="2000" b="0">
                        <a:solidFill>
                          <a:srgbClr val="1E293B"/>
                        </a:solidFill>
                        <a:latin typeface="Cambria Math" panose="02040503050406030204" pitchFamily="18" charset="0"/>
                      </a:rPr>
                      <m:t>S.ABCD</m:t>
                    </m:r>
                  </m:oMath>
                </a14:m>
                <a:r>
                  <a:rPr sz="2000">
                    <a:solidFill>
                      <a:srgbClr val="1E293B"/>
                    </a:solidFill>
                    <a:latin typeface="Calibri"/>
                  </a:rPr>
                  <a:t> có đáy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là hình chữ nhật. Chứng minh rằng </a:t>
                </a:r>
                <a14:m>
                  <m:oMath xmlns:m="http://schemas.openxmlformats.org/officeDocument/2006/math">
                    <m:acc>
                      <m:accPr>
                        <m:chr m:val="⃗"/>
                      </m:accPr>
                      <m:e>
                        <m:r>
                          <a:rPr lang="vi-VN" sz="2000" b="0">
                            <a:solidFill>
                              <a:srgbClr val="1E293B"/>
                            </a:solidFill>
                            <a:latin typeface="Cambria Math" panose="02040503050406030204" pitchFamily="18" charset="0"/>
                          </a:rPr>
                          <m:t>SA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SC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SB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SD</m:t>
                        </m:r>
                      </m:e>
                    </m:acc>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2.35.</a:t>
                </a:r>
                <a:r>
                  <a:rPr sz="2000">
                    <a:solidFill>
                      <a:srgbClr val="1E293B"/>
                    </a:solidFill>
                    <a:latin typeface="Calibri"/>
                  </a:rPr>
                  <a:t> Cho hình chóp </a:t>
                </a:r>
                <a:r>
                  <a:rPr lang="vi-VN"/>
                  <a:t>S.ABCD</a:t>
                </a:r>
                <a:r>
                  <a:rPr sz="2000">
                    <a:solidFill>
                      <a:srgbClr val="1E293B"/>
                    </a:solidFill>
                    <a:latin typeface="Calibri"/>
                  </a:rPr>
                  <a:t> có đáy </a:t>
                </a:r>
                <a:r>
                  <a:rPr lang="vi-VN"/>
                  <a:t>ABCD</a:t>
                </a:r>
                <a:r>
                  <a:rPr sz="2000">
                    <a:solidFill>
                      <a:srgbClr val="1E293B"/>
                    </a:solidFill>
                    <a:latin typeface="Calibri"/>
                  </a:rPr>
                  <a:t> là hình chữ nhật. Chứng minh rằng </a:t>
                </a:r>
                <a:r>
                  <a:rPr lang="vi-VN"/>
                  <a:t>\overrightarrow{SA}</a:t>
                </a:r>
                <a:r>
                  <a:rPr sz="2000">
                    <a:solidFill>
                      <a:srgbClr val="1E293B"/>
                    </a:solidFill>
                    <a:latin typeface="Calibri"/>
                  </a:rPr>
                  <a:t> + </a:t>
                </a:r>
                <a:r>
                  <a:rPr lang="vi-VN"/>
                  <a:t>\overrightarrow{SC}</a:t>
                </a:r>
                <a:r>
                  <a:rPr sz="2000">
                    <a:solidFill>
                      <a:srgbClr val="1E293B"/>
                    </a:solidFill>
                    <a:latin typeface="Calibri"/>
                  </a:rPr>
                  <a:t> = </a:t>
                </a:r>
                <a:r>
                  <a:rPr lang="vi-VN"/>
                  <a:t>\overrightarrow{SB}</a:t>
                </a:r>
                <a:r>
                  <a:rPr sz="2000">
                    <a:solidFill>
                      <a:srgbClr val="1E293B"/>
                    </a:solidFill>
                    <a:latin typeface="Calibri"/>
                  </a:rPr>
                  <a:t> + </a:t>
                </a:r>
                <a:r>
                  <a:rPr lang="vi-VN"/>
                  <a:t>\overrightarrow{SD}</a:t>
                </a:r>
                <a:r>
                  <a:rPr sz="2000">
                    <a:solidFill>
                      <a:srgbClr val="1E293B"/>
                    </a:solidFill>
                    <a:latin typeface="Calibri"/>
                  </a:rPr>
                  <a:t>.</a:t>
                </a:r>
              </a:p>
            </p:txBody>
          </p:sp>
        </mc:Fallback>
      </mc:AlternateContent>
      <p:sp>
        <p:nvSpPr>
          <p:cNvPr id="8" name="s1_nen"/>
          <p:cNvSpPr/>
          <p:nvPr/>
        </p:nvSpPr>
        <p:spPr>
          <a:xfrm>
            <a:off x="548640" y="2218944"/>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2.35.</a:t>
                </a:r>
                <a:r>
                  <a:rPr sz="2000">
                    <a:solidFill>
                      <a:srgbClr val="1E293B"/>
                    </a:solidFill>
                    <a:latin typeface="Calibri"/>
                  </a:rPr>
                  <a:t> Gọi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là giao điểm hai đường chéo (trung điểm </a:t>
                </a:r>
                <a14:m>
                  <m:oMath xmlns:m="http://schemas.openxmlformats.org/officeDocument/2006/math">
                    <m:r>
                      <a:rPr lang="vi-VN" sz="2000" b="0">
                        <a:solidFill>
                          <a:srgbClr val="1E293B"/>
                        </a:solidFill>
                        <a:latin typeface="Cambria Math" panose="02040503050406030204" pitchFamily="18" charset="0"/>
                      </a:rPr>
                      <m:t>AC</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BD</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SA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SC</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SO</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SB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SD</m:t>
                        </m:r>
                      </m:e>
                    </m:acc>
                  </m:oMath>
                </a14:m>
                <a:r>
                  <a:rPr sz="2000">
                    <a:solidFill>
                      <a:srgbClr val="1E293B"/>
                    </a:solidFill>
                    <a:latin typeface="Calibri"/>
                  </a:rPr>
                  <a:t>.</a:t>
                </a:r>
              </a:p>
            </p:txBody>
          </p:sp>
        </mc:Choice>
        <mc:Fallback>
          <p:sp>
            <p:nvSpPr>
              <p:cNvPr id="9" name="TextBox 8"/>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2.35.</a:t>
                </a:r>
                <a:r>
                  <a:rPr sz="2000">
                    <a:solidFill>
                      <a:srgbClr val="1E293B"/>
                    </a:solidFill>
                    <a:latin typeface="Calibri"/>
                  </a:rPr>
                  <a:t> Gọi </a:t>
                </a:r>
                <a:r>
                  <a:rPr lang="vi-VN"/>
                  <a:t>O</a:t>
                </a:r>
                <a:r>
                  <a:rPr sz="2000">
                    <a:solidFill>
                      <a:srgbClr val="1E293B"/>
                    </a:solidFill>
                    <a:latin typeface="Calibri"/>
                  </a:rPr>
                  <a:t> là giao điểm hai đường chéo (trung điểm </a:t>
                </a:r>
                <a:r>
                  <a:rPr lang="vi-VN"/>
                  <a:t>AC</a:t>
                </a:r>
                <a:r>
                  <a:rPr sz="2000">
                    <a:solidFill>
                      <a:srgbClr val="1E293B"/>
                    </a:solidFill>
                    <a:latin typeface="Calibri"/>
                  </a:rPr>
                  <a:t> và </a:t>
                </a:r>
                <a:r>
                  <a:rPr lang="vi-VN"/>
                  <a:t>BD</a:t>
                </a:r>
                <a:r>
                  <a:rPr sz="2000">
                    <a:solidFill>
                      <a:srgbClr val="1E293B"/>
                    </a:solidFill>
                    <a:latin typeface="Calibri"/>
                  </a:rPr>
                  <a:t>): </a:t>
                </a:r>
                <a:r>
                  <a:rPr lang="vi-VN"/>
                  <a:t>\overrightarrow{SA}</a:t>
                </a:r>
                <a:r>
                  <a:rPr sz="2000">
                    <a:solidFill>
                      <a:srgbClr val="1E293B"/>
                    </a:solidFill>
                    <a:latin typeface="Calibri"/>
                  </a:rPr>
                  <a:t> + </a:t>
                </a:r>
                <a:r>
                  <a:rPr lang="vi-VN"/>
                  <a:t>\overrightarrow{SC}</a:t>
                </a:r>
                <a:r>
                  <a:rPr sz="2000">
                    <a:solidFill>
                      <a:srgbClr val="1E293B"/>
                    </a:solidFill>
                    <a:latin typeface="Calibri"/>
                  </a:rPr>
                  <a:t> = </a:t>
                </a:r>
                <a:r>
                  <a:rPr lang="vi-VN"/>
                  <a:t>2</a:t>
                </a:r>
                <a:r>
                  <a:rPr sz="2000">
                    <a:solidFill>
                      <a:srgbClr val="1E293B"/>
                    </a:solidFill>
                    <a:latin typeface="Calibri"/>
                  </a:rPr>
                  <a:t> </a:t>
                </a:r>
                <a:r>
                  <a:rPr lang="vi-VN"/>
                  <a:t>\overrightarrow{SO}</a:t>
                </a:r>
                <a:r>
                  <a:rPr sz="2000">
                    <a:solidFill>
                      <a:srgbClr val="1E293B"/>
                    </a:solidFill>
                    <a:latin typeface="Calibri"/>
                  </a:rPr>
                  <a:t> = </a:t>
                </a:r>
                <a:r>
                  <a:rPr lang="vi-VN"/>
                  <a:t>\overrightarrow{SB}</a:t>
                </a:r>
                <a:r>
                  <a:rPr sz="2000">
                    <a:solidFill>
                      <a:srgbClr val="1E293B"/>
                    </a:solidFill>
                    <a:latin typeface="Calibri"/>
                  </a:rPr>
                  <a:t> + </a:t>
                </a:r>
                <a:r>
                  <a:rPr lang="vi-VN"/>
                  <a:t>\overrightarrow{SD}</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57728"/>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2.36.</a:t>
                </a:r>
                <a:r>
                  <a:rPr sz="2000">
                    <a:solidFill>
                      <a:srgbClr val="1E293B"/>
                    </a:solidFill>
                    <a:latin typeface="Calibri"/>
                  </a:rPr>
                  <a:t> Cho tứ diện </a:t>
                </a:r>
                <a14:m>
                  <m:oMath xmlns:m="http://schemas.openxmlformats.org/officeDocument/2006/math">
                    <m:r>
                      <a:rPr lang="vi-VN" sz="2000" b="0">
                        <a:solidFill>
                          <a:srgbClr val="1E293B"/>
                        </a:solidFill>
                        <a:latin typeface="Cambria Math" panose="02040503050406030204" pitchFamily="18" charset="0"/>
                      </a:rPr>
                      <m:t>ABCD</m:t>
                    </m:r>
                  </m:oMath>
                </a14:m>
                <a:r>
                  <a:rPr sz="2000">
                    <a:solidFill>
                      <a:srgbClr val="1E293B"/>
                    </a:solidFill>
                    <a:latin typeface="Calibri"/>
                  </a:rPr>
                  <a:t>, lấy hai điểm </a:t>
                </a:r>
                <a14:m>
                  <m:oMath xmlns:m="http://schemas.openxmlformats.org/officeDocument/2006/math">
                    <m:r>
                      <a:rPr lang="vi-VN" sz="2000" b="0">
                        <a:solidFill>
                          <a:srgbClr val="1E293B"/>
                        </a:solidFill>
                        <a:latin typeface="Cambria Math" panose="02040503050406030204" pitchFamily="18" charset="0"/>
                      </a:rPr>
                      <m:t>M,</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N</m:t>
                    </m:r>
                  </m:oMath>
                </a14:m>
                <a:r>
                  <a:rPr sz="2000">
                    <a:solidFill>
                      <a:srgbClr val="1E293B"/>
                    </a:solidFill>
                    <a:latin typeface="Calibri"/>
                  </a:rPr>
                  <a:t> thoả mãn </a:t>
                </a:r>
                <a14:m>
                  <m:oMath xmlns:m="http://schemas.openxmlformats.org/officeDocument/2006/math">
                    <m:acc>
                      <m:accPr>
                        <m:chr m:val="⃗"/>
                      </m:accPr>
                      <m:e>
                        <m:r>
                          <a:rPr lang="vi-VN" sz="2000" b="0">
                            <a:solidFill>
                              <a:srgbClr val="1E293B"/>
                            </a:solidFill>
                            <a:latin typeface="Cambria Math" panose="02040503050406030204" pitchFamily="18" charset="0"/>
                          </a:rPr>
                          <m:t>MB</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MA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NC</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DN</m:t>
                        </m:r>
                      </m:e>
                    </m:acc>
                  </m:oMath>
                </a14:m>
                <a:r>
                  <a:rPr sz="2000">
                    <a:solidFill>
                      <a:srgbClr val="1E293B"/>
                    </a:solidFill>
                    <a:latin typeface="Calibri"/>
                  </a:rPr>
                  <a:t>. Hãy biểu diễn </a:t>
                </a:r>
                <a14:m>
                  <m:oMath xmlns:m="http://schemas.openxmlformats.org/officeDocument/2006/math">
                    <m:acc>
                      <m:accPr>
                        <m:chr m:val="⃗"/>
                      </m:accPr>
                      <m:e>
                        <m:r>
                          <a:rPr lang="vi-VN" sz="2000" b="0">
                            <a:solidFill>
                              <a:srgbClr val="1E293B"/>
                            </a:solidFill>
                            <a:latin typeface="Cambria Math" panose="02040503050406030204" pitchFamily="18" charset="0"/>
                          </a:rPr>
                          <m:t>MN</m:t>
                        </m:r>
                      </m:e>
                    </m:acc>
                  </m:oMath>
                </a14:m>
                <a:r>
                  <a:rPr sz="2000">
                    <a:solidFill>
                      <a:srgbClr val="1E293B"/>
                    </a:solidFill>
                    <a:latin typeface="Calibri"/>
                  </a:rPr>
                  <a:t> theo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a:t>
                </a:r>
              </a:p>
            </p:txBody>
          </p:sp>
        </mc:Choice>
        <mc:Fallback>
          <p:sp>
            <p:nvSpPr>
              <p:cNvPr id="10" name="TextBox 9"/>
              <p:cNvSpPr txBox="1"/>
              <p:nvPr/>
            </p:nvSpPr>
            <p:spPr>
              <a:xfrm>
                <a:off x="548640" y="3157728"/>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2.36.</a:t>
                </a:r>
                <a:r>
                  <a:rPr sz="2000">
                    <a:solidFill>
                      <a:srgbClr val="1E293B"/>
                    </a:solidFill>
                    <a:latin typeface="Calibri"/>
                  </a:rPr>
                  <a:t> Cho tứ diện </a:t>
                </a:r>
                <a:r>
                  <a:rPr lang="vi-VN"/>
                  <a:t>ABCD</a:t>
                </a:r>
                <a:r>
                  <a:rPr sz="2000">
                    <a:solidFill>
                      <a:srgbClr val="1E293B"/>
                    </a:solidFill>
                    <a:latin typeface="Calibri"/>
                  </a:rPr>
                  <a:t>, lấy hai điểm </a:t>
                </a:r>
                <a:r>
                  <a:rPr lang="vi-VN"/>
                  <a:t>M,\ N</a:t>
                </a:r>
                <a:r>
                  <a:rPr sz="2000">
                    <a:solidFill>
                      <a:srgbClr val="1E293B"/>
                    </a:solidFill>
                    <a:latin typeface="Calibri"/>
                  </a:rPr>
                  <a:t> thoả mãn </a:t>
                </a:r>
                <a:r>
                  <a:rPr lang="vi-VN"/>
                  <a:t>\overrightarrow{MB}</a:t>
                </a:r>
                <a:r>
                  <a:rPr sz="2000">
                    <a:solidFill>
                      <a:srgbClr val="1E293B"/>
                    </a:solidFill>
                    <a:latin typeface="Calibri"/>
                  </a:rPr>
                  <a:t> + </a:t>
                </a:r>
                <a:r>
                  <a:rPr lang="vi-VN"/>
                  <a:t>2</a:t>
                </a:r>
                <a:r>
                  <a:rPr sz="2000">
                    <a:solidFill>
                      <a:srgbClr val="1E293B"/>
                    </a:solidFill>
                    <a:latin typeface="Calibri"/>
                  </a:rPr>
                  <a:t> </a:t>
                </a:r>
                <a:r>
                  <a:rPr lang="vi-VN"/>
                  <a:t>\overrightarrow{MA}</a:t>
                </a:r>
                <a:r>
                  <a:rPr sz="2000">
                    <a:solidFill>
                      <a:srgbClr val="1E293B"/>
                    </a:solidFill>
                    <a:latin typeface="Calibri"/>
                  </a:rPr>
                  <a:t> = </a:t>
                </a:r>
                <a:r>
                  <a:rPr lang="vi-VN"/>
                  <a:t>\vec{0}</a:t>
                </a:r>
                <a:r>
                  <a:rPr sz="2000">
                    <a:solidFill>
                      <a:srgbClr val="1E293B"/>
                    </a:solidFill>
                    <a:latin typeface="Calibri"/>
                  </a:rPr>
                  <a:t> và </a:t>
                </a:r>
                <a:r>
                  <a:rPr lang="vi-VN"/>
                  <a:t>\overrightarrow{NC}</a:t>
                </a:r>
                <a:r>
                  <a:rPr sz="2000">
                    <a:solidFill>
                      <a:srgbClr val="1E293B"/>
                    </a:solidFill>
                    <a:latin typeface="Calibri"/>
                  </a:rPr>
                  <a:t> = </a:t>
                </a:r>
                <a:r>
                  <a:rPr lang="vi-VN"/>
                  <a:t>2</a:t>
                </a:r>
                <a:r>
                  <a:rPr sz="2000">
                    <a:solidFill>
                      <a:srgbClr val="1E293B"/>
                    </a:solidFill>
                    <a:latin typeface="Calibri"/>
                  </a:rPr>
                  <a:t> </a:t>
                </a:r>
                <a:r>
                  <a:rPr lang="vi-VN"/>
                  <a:t>\overrightarrow{DN}</a:t>
                </a:r>
                <a:r>
                  <a:rPr sz="2000">
                    <a:solidFill>
                      <a:srgbClr val="1E293B"/>
                    </a:solidFill>
                    <a:latin typeface="Calibri"/>
                  </a:rPr>
                  <a:t>. Hãy biểu diễn </a:t>
                </a:r>
                <a:r>
                  <a:rPr lang="vi-VN"/>
                  <a:t>\overrightarrow{MN}</a:t>
                </a:r>
                <a:r>
                  <a:rPr sz="2000">
                    <a:solidFill>
                      <a:srgbClr val="1E293B"/>
                    </a:solidFill>
                    <a:latin typeface="Calibri"/>
                  </a:rPr>
                  <a:t> theo </a:t>
                </a:r>
                <a:r>
                  <a:rPr lang="vi-VN"/>
                  <a:t>\overrightarrow{AD}</a:t>
                </a:r>
                <a:r>
                  <a:rPr sz="2000">
                    <a:solidFill>
                      <a:srgbClr val="1E293B"/>
                    </a:solidFill>
                    <a:latin typeface="Calibri"/>
                  </a:rPr>
                  <a:t> và </a:t>
                </a:r>
                <a:r>
                  <a:rPr lang="vi-VN"/>
                  <a:t>\overrightarrow{BC}</a:t>
                </a:r>
                <a:r>
                  <a:rPr sz="2000">
                    <a:solidFill>
                      <a:srgbClr val="1E293B"/>
                    </a:solidFill>
                    <a:latin typeface="Calibri"/>
                  </a:rPr>
                  <a:t>.</a:t>
                </a:r>
              </a:p>
            </p:txBody>
          </p:sp>
        </mc:Fallback>
      </mc:AlternateContent>
      <p:sp>
        <p:nvSpPr>
          <p:cNvPr id="11" name="s3_nen"/>
          <p:cNvSpPr/>
          <p:nvPr/>
        </p:nvSpPr>
        <p:spPr>
          <a:xfrm>
            <a:off x="548640" y="4005072"/>
            <a:ext cx="11064240" cy="14538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041648"/>
                <a:ext cx="10735056" cy="13807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2.36.</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MN</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MA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DN</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MN</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MB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CN</m:t>
                        </m:r>
                      </m:e>
                    </m:acc>
                  </m:oMath>
                </a14:m>
                <a:r>
                  <a:rPr sz="2000">
                    <a:solidFill>
                      <a:srgbClr val="1E293B"/>
                    </a:solidFill>
                    <a:latin typeface="Calibri"/>
                  </a:rPr>
                  <a:t>. Nhân phương trình đầu với 2 rồi cộng, dùng </a:t>
                </a:r>
                <a14:m>
                  <m:oMath xmlns:m="http://schemas.openxmlformats.org/officeDocument/2006/math">
                    <m:r>
                      <a:rPr lang="vi-VN" sz="2000" b="0">
                        <a:solidFill>
                          <a:srgbClr val="1E293B"/>
                        </a:solidFill>
                        <a:latin typeface="Cambria Math" panose="02040503050406030204" pitchFamily="18" charset="0"/>
                      </a:rPr>
                      <m:t>2</m:t>
                    </m:r>
                  </m:oMath>
                </a14:m>
                <a14:m>
                  <m:oMath xmlns:m="http://schemas.openxmlformats.org/officeDocument/2006/math">
                    <m:acc>
                      <m:accPr>
                        <m:chr m:val="⃗"/>
                      </m:accPr>
                      <m:e>
                        <m:r>
                          <a:rPr lang="vi-VN" sz="2000" b="0">
                            <a:solidFill>
                              <a:srgbClr val="1E293B"/>
                            </a:solidFill>
                            <a:latin typeface="Cambria Math" panose="02040503050406030204" pitchFamily="18" charset="0"/>
                          </a:rPr>
                          <m:t>MA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MB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2</m:t>
                    </m:r>
                  </m:oMath>
                </a14:m>
                <a14:m>
                  <m:oMath xmlns:m="http://schemas.openxmlformats.org/officeDocument/2006/math">
                    <m:acc>
                      <m:accPr>
                        <m:chr m:val="⃗"/>
                      </m:accPr>
                      <m:e>
                        <m:r>
                          <a:rPr lang="vi-VN" sz="2000" b="0">
                            <a:solidFill>
                              <a:srgbClr val="1E293B"/>
                            </a:solidFill>
                            <a:latin typeface="Cambria Math" panose="02040503050406030204" pitchFamily="18" charset="0"/>
                          </a:rPr>
                          <m:t>DN</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CN</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3</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MN</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MN</m:t>
                        </m:r>
                      </m:e>
                    </m:acc>
                  </m:oMath>
                </a14:m>
                <a:r>
                  <a:rPr sz="2000">
                    <a:solidFill>
                      <a:srgbClr val="1E293B"/>
                    </a:solidFill>
                    <a:latin typeface="Calibri"/>
                  </a:rPr>
                  <a:t> = </a:t>
                </a:r>
                <a14:m>
                  <m:oMath xmlns:m="http://schemas.openxmlformats.org/officeDocument/2006/math">
                    <m:f>
                      <m:fPr>
                        <m:type m:val="bar"/>
                      </m:fPr>
                      <m:num>
                        <m:r>
                          <a:rPr lang="vi-VN" sz="2000" b="0">
                            <a:solidFill>
                              <a:srgbClr val="1E293B"/>
                            </a:solidFill>
                            <a:latin typeface="Cambria Math" panose="02040503050406030204" pitchFamily="18" charset="0"/>
                          </a:rPr>
                          <m:t>2</m:t>
                        </m:r>
                      </m:num>
                      <m:den>
                        <m:r>
                          <a:rPr lang="vi-VN" sz="2000" b="0">
                            <a:solidFill>
                              <a:srgbClr val="1E293B"/>
                            </a:solidFill>
                            <a:latin typeface="Cambria Math" panose="02040503050406030204" pitchFamily="18" charset="0"/>
                          </a:rPr>
                          <m:t>3</m:t>
                        </m:r>
                      </m:den>
                    </m:f>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BC</m:t>
                        </m:r>
                      </m:e>
                    </m:acc>
                  </m:oMath>
                </a14:m>
                <a:r>
                  <a:rPr sz="2000">
                    <a:solidFill>
                      <a:srgbClr val="1E293B"/>
                    </a:solidFill>
                    <a:latin typeface="Calibri"/>
                  </a:rPr>
                  <a:t>.</a:t>
                </a:r>
              </a:p>
            </p:txBody>
          </p:sp>
        </mc:Choice>
        <mc:Fallback>
          <p:sp>
            <p:nvSpPr>
              <p:cNvPr id="12" name="TextBox 11"/>
              <p:cNvSpPr txBox="1"/>
              <p:nvPr/>
            </p:nvSpPr>
            <p:spPr>
              <a:xfrm>
                <a:off x="713232" y="4041648"/>
                <a:ext cx="10735056" cy="13807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2.36.</a:t>
                </a:r>
                <a:r>
                  <a:rPr sz="2000">
                    <a:solidFill>
                      <a:srgbClr val="1E293B"/>
                    </a:solidFill>
                    <a:latin typeface="Calibri"/>
                  </a:rPr>
                  <a:t> </a:t>
                </a:r>
                <a:r>
                  <a:rPr lang="vi-VN"/>
                  <a:t>\overrightarrow{MN}</a:t>
                </a:r>
                <a:r>
                  <a:rPr sz="2000">
                    <a:solidFill>
                      <a:srgbClr val="1E293B"/>
                    </a:solidFill>
                    <a:latin typeface="Calibri"/>
                  </a:rPr>
                  <a:t> = </a:t>
                </a:r>
                <a:r>
                  <a:rPr lang="vi-VN"/>
                  <a:t>\overrightarrow{MA}</a:t>
                </a:r>
                <a:r>
                  <a:rPr sz="2000">
                    <a:solidFill>
                      <a:srgbClr val="1E293B"/>
                    </a:solidFill>
                    <a:latin typeface="Calibri"/>
                  </a:rPr>
                  <a:t> + </a:t>
                </a:r>
                <a:r>
                  <a:rPr lang="vi-VN"/>
                  <a:t>\overrightarrow{AD}</a:t>
                </a:r>
                <a:r>
                  <a:rPr sz="2000">
                    <a:solidFill>
                      <a:srgbClr val="1E293B"/>
                    </a:solidFill>
                    <a:latin typeface="Calibri"/>
                  </a:rPr>
                  <a:t> + </a:t>
                </a:r>
                <a:r>
                  <a:rPr lang="vi-VN"/>
                  <a:t>\overrightarrow{DN}</a:t>
                </a:r>
                <a:r>
                  <a:rPr sz="2000">
                    <a:solidFill>
                      <a:srgbClr val="1E293B"/>
                    </a:solidFill>
                    <a:latin typeface="Calibri"/>
                  </a:rPr>
                  <a:t> và </a:t>
                </a:r>
                <a:r>
                  <a:rPr lang="vi-VN"/>
                  <a:t>\overrightarrow{MN}</a:t>
                </a:r>
                <a:r>
                  <a:rPr sz="2000">
                    <a:solidFill>
                      <a:srgbClr val="1E293B"/>
                    </a:solidFill>
                    <a:latin typeface="Calibri"/>
                  </a:rPr>
                  <a:t> = </a:t>
                </a:r>
                <a:r>
                  <a:rPr lang="vi-VN"/>
                  <a:t>\overrightarrow{MB}</a:t>
                </a:r>
                <a:r>
                  <a:rPr sz="2000">
                    <a:solidFill>
                      <a:srgbClr val="1E293B"/>
                    </a:solidFill>
                    <a:latin typeface="Calibri"/>
                  </a:rPr>
                  <a:t> + </a:t>
                </a:r>
                <a:r>
                  <a:rPr lang="vi-VN"/>
                  <a:t>\overrightarrow{BC}</a:t>
                </a:r>
                <a:r>
                  <a:rPr sz="2000">
                    <a:solidFill>
                      <a:srgbClr val="1E293B"/>
                    </a:solidFill>
                    <a:latin typeface="Calibri"/>
                  </a:rPr>
                  <a:t> + </a:t>
                </a:r>
                <a:r>
                  <a:rPr lang="vi-VN"/>
                  <a:t>\overrightarrow{CN}</a:t>
                </a:r>
                <a:r>
                  <a:rPr sz="2000">
                    <a:solidFill>
                      <a:srgbClr val="1E293B"/>
                    </a:solidFill>
                    <a:latin typeface="Calibri"/>
                  </a:rPr>
                  <a:t>. Nhân phương trình đầu với 2 rồi cộng, dùng </a:t>
                </a:r>
                <a:r>
                  <a:rPr lang="vi-VN"/>
                  <a:t>2</a:t>
                </a:r>
                <a:r>
                  <a:rPr lang="vi-VN"/>
                  <a:t>\overrightarrow{MA}</a:t>
                </a:r>
                <a:r>
                  <a:rPr sz="2000">
                    <a:solidFill>
                      <a:srgbClr val="1E293B"/>
                    </a:solidFill>
                    <a:latin typeface="Calibri"/>
                  </a:rPr>
                  <a:t> + </a:t>
                </a:r>
                <a:r>
                  <a:rPr lang="vi-VN"/>
                  <a:t>\overrightarrow{MB}</a:t>
                </a:r>
                <a:r>
                  <a:rPr sz="2000">
                    <a:solidFill>
                      <a:srgbClr val="1E293B"/>
                    </a:solidFill>
                    <a:latin typeface="Calibri"/>
                  </a:rPr>
                  <a:t> = </a:t>
                </a:r>
                <a:r>
                  <a:rPr lang="vi-VN"/>
                  <a:t>\vec{0}</a:t>
                </a:r>
                <a:r>
                  <a:rPr sz="2000">
                    <a:solidFill>
                      <a:srgbClr val="1E293B"/>
                    </a:solidFill>
                    <a:latin typeface="Calibri"/>
                  </a:rPr>
                  <a:t>, </a:t>
                </a:r>
                <a:r>
                  <a:rPr lang="vi-VN"/>
                  <a:t>2</a:t>
                </a:r>
                <a:r>
                  <a:rPr lang="vi-VN"/>
                  <a:t>\overrightarrow{DN}</a:t>
                </a:r>
                <a:r>
                  <a:rPr sz="2000">
                    <a:solidFill>
                      <a:srgbClr val="1E293B"/>
                    </a:solidFill>
                    <a:latin typeface="Calibri"/>
                  </a:rPr>
                  <a:t> + </a:t>
                </a:r>
                <a:r>
                  <a:rPr lang="vi-VN"/>
                  <a:t>\overrightarrow{CN}</a:t>
                </a:r>
                <a:r>
                  <a:rPr sz="2000">
                    <a:solidFill>
                      <a:srgbClr val="1E293B"/>
                    </a:solidFill>
                    <a:latin typeface="Calibri"/>
                  </a:rPr>
                  <a:t> = </a:t>
                </a:r>
                <a:r>
                  <a:rPr lang="vi-VN"/>
                  <a:t>\vec{0}</a:t>
                </a:r>
                <a:r>
                  <a:rPr sz="2000">
                    <a:solidFill>
                      <a:srgbClr val="1E293B"/>
                    </a:solidFill>
                    <a:latin typeface="Calibri"/>
                  </a:rPr>
                  <a:t>: </a:t>
                </a:r>
                <a:r>
                  <a:rPr lang="vi-VN"/>
                  <a:t>3</a:t>
                </a:r>
                <a:r>
                  <a:rPr sz="2000">
                    <a:solidFill>
                      <a:srgbClr val="1E293B"/>
                    </a:solidFill>
                    <a:latin typeface="Calibri"/>
                  </a:rPr>
                  <a:t> </a:t>
                </a:r>
                <a:r>
                  <a:rPr lang="vi-VN"/>
                  <a:t>\overrightarrow{MN}</a:t>
                </a:r>
                <a:r>
                  <a:rPr sz="2000">
                    <a:solidFill>
                      <a:srgbClr val="1E293B"/>
                    </a:solidFill>
                    <a:latin typeface="Calibri"/>
                  </a:rPr>
                  <a:t> = </a:t>
                </a:r>
                <a:r>
                  <a:rPr lang="vi-VN"/>
                  <a:t>2</a:t>
                </a:r>
                <a:r>
                  <a:rPr sz="2000">
                    <a:solidFill>
                      <a:srgbClr val="1E293B"/>
                    </a:solidFill>
                    <a:latin typeface="Calibri"/>
                  </a:rPr>
                  <a:t> </a:t>
                </a:r>
                <a:r>
                  <a:rPr lang="vi-VN"/>
                  <a:t>\overrightarrow{AD}</a:t>
                </a:r>
                <a:r>
                  <a:rPr sz="2000">
                    <a:solidFill>
                      <a:srgbClr val="1E293B"/>
                    </a:solidFill>
                    <a:latin typeface="Calibri"/>
                  </a:rPr>
                  <a:t> + </a:t>
                </a:r>
                <a:r>
                  <a:rPr lang="vi-VN"/>
                  <a:t>\overrightarrow{BC}</a:t>
                </a:r>
                <a:r>
                  <a:rPr sz="2000">
                    <a:solidFill>
                      <a:srgbClr val="1E293B"/>
                    </a:solidFill>
                    <a:latin typeface="Calibri"/>
                  </a:rPr>
                  <a:t> ⇒ </a:t>
                </a:r>
                <a:r>
                  <a:rPr lang="vi-VN"/>
                  <a:t>\overrightarrow{MN}</a:t>
                </a:r>
                <a:r>
                  <a:rPr sz="2000">
                    <a:solidFill>
                      <a:srgbClr val="1E293B"/>
                    </a:solidFill>
                    <a:latin typeface="Calibri"/>
                  </a:rPr>
                  <a:t> = </a:t>
                </a:r>
                <a:r>
                  <a:rPr lang="vi-VN"/>
                  <a:t>\frac{2}{3}</a:t>
                </a:r>
                <a:r>
                  <a:rPr sz="2000">
                    <a:solidFill>
                      <a:srgbClr val="1E293B"/>
                    </a:solidFill>
                    <a:latin typeface="Calibri"/>
                  </a:rPr>
                  <a:t> </a:t>
                </a:r>
                <a:r>
                  <a:rPr lang="vi-VN"/>
                  <a:t>\overrightarrow{AD}</a:t>
                </a:r>
                <a:r>
                  <a:rPr sz="2000">
                    <a:solidFill>
                      <a:srgbClr val="1E293B"/>
                    </a:solidFill>
                    <a:latin typeface="Calibri"/>
                  </a:rPr>
                  <a:t> + </a:t>
                </a:r>
                <a:r>
                  <a:rPr lang="vi-VN"/>
                  <a:t>\frac{1}{3}</a:t>
                </a:r>
                <a:r>
                  <a:rPr sz="2000">
                    <a:solidFill>
                      <a:srgbClr val="1E293B"/>
                    </a:solidFill>
                    <a:latin typeface="Calibri"/>
                  </a:rPr>
                  <a:t> </a:t>
                </a:r>
                <a:r>
                  <a:rPr lang="vi-VN"/>
                  <a:t>\overrightarrow{BC}</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TỰ LUẬN 2.37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2.37.</a:t>
                </a:r>
                <a:r>
                  <a:rPr sz="2000">
                    <a:solidFill>
                      <a:srgbClr val="1E293B"/>
                    </a:solidFill>
                    <a:latin typeface="Calibri"/>
                  </a:rPr>
                  <a:t> Cho hình hộp </a:t>
                </a:r>
                <a14:m>
                  <m:oMath xmlns:m="http://schemas.openxmlformats.org/officeDocument/2006/math">
                    <m:r>
                      <a:rPr lang="vi-VN" sz="2000" b="0">
                        <a:solidFill>
                          <a:srgbClr val="1E293B"/>
                        </a:solidFill>
                        <a:latin typeface="Cambria Math" panose="02040503050406030204" pitchFamily="18" charset="0"/>
                      </a:rPr>
                      <m:t>ABCD.</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D</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Gọi </a:t>
                </a:r>
                <a14:m>
                  <m:oMath xmlns:m="http://schemas.openxmlformats.org/officeDocument/2006/math">
                    <m:r>
                      <a:rPr lang="vi-VN" sz="2000" b="0">
                        <a:solidFill>
                          <a:srgbClr val="1E293B"/>
                        </a:solidFill>
                        <a:latin typeface="Cambria Math" panose="02040503050406030204" pitchFamily="18" charset="0"/>
                      </a:rPr>
                      <m:t>G</m:t>
                    </m:r>
                  </m:oMath>
                </a14:m>
                <a:r>
                  <a:rPr sz="2000">
                    <a:solidFill>
                      <a:srgbClr val="1E293B"/>
                    </a:solidFill>
                    <a:latin typeface="Calibri"/>
                  </a:rPr>
                  <a:t> là trọng tâm của tam giác </a:t>
                </a:r>
                <a14:m>
                  <m:oMath xmlns:m="http://schemas.openxmlformats.org/officeDocument/2006/math">
                    <m:r>
                      <a:rPr lang="vi-VN" sz="2000" b="0">
                        <a:solidFill>
                          <a:srgbClr val="1E293B"/>
                        </a:solidFill>
                        <a:latin typeface="Cambria Math" panose="02040503050406030204" pitchFamily="18" charset="0"/>
                      </a:rPr>
                      <m:t>BD</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 Biểu diễn </a:t>
                </a:r>
                <a14:m>
                  <m:oMath xmlns:m="http://schemas.openxmlformats.org/officeDocument/2006/math">
                    <m:acc>
                      <m:accPr>
                        <m:chr m:val="⃗"/>
                      </m:accPr>
                      <m:e>
                        <m:r>
                          <a:rPr lang="vi-VN" sz="2000" b="0">
                            <a:solidFill>
                              <a:srgbClr val="1E293B"/>
                            </a:solidFill>
                            <a:latin typeface="Cambria Math" panose="02040503050406030204" pitchFamily="18" charset="0"/>
                          </a:rPr>
                          <m:t>AG</m:t>
                        </m:r>
                      </m:e>
                    </m:acc>
                  </m:oMath>
                </a14:m>
                <a:r>
                  <a:rPr sz="2000">
                    <a:solidFill>
                      <a:srgbClr val="1E293B"/>
                    </a:solidFill>
                    <a:latin typeface="Calibri"/>
                  </a:rPr>
                  <a:t> theo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và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b) Từ câu a, hãy chứng tỏ ba điểm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G</m:t>
                    </m:r>
                  </m:oMath>
                </a14:m>
                <a:r>
                  <a:rPr sz="2000">
                    <a:solidFill>
                      <a:srgbClr val="1E293B"/>
                    </a:solidFill>
                    <a:latin typeface="Calibri"/>
                  </a:rPr>
                  <a:t> và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thẳng hàng.</a:t>
                </a:r>
              </a:p>
            </p:txBody>
          </p:sp>
        </mc:Choice>
        <mc:Fallback>
          <p:sp>
            <p:nvSpPr>
              <p:cNvPr id="7" name="TextBox 6"/>
              <p:cNvSpPr txBox="1"/>
              <p:nvPr/>
            </p:nvSpPr>
            <p:spPr>
              <a:xfrm>
                <a:off x="548640" y="1371600"/>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2.37.</a:t>
                </a:r>
                <a:r>
                  <a:rPr sz="2000">
                    <a:solidFill>
                      <a:srgbClr val="1E293B"/>
                    </a:solidFill>
                    <a:latin typeface="Calibri"/>
                  </a:rPr>
                  <a:t> Cho hình hộp </a:t>
                </a:r>
                <a:r>
                  <a:rPr lang="vi-VN"/>
                  <a:t>ABCD.A'B'C'D'</a:t>
                </a:r>
                <a:r>
                  <a:rPr sz="2000">
                    <a:solidFill>
                      <a:srgbClr val="1E293B"/>
                    </a:solidFill>
                    <a:latin typeface="Calibri"/>
                  </a:rPr>
                  <a:t>. Gọi </a:t>
                </a:r>
                <a:r>
                  <a:rPr lang="vi-VN"/>
                  <a:t>G</a:t>
                </a:r>
                <a:r>
                  <a:rPr sz="2000">
                    <a:solidFill>
                      <a:srgbClr val="1E293B"/>
                    </a:solidFill>
                    <a:latin typeface="Calibri"/>
                  </a:rPr>
                  <a:t> là trọng tâm của tam giác </a:t>
                </a:r>
                <a:r>
                  <a:rPr lang="vi-VN"/>
                  <a:t>BDA'</a:t>
                </a:r>
                <a:r>
                  <a:rPr sz="2000">
                    <a:solidFill>
                      <a:srgbClr val="1E293B"/>
                    </a:solidFill>
                    <a:latin typeface="Calibri"/>
                  </a:rPr>
                  <a:t>. a) Biểu diễn </a:t>
                </a:r>
                <a:r>
                  <a:rPr lang="vi-VN"/>
                  <a:t>\overrightarrow{AG}</a:t>
                </a:r>
                <a:r>
                  <a:rPr sz="2000">
                    <a:solidFill>
                      <a:srgbClr val="1E293B"/>
                    </a:solidFill>
                    <a:latin typeface="Calibri"/>
                  </a:rPr>
                  <a:t> theo </a:t>
                </a:r>
                <a:r>
                  <a:rPr lang="vi-VN"/>
                  <a:t>\overrightarrow{AB}</a:t>
                </a:r>
                <a:r>
                  <a:rPr sz="2000">
                    <a:solidFill>
                      <a:srgbClr val="1E293B"/>
                    </a:solidFill>
                    <a:latin typeface="Calibri"/>
                  </a:rPr>
                  <a:t>, </a:t>
                </a:r>
                <a:r>
                  <a:rPr lang="vi-VN"/>
                  <a:t>\overrightarrow{AD}</a:t>
                </a:r>
                <a:r>
                  <a:rPr sz="2000">
                    <a:solidFill>
                      <a:srgbClr val="1E293B"/>
                    </a:solidFill>
                    <a:latin typeface="Calibri"/>
                  </a:rPr>
                  <a:t> và </a:t>
                </a:r>
                <a:r>
                  <a:rPr lang="vi-VN"/>
                  <a:t>\overrightarrow{AA'}</a:t>
                </a:r>
                <a:r>
                  <a:rPr sz="2000">
                    <a:solidFill>
                      <a:srgbClr val="1E293B"/>
                    </a:solidFill>
                    <a:latin typeface="Calibri"/>
                  </a:rPr>
                  <a:t>. b) Từ câu a, hãy chứng tỏ ba điểm </a:t>
                </a:r>
                <a:r>
                  <a:rPr lang="vi-VN"/>
                  <a:t>A,\ G</a:t>
                </a:r>
                <a:r>
                  <a:rPr sz="2000">
                    <a:solidFill>
                      <a:srgbClr val="1E293B"/>
                    </a:solidFill>
                    <a:latin typeface="Calibri"/>
                  </a:rPr>
                  <a:t> và </a:t>
                </a:r>
                <a:r>
                  <a:rPr lang="vi-VN"/>
                  <a:t>C'</a:t>
                </a:r>
                <a:r>
                  <a:rPr sz="2000">
                    <a:solidFill>
                      <a:srgbClr val="1E293B"/>
                    </a:solidFill>
                    <a:latin typeface="Calibri"/>
                  </a:rPr>
                  <a:t> thẳng hàng.</a:t>
                </a:r>
              </a:p>
            </p:txBody>
          </p:sp>
        </mc:Fallback>
      </mc:AlternateContent>
      <p:sp>
        <p:nvSpPr>
          <p:cNvPr id="8" name="s1_nen"/>
          <p:cNvSpPr/>
          <p:nvPr/>
        </p:nvSpPr>
        <p:spPr>
          <a:xfrm>
            <a:off x="548640" y="2523744"/>
            <a:ext cx="11064240" cy="7071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0320"/>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r>
                      <a:rPr lang="vi-VN" sz="2000" b="0">
                        <a:solidFill>
                          <a:srgbClr val="1E293B"/>
                        </a:solidFill>
                        <a:latin typeface="Cambria Math" panose="02040503050406030204" pitchFamily="18" charset="0"/>
                      </a:rPr>
                      <m:t>G</m:t>
                    </m:r>
                  </m:oMath>
                </a14:m>
                <a:r>
                  <a:rPr sz="2000">
                    <a:solidFill>
                      <a:srgbClr val="1E293B"/>
                    </a:solidFill>
                    <a:latin typeface="Calibri"/>
                  </a:rPr>
                  <a:t> là trọng tâm tam giác </a:t>
                </a:r>
                <a14:m>
                  <m:oMath xmlns:m="http://schemas.openxmlformats.org/officeDocument/2006/math">
                    <m:r>
                      <a:rPr lang="vi-VN" sz="2000" b="0">
                        <a:solidFill>
                          <a:srgbClr val="1E293B"/>
                        </a:solidFill>
                        <a:latin typeface="Cambria Math" panose="02040503050406030204" pitchFamily="18" charset="0"/>
                      </a:rPr>
                      <m:t>BD</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AG</m:t>
                        </m:r>
                      </m:e>
                    </m:acc>
                  </m:oMath>
                </a14:m>
                <a:r>
                  <a:rPr sz="2000">
                    <a:solidFill>
                      <a:srgbClr val="1E293B"/>
                    </a:solidFill>
                    <a:latin typeface="Calibri"/>
                  </a:rPr>
                  <a:t> = </a:t>
                </a:r>
                <a14:m>
                  <m:oMath xmlns:m="http://schemas.openxmlformats.org/officeDocument/2006/math">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oMath>
                </a14:m>
                <a:r>
                  <a:rPr sz="2000">
                    <a:solidFill>
                      <a:srgbClr val="1E293B"/>
                    </a:solidFill>
                    <a:latin typeface="Calibri"/>
                  </a:rPr>
                  <a:t>(</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a:t>
                </a:r>
              </a:p>
            </p:txBody>
          </p:sp>
        </mc:Choice>
        <mc:Fallback>
          <p:sp>
            <p:nvSpPr>
              <p:cNvPr id="9" name="TextBox 8"/>
              <p:cNvSpPr txBox="1"/>
              <p:nvPr/>
            </p:nvSpPr>
            <p:spPr>
              <a:xfrm>
                <a:off x="713232" y="2560320"/>
                <a:ext cx="10735056" cy="63398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G</a:t>
                </a:r>
                <a:r>
                  <a:rPr sz="2000">
                    <a:solidFill>
                      <a:srgbClr val="1E293B"/>
                    </a:solidFill>
                    <a:latin typeface="Calibri"/>
                  </a:rPr>
                  <a:t> là trọng tâm tam giác </a:t>
                </a:r>
                <a:r>
                  <a:rPr lang="vi-VN"/>
                  <a:t>BDA'</a:t>
                </a:r>
                <a:r>
                  <a:rPr sz="2000">
                    <a:solidFill>
                      <a:srgbClr val="1E293B"/>
                    </a:solidFill>
                    <a:latin typeface="Calibri"/>
                  </a:rPr>
                  <a:t>: </a:t>
                </a:r>
                <a:r>
                  <a:rPr lang="vi-VN"/>
                  <a:t>\overrightarrow{AG}</a:t>
                </a:r>
                <a:r>
                  <a:rPr sz="2000">
                    <a:solidFill>
                      <a:srgbClr val="1E293B"/>
                    </a:solidFill>
                    <a:latin typeface="Calibri"/>
                  </a:rPr>
                  <a:t> = </a:t>
                </a:r>
                <a:r>
                  <a:rPr lang="vi-VN"/>
                  <a:t>\frac{1}{3}</a:t>
                </a:r>
                <a:r>
                  <a:rPr sz="2000">
                    <a:solidFill>
                      <a:srgbClr val="1E293B"/>
                    </a:solidFill>
                    <a:latin typeface="Calibri"/>
                  </a:rPr>
                  <a:t>(</a:t>
                </a:r>
                <a:r>
                  <a:rPr lang="vi-VN"/>
                  <a:t>\overrightarrow{AB}</a:t>
                </a:r>
                <a:r>
                  <a:rPr sz="2000">
                    <a:solidFill>
                      <a:srgbClr val="1E293B"/>
                    </a:solidFill>
                    <a:latin typeface="Calibri"/>
                  </a:rPr>
                  <a:t> + </a:t>
                </a:r>
                <a:r>
                  <a:rPr lang="vi-VN"/>
                  <a:t>\overrightarrow{AD}</a:t>
                </a:r>
                <a:r>
                  <a:rPr sz="2000">
                    <a:solidFill>
                      <a:srgbClr val="1E293B"/>
                    </a:solidFill>
                    <a:latin typeface="Calibri"/>
                  </a:rPr>
                  <a:t> + </a:t>
                </a:r>
                <a:r>
                  <a:rPr lang="vi-VN"/>
                  <a:t>\overrightarrow{AA'}</a:t>
                </a:r>
                <a:r>
                  <a:rPr sz="2000">
                    <a:solidFill>
                      <a:srgbClr val="1E293B"/>
                    </a:solidFill>
                    <a:latin typeface="Calibri"/>
                  </a:rPr>
                  <a:t>).</a:t>
                </a:r>
              </a:p>
            </p:txBody>
          </p:sp>
        </mc:Fallback>
      </mc:AlternateContent>
      <p:sp>
        <p:nvSpPr>
          <p:cNvPr id="10" name="s2_nen"/>
          <p:cNvSpPr/>
          <p:nvPr/>
        </p:nvSpPr>
        <p:spPr>
          <a:xfrm>
            <a:off x="548640" y="3294887"/>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31464"/>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Quy tắc hình hộp: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AD</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3</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AG</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G,</m:t>
                    </m:r>
                    <m:r>
                      <m:rPr>
                        <m:sty m:val="p"/>
                      </m:rPr>
                      <a:rPr lang="vi-VN" sz="2000" b="0">
                        <a:solidFill>
                          <a:srgbClr val="1E293B"/>
                        </a:solidFill>
                        <a:latin typeface="Cambria Math" panose="02040503050406030204" pitchFamily="18" charset="0"/>
                      </a:rPr>
                      <m:t> </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thẳng hàng, </a:t>
                </a:r>
                <a14:m>
                  <m:oMath xmlns:m="http://schemas.openxmlformats.org/officeDocument/2006/math">
                    <m:r>
                      <a:rPr lang="vi-VN" sz="2000" b="0">
                        <a:solidFill>
                          <a:srgbClr val="1E293B"/>
                        </a:solidFill>
                        <a:latin typeface="Cambria Math" panose="02040503050406030204" pitchFamily="18" charset="0"/>
                      </a:rPr>
                      <m:t>AG=</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r>
                      <a:rPr lang="vi-VN" sz="2000" b="0">
                        <a:solidFill>
                          <a:srgbClr val="1E293B"/>
                        </a:solidFill>
                        <a:latin typeface="Cambria Math" panose="02040503050406030204" pitchFamily="18" charset="0"/>
                      </a:rPr>
                      <m:t>A</m:t>
                    </m:r>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1" name="TextBox 10"/>
              <p:cNvSpPr txBox="1"/>
              <p:nvPr/>
            </p:nvSpPr>
            <p:spPr>
              <a:xfrm>
                <a:off x="713232" y="3331464"/>
                <a:ext cx="10735056" cy="93878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b) Quy tắc hình hộp: </a:t>
                </a:r>
                <a:r>
                  <a:rPr lang="vi-VN"/>
                  <a:t>\overrightarrow{AC'}</a:t>
                </a:r>
                <a:r>
                  <a:rPr sz="2000">
                    <a:solidFill>
                      <a:srgbClr val="1E293B"/>
                    </a:solidFill>
                    <a:latin typeface="Calibri"/>
                  </a:rPr>
                  <a:t> = </a:t>
                </a:r>
                <a:r>
                  <a:rPr lang="vi-VN"/>
                  <a:t>\overrightarrow{AB}</a:t>
                </a:r>
                <a:r>
                  <a:rPr sz="2000">
                    <a:solidFill>
                      <a:srgbClr val="1E293B"/>
                    </a:solidFill>
                    <a:latin typeface="Calibri"/>
                  </a:rPr>
                  <a:t> + </a:t>
                </a:r>
                <a:r>
                  <a:rPr lang="vi-VN"/>
                  <a:t>\overrightarrow{AD}</a:t>
                </a:r>
                <a:r>
                  <a:rPr sz="2000">
                    <a:solidFill>
                      <a:srgbClr val="1E293B"/>
                    </a:solidFill>
                    <a:latin typeface="Calibri"/>
                  </a:rPr>
                  <a:t> + </a:t>
                </a:r>
                <a:r>
                  <a:rPr lang="vi-VN"/>
                  <a:t>\overrightarrow{AA'}</a:t>
                </a:r>
                <a:r>
                  <a:rPr sz="2000">
                    <a:solidFill>
                      <a:srgbClr val="1E293B"/>
                    </a:solidFill>
                    <a:latin typeface="Calibri"/>
                  </a:rPr>
                  <a:t> = </a:t>
                </a:r>
                <a:r>
                  <a:rPr lang="vi-VN"/>
                  <a:t>3</a:t>
                </a:r>
                <a:r>
                  <a:rPr sz="2000">
                    <a:solidFill>
                      <a:srgbClr val="1E293B"/>
                    </a:solidFill>
                    <a:latin typeface="Calibri"/>
                  </a:rPr>
                  <a:t> </a:t>
                </a:r>
                <a:r>
                  <a:rPr lang="vi-VN"/>
                  <a:t>\overrightarrow{AG}</a:t>
                </a:r>
                <a:r>
                  <a:rPr sz="2000">
                    <a:solidFill>
                      <a:srgbClr val="1E293B"/>
                    </a:solidFill>
                    <a:latin typeface="Calibri"/>
                  </a:rPr>
                  <a:t> ⇒ </a:t>
                </a:r>
                <a:r>
                  <a:rPr lang="vi-VN"/>
                  <a:t>A,\ G,\ C'</a:t>
                </a:r>
                <a:r>
                  <a:rPr sz="2000">
                    <a:solidFill>
                      <a:srgbClr val="1E293B"/>
                    </a:solidFill>
                    <a:latin typeface="Calibri"/>
                  </a:rPr>
                  <a:t> thẳng hàng, </a:t>
                </a:r>
                <a:r>
                  <a:rPr lang="vi-VN"/>
                  <a:t>AG=\frac{1}{3}AC'</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20</a:t>
            </a:r>
          </a:p>
        </p:txBody>
      </p:sp>
      <p:sp>
        <p:nvSpPr>
          <p:cNvPr id="7" name="Rounded Rectangle 6"/>
          <p:cNvSpPr/>
          <p:nvPr/>
        </p:nvSpPr>
        <p:spPr>
          <a:xfrm>
            <a:off x="548640" y="1463040"/>
            <a:ext cx="11064240" cy="137160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99616"/>
            <a:ext cx="10735056" cy="129844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Trắc nghiệm: ôn quy tắc hình hộp, trọng tâm, biểu thức toạ độ, góc giữa hai vectơ.</a:t>
            </a:r>
          </a:p>
          <a:p>
            <a:pPr algn="l" marL="365760" indent="-365760">
              <a:spcAft>
                <a:spcPts val="800"/>
              </a:spcAft>
              <a:buClr>
                <a:srgbClr val="1E40AF"/>
              </a:buClr>
              <a:buFont typeface="Arial"/>
              <a:buChar char="•"/>
            </a:pPr>
            <a:r>
              <a:rPr sz="2200">
                <a:solidFill>
                  <a:srgbClr val="1E293B"/>
                </a:solidFill>
                <a:latin typeface="Calibri"/>
              </a:rPr>
              <a:t>Tự luận vectơ: chèn điểm, dùng trung điểm/trọng tâm, quy tắc hình hộp.</a:t>
            </a:r>
          </a:p>
        </p:txBody>
      </p:sp>
      <p:sp>
        <p:nvSpPr>
          <p:cNvPr id="9" name="Rounded Rectangle 8"/>
          <p:cNvSpPr/>
          <p:nvPr/>
        </p:nvSpPr>
        <p:spPr>
          <a:xfrm>
            <a:off x="548640" y="3063240"/>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99816"/>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2.38 – 2.41 (SGK tr.74).</a:t>
            </a:r>
          </a:p>
          <a:p>
            <a:pPr algn="l" marL="365760" indent="-365760">
              <a:spcAft>
                <a:spcPts val="800"/>
              </a:spcAft>
              <a:buClr>
                <a:srgbClr val="1E40AF"/>
              </a:buClr>
              <a:buFont typeface="Arial"/>
              <a:buChar char="•"/>
            </a:pPr>
            <a:r>
              <a:rPr sz="2200">
                <a:solidFill>
                  <a:srgbClr val="1E293B"/>
                </a:solidFill>
                <a:latin typeface="Calibri"/>
              </a:rPr>
              <a:t>Đọc Bài tập 2.42: chuẩn bị đo trần, tường nhà mình.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(T41)</a:t>
            </a:r>
          </a:p>
          <a:p>
            <a:pPr>
              <a:spcAft>
                <a:spcPts val="600"/>
              </a:spcAft>
            </a:pPr>
            <a:r>
              <a:rPr sz="4000" b="1">
                <a:solidFill>
                  <a:srgbClr val="FFFFFF"/>
                </a:solidFill>
                <a:latin typeface="Cambria"/>
              </a:rPr>
              <a:t>Tự luận toạ độ. Vận dụng</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Giải Bài tập 2.38 – 2.41 bằng toạ độ.</a:t>
            </a:r>
          </a:p>
          <a:p>
            <a:pPr algn="l">
              <a:spcAft>
                <a:spcPts val="800"/>
              </a:spcAft>
            </a:pPr>
            <a:r>
              <a:rPr sz="2200">
                <a:solidFill>
                  <a:srgbClr val="E0E7FF"/>
                </a:solidFill>
                <a:latin typeface="Calibri"/>
              </a:rPr>
              <a:t>• Lập hệ toạ độ giải bài toán thực tiễn 2.42.</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22</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Giơ thẻ Đ / S trong 10 giây cho mỗi câu.</a:t>
            </a:r>
          </a:p>
        </p:txBody>
      </p:sp>
      <mc:AlternateContent xmlns:mc="http://schemas.openxmlformats.org/markup-compatibility/2006">
        <mc:Choice xmlns:a14="http://schemas.microsoft.com/office/drawing/2010/main" Requires="a14">
          <p:sp>
            <p:nvSpPr>
              <p:cNvPr id="8" name="TextBox 7"/>
              <p:cNvSpPr txBox="1"/>
              <p:nvPr/>
            </p:nvSpPr>
            <p:spPr>
              <a:xfrm>
                <a:off x="548640" y="1828800"/>
                <a:ext cx="8229600" cy="509016"/>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14:m>
                  <m:oMath xmlns:m="http://schemas.openxmlformats.org/officeDocument/2006/math">
                    <m:r>
                      <a:rPr lang="vi-VN" sz="2200" b="0">
                        <a:solidFill>
                          <a:srgbClr val="1E293B"/>
                        </a:solidFill>
                        <a:latin typeface="Cambria Math" panose="02040503050406030204" pitchFamily="18" charset="0"/>
                      </a:rPr>
                      <m:t>A(2;−1;3)</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B(1;1;−1)</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C(−1;0;2)</m:t>
                    </m:r>
                  </m:oMath>
                </a14:m>
                <a:r>
                  <a:rPr sz="2200">
                    <a:solidFill>
                      <a:srgbClr val="1E293B"/>
                    </a:solidFill>
                    <a:latin typeface="Calibri"/>
                  </a:rPr>
                  <a:t>.</a:t>
                </a:r>
              </a:p>
            </p:txBody>
          </p:sp>
        </mc:Choice>
        <mc:Fallback>
          <p:sp>
            <p:nvSpPr>
              <p:cNvPr id="8" name="TextBox 7"/>
              <p:cNvSpPr txBox="1"/>
              <p:nvPr/>
            </p:nvSpPr>
            <p:spPr>
              <a:xfrm>
                <a:off x="548640" y="1828800"/>
                <a:ext cx="8229600" cy="509016"/>
              </a:xfrm>
              <a:prstGeom prst="rect">
                <a:avLst/>
              </a:prstGeom>
              <a:noFill/>
            </p:spPr>
            <p:txBody>
              <a:bodyPr wrap="square" anchor="t" lIns="45720" rIns="45720">
                <a:spAutoFit/>
              </a:bodyPr>
              <a:lstStyle/>
              <a:p>
                <a:pPr algn="l">
                  <a:spcAft>
                    <a:spcPts val="800"/>
                  </a:spcAft>
                </a:pPr>
                <a:r>
                  <a:rPr sz="2200">
                    <a:solidFill>
                      <a:srgbClr val="1E293B"/>
                    </a:solidFill>
                    <a:latin typeface="Calibri"/>
                  </a:rPr>
                  <a:t>Cho </a:t>
                </a:r>
                <a:r>
                  <a:rPr lang="vi-VN"/>
                  <a:t>A(2;-1;3)</a:t>
                </a:r>
                <a:r>
                  <a:rPr sz="2200">
                    <a:solidFill>
                      <a:srgbClr val="1E293B"/>
                    </a:solidFill>
                    <a:latin typeface="Calibri"/>
                  </a:rPr>
                  <a:t>, </a:t>
                </a:r>
                <a:r>
                  <a:rPr lang="vi-VN"/>
                  <a:t>B(1;1;-1)</a:t>
                </a:r>
                <a:r>
                  <a:rPr sz="2200">
                    <a:solidFill>
                      <a:srgbClr val="1E293B"/>
                    </a:solidFill>
                    <a:latin typeface="Calibri"/>
                  </a:rPr>
                  <a:t>, </a:t>
                </a:r>
                <a:r>
                  <a:rPr lang="vi-VN"/>
                  <a:t>C(-1;0;2)</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74976"/>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AB</m:t>
                        </m:r>
                      </m:e>
                    </m:acc>
                  </m:oMath>
                </a14:m>
                <a:r>
                  <a:rPr sz="2100">
                    <a:solidFill>
                      <a:srgbClr val="1E293B"/>
                    </a:solidFill>
                    <a:latin typeface="Calibri"/>
                  </a:rPr>
                  <a:t> =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4</m:t>
                        </m:r>
                      </m:e>
                    </m:d>
                  </m:oMath>
                </a14:m>
                <a:r>
                  <a:rPr sz="2100">
                    <a:solidFill>
                      <a:srgbClr val="1E293B"/>
                    </a:solidFill>
                    <a:latin typeface="Calibri"/>
                  </a:rPr>
                  <a:t>.</a:t>
                </a:r>
              </a:p>
            </p:txBody>
          </p:sp>
        </mc:Choice>
        <mc:Fallback>
          <p:sp>
            <p:nvSpPr>
              <p:cNvPr id="9" name="TextBox 8"/>
              <p:cNvSpPr txBox="1"/>
              <p:nvPr/>
            </p:nvSpPr>
            <p:spPr>
              <a:xfrm>
                <a:off x="548640" y="2474976"/>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r>
                  <a:rPr lang="vi-VN"/>
                  <a:t>\overrightarrow{AB}</a:t>
                </a:r>
                <a:r>
                  <a:rPr sz="2100">
                    <a:solidFill>
                      <a:srgbClr val="1E293B"/>
                    </a:solidFill>
                    <a:latin typeface="Calibri"/>
                  </a:rPr>
                  <a:t> = </a:t>
                </a:r>
                <a:r>
                  <a:rPr lang="vi-VN"/>
                  <a:t>(-1;\ 2;\ -4)</a:t>
                </a:r>
                <a:r>
                  <a:rPr sz="2100">
                    <a:solidFill>
                      <a:srgbClr val="1E293B"/>
                    </a:solidFill>
                    <a:latin typeface="Calibri"/>
                  </a:rPr>
                  <a:t>.</a:t>
                </a:r>
              </a:p>
            </p:txBody>
          </p:sp>
        </mc:Fallback>
      </mc:AlternateContent>
      <p:sp>
        <p:nvSpPr>
          <p:cNvPr id="10" name="s1_nen"/>
          <p:cNvSpPr/>
          <p:nvPr/>
        </p:nvSpPr>
        <p:spPr>
          <a:xfrm>
            <a:off x="8961120" y="2474976"/>
            <a:ext cx="2651759" cy="629716"/>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1_chu"/>
          <p:cNvSpPr txBox="1"/>
          <p:nvPr/>
        </p:nvSpPr>
        <p:spPr>
          <a:xfrm>
            <a:off x="8961120" y="2529840"/>
            <a:ext cx="2651759" cy="602284"/>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2" name="TextBox 11"/>
              <p:cNvSpPr txBox="1"/>
              <p:nvPr/>
            </p:nvSpPr>
            <p:spPr>
              <a:xfrm>
                <a:off x="548640" y="3214420"/>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Trung điểm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là </a:t>
                </a:r>
                <a14:m>
                  <m:oMath xmlns:m="http://schemas.openxmlformats.org/officeDocument/2006/math">
                    <m:d>
                      <m:dPr>
                        <m:sepChr m:val=""/>
                      </m:dPr>
                      <m:e>
                        <m:f>
                          <m:fPr>
                            <m:type m:val="ba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e>
                    </m:d>
                  </m:oMath>
                </a14:m>
                <a:r>
                  <a:rPr sz="2100">
                    <a:solidFill>
                      <a:srgbClr val="1E293B"/>
                    </a:solidFill>
                    <a:latin typeface="Calibri"/>
                  </a:rPr>
                  <a:t>.</a:t>
                </a:r>
              </a:p>
            </p:txBody>
          </p:sp>
        </mc:Choice>
        <mc:Fallback>
          <p:sp>
            <p:nvSpPr>
              <p:cNvPr id="12" name="TextBox 11"/>
              <p:cNvSpPr txBox="1"/>
              <p:nvPr/>
            </p:nvSpPr>
            <p:spPr>
              <a:xfrm>
                <a:off x="548640" y="3214420"/>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Trung điểm </a:t>
                </a:r>
                <a:r>
                  <a:rPr lang="vi-VN"/>
                  <a:t>AB</a:t>
                </a:r>
                <a:r>
                  <a:rPr sz="2100">
                    <a:solidFill>
                      <a:srgbClr val="1E293B"/>
                    </a:solidFill>
                    <a:latin typeface="Calibri"/>
                  </a:rPr>
                  <a:t> là </a:t>
                </a:r>
                <a:r>
                  <a:rPr lang="vi-VN"/>
                  <a:t>\left(\frac{3}{2};\ 0;\ 1\right)</a:t>
                </a:r>
                <a:r>
                  <a:rPr sz="2100">
                    <a:solidFill>
                      <a:srgbClr val="1E293B"/>
                    </a:solidFill>
                    <a:latin typeface="Calibri"/>
                  </a:rPr>
                  <a:t>.</a:t>
                </a:r>
              </a:p>
            </p:txBody>
          </p:sp>
        </mc:Fallback>
      </mc:AlternateContent>
      <p:sp>
        <p:nvSpPr>
          <p:cNvPr id="13" name="s2_nen"/>
          <p:cNvSpPr/>
          <p:nvPr/>
        </p:nvSpPr>
        <p:spPr>
          <a:xfrm>
            <a:off x="8961120" y="3214420"/>
            <a:ext cx="2651759" cy="629716"/>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2_chu"/>
          <p:cNvSpPr txBox="1"/>
          <p:nvPr/>
        </p:nvSpPr>
        <p:spPr>
          <a:xfrm>
            <a:off x="8961120" y="3269284"/>
            <a:ext cx="2651759" cy="602284"/>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5" name="TextBox 14"/>
              <p:cNvSpPr txBox="1"/>
              <p:nvPr/>
            </p:nvSpPr>
            <p:spPr>
              <a:xfrm>
                <a:off x="548640" y="3953865"/>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Trọng tâm tam giác </a:t>
                </a:r>
                <a14:m>
                  <m:oMath xmlns:m="http://schemas.openxmlformats.org/officeDocument/2006/math">
                    <m:r>
                      <a:rPr lang="vi-VN" sz="2100" b="0">
                        <a:solidFill>
                          <a:srgbClr val="1E293B"/>
                        </a:solidFill>
                        <a:latin typeface="Cambria Math" panose="02040503050406030204" pitchFamily="18" charset="0"/>
                      </a:rPr>
                      <m:t>ABC</m:t>
                    </m:r>
                  </m:oMath>
                </a14:m>
                <a:r>
                  <a:rPr sz="2100">
                    <a:solidFill>
                      <a:srgbClr val="1E293B"/>
                    </a:solidFill>
                    <a:latin typeface="Calibri"/>
                  </a:rPr>
                  <a:t> là </a:t>
                </a:r>
                <a14:m>
                  <m:oMath xmlns:m="http://schemas.openxmlformats.org/officeDocument/2006/math">
                    <m:d>
                      <m:dPr>
                        <m:sepChr m:val=""/>
                      </m:dPr>
                      <m:e>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0</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15" name="TextBox 14"/>
              <p:cNvSpPr txBox="1"/>
              <p:nvPr/>
            </p:nvSpPr>
            <p:spPr>
              <a:xfrm>
                <a:off x="548640" y="3953865"/>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Trọng tâm tam giác </a:t>
                </a:r>
                <a:r>
                  <a:rPr lang="vi-VN"/>
                  <a:t>ABC</a:t>
                </a:r>
                <a:r>
                  <a:rPr sz="2100">
                    <a:solidFill>
                      <a:srgbClr val="1E293B"/>
                    </a:solidFill>
                    <a:latin typeface="Calibri"/>
                  </a:rPr>
                  <a:t> là </a:t>
                </a:r>
                <a:r>
                  <a:rPr lang="vi-VN"/>
                  <a:t>(1;\ 0;\ 2)</a:t>
                </a:r>
                <a:r>
                  <a:rPr sz="2100">
                    <a:solidFill>
                      <a:srgbClr val="1E293B"/>
                    </a:solidFill>
                    <a:latin typeface="Calibri"/>
                  </a:rPr>
                  <a:t>.</a:t>
                </a:r>
              </a:p>
            </p:txBody>
          </p:sp>
        </mc:Fallback>
      </mc:AlternateContent>
      <p:sp>
        <p:nvSpPr>
          <p:cNvPr id="16" name="s3_nen"/>
          <p:cNvSpPr/>
          <p:nvPr/>
        </p:nvSpPr>
        <p:spPr>
          <a:xfrm>
            <a:off x="8961120" y="3953865"/>
            <a:ext cx="2651759" cy="629716"/>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3_chu"/>
          <p:cNvSpPr txBox="1"/>
          <p:nvPr/>
        </p:nvSpPr>
        <p:spPr>
          <a:xfrm>
            <a:off x="8961120" y="4008729"/>
            <a:ext cx="2651759" cy="602284"/>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(đúng: (2/3; 0; 4/3))</a:t>
            </a:r>
          </a:p>
        </p:txBody>
      </p:sp>
      <mc:AlternateContent xmlns:mc="http://schemas.openxmlformats.org/markup-compatibility/2006">
        <mc:Choice xmlns:a14="http://schemas.microsoft.com/office/drawing/2010/main" Requires="a14">
          <p:sp>
            <p:nvSpPr>
              <p:cNvPr id="18" name="TextBox 17"/>
              <p:cNvSpPr txBox="1"/>
              <p:nvPr/>
            </p:nvSpPr>
            <p:spPr>
              <a:xfrm>
                <a:off x="548640" y="4693310"/>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a:t>
                </a:r>
                <a14:m>
                  <m:oMath xmlns:m="http://schemas.openxmlformats.org/officeDocument/2006/math">
                    <m:acc>
                      <m:accPr>
                        <m:chr m:val="⃗"/>
                      </m:accPr>
                      <m:e>
                        <m:r>
                          <a:rPr lang="vi-VN" sz="2100" b="0">
                            <a:solidFill>
                              <a:srgbClr val="1E293B"/>
                            </a:solidFill>
                            <a:latin typeface="Cambria Math" panose="02040503050406030204" pitchFamily="18" charset="0"/>
                          </a:rPr>
                          <m:t>AC</m:t>
                        </m:r>
                      </m:e>
                    </m:acc>
                  </m:oMath>
                </a14:m>
                <a:r>
                  <a:rPr sz="2100">
                    <a:solidFill>
                      <a:srgbClr val="1E293B"/>
                    </a:solidFill>
                    <a:latin typeface="Calibri"/>
                  </a:rPr>
                  <a:t> = </a:t>
                </a:r>
                <a14:m>
                  <m:oMath xmlns:m="http://schemas.openxmlformats.org/officeDocument/2006/math">
                    <m:d>
                      <m:dPr>
                        <m:sepChr m:val=""/>
                      </m:dPr>
                      <m:e>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3</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1</m:t>
                        </m:r>
                      </m:e>
                    </m:d>
                  </m:oMath>
                </a14:m>
                <a:r>
                  <a:rPr sz="2100">
                    <a:solidFill>
                      <a:srgbClr val="1E293B"/>
                    </a:solidFill>
                    <a:latin typeface="Calibri"/>
                  </a:rPr>
                  <a:t>.</a:t>
                </a:r>
              </a:p>
            </p:txBody>
          </p:sp>
        </mc:Choice>
        <mc:Fallback>
          <p:sp>
            <p:nvSpPr>
              <p:cNvPr id="18" name="TextBox 17"/>
              <p:cNvSpPr txBox="1"/>
              <p:nvPr/>
            </p:nvSpPr>
            <p:spPr>
              <a:xfrm>
                <a:off x="548640" y="4693310"/>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a:t>
                </a:r>
                <a:r>
                  <a:rPr lang="vi-VN"/>
                  <a:t>\overrightarrow{AC}</a:t>
                </a:r>
                <a:r>
                  <a:rPr sz="2100">
                    <a:solidFill>
                      <a:srgbClr val="1E293B"/>
                    </a:solidFill>
                    <a:latin typeface="Calibri"/>
                  </a:rPr>
                  <a:t> = </a:t>
                </a:r>
                <a:r>
                  <a:rPr lang="vi-VN"/>
                  <a:t>(-3;\ 1;\ -1)</a:t>
                </a:r>
                <a:r>
                  <a:rPr sz="2100">
                    <a:solidFill>
                      <a:srgbClr val="1E293B"/>
                    </a:solidFill>
                    <a:latin typeface="Calibri"/>
                  </a:rPr>
                  <a:t>.</a:t>
                </a:r>
              </a:p>
            </p:txBody>
          </p:sp>
        </mc:Fallback>
      </mc:AlternateContent>
      <p:sp>
        <p:nvSpPr>
          <p:cNvPr id="19" name="s4_nen"/>
          <p:cNvSpPr/>
          <p:nvPr/>
        </p:nvSpPr>
        <p:spPr>
          <a:xfrm>
            <a:off x="8961120" y="4693310"/>
            <a:ext cx="2651759" cy="629716"/>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4_chu"/>
          <p:cNvSpPr txBox="1"/>
          <p:nvPr/>
        </p:nvSpPr>
        <p:spPr>
          <a:xfrm>
            <a:off x="8961120" y="4748174"/>
            <a:ext cx="2651759" cy="602284"/>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21" name="TextBox 20"/>
              <p:cNvSpPr txBox="1"/>
              <p:nvPr/>
            </p:nvSpPr>
            <p:spPr>
              <a:xfrm>
                <a:off x="548640" y="5432755"/>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5.</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AB=</m:t>
                    </m:r>
                    <m:rad>
                      <m:radPr>
                        <m:degHide m:val="on"/>
                      </m:radPr>
                      <m:deg/>
                      <m:e>
                        <m:r>
                          <a:rPr lang="vi-VN" sz="2100" b="0">
                            <a:solidFill>
                              <a:srgbClr val="1E293B"/>
                            </a:solidFill>
                            <a:latin typeface="Cambria Math" panose="02040503050406030204" pitchFamily="18" charset="0"/>
                          </a:rPr>
                          <m:t>21</m:t>
                        </m:r>
                      </m:e>
                    </m:rad>
                  </m:oMath>
                </a14:m>
                <a:r>
                  <a:rPr sz="2100">
                    <a:solidFill>
                      <a:srgbClr val="1E293B"/>
                    </a:solidFill>
                    <a:latin typeface="Calibri"/>
                  </a:rPr>
                  <a:t>.</a:t>
                </a:r>
              </a:p>
            </p:txBody>
          </p:sp>
        </mc:Choice>
        <mc:Fallback>
          <p:sp>
            <p:nvSpPr>
              <p:cNvPr id="21" name="TextBox 20"/>
              <p:cNvSpPr txBox="1"/>
              <p:nvPr/>
            </p:nvSpPr>
            <p:spPr>
              <a:xfrm>
                <a:off x="548640" y="5432755"/>
                <a:ext cx="8229600" cy="69372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5.</a:t>
                </a:r>
                <a:r>
                  <a:rPr sz="2100">
                    <a:solidFill>
                      <a:srgbClr val="1E293B"/>
                    </a:solidFill>
                    <a:latin typeface="Calibri"/>
                  </a:rPr>
                  <a:t> </a:t>
                </a:r>
                <a:r>
                  <a:rPr lang="vi-VN"/>
                  <a:t>AB=\sqrt{21}</a:t>
                </a:r>
                <a:r>
                  <a:rPr sz="2100">
                    <a:solidFill>
                      <a:srgbClr val="1E293B"/>
                    </a:solidFill>
                    <a:latin typeface="Calibri"/>
                  </a:rPr>
                  <a:t>.</a:t>
                </a:r>
              </a:p>
            </p:txBody>
          </p:sp>
        </mc:Fallback>
      </mc:AlternateContent>
      <p:sp>
        <p:nvSpPr>
          <p:cNvPr id="22" name="s5_nen"/>
          <p:cNvSpPr/>
          <p:nvPr/>
        </p:nvSpPr>
        <p:spPr>
          <a:xfrm>
            <a:off x="8961120" y="5432755"/>
            <a:ext cx="2651759" cy="629716"/>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5_chu"/>
          <p:cNvSpPr txBox="1"/>
          <p:nvPr/>
        </p:nvSpPr>
        <p:spPr>
          <a:xfrm>
            <a:off x="8961120" y="5487619"/>
            <a:ext cx="2651759" cy="602284"/>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2.38 – 2.39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23</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2.38.</a:t>
                </a:r>
                <a:r>
                  <a:rPr sz="2000">
                    <a:solidFill>
                      <a:srgbClr val="1E293B"/>
                    </a:solidFill>
                    <a:latin typeface="Calibri"/>
                  </a:rPr>
                  <a:t> Cho </a:t>
                </a:r>
                <a14:m>
                  <m:oMath xmlns:m="http://schemas.openxmlformats.org/officeDocument/2006/math">
                    <m:r>
                      <a:rPr lang="vi-VN" sz="2000" b="0">
                        <a:solidFill>
                          <a:srgbClr val="1E293B"/>
                        </a:solidFill>
                        <a:latin typeface="Cambria Math" panose="02040503050406030204" pitchFamily="18" charset="0"/>
                      </a:rPr>
                      <m:t>A(2;−1;3)</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B(1;1;−1)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C(−1;0;2)</m:t>
                    </m:r>
                  </m:oMath>
                </a14:m>
                <a:r>
                  <a:rPr sz="2000">
                    <a:solidFill>
                      <a:srgbClr val="1E293B"/>
                    </a:solidFill>
                    <a:latin typeface="Calibri"/>
                  </a:rPr>
                  <a:t>. a) Tìm toạ độ trọng tâm </a:t>
                </a:r>
                <a14:m>
                  <m:oMath xmlns:m="http://schemas.openxmlformats.org/officeDocument/2006/math">
                    <m:r>
                      <a:rPr lang="vi-VN" sz="2000" b="0">
                        <a:solidFill>
                          <a:srgbClr val="1E293B"/>
                        </a:solidFill>
                        <a:latin typeface="Cambria Math" panose="02040503050406030204" pitchFamily="18" charset="0"/>
                      </a:rPr>
                      <m:t>G</m:t>
                    </m:r>
                  </m:oMath>
                </a14:m>
                <a:r>
                  <a:rPr sz="2000">
                    <a:solidFill>
                      <a:srgbClr val="1E293B"/>
                    </a:solidFill>
                    <a:latin typeface="Calibri"/>
                  </a:rPr>
                  <a:t> của tam giác </a:t>
                </a:r>
                <a14:m>
                  <m:oMath xmlns:m="http://schemas.openxmlformats.org/officeDocument/2006/math">
                    <m:r>
                      <a:rPr lang="vi-VN" sz="2000" b="0">
                        <a:solidFill>
                          <a:srgbClr val="1E293B"/>
                        </a:solidFill>
                        <a:latin typeface="Cambria Math" panose="02040503050406030204" pitchFamily="18" charset="0"/>
                      </a:rPr>
                      <m:t>ABC</m:t>
                    </m:r>
                  </m:oMath>
                </a14:m>
                <a:r>
                  <a:rPr sz="2000">
                    <a:solidFill>
                      <a:srgbClr val="1E293B"/>
                    </a:solidFill>
                    <a:latin typeface="Calibri"/>
                  </a:rPr>
                  <a:t>. b) Tìm toạ độ điểm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thuộc trục </a:t>
                </a:r>
                <a14:m>
                  <m:oMath xmlns:m="http://schemas.openxmlformats.org/officeDocument/2006/math">
                    <m:r>
                      <a:rPr lang="vi-VN" sz="2000" b="0">
                        <a:solidFill>
                          <a:srgbClr val="1E293B"/>
                        </a:solidFill>
                        <a:latin typeface="Cambria Math" panose="02040503050406030204" pitchFamily="18" charset="0"/>
                      </a:rPr>
                      <m:t>Oz</m:t>
                    </m:r>
                  </m:oMath>
                </a14:m>
                <a:r>
                  <a:rPr sz="2000">
                    <a:solidFill>
                      <a:srgbClr val="1E293B"/>
                    </a:solidFill>
                    <a:latin typeface="Calibri"/>
                  </a:rPr>
                  <a:t> sao cho </a:t>
                </a:r>
                <a14:m>
                  <m:oMath xmlns:m="http://schemas.openxmlformats.org/officeDocument/2006/math">
                    <m:r>
                      <a:rPr lang="vi-VN" sz="2000" b="0">
                        <a:solidFill>
                          <a:srgbClr val="1E293B"/>
                        </a:solidFill>
                        <a:latin typeface="Cambria Math" panose="02040503050406030204" pitchFamily="18" charset="0"/>
                      </a:rPr>
                      <m:t>BM⟂AC</m:t>
                    </m:r>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2.38.</a:t>
                </a:r>
                <a:r>
                  <a:rPr sz="2000">
                    <a:solidFill>
                      <a:srgbClr val="1E293B"/>
                    </a:solidFill>
                    <a:latin typeface="Calibri"/>
                  </a:rPr>
                  <a:t> Cho </a:t>
                </a:r>
                <a:r>
                  <a:rPr lang="vi-VN"/>
                  <a:t>A(2;-1;3)</a:t>
                </a:r>
                <a:r>
                  <a:rPr sz="2000">
                    <a:solidFill>
                      <a:srgbClr val="1E293B"/>
                    </a:solidFill>
                    <a:latin typeface="Calibri"/>
                  </a:rPr>
                  <a:t>, </a:t>
                </a:r>
                <a:r>
                  <a:rPr lang="vi-VN"/>
                  <a:t>B(1;1;-1)</a:t>
                </a:r>
                <a:r>
                  <a:rPr sz="2000">
                    <a:solidFill>
                      <a:srgbClr val="1E293B"/>
                    </a:solidFill>
                    <a:latin typeface="Calibri"/>
                  </a:rPr>
                  <a:t>, </a:t>
                </a:r>
                <a:r>
                  <a:rPr lang="vi-VN"/>
                  <a:t>C(-1;0;2)</a:t>
                </a:r>
                <a:r>
                  <a:rPr sz="2000">
                    <a:solidFill>
                      <a:srgbClr val="1E293B"/>
                    </a:solidFill>
                    <a:latin typeface="Calibri"/>
                  </a:rPr>
                  <a:t>. a) Tìm toạ độ trọng tâm </a:t>
                </a:r>
                <a:r>
                  <a:rPr lang="vi-VN"/>
                  <a:t>G</a:t>
                </a:r>
                <a:r>
                  <a:rPr sz="2000">
                    <a:solidFill>
                      <a:srgbClr val="1E293B"/>
                    </a:solidFill>
                    <a:latin typeface="Calibri"/>
                  </a:rPr>
                  <a:t> của tam giác </a:t>
                </a:r>
                <a:r>
                  <a:rPr lang="vi-VN"/>
                  <a:t>ABC</a:t>
                </a:r>
                <a:r>
                  <a:rPr sz="2000">
                    <a:solidFill>
                      <a:srgbClr val="1E293B"/>
                    </a:solidFill>
                    <a:latin typeface="Calibri"/>
                  </a:rPr>
                  <a:t>. b) Tìm toạ độ điểm </a:t>
                </a:r>
                <a:r>
                  <a:rPr lang="vi-VN"/>
                  <a:t>M</a:t>
                </a:r>
                <a:r>
                  <a:rPr sz="2000">
                    <a:solidFill>
                      <a:srgbClr val="1E293B"/>
                    </a:solidFill>
                    <a:latin typeface="Calibri"/>
                  </a:rPr>
                  <a:t> thuộc trục </a:t>
                </a:r>
                <a:r>
                  <a:rPr lang="vi-VN"/>
                  <a:t>Oz</a:t>
                </a:r>
                <a:r>
                  <a:rPr sz="2000">
                    <a:solidFill>
                      <a:srgbClr val="1E293B"/>
                    </a:solidFill>
                    <a:latin typeface="Calibri"/>
                  </a:rPr>
                  <a:t> sao cho </a:t>
                </a:r>
                <a:r>
                  <a:rPr lang="vi-VN"/>
                  <a:t>BM\perp AC</a:t>
                </a:r>
                <a:r>
                  <a:rPr sz="2000">
                    <a:solidFill>
                      <a:srgbClr val="1E293B"/>
                    </a:solidFill>
                    <a:latin typeface="Calibri"/>
                  </a:rPr>
                  <a:t>.</a:t>
                </a:r>
              </a:p>
            </p:txBody>
          </p:sp>
        </mc:Fallback>
      </mc:AlternateContent>
      <p:sp>
        <p:nvSpPr>
          <p:cNvPr id="8" name="s1_nen"/>
          <p:cNvSpPr/>
          <p:nvPr/>
        </p:nvSpPr>
        <p:spPr>
          <a:xfrm>
            <a:off x="548640" y="2218944"/>
            <a:ext cx="11064240" cy="11490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10759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2.38.</a:t>
                </a:r>
                <a:r>
                  <a:rPr sz="2000">
                    <a:solidFill>
                      <a:srgbClr val="1E293B"/>
                    </a:solidFill>
                    <a:latin typeface="Calibri"/>
                  </a:rPr>
                  <a:t> a) </a:t>
                </a:r>
                <a14:m>
                  <m:oMath xmlns:m="http://schemas.openxmlformats.org/officeDocument/2006/math">
                    <m:r>
                      <a:rPr lang="vi-VN" sz="2000" b="0">
                        <a:solidFill>
                          <a:srgbClr val="1E293B"/>
                        </a:solidFill>
                        <a:latin typeface="Cambria Math" panose="02040503050406030204" pitchFamily="18" charset="0"/>
                      </a:rPr>
                      <m:t>G</m:t>
                    </m:r>
                    <m:d>
                      <m:dPr>
                        <m:sepChr m:val=""/>
                      </m:dPr>
                      <m:e>
                        <m:f>
                          <m:fPr>
                            <m:type m:val="bar"/>
                          </m:fPr>
                          <m:num>
                            <m:r>
                              <a:rPr lang="vi-VN" sz="2000" b="0">
                                <a:solidFill>
                                  <a:srgbClr val="1E293B"/>
                                </a:solidFill>
                                <a:latin typeface="Cambria Math" panose="02040503050406030204" pitchFamily="18" charset="0"/>
                              </a:rPr>
                              <m:t>2</m:t>
                            </m:r>
                          </m:num>
                          <m:den>
                            <m:r>
                              <a:rPr lang="vi-VN" sz="2000" b="0">
                                <a:solidFill>
                                  <a:srgbClr val="1E293B"/>
                                </a:solidFill>
                                <a:latin typeface="Cambria Math" panose="02040503050406030204" pitchFamily="18" charset="0"/>
                              </a:rPr>
                              <m:t>3</m:t>
                            </m:r>
                          </m:den>
                        </m:f>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m:rPr>
                            <m:sty m:val="p"/>
                          </m:rPr>
                          <a:rPr lang="vi-VN" sz="2000" b="0">
                            <a:solidFill>
                              <a:srgbClr val="1E293B"/>
                            </a:solidFill>
                            <a:latin typeface="Cambria Math" panose="02040503050406030204" pitchFamily="18" charset="0"/>
                          </a:rPr>
                          <m:t> </m:t>
                        </m:r>
                        <m:f>
                          <m:fPr>
                            <m:type m:val="bar"/>
                          </m:fPr>
                          <m:num>
                            <m:r>
                              <a:rPr lang="vi-VN" sz="2000" b="0">
                                <a:solidFill>
                                  <a:srgbClr val="1E293B"/>
                                </a:solidFill>
                                <a:latin typeface="Cambria Math" panose="02040503050406030204" pitchFamily="18" charset="0"/>
                              </a:rPr>
                              <m:t>4</m:t>
                            </m:r>
                          </m:num>
                          <m:den>
                            <m:r>
                              <a:rPr lang="vi-VN" sz="2000" b="0">
                                <a:solidFill>
                                  <a:srgbClr val="1E293B"/>
                                </a:solidFill>
                                <a:latin typeface="Cambria Math" panose="02040503050406030204" pitchFamily="18" charset="0"/>
                              </a:rPr>
                              <m:t>3</m:t>
                            </m:r>
                          </m:den>
                        </m:f>
                      </m:e>
                    </m:d>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M(0;0;z)</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z</m:t>
                        </m:r>
                      </m:e>
                      <m:e>
                        <m:r>
                          <a:rPr lang="vi-VN" sz="2000" b="0">
                            <a:solidFill>
                              <a:srgbClr val="1E293B"/>
                            </a:solidFill>
                            <a:latin typeface="Cambria Math" panose="02040503050406030204" pitchFamily="18" charset="0"/>
                          </a:rPr>
                          <m:t>1</m:t>
                        </m:r>
                      </m:e>
                    </m:d>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AC</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1</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3−1−(z+1)=0</m:t>
                    </m:r>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z=1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M(0;0;1)</m:t>
                    </m:r>
                  </m:oMath>
                </a14:m>
                <a:r>
                  <a:rPr sz="2000">
                    <a:solidFill>
                      <a:srgbClr val="1E293B"/>
                    </a:solidFill>
                    <a:latin typeface="Calibri"/>
                  </a:rPr>
                  <a:t>.</a:t>
                </a:r>
              </a:p>
            </p:txBody>
          </p:sp>
        </mc:Choice>
        <mc:Fallback>
          <p:sp>
            <p:nvSpPr>
              <p:cNvPr id="9" name="TextBox 8"/>
              <p:cNvSpPr txBox="1"/>
              <p:nvPr/>
            </p:nvSpPr>
            <p:spPr>
              <a:xfrm>
                <a:off x="713232" y="2255520"/>
                <a:ext cx="10735056" cy="107594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2.38.</a:t>
                </a:r>
                <a:r>
                  <a:rPr sz="2000">
                    <a:solidFill>
                      <a:srgbClr val="1E293B"/>
                    </a:solidFill>
                    <a:latin typeface="Calibri"/>
                  </a:rPr>
                  <a:t> a) </a:t>
                </a:r>
                <a:r>
                  <a:rPr lang="vi-VN"/>
                  <a:t>G\left(\frac{2}{3};\ 0;\ \frac{4}{3}\right)</a:t>
                </a:r>
                <a:r>
                  <a:rPr sz="2000">
                    <a:solidFill>
                      <a:srgbClr val="1E293B"/>
                    </a:solidFill>
                    <a:latin typeface="Calibri"/>
                  </a:rPr>
                  <a:t>. b) </a:t>
                </a:r>
                <a:r>
                  <a:rPr lang="vi-VN"/>
                  <a:t>M(0;0;z)</a:t>
                </a:r>
                <a:r>
                  <a:rPr sz="2000">
                    <a:solidFill>
                      <a:srgbClr val="1E293B"/>
                    </a:solidFill>
                    <a:latin typeface="Calibri"/>
                  </a:rPr>
                  <a:t>: </a:t>
                </a:r>
                <a:r>
                  <a:rPr lang="vi-VN"/>
                  <a:t>\overrightarrow{BM}</a:t>
                </a:r>
                <a:r>
                  <a:rPr sz="2000">
                    <a:solidFill>
                      <a:srgbClr val="1E293B"/>
                    </a:solidFill>
                    <a:latin typeface="Calibri"/>
                  </a:rPr>
                  <a:t> = </a:t>
                </a:r>
                <a:r>
                  <a:rPr lang="vi-VN"/>
                  <a:t>(-1;-1;z+1)</a:t>
                </a:r>
                <a:r>
                  <a:rPr sz="2000">
                    <a:solidFill>
                      <a:srgbClr val="1E293B"/>
                    </a:solidFill>
                    <a:latin typeface="Calibri"/>
                  </a:rPr>
                  <a:t>, </a:t>
                </a:r>
                <a:r>
                  <a:rPr lang="vi-VN"/>
                  <a:t>\overrightarrow{AC}</a:t>
                </a:r>
                <a:r>
                  <a:rPr sz="2000">
                    <a:solidFill>
                      <a:srgbClr val="1E293B"/>
                    </a:solidFill>
                    <a:latin typeface="Calibri"/>
                  </a:rPr>
                  <a:t> = </a:t>
                </a:r>
                <a:r>
                  <a:rPr lang="vi-VN"/>
                  <a:t>(-3;1;-1)</a:t>
                </a:r>
                <a:r>
                  <a:rPr sz="2000">
                    <a:solidFill>
                      <a:srgbClr val="1E293B"/>
                    </a:solidFill>
                    <a:latin typeface="Calibri"/>
                  </a:rPr>
                  <a:t>; </a:t>
                </a:r>
                <a:r>
                  <a:rPr lang="vi-VN"/>
                  <a:t>3-1-(z+1)=0</a:t>
                </a:r>
                <a:r>
                  <a:rPr sz="2000">
                    <a:solidFill>
                      <a:srgbClr val="1E293B"/>
                    </a:solidFill>
                    <a:latin typeface="Calibri"/>
                  </a:rPr>
                  <a:t> ⇒ </a:t>
                </a:r>
                <a:r>
                  <a:rPr lang="vi-VN"/>
                  <a:t>z=1</a:t>
                </a:r>
                <a:r>
                  <a:rPr sz="2000">
                    <a:solidFill>
                      <a:srgbClr val="1E293B"/>
                    </a:solidFill>
                    <a:latin typeface="Calibri"/>
                  </a:rPr>
                  <a:t>, </a:t>
                </a:r>
                <a:r>
                  <a:rPr lang="vi-VN"/>
                  <a:t>M(0;0;1)</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432048"/>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2.39.</a:t>
                </a:r>
                <a:r>
                  <a:rPr sz="2000">
                    <a:solidFill>
                      <a:srgbClr val="1E293B"/>
                    </a:solidFill>
                    <a:latin typeface="Calibri"/>
                  </a:rPr>
                  <a:t> Cho hình hộp </a:t>
                </a:r>
                <a14:m>
                  <m:oMath xmlns:m="http://schemas.openxmlformats.org/officeDocument/2006/math">
                    <m:r>
                      <a:rPr lang="vi-VN" sz="2000" b="0">
                        <a:solidFill>
                          <a:srgbClr val="1E293B"/>
                        </a:solidFill>
                        <a:latin typeface="Cambria Math" panose="02040503050406030204" pitchFamily="18" charset="0"/>
                      </a:rPr>
                      <m:t>OABC.</m:t>
                    </m:r>
                    <m:sSup>
                      <m:e>
                        <m:r>
                          <a:rPr lang="vi-VN" sz="2000" b="0">
                            <a:solidFill>
                              <a:srgbClr val="1E293B"/>
                            </a:solidFill>
                            <a:latin typeface="Cambria Math" panose="02040503050406030204" pitchFamily="18" charset="0"/>
                          </a:rPr>
                          <m:t>O</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có </a:t>
                </a:r>
                <a14:m>
                  <m:oMath xmlns:m="http://schemas.openxmlformats.org/officeDocument/2006/math">
                    <m:r>
                      <a:rPr lang="vi-VN" sz="2000" b="0">
                        <a:solidFill>
                          <a:srgbClr val="1E293B"/>
                        </a:solidFill>
                        <a:latin typeface="Cambria Math" panose="02040503050406030204" pitchFamily="18" charset="0"/>
                      </a:rPr>
                      <m:t>A(2;3;1)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C(−1;2;3)</m:t>
                    </m:r>
                  </m:oMath>
                </a14:m>
                <a:r>
                  <a:rPr sz="2000">
                    <a:solidFill>
                      <a:srgbClr val="1E293B"/>
                    </a:solidFill>
                    <a:latin typeface="Calibri"/>
                  </a:rPr>
                  <a:t> và </a:t>
                </a:r>
                <a14:m>
                  <m:oMath xmlns:m="http://schemas.openxmlformats.org/officeDocument/2006/math">
                    <m:sSup>
                      <m:e>
                        <m:r>
                          <a:rPr lang="vi-VN" sz="2000" b="0">
                            <a:solidFill>
                              <a:srgbClr val="1E293B"/>
                            </a:solidFill>
                            <a:latin typeface="Cambria Math" panose="02040503050406030204" pitchFamily="18" charset="0"/>
                          </a:rPr>
                          <m:t>O</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(1;−2;2)</m:t>
                    </m:r>
                  </m:oMath>
                </a14:m>
                <a:r>
                  <a:rPr sz="2000">
                    <a:solidFill>
                      <a:srgbClr val="1E293B"/>
                    </a:solidFill>
                    <a:latin typeface="Calibri"/>
                  </a:rPr>
                  <a:t>. Tìm toạ độ các đỉnh còn lại của hình hộp.</a:t>
                </a:r>
              </a:p>
            </p:txBody>
          </p:sp>
        </mc:Choice>
        <mc:Fallback>
          <p:sp>
            <p:nvSpPr>
              <p:cNvPr id="10" name="TextBox 9"/>
              <p:cNvSpPr txBox="1"/>
              <p:nvPr/>
            </p:nvSpPr>
            <p:spPr>
              <a:xfrm>
                <a:off x="548640" y="3432048"/>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2.39.</a:t>
                </a:r>
                <a:r>
                  <a:rPr sz="2000">
                    <a:solidFill>
                      <a:srgbClr val="1E293B"/>
                    </a:solidFill>
                    <a:latin typeface="Calibri"/>
                  </a:rPr>
                  <a:t> Cho hình hộp </a:t>
                </a:r>
                <a:r>
                  <a:rPr lang="vi-VN"/>
                  <a:t>OABC.O'A'B'C'</a:t>
                </a:r>
                <a:r>
                  <a:rPr sz="2000">
                    <a:solidFill>
                      <a:srgbClr val="1E293B"/>
                    </a:solidFill>
                    <a:latin typeface="Calibri"/>
                  </a:rPr>
                  <a:t> có </a:t>
                </a:r>
                <a:r>
                  <a:rPr lang="vi-VN"/>
                  <a:t>A(2;3;1)</a:t>
                </a:r>
                <a:r>
                  <a:rPr sz="2000">
                    <a:solidFill>
                      <a:srgbClr val="1E293B"/>
                    </a:solidFill>
                    <a:latin typeface="Calibri"/>
                  </a:rPr>
                  <a:t>, </a:t>
                </a:r>
                <a:r>
                  <a:rPr lang="vi-VN"/>
                  <a:t>C(-1;2;3)</a:t>
                </a:r>
                <a:r>
                  <a:rPr sz="2000">
                    <a:solidFill>
                      <a:srgbClr val="1E293B"/>
                    </a:solidFill>
                    <a:latin typeface="Calibri"/>
                  </a:rPr>
                  <a:t> và </a:t>
                </a:r>
                <a:r>
                  <a:rPr lang="vi-VN"/>
                  <a:t>O'(1;-2;2)</a:t>
                </a:r>
                <a:r>
                  <a:rPr sz="2000">
                    <a:solidFill>
                      <a:srgbClr val="1E293B"/>
                    </a:solidFill>
                    <a:latin typeface="Calibri"/>
                  </a:rPr>
                  <a:t>. Tìm toạ độ các đỉnh còn lại của hình hộp.</a:t>
                </a:r>
              </a:p>
            </p:txBody>
          </p:sp>
        </mc:Fallback>
      </mc:AlternateContent>
      <p:sp>
        <p:nvSpPr>
          <p:cNvPr id="11" name="s3_nen"/>
          <p:cNvSpPr/>
          <p:nvPr/>
        </p:nvSpPr>
        <p:spPr>
          <a:xfrm>
            <a:off x="548640" y="4279392"/>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15968"/>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2.39.</a:t>
                </a:r>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OB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OA</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OC</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B(1;5;4)</m:t>
                    </m:r>
                  </m:oMath>
                </a14:m>
                <a:r>
                  <a:rPr sz="2000">
                    <a:solidFill>
                      <a:srgbClr val="1E293B"/>
                    </a:solidFill>
                    <a:latin typeface="Calibri"/>
                  </a:rPr>
                  <a:t>; cộng thêm </a:t>
                </a:r>
                <a14:m>
                  <m:oMath xmlns:m="http://schemas.openxmlformats.org/officeDocument/2006/math">
                    <m:acc>
                      <m:accPr>
                        <m:chr m:val="⃗"/>
                      </m:accPr>
                      <m:e>
                        <m:r>
                          <a:rPr lang="vi-VN" sz="2000" b="0">
                            <a:solidFill>
                              <a:srgbClr val="1E293B"/>
                            </a:solidFill>
                            <a:latin typeface="Cambria Math" panose="02040503050406030204" pitchFamily="18" charset="0"/>
                          </a:rPr>
                          <m:t>O</m:t>
                        </m:r>
                        <m:sSup>
                          <m:e>
                            <m:r>
                              <a:rPr lang="vi-VN" sz="2000" b="0">
                                <a:solidFill>
                                  <a:srgbClr val="1E293B"/>
                                </a:solidFill>
                                <a:latin typeface="Cambria Math" panose="02040503050406030204" pitchFamily="18" charset="0"/>
                              </a:rPr>
                              <m:t>O</m:t>
                            </m:r>
                          </m:e>
                          <m:sup>
                            <m:r>
                              <a:rPr lang="vi-VN" sz="2000" b="0">
                                <a:solidFill>
                                  <a:srgbClr val="1E293B"/>
                                </a:solidFill>
                                <a:latin typeface="Cambria Math" panose="02040503050406030204" pitchFamily="18" charset="0"/>
                              </a:rPr>
                              <m:t>′</m:t>
                            </m:r>
                          </m:sup>
                        </m:sSup>
                      </m:e>
                    </m:acc>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A</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(3;1;3)</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B</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(2;3;6)</m:t>
                    </m:r>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C</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(0;0;5)</m:t>
                    </m:r>
                  </m:oMath>
                </a14:m>
                <a:r>
                  <a:rPr sz="2000">
                    <a:solidFill>
                      <a:srgbClr val="1E293B"/>
                    </a:solidFill>
                    <a:latin typeface="Calibri"/>
                  </a:rPr>
                  <a:t>.</a:t>
                </a:r>
              </a:p>
            </p:txBody>
          </p:sp>
        </mc:Choice>
        <mc:Fallback>
          <p:sp>
            <p:nvSpPr>
              <p:cNvPr id="12" name="TextBox 11"/>
              <p:cNvSpPr txBox="1"/>
              <p:nvPr/>
            </p:nvSpPr>
            <p:spPr>
              <a:xfrm>
                <a:off x="713232" y="4315968"/>
                <a:ext cx="10735056" cy="80162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2.39.</a:t>
                </a:r>
                <a:r>
                  <a:rPr sz="2000">
                    <a:solidFill>
                      <a:srgbClr val="1E293B"/>
                    </a:solidFill>
                    <a:latin typeface="Calibri"/>
                  </a:rPr>
                  <a:t> </a:t>
                </a:r>
                <a:r>
                  <a:rPr lang="vi-VN"/>
                  <a:t>\overrightarrow{OB}</a:t>
                </a:r>
                <a:r>
                  <a:rPr sz="2000">
                    <a:solidFill>
                      <a:srgbClr val="1E293B"/>
                    </a:solidFill>
                    <a:latin typeface="Calibri"/>
                  </a:rPr>
                  <a:t> = </a:t>
                </a:r>
                <a:r>
                  <a:rPr lang="vi-VN"/>
                  <a:t>\overrightarrow{OA}</a:t>
                </a:r>
                <a:r>
                  <a:rPr sz="2000">
                    <a:solidFill>
                      <a:srgbClr val="1E293B"/>
                    </a:solidFill>
                    <a:latin typeface="Calibri"/>
                  </a:rPr>
                  <a:t> + </a:t>
                </a:r>
                <a:r>
                  <a:rPr lang="vi-VN"/>
                  <a:t>\overrightarrow{OC}</a:t>
                </a:r>
                <a:r>
                  <a:rPr sz="2000">
                    <a:solidFill>
                      <a:srgbClr val="1E293B"/>
                    </a:solidFill>
                    <a:latin typeface="Calibri"/>
                  </a:rPr>
                  <a:t> ⇒ </a:t>
                </a:r>
                <a:r>
                  <a:rPr lang="vi-VN"/>
                  <a:t>B(1;5;4)</a:t>
                </a:r>
                <a:r>
                  <a:rPr sz="2000">
                    <a:solidFill>
                      <a:srgbClr val="1E293B"/>
                    </a:solidFill>
                    <a:latin typeface="Calibri"/>
                  </a:rPr>
                  <a:t>; cộng thêm </a:t>
                </a:r>
                <a:r>
                  <a:rPr lang="vi-VN"/>
                  <a:t>\overrightarrow{OO'}</a:t>
                </a:r>
                <a:r>
                  <a:rPr sz="2000">
                    <a:solidFill>
                      <a:srgbClr val="1E293B"/>
                    </a:solidFill>
                    <a:latin typeface="Calibri"/>
                  </a:rPr>
                  <a:t>: </a:t>
                </a:r>
                <a:r>
                  <a:rPr lang="vi-VN"/>
                  <a:t>A'(3;1;3)</a:t>
                </a:r>
                <a:r>
                  <a:rPr sz="2000">
                    <a:solidFill>
                      <a:srgbClr val="1E293B"/>
                    </a:solidFill>
                    <a:latin typeface="Calibri"/>
                  </a:rPr>
                  <a:t>, </a:t>
                </a:r>
                <a:r>
                  <a:rPr lang="vi-VN"/>
                  <a:t>B'(2;3;6)</a:t>
                </a:r>
                <a:r>
                  <a:rPr sz="2000">
                    <a:solidFill>
                      <a:srgbClr val="1E293B"/>
                    </a:solidFill>
                    <a:latin typeface="Calibri"/>
                  </a:rPr>
                  <a:t>, </a:t>
                </a:r>
                <a:r>
                  <a:rPr lang="vi-VN"/>
                  <a:t>C'(0;0;5)</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2.40 – 2.41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2.40.</a:t>
                </a:r>
                <a:r>
                  <a:rPr sz="2000">
                    <a:solidFill>
                      <a:srgbClr val="1E293B"/>
                    </a:solidFill>
                    <a:latin typeface="Calibri"/>
                  </a:rPr>
                  <a:t> Cho </a:t>
                </a:r>
                <a14:m>
                  <m:oMath xmlns:m="http://schemas.openxmlformats.org/officeDocument/2006/math">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=(−2;1;2)</m:t>
                    </m:r>
                  </m:oMath>
                </a14:m>
                <a:r>
                  <a:rPr sz="2000">
                    <a:solidFill>
                      <a:srgbClr val="1E293B"/>
                    </a:solidFill>
                    <a:latin typeface="Calibri"/>
                  </a:rPr>
                  <a:t>, </a:t>
                </a:r>
                <a14:m>
                  <m:oMath xmlns:m="http://schemas.openxmlformats.org/officeDocument/2006/math">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=(1;1;−1)</m:t>
                    </m:r>
                  </m:oMath>
                </a14:m>
                <a:r>
                  <a:rPr sz="2000">
                    <a:solidFill>
                      <a:srgbClr val="1E293B"/>
                    </a:solidFill>
                    <a:latin typeface="Calibri"/>
                  </a:rPr>
                  <a:t>. a) Xác định toạ độ của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−2</m:t>
                    </m:r>
                    <m:acc>
                      <m:accPr>
                        <m:chr m:val="⃗"/>
                      </m:accPr>
                      <m:e>
                        <m:r>
                          <a:rPr lang="vi-VN" sz="2000" b="0">
                            <a:solidFill>
                              <a:srgbClr val="1E293B"/>
                            </a:solidFill>
                            <a:latin typeface="Cambria Math" panose="02040503050406030204" pitchFamily="18" charset="0"/>
                          </a:rPr>
                          <m:t>b</m:t>
                        </m:r>
                      </m:e>
                    </m:acc>
                  </m:oMath>
                </a14:m>
                <a:r>
                  <a:rPr sz="2000">
                    <a:solidFill>
                      <a:srgbClr val="1E293B"/>
                    </a:solidFill>
                    <a:latin typeface="Calibri"/>
                  </a:rPr>
                  <a:t>. b) Tính độ dài của </a:t>
                </a:r>
                <a14:m>
                  <m:oMath xmlns:m="http://schemas.openxmlformats.org/officeDocument/2006/math">
                    <m:acc>
                      <m:accPr>
                        <m:chr m:val="⃗"/>
                      </m:accPr>
                      <m:e>
                        <m:r>
                          <a:rPr lang="vi-VN" sz="2000" b="0">
                            <a:solidFill>
                              <a:srgbClr val="1E293B"/>
                            </a:solidFill>
                            <a:latin typeface="Cambria Math" panose="02040503050406030204" pitchFamily="18" charset="0"/>
                          </a:rPr>
                          <m:t>u</m:t>
                        </m:r>
                      </m:e>
                    </m:acc>
                  </m:oMath>
                </a14:m>
                <a:r>
                  <a:rPr sz="2000">
                    <a:solidFill>
                      <a:srgbClr val="1E293B"/>
                    </a:solidFill>
                    <a:latin typeface="Calibri"/>
                  </a:rPr>
                  <a:t>. c) Tính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oMath>
                </a14:m>
                <a:r>
                  <a:rPr sz="2000">
                    <a:solidFill>
                      <a:srgbClr val="1E293B"/>
                    </a:solidFill>
                    <a:latin typeface="Calibri"/>
                  </a:rPr>
                  <a:t>.</a:t>
                </a:r>
              </a:p>
            </p:txBody>
          </p:sp>
        </mc:Choice>
        <mc:Fallback>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2.40.</a:t>
                </a:r>
                <a:r>
                  <a:rPr sz="2000">
                    <a:solidFill>
                      <a:srgbClr val="1E293B"/>
                    </a:solidFill>
                    <a:latin typeface="Calibri"/>
                  </a:rPr>
                  <a:t> Cho </a:t>
                </a:r>
                <a:r>
                  <a:rPr lang="vi-VN"/>
                  <a:t>\vec{a}=(-2;1;2)</a:t>
                </a:r>
                <a:r>
                  <a:rPr sz="2000">
                    <a:solidFill>
                      <a:srgbClr val="1E293B"/>
                    </a:solidFill>
                    <a:latin typeface="Calibri"/>
                  </a:rPr>
                  <a:t>, </a:t>
                </a:r>
                <a:r>
                  <a:rPr lang="vi-VN"/>
                  <a:t>\vec{b}=(1;1;-1)</a:t>
                </a:r>
                <a:r>
                  <a:rPr sz="2000">
                    <a:solidFill>
                      <a:srgbClr val="1E293B"/>
                    </a:solidFill>
                    <a:latin typeface="Calibri"/>
                  </a:rPr>
                  <a:t>. a) Xác định toạ độ của </a:t>
                </a:r>
                <a:r>
                  <a:rPr lang="vi-VN"/>
                  <a:t>\vec{u}=\vec{a}-2\vec{b}</a:t>
                </a:r>
                <a:r>
                  <a:rPr sz="2000">
                    <a:solidFill>
                      <a:srgbClr val="1E293B"/>
                    </a:solidFill>
                    <a:latin typeface="Calibri"/>
                  </a:rPr>
                  <a:t>. b) Tính độ dài của </a:t>
                </a:r>
                <a:r>
                  <a:rPr lang="vi-VN"/>
                  <a:t>\vec{u}</a:t>
                </a:r>
                <a:r>
                  <a:rPr sz="2000">
                    <a:solidFill>
                      <a:srgbClr val="1E293B"/>
                    </a:solidFill>
                    <a:latin typeface="Calibri"/>
                  </a:rPr>
                  <a:t>. c) Tính </a:t>
                </a:r>
                <a:r>
                  <a:rPr lang="vi-VN"/>
                  <a:t>\cos(\vec{a},\vec{b})</a:t>
                </a:r>
                <a:r>
                  <a:rPr sz="2000">
                    <a:solidFill>
                      <a:srgbClr val="1E293B"/>
                    </a:solidFill>
                    <a:latin typeface="Calibri"/>
                  </a:rPr>
                  <a:t>.</a:t>
                </a:r>
              </a:p>
            </p:txBody>
          </p:sp>
        </mc:Fallback>
      </mc:AlternateContent>
      <p:sp>
        <p:nvSpPr>
          <p:cNvPr id="8" name="s1_nen"/>
          <p:cNvSpPr/>
          <p:nvPr/>
        </p:nvSpPr>
        <p:spPr>
          <a:xfrm>
            <a:off x="548640" y="2218944"/>
            <a:ext cx="110642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77114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2.40.</a:t>
                </a:r>
                <a:r>
                  <a:rPr sz="2000">
                    <a:solidFill>
                      <a:srgbClr val="1E293B"/>
                    </a:solidFill>
                    <a:latin typeface="Calibri"/>
                  </a:rPr>
                  <a:t> a) </a:t>
                </a:r>
                <a14:m>
                  <m:oMath xmlns:m="http://schemas.openxmlformats.org/officeDocument/2006/math">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=(−4;−1;4)</m:t>
                    </m:r>
                  </m:oMath>
                </a14:m>
                <a:r>
                  <a:rPr sz="2000">
                    <a:solidFill>
                      <a:srgbClr val="1E293B"/>
                    </a:solidFill>
                    <a:latin typeface="Calibri"/>
                  </a:rPr>
                  <a:t>. b) </a:t>
                </a:r>
                <a14:m>
                  <m:oMath xmlns:m="http://schemas.openxmlformats.org/officeDocument/2006/math">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u</m:t>
                        </m:r>
                      </m:e>
                    </m:acc>
                    <m:r>
                      <a:rPr lang="vi-VN" sz="2000" b="0">
                        <a:solidFill>
                          <a:srgbClr val="1E293B"/>
                        </a:solidFill>
                        <a:latin typeface="Cambria Math" panose="02040503050406030204" pitchFamily="18" charset="0"/>
                      </a:rPr>
                      <m:t>|=</m:t>
                    </m:r>
                    <m:rad>
                      <m:radPr>
                        <m:degHide m:val="on"/>
                      </m:radPr>
                      <m:deg/>
                      <m:e>
                        <m:r>
                          <a:rPr lang="vi-VN" sz="2000" b="0">
                            <a:solidFill>
                              <a:srgbClr val="1E293B"/>
                            </a:solidFill>
                            <a:latin typeface="Cambria Math" panose="02040503050406030204" pitchFamily="18" charset="0"/>
                          </a:rPr>
                          <m:t>33</m:t>
                        </m:r>
                      </m:e>
                    </m:rad>
                  </m:oMath>
                </a14:m>
                <a:r>
                  <a:rPr sz="2000">
                    <a:solidFill>
                      <a:srgbClr val="1E293B"/>
                    </a:solidFill>
                    <a:latin typeface="Calibri"/>
                  </a:rPr>
                  <a:t>. c)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a</m:t>
                        </m:r>
                      </m:e>
                    </m:acc>
                    <m:r>
                      <a:rPr lang="vi-VN" sz="2000" b="0">
                        <a:solidFill>
                          <a:srgbClr val="1E293B"/>
                        </a:solidFill>
                        <a:latin typeface="Cambria Math" panose="02040503050406030204" pitchFamily="18" charset="0"/>
                      </a:rPr>
                      <m:t>,</m:t>
                    </m:r>
                    <m:acc>
                      <m:accPr>
                        <m:chr m:val="⃗"/>
                      </m:accPr>
                      <m:e>
                        <m:r>
                          <a:rPr lang="vi-VN" sz="2000" b="0">
                            <a:solidFill>
                              <a:srgbClr val="1E293B"/>
                            </a:solidFill>
                            <a:latin typeface="Cambria Math" panose="02040503050406030204" pitchFamily="18" charset="0"/>
                          </a:rPr>
                          <m:t>b</m:t>
                        </m:r>
                      </m:e>
                    </m:acc>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−3</m:t>
                        </m:r>
                      </m:num>
                      <m:den>
                        <m:r>
                          <a:rPr lang="vi-VN" sz="2000" b="0">
                            <a:solidFill>
                              <a:srgbClr val="1E293B"/>
                            </a:solidFill>
                            <a:latin typeface="Cambria Math" panose="02040503050406030204" pitchFamily="18" charset="0"/>
                          </a:rPr>
                          <m:t>3·</m:t>
                        </m:r>
                        <m:rad>
                          <m:radPr>
                            <m:degHide m:val="on"/>
                          </m:radPr>
                          <m:deg/>
                          <m:e>
                            <m:r>
                              <a:rPr lang="vi-VN" sz="2000" b="0">
                                <a:solidFill>
                                  <a:srgbClr val="1E293B"/>
                                </a:solidFill>
                                <a:latin typeface="Cambria Math" panose="02040503050406030204" pitchFamily="18" charset="0"/>
                              </a:rPr>
                              <m:t>3</m:t>
                            </m:r>
                          </m:e>
                        </m:rad>
                      </m:den>
                    </m:f>
                    <m:r>
                      <a:rPr lang="vi-VN" sz="2000" b="0">
                        <a:solidFill>
                          <a:srgbClr val="1E293B"/>
                        </a:solidFill>
                        <a:latin typeface="Cambria Math" panose="02040503050406030204" pitchFamily="18" charset="0"/>
                      </a:rPr>
                      <m:t>=−</m:t>
                    </m:r>
                    <m:f>
                      <m:fPr>
                        <m:type m:val="bar"/>
                      </m:fPr>
                      <m:num>
                        <m:rad>
                          <m:radPr>
                            <m:degHide m:val="on"/>
                          </m:radPr>
                          <m:deg/>
                          <m:e>
                            <m:r>
                              <a:rPr lang="vi-VN" sz="2000" b="0">
                                <a:solidFill>
                                  <a:srgbClr val="1E293B"/>
                                </a:solidFill>
                                <a:latin typeface="Cambria Math" panose="02040503050406030204" pitchFamily="18" charset="0"/>
                              </a:rPr>
                              <m:t>3</m:t>
                            </m:r>
                          </m:e>
                        </m:rad>
                      </m:num>
                      <m:den>
                        <m:r>
                          <a:rPr lang="vi-VN" sz="2000" b="0">
                            <a:solidFill>
                              <a:srgbClr val="1E293B"/>
                            </a:solidFill>
                            <a:latin typeface="Cambria Math" panose="02040503050406030204" pitchFamily="18" charset="0"/>
                          </a:rPr>
                          <m:t>3</m:t>
                        </m:r>
                      </m:den>
                    </m:f>
                  </m:oMath>
                </a14:m>
                <a:r>
                  <a:rPr sz="2000">
                    <a:solidFill>
                      <a:srgbClr val="1E293B"/>
                    </a:solidFill>
                    <a:latin typeface="Calibri"/>
                  </a:rPr>
                  <a:t>.</a:t>
                </a:r>
              </a:p>
            </p:txBody>
          </p:sp>
        </mc:Choice>
        <mc:Fallback>
          <p:sp>
            <p:nvSpPr>
              <p:cNvPr id="9" name="TextBox 8"/>
              <p:cNvSpPr txBox="1"/>
              <p:nvPr/>
            </p:nvSpPr>
            <p:spPr>
              <a:xfrm>
                <a:off x="713232" y="2255520"/>
                <a:ext cx="10735056" cy="771143"/>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2.40.</a:t>
                </a:r>
                <a:r>
                  <a:rPr sz="2000">
                    <a:solidFill>
                      <a:srgbClr val="1E293B"/>
                    </a:solidFill>
                    <a:latin typeface="Calibri"/>
                  </a:rPr>
                  <a:t> a) </a:t>
                </a:r>
                <a:r>
                  <a:rPr lang="vi-VN"/>
                  <a:t>\vec{u}=(-4;-1;4)</a:t>
                </a:r>
                <a:r>
                  <a:rPr sz="2000">
                    <a:solidFill>
                      <a:srgbClr val="1E293B"/>
                    </a:solidFill>
                    <a:latin typeface="Calibri"/>
                  </a:rPr>
                  <a:t>. b) </a:t>
                </a:r>
                <a:r>
                  <a:rPr lang="vi-VN"/>
                  <a:t>|\vec{u}|=\sqrt{33}</a:t>
                </a:r>
                <a:r>
                  <a:rPr sz="2000">
                    <a:solidFill>
                      <a:srgbClr val="1E293B"/>
                    </a:solidFill>
                    <a:latin typeface="Calibri"/>
                  </a:rPr>
                  <a:t>. c) </a:t>
                </a:r>
                <a:r>
                  <a:rPr lang="vi-VN"/>
                  <a:t>\cos(\vec{a},\vec{b})=\frac{-3}{3\cdot\sqrt{3}}=-\frac{\sqrt{3}}{3}</a:t>
                </a:r>
                <a:r>
                  <a:rPr sz="20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27248"/>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2.41.</a:t>
                </a:r>
                <a:r>
                  <a:rPr sz="2000">
                    <a:solidFill>
                      <a:srgbClr val="1E293B"/>
                    </a:solidFill>
                    <a:latin typeface="Calibri"/>
                  </a:rPr>
                  <a:t> Cho </a:t>
                </a:r>
                <a14:m>
                  <m:oMath xmlns:m="http://schemas.openxmlformats.org/officeDocument/2006/math">
                    <m:r>
                      <a:rPr lang="vi-VN" sz="2000" b="0">
                        <a:solidFill>
                          <a:srgbClr val="1E293B"/>
                        </a:solidFill>
                        <a:latin typeface="Cambria Math" panose="02040503050406030204" pitchFamily="18" charset="0"/>
                      </a:rPr>
                      <m:t>A(4;2;−1)</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B(1;−1;2)</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C(0;−2;3)</m:t>
                    </m:r>
                  </m:oMath>
                </a14:m>
                <a:r>
                  <a:rPr sz="2000">
                    <a:solidFill>
                      <a:srgbClr val="1E293B"/>
                    </a:solidFill>
                    <a:latin typeface="Calibri"/>
                  </a:rPr>
                  <a:t>. a) Tìm toạ độ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và tính độ dài đoạn thẳng </a:t>
                </a:r>
                <a14:m>
                  <m:oMath xmlns:m="http://schemas.openxmlformats.org/officeDocument/2006/math">
                    <m:r>
                      <a:rPr lang="vi-VN" sz="2000" b="0">
                        <a:solidFill>
                          <a:srgbClr val="1E293B"/>
                        </a:solidFill>
                        <a:latin typeface="Cambria Math" panose="02040503050406030204" pitchFamily="18" charset="0"/>
                      </a:rPr>
                      <m:t>AB</m:t>
                    </m:r>
                  </m:oMath>
                </a14:m>
                <a:r>
                  <a:rPr sz="2000">
                    <a:solidFill>
                      <a:srgbClr val="1E293B"/>
                    </a:solidFill>
                    <a:latin typeface="Calibri"/>
                  </a:rPr>
                  <a:t>. b) Tìm toạ độ điểm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sao cho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CM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0</m:t>
                        </m:r>
                      </m:e>
                    </m:acc>
                  </m:oMath>
                </a14:m>
                <a:r>
                  <a:rPr sz="2000">
                    <a:solidFill>
                      <a:srgbClr val="1E293B"/>
                    </a:solidFill>
                    <a:latin typeface="Calibri"/>
                  </a:rPr>
                  <a:t>. c) Tìm toạ độ điểm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thuộc mặt phẳng </a:t>
                </a:r>
                <a14:m>
                  <m:oMath xmlns:m="http://schemas.openxmlformats.org/officeDocument/2006/math">
                    <m:d>
                      <m:dPr>
                        <m:sepChr m:val=""/>
                      </m:dPr>
                      <m:e>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x</m:t>
                        </m:r>
                        <m:r>
                          <a:rPr lang="vi-VN" sz="2000" b="0">
                            <a:solidFill>
                              <a:srgbClr val="1E293B"/>
                            </a:solidFill>
                            <a:latin typeface="Cambria Math" panose="02040503050406030204" pitchFamily="18" charset="0"/>
                          </a:rPr>
                          <m:t>y</m:t>
                        </m:r>
                      </m:e>
                    </m:d>
                  </m:oMath>
                </a14:m>
                <a:r>
                  <a:rPr sz="2000">
                    <a:solidFill>
                      <a:srgbClr val="1E293B"/>
                    </a:solidFill>
                    <a:latin typeface="Calibri"/>
                  </a:rPr>
                  <a:t> sao cho </a:t>
                </a:r>
                <a14:m>
                  <m:oMath xmlns:m="http://schemas.openxmlformats.org/officeDocument/2006/math">
                    <m:r>
                      <a:rPr lang="vi-VN" sz="2000" b="0">
                        <a:solidFill>
                          <a:srgbClr val="1E293B"/>
                        </a:solidFill>
                        <a:latin typeface="Cambria Math" panose="02040503050406030204" pitchFamily="18" charset="0"/>
                      </a:rPr>
                      <m:t>A,</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B,</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N</m:t>
                    </m:r>
                  </m:oMath>
                </a14:m>
                <a:r>
                  <a:rPr sz="2000">
                    <a:solidFill>
                      <a:srgbClr val="1E293B"/>
                    </a:solidFill>
                    <a:latin typeface="Calibri"/>
                  </a:rPr>
                  <a:t> thẳng hàng.</a:t>
                </a:r>
              </a:p>
            </p:txBody>
          </p:sp>
        </mc:Choice>
        <mc:Fallback>
          <p:sp>
            <p:nvSpPr>
              <p:cNvPr id="10" name="TextBox 9"/>
              <p:cNvSpPr txBox="1"/>
              <p:nvPr/>
            </p:nvSpPr>
            <p:spPr>
              <a:xfrm>
                <a:off x="548640" y="3127248"/>
                <a:ext cx="11064240" cy="10881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2.41.</a:t>
                </a:r>
                <a:r>
                  <a:rPr sz="2000">
                    <a:solidFill>
                      <a:srgbClr val="1E293B"/>
                    </a:solidFill>
                    <a:latin typeface="Calibri"/>
                  </a:rPr>
                  <a:t> Cho </a:t>
                </a:r>
                <a:r>
                  <a:rPr lang="vi-VN"/>
                  <a:t>A(4;2;-1)</a:t>
                </a:r>
                <a:r>
                  <a:rPr sz="2000">
                    <a:solidFill>
                      <a:srgbClr val="1E293B"/>
                    </a:solidFill>
                    <a:latin typeface="Calibri"/>
                  </a:rPr>
                  <a:t>, </a:t>
                </a:r>
                <a:r>
                  <a:rPr lang="vi-VN"/>
                  <a:t>B(1;-1;2)</a:t>
                </a:r>
                <a:r>
                  <a:rPr sz="2000">
                    <a:solidFill>
                      <a:srgbClr val="1E293B"/>
                    </a:solidFill>
                    <a:latin typeface="Calibri"/>
                  </a:rPr>
                  <a:t> và </a:t>
                </a:r>
                <a:r>
                  <a:rPr lang="vi-VN"/>
                  <a:t>C(0;-2;3)</a:t>
                </a:r>
                <a:r>
                  <a:rPr sz="2000">
                    <a:solidFill>
                      <a:srgbClr val="1E293B"/>
                    </a:solidFill>
                    <a:latin typeface="Calibri"/>
                  </a:rPr>
                  <a:t>. a) Tìm toạ độ </a:t>
                </a:r>
                <a:r>
                  <a:rPr lang="vi-VN"/>
                  <a:t>\overrightarrow{AB}</a:t>
                </a:r>
                <a:r>
                  <a:rPr sz="2000">
                    <a:solidFill>
                      <a:srgbClr val="1E293B"/>
                    </a:solidFill>
                    <a:latin typeface="Calibri"/>
                  </a:rPr>
                  <a:t> và tính độ dài đoạn thẳng </a:t>
                </a:r>
                <a:r>
                  <a:rPr lang="vi-VN"/>
                  <a:t>AB</a:t>
                </a:r>
                <a:r>
                  <a:rPr sz="2000">
                    <a:solidFill>
                      <a:srgbClr val="1E293B"/>
                    </a:solidFill>
                    <a:latin typeface="Calibri"/>
                  </a:rPr>
                  <a:t>. b) Tìm toạ độ điểm </a:t>
                </a:r>
                <a:r>
                  <a:rPr lang="vi-VN"/>
                  <a:t>M</a:t>
                </a:r>
                <a:r>
                  <a:rPr sz="2000">
                    <a:solidFill>
                      <a:srgbClr val="1E293B"/>
                    </a:solidFill>
                    <a:latin typeface="Calibri"/>
                  </a:rPr>
                  <a:t> sao cho </a:t>
                </a:r>
                <a:r>
                  <a:rPr lang="vi-VN"/>
                  <a:t>\overrightarrow{AB}</a:t>
                </a:r>
                <a:r>
                  <a:rPr sz="2000">
                    <a:solidFill>
                      <a:srgbClr val="1E293B"/>
                    </a:solidFill>
                    <a:latin typeface="Calibri"/>
                  </a:rPr>
                  <a:t> + </a:t>
                </a:r>
                <a:r>
                  <a:rPr lang="vi-VN"/>
                  <a:t>\overrightarrow{CM}</a:t>
                </a:r>
                <a:r>
                  <a:rPr sz="2000">
                    <a:solidFill>
                      <a:srgbClr val="1E293B"/>
                    </a:solidFill>
                    <a:latin typeface="Calibri"/>
                  </a:rPr>
                  <a:t> = </a:t>
                </a:r>
                <a:r>
                  <a:rPr lang="vi-VN"/>
                  <a:t>\vec{0}</a:t>
                </a:r>
                <a:r>
                  <a:rPr sz="2000">
                    <a:solidFill>
                      <a:srgbClr val="1E293B"/>
                    </a:solidFill>
                    <a:latin typeface="Calibri"/>
                  </a:rPr>
                  <a:t>. c) Tìm toạ độ điểm </a:t>
                </a:r>
                <a:r>
                  <a:rPr lang="vi-VN"/>
                  <a:t>N</a:t>
                </a:r>
                <a:r>
                  <a:rPr sz="2000">
                    <a:solidFill>
                      <a:srgbClr val="1E293B"/>
                    </a:solidFill>
                    <a:latin typeface="Calibri"/>
                  </a:rPr>
                  <a:t> thuộc mặt phẳng </a:t>
                </a:r>
                <a:r>
                  <a:rPr lang="vi-VN"/>
                  <a:t>(Oxy)</a:t>
                </a:r>
                <a:r>
                  <a:rPr sz="2000">
                    <a:solidFill>
                      <a:srgbClr val="1E293B"/>
                    </a:solidFill>
                    <a:latin typeface="Calibri"/>
                  </a:rPr>
                  <a:t> sao cho </a:t>
                </a:r>
                <a:r>
                  <a:rPr lang="vi-VN"/>
                  <a:t>A,\ B,\ N</a:t>
                </a:r>
                <a:r>
                  <a:rPr sz="2000">
                    <a:solidFill>
                      <a:srgbClr val="1E293B"/>
                    </a:solidFill>
                    <a:latin typeface="Calibri"/>
                  </a:rPr>
                  <a:t> thẳng hàng.</a:t>
                </a:r>
              </a:p>
            </p:txBody>
          </p:sp>
        </mc:Fallback>
      </mc:AlternateContent>
      <p:sp>
        <p:nvSpPr>
          <p:cNvPr id="11" name="s3_nen"/>
          <p:cNvSpPr/>
          <p:nvPr/>
        </p:nvSpPr>
        <p:spPr>
          <a:xfrm>
            <a:off x="548640" y="4279392"/>
            <a:ext cx="11064240" cy="1011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15968"/>
                <a:ext cx="10735056" cy="93878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2.41.</a:t>
                </a:r>
                <a:r>
                  <a:rPr sz="2000">
                    <a:solidFill>
                      <a:srgbClr val="1E293B"/>
                    </a:solidFill>
                    <a:latin typeface="Calibri"/>
                  </a:rPr>
                  <a:t> a)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d>
                      <m:dPr>
                        <m:sepChr m:val=""/>
                      </m:dPr>
                      <m:e>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3</m:t>
                        </m:r>
                      </m:e>
                    </m:d>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AB=3</m:t>
                    </m:r>
                    <m:rad>
                      <m:radPr>
                        <m:degHide m:val="on"/>
                      </m:radPr>
                      <m:deg/>
                      <m:e>
                        <m:r>
                          <a:rPr lang="vi-VN" sz="2000" b="0">
                            <a:solidFill>
                              <a:srgbClr val="1E293B"/>
                            </a:solidFill>
                            <a:latin typeface="Cambria Math" panose="02040503050406030204" pitchFamily="18" charset="0"/>
                          </a:rPr>
                          <m:t>3</m:t>
                        </m:r>
                      </m:e>
                    </m:rad>
                  </m:oMath>
                </a14:m>
                <a:r>
                  <a:rPr sz="2000">
                    <a:solidFill>
                      <a:srgbClr val="1E293B"/>
                    </a:solidFill>
                    <a:latin typeface="Calibri"/>
                  </a:rPr>
                  <a:t>. b) </a:t>
                </a:r>
                <a14:m>
                  <m:oMath xmlns:m="http://schemas.openxmlformats.org/officeDocument/2006/math">
                    <m:acc>
                      <m:accPr>
                        <m:chr m:val="⃗"/>
                      </m:accPr>
                      <m:e>
                        <m:r>
                          <a:rPr lang="vi-VN" sz="2000" b="0">
                            <a:solidFill>
                              <a:srgbClr val="1E293B"/>
                            </a:solidFill>
                            <a:latin typeface="Cambria Math" panose="02040503050406030204" pitchFamily="18" charset="0"/>
                          </a:rPr>
                          <m:t>CM</m:t>
                        </m:r>
                      </m:e>
                    </m:acc>
                  </m:oMath>
                </a14:m>
                <a:r>
                  <a:rPr sz="2000">
                    <a:solidFill>
                      <a:srgbClr val="1E293B"/>
                    </a:solidFill>
                    <a:latin typeface="Calibri"/>
                  </a:rPr>
                  <a:t> = −</a:t>
                </a:r>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M(3;1;0)</m:t>
                    </m:r>
                  </m:oMath>
                </a14:m>
                <a:r>
                  <a:rPr sz="2000">
                    <a:solidFill>
                      <a:srgbClr val="1E293B"/>
                    </a:solidFill>
                    <a:latin typeface="Calibri"/>
                  </a:rPr>
                  <a:t>. c) </a:t>
                </a:r>
                <a14:m>
                  <m:oMath xmlns:m="http://schemas.openxmlformats.org/officeDocument/2006/math">
                    <m:r>
                      <a:rPr lang="vi-VN" sz="2000" b="0">
                        <a:solidFill>
                          <a:srgbClr val="1E293B"/>
                        </a:solidFill>
                        <a:latin typeface="Cambria Math" panose="02040503050406030204" pitchFamily="18" charset="0"/>
                      </a:rPr>
                      <m:t>N=A+t</m:t>
                    </m:r>
                  </m:oMath>
                </a14:m>
                <a14:m>
                  <m:oMath xmlns:m="http://schemas.openxmlformats.org/officeDocument/2006/math">
                    <m:acc>
                      <m:accPr>
                        <m:chr m:val="⃗"/>
                      </m:accPr>
                      <m:e>
                        <m:r>
                          <a:rPr lang="vi-VN" sz="2000" b="0">
                            <a:solidFill>
                              <a:srgbClr val="1E293B"/>
                            </a:solidFill>
                            <a:latin typeface="Cambria Math" panose="02040503050406030204" pitchFamily="18" charset="0"/>
                          </a:rPr>
                          <m:t>AB</m:t>
                        </m:r>
                      </m:e>
                    </m:acc>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z</m:t>
                        </m:r>
                      </m:e>
                      <m:sub>
                        <m:r>
                          <a:rPr lang="vi-VN" sz="2000" b="0">
                            <a:solidFill>
                              <a:srgbClr val="1E293B"/>
                            </a:solidFill>
                            <a:latin typeface="Cambria Math" panose="02040503050406030204" pitchFamily="18" charset="0"/>
                          </a:rPr>
                          <m:t>N</m:t>
                        </m:r>
                      </m:sub>
                    </m:sSub>
                    <m:r>
                      <a:rPr lang="vi-VN" sz="2000" b="0">
                        <a:solidFill>
                          <a:srgbClr val="1E293B"/>
                        </a:solidFill>
                        <a:latin typeface="Cambria Math" panose="02040503050406030204" pitchFamily="18" charset="0"/>
                      </a:rPr>
                      <m:t>=−1+3t=0</m:t>
                    </m:r>
                  </m:oMath>
                </a14:m>
                <a:r>
                  <a:rPr sz="2000">
                    <a:solidFill>
                      <a:srgbClr val="1E293B"/>
                    </a:solidFill>
                    <a:latin typeface="Calibri"/>
                  </a:rPr>
                  <a:t> ⇒ </a:t>
                </a:r>
                <a14:m>
                  <m:oMath xmlns:m="http://schemas.openxmlformats.org/officeDocument/2006/math">
                    <m:r>
                      <a:rPr lang="vi-VN" sz="2000" b="0">
                        <a:solidFill>
                          <a:srgbClr val="1E293B"/>
                        </a:solidFill>
                        <a:latin typeface="Cambria Math" panose="02040503050406030204" pitchFamily="18" charset="0"/>
                      </a:rPr>
                      <m:t>t=</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3</m:t>
                        </m:r>
                      </m:den>
                    </m:f>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N(3;1;0)</m:t>
                    </m:r>
                  </m:oMath>
                </a14:m>
                <a:r>
                  <a:rPr sz="2000">
                    <a:solidFill>
                      <a:srgbClr val="1E293B"/>
                    </a:solidFill>
                    <a:latin typeface="Calibri"/>
                  </a:rPr>
                  <a:t>.</a:t>
                </a:r>
              </a:p>
            </p:txBody>
          </p:sp>
        </mc:Choice>
        <mc:Fallback>
          <p:sp>
            <p:nvSpPr>
              <p:cNvPr id="12" name="TextBox 11"/>
              <p:cNvSpPr txBox="1"/>
              <p:nvPr/>
            </p:nvSpPr>
            <p:spPr>
              <a:xfrm>
                <a:off x="713232" y="4315968"/>
                <a:ext cx="10735056" cy="938784"/>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2.41.</a:t>
                </a:r>
                <a:r>
                  <a:rPr sz="2000">
                    <a:solidFill>
                      <a:srgbClr val="1E293B"/>
                    </a:solidFill>
                    <a:latin typeface="Calibri"/>
                  </a:rPr>
                  <a:t> a) </a:t>
                </a:r>
                <a:r>
                  <a:rPr lang="vi-VN"/>
                  <a:t>\overrightarrow{AB}</a:t>
                </a:r>
                <a:r>
                  <a:rPr sz="2000">
                    <a:solidFill>
                      <a:srgbClr val="1E293B"/>
                    </a:solidFill>
                    <a:latin typeface="Calibri"/>
                  </a:rPr>
                  <a:t> = </a:t>
                </a:r>
                <a:r>
                  <a:rPr lang="vi-VN"/>
                  <a:t>(-3;-3;3)</a:t>
                </a:r>
                <a:r>
                  <a:rPr sz="2000">
                    <a:solidFill>
                      <a:srgbClr val="1E293B"/>
                    </a:solidFill>
                    <a:latin typeface="Calibri"/>
                  </a:rPr>
                  <a:t>, </a:t>
                </a:r>
                <a:r>
                  <a:rPr lang="vi-VN"/>
                  <a:t>AB=3\sqrt{3}</a:t>
                </a:r>
                <a:r>
                  <a:rPr sz="2000">
                    <a:solidFill>
                      <a:srgbClr val="1E293B"/>
                    </a:solidFill>
                    <a:latin typeface="Calibri"/>
                  </a:rPr>
                  <a:t>. b) </a:t>
                </a:r>
                <a:r>
                  <a:rPr lang="vi-VN"/>
                  <a:t>\overrightarrow{CM}</a:t>
                </a:r>
                <a:r>
                  <a:rPr sz="2000">
                    <a:solidFill>
                      <a:srgbClr val="1E293B"/>
                    </a:solidFill>
                    <a:latin typeface="Calibri"/>
                  </a:rPr>
                  <a:t> = −</a:t>
                </a:r>
                <a:r>
                  <a:rPr lang="vi-VN"/>
                  <a:t>\overrightarrow{AB}</a:t>
                </a:r>
                <a:r>
                  <a:rPr sz="2000">
                    <a:solidFill>
                      <a:srgbClr val="1E293B"/>
                    </a:solidFill>
                    <a:latin typeface="Calibri"/>
                  </a:rPr>
                  <a:t> ⇒ </a:t>
                </a:r>
                <a:r>
                  <a:rPr lang="vi-VN"/>
                  <a:t>M(3;1;0)</a:t>
                </a:r>
                <a:r>
                  <a:rPr sz="2000">
                    <a:solidFill>
                      <a:srgbClr val="1E293B"/>
                    </a:solidFill>
                    <a:latin typeface="Calibri"/>
                  </a:rPr>
                  <a:t>. c) </a:t>
                </a:r>
                <a:r>
                  <a:rPr lang="vi-VN"/>
                  <a:t>N=A+t</a:t>
                </a:r>
                <a:r>
                  <a:rPr lang="vi-VN"/>
                  <a:t>\overrightarrow{AB}</a:t>
                </a:r>
                <a:r>
                  <a:rPr sz="2000">
                    <a:solidFill>
                      <a:srgbClr val="1E293B"/>
                    </a:solidFill>
                    <a:latin typeface="Calibri"/>
                  </a:rPr>
                  <a:t>, </a:t>
                </a:r>
                <a:r>
                  <a:rPr lang="vi-VN"/>
                  <a:t>z_N=-1+3t=0</a:t>
                </a:r>
                <a:r>
                  <a:rPr sz="2000">
                    <a:solidFill>
                      <a:srgbClr val="1E293B"/>
                    </a:solidFill>
                    <a:latin typeface="Calibri"/>
                  </a:rPr>
                  <a:t> ⇒ </a:t>
                </a:r>
                <a:r>
                  <a:rPr lang="vi-VN"/>
                  <a:t>t=\frac{1}{3}</a:t>
                </a:r>
                <a:r>
                  <a:rPr sz="2000">
                    <a:solidFill>
                      <a:srgbClr val="1E293B"/>
                    </a:solidFill>
                    <a:latin typeface="Calibri"/>
                  </a:rPr>
                  <a:t>, </a:t>
                </a:r>
                <a:r>
                  <a:rPr lang="vi-VN"/>
                  <a:t>N(3;1;0)</a:t>
                </a:r>
                <a:r>
                  <a:rPr sz="20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BÀI TẬP 2.42 (SGK TR.74)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2490216"/>
              </a:xfrm>
              <a:prstGeom prst="rect">
                <a:avLst/>
              </a:prstGeom>
              <a:noFill/>
            </p:spPr>
            <p:txBody>
              <a:bodyPr wrap="square" anchor="t" lIns="45720" rIns="45720">
                <a:spAutoFit/>
              </a:bodyPr>
              <a:lstStyle/>
              <a:p>
                <a:pPr algn="l">
                  <a:spcAft>
                    <a:spcPts val="800"/>
                  </a:spcAft>
                </a:pPr>
                <a:r>
                  <a:rPr sz="1900">
                    <a:solidFill>
                      <a:srgbClr val="1E293B"/>
                    </a:solidFill>
                    <a:latin typeface="Calibri"/>
                  </a:rPr>
                  <a:t>Một chiếc đèn được treo cách trần nhà 0,5 m, cách hai tường lần lượt 1,2 m và 1,6 m. Hai bức tường vuông góc với nhau và cùng vuông góc với trần nhà. Người ta di chuyển chiếc đèn đến vị trí mới cách trần nhà 0,4 m, cách hai tường đều là 1,5 m. a) Lập một hệ trục toạ độ </a:t>
                </a:r>
                <a14:m>
                  <m:oMath xmlns:m="http://schemas.openxmlformats.org/officeDocument/2006/math">
                    <m:r>
                      <a:rPr lang="vi-VN" sz="1900" b="0">
                        <a:solidFill>
                          <a:srgbClr val="1E293B"/>
                        </a:solidFill>
                        <a:latin typeface="Cambria Math" panose="02040503050406030204" pitchFamily="18" charset="0"/>
                      </a:rPr>
                      <m:t>Oxyz</m:t>
                    </m:r>
                  </m:oMath>
                </a14:m>
                <a:r>
                  <a:rPr sz="1900">
                    <a:solidFill>
                      <a:srgbClr val="1E293B"/>
                    </a:solidFill>
                    <a:latin typeface="Calibri"/>
                  </a:rPr>
                  <a:t> phù hợp và xác định toạ độ của chiếc đèn lúc đầu và sau khi di chuyển. b) Vị trí mới cách vị trí ban đầu bao nhiêu mét? (Làm tròn đến chữ số thập phân thứ nhất.)</a:t>
                </a:r>
              </a:p>
            </p:txBody>
          </p:sp>
        </mc:Choice>
        <mc:Fallback>
          <p:sp>
            <p:nvSpPr>
              <p:cNvPr id="7" name="TextBox 6"/>
              <p:cNvSpPr txBox="1"/>
              <p:nvPr/>
            </p:nvSpPr>
            <p:spPr>
              <a:xfrm>
                <a:off x="548640" y="1371600"/>
                <a:ext cx="7863840" cy="2490216"/>
              </a:xfrm>
              <a:prstGeom prst="rect">
                <a:avLst/>
              </a:prstGeom>
              <a:noFill/>
            </p:spPr>
            <p:txBody>
              <a:bodyPr wrap="square" anchor="t" lIns="45720" rIns="45720">
                <a:spAutoFit/>
              </a:bodyPr>
              <a:lstStyle/>
              <a:p>
                <a:pPr algn="l">
                  <a:spcAft>
                    <a:spcPts val="800"/>
                  </a:spcAft>
                </a:pPr>
                <a:r>
                  <a:rPr sz="1900">
                    <a:solidFill>
                      <a:srgbClr val="1E293B"/>
                    </a:solidFill>
                    <a:latin typeface="Calibri"/>
                  </a:rPr>
                  <a:t>Một chiếc đèn được treo cách trần nhà 0,5 m, cách hai tường lần lượt 1,2 m và 1,6 m. Hai bức tường vuông góc với nhau và cùng vuông góc với trần nhà. Người ta di chuyển chiếc đèn đến vị trí mới cách trần nhà 0,4 m, cách hai tường đều là 1,5 m. a) Lập một hệ trục toạ độ </a:t>
                </a:r>
                <a:r>
                  <a:rPr lang="vi-VN"/>
                  <a:t>Oxyz</a:t>
                </a:r>
                <a:r>
                  <a:rPr sz="1900">
                    <a:solidFill>
                      <a:srgbClr val="1E293B"/>
                    </a:solidFill>
                    <a:latin typeface="Calibri"/>
                  </a:rPr>
                  <a:t> phù hợp và xác định toạ độ của chiếc đèn lúc đầu và sau khi di chuyển. b) Vị trí mới cách vị trí ban đầu bao nhiêu mét? (Làm tròn đến chữ số thập phân thứ nhất.)</a:t>
                </a:r>
              </a:p>
            </p:txBody>
          </p:sp>
        </mc:Fallback>
      </mc:AlternateContent>
      <p:sp>
        <p:nvSpPr>
          <p:cNvPr id="8" name="s1_nen"/>
          <p:cNvSpPr/>
          <p:nvPr/>
        </p:nvSpPr>
        <p:spPr>
          <a:xfrm>
            <a:off x="548640" y="3934967"/>
            <a:ext cx="7863840" cy="8442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71543"/>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r>
                      <a:rPr lang="vi-VN" sz="1900" b="0">
                        <a:solidFill>
                          <a:srgbClr val="1E293B"/>
                        </a:solidFill>
                        <a:latin typeface="Cambria Math" panose="02040503050406030204" pitchFamily="18" charset="0"/>
                      </a:rPr>
                      <m:t>O</m:t>
                    </m:r>
                  </m:oMath>
                </a14:m>
                <a:r>
                  <a:rPr sz="1900">
                    <a:solidFill>
                      <a:srgbClr val="1E293B"/>
                    </a:solidFill>
                    <a:latin typeface="Calibri"/>
                  </a:rPr>
                  <a:t> tại góc trần; </a:t>
                </a:r>
                <a14:m>
                  <m:oMath xmlns:m="http://schemas.openxmlformats.org/officeDocument/2006/math">
                    <m:r>
                      <a:rPr lang="vi-VN" sz="1900" b="0">
                        <a:solidFill>
                          <a:srgbClr val="1E293B"/>
                        </a:solidFill>
                        <a:latin typeface="Cambria Math" panose="02040503050406030204" pitchFamily="18" charset="0"/>
                      </a:rPr>
                      <m:t>Ox,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Oy</m:t>
                    </m:r>
                  </m:oMath>
                </a14:m>
                <a:r>
                  <a:rPr sz="1900">
                    <a:solidFill>
                      <a:srgbClr val="1E293B"/>
                    </a:solidFill>
                    <a:latin typeface="Calibri"/>
                  </a:rPr>
                  <a:t> theo giao tuyến của trần với hai bức tường; </a:t>
                </a:r>
                <a14:m>
                  <m:oMath xmlns:m="http://schemas.openxmlformats.org/officeDocument/2006/math">
                    <m:r>
                      <a:rPr lang="vi-VN" sz="1900" b="0">
                        <a:solidFill>
                          <a:srgbClr val="1E293B"/>
                        </a:solidFill>
                        <a:latin typeface="Cambria Math" panose="02040503050406030204" pitchFamily="18" charset="0"/>
                      </a:rPr>
                      <m:t>Oz</m:t>
                    </m:r>
                  </m:oMath>
                </a14:m>
                <a:r>
                  <a:rPr sz="1900">
                    <a:solidFill>
                      <a:srgbClr val="1E293B"/>
                    </a:solidFill>
                    <a:latin typeface="Calibri"/>
                  </a:rPr>
                  <a:t> thẳng đứng hướng xuống; đơn vị mét.</a:t>
                </a:r>
              </a:p>
            </p:txBody>
          </p:sp>
        </mc:Choice>
        <mc:Fallback>
          <p:sp>
            <p:nvSpPr>
              <p:cNvPr id="9" name="TextBox 8"/>
              <p:cNvSpPr txBox="1"/>
              <p:nvPr/>
            </p:nvSpPr>
            <p:spPr>
              <a:xfrm>
                <a:off x="713232" y="3971543"/>
                <a:ext cx="7534656" cy="77114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O</a:t>
                </a:r>
                <a:r>
                  <a:rPr sz="1900">
                    <a:solidFill>
                      <a:srgbClr val="1E293B"/>
                    </a:solidFill>
                    <a:latin typeface="Calibri"/>
                  </a:rPr>
                  <a:t> tại góc trần; </a:t>
                </a:r>
                <a:r>
                  <a:rPr lang="vi-VN"/>
                  <a:t>Ox,\ Oy</a:t>
                </a:r>
                <a:r>
                  <a:rPr sz="1900">
                    <a:solidFill>
                      <a:srgbClr val="1E293B"/>
                    </a:solidFill>
                    <a:latin typeface="Calibri"/>
                  </a:rPr>
                  <a:t> theo giao tuyến của trần với hai bức tường; </a:t>
                </a:r>
                <a:r>
                  <a:rPr lang="vi-VN"/>
                  <a:t>Oz</a:t>
                </a:r>
                <a:r>
                  <a:rPr sz="1900">
                    <a:solidFill>
                      <a:srgbClr val="1E293B"/>
                    </a:solidFill>
                    <a:latin typeface="Calibri"/>
                  </a:rPr>
                  <a:t> thẳng đứng hướng xuống; đơn vị mét.</a:t>
                </a:r>
              </a:p>
            </p:txBody>
          </p:sp>
        </mc:Fallback>
      </mc:AlternateContent>
      <p:sp>
        <p:nvSpPr>
          <p:cNvPr id="10" name="s2_nen"/>
          <p:cNvSpPr/>
          <p:nvPr/>
        </p:nvSpPr>
        <p:spPr>
          <a:xfrm>
            <a:off x="548640" y="4852415"/>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888991"/>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Lúc đầu </a:t>
                </a:r>
                <a14:m>
                  <m:oMath xmlns:m="http://schemas.openxmlformats.org/officeDocument/2006/math">
                    <m:d>
                      <m:dPr>
                        <m:sepChr m:val=""/>
                      </m:dPr>
                      <m:e>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2</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6</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e>
                    </m:d>
                  </m:oMath>
                </a14:m>
                <a:r>
                  <a:rPr sz="1900">
                    <a:solidFill>
                      <a:srgbClr val="1E293B"/>
                    </a:solidFill>
                    <a:latin typeface="Calibri"/>
                  </a:rPr>
                  <a:t>; sau khi di chuyển </a:t>
                </a:r>
                <a14:m>
                  <m:oMath xmlns:m="http://schemas.openxmlformats.org/officeDocument/2006/math">
                    <m:d>
                      <m:dPr>
                        <m:sepChr m:val=""/>
                      </m:dPr>
                      <m:e>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5</m:t>
                        </m:r>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4</m:t>
                        </m:r>
                      </m:e>
                    </m:d>
                  </m:oMath>
                </a14:m>
                <a:r>
                  <a:rPr sz="1900">
                    <a:solidFill>
                      <a:srgbClr val="1E293B"/>
                    </a:solidFill>
                    <a:latin typeface="Calibri"/>
                  </a:rPr>
                  <a:t>.</a:t>
                </a:r>
              </a:p>
            </p:txBody>
          </p:sp>
        </mc:Choice>
        <mc:Fallback>
          <p:sp>
            <p:nvSpPr>
              <p:cNvPr id="11" name="TextBox 10"/>
              <p:cNvSpPr txBox="1"/>
              <p:nvPr/>
            </p:nvSpPr>
            <p:spPr>
              <a:xfrm>
                <a:off x="713232" y="4888991"/>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Lúc đầu </a:t>
                </a:r>
                <a:r>
                  <a:rPr lang="vi-VN"/>
                  <a:t>(1{,}2;\ 1{,}6;\ 0{,}5)</a:t>
                </a:r>
                <a:r>
                  <a:rPr sz="1900">
                    <a:solidFill>
                      <a:srgbClr val="1E293B"/>
                    </a:solidFill>
                    <a:latin typeface="Calibri"/>
                  </a:rPr>
                  <a:t>; sau khi di chuyển </a:t>
                </a:r>
                <a:r>
                  <a:rPr lang="vi-VN"/>
                  <a:t>(1{,}5;\ 1{,}5;\ 0{,}4)</a:t>
                </a:r>
                <a:r>
                  <a:rPr sz="1900">
                    <a:solidFill>
                      <a:srgbClr val="1E293B"/>
                    </a:solidFill>
                    <a:latin typeface="Calibri"/>
                  </a:rPr>
                  <a:t>.</a:t>
                </a:r>
              </a:p>
            </p:txBody>
          </p:sp>
        </mc:Fallback>
      </mc:AlternateContent>
      <p:sp>
        <p:nvSpPr>
          <p:cNvPr id="12" name="s3_nen"/>
          <p:cNvSpPr/>
          <p:nvPr/>
        </p:nvSpPr>
        <p:spPr>
          <a:xfrm>
            <a:off x="548640" y="5480303"/>
            <a:ext cx="78638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713232" y="5516879"/>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a:t>
                </a:r>
                <a14:m>
                  <m:oMath xmlns:m="http://schemas.openxmlformats.org/officeDocument/2006/math">
                    <m:rad>
                      <m:radPr>
                        <m:degHide m:val="on"/>
                      </m:radPr>
                      <m:deg/>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sSup>
                          <m:e>
                            <m:r>
                              <a:rPr lang="vi-VN" sz="1900" b="0">
                                <a:solidFill>
                                  <a:srgbClr val="1E293B"/>
                                </a:solidFill>
                                <a:latin typeface="Cambria Math" panose="02040503050406030204" pitchFamily="18" charset="0"/>
                              </a:rPr>
                              <m:t>3</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sSup>
                          <m:e>
                            <m:r>
                              <a:rPr lang="vi-VN" sz="1900" b="0">
                                <a:solidFill>
                                  <a:srgbClr val="1E293B"/>
                                </a:solidFill>
                                <a:latin typeface="Cambria Math" panose="02040503050406030204" pitchFamily="18" charset="0"/>
                              </a:rPr>
                              <m:t>)</m:t>
                            </m:r>
                          </m:e>
                          <m:sup>
                            <m:r>
                              <a:rPr lang="vi-VN" sz="1900" b="0">
                                <a:solidFill>
                                  <a:srgbClr val="1E293B"/>
                                </a:solidFill>
                                <a:latin typeface="Cambria Math" panose="02040503050406030204" pitchFamily="18" charset="0"/>
                              </a:rPr>
                              <m:t>2</m:t>
                            </m:r>
                          </m:sup>
                        </m:sSup>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m:t>
                        </m:r>
                        <m:sSup>
                          <m:e>
                            <m:r>
                              <a:rPr lang="vi-VN" sz="1900" b="0">
                                <a:solidFill>
                                  <a:srgbClr val="1E293B"/>
                                </a:solidFill>
                                <a:latin typeface="Cambria Math" panose="02040503050406030204" pitchFamily="18" charset="0"/>
                              </a:rPr>
                              <m:t>)</m:t>
                            </m:r>
                          </m:e>
                          <m:sup>
                            <m:r>
                              <a:rPr lang="vi-VN" sz="1900" b="0">
                                <a:solidFill>
                                  <a:srgbClr val="1E293B"/>
                                </a:solidFill>
                                <a:latin typeface="Cambria Math" panose="02040503050406030204" pitchFamily="18" charset="0"/>
                              </a:rPr>
                              <m:t>2</m:t>
                            </m:r>
                          </m:sup>
                        </m:sSup>
                      </m:e>
                    </m:rad>
                    <m:r>
                      <a:rPr lang="vi-VN" sz="1900" b="0">
                        <a:solidFill>
                          <a:srgbClr val="1E293B"/>
                        </a:solidFill>
                        <a:latin typeface="Cambria Math" panose="02040503050406030204" pitchFamily="18" charset="0"/>
                      </a:rPr>
                      <m:t>=</m:t>
                    </m:r>
                    <m:rad>
                      <m:radPr>
                        <m:degHide m:val="on"/>
                      </m:radPr>
                      <m:deg/>
                      <m:e>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11</m:t>
                        </m:r>
                      </m:e>
                    </m:rad>
                    <m:r>
                      <a:rPr lang="vi-VN" sz="1900" b="0">
                        <a:solidFill>
                          <a:srgbClr val="1E293B"/>
                        </a:solidFill>
                        <a:latin typeface="Cambria Math" panose="02040503050406030204" pitchFamily="18" charset="0"/>
                      </a:rPr>
                      <m:t>≈0</m:t>
                    </m:r>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3</m:t>
                    </m:r>
                  </m:oMath>
                </a14:m>
                <a:r>
                  <a:rPr sz="1900">
                    <a:solidFill>
                      <a:srgbClr val="1E293B"/>
                    </a:solidFill>
                    <a:latin typeface="Calibri"/>
                  </a:rPr>
                  <a:t> (m).</a:t>
                </a:r>
              </a:p>
            </p:txBody>
          </p:sp>
        </mc:Choice>
        <mc:Fallback>
          <p:sp>
            <p:nvSpPr>
              <p:cNvPr id="13" name="TextBox 12"/>
              <p:cNvSpPr txBox="1"/>
              <p:nvPr/>
            </p:nvSpPr>
            <p:spPr>
              <a:xfrm>
                <a:off x="713232" y="5516879"/>
                <a:ext cx="75346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b) </a:t>
                </a:r>
                <a:r>
                  <a:rPr lang="vi-VN"/>
                  <a:t>\sqrt{0{,}3^2+(-0{,}1)^2+(-0{,}1)^2}=\sqrt{0{,}11}\approx 0{,}3</a:t>
                </a:r>
                <a:r>
                  <a:rPr sz="1900">
                    <a:solidFill>
                      <a:srgbClr val="1E293B"/>
                    </a:solidFill>
                    <a:latin typeface="Calibri"/>
                  </a:rPr>
                  <a:t> (m).</a:t>
                </a:r>
              </a:p>
            </p:txBody>
          </p:sp>
        </mc:Fallback>
      </mc:AlternateContent>
      <p:pic>
        <p:nvPicPr>
          <p:cNvPr id="14" name="Picture 13" descr="hinh_h253.png"/>
          <p:cNvPicPr>
            <a:picLocks noChangeAspect="1"/>
          </p:cNvPicPr>
          <p:nvPr/>
        </p:nvPicPr>
        <p:blipFill>
          <a:blip r:embed="rId3"/>
          <a:stretch>
            <a:fillRect/>
          </a:stretch>
        </p:blipFill>
        <p:spPr>
          <a:xfrm>
            <a:off x="8595360" y="1645658"/>
            <a:ext cx="3108959" cy="27437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3D – DI CHUYỂN CHIẾC ĐÈN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26</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Góc trần là gốc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trục </a:t>
                </a:r>
                <a14:m>
                  <m:oMath xmlns:m="http://schemas.openxmlformats.org/officeDocument/2006/math">
                    <m:r>
                      <a:rPr lang="vi-VN" sz="2200" b="0">
                        <a:solidFill>
                          <a:srgbClr val="1E293B"/>
                        </a:solidFill>
                        <a:latin typeface="Cambria Math" panose="02040503050406030204" pitchFamily="18" charset="0"/>
                      </a:rPr>
                      <m:t>Oz</m:t>
                    </m:r>
                  </m:oMath>
                </a14:m>
                <a:r>
                  <a:rPr sz="2200">
                    <a:solidFill>
                      <a:srgbClr val="1E293B"/>
                    </a:solidFill>
                    <a:latin typeface="Calibri"/>
                  </a:rPr>
                  <a:t> hướng xuống (trần ở trên).</a:t>
                </a:r>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D</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6;</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r>
                  <a:rPr sz="2200">
                    <a:solidFill>
                      <a:srgbClr val="1E293B"/>
                    </a:solidFill>
                    <a:latin typeface="Calibri"/>
                  </a:rPr>
                  <a:t> – vị trí cũ; </a:t>
                </a:r>
                <a14:m>
                  <m:oMath xmlns:m="http://schemas.openxmlformats.org/officeDocument/2006/math">
                    <m:sSub>
                      <m:e>
                        <m:r>
                          <a:rPr lang="vi-VN" sz="2200" b="0">
                            <a:solidFill>
                              <a:srgbClr val="1E293B"/>
                            </a:solidFill>
                            <a:latin typeface="Cambria Math" panose="02040503050406030204" pitchFamily="18" charset="0"/>
                          </a:rPr>
                          <m:t>D</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4)</m:t>
                    </m:r>
                  </m:oMath>
                </a14:m>
                <a:r>
                  <a:rPr sz="2200">
                    <a:solidFill>
                      <a:srgbClr val="1E293B"/>
                    </a:solidFill>
                    <a:latin typeface="Calibri"/>
                  </a:rPr>
                  <a:t> – vị trí mới.</a:t>
                </a:r>
              </a:p>
              <a:p>
                <a:pPr algn="l" marL="365760" indent="-365760">
                  <a:spcAft>
                    <a:spcPts val="800"/>
                  </a:spcAft>
                  <a:buClr>
                    <a:srgbClr val="1E40AF"/>
                  </a:buClr>
                  <a:buFont typeface="Arial"/>
                  <a:buChar char="•"/>
                </a:pPr>
                <a:r>
                  <a:rPr sz="2200">
                    <a:solidFill>
                      <a:srgbClr val="1E293B"/>
                    </a:solidFill>
                    <a:latin typeface="Calibri"/>
                  </a:rPr>
                  <a:t>Bảng giá trị: </a:t>
                </a:r>
                <a14:m>
                  <m:oMath xmlns:m="http://schemas.openxmlformats.org/officeDocument/2006/math">
                    <m:sSub>
                      <m:e>
                        <m:r>
                          <a:rPr lang="vi-VN" sz="2200" b="0">
                            <a:solidFill>
                              <a:srgbClr val="1E293B"/>
                            </a:solidFill>
                            <a:latin typeface="Cambria Math" panose="02040503050406030204" pitchFamily="18" charset="0"/>
                          </a:rPr>
                          <m:t>D</m:t>
                        </m:r>
                      </m:e>
                      <m:sub>
                        <m:r>
                          <a:rPr lang="vi-VN" sz="2200" b="0">
                            <a:solidFill>
                              <a:srgbClr val="1E293B"/>
                            </a:solidFill>
                            <a:latin typeface="Cambria Math" panose="02040503050406030204" pitchFamily="18" charset="0"/>
                          </a:rPr>
                          <m:t>1</m:t>
                        </m:r>
                      </m:sub>
                    </m:sSub>
                    <m:sSub>
                      <m:e>
                        <m:r>
                          <a:rPr lang="vi-VN" sz="2200" b="0">
                            <a:solidFill>
                              <a:srgbClr val="1E293B"/>
                            </a:solidFill>
                            <a:latin typeface="Cambria Math" panose="02040503050406030204" pitchFamily="18" charset="0"/>
                          </a:rPr>
                          <m:t>D</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33</m:t>
                    </m:r>
                  </m:oMath>
                </a14:m>
                <a:r>
                  <a:rPr sz="2200">
                    <a:solidFill>
                      <a:srgbClr val="1E293B"/>
                    </a:solidFill>
                    <a:latin typeface="Calibri"/>
                  </a:rPr>
                  <a:t> m. Kéo </a:t>
                </a:r>
                <a14:m>
                  <m:oMath xmlns:m="http://schemas.openxmlformats.org/officeDocument/2006/math">
                    <m:sSub>
                      <m:e>
                        <m:r>
                          <a:rPr lang="vi-VN" sz="2200" b="0">
                            <a:solidFill>
                              <a:srgbClr val="1E293B"/>
                            </a:solidFill>
                            <a:latin typeface="Cambria Math" panose="02040503050406030204" pitchFamily="18" charset="0"/>
                          </a:rPr>
                          <m:t>D</m:t>
                        </m:r>
                      </m:e>
                      <m:sub>
                        <m:r>
                          <a:rPr lang="vi-VN" sz="2200" b="0">
                            <a:solidFill>
                              <a:srgbClr val="1E293B"/>
                            </a:solidFill>
                            <a:latin typeface="Cambria Math" panose="02040503050406030204" pitchFamily="18" charset="0"/>
                          </a:rPr>
                          <m:t>2</m:t>
                        </m:r>
                      </m:sub>
                    </m:sSub>
                  </m:oMath>
                </a14:m>
                <a:r>
                  <a:rPr sz="2200">
                    <a:solidFill>
                      <a:srgbClr val="1E293B"/>
                    </a:solidFill>
                    <a:latin typeface="Calibri"/>
                  </a:rPr>
                  <a:t> để thử vị trí khác.</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Góc trần là gốc </a:t>
                </a:r>
                <a:r>
                  <a:rPr lang="vi-VN"/>
                  <a:t>O</a:t>
                </a:r>
                <a:r>
                  <a:rPr sz="2200">
                    <a:solidFill>
                      <a:srgbClr val="1E293B"/>
                    </a:solidFill>
                    <a:latin typeface="Calibri"/>
                  </a:rPr>
                  <a:t>; trục </a:t>
                </a:r>
                <a:r>
                  <a:rPr lang="vi-VN"/>
                  <a:t>Oz</a:t>
                </a:r>
                <a:r>
                  <a:rPr sz="2200">
                    <a:solidFill>
                      <a:srgbClr val="1E293B"/>
                    </a:solidFill>
                    <a:latin typeface="Calibri"/>
                  </a:rPr>
                  <a:t> hướng xuống (trần ở trên).</a:t>
                </a:r>
              </a:p>
              <a:p>
                <a:pPr algn="l" marL="365760" indent="-365760">
                  <a:spcAft>
                    <a:spcPts val="800"/>
                  </a:spcAft>
                  <a:buClr>
                    <a:srgbClr val="1E40AF"/>
                  </a:buClr>
                  <a:buFont typeface="Arial"/>
                  <a:buChar char="•"/>
                </a:pPr>
                <a:r>
                  <a:rPr lang="vi-VN"/>
                  <a:t>D_1(1{,}2;\ 1{,}6;\ 0{,}5)</a:t>
                </a:r>
                <a:r>
                  <a:rPr sz="2200">
                    <a:solidFill>
                      <a:srgbClr val="1E293B"/>
                    </a:solidFill>
                    <a:latin typeface="Calibri"/>
                  </a:rPr>
                  <a:t> – vị trí cũ; </a:t>
                </a:r>
                <a:r>
                  <a:rPr lang="vi-VN"/>
                  <a:t>D_2(1{,}5;\ 1{,}5;\ 0{,}4)</a:t>
                </a:r>
                <a:r>
                  <a:rPr sz="2200">
                    <a:solidFill>
                      <a:srgbClr val="1E293B"/>
                    </a:solidFill>
                    <a:latin typeface="Calibri"/>
                  </a:rPr>
                  <a:t> – vị trí mới.</a:t>
                </a:r>
              </a:p>
              <a:p>
                <a:pPr algn="l" marL="365760" indent="-365760">
                  <a:spcAft>
                    <a:spcPts val="800"/>
                  </a:spcAft>
                  <a:buClr>
                    <a:srgbClr val="1E40AF"/>
                  </a:buClr>
                  <a:buFont typeface="Arial"/>
                  <a:buChar char="•"/>
                </a:pPr>
                <a:r>
                  <a:rPr sz="2200">
                    <a:solidFill>
                      <a:srgbClr val="1E293B"/>
                    </a:solidFill>
                    <a:latin typeface="Calibri"/>
                  </a:rPr>
                  <a:t>Bảng giá trị: </a:t>
                </a:r>
                <a:r>
                  <a:rPr lang="vi-VN"/>
                  <a:t>D_1D_2\approx 0{,}33</a:t>
                </a:r>
                <a:r>
                  <a:rPr sz="2200">
                    <a:solidFill>
                      <a:srgbClr val="1E293B"/>
                    </a:solidFill>
                    <a:latin typeface="Calibri"/>
                  </a:rPr>
                  <a:t> m. Kéo </a:t>
                </a:r>
                <a:r>
                  <a:rPr lang="vi-VN"/>
                  <a:t>D_2</a:t>
                </a:r>
                <a:r>
                  <a:rPr sz="2200">
                    <a:solidFill>
                      <a:srgbClr val="1E293B"/>
                    </a:solidFill>
                    <a:latin typeface="Calibri"/>
                  </a:rPr>
                  <a:t> để thử vị trí khác.</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hinh_h253.png"/>
          <p:cNvPicPr>
            <a:picLocks noChangeAspect="1"/>
          </p:cNvPicPr>
          <p:nvPr/>
        </p:nvPicPr>
        <p:blipFill>
          <a:blip r:embed="rId5"/>
          <a:stretch>
            <a:fillRect/>
          </a:stretch>
        </p:blipFill>
        <p:spPr>
          <a:xfrm>
            <a:off x="6858000" y="1564829"/>
            <a:ext cx="4846320" cy="427698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27</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https://trangtu66.github.io/Taode_thi_online/cc_chuong2_t12.html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các bài tập còn lại của chương.</a:t>
            </a:r>
          </a:p>
          <a:p>
            <a:pPr algn="l" marL="365760" indent="-365760">
              <a:spcAft>
                <a:spcPts val="800"/>
              </a:spcAft>
              <a:buClr>
                <a:srgbClr val="1E40AF"/>
              </a:buClr>
              <a:buFont typeface="Arial"/>
              <a:buChar char="•"/>
            </a:pPr>
            <a:r>
              <a:rPr sz="2200">
                <a:solidFill>
                  <a:srgbClr val="1E293B"/>
                </a:solidFill>
                <a:latin typeface="Calibri"/>
              </a:rPr>
              <a:t>Ôn tập chuẩn bị kiểm tra cuối chương II.</a:t>
            </a:r>
          </a:p>
          <a:p>
            <a:pPr algn="l" marL="365760" indent="-365760">
              <a:spcAft>
                <a:spcPts val="800"/>
              </a:spcAft>
              <a:buClr>
                <a:srgbClr val="1E40AF"/>
              </a:buClr>
              <a:buFont typeface="Arial"/>
              <a:buChar char="•"/>
            </a:pPr>
            <a:r>
              <a:rPr sz="2200">
                <a:solidFill>
                  <a:srgbClr val="1E293B"/>
                </a:solidFill>
                <a:latin typeface="Calibri"/>
              </a:rPr>
              <a:t>Nhóm: đo phòng ngủ, lập hệ toạ độ, tính khoảng cách từ đèn đến góc phòng xa nhất.</a:t>
            </a:r>
          </a:p>
        </p:txBody>
      </p:sp>
      <p:pic>
        <p:nvPicPr>
          <p:cNvPr id="8" name="Picture 7" descr="QR_CungCo_Chuong2_Toan12.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28</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Nhầm trọng tâm tam giác với trọng tâm tứ diện (2.25).</a:t>
            </a:r>
          </a:p>
          <a:p>
            <a:pPr algn="l" marL="365760" indent="-365760">
              <a:spcAft>
                <a:spcPts val="800"/>
              </a:spcAft>
              <a:buClr>
                <a:srgbClr val="1E40AF"/>
              </a:buClr>
              <a:buFont typeface="Arial"/>
              <a:buChar char="•"/>
            </a:pPr>
            <a:r>
              <a:rPr sz="2100">
                <a:solidFill>
                  <a:srgbClr val="1E293B"/>
                </a:solidFill>
                <a:latin typeface="Calibri"/>
              </a:rPr>
              <a:t>Quên hệ số ½ khi M là trung điểm cạnh bên (2.26).</a:t>
            </a:r>
          </a:p>
          <a:p>
            <a:pPr algn="l" marL="365760" indent="-365760">
              <a:spcAft>
                <a:spcPts val="800"/>
              </a:spcAft>
              <a:buClr>
                <a:srgbClr val="1E40AF"/>
              </a:buClr>
              <a:buFont typeface="Arial"/>
              <a:buChar char="•"/>
            </a:pPr>
            <a:r>
              <a:rPr sz="2100">
                <a:solidFill>
                  <a:srgbClr val="1E293B"/>
                </a:solidFill>
                <a:latin typeface="Calibri"/>
              </a:rPr>
              <a:t>Sai dấu khi tính góc ⇒ chọn 45° thay vì 135° (2.33).</a:t>
            </a:r>
          </a:p>
          <a:p>
            <a:pPr algn="l" marL="365760" indent="-365760">
              <a:spcAft>
                <a:spcPts val="800"/>
              </a:spcAft>
              <a:buClr>
                <a:srgbClr val="1E40AF"/>
              </a:buClr>
              <a:buFont typeface="Arial"/>
              <a:buChar char="•"/>
            </a:pPr>
            <a:r>
              <a:rPr sz="2100">
                <a:solidFill>
                  <a:srgbClr val="1E293B"/>
                </a:solidFill>
                <a:latin typeface="Calibri"/>
              </a:rPr>
              <a:t>2.38b: lấy BM · AB thay vì BM · AC.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tập cuối chương II – Toán 12          29</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để slide công thức trên màn hình; ưu tiên 2.29 – 2.34, 2.38a, 2.40.</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2.36, 2.37, 2.41c; tự ra bài toán thực tiễn tương tự 2.42.</a:t>
            </a:r>
          </a:p>
          <a:p>
            <a:pPr algn="l" marL="365760" indent="-365760">
              <a:spcAft>
                <a:spcPts val="800"/>
              </a:spcAft>
              <a:buClr>
                <a:srgbClr val="1E40AF"/>
              </a:buClr>
              <a:buFont typeface="Arial"/>
              <a:buChar char="•"/>
            </a:pPr>
            <a:r>
              <a:rPr sz="2000" b="1">
                <a:solidFill>
                  <a:srgbClr val="1E293B"/>
                </a:solidFill>
                <a:latin typeface="Calibri"/>
              </a:rPr>
              <a:t>12A2, 12A7 (khiếm thị):</a:t>
            </a:r>
            <a:r>
              <a:rPr sz="2000">
                <a:solidFill>
                  <a:srgbClr val="1E293B"/>
                </a:solidFill>
                <a:latin typeface="Calibri"/>
              </a:rPr>
              <a:t> GV đọc to đề, phương án; HS trả lời miệng. </a:t>
            </a:r>
            <a:r>
              <a:rPr sz="2000" b="1">
                <a:solidFill>
                  <a:srgbClr val="1E293B"/>
                </a:solidFill>
                <a:latin typeface="Calibri"/>
              </a:rPr>
              <a:t>12A3, 12A5, 12A7 (vận động):</a:t>
            </a:r>
            <a:r>
              <a:rPr sz="2000">
                <a:solidFill>
                  <a:srgbClr val="1E293B"/>
                </a:solidFill>
                <a:latin typeface="Calibri"/>
              </a:rPr>
              <a:t> trả lời tại chỗ, bảng con.</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phiếu in 10 câu trắc nghiệm; máy tính cầm tay thay GeoGebra.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