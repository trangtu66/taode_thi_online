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80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0359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Bìa. Đáp án, lời giải hiện theo click. Nút GeoGebra 3D, video mở trang online (cần Internet).</a:t>
            </a:r>
          </a:p>
          <a:p>
            <a:r>
              <a:t>Lớp 12A2, 12A7 có HS khiếm thị: GV đọc to toạ độ, công thức; cho phép dùng máy tính cầm tay có giọng đọc nếu có.</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Yêu cầu cần đạt lấy từ khung 'Kiến thức, kĩ năng' SGK tr.67.</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Chiếu để HS nắm lộ trình bài học.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Tiết 1 (45'): Khởi động 6' – HĐ1, khung 8' – Nhận xét, Ví dụ 1, LT1: 10' – HĐ2, khung, Ví dụ 2, LT2: 12' – Trò chơi 6' – Tổng kết 3'.</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Video mở đầu (phụ đề). HS dự đoán: dài 450 cm, rộng 240 cm, cạnh bên mặt tiền? Giải ở Ví dụ 6 (Tiết 3).</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HĐ1 (SGK tr.67) – 4'. Click 1, 2. Chốt khung. Câu hỏi (?): vectơ đối (click 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Nhận xét: điều kiện cùng phương. Ví dụ 1 (click 1, 2), Luyện tập 1 (click 3).</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HĐ2 (SGK tr.68) – 4'. Gợi ý: OM = ½(OA + OB), OG = ⅓(OA + OB + OC). Click 1. Chốt khung.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 dụ 2 (click 1, 2). Luyện tập 2 (click 3): C = 3G − A − B.</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Click 1–4. Đáp án đã kiểm tra bằng Python.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Tiết 2 (45'): HĐ3, khung, Nhận xét 9' – Ví dụ 3, LT3: 7' – Ví dụ 4, Chú ý, LT4: 12' – Ví dụ 5, LT5, GeoGebra 12' – Tổng kết 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HĐ3 (SGK tr.69) – 5'. Click 1–3. Chốt khung, Nhận xét.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 dụ 3 (click 1, 2). Luyện tập 3 (click 3): (a + b)² = |a + b|² = 38.</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GV hướng dẫn chọn hệ trục, đọc toạ độ (click 1–3). Chốt Chú ý: công thức khoảng cách.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 làm nhóm 4' (máy tính cầm tay). Click 1, 2. Đã kiểm tra bằng Python.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 dụ 5 (click 1–3). Luyện tập 5 (click 4): C = B + AB = (1 080; 600; 9).</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Lệnh: A=(800,500,7), B=(940,550,8), t=Slider(0,30,1), M=A+t/10*(B-A).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Tiết 3 (45'): Hộp quà 6' – Ví dụ 6, LT6: 8' – Ví dụ 7, LT7, GeoGebra 9' – Bài tập 2.20 – 2.24 (17') – Củng cố 5'.</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Đáp án đã kiểm tra bằng Python.</a:t>
            </a:r>
          </a:p>
          <a:p>
            <a:r>
              <a:t>Các slide câu hỏi đang ẩn – chỉ mở được bằng cách bấm vào hộp.</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1: đáp án; click 2: phần quà.</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1: đáp án; click 2: phần quà.</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1: đáp án; click 2: phần quà.</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1: đáp án; click 2: phần quà.</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sánh với dự đoán đầu Tiết 1 (click 1–3). Luyện tập 6 ở slide sau.</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 làm 4'. Click 1.</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 dụ 7 (click 1, 2). Luyện tập 7 ở slide sau.</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 làm 3'. Click 1.</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Lệnh: K1=(2,1,h1), K2=(-1,-1.5,h2), h1, h2 thanh trượt, d=Distance(K1,K2).</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Chữa bài: gọi HS trình bày, click hiện đáp án (đối chiếu SGV, KHBD; đã kiểm tra bằng Python).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Chữa bài: gọi HS trình bày, click hiện đáp án (đối chiếu SGV, KHBD; đã kiểm tra bằng Python).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HS quét QR làm bài củng cố online ở nhà. Đáp án chỉ mở khi GV cho phép.</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Củng cố cuối bài.</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ẩn – chỉ GV xem khi chuẩn bị.</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ẩn – chỉ GV xem khi chuẩn bị.</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trangtu66.github.io/Taode_thi_online/mon/toan/video/lop12/VIDEO_MoDau_TOAN12_Bai8_BieuThucToaDo.mp4"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trangtu66.github.io/Taode_thi_online/GGB3D_T12_Bai8_1_MayBay.html"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slide" Target="slide25.xml"/><Relationship Id="rId5" Type="http://schemas.openxmlformats.org/officeDocument/2006/relationships/slide" Target="slide24.xml"/><Relationship Id="rId4" Type="http://schemas.openxmlformats.org/officeDocument/2006/relationships/slide" Target="slide2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slide" Target="slide2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slide" Target="slide2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slide" Target="slide2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slide" Target="slide2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trangtu66.github.io/Taode_thi_online/GGB3D_T12_Bai8_2_KhinhKhiCau.html"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hyperlink" Target="https://trangtu66.github.io/Taode_thi_online/cc_bai8_t12.html"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200" b="1">
                <a:solidFill>
                  <a:srgbClr val="FCD34D"/>
                </a:solidFill>
                <a:latin typeface="Cambria"/>
              </a:rPr>
              <a:t>CHƯƠNG II. VECTƠ VÀ HỆ TRỤC TOẠ ĐỘ TRONG KHÔNG GIAN</a:t>
            </a:r>
          </a:p>
          <a:p>
            <a:pPr>
              <a:spcAft>
                <a:spcPts val="600"/>
              </a:spcAft>
            </a:pPr>
            <a:r>
              <a:rPr sz="3000" b="1">
                <a:solidFill>
                  <a:srgbClr val="FFFFFF"/>
                </a:solidFill>
                <a:latin typeface="Cambria"/>
              </a:rPr>
              <a:t>BÀI 8</a:t>
            </a:r>
          </a:p>
          <a:p>
            <a:pPr>
              <a:spcAft>
                <a:spcPts val="600"/>
              </a:spcAft>
            </a:pPr>
            <a:r>
              <a:rPr sz="3800" b="1">
                <a:solidFill>
                  <a:srgbClr val="FFFFFF"/>
                </a:solidFill>
                <a:latin typeface="Cambria"/>
              </a:rPr>
              <a:t>BIỂU THỨC TOẠ ĐỘ CỦA CÁC PHÉP TOÁN VECTƠ</a:t>
            </a:r>
          </a:p>
        </p:txBody>
      </p:sp>
      <p:sp>
        <p:nvSpPr>
          <p:cNvPr id="5" name="TextBox 4"/>
          <p:cNvSpPr txBox="1"/>
          <p:nvPr/>
        </p:nvSpPr>
        <p:spPr>
          <a:xfrm>
            <a:off x="1097280" y="4343400"/>
            <a:ext cx="10332720" cy="430887"/>
          </a:xfrm>
          <a:prstGeom prst="rect">
            <a:avLst/>
          </a:prstGeom>
          <a:noFill/>
        </p:spPr>
        <p:txBody>
          <a:bodyPr wrap="square" lIns="45720" rIns="45720" anchor="t">
            <a:spAutoFit/>
          </a:bodyPr>
          <a:lstStyle/>
          <a:p>
            <a:pPr algn="l">
              <a:spcAft>
                <a:spcPts val="800"/>
              </a:spcAft>
            </a:pPr>
            <a:r>
              <a:rPr sz="2200">
                <a:solidFill>
                  <a:srgbClr val="E0E7FF"/>
                </a:solidFill>
                <a:latin typeface="Calibri"/>
              </a:rPr>
              <a:t>Toán 12 – 3 tiết: T37 – T39</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2</a:t>
            </a:r>
          </a:p>
        </p:txBody>
      </p:sp>
      <p:sp>
        <p:nvSpPr>
          <p:cNvPr id="7" name="Rounded Rectangle 6"/>
          <p:cNvSpPr/>
          <p:nvPr/>
        </p:nvSpPr>
        <p:spPr>
          <a:xfrm>
            <a:off x="548640" y="1417320"/>
            <a:ext cx="11064240" cy="247802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1453896"/>
            <a:ext cx="10735056" cy="2404872"/>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tr.67)</a:t>
            </a:r>
          </a:p>
          <a:p>
            <a:pPr marL="365760" indent="-365760" algn="l">
              <a:spcAft>
                <a:spcPts val="800"/>
              </a:spcAft>
              <a:buClr>
                <a:srgbClr val="1E40AF"/>
              </a:buClr>
              <a:buFont typeface="Arial"/>
              <a:buChar char="•"/>
            </a:pPr>
            <a:r>
              <a:rPr sz="2200">
                <a:solidFill>
                  <a:srgbClr val="1E293B"/>
                </a:solidFill>
                <a:latin typeface="Calibri"/>
              </a:rPr>
              <a:t>Nhận biết biểu thức toạ độ của các phép toán vectơ trong không gian, thể hiện các phép toán vectơ theo toạ độ, xác định độ dài của một vectơ khi biết toạ độ hai đầu mút.</a:t>
            </a:r>
          </a:p>
          <a:p>
            <a:pPr marL="365760" indent="-365760" algn="l">
              <a:spcAft>
                <a:spcPts val="800"/>
              </a:spcAft>
              <a:buClr>
                <a:srgbClr val="1E40AF"/>
              </a:buClr>
              <a:buFont typeface="Arial"/>
              <a:buChar char="•"/>
            </a:pPr>
            <a:r>
              <a:rPr sz="2200">
                <a:solidFill>
                  <a:srgbClr val="1E293B"/>
                </a:solidFill>
                <a:latin typeface="Calibri"/>
              </a:rPr>
              <a:t>Vận dụng biểu thức toạ độ của các phép toán vectơ để giải một số bài toán có liên quan đến thực tiễn.</a:t>
            </a:r>
          </a:p>
        </p:txBody>
      </p:sp>
      <p:sp>
        <p:nvSpPr>
          <p:cNvPr id="9" name="TextBox 8"/>
          <p:cNvSpPr txBox="1"/>
          <p:nvPr/>
        </p:nvSpPr>
        <p:spPr>
          <a:xfrm>
            <a:off x="548640" y="4123944"/>
            <a:ext cx="11064240" cy="274320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mô hình hoá (nhà gỗ, máy bay, khinh khí cầu); giải quyết vấn đề; sử dụng công cụ (máy tính cầm tay, GeoGebra 3D).</a:t>
            </a:r>
          </a:p>
          <a:p>
            <a:pPr marL="365760" indent="-365760" algn="l">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khi tự kiểm tra kết quả, trách nhiệm khi làm việc nhóm.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3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27632"/>
            <a:ext cx="1188720" cy="594360"/>
          </a:xfrm>
          <a:prstGeom prst="rect">
            <a:avLst/>
          </a:prstGeom>
          <a:noFill/>
        </p:spPr>
        <p:txBody>
          <a:bodyPr wrap="square" lIns="45720" rIns="45720" anchor="t">
            <a:spAutoFit/>
          </a:bodyPr>
          <a:lstStyle/>
          <a:p>
            <a:pPr algn="ctr">
              <a:spcAft>
                <a:spcPts val="800"/>
              </a:spcAft>
            </a:pPr>
            <a:r>
              <a:rPr sz="2400" b="1">
                <a:solidFill>
                  <a:srgbClr val="FFFFFF"/>
                </a:solidFill>
                <a:latin typeface="Calibri"/>
              </a:rPr>
              <a:t>T37</a:t>
            </a:r>
          </a:p>
        </p:txBody>
      </p:sp>
      <p:sp>
        <p:nvSpPr>
          <p:cNvPr id="9" name="TextBox 8"/>
          <p:cNvSpPr txBox="1"/>
          <p:nvPr/>
        </p:nvSpPr>
        <p:spPr>
          <a:xfrm>
            <a:off x="1920240" y="1645920"/>
            <a:ext cx="6035040" cy="731520"/>
          </a:xfrm>
          <a:prstGeom prst="rect">
            <a:avLst/>
          </a:prstGeom>
          <a:noFill/>
        </p:spPr>
        <p:txBody>
          <a:bodyPr wrap="square" lIns="45720" rIns="45720" anchor="t">
            <a:spAutoFit/>
          </a:bodyPr>
          <a:lstStyle/>
          <a:p>
            <a:pPr algn="l">
              <a:spcAft>
                <a:spcPts val="800"/>
              </a:spcAft>
            </a:pPr>
            <a:r>
              <a:rPr sz="2200">
                <a:solidFill>
                  <a:srgbClr val="1E293B"/>
                </a:solidFill>
                <a:latin typeface="Calibri"/>
              </a:rPr>
              <a:t>1. Biểu thức toạ độ của phép cộng, trừ, nhân số với vectơ; trung điểm, trọng tâm</a:t>
            </a:r>
          </a:p>
        </p:txBody>
      </p:sp>
      <p:sp>
        <p:nvSpPr>
          <p:cNvPr id="10" name="TextBox 9"/>
          <p:cNvSpPr txBox="1"/>
          <p:nvPr/>
        </p:nvSpPr>
        <p:spPr>
          <a:xfrm>
            <a:off x="8046720" y="1645920"/>
            <a:ext cx="3749039" cy="731520"/>
          </a:xfrm>
          <a:prstGeom prst="rect">
            <a:avLst/>
          </a:prstGeom>
          <a:noFill/>
        </p:spPr>
        <p:txBody>
          <a:bodyPr wrap="square" lIns="45720" rIns="45720" anchor="t">
            <a:spAutoFit/>
          </a:bodyPr>
          <a:lstStyle/>
          <a:p>
            <a:pPr algn="l">
              <a:spcAft>
                <a:spcPts val="800"/>
              </a:spcAft>
            </a:pPr>
            <a:r>
              <a:rPr sz="2000">
                <a:solidFill>
                  <a:srgbClr val="1E293B"/>
                </a:solidFill>
                <a:latin typeface="Calibri"/>
              </a:rPr>
              <a:t>🎮 Ai nhanh hơn?</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587752"/>
            <a:ext cx="1188720" cy="594360"/>
          </a:xfrm>
          <a:prstGeom prst="rect">
            <a:avLst/>
          </a:prstGeom>
          <a:noFill/>
        </p:spPr>
        <p:txBody>
          <a:bodyPr wrap="square" lIns="45720" rIns="45720" anchor="t">
            <a:spAutoFit/>
          </a:bodyPr>
          <a:lstStyle/>
          <a:p>
            <a:pPr algn="ctr">
              <a:spcAft>
                <a:spcPts val="800"/>
              </a:spcAft>
            </a:pPr>
            <a:r>
              <a:rPr sz="2400" b="1">
                <a:solidFill>
                  <a:srgbClr val="FFFFFF"/>
                </a:solidFill>
                <a:latin typeface="Calibri"/>
              </a:rPr>
              <a:t>T38</a:t>
            </a:r>
          </a:p>
        </p:txBody>
      </p:sp>
      <p:sp>
        <p:nvSpPr>
          <p:cNvPr id="13" name="TextBox 12"/>
          <p:cNvSpPr txBox="1"/>
          <p:nvPr/>
        </p:nvSpPr>
        <p:spPr>
          <a:xfrm>
            <a:off x="1920240" y="2606040"/>
            <a:ext cx="6035040" cy="731520"/>
          </a:xfrm>
          <a:prstGeom prst="rect">
            <a:avLst/>
          </a:prstGeom>
          <a:noFill/>
        </p:spPr>
        <p:txBody>
          <a:bodyPr wrap="square" lIns="45720" rIns="45720" anchor="t">
            <a:spAutoFit/>
          </a:bodyPr>
          <a:lstStyle/>
          <a:p>
            <a:pPr algn="l">
              <a:spcAft>
                <a:spcPts val="800"/>
              </a:spcAft>
            </a:pPr>
            <a:r>
              <a:rPr sz="2200">
                <a:solidFill>
                  <a:srgbClr val="1E293B"/>
                </a:solidFill>
                <a:latin typeface="Calibri"/>
              </a:rPr>
              <a:t>2. Biểu thức toạ độ của tích vô hướng. 3. Vận dụng: máy bay (Ví dụ 5)</a:t>
            </a:r>
          </a:p>
        </p:txBody>
      </p:sp>
      <p:sp>
        <p:nvSpPr>
          <p:cNvPr id="14" name="TextBox 13"/>
          <p:cNvSpPr txBox="1"/>
          <p:nvPr/>
        </p:nvSpPr>
        <p:spPr>
          <a:xfrm>
            <a:off x="8046720" y="2606040"/>
            <a:ext cx="3749039" cy="731520"/>
          </a:xfrm>
          <a:prstGeom prst="rect">
            <a:avLst/>
          </a:prstGeom>
          <a:noFill/>
        </p:spPr>
        <p:txBody>
          <a:bodyPr wrap="square" lIns="45720" rIns="45720" anchor="t">
            <a:spAutoFit/>
          </a:bodyPr>
          <a:lstStyle/>
          <a:p>
            <a:pPr algn="l">
              <a:spcAft>
                <a:spcPts val="800"/>
              </a:spcAft>
            </a:pPr>
            <a:r>
              <a:rPr sz="2000">
                <a:solidFill>
                  <a:srgbClr val="1E293B"/>
                </a:solidFill>
                <a:latin typeface="Calibri"/>
              </a:rPr>
              <a:t>🎮 GeoGebra 3D · Đúng hay Sai?</a:t>
            </a:r>
          </a:p>
        </p:txBody>
      </p:sp>
      <p:sp>
        <p:nvSpPr>
          <p:cNvPr id="15" name="Rounded Rectangle 14"/>
          <p:cNvSpPr/>
          <p:nvPr/>
        </p:nvSpPr>
        <p:spPr>
          <a:xfrm>
            <a:off x="548640" y="347472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547872"/>
            <a:ext cx="1188720" cy="594360"/>
          </a:xfrm>
          <a:prstGeom prst="rect">
            <a:avLst/>
          </a:prstGeom>
          <a:noFill/>
        </p:spPr>
        <p:txBody>
          <a:bodyPr wrap="square" lIns="45720" rIns="45720" anchor="t">
            <a:spAutoFit/>
          </a:bodyPr>
          <a:lstStyle/>
          <a:p>
            <a:pPr algn="ctr">
              <a:spcAft>
                <a:spcPts val="800"/>
              </a:spcAft>
            </a:pPr>
            <a:r>
              <a:rPr sz="2400" b="1">
                <a:solidFill>
                  <a:srgbClr val="FFFFFF"/>
                </a:solidFill>
                <a:latin typeface="Calibri"/>
              </a:rPr>
              <a:t>T39</a:t>
            </a:r>
          </a:p>
        </p:txBody>
      </p:sp>
      <p:sp>
        <p:nvSpPr>
          <p:cNvPr id="17" name="TextBox 16"/>
          <p:cNvSpPr txBox="1"/>
          <p:nvPr/>
        </p:nvSpPr>
        <p:spPr>
          <a:xfrm>
            <a:off x="1920240" y="3566160"/>
            <a:ext cx="6035040" cy="731520"/>
          </a:xfrm>
          <a:prstGeom prst="rect">
            <a:avLst/>
          </a:prstGeom>
          <a:noFill/>
        </p:spPr>
        <p:txBody>
          <a:bodyPr wrap="square" lIns="45720" rIns="45720" anchor="t">
            <a:spAutoFit/>
          </a:bodyPr>
          <a:lstStyle/>
          <a:p>
            <a:pPr algn="l">
              <a:spcAft>
                <a:spcPts val="800"/>
              </a:spcAft>
            </a:pPr>
            <a:r>
              <a:rPr sz="2200">
                <a:solidFill>
                  <a:srgbClr val="1E293B"/>
                </a:solidFill>
                <a:latin typeface="Calibri"/>
              </a:rPr>
              <a:t>Ví dụ 6 (nhà gỗ), Ví dụ 7 (khinh khí cầu); Bài tập 2.20 – 2.24</a:t>
            </a:r>
          </a:p>
        </p:txBody>
      </p:sp>
      <p:sp>
        <p:nvSpPr>
          <p:cNvPr id="18" name="TextBox 17"/>
          <p:cNvSpPr txBox="1"/>
          <p:nvPr/>
        </p:nvSpPr>
        <p:spPr>
          <a:xfrm>
            <a:off x="8046720" y="3566160"/>
            <a:ext cx="3749039" cy="731520"/>
          </a:xfrm>
          <a:prstGeom prst="rect">
            <a:avLst/>
          </a:prstGeom>
          <a:noFill/>
        </p:spPr>
        <p:txBody>
          <a:bodyPr wrap="square" lIns="45720" rIns="45720" anchor="t">
            <a:spAutoFit/>
          </a:bodyPr>
          <a:lstStyle/>
          <a:p>
            <a:pPr algn="l">
              <a:spcAft>
                <a:spcPts val="800"/>
              </a:spcAft>
            </a:pPr>
            <a:r>
              <a:rPr sz="2000">
                <a:solidFill>
                  <a:srgbClr val="1E293B"/>
                </a:solidFill>
                <a:latin typeface="Calibri"/>
              </a:rPr>
              <a:t>🎮 Hộp quà · GeoGebra 3D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(T37)</a:t>
            </a:r>
          </a:p>
          <a:p>
            <a:pPr>
              <a:spcAft>
                <a:spcPts val="600"/>
              </a:spcAft>
            </a:pPr>
            <a:r>
              <a:rPr sz="4000" b="1">
                <a:solidFill>
                  <a:srgbClr val="FFFFFF"/>
                </a:solidFill>
                <a:latin typeface="Cambria"/>
              </a:rPr>
              <a:t>Phép cộng, trừ, nhân số với vectơ theo toạ độ</a:t>
            </a:r>
          </a:p>
        </p:txBody>
      </p:sp>
      <p:sp>
        <p:nvSpPr>
          <p:cNvPr id="5" name="TextBox 4"/>
          <p:cNvSpPr txBox="1"/>
          <p:nvPr/>
        </p:nvSpPr>
        <p:spPr>
          <a:xfrm>
            <a:off x="1097280" y="4343400"/>
            <a:ext cx="10332720" cy="1828800"/>
          </a:xfrm>
          <a:prstGeom prst="rect">
            <a:avLst/>
          </a:prstGeom>
          <a:noFill/>
        </p:spPr>
        <p:txBody>
          <a:bodyPr wrap="square" lIns="45720" rIns="45720" anchor="t">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Tính toạ độ của tổng, hiệu, tích vectơ với một số.</a:t>
            </a:r>
          </a:p>
          <a:p>
            <a:pPr algn="l">
              <a:spcAft>
                <a:spcPts val="800"/>
              </a:spcAft>
            </a:pPr>
            <a:r>
              <a:rPr sz="2200">
                <a:solidFill>
                  <a:srgbClr val="E0E7FF"/>
                </a:solidFill>
                <a:latin typeface="Calibri"/>
              </a:rPr>
              <a:t>• Tìm toạ độ trung điểm đoạn thẳng, trọng tâm tam giác.</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KÍCH THƯỚC CĂN NHÀ GỖ</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5</a:t>
            </a:r>
          </a:p>
        </p:txBody>
      </p:sp>
      <mc:AlternateContent xmlns:mc="http://schemas.openxmlformats.org/markup-compatibility/2006" xmlns:a14="http://schemas.microsoft.com/office/drawing/2010/main">
        <mc:Choice Requires="a14">
          <p:sp>
            <p:nvSpPr>
              <p:cNvPr id="7" name="TextBox 6"/>
              <p:cNvSpPr txBox="1"/>
              <p:nvPr/>
            </p:nvSpPr>
            <p:spPr>
              <a:xfrm>
                <a:off x="548640" y="1417320"/>
                <a:ext cx="6583680" cy="3840480"/>
              </a:xfrm>
              <a:prstGeom prst="rect">
                <a:avLst/>
              </a:prstGeom>
              <a:noFill/>
            </p:spPr>
            <p:txBody>
              <a:bodyPr wrap="square" lIns="45720" rIns="45720" anchor="t">
                <a:spAutoFit/>
              </a:bodyPr>
              <a:lstStyle/>
              <a:p>
                <a:pPr algn="l">
                  <a:spcAft>
                    <a:spcPts val="800"/>
                  </a:spcAft>
                </a:pPr>
                <a:r>
                  <a:rPr sz="2200">
                    <a:solidFill>
                      <a:srgbClr val="1E293B"/>
                    </a:solidFill>
                    <a:latin typeface="Calibri"/>
                  </a:rPr>
                  <a:t>Những căn nhà gỗ trong Hình 2.47a được phác thảo dưới dạng một hình lăng trụ đứng tam giác </a:t>
                </a:r>
                <a14:m>
                  <m:oMath xmlns:m="http://schemas.openxmlformats.org/officeDocument/2006/math">
                    <m:r>
                      <a:rPr lang="vi-VN" sz="2200" b="0">
                        <a:solidFill>
                          <a:srgbClr val="1E293B"/>
                        </a:solidFill>
                        <a:latin typeface="Cambria Math" panose="02040503050406030204" pitchFamily="18" charset="0"/>
                      </a:rPr>
                      <m:t>𝑂𝐴𝐵</m:t>
                    </m:r>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𝑂</m:t>
                        </m:r>
                      </m:e>
                      <m:sup>
                        <m:r>
                          <a:rPr lang="vi-VN" sz="2200" b="0">
                            <a:solidFill>
                              <a:srgbClr val="1E293B"/>
                            </a:solidFill>
                            <a:latin typeface="Cambria Math" panose="02040503050406030204" pitchFamily="18" charset="0"/>
                          </a:rPr>
                          <m:t>′</m:t>
                        </m:r>
                      </m:sup>
                    </m:sSup>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𝐴</m:t>
                        </m:r>
                      </m:e>
                      <m:sup>
                        <m:r>
                          <a:rPr lang="vi-VN" sz="2200" b="0">
                            <a:solidFill>
                              <a:srgbClr val="1E293B"/>
                            </a:solidFill>
                            <a:latin typeface="Cambria Math" panose="02040503050406030204" pitchFamily="18" charset="0"/>
                          </a:rPr>
                          <m:t>′</m:t>
                        </m:r>
                      </m:sup>
                    </m:sSup>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𝐵</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như trong Hình 2.47b. Với hệ trục toạ độ </a:t>
                </a:r>
                <a14:m>
                  <m:oMath xmlns:m="http://schemas.openxmlformats.org/officeDocument/2006/math">
                    <m:r>
                      <a:rPr lang="vi-VN" sz="2200" b="0">
                        <a:solidFill>
                          <a:srgbClr val="1E293B"/>
                        </a:solidFill>
                        <a:latin typeface="Cambria Math" panose="02040503050406030204" pitchFamily="18" charset="0"/>
                      </a:rPr>
                      <m:t>𝑂𝑥𝑦𝑧</m:t>
                    </m:r>
                  </m:oMath>
                </a14:m>
                <a:r>
                  <a:rPr sz="2200">
                    <a:solidFill>
                      <a:srgbClr val="1E293B"/>
                    </a:solidFill>
                    <a:latin typeface="Calibri"/>
                  </a:rPr>
                  <a:t> như Hình 2.47b (đơn vị centimét), hai điểm </a:t>
                </a:r>
                <a14:m>
                  <m:oMath xmlns:m="http://schemas.openxmlformats.org/officeDocument/2006/math">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𝐴</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và </a:t>
                </a:r>
                <a14:m>
                  <m:oMath xmlns:m="http://schemas.openxmlformats.org/officeDocument/2006/math">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𝐵</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có toạ độ lần lượt là </a:t>
                </a:r>
                <a14:m>
                  <m:oMath xmlns:m="http://schemas.openxmlformats.org/officeDocument/2006/math">
                    <m:d>
                      <m:dPr>
                        <m:ctrlPr>
                          <a:rPr lang="vi-VN" sz="2200" b="0">
                            <a:solidFill>
                              <a:srgbClr val="1E293B"/>
                            </a:solidFill>
                            <a:latin typeface="Cambria Math" panose="02040503050406030204" pitchFamily="18" charset="0"/>
                          </a:rPr>
                        </m:ctrlPr>
                      </m:dPr>
                      <m:e>
                        <m:r>
                          <a:rPr lang="vi-VN" sz="2200" b="0">
                            <a:solidFill>
                              <a:srgbClr val="1E293B"/>
                            </a:solidFill>
                            <a:latin typeface="Cambria Math" panose="02040503050406030204" pitchFamily="18" charset="0"/>
                          </a:rPr>
                          <m:t>240; 450; 0</m:t>
                        </m:r>
                      </m:e>
                    </m:d>
                  </m:oMath>
                </a14:m>
                <a:r>
                  <a:rPr sz="2200">
                    <a:solidFill>
                      <a:srgbClr val="1E293B"/>
                    </a:solidFill>
                    <a:latin typeface="Calibri"/>
                  </a:rPr>
                  <a:t> và </a:t>
                </a:r>
                <a14:m>
                  <m:oMath xmlns:m="http://schemas.openxmlformats.org/officeDocument/2006/math">
                    <m:d>
                      <m:dPr>
                        <m:ctrlPr>
                          <a:rPr lang="vi-VN" sz="2200" b="0">
                            <a:solidFill>
                              <a:srgbClr val="1E293B"/>
                            </a:solidFill>
                            <a:latin typeface="Cambria Math" panose="02040503050406030204" pitchFamily="18" charset="0"/>
                          </a:rPr>
                        </m:ctrlPr>
                      </m:dPr>
                      <m:e>
                        <m:r>
                          <a:rPr lang="vi-VN" sz="2200" b="0">
                            <a:solidFill>
                              <a:srgbClr val="1E293B"/>
                            </a:solidFill>
                            <a:latin typeface="Cambria Math" panose="02040503050406030204" pitchFamily="18" charset="0"/>
                          </a:rPr>
                          <m:t>120; 450; 300</m:t>
                        </m:r>
                      </m:e>
                    </m:d>
                  </m:oMath>
                </a14:m>
                <a:r>
                  <a:rPr sz="2200">
                    <a:solidFill>
                      <a:srgbClr val="1E293B"/>
                    </a:solidFill>
                    <a:latin typeface="Calibri"/>
                  </a:rPr>
                  <a:t>. </a:t>
                </a:r>
                <a:r>
                  <a:rPr sz="2200" b="1">
                    <a:solidFill>
                      <a:srgbClr val="1E293B"/>
                    </a:solidFill>
                    <a:latin typeface="Calibri"/>
                  </a:rPr>
                  <a:t>Từ những thông tin trên, có thể tính được kích thước mỗi chiều của những căn nhà gỗ hay không?</a:t>
                </a:r>
              </a:p>
              <a:p>
                <a:pPr algn="l">
                  <a:spcAft>
                    <a:spcPts val="800"/>
                  </a:spcAft>
                </a:pPr>
                <a:r>
                  <a:rPr sz="2000">
                    <a:solidFill>
                      <a:srgbClr val="64748B"/>
                    </a:solidFill>
                    <a:latin typeface="Calibri"/>
                  </a:rPr>
                  <a:t>(SGK Toán 12 tập một, tr.67)</a:t>
                </a:r>
              </a:p>
            </p:txBody>
          </p:sp>
        </mc:Choice>
        <mc:Fallback xmlns="">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Những căn nhà gỗ trong Hình 2.47a được phác thảo dưới dạng một hình lăng trụ đứng tam giác </a:t>
                </a:r>
                <a:r>
                  <a:rPr lang="vi-VN"/>
                  <a:t>OAB.O'A'B'</a:t>
                </a:r>
                <a:r>
                  <a:rPr sz="2200">
                    <a:solidFill>
                      <a:srgbClr val="1E293B"/>
                    </a:solidFill>
                    <a:latin typeface="Calibri"/>
                  </a:rPr>
                  <a:t> như trong Hình 2.47b. Với hệ trục toạ độ </a:t>
                </a:r>
                <a:r>
                  <a:rPr lang="vi-VN"/>
                  <a:t>Oxyz</a:t>
                </a:r>
                <a:r>
                  <a:rPr sz="2200">
                    <a:solidFill>
                      <a:srgbClr val="1E293B"/>
                    </a:solidFill>
                    <a:latin typeface="Calibri"/>
                  </a:rPr>
                  <a:t> như Hình 2.47b (đơn vị centimét), hai điểm </a:t>
                </a:r>
                <a:r>
                  <a:rPr lang="vi-VN"/>
                  <a:t>A'</a:t>
                </a:r>
                <a:r>
                  <a:rPr sz="2200">
                    <a:solidFill>
                      <a:srgbClr val="1E293B"/>
                    </a:solidFill>
                    <a:latin typeface="Calibri"/>
                  </a:rPr>
                  <a:t> và </a:t>
                </a:r>
                <a:r>
                  <a:rPr lang="vi-VN"/>
                  <a:t>B'</a:t>
                </a:r>
                <a:r>
                  <a:rPr sz="2200">
                    <a:solidFill>
                      <a:srgbClr val="1E293B"/>
                    </a:solidFill>
                    <a:latin typeface="Calibri"/>
                  </a:rPr>
                  <a:t> có toạ độ lần lượt là </a:t>
                </a:r>
                <a:r>
                  <a:rPr lang="vi-VN"/>
                  <a:t>(240;\ 450;\ 0)</a:t>
                </a:r>
                <a:r>
                  <a:rPr sz="2200">
                    <a:solidFill>
                      <a:srgbClr val="1E293B"/>
                    </a:solidFill>
                    <a:latin typeface="Calibri"/>
                  </a:rPr>
                  <a:t> và </a:t>
                </a:r>
                <a:r>
                  <a:rPr lang="vi-VN"/>
                  <a:t>(120;\ 450;\ 300)</a:t>
                </a:r>
                <a:r>
                  <a:rPr sz="2200">
                    <a:solidFill>
                      <a:srgbClr val="1E293B"/>
                    </a:solidFill>
                    <a:latin typeface="Calibri"/>
                  </a:rPr>
                  <a:t>. </a:t>
                </a:r>
                <a:r>
                  <a:rPr sz="2200" b="1">
                    <a:solidFill>
                      <a:srgbClr val="1E293B"/>
                    </a:solidFill>
                    <a:latin typeface="Calibri"/>
                  </a:rPr>
                  <a:t>Từ những thông tin trên, có thể tính được kích thước mỗi chiều của những căn nhà gỗ hay không?</a:t>
                </a:r>
              </a:p>
              <a:p>
                <a:pPr algn="l">
                  <a:spcAft>
                    <a:spcPts val="800"/>
                  </a:spcAft>
                </a:pPr>
                <a:r>
                  <a:rPr sz="2000">
                    <a:solidFill>
                      <a:srgbClr val="64748B"/>
                    </a:solidFill>
                    <a:latin typeface="Calibri"/>
                  </a:rPr>
                  <a:t>(SGK Toán 12 tập một, tr.67)</a:t>
                </a:r>
              </a:p>
            </p:txBody>
          </p:sp>
        </mc:Fallback>
      </mc:AlternateContent>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h247.png"/>
          <p:cNvPicPr>
            <a:picLocks noChangeAspect="1"/>
          </p:cNvPicPr>
          <p:nvPr/>
        </p:nvPicPr>
        <p:blipFill>
          <a:blip r:embed="rId5"/>
          <a:stretch>
            <a:fillRect/>
          </a:stretch>
        </p:blipFill>
        <p:spPr>
          <a:xfrm>
            <a:off x="7315200" y="2778053"/>
            <a:ext cx="4389120" cy="13933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CỘNG, TRỪ, NHÂN SỐ VỚI VECTƠ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6</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1088136"/>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HĐ1.</a:t>
                </a:r>
                <a:r>
                  <a:rPr sz="2000">
                    <a:solidFill>
                      <a:srgbClr val="1E293B"/>
                    </a:solidFill>
                    <a:latin typeface="Calibri"/>
                  </a:rPr>
                  <a:t> Trong không gian </a:t>
                </a:r>
                <a14:m>
                  <m:oMath xmlns:m="http://schemas.openxmlformats.org/officeDocument/2006/math">
                    <m:r>
                      <a:rPr lang="vi-VN" sz="2000" b="0">
                        <a:solidFill>
                          <a:srgbClr val="1E293B"/>
                        </a:solidFill>
                        <a:latin typeface="Cambria Math" panose="02040503050406030204" pitchFamily="18" charset="0"/>
                      </a:rPr>
                      <m:t>𝑂𝑥𝑦𝑧</m:t>
                    </m:r>
                  </m:oMath>
                </a14:m>
                <a:r>
                  <a:rPr sz="2000">
                    <a:solidFill>
                      <a:srgbClr val="1E293B"/>
                    </a:solidFill>
                    <a:latin typeface="Calibri"/>
                  </a:rPr>
                  <a:t>, cho hai vectơ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=(1; 0; 5)</m:t>
                    </m:r>
                  </m:oMath>
                </a14:m>
                <a:r>
                  <a:rPr sz="2000">
                    <a:solidFill>
                      <a:srgbClr val="1E293B"/>
                    </a:solidFill>
                    <a:latin typeface="Calibri"/>
                  </a:rPr>
                  <a:t> và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=(1; 3; 9)</m:t>
                    </m:r>
                  </m:oMath>
                </a14:m>
                <a:r>
                  <a:rPr sz="2000">
                    <a:solidFill>
                      <a:srgbClr val="1E293B"/>
                    </a:solidFill>
                    <a:latin typeface="Calibri"/>
                  </a:rPr>
                  <a:t>. a) Biểu diễn hai vectơ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oMath>
                </a14:m>
                <a:r>
                  <a:rPr sz="2000">
                    <a:solidFill>
                      <a:srgbClr val="1E293B"/>
                    </a:solidFill>
                    <a:latin typeface="Calibri"/>
                  </a:rPr>
                  <a:t> và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oMath>
                </a14:m>
                <a:r>
                  <a:rPr sz="2000">
                    <a:solidFill>
                      <a:srgbClr val="1E293B"/>
                    </a:solidFill>
                    <a:latin typeface="Calibri"/>
                  </a:rPr>
                  <a:t> qua các vectơ đơn vị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 </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r>
                      <a:rPr lang="vi-VN" sz="2000" b="0">
                        <a:solidFill>
                          <a:srgbClr val="1E293B"/>
                        </a:solidFill>
                        <a:latin typeface="Cambria Math" panose="02040503050406030204" pitchFamily="18" charset="0"/>
                      </a:rPr>
                      <m:t>, </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oMath>
                </a14:m>
                <a:r>
                  <a:rPr sz="2000">
                    <a:solidFill>
                      <a:srgbClr val="1E293B"/>
                    </a:solidFill>
                    <a:latin typeface="Calibri"/>
                  </a:rPr>
                  <a:t>. b) Biểu diễn hai vectơ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2</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oMath>
                </a14:m>
                <a:r>
                  <a:rPr sz="2000">
                    <a:solidFill>
                      <a:srgbClr val="1E293B"/>
                    </a:solidFill>
                    <a:latin typeface="Calibri"/>
                  </a:rPr>
                  <a:t> qua các vectơ đơn vị, từ đó xác định toạ độ của hai vectơ đó.</a:t>
                </a:r>
              </a:p>
            </p:txBody>
          </p:sp>
        </mc:Choice>
        <mc:Fallback xmlns="">
          <p:sp>
            <p:nvSpPr>
              <p:cNvPr id="7" name="TextBox 6"/>
              <p:cNvSpPr txBox="1"/>
              <p:nvPr/>
            </p:nvSpPr>
            <p:spPr>
              <a:xfrm>
                <a:off x="548640" y="1371600"/>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HĐ1.</a:t>
                </a:r>
                <a:r>
                  <a:rPr sz="2000">
                    <a:solidFill>
                      <a:srgbClr val="1E293B"/>
                    </a:solidFill>
                    <a:latin typeface="Calibri"/>
                  </a:rPr>
                  <a:t> Trong không gian </a:t>
                </a:r>
                <a:r>
                  <a:rPr lang="vi-VN"/>
                  <a:t>Oxyz</a:t>
                </a:r>
                <a:r>
                  <a:rPr sz="2000">
                    <a:solidFill>
                      <a:srgbClr val="1E293B"/>
                    </a:solidFill>
                    <a:latin typeface="Calibri"/>
                  </a:rPr>
                  <a:t>, cho hai vectơ </a:t>
                </a:r>
                <a:r>
                  <a:rPr lang="vi-VN"/>
                  <a:t>\vec{a}=(1;\ 0;\ 5)</a:t>
                </a:r>
                <a:r>
                  <a:rPr sz="2000">
                    <a:solidFill>
                      <a:srgbClr val="1E293B"/>
                    </a:solidFill>
                    <a:latin typeface="Calibri"/>
                  </a:rPr>
                  <a:t> và </a:t>
                </a:r>
                <a:r>
                  <a:rPr lang="vi-VN"/>
                  <a:t>\vec{b}=(1;\ 3;\ 9)</a:t>
                </a:r>
                <a:r>
                  <a:rPr sz="2000">
                    <a:solidFill>
                      <a:srgbClr val="1E293B"/>
                    </a:solidFill>
                    <a:latin typeface="Calibri"/>
                  </a:rPr>
                  <a:t>. a) Biểu diễn hai vectơ </a:t>
                </a:r>
                <a:r>
                  <a:rPr lang="vi-VN"/>
                  <a:t>\vec{a}</a:t>
                </a:r>
                <a:r>
                  <a:rPr sz="2000">
                    <a:solidFill>
                      <a:srgbClr val="1E293B"/>
                    </a:solidFill>
                    <a:latin typeface="Calibri"/>
                  </a:rPr>
                  <a:t> và </a:t>
                </a:r>
                <a:r>
                  <a:rPr lang="vi-VN"/>
                  <a:t>\vec{b}</a:t>
                </a:r>
                <a:r>
                  <a:rPr sz="2000">
                    <a:solidFill>
                      <a:srgbClr val="1E293B"/>
                    </a:solidFill>
                    <a:latin typeface="Calibri"/>
                  </a:rPr>
                  <a:t> qua các vectơ đơn vị </a:t>
                </a:r>
                <a:r>
                  <a:rPr lang="vi-VN"/>
                  <a:t>\vec{i},\ \vec{j},\ \vec{k}</a:t>
                </a:r>
                <a:r>
                  <a:rPr sz="2000">
                    <a:solidFill>
                      <a:srgbClr val="1E293B"/>
                    </a:solidFill>
                    <a:latin typeface="Calibri"/>
                  </a:rPr>
                  <a:t>. b) Biểu diễn hai vectơ </a:t>
                </a:r>
                <a:r>
                  <a:rPr lang="vi-VN"/>
                  <a:t>\vec{a}+\vec{b}</a:t>
                </a:r>
                <a:r>
                  <a:rPr sz="2000">
                    <a:solidFill>
                      <a:srgbClr val="1E293B"/>
                    </a:solidFill>
                    <a:latin typeface="Calibri"/>
                  </a:rPr>
                  <a:t> và </a:t>
                </a:r>
                <a:r>
                  <a:rPr lang="vi-VN"/>
                  <a:t>2\vec{a}</a:t>
                </a:r>
                <a:r>
                  <a:rPr sz="2000">
                    <a:solidFill>
                      <a:srgbClr val="1E293B"/>
                    </a:solidFill>
                    <a:latin typeface="Calibri"/>
                  </a:rPr>
                  <a:t> qua các vectơ đơn vị, từ đó xác định toạ độ của hai vectơ đó.</a:t>
                </a:r>
              </a:p>
            </p:txBody>
          </p:sp>
        </mc:Fallback>
      </mc:AlternateContent>
      <p:sp>
        <p:nvSpPr>
          <p:cNvPr id="8" name="s1_nen"/>
          <p:cNvSpPr/>
          <p:nvPr/>
        </p:nvSpPr>
        <p:spPr>
          <a:xfrm>
            <a:off x="548640" y="2532888"/>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569464"/>
                <a:ext cx="1073505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a)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+5</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+3</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r>
                      <a:rPr lang="vi-VN" sz="2000" b="0">
                        <a:solidFill>
                          <a:srgbClr val="1E293B"/>
                        </a:solidFill>
                        <a:latin typeface="Cambria Math" panose="02040503050406030204" pitchFamily="18" charset="0"/>
                      </a:rPr>
                      <m:t>+9</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oMath>
                </a14:m>
                <a:r>
                  <a:rPr sz="2000">
                    <a:solidFill>
                      <a:srgbClr val="1E293B"/>
                    </a:solidFill>
                    <a:latin typeface="Calibri"/>
                  </a:rPr>
                  <a:t>.</a:t>
                </a:r>
              </a:p>
            </p:txBody>
          </p:sp>
        </mc:Choice>
        <mc:Fallback xmlns="">
          <p:sp>
            <p:nvSpPr>
              <p:cNvPr id="9" name="TextBox 8"/>
              <p:cNvSpPr txBox="1"/>
              <p:nvPr/>
            </p:nvSpPr>
            <p:spPr>
              <a:xfrm>
                <a:off x="713232" y="2569464"/>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\vec{a}=\vec{i}+5\vec{k}</a:t>
                </a:r>
                <a:r>
                  <a:rPr sz="2000">
                    <a:solidFill>
                      <a:srgbClr val="1E293B"/>
                    </a:solidFill>
                    <a:latin typeface="Calibri"/>
                  </a:rPr>
                  <a:t>, </a:t>
                </a:r>
                <a:r>
                  <a:rPr lang="vi-VN"/>
                  <a:t>\vec{b}=\vec{i}+3\vec{j}+9\vec{k}</a:t>
                </a:r>
                <a:r>
                  <a:rPr sz="2000">
                    <a:solidFill>
                      <a:srgbClr val="1E293B"/>
                    </a:solidFill>
                    <a:latin typeface="Calibri"/>
                  </a:rPr>
                  <a:t>.</a:t>
                </a:r>
              </a:p>
            </p:txBody>
          </p:sp>
        </mc:Fallback>
      </mc:AlternateContent>
      <p:sp>
        <p:nvSpPr>
          <p:cNvPr id="10" name="s2_nen"/>
          <p:cNvSpPr/>
          <p:nvPr/>
        </p:nvSpPr>
        <p:spPr>
          <a:xfrm>
            <a:off x="548640" y="3176016"/>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212592"/>
                <a:ext cx="1073505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b)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=2</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+3</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r>
                      <a:rPr lang="vi-VN" sz="2000" b="0">
                        <a:solidFill>
                          <a:srgbClr val="1E293B"/>
                        </a:solidFill>
                        <a:latin typeface="Cambria Math" panose="02040503050406030204" pitchFamily="18" charset="0"/>
                      </a:rPr>
                      <m:t>+14</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r>
                      <a:rPr lang="vi-VN" sz="2000" b="0">
                        <a:solidFill>
                          <a:srgbClr val="1E293B"/>
                        </a:solidFill>
                        <a:latin typeface="Cambria Math" panose="02040503050406030204" pitchFamily="18" charset="0"/>
                      </a:rPr>
                      <m:t>=(2; 3; 14)</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2</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=2</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+10</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r>
                      <a:rPr lang="vi-VN" sz="2000" b="0">
                        <a:solidFill>
                          <a:srgbClr val="1E293B"/>
                        </a:solidFill>
                        <a:latin typeface="Cambria Math" panose="02040503050406030204" pitchFamily="18" charset="0"/>
                      </a:rPr>
                      <m:t>=(2; 0; 10)</m:t>
                    </m:r>
                  </m:oMath>
                </a14:m>
                <a:r>
                  <a:rPr sz="2000">
                    <a:solidFill>
                      <a:srgbClr val="1E293B"/>
                    </a:solidFill>
                    <a:latin typeface="Calibri"/>
                  </a:rPr>
                  <a:t>.</a:t>
                </a:r>
              </a:p>
            </p:txBody>
          </p:sp>
        </mc:Choice>
        <mc:Fallback xmlns="">
          <p:sp>
            <p:nvSpPr>
              <p:cNvPr id="11" name="TextBox 10"/>
              <p:cNvSpPr txBox="1"/>
              <p:nvPr/>
            </p:nvSpPr>
            <p:spPr>
              <a:xfrm>
                <a:off x="713232" y="3212592"/>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\vec{a}+\vec{b}=2\vec{i}+3\vec{j}+14\vec{k}=(2;\ 3;\ 14)</a:t>
                </a:r>
                <a:r>
                  <a:rPr sz="2000">
                    <a:solidFill>
                      <a:srgbClr val="1E293B"/>
                    </a:solidFill>
                    <a:latin typeface="Calibri"/>
                  </a:rPr>
                  <a:t>; </a:t>
                </a:r>
                <a:r>
                  <a:rPr lang="vi-VN"/>
                  <a:t>2\vec{a}=2\vec{i}+10\vec{k}=(2;\ 0;\ 10)</a:t>
                </a:r>
                <a:r>
                  <a:rPr sz="2000">
                    <a:solidFill>
                      <a:srgbClr val="1E293B"/>
                    </a:solidFill>
                    <a:latin typeface="Calibri"/>
                  </a:rPr>
                  <a:t>.</a:t>
                </a:r>
              </a:p>
            </p:txBody>
          </p:sp>
        </mc:Fallback>
      </mc:AlternateContent>
      <p:sp>
        <p:nvSpPr>
          <p:cNvPr id="12" name="s3_nen"/>
          <p:cNvSpPr/>
          <p:nvPr/>
        </p:nvSpPr>
        <p:spPr>
          <a:xfrm>
            <a:off x="548640" y="3819144"/>
            <a:ext cx="11064240" cy="87477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3855720"/>
                <a:ext cx="10735056" cy="801623"/>
              </a:xfrm>
              <a:prstGeom prst="rect">
                <a:avLst/>
              </a:prstGeom>
              <a:noFill/>
            </p:spPr>
            <p:txBody>
              <a:bodyPr wrap="square" lIns="45720" rIns="45720" anchor="ctr">
                <a:spAutoFit/>
              </a:bodyPr>
              <a:lstStyle/>
              <a:p>
                <a:pPr algn="l">
                  <a:spcAft>
                    <a:spcPts val="800"/>
                  </a:spcAft>
                </a:pPr>
                <a:r>
                  <a:rPr sz="2000">
                    <a:solidFill>
                      <a:srgbClr val="1E293B"/>
                    </a:solidFill>
                    <a:latin typeface="Calibri"/>
                  </a:rPr>
                  <a:t>Trong không gian </a:t>
                </a:r>
                <a14:m>
                  <m:oMath xmlns:m="http://schemas.openxmlformats.org/officeDocument/2006/math">
                    <m:r>
                      <a:rPr lang="vi-VN" sz="2000" b="0">
                        <a:solidFill>
                          <a:srgbClr val="1E293B"/>
                        </a:solidFill>
                        <a:latin typeface="Cambria Math" panose="02040503050406030204" pitchFamily="18" charset="0"/>
                      </a:rPr>
                      <m:t>𝑂𝑥𝑦𝑧</m:t>
                    </m:r>
                  </m:oMath>
                </a14:m>
                <a:r>
                  <a:rPr sz="2000">
                    <a:solidFill>
                      <a:srgbClr val="1E293B"/>
                    </a:solidFill>
                    <a:latin typeface="Calibri"/>
                  </a:rPr>
                  <a:t>, cho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𝑧</m:t>
                    </m:r>
                    <m:r>
                      <a:rPr lang="vi-VN" sz="2000" b="0">
                        <a:solidFill>
                          <a:srgbClr val="1E293B"/>
                        </a:solidFill>
                        <a:latin typeface="Cambria Math" panose="02040503050406030204" pitchFamily="18" charset="0"/>
                      </a:rPr>
                      <m:t>)</m:t>
                    </m:r>
                  </m:oMath>
                </a14:m>
                <a:r>
                  <a:rPr sz="2000">
                    <a:solidFill>
                      <a:srgbClr val="1E293B"/>
                    </a:solidFill>
                    <a:latin typeface="Calibri"/>
                  </a:rPr>
                  <a:t> và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 </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 </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oMath>
                </a14:m>
                <a:r>
                  <a:rPr sz="2000">
                    <a:solidFill>
                      <a:srgbClr val="1E293B"/>
                    </a:solidFill>
                    <a:latin typeface="Calibri"/>
                  </a:rPr>
                  <a:t>. Ta có: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𝑧</m:t>
                    </m:r>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𝑧</m:t>
                    </m:r>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𝑘</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𝑘𝑥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𝑘𝑦</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𝑘𝑧</m:t>
                    </m:r>
                    <m:r>
                      <a:rPr lang="vi-VN" sz="2000" b="0">
                        <a:solidFill>
                          <a:srgbClr val="1E293B"/>
                        </a:solidFill>
                        <a:latin typeface="Cambria Math" panose="02040503050406030204" pitchFamily="18" charset="0"/>
                      </a:rPr>
                      <m:t>)</m:t>
                    </m:r>
                  </m:oMath>
                </a14:m>
                <a:r>
                  <a:rPr sz="2000">
                    <a:solidFill>
                      <a:srgbClr val="1E293B"/>
                    </a:solidFill>
                    <a:latin typeface="Calibri"/>
                  </a:rPr>
                  <a:t> với </a:t>
                </a:r>
                <a14:m>
                  <m:oMath xmlns:m="http://schemas.openxmlformats.org/officeDocument/2006/math">
                    <m:r>
                      <a:rPr lang="vi-VN" sz="2000" b="0">
                        <a:solidFill>
                          <a:srgbClr val="1E293B"/>
                        </a:solidFill>
                        <a:latin typeface="Cambria Math" panose="02040503050406030204" pitchFamily="18" charset="0"/>
                      </a:rPr>
                      <m:t>𝑘</m:t>
                    </m:r>
                  </m:oMath>
                </a14:m>
                <a:r>
                  <a:rPr sz="2000">
                    <a:solidFill>
                      <a:srgbClr val="1E293B"/>
                    </a:solidFill>
                    <a:latin typeface="Calibri"/>
                  </a:rPr>
                  <a:t> là một số thực.</a:t>
                </a:r>
              </a:p>
            </p:txBody>
          </p:sp>
        </mc:Choice>
        <mc:Fallback xmlns="">
          <p:sp>
            <p:nvSpPr>
              <p:cNvPr id="13" name="TextBox 12"/>
              <p:cNvSpPr txBox="1"/>
              <p:nvPr/>
            </p:nvSpPr>
            <p:spPr>
              <a:xfrm>
                <a:off x="713232" y="3855720"/>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Trong không gian </a:t>
                </a:r>
                <a:r>
                  <a:rPr lang="vi-VN"/>
                  <a:t>Oxyz</a:t>
                </a:r>
                <a:r>
                  <a:rPr sz="2000">
                    <a:solidFill>
                      <a:srgbClr val="1E293B"/>
                    </a:solidFill>
                    <a:latin typeface="Calibri"/>
                  </a:rPr>
                  <a:t>, cho </a:t>
                </a:r>
                <a:r>
                  <a:rPr lang="vi-VN"/>
                  <a:t>\vec{a}=(x;\ y;\ z)</a:t>
                </a:r>
                <a:r>
                  <a:rPr sz="2000">
                    <a:solidFill>
                      <a:srgbClr val="1E293B"/>
                    </a:solidFill>
                    <a:latin typeface="Calibri"/>
                  </a:rPr>
                  <a:t> và </a:t>
                </a:r>
                <a:r>
                  <a:rPr lang="vi-VN"/>
                  <a:t>\vec{b}=(x';\ y';\ z')</a:t>
                </a:r>
                <a:r>
                  <a:rPr sz="2000">
                    <a:solidFill>
                      <a:srgbClr val="1E293B"/>
                    </a:solidFill>
                    <a:latin typeface="Calibri"/>
                  </a:rPr>
                  <a:t>. Ta có: </a:t>
                </a:r>
                <a:r>
                  <a:rPr lang="vi-VN"/>
                  <a:t>\vec{a}+\vec{b}=(x+x';\ y+y';\ z+z')</a:t>
                </a:r>
                <a:r>
                  <a:rPr sz="2000">
                    <a:solidFill>
                      <a:srgbClr val="1E293B"/>
                    </a:solidFill>
                    <a:latin typeface="Calibri"/>
                  </a:rPr>
                  <a:t>; </a:t>
                </a:r>
                <a:r>
                  <a:rPr lang="vi-VN"/>
                  <a:t>\vec{a}-\vec{b}=(x-x';\ y-y';\ z-z')</a:t>
                </a:r>
                <a:r>
                  <a:rPr sz="2000">
                    <a:solidFill>
                      <a:srgbClr val="1E293B"/>
                    </a:solidFill>
                    <a:latin typeface="Calibri"/>
                  </a:rPr>
                  <a:t>; </a:t>
                </a:r>
                <a:r>
                  <a:rPr lang="vi-VN"/>
                  <a:t>k\vec{a}=(kx;\ ky;\ kz)</a:t>
                </a:r>
                <a:r>
                  <a:rPr sz="2000">
                    <a:solidFill>
                      <a:srgbClr val="1E293B"/>
                    </a:solidFill>
                    <a:latin typeface="Calibri"/>
                  </a:rPr>
                  <a:t> với </a:t>
                </a:r>
                <a:r>
                  <a:rPr lang="vi-VN"/>
                  <a:t>k</a:t>
                </a:r>
                <a:r>
                  <a:rPr sz="2000">
                    <a:solidFill>
                      <a:srgbClr val="1E293B"/>
                    </a:solidFill>
                    <a:latin typeface="Calibri"/>
                  </a:rPr>
                  <a:t> là một số thực.</a:t>
                </a:r>
              </a:p>
            </p:txBody>
          </p:sp>
        </mc:Fallback>
      </mc:AlternateContent>
      <p:sp>
        <p:nvSpPr>
          <p:cNvPr id="14" name="s4_nen"/>
          <p:cNvSpPr/>
          <p:nvPr/>
        </p:nvSpPr>
        <p:spPr>
          <a:xfrm>
            <a:off x="548640" y="4767072"/>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5" name="s4_chu"/>
              <p:cNvSpPr txBox="1"/>
              <p:nvPr/>
            </p:nvSpPr>
            <p:spPr>
              <a:xfrm>
                <a:off x="713232" y="4803648"/>
                <a:ext cx="1073505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 Vectơ đối của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𝑧</m:t>
                    </m:r>
                    <m:r>
                      <a:rPr lang="vi-VN" sz="2000" b="0">
                        <a:solidFill>
                          <a:srgbClr val="1E293B"/>
                        </a:solidFill>
                        <a:latin typeface="Cambria Math" panose="02040503050406030204" pitchFamily="18" charset="0"/>
                      </a:rPr>
                      <m:t>)</m:t>
                    </m:r>
                  </m:oMath>
                </a14:m>
                <a:r>
                  <a:rPr sz="2000">
                    <a:solidFill>
                      <a:srgbClr val="1E293B"/>
                    </a:solidFill>
                    <a:latin typeface="Calibri"/>
                  </a:rPr>
                  <a:t> là </a:t>
                </a:r>
                <a14:m>
                  <m:oMath xmlns:m="http://schemas.openxmlformats.org/officeDocument/2006/math">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𝑧</m:t>
                    </m:r>
                    <m:r>
                      <a:rPr lang="vi-VN" sz="2000" b="0">
                        <a:solidFill>
                          <a:srgbClr val="1E293B"/>
                        </a:solidFill>
                        <a:latin typeface="Cambria Math" panose="02040503050406030204" pitchFamily="18" charset="0"/>
                      </a:rPr>
                      <m:t>)</m:t>
                    </m:r>
                  </m:oMath>
                </a14:m>
                <a:r>
                  <a:rPr sz="2000">
                    <a:solidFill>
                      <a:srgbClr val="1E293B"/>
                    </a:solidFill>
                    <a:latin typeface="Calibri"/>
                  </a:rPr>
                  <a:t>.</a:t>
                </a:r>
              </a:p>
            </p:txBody>
          </p:sp>
        </mc:Choice>
        <mc:Fallback xmlns="">
          <p:sp>
            <p:nvSpPr>
              <p:cNvPr id="15" name="TextBox 14"/>
              <p:cNvSpPr txBox="1"/>
              <p:nvPr/>
            </p:nvSpPr>
            <p:spPr>
              <a:xfrm>
                <a:off x="713232" y="4803648"/>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Vectơ đối của </a:t>
                </a:r>
                <a:r>
                  <a:rPr lang="vi-VN"/>
                  <a:t>\vec{a}=(x;\ y;\ z)</a:t>
                </a:r>
                <a:r>
                  <a:rPr sz="2000">
                    <a:solidFill>
                      <a:srgbClr val="1E293B"/>
                    </a:solidFill>
                    <a:latin typeface="Calibri"/>
                  </a:rPr>
                  <a:t> là </a:t>
                </a:r>
                <a:r>
                  <a:rPr lang="vi-VN"/>
                  <a:t>-\vec{a}=(-x;\ -y;\ -z)</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 LUYỆN TẬP 1 (SGK TR.68)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7</a:t>
            </a:r>
          </a:p>
        </p:txBody>
      </p:sp>
      <p:sp>
        <p:nvSpPr>
          <p:cNvPr id="7" name="Rounded Rectangle 6"/>
          <p:cNvSpPr/>
          <p:nvPr/>
        </p:nvSpPr>
        <p:spPr>
          <a:xfrm>
            <a:off x="548640" y="1371600"/>
            <a:ext cx="11064240" cy="90525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7"/>
              <p:cNvSpPr txBox="1"/>
              <p:nvPr/>
            </p:nvSpPr>
            <p:spPr>
              <a:xfrm>
                <a:off x="713232" y="1408176"/>
                <a:ext cx="10735056" cy="832103"/>
              </a:xfrm>
              <a:prstGeom prst="rect">
                <a:avLst/>
              </a:prstGeom>
              <a:noFill/>
            </p:spPr>
            <p:txBody>
              <a:bodyPr wrap="square" lIns="45720" rIns="45720" anchor="ctr">
                <a:spAutoFit/>
              </a:bodyPr>
              <a:lstStyle/>
              <a:p>
                <a:pPr algn="l">
                  <a:spcAft>
                    <a:spcPts val="800"/>
                  </a:spcAft>
                </a:pPr>
                <a:r>
                  <a:rPr sz="2100" b="1">
                    <a:solidFill>
                      <a:srgbClr val="1E293B"/>
                    </a:solidFill>
                    <a:latin typeface="Calibri"/>
                  </a:rPr>
                  <a:t>Nhận xét.</a:t>
                </a:r>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𝑥</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𝑦</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𝑧</m:t>
                    </m:r>
                    <m:r>
                      <a:rPr lang="vi-VN" sz="2100" b="0">
                        <a:solidFill>
                          <a:srgbClr val="1E293B"/>
                        </a:solidFill>
                        <a:latin typeface="Cambria Math" panose="02040503050406030204" pitchFamily="18" charset="0"/>
                      </a:rPr>
                      <m:t>)</m:t>
                    </m:r>
                  </m:oMath>
                </a14:m>
                <a:r>
                  <a:rPr sz="2100">
                    <a:solidFill>
                      <a:srgbClr val="1E293B"/>
                    </a:solidFill>
                    <a:latin typeface="Calibri"/>
                  </a:rPr>
                  <a:t> cùng phương với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𝑏</m:t>
                        </m:r>
                      </m:e>
                    </m:acc>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𝑥</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𝑦</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𝑧</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0</m:t>
                        </m:r>
                      </m:e>
                    </m:acc>
                  </m:oMath>
                </a14:m>
                <a:r>
                  <a:rPr sz="2100">
                    <a:solidFill>
                      <a:srgbClr val="1E293B"/>
                    </a:solidFill>
                    <a:latin typeface="Calibri"/>
                  </a:rPr>
                  <a:t> khi và chỉ khi tồn tại số thực </a:t>
                </a:r>
                <a14:m>
                  <m:oMath xmlns:m="http://schemas.openxmlformats.org/officeDocument/2006/math">
                    <m:r>
                      <a:rPr lang="vi-VN" sz="2100" b="0">
                        <a:solidFill>
                          <a:srgbClr val="1E293B"/>
                        </a:solidFill>
                        <a:latin typeface="Cambria Math" panose="02040503050406030204" pitchFamily="18" charset="0"/>
                      </a:rPr>
                      <m:t>𝑘</m:t>
                    </m:r>
                  </m:oMath>
                </a14:m>
                <a:r>
                  <a:rPr sz="2100">
                    <a:solidFill>
                      <a:srgbClr val="1E293B"/>
                    </a:solidFill>
                    <a:latin typeface="Calibri"/>
                  </a:rPr>
                  <a:t> sao cho </a:t>
                </a:r>
                <a14:m>
                  <m:oMath xmlns:m="http://schemas.openxmlformats.org/officeDocument/2006/math">
                    <m:r>
                      <a:rPr lang="vi-VN" sz="2100" b="0">
                        <a:solidFill>
                          <a:srgbClr val="1E293B"/>
                        </a:solidFill>
                        <a:latin typeface="Cambria Math" panose="02040503050406030204" pitchFamily="18" charset="0"/>
                      </a:rPr>
                      <m:t>𝑥</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𝑘</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𝑥</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𝑦</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𝑘</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𝑦</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𝑧</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𝑘</m:t>
                    </m:r>
                    <m:sSup>
                      <m:sSupPr>
                        <m:ctrlPr>
                          <a:rPr lang="vi-VN" sz="2100" b="0">
                            <a:solidFill>
                              <a:srgbClr val="1E293B"/>
                            </a:solidFill>
                            <a:latin typeface="Cambria Math" panose="02040503050406030204" pitchFamily="18" charset="0"/>
                          </a:rPr>
                        </m:ctrlPr>
                      </m:sSupPr>
                      <m:e>
                        <m:r>
                          <a:rPr lang="vi-VN" sz="2100" b="0">
                            <a:solidFill>
                              <a:srgbClr val="1E293B"/>
                            </a:solidFill>
                            <a:latin typeface="Cambria Math" panose="02040503050406030204" pitchFamily="18" charset="0"/>
                          </a:rPr>
                          <m:t>𝑧</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xmlns="">
          <p:sp>
            <p:nvSpPr>
              <p:cNvPr id="8" name="TextBox 7"/>
              <p:cNvSpPr txBox="1"/>
              <p:nvPr/>
            </p:nvSpPr>
            <p:spPr>
              <a:xfrm>
                <a:off x="713232" y="1408176"/>
                <a:ext cx="10735056" cy="832103"/>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Nhận xét.</a:t>
                </a:r>
                <a:r>
                  <a:rPr sz="2100">
                    <a:solidFill>
                      <a:srgbClr val="1E293B"/>
                    </a:solidFill>
                    <a:latin typeface="Calibri"/>
                  </a:rPr>
                  <a:t> </a:t>
                </a:r>
                <a:r>
                  <a:rPr lang="vi-VN"/>
                  <a:t>\vec{a}=(x;y;z)</a:t>
                </a:r>
                <a:r>
                  <a:rPr sz="2100">
                    <a:solidFill>
                      <a:srgbClr val="1E293B"/>
                    </a:solidFill>
                    <a:latin typeface="Calibri"/>
                  </a:rPr>
                  <a:t> cùng phương với </a:t>
                </a:r>
                <a:r>
                  <a:rPr lang="vi-VN"/>
                  <a:t>\vec{b}=(x';y';z')\ne\vec{0}</a:t>
                </a:r>
                <a:r>
                  <a:rPr sz="2100">
                    <a:solidFill>
                      <a:srgbClr val="1E293B"/>
                    </a:solidFill>
                    <a:latin typeface="Calibri"/>
                  </a:rPr>
                  <a:t> khi và chỉ khi tồn tại số thực </a:t>
                </a:r>
                <a:r>
                  <a:rPr lang="vi-VN"/>
                  <a:t>k</a:t>
                </a:r>
                <a:r>
                  <a:rPr sz="2100">
                    <a:solidFill>
                      <a:srgbClr val="1E293B"/>
                    </a:solidFill>
                    <a:latin typeface="Calibri"/>
                  </a:rPr>
                  <a:t> sao cho </a:t>
                </a:r>
                <a:r>
                  <a:rPr lang="vi-VN"/>
                  <a:t>x=kx',\ y=ky',\ z=kz'</a:t>
                </a:r>
                <a:r>
                  <a:rPr sz="21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9" name="s1_chu"/>
              <p:cNvSpPr txBox="1"/>
              <p:nvPr/>
            </p:nvSpPr>
            <p:spPr>
              <a:xfrm>
                <a:off x="548640" y="2350008"/>
                <a:ext cx="11064240" cy="813815"/>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Ví dụ 1.</a:t>
                </a:r>
                <a:r>
                  <a:rPr sz="2100">
                    <a:solidFill>
                      <a:srgbClr val="1E293B"/>
                    </a:solidFill>
                    <a:latin typeface="Calibri"/>
                  </a:rPr>
                  <a:t> Cho hai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r>
                      <a:rPr lang="vi-VN" sz="2100" b="0">
                        <a:solidFill>
                          <a:srgbClr val="1E293B"/>
                        </a:solidFill>
                        <a:latin typeface="Cambria Math" panose="02040503050406030204" pitchFamily="18" charset="0"/>
                      </a:rPr>
                      <m:t>=(2; 1; 5)</m:t>
                    </m:r>
                  </m:oMath>
                </a14:m>
                <a:r>
                  <a:rPr sz="2100">
                    <a:solidFill>
                      <a:srgbClr val="1E293B"/>
                    </a:solidFill>
                    <a:latin typeface="Calibri"/>
                  </a:rPr>
                  <a:t> và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𝑏</m:t>
                        </m:r>
                      </m:e>
                    </m:acc>
                    <m:r>
                      <a:rPr lang="vi-VN" sz="2100" b="0">
                        <a:solidFill>
                          <a:srgbClr val="1E293B"/>
                        </a:solidFill>
                        <a:latin typeface="Cambria Math" panose="02040503050406030204" pitchFamily="18" charset="0"/>
                      </a:rPr>
                      <m:t>=(2; 2; 1)</m:t>
                    </m:r>
                  </m:oMath>
                </a14:m>
                <a:r>
                  <a:rPr sz="2100">
                    <a:solidFill>
                      <a:srgbClr val="1E293B"/>
                    </a:solidFill>
                    <a:latin typeface="Calibri"/>
                  </a:rPr>
                  <a:t>. Tìm toạ độ của mỗi vectơ: a)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𝑏</m:t>
                        </m:r>
                      </m:e>
                    </m:acc>
                  </m:oMath>
                </a14:m>
                <a:r>
                  <a:rPr sz="2100">
                    <a:solidFill>
                      <a:srgbClr val="1E293B"/>
                    </a:solidFill>
                    <a:latin typeface="Calibri"/>
                  </a:rPr>
                  <a:t>; b) </a:t>
                </a:r>
                <a14:m>
                  <m:oMath xmlns:m="http://schemas.openxmlformats.org/officeDocument/2006/math">
                    <m:r>
                      <a:rPr lang="vi-VN" sz="2100" b="0">
                        <a:solidFill>
                          <a:srgbClr val="1E293B"/>
                        </a:solidFill>
                        <a:latin typeface="Cambria Math" panose="02040503050406030204" pitchFamily="18" charset="0"/>
                      </a:rPr>
                      <m:t>3</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r>
                      <a:rPr lang="vi-VN" sz="2100" b="0">
                        <a:solidFill>
                          <a:srgbClr val="1E293B"/>
                        </a:solidFill>
                        <a:latin typeface="Cambria Math" panose="02040503050406030204" pitchFamily="18" charset="0"/>
                      </a:rPr>
                      <m:t>+2</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𝑏</m:t>
                        </m:r>
                      </m:e>
                    </m:acc>
                  </m:oMath>
                </a14:m>
                <a:r>
                  <a:rPr sz="2100">
                    <a:solidFill>
                      <a:srgbClr val="1E293B"/>
                    </a:solidFill>
                    <a:latin typeface="Calibri"/>
                  </a:rPr>
                  <a:t>.</a:t>
                </a:r>
              </a:p>
            </p:txBody>
          </p:sp>
        </mc:Choice>
        <mc:Fallback xmlns="">
          <p:sp>
            <p:nvSpPr>
              <p:cNvPr id="9" name="TextBox 8"/>
              <p:cNvSpPr txBox="1"/>
              <p:nvPr/>
            </p:nvSpPr>
            <p:spPr>
              <a:xfrm>
                <a:off x="548640" y="2350008"/>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a:t>
                </a:r>
                <a:r>
                  <a:rPr sz="2100">
                    <a:solidFill>
                      <a:srgbClr val="1E293B"/>
                    </a:solidFill>
                    <a:latin typeface="Calibri"/>
                  </a:rPr>
                  <a:t> Cho hai vectơ </a:t>
                </a:r>
                <a:r>
                  <a:rPr lang="vi-VN"/>
                  <a:t>\vec{a}=(2;\ 1;\ 5)</a:t>
                </a:r>
                <a:r>
                  <a:rPr sz="2100">
                    <a:solidFill>
                      <a:srgbClr val="1E293B"/>
                    </a:solidFill>
                    <a:latin typeface="Calibri"/>
                  </a:rPr>
                  <a:t> và </a:t>
                </a:r>
                <a:r>
                  <a:rPr lang="vi-VN"/>
                  <a:t>\vec{b}=(2;\ 2;\ 1)</a:t>
                </a:r>
                <a:r>
                  <a:rPr sz="2100">
                    <a:solidFill>
                      <a:srgbClr val="1E293B"/>
                    </a:solidFill>
                    <a:latin typeface="Calibri"/>
                  </a:rPr>
                  <a:t>. Tìm toạ độ của mỗi vectơ: a) </a:t>
                </a:r>
                <a:r>
                  <a:rPr lang="vi-VN"/>
                  <a:t>\vec{a}-\vec{b}</a:t>
                </a:r>
                <a:r>
                  <a:rPr sz="2100">
                    <a:solidFill>
                      <a:srgbClr val="1E293B"/>
                    </a:solidFill>
                    <a:latin typeface="Calibri"/>
                  </a:rPr>
                  <a:t>; b) </a:t>
                </a:r>
                <a:r>
                  <a:rPr lang="vi-VN"/>
                  <a:t>3\vec{a}+2\vec{b}</a:t>
                </a:r>
                <a:r>
                  <a:rPr sz="2100">
                    <a:solidFill>
                      <a:srgbClr val="1E293B"/>
                    </a:solidFill>
                    <a:latin typeface="Calibri"/>
                  </a:rPr>
                  <a:t>.</a:t>
                </a:r>
              </a:p>
            </p:txBody>
          </p:sp>
        </mc:Fallback>
      </mc:AlternateContent>
      <p:sp>
        <p:nvSpPr>
          <p:cNvPr id="10" name="s2_nen"/>
          <p:cNvSpPr/>
          <p:nvPr/>
        </p:nvSpPr>
        <p:spPr>
          <a:xfrm>
            <a:off x="548640" y="3236975"/>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273551"/>
                <a:ext cx="10735056" cy="51206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a)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𝑏</m:t>
                        </m:r>
                      </m:e>
                    </m:acc>
                    <m:r>
                      <a:rPr lang="vi-VN" sz="2100" b="0">
                        <a:solidFill>
                          <a:srgbClr val="1E293B"/>
                        </a:solidFill>
                        <a:latin typeface="Cambria Math" panose="02040503050406030204" pitchFamily="18" charset="0"/>
                      </a:rPr>
                      <m:t>=(2−2; 1−2; 5−1)=(0; −1; 4)</m:t>
                    </m:r>
                  </m:oMath>
                </a14:m>
                <a:r>
                  <a:rPr sz="2100">
                    <a:solidFill>
                      <a:srgbClr val="1E293B"/>
                    </a:solidFill>
                    <a:latin typeface="Calibri"/>
                  </a:rPr>
                  <a:t>.</a:t>
                </a:r>
              </a:p>
            </p:txBody>
          </p:sp>
        </mc:Choice>
        <mc:Fallback xmlns="">
          <p:sp>
            <p:nvSpPr>
              <p:cNvPr id="11" name="TextBox 10"/>
              <p:cNvSpPr txBox="1"/>
              <p:nvPr/>
            </p:nvSpPr>
            <p:spPr>
              <a:xfrm>
                <a:off x="713232" y="3273551"/>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\vec{a}-\vec{b}=(2-2;\ 1-2;\ 5-1)=(0;\ -1;\ 4)</a:t>
                </a:r>
                <a:r>
                  <a:rPr sz="2100">
                    <a:solidFill>
                      <a:srgbClr val="1E293B"/>
                    </a:solidFill>
                    <a:latin typeface="Calibri"/>
                  </a:rPr>
                  <a:t>.</a:t>
                </a:r>
              </a:p>
            </p:txBody>
          </p:sp>
        </mc:Fallback>
      </mc:AlternateContent>
      <p:sp>
        <p:nvSpPr>
          <p:cNvPr id="12" name="s3_nen"/>
          <p:cNvSpPr/>
          <p:nvPr/>
        </p:nvSpPr>
        <p:spPr>
          <a:xfrm>
            <a:off x="548640" y="3895344"/>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3931920"/>
                <a:ext cx="10735056" cy="51206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b) </a:t>
                </a:r>
                <a14:m>
                  <m:oMath xmlns:m="http://schemas.openxmlformats.org/officeDocument/2006/math">
                    <m:r>
                      <a:rPr lang="vi-VN" sz="2100" b="0">
                        <a:solidFill>
                          <a:srgbClr val="1E293B"/>
                        </a:solidFill>
                        <a:latin typeface="Cambria Math" panose="02040503050406030204" pitchFamily="18" charset="0"/>
                      </a:rPr>
                      <m:t>3</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r>
                      <a:rPr lang="vi-VN" sz="2100" b="0">
                        <a:solidFill>
                          <a:srgbClr val="1E293B"/>
                        </a:solidFill>
                        <a:latin typeface="Cambria Math" panose="02040503050406030204" pitchFamily="18" charset="0"/>
                      </a:rPr>
                      <m:t>=(6; 3; 15)</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2</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𝑏</m:t>
                        </m:r>
                      </m:e>
                    </m:acc>
                    <m:r>
                      <a:rPr lang="vi-VN" sz="2100" b="0">
                        <a:solidFill>
                          <a:srgbClr val="1E293B"/>
                        </a:solidFill>
                        <a:latin typeface="Cambria Math" panose="02040503050406030204" pitchFamily="18" charset="0"/>
                      </a:rPr>
                      <m:t>=(4; 4; 2)</m:t>
                    </m:r>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3</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𝑎</m:t>
                        </m:r>
                      </m:e>
                    </m:acc>
                    <m:r>
                      <a:rPr lang="vi-VN" sz="2100" b="0">
                        <a:solidFill>
                          <a:srgbClr val="1E293B"/>
                        </a:solidFill>
                        <a:latin typeface="Cambria Math" panose="02040503050406030204" pitchFamily="18" charset="0"/>
                      </a:rPr>
                      <m:t>+2</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𝑏</m:t>
                        </m:r>
                      </m:e>
                    </m:acc>
                    <m:r>
                      <a:rPr lang="vi-VN" sz="2100" b="0">
                        <a:solidFill>
                          <a:srgbClr val="1E293B"/>
                        </a:solidFill>
                        <a:latin typeface="Cambria Math" panose="02040503050406030204" pitchFamily="18" charset="0"/>
                      </a:rPr>
                      <m:t>=(10; 7; 17)</m:t>
                    </m:r>
                  </m:oMath>
                </a14:m>
                <a:r>
                  <a:rPr sz="2100">
                    <a:solidFill>
                      <a:srgbClr val="1E293B"/>
                    </a:solidFill>
                    <a:latin typeface="Calibri"/>
                  </a:rPr>
                  <a:t>.</a:t>
                </a:r>
              </a:p>
            </p:txBody>
          </p:sp>
        </mc:Choice>
        <mc:Fallback xmlns="">
          <p:sp>
            <p:nvSpPr>
              <p:cNvPr id="13" name="TextBox 12"/>
              <p:cNvSpPr txBox="1"/>
              <p:nvPr/>
            </p:nvSpPr>
            <p:spPr>
              <a:xfrm>
                <a:off x="713232" y="393192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3\vec{a}=(6;\ 3;\ 15)</a:t>
                </a:r>
                <a:r>
                  <a:rPr sz="2100">
                    <a:solidFill>
                      <a:srgbClr val="1E293B"/>
                    </a:solidFill>
                    <a:latin typeface="Calibri"/>
                  </a:rPr>
                  <a:t>, </a:t>
                </a:r>
                <a:r>
                  <a:rPr lang="vi-VN"/>
                  <a:t>2\vec{b}=(4;\ 4;\ 2)</a:t>
                </a:r>
                <a:r>
                  <a:rPr sz="2100">
                    <a:solidFill>
                      <a:srgbClr val="1E293B"/>
                    </a:solidFill>
                    <a:latin typeface="Calibri"/>
                  </a:rPr>
                  <a:t> ⇒ </a:t>
                </a:r>
                <a:r>
                  <a:rPr lang="vi-VN"/>
                  <a:t>3\vec{a}+2\vec{b}=(10;\ 7;\ 17)</a:t>
                </a:r>
                <a:r>
                  <a:rPr sz="21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4" name="s4_chu"/>
              <p:cNvSpPr txBox="1"/>
              <p:nvPr/>
            </p:nvSpPr>
            <p:spPr>
              <a:xfrm>
                <a:off x="548640" y="4553712"/>
                <a:ext cx="11064240" cy="813815"/>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Luyện tập 1.</a:t>
                </a:r>
                <a:r>
                  <a:rPr sz="2100">
                    <a:solidFill>
                      <a:srgbClr val="1E293B"/>
                    </a:solidFill>
                    <a:latin typeface="Calibri"/>
                  </a:rPr>
                  <a:t> Cho ba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=(1; 8; 6)</m:t>
                    </m:r>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=(−1; 3; −2)</m:t>
                    </m:r>
                  </m:oMath>
                </a14:m>
                <a:r>
                  <a:rPr sz="2100">
                    <a:solidFill>
                      <a:srgbClr val="1E293B"/>
                    </a:solidFill>
                    <a:latin typeface="Calibri"/>
                  </a:rPr>
                  <a:t> và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𝑤</m:t>
                        </m:r>
                      </m:e>
                    </m:acc>
                    <m:r>
                      <a:rPr lang="vi-VN" sz="2100" b="0">
                        <a:solidFill>
                          <a:srgbClr val="1E293B"/>
                        </a:solidFill>
                        <a:latin typeface="Cambria Math" panose="02040503050406030204" pitchFamily="18" charset="0"/>
                      </a:rPr>
                      <m:t>=(0; 5; 4)</m:t>
                    </m:r>
                  </m:oMath>
                </a14:m>
                <a:r>
                  <a:rPr sz="2100">
                    <a:solidFill>
                      <a:srgbClr val="1E293B"/>
                    </a:solidFill>
                    <a:latin typeface="Calibri"/>
                  </a:rPr>
                  <a:t>. Tìm toạ độ của vectơ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−2</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𝑤</m:t>
                        </m:r>
                      </m:e>
                    </m:acc>
                  </m:oMath>
                </a14:m>
                <a:r>
                  <a:rPr sz="2100">
                    <a:solidFill>
                      <a:srgbClr val="1E293B"/>
                    </a:solidFill>
                    <a:latin typeface="Calibri"/>
                  </a:rPr>
                  <a:t>.</a:t>
                </a:r>
              </a:p>
            </p:txBody>
          </p:sp>
        </mc:Choice>
        <mc:Fallback xmlns="">
          <p:sp>
            <p:nvSpPr>
              <p:cNvPr id="14" name="TextBox 13"/>
              <p:cNvSpPr txBox="1"/>
              <p:nvPr/>
            </p:nvSpPr>
            <p:spPr>
              <a:xfrm>
                <a:off x="548640" y="4553712"/>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Cho ba vectơ </a:t>
                </a:r>
                <a:r>
                  <a:rPr lang="vi-VN"/>
                  <a:t>\vec{u}=(1;\ 8;\ 6)</a:t>
                </a:r>
                <a:r>
                  <a:rPr sz="2100">
                    <a:solidFill>
                      <a:srgbClr val="1E293B"/>
                    </a:solidFill>
                    <a:latin typeface="Calibri"/>
                  </a:rPr>
                  <a:t>, </a:t>
                </a:r>
                <a:r>
                  <a:rPr lang="vi-VN"/>
                  <a:t>\vec{v}=(-1;\ 3;\ -2)</a:t>
                </a:r>
                <a:r>
                  <a:rPr sz="2100">
                    <a:solidFill>
                      <a:srgbClr val="1E293B"/>
                    </a:solidFill>
                    <a:latin typeface="Calibri"/>
                  </a:rPr>
                  <a:t> và </a:t>
                </a:r>
                <a:r>
                  <a:rPr lang="vi-VN"/>
                  <a:t>\vec{w}=(0;\ 5;\ 4)</a:t>
                </a:r>
                <a:r>
                  <a:rPr sz="2100">
                    <a:solidFill>
                      <a:srgbClr val="1E293B"/>
                    </a:solidFill>
                    <a:latin typeface="Calibri"/>
                  </a:rPr>
                  <a:t>. Tìm toạ độ của vectơ </a:t>
                </a:r>
                <a:r>
                  <a:rPr lang="vi-VN"/>
                  <a:t>\vec{u}-2\vec{v}+\vec{w}</a:t>
                </a:r>
                <a:r>
                  <a:rPr sz="2100">
                    <a:solidFill>
                      <a:srgbClr val="1E293B"/>
                    </a:solidFill>
                    <a:latin typeface="Calibri"/>
                  </a:rPr>
                  <a:t>.</a:t>
                </a:r>
              </a:p>
            </p:txBody>
          </p:sp>
        </mc:Fallback>
      </mc:AlternateContent>
      <p:sp>
        <p:nvSpPr>
          <p:cNvPr id="15" name="s5_nen"/>
          <p:cNvSpPr/>
          <p:nvPr/>
        </p:nvSpPr>
        <p:spPr>
          <a:xfrm>
            <a:off x="548640" y="5440679"/>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6" name="s5_chu"/>
              <p:cNvSpPr txBox="1"/>
              <p:nvPr/>
            </p:nvSpPr>
            <p:spPr>
              <a:xfrm>
                <a:off x="713232" y="5477255"/>
                <a:ext cx="10735056" cy="512063"/>
              </a:xfrm>
              <a:prstGeom prst="rect">
                <a:avLst/>
              </a:prstGeom>
              <a:noFill/>
            </p:spPr>
            <p:txBody>
              <a:bodyPr wrap="square" lIns="45720" rIns="45720" anchor="ctr">
                <a:spAutoFit/>
              </a:bodyPr>
              <a:lstStyle/>
              <a:p>
                <a:pPr algn="l">
                  <a:spcAft>
                    <a:spcPts val="800"/>
                  </a:spcAft>
                </a:pPr>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𝑢</m:t>
                        </m:r>
                      </m:e>
                    </m:acc>
                    <m:r>
                      <a:rPr lang="vi-VN" sz="2100" b="0">
                        <a:solidFill>
                          <a:srgbClr val="1E293B"/>
                        </a:solidFill>
                        <a:latin typeface="Cambria Math" panose="02040503050406030204" pitchFamily="18" charset="0"/>
                      </a:rPr>
                      <m:t>−2</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𝑣</m:t>
                        </m:r>
                      </m:e>
                    </m:acc>
                    <m:r>
                      <a:rPr lang="vi-VN" sz="2100" b="0">
                        <a:solidFill>
                          <a:srgbClr val="1E293B"/>
                        </a:solidFill>
                        <a:latin typeface="Cambria Math" panose="02040503050406030204" pitchFamily="18" charset="0"/>
                      </a:rPr>
                      <m:t>+</m:t>
                    </m:r>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𝑤</m:t>
                        </m:r>
                      </m:e>
                    </m:acc>
                    <m:r>
                      <a:rPr lang="vi-VN" sz="2100" b="0">
                        <a:solidFill>
                          <a:srgbClr val="1E293B"/>
                        </a:solidFill>
                        <a:latin typeface="Cambria Math" panose="02040503050406030204" pitchFamily="18" charset="0"/>
                      </a:rPr>
                      <m:t>=(1+2+0; 8−6+5; 6+4+4)=(3; 7; 14)</m:t>
                    </m:r>
                  </m:oMath>
                </a14:m>
                <a:r>
                  <a:rPr sz="2100">
                    <a:solidFill>
                      <a:srgbClr val="1E293B"/>
                    </a:solidFill>
                    <a:latin typeface="Calibri"/>
                  </a:rPr>
                  <a:t>.</a:t>
                </a:r>
              </a:p>
            </p:txBody>
          </p:sp>
        </mc:Choice>
        <mc:Fallback xmlns="">
          <p:sp>
            <p:nvSpPr>
              <p:cNvPr id="16" name="TextBox 15"/>
              <p:cNvSpPr txBox="1"/>
              <p:nvPr/>
            </p:nvSpPr>
            <p:spPr>
              <a:xfrm>
                <a:off x="713232" y="5477255"/>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\vec{u}-2\vec{v}+\vec{w}=(1+2+0;\ 8-6+5;\ 6+4+4)=(3;\ 7;\ 14)</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TOẠ ĐỘ TRUNG ĐIỂM, TRỌNG TÂM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8</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1453896"/>
              </a:xfrm>
              <a:prstGeom prst="rect">
                <a:avLst/>
              </a:prstGeom>
              <a:noFill/>
            </p:spPr>
            <p:txBody>
              <a:bodyPr wrap="square" lIns="45720" rIns="45720" anchor="t">
                <a:spAutoFit/>
              </a:bodyPr>
              <a:lstStyle/>
              <a:p>
                <a:pPr algn="l">
                  <a:spcAft>
                    <a:spcPts val="800"/>
                  </a:spcAft>
                </a:pPr>
                <a:r>
                  <a:rPr sz="2100" b="1">
                    <a:solidFill>
                      <a:srgbClr val="1E293B"/>
                    </a:solidFill>
                    <a:latin typeface="Calibri"/>
                  </a:rPr>
                  <a:t>HĐ2.</a:t>
                </a:r>
                <a:r>
                  <a:rPr sz="2100">
                    <a:solidFill>
                      <a:srgbClr val="1E293B"/>
                    </a:solidFill>
                    <a:latin typeface="Calibri"/>
                  </a:rPr>
                  <a:t> Cho tam giác </a:t>
                </a:r>
                <a14:m>
                  <m:oMath xmlns:m="http://schemas.openxmlformats.org/officeDocument/2006/math">
                    <m:r>
                      <a:rPr lang="vi-VN" sz="2100" b="0">
                        <a:solidFill>
                          <a:srgbClr val="1E293B"/>
                        </a:solidFill>
                        <a:latin typeface="Cambria Math" panose="02040503050406030204" pitchFamily="18" charset="0"/>
                      </a:rPr>
                      <m:t>𝐴𝐵𝐶</m:t>
                    </m:r>
                  </m:oMath>
                </a14:m>
                <a:r>
                  <a:rPr sz="2100">
                    <a:solidFill>
                      <a:srgbClr val="1E293B"/>
                    </a:solidFill>
                    <a:latin typeface="Calibri"/>
                  </a:rPr>
                  <a:t> có </a:t>
                </a:r>
                <a14:m>
                  <m:oMath xmlns:m="http://schemas.openxmlformats.org/officeDocument/2006/math">
                    <m:r>
                      <a:rPr lang="vi-VN" sz="2100" b="0">
                        <a:solidFill>
                          <a:srgbClr val="1E293B"/>
                        </a:solidFill>
                        <a:latin typeface="Cambria Math" panose="02040503050406030204" pitchFamily="18" charset="0"/>
                      </a:rPr>
                      <m:t>𝐴</m:t>
                    </m:r>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𝐴</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𝑦</m:t>
                        </m:r>
                      </m:e>
                      <m:sub>
                        <m:r>
                          <a:rPr lang="vi-VN" sz="2100" b="0">
                            <a:solidFill>
                              <a:srgbClr val="1E293B"/>
                            </a:solidFill>
                            <a:latin typeface="Cambria Math" panose="02040503050406030204" pitchFamily="18" charset="0"/>
                          </a:rPr>
                          <m:t>𝐴</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𝑧</m:t>
                        </m:r>
                      </m:e>
                      <m:sub>
                        <m:r>
                          <a:rPr lang="vi-VN" sz="2100" b="0">
                            <a:solidFill>
                              <a:srgbClr val="1E293B"/>
                            </a:solidFill>
                            <a:latin typeface="Cambria Math" panose="02040503050406030204" pitchFamily="18" charset="0"/>
                          </a:rPr>
                          <m:t>𝐴</m:t>
                        </m:r>
                      </m:sub>
                    </m:sSub>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𝐵</m:t>
                    </m:r>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𝐵</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𝑦</m:t>
                        </m:r>
                      </m:e>
                      <m:sub>
                        <m:r>
                          <a:rPr lang="vi-VN" sz="2100" b="0">
                            <a:solidFill>
                              <a:srgbClr val="1E293B"/>
                            </a:solidFill>
                            <a:latin typeface="Cambria Math" panose="02040503050406030204" pitchFamily="18" charset="0"/>
                          </a:rPr>
                          <m:t>𝐵</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𝑧</m:t>
                        </m:r>
                      </m:e>
                      <m:sub>
                        <m:r>
                          <a:rPr lang="vi-VN" sz="2100" b="0">
                            <a:solidFill>
                              <a:srgbClr val="1E293B"/>
                            </a:solidFill>
                            <a:latin typeface="Cambria Math" panose="02040503050406030204" pitchFamily="18" charset="0"/>
                          </a:rPr>
                          <m:t>𝐵</m:t>
                        </m:r>
                      </m:sub>
                    </m:sSub>
                    <m:r>
                      <a:rPr lang="vi-VN" sz="2100" b="0">
                        <a:solidFill>
                          <a:srgbClr val="1E293B"/>
                        </a:solidFill>
                        <a:latin typeface="Cambria Math" panose="02040503050406030204" pitchFamily="18" charset="0"/>
                      </a:rPr>
                      <m:t>)</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𝐶</m:t>
                    </m:r>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𝐶</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𝑦</m:t>
                        </m:r>
                      </m:e>
                      <m:sub>
                        <m:r>
                          <a:rPr lang="vi-VN" sz="2100" b="0">
                            <a:solidFill>
                              <a:srgbClr val="1E293B"/>
                            </a:solidFill>
                            <a:latin typeface="Cambria Math" panose="02040503050406030204" pitchFamily="18" charset="0"/>
                          </a:rPr>
                          <m:t>𝐶</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𝑧</m:t>
                        </m:r>
                      </m:e>
                      <m:sub>
                        <m:r>
                          <a:rPr lang="vi-VN" sz="2100" b="0">
                            <a:solidFill>
                              <a:srgbClr val="1E293B"/>
                            </a:solidFill>
                            <a:latin typeface="Cambria Math" panose="02040503050406030204" pitchFamily="18" charset="0"/>
                          </a:rPr>
                          <m:t>𝐶</m:t>
                        </m:r>
                      </m:sub>
                    </m:sSub>
                    <m:r>
                      <a:rPr lang="vi-VN" sz="2100" b="0">
                        <a:solidFill>
                          <a:srgbClr val="1E293B"/>
                        </a:solidFill>
                        <a:latin typeface="Cambria Math" panose="02040503050406030204" pitchFamily="18" charset="0"/>
                      </a:rPr>
                      <m:t>)</m:t>
                    </m:r>
                  </m:oMath>
                </a14:m>
                <a:r>
                  <a:rPr sz="2100">
                    <a:solidFill>
                      <a:srgbClr val="1E293B"/>
                    </a:solidFill>
                    <a:latin typeface="Calibri"/>
                  </a:rPr>
                  <a:t>. a) Gọi </a:t>
                </a:r>
                <a14:m>
                  <m:oMath xmlns:m="http://schemas.openxmlformats.org/officeDocument/2006/math">
                    <m:r>
                      <a:rPr lang="vi-VN" sz="2100" b="0">
                        <a:solidFill>
                          <a:srgbClr val="1E293B"/>
                        </a:solidFill>
                        <a:latin typeface="Cambria Math" panose="02040503050406030204" pitchFamily="18" charset="0"/>
                      </a:rPr>
                      <m:t>𝑀</m:t>
                    </m:r>
                  </m:oMath>
                </a14:m>
                <a:r>
                  <a:rPr sz="2100">
                    <a:solidFill>
                      <a:srgbClr val="1E293B"/>
                    </a:solidFill>
                    <a:latin typeface="Calibri"/>
                  </a:rPr>
                  <a:t> là trung điểm của đoạn thẳng </a:t>
                </a:r>
                <a14:m>
                  <m:oMath xmlns:m="http://schemas.openxmlformats.org/officeDocument/2006/math">
                    <m:r>
                      <a:rPr lang="vi-VN" sz="2100" b="0">
                        <a:solidFill>
                          <a:srgbClr val="1E293B"/>
                        </a:solidFill>
                        <a:latin typeface="Cambria Math" panose="02040503050406030204" pitchFamily="18" charset="0"/>
                      </a:rPr>
                      <m:t>𝐴𝐵</m:t>
                    </m:r>
                  </m:oMath>
                </a14:m>
                <a:r>
                  <a:rPr sz="2100">
                    <a:solidFill>
                      <a:srgbClr val="1E293B"/>
                    </a:solidFill>
                    <a:latin typeface="Calibri"/>
                  </a:rPr>
                  <a:t>. Tìm toạ độ của </a:t>
                </a:r>
                <a14:m>
                  <m:oMath xmlns:m="http://schemas.openxmlformats.org/officeDocument/2006/math">
                    <m:r>
                      <a:rPr lang="vi-VN" sz="2100" b="0">
                        <a:solidFill>
                          <a:srgbClr val="1E293B"/>
                        </a:solidFill>
                        <a:latin typeface="Cambria Math" panose="02040503050406030204" pitchFamily="18" charset="0"/>
                      </a:rPr>
                      <m:t>𝑀</m:t>
                    </m:r>
                  </m:oMath>
                </a14:m>
                <a:r>
                  <a:rPr sz="2100">
                    <a:solidFill>
                      <a:srgbClr val="1E293B"/>
                    </a:solidFill>
                    <a:latin typeface="Calibri"/>
                  </a:rPr>
                  <a:t> theo toạ độ của </a:t>
                </a:r>
                <a14:m>
                  <m:oMath xmlns:m="http://schemas.openxmlformats.org/officeDocument/2006/math">
                    <m:r>
                      <a:rPr lang="vi-VN" sz="2100" b="0">
                        <a:solidFill>
                          <a:srgbClr val="1E293B"/>
                        </a:solidFill>
                        <a:latin typeface="Cambria Math" panose="02040503050406030204" pitchFamily="18" charset="0"/>
                      </a:rPr>
                      <m:t>𝐴</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𝐵</m:t>
                    </m:r>
                  </m:oMath>
                </a14:m>
                <a:r>
                  <a:rPr sz="2100">
                    <a:solidFill>
                      <a:srgbClr val="1E293B"/>
                    </a:solidFill>
                    <a:latin typeface="Calibri"/>
                  </a:rPr>
                  <a:t>. b) Gọi </a:t>
                </a:r>
                <a14:m>
                  <m:oMath xmlns:m="http://schemas.openxmlformats.org/officeDocument/2006/math">
                    <m:r>
                      <a:rPr lang="vi-VN" sz="2100" b="0">
                        <a:solidFill>
                          <a:srgbClr val="1E293B"/>
                        </a:solidFill>
                        <a:latin typeface="Cambria Math" panose="02040503050406030204" pitchFamily="18" charset="0"/>
                      </a:rPr>
                      <m:t>𝐺</m:t>
                    </m:r>
                  </m:oMath>
                </a14:m>
                <a:r>
                  <a:rPr sz="2100">
                    <a:solidFill>
                      <a:srgbClr val="1E293B"/>
                    </a:solidFill>
                    <a:latin typeface="Calibri"/>
                  </a:rPr>
                  <a:t> là trọng tâm của tam giác </a:t>
                </a:r>
                <a14:m>
                  <m:oMath xmlns:m="http://schemas.openxmlformats.org/officeDocument/2006/math">
                    <m:r>
                      <a:rPr lang="vi-VN" sz="2100" b="0">
                        <a:solidFill>
                          <a:srgbClr val="1E293B"/>
                        </a:solidFill>
                        <a:latin typeface="Cambria Math" panose="02040503050406030204" pitchFamily="18" charset="0"/>
                      </a:rPr>
                      <m:t>𝐴𝐵𝐶</m:t>
                    </m:r>
                  </m:oMath>
                </a14:m>
                <a:r>
                  <a:rPr sz="2100">
                    <a:solidFill>
                      <a:srgbClr val="1E293B"/>
                    </a:solidFill>
                    <a:latin typeface="Calibri"/>
                  </a:rPr>
                  <a:t>. Tìm toạ độ của </a:t>
                </a:r>
                <a14:m>
                  <m:oMath xmlns:m="http://schemas.openxmlformats.org/officeDocument/2006/math">
                    <m:r>
                      <a:rPr lang="vi-VN" sz="2100" b="0">
                        <a:solidFill>
                          <a:srgbClr val="1E293B"/>
                        </a:solidFill>
                        <a:latin typeface="Cambria Math" panose="02040503050406030204" pitchFamily="18" charset="0"/>
                      </a:rPr>
                      <m:t>𝐺</m:t>
                    </m:r>
                  </m:oMath>
                </a14:m>
                <a:r>
                  <a:rPr sz="2100">
                    <a:solidFill>
                      <a:srgbClr val="1E293B"/>
                    </a:solidFill>
                    <a:latin typeface="Calibri"/>
                  </a:rPr>
                  <a:t> theo toạ độ của </a:t>
                </a:r>
                <a14:m>
                  <m:oMath xmlns:m="http://schemas.openxmlformats.org/officeDocument/2006/math">
                    <m:r>
                      <a:rPr lang="vi-VN" sz="2100" b="0">
                        <a:solidFill>
                          <a:srgbClr val="1E293B"/>
                        </a:solidFill>
                        <a:latin typeface="Cambria Math" panose="02040503050406030204" pitchFamily="18" charset="0"/>
                      </a:rPr>
                      <m:t>𝐴</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𝐵</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𝐶</m:t>
                    </m:r>
                  </m:oMath>
                </a14:m>
                <a:r>
                  <a:rPr sz="2100">
                    <a:solidFill>
                      <a:srgbClr val="1E293B"/>
                    </a:solidFill>
                    <a:latin typeface="Calibri"/>
                  </a:rPr>
                  <a:t>.</a:t>
                </a:r>
              </a:p>
            </p:txBody>
          </p:sp>
        </mc:Choice>
        <mc:Fallback xmlns="">
          <p:sp>
            <p:nvSpPr>
              <p:cNvPr id="7" name="TextBox 6"/>
              <p:cNvSpPr txBox="1"/>
              <p:nvPr/>
            </p:nvSpPr>
            <p:spPr>
              <a:xfrm>
                <a:off x="548640" y="1371600"/>
                <a:ext cx="11064240" cy="145389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HĐ2.</a:t>
                </a:r>
                <a:r>
                  <a:rPr sz="2100">
                    <a:solidFill>
                      <a:srgbClr val="1E293B"/>
                    </a:solidFill>
                    <a:latin typeface="Calibri"/>
                  </a:rPr>
                  <a:t> Cho tam giác </a:t>
                </a:r>
                <a:r>
                  <a:rPr lang="vi-VN"/>
                  <a:t>ABC</a:t>
                </a:r>
                <a:r>
                  <a:rPr sz="2100">
                    <a:solidFill>
                      <a:srgbClr val="1E293B"/>
                    </a:solidFill>
                    <a:latin typeface="Calibri"/>
                  </a:rPr>
                  <a:t> có </a:t>
                </a:r>
                <a:r>
                  <a:rPr lang="vi-VN"/>
                  <a:t>A(x_A;y_A;z_A)</a:t>
                </a:r>
                <a:r>
                  <a:rPr sz="2100">
                    <a:solidFill>
                      <a:srgbClr val="1E293B"/>
                    </a:solidFill>
                    <a:latin typeface="Calibri"/>
                  </a:rPr>
                  <a:t>, </a:t>
                </a:r>
                <a:r>
                  <a:rPr lang="vi-VN"/>
                  <a:t>B(x_B;y_B;z_B)</a:t>
                </a:r>
                <a:r>
                  <a:rPr sz="2100">
                    <a:solidFill>
                      <a:srgbClr val="1E293B"/>
                    </a:solidFill>
                    <a:latin typeface="Calibri"/>
                  </a:rPr>
                  <a:t>, </a:t>
                </a:r>
                <a:r>
                  <a:rPr lang="vi-VN"/>
                  <a:t>C(x_C;y_C;z_C)</a:t>
                </a:r>
                <a:r>
                  <a:rPr sz="2100">
                    <a:solidFill>
                      <a:srgbClr val="1E293B"/>
                    </a:solidFill>
                    <a:latin typeface="Calibri"/>
                  </a:rPr>
                  <a:t>. a) Gọi </a:t>
                </a:r>
                <a:r>
                  <a:rPr lang="vi-VN"/>
                  <a:t>M</a:t>
                </a:r>
                <a:r>
                  <a:rPr sz="2100">
                    <a:solidFill>
                      <a:srgbClr val="1E293B"/>
                    </a:solidFill>
                    <a:latin typeface="Calibri"/>
                  </a:rPr>
                  <a:t> là trung điểm của đoạn thẳng </a:t>
                </a:r>
                <a:r>
                  <a:rPr lang="vi-VN"/>
                  <a:t>AB</a:t>
                </a:r>
                <a:r>
                  <a:rPr sz="2100">
                    <a:solidFill>
                      <a:srgbClr val="1E293B"/>
                    </a:solidFill>
                    <a:latin typeface="Calibri"/>
                  </a:rPr>
                  <a:t>. Tìm toạ độ của </a:t>
                </a:r>
                <a:r>
                  <a:rPr lang="vi-VN"/>
                  <a:t>M</a:t>
                </a:r>
                <a:r>
                  <a:rPr sz="2100">
                    <a:solidFill>
                      <a:srgbClr val="1E293B"/>
                    </a:solidFill>
                    <a:latin typeface="Calibri"/>
                  </a:rPr>
                  <a:t> theo toạ độ của </a:t>
                </a:r>
                <a:r>
                  <a:rPr lang="vi-VN"/>
                  <a:t>A</a:t>
                </a:r>
                <a:r>
                  <a:rPr sz="2100">
                    <a:solidFill>
                      <a:srgbClr val="1E293B"/>
                    </a:solidFill>
                    <a:latin typeface="Calibri"/>
                  </a:rPr>
                  <a:t> và </a:t>
                </a:r>
                <a:r>
                  <a:rPr lang="vi-VN"/>
                  <a:t>B</a:t>
                </a:r>
                <a:r>
                  <a:rPr sz="2100">
                    <a:solidFill>
                      <a:srgbClr val="1E293B"/>
                    </a:solidFill>
                    <a:latin typeface="Calibri"/>
                  </a:rPr>
                  <a:t>. b) Gọi </a:t>
                </a:r>
                <a:r>
                  <a:rPr lang="vi-VN"/>
                  <a:t>G</a:t>
                </a:r>
                <a:r>
                  <a:rPr sz="2100">
                    <a:solidFill>
                      <a:srgbClr val="1E293B"/>
                    </a:solidFill>
                    <a:latin typeface="Calibri"/>
                  </a:rPr>
                  <a:t> là trọng tâm của tam giác </a:t>
                </a:r>
                <a:r>
                  <a:rPr lang="vi-VN"/>
                  <a:t>ABC</a:t>
                </a:r>
                <a:r>
                  <a:rPr sz="2100">
                    <a:solidFill>
                      <a:srgbClr val="1E293B"/>
                    </a:solidFill>
                    <a:latin typeface="Calibri"/>
                  </a:rPr>
                  <a:t>. Tìm toạ độ của </a:t>
                </a:r>
                <a:r>
                  <a:rPr lang="vi-VN"/>
                  <a:t>G</a:t>
                </a:r>
                <a:r>
                  <a:rPr sz="2100">
                    <a:solidFill>
                      <a:srgbClr val="1E293B"/>
                    </a:solidFill>
                    <a:latin typeface="Calibri"/>
                  </a:rPr>
                  <a:t> theo toạ độ của </a:t>
                </a:r>
                <a:r>
                  <a:rPr lang="vi-VN"/>
                  <a:t>A,\ B</a:t>
                </a:r>
                <a:r>
                  <a:rPr sz="2100">
                    <a:solidFill>
                      <a:srgbClr val="1E293B"/>
                    </a:solidFill>
                    <a:latin typeface="Calibri"/>
                  </a:rPr>
                  <a:t> và </a:t>
                </a:r>
                <a:r>
                  <a:rPr lang="vi-VN"/>
                  <a:t>C</a:t>
                </a:r>
                <a:r>
                  <a:rPr sz="2100">
                    <a:solidFill>
                      <a:srgbClr val="1E293B"/>
                    </a:solidFill>
                    <a:latin typeface="Calibri"/>
                  </a:rPr>
                  <a:t>.</a:t>
                </a:r>
              </a:p>
            </p:txBody>
          </p:sp>
        </mc:Fallback>
      </mc:AlternateContent>
      <p:sp>
        <p:nvSpPr>
          <p:cNvPr id="8" name="s1_nen"/>
          <p:cNvSpPr/>
          <p:nvPr/>
        </p:nvSpPr>
        <p:spPr>
          <a:xfrm>
            <a:off x="548640" y="2916936"/>
            <a:ext cx="110642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953512"/>
                <a:ext cx="10735056" cy="1120140"/>
              </a:xfrm>
              <a:prstGeom prst="rect">
                <a:avLst/>
              </a:prstGeom>
              <a:noFill/>
            </p:spPr>
            <p:txBody>
              <a:bodyPr wrap="square" lIns="45720" rIns="45720" anchor="ctr">
                <a:spAutoFit/>
              </a:bodyPr>
              <a:lstStyle/>
              <a:p>
                <a:pPr algn="l">
                  <a:spcAft>
                    <a:spcPts val="800"/>
                  </a:spcAft>
                </a:pPr>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𝑂𝑀</m:t>
                        </m:r>
                      </m:e>
                    </m:acc>
                  </m:oMath>
                </a14:m>
                <a:r>
                  <a:rPr sz="2100">
                    <a:solidFill>
                      <a:srgbClr val="1E293B"/>
                    </a:solidFill>
                    <a:latin typeface="Calibri"/>
                  </a:rPr>
                  <a:t> = </a:t>
                </a:r>
                <a14:m>
                  <m:oMath xmlns:m="http://schemas.openxmlformats.org/officeDocument/2006/math">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2</m:t>
                        </m:r>
                      </m:den>
                    </m:f>
                  </m:oMath>
                </a14:m>
                <a:r>
                  <a:rPr sz="2100">
                    <a:solidFill>
                      <a:srgbClr val="1E293B"/>
                    </a:solidFill>
                    <a:latin typeface="Calibri"/>
                  </a:rPr>
                  <a:t>(</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𝑂𝐴</m:t>
                        </m:r>
                      </m:e>
                    </m:acc>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𝑂𝐵</m:t>
                        </m:r>
                      </m:e>
                    </m:acc>
                  </m:oMath>
                </a14:m>
                <a:r>
                  <a:rPr sz="2100">
                    <a:solidFill>
                      <a:srgbClr val="1E293B"/>
                    </a:solidFill>
                    <a:latin typeface="Calibri"/>
                  </a:rPr>
                  <a:t>),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𝑂𝐺</m:t>
                        </m:r>
                      </m:e>
                    </m:acc>
                  </m:oMath>
                </a14:m>
                <a:r>
                  <a:rPr sz="2100">
                    <a:solidFill>
                      <a:srgbClr val="1E293B"/>
                    </a:solidFill>
                    <a:latin typeface="Calibri"/>
                  </a:rPr>
                  <a:t> = </a:t>
                </a:r>
                <a14:m>
                  <m:oMath xmlns:m="http://schemas.openxmlformats.org/officeDocument/2006/math">
                    <m:f>
                      <m:fPr>
                        <m:ctrlPr>
                          <a:rPr lang="vi-VN" sz="2100" b="0">
                            <a:solidFill>
                              <a:srgbClr val="1E293B"/>
                            </a:solidFill>
                            <a:latin typeface="Cambria Math" panose="02040503050406030204" pitchFamily="18" charset="0"/>
                          </a:rPr>
                        </m:ctrlP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3</m:t>
                        </m:r>
                      </m:den>
                    </m:f>
                  </m:oMath>
                </a14:m>
                <a:r>
                  <a:rPr sz="2100">
                    <a:solidFill>
                      <a:srgbClr val="1E293B"/>
                    </a:solidFill>
                    <a:latin typeface="Calibri"/>
                  </a:rPr>
                  <a:t>(</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𝑂𝐴</m:t>
                        </m:r>
                      </m:e>
                    </m:acc>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𝑂𝐵</m:t>
                        </m:r>
                      </m:e>
                    </m:acc>
                  </m:oMath>
                </a14:m>
                <a:r>
                  <a:rPr sz="2100">
                    <a:solidFill>
                      <a:srgbClr val="1E293B"/>
                    </a:solidFill>
                    <a:latin typeface="Calibri"/>
                  </a:rPr>
                  <a:t> + </a:t>
                </a:r>
                <a14:m>
                  <m:oMath xmlns:m="http://schemas.openxmlformats.org/officeDocument/2006/math">
                    <m:acc>
                      <m:accPr>
                        <m:chr m:val="⃗"/>
                        <m:ctrlPr>
                          <a:rPr lang="vi-VN" sz="2100" b="0">
                            <a:solidFill>
                              <a:srgbClr val="1E293B"/>
                            </a:solidFill>
                            <a:latin typeface="Cambria Math" panose="02040503050406030204" pitchFamily="18" charset="0"/>
                          </a:rPr>
                        </m:ctrlPr>
                      </m:accPr>
                      <m:e>
                        <m:r>
                          <a:rPr lang="vi-VN" sz="2100" b="0">
                            <a:solidFill>
                              <a:srgbClr val="1E293B"/>
                            </a:solidFill>
                            <a:latin typeface="Cambria Math" panose="02040503050406030204" pitchFamily="18" charset="0"/>
                          </a:rPr>
                          <m:t>𝑂𝐶</m:t>
                        </m:r>
                      </m:e>
                    </m:acc>
                  </m:oMath>
                </a14:m>
                <a:r>
                  <a:rPr sz="2100">
                    <a:solidFill>
                      <a:srgbClr val="1E293B"/>
                    </a:solidFill>
                    <a:latin typeface="Calibri"/>
                  </a:rPr>
                  <a:t>) – lấy toạ độ theo biểu thức toạ độ.</a:t>
                </a:r>
              </a:p>
            </p:txBody>
          </p:sp>
        </mc:Choice>
        <mc:Fallback xmlns="">
          <p:sp>
            <p:nvSpPr>
              <p:cNvPr id="9" name="TextBox 8"/>
              <p:cNvSpPr txBox="1"/>
              <p:nvPr/>
            </p:nvSpPr>
            <p:spPr>
              <a:xfrm>
                <a:off x="713232" y="2953512"/>
                <a:ext cx="107350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\overrightarrow{OM}</a:t>
                </a:r>
                <a:r>
                  <a:rPr sz="2100">
                    <a:solidFill>
                      <a:srgbClr val="1E293B"/>
                    </a:solidFill>
                    <a:latin typeface="Calibri"/>
                  </a:rPr>
                  <a:t> = </a:t>
                </a:r>
                <a:r>
                  <a:rPr lang="vi-VN"/>
                  <a:t>\frac{1}{2}</a:t>
                </a:r>
                <a:r>
                  <a:rPr sz="2100">
                    <a:solidFill>
                      <a:srgbClr val="1E293B"/>
                    </a:solidFill>
                    <a:latin typeface="Calibri"/>
                  </a:rPr>
                  <a:t>(</a:t>
                </a:r>
                <a:r>
                  <a:rPr lang="vi-VN"/>
                  <a:t>\overrightarrow{OA}</a:t>
                </a:r>
                <a:r>
                  <a:rPr sz="2100">
                    <a:solidFill>
                      <a:srgbClr val="1E293B"/>
                    </a:solidFill>
                    <a:latin typeface="Calibri"/>
                  </a:rPr>
                  <a:t> + </a:t>
                </a:r>
                <a:r>
                  <a:rPr lang="vi-VN"/>
                  <a:t>\overrightarrow{OB}</a:t>
                </a:r>
                <a:r>
                  <a:rPr sz="2100">
                    <a:solidFill>
                      <a:srgbClr val="1E293B"/>
                    </a:solidFill>
                    <a:latin typeface="Calibri"/>
                  </a:rPr>
                  <a:t>), </a:t>
                </a:r>
                <a:r>
                  <a:rPr lang="vi-VN"/>
                  <a:t>\overrightarrow{OG}</a:t>
                </a:r>
                <a:r>
                  <a:rPr sz="2100">
                    <a:solidFill>
                      <a:srgbClr val="1E293B"/>
                    </a:solidFill>
                    <a:latin typeface="Calibri"/>
                  </a:rPr>
                  <a:t> = </a:t>
                </a:r>
                <a:r>
                  <a:rPr lang="vi-VN"/>
                  <a:t>\frac{1}{3}</a:t>
                </a:r>
                <a:r>
                  <a:rPr sz="2100">
                    <a:solidFill>
                      <a:srgbClr val="1E293B"/>
                    </a:solidFill>
                    <a:latin typeface="Calibri"/>
                  </a:rPr>
                  <a:t>(</a:t>
                </a:r>
                <a:r>
                  <a:rPr lang="vi-VN"/>
                  <a:t>\overrightarrow{OA}</a:t>
                </a:r>
                <a:r>
                  <a:rPr sz="2100">
                    <a:solidFill>
                      <a:srgbClr val="1E293B"/>
                    </a:solidFill>
                    <a:latin typeface="Calibri"/>
                  </a:rPr>
                  <a:t> + </a:t>
                </a:r>
                <a:r>
                  <a:rPr lang="vi-VN"/>
                  <a:t>\overrightarrow{OB}</a:t>
                </a:r>
                <a:r>
                  <a:rPr sz="2100">
                    <a:solidFill>
                      <a:srgbClr val="1E293B"/>
                    </a:solidFill>
                    <a:latin typeface="Calibri"/>
                  </a:rPr>
                  <a:t> + </a:t>
                </a:r>
                <a:r>
                  <a:rPr lang="vi-VN"/>
                  <a:t>\overrightarrow{OC}</a:t>
                </a:r>
                <a:r>
                  <a:rPr sz="2100">
                    <a:solidFill>
                      <a:srgbClr val="1E293B"/>
                    </a:solidFill>
                    <a:latin typeface="Calibri"/>
                  </a:rPr>
                  <a:t>) – lấy toạ độ theo biểu thức toạ độ.</a:t>
                </a:r>
              </a:p>
            </p:txBody>
          </p:sp>
        </mc:Fallback>
      </mc:AlternateContent>
      <p:sp>
        <p:nvSpPr>
          <p:cNvPr id="10" name="s2_nen"/>
          <p:cNvSpPr/>
          <p:nvPr/>
        </p:nvSpPr>
        <p:spPr>
          <a:xfrm>
            <a:off x="548640" y="4201668"/>
            <a:ext cx="11064240" cy="218998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4238244"/>
                <a:ext cx="10735056" cy="2116836"/>
              </a:xfrm>
              <a:prstGeom prst="rect">
                <a:avLst/>
              </a:prstGeom>
              <a:noFill/>
            </p:spPr>
            <p:txBody>
              <a:bodyPr wrap="square" lIns="45720" rIns="45720" anchor="ctr">
                <a:spAutoFit/>
              </a:bodyPr>
              <a:lstStyle/>
              <a:p>
                <a:pPr algn="l">
                  <a:spcAft>
                    <a:spcPts val="800"/>
                  </a:spcAft>
                </a:pPr>
                <a:r>
                  <a:rPr sz="2100">
                    <a:solidFill>
                      <a:srgbClr val="1E293B"/>
                    </a:solidFill>
                    <a:latin typeface="Calibri"/>
                  </a:rPr>
                  <a:t>Cho ba điểm không thẳng hàng </a:t>
                </a:r>
                <a14:m>
                  <m:oMath xmlns:m="http://schemas.openxmlformats.org/officeDocument/2006/math">
                    <m:r>
                      <a:rPr lang="vi-VN" sz="2100" b="0">
                        <a:solidFill>
                          <a:srgbClr val="1E293B"/>
                        </a:solidFill>
                        <a:latin typeface="Cambria Math" panose="02040503050406030204" pitchFamily="18" charset="0"/>
                      </a:rPr>
                      <m:t>𝐴</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𝐵</m:t>
                    </m:r>
                    <m: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𝐶</m:t>
                    </m:r>
                  </m:oMath>
                </a14:m>
                <a:r>
                  <a:rPr sz="2100">
                    <a:solidFill>
                      <a:srgbClr val="1E293B"/>
                    </a:solidFill>
                    <a:latin typeface="Calibri"/>
                  </a:rPr>
                  <a:t>. Toạ độ trung điểm của đoạn thẳng </a:t>
                </a:r>
                <a14:m>
                  <m:oMath xmlns:m="http://schemas.openxmlformats.org/officeDocument/2006/math">
                    <m:r>
                      <a:rPr lang="vi-VN" sz="2100" b="0">
                        <a:solidFill>
                          <a:srgbClr val="1E293B"/>
                        </a:solidFill>
                        <a:latin typeface="Cambria Math" panose="02040503050406030204" pitchFamily="18" charset="0"/>
                      </a:rPr>
                      <m:t>𝐴𝐵</m:t>
                    </m:r>
                  </m:oMath>
                </a14:m>
                <a:r>
                  <a:rPr sz="2100">
                    <a:solidFill>
                      <a:srgbClr val="1E293B"/>
                    </a:solidFill>
                    <a:latin typeface="Calibri"/>
                  </a:rPr>
                  <a:t>: </a:t>
                </a:r>
                <a14:m>
                  <m:oMath xmlns:m="http://schemas.openxmlformats.org/officeDocument/2006/math">
                    <m:d>
                      <m:dPr>
                        <m:ctrlPr>
                          <a:rPr lang="vi-VN" sz="2100" b="0">
                            <a:solidFill>
                              <a:srgbClr val="1E293B"/>
                            </a:solidFill>
                            <a:latin typeface="Cambria Math" panose="02040503050406030204" pitchFamily="18" charset="0"/>
                          </a:rPr>
                        </m:ctrlPr>
                      </m:dPr>
                      <m:e>
                        <m:f>
                          <m:fPr>
                            <m:ctrlPr>
                              <a:rPr lang="vi-VN" sz="2100" b="0">
                                <a:solidFill>
                                  <a:srgbClr val="1E293B"/>
                                </a:solidFill>
                                <a:latin typeface="Cambria Math" panose="02040503050406030204" pitchFamily="18" charset="0"/>
                              </a:rPr>
                            </m:ctrlPr>
                          </m:fPr>
                          <m:num>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𝐴</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𝐵</m:t>
                                </m:r>
                              </m:sub>
                            </m:sSub>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 </m:t>
                        </m:r>
                        <m:f>
                          <m:fPr>
                            <m:ctrlPr>
                              <a:rPr lang="vi-VN" sz="2100" b="0" i="1">
                                <a:solidFill>
                                  <a:srgbClr val="1E293B"/>
                                </a:solidFill>
                                <a:latin typeface="Cambria Math" panose="02040503050406030204" pitchFamily="18" charset="0"/>
                              </a:rPr>
                            </m:ctrlPr>
                          </m:fPr>
                          <m:num>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𝑦</m:t>
                                </m:r>
                              </m:e>
                              <m:sub>
                                <m:r>
                                  <a:rPr lang="vi-VN" sz="2100" b="0">
                                    <a:solidFill>
                                      <a:srgbClr val="1E293B"/>
                                    </a:solidFill>
                                    <a:latin typeface="Cambria Math" panose="02040503050406030204" pitchFamily="18" charset="0"/>
                                  </a:rPr>
                                  <m:t>𝐴</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𝑦</m:t>
                                </m:r>
                              </m:e>
                              <m:sub>
                                <m:r>
                                  <a:rPr lang="vi-VN" sz="2100" b="0">
                                    <a:solidFill>
                                      <a:srgbClr val="1E293B"/>
                                    </a:solidFill>
                                    <a:latin typeface="Cambria Math" panose="02040503050406030204" pitchFamily="18" charset="0"/>
                                  </a:rPr>
                                  <m:t>𝐵</m:t>
                                </m:r>
                              </m:sub>
                            </m:sSub>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 </m:t>
                        </m:r>
                        <m:f>
                          <m:fPr>
                            <m:ctrlPr>
                              <a:rPr lang="vi-VN" sz="2100" b="0" i="1">
                                <a:solidFill>
                                  <a:srgbClr val="1E293B"/>
                                </a:solidFill>
                                <a:latin typeface="Cambria Math" panose="02040503050406030204" pitchFamily="18" charset="0"/>
                              </a:rPr>
                            </m:ctrlPr>
                          </m:fPr>
                          <m:num>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𝑧</m:t>
                                </m:r>
                              </m:e>
                              <m:sub>
                                <m:r>
                                  <a:rPr lang="vi-VN" sz="2100" b="0">
                                    <a:solidFill>
                                      <a:srgbClr val="1E293B"/>
                                    </a:solidFill>
                                    <a:latin typeface="Cambria Math" panose="02040503050406030204" pitchFamily="18" charset="0"/>
                                  </a:rPr>
                                  <m:t>𝐴</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𝑧</m:t>
                                </m:r>
                              </m:e>
                              <m:sub>
                                <m:r>
                                  <a:rPr lang="vi-VN" sz="2100" b="0">
                                    <a:solidFill>
                                      <a:srgbClr val="1E293B"/>
                                    </a:solidFill>
                                    <a:latin typeface="Cambria Math" panose="02040503050406030204" pitchFamily="18" charset="0"/>
                                  </a:rPr>
                                  <m:t>𝐵</m:t>
                                </m:r>
                              </m:sub>
                            </m:sSub>
                          </m:num>
                          <m:den>
                            <m:r>
                              <a:rPr lang="vi-VN" sz="2100" b="0">
                                <a:solidFill>
                                  <a:srgbClr val="1E293B"/>
                                </a:solidFill>
                                <a:latin typeface="Cambria Math" panose="02040503050406030204" pitchFamily="18" charset="0"/>
                              </a:rPr>
                              <m:t>2</m:t>
                            </m:r>
                          </m:den>
                        </m:f>
                      </m:e>
                    </m:d>
                  </m:oMath>
                </a14:m>
                <a:r>
                  <a:rPr sz="2100">
                    <a:solidFill>
                      <a:srgbClr val="1E293B"/>
                    </a:solidFill>
                    <a:latin typeface="Calibri"/>
                  </a:rPr>
                  <a:t>.</a:t>
                </a:r>
              </a:p>
              <a:p>
                <a:pPr algn="l">
                  <a:spcAft>
                    <a:spcPts val="800"/>
                  </a:spcAft>
                </a:pPr>
                <a:r>
                  <a:rPr sz="2100">
                    <a:solidFill>
                      <a:srgbClr val="1E293B"/>
                    </a:solidFill>
                    <a:latin typeface="Calibri"/>
                  </a:rPr>
                  <a:t>Toạ độ trọng tâm của tam giác </a:t>
                </a:r>
                <a14:m>
                  <m:oMath xmlns:m="http://schemas.openxmlformats.org/officeDocument/2006/math">
                    <m:r>
                      <a:rPr lang="vi-VN" sz="2100" b="0">
                        <a:solidFill>
                          <a:srgbClr val="1E293B"/>
                        </a:solidFill>
                        <a:latin typeface="Cambria Math" panose="02040503050406030204" pitchFamily="18" charset="0"/>
                      </a:rPr>
                      <m:t>𝐴𝐵𝐶</m:t>
                    </m:r>
                  </m:oMath>
                </a14:m>
                <a:r>
                  <a:rPr sz="2100">
                    <a:solidFill>
                      <a:srgbClr val="1E293B"/>
                    </a:solidFill>
                    <a:latin typeface="Calibri"/>
                  </a:rPr>
                  <a:t>: </a:t>
                </a:r>
                <a14:m>
                  <m:oMath xmlns:m="http://schemas.openxmlformats.org/officeDocument/2006/math">
                    <m:d>
                      <m:dPr>
                        <m:ctrlPr>
                          <a:rPr lang="vi-VN" sz="2100" b="0">
                            <a:solidFill>
                              <a:srgbClr val="1E293B"/>
                            </a:solidFill>
                            <a:latin typeface="Cambria Math" panose="02040503050406030204" pitchFamily="18" charset="0"/>
                          </a:rPr>
                        </m:ctrlPr>
                      </m:dPr>
                      <m:e>
                        <m:f>
                          <m:fPr>
                            <m:ctrlPr>
                              <a:rPr lang="vi-VN" sz="2100" b="0">
                                <a:solidFill>
                                  <a:srgbClr val="1E293B"/>
                                </a:solidFill>
                                <a:latin typeface="Cambria Math" panose="02040503050406030204" pitchFamily="18" charset="0"/>
                              </a:rPr>
                            </m:ctrlPr>
                          </m:fPr>
                          <m:num>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𝐴</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𝐵</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𝑥</m:t>
                                </m:r>
                              </m:e>
                              <m:sub>
                                <m:r>
                                  <a:rPr lang="vi-VN" sz="2100" b="0">
                                    <a:solidFill>
                                      <a:srgbClr val="1E293B"/>
                                    </a:solidFill>
                                    <a:latin typeface="Cambria Math" panose="02040503050406030204" pitchFamily="18" charset="0"/>
                                  </a:rPr>
                                  <m:t>𝐶</m:t>
                                </m:r>
                              </m:sub>
                            </m:sSub>
                          </m:num>
                          <m:den>
                            <m:r>
                              <a:rPr lang="vi-VN" sz="2100" b="0">
                                <a:solidFill>
                                  <a:srgbClr val="1E293B"/>
                                </a:solidFill>
                                <a:latin typeface="Cambria Math" panose="02040503050406030204" pitchFamily="18" charset="0"/>
                              </a:rPr>
                              <m:t>3</m:t>
                            </m:r>
                          </m:den>
                        </m:f>
                        <m:r>
                          <a:rPr lang="vi-VN" sz="2100" b="0">
                            <a:solidFill>
                              <a:srgbClr val="1E293B"/>
                            </a:solidFill>
                            <a:latin typeface="Cambria Math" panose="02040503050406030204" pitchFamily="18" charset="0"/>
                          </a:rPr>
                          <m:t>; </m:t>
                        </m:r>
                        <m:f>
                          <m:fPr>
                            <m:ctrlPr>
                              <a:rPr lang="vi-VN" sz="2100" b="0" i="1">
                                <a:solidFill>
                                  <a:srgbClr val="1E293B"/>
                                </a:solidFill>
                                <a:latin typeface="Cambria Math" panose="02040503050406030204" pitchFamily="18" charset="0"/>
                              </a:rPr>
                            </m:ctrlPr>
                          </m:fPr>
                          <m:num>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𝑦</m:t>
                                </m:r>
                              </m:e>
                              <m:sub>
                                <m:r>
                                  <a:rPr lang="vi-VN" sz="2100" b="0">
                                    <a:solidFill>
                                      <a:srgbClr val="1E293B"/>
                                    </a:solidFill>
                                    <a:latin typeface="Cambria Math" panose="02040503050406030204" pitchFamily="18" charset="0"/>
                                  </a:rPr>
                                  <m:t>𝐴</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𝑦</m:t>
                                </m:r>
                              </m:e>
                              <m:sub>
                                <m:r>
                                  <a:rPr lang="vi-VN" sz="2100" b="0">
                                    <a:solidFill>
                                      <a:srgbClr val="1E293B"/>
                                    </a:solidFill>
                                    <a:latin typeface="Cambria Math" panose="02040503050406030204" pitchFamily="18" charset="0"/>
                                  </a:rPr>
                                  <m:t>𝐵</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𝑦</m:t>
                                </m:r>
                              </m:e>
                              <m:sub>
                                <m:r>
                                  <a:rPr lang="vi-VN" sz="2100" b="0">
                                    <a:solidFill>
                                      <a:srgbClr val="1E293B"/>
                                    </a:solidFill>
                                    <a:latin typeface="Cambria Math" panose="02040503050406030204" pitchFamily="18" charset="0"/>
                                  </a:rPr>
                                  <m:t>𝐶</m:t>
                                </m:r>
                              </m:sub>
                            </m:sSub>
                          </m:num>
                          <m:den>
                            <m:r>
                              <a:rPr lang="vi-VN" sz="2100" b="0">
                                <a:solidFill>
                                  <a:srgbClr val="1E293B"/>
                                </a:solidFill>
                                <a:latin typeface="Cambria Math" panose="02040503050406030204" pitchFamily="18" charset="0"/>
                              </a:rPr>
                              <m:t>3</m:t>
                            </m:r>
                          </m:den>
                        </m:f>
                        <m:r>
                          <a:rPr lang="vi-VN" sz="2100" b="0">
                            <a:solidFill>
                              <a:srgbClr val="1E293B"/>
                            </a:solidFill>
                            <a:latin typeface="Cambria Math" panose="02040503050406030204" pitchFamily="18" charset="0"/>
                          </a:rPr>
                          <m:t>; </m:t>
                        </m:r>
                        <m:f>
                          <m:fPr>
                            <m:ctrlPr>
                              <a:rPr lang="vi-VN" sz="2100" b="0" i="1">
                                <a:solidFill>
                                  <a:srgbClr val="1E293B"/>
                                </a:solidFill>
                                <a:latin typeface="Cambria Math" panose="02040503050406030204" pitchFamily="18" charset="0"/>
                              </a:rPr>
                            </m:ctrlPr>
                          </m:fPr>
                          <m:num>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𝑧</m:t>
                                </m:r>
                              </m:e>
                              <m:sub>
                                <m:r>
                                  <a:rPr lang="vi-VN" sz="2100" b="0">
                                    <a:solidFill>
                                      <a:srgbClr val="1E293B"/>
                                    </a:solidFill>
                                    <a:latin typeface="Cambria Math" panose="02040503050406030204" pitchFamily="18" charset="0"/>
                                  </a:rPr>
                                  <m:t>𝐴</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𝑧</m:t>
                                </m:r>
                              </m:e>
                              <m:sub>
                                <m:r>
                                  <a:rPr lang="vi-VN" sz="2100" b="0">
                                    <a:solidFill>
                                      <a:srgbClr val="1E293B"/>
                                    </a:solidFill>
                                    <a:latin typeface="Cambria Math" panose="02040503050406030204" pitchFamily="18" charset="0"/>
                                  </a:rPr>
                                  <m:t>𝐵</m:t>
                                </m:r>
                              </m:sub>
                            </m:sSub>
                            <m:r>
                              <a:rPr lang="vi-VN" sz="2100" b="0">
                                <a:solidFill>
                                  <a:srgbClr val="1E293B"/>
                                </a:solidFill>
                                <a:latin typeface="Cambria Math" panose="02040503050406030204" pitchFamily="18" charset="0"/>
                              </a:rPr>
                              <m:t>+</m:t>
                            </m:r>
                            <m:sSub>
                              <m:sSubPr>
                                <m:ctrlPr>
                                  <a:rPr lang="vi-VN" sz="2100" b="0">
                                    <a:solidFill>
                                      <a:srgbClr val="1E293B"/>
                                    </a:solidFill>
                                    <a:latin typeface="Cambria Math" panose="02040503050406030204" pitchFamily="18" charset="0"/>
                                  </a:rPr>
                                </m:ctrlPr>
                              </m:sSubPr>
                              <m:e>
                                <m:r>
                                  <a:rPr lang="vi-VN" sz="2100" b="0">
                                    <a:solidFill>
                                      <a:srgbClr val="1E293B"/>
                                    </a:solidFill>
                                    <a:latin typeface="Cambria Math" panose="02040503050406030204" pitchFamily="18" charset="0"/>
                                  </a:rPr>
                                  <m:t>𝑧</m:t>
                                </m:r>
                              </m:e>
                              <m:sub>
                                <m:r>
                                  <a:rPr lang="vi-VN" sz="2100" b="0">
                                    <a:solidFill>
                                      <a:srgbClr val="1E293B"/>
                                    </a:solidFill>
                                    <a:latin typeface="Cambria Math" panose="02040503050406030204" pitchFamily="18" charset="0"/>
                                  </a:rPr>
                                  <m:t>𝐶</m:t>
                                </m:r>
                              </m:sub>
                            </m:sSub>
                          </m:num>
                          <m:den>
                            <m:r>
                              <a:rPr lang="vi-VN" sz="2100" b="0">
                                <a:solidFill>
                                  <a:srgbClr val="1E293B"/>
                                </a:solidFill>
                                <a:latin typeface="Cambria Math" panose="02040503050406030204" pitchFamily="18" charset="0"/>
                              </a:rPr>
                              <m:t>3</m:t>
                            </m:r>
                          </m:den>
                        </m:f>
                      </m:e>
                    </m:d>
                  </m:oMath>
                </a14:m>
                <a:r>
                  <a:rPr sz="2100">
                    <a:solidFill>
                      <a:srgbClr val="1E293B"/>
                    </a:solidFill>
                    <a:latin typeface="Calibri"/>
                  </a:rPr>
                  <a:t>.</a:t>
                </a:r>
              </a:p>
            </p:txBody>
          </p:sp>
        </mc:Choice>
        <mc:Fallback xmlns="">
          <p:sp>
            <p:nvSpPr>
              <p:cNvPr id="11" name="TextBox 10"/>
              <p:cNvSpPr txBox="1"/>
              <p:nvPr/>
            </p:nvSpPr>
            <p:spPr>
              <a:xfrm>
                <a:off x="713232" y="4238244"/>
                <a:ext cx="10735056" cy="2116836"/>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Cho ba điểm không thẳng hàng </a:t>
                </a:r>
                <a:r>
                  <a:rPr lang="vi-VN"/>
                  <a:t>A,\ B,\ C</a:t>
                </a:r>
                <a:r>
                  <a:rPr sz="2100">
                    <a:solidFill>
                      <a:srgbClr val="1E293B"/>
                    </a:solidFill>
                    <a:latin typeface="Calibri"/>
                  </a:rPr>
                  <a:t>. Toạ độ trung điểm của đoạn thẳng </a:t>
                </a:r>
                <a:r>
                  <a:rPr lang="vi-VN"/>
                  <a:t>AB</a:t>
                </a:r>
                <a:r>
                  <a:rPr sz="2100">
                    <a:solidFill>
                      <a:srgbClr val="1E293B"/>
                    </a:solidFill>
                    <a:latin typeface="Calibri"/>
                  </a:rPr>
                  <a:t>: </a:t>
                </a:r>
                <a:r>
                  <a:rPr lang="vi-VN"/>
                  <a:t>\left(\frac{x_A+x_B}{2};\ \frac{y_A+y_B}{2};\ \frac{z_A+z_B}{2}\right)</a:t>
                </a:r>
                <a:r>
                  <a:rPr sz="2100">
                    <a:solidFill>
                      <a:srgbClr val="1E293B"/>
                    </a:solidFill>
                    <a:latin typeface="Calibri"/>
                  </a:rPr>
                  <a:t>.</a:t>
                </a:r>
              </a:p>
              <a:p>
                <a:pPr algn="l">
                  <a:spcAft>
                    <a:spcPts val="800"/>
                  </a:spcAft>
                </a:pPr>
                <a:r>
                  <a:rPr sz="2100">
                    <a:solidFill>
                      <a:srgbClr val="1E293B"/>
                    </a:solidFill>
                    <a:latin typeface="Calibri"/>
                  </a:rPr>
                  <a:t>Toạ độ trọng tâm của tam giác </a:t>
                </a:r>
                <a:r>
                  <a:rPr lang="vi-VN"/>
                  <a:t>ABC</a:t>
                </a:r>
                <a:r>
                  <a:rPr sz="2100">
                    <a:solidFill>
                      <a:srgbClr val="1E293B"/>
                    </a:solidFill>
                    <a:latin typeface="Calibri"/>
                  </a:rPr>
                  <a:t>: </a:t>
                </a:r>
                <a:r>
                  <a:rPr lang="vi-VN"/>
                  <a:t>\left(\frac{x_A+x_B+x_C}{3};\ \frac{y_A+y_B+y_C}{3};\ \frac{z_A+z_B+z_C}{3}\right)</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VÍ DỤ 2 – LUYỆN TẬP 2 (SGK TR.68 – 69)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9</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844295"/>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Ví dụ 2.</a:t>
                </a:r>
                <a:r>
                  <a:rPr sz="2200">
                    <a:solidFill>
                      <a:srgbClr val="1E293B"/>
                    </a:solidFill>
                    <a:latin typeface="Calibri"/>
                  </a:rPr>
                  <a:t> Cho ba điểm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(1; 2; 3)</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𝐵</m:t>
                    </m:r>
                    <m:r>
                      <a:rPr lang="vi-VN" sz="2200" b="0">
                        <a:solidFill>
                          <a:srgbClr val="1E293B"/>
                        </a:solidFill>
                        <a:latin typeface="Cambria Math" panose="02040503050406030204" pitchFamily="18" charset="0"/>
                      </a:rPr>
                      <m:t>(3; 2; 1)</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𝐶</m:t>
                    </m:r>
                    <m:r>
                      <a:rPr lang="vi-VN" sz="2200" b="0">
                        <a:solidFill>
                          <a:srgbClr val="1E293B"/>
                        </a:solidFill>
                        <a:latin typeface="Cambria Math" panose="02040503050406030204" pitchFamily="18" charset="0"/>
                      </a:rPr>
                      <m:t>(2; −1; 5)</m:t>
                    </m:r>
                  </m:oMath>
                </a14:m>
                <a:r>
                  <a:rPr sz="2200">
                    <a:solidFill>
                      <a:srgbClr val="1E293B"/>
                    </a:solidFill>
                    <a:latin typeface="Calibri"/>
                  </a:rPr>
                  <a:t>. Tìm toạ độ trung điểm </a:t>
                </a:r>
                <a14:m>
                  <m:oMath xmlns:m="http://schemas.openxmlformats.org/officeDocument/2006/math">
                    <m:r>
                      <a:rPr lang="vi-VN" sz="2200" b="0">
                        <a:solidFill>
                          <a:srgbClr val="1E293B"/>
                        </a:solidFill>
                        <a:latin typeface="Cambria Math" panose="02040503050406030204" pitchFamily="18" charset="0"/>
                      </a:rPr>
                      <m:t>𝑀</m:t>
                    </m:r>
                  </m:oMath>
                </a14:m>
                <a:r>
                  <a:rPr sz="2200">
                    <a:solidFill>
                      <a:srgbClr val="1E293B"/>
                    </a:solidFill>
                    <a:latin typeface="Calibri"/>
                  </a:rPr>
                  <a:t> của đoạn thẳng </a:t>
                </a:r>
                <a14:m>
                  <m:oMath xmlns:m="http://schemas.openxmlformats.org/officeDocument/2006/math">
                    <m:r>
                      <a:rPr lang="vi-VN" sz="2200" b="0">
                        <a:solidFill>
                          <a:srgbClr val="1E293B"/>
                        </a:solidFill>
                        <a:latin typeface="Cambria Math" panose="02040503050406030204" pitchFamily="18" charset="0"/>
                      </a:rPr>
                      <m:t>𝐴𝐵</m:t>
                    </m:r>
                  </m:oMath>
                </a14:m>
                <a:r>
                  <a:rPr sz="2200">
                    <a:solidFill>
                      <a:srgbClr val="1E293B"/>
                    </a:solidFill>
                    <a:latin typeface="Calibri"/>
                  </a:rPr>
                  <a:t> và toạ độ trọng tâm </a:t>
                </a:r>
                <a14:m>
                  <m:oMath xmlns:m="http://schemas.openxmlformats.org/officeDocument/2006/math">
                    <m:r>
                      <a:rPr lang="vi-VN" sz="2200" b="0">
                        <a:solidFill>
                          <a:srgbClr val="1E293B"/>
                        </a:solidFill>
                        <a:latin typeface="Cambria Math" panose="02040503050406030204" pitchFamily="18" charset="0"/>
                      </a:rPr>
                      <m:t>𝐺</m:t>
                    </m:r>
                  </m:oMath>
                </a14:m>
                <a:r>
                  <a:rPr sz="2200">
                    <a:solidFill>
                      <a:srgbClr val="1E293B"/>
                    </a:solidFill>
                    <a:latin typeface="Calibri"/>
                  </a:rPr>
                  <a:t> của tam giác </a:t>
                </a:r>
                <a14:m>
                  <m:oMath xmlns:m="http://schemas.openxmlformats.org/officeDocument/2006/math">
                    <m:r>
                      <a:rPr lang="vi-VN" sz="2200" b="0">
                        <a:solidFill>
                          <a:srgbClr val="1E293B"/>
                        </a:solidFill>
                        <a:latin typeface="Cambria Math" panose="02040503050406030204" pitchFamily="18" charset="0"/>
                      </a:rPr>
                      <m:t>𝐴𝐵𝐶</m:t>
                    </m:r>
                  </m:oMath>
                </a14:m>
                <a:r>
                  <a:rPr sz="2200">
                    <a:solidFill>
                      <a:srgbClr val="1E293B"/>
                    </a:solidFill>
                    <a:latin typeface="Calibri"/>
                  </a:rPr>
                  <a:t>.</a:t>
                </a:r>
              </a:p>
            </p:txBody>
          </p:sp>
        </mc:Choice>
        <mc:Fallback xmlns="">
          <p:sp>
            <p:nvSpPr>
              <p:cNvPr id="7" name="TextBox 6"/>
              <p:cNvSpPr txBox="1"/>
              <p:nvPr/>
            </p:nvSpPr>
            <p:spPr>
              <a:xfrm>
                <a:off x="548640" y="137160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2.</a:t>
                </a:r>
                <a:r>
                  <a:rPr sz="2200">
                    <a:solidFill>
                      <a:srgbClr val="1E293B"/>
                    </a:solidFill>
                    <a:latin typeface="Calibri"/>
                  </a:rPr>
                  <a:t> Cho ba điểm </a:t>
                </a:r>
                <a:r>
                  <a:rPr lang="vi-VN"/>
                  <a:t>A(1;\ 2;\ 3)</a:t>
                </a:r>
                <a:r>
                  <a:rPr sz="2200">
                    <a:solidFill>
                      <a:srgbClr val="1E293B"/>
                    </a:solidFill>
                    <a:latin typeface="Calibri"/>
                  </a:rPr>
                  <a:t>, </a:t>
                </a:r>
                <a:r>
                  <a:rPr lang="vi-VN"/>
                  <a:t>B(3;\ 2;\ 1)</a:t>
                </a:r>
                <a:r>
                  <a:rPr sz="2200">
                    <a:solidFill>
                      <a:srgbClr val="1E293B"/>
                    </a:solidFill>
                    <a:latin typeface="Calibri"/>
                  </a:rPr>
                  <a:t> và </a:t>
                </a:r>
                <a:r>
                  <a:rPr lang="vi-VN"/>
                  <a:t>C(2;\ -1;\ 5)</a:t>
                </a:r>
                <a:r>
                  <a:rPr sz="2200">
                    <a:solidFill>
                      <a:srgbClr val="1E293B"/>
                    </a:solidFill>
                    <a:latin typeface="Calibri"/>
                  </a:rPr>
                  <a:t>. Tìm toạ độ trung điểm </a:t>
                </a:r>
                <a:r>
                  <a:rPr lang="vi-VN"/>
                  <a:t>M</a:t>
                </a:r>
                <a:r>
                  <a:rPr sz="2200">
                    <a:solidFill>
                      <a:srgbClr val="1E293B"/>
                    </a:solidFill>
                    <a:latin typeface="Calibri"/>
                  </a:rPr>
                  <a:t> của đoạn thẳng </a:t>
                </a:r>
                <a:r>
                  <a:rPr lang="vi-VN"/>
                  <a:t>AB</a:t>
                </a:r>
                <a:r>
                  <a:rPr sz="2200">
                    <a:solidFill>
                      <a:srgbClr val="1E293B"/>
                    </a:solidFill>
                    <a:latin typeface="Calibri"/>
                  </a:rPr>
                  <a:t> và toạ độ trọng tâm </a:t>
                </a:r>
                <a:r>
                  <a:rPr lang="vi-VN"/>
                  <a:t>G</a:t>
                </a:r>
                <a:r>
                  <a:rPr sz="2200">
                    <a:solidFill>
                      <a:srgbClr val="1E293B"/>
                    </a:solidFill>
                    <a:latin typeface="Calibri"/>
                  </a:rPr>
                  <a:t> của tam giác </a:t>
                </a:r>
                <a:r>
                  <a:rPr lang="vi-VN"/>
                  <a:t>ABC</a:t>
                </a:r>
                <a:r>
                  <a:rPr sz="2200">
                    <a:solidFill>
                      <a:srgbClr val="1E293B"/>
                    </a:solidFill>
                    <a:latin typeface="Calibri"/>
                  </a:rPr>
                  <a:t>.</a:t>
                </a:r>
              </a:p>
            </p:txBody>
          </p:sp>
        </mc:Fallback>
      </mc:AlternateContent>
      <p:sp>
        <p:nvSpPr>
          <p:cNvPr id="8" name="s1_nen"/>
          <p:cNvSpPr/>
          <p:nvPr/>
        </p:nvSpPr>
        <p:spPr>
          <a:xfrm>
            <a:off x="548640" y="2307336"/>
            <a:ext cx="11064240" cy="105308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343912"/>
                <a:ext cx="10735056" cy="979932"/>
              </a:xfrm>
              <a:prstGeom prst="rect">
                <a:avLst/>
              </a:prstGeom>
              <a:noFill/>
            </p:spPr>
            <p:txBody>
              <a:bodyPr wrap="square" lIns="45720" rIns="45720" anchor="ctr">
                <a:spAutoFit/>
              </a:bodyPr>
              <a:lstStyle/>
              <a:p>
                <a:pPr algn="l">
                  <a:spcAft>
                    <a:spcPts val="800"/>
                  </a:spcAft>
                </a:pP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𝑀</m:t>
                    </m:r>
                    <m:d>
                      <m:dPr>
                        <m:ctrlPr>
                          <a:rPr lang="vi-VN" sz="2200" b="0" i="1">
                            <a:solidFill>
                              <a:srgbClr val="1E293B"/>
                            </a:solidFill>
                            <a:latin typeface="Cambria Math" panose="02040503050406030204" pitchFamily="18" charset="0"/>
                          </a:rPr>
                        </m:ctrlPr>
                      </m:dPr>
                      <m:e>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1+3</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 </m:t>
                        </m:r>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2+2</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 </m:t>
                        </m:r>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3+1</m:t>
                            </m:r>
                          </m:num>
                          <m:den>
                            <m:r>
                              <a:rPr lang="vi-VN" sz="2200" b="0">
                                <a:solidFill>
                                  <a:srgbClr val="1E293B"/>
                                </a:solidFill>
                                <a:latin typeface="Cambria Math" panose="02040503050406030204" pitchFamily="18" charset="0"/>
                              </a:rPr>
                              <m:t>2</m:t>
                            </m:r>
                          </m:den>
                        </m:f>
                      </m:e>
                    </m:d>
                  </m:oMath>
                </a14:m>
                <a:r>
                  <a:rPr sz="2200">
                    <a:solidFill>
                      <a:srgbClr val="1E293B"/>
                    </a:solidFill>
                    <a:latin typeface="Calibri"/>
                  </a:rPr>
                  <a:t>, tức </a:t>
                </a:r>
                <a14:m>
                  <m:oMath xmlns:m="http://schemas.openxmlformats.org/officeDocument/2006/math">
                    <m:r>
                      <a:rPr lang="vi-VN" sz="2200" b="0">
                        <a:solidFill>
                          <a:srgbClr val="1E293B"/>
                        </a:solidFill>
                        <a:latin typeface="Cambria Math" panose="02040503050406030204" pitchFamily="18" charset="0"/>
                      </a:rPr>
                      <m:t>𝑀</m:t>
                    </m:r>
                    <m:r>
                      <a:rPr lang="vi-VN" sz="2200" b="0">
                        <a:solidFill>
                          <a:srgbClr val="1E293B"/>
                        </a:solidFill>
                        <a:latin typeface="Cambria Math" panose="02040503050406030204" pitchFamily="18" charset="0"/>
                      </a:rPr>
                      <m:t>(2; 2; 2)</m:t>
                    </m:r>
                  </m:oMath>
                </a14:m>
                <a:r>
                  <a:rPr sz="2200">
                    <a:solidFill>
                      <a:srgbClr val="1E293B"/>
                    </a:solidFill>
                    <a:latin typeface="Calibri"/>
                  </a:rPr>
                  <a:t>.</a:t>
                </a:r>
              </a:p>
            </p:txBody>
          </p:sp>
        </mc:Choice>
        <mc:Fallback xmlns="">
          <p:sp>
            <p:nvSpPr>
              <p:cNvPr id="9" name="TextBox 8"/>
              <p:cNvSpPr txBox="1"/>
              <p:nvPr/>
            </p:nvSpPr>
            <p:spPr>
              <a:xfrm>
                <a:off x="713232" y="2343912"/>
                <a:ext cx="10735056" cy="979932"/>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M\left(\frac{1+3}{2};\ \frac{2+2}{2};\ \frac{3+1}{2}\right)</a:t>
                </a:r>
                <a:r>
                  <a:rPr sz="2200">
                    <a:solidFill>
                      <a:srgbClr val="1E293B"/>
                    </a:solidFill>
                    <a:latin typeface="Calibri"/>
                  </a:rPr>
                  <a:t>, tức </a:t>
                </a:r>
                <a:r>
                  <a:rPr lang="vi-VN"/>
                  <a:t>M(2;\ 2;\ 2)</a:t>
                </a:r>
                <a:r>
                  <a:rPr sz="2200">
                    <a:solidFill>
                      <a:srgbClr val="1E293B"/>
                    </a:solidFill>
                    <a:latin typeface="Calibri"/>
                  </a:rPr>
                  <a:t>.</a:t>
                </a:r>
              </a:p>
            </p:txBody>
          </p:sp>
        </mc:Fallback>
      </mc:AlternateContent>
      <p:sp>
        <p:nvSpPr>
          <p:cNvPr id="10" name="s2_nen"/>
          <p:cNvSpPr/>
          <p:nvPr/>
        </p:nvSpPr>
        <p:spPr>
          <a:xfrm>
            <a:off x="548640" y="3451860"/>
            <a:ext cx="11064240" cy="105308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488436"/>
                <a:ext cx="10735056" cy="979932"/>
              </a:xfrm>
              <a:prstGeom prst="rect">
                <a:avLst/>
              </a:prstGeom>
              <a:noFill/>
            </p:spPr>
            <p:txBody>
              <a:bodyPr wrap="square" lIns="45720" rIns="45720" anchor="ctr">
                <a:spAutoFit/>
              </a:bodyPr>
              <a:lstStyle/>
              <a:p>
                <a:pPr algn="l">
                  <a:spcAft>
                    <a:spcPts val="800"/>
                  </a:spcAft>
                </a:pP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𝐺</m:t>
                    </m:r>
                    <m:d>
                      <m:dPr>
                        <m:ctrlPr>
                          <a:rPr lang="vi-VN" sz="2200" b="0" i="1">
                            <a:solidFill>
                              <a:srgbClr val="1E293B"/>
                            </a:solidFill>
                            <a:latin typeface="Cambria Math" panose="02040503050406030204" pitchFamily="18" charset="0"/>
                          </a:rPr>
                        </m:ctrlPr>
                      </m:dPr>
                      <m:e>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1+3+2</m:t>
                            </m:r>
                          </m:num>
                          <m:den>
                            <m:r>
                              <a:rPr lang="vi-VN" sz="2200" b="0">
                                <a:solidFill>
                                  <a:srgbClr val="1E293B"/>
                                </a:solidFill>
                                <a:latin typeface="Cambria Math" panose="02040503050406030204" pitchFamily="18" charset="0"/>
                              </a:rPr>
                              <m:t>3</m:t>
                            </m:r>
                          </m:den>
                        </m:f>
                        <m:r>
                          <a:rPr lang="vi-VN" sz="2200" b="0">
                            <a:solidFill>
                              <a:srgbClr val="1E293B"/>
                            </a:solidFill>
                            <a:latin typeface="Cambria Math" panose="02040503050406030204" pitchFamily="18" charset="0"/>
                          </a:rPr>
                          <m:t>; </m:t>
                        </m:r>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2+2+(−1)</m:t>
                            </m:r>
                          </m:num>
                          <m:den>
                            <m:r>
                              <a:rPr lang="vi-VN" sz="2200" b="0">
                                <a:solidFill>
                                  <a:srgbClr val="1E293B"/>
                                </a:solidFill>
                                <a:latin typeface="Cambria Math" panose="02040503050406030204" pitchFamily="18" charset="0"/>
                              </a:rPr>
                              <m:t>3</m:t>
                            </m:r>
                          </m:den>
                        </m:f>
                        <m:r>
                          <a:rPr lang="vi-VN" sz="2200" b="0">
                            <a:solidFill>
                              <a:srgbClr val="1E293B"/>
                            </a:solidFill>
                            <a:latin typeface="Cambria Math" panose="02040503050406030204" pitchFamily="18" charset="0"/>
                          </a:rPr>
                          <m:t>; </m:t>
                        </m:r>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3+1+5</m:t>
                            </m:r>
                          </m:num>
                          <m:den>
                            <m:r>
                              <a:rPr lang="vi-VN" sz="2200" b="0">
                                <a:solidFill>
                                  <a:srgbClr val="1E293B"/>
                                </a:solidFill>
                                <a:latin typeface="Cambria Math" panose="02040503050406030204" pitchFamily="18" charset="0"/>
                              </a:rPr>
                              <m:t>3</m:t>
                            </m:r>
                          </m:den>
                        </m:f>
                      </m:e>
                    </m:d>
                  </m:oMath>
                </a14:m>
                <a:r>
                  <a:rPr sz="2200">
                    <a:solidFill>
                      <a:srgbClr val="1E293B"/>
                    </a:solidFill>
                    <a:latin typeface="Calibri"/>
                  </a:rPr>
                  <a:t>, tức </a:t>
                </a:r>
                <a14:m>
                  <m:oMath xmlns:m="http://schemas.openxmlformats.org/officeDocument/2006/math">
                    <m:r>
                      <a:rPr lang="vi-VN" sz="2200" b="0">
                        <a:solidFill>
                          <a:srgbClr val="1E293B"/>
                        </a:solidFill>
                        <a:latin typeface="Cambria Math" panose="02040503050406030204" pitchFamily="18" charset="0"/>
                      </a:rPr>
                      <m:t>𝐺</m:t>
                    </m:r>
                    <m:r>
                      <a:rPr lang="vi-VN" sz="2200" b="0">
                        <a:solidFill>
                          <a:srgbClr val="1E293B"/>
                        </a:solidFill>
                        <a:latin typeface="Cambria Math" panose="02040503050406030204" pitchFamily="18" charset="0"/>
                      </a:rPr>
                      <m:t>(2; 1; 3)</m:t>
                    </m:r>
                  </m:oMath>
                </a14:m>
                <a:r>
                  <a:rPr sz="2200">
                    <a:solidFill>
                      <a:srgbClr val="1E293B"/>
                    </a:solidFill>
                    <a:latin typeface="Calibri"/>
                  </a:rPr>
                  <a:t>.</a:t>
                </a:r>
              </a:p>
            </p:txBody>
          </p:sp>
        </mc:Choice>
        <mc:Fallback xmlns="">
          <p:sp>
            <p:nvSpPr>
              <p:cNvPr id="11" name="TextBox 10"/>
              <p:cNvSpPr txBox="1"/>
              <p:nvPr/>
            </p:nvSpPr>
            <p:spPr>
              <a:xfrm>
                <a:off x="713232" y="3488436"/>
                <a:ext cx="10735056" cy="979932"/>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G\left(\frac{1+3+2}{3};\ \frac{2+2+(-1)}{3};\ \frac{3+1+5}{3}\right)</a:t>
                </a:r>
                <a:r>
                  <a:rPr sz="2200">
                    <a:solidFill>
                      <a:srgbClr val="1E293B"/>
                    </a:solidFill>
                    <a:latin typeface="Calibri"/>
                  </a:rPr>
                  <a:t>, tức </a:t>
                </a:r>
                <a:r>
                  <a:rPr lang="vi-VN"/>
                  <a:t>G(2;\ 1;\ 3)</a:t>
                </a:r>
                <a:r>
                  <a:rPr sz="22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2" name="s3_chu"/>
              <p:cNvSpPr txBox="1"/>
              <p:nvPr/>
            </p:nvSpPr>
            <p:spPr>
              <a:xfrm>
                <a:off x="548640" y="4596384"/>
                <a:ext cx="11064240" cy="844295"/>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Luyện tập 2.</a:t>
                </a:r>
                <a:r>
                  <a:rPr sz="2200">
                    <a:solidFill>
                      <a:srgbClr val="1E293B"/>
                    </a:solidFill>
                    <a:latin typeface="Calibri"/>
                  </a:rPr>
                  <a:t> Cho ba điểm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(2; 9; −1)</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𝐵</m:t>
                    </m:r>
                    <m:r>
                      <a:rPr lang="vi-VN" sz="2200" b="0">
                        <a:solidFill>
                          <a:srgbClr val="1E293B"/>
                        </a:solidFill>
                        <a:latin typeface="Cambria Math" panose="02040503050406030204" pitchFamily="18" charset="0"/>
                      </a:rPr>
                      <m:t>(9; 4; 5)</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𝐺</m:t>
                    </m:r>
                    <m:r>
                      <a:rPr lang="vi-VN" sz="2200" b="0">
                        <a:solidFill>
                          <a:srgbClr val="1E293B"/>
                        </a:solidFill>
                        <a:latin typeface="Cambria Math" panose="02040503050406030204" pitchFamily="18" charset="0"/>
                      </a:rPr>
                      <m:t>(3; 0; 4)</m:t>
                    </m:r>
                  </m:oMath>
                </a14:m>
                <a:r>
                  <a:rPr sz="2200">
                    <a:solidFill>
                      <a:srgbClr val="1E293B"/>
                    </a:solidFill>
                    <a:latin typeface="Calibri"/>
                  </a:rPr>
                  <a:t>. Tìm toạ độ điểm </a:t>
                </a:r>
                <a14:m>
                  <m:oMath xmlns:m="http://schemas.openxmlformats.org/officeDocument/2006/math">
                    <m:r>
                      <a:rPr lang="vi-VN" sz="2200" b="0">
                        <a:solidFill>
                          <a:srgbClr val="1E293B"/>
                        </a:solidFill>
                        <a:latin typeface="Cambria Math" panose="02040503050406030204" pitchFamily="18" charset="0"/>
                      </a:rPr>
                      <m:t>𝐶</m:t>
                    </m:r>
                  </m:oMath>
                </a14:m>
                <a:r>
                  <a:rPr sz="2200">
                    <a:solidFill>
                      <a:srgbClr val="1E293B"/>
                    </a:solidFill>
                    <a:latin typeface="Calibri"/>
                  </a:rPr>
                  <a:t> sao cho tam giác </a:t>
                </a:r>
                <a14:m>
                  <m:oMath xmlns:m="http://schemas.openxmlformats.org/officeDocument/2006/math">
                    <m:r>
                      <a:rPr lang="vi-VN" sz="2200" b="0">
                        <a:solidFill>
                          <a:srgbClr val="1E293B"/>
                        </a:solidFill>
                        <a:latin typeface="Cambria Math" panose="02040503050406030204" pitchFamily="18" charset="0"/>
                      </a:rPr>
                      <m:t>𝐴𝐵𝐶</m:t>
                    </m:r>
                  </m:oMath>
                </a14:m>
                <a:r>
                  <a:rPr sz="2200">
                    <a:solidFill>
                      <a:srgbClr val="1E293B"/>
                    </a:solidFill>
                    <a:latin typeface="Calibri"/>
                  </a:rPr>
                  <a:t> nhận </a:t>
                </a:r>
                <a14:m>
                  <m:oMath xmlns:m="http://schemas.openxmlformats.org/officeDocument/2006/math">
                    <m:r>
                      <a:rPr lang="vi-VN" sz="2200" b="0">
                        <a:solidFill>
                          <a:srgbClr val="1E293B"/>
                        </a:solidFill>
                        <a:latin typeface="Cambria Math" panose="02040503050406030204" pitchFamily="18" charset="0"/>
                      </a:rPr>
                      <m:t>𝐺</m:t>
                    </m:r>
                  </m:oMath>
                </a14:m>
                <a:r>
                  <a:rPr sz="2200">
                    <a:solidFill>
                      <a:srgbClr val="1E293B"/>
                    </a:solidFill>
                    <a:latin typeface="Calibri"/>
                  </a:rPr>
                  <a:t> là trọng tâm.</a:t>
                </a:r>
              </a:p>
            </p:txBody>
          </p:sp>
        </mc:Choice>
        <mc:Fallback xmlns="">
          <p:sp>
            <p:nvSpPr>
              <p:cNvPr id="12" name="TextBox 11"/>
              <p:cNvSpPr txBox="1"/>
              <p:nvPr/>
            </p:nvSpPr>
            <p:spPr>
              <a:xfrm>
                <a:off x="548640" y="4596384"/>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2.</a:t>
                </a:r>
                <a:r>
                  <a:rPr sz="2200">
                    <a:solidFill>
                      <a:srgbClr val="1E293B"/>
                    </a:solidFill>
                    <a:latin typeface="Calibri"/>
                  </a:rPr>
                  <a:t> Cho ba điểm </a:t>
                </a:r>
                <a:r>
                  <a:rPr lang="vi-VN"/>
                  <a:t>A(2;\ 9;\ -1)</a:t>
                </a:r>
                <a:r>
                  <a:rPr sz="2200">
                    <a:solidFill>
                      <a:srgbClr val="1E293B"/>
                    </a:solidFill>
                    <a:latin typeface="Calibri"/>
                  </a:rPr>
                  <a:t>, </a:t>
                </a:r>
                <a:r>
                  <a:rPr lang="vi-VN"/>
                  <a:t>B(9;\ 4;\ 5)</a:t>
                </a:r>
                <a:r>
                  <a:rPr sz="2200">
                    <a:solidFill>
                      <a:srgbClr val="1E293B"/>
                    </a:solidFill>
                    <a:latin typeface="Calibri"/>
                  </a:rPr>
                  <a:t> và </a:t>
                </a:r>
                <a:r>
                  <a:rPr lang="vi-VN"/>
                  <a:t>G(3;\ 0;\ 4)</a:t>
                </a:r>
                <a:r>
                  <a:rPr sz="2200">
                    <a:solidFill>
                      <a:srgbClr val="1E293B"/>
                    </a:solidFill>
                    <a:latin typeface="Calibri"/>
                  </a:rPr>
                  <a:t>. Tìm toạ độ điểm </a:t>
                </a:r>
                <a:r>
                  <a:rPr lang="vi-VN"/>
                  <a:t>C</a:t>
                </a:r>
                <a:r>
                  <a:rPr sz="2200">
                    <a:solidFill>
                      <a:srgbClr val="1E293B"/>
                    </a:solidFill>
                    <a:latin typeface="Calibri"/>
                  </a:rPr>
                  <a:t> sao cho tam giác </a:t>
                </a:r>
                <a:r>
                  <a:rPr lang="vi-VN"/>
                  <a:t>ABC</a:t>
                </a:r>
                <a:r>
                  <a:rPr sz="2200">
                    <a:solidFill>
                      <a:srgbClr val="1E293B"/>
                    </a:solidFill>
                    <a:latin typeface="Calibri"/>
                  </a:rPr>
                  <a:t> nhận </a:t>
                </a:r>
                <a:r>
                  <a:rPr lang="vi-VN"/>
                  <a:t>G</a:t>
                </a:r>
                <a:r>
                  <a:rPr sz="2200">
                    <a:solidFill>
                      <a:srgbClr val="1E293B"/>
                    </a:solidFill>
                    <a:latin typeface="Calibri"/>
                  </a:rPr>
                  <a:t> là trọng tâm.</a:t>
                </a:r>
              </a:p>
            </p:txBody>
          </p:sp>
        </mc:Fallback>
      </mc:AlternateContent>
      <p:sp>
        <p:nvSpPr>
          <p:cNvPr id="13" name="s4_nen"/>
          <p:cNvSpPr/>
          <p:nvPr/>
        </p:nvSpPr>
        <p:spPr>
          <a:xfrm>
            <a:off x="548640" y="55321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4" name="s4_chu"/>
              <p:cNvSpPr txBox="1"/>
              <p:nvPr/>
            </p:nvSpPr>
            <p:spPr>
              <a:xfrm>
                <a:off x="713232" y="5568696"/>
                <a:ext cx="10735056" cy="527304"/>
              </a:xfrm>
              <a:prstGeom prst="rect">
                <a:avLst/>
              </a:prstGeom>
              <a:noFill/>
            </p:spPr>
            <p:txBody>
              <a:bodyPr wrap="square" lIns="45720" rIns="45720" anchor="ctr">
                <a:spAutoFit/>
              </a:bodyPr>
              <a:lstStyle/>
              <a:p>
                <a:pPr algn="l">
                  <a:spcAft>
                    <a:spcPts val="800"/>
                  </a:spcAft>
                </a:pPr>
                <a:r>
                  <a:rPr sz="2200">
                    <a:solidFill>
                      <a:srgbClr val="1E293B"/>
                    </a:solidFill>
                    <a:latin typeface="Calibri"/>
                  </a:rPr>
                  <a:t> </a:t>
                </a:r>
                <a14:m>
                  <m:oMath xmlns:m="http://schemas.openxmlformats.org/officeDocument/2006/math">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𝑥</m:t>
                        </m:r>
                      </m:e>
                      <m:sub>
                        <m:r>
                          <a:rPr lang="vi-VN" sz="2200" b="0">
                            <a:solidFill>
                              <a:srgbClr val="1E293B"/>
                            </a:solidFill>
                            <a:latin typeface="Cambria Math" panose="02040503050406030204" pitchFamily="18" charset="0"/>
                          </a:rPr>
                          <m:t>𝐶</m:t>
                        </m:r>
                      </m:sub>
                    </m:sSub>
                    <m:r>
                      <a:rPr lang="vi-VN" sz="2200" b="0">
                        <a:solidFill>
                          <a:srgbClr val="1E293B"/>
                        </a:solidFill>
                        <a:latin typeface="Cambria Math" panose="02040503050406030204" pitchFamily="18" charset="0"/>
                      </a:rPr>
                      <m:t>=3</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𝑥</m:t>
                        </m:r>
                      </m:e>
                      <m:sub>
                        <m:r>
                          <a:rPr lang="vi-VN" sz="2200" b="0">
                            <a:solidFill>
                              <a:srgbClr val="1E293B"/>
                            </a:solidFill>
                            <a:latin typeface="Cambria Math" panose="02040503050406030204" pitchFamily="18" charset="0"/>
                          </a:rPr>
                          <m:t>𝐺</m:t>
                        </m:r>
                      </m:sub>
                    </m:sSub>
                    <m:r>
                      <a:rPr lang="vi-VN" sz="2200" b="0">
                        <a:solidFill>
                          <a:srgbClr val="1E293B"/>
                        </a:solidFill>
                        <a:latin typeface="Cambria Math" panose="02040503050406030204" pitchFamily="18" charset="0"/>
                      </a:rPr>
                      <m:t>−</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𝑥</m:t>
                        </m:r>
                      </m:e>
                      <m:sub>
                        <m:r>
                          <a:rPr lang="vi-VN" sz="2200" b="0">
                            <a:solidFill>
                              <a:srgbClr val="1E293B"/>
                            </a:solidFill>
                            <a:latin typeface="Cambria Math" panose="02040503050406030204" pitchFamily="18" charset="0"/>
                          </a:rPr>
                          <m:t>𝐴</m:t>
                        </m:r>
                      </m:sub>
                    </m:sSub>
                    <m:r>
                      <a:rPr lang="vi-VN" sz="2200" b="0">
                        <a:solidFill>
                          <a:srgbClr val="1E293B"/>
                        </a:solidFill>
                        <a:latin typeface="Cambria Math" panose="02040503050406030204" pitchFamily="18" charset="0"/>
                      </a:rPr>
                      <m:t>−</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𝑥</m:t>
                        </m:r>
                      </m:e>
                      <m:sub>
                        <m:r>
                          <a:rPr lang="vi-VN" sz="2200" b="0">
                            <a:solidFill>
                              <a:srgbClr val="1E293B"/>
                            </a:solidFill>
                            <a:latin typeface="Cambria Math" panose="02040503050406030204" pitchFamily="18" charset="0"/>
                          </a:rPr>
                          <m:t>𝐵</m:t>
                        </m:r>
                      </m:sub>
                    </m:sSub>
                    <m:r>
                      <a:rPr lang="vi-VN" sz="2200" b="0">
                        <a:solidFill>
                          <a:srgbClr val="1E293B"/>
                        </a:solidFill>
                        <a:latin typeface="Cambria Math" panose="02040503050406030204" pitchFamily="18" charset="0"/>
                      </a:rPr>
                      <m:t>=9−2−9=−2</m:t>
                    </m:r>
                  </m:oMath>
                </a14:m>
                <a:r>
                  <a:rPr sz="2200">
                    <a:solidFill>
                      <a:srgbClr val="1E293B"/>
                    </a:solidFill>
                    <a:latin typeface="Calibri"/>
                  </a:rPr>
                  <a:t>; tương tự </a:t>
                </a:r>
                <a14:m>
                  <m:oMath xmlns:m="http://schemas.openxmlformats.org/officeDocument/2006/math">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𝑦</m:t>
                        </m:r>
                      </m:e>
                      <m:sub>
                        <m:r>
                          <a:rPr lang="vi-VN" sz="2200" b="0">
                            <a:solidFill>
                              <a:srgbClr val="1E293B"/>
                            </a:solidFill>
                            <a:latin typeface="Cambria Math" panose="02040503050406030204" pitchFamily="18" charset="0"/>
                          </a:rPr>
                          <m:t>𝐶</m:t>
                        </m:r>
                      </m:sub>
                    </m:sSub>
                    <m:r>
                      <a:rPr lang="vi-VN" sz="2200" b="0">
                        <a:solidFill>
                          <a:srgbClr val="1E293B"/>
                        </a:solidFill>
                        <a:latin typeface="Cambria Math" panose="02040503050406030204" pitchFamily="18" charset="0"/>
                      </a:rPr>
                      <m:t>=−13</m:t>
                    </m:r>
                  </m:oMath>
                </a14:m>
                <a:r>
                  <a:rPr sz="2200">
                    <a:solidFill>
                      <a:srgbClr val="1E293B"/>
                    </a:solidFill>
                    <a:latin typeface="Calibri"/>
                  </a:rPr>
                  <a:t>, </a:t>
                </a:r>
                <a14:m>
                  <m:oMath xmlns:m="http://schemas.openxmlformats.org/officeDocument/2006/math">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𝑧</m:t>
                        </m:r>
                      </m:e>
                      <m:sub>
                        <m:r>
                          <a:rPr lang="vi-VN" sz="2200" b="0">
                            <a:solidFill>
                              <a:srgbClr val="1E293B"/>
                            </a:solidFill>
                            <a:latin typeface="Cambria Math" panose="02040503050406030204" pitchFamily="18" charset="0"/>
                          </a:rPr>
                          <m:t>𝐶</m:t>
                        </m:r>
                      </m:sub>
                    </m:sSub>
                    <m:r>
                      <a:rPr lang="vi-VN" sz="2200" b="0">
                        <a:solidFill>
                          <a:srgbClr val="1E293B"/>
                        </a:solidFill>
                        <a:latin typeface="Cambria Math" panose="02040503050406030204" pitchFamily="18" charset="0"/>
                      </a:rPr>
                      <m:t>=8</m:t>
                    </m:r>
                  </m:oMath>
                </a14:m>
                <a:r>
                  <a:rPr sz="2200">
                    <a:solidFill>
                      <a:srgbClr val="1E293B"/>
                    </a:solidFill>
                    <a:latin typeface="Calibri"/>
                  </a:rPr>
                  <a:t>. Vậy </a:t>
                </a:r>
                <a14:m>
                  <m:oMath xmlns:m="http://schemas.openxmlformats.org/officeDocument/2006/math">
                    <m:r>
                      <a:rPr lang="vi-VN" sz="2200" b="0">
                        <a:solidFill>
                          <a:srgbClr val="1E293B"/>
                        </a:solidFill>
                        <a:latin typeface="Cambria Math" panose="02040503050406030204" pitchFamily="18" charset="0"/>
                      </a:rPr>
                      <m:t>𝐶</m:t>
                    </m:r>
                    <m:r>
                      <a:rPr lang="vi-VN" sz="2200" b="0">
                        <a:solidFill>
                          <a:srgbClr val="1E293B"/>
                        </a:solidFill>
                        <a:latin typeface="Cambria Math" panose="02040503050406030204" pitchFamily="18" charset="0"/>
                      </a:rPr>
                      <m:t>(−2; −13; 8)</m:t>
                    </m:r>
                  </m:oMath>
                </a14:m>
                <a:r>
                  <a:rPr sz="2200">
                    <a:solidFill>
                      <a:srgbClr val="1E293B"/>
                    </a:solidFill>
                    <a:latin typeface="Calibri"/>
                  </a:rPr>
                  <a:t>.</a:t>
                </a:r>
              </a:p>
            </p:txBody>
          </p:sp>
        </mc:Choice>
        <mc:Fallback xmlns="">
          <p:sp>
            <p:nvSpPr>
              <p:cNvPr id="14" name="TextBox 13"/>
              <p:cNvSpPr txBox="1"/>
              <p:nvPr/>
            </p:nvSpPr>
            <p:spPr>
              <a:xfrm>
                <a:off x="713232" y="556869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x_C=3x_G-x_A-x_B=9-2-9=-2</a:t>
                </a:r>
                <a:r>
                  <a:rPr sz="2200">
                    <a:solidFill>
                      <a:srgbClr val="1E293B"/>
                    </a:solidFill>
                    <a:latin typeface="Calibri"/>
                  </a:rPr>
                  <a:t>; tương tự </a:t>
                </a:r>
                <a:r>
                  <a:rPr lang="vi-VN"/>
                  <a:t>y_C=-13</a:t>
                </a:r>
                <a:r>
                  <a:rPr sz="2200">
                    <a:solidFill>
                      <a:srgbClr val="1E293B"/>
                    </a:solidFill>
                    <a:latin typeface="Calibri"/>
                  </a:rPr>
                  <a:t>, </a:t>
                </a:r>
                <a:r>
                  <a:rPr lang="vi-VN"/>
                  <a:t>z_C=8</a:t>
                </a:r>
                <a:r>
                  <a:rPr sz="2200">
                    <a:solidFill>
                      <a:srgbClr val="1E293B"/>
                    </a:solidFill>
                    <a:latin typeface="Calibri"/>
                  </a:rPr>
                  <a:t>. Vậy </a:t>
                </a:r>
                <a:r>
                  <a:rPr lang="vi-VN"/>
                  <a:t>C(-2;\ -13;\ 8)</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AI NHANH HƠN?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10</a:t>
            </a:r>
          </a:p>
        </p:txBody>
      </p:sp>
      <p:sp>
        <p:nvSpPr>
          <p:cNvPr id="7" name="TextBox 6"/>
          <p:cNvSpPr txBox="1"/>
          <p:nvPr/>
        </p:nvSpPr>
        <p:spPr>
          <a:xfrm>
            <a:off x="548640" y="1325880"/>
            <a:ext cx="11064240" cy="457200"/>
          </a:xfrm>
          <a:prstGeom prst="rect">
            <a:avLst/>
          </a:prstGeom>
          <a:noFill/>
        </p:spPr>
        <p:txBody>
          <a:bodyPr wrap="square" lIns="45720" rIns="45720" anchor="t">
            <a:spAutoFit/>
          </a:bodyPr>
          <a:lstStyle/>
          <a:p>
            <a:pPr algn="l">
              <a:spcAft>
                <a:spcPts val="800"/>
              </a:spcAft>
            </a:pPr>
            <a:r>
              <a:rPr sz="1800">
                <a:solidFill>
                  <a:srgbClr val="64748B"/>
                </a:solidFill>
                <a:latin typeface="Calibri"/>
              </a:rPr>
              <a:t>📋 Mỗi câu 20 giây, ghi bảng con; giơ trước, đúng được điểm.</a:t>
            </a:r>
          </a:p>
        </p:txBody>
      </p:sp>
      <mc:AlternateContent xmlns:mc="http://schemas.openxmlformats.org/markup-compatibility/2006" xmlns:a14="http://schemas.microsoft.com/office/drawing/2010/main">
        <mc:Choice Requires="a14">
          <p:sp>
            <p:nvSpPr>
              <p:cNvPr id="8" name="TextBox 7"/>
              <p:cNvSpPr txBox="1"/>
              <p:nvPr/>
            </p:nvSpPr>
            <p:spPr>
              <a:xfrm>
                <a:off x="548640" y="1783080"/>
                <a:ext cx="7589520" cy="640080"/>
              </a:xfrm>
              <a:prstGeom prst="rect">
                <a:avLst/>
              </a:prstGeom>
              <a:noFill/>
            </p:spPr>
            <p:txBody>
              <a:bodyPr wrap="square" lIns="45720" rIns="45720" anchor="t">
                <a:spAutoFit/>
              </a:bodyPr>
              <a:lstStyle/>
              <a:p>
                <a:pPr algn="l">
                  <a:spcAft>
                    <a:spcPts val="800"/>
                  </a:spcAft>
                </a:pPr>
                <a:r>
                  <a:rPr sz="2200">
                    <a:solidFill>
                      <a:srgbClr val="1E293B"/>
                    </a:solidFill>
                    <a:latin typeface="Calibri"/>
                  </a:rPr>
                  <a:t>Cho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=(1; 2; −2)</m:t>
                    </m:r>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r>
                      <a:rPr lang="vi-VN" sz="2200" b="0">
                        <a:solidFill>
                          <a:srgbClr val="1E293B"/>
                        </a:solidFill>
                        <a:latin typeface="Cambria Math" panose="02040503050406030204" pitchFamily="18" charset="0"/>
                      </a:rPr>
                      <m:t>=(2; 0; 1)</m:t>
                    </m:r>
                  </m:oMath>
                </a14:m>
                <a:r>
                  <a:rPr sz="2200">
                    <a:solidFill>
                      <a:srgbClr val="1E293B"/>
                    </a:solidFill>
                    <a:latin typeface="Calibri"/>
                  </a:rPr>
                  <a:t>.</a:t>
                </a:r>
              </a:p>
            </p:txBody>
          </p:sp>
        </mc:Choice>
        <mc:Fallback xmlns="">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a:t>
                </a:r>
                <a:r>
                  <a:rPr lang="vi-VN"/>
                  <a:t>\vec{a}=(1;\ 2;\ -2)</a:t>
                </a:r>
                <a:r>
                  <a:rPr sz="2200">
                    <a:solidFill>
                      <a:srgbClr val="1E293B"/>
                    </a:solidFill>
                    <a:latin typeface="Calibri"/>
                  </a:rPr>
                  <a:t>, </a:t>
                </a:r>
                <a:r>
                  <a:rPr lang="vi-VN"/>
                  <a:t>\vec{b}=(2;\ 0;\ 1)</a:t>
                </a:r>
                <a:r>
                  <a:rPr sz="22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8640" y="2468879"/>
                <a:ext cx="5669280" cy="857250"/>
              </a:xfrm>
              <a:prstGeom prst="rect">
                <a:avLst/>
              </a:prstGeom>
              <a:noFill/>
            </p:spPr>
            <p:txBody>
              <a:bodyPr wrap="square" lIns="45720" rIns="45720" anchor="t">
                <a:spAutoFit/>
              </a:bodyPr>
              <a:lstStyle/>
              <a:p>
                <a:pPr algn="l">
                  <a:spcAft>
                    <a:spcPts val="800"/>
                  </a:spcAft>
                </a:pPr>
                <a:r>
                  <a:rPr sz="2400" b="1">
                    <a:solidFill>
                      <a:srgbClr val="1E293B"/>
                    </a:solidFill>
                    <a:latin typeface="Calibri"/>
                  </a:rPr>
                  <a:t>1.</a:t>
                </a:r>
                <a:r>
                  <a:rPr sz="2400">
                    <a:solidFill>
                      <a:srgbClr val="1E293B"/>
                    </a:solidFill>
                    <a:latin typeface="Calibri"/>
                  </a:rPr>
                  <a:t>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𝑎</m:t>
                        </m:r>
                      </m:e>
                    </m:acc>
                    <m:r>
                      <a:rPr lang="vi-VN" sz="2400" b="0">
                        <a:solidFill>
                          <a:srgbClr val="1E293B"/>
                        </a:solidFill>
                        <a:latin typeface="Cambria Math" panose="02040503050406030204" pitchFamily="18" charset="0"/>
                      </a:rPr>
                      <m:t>+</m:t>
                    </m:r>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𝑏</m:t>
                        </m:r>
                      </m:e>
                    </m:acc>
                    <m:r>
                      <a:rPr lang="vi-VN" sz="2400" b="0">
                        <a:solidFill>
                          <a:srgbClr val="1E293B"/>
                        </a:solidFill>
                        <a:latin typeface="Cambria Math" panose="02040503050406030204" pitchFamily="18" charset="0"/>
                      </a:rPr>
                      <m:t>= ?</m:t>
                    </m:r>
                  </m:oMath>
                </a14:m>
                <a:endParaRPr sz="2400">
                  <a:solidFill>
                    <a:srgbClr val="1E293B"/>
                  </a:solidFill>
                  <a:latin typeface="Calibri"/>
                </a:endParaRPr>
              </a:p>
            </p:txBody>
          </p:sp>
        </mc:Choice>
        <mc:Fallback xmlns="">
          <p:sp>
            <p:nvSpPr>
              <p:cNvPr id="9" name="TextBox 8"/>
              <p:cNvSpPr txBox="1"/>
              <p:nvPr/>
            </p:nvSpPr>
            <p:spPr>
              <a:xfrm>
                <a:off x="548640" y="2468879"/>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r>
                  <a:rPr lang="vi-VN"/>
                  <a:t>\vec{a}+\vec{b}=\ ?</a:t>
                </a:r>
              </a:p>
            </p:txBody>
          </p:sp>
        </mc:Fallback>
      </mc:AlternateContent>
      <p:sp>
        <p:nvSpPr>
          <p:cNvPr id="10" name="s1_nen"/>
          <p:cNvSpPr/>
          <p:nvPr/>
        </p:nvSpPr>
        <p:spPr>
          <a:xfrm>
            <a:off x="6309360" y="2423160"/>
            <a:ext cx="310896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1_chu"/>
              <p:cNvSpPr txBox="1"/>
              <p:nvPr/>
            </p:nvSpPr>
            <p:spPr>
              <a:xfrm>
                <a:off x="6473952" y="2459736"/>
                <a:ext cx="2779776" cy="738378"/>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3; 2; −1</m:t>
                        </m:r>
                      </m:e>
                    </m:d>
                  </m:oMath>
                </a14:m>
                <a:endParaRPr sz="2400">
                  <a:solidFill>
                    <a:srgbClr val="1E293B"/>
                  </a:solidFill>
                  <a:latin typeface="Calibri"/>
                </a:endParaRPr>
              </a:p>
            </p:txBody>
          </p:sp>
        </mc:Choice>
        <mc:Fallback xmlns="">
          <p:sp>
            <p:nvSpPr>
              <p:cNvPr id="11" name="TextBox 10"/>
              <p:cNvSpPr txBox="1"/>
              <p:nvPr/>
            </p:nvSpPr>
            <p:spPr>
              <a:xfrm>
                <a:off x="6473952" y="2459736"/>
                <a:ext cx="277977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(3;\ 2;\ -1)</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48640" y="3417570"/>
                <a:ext cx="5669280" cy="857250"/>
              </a:xfrm>
              <a:prstGeom prst="rect">
                <a:avLst/>
              </a:prstGeom>
              <a:noFill/>
            </p:spPr>
            <p:txBody>
              <a:bodyPr wrap="square" lIns="45720" rIns="45720" anchor="t">
                <a:spAutoFit/>
              </a:bodyPr>
              <a:lstStyle/>
              <a:p>
                <a:pPr algn="l">
                  <a:spcAft>
                    <a:spcPts val="800"/>
                  </a:spcAft>
                </a:pPr>
                <a:r>
                  <a:rPr sz="2400" b="1">
                    <a:solidFill>
                      <a:srgbClr val="1E293B"/>
                    </a:solidFill>
                    <a:latin typeface="Calibri"/>
                  </a:rPr>
                  <a:t>2.</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𝑎</m:t>
                        </m:r>
                      </m:e>
                    </m:acc>
                    <m:r>
                      <a:rPr lang="vi-VN" sz="2400" b="0">
                        <a:solidFill>
                          <a:srgbClr val="1E293B"/>
                        </a:solidFill>
                        <a:latin typeface="Cambria Math" panose="02040503050406030204" pitchFamily="18" charset="0"/>
                      </a:rPr>
                      <m:t>−</m:t>
                    </m:r>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𝑏</m:t>
                        </m:r>
                      </m:e>
                    </m:acc>
                    <m:r>
                      <a:rPr lang="vi-VN" sz="2400" b="0">
                        <a:solidFill>
                          <a:srgbClr val="1E293B"/>
                        </a:solidFill>
                        <a:latin typeface="Cambria Math" panose="02040503050406030204" pitchFamily="18" charset="0"/>
                      </a:rPr>
                      <m:t>= ?</m:t>
                    </m:r>
                  </m:oMath>
                </a14:m>
                <a:endParaRPr sz="2400">
                  <a:solidFill>
                    <a:srgbClr val="1E293B"/>
                  </a:solidFill>
                  <a:latin typeface="Calibri"/>
                </a:endParaRPr>
              </a:p>
            </p:txBody>
          </p:sp>
        </mc:Choice>
        <mc:Fallback xmlns="">
          <p:sp>
            <p:nvSpPr>
              <p:cNvPr id="12" name="TextBox 11"/>
              <p:cNvSpPr txBox="1"/>
              <p:nvPr/>
            </p:nvSpPr>
            <p:spPr>
              <a:xfrm>
                <a:off x="548640" y="3417570"/>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r>
                  <a:rPr lang="vi-VN"/>
                  <a:t>2\vec{a}-\vec{b}=\ ?</a:t>
                </a:r>
              </a:p>
            </p:txBody>
          </p:sp>
        </mc:Fallback>
      </mc:AlternateContent>
      <p:sp>
        <p:nvSpPr>
          <p:cNvPr id="13" name="s2_nen"/>
          <p:cNvSpPr/>
          <p:nvPr/>
        </p:nvSpPr>
        <p:spPr>
          <a:xfrm>
            <a:off x="6309360" y="3371850"/>
            <a:ext cx="310896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4" name="s2_chu"/>
              <p:cNvSpPr txBox="1"/>
              <p:nvPr/>
            </p:nvSpPr>
            <p:spPr>
              <a:xfrm>
                <a:off x="6473952" y="3408426"/>
                <a:ext cx="2779776" cy="738378"/>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0; 4; −5</m:t>
                        </m:r>
                      </m:e>
                    </m:d>
                  </m:oMath>
                </a14:m>
                <a:endParaRPr sz="2400">
                  <a:solidFill>
                    <a:srgbClr val="1E293B"/>
                  </a:solidFill>
                  <a:latin typeface="Calibri"/>
                </a:endParaRPr>
              </a:p>
            </p:txBody>
          </p:sp>
        </mc:Choice>
        <mc:Fallback xmlns="">
          <p:sp>
            <p:nvSpPr>
              <p:cNvPr id="14" name="TextBox 13"/>
              <p:cNvSpPr txBox="1"/>
              <p:nvPr/>
            </p:nvSpPr>
            <p:spPr>
              <a:xfrm>
                <a:off x="6473952" y="3408426"/>
                <a:ext cx="277977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(0;\ 4;\ -5)</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48640" y="4366259"/>
                <a:ext cx="5669280" cy="857250"/>
              </a:xfrm>
              <a:prstGeom prst="rect">
                <a:avLst/>
              </a:prstGeom>
              <a:noFill/>
            </p:spPr>
            <p:txBody>
              <a:bodyPr wrap="square" lIns="45720" rIns="45720" anchor="t">
                <a:spAutoFit/>
              </a:bodyPr>
              <a:lstStyle/>
              <a:p>
                <a:pPr algn="l">
                  <a:spcAft>
                    <a:spcPts val="800"/>
                  </a:spcAft>
                </a:pPr>
                <a:r>
                  <a:rPr sz="2400" b="1">
                    <a:solidFill>
                      <a:srgbClr val="1E293B"/>
                    </a:solidFill>
                    <a:latin typeface="Calibri"/>
                  </a:rPr>
                  <a:t>3.</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m:t>
                    </m:r>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𝑎</m:t>
                        </m:r>
                      </m:e>
                    </m:acc>
                    <m:r>
                      <a:rPr lang="vi-VN" sz="2400" b="0">
                        <a:solidFill>
                          <a:srgbClr val="1E293B"/>
                        </a:solidFill>
                        <a:latin typeface="Cambria Math" panose="02040503050406030204" pitchFamily="18" charset="0"/>
                      </a:rPr>
                      <m:t>= ?</m:t>
                    </m:r>
                  </m:oMath>
                </a14:m>
                <a:endParaRPr sz="2400">
                  <a:solidFill>
                    <a:srgbClr val="1E293B"/>
                  </a:solidFill>
                  <a:latin typeface="Calibri"/>
                </a:endParaRPr>
              </a:p>
            </p:txBody>
          </p:sp>
        </mc:Choice>
        <mc:Fallback xmlns="">
          <p:sp>
            <p:nvSpPr>
              <p:cNvPr id="15" name="TextBox 14"/>
              <p:cNvSpPr txBox="1"/>
              <p:nvPr/>
            </p:nvSpPr>
            <p:spPr>
              <a:xfrm>
                <a:off x="548640" y="4366259"/>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r>
                  <a:rPr lang="vi-VN"/>
                  <a:t>-\vec{a}=\ ?</a:t>
                </a:r>
              </a:p>
            </p:txBody>
          </p:sp>
        </mc:Fallback>
      </mc:AlternateContent>
      <p:sp>
        <p:nvSpPr>
          <p:cNvPr id="16" name="s3_nen"/>
          <p:cNvSpPr/>
          <p:nvPr/>
        </p:nvSpPr>
        <p:spPr>
          <a:xfrm>
            <a:off x="6309360" y="4320540"/>
            <a:ext cx="310896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7" name="s3_chu"/>
              <p:cNvSpPr txBox="1"/>
              <p:nvPr/>
            </p:nvSpPr>
            <p:spPr>
              <a:xfrm>
                <a:off x="6473952" y="4357116"/>
                <a:ext cx="2779776" cy="738378"/>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−1; −2; 2</m:t>
                        </m:r>
                      </m:e>
                    </m:d>
                  </m:oMath>
                </a14:m>
                <a:endParaRPr sz="2400">
                  <a:solidFill>
                    <a:srgbClr val="1E293B"/>
                  </a:solidFill>
                  <a:latin typeface="Calibri"/>
                </a:endParaRPr>
              </a:p>
            </p:txBody>
          </p:sp>
        </mc:Choice>
        <mc:Fallback xmlns="">
          <p:sp>
            <p:nvSpPr>
              <p:cNvPr id="17" name="TextBox 16"/>
              <p:cNvSpPr txBox="1"/>
              <p:nvPr/>
            </p:nvSpPr>
            <p:spPr>
              <a:xfrm>
                <a:off x="6473952" y="4357116"/>
                <a:ext cx="277977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(-1;\ -2;\ 2)</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48640" y="5314950"/>
                <a:ext cx="5669280" cy="857250"/>
              </a:xfrm>
              <a:prstGeom prst="rect">
                <a:avLst/>
              </a:prstGeom>
              <a:noFill/>
            </p:spPr>
            <p:txBody>
              <a:bodyPr wrap="square" lIns="45720" rIns="45720" anchor="t">
                <a:spAutoFit/>
              </a:bodyPr>
              <a:lstStyle/>
              <a:p>
                <a:pPr algn="l">
                  <a:spcAft>
                    <a:spcPts val="800"/>
                  </a:spcAft>
                </a:pPr>
                <a:r>
                  <a:rPr sz="2400" b="1">
                    <a:solidFill>
                      <a:srgbClr val="1E293B"/>
                    </a:solidFill>
                    <a:latin typeface="Calibri"/>
                  </a:rPr>
                  <a:t>4.</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𝑚</m:t>
                    </m:r>
                  </m:oMath>
                </a14:m>
                <a:r>
                  <a:rPr sz="2400">
                    <a:solidFill>
                      <a:srgbClr val="1E293B"/>
                    </a:solidFill>
                    <a:latin typeface="Calibri"/>
                  </a:rPr>
                  <a:t> để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2; 4; </m:t>
                        </m:r>
                        <m:r>
                          <a:rPr lang="vi-VN" sz="2400" b="0">
                            <a:solidFill>
                              <a:srgbClr val="1E293B"/>
                            </a:solidFill>
                            <a:latin typeface="Cambria Math" panose="02040503050406030204" pitchFamily="18" charset="0"/>
                          </a:rPr>
                          <m:t>𝑚</m:t>
                        </m:r>
                      </m:e>
                    </m:d>
                  </m:oMath>
                </a14:m>
                <a:r>
                  <a:rPr sz="2400">
                    <a:solidFill>
                      <a:srgbClr val="1E293B"/>
                    </a:solidFill>
                    <a:latin typeface="Calibri"/>
                  </a:rPr>
                  <a:t> cùng phương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𝑎</m:t>
                        </m:r>
                      </m:e>
                    </m:acc>
                  </m:oMath>
                </a14:m>
                <a:r>
                  <a:rPr sz="2400">
                    <a:solidFill>
                      <a:srgbClr val="1E293B"/>
                    </a:solidFill>
                    <a:latin typeface="Calibri"/>
                  </a:rPr>
                  <a:t>?</a:t>
                </a:r>
              </a:p>
            </p:txBody>
          </p:sp>
        </mc:Choice>
        <mc:Fallback xmlns="">
          <p:sp>
            <p:nvSpPr>
              <p:cNvPr id="18" name="TextBox 17"/>
              <p:cNvSpPr txBox="1"/>
              <p:nvPr/>
            </p:nvSpPr>
            <p:spPr>
              <a:xfrm>
                <a:off x="548640" y="5314950"/>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a:t>
                </a:r>
                <a:r>
                  <a:rPr lang="vi-VN"/>
                  <a:t>m</a:t>
                </a:r>
                <a:r>
                  <a:rPr sz="2400">
                    <a:solidFill>
                      <a:srgbClr val="1E293B"/>
                    </a:solidFill>
                    <a:latin typeface="Calibri"/>
                  </a:rPr>
                  <a:t> để </a:t>
                </a:r>
                <a:r>
                  <a:rPr lang="vi-VN"/>
                  <a:t>(2;\ 4;\ m)</a:t>
                </a:r>
                <a:r>
                  <a:rPr sz="2400">
                    <a:solidFill>
                      <a:srgbClr val="1E293B"/>
                    </a:solidFill>
                    <a:latin typeface="Calibri"/>
                  </a:rPr>
                  <a:t> cùng phương </a:t>
                </a:r>
                <a:r>
                  <a:rPr lang="vi-VN"/>
                  <a:t>\vec{a}</a:t>
                </a:r>
                <a:r>
                  <a:rPr sz="2400">
                    <a:solidFill>
                      <a:srgbClr val="1E293B"/>
                    </a:solidFill>
                    <a:latin typeface="Calibri"/>
                  </a:rPr>
                  <a:t>?</a:t>
                </a:r>
              </a:p>
            </p:txBody>
          </p:sp>
        </mc:Fallback>
      </mc:AlternateContent>
      <p:sp>
        <p:nvSpPr>
          <p:cNvPr id="19" name="s4_nen"/>
          <p:cNvSpPr/>
          <p:nvPr/>
        </p:nvSpPr>
        <p:spPr>
          <a:xfrm>
            <a:off x="6309360" y="5269230"/>
            <a:ext cx="310896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0" name="s4_chu"/>
              <p:cNvSpPr txBox="1"/>
              <p:nvPr/>
            </p:nvSpPr>
            <p:spPr>
              <a:xfrm>
                <a:off x="6473952" y="5305806"/>
                <a:ext cx="2779776" cy="738378"/>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𝑚</m:t>
                    </m:r>
                    <m:r>
                      <a:rPr lang="vi-VN" sz="2400" b="0">
                        <a:solidFill>
                          <a:srgbClr val="1E293B"/>
                        </a:solidFill>
                        <a:latin typeface="Cambria Math" panose="02040503050406030204" pitchFamily="18" charset="0"/>
                      </a:rPr>
                      <m:t>=−4</m:t>
                    </m:r>
                  </m:oMath>
                </a14:m>
                <a:endParaRPr sz="2400">
                  <a:solidFill>
                    <a:srgbClr val="1E293B"/>
                  </a:solidFill>
                  <a:latin typeface="Calibri"/>
                </a:endParaRPr>
              </a:p>
            </p:txBody>
          </p:sp>
        </mc:Choice>
        <mc:Fallback xmlns="">
          <p:sp>
            <p:nvSpPr>
              <p:cNvPr id="20" name="TextBox 19"/>
              <p:cNvSpPr txBox="1"/>
              <p:nvPr/>
            </p:nvSpPr>
            <p:spPr>
              <a:xfrm>
                <a:off x="6473952" y="5305806"/>
                <a:ext cx="277977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m=-4</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11</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7"/>
              <p:cNvSpPr txBox="1"/>
              <p:nvPr/>
            </p:nvSpPr>
            <p:spPr>
              <a:xfrm>
                <a:off x="713232" y="1499616"/>
                <a:ext cx="10735056" cy="963167"/>
              </a:xfrm>
              <a:prstGeom prst="rect">
                <a:avLst/>
              </a:prstGeom>
              <a:noFill/>
            </p:spPr>
            <p:txBody>
              <a:bodyPr wrap="square" lIns="45720" rIns="45720" anchor="ctr">
                <a:spAutoFit/>
              </a:bodyPr>
              <a:lstStyle/>
              <a:p>
                <a:pPr marL="365760" indent="-365760" algn="l">
                  <a:spcAft>
                    <a:spcPts val="800"/>
                  </a:spcAft>
                  <a:buClr>
                    <a:srgbClr val="1E40AF"/>
                  </a:buClr>
                  <a:buFont typeface="Arial"/>
                  <a:buChar char="•"/>
                </a:pP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𝑥</m:t>
                    </m:r>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𝑥</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𝑦</m:t>
                    </m:r>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𝑦</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𝑧</m:t>
                    </m:r>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𝑧</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𝑘</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𝑘𝑥</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𝑘𝑦</m:t>
                    </m:r>
                    <m: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𝑘𝑧</m:t>
                    </m:r>
                    <m:r>
                      <a:rPr lang="vi-VN" sz="2200" b="0">
                        <a:solidFill>
                          <a:srgbClr val="1E293B"/>
                        </a:solidFill>
                        <a:latin typeface="Cambria Math" panose="02040503050406030204" pitchFamily="18" charset="0"/>
                      </a:rPr>
                      <m:t>)</m:t>
                    </m:r>
                  </m:oMath>
                </a14:m>
                <a:r>
                  <a:rPr sz="2200">
                    <a:solidFill>
                      <a:srgbClr val="1E293B"/>
                    </a:solidFill>
                    <a:latin typeface="Calibri"/>
                  </a:rPr>
                  <a:t>.</a:t>
                </a:r>
              </a:p>
              <a:p>
                <a:pPr marL="365760" indent="-365760" algn="l">
                  <a:spcAft>
                    <a:spcPts val="800"/>
                  </a:spcAft>
                  <a:buClr>
                    <a:srgbClr val="1E40AF"/>
                  </a:buClr>
                  <a:buFont typeface="Arial"/>
                  <a:buChar char="•"/>
                </a:pPr>
                <a:r>
                  <a:rPr sz="2200">
                    <a:solidFill>
                      <a:srgbClr val="1E293B"/>
                    </a:solidFill>
                    <a:latin typeface="Calibri"/>
                  </a:rPr>
                  <a:t>Trung điểm, trọng tâm: trung bình cộng toạ độ các điểm.</a:t>
                </a:r>
              </a:p>
            </p:txBody>
          </p:sp>
        </mc:Choice>
        <mc:Fallback xmlns="">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\vec{a}\pm\vec{b}=(x\pm x';\ y\pm y';\ z\pm z')</a:t>
                </a:r>
                <a:r>
                  <a:rPr sz="2200">
                    <a:solidFill>
                      <a:srgbClr val="1E293B"/>
                    </a:solidFill>
                    <a:latin typeface="Calibri"/>
                  </a:rPr>
                  <a:t>; </a:t>
                </a:r>
                <a:r>
                  <a:rPr lang="vi-VN"/>
                  <a:t>k\vec{a}=(kx;\ ky;\ kz)</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Trung điểm, trọng tâm: trung bình cộng toạ độ các điểm.</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764536"/>
            <a:ext cx="10735056" cy="1399032"/>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Nhiệm vụ về nhà:</a:t>
            </a:r>
          </a:p>
          <a:p>
            <a:pPr marL="365760" indent="-365760" algn="l">
              <a:spcAft>
                <a:spcPts val="800"/>
              </a:spcAft>
              <a:buClr>
                <a:srgbClr val="1E40AF"/>
              </a:buClr>
              <a:buFont typeface="Arial"/>
              <a:buChar char="•"/>
            </a:pPr>
            <a:r>
              <a:rPr sz="2200">
                <a:solidFill>
                  <a:srgbClr val="1E293B"/>
                </a:solidFill>
                <a:latin typeface="Calibri"/>
              </a:rPr>
              <a:t>Làm Bài tập 2.20a, 2.22a (SGK tr.72).</a:t>
            </a:r>
          </a:p>
          <a:p>
            <a:pPr marL="365760" indent="-365760" algn="l">
              <a:spcAft>
                <a:spcPts val="800"/>
              </a:spcAft>
              <a:buClr>
                <a:srgbClr val="1E40AF"/>
              </a:buClr>
              <a:buFont typeface="Arial"/>
              <a:buChar char="•"/>
            </a:pPr>
            <a:r>
              <a:rPr sz="2200">
                <a:solidFill>
                  <a:srgbClr val="1E293B"/>
                </a:solidFill>
                <a:latin typeface="Calibri"/>
              </a:rPr>
              <a:t>Ôn lại tích vô hướng trong không gian (Bài 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(T38)</a:t>
            </a:r>
          </a:p>
          <a:p>
            <a:pPr>
              <a:spcAft>
                <a:spcPts val="600"/>
              </a:spcAft>
            </a:pPr>
            <a:r>
              <a:rPr sz="4000" b="1">
                <a:solidFill>
                  <a:srgbClr val="FFFFFF"/>
                </a:solidFill>
                <a:latin typeface="Cambria"/>
              </a:rPr>
              <a:t>Biểu thức toạ độ của tích vô hướng</a:t>
            </a:r>
          </a:p>
        </p:txBody>
      </p:sp>
      <p:sp>
        <p:nvSpPr>
          <p:cNvPr id="5" name="TextBox 4"/>
          <p:cNvSpPr txBox="1"/>
          <p:nvPr/>
        </p:nvSpPr>
        <p:spPr>
          <a:xfrm>
            <a:off x="1097280" y="4343400"/>
            <a:ext cx="10332720" cy="1828800"/>
          </a:xfrm>
          <a:prstGeom prst="rect">
            <a:avLst/>
          </a:prstGeom>
          <a:noFill/>
        </p:spPr>
        <p:txBody>
          <a:bodyPr wrap="square" lIns="45720" rIns="45720" anchor="t">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Tính tích vô hướng, độ dài, góc giữa hai vectơ theo toạ độ.</a:t>
            </a:r>
          </a:p>
          <a:p>
            <a:pPr algn="l">
              <a:spcAft>
                <a:spcPts val="800"/>
              </a:spcAft>
            </a:pPr>
            <a:r>
              <a:rPr sz="2200">
                <a:solidFill>
                  <a:srgbClr val="E0E7FF"/>
                </a:solidFill>
                <a:latin typeface="Calibri"/>
              </a:rPr>
              <a:t>• Vận dụng toạ độ trong bài toán theo dõi máy bay.</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BIỂU THỨC TOẠ ĐỘ CỦA TÍCH VÔ HƯỚNG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13</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783335"/>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HĐ3.</a:t>
                </a:r>
                <a:r>
                  <a:rPr sz="2000">
                    <a:solidFill>
                      <a:srgbClr val="1E293B"/>
                    </a:solidFill>
                    <a:latin typeface="Calibri"/>
                  </a:rPr>
                  <a:t> Cho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𝑧</m:t>
                    </m:r>
                    <m:r>
                      <a:rPr lang="vi-VN" sz="2000" b="0">
                        <a:solidFill>
                          <a:srgbClr val="1E293B"/>
                        </a:solidFill>
                        <a:latin typeface="Cambria Math" panose="02040503050406030204" pitchFamily="18" charset="0"/>
                      </a:rPr>
                      <m:t>)</m:t>
                    </m:r>
                  </m:oMath>
                </a14:m>
                <a:r>
                  <a:rPr sz="2000">
                    <a:solidFill>
                      <a:srgbClr val="1E293B"/>
                    </a:solidFill>
                    <a:latin typeface="Calibri"/>
                  </a:rPr>
                  <a:t> và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 </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 </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oMath>
                </a14:m>
                <a:r>
                  <a:rPr sz="2000">
                    <a:solidFill>
                      <a:srgbClr val="1E293B"/>
                    </a:solidFill>
                    <a:latin typeface="Calibri"/>
                  </a:rPr>
                  <a:t>. a) Giải thích vì sao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=1</m:t>
                    </m:r>
                  </m:oMath>
                </a14:m>
                <a:r>
                  <a:rPr sz="2000">
                    <a:solidFill>
                      <a:srgbClr val="1E293B"/>
                    </a:solidFill>
                    <a:latin typeface="Calibri"/>
                  </a:rPr>
                  <a:t> và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r>
                      <a:rPr lang="vi-VN" sz="2000" b="0">
                        <a:solidFill>
                          <a:srgbClr val="1E293B"/>
                        </a:solidFill>
                        <a:latin typeface="Cambria Math" panose="02040503050406030204" pitchFamily="18" charset="0"/>
                      </a:rPr>
                      <m:t>=0</m:t>
                    </m:r>
                  </m:oMath>
                </a14:m>
                <a:r>
                  <a:rPr sz="2000">
                    <a:solidFill>
                      <a:srgbClr val="1E293B"/>
                    </a:solidFill>
                    <a:latin typeface="Calibri"/>
                  </a:rPr>
                  <a:t>. b) Dùng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𝑦</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𝑧</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oMath>
                </a14:m>
                <a:r>
                  <a:rPr sz="2000">
                    <a:solidFill>
                      <a:srgbClr val="1E293B"/>
                    </a:solidFill>
                    <a:latin typeface="Calibri"/>
                  </a:rPr>
                  <a:t> để tính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oMath>
                </a14:m>
                <a:r>
                  <a:rPr sz="2000">
                    <a:solidFill>
                      <a:srgbClr val="1E293B"/>
                    </a:solidFill>
                    <a:latin typeface="Calibri"/>
                  </a:rPr>
                  <a:t>. c) Dùng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m:t>
                        </m:r>
                      </m:sup>
                    </m:sSup>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m:t>
                        </m:r>
                      </m:sup>
                    </m:sSup>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m:t>
                        </m:r>
                      </m:sup>
                    </m:sSup>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oMath>
                </a14:m>
                <a:r>
                  <a:rPr sz="2000">
                    <a:solidFill>
                      <a:srgbClr val="1E293B"/>
                    </a:solidFill>
                    <a:latin typeface="Calibri"/>
                  </a:rPr>
                  <a:t> để tính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oMath>
                </a14:m>
                <a:r>
                  <a:rPr sz="2000">
                    <a:solidFill>
                      <a:srgbClr val="1E293B"/>
                    </a:solidFill>
                    <a:latin typeface="Calibri"/>
                  </a:rPr>
                  <a:t>.</a:t>
                </a:r>
              </a:p>
            </p:txBody>
          </p:sp>
        </mc:Choice>
        <mc:Fallback xmlns="">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HĐ3.</a:t>
                </a:r>
                <a:r>
                  <a:rPr sz="2000">
                    <a:solidFill>
                      <a:srgbClr val="1E293B"/>
                    </a:solidFill>
                    <a:latin typeface="Calibri"/>
                  </a:rPr>
                  <a:t> Cho </a:t>
                </a:r>
                <a:r>
                  <a:rPr lang="vi-VN"/>
                  <a:t>\vec{a}=(x;\ y;\ z)</a:t>
                </a:r>
                <a:r>
                  <a:rPr sz="2000">
                    <a:solidFill>
                      <a:srgbClr val="1E293B"/>
                    </a:solidFill>
                    <a:latin typeface="Calibri"/>
                  </a:rPr>
                  <a:t> và </a:t>
                </a:r>
                <a:r>
                  <a:rPr lang="vi-VN"/>
                  <a:t>\vec{b}=(x';\ y';\ z')</a:t>
                </a:r>
                <a:r>
                  <a:rPr sz="2000">
                    <a:solidFill>
                      <a:srgbClr val="1E293B"/>
                    </a:solidFill>
                    <a:latin typeface="Calibri"/>
                  </a:rPr>
                  <a:t>. a) Giải thích vì sao </a:t>
                </a:r>
                <a:r>
                  <a:rPr lang="vi-VN"/>
                  <a:t>\vec{i}\cdot\vec{i}=1</a:t>
                </a:r>
                <a:r>
                  <a:rPr sz="2000">
                    <a:solidFill>
                      <a:srgbClr val="1E293B"/>
                    </a:solidFill>
                    <a:latin typeface="Calibri"/>
                  </a:rPr>
                  <a:t> và </a:t>
                </a:r>
                <a:r>
                  <a:rPr lang="vi-VN"/>
                  <a:t>\vec{i}\cdot\vec{j}=\vec{i}\cdot\vec{k}=0</a:t>
                </a:r>
                <a:r>
                  <a:rPr sz="2000">
                    <a:solidFill>
                      <a:srgbClr val="1E293B"/>
                    </a:solidFill>
                    <a:latin typeface="Calibri"/>
                  </a:rPr>
                  <a:t>. b) Dùng </a:t>
                </a:r>
                <a:r>
                  <a:rPr lang="vi-VN"/>
                  <a:t>\vec{a}=x\vec{i}+y\vec{j}+z\vec{k}</a:t>
                </a:r>
                <a:r>
                  <a:rPr sz="2000">
                    <a:solidFill>
                      <a:srgbClr val="1E293B"/>
                    </a:solidFill>
                    <a:latin typeface="Calibri"/>
                  </a:rPr>
                  <a:t> để tính </a:t>
                </a:r>
                <a:r>
                  <a:rPr lang="vi-VN"/>
                  <a:t>\vec{a}\cdot\vec{i}</a:t>
                </a:r>
                <a:r>
                  <a:rPr sz="2000">
                    <a:solidFill>
                      <a:srgbClr val="1E293B"/>
                    </a:solidFill>
                    <a:latin typeface="Calibri"/>
                  </a:rPr>
                  <a:t>, </a:t>
                </a:r>
                <a:r>
                  <a:rPr lang="vi-VN"/>
                  <a:t>\vec{a}\cdot\vec{j}</a:t>
                </a:r>
                <a:r>
                  <a:rPr sz="2000">
                    <a:solidFill>
                      <a:srgbClr val="1E293B"/>
                    </a:solidFill>
                    <a:latin typeface="Calibri"/>
                  </a:rPr>
                  <a:t>, </a:t>
                </a:r>
                <a:r>
                  <a:rPr lang="vi-VN"/>
                  <a:t>\vec{a}\cdot\vec{k}</a:t>
                </a:r>
                <a:r>
                  <a:rPr sz="2000">
                    <a:solidFill>
                      <a:srgbClr val="1E293B"/>
                    </a:solidFill>
                    <a:latin typeface="Calibri"/>
                  </a:rPr>
                  <a:t>. c) Dùng </a:t>
                </a:r>
                <a:r>
                  <a:rPr lang="vi-VN"/>
                  <a:t>\vec{b}=x'\vec{i}+y'\vec{j}+z'\vec{k}</a:t>
                </a:r>
                <a:r>
                  <a:rPr sz="2000">
                    <a:solidFill>
                      <a:srgbClr val="1E293B"/>
                    </a:solidFill>
                    <a:latin typeface="Calibri"/>
                  </a:rPr>
                  <a:t> để tính </a:t>
                </a:r>
                <a:r>
                  <a:rPr lang="vi-VN"/>
                  <a:t>\vec{a}\cdot\vec{b}</a:t>
                </a:r>
                <a:r>
                  <a:rPr sz="2000">
                    <a:solidFill>
                      <a:srgbClr val="1E293B"/>
                    </a:solidFill>
                    <a:latin typeface="Calibri"/>
                  </a:rPr>
                  <a:t>.</a:t>
                </a:r>
              </a:p>
            </p:txBody>
          </p:sp>
        </mc:Fallback>
      </mc:AlternateContent>
      <p:sp>
        <p:nvSpPr>
          <p:cNvPr id="8" name="s1_nen"/>
          <p:cNvSpPr/>
          <p:nvPr/>
        </p:nvSpPr>
        <p:spPr>
          <a:xfrm>
            <a:off x="548640" y="2218944"/>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255520"/>
                <a:ext cx="1073505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a)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=1</m:t>
                    </m:r>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oMath>
                </a14:m>
                <a:r>
                  <a:rPr sz="2000">
                    <a:solidFill>
                      <a:srgbClr val="1E293B"/>
                    </a:solidFill>
                    <a:latin typeface="Calibri"/>
                  </a:rPr>
                  <a:t> nên các tích bằng 0.</a:t>
                </a:r>
              </a:p>
            </p:txBody>
          </p:sp>
        </mc:Choice>
        <mc:Fallback xmlns="">
          <p:sp>
            <p:nvSpPr>
              <p:cNvPr id="9" name="TextBox 8"/>
              <p:cNvSpPr txBox="1"/>
              <p:nvPr/>
            </p:nvSpPr>
            <p:spPr>
              <a:xfrm>
                <a:off x="713232" y="2255520"/>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\vec{i}\cdot\vec{i}=|\vec{i}|^2=1</a:t>
                </a:r>
                <a:r>
                  <a:rPr sz="2000">
                    <a:solidFill>
                      <a:srgbClr val="1E293B"/>
                    </a:solidFill>
                    <a:latin typeface="Calibri"/>
                  </a:rPr>
                  <a:t>; </a:t>
                </a:r>
                <a:r>
                  <a:rPr lang="vi-VN"/>
                  <a:t>\vec{i}\perp\vec{j}</a:t>
                </a:r>
                <a:r>
                  <a:rPr sz="2000">
                    <a:solidFill>
                      <a:srgbClr val="1E293B"/>
                    </a:solidFill>
                    <a:latin typeface="Calibri"/>
                  </a:rPr>
                  <a:t>, </a:t>
                </a:r>
                <a:r>
                  <a:rPr lang="vi-VN"/>
                  <a:t>\vec{i}\perp\vec{k}</a:t>
                </a:r>
                <a:r>
                  <a:rPr sz="2000">
                    <a:solidFill>
                      <a:srgbClr val="1E293B"/>
                    </a:solidFill>
                    <a:latin typeface="Calibri"/>
                  </a:rPr>
                  <a:t> nên các tích bằng 0.</a:t>
                </a:r>
              </a:p>
            </p:txBody>
          </p:sp>
        </mc:Fallback>
      </mc:AlternateContent>
      <p:sp>
        <p:nvSpPr>
          <p:cNvPr id="10" name="s2_nen"/>
          <p:cNvSpPr/>
          <p:nvPr/>
        </p:nvSpPr>
        <p:spPr>
          <a:xfrm>
            <a:off x="548640" y="2852927"/>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2889503"/>
                <a:ext cx="1073505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b)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𝑖</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𝑗</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𝑦</m:t>
                    </m:r>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𝑘</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𝑧</m:t>
                    </m:r>
                  </m:oMath>
                </a14:m>
                <a:r>
                  <a:rPr sz="2000">
                    <a:solidFill>
                      <a:srgbClr val="1E293B"/>
                    </a:solidFill>
                    <a:latin typeface="Calibri"/>
                  </a:rPr>
                  <a:t>. c)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𝑦</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𝑧</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xmlns="">
          <p:sp>
            <p:nvSpPr>
              <p:cNvPr id="11" name="TextBox 10"/>
              <p:cNvSpPr txBox="1"/>
              <p:nvPr/>
            </p:nvSpPr>
            <p:spPr>
              <a:xfrm>
                <a:off x="713232" y="2889503"/>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\vec{a}\cdot\vec{i}=x</a:t>
                </a:r>
                <a:r>
                  <a:rPr sz="2000">
                    <a:solidFill>
                      <a:srgbClr val="1E293B"/>
                    </a:solidFill>
                    <a:latin typeface="Calibri"/>
                  </a:rPr>
                  <a:t>, </a:t>
                </a:r>
                <a:r>
                  <a:rPr lang="vi-VN"/>
                  <a:t>\vec{a}\cdot\vec{j}=y</a:t>
                </a:r>
                <a:r>
                  <a:rPr sz="2000">
                    <a:solidFill>
                      <a:srgbClr val="1E293B"/>
                    </a:solidFill>
                    <a:latin typeface="Calibri"/>
                  </a:rPr>
                  <a:t>, </a:t>
                </a:r>
                <a:r>
                  <a:rPr lang="vi-VN"/>
                  <a:t>\vec{a}\cdot\vec{k}=z</a:t>
                </a:r>
                <a:r>
                  <a:rPr sz="2000">
                    <a:solidFill>
                      <a:srgbClr val="1E293B"/>
                    </a:solidFill>
                    <a:latin typeface="Calibri"/>
                  </a:rPr>
                  <a:t>. c) </a:t>
                </a:r>
                <a:r>
                  <a:rPr lang="vi-VN"/>
                  <a:t>\vec{a}\cdot\vec{b}=xx'+yy'+zz'</a:t>
                </a:r>
                <a:r>
                  <a:rPr sz="2000">
                    <a:solidFill>
                      <a:srgbClr val="1E293B"/>
                    </a:solidFill>
                    <a:latin typeface="Calibri"/>
                  </a:rPr>
                  <a:t>.</a:t>
                </a:r>
              </a:p>
            </p:txBody>
          </p:sp>
        </mc:Fallback>
      </mc:AlternateContent>
      <p:sp>
        <p:nvSpPr>
          <p:cNvPr id="12" name="s3_nen"/>
          <p:cNvSpPr/>
          <p:nvPr/>
        </p:nvSpPr>
        <p:spPr>
          <a:xfrm>
            <a:off x="548640" y="3486911"/>
            <a:ext cx="11064240" cy="56997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3523487"/>
                <a:ext cx="10735056" cy="496824"/>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Tích vô hướng của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𝑎</m:t>
                        </m:r>
                      </m:e>
                    </m:acc>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𝑥</m:t>
                    </m:r>
                    <m: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𝑦</m:t>
                    </m:r>
                    <m: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𝑧</m:t>
                    </m:r>
                    <m:r>
                      <a:rPr lang="vi-VN" sz="2400" b="0">
                        <a:solidFill>
                          <a:srgbClr val="1E293B"/>
                        </a:solidFill>
                        <a:latin typeface="Cambria Math" panose="02040503050406030204" pitchFamily="18" charset="0"/>
                      </a:rPr>
                      <m:t>)</m:t>
                    </m:r>
                  </m:oMath>
                </a14:m>
                <a:r>
                  <a:rPr sz="2400">
                    <a:solidFill>
                      <a:srgbClr val="1E293B"/>
                    </a:solidFill>
                    <a:latin typeface="Calibri"/>
                  </a:rPr>
                  <a:t> và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𝑏</m:t>
                        </m:r>
                      </m:e>
                    </m:acc>
                    <m:r>
                      <a:rPr lang="vi-VN" sz="2400" b="0">
                        <a:solidFill>
                          <a:srgbClr val="1E293B"/>
                        </a:solidFill>
                        <a:latin typeface="Cambria Math" panose="02040503050406030204" pitchFamily="18" charset="0"/>
                      </a:rPr>
                      <m:t>=(</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𝑥</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 </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𝑦</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 </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𝑧</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oMath>
                </a14:m>
                <a:r>
                  <a:rPr sz="2400">
                    <a:solidFill>
                      <a:srgbClr val="1E293B"/>
                    </a:solidFill>
                    <a:latin typeface="Calibri"/>
                  </a:rPr>
                  <a:t>: </a:t>
                </a:r>
                <a14:m>
                  <m:oMath xmlns:m="http://schemas.openxmlformats.org/officeDocument/2006/math">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𝑎</m:t>
                        </m:r>
                      </m:e>
                    </m:acc>
                    <m:r>
                      <a:rPr lang="vi-VN" sz="2400" b="0">
                        <a:solidFill>
                          <a:srgbClr val="1E293B"/>
                        </a:solidFill>
                        <a:latin typeface="Cambria Math" panose="02040503050406030204" pitchFamily="18" charset="0"/>
                      </a:rPr>
                      <m:t>·</m:t>
                    </m:r>
                    <m:acc>
                      <m:accPr>
                        <m:chr m:val="⃗"/>
                        <m:ctrlPr>
                          <a:rPr lang="vi-VN" sz="2400" b="0">
                            <a:solidFill>
                              <a:srgbClr val="1E293B"/>
                            </a:solidFill>
                            <a:latin typeface="Cambria Math" panose="02040503050406030204" pitchFamily="18" charset="0"/>
                          </a:rPr>
                        </m:ctrlPr>
                      </m:accPr>
                      <m:e>
                        <m:r>
                          <a:rPr lang="vi-VN" sz="2400" b="0">
                            <a:solidFill>
                              <a:srgbClr val="1E293B"/>
                            </a:solidFill>
                            <a:latin typeface="Cambria Math" panose="02040503050406030204" pitchFamily="18" charset="0"/>
                          </a:rPr>
                          <m:t>𝑏</m:t>
                        </m:r>
                      </m:e>
                    </m:acc>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𝑥</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𝑥</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𝑦</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𝑦</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𝑧</m:t>
                    </m:r>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𝑧</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p:txBody>
          </p:sp>
        </mc:Choice>
        <mc:Fallback xmlns="">
          <p:sp>
            <p:nvSpPr>
              <p:cNvPr id="13" name="TextBox 12"/>
              <p:cNvSpPr txBox="1"/>
              <p:nvPr/>
            </p:nvSpPr>
            <p:spPr>
              <a:xfrm>
                <a:off x="713232" y="3523487"/>
                <a:ext cx="10735056" cy="49682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Tích vô hướng của </a:t>
                </a:r>
                <a:r>
                  <a:rPr lang="vi-VN"/>
                  <a:t>\vec{a}=(x;\ y;\ z)</a:t>
                </a:r>
                <a:r>
                  <a:rPr sz="2400">
                    <a:solidFill>
                      <a:srgbClr val="1E293B"/>
                    </a:solidFill>
                    <a:latin typeface="Calibri"/>
                  </a:rPr>
                  <a:t> và </a:t>
                </a:r>
                <a:r>
                  <a:rPr lang="vi-VN"/>
                  <a:t>\vec{b}=(x';\ y';\ z')</a:t>
                </a:r>
                <a:r>
                  <a:rPr sz="2400">
                    <a:solidFill>
                      <a:srgbClr val="1E293B"/>
                    </a:solidFill>
                    <a:latin typeface="Calibri"/>
                  </a:rPr>
                  <a:t>: </a:t>
                </a:r>
                <a:r>
                  <a:rPr lang="vi-VN"/>
                  <a:t>\vec{a}\cdot\vec{b}=xx'+yy'+zz'</a:t>
                </a:r>
                <a:r>
                  <a:rPr sz="24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4" name="s4_chu"/>
              <p:cNvSpPr txBox="1"/>
              <p:nvPr/>
            </p:nvSpPr>
            <p:spPr>
              <a:xfrm>
                <a:off x="548640" y="4120896"/>
                <a:ext cx="11064240" cy="920495"/>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Nhận xét.</a:t>
                </a:r>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𝑥</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𝑦</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𝑧</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2</m:t>
                            </m:r>
                          </m:sup>
                        </m:sSup>
                      </m:e>
                    </m:rad>
                  </m:oMath>
                </a14:m>
                <a:r>
                  <a:rPr sz="2000">
                    <a:solidFill>
                      <a:srgbClr val="1E293B"/>
                    </a:solidFill>
                    <a:latin typeface="Calibri"/>
                  </a:rPr>
                  <a:t>; </a:t>
                </a:r>
                <a14:m>
                  <m:oMath xmlns:m="http://schemas.openxmlformats.org/officeDocument/2006/math">
                    <m:r>
                      <m:rPr>
                        <m:sty m:val="p"/>
                      </m:rPr>
                      <a:rPr lang="vi-VN" sz="2000" b="0">
                        <a:solidFill>
                          <a:srgbClr val="1E293B"/>
                        </a:solidFill>
                        <a:latin typeface="Cambria Math" panose="02040503050406030204" pitchFamily="18" charset="0"/>
                      </a:rPr>
                      <m:t>cos</m:t>
                    </m:r>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m:t>
                    </m:r>
                    <m:f>
                      <m:fPr>
                        <m:ctrlPr>
                          <a:rPr lang="vi-VN" sz="2000" b="0">
                            <a:solidFill>
                              <a:srgbClr val="1E293B"/>
                            </a:solidFill>
                            <a:latin typeface="Cambria Math" panose="02040503050406030204" pitchFamily="18" charset="0"/>
                          </a:rPr>
                        </m:ctrlPr>
                      </m:fPr>
                      <m:num>
                        <m:r>
                          <a:rPr lang="vi-VN" sz="2000" b="0">
                            <a:solidFill>
                              <a:srgbClr val="1E293B"/>
                            </a:solidFill>
                            <a:latin typeface="Cambria Math" panose="02040503050406030204" pitchFamily="18" charset="0"/>
                          </a:rPr>
                          <m:t>𝑥</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𝑦</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𝑧</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m:t>
                            </m:r>
                          </m:sup>
                        </m:sSup>
                      </m:num>
                      <m:den>
                        <m:rad>
                          <m:radPr>
                            <m:degHide m:val="on"/>
                            <m:ctrlPr>
                              <a:rPr lang="vi-VN" sz="2000" b="0" i="1">
                                <a:solidFill>
                                  <a:srgbClr val="1E293B"/>
                                </a:solidFill>
                                <a:latin typeface="Cambria Math" panose="02040503050406030204" pitchFamily="18" charset="0"/>
                              </a:rPr>
                            </m:ctrlPr>
                          </m:radPr>
                          <m:deg/>
                          <m:e>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2</m:t>
                                </m:r>
                              </m:sup>
                            </m:sSup>
                          </m:e>
                        </m:rad>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𝑥</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𝑦</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𝑧</m:t>
                                </m:r>
                              </m:e>
                              <m:sup>
                                <m:r>
                                  <a:rPr lang="vi-VN" sz="2000" b="0">
                                    <a:solidFill>
                                      <a:srgbClr val="1E293B"/>
                                    </a:solidFill>
                                    <a:latin typeface="Cambria Math" panose="02040503050406030204" pitchFamily="18" charset="0"/>
                                  </a:rPr>
                                  <m:t>′2</m:t>
                                </m:r>
                              </m:sup>
                            </m:sSup>
                          </m:e>
                        </m:rad>
                      </m:den>
                    </m:f>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𝑎</m:t>
                        </m:r>
                      </m:e>
                    </m:acc>
                    <m:r>
                      <a:rPr lang="vi-VN" sz="2000" b="0">
                        <a:solidFill>
                          <a:srgbClr val="1E293B"/>
                        </a:solidFill>
                        <a:latin typeface="Cambria Math" panose="02040503050406030204" pitchFamily="18" charset="0"/>
                      </a:rPr>
                      <m:t>, </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𝑏</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0</m:t>
                        </m:r>
                      </m:e>
                    </m:acc>
                  </m:oMath>
                </a14:m>
                <a:r>
                  <a:rPr sz="2000">
                    <a:solidFill>
                      <a:srgbClr val="1E293B"/>
                    </a:solidFill>
                    <a:latin typeface="Calibri"/>
                  </a:rPr>
                  <a:t>).</a:t>
                </a:r>
              </a:p>
            </p:txBody>
          </p:sp>
        </mc:Choice>
        <mc:Fallback xmlns="">
          <p:sp>
            <p:nvSpPr>
              <p:cNvPr id="14" name="TextBox 13"/>
              <p:cNvSpPr txBox="1"/>
              <p:nvPr/>
            </p:nvSpPr>
            <p:spPr>
              <a:xfrm>
                <a:off x="548640" y="4120896"/>
                <a:ext cx="11064240"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Nhận xét.</a:t>
                </a:r>
                <a:r>
                  <a:rPr sz="2000">
                    <a:solidFill>
                      <a:srgbClr val="1E293B"/>
                    </a:solidFill>
                    <a:latin typeface="Calibri"/>
                  </a:rPr>
                  <a:t> </a:t>
                </a:r>
                <a:r>
                  <a:rPr lang="vi-VN"/>
                  <a:t>\vec{a}\perp\vec{b}</a:t>
                </a:r>
                <a:r>
                  <a:rPr sz="2000">
                    <a:solidFill>
                      <a:srgbClr val="1E293B"/>
                    </a:solidFill>
                    <a:latin typeface="Calibri"/>
                  </a:rPr>
                  <a:t> ⇔ </a:t>
                </a:r>
                <a:r>
                  <a:rPr lang="vi-VN"/>
                  <a:t>xx'+yy'+zz'=0</a:t>
                </a:r>
                <a:r>
                  <a:rPr sz="2000">
                    <a:solidFill>
                      <a:srgbClr val="1E293B"/>
                    </a:solidFill>
                    <a:latin typeface="Calibri"/>
                  </a:rPr>
                  <a:t>; </a:t>
                </a:r>
                <a:r>
                  <a:rPr lang="vi-VN"/>
                  <a:t>|\vec{a}|=\sqrt{x^2+y^2+z^2}</a:t>
                </a:r>
                <a:r>
                  <a:rPr sz="2000">
                    <a:solidFill>
                      <a:srgbClr val="1E293B"/>
                    </a:solidFill>
                    <a:latin typeface="Calibri"/>
                  </a:rPr>
                  <a:t>; </a:t>
                </a:r>
                <a:r>
                  <a:rPr lang="vi-VN"/>
                  <a:t>\cos(\vec{a},\vec{b})=\frac{xx'+yy'+zz'}{\sqrt{x^2+y^2+z^2}\cdot\sqrt{x'^2+y'^2+z'^2}}</a:t>
                </a:r>
                <a:r>
                  <a:rPr sz="2000">
                    <a:solidFill>
                      <a:srgbClr val="1E293B"/>
                    </a:solidFill>
                    <a:latin typeface="Calibri"/>
                  </a:rPr>
                  <a:t> (</a:t>
                </a:r>
                <a:r>
                  <a:rPr lang="vi-VN"/>
                  <a:t>\vec{a},\ \vec{b}\ne\vec{0}</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 LUYỆN TẬP 3 (SGK TR.69)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14</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1225296"/>
              </a:xfrm>
              <a:prstGeom prst="rect">
                <a:avLst/>
              </a:prstGeom>
              <a:noFill/>
            </p:spPr>
            <p:txBody>
              <a:bodyPr wrap="square" lIns="45720" rIns="45720" anchor="t">
                <a:spAutoFit/>
              </a:bodyPr>
              <a:lstStyle/>
              <a:p>
                <a:pPr algn="l">
                  <a:spcAft>
                    <a:spcPts val="800"/>
                  </a:spcAft>
                </a:pPr>
                <a:r>
                  <a:rPr sz="2300" b="1">
                    <a:solidFill>
                      <a:srgbClr val="1E293B"/>
                    </a:solidFill>
                    <a:latin typeface="Calibri"/>
                  </a:rPr>
                  <a:t>Ví dụ 3.</a:t>
                </a:r>
                <a:r>
                  <a:rPr sz="2300">
                    <a:solidFill>
                      <a:srgbClr val="1E293B"/>
                    </a:solidFill>
                    <a:latin typeface="Calibri"/>
                  </a:rPr>
                  <a:t> Cho hai vectơ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=(1; 4; 2)</m:t>
                    </m:r>
                  </m:oMath>
                </a14:m>
                <a:r>
                  <a:rPr sz="2300">
                    <a:solidFill>
                      <a:srgbClr val="1E293B"/>
                    </a:solidFill>
                    <a:latin typeface="Calibri"/>
                  </a:rPr>
                  <a:t> và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r>
                      <a:rPr lang="vi-VN" sz="2300" b="0">
                        <a:solidFill>
                          <a:srgbClr val="1E293B"/>
                        </a:solidFill>
                        <a:latin typeface="Cambria Math" panose="02040503050406030204" pitchFamily="18" charset="0"/>
                      </a:rPr>
                      <m:t>=(−4; 1; 0)</m:t>
                    </m:r>
                  </m:oMath>
                </a14:m>
                <a:r>
                  <a:rPr sz="2300">
                    <a:solidFill>
                      <a:srgbClr val="1E293B"/>
                    </a:solidFill>
                    <a:latin typeface="Calibri"/>
                  </a:rPr>
                  <a:t>. a) Tính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oMath>
                </a14:m>
                <a:r>
                  <a:rPr sz="2300">
                    <a:solidFill>
                      <a:srgbClr val="1E293B"/>
                    </a:solidFill>
                    <a:latin typeface="Calibri"/>
                  </a:rPr>
                  <a:t> và cho biết hai vectơ có vuông góc với nhau hay không. b) Tính độ dài của vectơ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oMath>
                </a14:m>
                <a:r>
                  <a:rPr sz="2300">
                    <a:solidFill>
                      <a:srgbClr val="1E293B"/>
                    </a:solidFill>
                    <a:latin typeface="Calibri"/>
                  </a:rPr>
                  <a:t>.</a:t>
                </a:r>
              </a:p>
            </p:txBody>
          </p:sp>
        </mc:Choice>
        <mc:Fallback xmlns="">
          <p:sp>
            <p:nvSpPr>
              <p:cNvPr id="7" name="TextBox 6"/>
              <p:cNvSpPr txBox="1"/>
              <p:nvPr/>
            </p:nvSpPr>
            <p:spPr>
              <a:xfrm>
                <a:off x="548640" y="1371600"/>
                <a:ext cx="11064240" cy="1225296"/>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3.</a:t>
                </a:r>
                <a:r>
                  <a:rPr sz="2300">
                    <a:solidFill>
                      <a:srgbClr val="1E293B"/>
                    </a:solidFill>
                    <a:latin typeface="Calibri"/>
                  </a:rPr>
                  <a:t> Cho hai vectơ </a:t>
                </a:r>
                <a:r>
                  <a:rPr lang="vi-VN"/>
                  <a:t>\vec{a}=(1;\ 4;\ 2)</a:t>
                </a:r>
                <a:r>
                  <a:rPr sz="2300">
                    <a:solidFill>
                      <a:srgbClr val="1E293B"/>
                    </a:solidFill>
                    <a:latin typeface="Calibri"/>
                  </a:rPr>
                  <a:t> và </a:t>
                </a:r>
                <a:r>
                  <a:rPr lang="vi-VN"/>
                  <a:t>\vec{b}=(-4;\ 1;\ 0)</a:t>
                </a:r>
                <a:r>
                  <a:rPr sz="2300">
                    <a:solidFill>
                      <a:srgbClr val="1E293B"/>
                    </a:solidFill>
                    <a:latin typeface="Calibri"/>
                  </a:rPr>
                  <a:t>. a) Tính </a:t>
                </a:r>
                <a:r>
                  <a:rPr lang="vi-VN"/>
                  <a:t>\vec{a}\cdot\vec{b}</a:t>
                </a:r>
                <a:r>
                  <a:rPr sz="2300">
                    <a:solidFill>
                      <a:srgbClr val="1E293B"/>
                    </a:solidFill>
                    <a:latin typeface="Calibri"/>
                  </a:rPr>
                  <a:t> và cho biết hai vectơ có vuông góc với nhau hay không. b) Tính độ dài của vectơ </a:t>
                </a:r>
                <a:r>
                  <a:rPr lang="vi-VN"/>
                  <a:t>\vec{a}</a:t>
                </a:r>
                <a:r>
                  <a:rPr sz="2300">
                    <a:solidFill>
                      <a:srgbClr val="1E293B"/>
                    </a:solidFill>
                    <a:latin typeface="Calibri"/>
                  </a:rPr>
                  <a:t>.</a:t>
                </a:r>
              </a:p>
            </p:txBody>
          </p:sp>
        </mc:Fallback>
      </mc:AlternateContent>
      <p:sp>
        <p:nvSpPr>
          <p:cNvPr id="8" name="s1_nen"/>
          <p:cNvSpPr/>
          <p:nvPr/>
        </p:nvSpPr>
        <p:spPr>
          <a:xfrm>
            <a:off x="548640" y="2706624"/>
            <a:ext cx="11064240" cy="615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743200"/>
                <a:ext cx="10735056" cy="542543"/>
              </a:xfrm>
              <a:prstGeom prst="rect">
                <a:avLst/>
              </a:prstGeom>
              <a:noFill/>
            </p:spPr>
            <p:txBody>
              <a:bodyPr wrap="square" lIns="45720" rIns="45720" anchor="ctr">
                <a:spAutoFit/>
              </a:bodyPr>
              <a:lstStyle/>
              <a:p>
                <a:pPr algn="l">
                  <a:spcAft>
                    <a:spcPts val="800"/>
                  </a:spcAft>
                </a:pPr>
                <a:r>
                  <a:rPr sz="2300">
                    <a:solidFill>
                      <a:srgbClr val="1E293B"/>
                    </a:solidFill>
                    <a:latin typeface="Calibri"/>
                  </a:rPr>
                  <a:t>a)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r>
                      <a:rPr lang="vi-VN" sz="2300" b="0">
                        <a:solidFill>
                          <a:srgbClr val="1E293B"/>
                        </a:solidFill>
                        <a:latin typeface="Cambria Math" panose="02040503050406030204" pitchFamily="18" charset="0"/>
                      </a:rPr>
                      <m:t>=1·(−4)+4·1+2·0=0</m:t>
                    </m:r>
                  </m:oMath>
                </a14:m>
                <a:r>
                  <a:rPr sz="2300">
                    <a:solidFill>
                      <a:srgbClr val="1E293B"/>
                    </a:solidFill>
                    <a:latin typeface="Calibri"/>
                  </a:rPr>
                  <a:t> ⇒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oMath>
                </a14:m>
                <a:r>
                  <a:rPr sz="2300">
                    <a:solidFill>
                      <a:srgbClr val="1E293B"/>
                    </a:solidFill>
                    <a:latin typeface="Calibri"/>
                  </a:rPr>
                  <a:t>.</a:t>
                </a:r>
              </a:p>
            </p:txBody>
          </p:sp>
        </mc:Choice>
        <mc:Fallback xmlns="">
          <p:sp>
            <p:nvSpPr>
              <p:cNvPr id="9" name="TextBox 8"/>
              <p:cNvSpPr txBox="1"/>
              <p:nvPr/>
            </p:nvSpPr>
            <p:spPr>
              <a:xfrm>
                <a:off x="713232" y="2743200"/>
                <a:ext cx="1073505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a) </a:t>
                </a:r>
                <a:r>
                  <a:rPr lang="vi-VN"/>
                  <a:t>\vec{a}\cdot\vec{b}=1\cdot(-4)+4\cdot 1+2\cdot 0=0</a:t>
                </a:r>
                <a:r>
                  <a:rPr sz="2300">
                    <a:solidFill>
                      <a:srgbClr val="1E293B"/>
                    </a:solidFill>
                    <a:latin typeface="Calibri"/>
                  </a:rPr>
                  <a:t> ⇒ </a:t>
                </a:r>
                <a:r>
                  <a:rPr lang="vi-VN"/>
                  <a:t>\vec{a}\perp\vec{b}</a:t>
                </a:r>
                <a:r>
                  <a:rPr sz="2300">
                    <a:solidFill>
                      <a:srgbClr val="1E293B"/>
                    </a:solidFill>
                    <a:latin typeface="Calibri"/>
                  </a:rPr>
                  <a:t>.</a:t>
                </a:r>
              </a:p>
            </p:txBody>
          </p:sp>
        </mc:Fallback>
      </mc:AlternateContent>
      <p:sp>
        <p:nvSpPr>
          <p:cNvPr id="10" name="s2_nen"/>
          <p:cNvSpPr/>
          <p:nvPr/>
        </p:nvSpPr>
        <p:spPr>
          <a:xfrm>
            <a:off x="548640" y="3432048"/>
            <a:ext cx="11064240" cy="615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468624"/>
                <a:ext cx="10735056" cy="542543"/>
              </a:xfrm>
              <a:prstGeom prst="rect">
                <a:avLst/>
              </a:prstGeom>
              <a:noFill/>
            </p:spPr>
            <p:txBody>
              <a:bodyPr wrap="square" lIns="45720" rIns="45720" anchor="ctr">
                <a:spAutoFit/>
              </a:bodyPr>
              <a:lstStyle/>
              <a:p>
                <a:pPr algn="l">
                  <a:spcAft>
                    <a:spcPts val="800"/>
                  </a:spcAft>
                </a:pPr>
                <a:r>
                  <a:rPr sz="2300">
                    <a:solidFill>
                      <a:srgbClr val="1E293B"/>
                    </a:solidFill>
                    <a:latin typeface="Calibri"/>
                  </a:rPr>
                  <a:t>b) </a:t>
                </a:r>
                <a14:m>
                  <m:oMath xmlns:m="http://schemas.openxmlformats.org/officeDocument/2006/math">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m:t>
                    </m:r>
                    <m:rad>
                      <m:radPr>
                        <m:degHide m:val="on"/>
                        <m:ctrlPr>
                          <a:rPr lang="vi-VN" sz="2300" b="0" i="1">
                            <a:solidFill>
                              <a:srgbClr val="1E293B"/>
                            </a:solidFill>
                            <a:latin typeface="Cambria Math" panose="02040503050406030204" pitchFamily="18" charset="0"/>
                          </a:rPr>
                        </m:ctrlPr>
                      </m:radPr>
                      <m:deg/>
                      <m:e>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1</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4</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m:t>
                        </m:r>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2</m:t>
                            </m:r>
                          </m:e>
                          <m:sup>
                            <m:r>
                              <a:rPr lang="vi-VN" sz="2300" b="0">
                                <a:solidFill>
                                  <a:srgbClr val="1E293B"/>
                                </a:solidFill>
                                <a:latin typeface="Cambria Math" panose="02040503050406030204" pitchFamily="18" charset="0"/>
                              </a:rPr>
                              <m:t>2</m:t>
                            </m:r>
                          </m:sup>
                        </m:sSup>
                      </m:e>
                    </m:rad>
                    <m:r>
                      <a:rPr lang="vi-VN" sz="2300" b="0">
                        <a:solidFill>
                          <a:srgbClr val="1E293B"/>
                        </a:solidFill>
                        <a:latin typeface="Cambria Math" panose="02040503050406030204" pitchFamily="18" charset="0"/>
                      </a:rPr>
                      <m:t>=</m:t>
                    </m:r>
                    <m:rad>
                      <m:radPr>
                        <m:degHide m:val="on"/>
                        <m:ctrlPr>
                          <a:rPr lang="vi-VN" sz="2300" b="0" i="1">
                            <a:solidFill>
                              <a:srgbClr val="1E293B"/>
                            </a:solidFill>
                            <a:latin typeface="Cambria Math" panose="02040503050406030204" pitchFamily="18" charset="0"/>
                          </a:rPr>
                        </m:ctrlPr>
                      </m:radPr>
                      <m:deg/>
                      <m:e>
                        <m:r>
                          <a:rPr lang="vi-VN" sz="2300" b="0">
                            <a:solidFill>
                              <a:srgbClr val="1E293B"/>
                            </a:solidFill>
                            <a:latin typeface="Cambria Math" panose="02040503050406030204" pitchFamily="18" charset="0"/>
                          </a:rPr>
                          <m:t>21</m:t>
                        </m:r>
                      </m:e>
                    </m:rad>
                  </m:oMath>
                </a14:m>
                <a:r>
                  <a:rPr sz="2300">
                    <a:solidFill>
                      <a:srgbClr val="1E293B"/>
                    </a:solidFill>
                    <a:latin typeface="Calibri"/>
                  </a:rPr>
                  <a:t>.</a:t>
                </a:r>
              </a:p>
            </p:txBody>
          </p:sp>
        </mc:Choice>
        <mc:Fallback xmlns="">
          <p:sp>
            <p:nvSpPr>
              <p:cNvPr id="11" name="TextBox 10"/>
              <p:cNvSpPr txBox="1"/>
              <p:nvPr/>
            </p:nvSpPr>
            <p:spPr>
              <a:xfrm>
                <a:off x="713232" y="3468624"/>
                <a:ext cx="1073505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b) </a:t>
                </a:r>
                <a:r>
                  <a:rPr lang="vi-VN"/>
                  <a:t>|\vec{a}|=\sqrt{1^2+4^2+2^2}=\sqrt{21}</a:t>
                </a:r>
                <a:r>
                  <a:rPr sz="23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2" name="s3_chu"/>
              <p:cNvSpPr txBox="1"/>
              <p:nvPr/>
            </p:nvSpPr>
            <p:spPr>
              <a:xfrm>
                <a:off x="548640" y="4157472"/>
                <a:ext cx="11064240" cy="524255"/>
              </a:xfrm>
              <a:prstGeom prst="rect">
                <a:avLst/>
              </a:prstGeom>
              <a:noFill/>
            </p:spPr>
            <p:txBody>
              <a:bodyPr wrap="square" lIns="45720" rIns="45720" anchor="t">
                <a:spAutoFit/>
              </a:bodyPr>
              <a:lstStyle/>
              <a:p>
                <a:pPr algn="l">
                  <a:spcAft>
                    <a:spcPts val="800"/>
                  </a:spcAft>
                </a:pPr>
                <a:r>
                  <a:rPr sz="2300" b="1">
                    <a:solidFill>
                      <a:srgbClr val="1E293B"/>
                    </a:solidFill>
                    <a:latin typeface="Calibri"/>
                  </a:rPr>
                  <a:t>Luyện tập 3.</a:t>
                </a:r>
                <a:r>
                  <a:rPr sz="2300">
                    <a:solidFill>
                      <a:srgbClr val="1E293B"/>
                    </a:solidFill>
                    <a:latin typeface="Calibri"/>
                  </a:rPr>
                  <a:t> Trong Ví dụ 3, tính </a:t>
                </a:r>
                <a14:m>
                  <m:oMath xmlns:m="http://schemas.openxmlformats.org/officeDocument/2006/math">
                    <m:sSup>
                      <m:sSupPr>
                        <m:ctrlPr>
                          <a:rPr lang="vi-VN" sz="2300" b="0">
                            <a:solidFill>
                              <a:srgbClr val="1E293B"/>
                            </a:solidFill>
                            <a:latin typeface="Cambria Math" panose="02040503050406030204" pitchFamily="18" charset="0"/>
                          </a:rPr>
                        </m:ctrlPr>
                      </m:sSupPr>
                      <m:e>
                        <m:d>
                          <m:dPr>
                            <m:ctrlPr>
                              <a:rPr lang="vi-VN" sz="2300" b="0">
                                <a:solidFill>
                                  <a:srgbClr val="1E293B"/>
                                </a:solidFill>
                                <a:latin typeface="Cambria Math" panose="02040503050406030204" pitchFamily="18" charset="0"/>
                              </a:rPr>
                            </m:ctrlPr>
                          </m:dPr>
                          <m:e>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e>
                        </m:d>
                      </m:e>
                      <m:sup>
                        <m:r>
                          <a:rPr lang="vi-VN" sz="2300" b="0">
                            <a:solidFill>
                              <a:srgbClr val="1E293B"/>
                            </a:solidFill>
                            <a:latin typeface="Cambria Math" panose="02040503050406030204" pitchFamily="18" charset="0"/>
                          </a:rPr>
                          <m:t>2</m:t>
                        </m:r>
                      </m:sup>
                    </m:sSup>
                  </m:oMath>
                </a14:m>
                <a:r>
                  <a:rPr sz="2300">
                    <a:solidFill>
                      <a:srgbClr val="1E293B"/>
                    </a:solidFill>
                    <a:latin typeface="Calibri"/>
                  </a:rPr>
                  <a:t>.</a:t>
                </a:r>
              </a:p>
            </p:txBody>
          </p:sp>
        </mc:Choice>
        <mc:Fallback xmlns="">
          <p:sp>
            <p:nvSpPr>
              <p:cNvPr id="12" name="TextBox 11"/>
              <p:cNvSpPr txBox="1"/>
              <p:nvPr/>
            </p:nvSpPr>
            <p:spPr>
              <a:xfrm>
                <a:off x="548640" y="4157472"/>
                <a:ext cx="11064240" cy="52425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3.</a:t>
                </a:r>
                <a:r>
                  <a:rPr sz="2300">
                    <a:solidFill>
                      <a:srgbClr val="1E293B"/>
                    </a:solidFill>
                    <a:latin typeface="Calibri"/>
                  </a:rPr>
                  <a:t> Trong Ví dụ 3, tính </a:t>
                </a:r>
                <a:r>
                  <a:rPr lang="vi-VN"/>
                  <a:t>(\vec{a}+\vec{b})^2</a:t>
                </a:r>
                <a:r>
                  <a:rPr sz="2300">
                    <a:solidFill>
                      <a:srgbClr val="1E293B"/>
                    </a:solidFill>
                    <a:latin typeface="Calibri"/>
                  </a:rPr>
                  <a:t>.</a:t>
                </a:r>
              </a:p>
            </p:txBody>
          </p:sp>
        </mc:Fallback>
      </mc:AlternateContent>
      <p:sp>
        <p:nvSpPr>
          <p:cNvPr id="13" name="s4_nen"/>
          <p:cNvSpPr/>
          <p:nvPr/>
        </p:nvSpPr>
        <p:spPr>
          <a:xfrm>
            <a:off x="548640" y="4791456"/>
            <a:ext cx="11064240" cy="615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4" name="s4_chu"/>
              <p:cNvSpPr txBox="1"/>
              <p:nvPr/>
            </p:nvSpPr>
            <p:spPr>
              <a:xfrm>
                <a:off x="713232" y="4828032"/>
                <a:ext cx="10735056" cy="542543"/>
              </a:xfrm>
              <a:prstGeom prst="rect">
                <a:avLst/>
              </a:prstGeom>
              <a:noFill/>
            </p:spPr>
            <p:txBody>
              <a:bodyPr wrap="square" lIns="45720" rIns="45720" anchor="ctr">
                <a:spAutoFit/>
              </a:bodyPr>
              <a:lstStyle/>
              <a:p>
                <a:pPr algn="l">
                  <a:spcAft>
                    <a:spcPts val="800"/>
                  </a:spcAft>
                </a:pPr>
                <a:r>
                  <a:rPr sz="2300">
                    <a:solidFill>
                      <a:srgbClr val="1E293B"/>
                    </a:solidFill>
                    <a:latin typeface="Calibri"/>
                  </a:rPr>
                  <a:t>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r>
                      <a:rPr lang="vi-VN" sz="2300" b="0">
                        <a:solidFill>
                          <a:srgbClr val="1E293B"/>
                        </a:solidFill>
                        <a:latin typeface="Cambria Math" panose="02040503050406030204" pitchFamily="18" charset="0"/>
                      </a:rPr>
                      <m:t>=(−3; 5; 2)</m:t>
                    </m:r>
                  </m:oMath>
                </a14:m>
                <a:r>
                  <a:rPr sz="2300">
                    <a:solidFill>
                      <a:srgbClr val="1E293B"/>
                    </a:solidFill>
                    <a:latin typeface="Calibri"/>
                  </a:rPr>
                  <a:t> ⇒ </a:t>
                </a:r>
                <a14:m>
                  <m:oMath xmlns:m="http://schemas.openxmlformats.org/officeDocument/2006/math">
                    <m:d>
                      <m:dPr>
                        <m:endChr m:val=""/>
                        <m:ctrlPr>
                          <a:rPr lang="vi-VN" sz="2300" b="0">
                            <a:solidFill>
                              <a:srgbClr val="1E293B"/>
                            </a:solidFill>
                            <a:latin typeface="Cambria Math" panose="02040503050406030204" pitchFamily="18" charset="0"/>
                          </a:rPr>
                        </m:ctrlPr>
                      </m:dPr>
                      <m:e>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𝑎</m:t>
                            </m:r>
                          </m:e>
                        </m:acc>
                        <m:r>
                          <a:rPr lang="vi-VN" sz="2300" b="0">
                            <a:solidFill>
                              <a:srgbClr val="1E293B"/>
                            </a:solidFill>
                            <a:latin typeface="Cambria Math" panose="02040503050406030204" pitchFamily="18" charset="0"/>
                          </a:rPr>
                          <m:t>+</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𝑏</m:t>
                            </m:r>
                          </m:e>
                        </m:acc>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m:t>
                            </m:r>
                          </m:e>
                          <m:sup>
                            <m:r>
                              <a:rPr lang="vi-VN" sz="2300" b="0">
                                <a:solidFill>
                                  <a:srgbClr val="1E293B"/>
                                </a:solidFill>
                                <a:latin typeface="Cambria Math" panose="02040503050406030204" pitchFamily="18" charset="0"/>
                              </a:rPr>
                              <m:t>2</m:t>
                            </m:r>
                          </m:sup>
                        </m:sSup>
                        <m:r>
                          <a:rPr lang="vi-VN" sz="2300" b="0">
                            <a:solidFill>
                              <a:srgbClr val="1E293B"/>
                            </a:solidFill>
                            <a:latin typeface="Cambria Math" panose="02040503050406030204" pitchFamily="18" charset="0"/>
                          </a:rPr>
                          <m:t>=9+25+4=38</m:t>
                        </m:r>
                      </m:e>
                    </m:d>
                  </m:oMath>
                </a14:m>
                <a:r>
                  <a:rPr sz="2300">
                    <a:solidFill>
                      <a:srgbClr val="1E293B"/>
                    </a:solidFill>
                    <a:latin typeface="Calibri"/>
                  </a:rPr>
                  <a:t>.</a:t>
                </a:r>
              </a:p>
            </p:txBody>
          </p:sp>
        </mc:Choice>
        <mc:Fallback xmlns="">
          <p:sp>
            <p:nvSpPr>
              <p:cNvPr id="14" name="TextBox 13"/>
              <p:cNvSpPr txBox="1"/>
              <p:nvPr/>
            </p:nvSpPr>
            <p:spPr>
              <a:xfrm>
                <a:off x="713232" y="4828032"/>
                <a:ext cx="1073505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\vec{a}+\vec{b}=(-3;\ 5;\ 2)</a:t>
                </a:r>
                <a:r>
                  <a:rPr sz="2300">
                    <a:solidFill>
                      <a:srgbClr val="1E293B"/>
                    </a:solidFill>
                    <a:latin typeface="Calibri"/>
                  </a:rPr>
                  <a:t> ⇒ </a:t>
                </a:r>
                <a:r>
                  <a:rPr lang="vi-VN"/>
                  <a:t>(\vec{a}+\vec{b})^2=9+25+4=38</a:t>
                </a:r>
                <a:r>
                  <a:rPr sz="23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4 (SGK TR.69 – 70)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15</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8778240" cy="1392936"/>
              </a:xfrm>
              <a:prstGeom prst="rect">
                <a:avLst/>
              </a:prstGeom>
              <a:noFill/>
            </p:spPr>
            <p:txBody>
              <a:bodyPr wrap="square" lIns="45720" rIns="45720" anchor="t">
                <a:spAutoFit/>
              </a:bodyPr>
              <a:lstStyle/>
              <a:p>
                <a:pPr algn="l">
                  <a:spcAft>
                    <a:spcPts val="800"/>
                  </a:spcAft>
                </a:pPr>
                <a:r>
                  <a:rPr sz="2000">
                    <a:solidFill>
                      <a:srgbClr val="1E293B"/>
                    </a:solidFill>
                    <a:latin typeface="Calibri"/>
                  </a:rPr>
                  <a:t>Cho hình chóp </a:t>
                </a:r>
                <a14:m>
                  <m:oMath xmlns:m="http://schemas.openxmlformats.org/officeDocument/2006/math">
                    <m:r>
                      <a:rPr lang="vi-VN" sz="2000" b="0">
                        <a:solidFill>
                          <a:srgbClr val="1E293B"/>
                        </a:solidFill>
                        <a:latin typeface="Cambria Math" panose="02040503050406030204" pitchFamily="18" charset="0"/>
                      </a:rPr>
                      <m:t>𝑆</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𝐴𝐵𝐶𝐷</m:t>
                    </m:r>
                  </m:oMath>
                </a14:m>
                <a:r>
                  <a:rPr sz="2000">
                    <a:solidFill>
                      <a:srgbClr val="1E293B"/>
                    </a:solidFill>
                    <a:latin typeface="Calibri"/>
                  </a:rPr>
                  <a:t> có đáy là hình chữ nhật, </a:t>
                </a:r>
                <a14:m>
                  <m:oMath xmlns:m="http://schemas.openxmlformats.org/officeDocument/2006/math">
                    <m:r>
                      <a:rPr lang="vi-VN" sz="2000" b="0">
                        <a:solidFill>
                          <a:srgbClr val="1E293B"/>
                        </a:solidFill>
                        <a:latin typeface="Cambria Math" panose="02040503050406030204" pitchFamily="18" charset="0"/>
                      </a:rPr>
                      <m:t>𝑆𝐴</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𝐴𝐵𝐶𝐷</m:t>
                    </m:r>
                    <m:r>
                      <a:rPr lang="vi-VN" sz="2000" b="0">
                        <a:solidFill>
                          <a:srgbClr val="1E293B"/>
                        </a:solidFill>
                        <a:latin typeface="Cambria Math" panose="02040503050406030204" pitchFamily="18" charset="0"/>
                      </a:rPr>
                      <m:t>)</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𝑆𝐴</m:t>
                    </m:r>
                    <m:r>
                      <a:rPr lang="vi-VN" sz="2000" b="0">
                        <a:solidFill>
                          <a:srgbClr val="1E293B"/>
                        </a:solidFill>
                        <a:latin typeface="Cambria Math" panose="02040503050406030204" pitchFamily="18" charset="0"/>
                      </a:rPr>
                      <m:t>=2</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𝐴𝐵</m:t>
                    </m:r>
                    <m:r>
                      <a:rPr lang="vi-VN" sz="2000" b="0">
                        <a:solidFill>
                          <a:srgbClr val="1E293B"/>
                        </a:solidFill>
                        <a:latin typeface="Cambria Math" panose="02040503050406030204" pitchFamily="18" charset="0"/>
                      </a:rPr>
                      <m:t>=3</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𝐴𝐷</m:t>
                    </m:r>
                    <m:r>
                      <a:rPr lang="vi-VN" sz="2000" b="0">
                        <a:solidFill>
                          <a:srgbClr val="1E293B"/>
                        </a:solidFill>
                        <a:latin typeface="Cambria Math" panose="02040503050406030204" pitchFamily="18" charset="0"/>
                      </a:rPr>
                      <m:t>=4</m:t>
                    </m:r>
                  </m:oMath>
                </a14:m>
                <a:r>
                  <a:rPr sz="2000">
                    <a:solidFill>
                      <a:srgbClr val="1E293B"/>
                    </a:solidFill>
                    <a:latin typeface="Calibri"/>
                  </a:rPr>
                  <a:t>. Xét hệ </a:t>
                </a:r>
                <a14:m>
                  <m:oMath xmlns:m="http://schemas.openxmlformats.org/officeDocument/2006/math">
                    <m:r>
                      <a:rPr lang="vi-VN" sz="2000" b="0">
                        <a:solidFill>
                          <a:srgbClr val="1E293B"/>
                        </a:solidFill>
                        <a:latin typeface="Cambria Math" panose="02040503050406030204" pitchFamily="18" charset="0"/>
                      </a:rPr>
                      <m:t>𝑂𝑥𝑦𝑧</m:t>
                    </m:r>
                  </m:oMath>
                </a14:m>
                <a:r>
                  <a:rPr sz="2000">
                    <a:solidFill>
                      <a:srgbClr val="1E293B"/>
                    </a:solidFill>
                    <a:latin typeface="Calibri"/>
                  </a:rPr>
                  <a:t> với </a:t>
                </a:r>
                <a14:m>
                  <m:oMath xmlns:m="http://schemas.openxmlformats.org/officeDocument/2006/math">
                    <m:r>
                      <a:rPr lang="vi-VN" sz="2000" b="0">
                        <a:solidFill>
                          <a:srgbClr val="1E293B"/>
                        </a:solidFill>
                        <a:latin typeface="Cambria Math" panose="02040503050406030204" pitchFamily="18" charset="0"/>
                      </a:rPr>
                      <m:t>𝑂</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𝐴</m:t>
                    </m:r>
                  </m:oMath>
                </a14:m>
                <a:r>
                  <a:rPr sz="2000">
                    <a:solidFill>
                      <a:srgbClr val="1E293B"/>
                    </a:solidFill>
                    <a:latin typeface="Calibri"/>
                  </a:rPr>
                  <a:t>, các tia </a:t>
                </a:r>
                <a14:m>
                  <m:oMath xmlns:m="http://schemas.openxmlformats.org/officeDocument/2006/math">
                    <m:r>
                      <a:rPr lang="vi-VN" sz="2000" b="0">
                        <a:solidFill>
                          <a:srgbClr val="1E293B"/>
                        </a:solidFill>
                        <a:latin typeface="Cambria Math" panose="02040503050406030204" pitchFamily="18" charset="0"/>
                      </a:rPr>
                      <m:t>𝑂𝑥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𝑂𝑦</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𝑂𝑧</m:t>
                    </m:r>
                  </m:oMath>
                </a14:m>
                <a:r>
                  <a:rPr sz="2000">
                    <a:solidFill>
                      <a:srgbClr val="1E293B"/>
                    </a:solidFill>
                    <a:latin typeface="Calibri"/>
                  </a:rPr>
                  <a:t> lần lượt trùng các tia </a:t>
                </a:r>
                <a14:m>
                  <m:oMath xmlns:m="http://schemas.openxmlformats.org/officeDocument/2006/math">
                    <m:r>
                      <a:rPr lang="vi-VN" sz="2000" b="0">
                        <a:solidFill>
                          <a:srgbClr val="1E293B"/>
                        </a:solidFill>
                        <a:latin typeface="Cambria Math" panose="02040503050406030204" pitchFamily="18" charset="0"/>
                      </a:rPr>
                      <m:t>𝐴𝐵</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𝐴𝐷</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𝐴𝑆</m:t>
                    </m:r>
                  </m:oMath>
                </a14:m>
                <a:r>
                  <a:rPr sz="2000">
                    <a:solidFill>
                      <a:srgbClr val="1E293B"/>
                    </a:solidFill>
                    <a:latin typeface="Calibri"/>
                  </a:rPr>
                  <a:t> (H.2.48). a) Xác định toạ độ các điểm </a:t>
                </a:r>
                <a14:m>
                  <m:oMath xmlns:m="http://schemas.openxmlformats.org/officeDocument/2006/math">
                    <m:r>
                      <a:rPr lang="vi-VN" sz="2000" b="0">
                        <a:solidFill>
                          <a:srgbClr val="1E293B"/>
                        </a:solidFill>
                        <a:latin typeface="Cambria Math" panose="02040503050406030204" pitchFamily="18" charset="0"/>
                      </a:rPr>
                      <m:t>𝑆</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𝐴</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𝐵</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𝐶</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𝐷</m:t>
                    </m:r>
                  </m:oMath>
                </a14:m>
                <a:r>
                  <a:rPr sz="2000">
                    <a:solidFill>
                      <a:srgbClr val="1E293B"/>
                    </a:solidFill>
                    <a:latin typeface="Calibri"/>
                  </a:rPr>
                  <a:t>. b) Tính </a:t>
                </a:r>
                <a14:m>
                  <m:oMath xmlns:m="http://schemas.openxmlformats.org/officeDocument/2006/math">
                    <m:r>
                      <a:rPr lang="vi-VN" sz="2000" b="0">
                        <a:solidFill>
                          <a:srgbClr val="1E293B"/>
                        </a:solidFill>
                        <a:latin typeface="Cambria Math" panose="02040503050406030204" pitchFamily="18" charset="0"/>
                      </a:rPr>
                      <m:t>𝐵𝐷</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𝑆𝐶</m:t>
                    </m:r>
                  </m:oMath>
                </a14:m>
                <a:r>
                  <a:rPr sz="2000">
                    <a:solidFill>
                      <a:srgbClr val="1E293B"/>
                    </a:solidFill>
                    <a:latin typeface="Calibri"/>
                  </a:rPr>
                  <a:t>. c) Tính </a:t>
                </a:r>
                <a14:m>
                  <m:oMath xmlns:m="http://schemas.openxmlformats.org/officeDocument/2006/math">
                    <m:d>
                      <m:dPr>
                        <m:sepChr m:val=","/>
                        <m:ctrlPr>
                          <a:rPr lang="vi-VN" sz="2000" b="0">
                            <a:solidFill>
                              <a:srgbClr val="1E293B"/>
                            </a:solidFill>
                            <a:latin typeface="Cambria Math" panose="02040503050406030204" pitchFamily="18" charset="0"/>
                          </a:rPr>
                        </m:ctrlPr>
                      </m:dPr>
                      <m:e>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𝐵𝐷</m:t>
                            </m:r>
                          </m:e>
                        </m:acc>
                      </m:e>
                      <m:e>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𝑆𝐶</m:t>
                            </m:r>
                          </m:e>
                        </m:acc>
                      </m:e>
                    </m:d>
                  </m:oMath>
                </a14:m>
                <a:r>
                  <a:rPr sz="2000">
                    <a:solidFill>
                      <a:srgbClr val="1E293B"/>
                    </a:solidFill>
                    <a:latin typeface="Calibri"/>
                  </a:rPr>
                  <a:t>.</a:t>
                </a:r>
              </a:p>
            </p:txBody>
          </p:sp>
        </mc:Choice>
        <mc:Fallback xmlns="">
          <p:sp>
            <p:nvSpPr>
              <p:cNvPr id="7" name="TextBox 6"/>
              <p:cNvSpPr txBox="1"/>
              <p:nvPr/>
            </p:nvSpPr>
            <p:spPr>
              <a:xfrm>
                <a:off x="548640" y="1371600"/>
                <a:ext cx="8778240" cy="1392936"/>
              </a:xfrm>
              <a:prstGeom prst="rect">
                <a:avLst/>
              </a:prstGeom>
              <a:noFill/>
            </p:spPr>
            <p:txBody>
              <a:bodyPr wrap="square" anchor="t" lIns="45720" rIns="45720">
                <a:spAutoFit/>
              </a:bodyPr>
              <a:lstStyle/>
              <a:p>
                <a:pPr algn="l">
                  <a:spcAft>
                    <a:spcPts val="800"/>
                  </a:spcAft>
                </a:pPr>
                <a:r>
                  <a:rPr sz="2000">
                    <a:solidFill>
                      <a:srgbClr val="1E293B"/>
                    </a:solidFill>
                    <a:latin typeface="Calibri"/>
                  </a:rPr>
                  <a:t>Cho hình chóp </a:t>
                </a:r>
                <a:r>
                  <a:rPr lang="vi-VN"/>
                  <a:t>S.ABCD</a:t>
                </a:r>
                <a:r>
                  <a:rPr sz="2000">
                    <a:solidFill>
                      <a:srgbClr val="1E293B"/>
                    </a:solidFill>
                    <a:latin typeface="Calibri"/>
                  </a:rPr>
                  <a:t> có đáy là hình chữ nhật, </a:t>
                </a:r>
                <a:r>
                  <a:rPr lang="vi-VN"/>
                  <a:t>SA\perp(ABCD)</a:t>
                </a:r>
                <a:r>
                  <a:rPr sz="2000">
                    <a:solidFill>
                      <a:srgbClr val="1E293B"/>
                    </a:solidFill>
                    <a:latin typeface="Calibri"/>
                  </a:rPr>
                  <a:t>, </a:t>
                </a:r>
                <a:r>
                  <a:rPr lang="vi-VN"/>
                  <a:t>SA=2</a:t>
                </a:r>
                <a:r>
                  <a:rPr sz="2000">
                    <a:solidFill>
                      <a:srgbClr val="1E293B"/>
                    </a:solidFill>
                    <a:latin typeface="Calibri"/>
                  </a:rPr>
                  <a:t>, </a:t>
                </a:r>
                <a:r>
                  <a:rPr lang="vi-VN"/>
                  <a:t>AB=3</a:t>
                </a:r>
                <a:r>
                  <a:rPr sz="2000">
                    <a:solidFill>
                      <a:srgbClr val="1E293B"/>
                    </a:solidFill>
                    <a:latin typeface="Calibri"/>
                  </a:rPr>
                  <a:t>, </a:t>
                </a:r>
                <a:r>
                  <a:rPr lang="vi-VN"/>
                  <a:t>AD=4</a:t>
                </a:r>
                <a:r>
                  <a:rPr sz="2000">
                    <a:solidFill>
                      <a:srgbClr val="1E293B"/>
                    </a:solidFill>
                    <a:latin typeface="Calibri"/>
                  </a:rPr>
                  <a:t>. Xét hệ </a:t>
                </a:r>
                <a:r>
                  <a:rPr lang="vi-VN"/>
                  <a:t>Oxyz</a:t>
                </a:r>
                <a:r>
                  <a:rPr sz="2000">
                    <a:solidFill>
                      <a:srgbClr val="1E293B"/>
                    </a:solidFill>
                    <a:latin typeface="Calibri"/>
                  </a:rPr>
                  <a:t> với </a:t>
                </a:r>
                <a:r>
                  <a:rPr lang="vi-VN"/>
                  <a:t>O\equiv A</a:t>
                </a:r>
                <a:r>
                  <a:rPr sz="2000">
                    <a:solidFill>
                      <a:srgbClr val="1E293B"/>
                    </a:solidFill>
                    <a:latin typeface="Calibri"/>
                  </a:rPr>
                  <a:t>, các tia </a:t>
                </a:r>
                <a:r>
                  <a:rPr lang="vi-VN"/>
                  <a:t>Ox,\ Oy,\ Oz</a:t>
                </a:r>
                <a:r>
                  <a:rPr sz="2000">
                    <a:solidFill>
                      <a:srgbClr val="1E293B"/>
                    </a:solidFill>
                    <a:latin typeface="Calibri"/>
                  </a:rPr>
                  <a:t> lần lượt trùng các tia </a:t>
                </a:r>
                <a:r>
                  <a:rPr lang="vi-VN"/>
                  <a:t>AB,\ AD,\ AS</a:t>
                </a:r>
                <a:r>
                  <a:rPr sz="2000">
                    <a:solidFill>
                      <a:srgbClr val="1E293B"/>
                    </a:solidFill>
                    <a:latin typeface="Calibri"/>
                  </a:rPr>
                  <a:t> (H.2.48). a) Xác định toạ độ các điểm </a:t>
                </a:r>
                <a:r>
                  <a:rPr lang="vi-VN"/>
                  <a:t>S,\ A,\ B,\ C,\ D</a:t>
                </a:r>
                <a:r>
                  <a:rPr sz="2000">
                    <a:solidFill>
                      <a:srgbClr val="1E293B"/>
                    </a:solidFill>
                    <a:latin typeface="Calibri"/>
                  </a:rPr>
                  <a:t>. b) Tính </a:t>
                </a:r>
                <a:r>
                  <a:rPr lang="vi-VN"/>
                  <a:t>BD</a:t>
                </a:r>
                <a:r>
                  <a:rPr sz="2000">
                    <a:solidFill>
                      <a:srgbClr val="1E293B"/>
                    </a:solidFill>
                    <a:latin typeface="Calibri"/>
                  </a:rPr>
                  <a:t> và </a:t>
                </a:r>
                <a:r>
                  <a:rPr lang="vi-VN"/>
                  <a:t>SC</a:t>
                </a:r>
                <a:r>
                  <a:rPr sz="2000">
                    <a:solidFill>
                      <a:srgbClr val="1E293B"/>
                    </a:solidFill>
                    <a:latin typeface="Calibri"/>
                  </a:rPr>
                  <a:t>. c) Tính </a:t>
                </a:r>
                <a:r>
                  <a:rPr lang="vi-VN"/>
                  <a:t>(\overrightarrow{BD},\overrightarrow{SC})</a:t>
                </a:r>
                <a:r>
                  <a:rPr sz="2000">
                    <a:solidFill>
                      <a:srgbClr val="1E293B"/>
                    </a:solidFill>
                    <a:latin typeface="Calibri"/>
                  </a:rPr>
                  <a:t>.</a:t>
                </a:r>
              </a:p>
            </p:txBody>
          </p:sp>
        </mc:Fallback>
      </mc:AlternateContent>
      <p:sp>
        <p:nvSpPr>
          <p:cNvPr id="8" name="s1_nen"/>
          <p:cNvSpPr/>
          <p:nvPr/>
        </p:nvSpPr>
        <p:spPr>
          <a:xfrm>
            <a:off x="548640" y="2828544"/>
            <a:ext cx="8778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865120"/>
                <a:ext cx="844905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𝐴</m:t>
                    </m:r>
                    <m:r>
                      <a:rPr lang="vi-VN" sz="2000" b="0">
                        <a:solidFill>
                          <a:srgbClr val="1E293B"/>
                        </a:solidFill>
                        <a:latin typeface="Cambria Math" panose="02040503050406030204" pitchFamily="18" charset="0"/>
                      </a:rPr>
                      <m:t>(0;0;0)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𝐵</m:t>
                    </m:r>
                    <m:r>
                      <a:rPr lang="vi-VN" sz="2000" b="0">
                        <a:solidFill>
                          <a:srgbClr val="1E293B"/>
                        </a:solidFill>
                        <a:latin typeface="Cambria Math" panose="02040503050406030204" pitchFamily="18" charset="0"/>
                      </a:rPr>
                      <m:t>(3;0;0)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𝐷</m:t>
                    </m:r>
                    <m:r>
                      <a:rPr lang="vi-VN" sz="2000" b="0">
                        <a:solidFill>
                          <a:srgbClr val="1E293B"/>
                        </a:solidFill>
                        <a:latin typeface="Cambria Math" panose="02040503050406030204" pitchFamily="18" charset="0"/>
                      </a:rPr>
                      <m:t>(0;4;0)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𝑆</m:t>
                    </m:r>
                    <m:r>
                      <a:rPr lang="vi-VN" sz="2000" b="0">
                        <a:solidFill>
                          <a:srgbClr val="1E293B"/>
                        </a:solidFill>
                        <a:latin typeface="Cambria Math" panose="02040503050406030204" pitchFamily="18" charset="0"/>
                      </a:rPr>
                      <m:t>(0;0;2)</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𝐶</m:t>
                    </m:r>
                    <m:r>
                      <a:rPr lang="vi-VN" sz="2000" b="0">
                        <a:solidFill>
                          <a:srgbClr val="1E293B"/>
                        </a:solidFill>
                        <a:latin typeface="Cambria Math" panose="02040503050406030204" pitchFamily="18" charset="0"/>
                      </a:rPr>
                      <m:t>(3;4;0)</m:t>
                    </m:r>
                  </m:oMath>
                </a14:m>
                <a:r>
                  <a:rPr sz="2000">
                    <a:solidFill>
                      <a:srgbClr val="1E293B"/>
                    </a:solidFill>
                    <a:latin typeface="Calibri"/>
                  </a:rPr>
                  <a:t>.</a:t>
                </a:r>
              </a:p>
            </p:txBody>
          </p:sp>
        </mc:Choice>
        <mc:Fallback xmlns="">
          <p:sp>
            <p:nvSpPr>
              <p:cNvPr id="9" name="TextBox 8"/>
              <p:cNvSpPr txBox="1"/>
              <p:nvPr/>
            </p:nvSpPr>
            <p:spPr>
              <a:xfrm>
                <a:off x="713232" y="2865120"/>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A(0;0;0)</a:t>
                </a:r>
                <a:r>
                  <a:rPr sz="2000">
                    <a:solidFill>
                      <a:srgbClr val="1E293B"/>
                    </a:solidFill>
                    <a:latin typeface="Calibri"/>
                  </a:rPr>
                  <a:t>, </a:t>
                </a:r>
                <a:r>
                  <a:rPr lang="vi-VN"/>
                  <a:t>B(3;0;0)</a:t>
                </a:r>
                <a:r>
                  <a:rPr sz="2000">
                    <a:solidFill>
                      <a:srgbClr val="1E293B"/>
                    </a:solidFill>
                    <a:latin typeface="Calibri"/>
                  </a:rPr>
                  <a:t>, </a:t>
                </a:r>
                <a:r>
                  <a:rPr lang="vi-VN"/>
                  <a:t>D(0;4;0)</a:t>
                </a:r>
                <a:r>
                  <a:rPr sz="2000">
                    <a:solidFill>
                      <a:srgbClr val="1E293B"/>
                    </a:solidFill>
                    <a:latin typeface="Calibri"/>
                  </a:rPr>
                  <a:t>, </a:t>
                </a:r>
                <a:r>
                  <a:rPr lang="vi-VN"/>
                  <a:t>S(0;0;2)</a:t>
                </a:r>
                <a:r>
                  <a:rPr sz="2000">
                    <a:solidFill>
                      <a:srgbClr val="1E293B"/>
                    </a:solidFill>
                    <a:latin typeface="Calibri"/>
                  </a:rPr>
                  <a:t>, </a:t>
                </a:r>
                <a:r>
                  <a:rPr lang="vi-VN"/>
                  <a:t>C(3;4;0)</a:t>
                </a:r>
                <a:r>
                  <a:rPr sz="2000">
                    <a:solidFill>
                      <a:srgbClr val="1E293B"/>
                    </a:solidFill>
                    <a:latin typeface="Calibri"/>
                  </a:rPr>
                  <a:t>.</a:t>
                </a:r>
              </a:p>
            </p:txBody>
          </p:sp>
        </mc:Fallback>
      </mc:AlternateContent>
      <p:sp>
        <p:nvSpPr>
          <p:cNvPr id="10" name="s2_nen"/>
          <p:cNvSpPr/>
          <p:nvPr/>
        </p:nvSpPr>
        <p:spPr>
          <a:xfrm>
            <a:off x="548640" y="3462528"/>
            <a:ext cx="8778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499104"/>
                <a:ext cx="844905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b)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𝐵𝐷</m:t>
                        </m:r>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−3;4;0</m:t>
                        </m:r>
                      </m:e>
                    </m:d>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𝐵𝐷</m:t>
                    </m:r>
                    <m:r>
                      <a:rPr lang="vi-VN" sz="2000" b="0">
                        <a:solidFill>
                          <a:srgbClr val="1E293B"/>
                        </a:solidFill>
                        <a:latin typeface="Cambria Math" panose="02040503050406030204" pitchFamily="18" charset="0"/>
                      </a:rPr>
                      <m:t>=5</m:t>
                    </m:r>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𝑆𝐶</m:t>
                        </m:r>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3;4;−2</m:t>
                        </m:r>
                      </m:e>
                    </m:d>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𝑆𝐶</m:t>
                    </m:r>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r>
                          <a:rPr lang="vi-VN" sz="2000" b="0">
                            <a:solidFill>
                              <a:srgbClr val="1E293B"/>
                            </a:solidFill>
                            <a:latin typeface="Cambria Math" panose="02040503050406030204" pitchFamily="18" charset="0"/>
                          </a:rPr>
                          <m:t>29</m:t>
                        </m:r>
                      </m:e>
                    </m:rad>
                  </m:oMath>
                </a14:m>
                <a:r>
                  <a:rPr sz="2000">
                    <a:solidFill>
                      <a:srgbClr val="1E293B"/>
                    </a:solidFill>
                    <a:latin typeface="Calibri"/>
                  </a:rPr>
                  <a:t>.</a:t>
                </a:r>
              </a:p>
            </p:txBody>
          </p:sp>
        </mc:Choice>
        <mc:Fallback xmlns="">
          <p:sp>
            <p:nvSpPr>
              <p:cNvPr id="11" name="TextBox 10"/>
              <p:cNvSpPr txBox="1"/>
              <p:nvPr/>
            </p:nvSpPr>
            <p:spPr>
              <a:xfrm>
                <a:off x="713232" y="3499104"/>
                <a:ext cx="8449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\overrightarrow{BD}</a:t>
                </a:r>
                <a:r>
                  <a:rPr sz="2000">
                    <a:solidFill>
                      <a:srgbClr val="1E293B"/>
                    </a:solidFill>
                    <a:latin typeface="Calibri"/>
                  </a:rPr>
                  <a:t> = </a:t>
                </a:r>
                <a:r>
                  <a:rPr lang="vi-VN"/>
                  <a:t>(-3;4;0)</a:t>
                </a:r>
                <a:r>
                  <a:rPr sz="2000">
                    <a:solidFill>
                      <a:srgbClr val="1E293B"/>
                    </a:solidFill>
                    <a:latin typeface="Calibri"/>
                  </a:rPr>
                  <a:t> ⇒ </a:t>
                </a:r>
                <a:r>
                  <a:rPr lang="vi-VN"/>
                  <a:t>BD=5</a:t>
                </a:r>
                <a:r>
                  <a:rPr sz="2000">
                    <a:solidFill>
                      <a:srgbClr val="1E293B"/>
                    </a:solidFill>
                    <a:latin typeface="Calibri"/>
                  </a:rPr>
                  <a:t>; </a:t>
                </a:r>
                <a:r>
                  <a:rPr lang="vi-VN"/>
                  <a:t>\overrightarrow{SC}</a:t>
                </a:r>
                <a:r>
                  <a:rPr sz="2000">
                    <a:solidFill>
                      <a:srgbClr val="1E293B"/>
                    </a:solidFill>
                    <a:latin typeface="Calibri"/>
                  </a:rPr>
                  <a:t> = </a:t>
                </a:r>
                <a:r>
                  <a:rPr lang="vi-VN"/>
                  <a:t>(3;4;-2)</a:t>
                </a:r>
                <a:r>
                  <a:rPr sz="2000">
                    <a:solidFill>
                      <a:srgbClr val="1E293B"/>
                    </a:solidFill>
                    <a:latin typeface="Calibri"/>
                  </a:rPr>
                  <a:t> ⇒ </a:t>
                </a:r>
                <a:r>
                  <a:rPr lang="vi-VN"/>
                  <a:t>SC=\sqrt{29}</a:t>
                </a:r>
                <a:r>
                  <a:rPr sz="2000">
                    <a:solidFill>
                      <a:srgbClr val="1E293B"/>
                    </a:solidFill>
                    <a:latin typeface="Calibri"/>
                  </a:rPr>
                  <a:t>.</a:t>
                </a:r>
              </a:p>
            </p:txBody>
          </p:sp>
        </mc:Fallback>
      </mc:AlternateContent>
      <p:sp>
        <p:nvSpPr>
          <p:cNvPr id="12" name="s3_nen"/>
          <p:cNvSpPr/>
          <p:nvPr/>
        </p:nvSpPr>
        <p:spPr>
          <a:xfrm>
            <a:off x="548640" y="4096512"/>
            <a:ext cx="8778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s3_chu"/>
              <p:cNvSpPr txBox="1"/>
              <p:nvPr/>
            </p:nvSpPr>
            <p:spPr>
              <a:xfrm>
                <a:off x="713232" y="4133088"/>
                <a:ext cx="8449056" cy="771143"/>
              </a:xfrm>
              <a:prstGeom prst="rect">
                <a:avLst/>
              </a:prstGeom>
              <a:noFill/>
            </p:spPr>
            <p:txBody>
              <a:bodyPr wrap="square" lIns="45720" rIns="45720" anchor="ctr">
                <a:spAutoFit/>
              </a:bodyPr>
              <a:lstStyle/>
              <a:p>
                <a:pPr algn="l">
                  <a:spcAft>
                    <a:spcPts val="800"/>
                  </a:spcAft>
                </a:pPr>
                <a:r>
                  <a:rPr sz="2000">
                    <a:solidFill>
                      <a:srgbClr val="1E293B"/>
                    </a:solidFill>
                    <a:latin typeface="Calibri"/>
                  </a:rPr>
                  <a:t>c) </a:t>
                </a:r>
                <a14:m>
                  <m:oMath xmlns:m="http://schemas.openxmlformats.org/officeDocument/2006/math">
                    <m:r>
                      <m:rPr>
                        <m:sty m:val="p"/>
                      </m:rPr>
                      <a:rPr lang="vi-VN" sz="2000" b="0">
                        <a:solidFill>
                          <a:srgbClr val="1E293B"/>
                        </a:solidFill>
                        <a:latin typeface="Cambria Math" panose="02040503050406030204" pitchFamily="18" charset="0"/>
                      </a:rPr>
                      <m:t>cos</m:t>
                    </m:r>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𝐵𝐷</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𝑆𝐶</m:t>
                        </m:r>
                      </m:e>
                    </m:acc>
                    <m:r>
                      <a:rPr lang="vi-VN" sz="2000" b="0">
                        <a:solidFill>
                          <a:srgbClr val="1E293B"/>
                        </a:solidFill>
                        <a:latin typeface="Cambria Math" panose="02040503050406030204" pitchFamily="18" charset="0"/>
                      </a:rPr>
                      <m:t>)=</m:t>
                    </m:r>
                    <m:f>
                      <m:fPr>
                        <m:ctrlPr>
                          <a:rPr lang="vi-VN" sz="2000" b="0">
                            <a:solidFill>
                              <a:srgbClr val="1E293B"/>
                            </a:solidFill>
                            <a:latin typeface="Cambria Math" panose="02040503050406030204" pitchFamily="18" charset="0"/>
                          </a:rPr>
                        </m:ctrlPr>
                      </m:fPr>
                      <m:num>
                        <m:r>
                          <a:rPr lang="vi-VN" sz="2000" b="0">
                            <a:solidFill>
                              <a:srgbClr val="1E293B"/>
                            </a:solidFill>
                            <a:latin typeface="Cambria Math" panose="02040503050406030204" pitchFamily="18" charset="0"/>
                          </a:rPr>
                          <m:t>−9+16+0</m:t>
                        </m:r>
                      </m:num>
                      <m:den>
                        <m:r>
                          <a:rPr lang="vi-VN" sz="2000" b="0">
                            <a:solidFill>
                              <a:srgbClr val="1E293B"/>
                            </a:solidFill>
                            <a:latin typeface="Cambria Math" panose="02040503050406030204" pitchFamily="18" charset="0"/>
                          </a:rPr>
                          <m:t>5</m:t>
                        </m:r>
                        <m:rad>
                          <m:radPr>
                            <m:degHide m:val="on"/>
                            <m:ctrlPr>
                              <a:rPr lang="vi-VN" sz="2000" b="0" i="1">
                                <a:solidFill>
                                  <a:srgbClr val="1E293B"/>
                                </a:solidFill>
                                <a:latin typeface="Cambria Math" panose="02040503050406030204" pitchFamily="18" charset="0"/>
                              </a:rPr>
                            </m:ctrlPr>
                          </m:radPr>
                          <m:deg/>
                          <m:e>
                            <m:r>
                              <a:rPr lang="vi-VN" sz="2000" b="0">
                                <a:solidFill>
                                  <a:srgbClr val="1E293B"/>
                                </a:solidFill>
                                <a:latin typeface="Cambria Math" panose="02040503050406030204" pitchFamily="18" charset="0"/>
                              </a:rPr>
                              <m:t>29</m:t>
                            </m:r>
                          </m:e>
                        </m:rad>
                      </m:den>
                    </m:f>
                    <m:r>
                      <a:rPr lang="vi-VN" sz="2000" b="0">
                        <a:solidFill>
                          <a:srgbClr val="1E293B"/>
                        </a:solidFill>
                        <a:latin typeface="Cambria Math" panose="02040503050406030204" pitchFamily="18" charset="0"/>
                      </a:rPr>
                      <m:t>=</m:t>
                    </m:r>
                    <m:f>
                      <m:fPr>
                        <m:ctrlPr>
                          <a:rPr lang="vi-VN" sz="2000" b="0">
                            <a:solidFill>
                              <a:srgbClr val="1E293B"/>
                            </a:solidFill>
                            <a:latin typeface="Cambria Math" panose="02040503050406030204" pitchFamily="18" charset="0"/>
                          </a:rPr>
                        </m:ctrlPr>
                      </m:fPr>
                      <m:num>
                        <m:r>
                          <a:rPr lang="vi-VN" sz="2000" b="0">
                            <a:solidFill>
                              <a:srgbClr val="1E293B"/>
                            </a:solidFill>
                            <a:latin typeface="Cambria Math" panose="02040503050406030204" pitchFamily="18" charset="0"/>
                          </a:rPr>
                          <m:t>7</m:t>
                        </m:r>
                      </m:num>
                      <m:den>
                        <m:r>
                          <a:rPr lang="vi-VN" sz="2000" b="0">
                            <a:solidFill>
                              <a:srgbClr val="1E293B"/>
                            </a:solidFill>
                            <a:latin typeface="Cambria Math" panose="02040503050406030204" pitchFamily="18" charset="0"/>
                          </a:rPr>
                          <m:t>5</m:t>
                        </m:r>
                        <m:rad>
                          <m:radPr>
                            <m:degHide m:val="on"/>
                            <m:ctrlPr>
                              <a:rPr lang="vi-VN" sz="2000" b="0" i="1">
                                <a:solidFill>
                                  <a:srgbClr val="1E293B"/>
                                </a:solidFill>
                                <a:latin typeface="Cambria Math" panose="02040503050406030204" pitchFamily="18" charset="0"/>
                              </a:rPr>
                            </m:ctrlPr>
                          </m:radPr>
                          <m:deg/>
                          <m:e>
                            <m:r>
                              <a:rPr lang="vi-VN" sz="2000" b="0">
                                <a:solidFill>
                                  <a:srgbClr val="1E293B"/>
                                </a:solidFill>
                                <a:latin typeface="Cambria Math" panose="02040503050406030204" pitchFamily="18" charset="0"/>
                              </a:rPr>
                              <m:t>29</m:t>
                            </m:r>
                          </m:e>
                        </m:rad>
                      </m:den>
                    </m:f>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𝐵𝐷</m:t>
                        </m:r>
                      </m:e>
                    </m:acc>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𝑆𝐶</m:t>
                        </m:r>
                      </m:e>
                    </m:acc>
                    <m:r>
                      <a:rPr lang="vi-VN" sz="2000" b="0">
                        <a:solidFill>
                          <a:srgbClr val="1E293B"/>
                        </a:solidFill>
                        <a:latin typeface="Cambria Math" panose="02040503050406030204" pitchFamily="18" charset="0"/>
                      </a:rPr>
                      <m:t>)≈74,</m:t>
                    </m:r>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9</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xmlns="">
          <p:sp>
            <p:nvSpPr>
              <p:cNvPr id="13" name="TextBox 12"/>
              <p:cNvSpPr txBox="1"/>
              <p:nvPr/>
            </p:nvSpPr>
            <p:spPr>
              <a:xfrm>
                <a:off x="713232" y="4133088"/>
                <a:ext cx="8449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r>
                  <a:rPr lang="vi-VN"/>
                  <a:t>\cos(\overrightarrow{BD},\overrightarrow{SC})=\frac{-9+16+0}{5\sqrt{29}}=\frac{7}{5\sqrt{29}}</a:t>
                </a:r>
                <a:r>
                  <a:rPr sz="2000">
                    <a:solidFill>
                      <a:srgbClr val="1E293B"/>
                    </a:solidFill>
                    <a:latin typeface="Calibri"/>
                  </a:rPr>
                  <a:t> ⇒ </a:t>
                </a:r>
                <a:r>
                  <a:rPr lang="vi-VN"/>
                  <a:t>(\overrightarrow{BD},\overrightarrow{SC})\approx 74{,}9^\circ</a:t>
                </a:r>
                <a:r>
                  <a:rPr sz="2000">
                    <a:solidFill>
                      <a:srgbClr val="1E293B"/>
                    </a:solidFill>
                    <a:latin typeface="Calibri"/>
                  </a:rPr>
                  <a:t>.</a:t>
                </a:r>
              </a:p>
            </p:txBody>
          </p:sp>
        </mc:Fallback>
      </mc:AlternateContent>
      <p:sp>
        <p:nvSpPr>
          <p:cNvPr id="14" name="s4_nen"/>
          <p:cNvSpPr/>
          <p:nvPr/>
        </p:nvSpPr>
        <p:spPr>
          <a:xfrm>
            <a:off x="548640" y="5004816"/>
            <a:ext cx="8778240" cy="87477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5" name="s4_chu"/>
              <p:cNvSpPr txBox="1"/>
              <p:nvPr/>
            </p:nvSpPr>
            <p:spPr>
              <a:xfrm>
                <a:off x="713232" y="5041392"/>
                <a:ext cx="8449056" cy="801623"/>
              </a:xfrm>
              <a:prstGeom prst="rect">
                <a:avLst/>
              </a:prstGeom>
              <a:noFill/>
            </p:spPr>
            <p:txBody>
              <a:bodyPr wrap="square" lIns="45720" rIns="45720" anchor="ctr">
                <a:spAutoFit/>
              </a:bodyPr>
              <a:lstStyle/>
              <a:p>
                <a:pPr algn="l">
                  <a:spcAft>
                    <a:spcPts val="800"/>
                  </a:spcAft>
                </a:pPr>
                <a:r>
                  <a:rPr sz="2000" b="1">
                    <a:solidFill>
                      <a:srgbClr val="1E293B"/>
                    </a:solidFill>
                    <a:latin typeface="Calibri"/>
                  </a:rPr>
                  <a:t>Chú ý.</a:t>
                </a: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𝐴𝐵</m:t>
                    </m:r>
                    <m:r>
                      <a:rPr lang="vi-VN" sz="2000" b="0">
                        <a:solidFill>
                          <a:srgbClr val="1E293B"/>
                        </a:solidFill>
                        <a:latin typeface="Cambria Math" panose="02040503050406030204" pitchFamily="18" charset="0"/>
                      </a:rPr>
                      <m:t>=|</m:t>
                    </m:r>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𝐴𝐵</m:t>
                        </m:r>
                      </m:e>
                    </m:acc>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sSup>
                          <m:sSupPr>
                            <m:ctrlPr>
                              <a:rPr lang="vi-VN" sz="2000" b="0" i="1">
                                <a:solidFill>
                                  <a:srgbClr val="1E293B"/>
                                </a:solidFill>
                                <a:latin typeface="Cambria Math" panose="02040503050406030204" pitchFamily="18" charset="0"/>
                              </a:rPr>
                            </m:ctrlPr>
                          </m:sSupPr>
                          <m:e>
                            <m:d>
                              <m:dPr>
                                <m:ctrlPr>
                                  <a:rPr lang="vi-VN" sz="2000" b="0" i="1">
                                    <a:solidFill>
                                      <a:srgbClr val="1E293B"/>
                                    </a:solidFill>
                                    <a:latin typeface="Cambria Math" panose="02040503050406030204" pitchFamily="18" charset="0"/>
                                  </a:rPr>
                                </m:ctrlPr>
                              </m:dPr>
                              <m:e>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𝐵</m:t>
                                    </m:r>
                                  </m:sub>
                                </m:sSub>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𝐴</m:t>
                                    </m:r>
                                  </m:sub>
                                </m:sSub>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𝐵</m:t>
                                    </m:r>
                                  </m:sub>
                                </m:sSub>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𝐴</m:t>
                                    </m:r>
                                  </m:sub>
                                </m:sSub>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𝑧</m:t>
                                    </m:r>
                                  </m:e>
                                  <m:sub>
                                    <m:r>
                                      <a:rPr lang="vi-VN" sz="2000" b="0">
                                        <a:solidFill>
                                          <a:srgbClr val="1E293B"/>
                                        </a:solidFill>
                                        <a:latin typeface="Cambria Math" panose="02040503050406030204" pitchFamily="18" charset="0"/>
                                      </a:rPr>
                                      <m:t>𝐵</m:t>
                                    </m:r>
                                  </m:sub>
                                </m:sSub>
                                <m:r>
                                  <a:rPr lang="vi-VN" sz="2000" b="0">
                                    <a:solidFill>
                                      <a:srgbClr val="1E293B"/>
                                    </a:solidFill>
                                    <a:latin typeface="Cambria Math" panose="02040503050406030204" pitchFamily="18" charset="0"/>
                                  </a:rPr>
                                  <m:t>−</m:t>
                                </m:r>
                                <m:sSub>
                                  <m:sSubPr>
                                    <m:ctrlPr>
                                      <a:rPr lang="vi-VN" sz="2000" b="0">
                                        <a:solidFill>
                                          <a:srgbClr val="1E293B"/>
                                        </a:solidFill>
                                        <a:latin typeface="Cambria Math" panose="02040503050406030204" pitchFamily="18" charset="0"/>
                                      </a:rPr>
                                    </m:ctrlPr>
                                  </m:sSubPr>
                                  <m:e>
                                    <m:r>
                                      <a:rPr lang="vi-VN" sz="2000" b="0">
                                        <a:solidFill>
                                          <a:srgbClr val="1E293B"/>
                                        </a:solidFill>
                                        <a:latin typeface="Cambria Math" panose="02040503050406030204" pitchFamily="18" charset="0"/>
                                      </a:rPr>
                                      <m:t>𝑧</m:t>
                                    </m:r>
                                  </m:e>
                                  <m:sub>
                                    <m:r>
                                      <a:rPr lang="vi-VN" sz="2000" b="0">
                                        <a:solidFill>
                                          <a:srgbClr val="1E293B"/>
                                        </a:solidFill>
                                        <a:latin typeface="Cambria Math" panose="02040503050406030204" pitchFamily="18" charset="0"/>
                                      </a:rPr>
                                      <m:t>𝐴</m:t>
                                    </m:r>
                                  </m:sub>
                                </m:sSub>
                              </m:e>
                            </m:d>
                          </m:e>
                          <m:sup>
                            <m:r>
                              <a:rPr lang="vi-VN" sz="2000" b="0">
                                <a:solidFill>
                                  <a:srgbClr val="1E293B"/>
                                </a:solidFill>
                                <a:latin typeface="Cambria Math" panose="02040503050406030204" pitchFamily="18" charset="0"/>
                              </a:rPr>
                              <m:t>2</m:t>
                            </m:r>
                          </m:sup>
                        </m:sSup>
                      </m:e>
                    </m:rad>
                  </m:oMath>
                </a14:m>
                <a:r>
                  <a:rPr sz="2000">
                    <a:solidFill>
                      <a:srgbClr val="1E293B"/>
                    </a:solidFill>
                    <a:latin typeface="Calibri"/>
                  </a:rPr>
                  <a:t>; đặc biệt </a:t>
                </a:r>
                <a14:m>
                  <m:oMath xmlns:m="http://schemas.openxmlformats.org/officeDocument/2006/math">
                    <m:r>
                      <a:rPr lang="vi-VN" sz="2000" b="0">
                        <a:solidFill>
                          <a:srgbClr val="1E293B"/>
                        </a:solidFill>
                        <a:latin typeface="Cambria Math" panose="02040503050406030204" pitchFamily="18" charset="0"/>
                      </a:rPr>
                      <m:t>𝑂𝐴</m:t>
                    </m:r>
                    <m:r>
                      <a:rPr lang="vi-VN" sz="2000" b="0">
                        <a:solidFill>
                          <a:srgbClr val="1E293B"/>
                        </a:solidFill>
                        <a:latin typeface="Cambria Math" panose="02040503050406030204" pitchFamily="18" charset="0"/>
                      </a:rPr>
                      <m:t>=</m:t>
                    </m:r>
                    <m:rad>
                      <m:radPr>
                        <m:degHide m:val="on"/>
                        <m:ctrlPr>
                          <a:rPr lang="vi-VN" sz="2000" b="0" i="1">
                            <a:solidFill>
                              <a:srgbClr val="1E293B"/>
                            </a:solidFill>
                            <a:latin typeface="Cambria Math" panose="02040503050406030204" pitchFamily="18" charset="0"/>
                          </a:rPr>
                        </m:ctrlPr>
                      </m:radPr>
                      <m:deg/>
                      <m:e>
                        <m:sSubSup>
                          <m:sSubSupPr>
                            <m:ctrlPr>
                              <a:rPr lang="vi-VN" sz="2000" b="0">
                                <a:solidFill>
                                  <a:srgbClr val="1E293B"/>
                                </a:solidFill>
                                <a:latin typeface="Cambria Math" panose="02040503050406030204" pitchFamily="18" charset="0"/>
                              </a:rPr>
                            </m:ctrlPr>
                          </m:sSubSupPr>
                          <m:e>
                            <m:r>
                              <a:rPr lang="vi-VN" sz="2000" b="0">
                                <a:solidFill>
                                  <a:srgbClr val="1E293B"/>
                                </a:solidFill>
                                <a:latin typeface="Cambria Math" panose="02040503050406030204" pitchFamily="18" charset="0"/>
                              </a:rPr>
                              <m:t>𝑥</m:t>
                            </m:r>
                          </m:e>
                          <m:sub>
                            <m:r>
                              <a:rPr lang="vi-VN" sz="2000" b="0">
                                <a:solidFill>
                                  <a:srgbClr val="1E293B"/>
                                </a:solidFill>
                                <a:latin typeface="Cambria Math" panose="02040503050406030204" pitchFamily="18" charset="0"/>
                              </a:rPr>
                              <m:t>𝐴</m:t>
                            </m:r>
                          </m:sub>
                          <m:sup>
                            <m:r>
                              <a:rPr lang="vi-VN" sz="2000" b="0">
                                <a:solidFill>
                                  <a:srgbClr val="1E293B"/>
                                </a:solidFill>
                                <a:latin typeface="Cambria Math" panose="02040503050406030204" pitchFamily="18" charset="0"/>
                              </a:rPr>
                              <m:t>2</m:t>
                            </m:r>
                          </m:sup>
                        </m:sSubSup>
                        <m:r>
                          <a:rPr lang="vi-VN" sz="2000" b="0">
                            <a:solidFill>
                              <a:srgbClr val="1E293B"/>
                            </a:solidFill>
                            <a:latin typeface="Cambria Math" panose="02040503050406030204" pitchFamily="18" charset="0"/>
                          </a:rPr>
                          <m:t>+</m:t>
                        </m:r>
                        <m:sSubSup>
                          <m:sSubSupPr>
                            <m:ctrlPr>
                              <a:rPr lang="vi-VN" sz="2000" b="0">
                                <a:solidFill>
                                  <a:srgbClr val="1E293B"/>
                                </a:solidFill>
                                <a:latin typeface="Cambria Math" panose="02040503050406030204" pitchFamily="18" charset="0"/>
                              </a:rPr>
                            </m:ctrlPr>
                          </m:sSubSupPr>
                          <m:e>
                            <m:r>
                              <a:rPr lang="vi-VN" sz="2000" b="0">
                                <a:solidFill>
                                  <a:srgbClr val="1E293B"/>
                                </a:solidFill>
                                <a:latin typeface="Cambria Math" panose="02040503050406030204" pitchFamily="18" charset="0"/>
                              </a:rPr>
                              <m:t>𝑦</m:t>
                            </m:r>
                          </m:e>
                          <m:sub>
                            <m:r>
                              <a:rPr lang="vi-VN" sz="2000" b="0">
                                <a:solidFill>
                                  <a:srgbClr val="1E293B"/>
                                </a:solidFill>
                                <a:latin typeface="Cambria Math" panose="02040503050406030204" pitchFamily="18" charset="0"/>
                              </a:rPr>
                              <m:t>𝐴</m:t>
                            </m:r>
                          </m:sub>
                          <m:sup>
                            <m:r>
                              <a:rPr lang="vi-VN" sz="2000" b="0">
                                <a:solidFill>
                                  <a:srgbClr val="1E293B"/>
                                </a:solidFill>
                                <a:latin typeface="Cambria Math" panose="02040503050406030204" pitchFamily="18" charset="0"/>
                              </a:rPr>
                              <m:t>2</m:t>
                            </m:r>
                          </m:sup>
                        </m:sSubSup>
                        <m:r>
                          <a:rPr lang="vi-VN" sz="2000" b="0">
                            <a:solidFill>
                              <a:srgbClr val="1E293B"/>
                            </a:solidFill>
                            <a:latin typeface="Cambria Math" panose="02040503050406030204" pitchFamily="18" charset="0"/>
                          </a:rPr>
                          <m:t>+</m:t>
                        </m:r>
                        <m:sSubSup>
                          <m:sSubSupPr>
                            <m:ctrlPr>
                              <a:rPr lang="vi-VN" sz="2000" b="0">
                                <a:solidFill>
                                  <a:srgbClr val="1E293B"/>
                                </a:solidFill>
                                <a:latin typeface="Cambria Math" panose="02040503050406030204" pitchFamily="18" charset="0"/>
                              </a:rPr>
                            </m:ctrlPr>
                          </m:sSubSupPr>
                          <m:e>
                            <m:r>
                              <a:rPr lang="vi-VN" sz="2000" b="0">
                                <a:solidFill>
                                  <a:srgbClr val="1E293B"/>
                                </a:solidFill>
                                <a:latin typeface="Cambria Math" panose="02040503050406030204" pitchFamily="18" charset="0"/>
                              </a:rPr>
                              <m:t>𝑧</m:t>
                            </m:r>
                          </m:e>
                          <m:sub>
                            <m:r>
                              <a:rPr lang="vi-VN" sz="2000" b="0">
                                <a:solidFill>
                                  <a:srgbClr val="1E293B"/>
                                </a:solidFill>
                                <a:latin typeface="Cambria Math" panose="02040503050406030204" pitchFamily="18" charset="0"/>
                              </a:rPr>
                              <m:t>𝐴</m:t>
                            </m:r>
                          </m:sub>
                          <m:sup>
                            <m:r>
                              <a:rPr lang="vi-VN" sz="2000" b="0">
                                <a:solidFill>
                                  <a:srgbClr val="1E293B"/>
                                </a:solidFill>
                                <a:latin typeface="Cambria Math" panose="02040503050406030204" pitchFamily="18" charset="0"/>
                              </a:rPr>
                              <m:t>2</m:t>
                            </m:r>
                          </m:sup>
                        </m:sSubSup>
                      </m:e>
                    </m:rad>
                  </m:oMath>
                </a14:m>
                <a:r>
                  <a:rPr sz="2000">
                    <a:solidFill>
                      <a:srgbClr val="1E293B"/>
                    </a:solidFill>
                    <a:latin typeface="Calibri"/>
                  </a:rPr>
                  <a:t>.</a:t>
                </a:r>
              </a:p>
            </p:txBody>
          </p:sp>
        </mc:Choice>
        <mc:Fallback xmlns="">
          <p:sp>
            <p:nvSpPr>
              <p:cNvPr id="15" name="TextBox 14"/>
              <p:cNvSpPr txBox="1"/>
              <p:nvPr/>
            </p:nvSpPr>
            <p:spPr>
              <a:xfrm>
                <a:off x="713232" y="5041392"/>
                <a:ext cx="8449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Chú ý.</a:t>
                </a:r>
                <a:r>
                  <a:rPr sz="2000">
                    <a:solidFill>
                      <a:srgbClr val="1E293B"/>
                    </a:solidFill>
                    <a:latin typeface="Calibri"/>
                  </a:rPr>
                  <a:t> </a:t>
                </a:r>
                <a:r>
                  <a:rPr lang="vi-VN"/>
                  <a:t>AB=|\overrightarrow{AB}|=\sqrt{(x_B-x_A)^2+(y_B-y_A)^2+(z_B-z_A)^2}</a:t>
                </a:r>
                <a:r>
                  <a:rPr sz="2000">
                    <a:solidFill>
                      <a:srgbClr val="1E293B"/>
                    </a:solidFill>
                    <a:latin typeface="Calibri"/>
                  </a:rPr>
                  <a:t>; đặc biệt </a:t>
                </a:r>
                <a:r>
                  <a:rPr lang="vi-VN"/>
                  <a:t>OA=\sqrt{x_A^2+y_A^2+z_A^2}</a:t>
                </a:r>
                <a:r>
                  <a:rPr sz="2000">
                    <a:solidFill>
                      <a:srgbClr val="1E293B"/>
                    </a:solidFill>
                    <a:latin typeface="Calibri"/>
                  </a:rPr>
                  <a:t>.</a:t>
                </a:r>
              </a:p>
            </p:txBody>
          </p:sp>
        </mc:Fallback>
      </mc:AlternateContent>
      <p:pic>
        <p:nvPicPr>
          <p:cNvPr id="16" name="Picture 15" descr="h248.png"/>
          <p:cNvPicPr>
            <a:picLocks noChangeAspect="1"/>
          </p:cNvPicPr>
          <p:nvPr/>
        </p:nvPicPr>
        <p:blipFill>
          <a:blip r:embed="rId3"/>
          <a:stretch>
            <a:fillRect/>
          </a:stretch>
        </p:blipFill>
        <p:spPr>
          <a:xfrm>
            <a:off x="9509760" y="1609938"/>
            <a:ext cx="2194560" cy="20836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4 (SGK TR.70)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16</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874775"/>
              </a:xfrm>
              <a:prstGeom prst="rect">
                <a:avLst/>
              </a:prstGeom>
              <a:noFill/>
            </p:spPr>
            <p:txBody>
              <a:bodyPr wrap="square" lIns="45720" rIns="45720" anchor="t">
                <a:spAutoFit/>
              </a:bodyPr>
              <a:lstStyle/>
              <a:p>
                <a:pPr algn="l">
                  <a:spcAft>
                    <a:spcPts val="800"/>
                  </a:spcAft>
                </a:pPr>
                <a:r>
                  <a:rPr sz="2300">
                    <a:solidFill>
                      <a:srgbClr val="1E293B"/>
                    </a:solidFill>
                    <a:latin typeface="Calibri"/>
                  </a:rPr>
                  <a:t>Trong không gian </a:t>
                </a:r>
                <a14:m>
                  <m:oMath xmlns:m="http://schemas.openxmlformats.org/officeDocument/2006/math">
                    <m:r>
                      <a:rPr lang="vi-VN" sz="2300" b="0">
                        <a:solidFill>
                          <a:srgbClr val="1E293B"/>
                        </a:solidFill>
                        <a:latin typeface="Cambria Math" panose="02040503050406030204" pitchFamily="18" charset="0"/>
                      </a:rPr>
                      <m:t>𝑂𝑥𝑦𝑧</m:t>
                    </m:r>
                  </m:oMath>
                </a14:m>
                <a:r>
                  <a:rPr sz="2300">
                    <a:solidFill>
                      <a:srgbClr val="1E293B"/>
                    </a:solidFill>
                    <a:latin typeface="Calibri"/>
                  </a:rPr>
                  <a:t>, cho </a:t>
                </a:r>
                <a14:m>
                  <m:oMath xmlns:m="http://schemas.openxmlformats.org/officeDocument/2006/math">
                    <m:r>
                      <a:rPr lang="vi-VN" sz="2300" b="0">
                        <a:solidFill>
                          <a:srgbClr val="1E293B"/>
                        </a:solidFill>
                        <a:latin typeface="Cambria Math" panose="02040503050406030204" pitchFamily="18" charset="0"/>
                      </a:rPr>
                      <m:t>𝐴</m:t>
                    </m:r>
                    <m:r>
                      <a:rPr lang="vi-VN" sz="2300" b="0">
                        <a:solidFill>
                          <a:srgbClr val="1E293B"/>
                        </a:solidFill>
                        <a:latin typeface="Cambria Math" panose="02040503050406030204" pitchFamily="18" charset="0"/>
                      </a:rPr>
                      <m:t>(0; 2; 1)</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𝐵</m:t>
                    </m:r>
                    <m:r>
                      <a:rPr lang="vi-VN" sz="2300" b="0">
                        <a:solidFill>
                          <a:srgbClr val="1E293B"/>
                        </a:solidFill>
                        <a:latin typeface="Cambria Math" panose="02040503050406030204" pitchFamily="18" charset="0"/>
                      </a:rPr>
                      <m:t>(3; −2; 1)</m:t>
                    </m:r>
                  </m:oMath>
                </a14:m>
                <a:r>
                  <a:rPr sz="2300">
                    <a:solidFill>
                      <a:srgbClr val="1E293B"/>
                    </a:solidFill>
                    <a:latin typeface="Calibri"/>
                  </a:rPr>
                  <a:t> và </a:t>
                </a:r>
                <a14:m>
                  <m:oMath xmlns:m="http://schemas.openxmlformats.org/officeDocument/2006/math">
                    <m:r>
                      <a:rPr lang="vi-VN" sz="2300" b="0">
                        <a:solidFill>
                          <a:srgbClr val="1E293B"/>
                        </a:solidFill>
                        <a:latin typeface="Cambria Math" panose="02040503050406030204" pitchFamily="18" charset="0"/>
                      </a:rPr>
                      <m:t>𝐶</m:t>
                    </m:r>
                    <m:r>
                      <a:rPr lang="vi-VN" sz="2300" b="0">
                        <a:solidFill>
                          <a:srgbClr val="1E293B"/>
                        </a:solidFill>
                        <a:latin typeface="Cambria Math" panose="02040503050406030204" pitchFamily="18" charset="0"/>
                      </a:rPr>
                      <m:t>(−2; 5; 7)</m:t>
                    </m:r>
                  </m:oMath>
                </a14:m>
                <a:r>
                  <a:rPr sz="2300">
                    <a:solidFill>
                      <a:srgbClr val="1E293B"/>
                    </a:solidFill>
                    <a:latin typeface="Calibri"/>
                  </a:rPr>
                  <a:t>. a) Tính chu vi của tam giác </a:t>
                </a:r>
                <a14:m>
                  <m:oMath xmlns:m="http://schemas.openxmlformats.org/officeDocument/2006/math">
                    <m:r>
                      <a:rPr lang="vi-VN" sz="2300" b="0">
                        <a:solidFill>
                          <a:srgbClr val="1E293B"/>
                        </a:solidFill>
                        <a:latin typeface="Cambria Math" panose="02040503050406030204" pitchFamily="18" charset="0"/>
                      </a:rPr>
                      <m:t>𝐴𝐵𝐶</m:t>
                    </m:r>
                  </m:oMath>
                </a14:m>
                <a:r>
                  <a:rPr sz="2300">
                    <a:solidFill>
                      <a:srgbClr val="1E293B"/>
                    </a:solidFill>
                    <a:latin typeface="Calibri"/>
                  </a:rPr>
                  <a:t>. b) Tính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𝐵𝐴𝐶</m:t>
                        </m:r>
                      </m:e>
                    </m:acc>
                  </m:oMath>
                </a14:m>
                <a:r>
                  <a:rPr sz="2300">
                    <a:solidFill>
                      <a:srgbClr val="1E293B"/>
                    </a:solidFill>
                    <a:latin typeface="Calibri"/>
                  </a:rPr>
                  <a:t>.</a:t>
                </a:r>
              </a:p>
            </p:txBody>
          </p:sp>
        </mc:Choice>
        <mc:Fallback xmlns="">
          <p:sp>
            <p:nvSpPr>
              <p:cNvPr id="7" name="TextBox 6"/>
              <p:cNvSpPr txBox="1"/>
              <p:nvPr/>
            </p:nvSpPr>
            <p:spPr>
              <a:xfrm>
                <a:off x="548640" y="1371600"/>
                <a:ext cx="11064240" cy="874775"/>
              </a:xfrm>
              <a:prstGeom prst="rect">
                <a:avLst/>
              </a:prstGeom>
              <a:noFill/>
            </p:spPr>
            <p:txBody>
              <a:bodyPr wrap="square" anchor="t" lIns="45720" rIns="45720">
                <a:spAutoFit/>
              </a:bodyPr>
              <a:lstStyle/>
              <a:p>
                <a:pPr algn="l">
                  <a:spcAft>
                    <a:spcPts val="800"/>
                  </a:spcAft>
                </a:pPr>
                <a:r>
                  <a:rPr sz="2300">
                    <a:solidFill>
                      <a:srgbClr val="1E293B"/>
                    </a:solidFill>
                    <a:latin typeface="Calibri"/>
                  </a:rPr>
                  <a:t>Trong không gian </a:t>
                </a:r>
                <a:r>
                  <a:rPr lang="vi-VN"/>
                  <a:t>Oxyz</a:t>
                </a:r>
                <a:r>
                  <a:rPr sz="2300">
                    <a:solidFill>
                      <a:srgbClr val="1E293B"/>
                    </a:solidFill>
                    <a:latin typeface="Calibri"/>
                  </a:rPr>
                  <a:t>, cho </a:t>
                </a:r>
                <a:r>
                  <a:rPr lang="vi-VN"/>
                  <a:t>A(0;\ 2;\ 1)</a:t>
                </a:r>
                <a:r>
                  <a:rPr sz="2300">
                    <a:solidFill>
                      <a:srgbClr val="1E293B"/>
                    </a:solidFill>
                    <a:latin typeface="Calibri"/>
                  </a:rPr>
                  <a:t>, </a:t>
                </a:r>
                <a:r>
                  <a:rPr lang="vi-VN"/>
                  <a:t>B(3;\ -2;\ 1)</a:t>
                </a:r>
                <a:r>
                  <a:rPr sz="2300">
                    <a:solidFill>
                      <a:srgbClr val="1E293B"/>
                    </a:solidFill>
                    <a:latin typeface="Calibri"/>
                  </a:rPr>
                  <a:t> và </a:t>
                </a:r>
                <a:r>
                  <a:rPr lang="vi-VN"/>
                  <a:t>C(-2;\ 5;\ 7)</a:t>
                </a:r>
                <a:r>
                  <a:rPr sz="2300">
                    <a:solidFill>
                      <a:srgbClr val="1E293B"/>
                    </a:solidFill>
                    <a:latin typeface="Calibri"/>
                  </a:rPr>
                  <a:t>. a) Tính chu vi của tam giác </a:t>
                </a:r>
                <a:r>
                  <a:rPr lang="vi-VN"/>
                  <a:t>ABC</a:t>
                </a:r>
                <a:r>
                  <a:rPr sz="2300">
                    <a:solidFill>
                      <a:srgbClr val="1E293B"/>
                    </a:solidFill>
                    <a:latin typeface="Calibri"/>
                  </a:rPr>
                  <a:t>. b) Tính </a:t>
                </a:r>
                <a:r>
                  <a:rPr lang="vi-VN"/>
                  <a:t>\widehat{BAC}</a:t>
                </a:r>
                <a:r>
                  <a:rPr sz="2300">
                    <a:solidFill>
                      <a:srgbClr val="1E293B"/>
                    </a:solidFill>
                    <a:latin typeface="Calibri"/>
                  </a:rPr>
                  <a:t>.</a:t>
                </a:r>
              </a:p>
            </p:txBody>
          </p:sp>
        </mc:Fallback>
      </mc:AlternateContent>
      <p:sp>
        <p:nvSpPr>
          <p:cNvPr id="8" name="s1_nen"/>
          <p:cNvSpPr/>
          <p:nvPr/>
        </p:nvSpPr>
        <p:spPr>
          <a:xfrm>
            <a:off x="548640" y="2383536"/>
            <a:ext cx="11064240" cy="9662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420112"/>
                <a:ext cx="10735056" cy="893064"/>
              </a:xfrm>
              <a:prstGeom prst="rect">
                <a:avLst/>
              </a:prstGeom>
              <a:noFill/>
            </p:spPr>
            <p:txBody>
              <a:bodyPr wrap="square" lIns="45720" rIns="45720" anchor="ctr">
                <a:spAutoFit/>
              </a:bodyPr>
              <a:lstStyle/>
              <a:p>
                <a:pPr algn="l">
                  <a:spcAft>
                    <a:spcPts val="800"/>
                  </a:spcAft>
                </a:pPr>
                <a:r>
                  <a:rPr sz="2300">
                    <a:solidFill>
                      <a:srgbClr val="1E293B"/>
                    </a:solidFill>
                    <a:latin typeface="Calibri"/>
                  </a:rPr>
                  <a:t>a)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𝐴𝐵</m:t>
                        </m:r>
                      </m:e>
                    </m:acc>
                  </m:oMath>
                </a14:m>
                <a:r>
                  <a:rPr sz="2300">
                    <a:solidFill>
                      <a:srgbClr val="1E293B"/>
                    </a:solidFill>
                    <a:latin typeface="Calibri"/>
                  </a:rPr>
                  <a:t> = </a:t>
                </a:r>
                <a14:m>
                  <m:oMath xmlns:m="http://schemas.openxmlformats.org/officeDocument/2006/math">
                    <m:d>
                      <m:dPr>
                        <m:ctrlPr>
                          <a:rPr lang="vi-VN" sz="2300" b="0">
                            <a:solidFill>
                              <a:srgbClr val="1E293B"/>
                            </a:solidFill>
                            <a:latin typeface="Cambria Math" panose="02040503050406030204" pitchFamily="18" charset="0"/>
                          </a:rPr>
                        </m:ctrlPr>
                      </m:dPr>
                      <m:e>
                        <m:r>
                          <a:rPr lang="vi-VN" sz="2300" b="0">
                            <a:solidFill>
                              <a:srgbClr val="1E293B"/>
                            </a:solidFill>
                            <a:latin typeface="Cambria Math" panose="02040503050406030204" pitchFamily="18" charset="0"/>
                          </a:rPr>
                          <m:t>3;−4;0</m:t>
                        </m:r>
                      </m:e>
                    </m:d>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𝐴𝐵</m:t>
                    </m:r>
                    <m:r>
                      <a:rPr lang="vi-VN" sz="2300" b="0">
                        <a:solidFill>
                          <a:srgbClr val="1E293B"/>
                        </a:solidFill>
                        <a:latin typeface="Cambria Math" panose="02040503050406030204" pitchFamily="18" charset="0"/>
                      </a:rPr>
                      <m:t>=5</m:t>
                    </m:r>
                  </m:oMath>
                </a14:m>
                <a:r>
                  <a:rPr sz="2300">
                    <a:solidFill>
                      <a:srgbClr val="1E293B"/>
                    </a:solidFill>
                    <a:latin typeface="Calibri"/>
                  </a:rPr>
                  <a:t>;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𝐴𝐶</m:t>
                        </m:r>
                      </m:e>
                    </m:acc>
                  </m:oMath>
                </a14:m>
                <a:r>
                  <a:rPr sz="2300">
                    <a:solidFill>
                      <a:srgbClr val="1E293B"/>
                    </a:solidFill>
                    <a:latin typeface="Calibri"/>
                  </a:rPr>
                  <a:t> = </a:t>
                </a:r>
                <a14:m>
                  <m:oMath xmlns:m="http://schemas.openxmlformats.org/officeDocument/2006/math">
                    <m:d>
                      <m:dPr>
                        <m:ctrlPr>
                          <a:rPr lang="vi-VN" sz="2300" b="0">
                            <a:solidFill>
                              <a:srgbClr val="1E293B"/>
                            </a:solidFill>
                            <a:latin typeface="Cambria Math" panose="02040503050406030204" pitchFamily="18" charset="0"/>
                          </a:rPr>
                        </m:ctrlPr>
                      </m:dPr>
                      <m:e>
                        <m:r>
                          <a:rPr lang="vi-VN" sz="2300" b="0">
                            <a:solidFill>
                              <a:srgbClr val="1E293B"/>
                            </a:solidFill>
                            <a:latin typeface="Cambria Math" panose="02040503050406030204" pitchFamily="18" charset="0"/>
                          </a:rPr>
                          <m:t>−2;3;6</m:t>
                        </m:r>
                      </m:e>
                    </m:d>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𝐴𝐶</m:t>
                    </m:r>
                    <m:r>
                      <a:rPr lang="vi-VN" sz="2300" b="0">
                        <a:solidFill>
                          <a:srgbClr val="1E293B"/>
                        </a:solidFill>
                        <a:latin typeface="Cambria Math" panose="02040503050406030204" pitchFamily="18" charset="0"/>
                      </a:rPr>
                      <m:t>=7</m:t>
                    </m:r>
                  </m:oMath>
                </a14:m>
                <a:r>
                  <a:rPr sz="2300">
                    <a:solidFill>
                      <a:srgbClr val="1E293B"/>
                    </a:solidFill>
                    <a:latin typeface="Calibri"/>
                  </a:rPr>
                  <a:t>;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𝐵𝐶</m:t>
                        </m:r>
                      </m:e>
                    </m:acc>
                  </m:oMath>
                </a14:m>
                <a:r>
                  <a:rPr sz="2300">
                    <a:solidFill>
                      <a:srgbClr val="1E293B"/>
                    </a:solidFill>
                    <a:latin typeface="Calibri"/>
                  </a:rPr>
                  <a:t> = </a:t>
                </a:r>
                <a14:m>
                  <m:oMath xmlns:m="http://schemas.openxmlformats.org/officeDocument/2006/math">
                    <m:d>
                      <m:dPr>
                        <m:ctrlPr>
                          <a:rPr lang="vi-VN" sz="2300" b="0">
                            <a:solidFill>
                              <a:srgbClr val="1E293B"/>
                            </a:solidFill>
                            <a:latin typeface="Cambria Math" panose="02040503050406030204" pitchFamily="18" charset="0"/>
                          </a:rPr>
                        </m:ctrlPr>
                      </m:dPr>
                      <m:e>
                        <m:r>
                          <a:rPr lang="vi-VN" sz="2300" b="0">
                            <a:solidFill>
                              <a:srgbClr val="1E293B"/>
                            </a:solidFill>
                            <a:latin typeface="Cambria Math" panose="02040503050406030204" pitchFamily="18" charset="0"/>
                          </a:rPr>
                          <m:t>−5;7;6</m:t>
                        </m:r>
                      </m:e>
                    </m:d>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𝐵𝐶</m:t>
                    </m:r>
                    <m:r>
                      <a:rPr lang="vi-VN" sz="2300" b="0">
                        <a:solidFill>
                          <a:srgbClr val="1E293B"/>
                        </a:solidFill>
                        <a:latin typeface="Cambria Math" panose="02040503050406030204" pitchFamily="18" charset="0"/>
                      </a:rPr>
                      <m:t>=</m:t>
                    </m:r>
                    <m:rad>
                      <m:radPr>
                        <m:degHide m:val="on"/>
                        <m:ctrlPr>
                          <a:rPr lang="vi-VN" sz="2300" b="0" i="1">
                            <a:solidFill>
                              <a:srgbClr val="1E293B"/>
                            </a:solidFill>
                            <a:latin typeface="Cambria Math" panose="02040503050406030204" pitchFamily="18" charset="0"/>
                          </a:rPr>
                        </m:ctrlPr>
                      </m:radPr>
                      <m:deg/>
                      <m:e>
                        <m:r>
                          <a:rPr lang="vi-VN" sz="2300" b="0">
                            <a:solidFill>
                              <a:srgbClr val="1E293B"/>
                            </a:solidFill>
                            <a:latin typeface="Cambria Math" panose="02040503050406030204" pitchFamily="18" charset="0"/>
                          </a:rPr>
                          <m:t>110</m:t>
                        </m:r>
                      </m:e>
                    </m:rad>
                  </m:oMath>
                </a14:m>
                <a:r>
                  <a:rPr sz="2300">
                    <a:solidFill>
                      <a:srgbClr val="1E293B"/>
                    </a:solidFill>
                    <a:latin typeface="Calibri"/>
                  </a:rPr>
                  <a:t>. Chu vi </a:t>
                </a:r>
                <a14:m>
                  <m:oMath xmlns:m="http://schemas.openxmlformats.org/officeDocument/2006/math">
                    <m:r>
                      <a:rPr lang="vi-VN" sz="2300" b="0">
                        <a:solidFill>
                          <a:srgbClr val="1E293B"/>
                        </a:solidFill>
                        <a:latin typeface="Cambria Math" panose="02040503050406030204" pitchFamily="18" charset="0"/>
                      </a:rPr>
                      <m:t>=12+</m:t>
                    </m:r>
                    <m:rad>
                      <m:radPr>
                        <m:degHide m:val="on"/>
                        <m:ctrlPr>
                          <a:rPr lang="vi-VN" sz="2300" b="0" i="1">
                            <a:solidFill>
                              <a:srgbClr val="1E293B"/>
                            </a:solidFill>
                            <a:latin typeface="Cambria Math" panose="02040503050406030204" pitchFamily="18" charset="0"/>
                          </a:rPr>
                        </m:ctrlPr>
                      </m:radPr>
                      <m:deg/>
                      <m:e>
                        <m:r>
                          <a:rPr lang="vi-VN" sz="2300" b="0">
                            <a:solidFill>
                              <a:srgbClr val="1E293B"/>
                            </a:solidFill>
                            <a:latin typeface="Cambria Math" panose="02040503050406030204" pitchFamily="18" charset="0"/>
                          </a:rPr>
                          <m:t>110</m:t>
                        </m:r>
                      </m:e>
                    </m:rad>
                    <m:r>
                      <a:rPr lang="vi-VN" sz="2300" b="0">
                        <a:solidFill>
                          <a:srgbClr val="1E293B"/>
                        </a:solidFill>
                        <a:latin typeface="Cambria Math" panose="02040503050406030204" pitchFamily="18" charset="0"/>
                      </a:rPr>
                      <m:t>≈22,49</m:t>
                    </m:r>
                  </m:oMath>
                </a14:m>
                <a:r>
                  <a:rPr sz="2300">
                    <a:solidFill>
                      <a:srgbClr val="1E293B"/>
                    </a:solidFill>
                    <a:latin typeface="Calibri"/>
                  </a:rPr>
                  <a:t>.</a:t>
                </a:r>
              </a:p>
            </p:txBody>
          </p:sp>
        </mc:Choice>
        <mc:Fallback xmlns="">
          <p:sp>
            <p:nvSpPr>
              <p:cNvPr id="9" name="TextBox 8"/>
              <p:cNvSpPr txBox="1"/>
              <p:nvPr/>
            </p:nvSpPr>
            <p:spPr>
              <a:xfrm>
                <a:off x="713232" y="2420112"/>
                <a:ext cx="10735056" cy="893064"/>
              </a:xfrm>
              <a:prstGeom prst="rect">
                <a:avLst/>
              </a:prstGeom>
              <a:noFill/>
            </p:spPr>
            <p:txBody>
              <a:bodyPr wrap="square" anchor="ctr" lIns="45720" rIns="45720">
                <a:spAutoFit/>
              </a:bodyPr>
              <a:lstStyle/>
              <a:p>
                <a:pPr algn="l">
                  <a:spcAft>
                    <a:spcPts val="800"/>
                  </a:spcAft>
                </a:pPr>
                <a:r>
                  <a:rPr sz="2300">
                    <a:solidFill>
                      <a:srgbClr val="1E293B"/>
                    </a:solidFill>
                    <a:latin typeface="Calibri"/>
                  </a:rPr>
                  <a:t>a) </a:t>
                </a:r>
                <a:r>
                  <a:rPr lang="vi-VN"/>
                  <a:t>\overrightarrow{AB}</a:t>
                </a:r>
                <a:r>
                  <a:rPr sz="2300">
                    <a:solidFill>
                      <a:srgbClr val="1E293B"/>
                    </a:solidFill>
                    <a:latin typeface="Calibri"/>
                  </a:rPr>
                  <a:t> = </a:t>
                </a:r>
                <a:r>
                  <a:rPr lang="vi-VN"/>
                  <a:t>(3;-4;0)</a:t>
                </a:r>
                <a:r>
                  <a:rPr sz="2300">
                    <a:solidFill>
                      <a:srgbClr val="1E293B"/>
                    </a:solidFill>
                    <a:latin typeface="Calibri"/>
                  </a:rPr>
                  <a:t>, </a:t>
                </a:r>
                <a:r>
                  <a:rPr lang="vi-VN"/>
                  <a:t>AB=5</a:t>
                </a:r>
                <a:r>
                  <a:rPr sz="2300">
                    <a:solidFill>
                      <a:srgbClr val="1E293B"/>
                    </a:solidFill>
                    <a:latin typeface="Calibri"/>
                  </a:rPr>
                  <a:t>; </a:t>
                </a:r>
                <a:r>
                  <a:rPr lang="vi-VN"/>
                  <a:t>\overrightarrow{AC}</a:t>
                </a:r>
                <a:r>
                  <a:rPr sz="2300">
                    <a:solidFill>
                      <a:srgbClr val="1E293B"/>
                    </a:solidFill>
                    <a:latin typeface="Calibri"/>
                  </a:rPr>
                  <a:t> = </a:t>
                </a:r>
                <a:r>
                  <a:rPr lang="vi-VN"/>
                  <a:t>(-2;3;6)</a:t>
                </a:r>
                <a:r>
                  <a:rPr sz="2300">
                    <a:solidFill>
                      <a:srgbClr val="1E293B"/>
                    </a:solidFill>
                    <a:latin typeface="Calibri"/>
                  </a:rPr>
                  <a:t>, </a:t>
                </a:r>
                <a:r>
                  <a:rPr lang="vi-VN"/>
                  <a:t>AC=7</a:t>
                </a:r>
                <a:r>
                  <a:rPr sz="2300">
                    <a:solidFill>
                      <a:srgbClr val="1E293B"/>
                    </a:solidFill>
                    <a:latin typeface="Calibri"/>
                  </a:rPr>
                  <a:t>; </a:t>
                </a:r>
                <a:r>
                  <a:rPr lang="vi-VN"/>
                  <a:t>\overrightarrow{BC}</a:t>
                </a:r>
                <a:r>
                  <a:rPr sz="2300">
                    <a:solidFill>
                      <a:srgbClr val="1E293B"/>
                    </a:solidFill>
                    <a:latin typeface="Calibri"/>
                  </a:rPr>
                  <a:t> = </a:t>
                </a:r>
                <a:r>
                  <a:rPr lang="vi-VN"/>
                  <a:t>(-5;7;6)</a:t>
                </a:r>
                <a:r>
                  <a:rPr sz="2300">
                    <a:solidFill>
                      <a:srgbClr val="1E293B"/>
                    </a:solidFill>
                    <a:latin typeface="Calibri"/>
                  </a:rPr>
                  <a:t>, </a:t>
                </a:r>
                <a:r>
                  <a:rPr lang="vi-VN"/>
                  <a:t>BC=\sqrt{110}</a:t>
                </a:r>
                <a:r>
                  <a:rPr sz="2300">
                    <a:solidFill>
                      <a:srgbClr val="1E293B"/>
                    </a:solidFill>
                    <a:latin typeface="Calibri"/>
                  </a:rPr>
                  <a:t>. Chu vi </a:t>
                </a:r>
                <a:r>
                  <a:rPr lang="vi-VN"/>
                  <a:t>=12+\sqrt{110}\approx 22{,}49</a:t>
                </a:r>
                <a:r>
                  <a:rPr sz="2300">
                    <a:solidFill>
                      <a:srgbClr val="1E293B"/>
                    </a:solidFill>
                    <a:latin typeface="Calibri"/>
                  </a:rPr>
                  <a:t>.</a:t>
                </a:r>
              </a:p>
            </p:txBody>
          </p:sp>
        </mc:Fallback>
      </mc:AlternateContent>
      <p:sp>
        <p:nvSpPr>
          <p:cNvPr id="10" name="s2_nen"/>
          <p:cNvSpPr/>
          <p:nvPr/>
        </p:nvSpPr>
        <p:spPr>
          <a:xfrm>
            <a:off x="548640" y="3486911"/>
            <a:ext cx="11064240" cy="93116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523487"/>
                <a:ext cx="10735056" cy="858011"/>
              </a:xfrm>
              <a:prstGeom prst="rect">
                <a:avLst/>
              </a:prstGeom>
              <a:noFill/>
            </p:spPr>
            <p:txBody>
              <a:bodyPr wrap="square" lIns="45720" rIns="45720" anchor="ctr">
                <a:spAutoFit/>
              </a:bodyPr>
              <a:lstStyle/>
              <a:p>
                <a:pPr algn="l">
                  <a:spcAft>
                    <a:spcPts val="800"/>
                  </a:spcAft>
                </a:pPr>
                <a:r>
                  <a:rPr sz="2300">
                    <a:solidFill>
                      <a:srgbClr val="1E293B"/>
                    </a:solidFill>
                    <a:latin typeface="Calibri"/>
                  </a:rPr>
                  <a:t>b) </a:t>
                </a:r>
                <a14:m>
                  <m:oMath xmlns:m="http://schemas.openxmlformats.org/officeDocument/2006/math">
                    <m:r>
                      <m:rPr>
                        <m:sty m:val="p"/>
                      </m:rPr>
                      <a:rPr lang="vi-VN" sz="2300" b="0">
                        <a:solidFill>
                          <a:srgbClr val="1E293B"/>
                        </a:solidFill>
                        <a:latin typeface="Cambria Math" panose="02040503050406030204" pitchFamily="18" charset="0"/>
                      </a:rPr>
                      <m:t>cos</m:t>
                    </m:r>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𝐵𝐴𝐶</m:t>
                        </m:r>
                      </m:e>
                    </m:acc>
                    <m:r>
                      <a:rPr lang="vi-VN" sz="2300" b="0">
                        <a:solidFill>
                          <a:srgbClr val="1E293B"/>
                        </a:solidFill>
                        <a:latin typeface="Cambria Math" panose="02040503050406030204" pitchFamily="18" charset="0"/>
                      </a:rPr>
                      <m:t>=</m:t>
                    </m:r>
                    <m:f>
                      <m:fPr>
                        <m:ctrlPr>
                          <a:rPr lang="vi-VN" sz="2300" b="0">
                            <a:solidFill>
                              <a:srgbClr val="1E293B"/>
                            </a:solidFill>
                            <a:latin typeface="Cambria Math" panose="02040503050406030204" pitchFamily="18" charset="0"/>
                          </a:rPr>
                        </m:ctrlPr>
                      </m:fPr>
                      <m:num>
                        <m:r>
                          <a:rPr lang="vi-VN" sz="2300" b="0">
                            <a:solidFill>
                              <a:srgbClr val="1E293B"/>
                            </a:solidFill>
                            <a:latin typeface="Cambria Math" panose="02040503050406030204" pitchFamily="18" charset="0"/>
                          </a:rPr>
                          <m:t>−6−12+0</m:t>
                        </m:r>
                      </m:num>
                      <m:den>
                        <m:r>
                          <a:rPr lang="vi-VN" sz="2300" b="0">
                            <a:solidFill>
                              <a:srgbClr val="1E293B"/>
                            </a:solidFill>
                            <a:latin typeface="Cambria Math" panose="02040503050406030204" pitchFamily="18" charset="0"/>
                          </a:rPr>
                          <m:t>5·7</m:t>
                        </m:r>
                      </m:den>
                    </m:f>
                    <m:r>
                      <a:rPr lang="vi-VN" sz="2300" b="0">
                        <a:solidFill>
                          <a:srgbClr val="1E293B"/>
                        </a:solidFill>
                        <a:latin typeface="Cambria Math" panose="02040503050406030204" pitchFamily="18" charset="0"/>
                      </a:rPr>
                      <m:t>=−</m:t>
                    </m:r>
                    <m:f>
                      <m:fPr>
                        <m:ctrlPr>
                          <a:rPr lang="vi-VN" sz="2300" b="0">
                            <a:solidFill>
                              <a:srgbClr val="1E293B"/>
                            </a:solidFill>
                            <a:latin typeface="Cambria Math" panose="02040503050406030204" pitchFamily="18" charset="0"/>
                          </a:rPr>
                        </m:ctrlPr>
                      </m:fPr>
                      <m:num>
                        <m:r>
                          <a:rPr lang="vi-VN" sz="2300" b="0">
                            <a:solidFill>
                              <a:srgbClr val="1E293B"/>
                            </a:solidFill>
                            <a:latin typeface="Cambria Math" panose="02040503050406030204" pitchFamily="18" charset="0"/>
                          </a:rPr>
                          <m:t>18</m:t>
                        </m:r>
                      </m:num>
                      <m:den>
                        <m:r>
                          <a:rPr lang="vi-VN" sz="2300" b="0">
                            <a:solidFill>
                              <a:srgbClr val="1E293B"/>
                            </a:solidFill>
                            <a:latin typeface="Cambria Math" panose="02040503050406030204" pitchFamily="18" charset="0"/>
                          </a:rPr>
                          <m:t>35</m:t>
                        </m:r>
                      </m:den>
                    </m:f>
                  </m:oMath>
                </a14:m>
                <a:r>
                  <a:rPr sz="2300">
                    <a:solidFill>
                      <a:srgbClr val="1E293B"/>
                    </a:solidFill>
                    <a:latin typeface="Calibri"/>
                  </a:rPr>
                  <a:t> ⇒ </a:t>
                </a:r>
                <a14:m>
                  <m:oMath xmlns:m="http://schemas.openxmlformats.org/officeDocument/2006/math">
                    <m:acc>
                      <m:accPr>
                        <m:chr m:val="̂"/>
                        <m:ctrlPr>
                          <a:rPr lang="vi-VN" sz="2300" b="0">
                            <a:solidFill>
                              <a:srgbClr val="1E293B"/>
                            </a:solidFill>
                            <a:latin typeface="Cambria Math" panose="02040503050406030204" pitchFamily="18" charset="0"/>
                          </a:rPr>
                        </m:ctrlPr>
                      </m:accPr>
                      <m:e>
                        <m:r>
                          <a:rPr lang="vi-VN" sz="2300" b="0">
                            <a:solidFill>
                              <a:srgbClr val="1E293B"/>
                            </a:solidFill>
                            <a:latin typeface="Cambria Math" panose="02040503050406030204" pitchFamily="18" charset="0"/>
                          </a:rPr>
                          <m:t>𝐵𝐴𝐶</m:t>
                        </m:r>
                      </m:e>
                    </m:acc>
                    <m:r>
                      <a:rPr lang="vi-VN" sz="2300" b="0">
                        <a:solidFill>
                          <a:srgbClr val="1E293B"/>
                        </a:solidFill>
                        <a:latin typeface="Cambria Math" panose="02040503050406030204" pitchFamily="18" charset="0"/>
                      </a:rPr>
                      <m:t>≈120,</m:t>
                    </m:r>
                    <m:sSup>
                      <m:sSupPr>
                        <m:ctrlPr>
                          <a:rPr lang="vi-VN" sz="2300" b="0">
                            <a:solidFill>
                              <a:srgbClr val="1E293B"/>
                            </a:solidFill>
                            <a:latin typeface="Cambria Math" panose="02040503050406030204" pitchFamily="18" charset="0"/>
                          </a:rPr>
                        </m:ctrlPr>
                      </m:sSupPr>
                      <m:e>
                        <m:r>
                          <a:rPr lang="vi-VN" sz="2300" b="0">
                            <a:solidFill>
                              <a:srgbClr val="1E293B"/>
                            </a:solidFill>
                            <a:latin typeface="Cambria Math" panose="02040503050406030204" pitchFamily="18" charset="0"/>
                          </a:rPr>
                          <m:t>95</m:t>
                        </m:r>
                      </m:e>
                      <m:sup>
                        <m:r>
                          <a:rPr lang="vi-VN" sz="2300" b="0">
                            <a:solidFill>
                              <a:srgbClr val="1E293B"/>
                            </a:solidFill>
                            <a:latin typeface="Cambria Math" panose="02040503050406030204" pitchFamily="18" charset="0"/>
                          </a:rPr>
                          <m:t>∘</m:t>
                        </m:r>
                      </m:sup>
                    </m:sSup>
                  </m:oMath>
                </a14:m>
                <a:r>
                  <a:rPr sz="2300">
                    <a:solidFill>
                      <a:srgbClr val="1E293B"/>
                    </a:solidFill>
                    <a:latin typeface="Calibri"/>
                  </a:rPr>
                  <a:t>.</a:t>
                </a:r>
              </a:p>
            </p:txBody>
          </p:sp>
        </mc:Choice>
        <mc:Fallback xmlns="">
          <p:sp>
            <p:nvSpPr>
              <p:cNvPr id="11" name="TextBox 10"/>
              <p:cNvSpPr txBox="1"/>
              <p:nvPr/>
            </p:nvSpPr>
            <p:spPr>
              <a:xfrm>
                <a:off x="713232" y="3523487"/>
                <a:ext cx="10735056" cy="858011"/>
              </a:xfrm>
              <a:prstGeom prst="rect">
                <a:avLst/>
              </a:prstGeom>
              <a:noFill/>
            </p:spPr>
            <p:txBody>
              <a:bodyPr wrap="square" anchor="ctr" lIns="45720" rIns="45720">
                <a:spAutoFit/>
              </a:bodyPr>
              <a:lstStyle/>
              <a:p>
                <a:pPr algn="l">
                  <a:spcAft>
                    <a:spcPts val="800"/>
                  </a:spcAft>
                </a:pPr>
                <a:r>
                  <a:rPr sz="2300">
                    <a:solidFill>
                      <a:srgbClr val="1E293B"/>
                    </a:solidFill>
                    <a:latin typeface="Calibri"/>
                  </a:rPr>
                  <a:t>b) </a:t>
                </a:r>
                <a:r>
                  <a:rPr lang="vi-VN"/>
                  <a:t>\cos\widehat{BAC}=\frac{-6-12+0}{5\cdot 7}=-\frac{18}{35}</a:t>
                </a:r>
                <a:r>
                  <a:rPr sz="2300">
                    <a:solidFill>
                      <a:srgbClr val="1E293B"/>
                    </a:solidFill>
                    <a:latin typeface="Calibri"/>
                  </a:rPr>
                  <a:t> ⇒ </a:t>
                </a:r>
                <a:r>
                  <a:rPr lang="vi-VN"/>
                  <a:t>\widehat{BAC}\approx 120{,}95^\circ</a:t>
                </a:r>
                <a:r>
                  <a:rPr sz="23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3. VẬN DỤNG – VÍ DỤ 5 (SGK TR.70)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17</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7863840" cy="1392936"/>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Ví dụ 5.</a:t>
                </a:r>
                <a:r>
                  <a:rPr sz="2000">
                    <a:solidFill>
                      <a:srgbClr val="1E293B"/>
                    </a:solidFill>
                    <a:latin typeface="Calibri"/>
                  </a:rPr>
                  <a:t> Radar phát hiện một máy bay di chuyển với vận tốc và hướng không đổi từ </a:t>
                </a:r>
                <a14:m>
                  <m:oMath xmlns:m="http://schemas.openxmlformats.org/officeDocument/2006/math">
                    <m:r>
                      <a:rPr lang="vi-VN" sz="2000" b="0">
                        <a:solidFill>
                          <a:srgbClr val="1E293B"/>
                        </a:solidFill>
                        <a:latin typeface="Cambria Math" panose="02040503050406030204" pitchFamily="18" charset="0"/>
                      </a:rPr>
                      <m:t>𝐴</m:t>
                    </m:r>
                    <m:r>
                      <a:rPr lang="vi-VN" sz="2000" b="0">
                        <a:solidFill>
                          <a:srgbClr val="1E293B"/>
                        </a:solidFill>
                        <a:latin typeface="Cambria Math" panose="02040503050406030204" pitchFamily="18" charset="0"/>
                      </a:rPr>
                      <m:t>(800; 500; 7)</m:t>
                    </m:r>
                  </m:oMath>
                </a14:m>
                <a:r>
                  <a:rPr sz="2000">
                    <a:solidFill>
                      <a:srgbClr val="1E293B"/>
                    </a:solidFill>
                    <a:latin typeface="Calibri"/>
                  </a:rPr>
                  <a:t> đến </a:t>
                </a:r>
                <a14:m>
                  <m:oMath xmlns:m="http://schemas.openxmlformats.org/officeDocument/2006/math">
                    <m:r>
                      <a:rPr lang="vi-VN" sz="2000" b="0">
                        <a:solidFill>
                          <a:srgbClr val="1E293B"/>
                        </a:solidFill>
                        <a:latin typeface="Cambria Math" panose="02040503050406030204" pitchFamily="18" charset="0"/>
                      </a:rPr>
                      <m:t>𝐵</m:t>
                    </m:r>
                    <m:r>
                      <a:rPr lang="vi-VN" sz="2000" b="0">
                        <a:solidFill>
                          <a:srgbClr val="1E293B"/>
                        </a:solidFill>
                        <a:latin typeface="Cambria Math" panose="02040503050406030204" pitchFamily="18" charset="0"/>
                      </a:rPr>
                      <m:t>(940; 550; 8)</m:t>
                    </m:r>
                  </m:oMath>
                </a14:m>
                <a:r>
                  <a:rPr sz="2000">
                    <a:solidFill>
                      <a:srgbClr val="1E293B"/>
                    </a:solidFill>
                    <a:latin typeface="Calibri"/>
                  </a:rPr>
                  <a:t> trong 10 phút (đơn vị km). Nếu máy bay giữ nguyên vận tốc và hướng bay thì toạ độ của máy bay sau 5 phút tiếp theo là gì?</a:t>
                </a:r>
              </a:p>
            </p:txBody>
          </p:sp>
        </mc:Choice>
        <mc:Fallback xmlns="">
          <p:sp>
            <p:nvSpPr>
              <p:cNvPr id="7" name="TextBox 6"/>
              <p:cNvSpPr txBox="1"/>
              <p:nvPr/>
            </p:nvSpPr>
            <p:spPr>
              <a:xfrm>
                <a:off x="548640" y="1371600"/>
                <a:ext cx="7863840" cy="13929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5.</a:t>
                </a:r>
                <a:r>
                  <a:rPr sz="2000">
                    <a:solidFill>
                      <a:srgbClr val="1E293B"/>
                    </a:solidFill>
                    <a:latin typeface="Calibri"/>
                  </a:rPr>
                  <a:t> Radar phát hiện một máy bay di chuyển với vận tốc và hướng không đổi từ </a:t>
                </a:r>
                <a:r>
                  <a:rPr lang="vi-VN"/>
                  <a:t>A(800;\ 500;\ 7)</a:t>
                </a:r>
                <a:r>
                  <a:rPr sz="2000">
                    <a:solidFill>
                      <a:srgbClr val="1E293B"/>
                    </a:solidFill>
                    <a:latin typeface="Calibri"/>
                  </a:rPr>
                  <a:t> đến </a:t>
                </a:r>
                <a:r>
                  <a:rPr lang="vi-VN"/>
                  <a:t>B(940;\ 550;\ 8)</a:t>
                </a:r>
                <a:r>
                  <a:rPr sz="2000">
                    <a:solidFill>
                      <a:srgbClr val="1E293B"/>
                    </a:solidFill>
                    <a:latin typeface="Calibri"/>
                  </a:rPr>
                  <a:t> trong 10 phút (đơn vị km). Nếu máy bay giữ nguyên vận tốc và hướng bay thì toạ độ của máy bay sau 5 phút tiếp theo là gì?</a:t>
                </a:r>
              </a:p>
            </p:txBody>
          </p:sp>
        </mc:Fallback>
      </mc:AlternateContent>
      <p:sp>
        <p:nvSpPr>
          <p:cNvPr id="8" name="s1_nen"/>
          <p:cNvSpPr/>
          <p:nvPr/>
        </p:nvSpPr>
        <p:spPr>
          <a:xfrm>
            <a:off x="548640" y="2837688"/>
            <a:ext cx="78638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874264"/>
                <a:ext cx="7534656" cy="93878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Gọi </a:t>
                </a:r>
                <a14:m>
                  <m:oMath xmlns:m="http://schemas.openxmlformats.org/officeDocument/2006/math">
                    <m:r>
                      <a:rPr lang="vi-VN" sz="2000" b="0">
                        <a:solidFill>
                          <a:srgbClr val="1E293B"/>
                        </a:solidFill>
                        <a:latin typeface="Cambria Math" panose="02040503050406030204" pitchFamily="18" charset="0"/>
                      </a:rPr>
                      <m:t>𝐶</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𝑧</m:t>
                    </m:r>
                    <m:r>
                      <a:rPr lang="vi-VN" sz="2000" b="0">
                        <a:solidFill>
                          <a:srgbClr val="1E293B"/>
                        </a:solidFill>
                        <a:latin typeface="Cambria Math" panose="02040503050406030204" pitchFamily="18" charset="0"/>
                      </a:rPr>
                      <m:t>)</m:t>
                    </m:r>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𝐴𝐵</m:t>
                        </m:r>
                      </m:e>
                    </m:acc>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𝐵𝐶</m:t>
                        </m:r>
                      </m:e>
                    </m:acc>
                  </m:oMath>
                </a14:m>
                <a:r>
                  <a:rPr sz="2000">
                    <a:solidFill>
                      <a:srgbClr val="1E293B"/>
                    </a:solidFill>
                    <a:latin typeface="Calibri"/>
                  </a:rPr>
                  <a:t> cùng hướng và </a:t>
                </a:r>
                <a14:m>
                  <m:oMath xmlns:m="http://schemas.openxmlformats.org/officeDocument/2006/math">
                    <m:r>
                      <a:rPr lang="vi-VN" sz="2000" b="0">
                        <a:solidFill>
                          <a:srgbClr val="1E293B"/>
                        </a:solidFill>
                        <a:latin typeface="Cambria Math" panose="02040503050406030204" pitchFamily="18" charset="0"/>
                      </a:rPr>
                      <m:t>𝐴𝐵</m:t>
                    </m:r>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𝐵𝐶</m:t>
                    </m:r>
                  </m:oMath>
                </a14:m>
                <a:r>
                  <a:rPr sz="2000">
                    <a:solidFill>
                      <a:srgbClr val="1E293B"/>
                    </a:solidFill>
                    <a:latin typeface="Calibri"/>
                  </a:rPr>
                  <a:t> ⇒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𝐵𝐶</m:t>
                        </m:r>
                      </m:e>
                    </m:acc>
                  </m:oMath>
                </a14:m>
                <a:r>
                  <a:rPr sz="2000">
                    <a:solidFill>
                      <a:srgbClr val="1E293B"/>
                    </a:solidFill>
                    <a:latin typeface="Calibri"/>
                  </a:rPr>
                  <a:t> = </a:t>
                </a:r>
                <a14:m>
                  <m:oMath xmlns:m="http://schemas.openxmlformats.org/officeDocument/2006/math">
                    <m:f>
                      <m:fPr>
                        <m:ctrlPr>
                          <a:rPr lang="vi-VN" sz="2000" b="0">
                            <a:solidFill>
                              <a:srgbClr val="1E293B"/>
                            </a:solidFill>
                            <a:latin typeface="Cambria Math" panose="02040503050406030204" pitchFamily="18" charset="0"/>
                          </a:rPr>
                        </m:ctrlP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𝐴𝐵</m:t>
                        </m:r>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70; 25; 0,5</m:t>
                        </m:r>
                      </m:e>
                    </m:d>
                  </m:oMath>
                </a14:m>
                <a:r>
                  <a:rPr sz="2000">
                    <a:solidFill>
                      <a:srgbClr val="1E293B"/>
                    </a:solidFill>
                    <a:latin typeface="Calibri"/>
                  </a:rPr>
                  <a:t>.</a:t>
                </a:r>
              </a:p>
            </p:txBody>
          </p:sp>
        </mc:Choice>
        <mc:Fallback xmlns="">
          <p:sp>
            <p:nvSpPr>
              <p:cNvPr id="9" name="TextBox 8"/>
              <p:cNvSpPr txBox="1"/>
              <p:nvPr/>
            </p:nvSpPr>
            <p:spPr>
              <a:xfrm>
                <a:off x="713232" y="2874264"/>
                <a:ext cx="75346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Gọi </a:t>
                </a:r>
                <a:r>
                  <a:rPr lang="vi-VN"/>
                  <a:t>C(x;y;z)</a:t>
                </a:r>
                <a:r>
                  <a:rPr sz="2000">
                    <a:solidFill>
                      <a:srgbClr val="1E293B"/>
                    </a:solidFill>
                    <a:latin typeface="Calibri"/>
                  </a:rPr>
                  <a:t>: </a:t>
                </a:r>
                <a:r>
                  <a:rPr lang="vi-VN"/>
                  <a:t>\overrightarrow{AB}</a:t>
                </a:r>
                <a:r>
                  <a:rPr sz="2000">
                    <a:solidFill>
                      <a:srgbClr val="1E293B"/>
                    </a:solidFill>
                    <a:latin typeface="Calibri"/>
                  </a:rPr>
                  <a:t>, </a:t>
                </a:r>
                <a:r>
                  <a:rPr lang="vi-VN"/>
                  <a:t>\overrightarrow{BC}</a:t>
                </a:r>
                <a:r>
                  <a:rPr sz="2000">
                    <a:solidFill>
                      <a:srgbClr val="1E293B"/>
                    </a:solidFill>
                    <a:latin typeface="Calibri"/>
                  </a:rPr>
                  <a:t> cùng hướng và </a:t>
                </a:r>
                <a:r>
                  <a:rPr lang="vi-VN"/>
                  <a:t>AB=2BC</a:t>
                </a:r>
                <a:r>
                  <a:rPr sz="2000">
                    <a:solidFill>
                      <a:srgbClr val="1E293B"/>
                    </a:solidFill>
                    <a:latin typeface="Calibri"/>
                  </a:rPr>
                  <a:t> ⇒ </a:t>
                </a:r>
                <a:r>
                  <a:rPr lang="vi-VN"/>
                  <a:t>\overrightarrow{BC}</a:t>
                </a:r>
                <a:r>
                  <a:rPr sz="2000">
                    <a:solidFill>
                      <a:srgbClr val="1E293B"/>
                    </a:solidFill>
                    <a:latin typeface="Calibri"/>
                  </a:rPr>
                  <a:t> = </a:t>
                </a:r>
                <a:r>
                  <a:rPr lang="vi-VN"/>
                  <a:t>\frac{1}{2}</a:t>
                </a:r>
                <a:r>
                  <a:rPr sz="2000">
                    <a:solidFill>
                      <a:srgbClr val="1E293B"/>
                    </a:solidFill>
                    <a:latin typeface="Calibri"/>
                  </a:rPr>
                  <a:t> </a:t>
                </a:r>
                <a:r>
                  <a:rPr lang="vi-VN"/>
                  <a:t>\overrightarrow{AB}</a:t>
                </a:r>
                <a:r>
                  <a:rPr sz="2000">
                    <a:solidFill>
                      <a:srgbClr val="1E293B"/>
                    </a:solidFill>
                    <a:latin typeface="Calibri"/>
                  </a:rPr>
                  <a:t> = </a:t>
                </a:r>
                <a:r>
                  <a:rPr lang="vi-VN"/>
                  <a:t>(70;\ 25;\ 0{,}5)</a:t>
                </a:r>
                <a:r>
                  <a:rPr sz="2000">
                    <a:solidFill>
                      <a:srgbClr val="1E293B"/>
                    </a:solidFill>
                    <a:latin typeface="Calibri"/>
                  </a:rPr>
                  <a:t>.</a:t>
                </a:r>
              </a:p>
            </p:txBody>
          </p:sp>
        </mc:Fallback>
      </mc:AlternateContent>
      <p:sp>
        <p:nvSpPr>
          <p:cNvPr id="10" name="s2_nen"/>
          <p:cNvSpPr/>
          <p:nvPr/>
        </p:nvSpPr>
        <p:spPr>
          <a:xfrm>
            <a:off x="548640" y="3922776"/>
            <a:ext cx="78638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959352"/>
                <a:ext cx="753465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𝑥</m:t>
                    </m:r>
                    <m:r>
                      <a:rPr lang="vi-VN" sz="2000" b="0">
                        <a:solidFill>
                          <a:srgbClr val="1E293B"/>
                        </a:solidFill>
                        <a:latin typeface="Cambria Math" panose="02040503050406030204" pitchFamily="18" charset="0"/>
                      </a:rPr>
                      <m:t>−940=70, </m:t>
                    </m:r>
                    <m:r>
                      <a:rPr lang="vi-VN" sz="2000" b="0">
                        <a:solidFill>
                          <a:srgbClr val="1E293B"/>
                        </a:solidFill>
                        <a:latin typeface="Cambria Math" panose="02040503050406030204" pitchFamily="18" charset="0"/>
                      </a:rPr>
                      <m:t>𝑦</m:t>
                    </m:r>
                    <m:r>
                      <a:rPr lang="vi-VN" sz="2000" b="0">
                        <a:solidFill>
                          <a:srgbClr val="1E293B"/>
                        </a:solidFill>
                        <a:latin typeface="Cambria Math" panose="02040503050406030204" pitchFamily="18" charset="0"/>
                      </a:rPr>
                      <m:t>−550=25, </m:t>
                    </m:r>
                    <m:r>
                      <a:rPr lang="vi-VN" sz="2000" b="0">
                        <a:solidFill>
                          <a:srgbClr val="1E293B"/>
                        </a:solidFill>
                        <a:latin typeface="Cambria Math" panose="02040503050406030204" pitchFamily="18" charset="0"/>
                      </a:rPr>
                      <m:t>𝑧</m:t>
                    </m:r>
                    <m:r>
                      <a:rPr lang="vi-VN" sz="2000" b="0">
                        <a:solidFill>
                          <a:srgbClr val="1E293B"/>
                        </a:solidFill>
                        <a:latin typeface="Cambria Math" panose="02040503050406030204" pitchFamily="18" charset="0"/>
                      </a:rPr>
                      <m:t>−8=0,5</m:t>
                    </m:r>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𝐶</m:t>
                    </m:r>
                    <m:r>
                      <a:rPr lang="vi-VN" sz="2000" b="0">
                        <a:solidFill>
                          <a:srgbClr val="1E293B"/>
                        </a:solidFill>
                        <a:latin typeface="Cambria Math" panose="02040503050406030204" pitchFamily="18" charset="0"/>
                      </a:rPr>
                      <m:t>(1 010; 575; 8,5)</m:t>
                    </m:r>
                  </m:oMath>
                </a14:m>
                <a:r>
                  <a:rPr sz="2000">
                    <a:solidFill>
                      <a:srgbClr val="1E293B"/>
                    </a:solidFill>
                    <a:latin typeface="Calibri"/>
                  </a:rPr>
                  <a:t>.</a:t>
                </a:r>
              </a:p>
            </p:txBody>
          </p:sp>
        </mc:Choice>
        <mc:Fallback xmlns="">
          <p:sp>
            <p:nvSpPr>
              <p:cNvPr id="11" name="TextBox 10"/>
              <p:cNvSpPr txBox="1"/>
              <p:nvPr/>
            </p:nvSpPr>
            <p:spPr>
              <a:xfrm>
                <a:off x="713232" y="3959352"/>
                <a:ext cx="75346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x-940=70,\ y-550=25,\ z-8=0{,}5</a:t>
                </a:r>
                <a:r>
                  <a:rPr sz="2000">
                    <a:solidFill>
                      <a:srgbClr val="1E293B"/>
                    </a:solidFill>
                    <a:latin typeface="Calibri"/>
                  </a:rPr>
                  <a:t> ⇒ </a:t>
                </a:r>
                <a:r>
                  <a:rPr lang="vi-VN"/>
                  <a:t>C(1\,010;\ 575;\ 8{,}5)</a:t>
                </a:r>
                <a:r>
                  <a:rPr sz="20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2" name="s3_chu"/>
              <p:cNvSpPr txBox="1"/>
              <p:nvPr/>
            </p:nvSpPr>
            <p:spPr>
              <a:xfrm>
                <a:off x="548640" y="4565904"/>
                <a:ext cx="7863840" cy="1088136"/>
              </a:xfrm>
              <a:prstGeom prst="rect">
                <a:avLst/>
              </a:prstGeom>
              <a:noFill/>
            </p:spPr>
            <p:txBody>
              <a:bodyPr wrap="square" lIns="45720" rIns="45720" anchor="t">
                <a:spAutoFit/>
              </a:bodyPr>
              <a:lstStyle/>
              <a:p>
                <a:pPr algn="l">
                  <a:spcAft>
                    <a:spcPts val="800"/>
                  </a:spcAft>
                </a:pPr>
                <a:r>
                  <a:rPr sz="2000" b="1">
                    <a:solidFill>
                      <a:srgbClr val="1E293B"/>
                    </a:solidFill>
                    <a:latin typeface="Calibri"/>
                  </a:rPr>
                  <a:t>Luyện tập 5.</a:t>
                </a:r>
                <a:r>
                  <a:rPr sz="2000">
                    <a:solidFill>
                      <a:srgbClr val="1E293B"/>
                    </a:solidFill>
                    <a:latin typeface="Calibri"/>
                  </a:rPr>
                  <a:t> Với giả thiết như Ví dụ 5, xác định toạ độ của máy bay sau 10 phút tiếp theo (tính từ thời điểm máy bay ở điểm </a:t>
                </a:r>
                <a14:m>
                  <m:oMath xmlns:m="http://schemas.openxmlformats.org/officeDocument/2006/math">
                    <m:r>
                      <a:rPr lang="vi-VN" sz="2000" b="0">
                        <a:solidFill>
                          <a:srgbClr val="1E293B"/>
                        </a:solidFill>
                        <a:latin typeface="Cambria Math" panose="02040503050406030204" pitchFamily="18" charset="0"/>
                      </a:rPr>
                      <m:t>𝐵</m:t>
                    </m:r>
                  </m:oMath>
                </a14:m>
                <a:r>
                  <a:rPr sz="2000">
                    <a:solidFill>
                      <a:srgbClr val="1E293B"/>
                    </a:solidFill>
                    <a:latin typeface="Calibri"/>
                  </a:rPr>
                  <a:t>).</a:t>
                </a:r>
              </a:p>
            </p:txBody>
          </p:sp>
        </mc:Choice>
        <mc:Fallback xmlns="">
          <p:sp>
            <p:nvSpPr>
              <p:cNvPr id="12" name="TextBox 11"/>
              <p:cNvSpPr txBox="1"/>
              <p:nvPr/>
            </p:nvSpPr>
            <p:spPr>
              <a:xfrm>
                <a:off x="548640" y="4565904"/>
                <a:ext cx="78638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5.</a:t>
                </a:r>
                <a:r>
                  <a:rPr sz="2000">
                    <a:solidFill>
                      <a:srgbClr val="1E293B"/>
                    </a:solidFill>
                    <a:latin typeface="Calibri"/>
                  </a:rPr>
                  <a:t> Với giả thiết như Ví dụ 5, xác định toạ độ của máy bay sau 10 phút tiếp theo (tính từ thời điểm máy bay ở điểm </a:t>
                </a:r>
                <a:r>
                  <a:rPr lang="vi-VN"/>
                  <a:t>B</a:t>
                </a:r>
                <a:r>
                  <a:rPr sz="2000">
                    <a:solidFill>
                      <a:srgbClr val="1E293B"/>
                    </a:solidFill>
                    <a:latin typeface="Calibri"/>
                  </a:rPr>
                  <a:t>).</a:t>
                </a:r>
              </a:p>
            </p:txBody>
          </p:sp>
        </mc:Fallback>
      </mc:AlternateContent>
      <p:sp>
        <p:nvSpPr>
          <p:cNvPr id="13" name="s4_nen"/>
          <p:cNvSpPr/>
          <p:nvPr/>
        </p:nvSpPr>
        <p:spPr>
          <a:xfrm>
            <a:off x="548640" y="5727192"/>
            <a:ext cx="78638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4" name="s4_chu"/>
              <p:cNvSpPr txBox="1"/>
              <p:nvPr/>
            </p:nvSpPr>
            <p:spPr>
              <a:xfrm>
                <a:off x="713232" y="5763768"/>
                <a:ext cx="7534656" cy="496824"/>
              </a:xfrm>
              <a:prstGeom prst="rect">
                <a:avLst/>
              </a:prstGeom>
              <a:noFill/>
            </p:spPr>
            <p:txBody>
              <a:bodyPr wrap="square" lIns="45720" rIns="45720" anchor="ctr">
                <a:spAutoFit/>
              </a:bodyPr>
              <a:lstStyle/>
              <a:p>
                <a:pPr algn="l">
                  <a:spcAft>
                    <a:spcPts val="800"/>
                  </a:spcAft>
                </a:pPr>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𝐵𝐷</m:t>
                        </m:r>
                      </m:e>
                    </m:acc>
                  </m:oMath>
                </a14:m>
                <a:r>
                  <a:rPr sz="2000">
                    <a:solidFill>
                      <a:srgbClr val="1E293B"/>
                    </a:solidFill>
                    <a:latin typeface="Calibri"/>
                  </a:rPr>
                  <a:t> = </a:t>
                </a:r>
                <a14:m>
                  <m:oMath xmlns:m="http://schemas.openxmlformats.org/officeDocument/2006/math">
                    <m:acc>
                      <m:accPr>
                        <m:chr m:val="⃗"/>
                        <m:ctrlPr>
                          <a:rPr lang="vi-VN" sz="2000" b="0">
                            <a:solidFill>
                              <a:srgbClr val="1E293B"/>
                            </a:solidFill>
                            <a:latin typeface="Cambria Math" panose="02040503050406030204" pitchFamily="18" charset="0"/>
                          </a:rPr>
                        </m:ctrlPr>
                      </m:accPr>
                      <m:e>
                        <m:r>
                          <a:rPr lang="vi-VN" sz="2000" b="0">
                            <a:solidFill>
                              <a:srgbClr val="1E293B"/>
                            </a:solidFill>
                            <a:latin typeface="Cambria Math" panose="02040503050406030204" pitchFamily="18" charset="0"/>
                          </a:rPr>
                          <m:t>𝐴𝐵</m:t>
                        </m:r>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140; 50; 1</m:t>
                        </m:r>
                      </m:e>
                    </m:d>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𝐷</m:t>
                    </m:r>
                    <m:r>
                      <a:rPr lang="vi-VN" sz="2000" b="0">
                        <a:solidFill>
                          <a:srgbClr val="1E293B"/>
                        </a:solidFill>
                        <a:latin typeface="Cambria Math" panose="02040503050406030204" pitchFamily="18" charset="0"/>
                      </a:rPr>
                      <m:t>(1 080; 600; 9)</m:t>
                    </m:r>
                  </m:oMath>
                </a14:m>
                <a:r>
                  <a:rPr sz="2000">
                    <a:solidFill>
                      <a:srgbClr val="1E293B"/>
                    </a:solidFill>
                    <a:latin typeface="Calibri"/>
                  </a:rPr>
                  <a:t>.</a:t>
                </a:r>
              </a:p>
            </p:txBody>
          </p:sp>
        </mc:Choice>
        <mc:Fallback xmlns="">
          <p:sp>
            <p:nvSpPr>
              <p:cNvPr id="14" name="TextBox 13"/>
              <p:cNvSpPr txBox="1"/>
              <p:nvPr/>
            </p:nvSpPr>
            <p:spPr>
              <a:xfrm>
                <a:off x="713232" y="5763768"/>
                <a:ext cx="75346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\overrightarrow{BD}</a:t>
                </a:r>
                <a:r>
                  <a:rPr sz="2000">
                    <a:solidFill>
                      <a:srgbClr val="1E293B"/>
                    </a:solidFill>
                    <a:latin typeface="Calibri"/>
                  </a:rPr>
                  <a:t> = </a:t>
                </a:r>
                <a:r>
                  <a:rPr lang="vi-VN"/>
                  <a:t>\overrightarrow{AB}</a:t>
                </a:r>
                <a:r>
                  <a:rPr sz="2000">
                    <a:solidFill>
                      <a:srgbClr val="1E293B"/>
                    </a:solidFill>
                    <a:latin typeface="Calibri"/>
                  </a:rPr>
                  <a:t> = </a:t>
                </a:r>
                <a:r>
                  <a:rPr lang="vi-VN"/>
                  <a:t>(140;\ 50;\ 1)</a:t>
                </a:r>
                <a:r>
                  <a:rPr sz="2000">
                    <a:solidFill>
                      <a:srgbClr val="1E293B"/>
                    </a:solidFill>
                    <a:latin typeface="Calibri"/>
                  </a:rPr>
                  <a:t> ⇒ </a:t>
                </a:r>
                <a:r>
                  <a:rPr lang="vi-VN"/>
                  <a:t>D(1\,080;\ 600;\ 9)</a:t>
                </a:r>
                <a:r>
                  <a:rPr sz="2000">
                    <a:solidFill>
                      <a:srgbClr val="1E293B"/>
                    </a:solidFill>
                    <a:latin typeface="Calibri"/>
                  </a:rPr>
                  <a:t>.</a:t>
                </a:r>
              </a:p>
            </p:txBody>
          </p:sp>
        </mc:Fallback>
      </mc:AlternateContent>
      <p:pic>
        <p:nvPicPr>
          <p:cNvPr id="15" name="Picture 14" descr="h249.png"/>
          <p:cNvPicPr>
            <a:picLocks noChangeAspect="1"/>
          </p:cNvPicPr>
          <p:nvPr/>
        </p:nvPicPr>
        <p:blipFill>
          <a:blip r:embed="rId3"/>
          <a:stretch>
            <a:fillRect/>
          </a:stretch>
        </p:blipFill>
        <p:spPr>
          <a:xfrm>
            <a:off x="8595360" y="2205081"/>
            <a:ext cx="3108960" cy="71047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3D – MÁY BAY BAY THẲNG ĐỀU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18</a:t>
            </a:r>
          </a:p>
        </p:txBody>
      </p:sp>
      <mc:AlternateContent xmlns:mc="http://schemas.openxmlformats.org/markup-compatibility/2006" xmlns:a14="http://schemas.microsoft.com/office/drawing/2010/main">
        <mc:Choice Requires="a14">
          <p:sp>
            <p:nvSpPr>
              <p:cNvPr id="7" name="TextBox 6"/>
              <p:cNvSpPr txBox="1"/>
              <p:nvPr/>
            </p:nvSpPr>
            <p:spPr>
              <a:xfrm>
                <a:off x="548640" y="1417320"/>
                <a:ext cx="6035040" cy="356616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200">
                    <a:solidFill>
                      <a:srgbClr val="1E293B"/>
                    </a:solidFill>
                    <a:latin typeface="Calibri"/>
                  </a:rPr>
                  <a:t>Máy bay đi từ </a:t>
                </a:r>
                <a14:m>
                  <m:oMath xmlns:m="http://schemas.openxmlformats.org/officeDocument/2006/math">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(800;500;7)</m:t>
                    </m:r>
                  </m:oMath>
                </a14:m>
                <a:r>
                  <a:rPr sz="2200">
                    <a:solidFill>
                      <a:srgbClr val="1E293B"/>
                    </a:solidFill>
                    <a:latin typeface="Calibri"/>
                  </a:rPr>
                  <a:t> đến </a:t>
                </a:r>
                <a14:m>
                  <m:oMath xmlns:m="http://schemas.openxmlformats.org/officeDocument/2006/math">
                    <m:r>
                      <a:rPr lang="vi-VN" sz="2200" b="0">
                        <a:solidFill>
                          <a:srgbClr val="1E293B"/>
                        </a:solidFill>
                        <a:latin typeface="Cambria Math" panose="02040503050406030204" pitchFamily="18" charset="0"/>
                      </a:rPr>
                      <m:t>𝐵</m:t>
                    </m:r>
                    <m:r>
                      <a:rPr lang="vi-VN" sz="2200" b="0">
                        <a:solidFill>
                          <a:srgbClr val="1E293B"/>
                        </a:solidFill>
                        <a:latin typeface="Cambria Math" panose="02040503050406030204" pitchFamily="18" charset="0"/>
                      </a:rPr>
                      <m:t>(940;550;8)</m:t>
                    </m:r>
                  </m:oMath>
                </a14:m>
                <a:r>
                  <a:rPr sz="2200">
                    <a:solidFill>
                      <a:srgbClr val="1E293B"/>
                    </a:solidFill>
                    <a:latin typeface="Calibri"/>
                  </a:rPr>
                  <a:t> trong 10 phút.</a:t>
                </a:r>
              </a:p>
              <a:p>
                <a:pPr marL="365760" indent="-365760" algn="l">
                  <a:spcAft>
                    <a:spcPts val="800"/>
                  </a:spcAft>
                  <a:buClr>
                    <a:srgbClr val="1E40AF"/>
                  </a:buClr>
                  <a:buFont typeface="Arial"/>
                  <a:buChar char="•"/>
                </a:pPr>
                <a:r>
                  <a:rPr sz="2200">
                    <a:solidFill>
                      <a:srgbClr val="1E293B"/>
                    </a:solidFill>
                    <a:latin typeface="Calibri"/>
                  </a:rPr>
                  <a:t>Kéo thanh trượt </a:t>
                </a:r>
                <a14:m>
                  <m:oMath xmlns:m="http://schemas.openxmlformats.org/officeDocument/2006/math">
                    <m:r>
                      <a:rPr lang="vi-VN" sz="2200" b="0">
                        <a:solidFill>
                          <a:srgbClr val="1E293B"/>
                        </a:solidFill>
                        <a:latin typeface="Cambria Math" panose="02040503050406030204" pitchFamily="18" charset="0"/>
                      </a:rPr>
                      <m:t>𝑡</m:t>
                    </m:r>
                  </m:oMath>
                </a14:m>
                <a:r>
                  <a:rPr sz="2200">
                    <a:solidFill>
                      <a:srgbClr val="1E293B"/>
                    </a:solidFill>
                    <a:latin typeface="Calibri"/>
                  </a:rPr>
                  <a:t> (phút): vị trí </a:t>
                </a:r>
                <a14:m>
                  <m:oMath xmlns:m="http://schemas.openxmlformats.org/officeDocument/2006/math">
                    <m:r>
                      <a:rPr lang="vi-VN" sz="2200" b="0">
                        <a:solidFill>
                          <a:srgbClr val="1E293B"/>
                        </a:solidFill>
                        <a:latin typeface="Cambria Math" panose="02040503050406030204" pitchFamily="18" charset="0"/>
                      </a:rPr>
                      <m:t>𝑀</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𝐴</m:t>
                    </m:r>
                    <m:r>
                      <a:rPr lang="vi-VN" sz="2200" b="0">
                        <a:solidFill>
                          <a:srgbClr val="1E293B"/>
                        </a:solidFill>
                        <a:latin typeface="Cambria Math" panose="02040503050406030204" pitchFamily="18" charset="0"/>
                      </a:rPr>
                      <m:t>+</m:t>
                    </m:r>
                    <m:f>
                      <m:fPr>
                        <m:ctrlPr>
                          <a:rPr lang="vi-VN" sz="2200" b="0">
                            <a:solidFill>
                              <a:srgbClr val="1E293B"/>
                            </a:solidFill>
                            <a:latin typeface="Cambria Math" panose="02040503050406030204" pitchFamily="18" charset="0"/>
                          </a:rPr>
                        </m:ctrlPr>
                      </m:fPr>
                      <m:num>
                        <m:r>
                          <a:rPr lang="vi-VN" sz="2200" b="0">
                            <a:solidFill>
                              <a:srgbClr val="1E293B"/>
                            </a:solidFill>
                            <a:latin typeface="Cambria Math" panose="02040503050406030204" pitchFamily="18" charset="0"/>
                          </a:rPr>
                          <m:t>𝑡</m:t>
                        </m:r>
                      </m:num>
                      <m:den>
                        <m:r>
                          <a:rPr lang="vi-VN" sz="2200" b="0">
                            <a:solidFill>
                              <a:srgbClr val="1E293B"/>
                            </a:solidFill>
                            <a:latin typeface="Cambria Math" panose="02040503050406030204" pitchFamily="18" charset="0"/>
                          </a:rPr>
                          <m:t>10</m:t>
                        </m:r>
                      </m:den>
                    </m:f>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𝐴𝐵</m:t>
                        </m:r>
                      </m:e>
                    </m:acc>
                  </m:oMath>
                </a14:m>
                <a:r>
                  <a:rPr sz="2200">
                    <a:solidFill>
                      <a:srgbClr val="1E293B"/>
                    </a:solidFill>
                    <a:latin typeface="Calibri"/>
                  </a:rPr>
                  <a:t>.</a:t>
                </a:r>
              </a:p>
              <a:p>
                <a:pPr marL="365760" indent="-365760" algn="l">
                  <a:spcAft>
                    <a:spcPts val="800"/>
                  </a:spcAft>
                  <a:buClr>
                    <a:srgbClr val="1E40AF"/>
                  </a:buClr>
                  <a:buFont typeface="Arial"/>
                  <a:buChar char="•"/>
                </a:pPr>
                <a:r>
                  <a:rPr sz="2200">
                    <a:solidFill>
                      <a:srgbClr val="1E293B"/>
                    </a:solidFill>
                    <a:latin typeface="Calibri"/>
                  </a:rPr>
                  <a:t>Với </a:t>
                </a:r>
                <a14:m>
                  <m:oMath xmlns:m="http://schemas.openxmlformats.org/officeDocument/2006/math">
                    <m:r>
                      <a:rPr lang="vi-VN" sz="2200" b="0">
                        <a:solidFill>
                          <a:srgbClr val="1E293B"/>
                        </a:solidFill>
                        <a:latin typeface="Cambria Math" panose="02040503050406030204" pitchFamily="18" charset="0"/>
                      </a:rPr>
                      <m:t>𝑡</m:t>
                    </m:r>
                    <m:r>
                      <a:rPr lang="vi-VN" sz="2200" b="0">
                        <a:solidFill>
                          <a:srgbClr val="1E293B"/>
                        </a:solidFill>
                        <a:latin typeface="Cambria Math" panose="02040503050406030204" pitchFamily="18" charset="0"/>
                      </a:rPr>
                      <m:t>=15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𝑀</m:t>
                    </m:r>
                    <m:r>
                      <a:rPr lang="vi-VN" sz="2200" b="0">
                        <a:solidFill>
                          <a:srgbClr val="1E293B"/>
                        </a:solidFill>
                        <a:latin typeface="Cambria Math" panose="02040503050406030204" pitchFamily="18" charset="0"/>
                      </a:rPr>
                      <m:t>(1 010; 575; 8,5)</m:t>
                    </m:r>
                  </m:oMath>
                </a14:m>
                <a:r>
                  <a:rPr sz="2200">
                    <a:solidFill>
                      <a:srgbClr val="1E293B"/>
                    </a:solidFill>
                    <a:latin typeface="Calibri"/>
                  </a:rPr>
                  <a:t> (Ví dụ 5); </a:t>
                </a:r>
                <a14:m>
                  <m:oMath xmlns:m="http://schemas.openxmlformats.org/officeDocument/2006/math">
                    <m:r>
                      <a:rPr lang="vi-VN" sz="2200" b="0">
                        <a:solidFill>
                          <a:srgbClr val="1E293B"/>
                        </a:solidFill>
                        <a:latin typeface="Cambria Math" panose="02040503050406030204" pitchFamily="18" charset="0"/>
                      </a:rPr>
                      <m:t>𝑡</m:t>
                    </m:r>
                    <m:r>
                      <a:rPr lang="vi-VN" sz="2200" b="0">
                        <a:solidFill>
                          <a:srgbClr val="1E293B"/>
                        </a:solidFill>
                        <a:latin typeface="Cambria Math" panose="02040503050406030204" pitchFamily="18" charset="0"/>
                      </a:rPr>
                      <m:t>=20</m:t>
                    </m:r>
                  </m:oMath>
                </a14:m>
                <a:r>
                  <a:rPr sz="2200">
                    <a:solidFill>
                      <a:srgbClr val="1E293B"/>
                    </a:solidFill>
                    <a:latin typeface="Calibri"/>
                  </a:rPr>
                  <a:t>: </a:t>
                </a:r>
                <a14:m>
                  <m:oMath xmlns:m="http://schemas.openxmlformats.org/officeDocument/2006/math">
                    <m:d>
                      <m:dPr>
                        <m:ctrlPr>
                          <a:rPr lang="vi-VN" sz="2200" b="0">
                            <a:solidFill>
                              <a:srgbClr val="1E293B"/>
                            </a:solidFill>
                            <a:latin typeface="Cambria Math" panose="02040503050406030204" pitchFamily="18" charset="0"/>
                          </a:rPr>
                        </m:ctrlPr>
                      </m:dPr>
                      <m:e>
                        <m:r>
                          <a:rPr lang="vi-VN" sz="2200" b="0">
                            <a:solidFill>
                              <a:srgbClr val="1E293B"/>
                            </a:solidFill>
                            <a:latin typeface="Cambria Math" panose="02040503050406030204" pitchFamily="18" charset="0"/>
                          </a:rPr>
                          <m:t>1 080; 600; 9</m:t>
                        </m:r>
                      </m:e>
                    </m:d>
                  </m:oMath>
                </a14:m>
                <a:r>
                  <a:rPr sz="2200">
                    <a:solidFill>
                      <a:srgbClr val="1E293B"/>
                    </a:solidFill>
                    <a:latin typeface="Calibri"/>
                  </a:rPr>
                  <a:t> (Luyện tập 5).</a:t>
                </a:r>
              </a:p>
            </p:txBody>
          </p:sp>
        </mc:Choice>
        <mc:Fallback xmlns="">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Máy bay đi từ </a:t>
                </a:r>
                <a:r>
                  <a:rPr lang="vi-VN"/>
                  <a:t>A(800;500;7)</a:t>
                </a:r>
                <a:r>
                  <a:rPr sz="2200">
                    <a:solidFill>
                      <a:srgbClr val="1E293B"/>
                    </a:solidFill>
                    <a:latin typeface="Calibri"/>
                  </a:rPr>
                  <a:t> đến </a:t>
                </a:r>
                <a:r>
                  <a:rPr lang="vi-VN"/>
                  <a:t>B(940;550;8)</a:t>
                </a:r>
                <a:r>
                  <a:rPr sz="2200">
                    <a:solidFill>
                      <a:srgbClr val="1E293B"/>
                    </a:solidFill>
                    <a:latin typeface="Calibri"/>
                  </a:rPr>
                  <a:t> trong 10 phút.</a:t>
                </a:r>
              </a:p>
              <a:p>
                <a:pPr algn="l" marL="365760" indent="-365760">
                  <a:spcAft>
                    <a:spcPts val="800"/>
                  </a:spcAft>
                  <a:buClr>
                    <a:srgbClr val="1E40AF"/>
                  </a:buClr>
                  <a:buFont typeface="Arial"/>
                  <a:buChar char="•"/>
                </a:pPr>
                <a:r>
                  <a:rPr sz="2200">
                    <a:solidFill>
                      <a:srgbClr val="1E293B"/>
                    </a:solidFill>
                    <a:latin typeface="Calibri"/>
                  </a:rPr>
                  <a:t>Kéo thanh trượt </a:t>
                </a:r>
                <a:r>
                  <a:rPr lang="vi-VN"/>
                  <a:t>t</a:t>
                </a:r>
                <a:r>
                  <a:rPr sz="2200">
                    <a:solidFill>
                      <a:srgbClr val="1E293B"/>
                    </a:solidFill>
                    <a:latin typeface="Calibri"/>
                  </a:rPr>
                  <a:t> (phút): vị trí </a:t>
                </a:r>
                <a:r>
                  <a:rPr lang="vi-VN"/>
                  <a:t>M=A+\frac{t}{10}\overrightarrow{AB}</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Với </a:t>
                </a:r>
                <a:r>
                  <a:rPr lang="vi-VN"/>
                  <a:t>t=15</a:t>
                </a:r>
                <a:r>
                  <a:rPr sz="2200">
                    <a:solidFill>
                      <a:srgbClr val="1E293B"/>
                    </a:solidFill>
                    <a:latin typeface="Calibri"/>
                  </a:rPr>
                  <a:t>: </a:t>
                </a:r>
                <a:r>
                  <a:rPr lang="vi-VN"/>
                  <a:t>M(1\,010;\ 575;\ 8{,}5)</a:t>
                </a:r>
                <a:r>
                  <a:rPr sz="2200">
                    <a:solidFill>
                      <a:srgbClr val="1E293B"/>
                    </a:solidFill>
                    <a:latin typeface="Calibri"/>
                  </a:rPr>
                  <a:t> (Ví dụ 5); </a:t>
                </a:r>
                <a:r>
                  <a:rPr lang="vi-VN"/>
                  <a:t>t=20</a:t>
                </a:r>
                <a:r>
                  <a:rPr sz="2200">
                    <a:solidFill>
                      <a:srgbClr val="1E293B"/>
                    </a:solidFill>
                    <a:latin typeface="Calibri"/>
                  </a:rPr>
                  <a:t>: </a:t>
                </a:r>
                <a:r>
                  <a:rPr lang="vi-VN"/>
                  <a:t>(1\,080;\ 600;\ 9)</a:t>
                </a:r>
                <a:r>
                  <a:rPr sz="2200">
                    <a:solidFill>
                      <a:srgbClr val="1E293B"/>
                    </a:solidFill>
                    <a:latin typeface="Calibri"/>
                  </a:rPr>
                  <a:t> (Luyện tập 5).</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lIns="45720" rIns="45720" anchor="t">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249.png"/>
          <p:cNvPicPr>
            <a:picLocks noChangeAspect="1"/>
          </p:cNvPicPr>
          <p:nvPr/>
        </p:nvPicPr>
        <p:blipFill>
          <a:blip r:embed="rId5"/>
          <a:stretch>
            <a:fillRect/>
          </a:stretch>
        </p:blipFill>
        <p:spPr>
          <a:xfrm>
            <a:off x="6858000" y="3149565"/>
            <a:ext cx="4846320" cy="11075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19</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 name="TextBox 7"/>
              <p:cNvSpPr txBox="1"/>
              <p:nvPr/>
            </p:nvSpPr>
            <p:spPr>
              <a:xfrm>
                <a:off x="713232" y="1499616"/>
                <a:ext cx="10735056" cy="963167"/>
              </a:xfrm>
              <a:prstGeom prst="rect">
                <a:avLst/>
              </a:prstGeom>
              <a:noFill/>
            </p:spPr>
            <p:txBody>
              <a:bodyPr wrap="square" lIns="45720" rIns="45720" anchor="ctr">
                <a:spAutoFit/>
              </a:bodyPr>
              <a:lstStyle/>
              <a:p>
                <a:pPr marL="365760" indent="-365760" algn="l">
                  <a:spcAft>
                    <a:spcPts val="800"/>
                  </a:spcAft>
                  <a:buClr>
                    <a:srgbClr val="1E40AF"/>
                  </a:buClr>
                  <a:buFont typeface="Arial"/>
                  <a:buChar char="•"/>
                </a:pP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𝑥</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𝑥</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𝑦</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𝑦</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𝑧</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𝑧</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oMath>
                </a14:m>
                <a:r>
                  <a:rPr sz="2200">
                    <a:solidFill>
                      <a:srgbClr val="1E293B"/>
                    </a:solidFill>
                    <a:latin typeface="Calibri"/>
                  </a:rPr>
                  <a:t> ⇔ </a:t>
                </a:r>
                <a14:m>
                  <m:oMath xmlns:m="http://schemas.openxmlformats.org/officeDocument/2006/math">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r>
                      <a:rPr lang="vi-VN" sz="2200" b="0">
                        <a:solidFill>
                          <a:srgbClr val="1E293B"/>
                        </a:solidFill>
                        <a:latin typeface="Cambria Math" panose="02040503050406030204" pitchFamily="18" charset="0"/>
                      </a:rPr>
                      <m:t>=0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m:t>
                    </m:r>
                    <m:rad>
                      <m:radPr>
                        <m:degHide m:val="on"/>
                        <m:ctrlPr>
                          <a:rPr lang="vi-VN" sz="2200" b="0" i="1">
                            <a:solidFill>
                              <a:srgbClr val="1E293B"/>
                            </a:solidFill>
                            <a:latin typeface="Cambria Math" panose="02040503050406030204" pitchFamily="18" charset="0"/>
                          </a:rPr>
                        </m:ctrlPr>
                      </m:radPr>
                      <m:deg/>
                      <m:e>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𝑥</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𝑦</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𝑧</m:t>
                            </m:r>
                          </m:e>
                          <m:sup>
                            <m:r>
                              <a:rPr lang="vi-VN" sz="2200" b="0">
                                <a:solidFill>
                                  <a:srgbClr val="1E293B"/>
                                </a:solidFill>
                                <a:latin typeface="Cambria Math" panose="02040503050406030204" pitchFamily="18" charset="0"/>
                              </a:rPr>
                              <m:t>2</m:t>
                            </m:r>
                          </m:sup>
                        </m:sSup>
                      </m:e>
                    </m:rad>
                  </m:oMath>
                </a14:m>
                <a:r>
                  <a:rPr sz="2200">
                    <a:solidFill>
                      <a:srgbClr val="1E293B"/>
                    </a:solidFill>
                    <a:latin typeface="Calibri"/>
                  </a:rPr>
                  <a:t>; công thức </a:t>
                </a:r>
                <a14:m>
                  <m:oMath xmlns:m="http://schemas.openxmlformats.org/officeDocument/2006/math">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𝑎</m:t>
                        </m:r>
                      </m:e>
                    </m:acc>
                    <m:r>
                      <a:rPr lang="vi-VN" sz="2200" b="0">
                        <a:solidFill>
                          <a:srgbClr val="1E293B"/>
                        </a:solidFill>
                        <a:latin typeface="Cambria Math" panose="02040503050406030204" pitchFamily="18" charset="0"/>
                      </a:rPr>
                      <m:t>,</m:t>
                    </m:r>
                    <m:acc>
                      <m:accPr>
                        <m:chr m:val="⃗"/>
                        <m:ctrlPr>
                          <a:rPr lang="vi-VN" sz="2200" b="0">
                            <a:solidFill>
                              <a:srgbClr val="1E293B"/>
                            </a:solidFill>
                            <a:latin typeface="Cambria Math" panose="02040503050406030204" pitchFamily="18" charset="0"/>
                          </a:rPr>
                        </m:ctrlPr>
                      </m:accPr>
                      <m:e>
                        <m:r>
                          <a:rPr lang="vi-VN" sz="2200" b="0">
                            <a:solidFill>
                              <a:srgbClr val="1E293B"/>
                            </a:solidFill>
                            <a:latin typeface="Cambria Math" panose="02040503050406030204" pitchFamily="18" charset="0"/>
                          </a:rPr>
                          <m:t>𝑏</m:t>
                        </m:r>
                      </m:e>
                    </m:acc>
                    <m:r>
                      <a:rPr lang="vi-VN" sz="2200" b="0">
                        <a:solidFill>
                          <a:srgbClr val="1E293B"/>
                        </a:solidFill>
                        <a:latin typeface="Cambria Math" panose="02040503050406030204" pitchFamily="18" charset="0"/>
                      </a:rPr>
                      <m:t>)</m:t>
                    </m:r>
                  </m:oMath>
                </a14:m>
                <a:r>
                  <a:rPr sz="2200">
                    <a:solidFill>
                      <a:srgbClr val="1E293B"/>
                    </a:solidFill>
                    <a:latin typeface="Calibri"/>
                  </a:rPr>
                  <a:t>.</a:t>
                </a:r>
              </a:p>
              <a:p>
                <a:pPr marL="365760" indent="-365760" algn="l">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𝐴𝐵</m:t>
                    </m:r>
                    <m:r>
                      <a:rPr lang="vi-VN" sz="2200" b="0">
                        <a:solidFill>
                          <a:srgbClr val="1E293B"/>
                        </a:solidFill>
                        <a:latin typeface="Cambria Math" panose="02040503050406030204" pitchFamily="18" charset="0"/>
                      </a:rPr>
                      <m:t>=</m:t>
                    </m:r>
                    <m:rad>
                      <m:radPr>
                        <m:degHide m:val="on"/>
                        <m:ctrlPr>
                          <a:rPr lang="vi-VN" sz="2200" b="0" i="1">
                            <a:solidFill>
                              <a:srgbClr val="1E293B"/>
                            </a:solidFill>
                            <a:latin typeface="Cambria Math" panose="02040503050406030204" pitchFamily="18" charset="0"/>
                          </a:rPr>
                        </m:ctrlPr>
                      </m:radPr>
                      <m:deg/>
                      <m:e>
                        <m:sSup>
                          <m:sSupPr>
                            <m:ctrlPr>
                              <a:rPr lang="vi-VN" sz="2200" b="0" i="1">
                                <a:solidFill>
                                  <a:srgbClr val="1E293B"/>
                                </a:solidFill>
                                <a:latin typeface="Cambria Math" panose="02040503050406030204" pitchFamily="18" charset="0"/>
                              </a:rPr>
                            </m:ctrlPr>
                          </m:sSupPr>
                          <m:e>
                            <m:d>
                              <m:dPr>
                                <m:ctrlPr>
                                  <a:rPr lang="vi-VN" sz="2200" b="0" i="1">
                                    <a:solidFill>
                                      <a:srgbClr val="1E293B"/>
                                    </a:solidFill>
                                    <a:latin typeface="Cambria Math" panose="02040503050406030204" pitchFamily="18" charset="0"/>
                                  </a:rPr>
                                </m:ctrlPr>
                              </m:dPr>
                              <m:e>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𝑥</m:t>
                                    </m:r>
                                  </m:e>
                                  <m:sub>
                                    <m:r>
                                      <a:rPr lang="vi-VN" sz="2200" b="0">
                                        <a:solidFill>
                                          <a:srgbClr val="1E293B"/>
                                        </a:solidFill>
                                        <a:latin typeface="Cambria Math" panose="02040503050406030204" pitchFamily="18" charset="0"/>
                                      </a:rPr>
                                      <m:t>𝐵</m:t>
                                    </m:r>
                                  </m:sub>
                                </m:sSub>
                                <m:r>
                                  <a:rPr lang="vi-VN" sz="2200" b="0">
                                    <a:solidFill>
                                      <a:srgbClr val="1E293B"/>
                                    </a:solidFill>
                                    <a:latin typeface="Cambria Math" panose="02040503050406030204" pitchFamily="18" charset="0"/>
                                  </a:rPr>
                                  <m:t>−</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𝑥</m:t>
                                    </m:r>
                                  </m:e>
                                  <m:sub>
                                    <m:r>
                                      <a:rPr lang="vi-VN" sz="2200" b="0">
                                        <a:solidFill>
                                          <a:srgbClr val="1E293B"/>
                                        </a:solidFill>
                                        <a:latin typeface="Cambria Math" panose="02040503050406030204" pitchFamily="18" charset="0"/>
                                      </a:rPr>
                                      <m:t>𝐴</m:t>
                                    </m:r>
                                  </m:sub>
                                </m:sSub>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𝑦</m:t>
                                    </m:r>
                                  </m:e>
                                  <m:sub>
                                    <m:r>
                                      <a:rPr lang="vi-VN" sz="2200" b="0">
                                        <a:solidFill>
                                          <a:srgbClr val="1E293B"/>
                                        </a:solidFill>
                                        <a:latin typeface="Cambria Math" panose="02040503050406030204" pitchFamily="18" charset="0"/>
                                      </a:rPr>
                                      <m:t>𝐵</m:t>
                                    </m:r>
                                  </m:sub>
                                </m:sSub>
                                <m:r>
                                  <a:rPr lang="vi-VN" sz="2200" b="0">
                                    <a:solidFill>
                                      <a:srgbClr val="1E293B"/>
                                    </a:solidFill>
                                    <a:latin typeface="Cambria Math" panose="02040503050406030204" pitchFamily="18" charset="0"/>
                                  </a:rPr>
                                  <m:t>−</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𝑦</m:t>
                                    </m:r>
                                  </m:e>
                                  <m:sub>
                                    <m:r>
                                      <a:rPr lang="vi-VN" sz="2200" b="0">
                                        <a:solidFill>
                                          <a:srgbClr val="1E293B"/>
                                        </a:solidFill>
                                        <a:latin typeface="Cambria Math" panose="02040503050406030204" pitchFamily="18" charset="0"/>
                                      </a:rPr>
                                      <m:t>𝐴</m:t>
                                    </m:r>
                                  </m:sub>
                                </m:sSub>
                                <m:sSup>
                                  <m:sSupPr>
                                    <m:ctrlPr>
                                      <a:rPr lang="vi-VN" sz="2200" b="0">
                                        <a:solidFill>
                                          <a:srgbClr val="1E293B"/>
                                        </a:solidFill>
                                        <a:latin typeface="Cambria Math" panose="02040503050406030204" pitchFamily="18" charset="0"/>
                                      </a:rPr>
                                    </m:ctrlPr>
                                  </m:sSupPr>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𝑧</m:t>
                                    </m:r>
                                  </m:e>
                                  <m:sub>
                                    <m:r>
                                      <a:rPr lang="vi-VN" sz="2200" b="0">
                                        <a:solidFill>
                                          <a:srgbClr val="1E293B"/>
                                        </a:solidFill>
                                        <a:latin typeface="Cambria Math" panose="02040503050406030204" pitchFamily="18" charset="0"/>
                                      </a:rPr>
                                      <m:t>𝐵</m:t>
                                    </m:r>
                                  </m:sub>
                                </m:sSub>
                                <m:r>
                                  <a:rPr lang="vi-VN" sz="2200" b="0">
                                    <a:solidFill>
                                      <a:srgbClr val="1E293B"/>
                                    </a:solidFill>
                                    <a:latin typeface="Cambria Math" panose="02040503050406030204" pitchFamily="18" charset="0"/>
                                  </a:rPr>
                                  <m:t>−</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𝑧</m:t>
                                    </m:r>
                                  </m:e>
                                  <m:sub>
                                    <m:r>
                                      <a:rPr lang="vi-VN" sz="2200" b="0">
                                        <a:solidFill>
                                          <a:srgbClr val="1E293B"/>
                                        </a:solidFill>
                                        <a:latin typeface="Cambria Math" panose="02040503050406030204" pitchFamily="18" charset="0"/>
                                      </a:rPr>
                                      <m:t>𝐴</m:t>
                                    </m:r>
                                  </m:sub>
                                </m:sSub>
                              </m:e>
                            </m:d>
                          </m:e>
                          <m:sup>
                            <m:r>
                              <a:rPr lang="vi-VN" sz="2200" b="0">
                                <a:solidFill>
                                  <a:srgbClr val="1E293B"/>
                                </a:solidFill>
                                <a:latin typeface="Cambria Math" panose="02040503050406030204" pitchFamily="18" charset="0"/>
                              </a:rPr>
                              <m:t>2</m:t>
                            </m:r>
                          </m:sup>
                        </m:sSup>
                      </m:e>
                    </m:rad>
                  </m:oMath>
                </a14:m>
                <a:r>
                  <a:rPr sz="2200">
                    <a:solidFill>
                      <a:srgbClr val="1E293B"/>
                    </a:solidFill>
                    <a:latin typeface="Calibri"/>
                  </a:rPr>
                  <a:t>.</a:t>
                </a:r>
              </a:p>
            </p:txBody>
          </p:sp>
        </mc:Choice>
        <mc:Fallback xmlns="">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\vec{a}\cdot\vec{b}=xx'+yy'+zz'</a:t>
                </a:r>
                <a:r>
                  <a:rPr sz="2200">
                    <a:solidFill>
                      <a:srgbClr val="1E293B"/>
                    </a:solidFill>
                    <a:latin typeface="Calibri"/>
                  </a:rPr>
                  <a:t>; </a:t>
                </a:r>
                <a:r>
                  <a:rPr lang="vi-VN"/>
                  <a:t>\vec{a}\perp\vec{b}</a:t>
                </a:r>
                <a:r>
                  <a:rPr sz="2200">
                    <a:solidFill>
                      <a:srgbClr val="1E293B"/>
                    </a:solidFill>
                    <a:latin typeface="Calibri"/>
                  </a:rPr>
                  <a:t> ⇔ </a:t>
                </a:r>
                <a:r>
                  <a:rPr lang="vi-VN"/>
                  <a:t>\vec{a}\cdot\vec{b}=0</a:t>
                </a:r>
                <a:r>
                  <a:rPr sz="2200">
                    <a:solidFill>
                      <a:srgbClr val="1E293B"/>
                    </a:solidFill>
                    <a:latin typeface="Calibri"/>
                  </a:rPr>
                  <a:t>; </a:t>
                </a:r>
                <a:r>
                  <a:rPr lang="vi-VN"/>
                  <a:t>|\vec{a}|=\sqrt{x^2+y^2+z^2}</a:t>
                </a:r>
                <a:r>
                  <a:rPr sz="2200">
                    <a:solidFill>
                      <a:srgbClr val="1E293B"/>
                    </a:solidFill>
                    <a:latin typeface="Calibri"/>
                  </a:rPr>
                  <a:t>; công thức </a:t>
                </a:r>
                <a:r>
                  <a:rPr lang="vi-VN"/>
                  <a:t>\cos(\vec{a},\vec{b})</a:t>
                </a:r>
                <a:r>
                  <a:rPr sz="2200">
                    <a:solidFill>
                      <a:srgbClr val="1E293B"/>
                    </a:solidFill>
                    <a:latin typeface="Calibri"/>
                  </a:rPr>
                  <a:t>.</a:t>
                </a:r>
              </a:p>
              <a:p>
                <a:pPr algn="l" marL="365760" indent="-365760">
                  <a:spcAft>
                    <a:spcPts val="800"/>
                  </a:spcAft>
                  <a:buClr>
                    <a:srgbClr val="1E40AF"/>
                  </a:buClr>
                  <a:buFont typeface="Arial"/>
                  <a:buChar char="•"/>
                </a:pPr>
                <a:r>
                  <a:rPr lang="vi-VN"/>
                  <a:t>AB=\sqrt{(x_B-x_A)^2+(y_B-y_A)^2+(z_B-z_A)^2}</a:t>
                </a:r>
                <a:r>
                  <a:rPr sz="2200">
                    <a:solidFill>
                      <a:srgbClr val="1E293B"/>
                    </a:solidFill>
                    <a:latin typeface="Calibri"/>
                  </a:rPr>
                  <a:t>.</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764536"/>
            <a:ext cx="10735056" cy="1399032"/>
          </a:xfrm>
          <a:prstGeom prst="rect">
            <a:avLst/>
          </a:prstGeom>
          <a:noFill/>
        </p:spPr>
        <p:txBody>
          <a:bodyPr wrap="square" lIns="45720" rIns="45720" anchor="ctr">
            <a:spAutoFit/>
          </a:bodyPr>
          <a:lstStyle/>
          <a:p>
            <a:pPr algn="l">
              <a:spcAft>
                <a:spcPts val="800"/>
              </a:spcAft>
            </a:pPr>
            <a:r>
              <a:rPr sz="2200" b="1">
                <a:solidFill>
                  <a:srgbClr val="1E293B"/>
                </a:solidFill>
                <a:latin typeface="Calibri"/>
              </a:rPr>
              <a:t>Nhiệm vụ về nhà:</a:t>
            </a:r>
          </a:p>
          <a:p>
            <a:pPr marL="365760" indent="-365760" algn="l">
              <a:spcAft>
                <a:spcPts val="800"/>
              </a:spcAft>
              <a:buClr>
                <a:srgbClr val="1E40AF"/>
              </a:buClr>
              <a:buFont typeface="Arial"/>
              <a:buChar char="•"/>
            </a:pPr>
            <a:r>
              <a:rPr sz="2200">
                <a:solidFill>
                  <a:srgbClr val="1E293B"/>
                </a:solidFill>
                <a:latin typeface="Calibri"/>
              </a:rPr>
              <a:t>Làm Bài tập 2.20b, 2.21, 2.22 (SGK tr.72).</a:t>
            </a:r>
          </a:p>
          <a:p>
            <a:pPr marL="365760" indent="-365760" algn="l">
              <a:spcAft>
                <a:spcPts val="800"/>
              </a:spcAft>
              <a:buClr>
                <a:srgbClr val="1E40AF"/>
              </a:buClr>
              <a:buFont typeface="Arial"/>
              <a:buChar char="•"/>
            </a:pPr>
            <a:r>
              <a:rPr sz="2200">
                <a:solidFill>
                  <a:srgbClr val="1E293B"/>
                </a:solidFill>
                <a:latin typeface="Calibri"/>
              </a:rPr>
              <a:t>Thử trả lời câu hỏi mở đầu (nhà gỗ) trước tiết sau.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3 (T39)</a:t>
            </a:r>
          </a:p>
          <a:p>
            <a:pPr>
              <a:spcAft>
                <a:spcPts val="600"/>
              </a:spcAft>
            </a:pPr>
            <a:r>
              <a:rPr sz="4000" b="1">
                <a:solidFill>
                  <a:srgbClr val="FFFFFF"/>
                </a:solidFill>
                <a:latin typeface="Cambria"/>
              </a:rPr>
              <a:t>Vận dụng thực tiễn. Luyện tập</a:t>
            </a:r>
          </a:p>
        </p:txBody>
      </p:sp>
      <p:sp>
        <p:nvSpPr>
          <p:cNvPr id="5" name="TextBox 4"/>
          <p:cNvSpPr txBox="1"/>
          <p:nvPr/>
        </p:nvSpPr>
        <p:spPr>
          <a:xfrm>
            <a:off x="1097280" y="4343400"/>
            <a:ext cx="10332720" cy="1828800"/>
          </a:xfrm>
          <a:prstGeom prst="rect">
            <a:avLst/>
          </a:prstGeom>
          <a:noFill/>
        </p:spPr>
        <p:txBody>
          <a:bodyPr wrap="square" lIns="45720" rIns="45720" anchor="t">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Giải bài toán nhà gỗ, khinh khí cầu bằng toạ độ.</a:t>
            </a:r>
          </a:p>
          <a:p>
            <a:pPr algn="l">
              <a:spcAft>
                <a:spcPts val="800"/>
              </a:spcAft>
            </a:pPr>
            <a:r>
              <a:rPr sz="2200">
                <a:solidFill>
                  <a:srgbClr val="E0E7FF"/>
                </a:solidFill>
                <a:latin typeface="Calibri"/>
              </a:rPr>
              <a:t>• Giải Bài tập 2.20 – 2.24.</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HỘP QUÀ BÍ MẬT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21</a:t>
            </a:r>
          </a:p>
        </p:txBody>
      </p:sp>
      <mc:AlternateContent xmlns:mc="http://schemas.openxmlformats.org/markup-compatibility/2006" xmlns:a14="http://schemas.microsoft.com/office/drawing/2010/main">
        <mc:Choice Requires="a14">
          <p:sp>
            <p:nvSpPr>
              <p:cNvPr id="7" name="TextBox 6"/>
              <p:cNvSpPr txBox="1"/>
              <p:nvPr/>
            </p:nvSpPr>
            <p:spPr>
              <a:xfrm>
                <a:off x="548640" y="1417320"/>
                <a:ext cx="11064240" cy="640080"/>
              </a:xfrm>
              <a:prstGeom prst="rect">
                <a:avLst/>
              </a:prstGeom>
              <a:noFill/>
            </p:spPr>
            <p:txBody>
              <a:bodyPr wrap="square" lIns="45720" rIns="45720" anchor="t">
                <a:spAutoFit/>
              </a:bodyPr>
              <a:lstStyle/>
              <a:p>
                <a:pPr algn="ctr">
                  <a:spcAft>
                    <a:spcPts val="800"/>
                  </a:spcAft>
                </a:pPr>
                <a:r>
                  <a:rPr sz="2400">
                    <a:solidFill>
                      <a:srgbClr val="1E293B"/>
                    </a:solidFill>
                    <a:latin typeface="Calibri"/>
                  </a:rPr>
                  <a:t>Cho </a:t>
                </a:r>
                <a14:m>
                  <m:oMath xmlns:m="http://schemas.openxmlformats.org/officeDocument/2006/math">
                    <m:r>
                      <a:rPr lang="vi-VN" sz="2400" b="0">
                        <a:solidFill>
                          <a:srgbClr val="1E293B"/>
                        </a:solidFill>
                        <a:latin typeface="Cambria Math" panose="02040503050406030204" pitchFamily="18" charset="0"/>
                      </a:rPr>
                      <m:t>𝐴</m:t>
                    </m:r>
                    <m:r>
                      <a:rPr lang="vi-VN" sz="2400" b="0">
                        <a:solidFill>
                          <a:srgbClr val="1E293B"/>
                        </a:solidFill>
                        <a:latin typeface="Cambria Math" panose="02040503050406030204" pitchFamily="18" charset="0"/>
                      </a:rPr>
                      <m:t>(1; 2; 3)</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𝐵</m:t>
                    </m:r>
                    <m:r>
                      <a:rPr lang="vi-VN" sz="2400" b="0">
                        <a:solidFill>
                          <a:srgbClr val="1E293B"/>
                        </a:solidFill>
                        <a:latin typeface="Cambria Math" panose="02040503050406030204" pitchFamily="18" charset="0"/>
                      </a:rPr>
                      <m:t>(3; 0; −1)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𝐶</m:t>
                    </m:r>
                    <m:r>
                      <a:rPr lang="vi-VN" sz="2400" b="0">
                        <a:solidFill>
                          <a:srgbClr val="1E293B"/>
                        </a:solidFill>
                        <a:latin typeface="Cambria Math" panose="02040503050406030204" pitchFamily="18" charset="0"/>
                      </a:rPr>
                      <m:t>(−1; 4; 1)</m:t>
                    </m:r>
                  </m:oMath>
                </a14:m>
                <a:r>
                  <a:rPr sz="2400">
                    <a:solidFill>
                      <a:srgbClr val="1E293B"/>
                    </a:solidFill>
                    <a:latin typeface="Calibri"/>
                  </a:rPr>
                  <a:t>. Chọn một hộp quà!</a:t>
                </a:r>
              </a:p>
            </p:txBody>
          </p:sp>
        </mc:Choice>
        <mc:Fallback xmlns="">
          <p:sp>
            <p:nvSpPr>
              <p:cNvPr id="7" name="TextBox 6"/>
              <p:cNvSpPr txBox="1"/>
              <p:nvPr/>
            </p:nvSpPr>
            <p:spPr>
              <a:xfrm>
                <a:off x="548640" y="1417320"/>
                <a:ext cx="11064240" cy="640080"/>
              </a:xfrm>
              <a:prstGeom prst="rect">
                <a:avLst/>
              </a:prstGeom>
              <a:noFill/>
            </p:spPr>
            <p:txBody>
              <a:bodyPr wrap="square" anchor="t" lIns="45720" rIns="45720">
                <a:spAutoFit/>
              </a:bodyPr>
              <a:lstStyle/>
              <a:p>
                <a:pPr algn="ctr">
                  <a:spcAft>
                    <a:spcPts val="800"/>
                  </a:spcAft>
                </a:pPr>
                <a:r>
                  <a:rPr sz="2400">
                    <a:solidFill>
                      <a:srgbClr val="1E293B"/>
                    </a:solidFill>
                    <a:latin typeface="Calibri"/>
                  </a:rPr>
                  <a:t>Cho </a:t>
                </a:r>
                <a:r>
                  <a:rPr lang="vi-VN"/>
                  <a:t>A(1;\ 2;\ 3)</a:t>
                </a:r>
                <a:r>
                  <a:rPr sz="2400">
                    <a:solidFill>
                      <a:srgbClr val="1E293B"/>
                    </a:solidFill>
                    <a:latin typeface="Calibri"/>
                  </a:rPr>
                  <a:t>, </a:t>
                </a:r>
                <a:r>
                  <a:rPr lang="vi-VN"/>
                  <a:t>B(3;\ 0;\ -1)</a:t>
                </a:r>
                <a:r>
                  <a:rPr sz="2400">
                    <a:solidFill>
                      <a:srgbClr val="1E293B"/>
                    </a:solidFill>
                    <a:latin typeface="Calibri"/>
                  </a:rPr>
                  <a:t>, </a:t>
                </a:r>
                <a:r>
                  <a:rPr lang="vi-VN"/>
                  <a:t>C(-1;\ 4;\ 1)</a:t>
                </a:r>
                <a:r>
                  <a:rPr sz="2400">
                    <a:solidFill>
                      <a:srgbClr val="1E293B"/>
                    </a:solidFill>
                    <a:latin typeface="Calibri"/>
                  </a:rPr>
                  <a:t>. Chọn một hộp quà!</a:t>
                </a:r>
              </a:p>
            </p:txBody>
          </p:sp>
        </mc:Fallback>
      </mc:AlternateContent>
      <p:sp>
        <p:nvSpPr>
          <p:cNvPr id="8" name="Rounded Rectangle 7">
            <a:hlinkClick r:id="rId3" action="ppaction://hlinksldjump"/>
          </p:cNvPr>
          <p:cNvSpPr/>
          <p:nvPr/>
        </p:nvSpPr>
        <p:spPr>
          <a:xfrm>
            <a:off x="914399" y="2468880"/>
            <a:ext cx="2377440" cy="21945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FFFFFF"/>
                </a:solidFill>
                <a:latin typeface="Calibri"/>
              </a:rPr>
              <a:t>🎁</a:t>
            </a:r>
          </a:p>
          <a:p>
            <a:pPr algn="ctr"/>
            <a:r>
              <a:rPr sz="3200" b="1">
                <a:solidFill>
                  <a:srgbClr val="FFFFFF"/>
                </a:solidFill>
                <a:latin typeface="Calibri"/>
              </a:rPr>
              <a:t>HỘP 1</a:t>
            </a:r>
          </a:p>
        </p:txBody>
      </p:sp>
      <p:sp>
        <p:nvSpPr>
          <p:cNvPr id="9" name="Rounded Rectangle 8">
            <a:hlinkClick r:id="rId4" action="ppaction://hlinksldjump"/>
          </p:cNvPr>
          <p:cNvSpPr/>
          <p:nvPr/>
        </p:nvSpPr>
        <p:spPr>
          <a:xfrm>
            <a:off x="3566159" y="2468880"/>
            <a:ext cx="2377440" cy="219456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FFFFFF"/>
                </a:solidFill>
                <a:latin typeface="Calibri"/>
              </a:rPr>
              <a:t>🎁</a:t>
            </a:r>
          </a:p>
          <a:p>
            <a:pPr algn="ctr"/>
            <a:r>
              <a:rPr sz="3200" b="1">
                <a:solidFill>
                  <a:srgbClr val="FFFFFF"/>
                </a:solidFill>
                <a:latin typeface="Calibri"/>
              </a:rPr>
              <a:t>HỘP 2</a:t>
            </a:r>
          </a:p>
        </p:txBody>
      </p:sp>
      <p:sp>
        <p:nvSpPr>
          <p:cNvPr id="10" name="Rounded Rectangle 9">
            <a:hlinkClick r:id="rId5" action="ppaction://hlinksldjump"/>
          </p:cNvPr>
          <p:cNvSpPr/>
          <p:nvPr/>
        </p:nvSpPr>
        <p:spPr>
          <a:xfrm>
            <a:off x="6217920" y="2468880"/>
            <a:ext cx="2377440" cy="21945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FFFFFF"/>
                </a:solidFill>
                <a:latin typeface="Calibri"/>
              </a:rPr>
              <a:t>🎁</a:t>
            </a:r>
          </a:p>
          <a:p>
            <a:pPr algn="ctr"/>
            <a:r>
              <a:rPr sz="3200" b="1">
                <a:solidFill>
                  <a:srgbClr val="FFFFFF"/>
                </a:solidFill>
                <a:latin typeface="Calibri"/>
              </a:rPr>
              <a:t>HỘP 3</a:t>
            </a:r>
          </a:p>
        </p:txBody>
      </p:sp>
      <p:sp>
        <p:nvSpPr>
          <p:cNvPr id="11" name="Rounded Rectangle 10">
            <a:hlinkClick r:id="rId6" action="ppaction://hlinksldjump"/>
          </p:cNvPr>
          <p:cNvSpPr/>
          <p:nvPr/>
        </p:nvSpPr>
        <p:spPr>
          <a:xfrm>
            <a:off x="8869680" y="2468880"/>
            <a:ext cx="2377440" cy="219456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FFFFFF"/>
                </a:solidFill>
                <a:latin typeface="Calibri"/>
              </a:rPr>
              <a:t>🎁</a:t>
            </a:r>
          </a:p>
          <a:p>
            <a:pPr algn="ctr"/>
            <a:r>
              <a:rPr sz="3200" b="1">
                <a:solidFill>
                  <a:srgbClr val="FFFFFF"/>
                </a:solidFill>
                <a:latin typeface="Calibri"/>
              </a:rPr>
              <a:t>HỘP 4</a:t>
            </a:r>
          </a:p>
        </p:txBody>
      </p:sp>
      <p:sp>
        <p:nvSpPr>
          <p:cNvPr id="12" name="TextBox 11"/>
          <p:cNvSpPr txBox="1"/>
          <p:nvPr/>
        </p:nvSpPr>
        <p:spPr>
          <a:xfrm>
            <a:off x="548640" y="5029200"/>
            <a:ext cx="11064240" cy="731520"/>
          </a:xfrm>
          <a:prstGeom prst="rect">
            <a:avLst/>
          </a:prstGeom>
          <a:noFill/>
        </p:spPr>
        <p:txBody>
          <a:bodyPr wrap="square" lIns="45720" rIns="45720" anchor="t">
            <a:spAutoFit/>
          </a:bodyPr>
          <a:lstStyle/>
          <a:p>
            <a:pPr algn="ctr">
              <a:spcAft>
                <a:spcPts val="800"/>
              </a:spcAft>
            </a:pPr>
            <a:r>
              <a:rPr sz="2000">
                <a:solidFill>
                  <a:srgbClr val="64748B"/>
                </a:solidFill>
                <a:latin typeface="Calibri"/>
              </a:rPr>
              <a:t>📋 Mỗi đội chọn 1 hộp – trả lời đúng trong 30 giây nhận quà ghi trong hộp.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22</a:t>
            </a:r>
          </a:p>
        </p:txBody>
      </p:sp>
      <mc:AlternateContent xmlns:mc="http://schemas.openxmlformats.org/markup-compatibility/2006" xmlns:a14="http://schemas.microsoft.com/office/drawing/2010/main">
        <mc:Choice Requires="a14">
          <p:sp>
            <p:nvSpPr>
              <p:cNvPr id="7" name="TextBox 6"/>
              <p:cNvSpPr txBox="1"/>
              <p:nvPr/>
            </p:nvSpPr>
            <p:spPr>
              <a:xfrm>
                <a:off x="548640" y="1463040"/>
                <a:ext cx="7680960" cy="569976"/>
              </a:xfrm>
              <a:prstGeom prst="rect">
                <a:avLst/>
              </a:prstGeom>
              <a:noFill/>
            </p:spPr>
            <p:txBody>
              <a:bodyPr wrap="square" lIns="45720" rIns="45720" anchor="t">
                <a:spAutoFit/>
              </a:bodyPr>
              <a:lstStyle/>
              <a:p>
                <a:pPr algn="l">
                  <a:spcAft>
                    <a:spcPts val="800"/>
                  </a:spcAft>
                </a:pPr>
                <a:r>
                  <a:rPr sz="2600">
                    <a:solidFill>
                      <a:srgbClr val="1E293B"/>
                    </a:solidFill>
                    <a:latin typeface="Calibri"/>
                  </a:rPr>
                  <a:t>Toạ độ trung điểm của </a:t>
                </a:r>
                <a14:m>
                  <m:oMath xmlns:m="http://schemas.openxmlformats.org/officeDocument/2006/math">
                    <m:r>
                      <a:rPr lang="vi-VN" sz="2600" b="0">
                        <a:solidFill>
                          <a:srgbClr val="1E293B"/>
                        </a:solidFill>
                        <a:latin typeface="Cambria Math" panose="02040503050406030204" pitchFamily="18" charset="0"/>
                      </a:rPr>
                      <m:t>𝐴𝐵</m:t>
                    </m:r>
                  </m:oMath>
                </a14:m>
                <a:r>
                  <a:rPr sz="2600">
                    <a:solidFill>
                      <a:srgbClr val="1E293B"/>
                    </a:solidFill>
                    <a:latin typeface="Calibri"/>
                  </a:rPr>
                  <a:t>?</a:t>
                </a:r>
              </a:p>
            </p:txBody>
          </p:sp>
        </mc:Choice>
        <mc:Fallback xmlns="">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Toạ độ trung điểm của </a:t>
                </a:r>
                <a:r>
                  <a:rPr lang="vi-VN"/>
                  <a:t>AB</a:t>
                </a:r>
                <a:r>
                  <a:rPr sz="2600">
                    <a:solidFill>
                      <a:srgbClr val="1E293B"/>
                    </a:solidFill>
                    <a:latin typeface="Calibri"/>
                  </a:rPr>
                  <a:t>?</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054096"/>
                <a:ext cx="7351776" cy="557784"/>
              </a:xfrm>
              <a:prstGeom prst="rect">
                <a:avLst/>
              </a:prstGeom>
              <a:noFill/>
            </p:spPr>
            <p:txBody>
              <a:bodyPr wrap="square" lIns="45720" rIns="45720" anchor="ctr">
                <a:spAutoFit/>
              </a:bodyPr>
              <a:lstStyle/>
              <a:p>
                <a:pPr algn="l">
                  <a:spcAft>
                    <a:spcPts val="800"/>
                  </a:spcAft>
                </a:pP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2; 1; 1</m:t>
                        </m:r>
                      </m:e>
                    </m:d>
                  </m:oMath>
                </a14:m>
                <a:r>
                  <a:rPr sz="2400">
                    <a:solidFill>
                      <a:srgbClr val="1E293B"/>
                    </a:solidFill>
                    <a:latin typeface="Calibri"/>
                  </a:rPr>
                  <a:t>.</a:t>
                </a:r>
              </a:p>
            </p:txBody>
          </p:sp>
        </mc:Choice>
        <mc:Fallback xmlns="">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(2;\ 1;\ 1)</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2_chu"/>
          <p:cNvSpPr txBox="1"/>
          <p:nvPr/>
        </p:nvSpPr>
        <p:spPr>
          <a:xfrm>
            <a:off x="713232" y="3867911"/>
            <a:ext cx="7351776" cy="557784"/>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Một tràng pháo tay</a:t>
            </a:r>
          </a:p>
        </p:txBody>
      </p:sp>
      <p:pic>
        <p:nvPicPr>
          <p:cNvPr id="12" name="Picture 11" descr="h248.png"/>
          <p:cNvPicPr>
            <a:picLocks noChangeAspect="1"/>
          </p:cNvPicPr>
          <p:nvPr/>
        </p:nvPicPr>
        <p:blipFill>
          <a:blip r:embed="rId3"/>
          <a:stretch>
            <a:fillRect/>
          </a:stretch>
        </p:blipFill>
        <p:spPr>
          <a:xfrm>
            <a:off x="8421172" y="1463040"/>
            <a:ext cx="3274455" cy="3108960"/>
          </a:xfrm>
          <a:prstGeom prst="rect">
            <a:avLst/>
          </a:prstGeom>
        </p:spPr>
      </p:pic>
      <p:sp>
        <p:nvSpPr>
          <p:cNvPr id="13" name="Rounded Rectangle 12">
            <a:hlinkClick r:id="rId4" action="ppaction://hlinksldjump"/>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23</a:t>
            </a:r>
          </a:p>
        </p:txBody>
      </p:sp>
      <mc:AlternateContent xmlns:mc="http://schemas.openxmlformats.org/markup-compatibility/2006" xmlns:a14="http://schemas.microsoft.com/office/drawing/2010/main">
        <mc:Choice Requires="a14">
          <p:sp>
            <p:nvSpPr>
              <p:cNvPr id="7" name="TextBox 6"/>
              <p:cNvSpPr txBox="1"/>
              <p:nvPr/>
            </p:nvSpPr>
            <p:spPr>
              <a:xfrm>
                <a:off x="548640" y="1463040"/>
                <a:ext cx="7680960" cy="569976"/>
              </a:xfrm>
              <a:prstGeom prst="rect">
                <a:avLst/>
              </a:prstGeom>
              <a:noFill/>
            </p:spPr>
            <p:txBody>
              <a:bodyPr wrap="square" lIns="45720" rIns="45720" anchor="t">
                <a:spAutoFit/>
              </a:bodyPr>
              <a:lstStyle/>
              <a:p>
                <a:pPr algn="l">
                  <a:spcAft>
                    <a:spcPts val="800"/>
                  </a:spcAft>
                </a:pPr>
                <a:r>
                  <a:rPr sz="2600">
                    <a:solidFill>
                      <a:srgbClr val="1E293B"/>
                    </a:solidFill>
                    <a:latin typeface="Calibri"/>
                  </a:rPr>
                  <a:t>Độ dài </a:t>
                </a:r>
                <a14:m>
                  <m:oMath xmlns:m="http://schemas.openxmlformats.org/officeDocument/2006/math">
                    <m:r>
                      <a:rPr lang="vi-VN" sz="2600" b="0">
                        <a:solidFill>
                          <a:srgbClr val="1E293B"/>
                        </a:solidFill>
                        <a:latin typeface="Cambria Math" panose="02040503050406030204" pitchFamily="18" charset="0"/>
                      </a:rPr>
                      <m:t>𝐴𝐵</m:t>
                    </m:r>
                  </m:oMath>
                </a14:m>
                <a:r>
                  <a:rPr sz="2600">
                    <a:solidFill>
                      <a:srgbClr val="1E293B"/>
                    </a:solidFill>
                    <a:latin typeface="Calibri"/>
                  </a:rPr>
                  <a:t>?</a:t>
                </a:r>
              </a:p>
            </p:txBody>
          </p:sp>
        </mc:Choice>
        <mc:Fallback xmlns="">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Độ dài </a:t>
                </a:r>
                <a:r>
                  <a:rPr lang="vi-VN"/>
                  <a:t>AB</a:t>
                </a:r>
                <a:r>
                  <a:rPr sz="2600">
                    <a:solidFill>
                      <a:srgbClr val="1E293B"/>
                    </a:solidFill>
                    <a:latin typeface="Calibri"/>
                  </a:rPr>
                  <a:t>?</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054096"/>
                <a:ext cx="7351776" cy="557784"/>
              </a:xfrm>
              <a:prstGeom prst="rect">
                <a:avLst/>
              </a:prstGeom>
              <a:noFill/>
            </p:spPr>
            <p:txBody>
              <a:bodyPr wrap="square" lIns="45720" rIns="45720" anchor="ctr">
                <a:spAutoFit/>
              </a:bodyPr>
              <a:lstStyle/>
              <a:p>
                <a:pPr algn="l">
                  <a:spcAft>
                    <a:spcPts val="800"/>
                  </a:spcAft>
                </a:pPr>
                <a:r>
                  <a:rPr sz="2400">
                    <a:solidFill>
                      <a:srgbClr val="1E293B"/>
                    </a:solidFill>
                    <a:latin typeface="Calibri"/>
                  </a:rPr>
                  <a:t> </a:t>
                </a:r>
                <a14:m>
                  <m:oMath xmlns:m="http://schemas.openxmlformats.org/officeDocument/2006/math">
                    <m:rad>
                      <m:radPr>
                        <m:degHide m:val="on"/>
                        <m:ctrlPr>
                          <a:rPr lang="vi-VN" sz="2400" b="0" i="1">
                            <a:solidFill>
                              <a:srgbClr val="1E293B"/>
                            </a:solidFill>
                            <a:latin typeface="Cambria Math" panose="02040503050406030204" pitchFamily="18" charset="0"/>
                          </a:rPr>
                        </m:ctrlPr>
                      </m:radPr>
                      <m:deg/>
                      <m:e>
                        <m:r>
                          <a:rPr lang="vi-VN" sz="2400" b="0">
                            <a:solidFill>
                              <a:srgbClr val="1E293B"/>
                            </a:solidFill>
                            <a:latin typeface="Cambria Math" panose="02040503050406030204" pitchFamily="18" charset="0"/>
                          </a:rPr>
                          <m:t>4+4+16</m:t>
                        </m:r>
                      </m:e>
                    </m:rad>
                    <m:r>
                      <a:rPr lang="vi-VN" sz="2400" b="0">
                        <a:solidFill>
                          <a:srgbClr val="1E293B"/>
                        </a:solidFill>
                        <a:latin typeface="Cambria Math" panose="02040503050406030204" pitchFamily="18" charset="0"/>
                      </a:rPr>
                      <m:t>=2</m:t>
                    </m:r>
                    <m:rad>
                      <m:radPr>
                        <m:degHide m:val="on"/>
                        <m:ctrlPr>
                          <a:rPr lang="vi-VN" sz="2400" b="0" i="1">
                            <a:solidFill>
                              <a:srgbClr val="1E293B"/>
                            </a:solidFill>
                            <a:latin typeface="Cambria Math" panose="02040503050406030204" pitchFamily="18" charset="0"/>
                          </a:rPr>
                        </m:ctrlPr>
                      </m:radPr>
                      <m:deg/>
                      <m:e>
                        <m:r>
                          <a:rPr lang="vi-VN" sz="2400" b="0">
                            <a:solidFill>
                              <a:srgbClr val="1E293B"/>
                            </a:solidFill>
                            <a:latin typeface="Cambria Math" panose="02040503050406030204" pitchFamily="18" charset="0"/>
                          </a:rPr>
                          <m:t>6</m:t>
                        </m:r>
                      </m:e>
                    </m:rad>
                  </m:oMath>
                </a14:m>
                <a:r>
                  <a:rPr sz="2400">
                    <a:solidFill>
                      <a:srgbClr val="1E293B"/>
                    </a:solidFill>
                    <a:latin typeface="Calibri"/>
                  </a:rPr>
                  <a:t>.</a:t>
                </a:r>
              </a:p>
            </p:txBody>
          </p:sp>
        </mc:Choice>
        <mc:Fallback xmlns="">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\sqrt{4+4+16}=2\sqrt{6}</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2_chu"/>
          <p:cNvSpPr txBox="1"/>
          <p:nvPr/>
        </p:nvSpPr>
        <p:spPr>
          <a:xfrm>
            <a:off x="713232" y="3867911"/>
            <a:ext cx="7351776" cy="557784"/>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+1 điểm cộng</a:t>
            </a:r>
          </a:p>
        </p:txBody>
      </p:sp>
      <p:pic>
        <p:nvPicPr>
          <p:cNvPr id="12" name="Picture 11" descr="h248.png"/>
          <p:cNvPicPr>
            <a:picLocks noChangeAspect="1"/>
          </p:cNvPicPr>
          <p:nvPr/>
        </p:nvPicPr>
        <p:blipFill>
          <a:blip r:embed="rId3"/>
          <a:stretch>
            <a:fillRect/>
          </a:stretch>
        </p:blipFill>
        <p:spPr>
          <a:xfrm>
            <a:off x="8421172" y="1463040"/>
            <a:ext cx="3274455" cy="3108960"/>
          </a:xfrm>
          <a:prstGeom prst="rect">
            <a:avLst/>
          </a:prstGeom>
        </p:spPr>
      </p:pic>
      <p:sp>
        <p:nvSpPr>
          <p:cNvPr id="13" name="Rounded Rectangle 12">
            <a:hlinkClick r:id="rId4" action="ppaction://hlinksldjump"/>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24</a:t>
            </a:r>
          </a:p>
        </p:txBody>
      </p:sp>
      <mc:AlternateContent xmlns:mc="http://schemas.openxmlformats.org/markup-compatibility/2006" xmlns:a14="http://schemas.microsoft.com/office/drawing/2010/main">
        <mc:Choice Requires="a14">
          <p:sp>
            <p:nvSpPr>
              <p:cNvPr id="7" name="TextBox 6"/>
              <p:cNvSpPr txBox="1"/>
              <p:nvPr/>
            </p:nvSpPr>
            <p:spPr>
              <a:xfrm>
                <a:off x="548640" y="1463040"/>
                <a:ext cx="7680960" cy="569976"/>
              </a:xfrm>
              <a:prstGeom prst="rect">
                <a:avLst/>
              </a:prstGeom>
              <a:noFill/>
            </p:spPr>
            <p:txBody>
              <a:bodyPr wrap="square" lIns="45720" rIns="45720" anchor="t">
                <a:spAutoFit/>
              </a:bodyPr>
              <a:lstStyle/>
              <a:p>
                <a:pPr algn="l">
                  <a:spcAft>
                    <a:spcPts val="800"/>
                  </a:spcAft>
                </a:pPr>
                <a:r>
                  <a:rPr sz="2600">
                    <a:solidFill>
                      <a:srgbClr val="1E293B"/>
                    </a:solidFill>
                    <a:latin typeface="Calibri"/>
                  </a:rPr>
                  <a:t>Toạ độ trọng tâm tam giác </a:t>
                </a:r>
                <a14:m>
                  <m:oMath xmlns:m="http://schemas.openxmlformats.org/officeDocument/2006/math">
                    <m:r>
                      <a:rPr lang="vi-VN" sz="2600" b="0">
                        <a:solidFill>
                          <a:srgbClr val="1E293B"/>
                        </a:solidFill>
                        <a:latin typeface="Cambria Math" panose="02040503050406030204" pitchFamily="18" charset="0"/>
                      </a:rPr>
                      <m:t>𝐴𝐵𝐶</m:t>
                    </m:r>
                  </m:oMath>
                </a14:m>
                <a:r>
                  <a:rPr sz="2600">
                    <a:solidFill>
                      <a:srgbClr val="1E293B"/>
                    </a:solidFill>
                    <a:latin typeface="Calibri"/>
                  </a:rPr>
                  <a:t>?</a:t>
                </a:r>
              </a:p>
            </p:txBody>
          </p:sp>
        </mc:Choice>
        <mc:Fallback xmlns="">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Toạ độ trọng tâm tam giác </a:t>
                </a:r>
                <a:r>
                  <a:rPr lang="vi-VN"/>
                  <a:t>ABC</a:t>
                </a:r>
                <a:r>
                  <a:rPr sz="2600">
                    <a:solidFill>
                      <a:srgbClr val="1E293B"/>
                    </a:solidFill>
                    <a:latin typeface="Calibri"/>
                  </a:rPr>
                  <a:t>?</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054096"/>
                <a:ext cx="7351776" cy="557784"/>
              </a:xfrm>
              <a:prstGeom prst="rect">
                <a:avLst/>
              </a:prstGeom>
              <a:noFill/>
            </p:spPr>
            <p:txBody>
              <a:bodyPr wrap="square" lIns="45720" rIns="45720" anchor="ctr">
                <a:spAutoFit/>
              </a:bodyPr>
              <a:lstStyle/>
              <a:p>
                <a:pPr algn="l">
                  <a:spcAft>
                    <a:spcPts val="800"/>
                  </a:spcAft>
                </a:pPr>
                <a:r>
                  <a:rPr sz="2400">
                    <a:solidFill>
                      <a:srgbClr val="1E293B"/>
                    </a:solidFill>
                    <a:latin typeface="Calibri"/>
                  </a:rPr>
                  <a:t> </a:t>
                </a:r>
                <a14:m>
                  <m:oMath xmlns:m="http://schemas.openxmlformats.org/officeDocument/2006/math">
                    <m:d>
                      <m:dPr>
                        <m:ctrlPr>
                          <a:rPr lang="vi-VN" sz="2400" b="0">
                            <a:solidFill>
                              <a:srgbClr val="1E293B"/>
                            </a:solidFill>
                            <a:latin typeface="Cambria Math" panose="02040503050406030204" pitchFamily="18" charset="0"/>
                          </a:rPr>
                        </m:ctrlPr>
                      </m:dPr>
                      <m:e>
                        <m:r>
                          <a:rPr lang="vi-VN" sz="2400" b="0">
                            <a:solidFill>
                              <a:srgbClr val="1E293B"/>
                            </a:solidFill>
                            <a:latin typeface="Cambria Math" panose="02040503050406030204" pitchFamily="18" charset="0"/>
                          </a:rPr>
                          <m:t>1; 2; 1</m:t>
                        </m:r>
                      </m:e>
                    </m:d>
                  </m:oMath>
                </a14:m>
                <a:r>
                  <a:rPr sz="2400">
                    <a:solidFill>
                      <a:srgbClr val="1E293B"/>
                    </a:solidFill>
                    <a:latin typeface="Calibri"/>
                  </a:rPr>
                  <a:t>.</a:t>
                </a:r>
              </a:p>
            </p:txBody>
          </p:sp>
        </mc:Choice>
        <mc:Fallback xmlns="">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(1;\ 2;\ 1)</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2_chu"/>
          <p:cNvSpPr txBox="1"/>
          <p:nvPr/>
        </p:nvSpPr>
        <p:spPr>
          <a:xfrm>
            <a:off x="713232" y="3867911"/>
            <a:ext cx="7351776" cy="557784"/>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Quyền chọn bạn trả lời tiếp</a:t>
            </a:r>
          </a:p>
        </p:txBody>
      </p:sp>
      <p:pic>
        <p:nvPicPr>
          <p:cNvPr id="12" name="Picture 11" descr="h248.png"/>
          <p:cNvPicPr>
            <a:picLocks noChangeAspect="1"/>
          </p:cNvPicPr>
          <p:nvPr/>
        </p:nvPicPr>
        <p:blipFill>
          <a:blip r:embed="rId3"/>
          <a:stretch>
            <a:fillRect/>
          </a:stretch>
        </p:blipFill>
        <p:spPr>
          <a:xfrm>
            <a:off x="8421172" y="1463040"/>
            <a:ext cx="3274455" cy="3108960"/>
          </a:xfrm>
          <a:prstGeom prst="rect">
            <a:avLst/>
          </a:prstGeom>
        </p:spPr>
      </p:pic>
      <p:sp>
        <p:nvSpPr>
          <p:cNvPr id="13" name="Rounded Rectangle 12">
            <a:hlinkClick r:id="rId4" action="ppaction://hlinksldjump"/>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25</a:t>
            </a:r>
          </a:p>
        </p:txBody>
      </p:sp>
      <mc:AlternateContent xmlns:mc="http://schemas.openxmlformats.org/markup-compatibility/2006" xmlns:a14="http://schemas.microsoft.com/office/drawing/2010/main">
        <mc:Choice Requires="a14">
          <p:sp>
            <p:nvSpPr>
              <p:cNvPr id="7" name="TextBox 6"/>
              <p:cNvSpPr txBox="1"/>
              <p:nvPr/>
            </p:nvSpPr>
            <p:spPr>
              <a:xfrm>
                <a:off x="548640" y="1463040"/>
                <a:ext cx="7680960" cy="569976"/>
              </a:xfrm>
              <a:prstGeom prst="rect">
                <a:avLst/>
              </a:prstGeom>
              <a:noFill/>
            </p:spPr>
            <p:txBody>
              <a:bodyPr wrap="square" lIns="45720" rIns="45720" anchor="t">
                <a:spAutoFit/>
              </a:bodyPr>
              <a:lstStyle/>
              <a:p>
                <a:pPr algn="l">
                  <a:spcAft>
                    <a:spcPts val="800"/>
                  </a:spcAft>
                </a:pPr>
                <a:r>
                  <a:rPr sz="2600">
                    <a:solidFill>
                      <a:srgbClr val="1E293B"/>
                    </a:solidFill>
                    <a:latin typeface="Calibri"/>
                  </a:rPr>
                  <a:t>Góc giữa </a:t>
                </a:r>
                <a14:m>
                  <m:oMath xmlns:m="http://schemas.openxmlformats.org/officeDocument/2006/math">
                    <m:acc>
                      <m:accPr>
                        <m:chr m:val="⃗"/>
                        <m:ctrlPr>
                          <a:rPr lang="vi-VN" sz="2600" b="0">
                            <a:solidFill>
                              <a:srgbClr val="1E293B"/>
                            </a:solidFill>
                            <a:latin typeface="Cambria Math" panose="02040503050406030204" pitchFamily="18" charset="0"/>
                          </a:rPr>
                        </m:ctrlPr>
                      </m:accPr>
                      <m:e>
                        <m:r>
                          <a:rPr lang="vi-VN" sz="2600" b="0">
                            <a:solidFill>
                              <a:srgbClr val="1E293B"/>
                            </a:solidFill>
                            <a:latin typeface="Cambria Math" panose="02040503050406030204" pitchFamily="18" charset="0"/>
                          </a:rPr>
                          <m:t>𝑢</m:t>
                        </m:r>
                      </m:e>
                    </m:acc>
                    <m:r>
                      <a:rPr lang="vi-VN" sz="2600" b="0">
                        <a:solidFill>
                          <a:srgbClr val="1E293B"/>
                        </a:solidFill>
                        <a:latin typeface="Cambria Math" panose="02040503050406030204" pitchFamily="18" charset="0"/>
                      </a:rPr>
                      <m:t>=(1;0;0)</m:t>
                    </m:r>
                  </m:oMath>
                </a14:m>
                <a:r>
                  <a:rPr sz="2600">
                    <a:solidFill>
                      <a:srgbClr val="1E293B"/>
                    </a:solidFill>
                    <a:latin typeface="Calibri"/>
                  </a:rPr>
                  <a:t> và </a:t>
                </a:r>
                <a14:m>
                  <m:oMath xmlns:m="http://schemas.openxmlformats.org/officeDocument/2006/math">
                    <m:acc>
                      <m:accPr>
                        <m:chr m:val="⃗"/>
                        <m:ctrlPr>
                          <a:rPr lang="vi-VN" sz="2600" b="0">
                            <a:solidFill>
                              <a:srgbClr val="1E293B"/>
                            </a:solidFill>
                            <a:latin typeface="Cambria Math" panose="02040503050406030204" pitchFamily="18" charset="0"/>
                          </a:rPr>
                        </m:ctrlPr>
                      </m:accPr>
                      <m:e>
                        <m:r>
                          <a:rPr lang="vi-VN" sz="2600" b="0">
                            <a:solidFill>
                              <a:srgbClr val="1E293B"/>
                            </a:solidFill>
                            <a:latin typeface="Cambria Math" panose="02040503050406030204" pitchFamily="18" charset="0"/>
                          </a:rPr>
                          <m:t>𝑣</m:t>
                        </m:r>
                      </m:e>
                    </m:acc>
                    <m:r>
                      <a:rPr lang="vi-VN" sz="2600" b="0">
                        <a:solidFill>
                          <a:srgbClr val="1E293B"/>
                        </a:solidFill>
                        <a:latin typeface="Cambria Math" panose="02040503050406030204" pitchFamily="18" charset="0"/>
                      </a:rPr>
                      <m:t>=(1;1;0)</m:t>
                    </m:r>
                  </m:oMath>
                </a14:m>
                <a:r>
                  <a:rPr sz="2600">
                    <a:solidFill>
                      <a:srgbClr val="1E293B"/>
                    </a:solidFill>
                    <a:latin typeface="Calibri"/>
                  </a:rPr>
                  <a:t>?</a:t>
                </a:r>
              </a:p>
            </p:txBody>
          </p:sp>
        </mc:Choice>
        <mc:Fallback xmlns="">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Góc giữa </a:t>
                </a:r>
                <a:r>
                  <a:rPr lang="vi-VN"/>
                  <a:t>\vec{u}=(1;0;0)</a:t>
                </a:r>
                <a:r>
                  <a:rPr sz="2600">
                    <a:solidFill>
                      <a:srgbClr val="1E293B"/>
                    </a:solidFill>
                    <a:latin typeface="Calibri"/>
                  </a:rPr>
                  <a:t> và </a:t>
                </a:r>
                <a:r>
                  <a:rPr lang="vi-VN"/>
                  <a:t>\vec{v}=(1;1;0)</a:t>
                </a:r>
                <a:r>
                  <a:rPr sz="2600">
                    <a:solidFill>
                      <a:srgbClr val="1E293B"/>
                    </a:solidFill>
                    <a:latin typeface="Calibri"/>
                  </a:rPr>
                  <a:t>?</a:t>
                </a:r>
              </a:p>
            </p:txBody>
          </p:sp>
        </mc:Fallback>
      </mc:AlternateContent>
      <p:sp>
        <p:nvSpPr>
          <p:cNvPr id="8" name="s1_nen"/>
          <p:cNvSpPr/>
          <p:nvPr/>
        </p:nvSpPr>
        <p:spPr>
          <a:xfrm>
            <a:off x="548640" y="3017520"/>
            <a:ext cx="7680960" cy="79552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054096"/>
                <a:ext cx="7351776" cy="722375"/>
              </a:xfrm>
              <a:prstGeom prst="rect">
                <a:avLst/>
              </a:prstGeom>
              <a:noFill/>
            </p:spPr>
            <p:txBody>
              <a:bodyPr wrap="square" lIns="45720" rIns="45720" anchor="ctr">
                <a:spAutoFit/>
              </a:bodyPr>
              <a:lstStyle/>
              <a:p>
                <a:pPr algn="l">
                  <a:spcAft>
                    <a:spcPts val="800"/>
                  </a:spcAft>
                </a:pPr>
                <a:r>
                  <a:rPr sz="2400">
                    <a:solidFill>
                      <a:srgbClr val="1E293B"/>
                    </a:solidFill>
                    <a:latin typeface="Calibri"/>
                  </a:rPr>
                  <a:t> </a:t>
                </a:r>
                <a14:m>
                  <m:oMath xmlns:m="http://schemas.openxmlformats.org/officeDocument/2006/math">
                    <m:sSup>
                      <m:sSupPr>
                        <m:ctrlPr>
                          <a:rPr lang="vi-VN" sz="2400" b="0">
                            <a:solidFill>
                              <a:srgbClr val="1E293B"/>
                            </a:solidFill>
                            <a:latin typeface="Cambria Math" panose="02040503050406030204" pitchFamily="18" charset="0"/>
                          </a:rPr>
                        </m:ctrlPr>
                      </m:sSupPr>
                      <m:e>
                        <m:r>
                          <a:rPr lang="vi-VN" sz="2400" b="0">
                            <a:solidFill>
                              <a:srgbClr val="1E293B"/>
                            </a:solidFill>
                            <a:latin typeface="Cambria Math" panose="02040503050406030204" pitchFamily="18" charset="0"/>
                          </a:rPr>
                          <m:t>45</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vì </a:t>
                </a:r>
                <a14:m>
                  <m:oMath xmlns:m="http://schemas.openxmlformats.org/officeDocument/2006/math">
                    <m:r>
                      <m:rPr>
                        <m:sty m:val="p"/>
                      </m:rPr>
                      <a:rPr lang="vi-VN" sz="2400" b="0">
                        <a:solidFill>
                          <a:srgbClr val="1E293B"/>
                        </a:solidFill>
                        <a:latin typeface="Cambria Math" panose="02040503050406030204" pitchFamily="18" charset="0"/>
                      </a:rPr>
                      <m:t>cos</m:t>
                    </m:r>
                    <m:r>
                      <a:rPr lang="vi-VN" sz="2400" b="0">
                        <a:solidFill>
                          <a:srgbClr val="1E293B"/>
                        </a:solidFill>
                        <a:latin typeface="Cambria Math" panose="02040503050406030204" pitchFamily="18" charset="0"/>
                      </a:rPr>
                      <m:t> =</m:t>
                    </m:r>
                    <m:f>
                      <m:fPr>
                        <m:ctrlPr>
                          <a:rPr lang="vi-VN" sz="2400" b="0">
                            <a:solidFill>
                              <a:srgbClr val="1E293B"/>
                            </a:solidFill>
                            <a:latin typeface="Cambria Math" panose="02040503050406030204" pitchFamily="18" charset="0"/>
                          </a:rPr>
                        </m:ctrlPr>
                      </m:fPr>
                      <m:num>
                        <m:r>
                          <a:rPr lang="vi-VN" sz="2400" b="0">
                            <a:solidFill>
                              <a:srgbClr val="1E293B"/>
                            </a:solidFill>
                            <a:latin typeface="Cambria Math" panose="02040503050406030204" pitchFamily="18" charset="0"/>
                          </a:rPr>
                          <m:t>1</m:t>
                        </m:r>
                      </m:num>
                      <m:den>
                        <m:rad>
                          <m:radPr>
                            <m:degHide m:val="on"/>
                            <m:ctrlPr>
                              <a:rPr lang="vi-VN" sz="2400" b="0" i="1">
                                <a:solidFill>
                                  <a:srgbClr val="1E293B"/>
                                </a:solidFill>
                                <a:latin typeface="Cambria Math" panose="02040503050406030204" pitchFamily="18" charset="0"/>
                              </a:rPr>
                            </m:ctrlPr>
                          </m:radPr>
                          <m:deg/>
                          <m:e>
                            <m:r>
                              <a:rPr lang="vi-VN" sz="2400" b="0">
                                <a:solidFill>
                                  <a:srgbClr val="1E293B"/>
                                </a:solidFill>
                                <a:latin typeface="Cambria Math" panose="02040503050406030204" pitchFamily="18" charset="0"/>
                              </a:rPr>
                              <m:t>2</m:t>
                            </m:r>
                          </m:e>
                        </m:rad>
                      </m:den>
                    </m:f>
                  </m:oMath>
                </a14:m>
                <a:r>
                  <a:rPr sz="2400">
                    <a:solidFill>
                      <a:srgbClr val="1E293B"/>
                    </a:solidFill>
                    <a:latin typeface="Calibri"/>
                  </a:rPr>
                  <a:t>.</a:t>
                </a:r>
              </a:p>
            </p:txBody>
          </p:sp>
        </mc:Choice>
        <mc:Fallback xmlns="">
          <p:sp>
            <p:nvSpPr>
              <p:cNvPr id="9" name="TextBox 8"/>
              <p:cNvSpPr txBox="1"/>
              <p:nvPr/>
            </p:nvSpPr>
            <p:spPr>
              <a:xfrm>
                <a:off x="713232" y="3054096"/>
                <a:ext cx="7351776" cy="722375"/>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45^\circ</a:t>
                </a:r>
                <a:r>
                  <a:rPr sz="2400">
                    <a:solidFill>
                      <a:srgbClr val="1E293B"/>
                    </a:solidFill>
                    <a:latin typeface="Calibri"/>
                  </a:rPr>
                  <a:t> vì </a:t>
                </a:r>
                <a:r>
                  <a:rPr lang="vi-VN"/>
                  <a:t>\cos=\frac{1}{\sqrt{2}}</a:t>
                </a:r>
                <a:r>
                  <a:rPr sz="2400">
                    <a:solidFill>
                      <a:srgbClr val="1E293B"/>
                    </a:solidFill>
                    <a:latin typeface="Calibri"/>
                  </a:rPr>
                  <a:t>.</a:t>
                </a:r>
              </a:p>
            </p:txBody>
          </p:sp>
        </mc:Fallback>
      </mc:AlternateContent>
      <p:sp>
        <p:nvSpPr>
          <p:cNvPr id="10" name="s2_nen"/>
          <p:cNvSpPr/>
          <p:nvPr/>
        </p:nvSpPr>
        <p:spPr>
          <a:xfrm>
            <a:off x="548640" y="3995928"/>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2_chu"/>
          <p:cNvSpPr txBox="1"/>
          <p:nvPr/>
        </p:nvSpPr>
        <p:spPr>
          <a:xfrm>
            <a:off x="713232" y="4032504"/>
            <a:ext cx="7351776" cy="557784"/>
          </a:xfrm>
          <a:prstGeom prst="rect">
            <a:avLst/>
          </a:prstGeom>
          <a:noFill/>
        </p:spPr>
        <p:txBody>
          <a:bodyPr wrap="square" lIns="45720" rIns="45720" anchor="ctr">
            <a:spAutoFit/>
          </a:bodyPr>
          <a:lstStyle/>
          <a:p>
            <a:pPr algn="ctr">
              <a:spcAft>
                <a:spcPts val="800"/>
              </a:spcAft>
            </a:pPr>
            <a:r>
              <a:rPr sz="2400">
                <a:solidFill>
                  <a:srgbClr val="1E293B"/>
                </a:solidFill>
                <a:latin typeface="Calibri"/>
              </a:rPr>
              <a:t>🎁 +1 điểm cộng</a:t>
            </a:r>
          </a:p>
        </p:txBody>
      </p:sp>
      <p:pic>
        <p:nvPicPr>
          <p:cNvPr id="12" name="Picture 11" descr="h248.png"/>
          <p:cNvPicPr>
            <a:picLocks noChangeAspect="1"/>
          </p:cNvPicPr>
          <p:nvPr/>
        </p:nvPicPr>
        <p:blipFill>
          <a:blip r:embed="rId3"/>
          <a:stretch>
            <a:fillRect/>
          </a:stretch>
        </p:blipFill>
        <p:spPr>
          <a:xfrm>
            <a:off x="8421172" y="1463040"/>
            <a:ext cx="3274455" cy="3108960"/>
          </a:xfrm>
          <a:prstGeom prst="rect">
            <a:avLst/>
          </a:prstGeom>
        </p:spPr>
      </p:pic>
      <p:sp>
        <p:nvSpPr>
          <p:cNvPr id="13" name="Rounded Rectangle 12">
            <a:hlinkClick r:id="rId4" action="ppaction://hlinksldjump"/>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6 – BÀI TOÁN MỞ ĐẦU (SGK TR.71)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26</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7863840" cy="783335"/>
              </a:xfrm>
              <a:prstGeom prst="rect">
                <a:avLst/>
              </a:prstGeom>
              <a:noFill/>
            </p:spPr>
            <p:txBody>
              <a:bodyPr wrap="square" lIns="45720" rIns="45720" anchor="t">
                <a:spAutoFit/>
              </a:bodyPr>
              <a:lstStyle/>
              <a:p>
                <a:pPr algn="l">
                  <a:spcAft>
                    <a:spcPts val="800"/>
                  </a:spcAft>
                </a:pPr>
                <a:r>
                  <a:rPr sz="2000">
                    <a:solidFill>
                      <a:srgbClr val="1E293B"/>
                    </a:solidFill>
                    <a:latin typeface="Calibri"/>
                  </a:rPr>
                  <a:t>Hãy trả lời câu hỏi trong tình huống mở đầu: </a:t>
                </a:r>
                <a14:m>
                  <m:oMath xmlns:m="http://schemas.openxmlformats.org/officeDocument/2006/math">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𝐴</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(240; 450; 0)</m:t>
                    </m:r>
                  </m:oMath>
                </a14:m>
                <a:r>
                  <a:rPr sz="2000">
                    <a:solidFill>
                      <a:srgbClr val="1E293B"/>
                    </a:solidFill>
                    <a:latin typeface="Calibri"/>
                  </a:rPr>
                  <a:t>, </a:t>
                </a:r>
                <a14:m>
                  <m:oMath xmlns:m="http://schemas.openxmlformats.org/officeDocument/2006/math">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𝐵</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(120; 450; 300)</m:t>
                    </m:r>
                  </m:oMath>
                </a14:m>
                <a:r>
                  <a:rPr sz="2000">
                    <a:solidFill>
                      <a:srgbClr val="1E293B"/>
                    </a:solidFill>
                    <a:latin typeface="Calibri"/>
                  </a:rPr>
                  <a:t> (cm).</a:t>
                </a:r>
              </a:p>
            </p:txBody>
          </p:sp>
        </mc:Choice>
        <mc:Fallback xmlns="">
          <p:sp>
            <p:nvSpPr>
              <p:cNvPr id="7" name="TextBox 6"/>
              <p:cNvSpPr txBox="1"/>
              <p:nvPr/>
            </p:nvSpPr>
            <p:spPr>
              <a:xfrm>
                <a:off x="548640" y="1371600"/>
                <a:ext cx="7863840" cy="783335"/>
              </a:xfrm>
              <a:prstGeom prst="rect">
                <a:avLst/>
              </a:prstGeom>
              <a:noFill/>
            </p:spPr>
            <p:txBody>
              <a:bodyPr wrap="square" anchor="t" lIns="45720" rIns="45720">
                <a:spAutoFit/>
              </a:bodyPr>
              <a:lstStyle/>
              <a:p>
                <a:pPr algn="l">
                  <a:spcAft>
                    <a:spcPts val="800"/>
                  </a:spcAft>
                </a:pPr>
                <a:r>
                  <a:rPr sz="2000">
                    <a:solidFill>
                      <a:srgbClr val="1E293B"/>
                    </a:solidFill>
                    <a:latin typeface="Calibri"/>
                  </a:rPr>
                  <a:t>Hãy trả lời câu hỏi trong tình huống mở đầu: </a:t>
                </a:r>
                <a:r>
                  <a:rPr lang="vi-VN"/>
                  <a:t>A'(240;\ 450;\ 0)</a:t>
                </a:r>
                <a:r>
                  <a:rPr sz="2000">
                    <a:solidFill>
                      <a:srgbClr val="1E293B"/>
                    </a:solidFill>
                    <a:latin typeface="Calibri"/>
                  </a:rPr>
                  <a:t>, </a:t>
                </a:r>
                <a:r>
                  <a:rPr lang="vi-VN"/>
                  <a:t>B'(120;\ 450;\ 300)</a:t>
                </a:r>
                <a:r>
                  <a:rPr sz="2000">
                    <a:solidFill>
                      <a:srgbClr val="1E293B"/>
                    </a:solidFill>
                    <a:latin typeface="Calibri"/>
                  </a:rPr>
                  <a:t> (cm).</a:t>
                </a:r>
              </a:p>
            </p:txBody>
          </p:sp>
        </mc:Fallback>
      </mc:AlternateContent>
      <p:sp>
        <p:nvSpPr>
          <p:cNvPr id="8" name="s1_nen"/>
          <p:cNvSpPr/>
          <p:nvPr/>
        </p:nvSpPr>
        <p:spPr>
          <a:xfrm>
            <a:off x="548640" y="2228088"/>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264664"/>
                <a:ext cx="7534656" cy="801623"/>
              </a:xfrm>
              <a:prstGeom prst="rect">
                <a:avLst/>
              </a:prstGeom>
              <a:noFill/>
            </p:spPr>
            <p:txBody>
              <a:bodyPr wrap="square" lIns="45720" rIns="45720" anchor="ctr">
                <a:spAutoFit/>
              </a:bodyPr>
              <a:lstStyle/>
              <a:p>
                <a:pPr algn="l">
                  <a:spcAft>
                    <a:spcPts val="800"/>
                  </a:spcAft>
                </a:pPr>
                <a:r>
                  <a:rPr sz="2000">
                    <a:solidFill>
                      <a:srgbClr val="1E293B"/>
                    </a:solidFill>
                    <a:latin typeface="Calibri"/>
                  </a:rPr>
                  <a:t> </a:t>
                </a:r>
                <a14:m>
                  <m:oMath xmlns:m="http://schemas.openxmlformats.org/officeDocument/2006/math">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𝐴</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cách các trục </a:t>
                </a:r>
                <a14:m>
                  <m:oMath xmlns:m="http://schemas.openxmlformats.org/officeDocument/2006/math">
                    <m:r>
                      <a:rPr lang="vi-VN" sz="2000" b="0">
                        <a:solidFill>
                          <a:srgbClr val="1E293B"/>
                        </a:solidFill>
                        <a:latin typeface="Cambria Math" panose="02040503050406030204" pitchFamily="18" charset="0"/>
                      </a:rPr>
                      <m:t>𝑂𝑥</m:t>
                    </m:r>
                    <m: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𝑂𝑦</m:t>
                    </m:r>
                  </m:oMath>
                </a14:m>
                <a:r>
                  <a:rPr sz="2000">
                    <a:solidFill>
                      <a:srgbClr val="1E293B"/>
                    </a:solidFill>
                    <a:latin typeface="Calibri"/>
                  </a:rPr>
                  <a:t> lần lượt 450 cm và 240 cm ⇒ </a:t>
                </a:r>
                <a14:m>
                  <m:oMath xmlns:m="http://schemas.openxmlformats.org/officeDocument/2006/math">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𝐴</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𝐴</m:t>
                    </m:r>
                    <m:r>
                      <a:rPr lang="vi-VN" sz="2000" b="0">
                        <a:solidFill>
                          <a:srgbClr val="1E293B"/>
                        </a:solidFill>
                        <a:latin typeface="Cambria Math" panose="02040503050406030204" pitchFamily="18" charset="0"/>
                      </a:rPr>
                      <m:t>=450</m:t>
                    </m:r>
                  </m:oMath>
                </a14:m>
                <a:r>
                  <a:rPr sz="2000">
                    <a:solidFill>
                      <a:srgbClr val="1E293B"/>
                    </a:solidFill>
                    <a:latin typeface="Calibri"/>
                  </a:rPr>
                  <a:t> cm, </a:t>
                </a:r>
                <a14:m>
                  <m:oMath xmlns:m="http://schemas.openxmlformats.org/officeDocument/2006/math">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𝐴</m:t>
                        </m:r>
                      </m:e>
                      <m:sup>
                        <m:r>
                          <a:rPr lang="vi-VN" sz="2000" b="0">
                            <a:solidFill>
                              <a:srgbClr val="1E293B"/>
                            </a:solidFill>
                            <a:latin typeface="Cambria Math" panose="02040503050406030204" pitchFamily="18" charset="0"/>
                          </a:rPr>
                          <m:t>′</m:t>
                        </m:r>
                      </m:sup>
                    </m:sSup>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𝑂</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=240</m:t>
                    </m:r>
                  </m:oMath>
                </a14:m>
                <a:r>
                  <a:rPr sz="2000">
                    <a:solidFill>
                      <a:srgbClr val="1E293B"/>
                    </a:solidFill>
                    <a:latin typeface="Calibri"/>
                  </a:rPr>
                  <a:t> cm.</a:t>
                </a:r>
              </a:p>
            </p:txBody>
          </p:sp>
        </mc:Choice>
        <mc:Fallback xmlns="">
          <p:sp>
            <p:nvSpPr>
              <p:cNvPr id="9" name="TextBox 8"/>
              <p:cNvSpPr txBox="1"/>
              <p:nvPr/>
            </p:nvSpPr>
            <p:spPr>
              <a:xfrm>
                <a:off x="713232" y="2264664"/>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A'</a:t>
                </a:r>
                <a:r>
                  <a:rPr sz="2000">
                    <a:solidFill>
                      <a:srgbClr val="1E293B"/>
                    </a:solidFill>
                    <a:latin typeface="Calibri"/>
                  </a:rPr>
                  <a:t> cách các trục </a:t>
                </a:r>
                <a:r>
                  <a:rPr lang="vi-VN"/>
                  <a:t>Ox,\ Oy</a:t>
                </a:r>
                <a:r>
                  <a:rPr sz="2000">
                    <a:solidFill>
                      <a:srgbClr val="1E293B"/>
                    </a:solidFill>
                    <a:latin typeface="Calibri"/>
                  </a:rPr>
                  <a:t> lần lượt 450 cm và 240 cm ⇒ </a:t>
                </a:r>
                <a:r>
                  <a:rPr lang="vi-VN"/>
                  <a:t>A'A=450</a:t>
                </a:r>
                <a:r>
                  <a:rPr sz="2000">
                    <a:solidFill>
                      <a:srgbClr val="1E293B"/>
                    </a:solidFill>
                    <a:latin typeface="Calibri"/>
                  </a:rPr>
                  <a:t> cm, </a:t>
                </a:r>
                <a:r>
                  <a:rPr lang="vi-VN"/>
                  <a:t>A'O'=240</a:t>
                </a:r>
                <a:r>
                  <a:rPr sz="2000">
                    <a:solidFill>
                      <a:srgbClr val="1E293B"/>
                    </a:solidFill>
                    <a:latin typeface="Calibri"/>
                  </a:rPr>
                  <a:t> cm.</a:t>
                </a:r>
              </a:p>
            </p:txBody>
          </p:sp>
        </mc:Fallback>
      </mc:AlternateContent>
      <p:sp>
        <p:nvSpPr>
          <p:cNvPr id="10" name="s2_nen"/>
          <p:cNvSpPr/>
          <p:nvPr/>
        </p:nvSpPr>
        <p:spPr>
          <a:xfrm>
            <a:off x="548640" y="3176016"/>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3212592"/>
                <a:ext cx="7534656" cy="801623"/>
              </a:xfrm>
              <a:prstGeom prst="rect">
                <a:avLst/>
              </a:prstGeom>
              <a:noFill/>
            </p:spPr>
            <p:txBody>
              <a:bodyPr wrap="square" lIns="45720" rIns="45720" anchor="ctr">
                <a:spAutoFit/>
              </a:bodyPr>
              <a:lstStyle/>
              <a:p>
                <a:pPr algn="l">
                  <a:spcAft>
                    <a:spcPts val="800"/>
                  </a:spcAft>
                </a:pPr>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𝐴</m:t>
                            </m:r>
                          </m:e>
                          <m:sup>
                            <m:r>
                              <a:rPr lang="vi-VN" sz="2000" b="0">
                                <a:solidFill>
                                  <a:srgbClr val="1E293B"/>
                                </a:solidFill>
                                <a:latin typeface="Cambria Math" panose="02040503050406030204" pitchFamily="18" charset="0"/>
                              </a:rPr>
                              <m:t>′</m:t>
                            </m:r>
                          </m:sup>
                        </m:sSup>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𝐵</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−120; 0; 300</m:t>
                        </m:r>
                      </m:e>
                    </m:d>
                  </m:oMath>
                </a14:m>
                <a:r>
                  <a:rPr sz="2000">
                    <a:solidFill>
                      <a:srgbClr val="1E293B"/>
                    </a:solidFill>
                    <a:latin typeface="Calibri"/>
                  </a:rPr>
                  <a:t> ⇒ </a:t>
                </a:r>
                <a14:m>
                  <m:oMath xmlns:m="http://schemas.openxmlformats.org/officeDocument/2006/math">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𝐴</m:t>
                        </m:r>
                      </m:e>
                      <m:sup>
                        <m:r>
                          <a:rPr lang="vi-VN" sz="2000" b="0">
                            <a:solidFill>
                              <a:srgbClr val="1E293B"/>
                            </a:solidFill>
                            <a:latin typeface="Cambria Math" panose="02040503050406030204" pitchFamily="18" charset="0"/>
                          </a:rPr>
                          <m:t>′</m:t>
                        </m:r>
                      </m:sup>
                    </m:sSup>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𝐵</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=60</m:t>
                    </m:r>
                    <m:rad>
                      <m:radPr>
                        <m:degHide m:val="on"/>
                        <m:ctrlPr>
                          <a:rPr lang="vi-VN" sz="2000" b="0" i="1">
                            <a:solidFill>
                              <a:srgbClr val="1E293B"/>
                            </a:solidFill>
                            <a:latin typeface="Cambria Math" panose="02040503050406030204" pitchFamily="18" charset="0"/>
                          </a:rPr>
                        </m:ctrlPr>
                      </m:radPr>
                      <m:deg/>
                      <m:e>
                        <m:r>
                          <a:rPr lang="vi-VN" sz="2000" b="0">
                            <a:solidFill>
                              <a:srgbClr val="1E293B"/>
                            </a:solidFill>
                            <a:latin typeface="Cambria Math" panose="02040503050406030204" pitchFamily="18" charset="0"/>
                          </a:rPr>
                          <m:t>29</m:t>
                        </m:r>
                      </m:e>
                    </m:rad>
                    <m:r>
                      <a:rPr lang="vi-VN" sz="2000" b="0">
                        <a:solidFill>
                          <a:srgbClr val="1E293B"/>
                        </a:solidFill>
                        <a:latin typeface="Cambria Math" panose="02040503050406030204" pitchFamily="18" charset="0"/>
                      </a:rPr>
                      <m:t>≈323</m:t>
                    </m:r>
                  </m:oMath>
                </a14:m>
                <a:r>
                  <a:rPr sz="2000">
                    <a:solidFill>
                      <a:srgbClr val="1E293B"/>
                    </a:solidFill>
                    <a:latin typeface="Calibri"/>
                  </a:rPr>
                  <a:t> cm; </a:t>
                </a:r>
                <a14:m>
                  <m:oMath xmlns:m="http://schemas.openxmlformats.org/officeDocument/2006/math">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𝑂</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(0;450;0)</m:t>
                    </m:r>
                  </m:oMath>
                </a14:m>
                <a:r>
                  <a:rPr sz="2000">
                    <a:solidFill>
                      <a:srgbClr val="1E293B"/>
                    </a:solidFill>
                    <a:latin typeface="Calibri"/>
                  </a:rPr>
                  <a:t>, </a:t>
                </a:r>
                <a14:m>
                  <m:oMath xmlns:m="http://schemas.openxmlformats.org/officeDocument/2006/math">
                    <m:acc>
                      <m:accPr>
                        <m:chr m:val="⃗"/>
                        <m:ctrlPr>
                          <a:rPr lang="vi-VN" sz="2000" b="0">
                            <a:solidFill>
                              <a:srgbClr val="1E293B"/>
                            </a:solidFill>
                            <a:latin typeface="Cambria Math" panose="02040503050406030204" pitchFamily="18" charset="0"/>
                          </a:rPr>
                        </m:ctrlPr>
                      </m:accPr>
                      <m:e>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𝑂</m:t>
                            </m:r>
                          </m:e>
                          <m:sup>
                            <m:r>
                              <a:rPr lang="vi-VN" sz="2000" b="0">
                                <a:solidFill>
                                  <a:srgbClr val="1E293B"/>
                                </a:solidFill>
                                <a:latin typeface="Cambria Math" panose="02040503050406030204" pitchFamily="18" charset="0"/>
                              </a:rPr>
                              <m:t>′</m:t>
                            </m:r>
                          </m:sup>
                        </m:sSup>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𝐵</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 </a:t>
                </a:r>
                <a14:m>
                  <m:oMath xmlns:m="http://schemas.openxmlformats.org/officeDocument/2006/math">
                    <m:d>
                      <m:dPr>
                        <m:ctrlPr>
                          <a:rPr lang="vi-VN" sz="2000" b="0">
                            <a:solidFill>
                              <a:srgbClr val="1E293B"/>
                            </a:solidFill>
                            <a:latin typeface="Cambria Math" panose="02040503050406030204" pitchFamily="18" charset="0"/>
                          </a:rPr>
                        </m:ctrlPr>
                      </m:dPr>
                      <m:e>
                        <m:r>
                          <a:rPr lang="vi-VN" sz="2000" b="0">
                            <a:solidFill>
                              <a:srgbClr val="1E293B"/>
                            </a:solidFill>
                            <a:latin typeface="Cambria Math" panose="02040503050406030204" pitchFamily="18" charset="0"/>
                          </a:rPr>
                          <m:t>120;0;300</m:t>
                        </m:r>
                      </m:e>
                    </m:d>
                  </m:oMath>
                </a14:m>
                <a:r>
                  <a:rPr sz="2000">
                    <a:solidFill>
                      <a:srgbClr val="1E293B"/>
                    </a:solidFill>
                    <a:latin typeface="Calibri"/>
                  </a:rPr>
                  <a:t> ⇒ </a:t>
                </a:r>
                <a14:m>
                  <m:oMath xmlns:m="http://schemas.openxmlformats.org/officeDocument/2006/math">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𝑂</m:t>
                        </m:r>
                      </m:e>
                      <m:sup>
                        <m:r>
                          <a:rPr lang="vi-VN" sz="2000" b="0">
                            <a:solidFill>
                              <a:srgbClr val="1E293B"/>
                            </a:solidFill>
                            <a:latin typeface="Cambria Math" panose="02040503050406030204" pitchFamily="18" charset="0"/>
                          </a:rPr>
                          <m:t>′</m:t>
                        </m:r>
                      </m:sup>
                    </m:sSup>
                    <m:sSup>
                      <m:sSupPr>
                        <m:ctrlPr>
                          <a:rPr lang="vi-VN" sz="2000" b="0">
                            <a:solidFill>
                              <a:srgbClr val="1E293B"/>
                            </a:solidFill>
                            <a:latin typeface="Cambria Math" panose="02040503050406030204" pitchFamily="18" charset="0"/>
                          </a:rPr>
                        </m:ctrlPr>
                      </m:sSupPr>
                      <m:e>
                        <m:r>
                          <a:rPr lang="vi-VN" sz="2000" b="0">
                            <a:solidFill>
                              <a:srgbClr val="1E293B"/>
                            </a:solidFill>
                            <a:latin typeface="Cambria Math" panose="02040503050406030204" pitchFamily="18" charset="0"/>
                          </a:rPr>
                          <m:t>𝐵</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≈323</m:t>
                    </m:r>
                  </m:oMath>
                </a14:m>
                <a:r>
                  <a:rPr sz="2000">
                    <a:solidFill>
                      <a:srgbClr val="1E293B"/>
                    </a:solidFill>
                    <a:latin typeface="Calibri"/>
                  </a:rPr>
                  <a:t> cm.</a:t>
                </a:r>
              </a:p>
            </p:txBody>
          </p:sp>
        </mc:Choice>
        <mc:Fallback xmlns="">
          <p:sp>
            <p:nvSpPr>
              <p:cNvPr id="11" name="TextBox 10"/>
              <p:cNvSpPr txBox="1"/>
              <p:nvPr/>
            </p:nvSpPr>
            <p:spPr>
              <a:xfrm>
                <a:off x="713232" y="3212592"/>
                <a:ext cx="75346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\overrightarrow{A'B'}</a:t>
                </a:r>
                <a:r>
                  <a:rPr sz="2000">
                    <a:solidFill>
                      <a:srgbClr val="1E293B"/>
                    </a:solidFill>
                    <a:latin typeface="Calibri"/>
                  </a:rPr>
                  <a:t> = </a:t>
                </a:r>
                <a:r>
                  <a:rPr lang="vi-VN"/>
                  <a:t>(-120;\ 0;\ 300)</a:t>
                </a:r>
                <a:r>
                  <a:rPr sz="2000">
                    <a:solidFill>
                      <a:srgbClr val="1E293B"/>
                    </a:solidFill>
                    <a:latin typeface="Calibri"/>
                  </a:rPr>
                  <a:t> ⇒ </a:t>
                </a:r>
                <a:r>
                  <a:rPr lang="vi-VN"/>
                  <a:t>A'B'=60\sqrt{29}\approx 323</a:t>
                </a:r>
                <a:r>
                  <a:rPr sz="2000">
                    <a:solidFill>
                      <a:srgbClr val="1E293B"/>
                    </a:solidFill>
                    <a:latin typeface="Calibri"/>
                  </a:rPr>
                  <a:t> cm; </a:t>
                </a:r>
                <a:r>
                  <a:rPr lang="vi-VN"/>
                  <a:t>O'(0;450;0)</a:t>
                </a:r>
                <a:r>
                  <a:rPr sz="2000">
                    <a:solidFill>
                      <a:srgbClr val="1E293B"/>
                    </a:solidFill>
                    <a:latin typeface="Calibri"/>
                  </a:rPr>
                  <a:t>, </a:t>
                </a:r>
                <a:r>
                  <a:rPr lang="vi-VN"/>
                  <a:t>\overrightarrow{O'B'}</a:t>
                </a:r>
                <a:r>
                  <a:rPr sz="2000">
                    <a:solidFill>
                      <a:srgbClr val="1E293B"/>
                    </a:solidFill>
                    <a:latin typeface="Calibri"/>
                  </a:rPr>
                  <a:t> = </a:t>
                </a:r>
                <a:r>
                  <a:rPr lang="vi-VN"/>
                  <a:t>(120;0;300)</a:t>
                </a:r>
                <a:r>
                  <a:rPr sz="2000">
                    <a:solidFill>
                      <a:srgbClr val="1E293B"/>
                    </a:solidFill>
                    <a:latin typeface="Calibri"/>
                  </a:rPr>
                  <a:t> ⇒ </a:t>
                </a:r>
                <a:r>
                  <a:rPr lang="vi-VN"/>
                  <a:t>O'B'\approx 323</a:t>
                </a:r>
                <a:r>
                  <a:rPr sz="2000">
                    <a:solidFill>
                      <a:srgbClr val="1E293B"/>
                    </a:solidFill>
                    <a:latin typeface="Calibri"/>
                  </a:rPr>
                  <a:t> cm.</a:t>
                </a:r>
              </a:p>
            </p:txBody>
          </p:sp>
        </mc:Fallback>
      </mc:AlternateContent>
      <p:sp>
        <p:nvSpPr>
          <p:cNvPr id="12" name="s3_nen"/>
          <p:cNvSpPr/>
          <p:nvPr/>
        </p:nvSpPr>
        <p:spPr>
          <a:xfrm>
            <a:off x="548640" y="4123944"/>
            <a:ext cx="78638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3_chu"/>
          <p:cNvSpPr txBox="1"/>
          <p:nvPr/>
        </p:nvSpPr>
        <p:spPr>
          <a:xfrm>
            <a:off x="713232" y="4160520"/>
            <a:ext cx="7534656" cy="801623"/>
          </a:xfrm>
          <a:prstGeom prst="rect">
            <a:avLst/>
          </a:prstGeom>
          <a:noFill/>
        </p:spPr>
        <p:txBody>
          <a:bodyPr wrap="square" lIns="45720" rIns="45720" anchor="ctr">
            <a:spAutoFit/>
          </a:bodyPr>
          <a:lstStyle/>
          <a:p>
            <a:pPr algn="l">
              <a:spcAft>
                <a:spcPts val="800"/>
              </a:spcAft>
            </a:pPr>
            <a:r>
              <a:rPr sz="2000">
                <a:solidFill>
                  <a:srgbClr val="1E293B"/>
                </a:solidFill>
                <a:latin typeface="Calibri"/>
              </a:rPr>
              <a:t>Mỗi căn nhà dài 450 cm, rộng 240 cm, mỗi cạnh bên của mặt tiền dài khoảng 323 cm.</a:t>
            </a:r>
          </a:p>
        </p:txBody>
      </p:sp>
      <p:pic>
        <p:nvPicPr>
          <p:cNvPr id="14" name="Picture 13" descr="h247.png"/>
          <p:cNvPicPr>
            <a:picLocks noChangeAspect="1"/>
          </p:cNvPicPr>
          <p:nvPr/>
        </p:nvPicPr>
        <p:blipFill>
          <a:blip r:embed="rId3"/>
          <a:stretch>
            <a:fillRect/>
          </a:stretch>
        </p:blipFill>
        <p:spPr>
          <a:xfrm>
            <a:off x="8595360" y="2066847"/>
            <a:ext cx="3108960" cy="9869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6 (SGK TR.71)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27</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7863840" cy="752855"/>
              </a:xfrm>
              <a:prstGeom prst="rect">
                <a:avLst/>
              </a:prstGeom>
              <a:noFill/>
            </p:spPr>
            <p:txBody>
              <a:bodyPr wrap="square" lIns="45720" rIns="45720" anchor="t">
                <a:spAutoFit/>
              </a:bodyPr>
              <a:lstStyle/>
              <a:p>
                <a:pPr algn="l">
                  <a:spcAft>
                    <a:spcPts val="800"/>
                  </a:spcAft>
                </a:pPr>
                <a:r>
                  <a:rPr sz="1900" b="1">
                    <a:solidFill>
                      <a:srgbClr val="1E293B"/>
                    </a:solidFill>
                    <a:latin typeface="Calibri"/>
                  </a:rPr>
                  <a:t>Luyện tập 6.</a:t>
                </a:r>
                <a:r>
                  <a:rPr sz="1900">
                    <a:solidFill>
                      <a:srgbClr val="1E293B"/>
                    </a:solidFill>
                    <a:latin typeface="Calibri"/>
                  </a:rPr>
                  <a:t> Trong tình huống mở đầu, hãy tính độ lớn của góc </a:t>
                </a:r>
                <a14:m>
                  <m:oMath xmlns:m="http://schemas.openxmlformats.org/officeDocument/2006/math">
                    <m:r>
                      <a:rPr lang="vi-VN" sz="1900" b="0">
                        <a:solidFill>
                          <a:srgbClr val="1E293B"/>
                        </a:solidFill>
                        <a:latin typeface="Cambria Math" panose="02040503050406030204" pitchFamily="18" charset="0"/>
                      </a:rPr>
                      <m:t>𝛼</m:t>
                    </m:r>
                  </m:oMath>
                </a14:m>
                <a:r>
                  <a:rPr sz="1900">
                    <a:solidFill>
                      <a:srgbClr val="1E293B"/>
                    </a:solidFill>
                    <a:latin typeface="Calibri"/>
                  </a:rPr>
                  <a:t> (góc giữa mặt bên của căn nhà gỗ và mặt đất).</a:t>
                </a:r>
              </a:p>
            </p:txBody>
          </p:sp>
        </mc:Choice>
        <mc:Fallback xmlns="">
          <p:sp>
            <p:nvSpPr>
              <p:cNvPr id="7" name="TextBox 6"/>
              <p:cNvSpPr txBox="1"/>
              <p:nvPr/>
            </p:nvSpPr>
            <p:spPr>
              <a:xfrm>
                <a:off x="548640" y="1371600"/>
                <a:ext cx="78638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6.</a:t>
                </a:r>
                <a:r>
                  <a:rPr sz="1900">
                    <a:solidFill>
                      <a:srgbClr val="1E293B"/>
                    </a:solidFill>
                    <a:latin typeface="Calibri"/>
                  </a:rPr>
                  <a:t> Trong tình huống mở đầu, hãy tính độ lớn của góc </a:t>
                </a:r>
                <a:r>
                  <a:rPr lang="vi-VN"/>
                  <a:t>\alpha</a:t>
                </a:r>
                <a:r>
                  <a:rPr sz="1900">
                    <a:solidFill>
                      <a:srgbClr val="1E293B"/>
                    </a:solidFill>
                    <a:latin typeface="Calibri"/>
                  </a:rPr>
                  <a:t> (góc giữa mặt bên của căn nhà gỗ và mặt đất).</a:t>
                </a:r>
              </a:p>
            </p:txBody>
          </p:sp>
        </mc:Fallback>
      </mc:AlternateContent>
      <p:sp>
        <p:nvSpPr>
          <p:cNvPr id="8" name="s1_nen"/>
          <p:cNvSpPr/>
          <p:nvPr/>
        </p:nvSpPr>
        <p:spPr>
          <a:xfrm>
            <a:off x="548640" y="2179320"/>
            <a:ext cx="7863840" cy="110490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215896"/>
                <a:ext cx="7534656" cy="1031748"/>
              </a:xfrm>
              <a:prstGeom prst="rect">
                <a:avLst/>
              </a:prstGeom>
              <a:noFill/>
            </p:spPr>
            <p:txBody>
              <a:bodyPr wrap="square" lIns="45720" rIns="45720" anchor="ctr">
                <a:spAutoFit/>
              </a:bodyPr>
              <a:lstStyle/>
              <a:p>
                <a:pPr algn="l">
                  <a:spcAft>
                    <a:spcPts val="800"/>
                  </a:spcAft>
                </a:pP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𝛼</m:t>
                    </m:r>
                  </m:oMath>
                </a14:m>
                <a:r>
                  <a:rPr sz="1900">
                    <a:solidFill>
                      <a:srgbClr val="1E293B"/>
                    </a:solidFill>
                    <a:latin typeface="Calibri"/>
                  </a:rPr>
                  <a:t> = góc giữa </a:t>
                </a:r>
                <a14:m>
                  <m:oMath xmlns:m="http://schemas.openxmlformats.org/officeDocument/2006/math">
                    <m:acc>
                      <m:accPr>
                        <m:chr m:val="⃗"/>
                        <m:ctrlPr>
                          <a:rPr lang="vi-VN" sz="1900" b="0">
                            <a:solidFill>
                              <a:srgbClr val="1E293B"/>
                            </a:solidFill>
                            <a:latin typeface="Cambria Math" panose="02040503050406030204" pitchFamily="18" charset="0"/>
                          </a:rPr>
                        </m:ctrlPr>
                      </m:accPr>
                      <m:e>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𝐴</m:t>
                            </m:r>
                          </m:e>
                          <m:sup>
                            <m:r>
                              <a:rPr lang="vi-VN" sz="1900" b="0">
                                <a:solidFill>
                                  <a:srgbClr val="1E293B"/>
                                </a:solidFill>
                                <a:latin typeface="Cambria Math" panose="02040503050406030204" pitchFamily="18" charset="0"/>
                              </a:rPr>
                              <m:t>′</m:t>
                            </m:r>
                          </m:sup>
                        </m:sSup>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𝑂</m:t>
                            </m:r>
                          </m:e>
                          <m:sup>
                            <m:r>
                              <a:rPr lang="vi-VN" sz="1900" b="0">
                                <a:solidFill>
                                  <a:srgbClr val="1E293B"/>
                                </a:solidFill>
                                <a:latin typeface="Cambria Math" panose="02040503050406030204" pitchFamily="18" charset="0"/>
                              </a:rPr>
                              <m:t>′</m:t>
                            </m:r>
                          </m:sup>
                        </m:sSup>
                      </m:e>
                    </m:acc>
                  </m:oMath>
                </a14:m>
                <a:r>
                  <a:rPr sz="1900">
                    <a:solidFill>
                      <a:srgbClr val="1E293B"/>
                    </a:solidFill>
                    <a:latin typeface="Calibri"/>
                  </a:rPr>
                  <a:t> = </a:t>
                </a:r>
                <a14:m>
                  <m:oMath xmlns:m="http://schemas.openxmlformats.org/officeDocument/2006/math">
                    <m:d>
                      <m:dPr>
                        <m:ctrlPr>
                          <a:rPr lang="vi-VN" sz="1900" b="0">
                            <a:solidFill>
                              <a:srgbClr val="1E293B"/>
                            </a:solidFill>
                            <a:latin typeface="Cambria Math" panose="02040503050406030204" pitchFamily="18" charset="0"/>
                          </a:rPr>
                        </m:ctrlPr>
                      </m:dPr>
                      <m:e>
                        <m:r>
                          <a:rPr lang="vi-VN" sz="1900" b="0">
                            <a:solidFill>
                              <a:srgbClr val="1E293B"/>
                            </a:solidFill>
                            <a:latin typeface="Cambria Math" panose="02040503050406030204" pitchFamily="18" charset="0"/>
                          </a:rPr>
                          <m:t>−240;0;0</m:t>
                        </m:r>
                      </m:e>
                    </m:d>
                  </m:oMath>
                </a14:m>
                <a:r>
                  <a:rPr sz="1900">
                    <a:solidFill>
                      <a:srgbClr val="1E293B"/>
                    </a:solidFill>
                    <a:latin typeface="Calibri"/>
                  </a:rPr>
                  <a:t> và </a:t>
                </a:r>
                <a14:m>
                  <m:oMath xmlns:m="http://schemas.openxmlformats.org/officeDocument/2006/math">
                    <m:acc>
                      <m:accPr>
                        <m:chr m:val="⃗"/>
                        <m:ctrlPr>
                          <a:rPr lang="vi-VN" sz="1900" b="0">
                            <a:solidFill>
                              <a:srgbClr val="1E293B"/>
                            </a:solidFill>
                            <a:latin typeface="Cambria Math" panose="02040503050406030204" pitchFamily="18" charset="0"/>
                          </a:rPr>
                        </m:ctrlPr>
                      </m:accPr>
                      <m:e>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𝐴</m:t>
                            </m:r>
                          </m:e>
                          <m:sup>
                            <m:r>
                              <a:rPr lang="vi-VN" sz="1900" b="0">
                                <a:solidFill>
                                  <a:srgbClr val="1E293B"/>
                                </a:solidFill>
                                <a:latin typeface="Cambria Math" panose="02040503050406030204" pitchFamily="18" charset="0"/>
                              </a:rPr>
                              <m:t>′</m:t>
                            </m:r>
                          </m:sup>
                        </m:sSup>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𝐵</m:t>
                            </m:r>
                          </m:e>
                          <m:sup>
                            <m:r>
                              <a:rPr lang="vi-VN" sz="1900" b="0">
                                <a:solidFill>
                                  <a:srgbClr val="1E293B"/>
                                </a:solidFill>
                                <a:latin typeface="Cambria Math" panose="02040503050406030204" pitchFamily="18" charset="0"/>
                              </a:rPr>
                              <m:t>′</m:t>
                            </m:r>
                          </m:sup>
                        </m:sSup>
                      </m:e>
                    </m:acc>
                  </m:oMath>
                </a14:m>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𝛼</m:t>
                    </m:r>
                    <m:r>
                      <a:rPr lang="vi-VN" sz="1900" b="0">
                        <a:solidFill>
                          <a:srgbClr val="1E293B"/>
                        </a:solidFill>
                        <a:latin typeface="Cambria Math" panose="02040503050406030204" pitchFamily="18" charset="0"/>
                      </a:rPr>
                      <m:t>=</m:t>
                    </m:r>
                    <m:f>
                      <m:fPr>
                        <m:ctrlPr>
                          <a:rPr lang="vi-VN" sz="1900" b="0">
                            <a:solidFill>
                              <a:srgbClr val="1E293B"/>
                            </a:solidFill>
                            <a:latin typeface="Cambria Math" panose="02040503050406030204" pitchFamily="18" charset="0"/>
                          </a:rPr>
                        </m:ctrlPr>
                      </m:fPr>
                      <m:num>
                        <m:r>
                          <a:rPr lang="vi-VN" sz="1900" b="0">
                            <a:solidFill>
                              <a:srgbClr val="1E293B"/>
                            </a:solidFill>
                            <a:latin typeface="Cambria Math" panose="02040503050406030204" pitchFamily="18" charset="0"/>
                          </a:rPr>
                          <m:t>28 800</m:t>
                        </m:r>
                      </m:num>
                      <m:den>
                        <m:r>
                          <a:rPr lang="vi-VN" sz="1900" b="0">
                            <a:solidFill>
                              <a:srgbClr val="1E293B"/>
                            </a:solidFill>
                            <a:latin typeface="Cambria Math" panose="02040503050406030204" pitchFamily="18" charset="0"/>
                          </a:rPr>
                          <m:t>240·60</m:t>
                        </m:r>
                        <m:rad>
                          <m:radPr>
                            <m:degHide m:val="on"/>
                            <m:ctrlPr>
                              <a:rPr lang="vi-VN" sz="1900" b="0" i="1">
                                <a:solidFill>
                                  <a:srgbClr val="1E293B"/>
                                </a:solidFill>
                                <a:latin typeface="Cambria Math" panose="02040503050406030204" pitchFamily="18" charset="0"/>
                              </a:rPr>
                            </m:ctrlPr>
                          </m:radPr>
                          <m:deg/>
                          <m:e>
                            <m:r>
                              <a:rPr lang="vi-VN" sz="1900" b="0">
                                <a:solidFill>
                                  <a:srgbClr val="1E293B"/>
                                </a:solidFill>
                                <a:latin typeface="Cambria Math" panose="02040503050406030204" pitchFamily="18" charset="0"/>
                              </a:rPr>
                              <m:t>29</m:t>
                            </m:r>
                          </m:e>
                        </m:rad>
                      </m:den>
                    </m:f>
                    <m:r>
                      <a:rPr lang="vi-VN" sz="1900" b="0">
                        <a:solidFill>
                          <a:srgbClr val="1E293B"/>
                        </a:solidFill>
                        <a:latin typeface="Cambria Math" panose="02040503050406030204" pitchFamily="18" charset="0"/>
                      </a:rPr>
                      <m:t>=</m:t>
                    </m:r>
                    <m:f>
                      <m:fPr>
                        <m:ctrlPr>
                          <a:rPr lang="vi-VN" sz="1900" b="0">
                            <a:solidFill>
                              <a:srgbClr val="1E293B"/>
                            </a:solidFill>
                            <a:latin typeface="Cambria Math" panose="02040503050406030204" pitchFamily="18" charset="0"/>
                          </a:rPr>
                        </m:ctrlPr>
                      </m:fPr>
                      <m:num>
                        <m:r>
                          <a:rPr lang="vi-VN" sz="1900" b="0">
                            <a:solidFill>
                              <a:srgbClr val="1E293B"/>
                            </a:solidFill>
                            <a:latin typeface="Cambria Math" panose="02040503050406030204" pitchFamily="18" charset="0"/>
                          </a:rPr>
                          <m:t>2</m:t>
                        </m:r>
                      </m:num>
                      <m:den>
                        <m:rad>
                          <m:radPr>
                            <m:degHide m:val="on"/>
                            <m:ctrlPr>
                              <a:rPr lang="vi-VN" sz="1900" b="0" i="1">
                                <a:solidFill>
                                  <a:srgbClr val="1E293B"/>
                                </a:solidFill>
                                <a:latin typeface="Cambria Math" panose="02040503050406030204" pitchFamily="18" charset="0"/>
                              </a:rPr>
                            </m:ctrlPr>
                          </m:radPr>
                          <m:deg/>
                          <m:e>
                            <m:r>
                              <a:rPr lang="vi-VN" sz="1900" b="0">
                                <a:solidFill>
                                  <a:srgbClr val="1E293B"/>
                                </a:solidFill>
                                <a:latin typeface="Cambria Math" panose="02040503050406030204" pitchFamily="18" charset="0"/>
                              </a:rPr>
                              <m:t>29</m:t>
                            </m:r>
                          </m:e>
                        </m:rad>
                      </m:den>
                    </m:f>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𝛼</m:t>
                    </m:r>
                    <m:r>
                      <a:rPr lang="vi-VN" sz="1900" b="0">
                        <a:solidFill>
                          <a:srgbClr val="1E293B"/>
                        </a:solidFill>
                        <a:latin typeface="Cambria Math" panose="02040503050406030204" pitchFamily="18" charset="0"/>
                      </a:rPr>
                      <m:t>≈68,</m:t>
                    </m:r>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2</m:t>
                        </m:r>
                      </m:e>
                      <m:sup>
                        <m:r>
                          <a:rPr lang="vi-VN" sz="1900" b="0">
                            <a:solidFill>
                              <a:srgbClr val="1E293B"/>
                            </a:solidFill>
                            <a:latin typeface="Cambria Math" panose="02040503050406030204" pitchFamily="18" charset="0"/>
                          </a:rPr>
                          <m:t>∘</m:t>
                        </m:r>
                      </m:sup>
                    </m:sSup>
                  </m:oMath>
                </a14:m>
                <a:r>
                  <a:rPr sz="1900">
                    <a:solidFill>
                      <a:srgbClr val="1E293B"/>
                    </a:solidFill>
                    <a:latin typeface="Calibri"/>
                  </a:rPr>
                  <a:t>.</a:t>
                </a:r>
              </a:p>
            </p:txBody>
          </p:sp>
        </mc:Choice>
        <mc:Fallback xmlns="">
          <p:sp>
            <p:nvSpPr>
              <p:cNvPr id="9" name="TextBox 8"/>
              <p:cNvSpPr txBox="1"/>
              <p:nvPr/>
            </p:nvSpPr>
            <p:spPr>
              <a:xfrm>
                <a:off x="713232" y="2215896"/>
                <a:ext cx="7534656" cy="103174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\alpha</a:t>
                </a:r>
                <a:r>
                  <a:rPr sz="1900">
                    <a:solidFill>
                      <a:srgbClr val="1E293B"/>
                    </a:solidFill>
                    <a:latin typeface="Calibri"/>
                  </a:rPr>
                  <a:t> = góc giữa </a:t>
                </a:r>
                <a:r>
                  <a:rPr lang="vi-VN"/>
                  <a:t>\overrightarrow{A'O'}</a:t>
                </a:r>
                <a:r>
                  <a:rPr sz="1900">
                    <a:solidFill>
                      <a:srgbClr val="1E293B"/>
                    </a:solidFill>
                    <a:latin typeface="Calibri"/>
                  </a:rPr>
                  <a:t> = </a:t>
                </a:r>
                <a:r>
                  <a:rPr lang="vi-VN"/>
                  <a:t>(-240;0;0)</a:t>
                </a:r>
                <a:r>
                  <a:rPr sz="1900">
                    <a:solidFill>
                      <a:srgbClr val="1E293B"/>
                    </a:solidFill>
                    <a:latin typeface="Calibri"/>
                  </a:rPr>
                  <a:t> và </a:t>
                </a:r>
                <a:r>
                  <a:rPr lang="vi-VN"/>
                  <a:t>\overrightarrow{A'B'}</a:t>
                </a:r>
                <a:r>
                  <a:rPr sz="1900">
                    <a:solidFill>
                      <a:srgbClr val="1E293B"/>
                    </a:solidFill>
                    <a:latin typeface="Calibri"/>
                  </a:rPr>
                  <a:t>: </a:t>
                </a:r>
                <a:r>
                  <a:rPr lang="vi-VN"/>
                  <a:t>\cos\alpha=\frac{28\,800}{240\cdot 60\sqrt{29}}=\frac{2}{\sqrt{29}}</a:t>
                </a:r>
                <a:r>
                  <a:rPr sz="1900">
                    <a:solidFill>
                      <a:srgbClr val="1E293B"/>
                    </a:solidFill>
                    <a:latin typeface="Calibri"/>
                  </a:rPr>
                  <a:t> ⇒ </a:t>
                </a:r>
                <a:r>
                  <a:rPr lang="vi-VN"/>
                  <a:t>\alpha\approx 68{,}2^\circ</a:t>
                </a:r>
                <a:r>
                  <a:rPr sz="1900">
                    <a:solidFill>
                      <a:srgbClr val="1E293B"/>
                    </a:solidFill>
                    <a:latin typeface="Calibri"/>
                  </a:rPr>
                  <a:t>.</a:t>
                </a:r>
              </a:p>
            </p:txBody>
          </p:sp>
        </mc:Fallback>
      </mc:AlternateContent>
      <p:pic>
        <p:nvPicPr>
          <p:cNvPr id="10" name="Picture 9" descr="h247.png"/>
          <p:cNvPicPr>
            <a:picLocks noChangeAspect="1"/>
          </p:cNvPicPr>
          <p:nvPr/>
        </p:nvPicPr>
        <p:blipFill>
          <a:blip r:embed="rId3"/>
          <a:stretch>
            <a:fillRect/>
          </a:stretch>
        </p:blipFill>
        <p:spPr>
          <a:xfrm>
            <a:off x="8595360" y="2066847"/>
            <a:ext cx="3108960" cy="9869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VÍ DỤ 7 – KHINH KHÍ CẦU (SGK TR.71)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28</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7863840" cy="2200656"/>
              </a:xfrm>
              <a:prstGeom prst="rect">
                <a:avLst/>
              </a:prstGeom>
              <a:noFill/>
            </p:spPr>
            <p:txBody>
              <a:bodyPr wrap="square" lIns="45720" rIns="45720" anchor="t">
                <a:spAutoFit/>
              </a:bodyPr>
              <a:lstStyle/>
              <a:p>
                <a:pPr algn="l">
                  <a:spcAft>
                    <a:spcPts val="800"/>
                  </a:spcAft>
                </a:pPr>
                <a:r>
                  <a:rPr sz="1900">
                    <a:solidFill>
                      <a:srgbClr val="1E293B"/>
                    </a:solidFill>
                    <a:latin typeface="Calibri"/>
                  </a:rPr>
                  <a:t>Hai khinh khí cầu bay lên từ cùng một địa điểm. Chiếc thứ nhất cách điểm xuất phát 2 km về phía nam và 1 km về phía đông, cách mặt đất 0,5 km. Chiếc thứ hai cách điểm xuất phát 1 km về phía bắc và 1,5 km về phía tây, cách mặt đất 0,8 km. Chọn hệ </a:t>
                </a:r>
                <a14:m>
                  <m:oMath xmlns:m="http://schemas.openxmlformats.org/officeDocument/2006/math">
                    <m:r>
                      <a:rPr lang="vi-VN" sz="1900" b="0">
                        <a:solidFill>
                          <a:srgbClr val="1E293B"/>
                        </a:solidFill>
                        <a:latin typeface="Cambria Math" panose="02040503050406030204" pitchFamily="18" charset="0"/>
                      </a:rPr>
                      <m:t>𝑂𝑥𝑦𝑧</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𝑂</m:t>
                    </m:r>
                  </m:oMath>
                </a14:m>
                <a:r>
                  <a:rPr sz="1900">
                    <a:solidFill>
                      <a:srgbClr val="1E293B"/>
                    </a:solidFill>
                    <a:latin typeface="Calibri"/>
                  </a:rPr>
                  <a:t> tại điểm xuất phát, </a:t>
                </a:r>
                <a14:m>
                  <m:oMath xmlns:m="http://schemas.openxmlformats.org/officeDocument/2006/math">
                    <m:r>
                      <a:rPr lang="vi-VN" sz="1900" b="0">
                        <a:solidFill>
                          <a:srgbClr val="1E293B"/>
                        </a:solidFill>
                        <a:latin typeface="Cambria Math" panose="02040503050406030204" pitchFamily="18" charset="0"/>
                      </a:rPr>
                      <m:t>𝑂𝑥</m:t>
                    </m:r>
                  </m:oMath>
                </a14:m>
                <a:r>
                  <a:rPr sz="1900">
                    <a:solidFill>
                      <a:srgbClr val="1E293B"/>
                    </a:solidFill>
                    <a:latin typeface="Calibri"/>
                  </a:rPr>
                  <a:t> hướng nam, </a:t>
                </a:r>
                <a14:m>
                  <m:oMath xmlns:m="http://schemas.openxmlformats.org/officeDocument/2006/math">
                    <m:r>
                      <a:rPr lang="vi-VN" sz="1900" b="0">
                        <a:solidFill>
                          <a:srgbClr val="1E293B"/>
                        </a:solidFill>
                        <a:latin typeface="Cambria Math" panose="02040503050406030204" pitchFamily="18" charset="0"/>
                      </a:rPr>
                      <m:t>𝑂𝑦</m:t>
                    </m:r>
                  </m:oMath>
                </a14:m>
                <a:r>
                  <a:rPr sz="1900">
                    <a:solidFill>
                      <a:srgbClr val="1E293B"/>
                    </a:solidFill>
                    <a:latin typeface="Calibri"/>
                  </a:rPr>
                  <a:t> hướng đông, </a:t>
                </a:r>
                <a14:m>
                  <m:oMath xmlns:m="http://schemas.openxmlformats.org/officeDocument/2006/math">
                    <m:r>
                      <a:rPr lang="vi-VN" sz="1900" b="0">
                        <a:solidFill>
                          <a:srgbClr val="1E293B"/>
                        </a:solidFill>
                        <a:latin typeface="Cambria Math" panose="02040503050406030204" pitchFamily="18" charset="0"/>
                      </a:rPr>
                      <m:t>𝑂𝑧</m:t>
                    </m:r>
                  </m:oMath>
                </a14:m>
                <a:r>
                  <a:rPr sz="1900">
                    <a:solidFill>
                      <a:srgbClr val="1E293B"/>
                    </a:solidFill>
                    <a:latin typeface="Calibri"/>
                  </a:rPr>
                  <a:t> thẳng đứng lên trời (km). a) Tìm toạ độ mỗi khinh khí cầu. b) Tính khoảng cách giữa chúng (làm tròn đến hàng phần trăm).</a:t>
                </a:r>
              </a:p>
            </p:txBody>
          </p:sp>
        </mc:Choice>
        <mc:Fallback xmlns="">
          <p:sp>
            <p:nvSpPr>
              <p:cNvPr id="7" name="TextBox 6"/>
              <p:cNvSpPr txBox="1"/>
              <p:nvPr/>
            </p:nvSpPr>
            <p:spPr>
              <a:xfrm>
                <a:off x="548640" y="1371600"/>
                <a:ext cx="7863840" cy="2200656"/>
              </a:xfrm>
              <a:prstGeom prst="rect">
                <a:avLst/>
              </a:prstGeom>
              <a:noFill/>
            </p:spPr>
            <p:txBody>
              <a:bodyPr wrap="square" anchor="t" lIns="45720" rIns="45720">
                <a:spAutoFit/>
              </a:bodyPr>
              <a:lstStyle/>
              <a:p>
                <a:pPr algn="l">
                  <a:spcAft>
                    <a:spcPts val="800"/>
                  </a:spcAft>
                </a:pPr>
                <a:r>
                  <a:rPr sz="1900">
                    <a:solidFill>
                      <a:srgbClr val="1E293B"/>
                    </a:solidFill>
                    <a:latin typeface="Calibri"/>
                  </a:rPr>
                  <a:t>Hai khinh khí cầu bay lên từ cùng một địa điểm. Chiếc thứ nhất cách điểm xuất phát 2 km về phía nam và 1 km về phía đông, cách mặt đất 0,5 km. Chiếc thứ hai cách điểm xuất phát 1 km về phía bắc và 1,5 km về phía tây, cách mặt đất 0,8 km. Chọn hệ </a:t>
                </a:r>
                <a:r>
                  <a:rPr lang="vi-VN"/>
                  <a:t>Oxyz</a:t>
                </a:r>
                <a:r>
                  <a:rPr sz="1900">
                    <a:solidFill>
                      <a:srgbClr val="1E293B"/>
                    </a:solidFill>
                    <a:latin typeface="Calibri"/>
                  </a:rPr>
                  <a:t>: </a:t>
                </a:r>
                <a:r>
                  <a:rPr lang="vi-VN"/>
                  <a:t>O</a:t>
                </a:r>
                <a:r>
                  <a:rPr sz="1900">
                    <a:solidFill>
                      <a:srgbClr val="1E293B"/>
                    </a:solidFill>
                    <a:latin typeface="Calibri"/>
                  </a:rPr>
                  <a:t> tại điểm xuất phát, </a:t>
                </a:r>
                <a:r>
                  <a:rPr lang="vi-VN"/>
                  <a:t>Ox</a:t>
                </a:r>
                <a:r>
                  <a:rPr sz="1900">
                    <a:solidFill>
                      <a:srgbClr val="1E293B"/>
                    </a:solidFill>
                    <a:latin typeface="Calibri"/>
                  </a:rPr>
                  <a:t> hướng nam, </a:t>
                </a:r>
                <a:r>
                  <a:rPr lang="vi-VN"/>
                  <a:t>Oy</a:t>
                </a:r>
                <a:r>
                  <a:rPr sz="1900">
                    <a:solidFill>
                      <a:srgbClr val="1E293B"/>
                    </a:solidFill>
                    <a:latin typeface="Calibri"/>
                  </a:rPr>
                  <a:t> hướng đông, </a:t>
                </a:r>
                <a:r>
                  <a:rPr lang="vi-VN"/>
                  <a:t>Oz</a:t>
                </a:r>
                <a:r>
                  <a:rPr sz="1900">
                    <a:solidFill>
                      <a:srgbClr val="1E293B"/>
                    </a:solidFill>
                    <a:latin typeface="Calibri"/>
                  </a:rPr>
                  <a:t> thẳng đứng lên trời (km). a) Tìm toạ độ mỗi khinh khí cầu. b) Tính khoảng cách giữa chúng (làm tròn đến hàng phần trăm).</a:t>
                </a:r>
              </a:p>
            </p:txBody>
          </p:sp>
        </mc:Fallback>
      </mc:AlternateContent>
      <p:sp>
        <p:nvSpPr>
          <p:cNvPr id="8" name="s1_nen"/>
          <p:cNvSpPr/>
          <p:nvPr/>
        </p:nvSpPr>
        <p:spPr>
          <a:xfrm>
            <a:off x="548640" y="3645408"/>
            <a:ext cx="78638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3681983"/>
                <a:ext cx="7534656" cy="481583"/>
              </a:xfrm>
              <a:prstGeom prst="rect">
                <a:avLst/>
              </a:prstGeom>
              <a:noFill/>
            </p:spPr>
            <p:txBody>
              <a:bodyPr wrap="square" lIns="45720" rIns="45720" anchor="ctr">
                <a:spAutoFit/>
              </a:bodyPr>
              <a:lstStyle/>
              <a:p>
                <a:pPr algn="l">
                  <a:spcAft>
                    <a:spcPts val="800"/>
                  </a:spcAft>
                </a:pPr>
                <a:r>
                  <a:rPr sz="1900">
                    <a:solidFill>
                      <a:srgbClr val="1E293B"/>
                    </a:solidFill>
                    <a:latin typeface="Calibri"/>
                  </a:rPr>
                  <a:t>a) </a:t>
                </a:r>
                <a14:m>
                  <m:oMath xmlns:m="http://schemas.openxmlformats.org/officeDocument/2006/math">
                    <m:d>
                      <m:dPr>
                        <m:ctrlPr>
                          <a:rPr lang="vi-VN" sz="1900" b="0">
                            <a:solidFill>
                              <a:srgbClr val="1E293B"/>
                            </a:solidFill>
                            <a:latin typeface="Cambria Math" panose="02040503050406030204" pitchFamily="18" charset="0"/>
                          </a:rPr>
                        </m:ctrlPr>
                      </m:dPr>
                      <m:e>
                        <m:r>
                          <a:rPr lang="vi-VN" sz="1900" b="0">
                            <a:solidFill>
                              <a:srgbClr val="1E293B"/>
                            </a:solidFill>
                            <a:latin typeface="Cambria Math" panose="02040503050406030204" pitchFamily="18" charset="0"/>
                          </a:rPr>
                          <m:t>2; 1; 0,5</m:t>
                        </m:r>
                      </m:e>
                    </m:d>
                  </m:oMath>
                </a14:m>
                <a:r>
                  <a:rPr sz="1900">
                    <a:solidFill>
                      <a:srgbClr val="1E293B"/>
                    </a:solidFill>
                    <a:latin typeface="Calibri"/>
                  </a:rPr>
                  <a:t> và </a:t>
                </a:r>
                <a14:m>
                  <m:oMath xmlns:m="http://schemas.openxmlformats.org/officeDocument/2006/math">
                    <m:d>
                      <m:dPr>
                        <m:ctrlPr>
                          <a:rPr lang="vi-VN" sz="1900" b="0">
                            <a:solidFill>
                              <a:srgbClr val="1E293B"/>
                            </a:solidFill>
                            <a:latin typeface="Cambria Math" panose="02040503050406030204" pitchFamily="18" charset="0"/>
                          </a:rPr>
                        </m:ctrlPr>
                      </m:dPr>
                      <m:e>
                        <m:r>
                          <a:rPr lang="vi-VN" sz="1900" b="0">
                            <a:solidFill>
                              <a:srgbClr val="1E293B"/>
                            </a:solidFill>
                            <a:latin typeface="Cambria Math" panose="02040503050406030204" pitchFamily="18" charset="0"/>
                          </a:rPr>
                          <m:t>−1; −1,5; 0,8</m:t>
                        </m:r>
                      </m:e>
                    </m:d>
                  </m:oMath>
                </a14:m>
                <a:r>
                  <a:rPr sz="1900">
                    <a:solidFill>
                      <a:srgbClr val="1E293B"/>
                    </a:solidFill>
                    <a:latin typeface="Calibri"/>
                  </a:rPr>
                  <a:t>.</a:t>
                </a:r>
              </a:p>
            </p:txBody>
          </p:sp>
        </mc:Choice>
        <mc:Fallback xmlns="">
          <p:sp>
            <p:nvSpPr>
              <p:cNvPr id="9" name="TextBox 8"/>
              <p:cNvSpPr txBox="1"/>
              <p:nvPr/>
            </p:nvSpPr>
            <p:spPr>
              <a:xfrm>
                <a:off x="713232" y="3681983"/>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r>
                  <a:rPr lang="vi-VN"/>
                  <a:t>(2;\ 1;\ 0{,}5)</a:t>
                </a:r>
                <a:r>
                  <a:rPr sz="1900">
                    <a:solidFill>
                      <a:srgbClr val="1E293B"/>
                    </a:solidFill>
                    <a:latin typeface="Calibri"/>
                  </a:rPr>
                  <a:t> và </a:t>
                </a:r>
                <a:r>
                  <a:rPr lang="vi-VN"/>
                  <a:t>(-1;\ -1{,}5;\ 0{,}8)</a:t>
                </a:r>
                <a:r>
                  <a:rPr sz="1900">
                    <a:solidFill>
                      <a:srgbClr val="1E293B"/>
                    </a:solidFill>
                    <a:latin typeface="Calibri"/>
                  </a:rPr>
                  <a:t>.</a:t>
                </a:r>
              </a:p>
            </p:txBody>
          </p:sp>
        </mc:Fallback>
      </mc:AlternateContent>
      <p:sp>
        <p:nvSpPr>
          <p:cNvPr id="10" name="s2_nen"/>
          <p:cNvSpPr/>
          <p:nvPr/>
        </p:nvSpPr>
        <p:spPr>
          <a:xfrm>
            <a:off x="548640" y="4273296"/>
            <a:ext cx="78638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s2_chu"/>
              <p:cNvSpPr txBox="1"/>
              <p:nvPr/>
            </p:nvSpPr>
            <p:spPr>
              <a:xfrm>
                <a:off x="713232" y="4309872"/>
                <a:ext cx="7534656" cy="481583"/>
              </a:xfrm>
              <a:prstGeom prst="rect">
                <a:avLst/>
              </a:prstGeom>
              <a:noFill/>
            </p:spPr>
            <p:txBody>
              <a:bodyPr wrap="square" lIns="45720" rIns="45720" anchor="ctr">
                <a:spAutoFit/>
              </a:bodyPr>
              <a:lstStyle/>
              <a:p>
                <a:pPr algn="l">
                  <a:spcAft>
                    <a:spcPts val="800"/>
                  </a:spcAft>
                </a:pPr>
                <a:r>
                  <a:rPr sz="1900">
                    <a:solidFill>
                      <a:srgbClr val="1E293B"/>
                    </a:solidFill>
                    <a:latin typeface="Calibri"/>
                  </a:rPr>
                  <a:t>b) </a:t>
                </a:r>
                <a14:m>
                  <m:oMath xmlns:m="http://schemas.openxmlformats.org/officeDocument/2006/math">
                    <m:rad>
                      <m:radPr>
                        <m:degHide m:val="on"/>
                        <m:ctrlPr>
                          <a:rPr lang="vi-VN" sz="1900" b="0" i="1">
                            <a:solidFill>
                              <a:srgbClr val="1E293B"/>
                            </a:solidFill>
                            <a:latin typeface="Cambria Math" panose="02040503050406030204" pitchFamily="18" charset="0"/>
                          </a:rPr>
                        </m:ctrlPr>
                      </m:radPr>
                      <m:deg/>
                      <m:e>
                        <m:sSup>
                          <m:sSupPr>
                            <m:ctrlPr>
                              <a:rPr lang="vi-VN" sz="1900" b="0">
                                <a:solidFill>
                                  <a:srgbClr val="1E293B"/>
                                </a:solidFill>
                                <a:latin typeface="Cambria Math" panose="02040503050406030204" pitchFamily="18" charset="0"/>
                              </a:rPr>
                            </m:ctrlPr>
                          </m:sSupPr>
                          <m:e>
                            <m:d>
                              <m:dPr>
                                <m:ctrlPr>
                                  <a:rPr lang="vi-VN" sz="1900" b="0">
                                    <a:solidFill>
                                      <a:srgbClr val="1E293B"/>
                                    </a:solidFill>
                                    <a:latin typeface="Cambria Math" panose="02040503050406030204" pitchFamily="18" charset="0"/>
                                  </a:rPr>
                                </m:ctrlPr>
                              </m:dPr>
                              <m:e>
                                <m:r>
                                  <a:rPr lang="vi-VN" sz="1900" b="0">
                                    <a:solidFill>
                                      <a:srgbClr val="1E293B"/>
                                    </a:solidFill>
                                    <a:latin typeface="Cambria Math" panose="02040503050406030204" pitchFamily="18" charset="0"/>
                                  </a:rPr>
                                  <m:t>−1−2</m:t>
                                </m:r>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+(−1,5−1</m:t>
                                </m:r>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+(0,8−0,5</m:t>
                                </m:r>
                              </m:e>
                            </m:d>
                          </m:e>
                          <m:sup>
                            <m:r>
                              <a:rPr lang="vi-VN" sz="1900" b="0">
                                <a:solidFill>
                                  <a:srgbClr val="1E293B"/>
                                </a:solidFill>
                                <a:latin typeface="Cambria Math" panose="02040503050406030204" pitchFamily="18" charset="0"/>
                              </a:rPr>
                              <m:t>2</m:t>
                            </m:r>
                          </m:sup>
                        </m:sSup>
                      </m:e>
                    </m:rad>
                    <m:r>
                      <a:rPr lang="vi-VN" sz="1900" b="0">
                        <a:solidFill>
                          <a:srgbClr val="1E293B"/>
                        </a:solidFill>
                        <a:latin typeface="Cambria Math" panose="02040503050406030204" pitchFamily="18" charset="0"/>
                      </a:rPr>
                      <m:t>=</m:t>
                    </m:r>
                    <m:rad>
                      <m:radPr>
                        <m:degHide m:val="on"/>
                        <m:ctrlPr>
                          <a:rPr lang="vi-VN" sz="1900" b="0" i="1">
                            <a:solidFill>
                              <a:srgbClr val="1E293B"/>
                            </a:solidFill>
                            <a:latin typeface="Cambria Math" panose="02040503050406030204" pitchFamily="18" charset="0"/>
                          </a:rPr>
                        </m:ctrlPr>
                      </m:radPr>
                      <m:deg/>
                      <m:e>
                        <m:r>
                          <a:rPr lang="vi-VN" sz="1900" b="0">
                            <a:solidFill>
                              <a:srgbClr val="1E293B"/>
                            </a:solidFill>
                            <a:latin typeface="Cambria Math" panose="02040503050406030204" pitchFamily="18" charset="0"/>
                          </a:rPr>
                          <m:t>15,34</m:t>
                        </m:r>
                      </m:e>
                    </m:rad>
                    <m:r>
                      <a:rPr lang="vi-VN" sz="1900" b="0">
                        <a:solidFill>
                          <a:srgbClr val="1E293B"/>
                        </a:solidFill>
                        <a:latin typeface="Cambria Math" panose="02040503050406030204" pitchFamily="18" charset="0"/>
                      </a:rPr>
                      <m:t>≈3,92</m:t>
                    </m:r>
                  </m:oMath>
                </a14:m>
                <a:r>
                  <a:rPr sz="1900">
                    <a:solidFill>
                      <a:srgbClr val="1E293B"/>
                    </a:solidFill>
                    <a:latin typeface="Calibri"/>
                  </a:rPr>
                  <a:t> (km).</a:t>
                </a:r>
              </a:p>
            </p:txBody>
          </p:sp>
        </mc:Choice>
        <mc:Fallback xmlns="">
          <p:sp>
            <p:nvSpPr>
              <p:cNvPr id="11" name="TextBox 10"/>
              <p:cNvSpPr txBox="1"/>
              <p:nvPr/>
            </p:nvSpPr>
            <p:spPr>
              <a:xfrm>
                <a:off x="713232" y="4309872"/>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b) </a:t>
                </a:r>
                <a:r>
                  <a:rPr lang="vi-VN"/>
                  <a:t>\sqrt{(-1-2)^2+(-1{,}5-1)^2+(0{,}8-0{,}5)^2}=\sqrt{15{,}34}\approx 3{,}92</a:t>
                </a:r>
                <a:r>
                  <a:rPr sz="1900">
                    <a:solidFill>
                      <a:srgbClr val="1E293B"/>
                    </a:solidFill>
                    <a:latin typeface="Calibri"/>
                  </a:rPr>
                  <a:t> (km).</a:t>
                </a:r>
              </a:p>
            </p:txBody>
          </p:sp>
        </mc:Fallback>
      </mc:AlternateContent>
      <p:pic>
        <p:nvPicPr>
          <p:cNvPr id="12" name="Picture 11" descr="h250.png"/>
          <p:cNvPicPr>
            <a:picLocks noChangeAspect="1"/>
          </p:cNvPicPr>
          <p:nvPr/>
        </p:nvPicPr>
        <p:blipFill>
          <a:blip r:embed="rId3"/>
          <a:stretch>
            <a:fillRect/>
          </a:stretch>
        </p:blipFill>
        <p:spPr>
          <a:xfrm>
            <a:off x="8595360" y="2070473"/>
            <a:ext cx="3108960" cy="9796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7 (SGK TR.71)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29</a:t>
            </a:r>
          </a:p>
        </p:txBody>
      </p:sp>
      <p:sp>
        <p:nvSpPr>
          <p:cNvPr id="7" name="TextBox 6"/>
          <p:cNvSpPr txBox="1"/>
          <p:nvPr/>
        </p:nvSpPr>
        <p:spPr>
          <a:xfrm>
            <a:off x="548640" y="1371600"/>
            <a:ext cx="7863840" cy="752855"/>
          </a:xfrm>
          <a:prstGeom prst="rect">
            <a:avLst/>
          </a:prstGeom>
          <a:noFill/>
        </p:spPr>
        <p:txBody>
          <a:bodyPr wrap="square" lIns="45720" rIns="45720" anchor="t">
            <a:spAutoFit/>
          </a:bodyPr>
          <a:lstStyle/>
          <a:p>
            <a:pPr algn="l">
              <a:spcAft>
                <a:spcPts val="800"/>
              </a:spcAft>
            </a:pPr>
            <a:r>
              <a:rPr sz="1900" b="1">
                <a:solidFill>
                  <a:srgbClr val="1E293B"/>
                </a:solidFill>
                <a:latin typeface="Calibri"/>
              </a:rPr>
              <a:t>Luyện tập 7.</a:t>
            </a:r>
            <a:r>
              <a:rPr sz="1900">
                <a:solidFill>
                  <a:srgbClr val="1E293B"/>
                </a:solidFill>
                <a:latin typeface="Calibri"/>
              </a:rPr>
              <a:t> Trong Ví dụ 7, khinh khí cầu thứ nhất hay thứ hai ở xa điểm xuất phát hơn? Giải thích.</a:t>
            </a:r>
          </a:p>
        </p:txBody>
      </p:sp>
      <p:sp>
        <p:nvSpPr>
          <p:cNvPr id="8" name="s1_nen"/>
          <p:cNvSpPr/>
          <p:nvPr/>
        </p:nvSpPr>
        <p:spPr>
          <a:xfrm>
            <a:off x="548640" y="2179320"/>
            <a:ext cx="78638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215896"/>
                <a:ext cx="7534656" cy="771143"/>
              </a:xfrm>
              <a:prstGeom prst="rect">
                <a:avLst/>
              </a:prstGeom>
              <a:noFill/>
            </p:spPr>
            <p:txBody>
              <a:bodyPr wrap="square" lIns="45720" rIns="45720" anchor="ctr">
                <a:spAutoFit/>
              </a:bodyPr>
              <a:lstStyle/>
              <a:p>
                <a:pPr algn="l">
                  <a:spcAft>
                    <a:spcPts val="800"/>
                  </a:spcAft>
                </a:pPr>
                <a:r>
                  <a:rPr sz="1900">
                    <a:solidFill>
                      <a:srgbClr val="1E293B"/>
                    </a:solidFill>
                    <a:latin typeface="Calibri"/>
                  </a:rPr>
                  <a:t> </a:t>
                </a:r>
                <a14:m>
                  <m:oMath xmlns:m="http://schemas.openxmlformats.org/officeDocument/2006/math">
                    <m:rad>
                      <m:radPr>
                        <m:degHide m:val="on"/>
                        <m:ctrlPr>
                          <a:rPr lang="vi-VN" sz="1900" b="0" i="1">
                            <a:solidFill>
                              <a:srgbClr val="1E293B"/>
                            </a:solidFill>
                            <a:latin typeface="Cambria Math" panose="02040503050406030204" pitchFamily="18" charset="0"/>
                          </a:rPr>
                        </m:ctrlPr>
                      </m:radPr>
                      <m:deg/>
                      <m:e>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2</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m:t>
                        </m:r>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1</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+0,</m:t>
                        </m:r>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5</m:t>
                            </m:r>
                          </m:e>
                          <m:sup>
                            <m:r>
                              <a:rPr lang="vi-VN" sz="1900" b="0">
                                <a:solidFill>
                                  <a:srgbClr val="1E293B"/>
                                </a:solidFill>
                                <a:latin typeface="Cambria Math" panose="02040503050406030204" pitchFamily="18" charset="0"/>
                              </a:rPr>
                              <m:t>2</m:t>
                            </m:r>
                          </m:sup>
                        </m:sSup>
                      </m:e>
                    </m:rad>
                    <m:r>
                      <a:rPr lang="vi-VN" sz="1900" b="0">
                        <a:solidFill>
                          <a:srgbClr val="1E293B"/>
                        </a:solidFill>
                        <a:latin typeface="Cambria Math" panose="02040503050406030204" pitchFamily="18" charset="0"/>
                      </a:rPr>
                      <m:t>≈2,29</m:t>
                    </m:r>
                  </m:oMath>
                </a14:m>
                <a:r>
                  <a:rPr sz="1900">
                    <a:solidFill>
                      <a:srgbClr val="1E293B"/>
                    </a:solidFill>
                    <a:latin typeface="Calibri"/>
                  </a:rPr>
                  <a:t> km </a:t>
                </a:r>
                <a14:m>
                  <m:oMath xmlns:m="http://schemas.openxmlformats.org/officeDocument/2006/math">
                    <m:r>
                      <a:rPr lang="vi-VN" sz="1900" b="0">
                        <a:solidFill>
                          <a:srgbClr val="1E293B"/>
                        </a:solidFill>
                        <a:latin typeface="Cambria Math" panose="02040503050406030204" pitchFamily="18" charset="0"/>
                      </a:rPr>
                      <m:t>&gt;</m:t>
                    </m:r>
                  </m:oMath>
                </a14:m>
                <a:r>
                  <a:rPr sz="1900">
                    <a:solidFill>
                      <a:srgbClr val="1E293B"/>
                    </a:solidFill>
                    <a:latin typeface="Calibri"/>
                  </a:rPr>
                  <a:t> </a:t>
                </a:r>
                <a14:m>
                  <m:oMath xmlns:m="http://schemas.openxmlformats.org/officeDocument/2006/math">
                    <m:rad>
                      <m:radPr>
                        <m:degHide m:val="on"/>
                        <m:ctrlPr>
                          <a:rPr lang="vi-VN" sz="1900" b="0" i="1">
                            <a:solidFill>
                              <a:srgbClr val="1E293B"/>
                            </a:solidFill>
                            <a:latin typeface="Cambria Math" panose="02040503050406030204" pitchFamily="18" charset="0"/>
                          </a:rPr>
                        </m:ctrlPr>
                      </m:radPr>
                      <m:deg/>
                      <m:e>
                        <m:r>
                          <a:rPr lang="vi-VN" sz="1900" b="0">
                            <a:solidFill>
                              <a:srgbClr val="1E293B"/>
                            </a:solidFill>
                            <a:latin typeface="Cambria Math" panose="02040503050406030204" pitchFamily="18" charset="0"/>
                          </a:rPr>
                          <m:t>1+1,</m:t>
                        </m:r>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5</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+0,</m:t>
                        </m:r>
                        <m:sSup>
                          <m:sSupPr>
                            <m:ctrlPr>
                              <a:rPr lang="vi-VN" sz="1900" b="0">
                                <a:solidFill>
                                  <a:srgbClr val="1E293B"/>
                                </a:solidFill>
                                <a:latin typeface="Cambria Math" panose="02040503050406030204" pitchFamily="18" charset="0"/>
                              </a:rPr>
                            </m:ctrlPr>
                          </m:sSupPr>
                          <m:e>
                            <m:r>
                              <a:rPr lang="vi-VN" sz="1900" b="0">
                                <a:solidFill>
                                  <a:srgbClr val="1E293B"/>
                                </a:solidFill>
                                <a:latin typeface="Cambria Math" panose="02040503050406030204" pitchFamily="18" charset="0"/>
                              </a:rPr>
                              <m:t>8</m:t>
                            </m:r>
                          </m:e>
                          <m:sup>
                            <m:r>
                              <a:rPr lang="vi-VN" sz="1900" b="0">
                                <a:solidFill>
                                  <a:srgbClr val="1E293B"/>
                                </a:solidFill>
                                <a:latin typeface="Cambria Math" panose="02040503050406030204" pitchFamily="18" charset="0"/>
                              </a:rPr>
                              <m:t>2</m:t>
                            </m:r>
                          </m:sup>
                        </m:sSup>
                      </m:e>
                    </m:rad>
                    <m:r>
                      <a:rPr lang="vi-VN" sz="1900" b="0">
                        <a:solidFill>
                          <a:srgbClr val="1E293B"/>
                        </a:solidFill>
                        <a:latin typeface="Cambria Math" panose="02040503050406030204" pitchFamily="18" charset="0"/>
                      </a:rPr>
                      <m:t>≈1,97</m:t>
                    </m:r>
                  </m:oMath>
                </a14:m>
                <a:r>
                  <a:rPr sz="1900">
                    <a:solidFill>
                      <a:srgbClr val="1E293B"/>
                    </a:solidFill>
                    <a:latin typeface="Calibri"/>
                  </a:rPr>
                  <a:t> km: </a:t>
                </a:r>
                <a:r>
                  <a:rPr sz="1900" b="1">
                    <a:solidFill>
                      <a:srgbClr val="1E293B"/>
                    </a:solidFill>
                    <a:latin typeface="Calibri"/>
                  </a:rPr>
                  <a:t>chiếc thứ nhất</a:t>
                </a:r>
                <a:r>
                  <a:rPr sz="1900">
                    <a:solidFill>
                      <a:srgbClr val="1E293B"/>
                    </a:solidFill>
                    <a:latin typeface="Calibri"/>
                  </a:rPr>
                  <a:t> xa hơn.</a:t>
                </a:r>
              </a:p>
            </p:txBody>
          </p:sp>
        </mc:Choice>
        <mc:Fallback xmlns="">
          <p:sp>
            <p:nvSpPr>
              <p:cNvPr id="9" name="TextBox 8"/>
              <p:cNvSpPr txBox="1"/>
              <p:nvPr/>
            </p:nvSpPr>
            <p:spPr>
              <a:xfrm>
                <a:off x="713232" y="2215896"/>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\sqrt{2^2+1^2+0{,}5^2}\approx 2{,}29</a:t>
                </a:r>
                <a:r>
                  <a:rPr sz="1900">
                    <a:solidFill>
                      <a:srgbClr val="1E293B"/>
                    </a:solidFill>
                    <a:latin typeface="Calibri"/>
                  </a:rPr>
                  <a:t> km </a:t>
                </a:r>
                <a:r>
                  <a:rPr lang="vi-VN"/>
                  <a:t>&gt;</a:t>
                </a:r>
                <a:r>
                  <a:rPr sz="1900">
                    <a:solidFill>
                      <a:srgbClr val="1E293B"/>
                    </a:solidFill>
                    <a:latin typeface="Calibri"/>
                  </a:rPr>
                  <a:t> </a:t>
                </a:r>
                <a:r>
                  <a:rPr lang="vi-VN"/>
                  <a:t>\sqrt{1+1{,}5^2+0{,}8^2}\approx 1{,}97</a:t>
                </a:r>
                <a:r>
                  <a:rPr sz="1900">
                    <a:solidFill>
                      <a:srgbClr val="1E293B"/>
                    </a:solidFill>
                    <a:latin typeface="Calibri"/>
                  </a:rPr>
                  <a:t> km: </a:t>
                </a:r>
                <a:r>
                  <a:rPr sz="1900" b="1">
                    <a:solidFill>
                      <a:srgbClr val="1E293B"/>
                    </a:solidFill>
                    <a:latin typeface="Calibri"/>
                  </a:rPr>
                  <a:t>chiếc thứ nhất</a:t>
                </a:r>
                <a:r>
                  <a:rPr sz="1900">
                    <a:solidFill>
                      <a:srgbClr val="1E293B"/>
                    </a:solidFill>
                    <a:latin typeface="Calibri"/>
                  </a:rPr>
                  <a:t> xa hơn.</a:t>
                </a:r>
              </a:p>
            </p:txBody>
          </p:sp>
        </mc:Fallback>
      </mc:AlternateContent>
      <p:pic>
        <p:nvPicPr>
          <p:cNvPr id="10" name="Picture 9" descr="h250.png"/>
          <p:cNvPicPr>
            <a:picLocks noChangeAspect="1"/>
          </p:cNvPicPr>
          <p:nvPr/>
        </p:nvPicPr>
        <p:blipFill>
          <a:blip r:embed="rId3"/>
          <a:stretch>
            <a:fillRect/>
          </a:stretch>
        </p:blipFill>
        <p:spPr>
          <a:xfrm>
            <a:off x="8595360" y="2070473"/>
            <a:ext cx="3108960" cy="9796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3D – HAI KHINH KHÍ CẦU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30</a:t>
            </a:r>
          </a:p>
        </p:txBody>
      </p:sp>
      <mc:AlternateContent xmlns:mc="http://schemas.openxmlformats.org/markup-compatibility/2006" xmlns:a14="http://schemas.microsoft.com/office/drawing/2010/main">
        <mc:Choice Requires="a14">
          <p:sp>
            <p:nvSpPr>
              <p:cNvPr id="7" name="TextBox 6"/>
              <p:cNvSpPr txBox="1"/>
              <p:nvPr/>
            </p:nvSpPr>
            <p:spPr>
              <a:xfrm>
                <a:off x="548640" y="1417320"/>
                <a:ext cx="6035040" cy="356616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14:m>
                  <m:oMath xmlns:m="http://schemas.openxmlformats.org/officeDocument/2006/math">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𝐾</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 1; 0,5)</m:t>
                    </m:r>
                  </m:oMath>
                </a14:m>
                <a:r>
                  <a:rPr sz="2200">
                    <a:solidFill>
                      <a:srgbClr val="1E293B"/>
                    </a:solidFill>
                    <a:latin typeface="Calibri"/>
                  </a:rPr>
                  <a:t>, </a:t>
                </a:r>
                <a14:m>
                  <m:oMath xmlns:m="http://schemas.openxmlformats.org/officeDocument/2006/math">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𝐾</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(−1; −1,5; 0,8)</m:t>
                    </m:r>
                  </m:oMath>
                </a14:m>
                <a:r>
                  <a:rPr sz="2200">
                    <a:solidFill>
                      <a:srgbClr val="1E293B"/>
                    </a:solidFill>
                    <a:latin typeface="Calibri"/>
                  </a:rPr>
                  <a:t>; gốc </a:t>
                </a:r>
                <a14:m>
                  <m:oMath xmlns:m="http://schemas.openxmlformats.org/officeDocument/2006/math">
                    <m:r>
                      <a:rPr lang="vi-VN" sz="2200" b="0">
                        <a:solidFill>
                          <a:srgbClr val="1E293B"/>
                        </a:solidFill>
                        <a:latin typeface="Cambria Math" panose="02040503050406030204" pitchFamily="18" charset="0"/>
                      </a:rPr>
                      <m:t>𝑂</m:t>
                    </m:r>
                  </m:oMath>
                </a14:m>
                <a:r>
                  <a:rPr sz="2200">
                    <a:solidFill>
                      <a:srgbClr val="1E293B"/>
                    </a:solidFill>
                    <a:latin typeface="Calibri"/>
                  </a:rPr>
                  <a:t> là điểm xuất phát.</a:t>
                </a:r>
              </a:p>
              <a:p>
                <a:pPr marL="365760" indent="-365760" algn="l">
                  <a:spcAft>
                    <a:spcPts val="800"/>
                  </a:spcAft>
                  <a:buClr>
                    <a:srgbClr val="1E40AF"/>
                  </a:buClr>
                  <a:buFont typeface="Arial"/>
                  <a:buChar char="•"/>
                </a:pPr>
                <a:r>
                  <a:rPr sz="2200">
                    <a:solidFill>
                      <a:srgbClr val="1E293B"/>
                    </a:solidFill>
                    <a:latin typeface="Calibri"/>
                  </a:rPr>
                  <a:t>Bảng giá trị: </a:t>
                </a:r>
                <a14:m>
                  <m:oMath xmlns:m="http://schemas.openxmlformats.org/officeDocument/2006/math">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𝐾</m:t>
                        </m:r>
                      </m:e>
                      <m:sub>
                        <m:r>
                          <a:rPr lang="vi-VN" sz="2200" b="0">
                            <a:solidFill>
                              <a:srgbClr val="1E293B"/>
                            </a:solidFill>
                            <a:latin typeface="Cambria Math" panose="02040503050406030204" pitchFamily="18" charset="0"/>
                          </a:rPr>
                          <m:t>1</m:t>
                        </m:r>
                      </m:sub>
                    </m:sSub>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𝐾</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≈3,92</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𝑂</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𝐾</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≈2,29</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𝑂</m:t>
                    </m:r>
                    <m:sSub>
                      <m:sSubPr>
                        <m:ctrlPr>
                          <a:rPr lang="vi-VN" sz="2200" b="0">
                            <a:solidFill>
                              <a:srgbClr val="1E293B"/>
                            </a:solidFill>
                            <a:latin typeface="Cambria Math" panose="02040503050406030204" pitchFamily="18" charset="0"/>
                          </a:rPr>
                        </m:ctrlPr>
                      </m:sSubPr>
                      <m:e>
                        <m:r>
                          <a:rPr lang="vi-VN" sz="2200" b="0">
                            <a:solidFill>
                              <a:srgbClr val="1E293B"/>
                            </a:solidFill>
                            <a:latin typeface="Cambria Math" panose="02040503050406030204" pitchFamily="18" charset="0"/>
                          </a:rPr>
                          <m:t>𝐾</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≈1,97</m:t>
                    </m:r>
                  </m:oMath>
                </a14:m>
                <a:r>
                  <a:rPr sz="2200">
                    <a:solidFill>
                      <a:srgbClr val="1E293B"/>
                    </a:solidFill>
                    <a:latin typeface="Calibri"/>
                  </a:rPr>
                  <a:t> (km).</a:t>
                </a:r>
              </a:p>
              <a:p>
                <a:pPr marL="365760" indent="-365760" algn="l">
                  <a:spcAft>
                    <a:spcPts val="800"/>
                  </a:spcAft>
                  <a:buClr>
                    <a:srgbClr val="1E40AF"/>
                  </a:buClr>
                  <a:buFont typeface="Arial"/>
                  <a:buChar char="•"/>
                </a:pPr>
                <a:r>
                  <a:rPr sz="2200">
                    <a:solidFill>
                      <a:srgbClr val="1E293B"/>
                    </a:solidFill>
                    <a:latin typeface="Calibri"/>
                  </a:rPr>
                  <a:t>Kéo hai khinh khí cầu (thanh trượt độ cao) để xem khoảng cách thay đổi.</a:t>
                </a:r>
              </a:p>
            </p:txBody>
          </p:sp>
        </mc:Choice>
        <mc:Fallback xmlns="">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K_1(2;\ 1;\ 0{,}5)</a:t>
                </a:r>
                <a:r>
                  <a:rPr sz="2200">
                    <a:solidFill>
                      <a:srgbClr val="1E293B"/>
                    </a:solidFill>
                    <a:latin typeface="Calibri"/>
                  </a:rPr>
                  <a:t>, </a:t>
                </a:r>
                <a:r>
                  <a:rPr lang="vi-VN"/>
                  <a:t>K_2(-1;\ -1{,}5;\ 0{,}8)</a:t>
                </a:r>
                <a:r>
                  <a:rPr sz="2200">
                    <a:solidFill>
                      <a:srgbClr val="1E293B"/>
                    </a:solidFill>
                    <a:latin typeface="Calibri"/>
                  </a:rPr>
                  <a:t>; gốc </a:t>
                </a:r>
                <a:r>
                  <a:rPr lang="vi-VN"/>
                  <a:t>O</a:t>
                </a:r>
                <a:r>
                  <a:rPr sz="2200">
                    <a:solidFill>
                      <a:srgbClr val="1E293B"/>
                    </a:solidFill>
                    <a:latin typeface="Calibri"/>
                  </a:rPr>
                  <a:t> là điểm xuất phát.</a:t>
                </a:r>
              </a:p>
              <a:p>
                <a:pPr algn="l" marL="365760" indent="-365760">
                  <a:spcAft>
                    <a:spcPts val="800"/>
                  </a:spcAft>
                  <a:buClr>
                    <a:srgbClr val="1E40AF"/>
                  </a:buClr>
                  <a:buFont typeface="Arial"/>
                  <a:buChar char="•"/>
                </a:pPr>
                <a:r>
                  <a:rPr sz="2200">
                    <a:solidFill>
                      <a:srgbClr val="1E293B"/>
                    </a:solidFill>
                    <a:latin typeface="Calibri"/>
                  </a:rPr>
                  <a:t>Bảng giá trị: </a:t>
                </a:r>
                <a:r>
                  <a:rPr lang="vi-VN"/>
                  <a:t>K_1K_2\approx 3{,}92</a:t>
                </a:r>
                <a:r>
                  <a:rPr sz="2200">
                    <a:solidFill>
                      <a:srgbClr val="1E293B"/>
                    </a:solidFill>
                    <a:latin typeface="Calibri"/>
                  </a:rPr>
                  <a:t>; </a:t>
                </a:r>
                <a:r>
                  <a:rPr lang="vi-VN"/>
                  <a:t>OK_1\approx 2{,}29</a:t>
                </a:r>
                <a:r>
                  <a:rPr sz="2200">
                    <a:solidFill>
                      <a:srgbClr val="1E293B"/>
                    </a:solidFill>
                    <a:latin typeface="Calibri"/>
                  </a:rPr>
                  <a:t>; </a:t>
                </a:r>
                <a:r>
                  <a:rPr lang="vi-VN"/>
                  <a:t>OK_2\approx 1{,}97</a:t>
                </a:r>
                <a:r>
                  <a:rPr sz="2200">
                    <a:solidFill>
                      <a:srgbClr val="1E293B"/>
                    </a:solidFill>
                    <a:latin typeface="Calibri"/>
                  </a:rPr>
                  <a:t> (km).</a:t>
                </a:r>
              </a:p>
              <a:p>
                <a:pPr algn="l" marL="365760" indent="-365760">
                  <a:spcAft>
                    <a:spcPts val="800"/>
                  </a:spcAft>
                  <a:buClr>
                    <a:srgbClr val="1E40AF"/>
                  </a:buClr>
                  <a:buFont typeface="Arial"/>
                  <a:buChar char="•"/>
                </a:pPr>
                <a:r>
                  <a:rPr sz="2200">
                    <a:solidFill>
                      <a:srgbClr val="1E293B"/>
                    </a:solidFill>
                    <a:latin typeface="Calibri"/>
                  </a:rPr>
                  <a:t>Kéo hai khinh khí cầu (thanh trượt độ cao) để xem khoảng cách thay đổi.</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  MỞ GEOGEBRA</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lIns="45720" rIns="45720" anchor="t">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250.png"/>
          <p:cNvPicPr>
            <a:picLocks noChangeAspect="1"/>
          </p:cNvPicPr>
          <p:nvPr/>
        </p:nvPicPr>
        <p:blipFill>
          <a:blip r:embed="rId5"/>
          <a:stretch>
            <a:fillRect/>
          </a:stretch>
        </p:blipFill>
        <p:spPr>
          <a:xfrm>
            <a:off x="6858000" y="2939735"/>
            <a:ext cx="4846320" cy="152716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2.20 – 2.21 (SGK TR.72)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31</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722375"/>
              </a:xfrm>
              <a:prstGeom prst="rect">
                <a:avLst/>
              </a:prstGeom>
              <a:noFill/>
            </p:spPr>
            <p:txBody>
              <a:bodyPr wrap="square" lIns="45720" rIns="45720" anchor="t">
                <a:spAutoFit/>
              </a:bodyPr>
              <a:lstStyle/>
              <a:p>
                <a:pPr algn="l">
                  <a:spcAft>
                    <a:spcPts val="800"/>
                  </a:spcAft>
                </a:pPr>
                <a:r>
                  <a:rPr sz="1800" b="1">
                    <a:solidFill>
                      <a:srgbClr val="1E293B"/>
                    </a:solidFill>
                    <a:latin typeface="Calibri"/>
                  </a:rPr>
                  <a:t>2.20.</a:t>
                </a:r>
                <a:r>
                  <a:rPr sz="1800">
                    <a:solidFill>
                      <a:srgbClr val="1E293B"/>
                    </a:solidFill>
                    <a:latin typeface="Calibri"/>
                  </a:rPr>
                  <a:t> Cho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𝑎</m:t>
                        </m:r>
                      </m:e>
                    </m:acc>
                    <m:r>
                      <a:rPr lang="vi-VN" sz="1800" b="0">
                        <a:solidFill>
                          <a:srgbClr val="1E293B"/>
                        </a:solidFill>
                        <a:latin typeface="Cambria Math" panose="02040503050406030204" pitchFamily="18" charset="0"/>
                      </a:rPr>
                      <m:t>=(3;1;2)</m:t>
                    </m:r>
                  </m:oMath>
                </a14:m>
                <a:r>
                  <a:rPr sz="1800">
                    <a:solidFill>
                      <a:srgbClr val="1E293B"/>
                    </a:solidFill>
                    <a:latin typeface="Calibri"/>
                  </a:rPr>
                  <a:t>,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𝑏</m:t>
                        </m:r>
                      </m:e>
                    </m:acc>
                    <m:r>
                      <a:rPr lang="vi-VN" sz="1800" b="0">
                        <a:solidFill>
                          <a:srgbClr val="1E293B"/>
                        </a:solidFill>
                        <a:latin typeface="Cambria Math" panose="02040503050406030204" pitchFamily="18" charset="0"/>
                      </a:rPr>
                      <m:t>=(−3;0;4)</m:t>
                    </m:r>
                  </m:oMath>
                </a14:m>
                <a:r>
                  <a:rPr sz="1800">
                    <a:solidFill>
                      <a:srgbClr val="1E293B"/>
                    </a:solidFill>
                    <a:latin typeface="Calibri"/>
                  </a:rPr>
                  <a:t>,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𝑐</m:t>
                        </m:r>
                      </m:e>
                    </m:acc>
                    <m:r>
                      <a:rPr lang="vi-VN" sz="1800" b="0">
                        <a:solidFill>
                          <a:srgbClr val="1E293B"/>
                        </a:solidFill>
                        <a:latin typeface="Cambria Math" panose="02040503050406030204" pitchFamily="18" charset="0"/>
                      </a:rPr>
                      <m:t>=(6;−1;0)</m:t>
                    </m:r>
                  </m:oMath>
                </a14:m>
                <a:r>
                  <a:rPr sz="1800">
                    <a:solidFill>
                      <a:srgbClr val="1E293B"/>
                    </a:solidFill>
                    <a:latin typeface="Calibri"/>
                  </a:rPr>
                  <a:t>. a) Tìm toạ độ của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𝑎</m:t>
                        </m:r>
                      </m:e>
                    </m:acc>
                    <m:r>
                      <a:rPr lang="vi-VN" sz="1800" b="0">
                        <a:solidFill>
                          <a:srgbClr val="1E293B"/>
                        </a:solidFill>
                        <a:latin typeface="Cambria Math" panose="02040503050406030204" pitchFamily="18" charset="0"/>
                      </a:rPr>
                      <m:t>+</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𝑏</m:t>
                        </m:r>
                      </m:e>
                    </m:acc>
                    <m:r>
                      <a:rPr lang="vi-VN" sz="1800" b="0">
                        <a:solidFill>
                          <a:srgbClr val="1E293B"/>
                        </a:solidFill>
                        <a:latin typeface="Cambria Math" panose="02040503050406030204" pitchFamily="18" charset="0"/>
                      </a:rPr>
                      <m:t>+</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𝑐</m:t>
                        </m:r>
                      </m:e>
                    </m:acc>
                  </m:oMath>
                </a14:m>
                <a:r>
                  <a:rPr sz="1800">
                    <a:solidFill>
                      <a:srgbClr val="1E293B"/>
                    </a:solidFill>
                    <a:latin typeface="Calibri"/>
                  </a:rPr>
                  <a:t> và </a:t>
                </a:r>
                <a14:m>
                  <m:oMath xmlns:m="http://schemas.openxmlformats.org/officeDocument/2006/math">
                    <m:r>
                      <a:rPr lang="vi-VN" sz="1800" b="0">
                        <a:solidFill>
                          <a:srgbClr val="1E293B"/>
                        </a:solidFill>
                        <a:latin typeface="Cambria Math" panose="02040503050406030204" pitchFamily="18" charset="0"/>
                      </a:rPr>
                      <m:t>2</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𝑎</m:t>
                        </m:r>
                      </m:e>
                    </m:acc>
                    <m:r>
                      <a:rPr lang="vi-VN" sz="1800" b="0">
                        <a:solidFill>
                          <a:srgbClr val="1E293B"/>
                        </a:solidFill>
                        <a:latin typeface="Cambria Math" panose="02040503050406030204" pitchFamily="18" charset="0"/>
                      </a:rPr>
                      <m:t>−3</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𝑏</m:t>
                        </m:r>
                      </m:e>
                    </m:acc>
                    <m:r>
                      <a:rPr lang="vi-VN" sz="1800" b="0">
                        <a:solidFill>
                          <a:srgbClr val="1E293B"/>
                        </a:solidFill>
                        <a:latin typeface="Cambria Math" panose="02040503050406030204" pitchFamily="18" charset="0"/>
                      </a:rPr>
                      <m:t>−5</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𝑐</m:t>
                        </m:r>
                      </m:e>
                    </m:acc>
                  </m:oMath>
                </a14:m>
                <a:r>
                  <a:rPr sz="1800">
                    <a:solidFill>
                      <a:srgbClr val="1E293B"/>
                    </a:solidFill>
                    <a:latin typeface="Calibri"/>
                  </a:rPr>
                  <a:t>. b) Tính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𝑎</m:t>
                        </m:r>
                      </m:e>
                    </m:acc>
                    <m:r>
                      <a:rPr lang="vi-VN" sz="1800" b="0">
                        <a:solidFill>
                          <a:srgbClr val="1E293B"/>
                        </a:solidFill>
                        <a:latin typeface="Cambria Math" panose="02040503050406030204" pitchFamily="18" charset="0"/>
                      </a:rPr>
                      <m:t>·(−</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𝑏</m:t>
                        </m:r>
                      </m:e>
                    </m:acc>
                    <m:r>
                      <a:rPr lang="vi-VN" sz="1800" b="0">
                        <a:solidFill>
                          <a:srgbClr val="1E293B"/>
                        </a:solidFill>
                        <a:latin typeface="Cambria Math" panose="02040503050406030204" pitchFamily="18" charset="0"/>
                      </a:rPr>
                      <m:t>)</m:t>
                    </m:r>
                  </m:oMath>
                </a14:m>
                <a:r>
                  <a:rPr sz="1800">
                    <a:solidFill>
                      <a:srgbClr val="1E293B"/>
                    </a:solidFill>
                    <a:latin typeface="Calibri"/>
                  </a:rPr>
                  <a:t> và </a:t>
                </a:r>
                <a14:m>
                  <m:oMath xmlns:m="http://schemas.openxmlformats.org/officeDocument/2006/math">
                    <m:r>
                      <a:rPr lang="vi-VN" sz="1800" b="0">
                        <a:solidFill>
                          <a:srgbClr val="1E293B"/>
                        </a:solidFill>
                        <a:latin typeface="Cambria Math" panose="02040503050406030204" pitchFamily="18" charset="0"/>
                      </a:rPr>
                      <m:t>(2</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𝑎</m:t>
                        </m:r>
                      </m:e>
                    </m:acc>
                    <m:r>
                      <a:rPr lang="vi-VN" sz="1800" b="0">
                        <a:solidFill>
                          <a:srgbClr val="1E293B"/>
                        </a:solidFill>
                        <a:latin typeface="Cambria Math" panose="02040503050406030204" pitchFamily="18" charset="0"/>
                      </a:rPr>
                      <m:t>)·</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𝑐</m:t>
                        </m:r>
                      </m:e>
                    </m:acc>
                  </m:oMath>
                </a14:m>
                <a:r>
                  <a:rPr sz="1800">
                    <a:solidFill>
                      <a:srgbClr val="1E293B"/>
                    </a:solidFill>
                    <a:latin typeface="Calibri"/>
                  </a:rPr>
                  <a:t>.</a:t>
                </a:r>
              </a:p>
            </p:txBody>
          </p:sp>
        </mc:Choice>
        <mc:Fallback xmlns="">
          <p:sp>
            <p:nvSpPr>
              <p:cNvPr id="7" name="TextBox 6"/>
              <p:cNvSpPr txBox="1"/>
              <p:nvPr/>
            </p:nvSpPr>
            <p:spPr>
              <a:xfrm>
                <a:off x="548640" y="1371600"/>
                <a:ext cx="11064240" cy="722375"/>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2.20.</a:t>
                </a:r>
                <a:r>
                  <a:rPr sz="1800">
                    <a:solidFill>
                      <a:srgbClr val="1E293B"/>
                    </a:solidFill>
                    <a:latin typeface="Calibri"/>
                  </a:rPr>
                  <a:t> Cho </a:t>
                </a:r>
                <a:r>
                  <a:rPr lang="vi-VN"/>
                  <a:t>\vec{a}=(3;1;2)</a:t>
                </a:r>
                <a:r>
                  <a:rPr sz="1800">
                    <a:solidFill>
                      <a:srgbClr val="1E293B"/>
                    </a:solidFill>
                    <a:latin typeface="Calibri"/>
                  </a:rPr>
                  <a:t>, </a:t>
                </a:r>
                <a:r>
                  <a:rPr lang="vi-VN"/>
                  <a:t>\vec{b}=(-3;0;4)</a:t>
                </a:r>
                <a:r>
                  <a:rPr sz="1800">
                    <a:solidFill>
                      <a:srgbClr val="1E293B"/>
                    </a:solidFill>
                    <a:latin typeface="Calibri"/>
                  </a:rPr>
                  <a:t>, </a:t>
                </a:r>
                <a:r>
                  <a:rPr lang="vi-VN"/>
                  <a:t>\vec{c}=(6;-1;0)</a:t>
                </a:r>
                <a:r>
                  <a:rPr sz="1800">
                    <a:solidFill>
                      <a:srgbClr val="1E293B"/>
                    </a:solidFill>
                    <a:latin typeface="Calibri"/>
                  </a:rPr>
                  <a:t>. a) Tìm toạ độ của </a:t>
                </a:r>
                <a:r>
                  <a:rPr lang="vi-VN"/>
                  <a:t>\vec{a}+\vec{b}+\vec{c}</a:t>
                </a:r>
                <a:r>
                  <a:rPr sz="1800">
                    <a:solidFill>
                      <a:srgbClr val="1E293B"/>
                    </a:solidFill>
                    <a:latin typeface="Calibri"/>
                  </a:rPr>
                  <a:t> và </a:t>
                </a:r>
                <a:r>
                  <a:rPr lang="vi-VN"/>
                  <a:t>2\vec{a}-3\vec{b}-5\vec{c}</a:t>
                </a:r>
                <a:r>
                  <a:rPr sz="1800">
                    <a:solidFill>
                      <a:srgbClr val="1E293B"/>
                    </a:solidFill>
                    <a:latin typeface="Calibri"/>
                  </a:rPr>
                  <a:t>. b) Tính </a:t>
                </a:r>
                <a:r>
                  <a:rPr lang="vi-VN"/>
                  <a:t>\vec{a}\cdot(-\vec{b})</a:t>
                </a:r>
                <a:r>
                  <a:rPr sz="1800">
                    <a:solidFill>
                      <a:srgbClr val="1E293B"/>
                    </a:solidFill>
                    <a:latin typeface="Calibri"/>
                  </a:rPr>
                  <a:t> và </a:t>
                </a:r>
                <a:r>
                  <a:rPr lang="vi-VN"/>
                  <a:t>(2\vec{a})\cdot\vec{c}</a:t>
                </a:r>
                <a:r>
                  <a:rPr sz="1800">
                    <a:solidFill>
                      <a:srgbClr val="1E293B"/>
                    </a:solidFill>
                    <a:latin typeface="Calibri"/>
                  </a:rPr>
                  <a:t>.</a:t>
                </a:r>
              </a:p>
            </p:txBody>
          </p:sp>
        </mc:Fallback>
      </mc:AlternateContent>
      <p:sp>
        <p:nvSpPr>
          <p:cNvPr id="8" name="s1_nen"/>
          <p:cNvSpPr/>
          <p:nvPr/>
        </p:nvSpPr>
        <p:spPr>
          <a:xfrm>
            <a:off x="548640" y="2139696"/>
            <a:ext cx="11064240" cy="5394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176272"/>
                <a:ext cx="10735056" cy="466344"/>
              </a:xfrm>
              <a:prstGeom prst="rect">
                <a:avLst/>
              </a:prstGeom>
              <a:noFill/>
            </p:spPr>
            <p:txBody>
              <a:bodyPr wrap="square" lIns="45720" rIns="45720" anchor="ctr">
                <a:spAutoFit/>
              </a:bodyPr>
              <a:lstStyle/>
              <a:p>
                <a:pPr algn="l">
                  <a:spcAft>
                    <a:spcPts val="800"/>
                  </a:spcAft>
                </a:pPr>
                <a:r>
                  <a:rPr sz="1800" b="1">
                    <a:solidFill>
                      <a:srgbClr val="1E293B"/>
                    </a:solidFill>
                    <a:latin typeface="Calibri"/>
                  </a:rPr>
                  <a:t>2.20.</a:t>
                </a:r>
                <a:r>
                  <a:rPr sz="1800">
                    <a:solidFill>
                      <a:srgbClr val="1E293B"/>
                    </a:solidFill>
                    <a:latin typeface="Calibri"/>
                  </a:rPr>
                  <a:t> a) </a:t>
                </a:r>
                <a14:m>
                  <m:oMath xmlns:m="http://schemas.openxmlformats.org/officeDocument/2006/math">
                    <m:d>
                      <m:dPr>
                        <m:ctrlPr>
                          <a:rPr lang="vi-VN" sz="1800" b="0">
                            <a:solidFill>
                              <a:srgbClr val="1E293B"/>
                            </a:solidFill>
                            <a:latin typeface="Cambria Math" panose="02040503050406030204" pitchFamily="18" charset="0"/>
                          </a:rPr>
                        </m:ctrlPr>
                      </m:dPr>
                      <m:e>
                        <m:r>
                          <a:rPr lang="vi-VN" sz="1800" b="0">
                            <a:solidFill>
                              <a:srgbClr val="1E293B"/>
                            </a:solidFill>
                            <a:latin typeface="Cambria Math" panose="02040503050406030204" pitchFamily="18" charset="0"/>
                          </a:rPr>
                          <m:t>6;0;6</m:t>
                        </m:r>
                      </m:e>
                    </m:d>
                  </m:oMath>
                </a14:m>
                <a:r>
                  <a:rPr sz="1800">
                    <a:solidFill>
                      <a:srgbClr val="1E293B"/>
                    </a:solidFill>
                    <a:latin typeface="Calibri"/>
                  </a:rPr>
                  <a:t>; </a:t>
                </a:r>
                <a14:m>
                  <m:oMath xmlns:m="http://schemas.openxmlformats.org/officeDocument/2006/math">
                    <m:d>
                      <m:dPr>
                        <m:ctrlPr>
                          <a:rPr lang="vi-VN" sz="1800" b="0">
                            <a:solidFill>
                              <a:srgbClr val="1E293B"/>
                            </a:solidFill>
                            <a:latin typeface="Cambria Math" panose="02040503050406030204" pitchFamily="18" charset="0"/>
                          </a:rPr>
                        </m:ctrlPr>
                      </m:dPr>
                      <m:e>
                        <m:r>
                          <a:rPr lang="vi-VN" sz="1800" b="0">
                            <a:solidFill>
                              <a:srgbClr val="1E293B"/>
                            </a:solidFill>
                            <a:latin typeface="Cambria Math" panose="02040503050406030204" pitchFamily="18" charset="0"/>
                          </a:rPr>
                          <m:t>−15;7;−8</m:t>
                        </m:r>
                      </m:e>
                    </m:d>
                  </m:oMath>
                </a14:m>
                <a:r>
                  <a:rPr sz="1800">
                    <a:solidFill>
                      <a:srgbClr val="1E293B"/>
                    </a:solidFill>
                    <a:latin typeface="Calibri"/>
                  </a:rPr>
                  <a:t>. b)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𝑎</m:t>
                        </m:r>
                      </m:e>
                    </m:acc>
                    <m:r>
                      <a:rPr lang="vi-VN" sz="1800" b="0">
                        <a:solidFill>
                          <a:srgbClr val="1E293B"/>
                        </a:solidFill>
                        <a:latin typeface="Cambria Math" panose="02040503050406030204" pitchFamily="18" charset="0"/>
                      </a:rPr>
                      <m:t>·(−</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𝑏</m:t>
                        </m:r>
                      </m:e>
                    </m:acc>
                    <m:r>
                      <a:rPr lang="vi-VN" sz="1800" b="0">
                        <a:solidFill>
                          <a:srgbClr val="1E293B"/>
                        </a:solidFill>
                        <a:latin typeface="Cambria Math" panose="02040503050406030204" pitchFamily="18" charset="0"/>
                      </a:rPr>
                      <m:t>)=1</m:t>
                    </m:r>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(2</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𝑎</m:t>
                        </m:r>
                      </m:e>
                    </m:acc>
                    <m:r>
                      <a:rPr lang="vi-VN" sz="1800" b="0">
                        <a:solidFill>
                          <a:srgbClr val="1E293B"/>
                        </a:solidFill>
                        <a:latin typeface="Cambria Math" panose="02040503050406030204" pitchFamily="18" charset="0"/>
                      </a:rPr>
                      <m:t>)·</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𝑐</m:t>
                        </m:r>
                      </m:e>
                    </m:acc>
                    <m:r>
                      <a:rPr lang="vi-VN" sz="1800" b="0">
                        <a:solidFill>
                          <a:srgbClr val="1E293B"/>
                        </a:solidFill>
                        <a:latin typeface="Cambria Math" panose="02040503050406030204" pitchFamily="18" charset="0"/>
                      </a:rPr>
                      <m:t>=34</m:t>
                    </m:r>
                  </m:oMath>
                </a14:m>
                <a:r>
                  <a:rPr sz="1800">
                    <a:solidFill>
                      <a:srgbClr val="1E293B"/>
                    </a:solidFill>
                    <a:latin typeface="Calibri"/>
                  </a:rPr>
                  <a:t>.</a:t>
                </a:r>
              </a:p>
            </p:txBody>
          </p:sp>
        </mc:Choice>
        <mc:Fallback xmlns="">
          <p:sp>
            <p:nvSpPr>
              <p:cNvPr id="9" name="TextBox 8"/>
              <p:cNvSpPr txBox="1"/>
              <p:nvPr/>
            </p:nvSpPr>
            <p:spPr>
              <a:xfrm>
                <a:off x="713232" y="2176272"/>
                <a:ext cx="10735056" cy="466344"/>
              </a:xfrm>
              <a:prstGeom prst="rect">
                <a:avLst/>
              </a:prstGeom>
              <a:noFill/>
            </p:spPr>
            <p:txBody>
              <a:bodyPr wrap="square" anchor="ctr" lIns="45720" rIns="45720">
                <a:spAutoFit/>
              </a:bodyPr>
              <a:lstStyle/>
              <a:p>
                <a:pPr algn="l">
                  <a:spcAft>
                    <a:spcPts val="800"/>
                  </a:spcAft>
                </a:pPr>
                <a:r>
                  <a:rPr sz="1800" b="1">
                    <a:solidFill>
                      <a:srgbClr val="1E293B"/>
                    </a:solidFill>
                    <a:latin typeface="Calibri"/>
                  </a:rPr>
                  <a:t>2.20.</a:t>
                </a:r>
                <a:r>
                  <a:rPr sz="1800">
                    <a:solidFill>
                      <a:srgbClr val="1E293B"/>
                    </a:solidFill>
                    <a:latin typeface="Calibri"/>
                  </a:rPr>
                  <a:t> a) </a:t>
                </a:r>
                <a:r>
                  <a:rPr lang="vi-VN"/>
                  <a:t>(6;0;6)</a:t>
                </a:r>
                <a:r>
                  <a:rPr sz="1800">
                    <a:solidFill>
                      <a:srgbClr val="1E293B"/>
                    </a:solidFill>
                    <a:latin typeface="Calibri"/>
                  </a:rPr>
                  <a:t>; </a:t>
                </a:r>
                <a:r>
                  <a:rPr lang="vi-VN"/>
                  <a:t>(-15;7;-8)</a:t>
                </a:r>
                <a:r>
                  <a:rPr sz="1800">
                    <a:solidFill>
                      <a:srgbClr val="1E293B"/>
                    </a:solidFill>
                    <a:latin typeface="Calibri"/>
                  </a:rPr>
                  <a:t>. b) </a:t>
                </a:r>
                <a:r>
                  <a:rPr lang="vi-VN"/>
                  <a:t>\vec{a}\cdot(-\vec{b})=1</a:t>
                </a:r>
                <a:r>
                  <a:rPr sz="1800">
                    <a:solidFill>
                      <a:srgbClr val="1E293B"/>
                    </a:solidFill>
                    <a:latin typeface="Calibri"/>
                  </a:rPr>
                  <a:t>; </a:t>
                </a:r>
                <a:r>
                  <a:rPr lang="vi-VN"/>
                  <a:t>(2\vec{a})\cdot\vec{c}=34</a:t>
                </a:r>
                <a:r>
                  <a:rPr sz="18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0" name="s2_chu"/>
              <p:cNvSpPr txBox="1"/>
              <p:nvPr/>
            </p:nvSpPr>
            <p:spPr>
              <a:xfrm>
                <a:off x="548640" y="2724911"/>
                <a:ext cx="11064240" cy="996696"/>
              </a:xfrm>
              <a:prstGeom prst="rect">
                <a:avLst/>
              </a:prstGeom>
              <a:noFill/>
            </p:spPr>
            <p:txBody>
              <a:bodyPr wrap="square" lIns="45720" rIns="45720" anchor="t">
                <a:spAutoFit/>
              </a:bodyPr>
              <a:lstStyle/>
              <a:p>
                <a:pPr algn="l">
                  <a:spcAft>
                    <a:spcPts val="800"/>
                  </a:spcAft>
                </a:pPr>
                <a:r>
                  <a:rPr sz="1800" b="1">
                    <a:solidFill>
                      <a:srgbClr val="1E293B"/>
                    </a:solidFill>
                    <a:latin typeface="Calibri"/>
                  </a:rPr>
                  <a:t>2.21.</a:t>
                </a:r>
                <a:r>
                  <a:rPr sz="1800">
                    <a:solidFill>
                      <a:srgbClr val="1E293B"/>
                    </a:solidFill>
                    <a:latin typeface="Calibri"/>
                  </a:rPr>
                  <a:t> Cho </a:t>
                </a:r>
                <a14:m>
                  <m:oMath xmlns:m="http://schemas.openxmlformats.org/officeDocument/2006/math">
                    <m:r>
                      <a:rPr lang="vi-VN" sz="1800" b="0">
                        <a:solidFill>
                          <a:srgbClr val="1E293B"/>
                        </a:solidFill>
                        <a:latin typeface="Cambria Math" panose="02040503050406030204" pitchFamily="18" charset="0"/>
                      </a:rPr>
                      <m:t>𝑀</m:t>
                    </m:r>
                    <m:r>
                      <a:rPr lang="vi-VN" sz="1800" b="0">
                        <a:solidFill>
                          <a:srgbClr val="1E293B"/>
                        </a:solidFill>
                        <a:latin typeface="Cambria Math" panose="02040503050406030204" pitchFamily="18" charset="0"/>
                      </a:rPr>
                      <m:t>(−4;3;3)</m:t>
                    </m:r>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𝑁</m:t>
                    </m:r>
                    <m:r>
                      <a:rPr lang="vi-VN" sz="1800" b="0">
                        <a:solidFill>
                          <a:srgbClr val="1E293B"/>
                        </a:solidFill>
                        <a:latin typeface="Cambria Math" panose="02040503050406030204" pitchFamily="18" charset="0"/>
                      </a:rPr>
                      <m:t>(4;−4;2)</m:t>
                    </m:r>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𝑃</m:t>
                    </m:r>
                    <m:r>
                      <a:rPr lang="vi-VN" sz="1800" b="0">
                        <a:solidFill>
                          <a:srgbClr val="1E293B"/>
                        </a:solidFill>
                        <a:latin typeface="Cambria Math" panose="02040503050406030204" pitchFamily="18" charset="0"/>
                      </a:rPr>
                      <m:t>(3;6;−1)</m:t>
                    </m:r>
                  </m:oMath>
                </a14:m>
                <a:r>
                  <a:rPr sz="1800">
                    <a:solidFill>
                      <a:srgbClr val="1E293B"/>
                    </a:solidFill>
                    <a:latin typeface="Calibri"/>
                  </a:rPr>
                  <a:t>. a) Tìm toạ độ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𝑀𝑁</m:t>
                        </m:r>
                      </m:e>
                    </m:acc>
                  </m:oMath>
                </a14:m>
                <a:r>
                  <a:rPr sz="1800">
                    <a:solidFill>
                      <a:srgbClr val="1E293B"/>
                    </a:solidFill>
                    <a:latin typeface="Calibri"/>
                  </a:rPr>
                  <a:t>,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𝑀𝑃</m:t>
                        </m:r>
                      </m:e>
                    </m:acc>
                  </m:oMath>
                </a14:m>
                <a:r>
                  <a:rPr sz="1800">
                    <a:solidFill>
                      <a:srgbClr val="1E293B"/>
                    </a:solidFill>
                    <a:latin typeface="Calibri"/>
                  </a:rPr>
                  <a:t>; chứng minh </a:t>
                </a:r>
                <a14:m>
                  <m:oMath xmlns:m="http://schemas.openxmlformats.org/officeDocument/2006/math">
                    <m:r>
                      <a:rPr lang="vi-VN" sz="1800" b="0">
                        <a:solidFill>
                          <a:srgbClr val="1E293B"/>
                        </a:solidFill>
                        <a:latin typeface="Cambria Math" panose="02040503050406030204" pitchFamily="18" charset="0"/>
                      </a:rPr>
                      <m:t>𝑀</m:t>
                    </m:r>
                    <m: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𝑁</m:t>
                    </m:r>
                    <m: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𝑃</m:t>
                    </m:r>
                  </m:oMath>
                </a14:m>
                <a:r>
                  <a:rPr sz="1800">
                    <a:solidFill>
                      <a:srgbClr val="1E293B"/>
                    </a:solidFill>
                    <a:latin typeface="Calibri"/>
                  </a:rPr>
                  <a:t> không thẳng hàng. b) Tìm toạ độ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𝑁𝑀</m:t>
                        </m:r>
                      </m:e>
                    </m:acc>
                  </m:oMath>
                </a14:m>
                <a:r>
                  <a:rPr sz="1800">
                    <a:solidFill>
                      <a:srgbClr val="1E293B"/>
                    </a:solidFill>
                    <a:latin typeface="Calibri"/>
                  </a:rPr>
                  <a:t> +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𝑁𝑃</m:t>
                        </m:r>
                      </m:e>
                    </m:acc>
                  </m:oMath>
                </a14:m>
                <a:r>
                  <a:rPr sz="1800">
                    <a:solidFill>
                      <a:srgbClr val="1E293B"/>
                    </a:solidFill>
                    <a:latin typeface="Calibri"/>
                  </a:rPr>
                  <a:t>, suy ra toạ độ </a:t>
                </a:r>
                <a14:m>
                  <m:oMath xmlns:m="http://schemas.openxmlformats.org/officeDocument/2006/math">
                    <m:r>
                      <a:rPr lang="vi-VN" sz="1800" b="0">
                        <a:solidFill>
                          <a:srgbClr val="1E293B"/>
                        </a:solidFill>
                        <a:latin typeface="Cambria Math" panose="02040503050406030204" pitchFamily="18" charset="0"/>
                      </a:rPr>
                      <m:t>𝑄</m:t>
                    </m:r>
                  </m:oMath>
                </a14:m>
                <a:r>
                  <a:rPr sz="1800">
                    <a:solidFill>
                      <a:srgbClr val="1E293B"/>
                    </a:solidFill>
                    <a:latin typeface="Calibri"/>
                  </a:rPr>
                  <a:t> để </a:t>
                </a:r>
                <a14:m>
                  <m:oMath xmlns:m="http://schemas.openxmlformats.org/officeDocument/2006/math">
                    <m:r>
                      <a:rPr lang="vi-VN" sz="1800" b="0">
                        <a:solidFill>
                          <a:srgbClr val="1E293B"/>
                        </a:solidFill>
                        <a:latin typeface="Cambria Math" panose="02040503050406030204" pitchFamily="18" charset="0"/>
                      </a:rPr>
                      <m:t>𝑀𝑁𝑃𝑄</m:t>
                    </m:r>
                  </m:oMath>
                </a14:m>
                <a:r>
                  <a:rPr sz="1800">
                    <a:solidFill>
                      <a:srgbClr val="1E293B"/>
                    </a:solidFill>
                    <a:latin typeface="Calibri"/>
                  </a:rPr>
                  <a:t> là hình bình hành. c) Tính chu vi hình bình hành </a:t>
                </a:r>
                <a14:m>
                  <m:oMath xmlns:m="http://schemas.openxmlformats.org/officeDocument/2006/math">
                    <m:r>
                      <a:rPr lang="vi-VN" sz="1800" b="0">
                        <a:solidFill>
                          <a:srgbClr val="1E293B"/>
                        </a:solidFill>
                        <a:latin typeface="Cambria Math" panose="02040503050406030204" pitchFamily="18" charset="0"/>
                      </a:rPr>
                      <m:t>𝑀𝑁𝑃𝑄</m:t>
                    </m:r>
                  </m:oMath>
                </a14:m>
                <a:r>
                  <a:rPr sz="1800">
                    <a:solidFill>
                      <a:srgbClr val="1E293B"/>
                    </a:solidFill>
                    <a:latin typeface="Calibri"/>
                  </a:rPr>
                  <a:t>.</a:t>
                </a:r>
              </a:p>
            </p:txBody>
          </p:sp>
        </mc:Choice>
        <mc:Fallback xmlns="">
          <p:sp>
            <p:nvSpPr>
              <p:cNvPr id="10" name="TextBox 9"/>
              <p:cNvSpPr txBox="1"/>
              <p:nvPr/>
            </p:nvSpPr>
            <p:spPr>
              <a:xfrm>
                <a:off x="548640" y="2724911"/>
                <a:ext cx="11064240" cy="996696"/>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2.21.</a:t>
                </a:r>
                <a:r>
                  <a:rPr sz="1800">
                    <a:solidFill>
                      <a:srgbClr val="1E293B"/>
                    </a:solidFill>
                    <a:latin typeface="Calibri"/>
                  </a:rPr>
                  <a:t> Cho </a:t>
                </a:r>
                <a:r>
                  <a:rPr lang="vi-VN"/>
                  <a:t>M(-4;3;3)</a:t>
                </a:r>
                <a:r>
                  <a:rPr sz="1800">
                    <a:solidFill>
                      <a:srgbClr val="1E293B"/>
                    </a:solidFill>
                    <a:latin typeface="Calibri"/>
                  </a:rPr>
                  <a:t>, </a:t>
                </a:r>
                <a:r>
                  <a:rPr lang="vi-VN"/>
                  <a:t>N(4;-4;2)</a:t>
                </a:r>
                <a:r>
                  <a:rPr sz="1800">
                    <a:solidFill>
                      <a:srgbClr val="1E293B"/>
                    </a:solidFill>
                    <a:latin typeface="Calibri"/>
                  </a:rPr>
                  <a:t>, </a:t>
                </a:r>
                <a:r>
                  <a:rPr lang="vi-VN"/>
                  <a:t>P(3;6;-1)</a:t>
                </a:r>
                <a:r>
                  <a:rPr sz="1800">
                    <a:solidFill>
                      <a:srgbClr val="1E293B"/>
                    </a:solidFill>
                    <a:latin typeface="Calibri"/>
                  </a:rPr>
                  <a:t>. a) Tìm toạ độ </a:t>
                </a:r>
                <a:r>
                  <a:rPr lang="vi-VN"/>
                  <a:t>\overrightarrow{MN}</a:t>
                </a:r>
                <a:r>
                  <a:rPr sz="1800">
                    <a:solidFill>
                      <a:srgbClr val="1E293B"/>
                    </a:solidFill>
                    <a:latin typeface="Calibri"/>
                  </a:rPr>
                  <a:t>, </a:t>
                </a:r>
                <a:r>
                  <a:rPr lang="vi-VN"/>
                  <a:t>\overrightarrow{MP}</a:t>
                </a:r>
                <a:r>
                  <a:rPr sz="1800">
                    <a:solidFill>
                      <a:srgbClr val="1E293B"/>
                    </a:solidFill>
                    <a:latin typeface="Calibri"/>
                  </a:rPr>
                  <a:t>; chứng minh </a:t>
                </a:r>
                <a:r>
                  <a:rPr lang="vi-VN"/>
                  <a:t>M,\ N,\ P</a:t>
                </a:r>
                <a:r>
                  <a:rPr sz="1800">
                    <a:solidFill>
                      <a:srgbClr val="1E293B"/>
                    </a:solidFill>
                    <a:latin typeface="Calibri"/>
                  </a:rPr>
                  <a:t> không thẳng hàng. b) Tìm toạ độ </a:t>
                </a:r>
                <a:r>
                  <a:rPr lang="vi-VN"/>
                  <a:t>\overrightarrow{NM}</a:t>
                </a:r>
                <a:r>
                  <a:rPr sz="1800">
                    <a:solidFill>
                      <a:srgbClr val="1E293B"/>
                    </a:solidFill>
                    <a:latin typeface="Calibri"/>
                  </a:rPr>
                  <a:t> + </a:t>
                </a:r>
                <a:r>
                  <a:rPr lang="vi-VN"/>
                  <a:t>\overrightarrow{NP}</a:t>
                </a:r>
                <a:r>
                  <a:rPr sz="1800">
                    <a:solidFill>
                      <a:srgbClr val="1E293B"/>
                    </a:solidFill>
                    <a:latin typeface="Calibri"/>
                  </a:rPr>
                  <a:t>, suy ra toạ độ </a:t>
                </a:r>
                <a:r>
                  <a:rPr lang="vi-VN"/>
                  <a:t>Q</a:t>
                </a:r>
                <a:r>
                  <a:rPr sz="1800">
                    <a:solidFill>
                      <a:srgbClr val="1E293B"/>
                    </a:solidFill>
                    <a:latin typeface="Calibri"/>
                  </a:rPr>
                  <a:t> để </a:t>
                </a:r>
                <a:r>
                  <a:rPr lang="vi-VN"/>
                  <a:t>MNPQ</a:t>
                </a:r>
                <a:r>
                  <a:rPr sz="1800">
                    <a:solidFill>
                      <a:srgbClr val="1E293B"/>
                    </a:solidFill>
                    <a:latin typeface="Calibri"/>
                  </a:rPr>
                  <a:t> là hình bình hành. c) Tính chu vi hình bình hành </a:t>
                </a:r>
                <a:r>
                  <a:rPr lang="vi-VN"/>
                  <a:t>MNPQ</a:t>
                </a:r>
                <a:r>
                  <a:rPr sz="1800">
                    <a:solidFill>
                      <a:srgbClr val="1E293B"/>
                    </a:solidFill>
                    <a:latin typeface="Calibri"/>
                  </a:rPr>
                  <a:t>.</a:t>
                </a:r>
              </a:p>
            </p:txBody>
          </p:sp>
        </mc:Fallback>
      </mc:AlternateContent>
      <p:sp>
        <p:nvSpPr>
          <p:cNvPr id="11" name="s3_nen"/>
          <p:cNvSpPr/>
          <p:nvPr/>
        </p:nvSpPr>
        <p:spPr>
          <a:xfrm>
            <a:off x="548640" y="3767327"/>
            <a:ext cx="11064240" cy="8138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s3_chu"/>
              <p:cNvSpPr txBox="1"/>
              <p:nvPr/>
            </p:nvSpPr>
            <p:spPr>
              <a:xfrm>
                <a:off x="713232" y="3803903"/>
                <a:ext cx="10735056" cy="740664"/>
              </a:xfrm>
              <a:prstGeom prst="rect">
                <a:avLst/>
              </a:prstGeom>
              <a:noFill/>
            </p:spPr>
            <p:txBody>
              <a:bodyPr wrap="square" lIns="45720" rIns="45720" anchor="ctr">
                <a:spAutoFit/>
              </a:bodyPr>
              <a:lstStyle/>
              <a:p>
                <a:pPr algn="l">
                  <a:spcAft>
                    <a:spcPts val="800"/>
                  </a:spcAft>
                </a:pPr>
                <a:r>
                  <a:rPr sz="1800" b="1">
                    <a:solidFill>
                      <a:srgbClr val="1E293B"/>
                    </a:solidFill>
                    <a:latin typeface="Calibri"/>
                  </a:rPr>
                  <a:t>2.21.</a:t>
                </a:r>
                <a:r>
                  <a:rPr sz="1800">
                    <a:solidFill>
                      <a:srgbClr val="1E293B"/>
                    </a:solidFill>
                    <a:latin typeface="Calibri"/>
                  </a:rPr>
                  <a:t> a)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𝑀𝑁</m:t>
                        </m:r>
                      </m:e>
                    </m:acc>
                  </m:oMath>
                </a14:m>
                <a:r>
                  <a:rPr sz="1800">
                    <a:solidFill>
                      <a:srgbClr val="1E293B"/>
                    </a:solidFill>
                    <a:latin typeface="Calibri"/>
                  </a:rPr>
                  <a:t> = </a:t>
                </a:r>
                <a14:m>
                  <m:oMath xmlns:m="http://schemas.openxmlformats.org/officeDocument/2006/math">
                    <m:d>
                      <m:dPr>
                        <m:ctrlPr>
                          <a:rPr lang="vi-VN" sz="1800" b="0">
                            <a:solidFill>
                              <a:srgbClr val="1E293B"/>
                            </a:solidFill>
                            <a:latin typeface="Cambria Math" panose="02040503050406030204" pitchFamily="18" charset="0"/>
                          </a:rPr>
                        </m:ctrlPr>
                      </m:dPr>
                      <m:e>
                        <m:r>
                          <a:rPr lang="vi-VN" sz="1800" b="0">
                            <a:solidFill>
                              <a:srgbClr val="1E293B"/>
                            </a:solidFill>
                            <a:latin typeface="Cambria Math" panose="02040503050406030204" pitchFamily="18" charset="0"/>
                          </a:rPr>
                          <m:t>8;−7;−1</m:t>
                        </m:r>
                      </m:e>
                    </m:d>
                  </m:oMath>
                </a14:m>
                <a:r>
                  <a:rPr sz="1800">
                    <a:solidFill>
                      <a:srgbClr val="1E293B"/>
                    </a:solidFill>
                    <a:latin typeface="Calibri"/>
                  </a:rPr>
                  <a:t>,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𝑀𝑃</m:t>
                        </m:r>
                      </m:e>
                    </m:acc>
                  </m:oMath>
                </a14:m>
                <a:r>
                  <a:rPr sz="1800">
                    <a:solidFill>
                      <a:srgbClr val="1E293B"/>
                    </a:solidFill>
                    <a:latin typeface="Calibri"/>
                  </a:rPr>
                  <a:t> = </a:t>
                </a:r>
                <a14:m>
                  <m:oMath xmlns:m="http://schemas.openxmlformats.org/officeDocument/2006/math">
                    <m:d>
                      <m:dPr>
                        <m:ctrlPr>
                          <a:rPr lang="vi-VN" sz="1800" b="0">
                            <a:solidFill>
                              <a:srgbClr val="1E293B"/>
                            </a:solidFill>
                            <a:latin typeface="Cambria Math" panose="02040503050406030204" pitchFamily="18" charset="0"/>
                          </a:rPr>
                        </m:ctrlPr>
                      </m:dPr>
                      <m:e>
                        <m:r>
                          <a:rPr lang="vi-VN" sz="1800" b="0">
                            <a:solidFill>
                              <a:srgbClr val="1E293B"/>
                            </a:solidFill>
                            <a:latin typeface="Cambria Math" panose="02040503050406030204" pitchFamily="18" charset="0"/>
                          </a:rPr>
                          <m:t>7;3;−4</m:t>
                        </m:r>
                      </m:e>
                    </m:d>
                  </m:oMath>
                </a14:m>
                <a:r>
                  <a:rPr sz="1800">
                    <a:solidFill>
                      <a:srgbClr val="1E293B"/>
                    </a:solidFill>
                    <a:latin typeface="Calibri"/>
                  </a:rPr>
                  <a:t> không cùng phương. b)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𝑁𝑀</m:t>
                        </m:r>
                      </m:e>
                    </m:acc>
                  </m:oMath>
                </a14:m>
                <a:r>
                  <a:rPr sz="1800">
                    <a:solidFill>
                      <a:srgbClr val="1E293B"/>
                    </a:solidFill>
                    <a:latin typeface="Calibri"/>
                  </a:rPr>
                  <a:t> +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𝑁𝑃</m:t>
                        </m:r>
                      </m:e>
                    </m:acc>
                  </m:oMath>
                </a14:m>
                <a:r>
                  <a:rPr sz="1800">
                    <a:solidFill>
                      <a:srgbClr val="1E293B"/>
                    </a:solidFill>
                    <a:latin typeface="Calibri"/>
                  </a:rPr>
                  <a:t> = </a:t>
                </a:r>
                <a14:m>
                  <m:oMath xmlns:m="http://schemas.openxmlformats.org/officeDocument/2006/math">
                    <m:d>
                      <m:dPr>
                        <m:ctrlPr>
                          <a:rPr lang="vi-VN" sz="1800" b="0">
                            <a:solidFill>
                              <a:srgbClr val="1E293B"/>
                            </a:solidFill>
                            <a:latin typeface="Cambria Math" panose="02040503050406030204" pitchFamily="18" charset="0"/>
                          </a:rPr>
                        </m:ctrlPr>
                      </m:dPr>
                      <m:e>
                        <m:r>
                          <a:rPr lang="vi-VN" sz="1800" b="0">
                            <a:solidFill>
                              <a:srgbClr val="1E293B"/>
                            </a:solidFill>
                            <a:latin typeface="Cambria Math" panose="02040503050406030204" pitchFamily="18" charset="0"/>
                          </a:rPr>
                          <m:t>−9;17;−2</m:t>
                        </m:r>
                      </m:e>
                    </m:d>
                  </m:oMath>
                </a14:m>
                <a:r>
                  <a:rPr sz="1800">
                    <a:solidFill>
                      <a:srgbClr val="1E293B"/>
                    </a:solidFill>
                    <a:latin typeface="Calibri"/>
                  </a:rPr>
                  <a:t> =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𝑁𝑄</m:t>
                        </m:r>
                      </m:e>
                    </m:acc>
                  </m:oMath>
                </a14:m>
                <a:r>
                  <a:rPr sz="1800">
                    <a:solidFill>
                      <a:srgbClr val="1E293B"/>
                    </a:solidFill>
                    <a:latin typeface="Calibri"/>
                  </a:rPr>
                  <a:t> ⇒ </a:t>
                </a:r>
                <a14:m>
                  <m:oMath xmlns:m="http://schemas.openxmlformats.org/officeDocument/2006/math">
                    <m:r>
                      <a:rPr lang="vi-VN" sz="1800" b="0">
                        <a:solidFill>
                          <a:srgbClr val="1E293B"/>
                        </a:solidFill>
                        <a:latin typeface="Cambria Math" panose="02040503050406030204" pitchFamily="18" charset="0"/>
                      </a:rPr>
                      <m:t>𝑄</m:t>
                    </m:r>
                    <m:r>
                      <a:rPr lang="vi-VN" sz="1800" b="0">
                        <a:solidFill>
                          <a:srgbClr val="1E293B"/>
                        </a:solidFill>
                        <a:latin typeface="Cambria Math" panose="02040503050406030204" pitchFamily="18" charset="0"/>
                      </a:rPr>
                      <m:t>(−5;13;0)</m:t>
                    </m:r>
                  </m:oMath>
                </a14:m>
                <a:r>
                  <a:rPr sz="1800">
                    <a:solidFill>
                      <a:srgbClr val="1E293B"/>
                    </a:solidFill>
                    <a:latin typeface="Calibri"/>
                  </a:rPr>
                  <a:t>. c) </a:t>
                </a:r>
                <a14:m>
                  <m:oMath xmlns:m="http://schemas.openxmlformats.org/officeDocument/2006/math">
                    <m:r>
                      <a:rPr lang="vi-VN" sz="1800" b="0">
                        <a:solidFill>
                          <a:srgbClr val="1E293B"/>
                        </a:solidFill>
                        <a:latin typeface="Cambria Math" panose="02040503050406030204" pitchFamily="18" charset="0"/>
                      </a:rPr>
                      <m:t>2(</m:t>
                    </m:r>
                    <m:r>
                      <a:rPr lang="vi-VN" sz="1800" b="0">
                        <a:solidFill>
                          <a:srgbClr val="1E293B"/>
                        </a:solidFill>
                        <a:latin typeface="Cambria Math" panose="02040503050406030204" pitchFamily="18" charset="0"/>
                      </a:rPr>
                      <m:t>𝑀𝑁</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𝑁𝑃</m:t>
                    </m:r>
                    <m:r>
                      <a:rPr lang="vi-VN" sz="1800" b="0">
                        <a:solidFill>
                          <a:srgbClr val="1E293B"/>
                        </a:solidFill>
                        <a:latin typeface="Cambria Math" panose="02040503050406030204" pitchFamily="18" charset="0"/>
                      </a:rPr>
                      <m:t>)=2(</m:t>
                    </m:r>
                    <m:rad>
                      <m:radPr>
                        <m:degHide m:val="on"/>
                        <m:ctrlPr>
                          <a:rPr lang="vi-VN" sz="1800" b="0" i="1">
                            <a:solidFill>
                              <a:srgbClr val="1E293B"/>
                            </a:solidFill>
                            <a:latin typeface="Cambria Math" panose="02040503050406030204" pitchFamily="18" charset="0"/>
                          </a:rPr>
                        </m:ctrlPr>
                      </m:radPr>
                      <m:deg/>
                      <m:e>
                        <m:r>
                          <a:rPr lang="vi-VN" sz="1800" b="0">
                            <a:solidFill>
                              <a:srgbClr val="1E293B"/>
                            </a:solidFill>
                            <a:latin typeface="Cambria Math" panose="02040503050406030204" pitchFamily="18" charset="0"/>
                          </a:rPr>
                          <m:t>114</m:t>
                        </m:r>
                      </m:e>
                    </m:rad>
                    <m:r>
                      <a:rPr lang="vi-VN" sz="1800" b="0">
                        <a:solidFill>
                          <a:srgbClr val="1E293B"/>
                        </a:solidFill>
                        <a:latin typeface="Cambria Math" panose="02040503050406030204" pitchFamily="18" charset="0"/>
                      </a:rPr>
                      <m:t>+</m:t>
                    </m:r>
                    <m:rad>
                      <m:radPr>
                        <m:degHide m:val="on"/>
                        <m:ctrlPr>
                          <a:rPr lang="vi-VN" sz="1800" b="0" i="1">
                            <a:solidFill>
                              <a:srgbClr val="1E293B"/>
                            </a:solidFill>
                            <a:latin typeface="Cambria Math" panose="02040503050406030204" pitchFamily="18" charset="0"/>
                          </a:rPr>
                        </m:ctrlPr>
                      </m:radPr>
                      <m:deg/>
                      <m:e>
                        <m:r>
                          <a:rPr lang="vi-VN" sz="1800" b="0">
                            <a:solidFill>
                              <a:srgbClr val="1E293B"/>
                            </a:solidFill>
                            <a:latin typeface="Cambria Math" panose="02040503050406030204" pitchFamily="18" charset="0"/>
                          </a:rPr>
                          <m:t>110</m:t>
                        </m:r>
                      </m:e>
                    </m:rad>
                    <m:r>
                      <a:rPr lang="vi-VN" sz="1800" b="0">
                        <a:solidFill>
                          <a:srgbClr val="1E293B"/>
                        </a:solidFill>
                        <a:latin typeface="Cambria Math" panose="02040503050406030204" pitchFamily="18" charset="0"/>
                      </a:rPr>
                      <m:t>)≈42,33</m:t>
                    </m:r>
                  </m:oMath>
                </a14:m>
                <a:r>
                  <a:rPr sz="1800">
                    <a:solidFill>
                      <a:srgbClr val="1E293B"/>
                    </a:solidFill>
                    <a:latin typeface="Calibri"/>
                  </a:rPr>
                  <a:t>.</a:t>
                </a:r>
              </a:p>
            </p:txBody>
          </p:sp>
        </mc:Choice>
        <mc:Fallback xmlns="">
          <p:sp>
            <p:nvSpPr>
              <p:cNvPr id="12" name="TextBox 11"/>
              <p:cNvSpPr txBox="1"/>
              <p:nvPr/>
            </p:nvSpPr>
            <p:spPr>
              <a:xfrm>
                <a:off x="713232" y="3803903"/>
                <a:ext cx="10735056" cy="740664"/>
              </a:xfrm>
              <a:prstGeom prst="rect">
                <a:avLst/>
              </a:prstGeom>
              <a:noFill/>
            </p:spPr>
            <p:txBody>
              <a:bodyPr wrap="square" anchor="ctr" lIns="45720" rIns="45720">
                <a:spAutoFit/>
              </a:bodyPr>
              <a:lstStyle/>
              <a:p>
                <a:pPr algn="l">
                  <a:spcAft>
                    <a:spcPts val="800"/>
                  </a:spcAft>
                </a:pPr>
                <a:r>
                  <a:rPr sz="1800" b="1">
                    <a:solidFill>
                      <a:srgbClr val="1E293B"/>
                    </a:solidFill>
                    <a:latin typeface="Calibri"/>
                  </a:rPr>
                  <a:t>2.21.</a:t>
                </a:r>
                <a:r>
                  <a:rPr sz="1800">
                    <a:solidFill>
                      <a:srgbClr val="1E293B"/>
                    </a:solidFill>
                    <a:latin typeface="Calibri"/>
                  </a:rPr>
                  <a:t> a) </a:t>
                </a:r>
                <a:r>
                  <a:rPr lang="vi-VN"/>
                  <a:t>\overrightarrow{MN}</a:t>
                </a:r>
                <a:r>
                  <a:rPr sz="1800">
                    <a:solidFill>
                      <a:srgbClr val="1E293B"/>
                    </a:solidFill>
                    <a:latin typeface="Calibri"/>
                  </a:rPr>
                  <a:t> = </a:t>
                </a:r>
                <a:r>
                  <a:rPr lang="vi-VN"/>
                  <a:t>(8;-7;-1)</a:t>
                </a:r>
                <a:r>
                  <a:rPr sz="1800">
                    <a:solidFill>
                      <a:srgbClr val="1E293B"/>
                    </a:solidFill>
                    <a:latin typeface="Calibri"/>
                  </a:rPr>
                  <a:t>, </a:t>
                </a:r>
                <a:r>
                  <a:rPr lang="vi-VN"/>
                  <a:t>\overrightarrow{MP}</a:t>
                </a:r>
                <a:r>
                  <a:rPr sz="1800">
                    <a:solidFill>
                      <a:srgbClr val="1E293B"/>
                    </a:solidFill>
                    <a:latin typeface="Calibri"/>
                  </a:rPr>
                  <a:t> = </a:t>
                </a:r>
                <a:r>
                  <a:rPr lang="vi-VN"/>
                  <a:t>(7;3;-4)</a:t>
                </a:r>
                <a:r>
                  <a:rPr sz="1800">
                    <a:solidFill>
                      <a:srgbClr val="1E293B"/>
                    </a:solidFill>
                    <a:latin typeface="Calibri"/>
                  </a:rPr>
                  <a:t> không cùng phương. b) </a:t>
                </a:r>
                <a:r>
                  <a:rPr lang="vi-VN"/>
                  <a:t>\overrightarrow{NM}</a:t>
                </a:r>
                <a:r>
                  <a:rPr sz="1800">
                    <a:solidFill>
                      <a:srgbClr val="1E293B"/>
                    </a:solidFill>
                    <a:latin typeface="Calibri"/>
                  </a:rPr>
                  <a:t> + </a:t>
                </a:r>
                <a:r>
                  <a:rPr lang="vi-VN"/>
                  <a:t>\overrightarrow{NP}</a:t>
                </a:r>
                <a:r>
                  <a:rPr sz="1800">
                    <a:solidFill>
                      <a:srgbClr val="1E293B"/>
                    </a:solidFill>
                    <a:latin typeface="Calibri"/>
                  </a:rPr>
                  <a:t> = </a:t>
                </a:r>
                <a:r>
                  <a:rPr lang="vi-VN"/>
                  <a:t>(-9;17;-2)</a:t>
                </a:r>
                <a:r>
                  <a:rPr sz="1800">
                    <a:solidFill>
                      <a:srgbClr val="1E293B"/>
                    </a:solidFill>
                    <a:latin typeface="Calibri"/>
                  </a:rPr>
                  <a:t> = </a:t>
                </a:r>
                <a:r>
                  <a:rPr lang="vi-VN"/>
                  <a:t>\overrightarrow{NQ}</a:t>
                </a:r>
                <a:r>
                  <a:rPr sz="1800">
                    <a:solidFill>
                      <a:srgbClr val="1E293B"/>
                    </a:solidFill>
                    <a:latin typeface="Calibri"/>
                  </a:rPr>
                  <a:t> ⇒ </a:t>
                </a:r>
                <a:r>
                  <a:rPr lang="vi-VN"/>
                  <a:t>Q(-5;13;0)</a:t>
                </a:r>
                <a:r>
                  <a:rPr sz="1800">
                    <a:solidFill>
                      <a:srgbClr val="1E293B"/>
                    </a:solidFill>
                    <a:latin typeface="Calibri"/>
                  </a:rPr>
                  <a:t>. c) </a:t>
                </a:r>
                <a:r>
                  <a:rPr lang="vi-VN"/>
                  <a:t>2(MN+NP)=2(\sqrt{114}+\sqrt{110})\approx 42{,}33</a:t>
                </a:r>
                <a:r>
                  <a:rPr sz="18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2.22 – 2.23 – 2.24 (SGK TR.72)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32</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8595360" cy="722375"/>
              </a:xfrm>
              <a:prstGeom prst="rect">
                <a:avLst/>
              </a:prstGeom>
              <a:noFill/>
            </p:spPr>
            <p:txBody>
              <a:bodyPr wrap="square" lIns="45720" rIns="45720" anchor="t">
                <a:spAutoFit/>
              </a:bodyPr>
              <a:lstStyle/>
              <a:p>
                <a:pPr algn="l">
                  <a:spcAft>
                    <a:spcPts val="800"/>
                  </a:spcAft>
                </a:pPr>
                <a:r>
                  <a:rPr sz="1800" b="1">
                    <a:solidFill>
                      <a:srgbClr val="1E293B"/>
                    </a:solidFill>
                    <a:latin typeface="Calibri"/>
                  </a:rPr>
                  <a:t>2.22.</a:t>
                </a:r>
                <a:r>
                  <a:rPr sz="1800">
                    <a:solidFill>
                      <a:srgbClr val="1E293B"/>
                    </a:solidFill>
                    <a:latin typeface="Calibri"/>
                  </a:rPr>
                  <a:t> Tam giác </a:t>
                </a:r>
                <a14:m>
                  <m:oMath xmlns:m="http://schemas.openxmlformats.org/officeDocument/2006/math">
                    <m:r>
                      <a:rPr lang="vi-VN" sz="1800" b="0">
                        <a:solidFill>
                          <a:srgbClr val="1E293B"/>
                        </a:solidFill>
                        <a:latin typeface="Cambria Math" panose="02040503050406030204" pitchFamily="18" charset="0"/>
                      </a:rPr>
                      <m:t>𝐴𝐵𝐶</m:t>
                    </m:r>
                  </m:oMath>
                </a14:m>
                <a:r>
                  <a:rPr sz="1800">
                    <a:solidFill>
                      <a:srgbClr val="1E293B"/>
                    </a:solidFill>
                    <a:latin typeface="Calibri"/>
                  </a:rPr>
                  <a:t> có </a:t>
                </a:r>
                <a14:m>
                  <m:oMath xmlns:m="http://schemas.openxmlformats.org/officeDocument/2006/math">
                    <m:r>
                      <a:rPr lang="vi-VN" sz="1800" b="0">
                        <a:solidFill>
                          <a:srgbClr val="1E293B"/>
                        </a:solidFill>
                        <a:latin typeface="Cambria Math" panose="02040503050406030204" pitchFamily="18" charset="0"/>
                      </a:rPr>
                      <m:t>𝐴</m:t>
                    </m:r>
                    <m:r>
                      <a:rPr lang="vi-VN" sz="1800" b="0">
                        <a:solidFill>
                          <a:srgbClr val="1E293B"/>
                        </a:solidFill>
                        <a:latin typeface="Cambria Math" panose="02040503050406030204" pitchFamily="18" charset="0"/>
                      </a:rPr>
                      <m:t>(1;0;1)</m:t>
                    </m:r>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𝐵</m:t>
                    </m:r>
                    <m:r>
                      <a:rPr lang="vi-VN" sz="1800" b="0">
                        <a:solidFill>
                          <a:srgbClr val="1E293B"/>
                        </a:solidFill>
                        <a:latin typeface="Cambria Math" panose="02040503050406030204" pitchFamily="18" charset="0"/>
                      </a:rPr>
                      <m:t>(0;−3;1)</m:t>
                    </m:r>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𝐶</m:t>
                    </m:r>
                    <m:r>
                      <a:rPr lang="vi-VN" sz="1800" b="0">
                        <a:solidFill>
                          <a:srgbClr val="1E293B"/>
                        </a:solidFill>
                        <a:latin typeface="Cambria Math" panose="02040503050406030204" pitchFamily="18" charset="0"/>
                      </a:rPr>
                      <m:t>(4;−1;4)</m:t>
                    </m:r>
                  </m:oMath>
                </a14:m>
                <a:r>
                  <a:rPr sz="1800">
                    <a:solidFill>
                      <a:srgbClr val="1E293B"/>
                    </a:solidFill>
                    <a:latin typeface="Calibri"/>
                  </a:rPr>
                  <a:t>. a) Tìm toạ độ trọng tâm. b) Chứng minh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𝐵𝐴𝐶</m:t>
                        </m:r>
                      </m:e>
                    </m:acc>
                    <m:r>
                      <a:rPr lang="vi-VN" sz="1800" b="0">
                        <a:solidFill>
                          <a:srgbClr val="1E293B"/>
                        </a:solidFill>
                        <a:latin typeface="Cambria Math" panose="02040503050406030204" pitchFamily="18" charset="0"/>
                      </a:rPr>
                      <m:t>=</m:t>
                    </m:r>
                    <m:sSup>
                      <m:sSupPr>
                        <m:ctrlPr>
                          <a:rPr lang="vi-VN" sz="1800" b="0">
                            <a:solidFill>
                              <a:srgbClr val="1E293B"/>
                            </a:solidFill>
                            <a:latin typeface="Cambria Math" panose="02040503050406030204" pitchFamily="18" charset="0"/>
                          </a:rPr>
                        </m:ctrlPr>
                      </m:sSupPr>
                      <m:e>
                        <m:r>
                          <a:rPr lang="vi-VN" sz="1800" b="0">
                            <a:solidFill>
                              <a:srgbClr val="1E293B"/>
                            </a:solidFill>
                            <a:latin typeface="Cambria Math" panose="02040503050406030204" pitchFamily="18" charset="0"/>
                          </a:rPr>
                          <m:t>90</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c) Tính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𝐴𝐵𝐶</m:t>
                        </m:r>
                      </m:e>
                    </m:acc>
                  </m:oMath>
                </a14:m>
                <a:r>
                  <a:rPr sz="1800">
                    <a:solidFill>
                      <a:srgbClr val="1E293B"/>
                    </a:solidFill>
                    <a:latin typeface="Calibri"/>
                  </a:rPr>
                  <a:t>.</a:t>
                </a:r>
              </a:p>
            </p:txBody>
          </p:sp>
        </mc:Choice>
        <mc:Fallback xmlns="">
          <p:sp>
            <p:nvSpPr>
              <p:cNvPr id="7" name="TextBox 6"/>
              <p:cNvSpPr txBox="1"/>
              <p:nvPr/>
            </p:nvSpPr>
            <p:spPr>
              <a:xfrm>
                <a:off x="548640" y="1371600"/>
                <a:ext cx="8595360" cy="722375"/>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2.22.</a:t>
                </a:r>
                <a:r>
                  <a:rPr sz="1800">
                    <a:solidFill>
                      <a:srgbClr val="1E293B"/>
                    </a:solidFill>
                    <a:latin typeface="Calibri"/>
                  </a:rPr>
                  <a:t> Tam giác </a:t>
                </a:r>
                <a:r>
                  <a:rPr lang="vi-VN"/>
                  <a:t>ABC</a:t>
                </a:r>
                <a:r>
                  <a:rPr sz="1800">
                    <a:solidFill>
                      <a:srgbClr val="1E293B"/>
                    </a:solidFill>
                    <a:latin typeface="Calibri"/>
                  </a:rPr>
                  <a:t> có </a:t>
                </a:r>
                <a:r>
                  <a:rPr lang="vi-VN"/>
                  <a:t>A(1;0;1)</a:t>
                </a:r>
                <a:r>
                  <a:rPr sz="1800">
                    <a:solidFill>
                      <a:srgbClr val="1E293B"/>
                    </a:solidFill>
                    <a:latin typeface="Calibri"/>
                  </a:rPr>
                  <a:t>, </a:t>
                </a:r>
                <a:r>
                  <a:rPr lang="vi-VN"/>
                  <a:t>B(0;-3;1)</a:t>
                </a:r>
                <a:r>
                  <a:rPr sz="1800">
                    <a:solidFill>
                      <a:srgbClr val="1E293B"/>
                    </a:solidFill>
                    <a:latin typeface="Calibri"/>
                  </a:rPr>
                  <a:t>, </a:t>
                </a:r>
                <a:r>
                  <a:rPr lang="vi-VN"/>
                  <a:t>C(4;-1;4)</a:t>
                </a:r>
                <a:r>
                  <a:rPr sz="1800">
                    <a:solidFill>
                      <a:srgbClr val="1E293B"/>
                    </a:solidFill>
                    <a:latin typeface="Calibri"/>
                  </a:rPr>
                  <a:t>. a) Tìm toạ độ trọng tâm. b) Chứng minh </a:t>
                </a:r>
                <a:r>
                  <a:rPr lang="vi-VN"/>
                  <a:t>\widehat{BAC}=90^\circ</a:t>
                </a:r>
                <a:r>
                  <a:rPr sz="1800">
                    <a:solidFill>
                      <a:srgbClr val="1E293B"/>
                    </a:solidFill>
                    <a:latin typeface="Calibri"/>
                  </a:rPr>
                  <a:t>. c) Tính </a:t>
                </a:r>
                <a:r>
                  <a:rPr lang="vi-VN"/>
                  <a:t>\widehat{ABC}</a:t>
                </a:r>
                <a:r>
                  <a:rPr sz="1800">
                    <a:solidFill>
                      <a:srgbClr val="1E293B"/>
                    </a:solidFill>
                    <a:latin typeface="Calibri"/>
                  </a:rPr>
                  <a:t>.</a:t>
                </a:r>
              </a:p>
            </p:txBody>
          </p:sp>
        </mc:Fallback>
      </mc:AlternateContent>
      <p:sp>
        <p:nvSpPr>
          <p:cNvPr id="8" name="s1_nen"/>
          <p:cNvSpPr/>
          <p:nvPr/>
        </p:nvSpPr>
        <p:spPr>
          <a:xfrm>
            <a:off x="548640" y="2139696"/>
            <a:ext cx="8595360" cy="118414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1_chu"/>
              <p:cNvSpPr txBox="1"/>
              <p:nvPr/>
            </p:nvSpPr>
            <p:spPr>
              <a:xfrm>
                <a:off x="713232" y="2176272"/>
                <a:ext cx="8266176" cy="1110996"/>
              </a:xfrm>
              <a:prstGeom prst="rect">
                <a:avLst/>
              </a:prstGeom>
              <a:noFill/>
            </p:spPr>
            <p:txBody>
              <a:bodyPr wrap="square" lIns="45720" rIns="45720" anchor="ctr">
                <a:spAutoFit/>
              </a:bodyPr>
              <a:lstStyle/>
              <a:p>
                <a:pPr algn="l">
                  <a:spcAft>
                    <a:spcPts val="800"/>
                  </a:spcAft>
                </a:pPr>
                <a:r>
                  <a:rPr sz="1800" b="1">
                    <a:solidFill>
                      <a:srgbClr val="1E293B"/>
                    </a:solidFill>
                    <a:latin typeface="Calibri"/>
                  </a:rPr>
                  <a:t>2.22.</a:t>
                </a:r>
                <a:r>
                  <a:rPr sz="1800">
                    <a:solidFill>
                      <a:srgbClr val="1E293B"/>
                    </a:solidFill>
                    <a:latin typeface="Calibri"/>
                  </a:rPr>
                  <a:t> a) </a:t>
                </a:r>
                <a14:m>
                  <m:oMath xmlns:m="http://schemas.openxmlformats.org/officeDocument/2006/math">
                    <m:r>
                      <a:rPr lang="vi-VN" sz="1800" b="0">
                        <a:solidFill>
                          <a:srgbClr val="1E293B"/>
                        </a:solidFill>
                        <a:latin typeface="Cambria Math" panose="02040503050406030204" pitchFamily="18" charset="0"/>
                      </a:rPr>
                      <m:t>𝐺</m:t>
                    </m:r>
                    <m:d>
                      <m:dPr>
                        <m:ctrlPr>
                          <a:rPr lang="vi-VN" sz="1800" b="0" i="1">
                            <a:solidFill>
                              <a:srgbClr val="1E293B"/>
                            </a:solidFill>
                            <a:latin typeface="Cambria Math" panose="02040503050406030204" pitchFamily="18" charset="0"/>
                          </a:rPr>
                        </m:ctrlPr>
                      </m:dPr>
                      <m:e>
                        <m:f>
                          <m:fPr>
                            <m:ctrlPr>
                              <a:rPr lang="vi-VN" sz="1800" b="0">
                                <a:solidFill>
                                  <a:srgbClr val="1E293B"/>
                                </a:solidFill>
                                <a:latin typeface="Cambria Math" panose="02040503050406030204" pitchFamily="18" charset="0"/>
                              </a:rPr>
                            </m:ctrlPr>
                          </m:fPr>
                          <m:num>
                            <m:r>
                              <a:rPr lang="vi-VN" sz="1800" b="0">
                                <a:solidFill>
                                  <a:srgbClr val="1E293B"/>
                                </a:solidFill>
                                <a:latin typeface="Cambria Math" panose="02040503050406030204" pitchFamily="18" charset="0"/>
                              </a:rPr>
                              <m:t>5</m:t>
                            </m:r>
                          </m:num>
                          <m:den>
                            <m:r>
                              <a:rPr lang="vi-VN" sz="1800" b="0">
                                <a:solidFill>
                                  <a:srgbClr val="1E293B"/>
                                </a:solidFill>
                                <a:latin typeface="Cambria Math" panose="02040503050406030204" pitchFamily="18" charset="0"/>
                              </a:rPr>
                              <m:t>3</m:t>
                            </m:r>
                          </m:den>
                        </m:f>
                        <m:r>
                          <a:rPr lang="vi-VN" sz="1800" b="0">
                            <a:solidFill>
                              <a:srgbClr val="1E293B"/>
                            </a:solidFill>
                            <a:latin typeface="Cambria Math" panose="02040503050406030204" pitchFamily="18" charset="0"/>
                          </a:rPr>
                          <m:t>; −</m:t>
                        </m:r>
                        <m:f>
                          <m:fPr>
                            <m:ctrlPr>
                              <a:rPr lang="vi-VN" sz="1800" b="0">
                                <a:solidFill>
                                  <a:srgbClr val="1E293B"/>
                                </a:solidFill>
                                <a:latin typeface="Cambria Math" panose="02040503050406030204" pitchFamily="18" charset="0"/>
                              </a:rPr>
                            </m:ctrlPr>
                          </m:fPr>
                          <m:num>
                            <m:r>
                              <a:rPr lang="vi-VN" sz="1800" b="0">
                                <a:solidFill>
                                  <a:srgbClr val="1E293B"/>
                                </a:solidFill>
                                <a:latin typeface="Cambria Math" panose="02040503050406030204" pitchFamily="18" charset="0"/>
                              </a:rPr>
                              <m:t>4</m:t>
                            </m:r>
                          </m:num>
                          <m:den>
                            <m:r>
                              <a:rPr lang="vi-VN" sz="1800" b="0">
                                <a:solidFill>
                                  <a:srgbClr val="1E293B"/>
                                </a:solidFill>
                                <a:latin typeface="Cambria Math" panose="02040503050406030204" pitchFamily="18" charset="0"/>
                              </a:rPr>
                              <m:t>3</m:t>
                            </m:r>
                          </m:den>
                        </m:f>
                        <m:r>
                          <a:rPr lang="vi-VN" sz="1800" b="0">
                            <a:solidFill>
                              <a:srgbClr val="1E293B"/>
                            </a:solidFill>
                            <a:latin typeface="Cambria Math" panose="02040503050406030204" pitchFamily="18" charset="0"/>
                          </a:rPr>
                          <m:t>; 2</m:t>
                        </m:r>
                      </m:e>
                    </m:d>
                  </m:oMath>
                </a14:m>
                <a:r>
                  <a:rPr sz="1800">
                    <a:solidFill>
                      <a:srgbClr val="1E293B"/>
                    </a:solidFill>
                    <a:latin typeface="Calibri"/>
                  </a:rPr>
                  <a:t>. b)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𝐴𝐵</m:t>
                        </m:r>
                      </m:e>
                    </m:acc>
                  </m:oMath>
                </a14:m>
                <a:r>
                  <a:rPr sz="1800">
                    <a:solidFill>
                      <a:srgbClr val="1E293B"/>
                    </a:solidFill>
                    <a:latin typeface="Calibri"/>
                  </a:rPr>
                  <a:t> ·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𝐴𝐶</m:t>
                        </m:r>
                      </m:e>
                    </m:acc>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=(−1)·3+(−3)(−1)+0·3=0</m:t>
                    </m:r>
                  </m:oMath>
                </a14:m>
                <a:r>
                  <a:rPr sz="1800">
                    <a:solidFill>
                      <a:srgbClr val="1E293B"/>
                    </a:solidFill>
                    <a:latin typeface="Calibri"/>
                  </a:rPr>
                  <a:t>. c) </a:t>
                </a:r>
                <a14:m>
                  <m:oMath xmlns:m="http://schemas.openxmlformats.org/officeDocument/2006/math">
                    <m:r>
                      <m:rPr>
                        <m:sty m:val="p"/>
                      </m:rPr>
                      <a:rPr lang="vi-VN" sz="1800" b="0">
                        <a:solidFill>
                          <a:srgbClr val="1E293B"/>
                        </a:solidFill>
                        <a:latin typeface="Cambria Math" panose="02040503050406030204" pitchFamily="18" charset="0"/>
                      </a:rPr>
                      <m:t>cos</m:t>
                    </m:r>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𝐴𝐵𝐶</m:t>
                        </m:r>
                      </m:e>
                    </m:acc>
                    <m:r>
                      <a:rPr lang="vi-VN" sz="1800" b="0">
                        <a:solidFill>
                          <a:srgbClr val="1E293B"/>
                        </a:solidFill>
                        <a:latin typeface="Cambria Math" panose="02040503050406030204" pitchFamily="18" charset="0"/>
                      </a:rPr>
                      <m:t>=</m:t>
                    </m:r>
                    <m:f>
                      <m:fPr>
                        <m:ctrlPr>
                          <a:rPr lang="vi-VN" sz="1800" b="0">
                            <a:solidFill>
                              <a:srgbClr val="1E293B"/>
                            </a:solidFill>
                            <a:latin typeface="Cambria Math" panose="02040503050406030204" pitchFamily="18" charset="0"/>
                          </a:rPr>
                        </m:ctrlPr>
                      </m:fPr>
                      <m:num>
                        <m:r>
                          <a:rPr lang="vi-VN" sz="1800" b="0">
                            <a:solidFill>
                              <a:srgbClr val="1E293B"/>
                            </a:solidFill>
                            <a:latin typeface="Cambria Math" panose="02040503050406030204" pitchFamily="18" charset="0"/>
                          </a:rPr>
                          <m:t>10</m:t>
                        </m:r>
                      </m:num>
                      <m:den>
                        <m:rad>
                          <m:radPr>
                            <m:degHide m:val="on"/>
                            <m:ctrlPr>
                              <a:rPr lang="vi-VN" sz="1800" b="0" i="1">
                                <a:solidFill>
                                  <a:srgbClr val="1E293B"/>
                                </a:solidFill>
                                <a:latin typeface="Cambria Math" panose="02040503050406030204" pitchFamily="18" charset="0"/>
                              </a:rPr>
                            </m:ctrlPr>
                          </m:radPr>
                          <m:deg/>
                          <m:e>
                            <m:r>
                              <a:rPr lang="vi-VN" sz="1800" b="0">
                                <a:solidFill>
                                  <a:srgbClr val="1E293B"/>
                                </a:solidFill>
                                <a:latin typeface="Cambria Math" panose="02040503050406030204" pitchFamily="18" charset="0"/>
                              </a:rPr>
                              <m:t>10</m:t>
                            </m:r>
                          </m:e>
                        </m:rad>
                        <m:r>
                          <a:rPr lang="vi-VN" sz="1800" b="0">
                            <a:solidFill>
                              <a:srgbClr val="1E293B"/>
                            </a:solidFill>
                            <a:latin typeface="Cambria Math" panose="02040503050406030204" pitchFamily="18" charset="0"/>
                          </a:rPr>
                          <m:t>·</m:t>
                        </m:r>
                        <m:rad>
                          <m:radPr>
                            <m:degHide m:val="on"/>
                            <m:ctrlPr>
                              <a:rPr lang="vi-VN" sz="1800" b="0" i="1">
                                <a:solidFill>
                                  <a:srgbClr val="1E293B"/>
                                </a:solidFill>
                                <a:latin typeface="Cambria Math" panose="02040503050406030204" pitchFamily="18" charset="0"/>
                              </a:rPr>
                            </m:ctrlPr>
                          </m:radPr>
                          <m:deg/>
                          <m:e>
                            <m:r>
                              <a:rPr lang="vi-VN" sz="1800" b="0">
                                <a:solidFill>
                                  <a:srgbClr val="1E293B"/>
                                </a:solidFill>
                                <a:latin typeface="Cambria Math" panose="02040503050406030204" pitchFamily="18" charset="0"/>
                              </a:rPr>
                              <m:t>29</m:t>
                            </m:r>
                          </m:e>
                        </m:rad>
                      </m:den>
                    </m:f>
                  </m:oMath>
                </a14:m>
                <a:r>
                  <a:rPr sz="1800">
                    <a:solidFill>
                      <a:srgbClr val="1E293B"/>
                    </a:solidFill>
                    <a:latin typeface="Calibri"/>
                  </a:rPr>
                  <a:t> ⇒ </a:t>
                </a:r>
                <a14:m>
                  <m:oMath xmlns:m="http://schemas.openxmlformats.org/officeDocument/2006/math">
                    <m:acc>
                      <m:accPr>
                        <m:chr m:val="̂"/>
                        <m:ctrlPr>
                          <a:rPr lang="vi-VN" sz="1800" b="0">
                            <a:solidFill>
                              <a:srgbClr val="1E293B"/>
                            </a:solidFill>
                            <a:latin typeface="Cambria Math" panose="02040503050406030204" pitchFamily="18" charset="0"/>
                          </a:rPr>
                        </m:ctrlPr>
                      </m:accPr>
                      <m:e>
                        <m:r>
                          <a:rPr lang="vi-VN" sz="1800" b="0">
                            <a:solidFill>
                              <a:srgbClr val="1E293B"/>
                            </a:solidFill>
                            <a:latin typeface="Cambria Math" panose="02040503050406030204" pitchFamily="18" charset="0"/>
                          </a:rPr>
                          <m:t>𝐴𝐵𝐶</m:t>
                        </m:r>
                      </m:e>
                    </m:acc>
                    <m:r>
                      <a:rPr lang="vi-VN" sz="1800" b="0">
                        <a:solidFill>
                          <a:srgbClr val="1E293B"/>
                        </a:solidFill>
                        <a:latin typeface="Cambria Math" panose="02040503050406030204" pitchFamily="18" charset="0"/>
                      </a:rPr>
                      <m:t>≈54,</m:t>
                    </m:r>
                    <m:sSup>
                      <m:sSupPr>
                        <m:ctrlPr>
                          <a:rPr lang="vi-VN" sz="1800" b="0">
                            <a:solidFill>
                              <a:srgbClr val="1E293B"/>
                            </a:solidFill>
                            <a:latin typeface="Cambria Math" panose="02040503050406030204" pitchFamily="18" charset="0"/>
                          </a:rPr>
                        </m:ctrlPr>
                      </m:sSupPr>
                      <m:e>
                        <m:r>
                          <a:rPr lang="vi-VN" sz="1800" b="0">
                            <a:solidFill>
                              <a:srgbClr val="1E293B"/>
                            </a:solidFill>
                            <a:latin typeface="Cambria Math" panose="02040503050406030204" pitchFamily="18" charset="0"/>
                          </a:rPr>
                          <m:t>04</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a:t>
                </a:r>
              </a:p>
            </p:txBody>
          </p:sp>
        </mc:Choice>
        <mc:Fallback xmlns="">
          <p:sp>
            <p:nvSpPr>
              <p:cNvPr id="9" name="TextBox 8"/>
              <p:cNvSpPr txBox="1"/>
              <p:nvPr/>
            </p:nvSpPr>
            <p:spPr>
              <a:xfrm>
                <a:off x="713232" y="2176272"/>
                <a:ext cx="8266176" cy="1110996"/>
              </a:xfrm>
              <a:prstGeom prst="rect">
                <a:avLst/>
              </a:prstGeom>
              <a:noFill/>
            </p:spPr>
            <p:txBody>
              <a:bodyPr wrap="square" anchor="ctr" lIns="45720" rIns="45720">
                <a:spAutoFit/>
              </a:bodyPr>
              <a:lstStyle/>
              <a:p>
                <a:pPr algn="l">
                  <a:spcAft>
                    <a:spcPts val="800"/>
                  </a:spcAft>
                </a:pPr>
                <a:r>
                  <a:rPr sz="1800" b="1">
                    <a:solidFill>
                      <a:srgbClr val="1E293B"/>
                    </a:solidFill>
                    <a:latin typeface="Calibri"/>
                  </a:rPr>
                  <a:t>2.22.</a:t>
                </a:r>
                <a:r>
                  <a:rPr sz="1800">
                    <a:solidFill>
                      <a:srgbClr val="1E293B"/>
                    </a:solidFill>
                    <a:latin typeface="Calibri"/>
                  </a:rPr>
                  <a:t> a) </a:t>
                </a:r>
                <a:r>
                  <a:rPr lang="vi-VN"/>
                  <a:t>G\left(\frac{5}{3};\ -\frac{4}{3};\ 2\right)</a:t>
                </a:r>
                <a:r>
                  <a:rPr sz="1800">
                    <a:solidFill>
                      <a:srgbClr val="1E293B"/>
                    </a:solidFill>
                    <a:latin typeface="Calibri"/>
                  </a:rPr>
                  <a:t>. b) </a:t>
                </a:r>
                <a:r>
                  <a:rPr lang="vi-VN"/>
                  <a:t>\overrightarrow{AB}</a:t>
                </a:r>
                <a:r>
                  <a:rPr sz="1800">
                    <a:solidFill>
                      <a:srgbClr val="1E293B"/>
                    </a:solidFill>
                    <a:latin typeface="Calibri"/>
                  </a:rPr>
                  <a:t> · </a:t>
                </a:r>
                <a:r>
                  <a:rPr lang="vi-VN"/>
                  <a:t>\overrightarrow{AC}</a:t>
                </a:r>
                <a:r>
                  <a:rPr sz="1800">
                    <a:solidFill>
                      <a:srgbClr val="1E293B"/>
                    </a:solidFill>
                    <a:latin typeface="Calibri"/>
                  </a:rPr>
                  <a:t> </a:t>
                </a:r>
                <a:r>
                  <a:rPr lang="vi-VN"/>
                  <a:t>=(-1)\cdot 3+(-3)(-1)+0\cdot 3=0</a:t>
                </a:r>
                <a:r>
                  <a:rPr sz="1800">
                    <a:solidFill>
                      <a:srgbClr val="1E293B"/>
                    </a:solidFill>
                    <a:latin typeface="Calibri"/>
                  </a:rPr>
                  <a:t>. c) </a:t>
                </a:r>
                <a:r>
                  <a:rPr lang="vi-VN"/>
                  <a:t>\cos\widehat{ABC}=\frac{10}{\sqrt{10}\cdot\sqrt{29}}</a:t>
                </a:r>
                <a:r>
                  <a:rPr sz="1800">
                    <a:solidFill>
                      <a:srgbClr val="1E293B"/>
                    </a:solidFill>
                    <a:latin typeface="Calibri"/>
                  </a:rPr>
                  <a:t> ⇒ </a:t>
                </a:r>
                <a:r>
                  <a:rPr lang="vi-VN"/>
                  <a:t>\widehat{ABC}\approx 54{,}04^\circ</a:t>
                </a:r>
                <a:r>
                  <a:rPr sz="1800">
                    <a:solidFill>
                      <a:srgbClr val="1E293B"/>
                    </a:solidFill>
                    <a:latin typeface="Calibri"/>
                  </a:rPr>
                  <a:t>.</a:t>
                </a:r>
              </a:p>
            </p:txBody>
          </p:sp>
        </mc:Fallback>
      </mc:AlternateContent>
      <p:sp>
        <p:nvSpPr>
          <p:cNvPr id="10" name="s2_chu"/>
          <p:cNvSpPr txBox="1"/>
          <p:nvPr/>
        </p:nvSpPr>
        <p:spPr>
          <a:xfrm>
            <a:off x="548640" y="3369563"/>
            <a:ext cx="8595360" cy="722375"/>
          </a:xfrm>
          <a:prstGeom prst="rect">
            <a:avLst/>
          </a:prstGeom>
          <a:noFill/>
        </p:spPr>
        <p:txBody>
          <a:bodyPr wrap="square" lIns="45720" rIns="45720" anchor="t">
            <a:spAutoFit/>
          </a:bodyPr>
          <a:lstStyle/>
          <a:p>
            <a:pPr algn="l">
              <a:spcAft>
                <a:spcPts val="800"/>
              </a:spcAft>
            </a:pPr>
            <a:r>
              <a:rPr sz="1800" b="1">
                <a:solidFill>
                  <a:srgbClr val="1E293B"/>
                </a:solidFill>
                <a:latin typeface="Calibri"/>
              </a:rPr>
              <a:t>2.23.</a:t>
            </a:r>
            <a:r>
              <a:rPr sz="1800">
                <a:solidFill>
                  <a:srgbClr val="1E293B"/>
                </a:solidFill>
                <a:latin typeface="Calibri"/>
              </a:rPr>
              <a:t> Phòng học hình hộp chữ nhật dài 8 m, rộng 6 m, cao 3 m; đèn treo chính giữa trần (H.2.51). Tìm toạ độ điểm treo đèn.</a:t>
            </a:r>
          </a:p>
        </p:txBody>
      </p:sp>
      <p:sp>
        <p:nvSpPr>
          <p:cNvPr id="11" name="s3_nen"/>
          <p:cNvSpPr/>
          <p:nvPr/>
        </p:nvSpPr>
        <p:spPr>
          <a:xfrm>
            <a:off x="548640" y="4137659"/>
            <a:ext cx="8595360" cy="8138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s3_chu"/>
              <p:cNvSpPr txBox="1"/>
              <p:nvPr/>
            </p:nvSpPr>
            <p:spPr>
              <a:xfrm>
                <a:off x="713232" y="4174235"/>
                <a:ext cx="8266176" cy="740664"/>
              </a:xfrm>
              <a:prstGeom prst="rect">
                <a:avLst/>
              </a:prstGeom>
              <a:noFill/>
            </p:spPr>
            <p:txBody>
              <a:bodyPr wrap="square" lIns="45720" rIns="45720" anchor="ctr">
                <a:spAutoFit/>
              </a:bodyPr>
              <a:lstStyle/>
              <a:p>
                <a:pPr algn="l">
                  <a:spcAft>
                    <a:spcPts val="800"/>
                  </a:spcAft>
                </a:pPr>
                <a:r>
                  <a:rPr sz="1800" b="1">
                    <a:solidFill>
                      <a:srgbClr val="1E293B"/>
                    </a:solidFill>
                    <a:latin typeface="Calibri"/>
                  </a:rPr>
                  <a:t>2.23.</a:t>
                </a:r>
                <a:r>
                  <a:rPr sz="1800">
                    <a:solidFill>
                      <a:srgbClr val="1E293B"/>
                    </a:solidFill>
                    <a:latin typeface="Calibri"/>
                  </a:rPr>
                  <a:t> Trần là mặt phẳng </a:t>
                </a:r>
                <a14:m>
                  <m:oMath xmlns:m="http://schemas.openxmlformats.org/officeDocument/2006/math">
                    <m:r>
                      <a:rPr lang="vi-VN" sz="1800" b="0">
                        <a:solidFill>
                          <a:srgbClr val="1E293B"/>
                        </a:solidFill>
                        <a:latin typeface="Cambria Math" panose="02040503050406030204" pitchFamily="18" charset="0"/>
                      </a:rPr>
                      <m:t>𝑧</m:t>
                    </m:r>
                    <m:r>
                      <a:rPr lang="vi-VN" sz="1800" b="0">
                        <a:solidFill>
                          <a:srgbClr val="1E293B"/>
                        </a:solidFill>
                        <a:latin typeface="Cambria Math" panose="02040503050406030204" pitchFamily="18" charset="0"/>
                      </a:rPr>
                      <m:t>=3</m:t>
                    </m:r>
                  </m:oMath>
                </a14:m>
                <a:r>
                  <a:rPr sz="1800">
                    <a:solidFill>
                      <a:srgbClr val="1E293B"/>
                    </a:solidFill>
                    <a:latin typeface="Calibri"/>
                  </a:rPr>
                  <a:t>; tâm hình chữ nhật trần (6 m theo </a:t>
                </a:r>
                <a14:m>
                  <m:oMath xmlns:m="http://schemas.openxmlformats.org/officeDocument/2006/math">
                    <m:r>
                      <a:rPr lang="vi-VN" sz="1800" b="0">
                        <a:solidFill>
                          <a:srgbClr val="1E293B"/>
                        </a:solidFill>
                        <a:latin typeface="Cambria Math" panose="02040503050406030204" pitchFamily="18" charset="0"/>
                      </a:rPr>
                      <m:t>𝑂𝑥</m:t>
                    </m:r>
                  </m:oMath>
                </a14:m>
                <a:r>
                  <a:rPr sz="1800">
                    <a:solidFill>
                      <a:srgbClr val="1E293B"/>
                    </a:solidFill>
                    <a:latin typeface="Calibri"/>
                  </a:rPr>
                  <a:t>, 8 m theo </a:t>
                </a:r>
                <a14:m>
                  <m:oMath xmlns:m="http://schemas.openxmlformats.org/officeDocument/2006/math">
                    <m:r>
                      <a:rPr lang="vi-VN" sz="1800" b="0">
                        <a:solidFill>
                          <a:srgbClr val="1E293B"/>
                        </a:solidFill>
                        <a:latin typeface="Cambria Math" panose="02040503050406030204" pitchFamily="18" charset="0"/>
                      </a:rPr>
                      <m:t>𝑂𝑦</m:t>
                    </m:r>
                  </m:oMath>
                </a14:m>
                <a:r>
                  <a:rPr sz="1800">
                    <a:solidFill>
                      <a:srgbClr val="1E293B"/>
                    </a:solidFill>
                    <a:latin typeface="Calibri"/>
                  </a:rPr>
                  <a:t>): </a:t>
                </a:r>
                <a14:m>
                  <m:oMath xmlns:m="http://schemas.openxmlformats.org/officeDocument/2006/math">
                    <m:d>
                      <m:dPr>
                        <m:ctrlPr>
                          <a:rPr lang="vi-VN" sz="1800" b="0">
                            <a:solidFill>
                              <a:srgbClr val="1E293B"/>
                            </a:solidFill>
                            <a:latin typeface="Cambria Math" panose="02040503050406030204" pitchFamily="18" charset="0"/>
                          </a:rPr>
                        </m:ctrlPr>
                      </m:dPr>
                      <m:e>
                        <m:r>
                          <a:rPr lang="vi-VN" sz="1800" b="0">
                            <a:solidFill>
                              <a:srgbClr val="1E293B"/>
                            </a:solidFill>
                            <a:latin typeface="Cambria Math" panose="02040503050406030204" pitchFamily="18" charset="0"/>
                          </a:rPr>
                          <m:t>3; 4; 3</m:t>
                        </m:r>
                      </m:e>
                    </m:d>
                  </m:oMath>
                </a14:m>
                <a:r>
                  <a:rPr sz="1800">
                    <a:solidFill>
                      <a:srgbClr val="1E293B"/>
                    </a:solidFill>
                    <a:latin typeface="Calibri"/>
                  </a:rPr>
                  <a:t>.</a:t>
                </a:r>
              </a:p>
            </p:txBody>
          </p:sp>
        </mc:Choice>
        <mc:Fallback xmlns="">
          <p:sp>
            <p:nvSpPr>
              <p:cNvPr id="12" name="TextBox 11"/>
              <p:cNvSpPr txBox="1"/>
              <p:nvPr/>
            </p:nvSpPr>
            <p:spPr>
              <a:xfrm>
                <a:off x="713232" y="4174235"/>
                <a:ext cx="8266176" cy="740664"/>
              </a:xfrm>
              <a:prstGeom prst="rect">
                <a:avLst/>
              </a:prstGeom>
              <a:noFill/>
            </p:spPr>
            <p:txBody>
              <a:bodyPr wrap="square" anchor="ctr" lIns="45720" rIns="45720">
                <a:spAutoFit/>
              </a:bodyPr>
              <a:lstStyle/>
              <a:p>
                <a:pPr algn="l">
                  <a:spcAft>
                    <a:spcPts val="800"/>
                  </a:spcAft>
                </a:pPr>
                <a:r>
                  <a:rPr sz="1800" b="1">
                    <a:solidFill>
                      <a:srgbClr val="1E293B"/>
                    </a:solidFill>
                    <a:latin typeface="Calibri"/>
                  </a:rPr>
                  <a:t>2.23.</a:t>
                </a:r>
                <a:r>
                  <a:rPr sz="1800">
                    <a:solidFill>
                      <a:srgbClr val="1E293B"/>
                    </a:solidFill>
                    <a:latin typeface="Calibri"/>
                  </a:rPr>
                  <a:t> Trần là mặt phẳng </a:t>
                </a:r>
                <a:r>
                  <a:rPr lang="vi-VN"/>
                  <a:t>z=3</a:t>
                </a:r>
                <a:r>
                  <a:rPr sz="1800">
                    <a:solidFill>
                      <a:srgbClr val="1E293B"/>
                    </a:solidFill>
                    <a:latin typeface="Calibri"/>
                  </a:rPr>
                  <a:t>; tâm hình chữ nhật trần (6 m theo </a:t>
                </a:r>
                <a:r>
                  <a:rPr lang="vi-VN"/>
                  <a:t>Ox</a:t>
                </a:r>
                <a:r>
                  <a:rPr sz="1800">
                    <a:solidFill>
                      <a:srgbClr val="1E293B"/>
                    </a:solidFill>
                    <a:latin typeface="Calibri"/>
                  </a:rPr>
                  <a:t>, 8 m theo </a:t>
                </a:r>
                <a:r>
                  <a:rPr lang="vi-VN"/>
                  <a:t>Oy</a:t>
                </a:r>
                <a:r>
                  <a:rPr sz="1800">
                    <a:solidFill>
                      <a:srgbClr val="1E293B"/>
                    </a:solidFill>
                    <a:latin typeface="Calibri"/>
                  </a:rPr>
                  <a:t>): </a:t>
                </a:r>
                <a:r>
                  <a:rPr lang="vi-VN"/>
                  <a:t>(3;\ 4;\ 3)</a:t>
                </a:r>
                <a:r>
                  <a:rPr sz="1800">
                    <a:solidFill>
                      <a:srgbClr val="1E293B"/>
                    </a:solidFill>
                    <a:latin typeface="Calibri"/>
                  </a:rPr>
                  <a:t>.</a:t>
                </a:r>
              </a:p>
            </p:txBody>
          </p:sp>
        </mc:Fallback>
      </mc:AlternateContent>
      <mc:AlternateContent xmlns:mc="http://schemas.openxmlformats.org/markup-compatibility/2006" xmlns:a14="http://schemas.microsoft.com/office/drawing/2010/main">
        <mc:Choice Requires="a14">
          <p:sp>
            <p:nvSpPr>
              <p:cNvPr id="13" name="s4_chu"/>
              <p:cNvSpPr txBox="1"/>
              <p:nvPr/>
            </p:nvSpPr>
            <p:spPr>
              <a:xfrm>
                <a:off x="548640" y="4997195"/>
                <a:ext cx="8595360" cy="722375"/>
              </a:xfrm>
              <a:prstGeom prst="rect">
                <a:avLst/>
              </a:prstGeom>
              <a:noFill/>
            </p:spPr>
            <p:txBody>
              <a:bodyPr wrap="square" lIns="45720" rIns="45720" anchor="t">
                <a:spAutoFit/>
              </a:bodyPr>
              <a:lstStyle/>
              <a:p>
                <a:pPr algn="l">
                  <a:spcAft>
                    <a:spcPts val="800"/>
                  </a:spcAft>
                </a:pPr>
                <a:r>
                  <a:rPr sz="1800" b="1">
                    <a:solidFill>
                      <a:srgbClr val="1E293B"/>
                    </a:solidFill>
                    <a:latin typeface="Calibri"/>
                  </a:rPr>
                  <a:t>2.24.</a:t>
                </a:r>
                <a:r>
                  <a:rPr sz="1800">
                    <a:solidFill>
                      <a:srgbClr val="1E293B"/>
                    </a:solidFill>
                    <a:latin typeface="Calibri"/>
                  </a:rPr>
                  <a:t> Radar đặt tại giàn khoan </a:t>
                </a:r>
                <a14:m>
                  <m:oMath xmlns:m="http://schemas.openxmlformats.org/officeDocument/2006/math">
                    <m:r>
                      <a:rPr lang="vi-VN" sz="1800" b="0">
                        <a:solidFill>
                          <a:srgbClr val="1E293B"/>
                        </a:solidFill>
                        <a:latin typeface="Cambria Math" panose="02040503050406030204" pitchFamily="18" charset="0"/>
                      </a:rPr>
                      <m:t>𝑂</m:t>
                    </m:r>
                  </m:oMath>
                </a14:m>
                <a:r>
                  <a:rPr sz="1800">
                    <a:solidFill>
                      <a:srgbClr val="1E293B"/>
                    </a:solidFill>
                    <a:latin typeface="Calibri"/>
                  </a:rPr>
                  <a:t>, phạm vi theo dõi 30 km. Radar có phát hiện được tàu thăm hiểm ở </a:t>
                </a:r>
                <a14:m>
                  <m:oMath xmlns:m="http://schemas.openxmlformats.org/officeDocument/2006/math">
                    <m:d>
                      <m:dPr>
                        <m:ctrlPr>
                          <a:rPr lang="vi-VN" sz="1800" b="0">
                            <a:solidFill>
                              <a:srgbClr val="1E293B"/>
                            </a:solidFill>
                            <a:latin typeface="Cambria Math" panose="02040503050406030204" pitchFamily="18" charset="0"/>
                          </a:rPr>
                        </m:ctrlPr>
                      </m:dPr>
                      <m:e>
                        <m:r>
                          <a:rPr lang="vi-VN" sz="1800" b="0">
                            <a:solidFill>
                              <a:srgbClr val="1E293B"/>
                            </a:solidFill>
                            <a:latin typeface="Cambria Math" panose="02040503050406030204" pitchFamily="18" charset="0"/>
                          </a:rPr>
                          <m:t>25;15;−10</m:t>
                        </m:r>
                      </m:e>
                    </m:d>
                  </m:oMath>
                </a14:m>
                <a:r>
                  <a:rPr sz="1800">
                    <a:solidFill>
                      <a:srgbClr val="1E293B"/>
                    </a:solidFill>
                    <a:latin typeface="Calibri"/>
                  </a:rPr>
                  <a:t> không?</a:t>
                </a:r>
              </a:p>
            </p:txBody>
          </p:sp>
        </mc:Choice>
        <mc:Fallback xmlns="">
          <p:sp>
            <p:nvSpPr>
              <p:cNvPr id="13" name="TextBox 12"/>
              <p:cNvSpPr txBox="1"/>
              <p:nvPr/>
            </p:nvSpPr>
            <p:spPr>
              <a:xfrm>
                <a:off x="548640" y="4997195"/>
                <a:ext cx="8595360" cy="722375"/>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2.24.</a:t>
                </a:r>
                <a:r>
                  <a:rPr sz="1800">
                    <a:solidFill>
                      <a:srgbClr val="1E293B"/>
                    </a:solidFill>
                    <a:latin typeface="Calibri"/>
                  </a:rPr>
                  <a:t> Radar đặt tại giàn khoan </a:t>
                </a:r>
                <a:r>
                  <a:rPr lang="vi-VN"/>
                  <a:t>O</a:t>
                </a:r>
                <a:r>
                  <a:rPr sz="1800">
                    <a:solidFill>
                      <a:srgbClr val="1E293B"/>
                    </a:solidFill>
                    <a:latin typeface="Calibri"/>
                  </a:rPr>
                  <a:t>, phạm vi theo dõi 30 km. Radar có phát hiện được tàu thăm hiểm ở </a:t>
                </a:r>
                <a:r>
                  <a:rPr lang="vi-VN"/>
                  <a:t>(25;15;-10)</a:t>
                </a:r>
                <a:r>
                  <a:rPr sz="1800">
                    <a:solidFill>
                      <a:srgbClr val="1E293B"/>
                    </a:solidFill>
                    <a:latin typeface="Calibri"/>
                  </a:rPr>
                  <a:t> không?</a:t>
                </a:r>
              </a:p>
            </p:txBody>
          </p:sp>
        </mc:Fallback>
      </mc:AlternateContent>
      <p:sp>
        <p:nvSpPr>
          <p:cNvPr id="14" name="s5_nen"/>
          <p:cNvSpPr/>
          <p:nvPr/>
        </p:nvSpPr>
        <p:spPr>
          <a:xfrm>
            <a:off x="548640" y="5765291"/>
            <a:ext cx="8595360" cy="5394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5" name="s5_chu"/>
              <p:cNvSpPr txBox="1"/>
              <p:nvPr/>
            </p:nvSpPr>
            <p:spPr>
              <a:xfrm>
                <a:off x="713232" y="5801867"/>
                <a:ext cx="8266176" cy="466344"/>
              </a:xfrm>
              <a:prstGeom prst="rect">
                <a:avLst/>
              </a:prstGeom>
              <a:noFill/>
            </p:spPr>
            <p:txBody>
              <a:bodyPr wrap="square" lIns="45720" rIns="45720" anchor="ctr">
                <a:spAutoFit/>
              </a:bodyPr>
              <a:lstStyle/>
              <a:p>
                <a:pPr algn="l">
                  <a:spcAft>
                    <a:spcPts val="800"/>
                  </a:spcAft>
                </a:pPr>
                <a:r>
                  <a:rPr sz="1800" b="1">
                    <a:solidFill>
                      <a:srgbClr val="1E293B"/>
                    </a:solidFill>
                    <a:latin typeface="Calibri"/>
                  </a:rPr>
                  <a:t>2.24.</a:t>
                </a:r>
                <a:r>
                  <a:rPr sz="1800">
                    <a:solidFill>
                      <a:srgbClr val="1E293B"/>
                    </a:solidFill>
                    <a:latin typeface="Calibri"/>
                  </a:rPr>
                  <a:t> </a:t>
                </a:r>
                <a14:m>
                  <m:oMath xmlns:m="http://schemas.openxmlformats.org/officeDocument/2006/math">
                    <m:rad>
                      <m:radPr>
                        <m:degHide m:val="on"/>
                        <m:ctrlPr>
                          <a:rPr lang="vi-VN" sz="1800" b="0" i="1">
                            <a:solidFill>
                              <a:srgbClr val="1E293B"/>
                            </a:solidFill>
                            <a:latin typeface="Cambria Math" panose="02040503050406030204" pitchFamily="18" charset="0"/>
                          </a:rPr>
                        </m:ctrlPr>
                      </m:radPr>
                      <m:deg/>
                      <m:e>
                        <m:sSup>
                          <m:sSupPr>
                            <m:ctrlPr>
                              <a:rPr lang="vi-VN" sz="1800" b="0">
                                <a:solidFill>
                                  <a:srgbClr val="1E293B"/>
                                </a:solidFill>
                                <a:latin typeface="Cambria Math" panose="02040503050406030204" pitchFamily="18" charset="0"/>
                              </a:rPr>
                            </m:ctrlPr>
                          </m:sSupPr>
                          <m:e>
                            <m:r>
                              <a:rPr lang="vi-VN" sz="1800" b="0">
                                <a:solidFill>
                                  <a:srgbClr val="1E293B"/>
                                </a:solidFill>
                                <a:latin typeface="Cambria Math" panose="02040503050406030204" pitchFamily="18" charset="0"/>
                              </a:rPr>
                              <m:t>25</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m:t>
                        </m:r>
                        <m:sSup>
                          <m:sSupPr>
                            <m:ctrlPr>
                              <a:rPr lang="vi-VN" sz="1800" b="0">
                                <a:solidFill>
                                  <a:srgbClr val="1E293B"/>
                                </a:solidFill>
                                <a:latin typeface="Cambria Math" panose="02040503050406030204" pitchFamily="18" charset="0"/>
                              </a:rPr>
                            </m:ctrlPr>
                          </m:sSupPr>
                          <m:e>
                            <m:r>
                              <a:rPr lang="vi-VN" sz="1800" b="0">
                                <a:solidFill>
                                  <a:srgbClr val="1E293B"/>
                                </a:solidFill>
                                <a:latin typeface="Cambria Math" panose="02040503050406030204" pitchFamily="18" charset="0"/>
                              </a:rPr>
                              <m:t>15</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m:t>
                        </m:r>
                        <m:sSup>
                          <m:sSupPr>
                            <m:ctrlPr>
                              <a:rPr lang="vi-VN" sz="1800" b="0">
                                <a:solidFill>
                                  <a:srgbClr val="1E293B"/>
                                </a:solidFill>
                                <a:latin typeface="Cambria Math" panose="02040503050406030204" pitchFamily="18" charset="0"/>
                              </a:rPr>
                            </m:ctrlPr>
                          </m:sSupPr>
                          <m:e>
                            <m:r>
                              <a:rPr lang="vi-VN" sz="1800" b="0">
                                <a:solidFill>
                                  <a:srgbClr val="1E293B"/>
                                </a:solidFill>
                                <a:latin typeface="Cambria Math" panose="02040503050406030204" pitchFamily="18" charset="0"/>
                              </a:rPr>
                              <m:t>10</m:t>
                            </m:r>
                          </m:e>
                          <m:sup>
                            <m:r>
                              <a:rPr lang="vi-VN" sz="1800" b="0">
                                <a:solidFill>
                                  <a:srgbClr val="1E293B"/>
                                </a:solidFill>
                                <a:latin typeface="Cambria Math" panose="02040503050406030204" pitchFamily="18" charset="0"/>
                              </a:rPr>
                              <m:t>2</m:t>
                            </m:r>
                          </m:sup>
                        </m:sSup>
                      </m:e>
                    </m:rad>
                    <m:r>
                      <a:rPr lang="vi-VN" sz="1800" b="0">
                        <a:solidFill>
                          <a:srgbClr val="1E293B"/>
                        </a:solidFill>
                        <a:latin typeface="Cambria Math" panose="02040503050406030204" pitchFamily="18" charset="0"/>
                      </a:rPr>
                      <m:t>=</m:t>
                    </m:r>
                    <m:rad>
                      <m:radPr>
                        <m:degHide m:val="on"/>
                        <m:ctrlPr>
                          <a:rPr lang="vi-VN" sz="1800" b="0" i="1">
                            <a:solidFill>
                              <a:srgbClr val="1E293B"/>
                            </a:solidFill>
                            <a:latin typeface="Cambria Math" panose="02040503050406030204" pitchFamily="18" charset="0"/>
                          </a:rPr>
                        </m:ctrlPr>
                      </m:radPr>
                      <m:deg/>
                      <m:e>
                        <m:r>
                          <a:rPr lang="vi-VN" sz="1800" b="0">
                            <a:solidFill>
                              <a:srgbClr val="1E293B"/>
                            </a:solidFill>
                            <a:latin typeface="Cambria Math" panose="02040503050406030204" pitchFamily="18" charset="0"/>
                          </a:rPr>
                          <m:t>950</m:t>
                        </m:r>
                      </m:e>
                    </m:rad>
                    <m:r>
                      <a:rPr lang="vi-VN" sz="1800" b="0">
                        <a:solidFill>
                          <a:srgbClr val="1E293B"/>
                        </a:solidFill>
                        <a:latin typeface="Cambria Math" panose="02040503050406030204" pitchFamily="18" charset="0"/>
                      </a:rPr>
                      <m:t>≈30,82&gt;30</m:t>
                    </m:r>
                  </m:oMath>
                </a14:m>
                <a:r>
                  <a:rPr sz="1800">
                    <a:solidFill>
                      <a:srgbClr val="1E293B"/>
                    </a:solidFill>
                    <a:latin typeface="Calibri"/>
                  </a:rPr>
                  <a:t> ⇒ </a:t>
                </a:r>
                <a:r>
                  <a:rPr sz="1800" b="1">
                    <a:solidFill>
                      <a:srgbClr val="1E293B"/>
                    </a:solidFill>
                    <a:latin typeface="Calibri"/>
                  </a:rPr>
                  <a:t>không</a:t>
                </a:r>
                <a:r>
                  <a:rPr sz="1800">
                    <a:solidFill>
                      <a:srgbClr val="1E293B"/>
                    </a:solidFill>
                    <a:latin typeface="Calibri"/>
                  </a:rPr>
                  <a:t> phát hiện được.</a:t>
                </a:r>
              </a:p>
            </p:txBody>
          </p:sp>
        </mc:Choice>
        <mc:Fallback xmlns="">
          <p:sp>
            <p:nvSpPr>
              <p:cNvPr id="15" name="TextBox 14"/>
              <p:cNvSpPr txBox="1"/>
              <p:nvPr/>
            </p:nvSpPr>
            <p:spPr>
              <a:xfrm>
                <a:off x="713232" y="5801867"/>
                <a:ext cx="8266176" cy="466344"/>
              </a:xfrm>
              <a:prstGeom prst="rect">
                <a:avLst/>
              </a:prstGeom>
              <a:noFill/>
            </p:spPr>
            <p:txBody>
              <a:bodyPr wrap="square" anchor="ctr" lIns="45720" rIns="45720">
                <a:spAutoFit/>
              </a:bodyPr>
              <a:lstStyle/>
              <a:p>
                <a:pPr algn="l">
                  <a:spcAft>
                    <a:spcPts val="800"/>
                  </a:spcAft>
                </a:pPr>
                <a:r>
                  <a:rPr sz="1800" b="1">
                    <a:solidFill>
                      <a:srgbClr val="1E293B"/>
                    </a:solidFill>
                    <a:latin typeface="Calibri"/>
                  </a:rPr>
                  <a:t>2.24.</a:t>
                </a:r>
                <a:r>
                  <a:rPr sz="1800">
                    <a:solidFill>
                      <a:srgbClr val="1E293B"/>
                    </a:solidFill>
                    <a:latin typeface="Calibri"/>
                  </a:rPr>
                  <a:t> </a:t>
                </a:r>
                <a:r>
                  <a:rPr lang="vi-VN"/>
                  <a:t>\sqrt{25^2+15^2+10^2}=\sqrt{950}\approx 30{,}82&gt;30</a:t>
                </a:r>
                <a:r>
                  <a:rPr sz="1800">
                    <a:solidFill>
                      <a:srgbClr val="1E293B"/>
                    </a:solidFill>
                    <a:latin typeface="Calibri"/>
                  </a:rPr>
                  <a:t> ⇒ </a:t>
                </a:r>
                <a:r>
                  <a:rPr sz="1800" b="1">
                    <a:solidFill>
                      <a:srgbClr val="1E293B"/>
                    </a:solidFill>
                    <a:latin typeface="Calibri"/>
                  </a:rPr>
                  <a:t>không</a:t>
                </a:r>
                <a:r>
                  <a:rPr sz="1800">
                    <a:solidFill>
                      <a:srgbClr val="1E293B"/>
                    </a:solidFill>
                    <a:latin typeface="Calibri"/>
                  </a:rPr>
                  <a:t> phát hiện được.</a:t>
                </a:r>
              </a:p>
            </p:txBody>
          </p:sp>
        </mc:Fallback>
      </mc:AlternateContent>
      <p:pic>
        <p:nvPicPr>
          <p:cNvPr id="16" name="Picture 15" descr="h251.png"/>
          <p:cNvPicPr>
            <a:picLocks noChangeAspect="1"/>
          </p:cNvPicPr>
          <p:nvPr/>
        </p:nvPicPr>
        <p:blipFill>
          <a:blip r:embed="rId3"/>
          <a:stretch>
            <a:fillRect/>
          </a:stretch>
        </p:blipFill>
        <p:spPr>
          <a:xfrm>
            <a:off x="9326880" y="1620940"/>
            <a:ext cx="2377440" cy="16958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33</a:t>
            </a:r>
          </a:p>
        </p:txBody>
      </p:sp>
      <p:sp>
        <p:nvSpPr>
          <p:cNvPr id="7" name="TextBox 6"/>
          <p:cNvSpPr txBox="1"/>
          <p:nvPr/>
        </p:nvSpPr>
        <p:spPr>
          <a:xfrm>
            <a:off x="548640" y="1417320"/>
            <a:ext cx="7589520" cy="4754880"/>
          </a:xfrm>
          <a:prstGeom prst="rect">
            <a:avLst/>
          </a:prstGeom>
          <a:noFill/>
        </p:spPr>
        <p:txBody>
          <a:bodyPr wrap="square" lIns="45720" rIns="45720" anchor="t">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https://trangtu66.github.io/Taode_thi_online/cc_bai8_t12.html</a:t>
            </a:r>
          </a:p>
          <a:p>
            <a:pPr algn="l">
              <a:spcAft>
                <a:spcPts val="800"/>
              </a:spcAft>
            </a:pPr>
            <a:r>
              <a:rPr sz="2200" b="1">
                <a:solidFill>
                  <a:srgbClr val="1E293B"/>
                </a:solidFill>
                <a:latin typeface="Calibri"/>
              </a:rPr>
              <a:t>Nhiệm vụ về nhà:</a:t>
            </a:r>
          </a:p>
          <a:p>
            <a:pPr marL="365760" indent="-365760" algn="l">
              <a:spcAft>
                <a:spcPts val="800"/>
              </a:spcAft>
              <a:buClr>
                <a:srgbClr val="1E40AF"/>
              </a:buClr>
              <a:buFont typeface="Arial"/>
              <a:buChar char="•"/>
            </a:pPr>
            <a:r>
              <a:rPr sz="2200">
                <a:solidFill>
                  <a:srgbClr val="1E293B"/>
                </a:solidFill>
                <a:latin typeface="Calibri"/>
              </a:rPr>
              <a:t>Hoàn thành Bài tập 2.20 – 2.24.</a:t>
            </a:r>
          </a:p>
          <a:p>
            <a:pPr marL="365760" indent="-365760" algn="l">
              <a:spcAft>
                <a:spcPts val="800"/>
              </a:spcAft>
              <a:buClr>
                <a:srgbClr val="1E40AF"/>
              </a:buClr>
              <a:buFont typeface="Arial"/>
              <a:buChar char="•"/>
            </a:pPr>
            <a:r>
              <a:rPr sz="2200">
                <a:solidFill>
                  <a:srgbClr val="1E293B"/>
                </a:solidFill>
                <a:latin typeface="Calibri"/>
              </a:rPr>
              <a:t>Chuẩn bị </a:t>
            </a:r>
            <a:r>
              <a:rPr sz="2200" b="1">
                <a:solidFill>
                  <a:srgbClr val="1E293B"/>
                </a:solidFill>
                <a:latin typeface="Calibri"/>
              </a:rPr>
              <a:t>Bài tập cuối chương II</a:t>
            </a:r>
            <a:r>
              <a:rPr sz="2200">
                <a:solidFill>
                  <a:srgbClr val="1E293B"/>
                </a:solidFill>
                <a:latin typeface="Calibri"/>
              </a:rPr>
              <a:t> (SGK tr.73 – 74).</a:t>
            </a:r>
          </a:p>
          <a:p>
            <a:pPr marL="365760" indent="-365760" algn="l">
              <a:spcAft>
                <a:spcPts val="800"/>
              </a:spcAft>
              <a:buClr>
                <a:srgbClr val="1E40AF"/>
              </a:buClr>
              <a:buFont typeface="Arial"/>
              <a:buChar char="•"/>
            </a:pPr>
            <a:r>
              <a:rPr sz="2200">
                <a:solidFill>
                  <a:srgbClr val="1E293B"/>
                </a:solidFill>
                <a:latin typeface="Calibri"/>
              </a:rPr>
              <a:t>Nhóm (vận dụng): tháp canh lửa rừng – chọn hệ toạ độ, tính khoảng cách từ tháp tới đám cháy giả định.</a:t>
            </a:r>
          </a:p>
        </p:txBody>
      </p:sp>
      <p:pic>
        <p:nvPicPr>
          <p:cNvPr id="8" name="Picture 7" descr="QR_CungCo_Bai8_Toan12.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  MỞ BÀI CỦNG CỐ</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34</a:t>
            </a:r>
          </a:p>
        </p:txBody>
      </p:sp>
      <p:pic>
        <p:nvPicPr>
          <p:cNvPr id="7" name="Picture 6" descr="SoDoTuDuy_TOAN12_Bai8_BieuThucToaDo_T37-39.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35</a:t>
            </a:r>
          </a:p>
        </p:txBody>
      </p:sp>
      <mc:AlternateContent xmlns:mc="http://schemas.openxmlformats.org/markup-compatibility/2006" xmlns:a14="http://schemas.microsoft.com/office/drawing/2010/main">
        <mc:Choice Requires="a14">
          <p:sp>
            <p:nvSpPr>
              <p:cNvPr id="7" name="TextBox 6"/>
              <p:cNvSpPr txBox="1"/>
              <p:nvPr/>
            </p:nvSpPr>
            <p:spPr>
              <a:xfrm>
                <a:off x="548640" y="1371600"/>
                <a:ext cx="11064240" cy="484632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100">
                    <a:solidFill>
                      <a:srgbClr val="1E293B"/>
                    </a:solidFill>
                    <a:latin typeface="Calibri"/>
                  </a:rPr>
                  <a:t>Tích vô hướng: nhân rồi cộng các toạ độ cùng tên – không phải ra một vectơ.</a:t>
                </a:r>
              </a:p>
              <a:p>
                <a:pPr marL="365760" indent="-365760" algn="l">
                  <a:spcAft>
                    <a:spcPts val="800"/>
                  </a:spcAft>
                  <a:buClr>
                    <a:srgbClr val="1E40AF"/>
                  </a:buClr>
                  <a:buFont typeface="Arial"/>
                  <a:buChar char="•"/>
                </a:pPr>
                <a:r>
                  <a:rPr sz="2100">
                    <a:solidFill>
                      <a:srgbClr val="1E293B"/>
                    </a:solidFill>
                    <a:latin typeface="Calibri"/>
                  </a:rPr>
                  <a:t>Tính góc: quên chia cho tích hai độ dài; nhầm góc giữa hai vectơ với góc trong tam giác (chú ý chiều vectơ).</a:t>
                </a:r>
              </a:p>
              <a:p>
                <a:pPr marL="365760" indent="-365760" algn="l">
                  <a:spcAft>
                    <a:spcPts val="800"/>
                  </a:spcAft>
                  <a:buClr>
                    <a:srgbClr val="1E40AF"/>
                  </a:buClr>
                  <a:buFont typeface="Arial"/>
                  <a:buChar char="•"/>
                </a:pPr>
                <a:r>
                  <a:rPr sz="2100">
                    <a:solidFill>
                      <a:srgbClr val="1E293B"/>
                    </a:solidFill>
                    <a:latin typeface="Calibri"/>
                  </a:rPr>
                  <a:t>Ví dụ 5: dùng AB = BC thay vì AB = 2BC (thời gian 10 phút và 5 phút).</a:t>
                </a:r>
              </a:p>
              <a:p>
                <a:pPr marL="365760" indent="-365760" algn="l">
                  <a:spcAft>
                    <a:spcPts val="800"/>
                  </a:spcAft>
                  <a:buClr>
                    <a:srgbClr val="1E40AF"/>
                  </a:buClr>
                  <a:buFont typeface="Arial"/>
                  <a:buChar char="•"/>
                </a:pPr>
                <a:r>
                  <a:rPr sz="2100">
                    <a:solidFill>
                      <a:srgbClr val="1E293B"/>
                    </a:solidFill>
                    <a:latin typeface="Calibri"/>
                  </a:rPr>
                  <a:t>Luyện tập 2: lấy trung bình cộng thay vì </a:t>
                </a:r>
                <a14:m>
                  <m:oMath xmlns:m="http://schemas.openxmlformats.org/officeDocument/2006/math">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𝐺</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𝐴</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𝐵</m:t>
                    </m:r>
                  </m:oMath>
                </a14:m>
                <a:r>
                  <a:rPr sz="2100">
                    <a:solidFill>
                      <a:srgbClr val="1E293B"/>
                    </a:solidFill>
                    <a:latin typeface="Calibri"/>
                  </a:rPr>
                  <a:t>.</a:t>
                </a:r>
              </a:p>
            </p:txBody>
          </p:sp>
        </mc:Choice>
        <mc:Fallback xmlns="">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Tích vô hướng: nhân rồi cộng các toạ độ cùng tên – không phải ra một vectơ.</a:t>
                </a:r>
              </a:p>
              <a:p>
                <a:pPr algn="l" marL="365760" indent="-365760">
                  <a:spcAft>
                    <a:spcPts val="800"/>
                  </a:spcAft>
                  <a:buClr>
                    <a:srgbClr val="1E40AF"/>
                  </a:buClr>
                  <a:buFont typeface="Arial"/>
                  <a:buChar char="•"/>
                </a:pPr>
                <a:r>
                  <a:rPr sz="2100">
                    <a:solidFill>
                      <a:srgbClr val="1E293B"/>
                    </a:solidFill>
                    <a:latin typeface="Calibri"/>
                  </a:rPr>
                  <a:t>Tính góc: quên chia cho tích hai độ dài; nhầm góc giữa hai vectơ với góc trong tam giác (chú ý chiều vectơ).</a:t>
                </a:r>
              </a:p>
              <a:p>
                <a:pPr algn="l" marL="365760" indent="-365760">
                  <a:spcAft>
                    <a:spcPts val="800"/>
                  </a:spcAft>
                  <a:buClr>
                    <a:srgbClr val="1E40AF"/>
                  </a:buClr>
                  <a:buFont typeface="Arial"/>
                  <a:buChar char="•"/>
                </a:pPr>
                <a:r>
                  <a:rPr sz="2100">
                    <a:solidFill>
                      <a:srgbClr val="1E293B"/>
                    </a:solidFill>
                    <a:latin typeface="Calibri"/>
                  </a:rPr>
                  <a:t>Ví dụ 5: dùng AB = BC thay vì AB = 2BC (thời gian 10 phút và 5 phút).</a:t>
                </a:r>
              </a:p>
              <a:p>
                <a:pPr algn="l" marL="365760" indent="-365760">
                  <a:spcAft>
                    <a:spcPts val="800"/>
                  </a:spcAft>
                  <a:buClr>
                    <a:srgbClr val="1E40AF"/>
                  </a:buClr>
                  <a:buFont typeface="Arial"/>
                  <a:buChar char="•"/>
                </a:pPr>
                <a:r>
                  <a:rPr sz="2100">
                    <a:solidFill>
                      <a:srgbClr val="1E293B"/>
                    </a:solidFill>
                    <a:latin typeface="Calibri"/>
                  </a:rPr>
                  <a:t>Luyện tập 2: lấy trung bình cộng thay vì </a:t>
                </a:r>
                <a:r>
                  <a:rPr lang="vi-VN"/>
                  <a:t>3G-A-B</a:t>
                </a:r>
                <a:r>
                  <a:rPr sz="2100">
                    <a:solidFill>
                      <a:srgbClr val="1E293B"/>
                    </a:solidFill>
                    <a:latin typeface="Calibri"/>
                  </a:rPr>
                  <a:t>.</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8. Biểu thức toạ độ của các phép toán vectơ – Toán 12          36</a:t>
            </a:r>
          </a:p>
        </p:txBody>
      </p:sp>
      <p:sp>
        <p:nvSpPr>
          <p:cNvPr id="7" name="TextBox 6"/>
          <p:cNvSpPr txBox="1"/>
          <p:nvPr/>
        </p:nvSpPr>
        <p:spPr>
          <a:xfrm>
            <a:off x="548640" y="1371600"/>
            <a:ext cx="11064240" cy="4846320"/>
          </a:xfrm>
          <a:prstGeom prst="rect">
            <a:avLst/>
          </a:prstGeom>
          <a:noFill/>
        </p:spPr>
        <p:txBody>
          <a:bodyPr wrap="square" lIns="45720" rIns="45720" anchor="t">
            <a:spAutoFit/>
          </a:bodyPr>
          <a:lstStyle/>
          <a:p>
            <a:pPr marL="365760" indent="-365760" algn="l">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bảng công thức tóm tắt; máy tính cầm tay; giao HĐ1, Ví dụ 1–3, Bài 2.20.</a:t>
            </a:r>
          </a:p>
          <a:p>
            <a:pPr marL="365760" indent="-365760" algn="l">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Bài 2.21, 2.22c; bài toán tháp canh lửa rừng.</a:t>
            </a:r>
          </a:p>
          <a:p>
            <a:pPr marL="365760" indent="-365760" algn="l">
              <a:spcAft>
                <a:spcPts val="800"/>
              </a:spcAft>
              <a:buClr>
                <a:srgbClr val="1E40AF"/>
              </a:buClr>
              <a:buFont typeface="Arial"/>
              <a:buChar char="•"/>
            </a:pPr>
            <a:r>
              <a:rPr sz="2000" b="1">
                <a:solidFill>
                  <a:srgbClr val="1E293B"/>
                </a:solidFill>
                <a:latin typeface="Calibri"/>
              </a:rPr>
              <a:t>12A2, 12A7 (khiếm thị):</a:t>
            </a:r>
            <a:r>
              <a:rPr sz="2000">
                <a:solidFill>
                  <a:srgbClr val="1E293B"/>
                </a:solidFill>
                <a:latin typeface="Calibri"/>
              </a:rPr>
              <a:t> GV đọc to toạ độ, HS trả lời miệng; phóng to slide. </a:t>
            </a:r>
            <a:r>
              <a:rPr sz="2000" b="1">
                <a:solidFill>
                  <a:srgbClr val="1E293B"/>
                </a:solidFill>
                <a:latin typeface="Calibri"/>
              </a:rPr>
              <a:t>12A3, 12A5, 12A7 (vận động):</a:t>
            </a:r>
            <a:r>
              <a:rPr sz="2000">
                <a:solidFill>
                  <a:srgbClr val="1E293B"/>
                </a:solidFill>
                <a:latin typeface="Calibri"/>
              </a:rPr>
              <a:t> trả lời tại chỗ.</a:t>
            </a:r>
          </a:p>
          <a:p>
            <a:pPr marL="365760" indent="-365760" algn="l">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máy tính cầm tay thay GeoGebra.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5292</Words>
  <Application>Microsoft Office PowerPoint</Application>
  <PresentationFormat>Widescreen</PresentationFormat>
  <Paragraphs>309</Paragraphs>
  <Slides>36</Slides>
  <Notes>36</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Trang Truong</cp:lastModifiedBy>
  <cp:revision>2</cp:revision>
  <dcterms:created xsi:type="dcterms:W3CDTF">2013-01-27T09:14:16Z</dcterms:created>
  <dcterms:modified xsi:type="dcterms:W3CDTF">2026-10-30T07:43:48Z</dcterms:modified>
  <cp:category/>
</cp:coreProperties>
</file>