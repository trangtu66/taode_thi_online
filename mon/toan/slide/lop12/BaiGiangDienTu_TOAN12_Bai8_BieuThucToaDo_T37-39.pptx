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3D, video mở trang online (cần Internet).</a:t>
            </a:r>
          </a:p>
          <a:p>
            <a:r>
              <a:t>Lớp 12A2, 12A7 có HS khiếm thị: GV đọc to toạ độ, công thức; cho phép dùng máy tính cầm tay có giọng đọc nếu có.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khung 8' – Nhận xét, Ví dụ 1, LT1: 10' – HĐ2, khung, Ví dụ 2, LT2: 12' – Trò chơi 6'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HS dự đoán: dài 450 cm, rộng 240 cm, cạnh bên mặt tiền? Giải ở Ví dụ 6 (Tiết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tr.67) – 4'. Click 1, 2. Chốt khung. Câu hỏi (?): vectơ đối (click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Nhận xét: điều kiện cùng phương. Ví dụ 1 (click 1, 2), Luyện tập 1 (click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tr.68) – 4'. Gợi ý: OM = ½(OA + OB), OG = ⅓(OA + OB + OC). Click 1.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2). Luyện tập 2 (click 3): C = 3G − A −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1–4.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HĐ3, khung, Nhận xét 9' – Ví dụ 3, LT3: 7' – Ví dụ 4, Chú ý, LT4: 12' – Ví dụ 5, LT5, GeoGebra 12' – Tổng kết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tr.69) – 5'. Click 1–3.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2). Luyện tập 3 (click 3): (a + b)² = |a + b|² = 38.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hướng dẫn chọn hệ trục, đọc toạ độ (click 1–3). Chốt Chú ý: công thức khoảng cách.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4' (máy tính cầm tay). Click 1, 2.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(click 1–3). Luyện tập 5 (click 4): C = B + AB = (1 080; 600; 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A=(800,500,7), B=(940,550,8), t=Slider(0,30,1), M=A+t/10*(B-A).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Hộp quà 6' – Ví dụ 6, LT6: 8' – Ví dụ 7, LT7, GeoGebra 9' – Bài tập 2.20 – 2.24 (17') – Củng cố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Đáp án đã kiểm tra bằng Python.</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sánh với dự đoán đầu Tiết 1 (click 1–3). Luyện tập 6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4'. Click 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7 (click 1, 2). Luyện tập 7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K1=(2,1,h1), K2=(-1,-1.5,h2), h1, h2 thanh trượt, d=Distance(K1,K2).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8_BieuThuc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trangtu66.github.io/Taode_thi_online/GGB3D_T12_Bai8_1_MayBay.html" TargetMode="External"/><Relationship Id="rId4" Type="http://schemas.openxmlformats.org/officeDocument/2006/relationships/image" Target="../media/image5.png"/><Relationship Id="rId5"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4.xml"/><Relationship Id="rId6" Type="http://schemas.openxmlformats.org/officeDocument/2006/relationships/slide" Target="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slide" Target="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slide" Target="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png"/><Relationship Id="rId4" Type="http://schemas.openxmlformats.org/officeDocument/2006/relationships/slide" Target="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trangtu66.github.io/Taode_thi_online/GGB3D_T12_Bai8_2_KhinhKhiCau.html" TargetMode="External"/><Relationship Id="rId4" Type="http://schemas.openxmlformats.org/officeDocument/2006/relationships/image" Target="../media/image7.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9.png"/><Relationship Id="rId4" Type="http://schemas.openxmlformats.org/officeDocument/2006/relationships/hyperlink" Target="https://trangtu66.github.io/Taode_thi_online/cc_bai8_t12.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8</a:t>
            </a:r>
          </a:p>
          <a:p>
            <a:pPr>
              <a:spcAft>
                <a:spcPts val="600"/>
              </a:spcAft>
            </a:pPr>
            <a:r>
              <a:rPr sz="3800" b="1">
                <a:solidFill>
                  <a:srgbClr val="FFFFFF"/>
                </a:solidFill>
                <a:latin typeface="Cambria"/>
              </a:rPr>
              <a:t>BIỂU THỨC TOẠ ĐỘ CỦA CÁC PHÉP TOÁN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tr.67 – 72)</a:t>
            </a:r>
          </a:p>
          <a:p>
            <a:pPr algn="l">
              <a:spcAft>
                <a:spcPts val="800"/>
              </a:spcAft>
            </a:pPr>
            <a:r>
              <a:rPr sz="2200">
                <a:solidFill>
                  <a:srgbClr val="E0E7FF"/>
                </a:solidFill>
                <a:latin typeface="Calibri"/>
              </a:rPr>
              <a:t>3 tiết: T37 – T39</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a:t>
            </a:r>
          </a:p>
        </p:txBody>
      </p:sp>
      <p:sp>
        <p:nvSpPr>
          <p:cNvPr id="7" name="Rounded Rectangle 6"/>
          <p:cNvSpPr/>
          <p:nvPr/>
        </p:nvSpPr>
        <p:spPr>
          <a:xfrm>
            <a:off x="548640" y="1417320"/>
            <a:ext cx="11064240" cy="247802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40487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tr.67)</a:t>
            </a:r>
          </a:p>
          <a:p>
            <a:pPr algn="l" marL="365760" indent="-365760">
              <a:spcAft>
                <a:spcPts val="800"/>
              </a:spcAft>
              <a:buClr>
                <a:srgbClr val="1E40AF"/>
              </a:buClr>
              <a:buFont typeface="Arial"/>
              <a:buChar char="•"/>
            </a:pPr>
            <a:r>
              <a:rPr sz="2200">
                <a:solidFill>
                  <a:srgbClr val="1E293B"/>
                </a:solidFill>
                <a:latin typeface="Calibri"/>
              </a:rPr>
              <a:t>Nhận biết biểu thức toạ độ của các phép toán vectơ trong không gian, thể hiện các phép toán vectơ theo toạ độ, xác định độ dài của một vectơ khi biết toạ độ hai đầu mút.</a:t>
            </a:r>
          </a:p>
          <a:p>
            <a:pPr algn="l" marL="365760" indent="-365760">
              <a:spcAft>
                <a:spcPts val="800"/>
              </a:spcAft>
              <a:buClr>
                <a:srgbClr val="1E40AF"/>
              </a:buClr>
              <a:buFont typeface="Arial"/>
              <a:buChar char="•"/>
            </a:pPr>
            <a:r>
              <a:rPr sz="2200">
                <a:solidFill>
                  <a:srgbClr val="1E293B"/>
                </a:solidFill>
                <a:latin typeface="Calibri"/>
              </a:rPr>
              <a:t>Vận dụng biểu thức toạ độ của các phép toán vectơ để giải một số bài toán có liên quan đến thực tiễn.</a:t>
            </a:r>
          </a:p>
        </p:txBody>
      </p:sp>
      <p:sp>
        <p:nvSpPr>
          <p:cNvPr id="9" name="TextBox 8"/>
          <p:cNvSpPr txBox="1"/>
          <p:nvPr/>
        </p:nvSpPr>
        <p:spPr>
          <a:xfrm>
            <a:off x="548640" y="412394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(nhà gỗ, máy bay, khinh khí cầu); giải quyết vấn đề; sử dụng công cụ (máy tính cầm tay,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T37</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Biểu thức toạ độ của phép cộng, trừ, nhân số với vectơ; trung điểm, trọng tâm</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T38</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2. Biểu thức toạ độ của tích vô hướng. 3. Vận dụng: máy bay (Ví dụ 5)</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 3D · Đúng hay Sai?</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T39</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Ví dụ 6 (nhà gỗ), Ví dụ 7 (khinh khí cầu); Bài tập 2.20 – 2.24</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 GeoGebra 3D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(T37)</a:t>
            </a:r>
          </a:p>
          <a:p>
            <a:pPr>
              <a:spcAft>
                <a:spcPts val="600"/>
              </a:spcAft>
            </a:pPr>
            <a:r>
              <a:rPr sz="4000" b="1">
                <a:solidFill>
                  <a:srgbClr val="FFFFFF"/>
                </a:solidFill>
                <a:latin typeface="Cambria"/>
              </a:rPr>
              <a:t>Phép cộng, trừ, nhân số với vectơ theo toạ độ</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toạ độ của tổng, hiệu, tích vectơ với một số.</a:t>
            </a:r>
          </a:p>
          <a:p>
            <a:pPr algn="l">
              <a:spcAft>
                <a:spcPts val="800"/>
              </a:spcAft>
            </a:pPr>
            <a:r>
              <a:rPr sz="2200">
                <a:solidFill>
                  <a:srgbClr val="E0E7FF"/>
                </a:solidFill>
                <a:latin typeface="Calibri"/>
              </a:rPr>
              <a:t>• Tìm toạ độ trung điểm đoạn thẳng, trọng tâm tam giác.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KÍCH THƯỚC CĂN NHÀ GỖ</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14:m>
                  <m:oMath xmlns:m="http://schemas.openxmlformats.org/officeDocument/2006/math">
                    <m:r>
                      <a:rPr lang="vi-VN" sz="2200" b="0">
                        <a:solidFill>
                          <a:srgbClr val="1E293B"/>
                        </a:solidFill>
                        <a:latin typeface="Cambria Math" panose="02040503050406030204" pitchFamily="18" charset="0"/>
                      </a:rPr>
                      <m:t>OAB.</m:t>
                    </m:r>
                    <m:sSup>
                      <m:e>
                        <m:r>
                          <a:rPr lang="vi-VN" sz="2200" b="0">
                            <a:solidFill>
                              <a:srgbClr val="1E293B"/>
                            </a:solidFill>
                            <a:latin typeface="Cambria Math" panose="02040503050406030204" pitchFamily="18" charset="0"/>
                          </a:rPr>
                          <m:t>O</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như trong Hình 2.47b. Với hệ trục toạ độ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như Hình 2.47b (đơn vị centimét), hai điểm </a:t>
                </a:r>
                <a14:m>
                  <m:oMath xmlns:m="http://schemas.openxmlformats.org/officeDocument/2006/math">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toạ độ lần lượt là </a:t>
                </a:r>
                <a14:m>
                  <m:oMath xmlns:m="http://schemas.openxmlformats.org/officeDocument/2006/math">
                    <m:d>
                      <m:dPr>
                        <m:sepChr m:val=""/>
                      </m:dPr>
                      <m:e>
                        <m:r>
                          <a:rPr lang="vi-VN" sz="2200" b="0">
                            <a:solidFill>
                              <a:srgbClr val="1E293B"/>
                            </a:solidFill>
                            <a:latin typeface="Cambria Math" panose="02040503050406030204" pitchFamily="18" charset="0"/>
                          </a:rPr>
                          <m:t>240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450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120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450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300</m:t>
                        </m:r>
                      </m:e>
                    </m:d>
                  </m:oMath>
                </a14:m>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r>
                  <a:rPr lang="vi-VN"/>
                  <a:t>OAB.O'A'B'</a:t>
                </a:r>
                <a:r>
                  <a:rPr sz="2200">
                    <a:solidFill>
                      <a:srgbClr val="1E293B"/>
                    </a:solidFill>
                    <a:latin typeface="Calibri"/>
                  </a:rPr>
                  <a:t> như trong Hình 2.47b. Với hệ trục toạ độ </a:t>
                </a:r>
                <a:r>
                  <a:rPr lang="vi-VN"/>
                  <a:t>Oxyz</a:t>
                </a:r>
                <a:r>
                  <a:rPr sz="2200">
                    <a:solidFill>
                      <a:srgbClr val="1E293B"/>
                    </a:solidFill>
                    <a:latin typeface="Calibri"/>
                  </a:rPr>
                  <a:t> như Hình 2.47b (đơn vị centimét), hai điểm </a:t>
                </a:r>
                <a:r>
                  <a:rPr lang="vi-VN"/>
                  <a:t>A'</a:t>
                </a:r>
                <a:r>
                  <a:rPr sz="2200">
                    <a:solidFill>
                      <a:srgbClr val="1E293B"/>
                    </a:solidFill>
                    <a:latin typeface="Calibri"/>
                  </a:rPr>
                  <a:t> và </a:t>
                </a:r>
                <a:r>
                  <a:rPr lang="vi-VN"/>
                  <a:t>B'</a:t>
                </a:r>
                <a:r>
                  <a:rPr sz="2200">
                    <a:solidFill>
                      <a:srgbClr val="1E293B"/>
                    </a:solidFill>
                    <a:latin typeface="Calibri"/>
                  </a:rPr>
                  <a:t> có toạ độ lần lượt là </a:t>
                </a:r>
                <a:r>
                  <a:rPr lang="vi-VN"/>
                  <a:t>(240;\ 450;\ 0)</a:t>
                </a:r>
                <a:r>
                  <a:rPr sz="2200">
                    <a:solidFill>
                      <a:srgbClr val="1E293B"/>
                    </a:solidFill>
                    <a:latin typeface="Calibri"/>
                  </a:rPr>
                  <a:t> và </a:t>
                </a:r>
                <a:r>
                  <a:rPr lang="vi-VN"/>
                  <a:t>(120;\ 450;\ 300)</a:t>
                </a:r>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47.png"/>
          <p:cNvPicPr>
            <a:picLocks noChangeAspect="1"/>
          </p:cNvPicPr>
          <p:nvPr/>
        </p:nvPicPr>
        <p:blipFill>
          <a:blip r:embed="rId5"/>
          <a:stretch>
            <a:fillRect/>
          </a:stretch>
        </p:blipFill>
        <p:spPr>
          <a:xfrm>
            <a:off x="7315200" y="2778053"/>
            <a:ext cx="4389120" cy="139333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CỘNG, TRỪ, NHÂN SỐ VỚI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oMath>
                </a14:m>
                <a:r>
                  <a:rPr sz="2000">
                    <a:solidFill>
                      <a:srgbClr val="1E293B"/>
                    </a:solidFill>
                    <a:latin typeface="Calibri"/>
                  </a:rPr>
                  <a:t>. a) Biểu diễn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qua các vectơ đơn vị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b) Biểu diễn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qua các vectơ đơn vị, từ đó xác định toạ độ của hai vectơ đó.</a:t>
                </a:r>
              </a:p>
            </p:txBody>
          </p:sp>
        </mc:Choice>
        <mc:Fallback>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r>
                  <a:rPr lang="vi-VN"/>
                  <a:t>Oxyz</a:t>
                </a:r>
                <a:r>
                  <a:rPr sz="2000">
                    <a:solidFill>
                      <a:srgbClr val="1E293B"/>
                    </a:solidFill>
                    <a:latin typeface="Calibri"/>
                  </a:rPr>
                  <a:t>, cho hai vectơ </a:t>
                </a:r>
                <a:r>
                  <a:rPr lang="vi-VN"/>
                  <a:t>\vec{a}=(1;\ 0;\ 5)</a:t>
                </a:r>
                <a:r>
                  <a:rPr sz="2000">
                    <a:solidFill>
                      <a:srgbClr val="1E293B"/>
                    </a:solidFill>
                    <a:latin typeface="Calibri"/>
                  </a:rPr>
                  <a:t> và </a:t>
                </a:r>
                <a:r>
                  <a:rPr lang="vi-VN"/>
                  <a:t>\vec{b}=(1;\ 3;\ 9)</a:t>
                </a:r>
                <a:r>
                  <a:rPr sz="2000">
                    <a:solidFill>
                      <a:srgbClr val="1E293B"/>
                    </a:solidFill>
                    <a:latin typeface="Calibri"/>
                  </a:rPr>
                  <a:t>. a) Biểu diễn hai vectơ </a:t>
                </a:r>
                <a:r>
                  <a:rPr lang="vi-VN"/>
                  <a:t>\vec{a}</a:t>
                </a:r>
                <a:r>
                  <a:rPr sz="2000">
                    <a:solidFill>
                      <a:srgbClr val="1E293B"/>
                    </a:solidFill>
                    <a:latin typeface="Calibri"/>
                  </a:rPr>
                  <a:t> và </a:t>
                </a:r>
                <a:r>
                  <a:rPr lang="vi-VN"/>
                  <a:t>\vec{b}</a:t>
                </a:r>
                <a:r>
                  <a:rPr sz="2000">
                    <a:solidFill>
                      <a:srgbClr val="1E293B"/>
                    </a:solidFill>
                    <a:latin typeface="Calibri"/>
                  </a:rPr>
                  <a:t> qua các vectơ đơn vị </a:t>
                </a:r>
                <a:r>
                  <a:rPr lang="vi-VN"/>
                  <a:t>\vec{i},\ \vec{j},\ \vec{k}</a:t>
                </a:r>
                <a:r>
                  <a:rPr sz="2000">
                    <a:solidFill>
                      <a:srgbClr val="1E293B"/>
                    </a:solidFill>
                    <a:latin typeface="Calibri"/>
                  </a:rPr>
                  <a:t>. b) Biểu diễn hai vectơ </a:t>
                </a:r>
                <a:r>
                  <a:rPr lang="vi-VN"/>
                  <a:t>\vec{a}+\vec{b}</a:t>
                </a:r>
                <a:r>
                  <a:rPr sz="2000">
                    <a:solidFill>
                      <a:srgbClr val="1E293B"/>
                    </a:solidFill>
                    <a:latin typeface="Calibri"/>
                  </a:rPr>
                  <a:t> và </a:t>
                </a:r>
                <a:r>
                  <a:rPr lang="vi-VN"/>
                  <a:t>2\vec{a}</a:t>
                </a:r>
                <a:r>
                  <a:rPr sz="2000">
                    <a:solidFill>
                      <a:srgbClr val="1E293B"/>
                    </a:solidFill>
                    <a:latin typeface="Calibri"/>
                  </a:rPr>
                  <a:t> qua các vectơ đơn vị, từ đó xác định toạ độ của hai vectơ đó.</a:t>
                </a:r>
              </a:p>
            </p:txBody>
          </p:sp>
        </mc:Fallback>
      </mc:AlternateContent>
      <p:sp>
        <p:nvSpPr>
          <p:cNvPr id="8" name="s1_nen"/>
          <p:cNvSpPr/>
          <p:nvPr/>
        </p:nvSpPr>
        <p:spPr>
          <a:xfrm>
            <a:off x="548640" y="2532888"/>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+5</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+9</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9" name="TextBox 8"/>
              <p:cNvSpPr txBox="1"/>
              <p:nvPr/>
            </p:nvSpPr>
            <p:spPr>
              <a:xfrm>
                <a:off x="713232" y="256946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\vec{a}=\vec{i}+5\vec{k}</a:t>
                </a:r>
                <a:r>
                  <a:rPr sz="2000">
                    <a:solidFill>
                      <a:srgbClr val="1E293B"/>
                    </a:solidFill>
                    <a:latin typeface="Calibri"/>
                  </a:rPr>
                  <a:t>, </a:t>
                </a:r>
                <a:r>
                  <a:rPr lang="vi-VN"/>
                  <a:t>\vec{b}=\vec{i}+3\vec{j}+9\vec{k}</a:t>
                </a:r>
                <a:r>
                  <a:rPr sz="2000">
                    <a:solidFill>
                      <a:srgbClr val="1E293B"/>
                    </a:solidFill>
                    <a:latin typeface="Calibri"/>
                  </a:rPr>
                  <a:t>.</a:t>
                </a:r>
              </a:p>
            </p:txBody>
          </p:sp>
        </mc:Fallback>
      </mc:AlternateContent>
      <p:sp>
        <p:nvSpPr>
          <p:cNvPr id="10" name="s2_nen"/>
          <p:cNvSpPr/>
          <p:nvPr/>
        </p:nvSpPr>
        <p:spPr>
          <a:xfrm>
            <a:off x="548640" y="317601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+3</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+14</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+10</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10)</m:t>
                    </m:r>
                  </m:oMath>
                </a14:m>
                <a:r>
                  <a:rPr sz="2000">
                    <a:solidFill>
                      <a:srgbClr val="1E293B"/>
                    </a:solidFill>
                    <a:latin typeface="Calibri"/>
                  </a:rPr>
                  <a:t>.</a:t>
                </a:r>
              </a:p>
            </p:txBody>
          </p:sp>
        </mc:Choice>
        <mc:Fallback>
          <p:sp>
            <p:nvSpPr>
              <p:cNvPr id="11" name="TextBox 10"/>
              <p:cNvSpPr txBox="1"/>
              <p:nvPr/>
            </p:nvSpPr>
            <p:spPr>
              <a:xfrm>
                <a:off x="713232" y="32125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\vec{a}+\vec{b}=2\vec{i}+3\vec{j}+14\vec{k}=(2;\ 3;\ 14)</a:t>
                </a:r>
                <a:r>
                  <a:rPr sz="2000">
                    <a:solidFill>
                      <a:srgbClr val="1E293B"/>
                    </a:solidFill>
                    <a:latin typeface="Calibri"/>
                  </a:rPr>
                  <a:t>; </a:t>
                </a:r>
                <a:r>
                  <a:rPr lang="vi-VN"/>
                  <a:t>2\vec{a}=2\vec{i}+10\vec{k}=(2;\ 0;\ 10)</a:t>
                </a:r>
                <a:r>
                  <a:rPr sz="2000">
                    <a:solidFill>
                      <a:srgbClr val="1E293B"/>
                    </a:solidFill>
                    <a:latin typeface="Calibri"/>
                  </a:rPr>
                  <a:t>.</a:t>
                </a:r>
              </a:p>
            </p:txBody>
          </p:sp>
        </mc:Fallback>
      </mc:AlternateContent>
      <p:sp>
        <p:nvSpPr>
          <p:cNvPr id="12" name="s3_nen"/>
          <p:cNvSpPr/>
          <p:nvPr/>
        </p:nvSpPr>
        <p:spPr>
          <a:xfrm>
            <a:off x="548640" y="3819144"/>
            <a:ext cx="11064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85572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Ta có: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=(kx;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ky;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kz)</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là một số thực.</a:t>
                </a:r>
              </a:p>
            </p:txBody>
          </p:sp>
        </mc:Choice>
        <mc:Fallback>
          <p:sp>
            <p:nvSpPr>
              <p:cNvPr id="13" name="TextBox 12"/>
              <p:cNvSpPr txBox="1"/>
              <p:nvPr/>
            </p:nvSpPr>
            <p:spPr>
              <a:xfrm>
                <a:off x="713232" y="385572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Ta có: </a:t>
                </a:r>
                <a:r>
                  <a:rPr lang="vi-VN"/>
                  <a:t>\vec{a}+\vec{b}=(x+x';\ y+y';\ z+z')</a:t>
                </a:r>
                <a:r>
                  <a:rPr sz="2000">
                    <a:solidFill>
                      <a:srgbClr val="1E293B"/>
                    </a:solidFill>
                    <a:latin typeface="Calibri"/>
                  </a:rPr>
                  <a:t>; </a:t>
                </a:r>
                <a:r>
                  <a:rPr lang="vi-VN"/>
                  <a:t>\vec{a}-\vec{b}=(x-x';\ y-y';\ z-z')</a:t>
                </a:r>
                <a:r>
                  <a:rPr sz="2000">
                    <a:solidFill>
                      <a:srgbClr val="1E293B"/>
                    </a:solidFill>
                    <a:latin typeface="Calibri"/>
                  </a:rPr>
                  <a:t>; </a:t>
                </a:r>
                <a:r>
                  <a:rPr lang="vi-VN"/>
                  <a:t>k\vec{a}=(kx;\ ky;\ kz)</a:t>
                </a:r>
                <a:r>
                  <a:rPr sz="2000">
                    <a:solidFill>
                      <a:srgbClr val="1E293B"/>
                    </a:solidFill>
                    <a:latin typeface="Calibri"/>
                  </a:rPr>
                  <a:t> với </a:t>
                </a:r>
                <a:r>
                  <a:rPr lang="vi-VN"/>
                  <a:t>k</a:t>
                </a:r>
                <a:r>
                  <a:rPr sz="2000">
                    <a:solidFill>
                      <a:srgbClr val="1E293B"/>
                    </a:solidFill>
                    <a:latin typeface="Calibri"/>
                  </a:rPr>
                  <a:t> là một số thực.</a:t>
                </a:r>
              </a:p>
            </p:txBody>
          </p:sp>
        </mc:Fallback>
      </mc:AlternateContent>
      <p:sp>
        <p:nvSpPr>
          <p:cNvPr id="14" name="s4_nen"/>
          <p:cNvSpPr/>
          <p:nvPr/>
        </p:nvSpPr>
        <p:spPr>
          <a:xfrm>
            <a:off x="548640" y="476707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713232" y="480364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Vectơ đối của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là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a:t>
                </a:r>
              </a:p>
            </p:txBody>
          </p:sp>
        </mc:Choice>
        <mc:Fallback>
          <p:sp>
            <p:nvSpPr>
              <p:cNvPr id="15" name="TextBox 14"/>
              <p:cNvSpPr txBox="1"/>
              <p:nvPr/>
            </p:nvSpPr>
            <p:spPr>
              <a:xfrm>
                <a:off x="713232" y="480364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Vectơ đối của </a:t>
                </a:r>
                <a:r>
                  <a:rPr lang="vi-VN"/>
                  <a:t>\vec{a}=(x;\ y;\ z)</a:t>
                </a:r>
                <a:r>
                  <a:rPr sz="2000">
                    <a:solidFill>
                      <a:srgbClr val="1E293B"/>
                    </a:solidFill>
                    <a:latin typeface="Calibri"/>
                  </a:rPr>
                  <a:t> là </a:t>
                </a:r>
                <a:r>
                  <a:rPr lang="vi-VN"/>
                  <a:t>-\vec{a}=(-x;\ -y;\ -z)</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TR.68)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7</a:t>
            </a:r>
          </a:p>
        </p:txBody>
      </p:sp>
      <p:sp>
        <p:nvSpPr>
          <p:cNvPr id="7" name="Rounded Rectangle 6"/>
          <p:cNvSpPr/>
          <p:nvPr/>
        </p:nvSpPr>
        <p:spPr>
          <a:xfrm>
            <a:off x="548640" y="1371600"/>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=(x;y;z)</m:t>
                    </m:r>
                  </m:oMath>
                </a14:m>
                <a:r>
                  <a:rPr sz="2100">
                    <a:solidFill>
                      <a:srgbClr val="1E293B"/>
                    </a:solidFill>
                    <a:latin typeface="Calibri"/>
                  </a:rPr>
                  <a:t> cùng phương với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z</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0</m:t>
                        </m:r>
                      </m:e>
                    </m:acc>
                  </m:oMath>
                </a14:m>
                <a:r>
                  <a:rPr sz="2100">
                    <a:solidFill>
                      <a:srgbClr val="1E293B"/>
                    </a:solidFill>
                    <a:latin typeface="Calibri"/>
                  </a:rPr>
                  <a:t> khi và chỉ khi tồn tại số thực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sao cho </a:t>
                </a:r>
                <a14:m>
                  <m:oMath xmlns:m="http://schemas.openxmlformats.org/officeDocument/2006/math">
                    <m:r>
                      <a:rPr lang="vi-VN" sz="2100" b="0">
                        <a:solidFill>
                          <a:srgbClr val="1E293B"/>
                        </a:solidFill>
                        <a:latin typeface="Cambria Math" panose="02040503050406030204" pitchFamily="18" charset="0"/>
                      </a:rPr>
                      <m:t>x=k</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y=k</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z=k</m:t>
                    </m:r>
                    <m:sSup>
                      <m:e>
                        <m:r>
                          <a:rPr lang="vi-VN" sz="2100" b="0">
                            <a:solidFill>
                              <a:srgbClr val="1E293B"/>
                            </a:solidFill>
                            <a:latin typeface="Cambria Math" panose="02040503050406030204" pitchFamily="18" charset="0"/>
                          </a:rPr>
                          <m:t>z</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8" name="TextBox 7"/>
              <p:cNvSpPr txBox="1"/>
              <p:nvPr/>
            </p:nvSpPr>
            <p:spPr>
              <a:xfrm>
                <a:off x="713232" y="140817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r>
                  <a:rPr lang="vi-VN"/>
                  <a:t>\vec{a}=(x;y;z)</a:t>
                </a:r>
                <a:r>
                  <a:rPr sz="2100">
                    <a:solidFill>
                      <a:srgbClr val="1E293B"/>
                    </a:solidFill>
                    <a:latin typeface="Calibri"/>
                  </a:rPr>
                  <a:t> cùng phương với </a:t>
                </a:r>
                <a:r>
                  <a:rPr lang="vi-VN"/>
                  <a:t>\vec{b}=(x';y';z')\ne\vec{0}</a:t>
                </a:r>
                <a:r>
                  <a:rPr sz="2100">
                    <a:solidFill>
                      <a:srgbClr val="1E293B"/>
                    </a:solidFill>
                    <a:latin typeface="Calibri"/>
                  </a:rPr>
                  <a:t> khi và chỉ khi tồn tại số thực </a:t>
                </a:r>
                <a:r>
                  <a:rPr lang="vi-VN"/>
                  <a:t>k</a:t>
                </a:r>
                <a:r>
                  <a:rPr sz="2100">
                    <a:solidFill>
                      <a:srgbClr val="1E293B"/>
                    </a:solidFill>
                    <a:latin typeface="Calibri"/>
                  </a:rPr>
                  <a:t> sao cho </a:t>
                </a:r>
                <a:r>
                  <a:rPr lang="vi-VN"/>
                  <a:t>x=kx',\ y=ky',\ z=kz'</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s1_chu"/>
              <p:cNvSpPr txBox="1"/>
              <p:nvPr/>
            </p:nvSpPr>
            <p:spPr>
              <a:xfrm>
                <a:off x="548640" y="2350008"/>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oMath>
                </a14:m>
                <a:r>
                  <a:rPr sz="2100">
                    <a:solidFill>
                      <a:srgbClr val="1E293B"/>
                    </a:solidFill>
                    <a:latin typeface="Calibri"/>
                  </a:rPr>
                  <a:t>. Tìm toạ độ của mỗi vectơ: a)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b</m:t>
                        </m:r>
                      </m:e>
                    </m:acc>
                  </m:oMath>
                </a14:m>
                <a:r>
                  <a:rPr sz="2100">
                    <a:solidFill>
                      <a:srgbClr val="1E293B"/>
                    </a:solidFill>
                    <a:latin typeface="Calibri"/>
                  </a:rPr>
                  <a:t>.</a:t>
                </a:r>
              </a:p>
            </p:txBody>
          </p:sp>
        </mc:Choice>
        <mc:Fallback>
          <p:sp>
            <p:nvSpPr>
              <p:cNvPr id="9" name="TextBox 8"/>
              <p:cNvSpPr txBox="1"/>
              <p:nvPr/>
            </p:nvSpPr>
            <p:spPr>
              <a:xfrm>
                <a:off x="548640" y="2350008"/>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r>
                  <a:rPr lang="vi-VN"/>
                  <a:t>\vec{a}=(2;\ 1;\ 5)</a:t>
                </a:r>
                <a:r>
                  <a:rPr sz="2100">
                    <a:solidFill>
                      <a:srgbClr val="1E293B"/>
                    </a:solidFill>
                    <a:latin typeface="Calibri"/>
                  </a:rPr>
                  <a:t> và </a:t>
                </a:r>
                <a:r>
                  <a:rPr lang="vi-VN"/>
                  <a:t>\vec{b}=(2;\ 2;\ 1)</a:t>
                </a:r>
                <a:r>
                  <a:rPr sz="2100">
                    <a:solidFill>
                      <a:srgbClr val="1E293B"/>
                    </a:solidFill>
                    <a:latin typeface="Calibri"/>
                  </a:rPr>
                  <a:t>. Tìm toạ độ của mỗi vectơ: a) </a:t>
                </a:r>
                <a:r>
                  <a:rPr lang="vi-VN"/>
                  <a:t>\vec{a}-\vec{b}</a:t>
                </a:r>
                <a:r>
                  <a:rPr sz="2100">
                    <a:solidFill>
                      <a:srgbClr val="1E293B"/>
                    </a:solidFill>
                    <a:latin typeface="Calibri"/>
                  </a:rPr>
                  <a:t>; b) </a:t>
                </a:r>
                <a:r>
                  <a:rPr lang="vi-VN"/>
                  <a:t>3\vec{a}+2\vec{b}</a:t>
                </a:r>
                <a:r>
                  <a:rPr sz="2100">
                    <a:solidFill>
                      <a:srgbClr val="1E293B"/>
                    </a:solidFill>
                    <a:latin typeface="Calibri"/>
                  </a:rPr>
                  <a:t>.</a:t>
                </a:r>
              </a:p>
            </p:txBody>
          </p:sp>
        </mc:Fallback>
      </mc:AlternateContent>
      <p:sp>
        <p:nvSpPr>
          <p:cNvPr id="10" name="s2_nen"/>
          <p:cNvSpPr/>
          <p:nvPr/>
        </p:nvSpPr>
        <p:spPr>
          <a:xfrm>
            <a:off x="548640" y="3236975"/>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7355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=(2−2;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5−1)=(0;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a:t>
                </a:r>
              </a:p>
            </p:txBody>
          </p:sp>
        </mc:Choice>
        <mc:Fallback>
          <p:sp>
            <p:nvSpPr>
              <p:cNvPr id="11" name="TextBox 10"/>
              <p:cNvSpPr txBox="1"/>
              <p:nvPr/>
            </p:nvSpPr>
            <p:spPr>
              <a:xfrm>
                <a:off x="713232" y="327355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\vec{a}-\vec{b}=(2-2;\ 1-2;\ 5-1)=(0;\ -1;\ 4)</a:t>
                </a:r>
                <a:r>
                  <a:rPr sz="2100">
                    <a:solidFill>
                      <a:srgbClr val="1E293B"/>
                    </a:solidFill>
                    <a:latin typeface="Calibri"/>
                  </a:rPr>
                  <a:t>.</a:t>
                </a:r>
              </a:p>
            </p:txBody>
          </p:sp>
        </mc:Fallback>
      </mc:AlternateContent>
      <p:sp>
        <p:nvSpPr>
          <p:cNvPr id="12" name="s3_nen"/>
          <p:cNvSpPr/>
          <p:nvPr/>
        </p:nvSpPr>
        <p:spPr>
          <a:xfrm>
            <a:off x="548640" y="389534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=(6;</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=(10;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17)</m:t>
                    </m:r>
                  </m:oMath>
                </a14:m>
                <a:r>
                  <a:rPr sz="2100">
                    <a:solidFill>
                      <a:srgbClr val="1E293B"/>
                    </a:solidFill>
                    <a:latin typeface="Calibri"/>
                  </a:rPr>
                  <a:t>.</a:t>
                </a:r>
              </a:p>
            </p:txBody>
          </p:sp>
        </mc:Choice>
        <mc:Fallback>
          <p:sp>
            <p:nvSpPr>
              <p:cNvPr id="13" name="TextBox 12"/>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3\vec{a}=(6;\ 3;\ 15)</a:t>
                </a:r>
                <a:r>
                  <a:rPr sz="2100">
                    <a:solidFill>
                      <a:srgbClr val="1E293B"/>
                    </a:solidFill>
                    <a:latin typeface="Calibri"/>
                  </a:rPr>
                  <a:t>, </a:t>
                </a:r>
                <a:r>
                  <a:rPr lang="vi-VN"/>
                  <a:t>2\vec{b}=(4;\ 4;\ 2)</a:t>
                </a:r>
                <a:r>
                  <a:rPr sz="2100">
                    <a:solidFill>
                      <a:srgbClr val="1E293B"/>
                    </a:solidFill>
                    <a:latin typeface="Calibri"/>
                  </a:rPr>
                  <a:t> ⇒ </a:t>
                </a:r>
                <a:r>
                  <a:rPr lang="vi-VN"/>
                  <a:t>3\vec{a}+2\vec{b}=(10;\ 7;\ 17)</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s4_chu"/>
              <p:cNvSpPr txBox="1"/>
              <p:nvPr/>
            </p:nvSpPr>
            <p:spPr>
              <a:xfrm>
                <a:off x="548640" y="455371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8;</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6)</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 Tìm toạ độ của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oMath>
                </a14:m>
                <a:r>
                  <a:rPr sz="2100">
                    <a:solidFill>
                      <a:srgbClr val="1E293B"/>
                    </a:solidFill>
                    <a:latin typeface="Calibri"/>
                  </a:rPr>
                  <a:t>.</a:t>
                </a:r>
              </a:p>
            </p:txBody>
          </p:sp>
        </mc:Choice>
        <mc:Fallback>
          <p:sp>
            <p:nvSpPr>
              <p:cNvPr id="14" name="TextBox 13"/>
              <p:cNvSpPr txBox="1"/>
              <p:nvPr/>
            </p:nvSpPr>
            <p:spPr>
              <a:xfrm>
                <a:off x="548640" y="455371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r>
                  <a:rPr lang="vi-VN"/>
                  <a:t>\vec{u}=(1;\ 8;\ 6)</a:t>
                </a:r>
                <a:r>
                  <a:rPr sz="2100">
                    <a:solidFill>
                      <a:srgbClr val="1E293B"/>
                    </a:solidFill>
                    <a:latin typeface="Calibri"/>
                  </a:rPr>
                  <a:t>, </a:t>
                </a:r>
                <a:r>
                  <a:rPr lang="vi-VN"/>
                  <a:t>\vec{v}=(-1;\ 3;\ -2)</a:t>
                </a:r>
                <a:r>
                  <a:rPr sz="2100">
                    <a:solidFill>
                      <a:srgbClr val="1E293B"/>
                    </a:solidFill>
                    <a:latin typeface="Calibri"/>
                  </a:rPr>
                  <a:t> và </a:t>
                </a:r>
                <a:r>
                  <a:rPr lang="vi-VN"/>
                  <a:t>\vec{w}=(0;\ 5;\ 4)</a:t>
                </a:r>
                <a:r>
                  <a:rPr sz="2100">
                    <a:solidFill>
                      <a:srgbClr val="1E293B"/>
                    </a:solidFill>
                    <a:latin typeface="Calibri"/>
                  </a:rPr>
                  <a:t>. Tìm toạ độ của vectơ </a:t>
                </a:r>
                <a:r>
                  <a:rPr lang="vi-VN"/>
                  <a:t>\vec{u}-2\vec{v}+\vec{w}</a:t>
                </a:r>
                <a:r>
                  <a:rPr sz="2100">
                    <a:solidFill>
                      <a:srgbClr val="1E293B"/>
                    </a:solidFill>
                    <a:latin typeface="Calibri"/>
                  </a:rPr>
                  <a:t>.</a:t>
                </a:r>
              </a:p>
            </p:txBody>
          </p:sp>
        </mc:Fallback>
      </mc:AlternateContent>
      <p:sp>
        <p:nvSpPr>
          <p:cNvPr id="15" name="s5_nen"/>
          <p:cNvSpPr/>
          <p:nvPr/>
        </p:nvSpPr>
        <p:spPr>
          <a:xfrm>
            <a:off x="548640" y="5440679"/>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5_chu"/>
              <p:cNvSpPr txBox="1"/>
              <p:nvPr/>
            </p:nvSpPr>
            <p:spPr>
              <a:xfrm>
                <a:off x="713232" y="5477255"/>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−2</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=(1+2+0;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8−6+5;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6+4+4)=(3;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14)</m:t>
                    </m:r>
                  </m:oMath>
                </a14:m>
                <a:r>
                  <a:rPr sz="2100">
                    <a:solidFill>
                      <a:srgbClr val="1E293B"/>
                    </a:solidFill>
                    <a:latin typeface="Calibri"/>
                  </a:rPr>
                  <a:t>.</a:t>
                </a:r>
              </a:p>
            </p:txBody>
          </p:sp>
        </mc:Choice>
        <mc:Fallback>
          <p:sp>
            <p:nvSpPr>
              <p:cNvPr id="16" name="TextBox 15"/>
              <p:cNvSpPr txBox="1"/>
              <p:nvPr/>
            </p:nvSpPr>
            <p:spPr>
              <a:xfrm>
                <a:off x="713232" y="5477255"/>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\vec{u}-2\vec{v}+\vec{w}=(1+2+0;\ 8-6+5;\ 6+4+4)=(3;\ 7;\ 14)</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TRUNG ĐIỂM, TRỌNG TÂM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A(</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C</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C</m:t>
                        </m:r>
                      </m:sub>
                    </m:sSub>
                    <m:r>
                      <a:rPr lang="vi-VN" sz="2100" b="0">
                        <a:solidFill>
                          <a:srgbClr val="1E293B"/>
                        </a:solidFill>
                        <a:latin typeface="Cambria Math" panose="02040503050406030204" pitchFamily="18" charset="0"/>
                      </a:rPr>
                      <m:t>)</m:t>
                    </m:r>
                  </m:oMath>
                </a14:m>
                <a:r>
                  <a:rPr sz="2100">
                    <a:solidFill>
                      <a:srgbClr val="1E293B"/>
                    </a:solidFill>
                    <a:latin typeface="Calibri"/>
                  </a:rPr>
                  <a:t>. a)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trung điểm của đoạn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b) Gọi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G</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C</m:t>
                    </m:r>
                  </m:oMath>
                </a14:m>
                <a:r>
                  <a:rPr sz="2100">
                    <a:solidFill>
                      <a:srgbClr val="1E293B"/>
                    </a:solidFill>
                    <a:latin typeface="Calibri"/>
                  </a:rPr>
                  <a:t>.</a:t>
                </a:r>
              </a:p>
            </p:txBody>
          </p:sp>
        </mc:Choice>
        <mc:Fallback>
          <p:sp>
            <p:nvSpPr>
              <p:cNvPr id="7" name="TextBox 6"/>
              <p:cNvSpPr txBox="1"/>
              <p:nvPr/>
            </p:nvSpPr>
            <p:spPr>
              <a:xfrm>
                <a:off x="548640" y="1371600"/>
                <a:ext cx="110642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r>
                  <a:rPr lang="vi-VN"/>
                  <a:t>ABC</a:t>
                </a:r>
                <a:r>
                  <a:rPr sz="2100">
                    <a:solidFill>
                      <a:srgbClr val="1E293B"/>
                    </a:solidFill>
                    <a:latin typeface="Calibri"/>
                  </a:rPr>
                  <a:t> có </a:t>
                </a:r>
                <a:r>
                  <a:rPr lang="vi-VN"/>
                  <a:t>A(x_A;y_A;z_A)</a:t>
                </a:r>
                <a:r>
                  <a:rPr sz="2100">
                    <a:solidFill>
                      <a:srgbClr val="1E293B"/>
                    </a:solidFill>
                    <a:latin typeface="Calibri"/>
                  </a:rPr>
                  <a:t>, </a:t>
                </a:r>
                <a:r>
                  <a:rPr lang="vi-VN"/>
                  <a:t>B(x_B;y_B;z_B)</a:t>
                </a:r>
                <a:r>
                  <a:rPr sz="2100">
                    <a:solidFill>
                      <a:srgbClr val="1E293B"/>
                    </a:solidFill>
                    <a:latin typeface="Calibri"/>
                  </a:rPr>
                  <a:t>, </a:t>
                </a:r>
                <a:r>
                  <a:rPr lang="vi-VN"/>
                  <a:t>C(x_C;y_C;z_C)</a:t>
                </a:r>
                <a:r>
                  <a:rPr sz="2100">
                    <a:solidFill>
                      <a:srgbClr val="1E293B"/>
                    </a:solidFill>
                    <a:latin typeface="Calibri"/>
                  </a:rPr>
                  <a:t>. a) Gọi </a:t>
                </a:r>
                <a:r>
                  <a:rPr lang="vi-VN"/>
                  <a:t>M</a:t>
                </a:r>
                <a:r>
                  <a:rPr sz="2100">
                    <a:solidFill>
                      <a:srgbClr val="1E293B"/>
                    </a:solidFill>
                    <a:latin typeface="Calibri"/>
                  </a:rPr>
                  <a:t> là trung điểm của đoạn thẳng </a:t>
                </a:r>
                <a:r>
                  <a:rPr lang="vi-VN"/>
                  <a:t>AB</a:t>
                </a:r>
                <a:r>
                  <a:rPr sz="2100">
                    <a:solidFill>
                      <a:srgbClr val="1E293B"/>
                    </a:solidFill>
                    <a:latin typeface="Calibri"/>
                  </a:rPr>
                  <a:t>. Tìm toạ độ của </a:t>
                </a:r>
                <a:r>
                  <a:rPr lang="vi-VN"/>
                  <a:t>M</a:t>
                </a:r>
                <a:r>
                  <a:rPr sz="2100">
                    <a:solidFill>
                      <a:srgbClr val="1E293B"/>
                    </a:solidFill>
                    <a:latin typeface="Calibri"/>
                  </a:rPr>
                  <a:t> theo toạ độ của </a:t>
                </a:r>
                <a:r>
                  <a:rPr lang="vi-VN"/>
                  <a:t>A</a:t>
                </a:r>
                <a:r>
                  <a:rPr sz="2100">
                    <a:solidFill>
                      <a:srgbClr val="1E293B"/>
                    </a:solidFill>
                    <a:latin typeface="Calibri"/>
                  </a:rPr>
                  <a:t> và </a:t>
                </a:r>
                <a:r>
                  <a:rPr lang="vi-VN"/>
                  <a:t>B</a:t>
                </a:r>
                <a:r>
                  <a:rPr sz="2100">
                    <a:solidFill>
                      <a:srgbClr val="1E293B"/>
                    </a:solidFill>
                    <a:latin typeface="Calibri"/>
                  </a:rPr>
                  <a:t>. b) Gọi </a:t>
                </a:r>
                <a:r>
                  <a:rPr lang="vi-VN"/>
                  <a:t>G</a:t>
                </a:r>
                <a:r>
                  <a:rPr sz="2100">
                    <a:solidFill>
                      <a:srgbClr val="1E293B"/>
                    </a:solidFill>
                    <a:latin typeface="Calibri"/>
                  </a:rPr>
                  <a:t> là trọng tâm của tam giác </a:t>
                </a:r>
                <a:r>
                  <a:rPr lang="vi-VN"/>
                  <a:t>ABC</a:t>
                </a:r>
                <a:r>
                  <a:rPr sz="2100">
                    <a:solidFill>
                      <a:srgbClr val="1E293B"/>
                    </a:solidFill>
                    <a:latin typeface="Calibri"/>
                  </a:rPr>
                  <a:t>. Tìm toạ độ của </a:t>
                </a:r>
                <a:r>
                  <a:rPr lang="vi-VN"/>
                  <a:t>G</a:t>
                </a:r>
                <a:r>
                  <a:rPr sz="2100">
                    <a:solidFill>
                      <a:srgbClr val="1E293B"/>
                    </a:solidFill>
                    <a:latin typeface="Calibri"/>
                  </a:rPr>
                  <a:t> theo toạ độ của </a:t>
                </a:r>
                <a:r>
                  <a:rPr lang="vi-VN"/>
                  <a:t>A,\ B</a:t>
                </a:r>
                <a:r>
                  <a:rPr sz="2100">
                    <a:solidFill>
                      <a:srgbClr val="1E293B"/>
                    </a:solidFill>
                    <a:latin typeface="Calibri"/>
                  </a:rPr>
                  <a:t> và </a:t>
                </a:r>
                <a:r>
                  <a:rPr lang="vi-VN"/>
                  <a:t>C</a:t>
                </a:r>
                <a:r>
                  <a:rPr sz="2100">
                    <a:solidFill>
                      <a:srgbClr val="1E293B"/>
                    </a:solidFill>
                    <a:latin typeface="Calibri"/>
                  </a:rPr>
                  <a:t>.</a:t>
                </a:r>
              </a:p>
            </p:txBody>
          </p:sp>
        </mc:Fallback>
      </mc:AlternateContent>
      <p:sp>
        <p:nvSpPr>
          <p:cNvPr id="8" name="s1_nen"/>
          <p:cNvSpPr/>
          <p:nvPr/>
        </p:nvSpPr>
        <p:spPr>
          <a:xfrm>
            <a:off x="548640" y="2916936"/>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53512"/>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OG</m:t>
                        </m:r>
                      </m:e>
                    </m:acc>
                  </m:oMath>
                </a14:m>
                <a:r>
                  <a:rPr sz="2100">
                    <a:solidFill>
                      <a:srgbClr val="1E293B"/>
                    </a:solidFill>
                    <a:latin typeface="Calibri"/>
                  </a:rPr>
                  <a:t> = </a:t>
                </a:r>
                <a14:m>
                  <m:oMath xmlns:m="http://schemas.openxmlformats.org/officeDocument/2006/math">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a:t>
                </a:r>
                <a14:m>
                  <m:oMath xmlns:m="http://schemas.openxmlformats.org/officeDocument/2006/math">
                    <m:acc>
                      <m:accPr>
                        <m:chr m:val="⃗"/>
                      </m:accPr>
                      <m:e>
                        <m:r>
                          <a:rPr lang="vi-VN" sz="2100" b="0">
                            <a:solidFill>
                              <a:srgbClr val="1E293B"/>
                            </a:solidFill>
                            <a:latin typeface="Cambria Math" panose="02040503050406030204" pitchFamily="18" charset="0"/>
                          </a:rPr>
                          <m:t>OA</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OC</m:t>
                        </m:r>
                      </m:e>
                    </m:acc>
                  </m:oMath>
                </a14:m>
                <a:r>
                  <a:rPr sz="2100">
                    <a:solidFill>
                      <a:srgbClr val="1E293B"/>
                    </a:solidFill>
                    <a:latin typeface="Calibri"/>
                  </a:rPr>
                  <a:t>) – lấy toạ độ theo biểu thức toạ độ.</a:t>
                </a:r>
              </a:p>
            </p:txBody>
          </p:sp>
        </mc:Choice>
        <mc:Fallback>
          <p:sp>
            <p:nvSpPr>
              <p:cNvPr id="9" name="TextBox 8"/>
              <p:cNvSpPr txBox="1"/>
              <p:nvPr/>
            </p:nvSpPr>
            <p:spPr>
              <a:xfrm>
                <a:off x="713232" y="2953512"/>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\overrightarrow{OM}</a:t>
                </a:r>
                <a:r>
                  <a:rPr sz="2100">
                    <a:solidFill>
                      <a:srgbClr val="1E293B"/>
                    </a:solidFill>
                    <a:latin typeface="Calibri"/>
                  </a:rPr>
                  <a:t> = </a:t>
                </a:r>
                <a:r>
                  <a:rPr lang="vi-VN"/>
                  <a:t>\frac{1}{2}</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a:t>
                </a:r>
                <a:r>
                  <a:rPr lang="vi-VN"/>
                  <a:t>\overrightarrow{OG}</a:t>
                </a:r>
                <a:r>
                  <a:rPr sz="2100">
                    <a:solidFill>
                      <a:srgbClr val="1E293B"/>
                    </a:solidFill>
                    <a:latin typeface="Calibri"/>
                  </a:rPr>
                  <a:t> = </a:t>
                </a:r>
                <a:r>
                  <a:rPr lang="vi-VN"/>
                  <a:t>\frac{1}{3}</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 </a:t>
                </a:r>
                <a:r>
                  <a:rPr lang="vi-VN"/>
                  <a:t>\overrightarrow{OC}</a:t>
                </a:r>
                <a:r>
                  <a:rPr sz="2100">
                    <a:solidFill>
                      <a:srgbClr val="1E293B"/>
                    </a:solidFill>
                    <a:latin typeface="Calibri"/>
                  </a:rPr>
                  <a:t>) – lấy toạ độ theo biểu thức toạ độ.</a:t>
                </a:r>
              </a:p>
            </p:txBody>
          </p:sp>
        </mc:Fallback>
      </mc:AlternateContent>
      <p:sp>
        <p:nvSpPr>
          <p:cNvPr id="10" name="s2_nen"/>
          <p:cNvSpPr/>
          <p:nvPr/>
        </p:nvSpPr>
        <p:spPr>
          <a:xfrm>
            <a:off x="548640" y="4201668"/>
            <a:ext cx="11064240" cy="218998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38244"/>
                <a:ext cx="10735056" cy="21168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ba điểm không thẳng hàng </a:t>
                </a:r>
                <a14:m>
                  <m:oMath xmlns:m="http://schemas.openxmlformats.org/officeDocument/2006/math">
                    <m:r>
                      <a:rPr lang="vi-VN" sz="2100" b="0">
                        <a:solidFill>
                          <a:srgbClr val="1E293B"/>
                        </a:solidFill>
                        <a:latin typeface="Cambria Math" panose="02040503050406030204" pitchFamily="18" charset="0"/>
                      </a:rPr>
                      <m:t>A,</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C</m:t>
                    </m:r>
                  </m:oMath>
                </a14:m>
                <a:r>
                  <a:rPr sz="2100">
                    <a:solidFill>
                      <a:srgbClr val="1E293B"/>
                    </a:solidFill>
                    <a:latin typeface="Calibri"/>
                  </a:rPr>
                  <a:t>. Toạ độ trung điểm của đoạn thẳng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a:t>
                </a:r>
                <a14:m>
                  <m:oMath xmlns:m="http://schemas.openxmlformats.org/officeDocument/2006/math">
                    <m:d>
                      <m:dPr>
                        <m:sepChr m:val=""/>
                      </m:dPr>
                      <m:e>
                        <m:f>
                          <m:fPr>
                            <m:type m:val="bar"/>
                          </m:fPr>
                          <m:num>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B</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B</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B</m:t>
                                </m:r>
                              </m:sub>
                            </m:sSub>
                          </m:num>
                          <m:den>
                            <m:r>
                              <a:rPr lang="vi-VN" sz="2100" b="0">
                                <a:solidFill>
                                  <a:srgbClr val="1E293B"/>
                                </a:solidFill>
                                <a:latin typeface="Cambria Math" panose="02040503050406030204" pitchFamily="18" charset="0"/>
                              </a:rPr>
                              <m:t>2</m:t>
                            </m:r>
                          </m:den>
                        </m:f>
                      </m:e>
                    </m:d>
                  </m:oMath>
                </a14:m>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a:t>
                </a:r>
                <a14:m>
                  <m:oMath xmlns:m="http://schemas.openxmlformats.org/officeDocument/2006/math">
                    <m:d>
                      <m:dPr>
                        <m:sepChr m:val=""/>
                      </m:dPr>
                      <m:e>
                        <m:f>
                          <m:fPr>
                            <m:type m:val="bar"/>
                          </m:fPr>
                          <m:num>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C</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A</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B</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z</m:t>
                                </m:r>
                              </m:e>
                              <m:sub>
                                <m:r>
                                  <a:rPr lang="vi-VN" sz="2100" b="0">
                                    <a:solidFill>
                                      <a:srgbClr val="1E293B"/>
                                    </a:solidFill>
                                    <a:latin typeface="Cambria Math" panose="02040503050406030204" pitchFamily="18" charset="0"/>
                                  </a:rPr>
                                  <m:t>C</m:t>
                                </m:r>
                              </m:sub>
                            </m:sSub>
                          </m:num>
                          <m:den>
                            <m:r>
                              <a:rPr lang="vi-VN" sz="2100" b="0">
                                <a:solidFill>
                                  <a:srgbClr val="1E293B"/>
                                </a:solidFill>
                                <a:latin typeface="Cambria Math" panose="02040503050406030204" pitchFamily="18" charset="0"/>
                              </a:rPr>
                              <m:t>3</m:t>
                            </m:r>
                          </m:den>
                        </m:f>
                      </m:e>
                    </m:d>
                  </m:oMath>
                </a14:m>
                <a:r>
                  <a:rPr sz="2100">
                    <a:solidFill>
                      <a:srgbClr val="1E293B"/>
                    </a:solidFill>
                    <a:latin typeface="Calibri"/>
                  </a:rPr>
                  <a:t>.</a:t>
                </a:r>
              </a:p>
            </p:txBody>
          </p:sp>
        </mc:Choice>
        <mc:Fallback>
          <p:sp>
            <p:nvSpPr>
              <p:cNvPr id="11" name="TextBox 10"/>
              <p:cNvSpPr txBox="1"/>
              <p:nvPr/>
            </p:nvSpPr>
            <p:spPr>
              <a:xfrm>
                <a:off x="713232" y="4238244"/>
                <a:ext cx="10735056" cy="21168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ba điểm không thẳng hàng </a:t>
                </a:r>
                <a:r>
                  <a:rPr lang="vi-VN"/>
                  <a:t>A,\ B,\ C</a:t>
                </a:r>
                <a:r>
                  <a:rPr sz="2100">
                    <a:solidFill>
                      <a:srgbClr val="1E293B"/>
                    </a:solidFill>
                    <a:latin typeface="Calibri"/>
                  </a:rPr>
                  <a:t>. Toạ độ trung điểm của đoạn thẳng </a:t>
                </a:r>
                <a:r>
                  <a:rPr lang="vi-VN"/>
                  <a:t>AB</a:t>
                </a:r>
                <a:r>
                  <a:rPr sz="2100">
                    <a:solidFill>
                      <a:srgbClr val="1E293B"/>
                    </a:solidFill>
                    <a:latin typeface="Calibri"/>
                  </a:rPr>
                  <a:t>: </a:t>
                </a:r>
                <a:r>
                  <a:rPr lang="vi-VN"/>
                  <a:t>\left(\frac{x_A+x_B}{2};\ \frac{y_A+y_B}{2};\ \frac{z_A+z_B}{2}\right)</a:t>
                </a:r>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r>
                  <a:rPr lang="vi-VN"/>
                  <a:t>ABC</a:t>
                </a:r>
                <a:r>
                  <a:rPr sz="2100">
                    <a:solidFill>
                      <a:srgbClr val="1E293B"/>
                    </a:solidFill>
                    <a:latin typeface="Calibri"/>
                  </a:rPr>
                  <a:t>: </a:t>
                </a:r>
                <a:r>
                  <a:rPr lang="vi-VN"/>
                  <a:t>\left(\frac{x_A+x_B+x_C}{3};\ \frac{y_A+y_B+y_C}{3};\ \frac{z_A+z_B+z_C}{3}\right)</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2 – LUYỆN TẬP 2 (SGK TR.68 – 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C(2;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Tìm toạ độ trung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của đoạn thẳng </a:t>
                </a:r>
                <a14:m>
                  <m:oMath xmlns:m="http://schemas.openxmlformats.org/officeDocument/2006/math">
                    <m:r>
                      <a:rPr lang="vi-VN" sz="2200" b="0">
                        <a:solidFill>
                          <a:srgbClr val="1E293B"/>
                        </a:solidFill>
                        <a:latin typeface="Cambria Math" panose="02040503050406030204" pitchFamily="18" charset="0"/>
                      </a:rPr>
                      <m:t>AB</m:t>
                    </m:r>
                  </m:oMath>
                </a14:m>
                <a:r>
                  <a:rPr sz="2200">
                    <a:solidFill>
                      <a:srgbClr val="1E293B"/>
                    </a:solidFill>
                    <a:latin typeface="Calibri"/>
                  </a:rPr>
                  <a:t> và toạ độ trọng tâm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của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r>
                  <a:rPr lang="vi-VN"/>
                  <a:t>A(1;\ 2;\ 3)</a:t>
                </a:r>
                <a:r>
                  <a:rPr sz="2200">
                    <a:solidFill>
                      <a:srgbClr val="1E293B"/>
                    </a:solidFill>
                    <a:latin typeface="Calibri"/>
                  </a:rPr>
                  <a:t>, </a:t>
                </a:r>
                <a:r>
                  <a:rPr lang="vi-VN"/>
                  <a:t>B(3;\ 2;\ 1)</a:t>
                </a:r>
                <a:r>
                  <a:rPr sz="2200">
                    <a:solidFill>
                      <a:srgbClr val="1E293B"/>
                    </a:solidFill>
                    <a:latin typeface="Calibri"/>
                  </a:rPr>
                  <a:t> và </a:t>
                </a:r>
                <a:r>
                  <a:rPr lang="vi-VN"/>
                  <a:t>C(2;\ -1;\ 5)</a:t>
                </a:r>
                <a:r>
                  <a:rPr sz="2200">
                    <a:solidFill>
                      <a:srgbClr val="1E293B"/>
                    </a:solidFill>
                    <a:latin typeface="Calibri"/>
                  </a:rPr>
                  <a:t>. Tìm toạ độ trung điểm </a:t>
                </a:r>
                <a:r>
                  <a:rPr lang="vi-VN"/>
                  <a:t>M</a:t>
                </a:r>
                <a:r>
                  <a:rPr sz="2200">
                    <a:solidFill>
                      <a:srgbClr val="1E293B"/>
                    </a:solidFill>
                    <a:latin typeface="Calibri"/>
                  </a:rPr>
                  <a:t> của đoạn thẳng </a:t>
                </a:r>
                <a:r>
                  <a:rPr lang="vi-VN"/>
                  <a:t>AB</a:t>
                </a:r>
                <a:r>
                  <a:rPr sz="2200">
                    <a:solidFill>
                      <a:srgbClr val="1E293B"/>
                    </a:solidFill>
                    <a:latin typeface="Calibri"/>
                  </a:rPr>
                  <a:t> và toạ độ trọng tâm </a:t>
                </a:r>
                <a:r>
                  <a:rPr lang="vi-VN"/>
                  <a:t>G</a:t>
                </a:r>
                <a:r>
                  <a:rPr sz="2200">
                    <a:solidFill>
                      <a:srgbClr val="1E293B"/>
                    </a:solidFill>
                    <a:latin typeface="Calibri"/>
                  </a:rPr>
                  <a:t> của tam giác </a:t>
                </a:r>
                <a:r>
                  <a:rPr lang="vi-VN"/>
                  <a:t>ABC</a:t>
                </a:r>
                <a:r>
                  <a:rPr sz="2200">
                    <a:solidFill>
                      <a:srgbClr val="1E293B"/>
                    </a:solidFill>
                    <a:latin typeface="Calibri"/>
                  </a:rPr>
                  <a:t>.</a:t>
                </a:r>
              </a:p>
            </p:txBody>
          </p:sp>
        </mc:Fallback>
      </mc:AlternateContent>
      <p:sp>
        <p:nvSpPr>
          <p:cNvPr id="8" name="s1_nen"/>
          <p:cNvSpPr/>
          <p:nvPr/>
        </p:nvSpPr>
        <p:spPr>
          <a:xfrm>
            <a:off x="548640" y="2307336"/>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43912"/>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m:t>
                    </m:r>
                    <m:d>
                      <m:dPr>
                        <m:sepChr m:val=""/>
                      </m:dPr>
                      <m:e>
                        <m:f>
                          <m:fPr>
                            <m:type m:val="bar"/>
                          </m:fPr>
                          <m:num>
                            <m:r>
                              <a:rPr lang="vi-VN" sz="2200" b="0">
                                <a:solidFill>
                                  <a:srgbClr val="1E293B"/>
                                </a:solidFill>
                                <a:latin typeface="Cambria Math" panose="02040503050406030204" pitchFamily="18" charset="0"/>
                              </a:rPr>
                              <m:t>1+3</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2+2</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3+1</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M(2;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a:t>
                </a:r>
              </a:p>
            </p:txBody>
          </p:sp>
        </mc:Choice>
        <mc:Fallback>
          <p:sp>
            <p:nvSpPr>
              <p:cNvPr id="9" name="TextBox 8"/>
              <p:cNvSpPr txBox="1"/>
              <p:nvPr/>
            </p:nvSpPr>
            <p:spPr>
              <a:xfrm>
                <a:off x="713232" y="2343912"/>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M\left(\frac{1+3}{2};\ \frac{2+2}{2};\ \frac{3+1}{2}\right)</a:t>
                </a:r>
                <a:r>
                  <a:rPr sz="2200">
                    <a:solidFill>
                      <a:srgbClr val="1E293B"/>
                    </a:solidFill>
                    <a:latin typeface="Calibri"/>
                  </a:rPr>
                  <a:t>, tức </a:t>
                </a:r>
                <a:r>
                  <a:rPr lang="vi-VN"/>
                  <a:t>M(2;\ 2;\ 2)</a:t>
                </a:r>
                <a:r>
                  <a:rPr sz="2200">
                    <a:solidFill>
                      <a:srgbClr val="1E293B"/>
                    </a:solidFill>
                    <a:latin typeface="Calibri"/>
                  </a:rPr>
                  <a:t>.</a:t>
                </a:r>
              </a:p>
            </p:txBody>
          </p:sp>
        </mc:Fallback>
      </mc:AlternateContent>
      <p:sp>
        <p:nvSpPr>
          <p:cNvPr id="10" name="s2_nen"/>
          <p:cNvSpPr/>
          <p:nvPr/>
        </p:nvSpPr>
        <p:spPr>
          <a:xfrm>
            <a:off x="548640" y="345186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88436"/>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G</m:t>
                    </m:r>
                    <m:d>
                      <m:dPr>
                        <m:sepChr m:val=""/>
                      </m:dPr>
                      <m:e>
                        <m:f>
                          <m:fPr>
                            <m:type m:val="bar"/>
                          </m:fPr>
                          <m:num>
                            <m:r>
                              <a:rPr lang="vi-VN" sz="2200" b="0">
                                <a:solidFill>
                                  <a:srgbClr val="1E293B"/>
                                </a:solidFill>
                                <a:latin typeface="Cambria Math" panose="02040503050406030204" pitchFamily="18" charset="0"/>
                              </a:rPr>
                              <m:t>1+3+2</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2+2+(−1)</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3+1+5</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G(2;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a:t>
                </a:r>
              </a:p>
            </p:txBody>
          </p:sp>
        </mc:Choice>
        <mc:Fallback>
          <p:sp>
            <p:nvSpPr>
              <p:cNvPr id="11" name="TextBox 10"/>
              <p:cNvSpPr txBox="1"/>
              <p:nvPr/>
            </p:nvSpPr>
            <p:spPr>
              <a:xfrm>
                <a:off x="713232" y="3488436"/>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G\left(\frac{1+3+2}{3};\ \frac{2+2+(-1)}{3};\ \frac{3+1+5}{3}\right)</a:t>
                </a:r>
                <a:r>
                  <a:rPr sz="2200">
                    <a:solidFill>
                      <a:srgbClr val="1E293B"/>
                    </a:solidFill>
                    <a:latin typeface="Calibri"/>
                  </a:rPr>
                  <a:t>, tức </a:t>
                </a:r>
                <a:r>
                  <a:rPr lang="vi-VN"/>
                  <a:t>G(2;\ 1;\ 3)</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596384"/>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A(2;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G(3;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oMath>
                </a14:m>
                <a:r>
                  <a:rPr sz="2200">
                    <a:solidFill>
                      <a:srgbClr val="1E293B"/>
                    </a:solidFill>
                    <a:latin typeface="Calibri"/>
                  </a:rPr>
                  <a:t>. Tìm toạ độ điểm </a:t>
                </a:r>
                <a14:m>
                  <m:oMath xmlns:m="http://schemas.openxmlformats.org/officeDocument/2006/math">
                    <m:r>
                      <a:rPr lang="vi-VN" sz="2200" b="0">
                        <a:solidFill>
                          <a:srgbClr val="1E293B"/>
                        </a:solidFill>
                        <a:latin typeface="Cambria Math" panose="02040503050406030204" pitchFamily="18" charset="0"/>
                      </a:rPr>
                      <m:t>C</m:t>
                    </m:r>
                  </m:oMath>
                </a14:m>
                <a:r>
                  <a:rPr sz="2200">
                    <a:solidFill>
                      <a:srgbClr val="1E293B"/>
                    </a:solidFill>
                    <a:latin typeface="Calibri"/>
                  </a:rPr>
                  <a:t> sao cho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là trọng tâm.</a:t>
                </a:r>
              </a:p>
            </p:txBody>
          </p:sp>
        </mc:Choice>
        <mc:Fallback>
          <p:sp>
            <p:nvSpPr>
              <p:cNvPr id="12" name="TextBox 11"/>
              <p:cNvSpPr txBox="1"/>
              <p:nvPr/>
            </p:nvSpPr>
            <p:spPr>
              <a:xfrm>
                <a:off x="548640" y="4596384"/>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r>
                  <a:rPr lang="vi-VN"/>
                  <a:t>A(2;\ 9;\ -1)</a:t>
                </a:r>
                <a:r>
                  <a:rPr sz="2200">
                    <a:solidFill>
                      <a:srgbClr val="1E293B"/>
                    </a:solidFill>
                    <a:latin typeface="Calibri"/>
                  </a:rPr>
                  <a:t>, </a:t>
                </a:r>
                <a:r>
                  <a:rPr lang="vi-VN"/>
                  <a:t>B(9;\ 4;\ 5)</a:t>
                </a:r>
                <a:r>
                  <a:rPr sz="2200">
                    <a:solidFill>
                      <a:srgbClr val="1E293B"/>
                    </a:solidFill>
                    <a:latin typeface="Calibri"/>
                  </a:rPr>
                  <a:t> và </a:t>
                </a:r>
                <a:r>
                  <a:rPr lang="vi-VN"/>
                  <a:t>G(3;\ 0;\ 4)</a:t>
                </a:r>
                <a:r>
                  <a:rPr sz="2200">
                    <a:solidFill>
                      <a:srgbClr val="1E293B"/>
                    </a:solidFill>
                    <a:latin typeface="Calibri"/>
                  </a:rPr>
                  <a:t>. Tìm toạ độ điểm </a:t>
                </a:r>
                <a:r>
                  <a:rPr lang="vi-VN"/>
                  <a:t>C</a:t>
                </a:r>
                <a:r>
                  <a:rPr sz="2200">
                    <a:solidFill>
                      <a:srgbClr val="1E293B"/>
                    </a:solidFill>
                    <a:latin typeface="Calibri"/>
                  </a:rPr>
                  <a:t> sao cho tam giác </a:t>
                </a:r>
                <a:r>
                  <a:rPr lang="vi-VN"/>
                  <a:t>ABC</a:t>
                </a:r>
                <a:r>
                  <a:rPr sz="2200">
                    <a:solidFill>
                      <a:srgbClr val="1E293B"/>
                    </a:solidFill>
                    <a:latin typeface="Calibri"/>
                  </a:rPr>
                  <a:t> nhận </a:t>
                </a:r>
                <a:r>
                  <a:rPr lang="vi-VN"/>
                  <a:t>G</a:t>
                </a:r>
                <a:r>
                  <a:rPr sz="2200">
                    <a:solidFill>
                      <a:srgbClr val="1E293B"/>
                    </a:solidFill>
                    <a:latin typeface="Calibri"/>
                  </a:rPr>
                  <a:t> là trọng tâm.</a:t>
                </a:r>
              </a:p>
            </p:txBody>
          </p:sp>
        </mc:Fallback>
      </mc:AlternateContent>
      <p:sp>
        <p:nvSpPr>
          <p:cNvPr id="13" name="s4_nen"/>
          <p:cNvSpPr/>
          <p:nvPr/>
        </p:nvSpPr>
        <p:spPr>
          <a:xfrm>
            <a:off x="548640" y="55321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568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C</m:t>
                        </m:r>
                      </m:sub>
                    </m:sSub>
                    <m:r>
                      <a:rPr lang="vi-VN" sz="2200" b="0">
                        <a:solidFill>
                          <a:srgbClr val="1E293B"/>
                        </a:solidFill>
                        <a:latin typeface="Cambria Math" panose="02040503050406030204" pitchFamily="18" charset="0"/>
                      </a:rPr>
                      <m:t>=3</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G</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=9−2−9=−2</m:t>
                    </m:r>
                  </m:oMath>
                </a14:m>
                <a:r>
                  <a:rPr sz="2200">
                    <a:solidFill>
                      <a:srgbClr val="1E293B"/>
                    </a:solidFill>
                    <a:latin typeface="Calibri"/>
                  </a:rPr>
                  <a:t>; tương tự </a:t>
                </a:r>
                <a14:m>
                  <m:oMath xmlns:m="http://schemas.openxmlformats.org/officeDocument/2006/math">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C</m:t>
                        </m:r>
                      </m:sub>
                    </m:sSub>
                    <m:r>
                      <a:rPr lang="vi-VN" sz="2200" b="0">
                        <a:solidFill>
                          <a:srgbClr val="1E293B"/>
                        </a:solidFill>
                        <a:latin typeface="Cambria Math" panose="02040503050406030204" pitchFamily="18" charset="0"/>
                      </a:rPr>
                      <m:t>=−13</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C</m:t>
                        </m:r>
                      </m:sub>
                    </m:sSub>
                    <m:r>
                      <a:rPr lang="vi-VN" sz="2200" b="0">
                        <a:solidFill>
                          <a:srgbClr val="1E293B"/>
                        </a:solidFill>
                        <a:latin typeface="Cambria Math" panose="02040503050406030204" pitchFamily="18" charset="0"/>
                      </a:rPr>
                      <m:t>=8</m:t>
                    </m:r>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C(−2;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8)</m:t>
                    </m:r>
                  </m:oMath>
                </a14:m>
                <a:r>
                  <a:rPr sz="2200">
                    <a:solidFill>
                      <a:srgbClr val="1E293B"/>
                    </a:solidFill>
                    <a:latin typeface="Calibri"/>
                  </a:rPr>
                  <a:t>.</a:t>
                </a:r>
              </a:p>
            </p:txBody>
          </p:sp>
        </mc:Choice>
        <mc:Fallback>
          <p:sp>
            <p:nvSpPr>
              <p:cNvPr id="14" name="TextBox 13"/>
              <p:cNvSpPr txBox="1"/>
              <p:nvPr/>
            </p:nvSpPr>
            <p:spPr>
              <a:xfrm>
                <a:off x="713232" y="5568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x_C=3x_G-x_A-x_B=9-2-9=-2</a:t>
                </a:r>
                <a:r>
                  <a:rPr sz="2200">
                    <a:solidFill>
                      <a:srgbClr val="1E293B"/>
                    </a:solidFill>
                    <a:latin typeface="Calibri"/>
                  </a:rPr>
                  <a:t>; tương tự </a:t>
                </a:r>
                <a:r>
                  <a:rPr lang="vi-VN"/>
                  <a:t>y_C=-13</a:t>
                </a:r>
                <a:r>
                  <a:rPr sz="2200">
                    <a:solidFill>
                      <a:srgbClr val="1E293B"/>
                    </a:solidFill>
                    <a:latin typeface="Calibri"/>
                  </a:rPr>
                  <a:t>, </a:t>
                </a:r>
                <a:r>
                  <a:rPr lang="vi-VN"/>
                  <a:t>z_C=8</a:t>
                </a:r>
                <a:r>
                  <a:rPr sz="2200">
                    <a:solidFill>
                      <a:srgbClr val="1E293B"/>
                    </a:solidFill>
                    <a:latin typeface="Calibri"/>
                  </a:rPr>
                  <a:t>. Vậy </a:t>
                </a:r>
                <a:r>
                  <a:rPr lang="vi-VN"/>
                  <a:t>C(-2;\ -13;\ 8)</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10</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Mỗi câu 20 giây, ghi bảng con; giơ trước, đúng được điểm.</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\vec{a}=(1;\ 2;\ -2)</a:t>
                </a:r>
                <a:r>
                  <a:rPr sz="2200">
                    <a:solidFill>
                      <a:srgbClr val="1E293B"/>
                    </a:solidFill>
                    <a:latin typeface="Calibri"/>
                  </a:rPr>
                  <a:t>, </a:t>
                </a:r>
                <a:r>
                  <a:rPr lang="vi-VN"/>
                  <a:t>\vec{b}=(2;\ 0;\ 1)</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\vec{a}+\vec{b}=\ ?</a:t>
                </a:r>
              </a:p>
            </p:txBody>
          </p:sp>
        </mc:Fallback>
      </mc:AlternateContent>
      <p:sp>
        <p:nvSpPr>
          <p:cNvPr id="10" name="s1_nen"/>
          <p:cNvSpPr/>
          <p:nvPr/>
        </p:nvSpPr>
        <p:spPr>
          <a:xfrm>
            <a:off x="6309360" y="242316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647395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1" name="TextBox 10"/>
              <p:cNvSpPr txBox="1"/>
              <p:nvPr/>
            </p:nvSpPr>
            <p:spPr>
              <a:xfrm>
                <a:off x="647395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2;\ -1)</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2\vec{a}-\vec{b}=\ ?</a:t>
                </a:r>
              </a:p>
            </p:txBody>
          </p:sp>
        </mc:Fallback>
      </mc:AlternateContent>
      <p:sp>
        <p:nvSpPr>
          <p:cNvPr id="13" name="s2_nen"/>
          <p:cNvSpPr/>
          <p:nvPr/>
        </p:nvSpPr>
        <p:spPr>
          <a:xfrm>
            <a:off x="6309360" y="337185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647395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e>
                    </m:d>
                  </m:oMath>
                </a14:m>
              </a:p>
            </p:txBody>
          </p:sp>
        </mc:Choice>
        <mc:Fallback>
          <p:sp>
            <p:nvSpPr>
              <p:cNvPr id="14" name="TextBox 13"/>
              <p:cNvSpPr txBox="1"/>
              <p:nvPr/>
            </p:nvSpPr>
            <p:spPr>
              <a:xfrm>
                <a:off x="647395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(0;\ 4;\ -5)</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oMath>
                </a14:m>
              </a:p>
            </p:txBody>
          </p:sp>
        </mc:Choice>
        <mc:Fallback>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-\vec{a}=\ ?</a:t>
                </a:r>
              </a:p>
            </p:txBody>
          </p:sp>
        </mc:Fallback>
      </mc:AlternateContent>
      <p:sp>
        <p:nvSpPr>
          <p:cNvPr id="16" name="s3_nen"/>
          <p:cNvSpPr/>
          <p:nvPr/>
        </p:nvSpPr>
        <p:spPr>
          <a:xfrm>
            <a:off x="6309360" y="432054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647395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e>
                    </m:d>
                  </m:oMath>
                </a14:m>
              </a:p>
            </p:txBody>
          </p:sp>
        </mc:Choice>
        <mc:Fallback>
          <p:sp>
            <p:nvSpPr>
              <p:cNvPr id="17" name="TextBox 16"/>
              <p:cNvSpPr txBox="1"/>
              <p:nvPr/>
            </p:nvSpPr>
            <p:spPr>
              <a:xfrm>
                <a:off x="647395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 -2;\ 2)</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m:t>
                    </m:r>
                  </m:oMath>
                </a14:m>
                <a:r>
                  <a:rPr sz="2400">
                    <a:solidFill>
                      <a:srgbClr val="1E293B"/>
                    </a:solidFill>
                    <a:latin typeface="Calibri"/>
                  </a:rPr>
                  <a:t> để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m:t>
                        </m:r>
                      </m:e>
                    </m:d>
                  </m:oMath>
                </a14:m>
                <a:r>
                  <a:rPr sz="2400">
                    <a:solidFill>
                      <a:srgbClr val="1E293B"/>
                    </a:solidFill>
                    <a:latin typeface="Calibri"/>
                  </a:rPr>
                  <a:t> cùng phương </a:t>
                </a:r>
                <a14:m>
                  <m:oMath xmlns:m="http://schemas.openxmlformats.org/officeDocument/2006/math">
                    <m:acc>
                      <m:accPr>
                        <m:chr m:val="⃗"/>
                      </m:accPr>
                      <m:e>
                        <m:r>
                          <a:rPr lang="vi-VN" sz="2400" b="0">
                            <a:solidFill>
                              <a:srgbClr val="1E293B"/>
                            </a:solidFill>
                            <a:latin typeface="Cambria Math" panose="02040503050406030204" pitchFamily="18" charset="0"/>
                          </a:rPr>
                          <m:t>a</m:t>
                        </m:r>
                      </m:e>
                    </m:acc>
                  </m:oMath>
                </a14:m>
                <a:r>
                  <a:rPr sz="2400">
                    <a:solidFill>
                      <a:srgbClr val="1E293B"/>
                    </a:solidFill>
                    <a:latin typeface="Calibri"/>
                  </a:rPr>
                  <a:t>?</a:t>
                </a:r>
              </a:p>
            </p:txBody>
          </p:sp>
        </mc:Choice>
        <mc:Fallback>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m</a:t>
                </a:r>
                <a:r>
                  <a:rPr sz="2400">
                    <a:solidFill>
                      <a:srgbClr val="1E293B"/>
                    </a:solidFill>
                    <a:latin typeface="Calibri"/>
                  </a:rPr>
                  <a:t> để </a:t>
                </a:r>
                <a:r>
                  <a:rPr lang="vi-VN"/>
                  <a:t>(2;\ 4;\ m)</a:t>
                </a:r>
                <a:r>
                  <a:rPr sz="2400">
                    <a:solidFill>
                      <a:srgbClr val="1E293B"/>
                    </a:solidFill>
                    <a:latin typeface="Calibri"/>
                  </a:rPr>
                  <a:t> cùng phương </a:t>
                </a:r>
                <a:r>
                  <a:rPr lang="vi-VN"/>
                  <a:t>\vec{a}</a:t>
                </a:r>
                <a:r>
                  <a:rPr sz="2400">
                    <a:solidFill>
                      <a:srgbClr val="1E293B"/>
                    </a:solidFill>
                    <a:latin typeface="Calibri"/>
                  </a:rPr>
                  <a:t>?</a:t>
                </a:r>
              </a:p>
            </p:txBody>
          </p:sp>
        </mc:Fallback>
      </mc:AlternateContent>
      <p:sp>
        <p:nvSpPr>
          <p:cNvPr id="19" name="s4_nen"/>
          <p:cNvSpPr/>
          <p:nvPr/>
        </p:nvSpPr>
        <p:spPr>
          <a:xfrm>
            <a:off x="6309360" y="526923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647395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m=−4</m:t>
                    </m:r>
                  </m:oMath>
                </a14:m>
              </a:p>
            </p:txBody>
          </p:sp>
        </mc:Choice>
        <mc:Fallback>
          <p:sp>
            <p:nvSpPr>
              <p:cNvPr id="20" name="TextBox 19"/>
              <p:cNvSpPr txBox="1"/>
              <p:nvPr/>
            </p:nvSpPr>
            <p:spPr>
              <a:xfrm>
                <a:off x="647395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m=-4</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11</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=(kx;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kz)</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\vec{a}\pm\vec{b}=(x\pm x';\ y\pm y';\ z\pm z')</a:t>
                </a:r>
                <a:r>
                  <a:rPr sz="2200">
                    <a:solidFill>
                      <a:srgbClr val="1E293B"/>
                    </a:solidFill>
                    <a:latin typeface="Calibri"/>
                  </a:rPr>
                  <a:t>; </a:t>
                </a:r>
                <a:r>
                  <a:rPr lang="vi-VN"/>
                  <a:t>k\vec{a}=(kx;\ ky;\ kz)</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2.20a, 2.22a (SGK tr.72).</a:t>
            </a:r>
          </a:p>
          <a:p>
            <a:pPr algn="l" marL="365760" indent="-365760">
              <a:spcAft>
                <a:spcPts val="800"/>
              </a:spcAft>
              <a:buClr>
                <a:srgbClr val="1E40AF"/>
              </a:buClr>
              <a:buFont typeface="Arial"/>
              <a:buChar char="•"/>
            </a:pPr>
            <a:r>
              <a:rPr sz="2200">
                <a:solidFill>
                  <a:srgbClr val="1E293B"/>
                </a:solidFill>
                <a:latin typeface="Calibri"/>
              </a:rPr>
              <a:t>Ôn lại tích vô hướng trong không gian (Bài 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(T38)</a:t>
            </a:r>
          </a:p>
          <a:p>
            <a:pPr>
              <a:spcAft>
                <a:spcPts val="600"/>
              </a:spcAft>
            </a:pPr>
            <a:r>
              <a:rPr sz="4000" b="1">
                <a:solidFill>
                  <a:srgbClr val="FFFFFF"/>
                </a:solidFill>
                <a:latin typeface="Cambria"/>
              </a:rPr>
              <a:t>Biểu thức toạ độ của tích vô hướng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độ dài, góc giữa hai vectơ theo toạ độ.</a:t>
            </a:r>
          </a:p>
          <a:p>
            <a:pPr algn="l">
              <a:spcAft>
                <a:spcPts val="800"/>
              </a:spcAft>
            </a:pPr>
            <a:r>
              <a:rPr sz="2200">
                <a:solidFill>
                  <a:srgbClr val="E0E7FF"/>
                </a:solidFill>
                <a:latin typeface="Calibri"/>
              </a:rPr>
              <a:t>• Vận dụng toạ độ trong bài toán theo dõi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BIỂU THỨC TOẠ ĐỘ CỦA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 Giải thích vì sao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=1</m:t>
                    </m:r>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=0</m:t>
                    </m:r>
                  </m:oMath>
                </a14:m>
                <a:r>
                  <a:rPr sz="2000">
                    <a:solidFill>
                      <a:srgbClr val="1E293B"/>
                    </a:solidFill>
                    <a:latin typeface="Calibri"/>
                  </a:rPr>
                  <a:t>. b) Dùng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để tính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c) Dùng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để tính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a) Giải thích vì sao </a:t>
                </a:r>
                <a:r>
                  <a:rPr lang="vi-VN"/>
                  <a:t>\vec{i}\cdot\vec{i}=1</a:t>
                </a:r>
                <a:r>
                  <a:rPr sz="2000">
                    <a:solidFill>
                      <a:srgbClr val="1E293B"/>
                    </a:solidFill>
                    <a:latin typeface="Calibri"/>
                  </a:rPr>
                  <a:t> và </a:t>
                </a:r>
                <a:r>
                  <a:rPr lang="vi-VN"/>
                  <a:t>\vec{i}\cdot\vec{j}=\vec{i}\cdot\vec{k}=0</a:t>
                </a:r>
                <a:r>
                  <a:rPr sz="2000">
                    <a:solidFill>
                      <a:srgbClr val="1E293B"/>
                    </a:solidFill>
                    <a:latin typeface="Calibri"/>
                  </a:rPr>
                  <a:t>. b) Dùng </a:t>
                </a:r>
                <a:r>
                  <a:rPr lang="vi-VN"/>
                  <a:t>\vec{a}=x\vec{i}+y\vec{j}+z\vec{k}</a:t>
                </a:r>
                <a:r>
                  <a:rPr sz="2000">
                    <a:solidFill>
                      <a:srgbClr val="1E293B"/>
                    </a:solidFill>
                    <a:latin typeface="Calibri"/>
                  </a:rPr>
                  <a:t> để tính </a:t>
                </a:r>
                <a:r>
                  <a:rPr lang="vi-VN"/>
                  <a:t>\vec{a}\cdot\vec{i}</a:t>
                </a:r>
                <a:r>
                  <a:rPr sz="2000">
                    <a:solidFill>
                      <a:srgbClr val="1E293B"/>
                    </a:solidFill>
                    <a:latin typeface="Calibri"/>
                  </a:rPr>
                  <a:t>, </a:t>
                </a:r>
                <a:r>
                  <a:rPr lang="vi-VN"/>
                  <a:t>\vec{a}\cdot\vec{j}</a:t>
                </a:r>
                <a:r>
                  <a:rPr sz="2000">
                    <a:solidFill>
                      <a:srgbClr val="1E293B"/>
                    </a:solidFill>
                    <a:latin typeface="Calibri"/>
                  </a:rPr>
                  <a:t>, </a:t>
                </a:r>
                <a:r>
                  <a:rPr lang="vi-VN"/>
                  <a:t>\vec{a}\cdot\vec{k}</a:t>
                </a:r>
                <a:r>
                  <a:rPr sz="2000">
                    <a:solidFill>
                      <a:srgbClr val="1E293B"/>
                    </a:solidFill>
                    <a:latin typeface="Calibri"/>
                  </a:rPr>
                  <a:t>. c) Dùng </a:t>
                </a:r>
                <a:r>
                  <a:rPr lang="vi-VN"/>
                  <a:t>\vec{b}=x'\vec{i}+y'\vec{j}+z'\vec{k}</a:t>
                </a:r>
                <a:r>
                  <a:rPr sz="2000">
                    <a:solidFill>
                      <a:srgbClr val="1E293B"/>
                    </a:solidFill>
                    <a:latin typeface="Calibri"/>
                  </a:rPr>
                  <a:t> để tính </a:t>
                </a:r>
                <a:r>
                  <a:rPr lang="vi-VN"/>
                  <a:t>\vec{a}\cdot\vec{b}</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nên các tích bằng 0.</a:t>
                </a:r>
              </a:p>
            </p:txBody>
          </p:sp>
        </mc:Choice>
        <mc:Fallback>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\vec{i}\cdot\vec{i}=|\vec{i}|^2=1</a:t>
                </a:r>
                <a:r>
                  <a:rPr sz="2000">
                    <a:solidFill>
                      <a:srgbClr val="1E293B"/>
                    </a:solidFill>
                    <a:latin typeface="Calibri"/>
                  </a:rPr>
                  <a:t>; </a:t>
                </a:r>
                <a:r>
                  <a:rPr lang="vi-VN"/>
                  <a:t>\vec{i}\perp\vec{j}</a:t>
                </a:r>
                <a:r>
                  <a:rPr sz="2000">
                    <a:solidFill>
                      <a:srgbClr val="1E293B"/>
                    </a:solidFill>
                    <a:latin typeface="Calibri"/>
                  </a:rPr>
                  <a:t>, </a:t>
                </a:r>
                <a:r>
                  <a:rPr lang="vi-VN"/>
                  <a:t>\vec{i}\perp\vec{k}</a:t>
                </a:r>
                <a:r>
                  <a:rPr sz="2000">
                    <a:solidFill>
                      <a:srgbClr val="1E293B"/>
                    </a:solidFill>
                    <a:latin typeface="Calibri"/>
                  </a:rPr>
                  <a:t> nên các tích bằng 0.</a:t>
                </a:r>
              </a:p>
            </p:txBody>
          </p:sp>
        </mc:Fallback>
      </mc:AlternateContent>
      <p:sp>
        <p:nvSpPr>
          <p:cNvPr id="10" name="s2_nen"/>
          <p:cNvSpPr/>
          <p:nvPr/>
        </p:nvSpPr>
        <p:spPr>
          <a:xfrm>
            <a:off x="548640" y="2852927"/>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=x</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k</m:t>
                        </m:r>
                      </m:e>
                    </m:acc>
                    <m:r>
                      <a:rPr lang="vi-VN" sz="2000" b="0">
                        <a:solidFill>
                          <a:srgbClr val="1E293B"/>
                        </a:solidFill>
                        <a:latin typeface="Cambria Math" panose="02040503050406030204" pitchFamily="18" charset="0"/>
                      </a:rPr>
                      <m:t>=z</m:t>
                    </m:r>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\vec{a}\cdot\vec{i}=x</a:t>
                </a:r>
                <a:r>
                  <a:rPr sz="2000">
                    <a:solidFill>
                      <a:srgbClr val="1E293B"/>
                    </a:solidFill>
                    <a:latin typeface="Calibri"/>
                  </a:rPr>
                  <a:t>, </a:t>
                </a:r>
                <a:r>
                  <a:rPr lang="vi-VN"/>
                  <a:t>\vec{a}\cdot\vec{j}=y</a:t>
                </a:r>
                <a:r>
                  <a:rPr sz="2000">
                    <a:solidFill>
                      <a:srgbClr val="1E293B"/>
                    </a:solidFill>
                    <a:latin typeface="Calibri"/>
                  </a:rPr>
                  <a:t>, </a:t>
                </a:r>
                <a:r>
                  <a:rPr lang="vi-VN"/>
                  <a:t>\vec{a}\cdot\vec{k}=z</a:t>
                </a:r>
                <a:r>
                  <a:rPr sz="2000">
                    <a:solidFill>
                      <a:srgbClr val="1E293B"/>
                    </a:solidFill>
                    <a:latin typeface="Calibri"/>
                  </a:rPr>
                  <a:t>. c) </a:t>
                </a:r>
                <a:r>
                  <a:rPr lang="vi-VN"/>
                  <a:t>\vec{a}\cdot\vec{b}=xx'+yy'+zz'</a:t>
                </a:r>
                <a:r>
                  <a:rPr sz="2000">
                    <a:solidFill>
                      <a:srgbClr val="1E293B"/>
                    </a:solidFill>
                    <a:latin typeface="Calibri"/>
                  </a:rPr>
                  <a:t>.</a:t>
                </a:r>
              </a:p>
            </p:txBody>
          </p:sp>
        </mc:Fallback>
      </mc:AlternateContent>
      <p:sp>
        <p:nvSpPr>
          <p:cNvPr id="12" name="s3_nen"/>
          <p:cNvSpPr/>
          <p:nvPr/>
        </p:nvSpPr>
        <p:spPr>
          <a:xfrm>
            <a:off x="548640" y="3486911"/>
            <a:ext cx="11064240" cy="569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523487"/>
                <a:ext cx="10735056" cy="49682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Tích vô hướng của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z)</m:t>
                    </m:r>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z</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+z</m:t>
                    </m:r>
                    <m:sSup>
                      <m:e>
                        <m:r>
                          <a:rPr lang="vi-VN" sz="2400" b="0">
                            <a:solidFill>
                              <a:srgbClr val="1E293B"/>
                            </a:solidFill>
                            <a:latin typeface="Cambria Math" panose="02040503050406030204" pitchFamily="18" charset="0"/>
                          </a:rPr>
                          <m:t>z</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3" name="TextBox 12"/>
              <p:cNvSpPr txBox="1"/>
              <p:nvPr/>
            </p:nvSpPr>
            <p:spPr>
              <a:xfrm>
                <a:off x="713232" y="3523487"/>
                <a:ext cx="10735056" cy="49682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Tích vô hướng của </a:t>
                </a:r>
                <a:r>
                  <a:rPr lang="vi-VN"/>
                  <a:t>\vec{a}=(x;\ y;\ z)</a:t>
                </a:r>
                <a:r>
                  <a:rPr sz="2400">
                    <a:solidFill>
                      <a:srgbClr val="1E293B"/>
                    </a:solidFill>
                    <a:latin typeface="Calibri"/>
                  </a:rPr>
                  <a:t> và </a:t>
                </a:r>
                <a:r>
                  <a:rPr lang="vi-VN"/>
                  <a:t>\vec{b}=(x';\ y';\ z')</a:t>
                </a:r>
                <a:r>
                  <a:rPr sz="2400">
                    <a:solidFill>
                      <a:srgbClr val="1E293B"/>
                    </a:solidFill>
                    <a:latin typeface="Calibri"/>
                  </a:rPr>
                  <a:t>: </a:t>
                </a:r>
                <a:r>
                  <a:rPr lang="vi-VN"/>
                  <a:t>\vec{a}\cdot\vec{b}=xx'+yy'+zz'</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4" name="s4_chu"/>
              <p:cNvSpPr txBox="1"/>
              <p:nvPr/>
            </p:nvSpPr>
            <p:spPr>
              <a:xfrm>
                <a:off x="548640" y="4120896"/>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num>
                      <m:den>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m:t>
                        </m:r>
                        <m:rad>
                          <m:radPr>
                            <m:degHide m:val="on"/>
                          </m:radPr>
                          <m:deg/>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′2</m:t>
                                </m:r>
                              </m:sup>
                            </m:sSup>
                          </m:e>
                        </m:rad>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p:txBody>
          </p:sp>
        </mc:Choice>
        <mc:Fallback>
          <p:sp>
            <p:nvSpPr>
              <p:cNvPr id="14" name="TextBox 13"/>
              <p:cNvSpPr txBox="1"/>
              <p:nvPr/>
            </p:nvSpPr>
            <p:spPr>
              <a:xfrm>
                <a:off x="548640" y="4120896"/>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r>
                  <a:rPr lang="vi-VN"/>
                  <a:t>\vec{a}\perp\vec{b}</a:t>
                </a:r>
                <a:r>
                  <a:rPr sz="2000">
                    <a:solidFill>
                      <a:srgbClr val="1E293B"/>
                    </a:solidFill>
                    <a:latin typeface="Calibri"/>
                  </a:rPr>
                  <a:t> ⇔ </a:t>
                </a:r>
                <a:r>
                  <a:rPr lang="vi-VN"/>
                  <a:t>xx'+yy'+zz'=0</a:t>
                </a:r>
                <a:r>
                  <a:rPr sz="2000">
                    <a:solidFill>
                      <a:srgbClr val="1E293B"/>
                    </a:solidFill>
                    <a:latin typeface="Calibri"/>
                  </a:rPr>
                  <a:t>; </a:t>
                </a:r>
                <a:r>
                  <a:rPr lang="vi-VN"/>
                  <a:t>|\vec{a}|=\sqrt{x^2+y^2+z^2}</a:t>
                </a:r>
                <a:r>
                  <a:rPr sz="2000">
                    <a:solidFill>
                      <a:srgbClr val="1E293B"/>
                    </a:solidFill>
                    <a:latin typeface="Calibri"/>
                  </a:rPr>
                  <a:t>; </a:t>
                </a:r>
                <a:r>
                  <a:rPr lang="vi-VN"/>
                  <a:t>\cos(\vec{a},\vec{b})=\frac{xx'+yy'+zz'}{\sqrt{x^2+y^2+z^2}\cdot\sqrt{x'^2+y'^2+z'^2}}</a:t>
                </a:r>
                <a:r>
                  <a:rPr sz="2000">
                    <a:solidFill>
                      <a:srgbClr val="1E293B"/>
                    </a:solidFill>
                    <a:latin typeface="Calibri"/>
                  </a:rPr>
                  <a:t> (</a:t>
                </a:r>
                <a:r>
                  <a:rPr lang="vi-VN"/>
                  <a:t>\vec{a},\ \vec{b}\ne\vec{0}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25296"/>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4;</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=(−4;</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m:t>
                    </m:r>
                  </m:oMath>
                </a14:m>
                <a:r>
                  <a:rPr sz="2300">
                    <a:solidFill>
                      <a:srgbClr val="1E293B"/>
                    </a:solidFill>
                    <a:latin typeface="Calibri"/>
                  </a:rPr>
                  <a:t>. a) Tính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 và cho biết hai vectơ có vuông góc với nhau hay không. b) Tính độ dài của vectơ </a:t>
                </a:r>
                <a14:m>
                  <m:oMath xmlns:m="http://schemas.openxmlformats.org/officeDocument/2006/math">
                    <m:acc>
                      <m:accPr>
                        <m:chr m:val="⃗"/>
                      </m:accPr>
                      <m:e>
                        <m:r>
                          <a:rPr lang="vi-VN" sz="2300" b="0">
                            <a:solidFill>
                              <a:srgbClr val="1E293B"/>
                            </a:solidFill>
                            <a:latin typeface="Cambria Math" panose="02040503050406030204" pitchFamily="18" charset="0"/>
                          </a:rPr>
                          <m:t>a</m:t>
                        </m:r>
                      </m:e>
                    </m:acc>
                  </m:oMath>
                </a14:m>
                <a:r>
                  <a:rPr sz="2300">
                    <a:solidFill>
                      <a:srgbClr val="1E293B"/>
                    </a:solidFill>
                    <a:latin typeface="Calibri"/>
                  </a:rPr>
                  <a:t>.</a:t>
                </a:r>
              </a:p>
            </p:txBody>
          </p:sp>
        </mc:Choice>
        <mc:Fallback>
          <p:sp>
            <p:nvSpPr>
              <p:cNvPr id="7" name="TextBox 6"/>
              <p:cNvSpPr txBox="1"/>
              <p:nvPr/>
            </p:nvSpPr>
            <p:spPr>
              <a:xfrm>
                <a:off x="548640" y="1371600"/>
                <a:ext cx="11064240" cy="1225296"/>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r>
                  <a:rPr lang="vi-VN"/>
                  <a:t>\vec{a}=(1;\ 4;\ 2)</a:t>
                </a:r>
                <a:r>
                  <a:rPr sz="2300">
                    <a:solidFill>
                      <a:srgbClr val="1E293B"/>
                    </a:solidFill>
                    <a:latin typeface="Calibri"/>
                  </a:rPr>
                  <a:t> và </a:t>
                </a:r>
                <a:r>
                  <a:rPr lang="vi-VN"/>
                  <a:t>\vec{b}=(-4;\ 1;\ 0)</a:t>
                </a:r>
                <a:r>
                  <a:rPr sz="2300">
                    <a:solidFill>
                      <a:srgbClr val="1E293B"/>
                    </a:solidFill>
                    <a:latin typeface="Calibri"/>
                  </a:rPr>
                  <a:t>. a) Tính </a:t>
                </a:r>
                <a:r>
                  <a:rPr lang="vi-VN"/>
                  <a:t>\vec{a}\cdot\vec{b}</a:t>
                </a:r>
                <a:r>
                  <a:rPr sz="2300">
                    <a:solidFill>
                      <a:srgbClr val="1E293B"/>
                    </a:solidFill>
                    <a:latin typeface="Calibri"/>
                  </a:rPr>
                  <a:t> và cho biết hai vectơ có vuông góc với nhau hay không. b) Tính độ dài của vectơ </a:t>
                </a:r>
                <a:r>
                  <a:rPr lang="vi-VN"/>
                  <a:t>\vec{a}</a:t>
                </a:r>
                <a:r>
                  <a:rPr sz="2300">
                    <a:solidFill>
                      <a:srgbClr val="1E293B"/>
                    </a:solidFill>
                    <a:latin typeface="Calibri"/>
                  </a:rPr>
                  <a:t>.</a:t>
                </a:r>
              </a:p>
            </p:txBody>
          </p:sp>
        </mc:Fallback>
      </mc:AlternateContent>
      <p:sp>
        <p:nvSpPr>
          <p:cNvPr id="8" name="s1_nen"/>
          <p:cNvSpPr/>
          <p:nvPr/>
        </p:nvSpPr>
        <p:spPr>
          <a:xfrm>
            <a:off x="548640" y="2706624"/>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43200"/>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=1·(−4)+4·1+2·0=0</m:t>
                    </m:r>
                  </m:oMath>
                </a14:m>
                <a:r>
                  <a:rPr sz="2300">
                    <a:solidFill>
                      <a:srgbClr val="1E293B"/>
                    </a:solidFill>
                    <a:latin typeface="Calibri"/>
                  </a:rPr>
                  <a:t> ⇒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oMath>
                </a14:m>
                <a:r>
                  <a:rPr sz="2300">
                    <a:solidFill>
                      <a:srgbClr val="1E293B"/>
                    </a:solidFill>
                    <a:latin typeface="Calibri"/>
                  </a:rPr>
                  <a:t>.</a:t>
                </a:r>
              </a:p>
            </p:txBody>
          </p:sp>
        </mc:Choice>
        <mc:Fallback>
          <p:sp>
            <p:nvSpPr>
              <p:cNvPr id="9" name="TextBox 8"/>
              <p:cNvSpPr txBox="1"/>
              <p:nvPr/>
            </p:nvSpPr>
            <p:spPr>
              <a:xfrm>
                <a:off x="713232" y="2743200"/>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\vec{a}\cdot\vec{b}=1\cdot(-4)+4\cdot 1+2\cdot 0=0</a:t>
                </a:r>
                <a:r>
                  <a:rPr sz="2300">
                    <a:solidFill>
                      <a:srgbClr val="1E293B"/>
                    </a:solidFill>
                    <a:latin typeface="Calibri"/>
                  </a:rPr>
                  <a:t> ⇒ </a:t>
                </a:r>
                <a:r>
                  <a:rPr lang="vi-VN"/>
                  <a:t>\vec{a}\perp\vec{b}</a:t>
                </a:r>
                <a:r>
                  <a:rPr sz="2300">
                    <a:solidFill>
                      <a:srgbClr val="1E293B"/>
                    </a:solidFill>
                    <a:latin typeface="Calibri"/>
                  </a:rPr>
                  <a:t>.</a:t>
                </a:r>
              </a:p>
            </p:txBody>
          </p:sp>
        </mc:Fallback>
      </mc:AlternateContent>
      <p:sp>
        <p:nvSpPr>
          <p:cNvPr id="10" name="s2_nen"/>
          <p:cNvSpPr/>
          <p:nvPr/>
        </p:nvSpPr>
        <p:spPr>
          <a:xfrm>
            <a:off x="548640" y="3432048"/>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68624"/>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rad>
                      <m:radPr>
                        <m:degHide m:val="on"/>
                      </m:radPr>
                      <m:deg/>
                      <m:e>
                        <m:sSup>
                          <m:e>
                            <m:r>
                              <a:rPr lang="vi-VN" sz="2300" b="0">
                                <a:solidFill>
                                  <a:srgbClr val="1E293B"/>
                                </a:solidFill>
                                <a:latin typeface="Cambria Math" panose="02040503050406030204" pitchFamily="18" charset="0"/>
                              </a:rPr>
                              <m:t>1</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4</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2</m:t>
                            </m:r>
                          </m:e>
                          <m:sup>
                            <m:r>
                              <a:rPr lang="vi-VN" sz="2300" b="0">
                                <a:solidFill>
                                  <a:srgbClr val="1E293B"/>
                                </a:solidFill>
                                <a:latin typeface="Cambria Math" panose="02040503050406030204" pitchFamily="18" charset="0"/>
                              </a:rPr>
                              <m:t>2</m:t>
                            </m:r>
                          </m:sup>
                        </m:sSup>
                      </m:e>
                    </m:rad>
                    <m:r>
                      <a:rPr lang="vi-VN" sz="2300" b="0">
                        <a:solidFill>
                          <a:srgbClr val="1E293B"/>
                        </a:solidFill>
                        <a:latin typeface="Cambria Math" panose="02040503050406030204" pitchFamily="18" charset="0"/>
                      </a:rPr>
                      <m:t>=</m:t>
                    </m:r>
                    <m:rad>
                      <m:radPr>
                        <m:degHide m:val="on"/>
                      </m:radPr>
                      <m:deg/>
                      <m:e>
                        <m:r>
                          <a:rPr lang="vi-VN" sz="2300" b="0">
                            <a:solidFill>
                              <a:srgbClr val="1E293B"/>
                            </a:solidFill>
                            <a:latin typeface="Cambria Math" panose="02040503050406030204" pitchFamily="18" charset="0"/>
                          </a:rPr>
                          <m:t>21</m:t>
                        </m:r>
                      </m:e>
                    </m:rad>
                  </m:oMath>
                </a14:m>
                <a:r>
                  <a:rPr sz="2300">
                    <a:solidFill>
                      <a:srgbClr val="1E293B"/>
                    </a:solidFill>
                    <a:latin typeface="Calibri"/>
                  </a:rPr>
                  <a:t>.</a:t>
                </a:r>
              </a:p>
            </p:txBody>
          </p:sp>
        </mc:Choice>
        <mc:Fallback>
          <p:sp>
            <p:nvSpPr>
              <p:cNvPr id="11" name="TextBox 10"/>
              <p:cNvSpPr txBox="1"/>
              <p:nvPr/>
            </p:nvSpPr>
            <p:spPr>
              <a:xfrm>
                <a:off x="713232" y="3468624"/>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|\vec{a}|=\sqrt{1^2+4^2+2^2}=\sqrt{21}</a:t>
                </a:r>
                <a:r>
                  <a:rPr sz="23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157472"/>
                <a:ext cx="11064240" cy="52425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14:m>
                  <m:oMath xmlns:m="http://schemas.openxmlformats.org/officeDocument/2006/math">
                    <m:sSup>
                      <m:e>
                        <m:d>
                          <m:dPr>
                            <m:sepChr m:val=""/>
                          </m:dPr>
                          <m:e>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e>
                        </m:d>
                      </m:e>
                      <m:sup>
                        <m:r>
                          <a:rPr lang="vi-VN" sz="2300" b="0">
                            <a:solidFill>
                              <a:srgbClr val="1E293B"/>
                            </a:solidFill>
                            <a:latin typeface="Cambria Math" panose="02040503050406030204" pitchFamily="18" charset="0"/>
                          </a:rPr>
                          <m:t>2</m:t>
                        </m:r>
                      </m:sup>
                    </m:sSup>
                  </m:oMath>
                </a14:m>
                <a:r>
                  <a:rPr sz="2300">
                    <a:solidFill>
                      <a:srgbClr val="1E293B"/>
                    </a:solidFill>
                    <a:latin typeface="Calibri"/>
                  </a:rPr>
                  <a:t>.</a:t>
                </a:r>
              </a:p>
            </p:txBody>
          </p:sp>
        </mc:Choice>
        <mc:Fallback>
          <p:sp>
            <p:nvSpPr>
              <p:cNvPr id="12" name="TextBox 11"/>
              <p:cNvSpPr txBox="1"/>
              <p:nvPr/>
            </p:nvSpPr>
            <p:spPr>
              <a:xfrm>
                <a:off x="548640" y="4157472"/>
                <a:ext cx="11064240" cy="52425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r>
                  <a:rPr lang="vi-VN"/>
                  <a:t>(\vec{a}+\vec{b})^2</a:t>
                </a:r>
                <a:r>
                  <a:rPr sz="2300">
                    <a:solidFill>
                      <a:srgbClr val="1E293B"/>
                    </a:solidFill>
                    <a:latin typeface="Calibri"/>
                  </a:rPr>
                  <a:t>.</a:t>
                </a:r>
              </a:p>
            </p:txBody>
          </p:sp>
        </mc:Fallback>
      </mc:AlternateContent>
      <p:sp>
        <p:nvSpPr>
          <p:cNvPr id="13" name="s4_nen"/>
          <p:cNvSpPr/>
          <p:nvPr/>
        </p:nvSpPr>
        <p:spPr>
          <a:xfrm>
            <a:off x="548640" y="4791456"/>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82803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r>
                      <a:rPr lang="vi-VN" sz="2300" b="0">
                        <a:solidFill>
                          <a:srgbClr val="1E293B"/>
                        </a:solidFill>
                        <a:latin typeface="Cambria Math" panose="02040503050406030204" pitchFamily="18" charset="0"/>
                      </a:rPr>
                      <m:t>=(−3;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oMath>
                </a14:m>
                <a:r>
                  <a:rPr sz="2300">
                    <a:solidFill>
                      <a:srgbClr val="1E293B"/>
                    </a:solidFill>
                    <a:latin typeface="Calibri"/>
                  </a:rPr>
                  <a:t> ⇒ </a:t>
                </a:r>
                <a14:m>
                  <m:oMath xmlns:m="http://schemas.openxmlformats.org/officeDocument/2006/math">
                    <m:d>
                      <m:dPr>
                        <m:sepChr m:val=""/>
                        <m:endChr m:val=""/>
                      </m:dPr>
                      <m:e>
                        <m:acc>
                          <m:accPr>
                            <m:chr m:val="⃗"/>
                          </m:accPr>
                          <m:e>
                            <m:r>
                              <a:rPr lang="vi-VN" sz="2300" b="0">
                                <a:solidFill>
                                  <a:srgbClr val="1E293B"/>
                                </a:solidFill>
                                <a:latin typeface="Cambria Math" panose="02040503050406030204" pitchFamily="18" charset="0"/>
                              </a:rPr>
                              <m:t>a</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b</m:t>
                            </m:r>
                          </m:e>
                        </m:acc>
                        <m:sSup>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9</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25</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38</m:t>
                        </m:r>
                      </m:e>
                    </m:d>
                  </m:oMath>
                </a14:m>
                <a:r>
                  <a:rPr sz="2300">
                    <a:solidFill>
                      <a:srgbClr val="1E293B"/>
                    </a:solidFill>
                    <a:latin typeface="Calibri"/>
                  </a:rPr>
                  <a:t>.</a:t>
                </a:r>
              </a:p>
            </p:txBody>
          </p:sp>
        </mc:Choice>
        <mc:Fallback>
          <p:sp>
            <p:nvSpPr>
              <p:cNvPr id="14" name="TextBox 13"/>
              <p:cNvSpPr txBox="1"/>
              <p:nvPr/>
            </p:nvSpPr>
            <p:spPr>
              <a:xfrm>
                <a:off x="713232" y="482803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\vec{a}+\vec{b}=(-3;\ 5;\ 2)</a:t>
                </a:r>
                <a:r>
                  <a:rPr sz="2300">
                    <a:solidFill>
                      <a:srgbClr val="1E293B"/>
                    </a:solidFill>
                    <a:latin typeface="Calibri"/>
                  </a:rPr>
                  <a:t> ⇒ </a:t>
                </a:r>
                <a:r>
                  <a:rPr lang="vi-VN"/>
                  <a:t>(\vec{a}+\vec{b})^2=9+25+4=38</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TR.69 – 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hình chóp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có đáy là hình chữ nhật, </a:t>
                </a:r>
                <a14:m>
                  <m:oMath xmlns:m="http://schemas.openxmlformats.org/officeDocument/2006/math">
                    <m:r>
                      <a:rPr lang="vi-VN" sz="2000" b="0">
                        <a:solidFill>
                          <a:srgbClr val="1E293B"/>
                        </a:solidFill>
                        <a:latin typeface="Cambria Math" panose="02040503050406030204" pitchFamily="18" charset="0"/>
                      </a:rPr>
                      <m:t>SA⟂(ABCD)</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SA=2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AD=4</m:t>
                    </m:r>
                  </m:oMath>
                </a14:m>
                <a:r>
                  <a:rPr sz="2000">
                    <a:solidFill>
                      <a:srgbClr val="1E293B"/>
                    </a:solidFill>
                    <a:latin typeface="Calibri"/>
                  </a:rPr>
                  <a:t>. Xét hệ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O≡A</m:t>
                    </m:r>
                  </m:oMath>
                </a14:m>
                <a:r>
                  <a:rPr sz="2000">
                    <a:solidFill>
                      <a:srgbClr val="1E293B"/>
                    </a:solidFill>
                    <a:latin typeface="Calibri"/>
                  </a:rPr>
                  <a:t>, các tia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lần lượt trùng các tia </a:t>
                </a:r>
                <a14:m>
                  <m:oMath xmlns:m="http://schemas.openxmlformats.org/officeDocument/2006/math">
                    <m:r>
                      <a:rPr lang="vi-VN" sz="2000" b="0">
                        <a:solidFill>
                          <a:srgbClr val="1E293B"/>
                        </a:solidFill>
                        <a:latin typeface="Cambria Math" panose="02040503050406030204" pitchFamily="18" charset="0"/>
                      </a:rPr>
                      <m:t>AB,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AD,</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AS</m:t>
                    </m:r>
                  </m:oMath>
                </a14:m>
                <a:r>
                  <a:rPr sz="2000">
                    <a:solidFill>
                      <a:srgbClr val="1E293B"/>
                    </a:solidFill>
                    <a:latin typeface="Calibri"/>
                  </a:rPr>
                  <a:t> (H.2.48). a) Xác định toạ độ các điểm </a:t>
                </a:r>
                <a14:m>
                  <m:oMath xmlns:m="http://schemas.openxmlformats.org/officeDocument/2006/math">
                    <m:r>
                      <a:rPr lang="vi-VN" sz="2000" b="0">
                        <a:solidFill>
                          <a:srgbClr val="1E293B"/>
                        </a:solidFill>
                        <a:latin typeface="Cambria Math" panose="02040503050406030204" pitchFamily="18" charset="0"/>
                      </a:rPr>
                      <m:t>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C,</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D</m:t>
                    </m:r>
                  </m:oMath>
                </a14:m>
                <a:r>
                  <a:rPr sz="2000">
                    <a:solidFill>
                      <a:srgbClr val="1E293B"/>
                    </a:solidFill>
                    <a:latin typeface="Calibri"/>
                  </a:rPr>
                  <a:t>. b) Tính </a:t>
                </a:r>
                <a14:m>
                  <m:oMath xmlns:m="http://schemas.openxmlformats.org/officeDocument/2006/math">
                    <m:r>
                      <a:rPr lang="vi-VN" sz="2000" b="0">
                        <a:solidFill>
                          <a:srgbClr val="1E293B"/>
                        </a:solidFill>
                        <a:latin typeface="Cambria Math" panose="02040503050406030204" pitchFamily="18" charset="0"/>
                      </a:rPr>
                      <m:t>BD</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SC</m:t>
                    </m:r>
                  </m:oMath>
                </a14:m>
                <a:r>
                  <a:rPr sz="2000">
                    <a:solidFill>
                      <a:srgbClr val="1E293B"/>
                    </a:solidFill>
                    <a:latin typeface="Calibri"/>
                  </a:rPr>
                  <a:t>. c) Tính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BD</m:t>
                            </m:r>
                          </m:e>
                        </m:acc>
                      </m:e>
                      <m:e>
                        <m:acc>
                          <m:accPr>
                            <m:chr m:val="⃗"/>
                          </m:accPr>
                          <m:e>
                            <m:r>
                              <a:rPr lang="vi-VN" sz="2000" b="0">
                                <a:solidFill>
                                  <a:srgbClr val="1E293B"/>
                                </a:solidFill>
                                <a:latin typeface="Cambria Math" panose="02040503050406030204" pitchFamily="18" charset="0"/>
                              </a:rPr>
                              <m:t>SC</m:t>
                            </m:r>
                          </m:e>
                        </m:acc>
                      </m:e>
                    </m:d>
                  </m:oMath>
                </a14:m>
                <a:r>
                  <a:rPr sz="2000">
                    <a:solidFill>
                      <a:srgbClr val="1E293B"/>
                    </a:solidFill>
                    <a:latin typeface="Calibri"/>
                  </a:rPr>
                  <a:t>.</a:t>
                </a:r>
              </a:p>
            </p:txBody>
          </p:sp>
        </mc:Choice>
        <mc:Fallback>
          <p:sp>
            <p:nvSpPr>
              <p:cNvPr id="7" name="TextBox 6"/>
              <p:cNvSpPr txBox="1"/>
              <p:nvPr/>
            </p:nvSpPr>
            <p:spPr>
              <a:xfrm>
                <a:off x="548640" y="1371600"/>
                <a:ext cx="877824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hình chóp </a:t>
                </a:r>
                <a:r>
                  <a:rPr lang="vi-VN"/>
                  <a:t>S.ABCD</a:t>
                </a:r>
                <a:r>
                  <a:rPr sz="2000">
                    <a:solidFill>
                      <a:srgbClr val="1E293B"/>
                    </a:solidFill>
                    <a:latin typeface="Calibri"/>
                  </a:rPr>
                  <a:t> có đáy là hình chữ nhật, </a:t>
                </a:r>
                <a:r>
                  <a:rPr lang="vi-VN"/>
                  <a:t>SA\perp(ABCD)</a:t>
                </a:r>
                <a:r>
                  <a:rPr sz="2000">
                    <a:solidFill>
                      <a:srgbClr val="1E293B"/>
                    </a:solidFill>
                    <a:latin typeface="Calibri"/>
                  </a:rPr>
                  <a:t>, </a:t>
                </a:r>
                <a:r>
                  <a:rPr lang="vi-VN"/>
                  <a:t>SA=2</a:t>
                </a:r>
                <a:r>
                  <a:rPr sz="2000">
                    <a:solidFill>
                      <a:srgbClr val="1E293B"/>
                    </a:solidFill>
                    <a:latin typeface="Calibri"/>
                  </a:rPr>
                  <a:t>, </a:t>
                </a:r>
                <a:r>
                  <a:rPr lang="vi-VN"/>
                  <a:t>AB=3</a:t>
                </a:r>
                <a:r>
                  <a:rPr sz="2000">
                    <a:solidFill>
                      <a:srgbClr val="1E293B"/>
                    </a:solidFill>
                    <a:latin typeface="Calibri"/>
                  </a:rPr>
                  <a:t>, </a:t>
                </a:r>
                <a:r>
                  <a:rPr lang="vi-VN"/>
                  <a:t>AD=4</a:t>
                </a:r>
                <a:r>
                  <a:rPr sz="2000">
                    <a:solidFill>
                      <a:srgbClr val="1E293B"/>
                    </a:solidFill>
                    <a:latin typeface="Calibri"/>
                  </a:rPr>
                  <a:t>. Xét hệ </a:t>
                </a:r>
                <a:r>
                  <a:rPr lang="vi-VN"/>
                  <a:t>Oxyz</a:t>
                </a:r>
                <a:r>
                  <a:rPr sz="2000">
                    <a:solidFill>
                      <a:srgbClr val="1E293B"/>
                    </a:solidFill>
                    <a:latin typeface="Calibri"/>
                  </a:rPr>
                  <a:t> với </a:t>
                </a:r>
                <a:r>
                  <a:rPr lang="vi-VN"/>
                  <a:t>O\equiv A</a:t>
                </a:r>
                <a:r>
                  <a:rPr sz="2000">
                    <a:solidFill>
                      <a:srgbClr val="1E293B"/>
                    </a:solidFill>
                    <a:latin typeface="Calibri"/>
                  </a:rPr>
                  <a:t>, các tia </a:t>
                </a:r>
                <a:r>
                  <a:rPr lang="vi-VN"/>
                  <a:t>Ox,\ Oy,\ Oz</a:t>
                </a:r>
                <a:r>
                  <a:rPr sz="2000">
                    <a:solidFill>
                      <a:srgbClr val="1E293B"/>
                    </a:solidFill>
                    <a:latin typeface="Calibri"/>
                  </a:rPr>
                  <a:t> lần lượt trùng các tia </a:t>
                </a:r>
                <a:r>
                  <a:rPr lang="vi-VN"/>
                  <a:t>AB,\ AD,\ AS</a:t>
                </a:r>
                <a:r>
                  <a:rPr sz="2000">
                    <a:solidFill>
                      <a:srgbClr val="1E293B"/>
                    </a:solidFill>
                    <a:latin typeface="Calibri"/>
                  </a:rPr>
                  <a:t> (H.2.48). a) Xác định toạ độ các điểm </a:t>
                </a:r>
                <a:r>
                  <a:rPr lang="vi-VN"/>
                  <a:t>S,\ A,\ B,\ C,\ D</a:t>
                </a:r>
                <a:r>
                  <a:rPr sz="2000">
                    <a:solidFill>
                      <a:srgbClr val="1E293B"/>
                    </a:solidFill>
                    <a:latin typeface="Calibri"/>
                  </a:rPr>
                  <a:t>. b) Tính </a:t>
                </a:r>
                <a:r>
                  <a:rPr lang="vi-VN"/>
                  <a:t>BD</a:t>
                </a:r>
                <a:r>
                  <a:rPr sz="2000">
                    <a:solidFill>
                      <a:srgbClr val="1E293B"/>
                    </a:solidFill>
                    <a:latin typeface="Calibri"/>
                  </a:rPr>
                  <a:t> và </a:t>
                </a:r>
                <a:r>
                  <a:rPr lang="vi-VN"/>
                  <a:t>SC</a:t>
                </a:r>
                <a:r>
                  <a:rPr sz="2000">
                    <a:solidFill>
                      <a:srgbClr val="1E293B"/>
                    </a:solidFill>
                    <a:latin typeface="Calibri"/>
                  </a:rPr>
                  <a:t>. c) Tính </a:t>
                </a:r>
                <a:r>
                  <a:rPr lang="vi-VN"/>
                  <a:t>(\overrightarrow{BD},\overrightarrow{SC})</a:t>
                </a:r>
                <a:r>
                  <a:rPr sz="2000">
                    <a:solidFill>
                      <a:srgbClr val="1E293B"/>
                    </a:solidFill>
                    <a:latin typeface="Calibri"/>
                  </a:rPr>
                  <a:t>.</a:t>
                </a:r>
              </a:p>
            </p:txBody>
          </p:sp>
        </mc:Fallback>
      </mc:AlternateContent>
      <p:sp>
        <p:nvSpPr>
          <p:cNvPr id="8" name="s1_nen"/>
          <p:cNvSpPr/>
          <p:nvPr/>
        </p:nvSpPr>
        <p:spPr>
          <a:xfrm>
            <a:off x="548640" y="2828544"/>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651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A(0;0;0)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B(3;0;0)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D(0;4;0)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S(0;0;2)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C(3;4;0)</m:t>
                    </m:r>
                  </m:oMath>
                </a14:m>
                <a:r>
                  <a:rPr sz="2000">
                    <a:solidFill>
                      <a:srgbClr val="1E293B"/>
                    </a:solidFill>
                    <a:latin typeface="Calibri"/>
                  </a:rPr>
                  <a:t>.</a:t>
                </a:r>
              </a:p>
            </p:txBody>
          </p:sp>
        </mc:Choice>
        <mc:Fallback>
          <p:sp>
            <p:nvSpPr>
              <p:cNvPr id="9" name="TextBox 8"/>
              <p:cNvSpPr txBox="1"/>
              <p:nvPr/>
            </p:nvSpPr>
            <p:spPr>
              <a:xfrm>
                <a:off x="713232" y="28651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A(0;0;0)</a:t>
                </a:r>
                <a:r>
                  <a:rPr sz="2000">
                    <a:solidFill>
                      <a:srgbClr val="1E293B"/>
                    </a:solidFill>
                    <a:latin typeface="Calibri"/>
                  </a:rPr>
                  <a:t>, </a:t>
                </a:r>
                <a:r>
                  <a:rPr lang="vi-VN"/>
                  <a:t>B(3;0;0)</a:t>
                </a:r>
                <a:r>
                  <a:rPr sz="2000">
                    <a:solidFill>
                      <a:srgbClr val="1E293B"/>
                    </a:solidFill>
                    <a:latin typeface="Calibri"/>
                  </a:rPr>
                  <a:t>, </a:t>
                </a:r>
                <a:r>
                  <a:rPr lang="vi-VN"/>
                  <a:t>D(0;4;0)</a:t>
                </a:r>
                <a:r>
                  <a:rPr sz="2000">
                    <a:solidFill>
                      <a:srgbClr val="1E293B"/>
                    </a:solidFill>
                    <a:latin typeface="Calibri"/>
                  </a:rPr>
                  <a:t>, </a:t>
                </a:r>
                <a:r>
                  <a:rPr lang="vi-VN"/>
                  <a:t>S(0;0;2)</a:t>
                </a:r>
                <a:r>
                  <a:rPr sz="2000">
                    <a:solidFill>
                      <a:srgbClr val="1E293B"/>
                    </a:solidFill>
                    <a:latin typeface="Calibri"/>
                  </a:rPr>
                  <a:t>, </a:t>
                </a:r>
                <a:r>
                  <a:rPr lang="vi-VN"/>
                  <a:t>C(3;4;0)</a:t>
                </a:r>
                <a:r>
                  <a:rPr sz="2000">
                    <a:solidFill>
                      <a:srgbClr val="1E293B"/>
                    </a:solidFill>
                    <a:latin typeface="Calibri"/>
                  </a:rPr>
                  <a:t>.</a:t>
                </a:r>
              </a:p>
            </p:txBody>
          </p:sp>
        </mc:Fallback>
      </mc:AlternateContent>
      <p:sp>
        <p:nvSpPr>
          <p:cNvPr id="10" name="s2_nen"/>
          <p:cNvSpPr/>
          <p:nvPr/>
        </p:nvSpPr>
        <p:spPr>
          <a:xfrm>
            <a:off x="548640" y="3462528"/>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9910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BD=5</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SC=</m:t>
                    </m:r>
                    <m:rad>
                      <m:radPr>
                        <m:degHide m:val="on"/>
                      </m:radPr>
                      <m:deg/>
                      <m:e>
                        <m:r>
                          <a:rPr lang="vi-VN" sz="2000" b="0">
                            <a:solidFill>
                              <a:srgbClr val="1E293B"/>
                            </a:solidFill>
                            <a:latin typeface="Cambria Math" panose="02040503050406030204" pitchFamily="18" charset="0"/>
                          </a:rPr>
                          <m:t>29</m:t>
                        </m:r>
                      </m:e>
                    </m:rad>
                  </m:oMath>
                </a14:m>
                <a:r>
                  <a:rPr sz="2000">
                    <a:solidFill>
                      <a:srgbClr val="1E293B"/>
                    </a:solidFill>
                    <a:latin typeface="Calibri"/>
                  </a:rPr>
                  <a:t>.</a:t>
                </a:r>
              </a:p>
            </p:txBody>
          </p:sp>
        </mc:Choice>
        <mc:Fallback>
          <p:sp>
            <p:nvSpPr>
              <p:cNvPr id="11" name="TextBox 10"/>
              <p:cNvSpPr txBox="1"/>
              <p:nvPr/>
            </p:nvSpPr>
            <p:spPr>
              <a:xfrm>
                <a:off x="713232" y="349910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\overrightarrow{BD}</a:t>
                </a:r>
                <a:r>
                  <a:rPr sz="2000">
                    <a:solidFill>
                      <a:srgbClr val="1E293B"/>
                    </a:solidFill>
                    <a:latin typeface="Calibri"/>
                  </a:rPr>
                  <a:t> = </a:t>
                </a:r>
                <a:r>
                  <a:rPr lang="vi-VN"/>
                  <a:t>(-3;4;0)</a:t>
                </a:r>
                <a:r>
                  <a:rPr sz="2000">
                    <a:solidFill>
                      <a:srgbClr val="1E293B"/>
                    </a:solidFill>
                    <a:latin typeface="Calibri"/>
                  </a:rPr>
                  <a:t> ⇒ </a:t>
                </a:r>
                <a:r>
                  <a:rPr lang="vi-VN"/>
                  <a:t>BD=5</a:t>
                </a:r>
                <a:r>
                  <a:rPr sz="2000">
                    <a:solidFill>
                      <a:srgbClr val="1E293B"/>
                    </a:solidFill>
                    <a:latin typeface="Calibri"/>
                  </a:rPr>
                  <a:t>; </a:t>
                </a:r>
                <a:r>
                  <a:rPr lang="vi-VN"/>
                  <a:t>\overrightarrow{SC}</a:t>
                </a:r>
                <a:r>
                  <a:rPr sz="2000">
                    <a:solidFill>
                      <a:srgbClr val="1E293B"/>
                    </a:solidFill>
                    <a:latin typeface="Calibri"/>
                  </a:rPr>
                  <a:t> = </a:t>
                </a:r>
                <a:r>
                  <a:rPr lang="vi-VN"/>
                  <a:t>(3;4;-2)</a:t>
                </a:r>
                <a:r>
                  <a:rPr sz="2000">
                    <a:solidFill>
                      <a:srgbClr val="1E293B"/>
                    </a:solidFill>
                    <a:latin typeface="Calibri"/>
                  </a:rPr>
                  <a:t> ⇒ </a:t>
                </a:r>
                <a:r>
                  <a:rPr lang="vi-VN"/>
                  <a:t>SC=\sqrt{29}</a:t>
                </a:r>
                <a:r>
                  <a:rPr sz="2000">
                    <a:solidFill>
                      <a:srgbClr val="1E293B"/>
                    </a:solidFill>
                    <a:latin typeface="Calibri"/>
                  </a:rPr>
                  <a:t>.</a:t>
                </a:r>
              </a:p>
            </p:txBody>
          </p:sp>
        </mc:Fallback>
      </mc:AlternateContent>
      <p:sp>
        <p:nvSpPr>
          <p:cNvPr id="12" name="s3_nen"/>
          <p:cNvSpPr/>
          <p:nvPr/>
        </p:nvSpPr>
        <p:spPr>
          <a:xfrm>
            <a:off x="548640" y="4096512"/>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33088"/>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−9+16+0</m:t>
                        </m:r>
                      </m:num>
                      <m:den>
                        <m:r>
                          <a:rPr lang="vi-VN" sz="2000" b="0">
                            <a:solidFill>
                              <a:srgbClr val="1E293B"/>
                            </a:solidFill>
                            <a:latin typeface="Cambria Math" panose="02040503050406030204" pitchFamily="18" charset="0"/>
                          </a:rPr>
                          <m:t>5</m:t>
                        </m:r>
                        <m:rad>
                          <m:radPr>
                            <m:degHide m:val="on"/>
                          </m:radPr>
                          <m:deg/>
                          <m:e>
                            <m:r>
                              <a:rPr lang="vi-VN" sz="2000" b="0">
                                <a:solidFill>
                                  <a:srgbClr val="1E293B"/>
                                </a:solidFill>
                                <a:latin typeface="Cambria Math" panose="02040503050406030204" pitchFamily="18" charset="0"/>
                              </a:rPr>
                              <m:t>29</m:t>
                            </m:r>
                          </m:e>
                        </m:rad>
                      </m:den>
                    </m:f>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5</m:t>
                        </m:r>
                        <m:rad>
                          <m:radPr>
                            <m:degHide m:val="on"/>
                          </m:radPr>
                          <m:deg/>
                          <m:e>
                            <m:r>
                              <a:rPr lang="vi-VN" sz="2000" b="0">
                                <a:solidFill>
                                  <a:srgbClr val="1E293B"/>
                                </a:solidFill>
                                <a:latin typeface="Cambria Math" panose="02040503050406030204" pitchFamily="18" charset="0"/>
                              </a:rPr>
                              <m:t>29</m:t>
                            </m:r>
                          </m:e>
                        </m:rad>
                      </m:den>
                    </m:f>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BD</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SC</m:t>
                        </m:r>
                      </m:e>
                    </m:acc>
                    <m:r>
                      <a:rPr lang="vi-VN" sz="2000" b="0">
                        <a:solidFill>
                          <a:srgbClr val="1E293B"/>
                        </a:solidFill>
                        <a:latin typeface="Cambria Math" panose="02040503050406030204" pitchFamily="18" charset="0"/>
                      </a:rPr>
                      <m:t>)≈74</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3" name="TextBox 12"/>
              <p:cNvSpPr txBox="1"/>
              <p:nvPr/>
            </p:nvSpPr>
            <p:spPr>
              <a:xfrm>
                <a:off x="713232" y="4133088"/>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\cos(\overrightarrow{BD},\overrightarrow{SC})=\frac{-9+16+0}{5\sqrt{29}}=\frac{7}{5\sqrt{29}}</a:t>
                </a:r>
                <a:r>
                  <a:rPr sz="2000">
                    <a:solidFill>
                      <a:srgbClr val="1E293B"/>
                    </a:solidFill>
                    <a:latin typeface="Calibri"/>
                  </a:rPr>
                  <a:t> ⇒ </a:t>
                </a:r>
                <a:r>
                  <a:rPr lang="vi-VN"/>
                  <a:t>(\overrightarrow{BD},\overrightarrow{SC})\approx 74{,}9^\circ</a:t>
                </a:r>
                <a:r>
                  <a:rPr sz="2000">
                    <a:solidFill>
                      <a:srgbClr val="1E293B"/>
                    </a:solidFill>
                    <a:latin typeface="Calibri"/>
                  </a:rPr>
                  <a:t>.</a:t>
                </a:r>
              </a:p>
            </p:txBody>
          </p:sp>
        </mc:Fallback>
      </mc:AlternateContent>
      <p:sp>
        <p:nvSpPr>
          <p:cNvPr id="14" name="s4_nen"/>
          <p:cNvSpPr/>
          <p:nvPr/>
        </p:nvSpPr>
        <p:spPr>
          <a:xfrm>
            <a:off x="548640" y="5004816"/>
            <a:ext cx="8778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713232" y="5041392"/>
                <a:ext cx="8449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rad>
                      <m:radPr>
                        <m:degHide m:val="on"/>
                      </m:radPr>
                      <m:deg/>
                      <m:e>
                        <m:sSup>
                          <m:e>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B</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A</m:t>
                                    </m:r>
                                  </m:sub>
                                </m:sSub>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B</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A</m:t>
                                    </m:r>
                                  </m:sub>
                                </m:sSub>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B</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A</m:t>
                                    </m:r>
                                  </m:sub>
                                </m:sSub>
                              </m:e>
                            </m:d>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đặc biệt </a:t>
                </a:r>
                <a14:m>
                  <m:oMath xmlns:m="http://schemas.openxmlformats.org/officeDocument/2006/math">
                    <m:r>
                      <a:rPr lang="vi-VN" sz="2000" b="0">
                        <a:solidFill>
                          <a:srgbClr val="1E293B"/>
                        </a:solidFill>
                        <a:latin typeface="Cambria Math" panose="02040503050406030204" pitchFamily="18" charset="0"/>
                      </a:rPr>
                      <m:t>OA=</m:t>
                    </m:r>
                    <m:rad>
                      <m:radPr>
                        <m:degHide m:val="on"/>
                      </m:radPr>
                      <m:deg/>
                      <m:e>
                        <m:sSubSup>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A</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A</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A</m:t>
                            </m:r>
                          </m:sub>
                          <m:sup>
                            <m:r>
                              <a:rPr lang="vi-VN" sz="2000" b="0">
                                <a:solidFill>
                                  <a:srgbClr val="1E293B"/>
                                </a:solidFill>
                                <a:latin typeface="Cambria Math" panose="02040503050406030204" pitchFamily="18" charset="0"/>
                              </a:rPr>
                              <m:t>2</m:t>
                            </m:r>
                          </m:sup>
                        </m:sSubSup>
                      </m:e>
                    </m:rad>
                  </m:oMath>
                </a14:m>
                <a:r>
                  <a:rPr sz="2000">
                    <a:solidFill>
                      <a:srgbClr val="1E293B"/>
                    </a:solidFill>
                    <a:latin typeface="Calibri"/>
                  </a:rPr>
                  <a:t>.</a:t>
                </a:r>
              </a:p>
            </p:txBody>
          </p:sp>
        </mc:Choice>
        <mc:Fallback>
          <p:sp>
            <p:nvSpPr>
              <p:cNvPr id="15" name="TextBox 14"/>
              <p:cNvSpPr txBox="1"/>
              <p:nvPr/>
            </p:nvSpPr>
            <p:spPr>
              <a:xfrm>
                <a:off x="713232" y="5041392"/>
                <a:ext cx="8449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r>
                  <a:rPr lang="vi-VN"/>
                  <a:t>AB=|\overrightarrow{AB}|=\sqrt{(x_B-x_A)^2+(y_B-y_A)^2+(z_B-z_A)^2}</a:t>
                </a:r>
                <a:r>
                  <a:rPr sz="2000">
                    <a:solidFill>
                      <a:srgbClr val="1E293B"/>
                    </a:solidFill>
                    <a:latin typeface="Calibri"/>
                  </a:rPr>
                  <a:t>; đặc biệt </a:t>
                </a:r>
                <a:r>
                  <a:rPr lang="vi-VN"/>
                  <a:t>OA=\sqrt{x_A^2+y_A^2+z_A^2}</a:t>
                </a:r>
                <a:r>
                  <a:rPr sz="2000">
                    <a:solidFill>
                      <a:srgbClr val="1E293B"/>
                    </a:solidFill>
                    <a:latin typeface="Calibri"/>
                  </a:rPr>
                  <a:t>.</a:t>
                </a:r>
              </a:p>
            </p:txBody>
          </p:sp>
        </mc:Fallback>
      </mc:AlternateContent>
      <p:pic>
        <p:nvPicPr>
          <p:cNvPr id="16" name="Picture 15" descr="h248.png"/>
          <p:cNvPicPr>
            <a:picLocks noChangeAspect="1"/>
          </p:cNvPicPr>
          <p:nvPr/>
        </p:nvPicPr>
        <p:blipFill>
          <a:blip r:embed="rId3"/>
          <a:stretch>
            <a:fillRect/>
          </a:stretch>
        </p:blipFill>
        <p:spPr>
          <a:xfrm>
            <a:off x="9509760" y="1609938"/>
            <a:ext cx="2194560" cy="20836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4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Trong không gian </a:t>
                </a:r>
                <a14:m>
                  <m:oMath xmlns:m="http://schemas.openxmlformats.org/officeDocument/2006/math">
                    <m:r>
                      <a:rPr lang="vi-VN" sz="2300" b="0">
                        <a:solidFill>
                          <a:srgbClr val="1E293B"/>
                        </a:solidFill>
                        <a:latin typeface="Cambria Math" panose="02040503050406030204" pitchFamily="18" charset="0"/>
                      </a:rPr>
                      <m:t>Oxyz</m:t>
                    </m:r>
                  </m:oMath>
                </a14:m>
                <a:r>
                  <a:rPr sz="2300">
                    <a:solidFill>
                      <a:srgbClr val="1E293B"/>
                    </a:solidFill>
                    <a:latin typeface="Calibri"/>
                  </a:rPr>
                  <a:t>, cho </a:t>
                </a:r>
                <a14:m>
                  <m:oMath xmlns:m="http://schemas.openxmlformats.org/officeDocument/2006/math">
                    <m:r>
                      <a:rPr lang="vi-VN" sz="2300" b="0">
                        <a:solidFill>
                          <a:srgbClr val="1E293B"/>
                        </a:solidFill>
                        <a:latin typeface="Cambria Math" panose="02040503050406030204" pitchFamily="18" charset="0"/>
                      </a:rPr>
                      <m:t>A(0;</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B(3;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m:t>
                    </m:r>
                  </m:oMath>
                </a14:m>
                <a:r>
                  <a:rPr sz="2300">
                    <a:solidFill>
                      <a:srgbClr val="1E293B"/>
                    </a:solidFill>
                    <a:latin typeface="Calibri"/>
                  </a:rPr>
                  <a:t> và </a:t>
                </a:r>
                <a14:m>
                  <m:oMath xmlns:m="http://schemas.openxmlformats.org/officeDocument/2006/math">
                    <m:r>
                      <a:rPr lang="vi-VN" sz="2300" b="0">
                        <a:solidFill>
                          <a:srgbClr val="1E293B"/>
                        </a:solidFill>
                        <a:latin typeface="Cambria Math" panose="02040503050406030204" pitchFamily="18" charset="0"/>
                      </a:rPr>
                      <m:t>C(−2;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7)</m:t>
                    </m:r>
                  </m:oMath>
                </a14:m>
                <a:r>
                  <a:rPr sz="2300">
                    <a:solidFill>
                      <a:srgbClr val="1E293B"/>
                    </a:solidFill>
                    <a:latin typeface="Calibri"/>
                  </a:rPr>
                  <a:t>. a) Tính chu vi của tam giác </a:t>
                </a:r>
                <a14:m>
                  <m:oMath xmlns:m="http://schemas.openxmlformats.org/officeDocument/2006/math">
                    <m:r>
                      <a:rPr lang="vi-VN" sz="2300" b="0">
                        <a:solidFill>
                          <a:srgbClr val="1E293B"/>
                        </a:solidFill>
                        <a:latin typeface="Cambria Math" panose="02040503050406030204" pitchFamily="18" charset="0"/>
                      </a:rPr>
                      <m:t>ABC</m:t>
                    </m:r>
                  </m:oMath>
                </a14:m>
                <a:r>
                  <a:rPr sz="2300">
                    <a:solidFill>
                      <a:srgbClr val="1E293B"/>
                    </a:solidFill>
                    <a:latin typeface="Calibri"/>
                  </a:rPr>
                  <a:t>. b) Tính </a:t>
                </a:r>
                <a14:m>
                  <m:oMath xmlns:m="http://schemas.openxmlformats.org/officeDocument/2006/math">
                    <m:acc>
                      <m:accPr>
                        <m:chr m:val="̂"/>
                      </m:accPr>
                      <m:e>
                        <m:r>
                          <a:rPr lang="vi-VN" sz="2300" b="0">
                            <a:solidFill>
                              <a:srgbClr val="1E293B"/>
                            </a:solidFill>
                            <a:latin typeface="Cambria Math" panose="02040503050406030204" pitchFamily="18" charset="0"/>
                          </a:rPr>
                          <m:t>BAC</m:t>
                        </m:r>
                      </m:e>
                    </m:acc>
                  </m:oMath>
                </a14:m>
                <a:r>
                  <a:rPr sz="2300">
                    <a:solidFill>
                      <a:srgbClr val="1E293B"/>
                    </a:solidFill>
                    <a:latin typeface="Calibri"/>
                  </a:rPr>
                  <a:t>.</a:t>
                </a:r>
              </a:p>
            </p:txBody>
          </p:sp>
        </mc:Choice>
        <mc:Fallback>
          <p:sp>
            <p:nvSpPr>
              <p:cNvPr id="7" name="TextBox 6"/>
              <p:cNvSpPr txBox="1"/>
              <p:nvPr/>
            </p:nvSpPr>
            <p:spPr>
              <a:xfrm>
                <a:off x="548640" y="137160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Trong không gian </a:t>
                </a:r>
                <a:r>
                  <a:rPr lang="vi-VN"/>
                  <a:t>Oxyz</a:t>
                </a:r>
                <a:r>
                  <a:rPr sz="2300">
                    <a:solidFill>
                      <a:srgbClr val="1E293B"/>
                    </a:solidFill>
                    <a:latin typeface="Calibri"/>
                  </a:rPr>
                  <a:t>, cho </a:t>
                </a:r>
                <a:r>
                  <a:rPr lang="vi-VN"/>
                  <a:t>A(0;\ 2;\ 1)</a:t>
                </a:r>
                <a:r>
                  <a:rPr sz="2300">
                    <a:solidFill>
                      <a:srgbClr val="1E293B"/>
                    </a:solidFill>
                    <a:latin typeface="Calibri"/>
                  </a:rPr>
                  <a:t>, </a:t>
                </a:r>
                <a:r>
                  <a:rPr lang="vi-VN"/>
                  <a:t>B(3;\ -2;\ 1)</a:t>
                </a:r>
                <a:r>
                  <a:rPr sz="2300">
                    <a:solidFill>
                      <a:srgbClr val="1E293B"/>
                    </a:solidFill>
                    <a:latin typeface="Calibri"/>
                  </a:rPr>
                  <a:t> và </a:t>
                </a:r>
                <a:r>
                  <a:rPr lang="vi-VN"/>
                  <a:t>C(-2;\ 5;\ 7)</a:t>
                </a:r>
                <a:r>
                  <a:rPr sz="2300">
                    <a:solidFill>
                      <a:srgbClr val="1E293B"/>
                    </a:solidFill>
                    <a:latin typeface="Calibri"/>
                  </a:rPr>
                  <a:t>. a) Tính chu vi của tam giác </a:t>
                </a:r>
                <a:r>
                  <a:rPr lang="vi-VN"/>
                  <a:t>ABC</a:t>
                </a:r>
                <a:r>
                  <a:rPr sz="2300">
                    <a:solidFill>
                      <a:srgbClr val="1E293B"/>
                    </a:solidFill>
                    <a:latin typeface="Calibri"/>
                  </a:rPr>
                  <a:t>. b) Tính </a:t>
                </a:r>
                <a:r>
                  <a:rPr lang="vi-VN"/>
                  <a:t>\widehat{BAC}</a:t>
                </a:r>
                <a:r>
                  <a:rPr sz="2300">
                    <a:solidFill>
                      <a:srgbClr val="1E293B"/>
                    </a:solidFill>
                    <a:latin typeface="Calibri"/>
                  </a:rPr>
                  <a:t>.</a:t>
                </a:r>
              </a:p>
            </p:txBody>
          </p:sp>
        </mc:Fallback>
      </mc:AlternateContent>
      <p:sp>
        <p:nvSpPr>
          <p:cNvPr id="8" name="s1_nen"/>
          <p:cNvSpPr/>
          <p:nvPr/>
        </p:nvSpPr>
        <p:spPr>
          <a:xfrm>
            <a:off x="548640" y="2383536"/>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20112"/>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AB</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0</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AB=5</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AC</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AC=7</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BC</m:t>
                        </m:r>
                      </m:e>
                    </m:acc>
                  </m:oMath>
                </a14:m>
                <a:r>
                  <a:rPr sz="2300">
                    <a:solidFill>
                      <a:srgbClr val="1E293B"/>
                    </a:solidFill>
                    <a:latin typeface="Calibri"/>
                  </a:rPr>
                  <a:t> = </a:t>
                </a:r>
                <a14:m>
                  <m:oMath xmlns:m="http://schemas.openxmlformats.org/officeDocument/2006/math">
                    <m:d>
                      <m:dPr>
                        <m:sepChr m:val=""/>
                      </m:dPr>
                      <m:e>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7</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BC=</m:t>
                    </m:r>
                    <m:rad>
                      <m:radPr>
                        <m:degHide m:val="on"/>
                      </m:radPr>
                      <m:deg/>
                      <m:e>
                        <m:r>
                          <a:rPr lang="vi-VN" sz="2300" b="0">
                            <a:solidFill>
                              <a:srgbClr val="1E293B"/>
                            </a:solidFill>
                            <a:latin typeface="Cambria Math" panose="02040503050406030204" pitchFamily="18" charset="0"/>
                          </a:rPr>
                          <m:t>110</m:t>
                        </m:r>
                      </m:e>
                    </m:rad>
                  </m:oMath>
                </a14:m>
                <a:r>
                  <a:rPr sz="2300">
                    <a:solidFill>
                      <a:srgbClr val="1E293B"/>
                    </a:solidFill>
                    <a:latin typeface="Calibri"/>
                  </a:rPr>
                  <a:t>. Chu vi </a:t>
                </a:r>
                <a14:m>
                  <m:oMath xmlns:m="http://schemas.openxmlformats.org/officeDocument/2006/math">
                    <m:r>
                      <a:rPr lang="vi-VN" sz="2300" b="0">
                        <a:solidFill>
                          <a:srgbClr val="1E293B"/>
                        </a:solidFill>
                        <a:latin typeface="Cambria Math" panose="02040503050406030204" pitchFamily="18" charset="0"/>
                      </a:rPr>
                      <m:t>=12+</m:t>
                    </m:r>
                    <m:rad>
                      <m:radPr>
                        <m:degHide m:val="on"/>
                      </m:radPr>
                      <m:deg/>
                      <m:e>
                        <m:r>
                          <a:rPr lang="vi-VN" sz="2300" b="0">
                            <a:solidFill>
                              <a:srgbClr val="1E293B"/>
                            </a:solidFill>
                            <a:latin typeface="Cambria Math" panose="02040503050406030204" pitchFamily="18" charset="0"/>
                          </a:rPr>
                          <m:t>110</m:t>
                        </m:r>
                      </m:e>
                    </m:rad>
                    <m:r>
                      <a:rPr lang="vi-VN" sz="2300" b="0">
                        <a:solidFill>
                          <a:srgbClr val="1E293B"/>
                        </a:solidFill>
                        <a:latin typeface="Cambria Math" panose="02040503050406030204" pitchFamily="18" charset="0"/>
                      </a:rPr>
                      <m:t>≈22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49</m:t>
                    </m:r>
                  </m:oMath>
                </a14:m>
                <a:r>
                  <a:rPr sz="2300">
                    <a:solidFill>
                      <a:srgbClr val="1E293B"/>
                    </a:solidFill>
                    <a:latin typeface="Calibri"/>
                  </a:rPr>
                  <a:t>.</a:t>
                </a:r>
              </a:p>
            </p:txBody>
          </p:sp>
        </mc:Choice>
        <mc:Fallback>
          <p:sp>
            <p:nvSpPr>
              <p:cNvPr id="9" name="TextBox 8"/>
              <p:cNvSpPr txBox="1"/>
              <p:nvPr/>
            </p:nvSpPr>
            <p:spPr>
              <a:xfrm>
                <a:off x="713232" y="2420112"/>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\overrightarrow{AB}</a:t>
                </a:r>
                <a:r>
                  <a:rPr sz="2300">
                    <a:solidFill>
                      <a:srgbClr val="1E293B"/>
                    </a:solidFill>
                    <a:latin typeface="Calibri"/>
                  </a:rPr>
                  <a:t> = </a:t>
                </a:r>
                <a:r>
                  <a:rPr lang="vi-VN"/>
                  <a:t>(3;-4;0)</a:t>
                </a:r>
                <a:r>
                  <a:rPr sz="2300">
                    <a:solidFill>
                      <a:srgbClr val="1E293B"/>
                    </a:solidFill>
                    <a:latin typeface="Calibri"/>
                  </a:rPr>
                  <a:t>, </a:t>
                </a:r>
                <a:r>
                  <a:rPr lang="vi-VN"/>
                  <a:t>AB=5</a:t>
                </a:r>
                <a:r>
                  <a:rPr sz="2300">
                    <a:solidFill>
                      <a:srgbClr val="1E293B"/>
                    </a:solidFill>
                    <a:latin typeface="Calibri"/>
                  </a:rPr>
                  <a:t>; </a:t>
                </a:r>
                <a:r>
                  <a:rPr lang="vi-VN"/>
                  <a:t>\overrightarrow{AC}</a:t>
                </a:r>
                <a:r>
                  <a:rPr sz="2300">
                    <a:solidFill>
                      <a:srgbClr val="1E293B"/>
                    </a:solidFill>
                    <a:latin typeface="Calibri"/>
                  </a:rPr>
                  <a:t> = </a:t>
                </a:r>
                <a:r>
                  <a:rPr lang="vi-VN"/>
                  <a:t>(-2;3;6)</a:t>
                </a:r>
                <a:r>
                  <a:rPr sz="2300">
                    <a:solidFill>
                      <a:srgbClr val="1E293B"/>
                    </a:solidFill>
                    <a:latin typeface="Calibri"/>
                  </a:rPr>
                  <a:t>, </a:t>
                </a:r>
                <a:r>
                  <a:rPr lang="vi-VN"/>
                  <a:t>AC=7</a:t>
                </a:r>
                <a:r>
                  <a:rPr sz="2300">
                    <a:solidFill>
                      <a:srgbClr val="1E293B"/>
                    </a:solidFill>
                    <a:latin typeface="Calibri"/>
                  </a:rPr>
                  <a:t>; </a:t>
                </a:r>
                <a:r>
                  <a:rPr lang="vi-VN"/>
                  <a:t>\overrightarrow{BC}</a:t>
                </a:r>
                <a:r>
                  <a:rPr sz="2300">
                    <a:solidFill>
                      <a:srgbClr val="1E293B"/>
                    </a:solidFill>
                    <a:latin typeface="Calibri"/>
                  </a:rPr>
                  <a:t> = </a:t>
                </a:r>
                <a:r>
                  <a:rPr lang="vi-VN"/>
                  <a:t>(-5;7;6)</a:t>
                </a:r>
                <a:r>
                  <a:rPr sz="2300">
                    <a:solidFill>
                      <a:srgbClr val="1E293B"/>
                    </a:solidFill>
                    <a:latin typeface="Calibri"/>
                  </a:rPr>
                  <a:t>, </a:t>
                </a:r>
                <a:r>
                  <a:rPr lang="vi-VN"/>
                  <a:t>BC=\sqrt{110}</a:t>
                </a:r>
                <a:r>
                  <a:rPr sz="2300">
                    <a:solidFill>
                      <a:srgbClr val="1E293B"/>
                    </a:solidFill>
                    <a:latin typeface="Calibri"/>
                  </a:rPr>
                  <a:t>. Chu vi </a:t>
                </a:r>
                <a:r>
                  <a:rPr lang="vi-VN"/>
                  <a:t>=12+\sqrt{110}\approx 22{,}49</a:t>
                </a:r>
                <a:r>
                  <a:rPr sz="2300">
                    <a:solidFill>
                      <a:srgbClr val="1E293B"/>
                    </a:solidFill>
                    <a:latin typeface="Calibri"/>
                  </a:rPr>
                  <a:t>.</a:t>
                </a:r>
              </a:p>
            </p:txBody>
          </p:sp>
        </mc:Fallback>
      </mc:AlternateContent>
      <p:sp>
        <p:nvSpPr>
          <p:cNvPr id="10" name="s2_nen"/>
          <p:cNvSpPr/>
          <p:nvPr/>
        </p:nvSpPr>
        <p:spPr>
          <a:xfrm>
            <a:off x="548640" y="3486911"/>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23487"/>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14:m>
                  <m:oMath xmlns:m="http://schemas.openxmlformats.org/officeDocument/2006/math">
                    <m:r>
                      <m:rPr>
                        <m:sty m:val="p"/>
                      </m:rPr>
                      <a:rPr lang="vi-VN" sz="2300" b="0">
                        <a:solidFill>
                          <a:srgbClr val="1E293B"/>
                        </a:solidFill>
                        <a:latin typeface="Cambria Math" panose="02040503050406030204" pitchFamily="18" charset="0"/>
                      </a:rPr>
                      <m:t>cos</m:t>
                    </m:r>
                    <m:acc>
                      <m:accPr>
                        <m:chr m:val="̂"/>
                      </m:accPr>
                      <m:e>
                        <m:r>
                          <a:rPr lang="vi-VN" sz="2300" b="0">
                            <a:solidFill>
                              <a:srgbClr val="1E293B"/>
                            </a:solidFill>
                            <a:latin typeface="Cambria Math" panose="02040503050406030204" pitchFamily="18" charset="0"/>
                          </a:rPr>
                          <m:t>BAC</m:t>
                        </m:r>
                      </m:e>
                    </m:acc>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−6−12+0</m:t>
                        </m:r>
                      </m:num>
                      <m:den>
                        <m:r>
                          <a:rPr lang="vi-VN" sz="2300" b="0">
                            <a:solidFill>
                              <a:srgbClr val="1E293B"/>
                            </a:solidFill>
                            <a:latin typeface="Cambria Math" panose="02040503050406030204" pitchFamily="18" charset="0"/>
                          </a:rPr>
                          <m:t>5·7</m:t>
                        </m:r>
                      </m:den>
                    </m:f>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18</m:t>
                        </m:r>
                      </m:num>
                      <m:den>
                        <m:r>
                          <a:rPr lang="vi-VN" sz="2300" b="0">
                            <a:solidFill>
                              <a:srgbClr val="1E293B"/>
                            </a:solidFill>
                            <a:latin typeface="Cambria Math" panose="02040503050406030204" pitchFamily="18" charset="0"/>
                          </a:rPr>
                          <m:t>35</m:t>
                        </m:r>
                      </m:den>
                    </m:f>
                  </m:oMath>
                </a14:m>
                <a:r>
                  <a:rPr sz="2300">
                    <a:solidFill>
                      <a:srgbClr val="1E293B"/>
                    </a:solidFill>
                    <a:latin typeface="Calibri"/>
                  </a:rPr>
                  <a:t> ⇒ </a:t>
                </a:r>
                <a14:m>
                  <m:oMath xmlns:m="http://schemas.openxmlformats.org/officeDocument/2006/math">
                    <m:acc>
                      <m:accPr>
                        <m:chr m:val="̂"/>
                      </m:accPr>
                      <m:e>
                        <m:r>
                          <a:rPr lang="vi-VN" sz="2300" b="0">
                            <a:solidFill>
                              <a:srgbClr val="1E293B"/>
                            </a:solidFill>
                            <a:latin typeface="Cambria Math" panose="02040503050406030204" pitchFamily="18" charset="0"/>
                          </a:rPr>
                          <m:t>BAC</m:t>
                        </m:r>
                      </m:e>
                    </m:acc>
                    <m:r>
                      <a:rPr lang="vi-VN" sz="2300" b="0">
                        <a:solidFill>
                          <a:srgbClr val="1E293B"/>
                        </a:solidFill>
                        <a:latin typeface="Cambria Math" panose="02040503050406030204" pitchFamily="18" charset="0"/>
                      </a:rPr>
                      <m:t>≈120</m:t>
                    </m:r>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95</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a:t>
                </a:r>
              </a:p>
            </p:txBody>
          </p:sp>
        </mc:Choice>
        <mc:Fallback>
          <p:sp>
            <p:nvSpPr>
              <p:cNvPr id="11" name="TextBox 10"/>
              <p:cNvSpPr txBox="1"/>
              <p:nvPr/>
            </p:nvSpPr>
            <p:spPr>
              <a:xfrm>
                <a:off x="713232" y="3523487"/>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\cos\widehat{BAC}=\frac{-6-12+0}{5\cdot 7}=-\frac{18}{35}</a:t>
                </a:r>
                <a:r>
                  <a:rPr sz="2300">
                    <a:solidFill>
                      <a:srgbClr val="1E293B"/>
                    </a:solidFill>
                    <a:latin typeface="Calibri"/>
                  </a:rPr>
                  <a:t> ⇒ </a:t>
                </a:r>
                <a:r>
                  <a:rPr lang="vi-VN"/>
                  <a:t>\widehat{BAC}\approx 120{,}95^\circ</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3. VẬN DỤNG – VÍ DỤ 5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14:m>
                  <m:oMath xmlns:m="http://schemas.openxmlformats.org/officeDocument/2006/math">
                    <m:r>
                      <a:rPr lang="vi-VN" sz="2000" b="0">
                        <a:solidFill>
                          <a:srgbClr val="1E293B"/>
                        </a:solidFill>
                        <a:latin typeface="Cambria Math" panose="02040503050406030204" pitchFamily="18" charset="0"/>
                      </a:rPr>
                      <m:t>A(800;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500;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7)</m:t>
                    </m:r>
                  </m:oMath>
                </a14:m>
                <a:r>
                  <a:rPr sz="2000">
                    <a:solidFill>
                      <a:srgbClr val="1E293B"/>
                    </a:solidFill>
                    <a:latin typeface="Calibri"/>
                  </a:rPr>
                  <a:t> đến </a:t>
                </a:r>
                <a14:m>
                  <m:oMath xmlns:m="http://schemas.openxmlformats.org/officeDocument/2006/math">
                    <m:r>
                      <a:rPr lang="vi-VN" sz="2000" b="0">
                        <a:solidFill>
                          <a:srgbClr val="1E293B"/>
                        </a:solidFill>
                        <a:latin typeface="Cambria Math" panose="02040503050406030204" pitchFamily="18" charset="0"/>
                      </a:rPr>
                      <m:t>B(940;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550;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 trong 10 phút (đơn vị km). Nếu máy bay giữ nguyên vận tốc và hướng bay thì toạ độ của máy bay sau 5 phút tiếp theo là gì?</a:t>
                </a:r>
              </a:p>
            </p:txBody>
          </p:sp>
        </mc:Choice>
        <mc:Fallback>
          <p:sp>
            <p:nvSpPr>
              <p:cNvPr id="7" name="TextBox 6"/>
              <p:cNvSpPr txBox="1"/>
              <p:nvPr/>
            </p:nvSpPr>
            <p:spPr>
              <a:xfrm>
                <a:off x="548640" y="1371600"/>
                <a:ext cx="78638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r>
                  <a:rPr lang="vi-VN"/>
                  <a:t>A(800;\ 500;\ 7)</a:t>
                </a:r>
                <a:r>
                  <a:rPr sz="2000">
                    <a:solidFill>
                      <a:srgbClr val="1E293B"/>
                    </a:solidFill>
                    <a:latin typeface="Calibri"/>
                  </a:rPr>
                  <a:t> đến </a:t>
                </a:r>
                <a:r>
                  <a:rPr lang="vi-VN"/>
                  <a:t>B(940;\ 550;\ 8)</a:t>
                </a:r>
                <a:r>
                  <a:rPr sz="2000">
                    <a:solidFill>
                      <a:srgbClr val="1E293B"/>
                    </a:solidFill>
                    <a:latin typeface="Calibri"/>
                  </a:rPr>
                  <a:t> trong 10 phút (đơn vị km). Nếu máy bay giữ nguyên vận tốc và hướng bay thì toạ độ của máy bay sau 5 phút tiếp theo là gì?</a:t>
                </a:r>
              </a:p>
            </p:txBody>
          </p:sp>
        </mc:Fallback>
      </mc:AlternateContent>
      <p:sp>
        <p:nvSpPr>
          <p:cNvPr id="8" name="s1_nen"/>
          <p:cNvSpPr/>
          <p:nvPr/>
        </p:nvSpPr>
        <p:spPr>
          <a:xfrm>
            <a:off x="548640" y="2837688"/>
            <a:ext cx="78638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7426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Gọi </a:t>
                </a:r>
                <a14:m>
                  <m:oMath xmlns:m="http://schemas.openxmlformats.org/officeDocument/2006/math">
                    <m:r>
                      <a:rPr lang="vi-VN" sz="2000" b="0">
                        <a:solidFill>
                          <a:srgbClr val="1E293B"/>
                        </a:solidFill>
                        <a:latin typeface="Cambria Math" panose="02040503050406030204" pitchFamily="18" charset="0"/>
                      </a:rPr>
                      <m:t>C(x;y;z)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cùng hướng và </a:t>
                </a:r>
                <a14:m>
                  <m:oMath xmlns:m="http://schemas.openxmlformats.org/officeDocument/2006/math">
                    <m:r>
                      <a:rPr lang="vi-VN" sz="2000" b="0">
                        <a:solidFill>
                          <a:srgbClr val="1E293B"/>
                        </a:solidFill>
                        <a:latin typeface="Cambria Math" panose="02040503050406030204" pitchFamily="18" charset="0"/>
                      </a:rPr>
                      <m:t>AB=2BC</m:t>
                    </m:r>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70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25</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e>
                    </m:d>
                  </m:oMath>
                </a14:m>
                <a:r>
                  <a:rPr sz="2000">
                    <a:solidFill>
                      <a:srgbClr val="1E293B"/>
                    </a:solidFill>
                    <a:latin typeface="Calibri"/>
                  </a:rPr>
                  <a:t>.</a:t>
                </a:r>
              </a:p>
            </p:txBody>
          </p:sp>
        </mc:Choice>
        <mc:Fallback>
          <p:sp>
            <p:nvSpPr>
              <p:cNvPr id="9" name="TextBox 8"/>
              <p:cNvSpPr txBox="1"/>
              <p:nvPr/>
            </p:nvSpPr>
            <p:spPr>
              <a:xfrm>
                <a:off x="713232" y="287426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Gọi </a:t>
                </a:r>
                <a:r>
                  <a:rPr lang="vi-VN"/>
                  <a:t>C(x;y;z)</a:t>
                </a:r>
                <a:r>
                  <a:rPr sz="2000">
                    <a:solidFill>
                      <a:srgbClr val="1E293B"/>
                    </a:solidFill>
                    <a:latin typeface="Calibri"/>
                  </a:rPr>
                  <a:t>: </a:t>
                </a:r>
                <a:r>
                  <a:rPr lang="vi-VN"/>
                  <a:t>\overrightarrow{AB}</a:t>
                </a:r>
                <a:r>
                  <a:rPr sz="2000">
                    <a:solidFill>
                      <a:srgbClr val="1E293B"/>
                    </a:solidFill>
                    <a:latin typeface="Calibri"/>
                  </a:rPr>
                  <a:t>, </a:t>
                </a:r>
                <a:r>
                  <a:rPr lang="vi-VN"/>
                  <a:t>\overrightarrow{BC}</a:t>
                </a:r>
                <a:r>
                  <a:rPr sz="2000">
                    <a:solidFill>
                      <a:srgbClr val="1E293B"/>
                    </a:solidFill>
                    <a:latin typeface="Calibri"/>
                  </a:rPr>
                  <a:t> cùng hướng và </a:t>
                </a:r>
                <a:r>
                  <a:rPr lang="vi-VN"/>
                  <a:t>AB=2BC</a:t>
                </a:r>
                <a:r>
                  <a:rPr sz="2000">
                    <a:solidFill>
                      <a:srgbClr val="1E293B"/>
                    </a:solidFill>
                    <a:latin typeface="Calibri"/>
                  </a:rPr>
                  <a:t> ⇒ </a:t>
                </a:r>
                <a:r>
                  <a:rPr lang="vi-VN"/>
                  <a:t>\overrightarrow{BC}</a:t>
                </a:r>
                <a:r>
                  <a:rPr sz="2000">
                    <a:solidFill>
                      <a:srgbClr val="1E293B"/>
                    </a:solidFill>
                    <a:latin typeface="Calibri"/>
                  </a:rPr>
                  <a:t> = </a:t>
                </a:r>
                <a:r>
                  <a:rPr lang="vi-VN"/>
                  <a:t>\frac{1}{2}</a:t>
                </a:r>
                <a:r>
                  <a:rPr sz="2000">
                    <a:solidFill>
                      <a:srgbClr val="1E293B"/>
                    </a:solidFill>
                    <a:latin typeface="Calibri"/>
                  </a:rPr>
                  <a:t> </a:t>
                </a:r>
                <a:r>
                  <a:rPr lang="vi-VN"/>
                  <a:t>\overrightarrow{AB}</a:t>
                </a:r>
                <a:r>
                  <a:rPr sz="2000">
                    <a:solidFill>
                      <a:srgbClr val="1E293B"/>
                    </a:solidFill>
                    <a:latin typeface="Calibri"/>
                  </a:rPr>
                  <a:t> = </a:t>
                </a:r>
                <a:r>
                  <a:rPr lang="vi-VN"/>
                  <a:t>(70;\ 25;\ 0{,}5)</a:t>
                </a:r>
                <a:r>
                  <a:rPr sz="2000">
                    <a:solidFill>
                      <a:srgbClr val="1E293B"/>
                    </a:solidFill>
                    <a:latin typeface="Calibri"/>
                  </a:rPr>
                  <a:t>.</a:t>
                </a:r>
              </a:p>
            </p:txBody>
          </p:sp>
        </mc:Fallback>
      </mc:AlternateContent>
      <p:sp>
        <p:nvSpPr>
          <p:cNvPr id="10" name="s2_nen"/>
          <p:cNvSpPr/>
          <p:nvPr/>
        </p:nvSpPr>
        <p:spPr>
          <a:xfrm>
            <a:off x="548640" y="3922776"/>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93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x−940=70,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y−550=25,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z−8=0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C(1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010;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575;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a:t>
                </a:r>
              </a:p>
            </p:txBody>
          </p:sp>
        </mc:Choice>
        <mc:Fallback>
          <p:sp>
            <p:nvSpPr>
              <p:cNvPr id="11" name="TextBox 10"/>
              <p:cNvSpPr txBox="1"/>
              <p:nvPr/>
            </p:nvSpPr>
            <p:spPr>
              <a:xfrm>
                <a:off x="713232" y="39593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x-940=70,\ y-550=25,\ z-8=0{,}5</a:t>
                </a:r>
                <a:r>
                  <a:rPr sz="2000">
                    <a:solidFill>
                      <a:srgbClr val="1E293B"/>
                    </a:solidFill>
                    <a:latin typeface="Calibri"/>
                  </a:rPr>
                  <a:t> ⇒ </a:t>
                </a:r>
                <a:r>
                  <a:rPr lang="vi-VN"/>
                  <a:t>C(1\,010;\ 575;\ 8{,}5)</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56590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14:m>
                  <m:oMath xmlns:m="http://schemas.openxmlformats.org/officeDocument/2006/math">
                    <m:r>
                      <a:rPr lang="vi-VN" sz="2000" b="0">
                        <a:solidFill>
                          <a:srgbClr val="1E293B"/>
                        </a:solidFill>
                        <a:latin typeface="Cambria Math" panose="02040503050406030204" pitchFamily="18" charset="0"/>
                      </a:rPr>
                      <m:t>B</m:t>
                    </m:r>
                  </m:oMath>
                </a14:m>
                <a:r>
                  <a:rPr sz="2000">
                    <a:solidFill>
                      <a:srgbClr val="1E293B"/>
                    </a:solidFill>
                    <a:latin typeface="Calibri"/>
                  </a:rPr>
                  <a:t>).</a:t>
                </a:r>
              </a:p>
            </p:txBody>
          </p:sp>
        </mc:Choice>
        <mc:Fallback>
          <p:sp>
            <p:nvSpPr>
              <p:cNvPr id="12" name="TextBox 11"/>
              <p:cNvSpPr txBox="1"/>
              <p:nvPr/>
            </p:nvSpPr>
            <p:spPr>
              <a:xfrm>
                <a:off x="548640" y="456590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r>
                  <a:rPr lang="vi-VN"/>
                  <a:t>B</a:t>
                </a:r>
                <a:r>
                  <a:rPr sz="2000">
                    <a:solidFill>
                      <a:srgbClr val="1E293B"/>
                    </a:solidFill>
                    <a:latin typeface="Calibri"/>
                  </a:rPr>
                  <a:t>).</a:t>
                </a:r>
              </a:p>
            </p:txBody>
          </p:sp>
        </mc:Fallback>
      </mc:AlternateContent>
      <p:sp>
        <p:nvSpPr>
          <p:cNvPr id="13" name="s4_nen"/>
          <p:cNvSpPr/>
          <p:nvPr/>
        </p:nvSpPr>
        <p:spPr>
          <a:xfrm>
            <a:off x="548640" y="5727192"/>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763768"/>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140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D(1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080;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600;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oMath>
                </a14:m>
                <a:r>
                  <a:rPr sz="2000">
                    <a:solidFill>
                      <a:srgbClr val="1E293B"/>
                    </a:solidFill>
                    <a:latin typeface="Calibri"/>
                  </a:rPr>
                  <a:t>.</a:t>
                </a:r>
              </a:p>
            </p:txBody>
          </p:sp>
        </mc:Choice>
        <mc:Fallback>
          <p:sp>
            <p:nvSpPr>
              <p:cNvPr id="14" name="TextBox 13"/>
              <p:cNvSpPr txBox="1"/>
              <p:nvPr/>
            </p:nvSpPr>
            <p:spPr>
              <a:xfrm>
                <a:off x="713232" y="5763768"/>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\overrightarrow{BD}</a:t>
                </a:r>
                <a:r>
                  <a:rPr sz="2000">
                    <a:solidFill>
                      <a:srgbClr val="1E293B"/>
                    </a:solidFill>
                    <a:latin typeface="Calibri"/>
                  </a:rPr>
                  <a:t> = </a:t>
                </a:r>
                <a:r>
                  <a:rPr lang="vi-VN"/>
                  <a:t>\overrightarrow{AB}</a:t>
                </a:r>
                <a:r>
                  <a:rPr sz="2000">
                    <a:solidFill>
                      <a:srgbClr val="1E293B"/>
                    </a:solidFill>
                    <a:latin typeface="Calibri"/>
                  </a:rPr>
                  <a:t> = </a:t>
                </a:r>
                <a:r>
                  <a:rPr lang="vi-VN"/>
                  <a:t>(140;\ 50;\ 1)</a:t>
                </a:r>
                <a:r>
                  <a:rPr sz="2000">
                    <a:solidFill>
                      <a:srgbClr val="1E293B"/>
                    </a:solidFill>
                    <a:latin typeface="Calibri"/>
                  </a:rPr>
                  <a:t> ⇒ </a:t>
                </a:r>
                <a:r>
                  <a:rPr lang="vi-VN"/>
                  <a:t>D(1\,080;\ 600;\ 9)</a:t>
                </a:r>
                <a:r>
                  <a:rPr sz="2000">
                    <a:solidFill>
                      <a:srgbClr val="1E293B"/>
                    </a:solidFill>
                    <a:latin typeface="Calibri"/>
                  </a:rPr>
                  <a:t>.</a:t>
                </a:r>
              </a:p>
            </p:txBody>
          </p:sp>
        </mc:Fallback>
      </mc:AlternateContent>
      <p:pic>
        <p:nvPicPr>
          <p:cNvPr id="15" name="Picture 14" descr="h249.png"/>
          <p:cNvPicPr>
            <a:picLocks noChangeAspect="1"/>
          </p:cNvPicPr>
          <p:nvPr/>
        </p:nvPicPr>
        <p:blipFill>
          <a:blip r:embed="rId3"/>
          <a:stretch>
            <a:fillRect/>
          </a:stretch>
        </p:blipFill>
        <p:spPr>
          <a:xfrm>
            <a:off x="8595360" y="2205081"/>
            <a:ext cx="3108960" cy="7104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MÁY BAY BAY THẲNG ĐỀU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Máy bay đi từ </a:t>
                </a:r>
                <a14:m>
                  <m:oMath xmlns:m="http://schemas.openxmlformats.org/officeDocument/2006/math">
                    <m:r>
                      <a:rPr lang="vi-VN" sz="2200" b="0">
                        <a:solidFill>
                          <a:srgbClr val="1E293B"/>
                        </a:solidFill>
                        <a:latin typeface="Cambria Math" panose="02040503050406030204" pitchFamily="18" charset="0"/>
                      </a:rPr>
                      <m:t>A(800;500;7)</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B(940;550;8)</m:t>
                    </m:r>
                  </m:oMath>
                </a14:m>
                <a:r>
                  <a:rPr sz="2200">
                    <a:solidFill>
                      <a:srgbClr val="1E293B"/>
                    </a:solidFill>
                    <a:latin typeface="Calibri"/>
                  </a:rPr>
                  <a:t> trong 10 phút.</a:t>
                </a:r>
              </a:p>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(phút): vị trí </a:t>
                </a:r>
                <a14:m>
                  <m:oMath xmlns:m="http://schemas.openxmlformats.org/officeDocument/2006/math">
                    <m:r>
                      <a:rPr lang="vi-VN" sz="2200" b="0">
                        <a:solidFill>
                          <a:srgbClr val="1E293B"/>
                        </a:solidFill>
                        <a:latin typeface="Cambria Math" panose="02040503050406030204" pitchFamily="18" charset="0"/>
                      </a:rPr>
                      <m:t>M=A+</m:t>
                    </m:r>
                    <m:f>
                      <m:fPr>
                        <m:type m:val="bar"/>
                      </m:fPr>
                      <m:num>
                        <m:r>
                          <a:rPr lang="vi-VN" sz="2200" b="0">
                            <a:solidFill>
                              <a:srgbClr val="1E293B"/>
                            </a:solidFill>
                            <a:latin typeface="Cambria Math" panose="02040503050406030204" pitchFamily="18" charset="0"/>
                          </a:rPr>
                          <m:t>t</m:t>
                        </m:r>
                      </m:num>
                      <m:den>
                        <m:r>
                          <a:rPr lang="vi-VN" sz="2200" b="0">
                            <a:solidFill>
                              <a:srgbClr val="1E293B"/>
                            </a:solidFill>
                            <a:latin typeface="Cambria Math" panose="02040503050406030204" pitchFamily="18" charset="0"/>
                          </a:rPr>
                          <m:t>10</m:t>
                        </m:r>
                      </m:den>
                    </m:f>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a:t>
                </a:r>
                <a14:m>
                  <m:oMath xmlns:m="http://schemas.openxmlformats.org/officeDocument/2006/math">
                    <m:r>
                      <a:rPr lang="vi-VN" sz="2200" b="0">
                        <a:solidFill>
                          <a:srgbClr val="1E293B"/>
                        </a:solidFill>
                        <a:latin typeface="Cambria Math" panose="02040503050406030204" pitchFamily="18" charset="0"/>
                      </a:rPr>
                      <m:t>t=15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010;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575;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8</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(Ví dụ 5); </a:t>
                </a:r>
                <a14:m>
                  <m:oMath xmlns:m="http://schemas.openxmlformats.org/officeDocument/2006/math">
                    <m:r>
                      <a:rPr lang="vi-VN" sz="2200" b="0">
                        <a:solidFill>
                          <a:srgbClr val="1E293B"/>
                        </a:solidFill>
                        <a:latin typeface="Cambria Math" panose="02040503050406030204" pitchFamily="18" charset="0"/>
                      </a:rPr>
                      <m:t>t=20</m:t>
                    </m:r>
                  </m:oMath>
                </a14:m>
                <a:r>
                  <a:rPr sz="2200">
                    <a:solidFill>
                      <a:srgbClr val="1E293B"/>
                    </a:solidFill>
                    <a:latin typeface="Calibri"/>
                  </a:rPr>
                  <a:t>: </a:t>
                </a:r>
                <a14:m>
                  <m:oMath xmlns:m="http://schemas.openxmlformats.org/officeDocument/2006/math">
                    <m:d>
                      <m:dPr>
                        <m:sepChr m:val=""/>
                      </m:dPr>
                      <m:e>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080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600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9</m:t>
                        </m:r>
                      </m:e>
                    </m:d>
                  </m:oMath>
                </a14:m>
                <a:r>
                  <a:rPr sz="2200">
                    <a:solidFill>
                      <a:srgbClr val="1E293B"/>
                    </a:solidFill>
                    <a:latin typeface="Calibri"/>
                  </a:rPr>
                  <a:t> (Luyện tập 5).</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Máy bay đi từ </a:t>
                </a:r>
                <a:r>
                  <a:rPr lang="vi-VN"/>
                  <a:t>A(800;500;7)</a:t>
                </a:r>
                <a:r>
                  <a:rPr sz="2200">
                    <a:solidFill>
                      <a:srgbClr val="1E293B"/>
                    </a:solidFill>
                    <a:latin typeface="Calibri"/>
                  </a:rPr>
                  <a:t> đến </a:t>
                </a:r>
                <a:r>
                  <a:rPr lang="vi-VN"/>
                  <a:t>B(940;550;8)</a:t>
                </a:r>
                <a:r>
                  <a:rPr sz="2200">
                    <a:solidFill>
                      <a:srgbClr val="1E293B"/>
                    </a:solidFill>
                    <a:latin typeface="Calibri"/>
                  </a:rPr>
                  <a:t> trong 10 phút.</a:t>
                </a:r>
              </a:p>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(phút): vị trí </a:t>
                </a:r>
                <a:r>
                  <a:rPr lang="vi-VN"/>
                  <a:t>M=A+\frac{t}{10}\overrightarrow{AB}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a:t>
                </a:r>
                <a:r>
                  <a:rPr lang="vi-VN"/>
                  <a:t>t=15</a:t>
                </a:r>
                <a:r>
                  <a:rPr sz="2200">
                    <a:solidFill>
                      <a:srgbClr val="1E293B"/>
                    </a:solidFill>
                    <a:latin typeface="Calibri"/>
                  </a:rPr>
                  <a:t>: </a:t>
                </a:r>
                <a:r>
                  <a:rPr lang="vi-VN"/>
                  <a:t>M(1\,010;\ 575;\ 8{,}5)</a:t>
                </a:r>
                <a:r>
                  <a:rPr sz="2200">
                    <a:solidFill>
                      <a:srgbClr val="1E293B"/>
                    </a:solidFill>
                    <a:latin typeface="Calibri"/>
                  </a:rPr>
                  <a:t> (Ví dụ 5); </a:t>
                </a:r>
                <a:r>
                  <a:rPr lang="vi-VN"/>
                  <a:t>t=20</a:t>
                </a:r>
                <a:r>
                  <a:rPr sz="2200">
                    <a:solidFill>
                      <a:srgbClr val="1E293B"/>
                    </a:solidFill>
                    <a:latin typeface="Calibri"/>
                  </a:rPr>
                  <a:t>: </a:t>
                </a:r>
                <a:r>
                  <a:rPr lang="vi-VN"/>
                  <a:t>(1\,080;\ 600;\ 9)</a:t>
                </a:r>
                <a:r>
                  <a:rPr sz="2200">
                    <a:solidFill>
                      <a:srgbClr val="1E293B"/>
                    </a:solidFill>
                    <a:latin typeface="Calibri"/>
                  </a:rPr>
                  <a:t> (Luyện tập 5).</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9.png"/>
          <p:cNvPicPr>
            <a:picLocks noChangeAspect="1"/>
          </p:cNvPicPr>
          <p:nvPr/>
        </p:nvPicPr>
        <p:blipFill>
          <a:blip r:embed="rId5"/>
          <a:stretch>
            <a:fillRect/>
          </a:stretch>
        </p:blipFill>
        <p:spPr>
          <a:xfrm>
            <a:off x="6858000" y="3149565"/>
            <a:ext cx="4846320" cy="110751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19</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công thức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AB=</m:t>
                    </m:r>
                    <m:rad>
                      <m:radPr>
                        <m:degHide m:val="on"/>
                      </m:radPr>
                      <m:deg/>
                      <m:e>
                        <m:sSup>
                          <m:e>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A</m:t>
                                    </m:r>
                                  </m:sub>
                                </m:sSub>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\vec{a}\cdot\vec{b}=xx'+yy'+zz'</a:t>
                </a:r>
                <a:r>
                  <a:rPr sz="2200">
                    <a:solidFill>
                      <a:srgbClr val="1E293B"/>
                    </a:solidFill>
                    <a:latin typeface="Calibri"/>
                  </a:rPr>
                  <a:t>; </a:t>
                </a:r>
                <a:r>
                  <a:rPr lang="vi-VN"/>
                  <a:t>\vec{a}\perp\vec{b}</a:t>
                </a:r>
                <a:r>
                  <a:rPr sz="2200">
                    <a:solidFill>
                      <a:srgbClr val="1E293B"/>
                    </a:solidFill>
                    <a:latin typeface="Calibri"/>
                  </a:rPr>
                  <a:t> ⇔ </a:t>
                </a:r>
                <a:r>
                  <a:rPr lang="vi-VN"/>
                  <a:t>\vec{a}\cdot\vec{b}=0</a:t>
                </a:r>
                <a:r>
                  <a:rPr sz="2200">
                    <a:solidFill>
                      <a:srgbClr val="1E293B"/>
                    </a:solidFill>
                    <a:latin typeface="Calibri"/>
                  </a:rPr>
                  <a:t>; </a:t>
                </a:r>
                <a:r>
                  <a:rPr lang="vi-VN"/>
                  <a:t>|\vec{a}|=\sqrt{x^2+y^2+z^2}</a:t>
                </a:r>
                <a:r>
                  <a:rPr sz="2200">
                    <a:solidFill>
                      <a:srgbClr val="1E293B"/>
                    </a:solidFill>
                    <a:latin typeface="Calibri"/>
                  </a:rPr>
                  <a:t>; công thức </a:t>
                </a:r>
                <a:r>
                  <a:rPr lang="vi-VN"/>
                  <a:t>\cos(\vec{a},\vec{b})</a:t>
                </a:r>
                <a:r>
                  <a:rPr sz="2200">
                    <a:solidFill>
                      <a:srgbClr val="1E293B"/>
                    </a:solidFill>
                    <a:latin typeface="Calibri"/>
                  </a:rPr>
                  <a:t>.</a:t>
                </a:r>
              </a:p>
              <a:p>
                <a:pPr algn="l" marL="365760" indent="-365760">
                  <a:spcAft>
                    <a:spcPts val="800"/>
                  </a:spcAft>
                  <a:buClr>
                    <a:srgbClr val="1E40AF"/>
                  </a:buClr>
                  <a:buFont typeface="Arial"/>
                  <a:buChar char="•"/>
                </a:pPr>
                <a:r>
                  <a:rPr lang="vi-VN"/>
                  <a:t>AB=\sqrt{(x_B-x_A)^2+(y_B-y_A)^2+(z_B-z_A)^2}</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2.20b, 2.21, 2.22 (SGK tr.72).</a:t>
            </a:r>
          </a:p>
          <a:p>
            <a:pPr algn="l" marL="365760" indent="-365760">
              <a:spcAft>
                <a:spcPts val="800"/>
              </a:spcAft>
              <a:buClr>
                <a:srgbClr val="1E40AF"/>
              </a:buClr>
              <a:buFont typeface="Arial"/>
              <a:buChar char="•"/>
            </a:pPr>
            <a:r>
              <a:rPr sz="2200">
                <a:solidFill>
                  <a:srgbClr val="1E293B"/>
                </a:solidFill>
                <a:latin typeface="Calibri"/>
              </a:rPr>
              <a:t>Thử trả lời câu hỏi mở đầu (nhà gỗ) trước tiết sau.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(T39)</a:t>
            </a:r>
          </a:p>
          <a:p>
            <a:pPr>
              <a:spcAft>
                <a:spcPts val="600"/>
              </a:spcAft>
            </a:pPr>
            <a:r>
              <a:rPr sz="4000" b="1">
                <a:solidFill>
                  <a:srgbClr val="FFFFFF"/>
                </a:solidFill>
                <a:latin typeface="Cambria"/>
              </a:rPr>
              <a:t>Vận dụng thực tiễn. 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Giải bài toán nhà gỗ, khinh khí cầu bằng toạ độ.</a:t>
            </a:r>
          </a:p>
          <a:p>
            <a:pPr algn="l">
              <a:spcAft>
                <a:spcPts val="800"/>
              </a:spcAft>
            </a:pPr>
            <a:r>
              <a:rPr sz="2200">
                <a:solidFill>
                  <a:srgbClr val="E0E7FF"/>
                </a:solidFill>
                <a:latin typeface="Calibri"/>
              </a:rPr>
              <a:t>• Giải Bài tập 2.20 – 2.24.</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a:t>
                </a:r>
                <a14:m>
                  <m:oMath xmlns:m="http://schemas.openxmlformats.org/officeDocument/2006/math">
                    <m:r>
                      <a:rPr lang="vi-VN" sz="2400" b="0">
                        <a:solidFill>
                          <a:srgbClr val="1E293B"/>
                        </a:solidFill>
                        <a:latin typeface="Cambria Math" panose="02040503050406030204" pitchFamily="18" charset="0"/>
                      </a:rPr>
                      <m:t>A(1;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a:t>
                </a:r>
                <a:r>
                  <a:rPr lang="vi-VN"/>
                  <a:t>A(1;\ 2;\ 3)</a:t>
                </a:r>
                <a:r>
                  <a:rPr sz="2400">
                    <a:solidFill>
                      <a:srgbClr val="1E293B"/>
                    </a:solidFill>
                    <a:latin typeface="Calibri"/>
                  </a:rPr>
                  <a:t>, </a:t>
                </a:r>
                <a:r>
                  <a:rPr lang="vi-VN"/>
                  <a:t>B(3;\ 0;\ -1)</a:t>
                </a:r>
                <a:r>
                  <a:rPr sz="2400">
                    <a:solidFill>
                      <a:srgbClr val="1E293B"/>
                    </a:solidFill>
                    <a:latin typeface="Calibri"/>
                  </a:rPr>
                  <a:t>, </a:t>
                </a:r>
                <a:r>
                  <a:rPr lang="vi-VN"/>
                  <a:t>C(-1;\ 4;\ 1)</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trung điểm của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trung điểm của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1;\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a:t>
                </a:r>
                <a14:m>
                  <m:oMath xmlns:m="http://schemas.openxmlformats.org/officeDocument/2006/math">
                    <m:r>
                      <a:rPr lang="vi-VN" sz="2600" b="0">
                        <a:solidFill>
                          <a:srgbClr val="1E293B"/>
                        </a:solidFill>
                        <a:latin typeface="Cambria Math" panose="02040503050406030204" pitchFamily="18" charset="0"/>
                      </a:rPr>
                      <m:t>AB</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ad>
                      <m:radPr>
                        <m:degHide m:val="on"/>
                      </m:radPr>
                      <m:deg/>
                      <m:e>
                        <m:r>
                          <a:rPr lang="vi-VN" sz="2400" b="0">
                            <a:solidFill>
                              <a:srgbClr val="1E293B"/>
                            </a:solidFill>
                            <a:latin typeface="Cambria Math" panose="02040503050406030204" pitchFamily="18" charset="0"/>
                          </a:rPr>
                          <m:t>4+4+16</m:t>
                        </m:r>
                      </m:e>
                    </m:rad>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6</m:t>
                        </m:r>
                      </m:e>
                    </m:ra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\sqrt{4+4+16}=2\sqrt{6}</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trọng tâm tam giác </a:t>
                </a:r>
                <a14:m>
                  <m:oMath xmlns:m="http://schemas.openxmlformats.org/officeDocument/2006/math">
                    <m:r>
                      <a:rPr lang="vi-VN" sz="2600" b="0">
                        <a:solidFill>
                          <a:srgbClr val="1E293B"/>
                        </a:solidFill>
                        <a:latin typeface="Cambria Math" panose="02040503050406030204" pitchFamily="18" charset="0"/>
                      </a:rPr>
                      <m:t>ABC</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trọng tâm tam giác </a:t>
                </a:r>
                <a:r>
                  <a:rPr lang="vi-VN"/>
                  <a:t>ABC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tiếp</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Góc giữa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=(1;0;0)</m:t>
                    </m:r>
                  </m:oMath>
                </a14:m>
                <a:r>
                  <a:rPr sz="2600">
                    <a:solidFill>
                      <a:srgbClr val="1E293B"/>
                    </a:solidFill>
                    <a:latin typeface="Calibri"/>
                  </a:rPr>
                  <a:t> và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=(1;1;0)</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Góc giữa </a:t>
                </a:r>
                <a:r>
                  <a:rPr lang="vi-VN"/>
                  <a:t>\vec{u}=(1;0;0)</a:t>
                </a:r>
                <a:r>
                  <a:rPr sz="2600">
                    <a:solidFill>
                      <a:srgbClr val="1E293B"/>
                    </a:solidFill>
                    <a:latin typeface="Calibri"/>
                  </a:rPr>
                  <a:t> và </a:t>
                </a:r>
                <a:r>
                  <a:rPr lang="vi-VN"/>
                  <a:t>\vec{v}=(1;1;0)</a:t>
                </a:r>
                <a:r>
                  <a:rPr sz="2600">
                    <a:solidFill>
                      <a:srgbClr val="1E293B"/>
                    </a:solidFill>
                    <a:latin typeface="Calibri"/>
                  </a:rPr>
                  <a:t>?</a:t>
                </a:r>
              </a:p>
            </p:txBody>
          </p:sp>
        </mc:Fallback>
      </mc:AlternateContent>
      <p:sp>
        <p:nvSpPr>
          <p:cNvPr id="8" name="s1_nen"/>
          <p:cNvSpPr/>
          <p:nvPr/>
        </p:nvSpPr>
        <p:spPr>
          <a:xfrm>
            <a:off x="548640" y="3017520"/>
            <a:ext cx="768096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722375"/>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vì </a:t>
                </a:r>
                <a14:m>
                  <m:oMath xmlns:m="http://schemas.openxmlformats.org/officeDocument/2006/math">
                    <m:r>
                      <m:rPr>
                        <m:sty m:val="p"/>
                      </m:rPr>
                      <a:rPr lang="vi-VN" sz="2400" b="0">
                        <a:solidFill>
                          <a:srgbClr val="1E293B"/>
                        </a:solidFill>
                        <a:latin typeface="Cambria Math" panose="02040503050406030204" pitchFamily="18" charset="0"/>
                      </a:rPr>
                      <m:t>cos</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1</m:t>
                        </m:r>
                      </m:num>
                      <m:den>
                        <m:rad>
                          <m:radPr>
                            <m:degHide m:val="on"/>
                          </m:radPr>
                          <m:deg/>
                          <m:e>
                            <m:r>
                              <a:rPr lang="vi-VN" sz="2400" b="0">
                                <a:solidFill>
                                  <a:srgbClr val="1E293B"/>
                                </a:solidFill>
                                <a:latin typeface="Cambria Math" panose="02040503050406030204" pitchFamily="18" charset="0"/>
                              </a:rPr>
                              <m:t>2</m:t>
                            </m:r>
                          </m:e>
                        </m:rad>
                      </m:den>
                    </m:f>
                  </m:oMath>
                </a14:m>
                <a:r>
                  <a:rPr sz="2400">
                    <a:solidFill>
                      <a:srgbClr val="1E293B"/>
                    </a:solidFill>
                    <a:latin typeface="Calibri"/>
                  </a:rPr>
                  <a:t>.</a:t>
                </a:r>
              </a:p>
            </p:txBody>
          </p:sp>
        </mc:Choice>
        <mc:Fallback>
          <p:sp>
            <p:nvSpPr>
              <p:cNvPr id="9" name="TextBox 8"/>
              <p:cNvSpPr txBox="1"/>
              <p:nvPr/>
            </p:nvSpPr>
            <p:spPr>
              <a:xfrm>
                <a:off x="713232" y="3054096"/>
                <a:ext cx="7351776" cy="722375"/>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45^\circ</a:t>
                </a:r>
                <a:r>
                  <a:rPr sz="2400">
                    <a:solidFill>
                      <a:srgbClr val="1E293B"/>
                    </a:solidFill>
                    <a:latin typeface="Calibri"/>
                  </a:rPr>
                  <a:t> vì </a:t>
                </a:r>
                <a:r>
                  <a:rPr lang="vi-VN"/>
                  <a:t>\cos=\frac{1}{\sqrt{2}}</a:t>
                </a:r>
                <a:r>
                  <a:rPr sz="2400">
                    <a:solidFill>
                      <a:srgbClr val="1E293B"/>
                    </a:solidFill>
                    <a:latin typeface="Calibri"/>
                  </a:rPr>
                  <a:t>.</a:t>
                </a:r>
              </a:p>
            </p:txBody>
          </p:sp>
        </mc:Fallback>
      </mc:AlternateContent>
      <p:sp>
        <p:nvSpPr>
          <p:cNvPr id="10" name="s2_nen"/>
          <p:cNvSpPr/>
          <p:nvPr/>
        </p:nvSpPr>
        <p:spPr>
          <a:xfrm>
            <a:off x="548640" y="3995928"/>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4032504"/>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6 – BÀI TOÁN MỞ ĐẦU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Hãy trả lời câu hỏi trong tình huống mở đầu: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450;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(120;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450;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300)</m:t>
                    </m:r>
                  </m:oMath>
                </a14:m>
                <a:r>
                  <a:rPr sz="2000">
                    <a:solidFill>
                      <a:srgbClr val="1E293B"/>
                    </a:solidFill>
                    <a:latin typeface="Calibri"/>
                  </a:rPr>
                  <a:t> (cm).</a:t>
                </a:r>
              </a:p>
            </p:txBody>
          </p:sp>
        </mc:Choice>
        <mc:Fallback>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Hãy trả lời câu hỏi trong tình huống mở đầu: </a:t>
                </a:r>
                <a:r>
                  <a:rPr lang="vi-VN"/>
                  <a:t>A'(240;\ 450;\ 0)</a:t>
                </a:r>
                <a:r>
                  <a:rPr sz="2000">
                    <a:solidFill>
                      <a:srgbClr val="1E293B"/>
                    </a:solidFill>
                    <a:latin typeface="Calibri"/>
                  </a:rPr>
                  <a:t>, </a:t>
                </a:r>
                <a:r>
                  <a:rPr lang="vi-VN"/>
                  <a:t>B'(120;\ 450;\ 300)</a:t>
                </a:r>
                <a:r>
                  <a:rPr sz="2000">
                    <a:solidFill>
                      <a:srgbClr val="1E293B"/>
                    </a:solidFill>
                    <a:latin typeface="Calibri"/>
                  </a:rPr>
                  <a:t> (cm).</a:t>
                </a:r>
              </a:p>
            </p:txBody>
          </p:sp>
        </mc:Fallback>
      </mc:AlternateContent>
      <p:sp>
        <p:nvSpPr>
          <p:cNvPr id="8" name="s1_nen"/>
          <p:cNvSpPr/>
          <p:nvPr/>
        </p:nvSpPr>
        <p:spPr>
          <a:xfrm>
            <a:off x="548640" y="2228088"/>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64664"/>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cách các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oMath>
                </a14:m>
                <a:r>
                  <a:rPr sz="2000">
                    <a:solidFill>
                      <a:srgbClr val="1E293B"/>
                    </a:solidFill>
                    <a:latin typeface="Calibri"/>
                  </a:rPr>
                  <a:t> lần lượt 450 cm và 240 cm ⇒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A=450</m:t>
                    </m:r>
                  </m:oMath>
                </a14:m>
                <a:r>
                  <a:rPr sz="2000">
                    <a:solidFill>
                      <a:srgbClr val="1E293B"/>
                    </a:solidFill>
                    <a:latin typeface="Calibri"/>
                  </a:rPr>
                  <a:t> cm,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m:t>
                    </m:r>
                  </m:oMath>
                </a14:m>
                <a:r>
                  <a:rPr sz="2000">
                    <a:solidFill>
                      <a:srgbClr val="1E293B"/>
                    </a:solidFill>
                    <a:latin typeface="Calibri"/>
                  </a:rPr>
                  <a:t> cm.</a:t>
                </a:r>
              </a:p>
            </p:txBody>
          </p:sp>
        </mc:Choice>
        <mc:Fallback>
          <p:sp>
            <p:nvSpPr>
              <p:cNvPr id="9" name="TextBox 8"/>
              <p:cNvSpPr txBox="1"/>
              <p:nvPr/>
            </p:nvSpPr>
            <p:spPr>
              <a:xfrm>
                <a:off x="713232" y="2264664"/>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a:t>
                </a:r>
                <a:r>
                  <a:rPr sz="2000">
                    <a:solidFill>
                      <a:srgbClr val="1E293B"/>
                    </a:solidFill>
                    <a:latin typeface="Calibri"/>
                  </a:rPr>
                  <a:t> cách các trục </a:t>
                </a:r>
                <a:r>
                  <a:rPr lang="vi-VN"/>
                  <a:t>Ox,\ Oy</a:t>
                </a:r>
                <a:r>
                  <a:rPr sz="2000">
                    <a:solidFill>
                      <a:srgbClr val="1E293B"/>
                    </a:solidFill>
                    <a:latin typeface="Calibri"/>
                  </a:rPr>
                  <a:t> lần lượt 450 cm và 240 cm ⇒ </a:t>
                </a:r>
                <a:r>
                  <a:rPr lang="vi-VN"/>
                  <a:t>A'A=450</a:t>
                </a:r>
                <a:r>
                  <a:rPr sz="2000">
                    <a:solidFill>
                      <a:srgbClr val="1E293B"/>
                    </a:solidFill>
                    <a:latin typeface="Calibri"/>
                  </a:rPr>
                  <a:t> cm, </a:t>
                </a:r>
                <a:r>
                  <a:rPr lang="vi-VN"/>
                  <a:t>A'O'=240</a:t>
                </a:r>
                <a:r>
                  <a:rPr sz="2000">
                    <a:solidFill>
                      <a:srgbClr val="1E293B"/>
                    </a:solidFill>
                    <a:latin typeface="Calibri"/>
                  </a:rPr>
                  <a:t> cm.</a:t>
                </a:r>
              </a:p>
            </p:txBody>
          </p:sp>
        </mc:Fallback>
      </mc:AlternateContent>
      <p:sp>
        <p:nvSpPr>
          <p:cNvPr id="10" name="s2_nen"/>
          <p:cNvSpPr/>
          <p:nvPr/>
        </p:nvSpPr>
        <p:spPr>
          <a:xfrm>
            <a:off x="548640" y="3176016"/>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120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300</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=60</m:t>
                    </m:r>
                    <m:rad>
                      <m:radPr>
                        <m:degHide m:val="on"/>
                      </m:radPr>
                      <m:deg/>
                      <m:e>
                        <m:r>
                          <a:rPr lang="vi-VN" sz="2000" b="0">
                            <a:solidFill>
                              <a:srgbClr val="1E293B"/>
                            </a:solidFill>
                            <a:latin typeface="Cambria Math" panose="02040503050406030204" pitchFamily="18" charset="0"/>
                          </a:rPr>
                          <m:t>29</m:t>
                        </m:r>
                      </m:e>
                    </m:rad>
                    <m:r>
                      <a:rPr lang="vi-VN" sz="2000" b="0">
                        <a:solidFill>
                          <a:srgbClr val="1E293B"/>
                        </a:solidFill>
                        <a:latin typeface="Cambria Math" panose="02040503050406030204" pitchFamily="18" charset="0"/>
                      </a:rPr>
                      <m:t>≈323</m:t>
                    </m:r>
                  </m:oMath>
                </a14:m>
                <a:r>
                  <a:rPr sz="2000">
                    <a:solidFill>
                      <a:srgbClr val="1E293B"/>
                    </a:solidFill>
                    <a:latin typeface="Calibri"/>
                  </a:rPr>
                  <a:t> cm; </a:t>
                </a:r>
                <a14:m>
                  <m:oMath xmlns:m="http://schemas.openxmlformats.org/officeDocument/2006/math">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(0;450;0)</m:t>
                    </m:r>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120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300</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≈323</m:t>
                    </m:r>
                  </m:oMath>
                </a14:m>
                <a:r>
                  <a:rPr sz="2000">
                    <a:solidFill>
                      <a:srgbClr val="1E293B"/>
                    </a:solidFill>
                    <a:latin typeface="Calibri"/>
                  </a:rPr>
                  <a:t> cm.</a:t>
                </a:r>
              </a:p>
            </p:txBody>
          </p:sp>
        </mc:Choice>
        <mc:Fallback>
          <p:sp>
            <p:nvSpPr>
              <p:cNvPr id="11" name="TextBox 10"/>
              <p:cNvSpPr txBox="1"/>
              <p:nvPr/>
            </p:nvSpPr>
            <p:spPr>
              <a:xfrm>
                <a:off x="713232" y="32125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(-120;\ 0;\ 300)</a:t>
                </a:r>
                <a:r>
                  <a:rPr sz="2000">
                    <a:solidFill>
                      <a:srgbClr val="1E293B"/>
                    </a:solidFill>
                    <a:latin typeface="Calibri"/>
                  </a:rPr>
                  <a:t> ⇒ </a:t>
                </a:r>
                <a:r>
                  <a:rPr lang="vi-VN"/>
                  <a:t>A'B'=60\sqrt{29}\approx 323</a:t>
                </a:r>
                <a:r>
                  <a:rPr sz="2000">
                    <a:solidFill>
                      <a:srgbClr val="1E293B"/>
                    </a:solidFill>
                    <a:latin typeface="Calibri"/>
                  </a:rPr>
                  <a:t> cm; </a:t>
                </a:r>
                <a:r>
                  <a:rPr lang="vi-VN"/>
                  <a:t>O'(0;450;0)</a:t>
                </a:r>
                <a:r>
                  <a:rPr sz="2000">
                    <a:solidFill>
                      <a:srgbClr val="1E293B"/>
                    </a:solidFill>
                    <a:latin typeface="Calibri"/>
                  </a:rPr>
                  <a:t>, </a:t>
                </a:r>
                <a:r>
                  <a:rPr lang="vi-VN"/>
                  <a:t>\overrightarrow{O'B'}</a:t>
                </a:r>
                <a:r>
                  <a:rPr sz="2000">
                    <a:solidFill>
                      <a:srgbClr val="1E293B"/>
                    </a:solidFill>
                    <a:latin typeface="Calibri"/>
                  </a:rPr>
                  <a:t> = </a:t>
                </a:r>
                <a:r>
                  <a:rPr lang="vi-VN"/>
                  <a:t>(120;0;300)</a:t>
                </a:r>
                <a:r>
                  <a:rPr sz="2000">
                    <a:solidFill>
                      <a:srgbClr val="1E293B"/>
                    </a:solidFill>
                    <a:latin typeface="Calibri"/>
                  </a:rPr>
                  <a:t> ⇒ </a:t>
                </a:r>
                <a:r>
                  <a:rPr lang="vi-VN"/>
                  <a:t>O'B'\approx 323</a:t>
                </a:r>
                <a:r>
                  <a:rPr sz="2000">
                    <a:solidFill>
                      <a:srgbClr val="1E293B"/>
                    </a:solidFill>
                    <a:latin typeface="Calibri"/>
                  </a:rPr>
                  <a:t> cm.</a:t>
                </a:r>
              </a:p>
            </p:txBody>
          </p:sp>
        </mc:Fallback>
      </mc:AlternateContent>
      <p:sp>
        <p:nvSpPr>
          <p:cNvPr id="12" name="s3_nen"/>
          <p:cNvSpPr/>
          <p:nvPr/>
        </p:nvSpPr>
        <p:spPr>
          <a:xfrm>
            <a:off x="548640" y="4123944"/>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160520"/>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Mỗi căn nhà dài 450 cm, rộng 240 cm, mỗi cạnh bên của mặt tiền dài khoảng 323 cm.</a:t>
            </a:r>
          </a:p>
        </p:txBody>
      </p:sp>
      <p:pic>
        <p:nvPicPr>
          <p:cNvPr id="14" name="Picture 13"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(góc giữa mặt bên của căn nhà gỗ và mặt đất).</a:t>
                </a:r>
              </a:p>
            </p:txBody>
          </p:sp>
        </mc:Choice>
        <mc:Fallback>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r>
                  <a:rPr lang="vi-VN"/>
                  <a:t>\alpha</a:t>
                </a:r>
                <a:r>
                  <a:rPr sz="1900">
                    <a:solidFill>
                      <a:srgbClr val="1E293B"/>
                    </a:solidFill>
                    <a:latin typeface="Calibri"/>
                  </a:rPr>
                  <a:t> (góc giữa mặt bên của căn nhà gỗ và mặt đất).</a:t>
                </a:r>
              </a:p>
            </p:txBody>
          </p:sp>
        </mc:Fallback>
      </mc:AlternateContent>
      <p:sp>
        <p:nvSpPr>
          <p:cNvPr id="8" name="s1_nen"/>
          <p:cNvSpPr/>
          <p:nvPr/>
        </p:nvSpPr>
        <p:spPr>
          <a:xfrm>
            <a:off x="548640" y="2179320"/>
            <a:ext cx="78638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1589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 góc giữa </a:t>
                </a:r>
                <a14:m>
                  <m:oMath xmlns:m="http://schemas.openxmlformats.org/officeDocument/2006/math">
                    <m:acc>
                      <m:accPr>
                        <m:chr m:val="⃗"/>
                      </m:accPr>
                      <m:e>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240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và </a:t>
                </a:r>
                <a14:m>
                  <m:oMath xmlns:m="http://schemas.openxmlformats.org/officeDocument/2006/math">
                    <m:acc>
                      <m:accPr>
                        <m:chr m:val="⃗"/>
                      </m:accPr>
                      <m:e>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f>
                      <m:fPr>
                        <m:type m:val="bar"/>
                      </m:fPr>
                      <m:num>
                        <m:r>
                          <a:rPr lang="vi-VN" sz="1900" b="0">
                            <a:solidFill>
                              <a:srgbClr val="1E293B"/>
                            </a:solidFill>
                            <a:latin typeface="Cambria Math" panose="02040503050406030204" pitchFamily="18" charset="0"/>
                          </a:rPr>
                          <m:t>28</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800</m:t>
                        </m:r>
                      </m:num>
                      <m:den>
                        <m:r>
                          <a:rPr lang="vi-VN" sz="1900" b="0">
                            <a:solidFill>
                              <a:srgbClr val="1E293B"/>
                            </a:solidFill>
                            <a:latin typeface="Cambria Math" panose="02040503050406030204" pitchFamily="18" charset="0"/>
                          </a:rPr>
                          <m:t>240·60</m:t>
                        </m:r>
                        <m:rad>
                          <m:radPr>
                            <m:degHide m:val="on"/>
                          </m:radPr>
                          <m:deg/>
                          <m:e>
                            <m:r>
                              <a:rPr lang="vi-VN" sz="1900" b="0">
                                <a:solidFill>
                                  <a:srgbClr val="1E293B"/>
                                </a:solidFill>
                                <a:latin typeface="Cambria Math" panose="02040503050406030204" pitchFamily="18" charset="0"/>
                              </a:rPr>
                              <m:t>29</m:t>
                            </m:r>
                          </m:e>
                        </m:rad>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2</m:t>
                        </m:r>
                      </m:num>
                      <m:den>
                        <m:rad>
                          <m:radPr>
                            <m:degHide m:val="on"/>
                          </m:radPr>
                          <m:deg/>
                          <m:e>
                            <m:r>
                              <a:rPr lang="vi-VN" sz="1900" b="0">
                                <a:solidFill>
                                  <a:srgbClr val="1E293B"/>
                                </a:solidFill>
                                <a:latin typeface="Cambria Math" panose="02040503050406030204" pitchFamily="18" charset="0"/>
                              </a:rPr>
                              <m:t>29</m:t>
                            </m:r>
                          </m:e>
                        </m:rad>
                      </m:den>
                    </m:f>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α≈68</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p:sp>
            <p:nvSpPr>
              <p:cNvPr id="9" name="TextBox 8"/>
              <p:cNvSpPr txBox="1"/>
              <p:nvPr/>
            </p:nvSpPr>
            <p:spPr>
              <a:xfrm>
                <a:off x="713232" y="221589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\alpha</a:t>
                </a:r>
                <a:r>
                  <a:rPr sz="1900">
                    <a:solidFill>
                      <a:srgbClr val="1E293B"/>
                    </a:solidFill>
                    <a:latin typeface="Calibri"/>
                  </a:rPr>
                  <a:t> = góc giữa </a:t>
                </a:r>
                <a:r>
                  <a:rPr lang="vi-VN"/>
                  <a:t>\overrightarrow{A'O'}</a:t>
                </a:r>
                <a:r>
                  <a:rPr sz="1900">
                    <a:solidFill>
                      <a:srgbClr val="1E293B"/>
                    </a:solidFill>
                    <a:latin typeface="Calibri"/>
                  </a:rPr>
                  <a:t> = </a:t>
                </a:r>
                <a:r>
                  <a:rPr lang="vi-VN"/>
                  <a:t>(-240;0;0)</a:t>
                </a:r>
                <a:r>
                  <a:rPr sz="1900">
                    <a:solidFill>
                      <a:srgbClr val="1E293B"/>
                    </a:solidFill>
                    <a:latin typeface="Calibri"/>
                  </a:rPr>
                  <a:t> và </a:t>
                </a:r>
                <a:r>
                  <a:rPr lang="vi-VN"/>
                  <a:t>\overrightarrow{A'B'}</a:t>
                </a:r>
                <a:r>
                  <a:rPr sz="1900">
                    <a:solidFill>
                      <a:srgbClr val="1E293B"/>
                    </a:solidFill>
                    <a:latin typeface="Calibri"/>
                  </a:rPr>
                  <a:t>: </a:t>
                </a:r>
                <a:r>
                  <a:rPr lang="vi-VN"/>
                  <a:t>\cos\alpha=\frac{28\,800}{240\cdot 60\sqrt{29}}=\frac{2}{\sqrt{29}}</a:t>
                </a:r>
                <a:r>
                  <a:rPr sz="1900">
                    <a:solidFill>
                      <a:srgbClr val="1E293B"/>
                    </a:solidFill>
                    <a:latin typeface="Calibri"/>
                  </a:rPr>
                  <a:t> ⇒ </a:t>
                </a:r>
                <a:r>
                  <a:rPr lang="vi-VN"/>
                  <a:t>\alpha\approx 68{,}2^\circ</a:t>
                </a:r>
                <a:r>
                  <a:rPr sz="1900">
                    <a:solidFill>
                      <a:srgbClr val="1E293B"/>
                    </a:solidFill>
                    <a:latin typeface="Calibri"/>
                  </a:rPr>
                  <a:t>.</a:t>
                </a:r>
              </a:p>
            </p:txBody>
          </p:sp>
        </mc:Fallback>
      </mc:AlternateContent>
      <p:pic>
        <p:nvPicPr>
          <p:cNvPr id="10" name="Picture 9"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7 – KHINH KHÍ CẦU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200656"/>
              </a:xfrm>
              <a:prstGeom prst="rect">
                <a:avLst/>
              </a:prstGeom>
              <a:noFill/>
            </p:spPr>
            <p:txBody>
              <a:bodyPr wrap="square" anchor="t" lIns="45720" rIns="45720">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tại điểm xuất phát,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hướng nam,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hướng đông,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thẳng đứng lên trời (km). a) Tìm toạ độ mỗi khinh khí cầu. b) Tính khoảng cách giữa chúng (làm tròn đến hàng phần trăm).</a:t>
                </a:r>
              </a:p>
            </p:txBody>
          </p:sp>
        </mc:Choice>
        <mc:Fallback>
          <p:sp>
            <p:nvSpPr>
              <p:cNvPr id="7" name="TextBox 6"/>
              <p:cNvSpPr txBox="1"/>
              <p:nvPr/>
            </p:nvSpPr>
            <p:spPr>
              <a:xfrm>
                <a:off x="548640" y="1371600"/>
                <a:ext cx="7863840" cy="2200656"/>
              </a:xfrm>
              <a:prstGeom prst="rect">
                <a:avLst/>
              </a:prstGeom>
              <a:noFill/>
            </p:spPr>
            <p:txBody>
              <a:bodyPr wrap="square" anchor="t" lIns="45720" rIns="45720">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r>
                  <a:rPr lang="vi-VN"/>
                  <a:t>Oxyz</a:t>
                </a:r>
                <a:r>
                  <a:rPr sz="1900">
                    <a:solidFill>
                      <a:srgbClr val="1E293B"/>
                    </a:solidFill>
                    <a:latin typeface="Calibri"/>
                  </a:rPr>
                  <a:t>: </a:t>
                </a:r>
                <a:r>
                  <a:rPr lang="vi-VN"/>
                  <a:t>O</a:t>
                </a:r>
                <a:r>
                  <a:rPr sz="1900">
                    <a:solidFill>
                      <a:srgbClr val="1E293B"/>
                    </a:solidFill>
                    <a:latin typeface="Calibri"/>
                  </a:rPr>
                  <a:t> tại điểm xuất phát, </a:t>
                </a:r>
                <a:r>
                  <a:rPr lang="vi-VN"/>
                  <a:t>Ox</a:t>
                </a:r>
                <a:r>
                  <a:rPr sz="1900">
                    <a:solidFill>
                      <a:srgbClr val="1E293B"/>
                    </a:solidFill>
                    <a:latin typeface="Calibri"/>
                  </a:rPr>
                  <a:t> hướng nam, </a:t>
                </a:r>
                <a:r>
                  <a:rPr lang="vi-VN"/>
                  <a:t>Oy</a:t>
                </a:r>
                <a:r>
                  <a:rPr sz="1900">
                    <a:solidFill>
                      <a:srgbClr val="1E293B"/>
                    </a:solidFill>
                    <a:latin typeface="Calibri"/>
                  </a:rPr>
                  <a:t> hướng đông, </a:t>
                </a:r>
                <a:r>
                  <a:rPr lang="vi-VN"/>
                  <a:t>Oz</a:t>
                </a:r>
                <a:r>
                  <a:rPr sz="1900">
                    <a:solidFill>
                      <a:srgbClr val="1E293B"/>
                    </a:solidFill>
                    <a:latin typeface="Calibri"/>
                  </a:rPr>
                  <a:t> thẳng đứng lên trời (km). a) Tìm toạ độ mỗi khinh khí cầu. b) Tính khoảng cách giữa chúng (làm tròn đến hàng phần trăm).</a:t>
                </a:r>
              </a:p>
            </p:txBody>
          </p:sp>
        </mc:Fallback>
      </mc:AlternateContent>
      <p:sp>
        <p:nvSpPr>
          <p:cNvPr id="8" name="s1_nen"/>
          <p:cNvSpPr/>
          <p:nvPr/>
        </p:nvSpPr>
        <p:spPr>
          <a:xfrm>
            <a:off x="548640" y="3645408"/>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681983"/>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và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8</m:t>
                        </m:r>
                      </m:e>
                    </m:d>
                  </m:oMath>
                </a14:m>
                <a:r>
                  <a:rPr sz="1900">
                    <a:solidFill>
                      <a:srgbClr val="1E293B"/>
                    </a:solidFill>
                    <a:latin typeface="Calibri"/>
                  </a:rPr>
                  <a:t>.</a:t>
                </a:r>
              </a:p>
            </p:txBody>
          </p:sp>
        </mc:Choice>
        <mc:Fallback>
          <p:sp>
            <p:nvSpPr>
              <p:cNvPr id="9" name="TextBox 8"/>
              <p:cNvSpPr txBox="1"/>
              <p:nvPr/>
            </p:nvSpPr>
            <p:spPr>
              <a:xfrm>
                <a:off x="713232" y="3681983"/>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(2;\ 1;\ 0{,}5)</a:t>
                </a:r>
                <a:r>
                  <a:rPr sz="1900">
                    <a:solidFill>
                      <a:srgbClr val="1E293B"/>
                    </a:solidFill>
                    <a:latin typeface="Calibri"/>
                  </a:rPr>
                  <a:t> và </a:t>
                </a:r>
                <a:r>
                  <a:rPr lang="vi-VN"/>
                  <a:t>(-1;\ -1{,}5;\ 0{,}8)</a:t>
                </a:r>
                <a:r>
                  <a:rPr sz="1900">
                    <a:solidFill>
                      <a:srgbClr val="1E293B"/>
                    </a:solidFill>
                    <a:latin typeface="Calibri"/>
                  </a:rPr>
                  <a:t>.</a:t>
                </a:r>
              </a:p>
            </p:txBody>
          </p:sp>
        </mc:Fallback>
      </mc:AlternateContent>
      <p:sp>
        <p:nvSpPr>
          <p:cNvPr id="10" name="s2_nen"/>
          <p:cNvSpPr/>
          <p:nvPr/>
        </p:nvSpPr>
        <p:spPr>
          <a:xfrm>
            <a:off x="548640" y="4273296"/>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309872"/>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rad>
                      <m:radPr>
                        <m:degHide m:val="on"/>
                      </m:radPr>
                      <m:deg/>
                      <m:e>
                        <m:sSup>
                          <m:e>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8</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15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34</m:t>
                        </m:r>
                      </m:e>
                    </m:rad>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92</m:t>
                    </m:r>
                  </m:oMath>
                </a14:m>
                <a:r>
                  <a:rPr sz="1900">
                    <a:solidFill>
                      <a:srgbClr val="1E293B"/>
                    </a:solidFill>
                    <a:latin typeface="Calibri"/>
                  </a:rPr>
                  <a:t> (km).</a:t>
                </a:r>
              </a:p>
            </p:txBody>
          </p:sp>
        </mc:Choice>
        <mc:Fallback>
          <p:sp>
            <p:nvSpPr>
              <p:cNvPr id="11" name="TextBox 10"/>
              <p:cNvSpPr txBox="1"/>
              <p:nvPr/>
            </p:nvSpPr>
            <p:spPr>
              <a:xfrm>
                <a:off x="713232" y="4309872"/>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\sqrt{(-1-2)^2+(-1{,}5-1)^2+(0{,}8-0{,}5)^2}=\sqrt{15{,}34}\approx 3{,}92</a:t>
                </a:r>
                <a:r>
                  <a:rPr sz="1900">
                    <a:solidFill>
                      <a:srgbClr val="1E293B"/>
                    </a:solidFill>
                    <a:latin typeface="Calibri"/>
                  </a:rPr>
                  <a:t> (km).</a:t>
                </a:r>
              </a:p>
            </p:txBody>
          </p:sp>
        </mc:Fallback>
      </mc:AlternateContent>
      <p:pic>
        <p:nvPicPr>
          <p:cNvPr id="12" name="Picture 11"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7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29</a:t>
            </a:r>
          </a:p>
        </p:txBody>
      </p:sp>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7.</a:t>
            </a:r>
            <a:r>
              <a:rPr sz="1900">
                <a:solidFill>
                  <a:srgbClr val="1E293B"/>
                </a:solidFill>
                <a:latin typeface="Calibri"/>
              </a:rPr>
              <a:t> Trong Ví dụ 7, khinh khí cầu thứ nhất hay thứ hai ở xa điểm xuất phát hơn? Giải thích.</a:t>
            </a:r>
          </a:p>
        </p:txBody>
      </p:sp>
      <p:sp>
        <p:nvSpPr>
          <p:cNvPr id="8" name="s1_nen"/>
          <p:cNvSpPr/>
          <p:nvPr/>
        </p:nvSpPr>
        <p:spPr>
          <a:xfrm>
            <a:off x="548640" y="2179320"/>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1589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ad>
                      <m:radPr>
                        <m:degHide m:val="on"/>
                      </m:radPr>
                      <m:deg/>
                      <m:e>
                        <m:sSup>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1</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29</m:t>
                    </m:r>
                  </m:oMath>
                </a14:m>
                <a:r>
                  <a:rPr sz="1900">
                    <a:solidFill>
                      <a:srgbClr val="1E293B"/>
                    </a:solidFill>
                    <a:latin typeface="Calibri"/>
                  </a:rPr>
                  <a:t> km </a:t>
                </a:r>
                <a14:m>
                  <m:oMath xmlns:m="http://schemas.openxmlformats.org/officeDocument/2006/math">
                    <m:r>
                      <a:rPr lang="vi-VN" sz="1900" b="0">
                        <a:solidFill>
                          <a:srgbClr val="1E293B"/>
                        </a:solidFill>
                        <a:latin typeface="Cambria Math" panose="02040503050406030204" pitchFamily="18" charset="0"/>
                      </a:rPr>
                      <m:t>&gt;</m:t>
                    </m:r>
                  </m:oMath>
                </a14:m>
                <a:r>
                  <a:rPr sz="1900">
                    <a:solidFill>
                      <a:srgbClr val="1E293B"/>
                    </a:solidFill>
                    <a:latin typeface="Calibri"/>
                  </a:rPr>
                  <a:t> </a:t>
                </a:r>
                <a14:m>
                  <m:oMath xmlns:m="http://schemas.openxmlformats.org/officeDocument/2006/math">
                    <m:rad>
                      <m:radPr>
                        <m:degHide m:val="on"/>
                      </m:radPr>
                      <m:deg/>
                      <m:e>
                        <m:r>
                          <a:rPr lang="vi-VN" sz="1900" b="0">
                            <a:solidFill>
                              <a:srgbClr val="1E293B"/>
                            </a:solidFill>
                            <a:latin typeface="Cambria Math" panose="02040503050406030204" pitchFamily="18" charset="0"/>
                          </a:rPr>
                          <m:t>1+1</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8</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97</m:t>
                    </m:r>
                  </m:oMath>
                </a14:m>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Choice>
        <mc:Fallback>
          <p:sp>
            <p:nvSpPr>
              <p:cNvPr id="9" name="TextBox 8"/>
              <p:cNvSpPr txBox="1"/>
              <p:nvPr/>
            </p:nvSpPr>
            <p:spPr>
              <a:xfrm>
                <a:off x="713232" y="221589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\sqrt{2^2+1^2+0{,}5^2}\approx 2{,}29</a:t>
                </a:r>
                <a:r>
                  <a:rPr sz="1900">
                    <a:solidFill>
                      <a:srgbClr val="1E293B"/>
                    </a:solidFill>
                    <a:latin typeface="Calibri"/>
                  </a:rPr>
                  <a:t> km </a:t>
                </a:r>
                <a:r>
                  <a:rPr lang="vi-VN"/>
                  <a:t>&gt;</a:t>
                </a:r>
                <a:r>
                  <a:rPr sz="1900">
                    <a:solidFill>
                      <a:srgbClr val="1E293B"/>
                    </a:solidFill>
                    <a:latin typeface="Calibri"/>
                  </a:rPr>
                  <a:t> </a:t>
                </a:r>
                <a:r>
                  <a:rPr lang="vi-VN"/>
                  <a:t>\sqrt{1+1{,}5^2+0{,}8^2}\approx 1{,}97</a:t>
                </a:r>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Fallback>
      </mc:AlternateContent>
      <p:pic>
        <p:nvPicPr>
          <p:cNvPr id="10" name="Picture 9"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HAI KHINH KHÍ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8)</m:t>
                    </m:r>
                  </m:oMath>
                </a14:m>
                <a:r>
                  <a:rPr sz="2200">
                    <a:solidFill>
                      <a:srgbClr val="1E293B"/>
                    </a:solidFill>
                    <a:latin typeface="Calibri"/>
                  </a:rPr>
                  <a:t>;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điểm xuất phát.</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1</m:t>
                        </m:r>
                      </m:sub>
                    </m:sSub>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92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29</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sSub>
                      <m:e>
                        <m:r>
                          <a:rPr lang="vi-VN" sz="2200" b="0">
                            <a:solidFill>
                              <a:srgbClr val="1E293B"/>
                            </a:solidFill>
                            <a:latin typeface="Cambria Math" panose="02040503050406030204" pitchFamily="18" charset="0"/>
                          </a:rPr>
                          <m:t>K</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97</m:t>
                    </m:r>
                  </m:oMath>
                </a14:m>
                <a:r>
                  <a:rPr sz="2200">
                    <a:solidFill>
                      <a:srgbClr val="1E293B"/>
                    </a:solidFill>
                    <a:latin typeface="Calibri"/>
                  </a:rPr>
                  <a:t> (km).</a:t>
                </a:r>
              </a:p>
              <a:p>
                <a:pPr algn="l" marL="365760" indent="-365760">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K_1(2;\ 1;\ 0{,}5)</a:t>
                </a:r>
                <a:r>
                  <a:rPr sz="2200">
                    <a:solidFill>
                      <a:srgbClr val="1E293B"/>
                    </a:solidFill>
                    <a:latin typeface="Calibri"/>
                  </a:rPr>
                  <a:t>, </a:t>
                </a:r>
                <a:r>
                  <a:rPr lang="vi-VN"/>
                  <a:t>K_2(-1;\ -1{,}5;\ 0{,}8)</a:t>
                </a:r>
                <a:r>
                  <a:rPr sz="2200">
                    <a:solidFill>
                      <a:srgbClr val="1E293B"/>
                    </a:solidFill>
                    <a:latin typeface="Calibri"/>
                  </a:rPr>
                  <a:t>; gốc </a:t>
                </a:r>
                <a:r>
                  <a:rPr lang="vi-VN"/>
                  <a:t>O</a:t>
                </a:r>
                <a:r>
                  <a:rPr sz="2200">
                    <a:solidFill>
                      <a:srgbClr val="1E293B"/>
                    </a:solidFill>
                    <a:latin typeface="Calibri"/>
                  </a:rPr>
                  <a:t> là điểm xuất phát.</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K_1K_2\approx 3{,}92</a:t>
                </a:r>
                <a:r>
                  <a:rPr sz="2200">
                    <a:solidFill>
                      <a:srgbClr val="1E293B"/>
                    </a:solidFill>
                    <a:latin typeface="Calibri"/>
                  </a:rPr>
                  <a:t>; </a:t>
                </a:r>
                <a:r>
                  <a:rPr lang="vi-VN"/>
                  <a:t>OK_1\approx 2{,}29</a:t>
                </a:r>
                <a:r>
                  <a:rPr sz="2200">
                    <a:solidFill>
                      <a:srgbClr val="1E293B"/>
                    </a:solidFill>
                    <a:latin typeface="Calibri"/>
                  </a:rPr>
                  <a:t>; </a:t>
                </a:r>
                <a:r>
                  <a:rPr lang="vi-VN"/>
                  <a:t>OK_2\approx 1{,}97</a:t>
                </a:r>
                <a:r>
                  <a:rPr sz="2200">
                    <a:solidFill>
                      <a:srgbClr val="1E293B"/>
                    </a:solidFill>
                    <a:latin typeface="Calibri"/>
                  </a:rPr>
                  <a:t> (km).</a:t>
                </a:r>
              </a:p>
              <a:p>
                <a:pPr algn="l" marL="365760" indent="-365760">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50.png"/>
          <p:cNvPicPr>
            <a:picLocks noChangeAspect="1"/>
          </p:cNvPicPr>
          <p:nvPr/>
        </p:nvPicPr>
        <p:blipFill>
          <a:blip r:embed="rId5"/>
          <a:stretch>
            <a:fillRect/>
          </a:stretch>
        </p:blipFill>
        <p:spPr>
          <a:xfrm>
            <a:off x="6858000" y="2939735"/>
            <a:ext cx="4846320" cy="152716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2.20 – 2.21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Cho </a:t>
                </a:r>
                <a14:m>
                  <m:oMath xmlns:m="http://schemas.openxmlformats.org/officeDocument/2006/math">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=(3;1;2)</m:t>
                    </m:r>
                  </m:oMath>
                </a14:m>
                <a:r>
                  <a:rPr sz="1800">
                    <a:solidFill>
                      <a:srgbClr val="1E293B"/>
                    </a:solidFill>
                    <a:latin typeface="Calibri"/>
                  </a:rPr>
                  <a:t>, </a:t>
                </a:r>
                <a14:m>
                  <m:oMath xmlns:m="http://schemas.openxmlformats.org/officeDocument/2006/math">
                    <m:acc>
                      <m:accPr>
                        <m:chr m:val="⃗"/>
                      </m:accPr>
                      <m:e>
                        <m:r>
                          <a:rPr lang="vi-VN" sz="1800" b="0">
                            <a:solidFill>
                              <a:srgbClr val="1E293B"/>
                            </a:solidFill>
                            <a:latin typeface="Cambria Math" panose="02040503050406030204" pitchFamily="18" charset="0"/>
                          </a:rPr>
                          <m:t>b</m:t>
                        </m:r>
                      </m:e>
                    </m:acc>
                    <m:r>
                      <a:rPr lang="vi-VN" sz="1800" b="0">
                        <a:solidFill>
                          <a:srgbClr val="1E293B"/>
                        </a:solidFill>
                        <a:latin typeface="Cambria Math" panose="02040503050406030204" pitchFamily="18" charset="0"/>
                      </a:rPr>
                      <m:t>=(−3;0;4)</m:t>
                    </m:r>
                  </m:oMath>
                </a14:m>
                <a:r>
                  <a:rPr sz="1800">
                    <a:solidFill>
                      <a:srgbClr val="1E293B"/>
                    </a:solidFill>
                    <a:latin typeface="Calibri"/>
                  </a:rPr>
                  <a:t>, </a:t>
                </a:r>
                <a14:m>
                  <m:oMath xmlns:m="http://schemas.openxmlformats.org/officeDocument/2006/math">
                    <m:acc>
                      <m:accPr>
                        <m:chr m:val="⃗"/>
                      </m:accPr>
                      <m:e>
                        <m:r>
                          <a:rPr lang="vi-VN" sz="1800" b="0">
                            <a:solidFill>
                              <a:srgbClr val="1E293B"/>
                            </a:solidFill>
                            <a:latin typeface="Cambria Math" panose="02040503050406030204" pitchFamily="18" charset="0"/>
                          </a:rPr>
                          <m:t>c</m:t>
                        </m:r>
                      </m:e>
                    </m:acc>
                    <m:r>
                      <a:rPr lang="vi-VN" sz="1800" b="0">
                        <a:solidFill>
                          <a:srgbClr val="1E293B"/>
                        </a:solidFill>
                        <a:latin typeface="Cambria Math" panose="02040503050406030204" pitchFamily="18" charset="0"/>
                      </a:rPr>
                      <m:t>=(6;−1;0)</m:t>
                    </m:r>
                  </m:oMath>
                </a14:m>
                <a:r>
                  <a:rPr sz="1800">
                    <a:solidFill>
                      <a:srgbClr val="1E293B"/>
                    </a:solidFill>
                    <a:latin typeface="Calibri"/>
                  </a:rPr>
                  <a:t>. a) Tìm toạ độ của </a:t>
                </a:r>
                <a14:m>
                  <m:oMath xmlns:m="http://schemas.openxmlformats.org/officeDocument/2006/math">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m:t>
                    </m:r>
                    <m:acc>
                      <m:accPr>
                        <m:chr m:val="⃗"/>
                      </m:accPr>
                      <m:e>
                        <m:r>
                          <a:rPr lang="vi-VN" sz="1800" b="0">
                            <a:solidFill>
                              <a:srgbClr val="1E293B"/>
                            </a:solidFill>
                            <a:latin typeface="Cambria Math" panose="02040503050406030204" pitchFamily="18" charset="0"/>
                          </a:rPr>
                          <m:t>b</m:t>
                        </m:r>
                      </m:e>
                    </m:acc>
                    <m:r>
                      <a:rPr lang="vi-VN" sz="1800" b="0">
                        <a:solidFill>
                          <a:srgbClr val="1E293B"/>
                        </a:solidFill>
                        <a:latin typeface="Cambria Math" panose="02040503050406030204" pitchFamily="18" charset="0"/>
                      </a:rPr>
                      <m:t>+</m:t>
                    </m:r>
                    <m:acc>
                      <m:accPr>
                        <m:chr m:val="⃗"/>
                      </m:accPr>
                      <m:e>
                        <m:r>
                          <a:rPr lang="vi-VN" sz="1800" b="0">
                            <a:solidFill>
                              <a:srgbClr val="1E293B"/>
                            </a:solidFill>
                            <a:latin typeface="Cambria Math" panose="02040503050406030204" pitchFamily="18" charset="0"/>
                          </a:rPr>
                          <m:t>c</m:t>
                        </m:r>
                      </m:e>
                    </m:acc>
                  </m:oMath>
                </a14:m>
                <a:r>
                  <a:rPr sz="1800">
                    <a:solidFill>
                      <a:srgbClr val="1E293B"/>
                    </a:solidFill>
                    <a:latin typeface="Calibri"/>
                  </a:rPr>
                  <a:t> và </a:t>
                </a:r>
                <a14:m>
                  <m:oMath xmlns:m="http://schemas.openxmlformats.org/officeDocument/2006/math">
                    <m:r>
                      <a:rPr lang="vi-VN" sz="1800" b="0">
                        <a:solidFill>
                          <a:srgbClr val="1E293B"/>
                        </a:solidFill>
                        <a:latin typeface="Cambria Math" panose="02040503050406030204" pitchFamily="18" charset="0"/>
                      </a:rPr>
                      <m:t>2</m:t>
                    </m:r>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−3</m:t>
                    </m:r>
                    <m:acc>
                      <m:accPr>
                        <m:chr m:val="⃗"/>
                      </m:accPr>
                      <m:e>
                        <m:r>
                          <a:rPr lang="vi-VN" sz="1800" b="0">
                            <a:solidFill>
                              <a:srgbClr val="1E293B"/>
                            </a:solidFill>
                            <a:latin typeface="Cambria Math" panose="02040503050406030204" pitchFamily="18" charset="0"/>
                          </a:rPr>
                          <m:t>b</m:t>
                        </m:r>
                      </m:e>
                    </m:acc>
                    <m:r>
                      <a:rPr lang="vi-VN" sz="1800" b="0">
                        <a:solidFill>
                          <a:srgbClr val="1E293B"/>
                        </a:solidFill>
                        <a:latin typeface="Cambria Math" panose="02040503050406030204" pitchFamily="18" charset="0"/>
                      </a:rPr>
                      <m:t>−5</m:t>
                    </m:r>
                    <m:acc>
                      <m:accPr>
                        <m:chr m:val="⃗"/>
                      </m:accPr>
                      <m:e>
                        <m:r>
                          <a:rPr lang="vi-VN" sz="1800" b="0">
                            <a:solidFill>
                              <a:srgbClr val="1E293B"/>
                            </a:solidFill>
                            <a:latin typeface="Cambria Math" panose="02040503050406030204" pitchFamily="18" charset="0"/>
                          </a:rPr>
                          <m:t>c</m:t>
                        </m:r>
                      </m:e>
                    </m:acc>
                  </m:oMath>
                </a14:m>
                <a:r>
                  <a:rPr sz="1800">
                    <a:solidFill>
                      <a:srgbClr val="1E293B"/>
                    </a:solidFill>
                    <a:latin typeface="Calibri"/>
                  </a:rPr>
                  <a:t>. b) Tính </a:t>
                </a:r>
                <a14:m>
                  <m:oMath xmlns:m="http://schemas.openxmlformats.org/officeDocument/2006/math">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m:t>
                    </m:r>
                    <m:acc>
                      <m:accPr>
                        <m:chr m:val="⃗"/>
                      </m:accPr>
                      <m:e>
                        <m:r>
                          <a:rPr lang="vi-VN" sz="1800" b="0">
                            <a:solidFill>
                              <a:srgbClr val="1E293B"/>
                            </a:solidFill>
                            <a:latin typeface="Cambria Math" panose="02040503050406030204" pitchFamily="18" charset="0"/>
                          </a:rPr>
                          <m:t>b</m:t>
                        </m:r>
                      </m:e>
                    </m:acc>
                    <m:r>
                      <a:rPr lang="vi-VN" sz="1800" b="0">
                        <a:solidFill>
                          <a:srgbClr val="1E293B"/>
                        </a:solidFill>
                        <a:latin typeface="Cambria Math" panose="02040503050406030204" pitchFamily="18" charset="0"/>
                      </a:rPr>
                      <m:t>)</m:t>
                    </m:r>
                  </m:oMath>
                </a14:m>
                <a:r>
                  <a:rPr sz="1800">
                    <a:solidFill>
                      <a:srgbClr val="1E293B"/>
                    </a:solidFill>
                    <a:latin typeface="Calibri"/>
                  </a:rPr>
                  <a:t> và </a:t>
                </a:r>
                <a14:m>
                  <m:oMath xmlns:m="http://schemas.openxmlformats.org/officeDocument/2006/math">
                    <m:r>
                      <a:rPr lang="vi-VN" sz="1800" b="0">
                        <a:solidFill>
                          <a:srgbClr val="1E293B"/>
                        </a:solidFill>
                        <a:latin typeface="Cambria Math" panose="02040503050406030204" pitchFamily="18" charset="0"/>
                      </a:rPr>
                      <m:t>(2</m:t>
                    </m:r>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m:t>
                    </m:r>
                    <m:acc>
                      <m:accPr>
                        <m:chr m:val="⃗"/>
                      </m:accPr>
                      <m:e>
                        <m:r>
                          <a:rPr lang="vi-VN" sz="1800" b="0">
                            <a:solidFill>
                              <a:srgbClr val="1E293B"/>
                            </a:solidFill>
                            <a:latin typeface="Cambria Math" panose="02040503050406030204" pitchFamily="18" charset="0"/>
                          </a:rPr>
                          <m:t>c</m:t>
                        </m:r>
                      </m:e>
                    </m:acc>
                  </m:oMath>
                </a14:m>
                <a:r>
                  <a:rPr sz="1800">
                    <a:solidFill>
                      <a:srgbClr val="1E293B"/>
                    </a:solidFill>
                    <a:latin typeface="Calibri"/>
                  </a:rPr>
                  <a:t>.</a:t>
                </a:r>
              </a:p>
            </p:txBody>
          </p:sp>
        </mc:Choice>
        <mc:Fallback>
          <p:sp>
            <p:nvSpPr>
              <p:cNvPr id="7" name="TextBox 6"/>
              <p:cNvSpPr txBox="1"/>
              <p:nvPr/>
            </p:nvSpPr>
            <p:spPr>
              <a:xfrm>
                <a:off x="548640" y="1371600"/>
                <a:ext cx="1106424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Cho </a:t>
                </a:r>
                <a:r>
                  <a:rPr lang="vi-VN"/>
                  <a:t>\vec{a}=(3;1;2)</a:t>
                </a:r>
                <a:r>
                  <a:rPr sz="1800">
                    <a:solidFill>
                      <a:srgbClr val="1E293B"/>
                    </a:solidFill>
                    <a:latin typeface="Calibri"/>
                  </a:rPr>
                  <a:t>, </a:t>
                </a:r>
                <a:r>
                  <a:rPr lang="vi-VN"/>
                  <a:t>\vec{b}=(-3;0;4)</a:t>
                </a:r>
                <a:r>
                  <a:rPr sz="1800">
                    <a:solidFill>
                      <a:srgbClr val="1E293B"/>
                    </a:solidFill>
                    <a:latin typeface="Calibri"/>
                  </a:rPr>
                  <a:t>, </a:t>
                </a:r>
                <a:r>
                  <a:rPr lang="vi-VN"/>
                  <a:t>\vec{c}=(6;-1;0)</a:t>
                </a:r>
                <a:r>
                  <a:rPr sz="1800">
                    <a:solidFill>
                      <a:srgbClr val="1E293B"/>
                    </a:solidFill>
                    <a:latin typeface="Calibri"/>
                  </a:rPr>
                  <a:t>. a) Tìm toạ độ của </a:t>
                </a:r>
                <a:r>
                  <a:rPr lang="vi-VN"/>
                  <a:t>\vec{a}+\vec{b}+\vec{c}</a:t>
                </a:r>
                <a:r>
                  <a:rPr sz="1800">
                    <a:solidFill>
                      <a:srgbClr val="1E293B"/>
                    </a:solidFill>
                    <a:latin typeface="Calibri"/>
                  </a:rPr>
                  <a:t> và </a:t>
                </a:r>
                <a:r>
                  <a:rPr lang="vi-VN"/>
                  <a:t>2\vec{a}-3\vec{b}-5\vec{c}</a:t>
                </a:r>
                <a:r>
                  <a:rPr sz="1800">
                    <a:solidFill>
                      <a:srgbClr val="1E293B"/>
                    </a:solidFill>
                    <a:latin typeface="Calibri"/>
                  </a:rPr>
                  <a:t>. b) Tính </a:t>
                </a:r>
                <a:r>
                  <a:rPr lang="vi-VN"/>
                  <a:t>\vec{a}\cdot(-\vec{b})</a:t>
                </a:r>
                <a:r>
                  <a:rPr sz="1800">
                    <a:solidFill>
                      <a:srgbClr val="1E293B"/>
                    </a:solidFill>
                    <a:latin typeface="Calibri"/>
                  </a:rPr>
                  <a:t> và </a:t>
                </a:r>
                <a:r>
                  <a:rPr lang="vi-VN"/>
                  <a:t>(2\vec{a})\cdot\vec{c}</a:t>
                </a:r>
                <a:r>
                  <a:rPr sz="1800">
                    <a:solidFill>
                      <a:srgbClr val="1E293B"/>
                    </a:solidFill>
                    <a:latin typeface="Calibri"/>
                  </a:rPr>
                  <a:t>.</a:t>
                </a:r>
              </a:p>
            </p:txBody>
          </p:sp>
        </mc:Fallback>
      </mc:AlternateContent>
      <p:sp>
        <p:nvSpPr>
          <p:cNvPr id="8" name="s1_nen"/>
          <p:cNvSpPr/>
          <p:nvPr/>
        </p:nvSpPr>
        <p:spPr>
          <a:xfrm>
            <a:off x="548640" y="2139696"/>
            <a:ext cx="1106424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76272"/>
                <a:ext cx="1073505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a) </a:t>
                </a:r>
                <a14:m>
                  <m:oMath xmlns:m="http://schemas.openxmlformats.org/officeDocument/2006/math">
                    <m:d>
                      <m:dPr>
                        <m:sepChr m:val=""/>
                      </m:dPr>
                      <m:e>
                        <m:r>
                          <a:rPr lang="vi-VN" sz="1800" b="0">
                            <a:solidFill>
                              <a:srgbClr val="1E293B"/>
                            </a:solidFill>
                            <a:latin typeface="Cambria Math" panose="02040503050406030204" pitchFamily="18" charset="0"/>
                          </a:rPr>
                          <m:t>6</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0</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6</m:t>
                        </m:r>
                      </m:e>
                    </m:d>
                  </m:oMath>
                </a14:m>
                <a:r>
                  <a:rPr sz="1800">
                    <a:solidFill>
                      <a:srgbClr val="1E293B"/>
                    </a:solidFill>
                    <a:latin typeface="Calibri"/>
                  </a:rPr>
                  <a:t>; </a:t>
                </a:r>
                <a14:m>
                  <m:oMath xmlns:m="http://schemas.openxmlformats.org/officeDocument/2006/math">
                    <m:d>
                      <m:dPr>
                        <m:sepChr m:val=""/>
                      </m:dPr>
                      <m:e>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15</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7</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8</m:t>
                        </m:r>
                      </m:e>
                    </m:d>
                  </m:oMath>
                </a14:m>
                <a:r>
                  <a:rPr sz="1800">
                    <a:solidFill>
                      <a:srgbClr val="1E293B"/>
                    </a:solidFill>
                    <a:latin typeface="Calibri"/>
                  </a:rPr>
                  <a:t>. b) </a:t>
                </a:r>
                <a14:m>
                  <m:oMath xmlns:m="http://schemas.openxmlformats.org/officeDocument/2006/math">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m:t>
                    </m:r>
                    <m:acc>
                      <m:accPr>
                        <m:chr m:val="⃗"/>
                      </m:accPr>
                      <m:e>
                        <m:r>
                          <a:rPr lang="vi-VN" sz="1800" b="0">
                            <a:solidFill>
                              <a:srgbClr val="1E293B"/>
                            </a:solidFill>
                            <a:latin typeface="Cambria Math" panose="02040503050406030204" pitchFamily="18" charset="0"/>
                          </a:rPr>
                          <m:t>b</m:t>
                        </m:r>
                      </m:e>
                    </m:acc>
                    <m:r>
                      <a:rPr lang="vi-VN" sz="1800" b="0">
                        <a:solidFill>
                          <a:srgbClr val="1E293B"/>
                        </a:solidFill>
                        <a:latin typeface="Cambria Math" panose="02040503050406030204" pitchFamily="18" charset="0"/>
                      </a:rPr>
                      <m:t>)=1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(2</m:t>
                    </m:r>
                    <m:acc>
                      <m:accPr>
                        <m:chr m:val="⃗"/>
                      </m:accPr>
                      <m:e>
                        <m:r>
                          <a:rPr lang="vi-VN" sz="1800" b="0">
                            <a:solidFill>
                              <a:srgbClr val="1E293B"/>
                            </a:solidFill>
                            <a:latin typeface="Cambria Math" panose="02040503050406030204" pitchFamily="18" charset="0"/>
                          </a:rPr>
                          <m:t>a</m:t>
                        </m:r>
                      </m:e>
                    </m:acc>
                    <m:r>
                      <a:rPr lang="vi-VN" sz="1800" b="0">
                        <a:solidFill>
                          <a:srgbClr val="1E293B"/>
                        </a:solidFill>
                        <a:latin typeface="Cambria Math" panose="02040503050406030204" pitchFamily="18" charset="0"/>
                      </a:rPr>
                      <m:t>)·</m:t>
                    </m:r>
                    <m:acc>
                      <m:accPr>
                        <m:chr m:val="⃗"/>
                      </m:accPr>
                      <m:e>
                        <m:r>
                          <a:rPr lang="vi-VN" sz="1800" b="0">
                            <a:solidFill>
                              <a:srgbClr val="1E293B"/>
                            </a:solidFill>
                            <a:latin typeface="Cambria Math" panose="02040503050406030204" pitchFamily="18" charset="0"/>
                          </a:rPr>
                          <m:t>c</m:t>
                        </m:r>
                      </m:e>
                    </m:acc>
                    <m:r>
                      <a:rPr lang="vi-VN" sz="1800" b="0">
                        <a:solidFill>
                          <a:srgbClr val="1E293B"/>
                        </a:solidFill>
                        <a:latin typeface="Cambria Math" panose="02040503050406030204" pitchFamily="18" charset="0"/>
                      </a:rPr>
                      <m:t>=34</m:t>
                    </m:r>
                  </m:oMath>
                </a14:m>
                <a:r>
                  <a:rPr sz="1800">
                    <a:solidFill>
                      <a:srgbClr val="1E293B"/>
                    </a:solidFill>
                    <a:latin typeface="Calibri"/>
                  </a:rPr>
                  <a:t>.</a:t>
                </a:r>
              </a:p>
            </p:txBody>
          </p:sp>
        </mc:Choice>
        <mc:Fallback>
          <p:sp>
            <p:nvSpPr>
              <p:cNvPr id="9" name="TextBox 8"/>
              <p:cNvSpPr txBox="1"/>
              <p:nvPr/>
            </p:nvSpPr>
            <p:spPr>
              <a:xfrm>
                <a:off x="713232" y="2176272"/>
                <a:ext cx="1073505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a) </a:t>
                </a:r>
                <a:r>
                  <a:rPr lang="vi-VN"/>
                  <a:t>(6;0;6)</a:t>
                </a:r>
                <a:r>
                  <a:rPr sz="1800">
                    <a:solidFill>
                      <a:srgbClr val="1E293B"/>
                    </a:solidFill>
                    <a:latin typeface="Calibri"/>
                  </a:rPr>
                  <a:t>; </a:t>
                </a:r>
                <a:r>
                  <a:rPr lang="vi-VN"/>
                  <a:t>(-15;7;-8)</a:t>
                </a:r>
                <a:r>
                  <a:rPr sz="1800">
                    <a:solidFill>
                      <a:srgbClr val="1E293B"/>
                    </a:solidFill>
                    <a:latin typeface="Calibri"/>
                  </a:rPr>
                  <a:t>. b) </a:t>
                </a:r>
                <a:r>
                  <a:rPr lang="vi-VN"/>
                  <a:t>\vec{a}\cdot(-\vec{b})=1</a:t>
                </a:r>
                <a:r>
                  <a:rPr sz="1800">
                    <a:solidFill>
                      <a:srgbClr val="1E293B"/>
                    </a:solidFill>
                    <a:latin typeface="Calibri"/>
                  </a:rPr>
                  <a:t>; </a:t>
                </a:r>
                <a:r>
                  <a:rPr lang="vi-VN"/>
                  <a:t>(2\vec{a})\cdot\vec{c}=34</a:t>
                </a:r>
                <a:r>
                  <a:rPr sz="18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724911"/>
                <a:ext cx="11064240" cy="996696"/>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Cho </a:t>
                </a:r>
                <a14:m>
                  <m:oMath xmlns:m="http://schemas.openxmlformats.org/officeDocument/2006/math">
                    <m:r>
                      <a:rPr lang="vi-VN" sz="1800" b="0">
                        <a:solidFill>
                          <a:srgbClr val="1E293B"/>
                        </a:solidFill>
                        <a:latin typeface="Cambria Math" panose="02040503050406030204" pitchFamily="18" charset="0"/>
                      </a:rPr>
                      <m:t>M(−4;3;3)</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N(4;−4;2)</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P(3;6;−1)</m:t>
                    </m:r>
                  </m:oMath>
                </a14:m>
                <a:r>
                  <a:rPr sz="1800">
                    <a:solidFill>
                      <a:srgbClr val="1E293B"/>
                    </a:solidFill>
                    <a:latin typeface="Calibri"/>
                  </a:rPr>
                  <a:t>. a) Tìm toạ độ </a:t>
                </a:r>
                <a14:m>
                  <m:oMath xmlns:m="http://schemas.openxmlformats.org/officeDocument/2006/math">
                    <m:acc>
                      <m:accPr>
                        <m:chr m:val="⃗"/>
                      </m:accPr>
                      <m:e>
                        <m:r>
                          <a:rPr lang="vi-VN" sz="1800" b="0">
                            <a:solidFill>
                              <a:srgbClr val="1E293B"/>
                            </a:solidFill>
                            <a:latin typeface="Cambria Math" panose="02040503050406030204" pitchFamily="18" charset="0"/>
                          </a:rPr>
                          <m:t>MN</m:t>
                        </m:r>
                      </m:e>
                    </m:acc>
                  </m:oMath>
                </a14:m>
                <a:r>
                  <a:rPr sz="1800">
                    <a:solidFill>
                      <a:srgbClr val="1E293B"/>
                    </a:solidFill>
                    <a:latin typeface="Calibri"/>
                  </a:rPr>
                  <a:t>, </a:t>
                </a:r>
                <a14:m>
                  <m:oMath xmlns:m="http://schemas.openxmlformats.org/officeDocument/2006/math">
                    <m:acc>
                      <m:accPr>
                        <m:chr m:val="⃗"/>
                      </m:accPr>
                      <m:e>
                        <m:r>
                          <a:rPr lang="vi-VN" sz="1800" b="0">
                            <a:solidFill>
                              <a:srgbClr val="1E293B"/>
                            </a:solidFill>
                            <a:latin typeface="Cambria Math" panose="02040503050406030204" pitchFamily="18" charset="0"/>
                          </a:rPr>
                          <m:t>MP</m:t>
                        </m:r>
                      </m:e>
                    </m:acc>
                  </m:oMath>
                </a14:m>
                <a:r>
                  <a:rPr sz="1800">
                    <a:solidFill>
                      <a:srgbClr val="1E293B"/>
                    </a:solidFill>
                    <a:latin typeface="Calibri"/>
                  </a:rPr>
                  <a:t>; chứng minh </a:t>
                </a:r>
                <a14:m>
                  <m:oMath xmlns:m="http://schemas.openxmlformats.org/officeDocument/2006/math">
                    <m:r>
                      <a:rPr lang="vi-VN" sz="1800" b="0">
                        <a:solidFill>
                          <a:srgbClr val="1E293B"/>
                        </a:solidFill>
                        <a:latin typeface="Cambria Math" panose="02040503050406030204" pitchFamily="18" charset="0"/>
                      </a:rPr>
                      <m:t>M,</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N,</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P</m:t>
                    </m:r>
                  </m:oMath>
                </a14:m>
                <a:r>
                  <a:rPr sz="1800">
                    <a:solidFill>
                      <a:srgbClr val="1E293B"/>
                    </a:solidFill>
                    <a:latin typeface="Calibri"/>
                  </a:rPr>
                  <a:t> không thẳng hàng. b) Tìm toạ độ </a:t>
                </a:r>
                <a14:m>
                  <m:oMath xmlns:m="http://schemas.openxmlformats.org/officeDocument/2006/math">
                    <m:acc>
                      <m:accPr>
                        <m:chr m:val="⃗"/>
                      </m:accPr>
                      <m:e>
                        <m:r>
                          <a:rPr lang="vi-VN" sz="1800" b="0">
                            <a:solidFill>
                              <a:srgbClr val="1E293B"/>
                            </a:solidFill>
                            <a:latin typeface="Cambria Math" panose="02040503050406030204" pitchFamily="18" charset="0"/>
                          </a:rPr>
                          <m:t>NM</m:t>
                        </m:r>
                      </m:e>
                    </m:acc>
                  </m:oMath>
                </a14:m>
                <a:r>
                  <a:rPr sz="1800">
                    <a:solidFill>
                      <a:srgbClr val="1E293B"/>
                    </a:solidFill>
                    <a:latin typeface="Calibri"/>
                  </a:rPr>
                  <a:t> + </a:t>
                </a:r>
                <a14:m>
                  <m:oMath xmlns:m="http://schemas.openxmlformats.org/officeDocument/2006/math">
                    <m:acc>
                      <m:accPr>
                        <m:chr m:val="⃗"/>
                      </m:accPr>
                      <m:e>
                        <m:r>
                          <a:rPr lang="vi-VN" sz="1800" b="0">
                            <a:solidFill>
                              <a:srgbClr val="1E293B"/>
                            </a:solidFill>
                            <a:latin typeface="Cambria Math" panose="02040503050406030204" pitchFamily="18" charset="0"/>
                          </a:rPr>
                          <m:t>NP</m:t>
                        </m:r>
                      </m:e>
                    </m:acc>
                  </m:oMath>
                </a14:m>
                <a:r>
                  <a:rPr sz="1800">
                    <a:solidFill>
                      <a:srgbClr val="1E293B"/>
                    </a:solidFill>
                    <a:latin typeface="Calibri"/>
                  </a:rPr>
                  <a:t>, suy ra toạ độ </a:t>
                </a:r>
                <a14:m>
                  <m:oMath xmlns:m="http://schemas.openxmlformats.org/officeDocument/2006/math">
                    <m:r>
                      <a:rPr lang="vi-VN" sz="1800" b="0">
                        <a:solidFill>
                          <a:srgbClr val="1E293B"/>
                        </a:solidFill>
                        <a:latin typeface="Cambria Math" panose="02040503050406030204" pitchFamily="18" charset="0"/>
                      </a:rPr>
                      <m:t>Q</m:t>
                    </m:r>
                  </m:oMath>
                </a14:m>
                <a:r>
                  <a:rPr sz="1800">
                    <a:solidFill>
                      <a:srgbClr val="1E293B"/>
                    </a:solidFill>
                    <a:latin typeface="Calibri"/>
                  </a:rPr>
                  <a:t> để </a:t>
                </a:r>
                <a14:m>
                  <m:oMath xmlns:m="http://schemas.openxmlformats.org/officeDocument/2006/math">
                    <m:r>
                      <a:rPr lang="vi-VN" sz="1800" b="0">
                        <a:solidFill>
                          <a:srgbClr val="1E293B"/>
                        </a:solidFill>
                        <a:latin typeface="Cambria Math" panose="02040503050406030204" pitchFamily="18" charset="0"/>
                      </a:rPr>
                      <m:t>MNPQ</m:t>
                    </m:r>
                  </m:oMath>
                </a14:m>
                <a:r>
                  <a:rPr sz="1800">
                    <a:solidFill>
                      <a:srgbClr val="1E293B"/>
                    </a:solidFill>
                    <a:latin typeface="Calibri"/>
                  </a:rPr>
                  <a:t> là hình bình hành. c) Tính chu vi hình bình hành </a:t>
                </a:r>
                <a14:m>
                  <m:oMath xmlns:m="http://schemas.openxmlformats.org/officeDocument/2006/math">
                    <m:r>
                      <a:rPr lang="vi-VN" sz="1800" b="0">
                        <a:solidFill>
                          <a:srgbClr val="1E293B"/>
                        </a:solidFill>
                        <a:latin typeface="Cambria Math" panose="02040503050406030204" pitchFamily="18" charset="0"/>
                      </a:rPr>
                      <m:t>MNPQ</m:t>
                    </m:r>
                  </m:oMath>
                </a14:m>
                <a:r>
                  <a:rPr sz="1800">
                    <a:solidFill>
                      <a:srgbClr val="1E293B"/>
                    </a:solidFill>
                    <a:latin typeface="Calibri"/>
                  </a:rPr>
                  <a:t>.</a:t>
                </a:r>
              </a:p>
            </p:txBody>
          </p:sp>
        </mc:Choice>
        <mc:Fallback>
          <p:sp>
            <p:nvSpPr>
              <p:cNvPr id="10" name="TextBox 9"/>
              <p:cNvSpPr txBox="1"/>
              <p:nvPr/>
            </p:nvSpPr>
            <p:spPr>
              <a:xfrm>
                <a:off x="548640" y="2724911"/>
                <a:ext cx="11064240" cy="996696"/>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Cho </a:t>
                </a:r>
                <a:r>
                  <a:rPr lang="vi-VN"/>
                  <a:t>M(-4;3;3)</a:t>
                </a:r>
                <a:r>
                  <a:rPr sz="1800">
                    <a:solidFill>
                      <a:srgbClr val="1E293B"/>
                    </a:solidFill>
                    <a:latin typeface="Calibri"/>
                  </a:rPr>
                  <a:t>, </a:t>
                </a:r>
                <a:r>
                  <a:rPr lang="vi-VN"/>
                  <a:t>N(4;-4;2)</a:t>
                </a:r>
                <a:r>
                  <a:rPr sz="1800">
                    <a:solidFill>
                      <a:srgbClr val="1E293B"/>
                    </a:solidFill>
                    <a:latin typeface="Calibri"/>
                  </a:rPr>
                  <a:t>, </a:t>
                </a:r>
                <a:r>
                  <a:rPr lang="vi-VN"/>
                  <a:t>P(3;6;-1)</a:t>
                </a:r>
                <a:r>
                  <a:rPr sz="1800">
                    <a:solidFill>
                      <a:srgbClr val="1E293B"/>
                    </a:solidFill>
                    <a:latin typeface="Calibri"/>
                  </a:rPr>
                  <a:t>. a) Tìm toạ độ </a:t>
                </a:r>
                <a:r>
                  <a:rPr lang="vi-VN"/>
                  <a:t>\overrightarrow{MN}</a:t>
                </a:r>
                <a:r>
                  <a:rPr sz="1800">
                    <a:solidFill>
                      <a:srgbClr val="1E293B"/>
                    </a:solidFill>
                    <a:latin typeface="Calibri"/>
                  </a:rPr>
                  <a:t>, </a:t>
                </a:r>
                <a:r>
                  <a:rPr lang="vi-VN"/>
                  <a:t>\overrightarrow{MP}</a:t>
                </a:r>
                <a:r>
                  <a:rPr sz="1800">
                    <a:solidFill>
                      <a:srgbClr val="1E293B"/>
                    </a:solidFill>
                    <a:latin typeface="Calibri"/>
                  </a:rPr>
                  <a:t>; chứng minh </a:t>
                </a:r>
                <a:r>
                  <a:rPr lang="vi-VN"/>
                  <a:t>M,\ N,\ P</a:t>
                </a:r>
                <a:r>
                  <a:rPr sz="1800">
                    <a:solidFill>
                      <a:srgbClr val="1E293B"/>
                    </a:solidFill>
                    <a:latin typeface="Calibri"/>
                  </a:rPr>
                  <a:t> không thẳng hàng. b) Tìm toạ độ </a:t>
                </a:r>
                <a:r>
                  <a:rPr lang="vi-VN"/>
                  <a:t>\overrightarrow{NM}</a:t>
                </a:r>
                <a:r>
                  <a:rPr sz="1800">
                    <a:solidFill>
                      <a:srgbClr val="1E293B"/>
                    </a:solidFill>
                    <a:latin typeface="Calibri"/>
                  </a:rPr>
                  <a:t> + </a:t>
                </a:r>
                <a:r>
                  <a:rPr lang="vi-VN"/>
                  <a:t>\overrightarrow{NP}</a:t>
                </a:r>
                <a:r>
                  <a:rPr sz="1800">
                    <a:solidFill>
                      <a:srgbClr val="1E293B"/>
                    </a:solidFill>
                    <a:latin typeface="Calibri"/>
                  </a:rPr>
                  <a:t>, suy ra toạ độ </a:t>
                </a:r>
                <a:r>
                  <a:rPr lang="vi-VN"/>
                  <a:t>Q</a:t>
                </a:r>
                <a:r>
                  <a:rPr sz="1800">
                    <a:solidFill>
                      <a:srgbClr val="1E293B"/>
                    </a:solidFill>
                    <a:latin typeface="Calibri"/>
                  </a:rPr>
                  <a:t> để </a:t>
                </a:r>
                <a:r>
                  <a:rPr lang="vi-VN"/>
                  <a:t>MNPQ</a:t>
                </a:r>
                <a:r>
                  <a:rPr sz="1800">
                    <a:solidFill>
                      <a:srgbClr val="1E293B"/>
                    </a:solidFill>
                    <a:latin typeface="Calibri"/>
                  </a:rPr>
                  <a:t> là hình bình hành. c) Tính chu vi hình bình hành </a:t>
                </a:r>
                <a:r>
                  <a:rPr lang="vi-VN"/>
                  <a:t>MNPQ</a:t>
                </a:r>
                <a:r>
                  <a:rPr sz="1800">
                    <a:solidFill>
                      <a:srgbClr val="1E293B"/>
                    </a:solidFill>
                    <a:latin typeface="Calibri"/>
                  </a:rPr>
                  <a:t>.</a:t>
                </a:r>
              </a:p>
            </p:txBody>
          </p:sp>
        </mc:Fallback>
      </mc:AlternateContent>
      <p:sp>
        <p:nvSpPr>
          <p:cNvPr id="11" name="s3_nen"/>
          <p:cNvSpPr/>
          <p:nvPr/>
        </p:nvSpPr>
        <p:spPr>
          <a:xfrm>
            <a:off x="548640" y="3767327"/>
            <a:ext cx="1106424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803903"/>
                <a:ext cx="1073505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a) </a:t>
                </a:r>
                <a14:m>
                  <m:oMath xmlns:m="http://schemas.openxmlformats.org/officeDocument/2006/math">
                    <m:acc>
                      <m:accPr>
                        <m:chr m:val="⃗"/>
                      </m:accPr>
                      <m:e>
                        <m:r>
                          <a:rPr lang="vi-VN" sz="1800" b="0">
                            <a:solidFill>
                              <a:srgbClr val="1E293B"/>
                            </a:solidFill>
                            <a:latin typeface="Cambria Math" panose="02040503050406030204" pitchFamily="18" charset="0"/>
                          </a:rPr>
                          <m:t>MN</m:t>
                        </m:r>
                      </m:e>
                    </m:acc>
                  </m:oMath>
                </a14:m>
                <a:r>
                  <a:rPr sz="1800">
                    <a:solidFill>
                      <a:srgbClr val="1E293B"/>
                    </a:solidFill>
                    <a:latin typeface="Calibri"/>
                  </a:rPr>
                  <a:t> = </a:t>
                </a:r>
                <a14:m>
                  <m:oMath xmlns:m="http://schemas.openxmlformats.org/officeDocument/2006/math">
                    <m:d>
                      <m:dPr>
                        <m:sepChr m:val=""/>
                      </m:dPr>
                      <m:e>
                        <m:r>
                          <a:rPr lang="vi-VN" sz="1800" b="0">
                            <a:solidFill>
                              <a:srgbClr val="1E293B"/>
                            </a:solidFill>
                            <a:latin typeface="Cambria Math" panose="02040503050406030204" pitchFamily="18" charset="0"/>
                          </a:rPr>
                          <m:t>8</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7</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m:t>
                        </m:r>
                      </m:e>
                    </m:d>
                  </m:oMath>
                </a14:m>
                <a:r>
                  <a:rPr sz="1800">
                    <a:solidFill>
                      <a:srgbClr val="1E293B"/>
                    </a:solidFill>
                    <a:latin typeface="Calibri"/>
                  </a:rPr>
                  <a:t>, </a:t>
                </a:r>
                <a14:m>
                  <m:oMath xmlns:m="http://schemas.openxmlformats.org/officeDocument/2006/math">
                    <m:acc>
                      <m:accPr>
                        <m:chr m:val="⃗"/>
                      </m:accPr>
                      <m:e>
                        <m:r>
                          <a:rPr lang="vi-VN" sz="1800" b="0">
                            <a:solidFill>
                              <a:srgbClr val="1E293B"/>
                            </a:solidFill>
                            <a:latin typeface="Cambria Math" panose="02040503050406030204" pitchFamily="18" charset="0"/>
                          </a:rPr>
                          <m:t>MP</m:t>
                        </m:r>
                      </m:e>
                    </m:acc>
                  </m:oMath>
                </a14:m>
                <a:r>
                  <a:rPr sz="1800">
                    <a:solidFill>
                      <a:srgbClr val="1E293B"/>
                    </a:solidFill>
                    <a:latin typeface="Calibri"/>
                  </a:rPr>
                  <a:t> = </a:t>
                </a:r>
                <a14:m>
                  <m:oMath xmlns:m="http://schemas.openxmlformats.org/officeDocument/2006/math">
                    <m:d>
                      <m:dPr>
                        <m:sepChr m:val=""/>
                      </m:dPr>
                      <m:e>
                        <m:r>
                          <a:rPr lang="vi-VN" sz="1800" b="0">
                            <a:solidFill>
                              <a:srgbClr val="1E293B"/>
                            </a:solidFill>
                            <a:latin typeface="Cambria Math" panose="02040503050406030204" pitchFamily="18" charset="0"/>
                          </a:rPr>
                          <m:t>7</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3</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4</m:t>
                        </m:r>
                      </m:e>
                    </m:d>
                  </m:oMath>
                </a14:m>
                <a:r>
                  <a:rPr sz="1800">
                    <a:solidFill>
                      <a:srgbClr val="1E293B"/>
                    </a:solidFill>
                    <a:latin typeface="Calibri"/>
                  </a:rPr>
                  <a:t> không cùng phương. b) </a:t>
                </a:r>
                <a14:m>
                  <m:oMath xmlns:m="http://schemas.openxmlformats.org/officeDocument/2006/math">
                    <m:acc>
                      <m:accPr>
                        <m:chr m:val="⃗"/>
                      </m:accPr>
                      <m:e>
                        <m:r>
                          <a:rPr lang="vi-VN" sz="1800" b="0">
                            <a:solidFill>
                              <a:srgbClr val="1E293B"/>
                            </a:solidFill>
                            <a:latin typeface="Cambria Math" panose="02040503050406030204" pitchFamily="18" charset="0"/>
                          </a:rPr>
                          <m:t>NM</m:t>
                        </m:r>
                      </m:e>
                    </m:acc>
                  </m:oMath>
                </a14:m>
                <a:r>
                  <a:rPr sz="1800">
                    <a:solidFill>
                      <a:srgbClr val="1E293B"/>
                    </a:solidFill>
                    <a:latin typeface="Calibri"/>
                  </a:rPr>
                  <a:t> + </a:t>
                </a:r>
                <a14:m>
                  <m:oMath xmlns:m="http://schemas.openxmlformats.org/officeDocument/2006/math">
                    <m:acc>
                      <m:accPr>
                        <m:chr m:val="⃗"/>
                      </m:accPr>
                      <m:e>
                        <m:r>
                          <a:rPr lang="vi-VN" sz="1800" b="0">
                            <a:solidFill>
                              <a:srgbClr val="1E293B"/>
                            </a:solidFill>
                            <a:latin typeface="Cambria Math" panose="02040503050406030204" pitchFamily="18" charset="0"/>
                          </a:rPr>
                          <m:t>NP</m:t>
                        </m:r>
                      </m:e>
                    </m:acc>
                  </m:oMath>
                </a14:m>
                <a:r>
                  <a:rPr sz="1800">
                    <a:solidFill>
                      <a:srgbClr val="1E293B"/>
                    </a:solidFill>
                    <a:latin typeface="Calibri"/>
                  </a:rPr>
                  <a:t> = </a:t>
                </a:r>
                <a14:m>
                  <m:oMath xmlns:m="http://schemas.openxmlformats.org/officeDocument/2006/math">
                    <m:d>
                      <m:dPr>
                        <m:sepChr m:val=""/>
                      </m:dPr>
                      <m:e>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9</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17</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2</m:t>
                        </m:r>
                      </m:e>
                    </m:d>
                  </m:oMath>
                </a14:m>
                <a:r>
                  <a:rPr sz="1800">
                    <a:solidFill>
                      <a:srgbClr val="1E293B"/>
                    </a:solidFill>
                    <a:latin typeface="Calibri"/>
                  </a:rPr>
                  <a:t> = </a:t>
                </a:r>
                <a14:m>
                  <m:oMath xmlns:m="http://schemas.openxmlformats.org/officeDocument/2006/math">
                    <m:acc>
                      <m:accPr>
                        <m:chr m:val="⃗"/>
                      </m:accPr>
                      <m:e>
                        <m:r>
                          <a:rPr lang="vi-VN" sz="1800" b="0">
                            <a:solidFill>
                              <a:srgbClr val="1E293B"/>
                            </a:solidFill>
                            <a:latin typeface="Cambria Math" panose="02040503050406030204" pitchFamily="18" charset="0"/>
                          </a:rPr>
                          <m:t>NQ</m:t>
                        </m:r>
                      </m:e>
                    </m:acc>
                  </m:oMath>
                </a14:m>
                <a:r>
                  <a:rPr sz="1800">
                    <a:solidFill>
                      <a:srgbClr val="1E293B"/>
                    </a:solidFill>
                    <a:latin typeface="Calibri"/>
                  </a:rPr>
                  <a:t> ⇒ </a:t>
                </a:r>
                <a14:m>
                  <m:oMath xmlns:m="http://schemas.openxmlformats.org/officeDocument/2006/math">
                    <m:r>
                      <a:rPr lang="vi-VN" sz="1800" b="0">
                        <a:solidFill>
                          <a:srgbClr val="1E293B"/>
                        </a:solidFill>
                        <a:latin typeface="Cambria Math" panose="02040503050406030204" pitchFamily="18" charset="0"/>
                      </a:rPr>
                      <m:t>Q(−5;13;0)</m:t>
                    </m:r>
                  </m:oMath>
                </a14:m>
                <a:r>
                  <a:rPr sz="1800">
                    <a:solidFill>
                      <a:srgbClr val="1E293B"/>
                    </a:solidFill>
                    <a:latin typeface="Calibri"/>
                  </a:rPr>
                  <a:t>. c) </a:t>
                </a:r>
                <a14:m>
                  <m:oMath xmlns:m="http://schemas.openxmlformats.org/officeDocument/2006/math">
                    <m:r>
                      <a:rPr lang="vi-VN" sz="1800" b="0">
                        <a:solidFill>
                          <a:srgbClr val="1E293B"/>
                        </a:solidFill>
                        <a:latin typeface="Cambria Math" panose="02040503050406030204" pitchFamily="18" charset="0"/>
                      </a:rPr>
                      <m:t>2(MN+NP)=2(</m:t>
                    </m:r>
                    <m:rad>
                      <m:radPr>
                        <m:degHide m:val="on"/>
                      </m:radPr>
                      <m:deg/>
                      <m:e>
                        <m:r>
                          <a:rPr lang="vi-VN" sz="1800" b="0">
                            <a:solidFill>
                              <a:srgbClr val="1E293B"/>
                            </a:solidFill>
                            <a:latin typeface="Cambria Math" panose="02040503050406030204" pitchFamily="18" charset="0"/>
                          </a:rPr>
                          <m:t>114</m:t>
                        </m:r>
                      </m:e>
                    </m:rad>
                    <m:r>
                      <a:rPr lang="vi-VN" sz="1800" b="0">
                        <a:solidFill>
                          <a:srgbClr val="1E293B"/>
                        </a:solidFill>
                        <a:latin typeface="Cambria Math" panose="02040503050406030204" pitchFamily="18" charset="0"/>
                      </a:rPr>
                      <m:t>+</m:t>
                    </m:r>
                    <m:rad>
                      <m:radPr>
                        <m:degHide m:val="on"/>
                      </m:radPr>
                      <m:deg/>
                      <m:e>
                        <m:r>
                          <a:rPr lang="vi-VN" sz="1800" b="0">
                            <a:solidFill>
                              <a:srgbClr val="1E293B"/>
                            </a:solidFill>
                            <a:latin typeface="Cambria Math" panose="02040503050406030204" pitchFamily="18" charset="0"/>
                          </a:rPr>
                          <m:t>110</m:t>
                        </m:r>
                      </m:e>
                    </m:rad>
                    <m:r>
                      <a:rPr lang="vi-VN" sz="1800" b="0">
                        <a:solidFill>
                          <a:srgbClr val="1E293B"/>
                        </a:solidFill>
                        <a:latin typeface="Cambria Math" panose="02040503050406030204" pitchFamily="18" charset="0"/>
                      </a:rPr>
                      <m:t>)≈42</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33</m:t>
                    </m:r>
                  </m:oMath>
                </a14:m>
                <a:r>
                  <a:rPr sz="1800">
                    <a:solidFill>
                      <a:srgbClr val="1E293B"/>
                    </a:solidFill>
                    <a:latin typeface="Calibri"/>
                  </a:rPr>
                  <a:t>.</a:t>
                </a:r>
              </a:p>
            </p:txBody>
          </p:sp>
        </mc:Choice>
        <mc:Fallback>
          <p:sp>
            <p:nvSpPr>
              <p:cNvPr id="12" name="TextBox 11"/>
              <p:cNvSpPr txBox="1"/>
              <p:nvPr/>
            </p:nvSpPr>
            <p:spPr>
              <a:xfrm>
                <a:off x="713232" y="3803903"/>
                <a:ext cx="1073505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a) </a:t>
                </a:r>
                <a:r>
                  <a:rPr lang="vi-VN"/>
                  <a:t>\overrightarrow{MN}</a:t>
                </a:r>
                <a:r>
                  <a:rPr sz="1800">
                    <a:solidFill>
                      <a:srgbClr val="1E293B"/>
                    </a:solidFill>
                    <a:latin typeface="Calibri"/>
                  </a:rPr>
                  <a:t> = </a:t>
                </a:r>
                <a:r>
                  <a:rPr lang="vi-VN"/>
                  <a:t>(8;-7;-1)</a:t>
                </a:r>
                <a:r>
                  <a:rPr sz="1800">
                    <a:solidFill>
                      <a:srgbClr val="1E293B"/>
                    </a:solidFill>
                    <a:latin typeface="Calibri"/>
                  </a:rPr>
                  <a:t>, </a:t>
                </a:r>
                <a:r>
                  <a:rPr lang="vi-VN"/>
                  <a:t>\overrightarrow{MP}</a:t>
                </a:r>
                <a:r>
                  <a:rPr sz="1800">
                    <a:solidFill>
                      <a:srgbClr val="1E293B"/>
                    </a:solidFill>
                    <a:latin typeface="Calibri"/>
                  </a:rPr>
                  <a:t> = </a:t>
                </a:r>
                <a:r>
                  <a:rPr lang="vi-VN"/>
                  <a:t>(7;3;-4)</a:t>
                </a:r>
                <a:r>
                  <a:rPr sz="1800">
                    <a:solidFill>
                      <a:srgbClr val="1E293B"/>
                    </a:solidFill>
                    <a:latin typeface="Calibri"/>
                  </a:rPr>
                  <a:t> không cùng phương. b) </a:t>
                </a:r>
                <a:r>
                  <a:rPr lang="vi-VN"/>
                  <a:t>\overrightarrow{NM}</a:t>
                </a:r>
                <a:r>
                  <a:rPr sz="1800">
                    <a:solidFill>
                      <a:srgbClr val="1E293B"/>
                    </a:solidFill>
                    <a:latin typeface="Calibri"/>
                  </a:rPr>
                  <a:t> + </a:t>
                </a:r>
                <a:r>
                  <a:rPr lang="vi-VN"/>
                  <a:t>\overrightarrow{NP}</a:t>
                </a:r>
                <a:r>
                  <a:rPr sz="1800">
                    <a:solidFill>
                      <a:srgbClr val="1E293B"/>
                    </a:solidFill>
                    <a:latin typeface="Calibri"/>
                  </a:rPr>
                  <a:t> = </a:t>
                </a:r>
                <a:r>
                  <a:rPr lang="vi-VN"/>
                  <a:t>(-9;17;-2)</a:t>
                </a:r>
                <a:r>
                  <a:rPr sz="1800">
                    <a:solidFill>
                      <a:srgbClr val="1E293B"/>
                    </a:solidFill>
                    <a:latin typeface="Calibri"/>
                  </a:rPr>
                  <a:t> = </a:t>
                </a:r>
                <a:r>
                  <a:rPr lang="vi-VN"/>
                  <a:t>\overrightarrow{NQ}</a:t>
                </a:r>
                <a:r>
                  <a:rPr sz="1800">
                    <a:solidFill>
                      <a:srgbClr val="1E293B"/>
                    </a:solidFill>
                    <a:latin typeface="Calibri"/>
                  </a:rPr>
                  <a:t> ⇒ </a:t>
                </a:r>
                <a:r>
                  <a:rPr lang="vi-VN"/>
                  <a:t>Q(-5;13;0)</a:t>
                </a:r>
                <a:r>
                  <a:rPr sz="1800">
                    <a:solidFill>
                      <a:srgbClr val="1E293B"/>
                    </a:solidFill>
                    <a:latin typeface="Calibri"/>
                  </a:rPr>
                  <a:t>. c) </a:t>
                </a:r>
                <a:r>
                  <a:rPr lang="vi-VN"/>
                  <a:t>2(MN+NP)=2(\sqrt{114}+\sqrt{110})\approx 42{,}33</a:t>
                </a:r>
                <a:r>
                  <a:rPr sz="18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2.22 – 2.23 – 2.24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Tam giác </a:t>
                </a:r>
                <a14:m>
                  <m:oMath xmlns:m="http://schemas.openxmlformats.org/officeDocument/2006/math">
                    <m:r>
                      <a:rPr lang="vi-VN" sz="1800" b="0">
                        <a:solidFill>
                          <a:srgbClr val="1E293B"/>
                        </a:solidFill>
                        <a:latin typeface="Cambria Math" panose="02040503050406030204" pitchFamily="18" charset="0"/>
                      </a:rPr>
                      <m:t>ABC</m:t>
                    </m:r>
                  </m:oMath>
                </a14:m>
                <a:r>
                  <a:rPr sz="1800">
                    <a:solidFill>
                      <a:srgbClr val="1E293B"/>
                    </a:solidFill>
                    <a:latin typeface="Calibri"/>
                  </a:rPr>
                  <a:t> có </a:t>
                </a:r>
                <a14:m>
                  <m:oMath xmlns:m="http://schemas.openxmlformats.org/officeDocument/2006/math">
                    <m:r>
                      <a:rPr lang="vi-VN" sz="1800" b="0">
                        <a:solidFill>
                          <a:srgbClr val="1E293B"/>
                        </a:solidFill>
                        <a:latin typeface="Cambria Math" panose="02040503050406030204" pitchFamily="18" charset="0"/>
                      </a:rPr>
                      <m:t>A(1;0;1)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B(0;−3;1)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C(4;−1;4)</m:t>
                    </m:r>
                  </m:oMath>
                </a14:m>
                <a:r>
                  <a:rPr sz="1800">
                    <a:solidFill>
                      <a:srgbClr val="1E293B"/>
                    </a:solidFill>
                    <a:latin typeface="Calibri"/>
                  </a:rPr>
                  <a:t>. a) Tìm toạ độ trọng tâm. b) Chứng minh </a:t>
                </a:r>
                <a14:m>
                  <m:oMath xmlns:m="http://schemas.openxmlformats.org/officeDocument/2006/math">
                    <m:acc>
                      <m:accPr>
                        <m:chr m:val="̂"/>
                      </m:accPr>
                      <m:e>
                        <m:r>
                          <a:rPr lang="vi-VN" sz="1800" b="0">
                            <a:solidFill>
                              <a:srgbClr val="1E293B"/>
                            </a:solidFill>
                            <a:latin typeface="Cambria Math" panose="02040503050406030204" pitchFamily="18" charset="0"/>
                          </a:rPr>
                          <m:t>BAC</m:t>
                        </m:r>
                      </m:e>
                    </m:acc>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90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c) Tính </a:t>
                </a:r>
                <a14:m>
                  <m:oMath xmlns:m="http://schemas.openxmlformats.org/officeDocument/2006/math">
                    <m:acc>
                      <m:accPr>
                        <m:chr m:val="̂"/>
                      </m:accPr>
                      <m:e>
                        <m:r>
                          <a:rPr lang="vi-VN" sz="1800" b="0">
                            <a:solidFill>
                              <a:srgbClr val="1E293B"/>
                            </a:solidFill>
                            <a:latin typeface="Cambria Math" panose="02040503050406030204" pitchFamily="18" charset="0"/>
                          </a:rPr>
                          <m:t>ABC</m:t>
                        </m:r>
                      </m:e>
                    </m:acc>
                  </m:oMath>
                </a14:m>
                <a:r>
                  <a:rPr sz="1800">
                    <a:solidFill>
                      <a:srgbClr val="1E293B"/>
                    </a:solidFill>
                    <a:latin typeface="Calibri"/>
                  </a:rPr>
                  <a:t>.</a:t>
                </a:r>
              </a:p>
            </p:txBody>
          </p:sp>
        </mc:Choice>
        <mc:Fallback>
          <p:sp>
            <p:nvSpPr>
              <p:cNvPr id="7" name="TextBox 6"/>
              <p:cNvSpPr txBox="1"/>
              <p:nvPr/>
            </p:nvSpPr>
            <p:spPr>
              <a:xfrm>
                <a:off x="548640" y="1371600"/>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Tam giác </a:t>
                </a:r>
                <a:r>
                  <a:rPr lang="vi-VN"/>
                  <a:t>ABC</a:t>
                </a:r>
                <a:r>
                  <a:rPr sz="1800">
                    <a:solidFill>
                      <a:srgbClr val="1E293B"/>
                    </a:solidFill>
                    <a:latin typeface="Calibri"/>
                  </a:rPr>
                  <a:t> có </a:t>
                </a:r>
                <a:r>
                  <a:rPr lang="vi-VN"/>
                  <a:t>A(1;0;1)</a:t>
                </a:r>
                <a:r>
                  <a:rPr sz="1800">
                    <a:solidFill>
                      <a:srgbClr val="1E293B"/>
                    </a:solidFill>
                    <a:latin typeface="Calibri"/>
                  </a:rPr>
                  <a:t>, </a:t>
                </a:r>
                <a:r>
                  <a:rPr lang="vi-VN"/>
                  <a:t>B(0;-3;1)</a:t>
                </a:r>
                <a:r>
                  <a:rPr sz="1800">
                    <a:solidFill>
                      <a:srgbClr val="1E293B"/>
                    </a:solidFill>
                    <a:latin typeface="Calibri"/>
                  </a:rPr>
                  <a:t>, </a:t>
                </a:r>
                <a:r>
                  <a:rPr lang="vi-VN"/>
                  <a:t>C(4;-1;4)</a:t>
                </a:r>
                <a:r>
                  <a:rPr sz="1800">
                    <a:solidFill>
                      <a:srgbClr val="1E293B"/>
                    </a:solidFill>
                    <a:latin typeface="Calibri"/>
                  </a:rPr>
                  <a:t>. a) Tìm toạ độ trọng tâm. b) Chứng minh </a:t>
                </a:r>
                <a:r>
                  <a:rPr lang="vi-VN"/>
                  <a:t>\widehat{BAC}=90^\circ</a:t>
                </a:r>
                <a:r>
                  <a:rPr sz="1800">
                    <a:solidFill>
                      <a:srgbClr val="1E293B"/>
                    </a:solidFill>
                    <a:latin typeface="Calibri"/>
                  </a:rPr>
                  <a:t>. c) Tính </a:t>
                </a:r>
                <a:r>
                  <a:rPr lang="vi-VN"/>
                  <a:t>\widehat{ABC}</a:t>
                </a:r>
                <a:r>
                  <a:rPr sz="1800">
                    <a:solidFill>
                      <a:srgbClr val="1E293B"/>
                    </a:solidFill>
                    <a:latin typeface="Calibri"/>
                  </a:rPr>
                  <a:t>.</a:t>
                </a:r>
              </a:p>
            </p:txBody>
          </p:sp>
        </mc:Fallback>
      </mc:AlternateContent>
      <p:sp>
        <p:nvSpPr>
          <p:cNvPr id="8" name="s1_nen"/>
          <p:cNvSpPr/>
          <p:nvPr/>
        </p:nvSpPr>
        <p:spPr>
          <a:xfrm>
            <a:off x="548640" y="2139696"/>
            <a:ext cx="8595360" cy="118414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76272"/>
                <a:ext cx="8266176" cy="1110996"/>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a) </a:t>
                </a:r>
                <a14:m>
                  <m:oMath xmlns:m="http://schemas.openxmlformats.org/officeDocument/2006/math">
                    <m:r>
                      <a:rPr lang="vi-VN" sz="1800" b="0">
                        <a:solidFill>
                          <a:srgbClr val="1E293B"/>
                        </a:solidFill>
                        <a:latin typeface="Cambria Math" panose="02040503050406030204" pitchFamily="18" charset="0"/>
                      </a:rPr>
                      <m:t>G</m:t>
                    </m:r>
                    <m:d>
                      <m:dPr>
                        <m:sepChr m:val=""/>
                      </m:dPr>
                      <m:e>
                        <m:f>
                          <m:fPr>
                            <m:type m:val="bar"/>
                          </m:fPr>
                          <m:num>
                            <m:r>
                              <a:rPr lang="vi-VN" sz="1800" b="0">
                                <a:solidFill>
                                  <a:srgbClr val="1E293B"/>
                                </a:solidFill>
                                <a:latin typeface="Cambria Math" panose="02040503050406030204" pitchFamily="18" charset="0"/>
                              </a:rPr>
                              <m:t>5</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4</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2</m:t>
                        </m:r>
                      </m:e>
                    </m:d>
                  </m:oMath>
                </a14:m>
                <a:r>
                  <a:rPr sz="1800">
                    <a:solidFill>
                      <a:srgbClr val="1E293B"/>
                    </a:solidFill>
                    <a:latin typeface="Calibri"/>
                  </a:rPr>
                  <a:t>. b) </a:t>
                </a:r>
                <a14:m>
                  <m:oMath xmlns:m="http://schemas.openxmlformats.org/officeDocument/2006/math">
                    <m:acc>
                      <m:accPr>
                        <m:chr m:val="⃗"/>
                      </m:accPr>
                      <m:e>
                        <m:r>
                          <a:rPr lang="vi-VN" sz="1800" b="0">
                            <a:solidFill>
                              <a:srgbClr val="1E293B"/>
                            </a:solidFill>
                            <a:latin typeface="Cambria Math" panose="02040503050406030204" pitchFamily="18" charset="0"/>
                          </a:rPr>
                          <m:t>AB</m:t>
                        </m:r>
                      </m:e>
                    </m:acc>
                  </m:oMath>
                </a14:m>
                <a:r>
                  <a:rPr sz="1800">
                    <a:solidFill>
                      <a:srgbClr val="1E293B"/>
                    </a:solidFill>
                    <a:latin typeface="Calibri"/>
                  </a:rPr>
                  <a:t> · </a:t>
                </a:r>
                <a14:m>
                  <m:oMath xmlns:m="http://schemas.openxmlformats.org/officeDocument/2006/math">
                    <m:acc>
                      <m:accPr>
                        <m:chr m:val="⃗"/>
                      </m:accPr>
                      <m:e>
                        <m:r>
                          <a:rPr lang="vi-VN" sz="1800" b="0">
                            <a:solidFill>
                              <a:srgbClr val="1E293B"/>
                            </a:solidFill>
                            <a:latin typeface="Cambria Math" panose="02040503050406030204" pitchFamily="18" charset="0"/>
                          </a:rPr>
                          <m:t>AC</m:t>
                        </m:r>
                      </m:e>
                    </m:acc>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=(−1)·3+(−3)(−1)+0·3=0</m:t>
                    </m:r>
                  </m:oMath>
                </a14:m>
                <a:r>
                  <a:rPr sz="1800">
                    <a:solidFill>
                      <a:srgbClr val="1E293B"/>
                    </a:solidFill>
                    <a:latin typeface="Calibri"/>
                  </a:rPr>
                  <a:t>. c) </a:t>
                </a:r>
                <a14:m>
                  <m:oMath xmlns:m="http://schemas.openxmlformats.org/officeDocument/2006/math">
                    <m:r>
                      <m:rPr>
                        <m:sty m:val="p"/>
                      </m:rPr>
                      <a:rPr lang="vi-VN" sz="1800" b="0">
                        <a:solidFill>
                          <a:srgbClr val="1E293B"/>
                        </a:solidFill>
                        <a:latin typeface="Cambria Math" panose="02040503050406030204" pitchFamily="18" charset="0"/>
                      </a:rPr>
                      <m:t>cos</m:t>
                    </m:r>
                    <m:acc>
                      <m:accPr>
                        <m:chr m:val="̂"/>
                      </m:accPr>
                      <m:e>
                        <m:r>
                          <a:rPr lang="vi-VN" sz="1800" b="0">
                            <a:solidFill>
                              <a:srgbClr val="1E293B"/>
                            </a:solidFill>
                            <a:latin typeface="Cambria Math" panose="02040503050406030204" pitchFamily="18" charset="0"/>
                          </a:rPr>
                          <m:t>ABC</m:t>
                        </m:r>
                      </m:e>
                    </m:acc>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10</m:t>
                        </m:r>
                      </m:num>
                      <m:den>
                        <m:rad>
                          <m:radPr>
                            <m:degHide m:val="on"/>
                          </m:radPr>
                          <m:deg/>
                          <m:e>
                            <m:r>
                              <a:rPr lang="vi-VN" sz="1800" b="0">
                                <a:solidFill>
                                  <a:srgbClr val="1E293B"/>
                                </a:solidFill>
                                <a:latin typeface="Cambria Math" panose="02040503050406030204" pitchFamily="18" charset="0"/>
                              </a:rPr>
                              <m:t>10</m:t>
                            </m:r>
                          </m:e>
                        </m:rad>
                        <m:r>
                          <a:rPr lang="vi-VN" sz="1800" b="0">
                            <a:solidFill>
                              <a:srgbClr val="1E293B"/>
                            </a:solidFill>
                            <a:latin typeface="Cambria Math" panose="02040503050406030204" pitchFamily="18" charset="0"/>
                          </a:rPr>
                          <m:t>·</m:t>
                        </m:r>
                        <m:rad>
                          <m:radPr>
                            <m:degHide m:val="on"/>
                          </m:radPr>
                          <m:deg/>
                          <m:e>
                            <m:r>
                              <a:rPr lang="vi-VN" sz="1800" b="0">
                                <a:solidFill>
                                  <a:srgbClr val="1E293B"/>
                                </a:solidFill>
                                <a:latin typeface="Cambria Math" panose="02040503050406030204" pitchFamily="18" charset="0"/>
                              </a:rPr>
                              <m:t>29</m:t>
                            </m:r>
                          </m:e>
                        </m:rad>
                      </m:den>
                    </m:f>
                  </m:oMath>
                </a14:m>
                <a:r>
                  <a:rPr sz="1800">
                    <a:solidFill>
                      <a:srgbClr val="1E293B"/>
                    </a:solidFill>
                    <a:latin typeface="Calibri"/>
                  </a:rPr>
                  <a:t> ⇒ </a:t>
                </a:r>
                <a14:m>
                  <m:oMath xmlns:m="http://schemas.openxmlformats.org/officeDocument/2006/math">
                    <m:acc>
                      <m:accPr>
                        <m:chr m:val="̂"/>
                      </m:accPr>
                      <m:e>
                        <m:r>
                          <a:rPr lang="vi-VN" sz="1800" b="0">
                            <a:solidFill>
                              <a:srgbClr val="1E293B"/>
                            </a:solidFill>
                            <a:latin typeface="Cambria Math" panose="02040503050406030204" pitchFamily="18" charset="0"/>
                          </a:rPr>
                          <m:t>ABC</m:t>
                        </m:r>
                      </m:e>
                    </m:acc>
                    <m:r>
                      <a:rPr lang="vi-VN" sz="1800" b="0">
                        <a:solidFill>
                          <a:srgbClr val="1E293B"/>
                        </a:solidFill>
                        <a:latin typeface="Cambria Math" panose="02040503050406030204" pitchFamily="18" charset="0"/>
                      </a:rPr>
                      <m:t>≈54</m:t>
                    </m:r>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04</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p:sp>
            <p:nvSpPr>
              <p:cNvPr id="9" name="TextBox 8"/>
              <p:cNvSpPr txBox="1"/>
              <p:nvPr/>
            </p:nvSpPr>
            <p:spPr>
              <a:xfrm>
                <a:off x="713232" y="2176272"/>
                <a:ext cx="8266176" cy="1110996"/>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a) </a:t>
                </a:r>
                <a:r>
                  <a:rPr lang="vi-VN"/>
                  <a:t>G\left(\frac{5}{3};\ -\frac{4}{3};\ 2\right)</a:t>
                </a:r>
                <a:r>
                  <a:rPr sz="1800">
                    <a:solidFill>
                      <a:srgbClr val="1E293B"/>
                    </a:solidFill>
                    <a:latin typeface="Calibri"/>
                  </a:rPr>
                  <a:t>. b) </a:t>
                </a:r>
                <a:r>
                  <a:rPr lang="vi-VN"/>
                  <a:t>\overrightarrow{AB}</a:t>
                </a:r>
                <a:r>
                  <a:rPr sz="1800">
                    <a:solidFill>
                      <a:srgbClr val="1E293B"/>
                    </a:solidFill>
                    <a:latin typeface="Calibri"/>
                  </a:rPr>
                  <a:t> · </a:t>
                </a:r>
                <a:r>
                  <a:rPr lang="vi-VN"/>
                  <a:t>\overrightarrow{AC}</a:t>
                </a:r>
                <a:r>
                  <a:rPr sz="1800">
                    <a:solidFill>
                      <a:srgbClr val="1E293B"/>
                    </a:solidFill>
                    <a:latin typeface="Calibri"/>
                  </a:rPr>
                  <a:t> </a:t>
                </a:r>
                <a:r>
                  <a:rPr lang="vi-VN"/>
                  <a:t>=(-1)\cdot 3+(-3)(-1)+0\cdot 3=0</a:t>
                </a:r>
                <a:r>
                  <a:rPr sz="1800">
                    <a:solidFill>
                      <a:srgbClr val="1E293B"/>
                    </a:solidFill>
                    <a:latin typeface="Calibri"/>
                  </a:rPr>
                  <a:t>. c) </a:t>
                </a:r>
                <a:r>
                  <a:rPr lang="vi-VN"/>
                  <a:t>\cos\widehat{ABC}=\frac{10}{\sqrt{10}\cdot\sqrt{29}}</a:t>
                </a:r>
                <a:r>
                  <a:rPr sz="1800">
                    <a:solidFill>
                      <a:srgbClr val="1E293B"/>
                    </a:solidFill>
                    <a:latin typeface="Calibri"/>
                  </a:rPr>
                  <a:t> ⇒ </a:t>
                </a:r>
                <a:r>
                  <a:rPr lang="vi-VN"/>
                  <a:t>\widehat{ABC}\approx 54{,}04^\circ</a:t>
                </a:r>
                <a:r>
                  <a:rPr sz="1800">
                    <a:solidFill>
                      <a:srgbClr val="1E293B"/>
                    </a:solidFill>
                    <a:latin typeface="Calibri"/>
                  </a:rPr>
                  <a:t>.</a:t>
                </a:r>
              </a:p>
            </p:txBody>
          </p:sp>
        </mc:Fallback>
      </mc:AlternateContent>
      <p:sp>
        <p:nvSpPr>
          <p:cNvPr id="10" name="s2_chu"/>
          <p:cNvSpPr txBox="1"/>
          <p:nvPr/>
        </p:nvSpPr>
        <p:spPr>
          <a:xfrm>
            <a:off x="548640" y="3369563"/>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2.23.</a:t>
            </a:r>
            <a:r>
              <a:rPr sz="1800">
                <a:solidFill>
                  <a:srgbClr val="1E293B"/>
                </a:solidFill>
                <a:latin typeface="Calibri"/>
              </a:rPr>
              <a:t> Phòng học hình hộp chữ nhật dài 8 m, rộng 6 m, cao 3 m; đèn treo chính giữa trần (H.2.51). Tìm toạ độ điểm treo đèn.</a:t>
            </a:r>
          </a:p>
        </p:txBody>
      </p:sp>
      <p:sp>
        <p:nvSpPr>
          <p:cNvPr id="11" name="s3_nen"/>
          <p:cNvSpPr/>
          <p:nvPr/>
        </p:nvSpPr>
        <p:spPr>
          <a:xfrm>
            <a:off x="548640" y="4137659"/>
            <a:ext cx="859536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174235"/>
                <a:ext cx="826617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2.23.</a:t>
                </a:r>
                <a:r>
                  <a:rPr sz="1800">
                    <a:solidFill>
                      <a:srgbClr val="1E293B"/>
                    </a:solidFill>
                    <a:latin typeface="Calibri"/>
                  </a:rPr>
                  <a:t> Trần là mặt phẳng </a:t>
                </a:r>
                <a14:m>
                  <m:oMath xmlns:m="http://schemas.openxmlformats.org/officeDocument/2006/math">
                    <m:r>
                      <a:rPr lang="vi-VN" sz="1800" b="0">
                        <a:solidFill>
                          <a:srgbClr val="1E293B"/>
                        </a:solidFill>
                        <a:latin typeface="Cambria Math" panose="02040503050406030204" pitchFamily="18" charset="0"/>
                      </a:rPr>
                      <m:t>z=3</m:t>
                    </m:r>
                  </m:oMath>
                </a14:m>
                <a:r>
                  <a:rPr sz="1800">
                    <a:solidFill>
                      <a:srgbClr val="1E293B"/>
                    </a:solidFill>
                    <a:latin typeface="Calibri"/>
                  </a:rPr>
                  <a:t>; tâm hình chữ nhật trần (6 m theo </a:t>
                </a:r>
                <a14:m>
                  <m:oMath xmlns:m="http://schemas.openxmlformats.org/officeDocument/2006/math">
                    <m:r>
                      <a:rPr lang="vi-VN" sz="1800" b="0">
                        <a:solidFill>
                          <a:srgbClr val="1E293B"/>
                        </a:solidFill>
                        <a:latin typeface="Cambria Math" panose="02040503050406030204" pitchFamily="18" charset="0"/>
                      </a:rPr>
                      <m:t>Ox</m:t>
                    </m:r>
                  </m:oMath>
                </a14:m>
                <a:r>
                  <a:rPr sz="1800">
                    <a:solidFill>
                      <a:srgbClr val="1E293B"/>
                    </a:solidFill>
                    <a:latin typeface="Calibri"/>
                  </a:rPr>
                  <a:t>, 8 m theo </a:t>
                </a:r>
                <a14:m>
                  <m:oMath xmlns:m="http://schemas.openxmlformats.org/officeDocument/2006/math">
                    <m:r>
                      <a:rPr lang="vi-VN" sz="1800" b="0">
                        <a:solidFill>
                          <a:srgbClr val="1E293B"/>
                        </a:solidFill>
                        <a:latin typeface="Cambria Math" panose="02040503050406030204" pitchFamily="18" charset="0"/>
                      </a:rPr>
                      <m:t>Oy</m:t>
                    </m:r>
                  </m:oMath>
                </a14:m>
                <a:r>
                  <a:rPr sz="1800">
                    <a:solidFill>
                      <a:srgbClr val="1E293B"/>
                    </a:solidFill>
                    <a:latin typeface="Calibri"/>
                  </a:rPr>
                  <a:t>): </a:t>
                </a:r>
                <a14:m>
                  <m:oMath xmlns:m="http://schemas.openxmlformats.org/officeDocument/2006/math">
                    <m:d>
                      <m:dPr>
                        <m:sepChr m:val=""/>
                      </m:dPr>
                      <m:e>
                        <m:r>
                          <a:rPr lang="vi-VN" sz="1800" b="0">
                            <a:solidFill>
                              <a:srgbClr val="1E293B"/>
                            </a:solidFill>
                            <a:latin typeface="Cambria Math" panose="02040503050406030204" pitchFamily="18" charset="0"/>
                          </a:rPr>
                          <m:t>3</m:t>
                        </m:r>
                        <m:r>
                          <a:rPr lang="vi-VN" sz="1800" b="0">
                            <a:solidFill>
                              <a:srgbClr val="1E293B"/>
                            </a:solidFill>
                            <a:latin typeface="Cambria Math" panose="02040503050406030204" pitchFamily="18" charset="0"/>
                          </a:rPr>
                          <m:t>;</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4</m:t>
                        </m:r>
                        <m:r>
                          <a:rPr lang="vi-VN" sz="1800" b="0">
                            <a:solidFill>
                              <a:srgbClr val="1E293B"/>
                            </a:solidFill>
                            <a:latin typeface="Cambria Math" panose="02040503050406030204" pitchFamily="18" charset="0"/>
                          </a:rPr>
                          <m:t>;</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3</m:t>
                        </m:r>
                      </m:e>
                    </m:d>
                  </m:oMath>
                </a14:m>
                <a:r>
                  <a:rPr sz="1800">
                    <a:solidFill>
                      <a:srgbClr val="1E293B"/>
                    </a:solidFill>
                    <a:latin typeface="Calibri"/>
                  </a:rPr>
                  <a:t>.</a:t>
                </a:r>
              </a:p>
            </p:txBody>
          </p:sp>
        </mc:Choice>
        <mc:Fallback>
          <p:sp>
            <p:nvSpPr>
              <p:cNvPr id="12" name="TextBox 11"/>
              <p:cNvSpPr txBox="1"/>
              <p:nvPr/>
            </p:nvSpPr>
            <p:spPr>
              <a:xfrm>
                <a:off x="713232" y="4174235"/>
                <a:ext cx="826617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2.23.</a:t>
                </a:r>
                <a:r>
                  <a:rPr sz="1800">
                    <a:solidFill>
                      <a:srgbClr val="1E293B"/>
                    </a:solidFill>
                    <a:latin typeface="Calibri"/>
                  </a:rPr>
                  <a:t> Trần là mặt phẳng </a:t>
                </a:r>
                <a:r>
                  <a:rPr lang="vi-VN"/>
                  <a:t>z=3</a:t>
                </a:r>
                <a:r>
                  <a:rPr sz="1800">
                    <a:solidFill>
                      <a:srgbClr val="1E293B"/>
                    </a:solidFill>
                    <a:latin typeface="Calibri"/>
                  </a:rPr>
                  <a:t>; tâm hình chữ nhật trần (6 m theo </a:t>
                </a:r>
                <a:r>
                  <a:rPr lang="vi-VN"/>
                  <a:t>Ox</a:t>
                </a:r>
                <a:r>
                  <a:rPr sz="1800">
                    <a:solidFill>
                      <a:srgbClr val="1E293B"/>
                    </a:solidFill>
                    <a:latin typeface="Calibri"/>
                  </a:rPr>
                  <a:t>, 8 m theo </a:t>
                </a:r>
                <a:r>
                  <a:rPr lang="vi-VN"/>
                  <a:t>Oy</a:t>
                </a:r>
                <a:r>
                  <a:rPr sz="1800">
                    <a:solidFill>
                      <a:srgbClr val="1E293B"/>
                    </a:solidFill>
                    <a:latin typeface="Calibri"/>
                  </a:rPr>
                  <a:t>): </a:t>
                </a:r>
                <a:r>
                  <a:rPr lang="vi-VN"/>
                  <a:t>(3;\ 4;\ 3)</a:t>
                </a:r>
                <a:r>
                  <a:rPr sz="18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997195"/>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Radar đặt tại giàn khoan </a:t>
                </a:r>
                <a14:m>
                  <m:oMath xmlns:m="http://schemas.openxmlformats.org/officeDocument/2006/math">
                    <m:r>
                      <a:rPr lang="vi-VN" sz="1800" b="0">
                        <a:solidFill>
                          <a:srgbClr val="1E293B"/>
                        </a:solidFill>
                        <a:latin typeface="Cambria Math" panose="02040503050406030204" pitchFamily="18" charset="0"/>
                      </a:rPr>
                      <m:t>O</m:t>
                    </m:r>
                  </m:oMath>
                </a14:m>
                <a:r>
                  <a:rPr sz="1800">
                    <a:solidFill>
                      <a:srgbClr val="1E293B"/>
                    </a:solidFill>
                    <a:latin typeface="Calibri"/>
                  </a:rPr>
                  <a:t>, phạm vi theo dõi 30 km. Radar có phát hiện được tàu thăm hiểm ở </a:t>
                </a:r>
                <a14:m>
                  <m:oMath xmlns:m="http://schemas.openxmlformats.org/officeDocument/2006/math">
                    <m:d>
                      <m:dPr>
                        <m:sepChr m:val=""/>
                      </m:dPr>
                      <m:e>
                        <m:r>
                          <a:rPr lang="vi-VN" sz="1800" b="0">
                            <a:solidFill>
                              <a:srgbClr val="1E293B"/>
                            </a:solidFill>
                            <a:latin typeface="Cambria Math" panose="02040503050406030204" pitchFamily="18" charset="0"/>
                          </a:rPr>
                          <m:t>25</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15</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10</m:t>
                        </m:r>
                      </m:e>
                    </m:d>
                  </m:oMath>
                </a14:m>
                <a:r>
                  <a:rPr sz="1800">
                    <a:solidFill>
                      <a:srgbClr val="1E293B"/>
                    </a:solidFill>
                    <a:latin typeface="Calibri"/>
                  </a:rPr>
                  <a:t> không?</a:t>
                </a:r>
              </a:p>
            </p:txBody>
          </p:sp>
        </mc:Choice>
        <mc:Fallback>
          <p:sp>
            <p:nvSpPr>
              <p:cNvPr id="13" name="TextBox 12"/>
              <p:cNvSpPr txBox="1"/>
              <p:nvPr/>
            </p:nvSpPr>
            <p:spPr>
              <a:xfrm>
                <a:off x="548640" y="4997195"/>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Radar đặt tại giàn khoan </a:t>
                </a:r>
                <a:r>
                  <a:rPr lang="vi-VN"/>
                  <a:t>O</a:t>
                </a:r>
                <a:r>
                  <a:rPr sz="1800">
                    <a:solidFill>
                      <a:srgbClr val="1E293B"/>
                    </a:solidFill>
                    <a:latin typeface="Calibri"/>
                  </a:rPr>
                  <a:t>, phạm vi theo dõi 30 km. Radar có phát hiện được tàu thăm hiểm ở </a:t>
                </a:r>
                <a:r>
                  <a:rPr lang="vi-VN"/>
                  <a:t>(25;15;-10)</a:t>
                </a:r>
                <a:r>
                  <a:rPr sz="1800">
                    <a:solidFill>
                      <a:srgbClr val="1E293B"/>
                    </a:solidFill>
                    <a:latin typeface="Calibri"/>
                  </a:rPr>
                  <a:t> không?</a:t>
                </a:r>
              </a:p>
            </p:txBody>
          </p:sp>
        </mc:Fallback>
      </mc:AlternateContent>
      <p:sp>
        <p:nvSpPr>
          <p:cNvPr id="14" name="s5_nen"/>
          <p:cNvSpPr/>
          <p:nvPr/>
        </p:nvSpPr>
        <p:spPr>
          <a:xfrm>
            <a:off x="548640" y="5765291"/>
            <a:ext cx="859536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801867"/>
                <a:ext cx="826617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a:t>
                </a:r>
                <a14:m>
                  <m:oMath xmlns:m="http://schemas.openxmlformats.org/officeDocument/2006/math">
                    <m:rad>
                      <m:radPr>
                        <m:degHide m:val="on"/>
                      </m:radPr>
                      <m:deg/>
                      <m:e>
                        <m:sSup>
                          <m:e>
                            <m:r>
                              <a:rPr lang="vi-VN" sz="1800" b="0">
                                <a:solidFill>
                                  <a:srgbClr val="1E293B"/>
                                </a:solidFill>
                                <a:latin typeface="Cambria Math" panose="02040503050406030204" pitchFamily="18" charset="0"/>
                              </a:rPr>
                              <m:t>25</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15</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10</m:t>
                            </m:r>
                          </m:e>
                          <m:sup>
                            <m:r>
                              <a:rPr lang="vi-VN" sz="1800" b="0">
                                <a:solidFill>
                                  <a:srgbClr val="1E293B"/>
                                </a:solidFill>
                                <a:latin typeface="Cambria Math" panose="02040503050406030204" pitchFamily="18" charset="0"/>
                              </a:rPr>
                              <m:t>2</m:t>
                            </m:r>
                          </m:sup>
                        </m:sSup>
                      </m:e>
                    </m:rad>
                    <m:r>
                      <a:rPr lang="vi-VN" sz="1800" b="0">
                        <a:solidFill>
                          <a:srgbClr val="1E293B"/>
                        </a:solidFill>
                        <a:latin typeface="Cambria Math" panose="02040503050406030204" pitchFamily="18" charset="0"/>
                      </a:rPr>
                      <m:t>=</m:t>
                    </m:r>
                    <m:rad>
                      <m:radPr>
                        <m:degHide m:val="on"/>
                      </m:radPr>
                      <m:deg/>
                      <m:e>
                        <m:r>
                          <a:rPr lang="vi-VN" sz="1800" b="0">
                            <a:solidFill>
                              <a:srgbClr val="1E293B"/>
                            </a:solidFill>
                            <a:latin typeface="Cambria Math" panose="02040503050406030204" pitchFamily="18" charset="0"/>
                          </a:rPr>
                          <m:t>950</m:t>
                        </m:r>
                      </m:e>
                    </m:rad>
                    <m:r>
                      <a:rPr lang="vi-VN" sz="1800" b="0">
                        <a:solidFill>
                          <a:srgbClr val="1E293B"/>
                        </a:solidFill>
                        <a:latin typeface="Cambria Math" panose="02040503050406030204" pitchFamily="18" charset="0"/>
                      </a:rPr>
                      <m:t>≈30</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82&gt;30</m:t>
                    </m:r>
                  </m:oMath>
                </a14:m>
                <a:r>
                  <a:rPr sz="1800">
                    <a:solidFill>
                      <a:srgbClr val="1E293B"/>
                    </a:solidFill>
                    <a:latin typeface="Calibri"/>
                  </a:rPr>
                  <a:t> ⇒ </a:t>
                </a:r>
                <a:r>
                  <a:rPr sz="1800" b="1">
                    <a:solidFill>
                      <a:srgbClr val="1E293B"/>
                    </a:solidFill>
                    <a:latin typeface="Calibri"/>
                  </a:rPr>
                  <a:t>không</a:t>
                </a:r>
                <a:r>
                  <a:rPr sz="1800">
                    <a:solidFill>
                      <a:srgbClr val="1E293B"/>
                    </a:solidFill>
                    <a:latin typeface="Calibri"/>
                  </a:rPr>
                  <a:t> phát hiện được.</a:t>
                </a:r>
              </a:p>
            </p:txBody>
          </p:sp>
        </mc:Choice>
        <mc:Fallback>
          <p:sp>
            <p:nvSpPr>
              <p:cNvPr id="15" name="TextBox 14"/>
              <p:cNvSpPr txBox="1"/>
              <p:nvPr/>
            </p:nvSpPr>
            <p:spPr>
              <a:xfrm>
                <a:off x="713232" y="5801867"/>
                <a:ext cx="826617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a:t>
                </a:r>
                <a:r>
                  <a:rPr lang="vi-VN"/>
                  <a:t>\sqrt{25^2+15^2+10^2}=\sqrt{950}\approx 30{,}82&gt;30</a:t>
                </a:r>
                <a:r>
                  <a:rPr sz="1800">
                    <a:solidFill>
                      <a:srgbClr val="1E293B"/>
                    </a:solidFill>
                    <a:latin typeface="Calibri"/>
                  </a:rPr>
                  <a:t> ⇒ </a:t>
                </a:r>
                <a:r>
                  <a:rPr sz="1800" b="1">
                    <a:solidFill>
                      <a:srgbClr val="1E293B"/>
                    </a:solidFill>
                    <a:latin typeface="Calibri"/>
                  </a:rPr>
                  <a:t>không</a:t>
                </a:r>
                <a:r>
                  <a:rPr sz="1800">
                    <a:solidFill>
                      <a:srgbClr val="1E293B"/>
                    </a:solidFill>
                    <a:latin typeface="Calibri"/>
                  </a:rPr>
                  <a:t> phát hiện được.</a:t>
                </a:r>
              </a:p>
            </p:txBody>
          </p:sp>
        </mc:Fallback>
      </mc:AlternateContent>
      <p:pic>
        <p:nvPicPr>
          <p:cNvPr id="16" name="Picture 15" descr="h251.png"/>
          <p:cNvPicPr>
            <a:picLocks noChangeAspect="1"/>
          </p:cNvPicPr>
          <p:nvPr/>
        </p:nvPicPr>
        <p:blipFill>
          <a:blip r:embed="rId3"/>
          <a:stretch>
            <a:fillRect/>
          </a:stretch>
        </p:blipFill>
        <p:spPr>
          <a:xfrm>
            <a:off x="9326880" y="1620940"/>
            <a:ext cx="2377440" cy="16958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33</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https://trangtu66.github.io/Taode_thi_online/cc_bai8_t12.html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2.20 – 2.24.</a:t>
            </a:r>
          </a:p>
          <a:p>
            <a:pPr algn="l" marL="365760" indent="-365760">
              <a:spcAft>
                <a:spcPts val="800"/>
              </a:spcAft>
              <a:buClr>
                <a:srgbClr val="1E40AF"/>
              </a:buClr>
              <a:buFont typeface="Arial"/>
              <a:buChar char="•"/>
            </a:pPr>
            <a:r>
              <a:rPr sz="2200">
                <a:solidFill>
                  <a:srgbClr val="1E293B"/>
                </a:solidFill>
                <a:latin typeface="Calibri"/>
              </a:rPr>
              <a:t>Chuẩn bị </a:t>
            </a:r>
            <a:r>
              <a:rPr sz="2200" b="1">
                <a:solidFill>
                  <a:srgbClr val="1E293B"/>
                </a:solidFill>
                <a:latin typeface="Calibri"/>
              </a:rPr>
              <a:t>Bài tập cuối chương II</a:t>
            </a:r>
            <a:r>
              <a:rPr sz="2200">
                <a:solidFill>
                  <a:srgbClr val="1E293B"/>
                </a:solidFill>
                <a:latin typeface="Calibri"/>
              </a:rPr>
              <a:t> (SGK tr.73 – 74).</a:t>
            </a:r>
          </a:p>
          <a:p>
            <a:pPr algn="l" marL="365760" indent="-365760">
              <a:spcAft>
                <a:spcPts val="800"/>
              </a:spcAft>
              <a:buClr>
                <a:srgbClr val="1E40AF"/>
              </a:buClr>
              <a:buFont typeface="Arial"/>
              <a:buChar char="•"/>
            </a:pPr>
            <a:r>
              <a:rPr sz="2200">
                <a:solidFill>
                  <a:srgbClr val="1E293B"/>
                </a:solidFill>
                <a:latin typeface="Calibri"/>
              </a:rPr>
              <a:t>Nhóm (vận dụng): tháp canh lửa rừng – chọn hệ toạ độ, tính khoảng cách từ tháp tới đám cháy giả định.</a:t>
            </a:r>
          </a:p>
        </p:txBody>
      </p:sp>
      <p:pic>
        <p:nvPicPr>
          <p:cNvPr id="8" name="Picture 7" descr="QR_CungCo_Bai8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34</a:t>
            </a:r>
          </a:p>
        </p:txBody>
      </p:sp>
      <p:pic>
        <p:nvPicPr>
          <p:cNvPr id="7" name="Picture 6" descr="SoDoTuDuy_TOAN12_Bai8_BieuThucToaDo_T37-39.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algn="l" marL="365760" indent="-365760">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algn="l" marL="365760" indent="-365760">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algn="l" marL="365760" indent="-365760">
                  <a:spcAft>
                    <a:spcPts val="800"/>
                  </a:spcAft>
                  <a:buClr>
                    <a:srgbClr val="1E40AF"/>
                  </a:buClr>
                  <a:buFont typeface="Arial"/>
                  <a:buChar char="•"/>
                </a:pPr>
                <a:r>
                  <a:rPr sz="2100">
                    <a:solidFill>
                      <a:srgbClr val="1E293B"/>
                    </a:solidFill>
                    <a:latin typeface="Calibri"/>
                  </a:rPr>
                  <a:t>Luyện tập 2: lấy trung bình cộng thay vì </a:t>
                </a:r>
                <a14:m>
                  <m:oMath xmlns:m="http://schemas.openxmlformats.org/officeDocument/2006/math">
                    <m:r>
                      <a:rPr lang="vi-VN" sz="2100" b="0">
                        <a:solidFill>
                          <a:srgbClr val="1E293B"/>
                        </a:solidFill>
                        <a:latin typeface="Cambria Math" panose="02040503050406030204" pitchFamily="18" charset="0"/>
                      </a:rPr>
                      <m:t>3G−A−B</m:t>
                    </m:r>
                  </m:oMath>
                </a14:m>
                <a:r>
                  <a:rPr sz="2100">
                    <a:solidFill>
                      <a:srgbClr val="1E293B"/>
                    </a:solidFill>
                    <a:latin typeface="Calibri"/>
                  </a:rPr>
                  <a:t>.</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algn="l" marL="365760" indent="-365760">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algn="l" marL="365760" indent="-365760">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algn="l" marL="365760" indent="-365760">
                  <a:spcAft>
                    <a:spcPts val="800"/>
                  </a:spcAft>
                  <a:buClr>
                    <a:srgbClr val="1E40AF"/>
                  </a:buClr>
                  <a:buFont typeface="Arial"/>
                  <a:buChar char="•"/>
                </a:pPr>
                <a:r>
                  <a:rPr sz="2100">
                    <a:solidFill>
                      <a:srgbClr val="1E293B"/>
                    </a:solidFill>
                    <a:latin typeface="Calibri"/>
                  </a:rPr>
                  <a:t>Luyện tập 2: lấy trung bình cộng thay vì </a:t>
                </a:r>
                <a:r>
                  <a:rPr lang="vi-VN"/>
                  <a:t>3G-A-B</a:t>
                </a:r>
                <a:r>
                  <a:rPr sz="2100">
                    <a:solidFill>
                      <a:srgbClr val="1E293B"/>
                    </a:solidFill>
                    <a:latin typeface="Calibri"/>
                  </a:rPr>
                  <a:t>.</a:t>
                </a:r>
              </a:p>
            </p:txBody>
          </p:sp>
        </mc:Fallback>
      </mc:AlternateContent>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36</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bảng công thức tóm tắt; máy tính cầm tay; giao HĐ1, Ví dụ 1–3, Bài 2.20.</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2.21, 2.22c; bài toán tháp canh lửa rừng.</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trả lời miệng; phóng to slide.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