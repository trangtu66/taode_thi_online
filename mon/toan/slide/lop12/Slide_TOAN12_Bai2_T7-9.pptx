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62" r:id="rId13"/>
    <p:sldId id="275" r:id="rId26"/>
    <p:sldId id="263" r:id="rId14"/>
    <p:sldId id="264" r:id="rId15"/>
    <p:sldId id="274" r:id="rId25"/>
    <p:sldId id="265" r:id="rId16"/>
    <p:sldId id="273" r:id="rId24"/>
    <p:sldId id="266" r:id="rId17"/>
    <p:sldId id="272" r:id="rId23"/>
    <p:sldId id="267" r:id="rId18"/>
    <p:sldId id="271" r:id="rId22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18.xml"/><Relationship Id="rId23" Type="http://schemas.openxmlformats.org/officeDocument/2006/relationships/slide" Target="slides/slide16.xml"/><Relationship Id="rId24" Type="http://schemas.openxmlformats.org/officeDocument/2006/relationships/slide" Target="slides/slide14.xml"/><Relationship Id="rId25" Type="http://schemas.openxmlformats.org/officeDocument/2006/relationships/slide" Target="slides/slide12.xml"/><Relationship Id="rId26" Type="http://schemas.openxmlformats.org/officeDocument/2006/relationships/slide" Target="slides/slide9.xml"/><Relationship Id="rId27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2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2. GTLN VÀ GTNN CỦA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7 – 9 theo PPCT (T7, T8, T9)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TTT – Trường THPT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định nghĩa GTLN, GTNN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GTLN, GTNN bằng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quy tắc 3 bước trên đoạn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tối ưu thực tiễn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bằng đồ thị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HỘP GIẤY LỚN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Tấm bìa vuông cạnh 60 cm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Cắt 4 góc vuông, gập thành hộp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Cắt bao nhiêu để hộp to nhất?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711562"/>
            <a:ext cx="4389120" cy="22121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ĐỊNH NGHĨA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3]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3 tại x = 3;  min = −1 tại x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:r>
                  <a:rPr lang="vi-VN"/>
                  <a:t>f(x)=x^2−2x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3]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3 tại x = 3;  min = −1 tại x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f(x)≤M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∀x ∈ 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và tồn tại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∈ D: f(x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 = M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M=\underset{D}{\mathrm{max}}f(x)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f(x)\le M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∀x ∈ 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và tồn tại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∈ D: f(x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 = M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12029"/>
            <a:ext cx="4389120" cy="42111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LƯU Ý: PHẢI TỒN TẠI X₀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g(x) = x² trên (0; 1): g(x) &lt;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có 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để g(x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có GTLN, GTNN trên (0; 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(nếu có) của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Lập bảng biến thiên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(nếu có) của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y=x−2+\frac{1}{x}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(0;+\infty)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Lập bảng biến thiên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trên (0;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y=x−2+\frac{1}{x}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trên (0;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y'=1−\frac{1}{x^2}=0\Leftrightarrow x=1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min y = y(1) = 0;  không có GTLN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864" y="4151375"/>
            <a:ext cx="5309791" cy="206654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Tấm bìa vuông cạnh 60 cm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Cắt 4 hình vuông cạnh x ở 4 góc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Gập thành hộp không nắp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 bằng bao nhiêu để hộp to nhất?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Viết V(x), tìm GTLN trên (0; 30)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V(x) = (60 − 2x)²·x,   0 &lt; x &lt; 30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V′(x) = 12x² − 480x + 3600 = 0 ⇔ x =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Cắt hình vuông cạnh 10 cm: V = 16 000 cm³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026" y="3602736"/>
            <a:ext cx="6719467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QUY TẮC TRÊN ĐOẠN [A; B]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i</a:t>
            </a:r>
            <a:r>
              <a:rPr sz="2400">
                <a:solidFill>
                  <a:srgbClr val="1E293B"/>
                </a:solidFill>
                <a:latin typeface="Calibri"/>
              </a:rPr>
              <a:t> ∈ (a; b):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i</a:t>
            </a:r>
            <a:r>
              <a:rPr sz="2400">
                <a:solidFill>
                  <a:srgbClr val="1E293B"/>
                </a:solidFill>
                <a:latin typeface="Calibri"/>
              </a:rPr>
              <a:t>), f(a), f(b)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So sánh: số lớn nhất, nhỏ nhất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Trên đoạn luôn có GTLN, GTNN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166" y="1463040"/>
            <a:ext cx="4052067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– VÍ DỤ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y=x^4−4x^2+3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[0;4]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y=\sin\ x+\cos\ 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[0;2\pi]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– VÍ DỤ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4]: max = 195, min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2π]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√2 tại π/4;  min = −√2 tại 5π/4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y=x^4−4x^2+3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4]: max = 195, min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y=\sin\ x+\cos\ 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[0; 2π]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max = √2 tại π/4;  min = −√2 tại 5π/4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lấy nghiệm thuộc (a; 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+5x+2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y=(x+1)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GTLN, GTNN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y=2x^3−3x^2+5x+2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[0;2]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y=(x+1)e^{−x}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[−1;1]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y′ = 6x² − 6x + 5 &gt; 0: đồng biến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 = y(0) = 2;   max = y(2) = 16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y=(x+1)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[−1; 1]: max = 1, min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y′ = 6x² − 6x + 5 &gt; 0: đồng biến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 = y(0) = 2;   max = y(2) = 16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y=(x+1)e^{−x}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[−1; 1]: max = 1, min = 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dùng cả x = 3 ∉ [−2; 2]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không có cực đại ⇒ không có GTLN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dùng cả x = 3 ∉ [−2; 2]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không cực đại ⇒ không GTLN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Loại nghiệm ngoài đoạn: min = −17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cả đầu mút: max = 10/3 tại x =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LÂY LAN DỊCH BỆNH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(trăm người),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0≤t≤12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Tuần nào số người nhiễm nhiều nhất?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Tuần nào bệnh lây nhanh nhất?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N(t)=−t^3+12t^2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(trăm người), </a:t>
                </a:r>
                <a:r>
                  <a:rPr lang="vi-VN"/>
                  <a:t>0\le t\le 12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Tuần nào số người nhiễm nhiều nhất?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Tuần nào bệnh lây nhanh nhất?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LÂY LAN DỊCH BỆNH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N(t)=−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+12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0 ≤ t ≤ 12 (trăm người)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N′(t) = 0 ⇔ t = 8:  N(8) = 256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 lớn nhất tại t = 4:  N′(4) = 48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N(t)=−t^3+12t^2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0 ≤ t ≤ 12 (trăm người)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N′(t) = 0 ⇔ t = 8:  N(8) = 256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N′ lớn nhất tại t = 4:  N′(4) = 48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Tối đa 25 600 người, tuần thứ 8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Lây nhanh nhất vào tuần thứ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bài toán tối ưu ở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rào vườn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hàm số, giải bằng đạo hàm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bằng đồ thị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20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893555" y="2043450"/>
            <a:ext cx="1445333" cy="627512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9086" y="1767138"/>
            <a:ext cx="217446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Tìm x₀: y'(x₀)=0 trong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(a;b)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721851" y="2670962"/>
            <a:ext cx="1617037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90790" y="2394651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So sánh f(a), f(b)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và f(x₀)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764777" y="2670962"/>
            <a:ext cx="1574111" cy="627512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47864" y="3022163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Max = giá trị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lớn nhất trong bảng</a:t>
            </a:r>
          </a:p>
        </p:txBody>
      </p:sp>
      <p:sp>
        <p:nvSpPr>
          <p:cNvPr id="13" name="Oval 12"/>
          <p:cNvSpPr/>
          <p:nvPr/>
        </p:nvSpPr>
        <p:spPr>
          <a:xfrm>
            <a:off x="3155896" y="2259078"/>
            <a:ext cx="236598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GTLN, GTNN trên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[a;b]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15646" y="2043450"/>
            <a:ext cx="1745815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461461" y="1767138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Nếu có duy nhất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cực đại → GTLN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5646" y="2670962"/>
            <a:ext cx="1745815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61461" y="2394651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Nếu có duy nhất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cực tiểu → GTNN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15646" y="2670962"/>
            <a:ext cx="1574111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89757" y="3022163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Hàm bậc 3: không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có GTLN/GTNN trên ℝ</a:t>
            </a:r>
          </a:p>
        </p:txBody>
      </p:sp>
      <p:sp>
        <p:nvSpPr>
          <p:cNvPr id="21" name="Oval 20"/>
          <p:cNvSpPr/>
          <p:nvPr/>
        </p:nvSpPr>
        <p:spPr>
          <a:xfrm>
            <a:off x="6532653" y="2259078"/>
            <a:ext cx="2365985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GTLN, GTNN trên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ℝ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721851" y="4611085"/>
            <a:ext cx="1617037" cy="627512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0790" y="4334774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Đặt biến: x là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ẩn điều chỉnh được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635999" y="5238597"/>
            <a:ext cx="170288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76642" y="4962286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Lập hàm mục tiêu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f(x)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764777" y="5238597"/>
            <a:ext cx="1574111" cy="627512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7864" y="5589798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Tìm GTLN/GTNN của f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trên [a;b]</a:t>
            </a:r>
          </a:p>
        </p:txBody>
      </p:sp>
      <p:sp>
        <p:nvSpPr>
          <p:cNvPr id="29" name="Oval 28"/>
          <p:cNvSpPr/>
          <p:nvPr/>
        </p:nvSpPr>
        <p:spPr>
          <a:xfrm>
            <a:off x="3363922" y="4826713"/>
            <a:ext cx="1949933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Bài toán tối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ưu hóa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715646" y="4924841"/>
            <a:ext cx="1702889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418535" y="4648530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Thiết kế hộp, bể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chứa tối ưu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15646" y="5238597"/>
            <a:ext cx="1659963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375609" y="527604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Cấp nước, tưới cà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phê địa phương</a:t>
            </a:r>
          </a:p>
        </p:txBody>
      </p:sp>
      <p:sp>
        <p:nvSpPr>
          <p:cNvPr id="35" name="Oval 34"/>
          <p:cNvSpPr/>
          <p:nvPr/>
        </p:nvSpPr>
        <p:spPr>
          <a:xfrm>
            <a:off x="6671337" y="4826713"/>
            <a:ext cx="2088617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Ứng dụng thực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tiễn</a:t>
            </a:r>
          </a:p>
        </p:txBody>
      </p:sp>
      <p:sp>
        <p:nvSpPr>
          <p:cNvPr id="36" name="Oval 35"/>
          <p:cNvSpPr/>
          <p:nvPr/>
        </p:nvSpPr>
        <p:spPr>
          <a:xfrm>
            <a:off x="5019941" y="3484793"/>
            <a:ext cx="2014652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GTLN – GTNN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HÀM SỐ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2. Giá trị lớn nhất và giá trị nhỏ nhất của hàm số         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2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trangtu66.github.io/Taode_thi_online/cc_bai2_t12.html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