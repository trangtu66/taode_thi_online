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6" r:id="rId27"/>
    <p:sldId id="268" r:id="rId19"/>
    <p:sldId id="275" r:id="rId26"/>
    <p:sldId id="269" r:id="rId20"/>
    <p:sldId id="274" r:id="rId25"/>
    <p:sldId id="270" r:id="rId21"/>
    <p:sldId id="273" r:id="rId24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4.xml"/><Relationship Id="rId20" Type="http://schemas.openxmlformats.org/officeDocument/2006/relationships/slide" Target="slides/slide16.xml"/><Relationship Id="rId21" Type="http://schemas.openxmlformats.org/officeDocument/2006/relationships/slide" Target="slides/slide18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17.xml"/><Relationship Id="rId26" Type="http://schemas.openxmlformats.org/officeDocument/2006/relationships/slide" Target="slides/slide15.xml"/><Relationship Id="rId27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trangtu66.github.io/Taode_thi_online/cc_chuong1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TẬP CUỐI CHƯƠNG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Mệnh đề và tập hợp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5661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9 theo PPCT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Hệ thống kiến thức Chương 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Xét đúng sai của mệnh đề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Phát biểu điều kiện cần,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Biểu diễn tập hợp: Ven, trục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Thực hiện các phép toán tập hợp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toán thực tiễn bằng Ven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VỊNH HẠ LONG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Khảo sát 1 410 khách ở Hạ Long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789 khách thăm động Thiên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690 khách thăm đảo Titop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789 + 690 = 1 479 &gt; 1 410. Sai?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CHƯƠNG 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4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635999" y="1931116"/>
            <a:ext cx="1702889" cy="73984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76642" y="1654804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Xác định mệnh đề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đúng/sai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721851" y="2457917"/>
            <a:ext cx="1617037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90790" y="2282317"/>
            <a:ext cx="1831061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Phủ định chính xác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464295" y="2670962"/>
            <a:ext cx="1874593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148346" y="2708407"/>
            <a:ext cx="131594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Mệnh đề ∀, ∃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và phủ định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850629" y="2670962"/>
            <a:ext cx="1488259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2012" y="3335919"/>
            <a:ext cx="2088617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Chứng minh phản chứng</a:t>
            </a:r>
          </a:p>
        </p:txBody>
      </p:sp>
      <p:sp>
        <p:nvSpPr>
          <p:cNvPr id="15" name="Oval 14"/>
          <p:cNvSpPr/>
          <p:nvPr/>
        </p:nvSpPr>
        <p:spPr>
          <a:xfrm>
            <a:off x="3710632" y="2427575"/>
            <a:ext cx="1256513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Mệnh đề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15646" y="1830405"/>
            <a:ext cx="1488259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03905" y="1554093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Giao, hợp, hiệu, phần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bù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7715646" y="2357206"/>
            <a:ext cx="1917519" cy="313756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633165" y="2181606"/>
            <a:ext cx="1230097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Biểu đồ Ven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5646" y="2670962"/>
            <a:ext cx="1788741" cy="21304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04387" y="2607696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Chứng minh A ⊂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15646" y="2670962"/>
            <a:ext cx="1702889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18535" y="323520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Bài toán thực tế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đếm số phần tử</a:t>
            </a:r>
          </a:p>
        </p:txBody>
      </p:sp>
      <p:sp>
        <p:nvSpPr>
          <p:cNvPr id="25" name="Oval 24"/>
          <p:cNvSpPr/>
          <p:nvPr/>
        </p:nvSpPr>
        <p:spPr>
          <a:xfrm>
            <a:off x="7087389" y="2427575"/>
            <a:ext cx="1256513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Tập hợp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593073" y="4611085"/>
            <a:ext cx="1745815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19568" y="4334774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Đọc đề, vẽ biểu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893555" y="5238597"/>
            <a:ext cx="1445333" cy="0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19086" y="4962286"/>
            <a:ext cx="217446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Chọn phương pháp chứng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minh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2635999" y="5238597"/>
            <a:ext cx="1702889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76642" y="5589798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Kiểm tra lại kết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quả</a:t>
            </a:r>
          </a:p>
        </p:txBody>
      </p:sp>
      <p:sp>
        <p:nvSpPr>
          <p:cNvPr id="33" name="Oval 32"/>
          <p:cNvSpPr/>
          <p:nvPr/>
        </p:nvSpPr>
        <p:spPr>
          <a:xfrm>
            <a:off x="3086554" y="4995210"/>
            <a:ext cx="2504669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Phương pháp giải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715646" y="4599462"/>
            <a:ext cx="1574111" cy="639135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289757" y="4323151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Phủ định nhầm lượng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từ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7715646" y="5126263"/>
            <a:ext cx="1574111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289757" y="4950663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Quên điều kiện biên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15646" y="5238597"/>
            <a:ext cx="1745815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461461" y="5376753"/>
            <a:ext cx="1573505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Nhầm giao – hợp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715646" y="5238597"/>
            <a:ext cx="1831667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47313" y="5802843"/>
            <a:ext cx="1401801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Quên tập rỗng</a:t>
            </a:r>
          </a:p>
        </p:txBody>
      </p:sp>
      <p:sp>
        <p:nvSpPr>
          <p:cNvPr id="43" name="Oval 42"/>
          <p:cNvSpPr/>
          <p:nvPr/>
        </p:nvSpPr>
        <p:spPr>
          <a:xfrm>
            <a:off x="6601995" y="4826713"/>
            <a:ext cx="222730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Sai lầm thường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gặp</a:t>
            </a:r>
          </a:p>
        </p:txBody>
      </p:sp>
      <p:sp>
        <p:nvSpPr>
          <p:cNvPr id="44" name="Oval 43"/>
          <p:cNvSpPr/>
          <p:nvPr/>
        </p:nvSpPr>
        <p:spPr>
          <a:xfrm>
            <a:off x="4941353" y="3484793"/>
            <a:ext cx="2171828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TẬP CUỐI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CHƯƠNG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MỆNH ĐỀ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⇒ Q chỉ sai khi P đúng, Q sai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đủ để có Q; Q cần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 ⇔ Q: P ⇒ Q và Q ⇒ P đều đúng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14:m xmlns:m="http://schemas.openxmlformats.org/officeDocument/2006/math">
                  <m:oMath>
                    <m:bar>
                      <m:barPr>
                        <m:pos m:val="top"/>
                      </m:barPr>
                      <m:e>
                        <m:r>
                          <a:rPr lang="vi-VN" sz="2400" b="1" i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P(x)</m:t>
                        </m:r>
                      </m:e>
                    </m:ba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∀x ∈ X, P(x):  ∃x ∈ X, </a:t>
                </a:r>
                <a:r>
                  <a:rPr lang="vi-VN"/>
                  <a:t>P(x)̅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Phủ định ∃x ∈ X, P(x):  ∀x ∈ X, </a:t>
                </a:r>
                <a:r>
                  <a:rPr lang="vi-VN"/>
                  <a:t>P(x)̅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TẬP HỢP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n(A ∪ B) = n(A) + n(B) − n(A ∩ 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8686800" cy="20574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8321040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∩ T = {x | x ∈ S và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∪ T = {x | x ∈ S hoặc x ∈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\ T = {x | x ∈ S và x ∉ T}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 ⊂ S:  C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S</a:t>
            </a:r>
            <a:r>
              <a:rPr sz="2400" b="1">
                <a:solidFill>
                  <a:srgbClr val="991B1B"/>
                </a:solidFill>
                <a:latin typeface="Calibri"/>
              </a:rPr>
              <a:t>T = S \ 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Câu nào không là mệnh đề?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Tam giác đều: ba cạnh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3 &lt;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4 − 5 = 1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Bạn học giỏi quá!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1.18: ĐỊNH LÍ P ⇒ Q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hai tam giác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Q: diện tích bằng nhau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P là điều kiện cần để có Q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B. P là điều kiện cần và đủ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C. Q là điều kiện đủ để có 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D. P là điều kiện đủ để có Q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1.19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&gt;1⇒x&gt;−1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&gt;1⇒x&gt;1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x&gt;−1⇒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∀x∈ℝ,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x&gt;1⇒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83464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Mệnh đề nào đúng?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A. </a:t>
                </a:r>
                <a:r>
                  <a:rPr lang="vi-VN"/>
                  <a:t>\forall x\in\mathbb{R},\ x^2&gt;1\Rightarrow x&gt;−1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B. </a:t>
                </a:r>
                <a:r>
                  <a:rPr lang="vi-VN"/>
                  <a:t>\forall x\in\mathbb{R},\ x^2&gt;1\Rightarrow x&gt;1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C. </a:t>
                </a:r>
                <a:r>
                  <a:rPr lang="vi-VN"/>
                  <a:t>\forall x\in\mathbb{R},\ x&gt;−1\Rightarrow x^2&gt;1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D. </a:t>
                </a:r>
                <a:r>
                  <a:rPr lang="vi-VN"/>
                  <a:t>\forall x\in\mathbb{R},\ x&gt;1\Rightarrow x^2&gt;1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TRẮC NGHIỆM 1.20 – 1.21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1.20. A = {a; b; c} có mấy tập con?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4     B. 6     C. 8     D. 10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1.21. Phần tô xám là tập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A. A ∩ B   B. A \ B   C. A ∪ B   D. B \ A</a:t>
            </a:r>
          </a:p>
        </p:txBody>
      </p:sp>
      <p:pic>
        <p:nvPicPr>
          <p:cNvPr id="7" name="Picture 6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468024"/>
            <a:ext cx="4389120" cy="2699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ĐÁP ÁN TRẮC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63040"/>
          <a:ext cx="102412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7132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Câu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Đáp án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Calibri"/>
                        </a:rPr>
                        <a:t>Lí do chính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Câu cảm thán, không đúng/sai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Bằng nhau: đủ; cùng diện tích: cần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Phản ví dụ: x = −2 (A, B); x = 0 (C)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2³ = 8 tập con, kể cả ∅ và 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1.21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991B1B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E293B"/>
                          </a:solidFill>
                          <a:latin typeface="Calibri"/>
                        </a:rPr>
                        <a:t>Phần chung của A và 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{x ∈ ℕ | x &lt; 7}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 = {1; 2; 3;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A ∪ B, A ∩ B, A \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1.24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 = {x ∈ ℕ | x &lt; 7};  B = {1; 2; 3;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∪ B = {0; 1; 2; 3; 4; 5; 6; 7; 8}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∩ B = {1; 2; 3; 6}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\ B = {0; 4; 5}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1.25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1.25. A = [−2; 3],  B = (1;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A ∩ B, B \ A, CℝB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1.26. Tìm (−∞; 1) ∩ (0;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(4; 7] ∪ (−1; 5);  (4; 7] \ (−3; 5]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Biểu diễn trên trục số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TỰ LUẬN 1.25 – 1.26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118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1.25. A = [−2; 3],  B = (1;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A ∩ B = (1; 3];   B \ A = (3;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C</a:t>
            </a:r>
            <a:r>
              <a:rPr sz="2200" baseline="-25000">
                <a:solidFill>
                  <a:srgbClr val="1E293B"/>
                </a:solidFill>
                <a:latin typeface="Calibri"/>
              </a:rPr>
              <a:t>ℝ</a:t>
            </a:r>
            <a:r>
              <a:rPr sz="2200">
                <a:solidFill>
                  <a:srgbClr val="1E293B"/>
                </a:solidFill>
                <a:latin typeface="Calibri"/>
              </a:rPr>
              <a:t>B = (−∞; 1]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1.26. (−∞; 1) ∩ (0; +∞) = (0; 1)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∪ (−1; 5) = (−1;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(4; 7] \ (−3; 5] = (5; 7]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(4; 7] \ (−3; 5] = [5;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“∀x ∈ ℝ, x² &gt; 1 ⇒ x &gt; 1” đúng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Chatbot AI trả lời: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(4; 7] \ (−3; 5] = [5; 7]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“∀x ∈ ℝ, x² &gt; 1 ⇒ x &gt; 1” đúng (x = 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Đúng: (4; 7] \ (−3; 5] = (5; 7]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Mệnh đề sai: phản ví dụ x = −2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BÀI TẬP 1.27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18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1 410 khách, ai cũng thăm ≥ 1 nơi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789 khách thăm động Thiên Cung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690 khách thăm đảo Titop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Bao nhiêu khách thăm cả hai nơi?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BÀI TẬP 1.27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A: thăm Thiên Cung;  B: thăm Titop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1 410 = 789 + 690 − n(A ∩ B)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Số liệu đúng: 69 khách đếm hai lần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n(A ∩ B) = 69 khách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37511"/>
            <a:ext cx="4389120" cy="296021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VỀ NHÀ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Chọn điểm du lịch ở Gia Lai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Viết đoạn giới thiệu, ghi nguồn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Tự đặt bài toán như 1.27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biểu đồ Ven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Ghi Nhật ký sử dụng AI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tập cuối chương I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Chuong1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trangtu66.github.io/Taode_thi_online/cc_chuong1_t10.html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