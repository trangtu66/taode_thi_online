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81" r:id="rId32"/>
    <p:sldId id="261" r:id="rId12"/>
    <p:sldId id="262" r:id="rId13"/>
    <p:sldId id="280" r:id="rId31"/>
    <p:sldId id="263" r:id="rId14"/>
    <p:sldId id="264" r:id="rId15"/>
    <p:sldId id="265" r:id="rId16"/>
    <p:sldId id="266" r:id="rId17"/>
    <p:sldId id="279" r:id="rId30"/>
    <p:sldId id="267" r:id="rId18"/>
    <p:sldId id="268" r:id="rId19"/>
    <p:sldId id="269" r:id="rId20"/>
    <p:sldId id="278" r:id="rId29"/>
    <p:sldId id="270" r:id="rId21"/>
    <p:sldId id="271" r:id="rId22"/>
    <p:sldId id="277" r:id="rId28"/>
    <p:sldId id="272" r:id="rId23"/>
    <p:sldId id="276" r:id="rId27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2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3.xml"/><Relationship Id="rId28" Type="http://schemas.openxmlformats.org/officeDocument/2006/relationships/slide" Target="slides/slide21.xml"/><Relationship Id="rId29" Type="http://schemas.openxmlformats.org/officeDocument/2006/relationships/slide" Target="slides/slide18.xml"/><Relationship Id="rId30" Type="http://schemas.openxmlformats.org/officeDocument/2006/relationships/slide" Target="slides/slide14.xml"/><Relationship Id="rId31" Type="http://schemas.openxmlformats.org/officeDocument/2006/relationships/slide" Target="slides/slide9.xml"/><Relationship Id="rId3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trangtu66.github.io/Taode_thi_online/cc_bai2_t10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2. TẬP HỢP VÀ CÁC PHÉP TOÁN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I. Mệnh đề và tập hợp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519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10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5 – 8 theo PPCT (T5, T6, T7, T8)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TTT – Trường THPT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685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Mô tả tập hợp theo hai cách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Nhận biết tập con, tập rỗng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Hiểu quan hệ ℕ ⊂ ℤ ⊂ ℚ ⊂ 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Viết, biểu diễn khoảng, đoạn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Tìm giao, hợp, hiệu, phần bù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Dùng biểu đồ Ven giải toán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AI VẮNG MẶT?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CLB Lịch sử có 12 thành viên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Họp trực tuyến hai chuyên đề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Bao nhiêu bạn vắng cả hai?</a:t>
            </a:r>
          </a:p>
        </p:txBody>
      </p:sp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814" y="3602736"/>
            <a:ext cx="5253892" cy="26151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TẬP HỢP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Cách 1: liệt kê các phần tử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Cách 2: nêu tính chất đặc trưng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 ∈ S: a thuộc S;  a ∉ S: a không thuộc S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n(S): số phần tử của 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Tập rỗng ∅: không có phần tử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 = {n ∈ ℕ | n nguyên tố, 5 &lt; n &lt; 20}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a) Liệt kê các phần tử của D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b) Tính n(D)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c) Điền ∈, ∉: 17, 5, 12, 18 … 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D = {n ∈ ℕ | n nguyên tố, 5 &lt; n &lt; 20}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 = {7; 11; 13; 17; 19}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n(D) = 5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17 ∈ D;   5 ∉ D;   12 ∉ D;   18 ∉ 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TẬP CON – BIỂU ĐỒ VEN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Mọi phần tử của T thuộc S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Quy ước: ∅ ⊂ S với mọi S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Biểu đồ Ven: đường cong kín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 ⊂ S ⇔ ∀x, x ∈ T ⇒ x ∈ S</a:t>
            </a:r>
          </a:p>
        </p:txBody>
      </p:sp>
      <p:pic>
        <p:nvPicPr>
          <p:cNvPr id="9" name="Picture 8" descr="rI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3050" y="1463040"/>
            <a:ext cx="3136300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2: TẬP CON CỦA S = {2; 3; 5}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Cho S = {2; 3; 5}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S₁ = {3};  S₂ = {0; 2};  S₃ = {3; 5}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Tập nào là tập con của S?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Mọi phần tử có thuộc 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2: TẬP CON CỦA S = {2; 3; 5}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1</a:t>
            </a:r>
            <a:r>
              <a:rPr sz="2400">
                <a:solidFill>
                  <a:srgbClr val="1E293B"/>
                </a:solidFill>
                <a:latin typeface="Calibri"/>
              </a:rPr>
              <a:t> = {3} ⊂ S;   S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3</a:t>
            </a:r>
            <a:r>
              <a:rPr sz="2400">
                <a:solidFill>
                  <a:srgbClr val="1E293B"/>
                </a:solidFill>
                <a:latin typeface="Calibri"/>
              </a:rPr>
              <a:t> = {3; 5} ⊂ S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2</a:t>
            </a:r>
            <a:r>
              <a:rPr sz="2400">
                <a:solidFill>
                  <a:srgbClr val="1E293B"/>
                </a:solidFill>
                <a:latin typeface="Calibri"/>
              </a:rPr>
              <a:t> = {0; 2} ⊄ S vì 0 ∉ S</a:t>
            </a:r>
          </a:p>
        </p:txBody>
      </p:sp>
      <p:pic>
        <p:nvPicPr>
          <p:cNvPr id="7" name="Picture 6" descr="rI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576" y="2779776"/>
            <a:ext cx="10030368" cy="343814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HAI TẬP HỢP BẰNG NHAU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Hai tập có cùng các phần tử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C: bội chung của 2 và 3, nhỏ hơn 30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D: bội của 6, nhỏ hơn 30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 = D = {0; 6; 12; 18; 24}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S ⊂ T và T ⊂ S  ⇒  S = 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CÁC TẬP HỢP SỐ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ℕ: số tự nhiên;  ℤ: số nguyên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ℚ: số viết được dạng a/b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ℝ: gồm số hữu tỉ và vô tỉ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√2 ∈ ℝ nhưng √2 ∉ 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ℕ ⊂ ℤ ⊂ ℚ ⊂ ℝ</a:t>
            </a:r>
          </a:p>
        </p:txBody>
      </p:sp>
      <p:pic>
        <p:nvPicPr>
          <p:cNvPr id="9" name="Picture 8" descr="rI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70380"/>
            <a:ext cx="4389120" cy="40944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TẬP CON THƯỜNG DÙNG CỦA ℝ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12</a:t>
            </a:r>
          </a:p>
        </p:txBody>
      </p:sp>
      <p:pic>
        <p:nvPicPr>
          <p:cNvPr id="6" name="Picture 5" descr="rId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1849" y="1417320"/>
            <a:ext cx="4437821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( ): không lấy đầu mút;   [ ]: lấy đầu mút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5: KHOẢNG, ĐOẠN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Viết dạng khoảng, đoạn; biểu diễn trục số: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 = {x ∈ ℝ | 2 ≤ x ≤ 7}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 = {x ∈ ℝ | x &lt; 2}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5: KHOẢNG, ĐOẠN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 = {x ∈ ℝ | 2 ≤ x ≤ 7} = [2; 7]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 = {x ∈ ℝ | x &lt; 2} = (−∞; 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Phần bị gạch là phần bỏ đi</a:t>
            </a:r>
          </a:p>
        </p:txBody>
      </p:sp>
      <p:pic>
        <p:nvPicPr>
          <p:cNvPr id="9" name="Picture 8" descr="rId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47875"/>
            <a:ext cx="10698480" cy="252490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4. GIAO CỦA HAI TẬP HỢP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Phần tử thuộc cả S và 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{4; 7; 27} ∩ {2; 4; 9; 27; 36} = {4; 27}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[1; +∞) ∩ (−∞; 3] = [1; 3]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S ∩ T = {x | x ∈ S và x ∈ T}</a:t>
            </a:r>
          </a:p>
        </p:txBody>
      </p:sp>
      <p:pic>
        <p:nvPicPr>
          <p:cNvPr id="9" name="Picture 8" descr="rId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356536"/>
            <a:ext cx="4389120" cy="292216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HỢP CỦA HAI TẬP HỢP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Phần tử thuộc S hoặc thuộc 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{2; 3; 4; 7} ∪ {−1; 2; 3; 4; 6}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= {−1; 2; 3; 4; 6; 7}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(−1; 2] ∪ [0; 3] = (−1; 3]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S ∪ T = {x | x ∈ S hoặc x ∈ T}</a:t>
            </a:r>
          </a:p>
        </p:txBody>
      </p:sp>
      <p:pic>
        <p:nvPicPr>
          <p:cNvPr id="9" name="Picture 8" descr="rId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344641"/>
            <a:ext cx="4389120" cy="294595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TRỞ LẠI KHỞI ĐỘNG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17</a:t>
            </a:r>
          </a:p>
        </p:txBody>
      </p:sp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291" y="4169664"/>
            <a:ext cx="4114937" cy="2048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CLB Lịch sử có 12 thành viên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7 bạn dự Chuyên đề 1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8 bạn dự Chuyên đề 2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 ∪ B có 10 phần tử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Bao nhiêu bạn vắng cả hai?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TRỞ LẠI KHỞI ĐỘNG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A: 7 bạn dự Chuyên đề 1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B: 8 bạn dự Chuyên đề 2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 ∪ B có 10 phần tử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Vắng cả hai: 12 − 10 = 2 bạn</a:t>
            </a:r>
          </a:p>
        </p:txBody>
      </p:sp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291" y="4169664"/>
            <a:ext cx="4114937" cy="204825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HIỆU VÀ PHẦN BÙ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 \ T: thuộc S nhưng không thuộc 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ℝ</a:t>
            </a:r>
            <a:r>
              <a:rPr sz="2400">
                <a:solidFill>
                  <a:srgbClr val="1E293B"/>
                </a:solidFill>
                <a:latin typeface="Calibri"/>
              </a:rPr>
              <a:t>(−∞; −2) = [−2; +∞)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ℝ</a:t>
            </a:r>
            <a:r>
              <a:rPr sz="2400">
                <a:solidFill>
                  <a:srgbClr val="1E293B"/>
                </a:solidFill>
                <a:latin typeface="Calibri"/>
              </a:rPr>
              <a:t>[−5; +∞) = (−∞; −5)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S \ T = {x | x ∈ S và x ∉ T}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 ⊂ S:  C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S</a:t>
            </a:r>
            <a:r>
              <a:rPr sz="2400" b="1">
                <a:solidFill>
                  <a:srgbClr val="991B1B"/>
                </a:solidFill>
                <a:latin typeface="Calibri"/>
              </a:rPr>
              <a:t>T = S \ T</a:t>
            </a:r>
          </a:p>
        </p:txBody>
      </p:sp>
      <p:pic>
        <p:nvPicPr>
          <p:cNvPr id="9" name="Picture 8" descr="rId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0893" y="1463040"/>
            <a:ext cx="3520614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ĐẾM SỐ PHẦN TỬ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Lớp 10A: 24 bạn thi đấu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Bóng đá 16 bạn, cầu lông 11 bạn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Mỗi bạn thi ít nhất một môn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Bao nhiêu bạn thi cả hai môn?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Vẽ biểu đồ Ven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ĐẾM SỐ PHẦN TỬ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Lớp 10A: 24 bạn thi đấu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Bóng đá 16 bạn, cầu lông 11 bạn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24 = 16 + 11 − x  ⇒  x =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n(A ∪ B) = n(A) + n(B) − n(A ∩ B)</a:t>
            </a:r>
          </a:p>
        </p:txBody>
      </p:sp>
      <p:pic>
        <p:nvPicPr>
          <p:cNvPr id="9" name="Picture 8" descr="rId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7164" y="4169664"/>
            <a:ext cx="7007191" cy="204825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Hỏi AI: (−2; 1] ∩ (1; +∞) = 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Đối chiếu câu trả lời của AI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Tìm bước sai, giải thích, sửa lại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Nhầm ∈ với ⊂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Sai đầu mút khi lấy giao, hợp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Đếm trùng khi tính n(A ∪ B)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Hỏi AI: (−2; 1] ∩ (1; +∞) =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Kiểm chứng bằng trục số, Ven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VỀ NHÀ: LỚP MÌNH QUA BIỂU ĐỒ VEN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Tạo Google Forms 2 câu Có/Không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Không thu họ tên, số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Lọc, đếm bằng Google Sheets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Vẽ biểu đồ Ven, thử công thức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Nộp 3–5 slide trên Padlet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25</a:t>
            </a:r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4338888" y="2670962"/>
            <a:ext cx="16883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2593073" y="2244872"/>
            <a:ext cx="1745815" cy="42609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19568" y="1968560"/>
            <a:ext cx="1573505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Phần tử thuộc ∈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/ không thuộc ∉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378443" y="2670962"/>
            <a:ext cx="1960445" cy="100711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234198" y="2596073"/>
            <a:ext cx="1144245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Tập rỗng ∅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464295" y="2670962"/>
            <a:ext cx="1874593" cy="526801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148346" y="3022163"/>
            <a:ext cx="1315949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Biểu đồ Venn</a:t>
            </a:r>
          </a:p>
        </p:txBody>
      </p:sp>
      <p:sp>
        <p:nvSpPr>
          <p:cNvPr id="13" name="Oval 12"/>
          <p:cNvSpPr/>
          <p:nvPr/>
        </p:nvSpPr>
        <p:spPr>
          <a:xfrm>
            <a:off x="3294580" y="2259078"/>
            <a:ext cx="2088617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Khái niệm tập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hợp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6027267" y="2670962"/>
            <a:ext cx="1688379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715646" y="2043450"/>
            <a:ext cx="1917519" cy="627512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633165" y="1767138"/>
            <a:ext cx="1230097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A ⊂ B: mọi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x∈A thì x∈B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5646" y="2670962"/>
            <a:ext cx="1960445" cy="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676091" y="2394651"/>
            <a:ext cx="1144245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A = B ⟺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A⊂B và B⊂A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15646" y="2670962"/>
            <a:ext cx="1788741" cy="627512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504387" y="3022163"/>
            <a:ext cx="1487653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Số tập con của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A: 2ⁿ (|A|=n)</a:t>
            </a:r>
          </a:p>
        </p:txBody>
      </p:sp>
      <p:sp>
        <p:nvSpPr>
          <p:cNvPr id="21" name="Oval 20"/>
          <p:cNvSpPr/>
          <p:nvPr/>
        </p:nvSpPr>
        <p:spPr>
          <a:xfrm>
            <a:off x="6740679" y="2090581"/>
            <a:ext cx="1949933" cy="1160762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Tập con &amp;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tập hợp bằng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nhau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4338888" y="3954780"/>
            <a:ext cx="16883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2593073" y="4297329"/>
            <a:ext cx="1745815" cy="941268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19568" y="4021018"/>
            <a:ext cx="1573505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A ∩ B: phần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tử thuộc cả hai</a:t>
            </a:r>
          </a:p>
        </p:txBody>
      </p:sp>
      <p:cxnSp>
        <p:nvCxnSpPr>
          <p:cNvPr id="25" name="Connector 24"/>
          <p:cNvCxnSpPr/>
          <p:nvPr/>
        </p:nvCxnSpPr>
        <p:spPr>
          <a:xfrm flipH="1" flipV="1">
            <a:off x="2464295" y="4924841"/>
            <a:ext cx="1874593" cy="313756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148346" y="4648530"/>
            <a:ext cx="1315949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A ∪ B: thuộc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ít nhất một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2593073" y="5238597"/>
            <a:ext cx="1745815" cy="313756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019568" y="5276042"/>
            <a:ext cx="1573505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A \ B: thuộc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A không thuộc B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593073" y="5238597"/>
            <a:ext cx="1745815" cy="941268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019568" y="5903554"/>
            <a:ext cx="1573505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Cᵤ(A): bù của A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trong U</a:t>
            </a:r>
          </a:p>
        </p:txBody>
      </p:sp>
      <p:sp>
        <p:nvSpPr>
          <p:cNvPr id="31" name="Oval 30"/>
          <p:cNvSpPr/>
          <p:nvPr/>
        </p:nvSpPr>
        <p:spPr>
          <a:xfrm>
            <a:off x="3294580" y="4826713"/>
            <a:ext cx="2088617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Phép toán tập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hợp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27267" y="3954780"/>
            <a:ext cx="1688379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7715646" y="4812507"/>
            <a:ext cx="1273629" cy="426090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989275" y="4636907"/>
            <a:ext cx="2517877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(a;b), [a;b], (a;b], [a;b)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715646" y="5238597"/>
            <a:ext cx="1788741" cy="0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9504387" y="5062997"/>
            <a:ext cx="1487653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(a;+∞), (−∞;b)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715646" y="5238597"/>
            <a:ext cx="1702889" cy="426090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418535" y="5489087"/>
            <a:ext cx="1659357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Giao, hợp khoảng</a:t>
            </a:r>
          </a:p>
        </p:txBody>
      </p:sp>
      <p:sp>
        <p:nvSpPr>
          <p:cNvPr id="39" name="Oval 38"/>
          <p:cNvSpPr/>
          <p:nvPr/>
        </p:nvSpPr>
        <p:spPr>
          <a:xfrm>
            <a:off x="6948705" y="4826713"/>
            <a:ext cx="1533881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Tập số R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và khoảng</a:t>
            </a:r>
          </a:p>
        </p:txBody>
      </p:sp>
      <p:sp>
        <p:nvSpPr>
          <p:cNvPr id="40" name="Oval 39"/>
          <p:cNvSpPr/>
          <p:nvPr/>
        </p:nvSpPr>
        <p:spPr>
          <a:xfrm>
            <a:off x="5334291" y="3682342"/>
            <a:ext cx="1385952" cy="544875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TẬP HỢP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Bai2_Toan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trangtu66.github.io/Taode_thi_online/cc_bai2_t10.html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