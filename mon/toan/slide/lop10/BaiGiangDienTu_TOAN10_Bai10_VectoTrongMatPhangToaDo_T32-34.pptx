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7" d="100"/>
          <a:sy n="77" d="100"/>
        </p:scale>
        <p:origin x="806"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3758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Bìa. Đáp án, lời giải hiện theo click. Nút GeoGebra, video mở trang online (cần Internet).</a:t>
            </a:r>
          </a:p>
          <a:p>
            <a:r>
              <a:t>Lớp 10A7 có HS khiếm thính: mọi yêu cầu, luật chơi đều có chữ trên slide; video có phụ đề.</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Yêu cầu cần đạt lấy từ khung 'Kiến thức, kĩ năng' SGK tr.60.</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Chiếu để HS nắm lộ trình bài học.</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Tiết 1 (45'): Khởi động 6' – HĐ1, trục toạ độ 7' – HĐ2, hệ trục, khung toạ độ 12' – Ví dụ 1, LT1: 4' – HĐ3, Ví dụ 2, Nhận xét 11' – Tổng kết 5'.</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Video mở đầu (phụ đề). Liên hệ: bão đổ bộ miền Trung ảnh hưởng Gia Lai. HS dự đoán; giải ở Vận dụng (Tiết 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HĐ1 (SGK tr.60) – 3'. Click 1. GV giới thiệu trục toạ độ (2').</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HĐ2 (SGK tr.61) – 4'. Click 1, 2. Nhắc quy tắc hình bình hành, quy tắc hiệu.</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GV chốt khung (SGK tr.61), Nhận xét. Ví dụ 1 (click 1), Luyện tập 1 (click 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HĐ3 (SGK tr.61) – 5'. Click 1–3. Chốt khung.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GV hướng dẫn (click 1, 2). Chốt Nhận xét: điều kiện cùng phương theo toạ độ.</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Lệnh: A=(1,1), B=(4,3), u=Vector(A,B), ShowGrid(true). Nhấn mạnh: toạ độ vectơ khác toạ độ điểm.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Tiết 2 (45'): Truy tìm toạ độ 6' – HĐ4, HĐ5, khung 9' – Ví dụ 3, LT2: 12' – Ví dụ 4, công thức 7' – Vận dụng bão, GeoGebra 8' – Tổng kết 3'.</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Câu 3, 4 dẫn vào bài mới (HS có thể dự đoán bằng Pythagore, trung bình cộng). Đáp án đã kiểm tra. Click 1–4.</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HĐ4 (SGK tr.62) – 4'. Click 1, 2. Chốt khung, Nhận xét.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HĐ5 (SGK tr.62) – 3'. Click 1. Chốt khung – công thức khoảng cách.</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GV hướng dẫn (click 1–3). Chú ý thứ tự đỉnh hình thoi: AD = BC.</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 làm cặp 4'. Click 1, 2. Sai lầm: viết OA = BM thay vì OA = MB (KHBD – Trạm AI).</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GV trình bày (click 1, 2). Chốt Chú ý – công thức trung điểm, trọng tâm.</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HS làm nhóm (máy tính cầm tay). Click 1–3. M ≈ 14,0° vĩ bắc, 106,8° kinh đông. Chú ý (SGK): chỉ tính trong phạm vi đoạn đường ngắn.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Lệnh: A=(13.8,108.3), B=(14.1,106.3), t=Slider(0,12,1), M=A+t/12*(B-A).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Tiết 3 (45'): Bài tập 4.16 – 4.20 (22') – Rung chuông vàng 18' – Củng cố online, giao việc 5'.</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Chữa bài: gọi HS trình bày, click hiện đáp án (đối chiếu SGV tr.124 – 125; đã kiểm tra bằng Python).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Chữa bài: gọi HS trình bày, click hiện đáp án (đối chiếu SGV tr.124 – 125; đã kiểm tra bằng Python).</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Chữa bài: gọi HS trình bày, click hiện đáp án (đối chiếu SGV tr.124 – 125; đã kiểm tra bằng Python).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Mỗi HS một bảng con. Mỗi câu 30 giây (Đ/S, trả lời ngắn, thực tế: 60 giây). Sai rời sàn thi; có thể 'cứu trợ' 1 lần. Cấu trúc 8 câu theo đề thi từ 2025: nhiều lựa chọn, Đúng/Sai, trả lời ngắn, thực tế. Đáp án đã kiểm tra bằng Python.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giây. Click 1: đáp án. Nhiễu: A là 2u + v; C, D sai dấu một thành phần.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giây. Click 1: đáp án. Nhiễu: quên căn (5); cộng sai dấu √(4−1) = √3; |2|+|−1| = 3.</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giây. Click 1: đáp án. Nhiễu: (1;−2) = AB/2; (4;0) quên chia 2; (2;−4) = toạ độ AB.</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giây. Click 1: đáp án. Nhiễu: sai dấu; lập tỉ lệ ngược 1/2 = m/(−3) sai.</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Click 1–4. Đáp án đã kiểm tra bằng Python: Đ – S – Đ – 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Click 1.</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Click 1. Sai lầm: lấy 3 + 4 = 7 rồi nhân 2.</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Click 1.</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HS quét QR làm bài củng cố online ở nhà. Đáp án chỉ mở khi GV cho phép.</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Củng cố cuối bài.</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ẩn – chỉ GV xem khi chuẩn bị.</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ẩn – chỉ GV xem khi chuẩn bị.</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trangtu66.github.io/Taode_thi_online/mon/toan/video/lop10/VIDEO_MoDau_TOAN10_Bai10_VectoTrongMatPhangToaDo.mp4" TargetMode="Externa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hyperlink" Target="https://trangtu66.github.io/Taode_thi_online/GGB_T10_Bai10_1_ToaDoVecto.html" TargetMode="External"/><Relationship Id="rId4" Type="http://schemas.openxmlformats.org/officeDocument/2006/relationships/image" Target="../media/image6.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trangtu66.github.io/Taode_thi_online/GGB_T10_Bai10_2_TamBao.html" TargetMode="External"/><Relationship Id="rId4" Type="http://schemas.openxmlformats.org/officeDocument/2006/relationships/image" Target="../media/image10.png"/><Relationship Id="rId5"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2.png"/><Relationship Id="rId4" Type="http://schemas.openxmlformats.org/officeDocument/2006/relationships/hyperlink" Target="https://trangtu66.github.io/Taode_thi_online/cc_bai10_t10.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CHƯƠNG IV. VECTƠ</a:t>
            </a:r>
          </a:p>
          <a:p>
            <a:pPr>
              <a:spcAft>
                <a:spcPts val="600"/>
              </a:spcAft>
            </a:pPr>
            <a:r>
              <a:rPr sz="3000" b="1">
                <a:solidFill>
                  <a:srgbClr val="FFFFFF"/>
                </a:solidFill>
                <a:latin typeface="Cambria"/>
              </a:rPr>
              <a:t>BÀI 10</a:t>
            </a:r>
          </a:p>
          <a:p>
            <a:pPr>
              <a:spcAft>
                <a:spcPts val="600"/>
              </a:spcAft>
            </a:pPr>
            <a:r>
              <a:rPr sz="4400" b="1">
                <a:solidFill>
                  <a:srgbClr val="FFFFFF"/>
                </a:solidFill>
                <a:latin typeface="Cambria"/>
              </a:rPr>
              <a:t>VECTƠ TRONG MẶT PHẲNG TOẠ ĐỘ</a:t>
            </a:r>
          </a:p>
        </p:txBody>
      </p:sp>
      <p:sp>
        <p:nvSpPr>
          <p:cNvPr id="5" name="TextBox 4"/>
          <p:cNvSpPr txBox="1"/>
          <p:nvPr/>
        </p:nvSpPr>
        <p:spPr>
          <a:xfrm>
            <a:off x="1097280" y="4343400"/>
            <a:ext cx="10332720" cy="430887"/>
          </a:xfrm>
          <a:prstGeom prst="rect">
            <a:avLst/>
          </a:prstGeom>
          <a:noFill/>
        </p:spPr>
        <p:txBody>
          <a:bodyPr wrap="square" lIns="45720" rIns="45720" anchor="t">
            <a:spAutoFit/>
          </a:bodyPr>
          <a:lstStyle/>
          <a:p>
            <a:pPr algn="l">
              <a:spcAft>
                <a:spcPts val="800"/>
              </a:spcAft>
            </a:pPr>
            <a:r>
              <a:rPr sz="2200">
                <a:solidFill>
                  <a:srgbClr val="E0E7FF"/>
                </a:solidFill>
                <a:latin typeface="Calibri"/>
              </a:rPr>
              <a:t>3 tiết: T32 – T34</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2</a:t>
            </a:r>
          </a:p>
        </p:txBody>
      </p:sp>
      <p:sp>
        <p:nvSpPr>
          <p:cNvPr id="7" name="Rounded Rectangle 6"/>
          <p:cNvSpPr/>
          <p:nvPr/>
        </p:nvSpPr>
        <p:spPr>
          <a:xfrm>
            <a:off x="548640" y="1417320"/>
            <a:ext cx="11064240" cy="2243328"/>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1453896"/>
            <a:ext cx="10735056" cy="2170176"/>
          </a:xfrm>
          <a:prstGeom prst="rect">
            <a:avLst/>
          </a:prstGeom>
          <a:noFill/>
        </p:spPr>
        <p:txBody>
          <a:bodyPr wrap="square" lIns="45720" rIns="45720" anchor="ctr">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tr.60)</a:t>
            </a:r>
          </a:p>
          <a:p>
            <a:pPr marL="365760" indent="-365760" algn="l">
              <a:spcAft>
                <a:spcPts val="800"/>
              </a:spcAft>
              <a:buClr>
                <a:srgbClr val="1E40AF"/>
              </a:buClr>
              <a:buFont typeface="Arial"/>
              <a:buChar char="•"/>
            </a:pPr>
            <a:r>
              <a:rPr sz="2200">
                <a:solidFill>
                  <a:srgbClr val="1E293B"/>
                </a:solidFill>
                <a:latin typeface="Calibri"/>
              </a:rPr>
              <a:t>Nhận biết toạ độ của vectơ và thể hiện các phép toán vectơ theo toạ độ.</a:t>
            </a:r>
          </a:p>
          <a:p>
            <a:pPr marL="365760" indent="-365760" algn="l">
              <a:spcAft>
                <a:spcPts val="800"/>
              </a:spcAft>
              <a:buClr>
                <a:srgbClr val="1E40AF"/>
              </a:buClr>
              <a:buFont typeface="Arial"/>
              <a:buChar char="•"/>
            </a:pPr>
            <a:r>
              <a:rPr sz="2200">
                <a:solidFill>
                  <a:srgbClr val="1E293B"/>
                </a:solidFill>
                <a:latin typeface="Calibri"/>
              </a:rPr>
              <a:t>Thể hiện mối quan hệ giữa các vectơ thông qua toạ độ của chúng.</a:t>
            </a:r>
          </a:p>
          <a:p>
            <a:pPr marL="365760" indent="-365760" algn="l">
              <a:spcAft>
                <a:spcPts val="800"/>
              </a:spcAft>
              <a:buClr>
                <a:srgbClr val="1E40AF"/>
              </a:buClr>
              <a:buFont typeface="Arial"/>
              <a:buChar char="•"/>
            </a:pPr>
            <a:r>
              <a:rPr sz="2200">
                <a:solidFill>
                  <a:srgbClr val="1E293B"/>
                </a:solidFill>
                <a:latin typeface="Calibri"/>
              </a:rPr>
              <a:t>Ứng dụng của toạ độ vectơ trong bài toán xác định vị trí của vật trên mặt phẳng toạ độ.</a:t>
            </a:r>
          </a:p>
        </p:txBody>
      </p:sp>
      <p:sp>
        <p:nvSpPr>
          <p:cNvPr id="9" name="TextBox 8"/>
          <p:cNvSpPr txBox="1"/>
          <p:nvPr/>
        </p:nvSpPr>
        <p:spPr>
          <a:xfrm>
            <a:off x="548640" y="3889248"/>
            <a:ext cx="11064240" cy="274320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(cùng phương, thẳng hàng qua toạ độ); mô hình hoá (vị trí tâm bão, tàu thuỷ); giải quyết vấn đề; sử dụng công cụ (GeoGebra, máy tính cầm tay).</a:t>
            </a:r>
          </a:p>
          <a:p>
            <a:pPr marL="365760" indent="-365760" algn="l">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khi tự kiểm tra kết quả, trách nhiệm khi làm việc nhóm.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3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627632"/>
            <a:ext cx="1188720" cy="594360"/>
          </a:xfrm>
          <a:prstGeom prst="rect">
            <a:avLst/>
          </a:prstGeom>
          <a:noFill/>
        </p:spPr>
        <p:txBody>
          <a:bodyPr wrap="square" lIns="45720" rIns="45720" anchor="t">
            <a:spAutoFit/>
          </a:bodyPr>
          <a:lstStyle/>
          <a:p>
            <a:pPr algn="ctr">
              <a:spcAft>
                <a:spcPts val="800"/>
              </a:spcAft>
            </a:pPr>
            <a:r>
              <a:rPr sz="2400" b="1">
                <a:solidFill>
                  <a:srgbClr val="FFFFFF"/>
                </a:solidFill>
                <a:latin typeface="Calibri"/>
              </a:rPr>
              <a:t>T32</a:t>
            </a:r>
          </a:p>
        </p:txBody>
      </p:sp>
      <p:sp>
        <p:nvSpPr>
          <p:cNvPr id="9" name="TextBox 8"/>
          <p:cNvSpPr txBox="1"/>
          <p:nvPr/>
        </p:nvSpPr>
        <p:spPr>
          <a:xfrm>
            <a:off x="1920240" y="1645920"/>
            <a:ext cx="6035040" cy="731520"/>
          </a:xfrm>
          <a:prstGeom prst="rect">
            <a:avLst/>
          </a:prstGeom>
          <a:noFill/>
        </p:spPr>
        <p:txBody>
          <a:bodyPr wrap="square" lIns="45720" rIns="45720" anchor="t">
            <a:spAutoFit/>
          </a:bodyPr>
          <a:lstStyle/>
          <a:p>
            <a:pPr algn="l">
              <a:spcAft>
                <a:spcPts val="800"/>
              </a:spcAft>
            </a:pPr>
            <a:r>
              <a:rPr sz="2200">
                <a:solidFill>
                  <a:srgbClr val="1E293B"/>
                </a:solidFill>
                <a:latin typeface="Calibri"/>
              </a:rPr>
              <a:t>1. Toạ độ của vectơ. 2. Biểu thức toạ độ của các phép toán vectơ</a:t>
            </a:r>
          </a:p>
        </p:txBody>
      </p:sp>
      <p:sp>
        <p:nvSpPr>
          <p:cNvPr id="10" name="TextBox 9"/>
          <p:cNvSpPr txBox="1"/>
          <p:nvPr/>
        </p:nvSpPr>
        <p:spPr>
          <a:xfrm>
            <a:off x="8046720" y="1645920"/>
            <a:ext cx="3749039" cy="731520"/>
          </a:xfrm>
          <a:prstGeom prst="rect">
            <a:avLst/>
          </a:prstGeom>
          <a:noFill/>
        </p:spPr>
        <p:txBody>
          <a:bodyPr wrap="square" lIns="45720" rIns="45720" anchor="t">
            <a:spAutoFit/>
          </a:bodyPr>
          <a:lstStyle/>
          <a:p>
            <a:pPr algn="l">
              <a:spcAft>
                <a:spcPts val="800"/>
              </a:spcAft>
            </a:pPr>
            <a:r>
              <a:rPr sz="2000">
                <a:solidFill>
                  <a:srgbClr val="1E293B"/>
                </a:solidFill>
                <a:latin typeface="Calibri"/>
              </a:rPr>
              <a:t>🎮 GeoGebra</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587752"/>
            <a:ext cx="1188720" cy="594360"/>
          </a:xfrm>
          <a:prstGeom prst="rect">
            <a:avLst/>
          </a:prstGeom>
          <a:noFill/>
        </p:spPr>
        <p:txBody>
          <a:bodyPr wrap="square" lIns="45720" rIns="45720" anchor="t">
            <a:spAutoFit/>
          </a:bodyPr>
          <a:lstStyle/>
          <a:p>
            <a:pPr algn="ctr">
              <a:spcAft>
                <a:spcPts val="800"/>
              </a:spcAft>
            </a:pPr>
            <a:r>
              <a:rPr sz="2400" b="1">
                <a:solidFill>
                  <a:srgbClr val="FFFFFF"/>
                </a:solidFill>
                <a:latin typeface="Calibri"/>
              </a:rPr>
              <a:t>T33</a:t>
            </a:r>
          </a:p>
        </p:txBody>
      </p:sp>
      <p:sp>
        <p:nvSpPr>
          <p:cNvPr id="13" name="TextBox 12"/>
          <p:cNvSpPr txBox="1"/>
          <p:nvPr/>
        </p:nvSpPr>
        <p:spPr>
          <a:xfrm>
            <a:off x="1920240" y="2606040"/>
            <a:ext cx="6035040" cy="731520"/>
          </a:xfrm>
          <a:prstGeom prst="rect">
            <a:avLst/>
          </a:prstGeom>
          <a:noFill/>
        </p:spPr>
        <p:txBody>
          <a:bodyPr wrap="square" lIns="45720" rIns="45720" anchor="t">
            <a:spAutoFit/>
          </a:bodyPr>
          <a:lstStyle/>
          <a:p>
            <a:pPr algn="l">
              <a:spcAft>
                <a:spcPts val="800"/>
              </a:spcAft>
            </a:pPr>
            <a:r>
              <a:rPr sz="2200">
                <a:solidFill>
                  <a:srgbClr val="1E293B"/>
                </a:solidFill>
                <a:latin typeface="Calibri"/>
              </a:rPr>
              <a:t>Toạ độ điểm, độ dài, khoảng cách; trung điểm, trọng tâm; dự đoán tâm bão</a:t>
            </a:r>
          </a:p>
        </p:txBody>
      </p:sp>
      <p:sp>
        <p:nvSpPr>
          <p:cNvPr id="14" name="TextBox 13"/>
          <p:cNvSpPr txBox="1"/>
          <p:nvPr/>
        </p:nvSpPr>
        <p:spPr>
          <a:xfrm>
            <a:off x="8046720" y="2606040"/>
            <a:ext cx="3749039" cy="731520"/>
          </a:xfrm>
          <a:prstGeom prst="rect">
            <a:avLst/>
          </a:prstGeom>
          <a:noFill/>
        </p:spPr>
        <p:txBody>
          <a:bodyPr wrap="square" lIns="45720" rIns="45720" anchor="t">
            <a:spAutoFit/>
          </a:bodyPr>
          <a:lstStyle/>
          <a:p>
            <a:pPr algn="l">
              <a:spcAft>
                <a:spcPts val="800"/>
              </a:spcAft>
            </a:pPr>
            <a:r>
              <a:rPr sz="2000">
                <a:solidFill>
                  <a:srgbClr val="1E293B"/>
                </a:solidFill>
                <a:latin typeface="Calibri"/>
              </a:rPr>
              <a:t>🎮 Truy tìm toạ độ · GeoGebra</a:t>
            </a:r>
          </a:p>
        </p:txBody>
      </p:sp>
      <p:sp>
        <p:nvSpPr>
          <p:cNvPr id="15" name="Rounded Rectangle 14"/>
          <p:cNvSpPr/>
          <p:nvPr/>
        </p:nvSpPr>
        <p:spPr>
          <a:xfrm>
            <a:off x="548640" y="347472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3547872"/>
            <a:ext cx="1188720" cy="594360"/>
          </a:xfrm>
          <a:prstGeom prst="rect">
            <a:avLst/>
          </a:prstGeom>
          <a:noFill/>
        </p:spPr>
        <p:txBody>
          <a:bodyPr wrap="square" lIns="45720" rIns="45720" anchor="t">
            <a:spAutoFit/>
          </a:bodyPr>
          <a:lstStyle/>
          <a:p>
            <a:pPr algn="ctr">
              <a:spcAft>
                <a:spcPts val="800"/>
              </a:spcAft>
            </a:pPr>
            <a:r>
              <a:rPr sz="2400" b="1">
                <a:solidFill>
                  <a:srgbClr val="FFFFFF"/>
                </a:solidFill>
                <a:latin typeface="Calibri"/>
              </a:rPr>
              <a:t>T34</a:t>
            </a:r>
          </a:p>
        </p:txBody>
      </p:sp>
      <p:sp>
        <p:nvSpPr>
          <p:cNvPr id="17" name="TextBox 16"/>
          <p:cNvSpPr txBox="1"/>
          <p:nvPr/>
        </p:nvSpPr>
        <p:spPr>
          <a:xfrm>
            <a:off x="1920240" y="3566160"/>
            <a:ext cx="6035040" cy="731520"/>
          </a:xfrm>
          <a:prstGeom prst="rect">
            <a:avLst/>
          </a:prstGeom>
          <a:noFill/>
        </p:spPr>
        <p:txBody>
          <a:bodyPr wrap="square" lIns="45720" rIns="45720" anchor="t">
            <a:spAutoFit/>
          </a:bodyPr>
          <a:lstStyle/>
          <a:p>
            <a:pPr algn="l">
              <a:spcAft>
                <a:spcPts val="800"/>
              </a:spcAft>
            </a:pPr>
            <a:r>
              <a:rPr sz="2200">
                <a:solidFill>
                  <a:srgbClr val="1E293B"/>
                </a:solidFill>
                <a:latin typeface="Calibri"/>
              </a:rPr>
              <a:t>Luyện tập: Bài tập 4.16 – 4.20</a:t>
            </a:r>
          </a:p>
        </p:txBody>
      </p:sp>
      <p:sp>
        <p:nvSpPr>
          <p:cNvPr id="18" name="TextBox 17"/>
          <p:cNvSpPr txBox="1"/>
          <p:nvPr/>
        </p:nvSpPr>
        <p:spPr>
          <a:xfrm>
            <a:off x="8046720" y="3566160"/>
            <a:ext cx="3749039" cy="731520"/>
          </a:xfrm>
          <a:prstGeom prst="rect">
            <a:avLst/>
          </a:prstGeom>
          <a:noFill/>
        </p:spPr>
        <p:txBody>
          <a:bodyPr wrap="square" lIns="45720" rIns="45720" anchor="t">
            <a:spAutoFit/>
          </a:bodyPr>
          <a:lstStyle/>
          <a:p>
            <a:pPr algn="l">
              <a:spcAft>
                <a:spcPts val="800"/>
              </a:spcAft>
            </a:pPr>
            <a:r>
              <a:rPr sz="2000">
                <a:solidFill>
                  <a:srgbClr val="1E293B"/>
                </a:solidFill>
                <a:latin typeface="Calibri"/>
              </a:rPr>
              <a:t>🎮 Rung chuông vàng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(T32)</a:t>
            </a:r>
          </a:p>
          <a:p>
            <a:pPr>
              <a:spcAft>
                <a:spcPts val="600"/>
              </a:spcAft>
            </a:pPr>
            <a:r>
              <a:rPr sz="4000" b="1">
                <a:solidFill>
                  <a:srgbClr val="FFFFFF"/>
                </a:solidFill>
                <a:latin typeface="Cambria"/>
              </a:rPr>
              <a:t>Toạ độ của vectơ. Biểu thức toạ độ các phép toán</a:t>
            </a:r>
          </a:p>
        </p:txBody>
      </p:sp>
      <p:sp>
        <p:nvSpPr>
          <p:cNvPr id="5" name="TextBox 4"/>
          <p:cNvSpPr txBox="1"/>
          <p:nvPr/>
        </p:nvSpPr>
        <p:spPr>
          <a:xfrm>
            <a:off x="1097280" y="4343400"/>
            <a:ext cx="10332720" cy="1828800"/>
          </a:xfrm>
          <a:prstGeom prst="rect">
            <a:avLst/>
          </a:prstGeom>
          <a:noFill/>
        </p:spPr>
        <p:txBody>
          <a:bodyPr wrap="square" lIns="45720" rIns="45720" anchor="t">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Nhận biết toạ độ của vectơ đối với hệ trục Oxy.</a:t>
            </a:r>
          </a:p>
          <a:p>
            <a:pPr algn="l">
              <a:spcAft>
                <a:spcPts val="800"/>
              </a:spcAft>
            </a:pPr>
            <a:r>
              <a:rPr sz="2200">
                <a:solidFill>
                  <a:srgbClr val="E0E7FF"/>
                </a:solidFill>
                <a:latin typeface="Calibri"/>
              </a:rPr>
              <a:t>• Tính toạ độ tổng, hiệu, tích vectơ với một số; nhận biết hai vectơ cùng phương qua toạ độ.</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DỰ ĐOÁN VỊ TRÍ TÂM BÃO</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5</a:t>
            </a:r>
          </a:p>
        </p:txBody>
      </p:sp>
      <mc:AlternateContent xmlns:mc="http://schemas.openxmlformats.org/markup-compatibility/2006" xmlns:a14="http://schemas.microsoft.com/office/drawing/2010/main">
        <mc:Choice Requires="a14">
          <p:sp>
            <p:nvSpPr>
              <p:cNvPr id="7" name="TextBox 6"/>
              <p:cNvSpPr txBox="1"/>
              <p:nvPr/>
            </p:nvSpPr>
            <p:spPr>
              <a:xfrm>
                <a:off x="548640" y="1417320"/>
                <a:ext cx="6583680" cy="3840480"/>
              </a:xfrm>
              <a:prstGeom prst="rect">
                <a:avLst/>
              </a:prstGeom>
              <a:noFill/>
            </p:spPr>
            <p:txBody>
              <a:bodyPr wrap="square" lIns="45720" rIns="45720" anchor="t">
                <a:spAutoFit/>
              </a:bodyPr>
              <a:lstStyle/>
              <a:p>
                <a:pPr algn="l">
                  <a:spcAft>
                    <a:spcPts val="800"/>
                  </a:spcAft>
                </a:pPr>
                <a:r>
                  <a:rPr sz="2200">
                    <a:solidFill>
                      <a:srgbClr val="1E293B"/>
                    </a:solidFill>
                    <a:latin typeface="Calibri"/>
                  </a:rPr>
                  <a:t>Một bản tin dự báo thời tiết thể hiện đường đi trong 12 giờ của một cơn bão trên một mặt phẳng toạ độ. Trong khoảng thời gian đó, tâm bão di chuyển thẳng đều từ vị trí có toạ độ </a:t>
                </a:r>
                <a14:m>
                  <m:oMath xmlns:m="http://schemas.openxmlformats.org/officeDocument/2006/math">
                    <m:d>
                      <m:dPr>
                        <m:ctrlPr>
                          <a:rPr lang="vi-VN" sz="2200" b="0">
                            <a:solidFill>
                              <a:srgbClr val="1E293B"/>
                            </a:solidFill>
                            <a:latin typeface="Cambria Math" panose="02040503050406030204" pitchFamily="18" charset="0"/>
                          </a:rPr>
                        </m:ctrlPr>
                      </m:dPr>
                      <m:e>
                        <m:r>
                          <a:rPr lang="vi-VN" sz="2200" b="0">
                            <a:solidFill>
                              <a:srgbClr val="1E293B"/>
                            </a:solidFill>
                            <a:latin typeface="Cambria Math" panose="02040503050406030204" pitchFamily="18" charset="0"/>
                          </a:rPr>
                          <m:t>13,8; 108,3</m:t>
                        </m:r>
                      </m:e>
                    </m:d>
                  </m:oMath>
                </a14:m>
                <a:r>
                  <a:rPr sz="2200">
                    <a:solidFill>
                      <a:srgbClr val="1E293B"/>
                    </a:solidFill>
                    <a:latin typeface="Calibri"/>
                  </a:rPr>
                  <a:t> đến vị trí có toạ độ </a:t>
                </a:r>
                <a14:m>
                  <m:oMath xmlns:m="http://schemas.openxmlformats.org/officeDocument/2006/math">
                    <m:d>
                      <m:dPr>
                        <m:ctrlPr>
                          <a:rPr lang="vi-VN" sz="2200" b="0">
                            <a:solidFill>
                              <a:srgbClr val="1E293B"/>
                            </a:solidFill>
                            <a:latin typeface="Cambria Math" panose="02040503050406030204" pitchFamily="18" charset="0"/>
                          </a:rPr>
                        </m:ctrlPr>
                      </m:dPr>
                      <m:e>
                        <m:r>
                          <a:rPr lang="vi-VN" sz="2200" b="0">
                            <a:solidFill>
                              <a:srgbClr val="1E293B"/>
                            </a:solidFill>
                            <a:latin typeface="Cambria Math" panose="02040503050406030204" pitchFamily="18" charset="0"/>
                          </a:rPr>
                          <m:t>14,1; 106,3</m:t>
                        </m:r>
                      </m:e>
                    </m:d>
                  </m:oMath>
                </a14:m>
                <a:r>
                  <a:rPr sz="2200">
                    <a:solidFill>
                      <a:srgbClr val="1E293B"/>
                    </a:solidFill>
                    <a:latin typeface="Calibri"/>
                  </a:rPr>
                  <a:t>. </a:t>
                </a:r>
                <a:r>
                  <a:rPr sz="2200" b="1">
                    <a:solidFill>
                      <a:srgbClr val="1E293B"/>
                    </a:solidFill>
                    <a:latin typeface="Calibri"/>
                  </a:rPr>
                  <a:t>Dựa vào thông tin trên, liệu ta có thể dự đoán được vị trí của tâm bão tại thời điểm bất kì trong khoảng thời gian 12 giờ đó hay không?</a:t>
                </a:r>
              </a:p>
              <a:p>
                <a:pPr algn="l">
                  <a:spcAft>
                    <a:spcPts val="800"/>
                  </a:spcAft>
                </a:pPr>
                <a:r>
                  <a:rPr sz="2000">
                    <a:solidFill>
                      <a:srgbClr val="64748B"/>
                    </a:solidFill>
                    <a:latin typeface="Calibri"/>
                  </a:rPr>
                  <a:t>(SGK Toán 10 tập một, tr.60)</a:t>
                </a:r>
              </a:p>
            </p:txBody>
          </p:sp>
        </mc:Choice>
        <mc:Fallback xmlns="">
          <p:sp>
            <p:nvSpPr>
              <p:cNvPr id="7" name="TextBox 6"/>
              <p:cNvSpPr txBox="1"/>
              <p:nvPr/>
            </p:nvSpPr>
            <p:spPr>
              <a:xfrm>
                <a:off x="548640" y="1417320"/>
                <a:ext cx="6583680" cy="38404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bản tin dự báo thời tiết thể hiện đường đi trong 12 giờ của một cơn bão trên một mặt phẳng toạ độ. Trong khoảng thời gian đó, tâm bão di chuyển thẳng đều từ vị trí có toạ độ </a:t>
                </a:r>
                <a:r>
                  <a:rPr lang="vi-VN"/>
                  <a:t>(13{,}8;\ 108{,}3)</a:t>
                </a:r>
                <a:r>
                  <a:rPr sz="2200">
                    <a:solidFill>
                      <a:srgbClr val="1E293B"/>
                    </a:solidFill>
                    <a:latin typeface="Calibri"/>
                  </a:rPr>
                  <a:t> đến vị trí có toạ độ </a:t>
                </a:r>
                <a:r>
                  <a:rPr lang="vi-VN"/>
                  <a:t>(14{,}1;\ 106{,}3)</a:t>
                </a:r>
                <a:r>
                  <a:rPr sz="2200">
                    <a:solidFill>
                      <a:srgbClr val="1E293B"/>
                    </a:solidFill>
                    <a:latin typeface="Calibri"/>
                  </a:rPr>
                  <a:t>. </a:t>
                </a:r>
                <a:r>
                  <a:rPr sz="2200" b="1">
                    <a:solidFill>
                      <a:srgbClr val="1E293B"/>
                    </a:solidFill>
                    <a:latin typeface="Calibri"/>
                  </a:rPr>
                  <a:t>Dựa vào thông tin trên, liệu ta có thể dự đoán được vị trí của tâm bão tại thời điểm bất kì trong khoảng thời gian 12 giờ đó hay không?</a:t>
                </a:r>
              </a:p>
              <a:p>
                <a:pPr algn="l">
                  <a:spcAft>
                    <a:spcPts val="800"/>
                  </a:spcAft>
                </a:pPr>
                <a:r>
                  <a:rPr sz="2000">
                    <a:solidFill>
                      <a:srgbClr val="64748B"/>
                    </a:solidFill>
                    <a:latin typeface="Calibri"/>
                  </a:rPr>
                  <a:t>(SGK Toán 10 tập một, tr.60)</a:t>
                </a:r>
              </a:p>
            </p:txBody>
          </p:sp>
        </mc:Fallback>
      </mc:AlternateContent>
      <p:sp>
        <p:nvSpPr>
          <p:cNvPr id="8" name="Rounded Rectangle 7">
            <a:hlinkClick r:id="rId3"/>
          </p:cNvPr>
          <p:cNvSpPr/>
          <p:nvPr/>
        </p:nvSpPr>
        <p:spPr>
          <a:xfrm>
            <a:off x="548640" y="5349240"/>
            <a:ext cx="3931920" cy="6400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  VIDEO MỞ ĐẦU</a:t>
            </a:r>
          </a:p>
        </p:txBody>
      </p:sp>
      <p:pic>
        <p:nvPicPr>
          <p:cNvPr id="9" name="Picture 8" descr="qr_video.png"/>
          <p:cNvPicPr>
            <a:picLocks noChangeAspect="1"/>
          </p:cNvPicPr>
          <p:nvPr/>
        </p:nvPicPr>
        <p:blipFill>
          <a:blip r:embed="rId4"/>
          <a:stretch>
            <a:fillRect/>
          </a:stretch>
        </p:blipFill>
        <p:spPr>
          <a:xfrm>
            <a:off x="4663440" y="5074920"/>
            <a:ext cx="1188720" cy="1188720"/>
          </a:xfrm>
          <a:prstGeom prst="rect">
            <a:avLst/>
          </a:prstGeom>
        </p:spPr>
      </p:pic>
      <p:pic>
        <p:nvPicPr>
          <p:cNvPr id="10" name="Picture 9" descr="bao.png"/>
          <p:cNvPicPr>
            <a:picLocks noChangeAspect="1"/>
          </p:cNvPicPr>
          <p:nvPr/>
        </p:nvPicPr>
        <p:blipFill>
          <a:blip r:embed="rId5"/>
          <a:stretch>
            <a:fillRect/>
          </a:stretch>
        </p:blipFill>
        <p:spPr>
          <a:xfrm>
            <a:off x="7315200" y="1962054"/>
            <a:ext cx="4389120" cy="3025331"/>
          </a:xfrm>
          <a:prstGeom prst="rect">
            <a:avLst/>
          </a:prstGeom>
        </p:spPr>
      </p:pic>
      <p:sp>
        <p:nvSpPr>
          <p:cNvPr id="11" name="TextBox 10"/>
          <p:cNvSpPr txBox="1"/>
          <p:nvPr/>
        </p:nvSpPr>
        <p:spPr>
          <a:xfrm>
            <a:off x="7315200" y="5504688"/>
            <a:ext cx="4389120" cy="365760"/>
          </a:xfrm>
          <a:prstGeom prst="rect">
            <a:avLst/>
          </a:prstGeom>
          <a:noFill/>
        </p:spPr>
        <p:txBody>
          <a:bodyPr wrap="square" lIns="45720" rIns="45720" anchor="t">
            <a:spAutoFit/>
          </a:bodyPr>
          <a:lstStyle/>
          <a:p>
            <a:pPr algn="ctr">
              <a:spcAft>
                <a:spcPts val="800"/>
              </a:spcAft>
            </a:pPr>
            <a:r>
              <a:rPr sz="1600">
                <a:solidFill>
                  <a:srgbClr val="64748B"/>
                </a:solidFill>
                <a:latin typeface="Calibri"/>
              </a:rPr>
              <a:t>Hình 4.31: vị trí x° vĩ bắc, y° kinh đông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TOẠ ĐỘ CỦA VECTƠ – TRỤC TOẠ ĐỘ</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6</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7863840" cy="1597914"/>
              </a:xfrm>
              <a:prstGeom prst="rect">
                <a:avLst/>
              </a:prstGeom>
              <a:noFill/>
            </p:spPr>
            <p:txBody>
              <a:bodyPr wrap="square" lIns="45720" rIns="45720" anchor="t">
                <a:spAutoFit/>
              </a:bodyPr>
              <a:lstStyle/>
              <a:p>
                <a:pPr algn="l">
                  <a:spcAft>
                    <a:spcPts val="800"/>
                  </a:spcAft>
                </a:pPr>
                <a:r>
                  <a:rPr sz="2100" b="1">
                    <a:solidFill>
                      <a:srgbClr val="1E293B"/>
                    </a:solidFill>
                    <a:latin typeface="Calibri"/>
                  </a:rPr>
                  <a:t>HĐ1.</a:t>
                </a:r>
                <a:r>
                  <a:rPr sz="2100">
                    <a:solidFill>
                      <a:srgbClr val="1E293B"/>
                    </a:solidFill>
                    <a:latin typeface="Calibri"/>
                  </a:rPr>
                  <a:t> Trên trục số </a:t>
                </a:r>
                <a14:m>
                  <m:oMath xmlns:m="http://schemas.openxmlformats.org/officeDocument/2006/math">
                    <m:r>
                      <a:rPr lang="vi-VN" sz="2100" b="0">
                        <a:solidFill>
                          <a:srgbClr val="1E293B"/>
                        </a:solidFill>
                        <a:latin typeface="Cambria Math" panose="02040503050406030204" pitchFamily="18" charset="0"/>
                      </a:rPr>
                      <m:t>𝑂𝑥</m:t>
                    </m:r>
                  </m:oMath>
                </a14:m>
                <a:r>
                  <a:rPr sz="2100">
                    <a:solidFill>
                      <a:srgbClr val="1E293B"/>
                    </a:solidFill>
                    <a:latin typeface="Calibri"/>
                  </a:rPr>
                  <a:t>, gọi </a:t>
                </a:r>
                <a14:m>
                  <m:oMath xmlns:m="http://schemas.openxmlformats.org/officeDocument/2006/math">
                    <m:r>
                      <a:rPr lang="vi-VN" sz="2100" b="0">
                        <a:solidFill>
                          <a:srgbClr val="1E293B"/>
                        </a:solidFill>
                        <a:latin typeface="Cambria Math" panose="02040503050406030204" pitchFamily="18" charset="0"/>
                      </a:rPr>
                      <m:t>𝐴</m:t>
                    </m:r>
                  </m:oMath>
                </a14:m>
                <a:r>
                  <a:rPr sz="2100">
                    <a:solidFill>
                      <a:srgbClr val="1E293B"/>
                    </a:solidFill>
                    <a:latin typeface="Calibri"/>
                  </a:rPr>
                  <a:t> là điểm biểu diễn số 1 và đặt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𝑂𝐴</m:t>
                        </m:r>
                      </m:e>
                    </m:acc>
                  </m:oMath>
                </a14:m>
                <a:r>
                  <a:rPr sz="2100">
                    <a:solidFill>
                      <a:srgbClr val="1E293B"/>
                    </a:solidFill>
                    <a:latin typeface="Calibri"/>
                  </a:rPr>
                  <a:t> =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oMath>
                </a14:m>
                <a:r>
                  <a:rPr sz="2100">
                    <a:solidFill>
                      <a:srgbClr val="1E293B"/>
                    </a:solidFill>
                    <a:latin typeface="Calibri"/>
                  </a:rPr>
                  <a:t> (H.4.32a). Gọi </a:t>
                </a:r>
                <a14:m>
                  <m:oMath xmlns:m="http://schemas.openxmlformats.org/officeDocument/2006/math">
                    <m:r>
                      <a:rPr lang="vi-VN" sz="2100" b="0">
                        <a:solidFill>
                          <a:srgbClr val="1E293B"/>
                        </a:solidFill>
                        <a:latin typeface="Cambria Math" panose="02040503050406030204" pitchFamily="18" charset="0"/>
                      </a:rPr>
                      <m:t>𝑀</m:t>
                    </m:r>
                  </m:oMath>
                </a14:m>
                <a:r>
                  <a:rPr sz="2100">
                    <a:solidFill>
                      <a:srgbClr val="1E293B"/>
                    </a:solidFill>
                    <a:latin typeface="Calibri"/>
                  </a:rPr>
                  <a:t> là điểm biểu diễn số 4, </a:t>
                </a:r>
                <a14:m>
                  <m:oMath xmlns:m="http://schemas.openxmlformats.org/officeDocument/2006/math">
                    <m:r>
                      <a:rPr lang="vi-VN" sz="2100" b="0">
                        <a:solidFill>
                          <a:srgbClr val="1E293B"/>
                        </a:solidFill>
                        <a:latin typeface="Cambria Math" panose="02040503050406030204" pitchFamily="18" charset="0"/>
                      </a:rPr>
                      <m:t>𝑁</m:t>
                    </m:r>
                  </m:oMath>
                </a14:m>
                <a:r>
                  <a:rPr sz="2100">
                    <a:solidFill>
                      <a:srgbClr val="1E293B"/>
                    </a:solidFill>
                    <a:latin typeface="Calibri"/>
                  </a:rPr>
                  <a:t> là điểm biểu diễn số </a:t>
                </a:r>
                <a14:m>
                  <m:oMath xmlns:m="http://schemas.openxmlformats.org/officeDocument/2006/math">
                    <m:r>
                      <a:rPr lang="vi-VN" sz="2100" b="0">
                        <a:solidFill>
                          <a:srgbClr val="1E293B"/>
                        </a:solidFill>
                        <a:latin typeface="Cambria Math" panose="02040503050406030204" pitchFamily="18" charset="0"/>
                      </a:rPr>
                      <m:t>−</m:t>
                    </m:r>
                    <m:f>
                      <m:fPr>
                        <m:ctrlPr>
                          <a:rPr lang="vi-VN" sz="2100" b="0">
                            <a:solidFill>
                              <a:srgbClr val="1E293B"/>
                            </a:solidFill>
                            <a:latin typeface="Cambria Math" panose="02040503050406030204" pitchFamily="18" charset="0"/>
                          </a:rPr>
                        </m:ctrlPr>
                      </m:fPr>
                      <m:num>
                        <m:r>
                          <a:rPr lang="vi-VN" sz="2100" b="0">
                            <a:solidFill>
                              <a:srgbClr val="1E293B"/>
                            </a:solidFill>
                            <a:latin typeface="Cambria Math" panose="02040503050406030204" pitchFamily="18" charset="0"/>
                          </a:rPr>
                          <m:t>3</m:t>
                        </m:r>
                      </m:num>
                      <m:den>
                        <m:r>
                          <a:rPr lang="vi-VN" sz="2100" b="0">
                            <a:solidFill>
                              <a:srgbClr val="1E293B"/>
                            </a:solidFill>
                            <a:latin typeface="Cambria Math" panose="02040503050406030204" pitchFamily="18" charset="0"/>
                          </a:rPr>
                          <m:t>2</m:t>
                        </m:r>
                      </m:den>
                    </m:f>
                  </m:oMath>
                </a14:m>
                <a:r>
                  <a:rPr sz="2100">
                    <a:solidFill>
                      <a:srgbClr val="1E293B"/>
                    </a:solidFill>
                    <a:latin typeface="Calibri"/>
                  </a:rPr>
                  <a:t>. Hãy biểu thị mỗi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𝑂𝑀</m:t>
                        </m:r>
                      </m:e>
                    </m:acc>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𝑂𝑁</m:t>
                        </m:r>
                      </m:e>
                    </m:acc>
                  </m:oMath>
                </a14:m>
                <a:r>
                  <a:rPr sz="2100">
                    <a:solidFill>
                      <a:srgbClr val="1E293B"/>
                    </a:solidFill>
                    <a:latin typeface="Calibri"/>
                  </a:rPr>
                  <a:t> theo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oMath>
                </a14:m>
                <a:r>
                  <a:rPr sz="2100">
                    <a:solidFill>
                      <a:srgbClr val="1E293B"/>
                    </a:solidFill>
                    <a:latin typeface="Calibri"/>
                  </a:rPr>
                  <a:t>.</a:t>
                </a:r>
              </a:p>
            </p:txBody>
          </p:sp>
        </mc:Choice>
        <mc:Fallback xmlns="">
          <p:sp>
            <p:nvSpPr>
              <p:cNvPr id="7" name="TextBox 6"/>
              <p:cNvSpPr txBox="1"/>
              <p:nvPr/>
            </p:nvSpPr>
            <p:spPr>
              <a:xfrm>
                <a:off x="548640" y="1371600"/>
                <a:ext cx="7863840" cy="159791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HĐ1.</a:t>
                </a:r>
                <a:r>
                  <a:rPr sz="2100">
                    <a:solidFill>
                      <a:srgbClr val="1E293B"/>
                    </a:solidFill>
                    <a:latin typeface="Calibri"/>
                  </a:rPr>
                  <a:t> Trên trục số </a:t>
                </a:r>
                <a:r>
                  <a:rPr lang="vi-VN"/>
                  <a:t>Ox</a:t>
                </a:r>
                <a:r>
                  <a:rPr sz="2100">
                    <a:solidFill>
                      <a:srgbClr val="1E293B"/>
                    </a:solidFill>
                    <a:latin typeface="Calibri"/>
                  </a:rPr>
                  <a:t>, gọi </a:t>
                </a:r>
                <a:r>
                  <a:rPr lang="vi-VN"/>
                  <a:t>A</a:t>
                </a:r>
                <a:r>
                  <a:rPr sz="2100">
                    <a:solidFill>
                      <a:srgbClr val="1E293B"/>
                    </a:solidFill>
                    <a:latin typeface="Calibri"/>
                  </a:rPr>
                  <a:t> là điểm biểu diễn số 1 và đặt </a:t>
                </a:r>
                <a:r>
                  <a:rPr lang="vi-VN"/>
                  <a:t>\overrightarrow{OA}</a:t>
                </a:r>
                <a:r>
                  <a:rPr sz="2100">
                    <a:solidFill>
                      <a:srgbClr val="1E293B"/>
                    </a:solidFill>
                    <a:latin typeface="Calibri"/>
                  </a:rPr>
                  <a:t> = </a:t>
                </a:r>
                <a:r>
                  <a:rPr lang="vi-VN"/>
                  <a:t>\vec{i}</a:t>
                </a:r>
                <a:r>
                  <a:rPr sz="2100">
                    <a:solidFill>
                      <a:srgbClr val="1E293B"/>
                    </a:solidFill>
                    <a:latin typeface="Calibri"/>
                  </a:rPr>
                  <a:t> (H.4.32a). Gọi </a:t>
                </a:r>
                <a:r>
                  <a:rPr lang="vi-VN"/>
                  <a:t>M</a:t>
                </a:r>
                <a:r>
                  <a:rPr sz="2100">
                    <a:solidFill>
                      <a:srgbClr val="1E293B"/>
                    </a:solidFill>
                    <a:latin typeface="Calibri"/>
                  </a:rPr>
                  <a:t> là điểm biểu diễn số 4, </a:t>
                </a:r>
                <a:r>
                  <a:rPr lang="vi-VN"/>
                  <a:t>N</a:t>
                </a:r>
                <a:r>
                  <a:rPr sz="2100">
                    <a:solidFill>
                      <a:srgbClr val="1E293B"/>
                    </a:solidFill>
                    <a:latin typeface="Calibri"/>
                  </a:rPr>
                  <a:t> là điểm biểu diễn số </a:t>
                </a:r>
                <a:r>
                  <a:rPr lang="vi-VN"/>
                  <a:t>-\frac{3}{2}</a:t>
                </a:r>
                <a:r>
                  <a:rPr sz="2100">
                    <a:solidFill>
                      <a:srgbClr val="1E293B"/>
                    </a:solidFill>
                    <a:latin typeface="Calibri"/>
                  </a:rPr>
                  <a:t>. Hãy biểu thị mỗi vectơ </a:t>
                </a:r>
                <a:r>
                  <a:rPr lang="vi-VN"/>
                  <a:t>\overrightarrow{OM}</a:t>
                </a:r>
                <a:r>
                  <a:rPr sz="2100">
                    <a:solidFill>
                      <a:srgbClr val="1E293B"/>
                    </a:solidFill>
                    <a:latin typeface="Calibri"/>
                  </a:rPr>
                  <a:t>, </a:t>
                </a:r>
                <a:r>
                  <a:rPr lang="vi-VN"/>
                  <a:t>\overrightarrow{ON}</a:t>
                </a:r>
                <a:r>
                  <a:rPr sz="2100">
                    <a:solidFill>
                      <a:srgbClr val="1E293B"/>
                    </a:solidFill>
                    <a:latin typeface="Calibri"/>
                  </a:rPr>
                  <a:t> theo vectơ </a:t>
                </a:r>
                <a:r>
                  <a:rPr lang="vi-VN"/>
                  <a:t>\vec{i}</a:t>
                </a:r>
                <a:r>
                  <a:rPr sz="2100">
                    <a:solidFill>
                      <a:srgbClr val="1E293B"/>
                    </a:solidFill>
                    <a:latin typeface="Calibri"/>
                  </a:rPr>
                  <a:t>.</a:t>
                </a:r>
              </a:p>
            </p:txBody>
          </p:sp>
        </mc:Fallback>
      </mc:AlternateContent>
      <p:sp>
        <p:nvSpPr>
          <p:cNvPr id="8" name="s1_nen"/>
          <p:cNvSpPr/>
          <p:nvPr/>
        </p:nvSpPr>
        <p:spPr>
          <a:xfrm>
            <a:off x="548640" y="3079242"/>
            <a:ext cx="7863840" cy="72923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115818"/>
                <a:ext cx="7534656" cy="656081"/>
              </a:xfrm>
              <a:prstGeom prst="rect">
                <a:avLst/>
              </a:prstGeom>
              <a:noFill/>
            </p:spPr>
            <p:txBody>
              <a:bodyPr wrap="square" lIns="45720" rIns="45720" anchor="ctr">
                <a:spAutoFit/>
              </a:bodyPr>
              <a:lstStyle/>
              <a:p>
                <a:pPr algn="l">
                  <a:spcAft>
                    <a:spcPts val="800"/>
                  </a:spcAft>
                </a:pPr>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𝑂𝑀</m:t>
                        </m:r>
                      </m:e>
                    </m:acc>
                  </m:oMath>
                </a14:m>
                <a:r>
                  <a:rPr sz="2100">
                    <a:solidFill>
                      <a:srgbClr val="1E293B"/>
                    </a:solidFill>
                    <a:latin typeface="Calibri"/>
                  </a:rPr>
                  <a:t> = </a:t>
                </a:r>
                <a14:m>
                  <m:oMath xmlns:m="http://schemas.openxmlformats.org/officeDocument/2006/math">
                    <m:r>
                      <a:rPr lang="vi-VN" sz="2100" b="0">
                        <a:solidFill>
                          <a:srgbClr val="1E293B"/>
                        </a:solidFill>
                        <a:latin typeface="Cambria Math" panose="02040503050406030204" pitchFamily="18" charset="0"/>
                      </a:rPr>
                      <m:t>4</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𝑂𝑁</m:t>
                        </m:r>
                      </m:e>
                    </m:acc>
                  </m:oMath>
                </a14:m>
                <a:r>
                  <a:rPr sz="2100">
                    <a:solidFill>
                      <a:srgbClr val="1E293B"/>
                    </a:solidFill>
                    <a:latin typeface="Calibri"/>
                  </a:rPr>
                  <a:t> = </a:t>
                </a:r>
                <a14:m>
                  <m:oMath xmlns:m="http://schemas.openxmlformats.org/officeDocument/2006/math">
                    <m:r>
                      <a:rPr lang="vi-VN" sz="2100" b="0">
                        <a:solidFill>
                          <a:srgbClr val="1E293B"/>
                        </a:solidFill>
                        <a:latin typeface="Cambria Math" panose="02040503050406030204" pitchFamily="18" charset="0"/>
                      </a:rPr>
                      <m:t>−</m:t>
                    </m:r>
                    <m:f>
                      <m:fPr>
                        <m:ctrlPr>
                          <a:rPr lang="vi-VN" sz="2100" b="0">
                            <a:solidFill>
                              <a:srgbClr val="1E293B"/>
                            </a:solidFill>
                            <a:latin typeface="Cambria Math" panose="02040503050406030204" pitchFamily="18" charset="0"/>
                          </a:rPr>
                        </m:ctrlPr>
                      </m:fPr>
                      <m:num>
                        <m:r>
                          <a:rPr lang="vi-VN" sz="2100" b="0">
                            <a:solidFill>
                              <a:srgbClr val="1E293B"/>
                            </a:solidFill>
                            <a:latin typeface="Cambria Math" panose="02040503050406030204" pitchFamily="18" charset="0"/>
                          </a:rPr>
                          <m:t>3</m:t>
                        </m:r>
                      </m:num>
                      <m:den>
                        <m:r>
                          <a:rPr lang="vi-VN" sz="2100" b="0">
                            <a:solidFill>
                              <a:srgbClr val="1E293B"/>
                            </a:solidFill>
                            <a:latin typeface="Cambria Math" panose="02040503050406030204" pitchFamily="18" charset="0"/>
                          </a:rPr>
                          <m:t>2</m:t>
                        </m:r>
                      </m:den>
                    </m:f>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oMath>
                </a14:m>
                <a:r>
                  <a:rPr sz="2100">
                    <a:solidFill>
                      <a:srgbClr val="1E293B"/>
                    </a:solidFill>
                    <a:latin typeface="Calibri"/>
                  </a:rPr>
                  <a:t>.</a:t>
                </a:r>
              </a:p>
            </p:txBody>
          </p:sp>
        </mc:Choice>
        <mc:Fallback xmlns="">
          <p:sp>
            <p:nvSpPr>
              <p:cNvPr id="9" name="TextBox 8"/>
              <p:cNvSpPr txBox="1"/>
              <p:nvPr/>
            </p:nvSpPr>
            <p:spPr>
              <a:xfrm>
                <a:off x="713232" y="3115818"/>
                <a:ext cx="753465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\overrightarrow{OM}</a:t>
                </a:r>
                <a:r>
                  <a:rPr sz="2100">
                    <a:solidFill>
                      <a:srgbClr val="1E293B"/>
                    </a:solidFill>
                    <a:latin typeface="Calibri"/>
                  </a:rPr>
                  <a:t> = </a:t>
                </a:r>
                <a:r>
                  <a:rPr lang="vi-VN"/>
                  <a:t>4\vec{i}</a:t>
                </a:r>
                <a:r>
                  <a:rPr sz="2100">
                    <a:solidFill>
                      <a:srgbClr val="1E293B"/>
                    </a:solidFill>
                    <a:latin typeface="Calibri"/>
                  </a:rPr>
                  <a:t>, </a:t>
                </a:r>
                <a:r>
                  <a:rPr lang="vi-VN"/>
                  <a:t>\overrightarrow{ON}</a:t>
                </a:r>
                <a:r>
                  <a:rPr sz="2100">
                    <a:solidFill>
                      <a:srgbClr val="1E293B"/>
                    </a:solidFill>
                    <a:latin typeface="Calibri"/>
                  </a:rPr>
                  <a:t> = </a:t>
                </a:r>
                <a:r>
                  <a:rPr lang="vi-VN"/>
                  <a:t>-\frac{3}{2}\vec{i}</a:t>
                </a:r>
                <a:r>
                  <a:rPr sz="2100">
                    <a:solidFill>
                      <a:srgbClr val="1E293B"/>
                    </a:solidFill>
                    <a:latin typeface="Calibri"/>
                  </a:rPr>
                  <a:t>.</a:t>
                </a:r>
              </a:p>
            </p:txBody>
          </p:sp>
        </mc:Fallback>
      </mc:AlternateContent>
      <p:sp>
        <p:nvSpPr>
          <p:cNvPr id="10" name="s2_nen"/>
          <p:cNvSpPr/>
          <p:nvPr/>
        </p:nvSpPr>
        <p:spPr>
          <a:xfrm>
            <a:off x="548640" y="3918204"/>
            <a:ext cx="7863840" cy="186537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954780"/>
                <a:ext cx="7534656" cy="1792224"/>
              </a:xfrm>
              <a:prstGeom prst="rect">
                <a:avLst/>
              </a:prstGeom>
              <a:noFill/>
            </p:spPr>
            <p:txBody>
              <a:bodyPr wrap="square" lIns="45720" rIns="45720" anchor="ctr">
                <a:spAutoFit/>
              </a:bodyPr>
              <a:lstStyle/>
              <a:p>
                <a:pPr algn="l">
                  <a:spcAft>
                    <a:spcPts val="800"/>
                  </a:spcAft>
                </a:pPr>
                <a:r>
                  <a:rPr sz="2100" b="1">
                    <a:solidFill>
                      <a:srgbClr val="1E293B"/>
                    </a:solidFill>
                    <a:latin typeface="Calibri"/>
                  </a:rPr>
                  <a:t>Trục toạ độ</a:t>
                </a:r>
                <a:r>
                  <a:rPr sz="2100">
                    <a:solidFill>
                      <a:srgbClr val="1E293B"/>
                    </a:solidFill>
                    <a:latin typeface="Calibri"/>
                  </a:rPr>
                  <a:t> (còn gọi là </a:t>
                </a:r>
                <a:r>
                  <a:rPr sz="2100" b="1">
                    <a:solidFill>
                      <a:srgbClr val="1E293B"/>
                    </a:solidFill>
                    <a:latin typeface="Calibri"/>
                  </a:rPr>
                  <a:t>trục</a:t>
                </a:r>
                <a:r>
                  <a:rPr sz="2100">
                    <a:solidFill>
                      <a:srgbClr val="1E293B"/>
                    </a:solidFill>
                    <a:latin typeface="Calibri"/>
                  </a:rPr>
                  <a:t>, hay </a:t>
                </a:r>
                <a:r>
                  <a:rPr sz="2100" b="1">
                    <a:solidFill>
                      <a:srgbClr val="1E293B"/>
                    </a:solidFill>
                    <a:latin typeface="Calibri"/>
                  </a:rPr>
                  <a:t>trục số</a:t>
                </a:r>
                <a:r>
                  <a:rPr sz="2100">
                    <a:solidFill>
                      <a:srgbClr val="1E293B"/>
                    </a:solidFill>
                    <a:latin typeface="Calibri"/>
                  </a:rPr>
                  <a:t>) là một đường thẳng mà trên đó đã xác định một điểm </a:t>
                </a:r>
                <a14:m>
                  <m:oMath xmlns:m="http://schemas.openxmlformats.org/officeDocument/2006/math">
                    <m:r>
                      <a:rPr lang="vi-VN" sz="2100" b="0">
                        <a:solidFill>
                          <a:srgbClr val="1E293B"/>
                        </a:solidFill>
                        <a:latin typeface="Cambria Math" panose="02040503050406030204" pitchFamily="18" charset="0"/>
                      </a:rPr>
                      <m:t>𝑂</m:t>
                    </m:r>
                  </m:oMath>
                </a14:m>
                <a:r>
                  <a:rPr sz="2100">
                    <a:solidFill>
                      <a:srgbClr val="1E293B"/>
                    </a:solidFill>
                    <a:latin typeface="Calibri"/>
                  </a:rPr>
                  <a:t> và một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oMath>
                </a14:m>
                <a:r>
                  <a:rPr sz="2100">
                    <a:solidFill>
                      <a:srgbClr val="1E293B"/>
                    </a:solidFill>
                    <a:latin typeface="Calibri"/>
                  </a:rPr>
                  <a:t> có độ dài bằng 1. Điểm </a:t>
                </a:r>
                <a14:m>
                  <m:oMath xmlns:m="http://schemas.openxmlformats.org/officeDocument/2006/math">
                    <m:r>
                      <a:rPr lang="vi-VN" sz="2100" b="0">
                        <a:solidFill>
                          <a:srgbClr val="1E293B"/>
                        </a:solidFill>
                        <a:latin typeface="Cambria Math" panose="02040503050406030204" pitchFamily="18" charset="0"/>
                      </a:rPr>
                      <m:t>𝑂</m:t>
                    </m:r>
                  </m:oMath>
                </a14:m>
                <a:r>
                  <a:rPr sz="2100">
                    <a:solidFill>
                      <a:srgbClr val="1E293B"/>
                    </a:solidFill>
                    <a:latin typeface="Calibri"/>
                  </a:rPr>
                  <a:t> gọi là </a:t>
                </a:r>
                <a:r>
                  <a:rPr sz="2100" b="1">
                    <a:solidFill>
                      <a:srgbClr val="1E293B"/>
                    </a:solidFill>
                    <a:latin typeface="Calibri"/>
                  </a:rPr>
                  <a:t>gốc toạ độ</a:t>
                </a:r>
                <a:r>
                  <a:rPr sz="2100">
                    <a:solidFill>
                      <a:srgbClr val="1E293B"/>
                    </a:solidFill>
                    <a:latin typeface="Calibri"/>
                  </a:rPr>
                  <a:t>,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oMath>
                </a14:m>
                <a:r>
                  <a:rPr sz="2100">
                    <a:solidFill>
                      <a:srgbClr val="1E293B"/>
                    </a:solidFill>
                    <a:latin typeface="Calibri"/>
                  </a:rPr>
                  <a:t> gọi là </a:t>
                </a:r>
                <a:r>
                  <a:rPr sz="2100" b="1">
                    <a:solidFill>
                      <a:srgbClr val="1E293B"/>
                    </a:solidFill>
                    <a:latin typeface="Calibri"/>
                  </a:rPr>
                  <a:t>vectơ đơn vị</a:t>
                </a:r>
                <a:r>
                  <a:rPr sz="2100">
                    <a:solidFill>
                      <a:srgbClr val="1E293B"/>
                    </a:solidFill>
                    <a:latin typeface="Calibri"/>
                  </a:rPr>
                  <a:t> của trục. Điểm </a:t>
                </a:r>
                <a14:m>
                  <m:oMath xmlns:m="http://schemas.openxmlformats.org/officeDocument/2006/math">
                    <m:r>
                      <a:rPr lang="vi-VN" sz="2100" b="0">
                        <a:solidFill>
                          <a:srgbClr val="1E293B"/>
                        </a:solidFill>
                        <a:latin typeface="Cambria Math" panose="02040503050406030204" pitchFamily="18" charset="0"/>
                      </a:rPr>
                      <m:t>𝑀</m:t>
                    </m:r>
                  </m:oMath>
                </a14:m>
                <a:r>
                  <a:rPr sz="2100">
                    <a:solidFill>
                      <a:srgbClr val="1E293B"/>
                    </a:solidFill>
                    <a:latin typeface="Calibri"/>
                  </a:rPr>
                  <a:t> trên trục biểu diễn số </a:t>
                </a:r>
                <a14:m>
                  <m:oMath xmlns:m="http://schemas.openxmlformats.org/officeDocument/2006/math">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𝑥</m:t>
                        </m:r>
                      </m:e>
                      <m:sub>
                        <m:r>
                          <a:rPr lang="vi-VN" sz="2100" b="0">
                            <a:solidFill>
                              <a:srgbClr val="1E293B"/>
                            </a:solidFill>
                            <a:latin typeface="Cambria Math" panose="02040503050406030204" pitchFamily="18" charset="0"/>
                          </a:rPr>
                          <m:t>0</m:t>
                        </m:r>
                      </m:sub>
                    </m:sSub>
                  </m:oMath>
                </a14:m>
                <a:r>
                  <a:rPr sz="2100">
                    <a:solidFill>
                      <a:srgbClr val="1E293B"/>
                    </a:solidFill>
                    <a:latin typeface="Calibri"/>
                  </a:rPr>
                  <a:t> nếu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𝑂𝑀</m:t>
                        </m:r>
                      </m:e>
                    </m:acc>
                  </m:oMath>
                </a14:m>
                <a:r>
                  <a:rPr sz="2100">
                    <a:solidFill>
                      <a:srgbClr val="1E293B"/>
                    </a:solidFill>
                    <a:latin typeface="Calibri"/>
                  </a:rPr>
                  <a:t> = </a:t>
                </a:r>
                <a14:m>
                  <m:oMath xmlns:m="http://schemas.openxmlformats.org/officeDocument/2006/math">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𝑥</m:t>
                        </m:r>
                      </m:e>
                      <m:sub>
                        <m:r>
                          <a:rPr lang="vi-VN" sz="2100" b="0">
                            <a:solidFill>
                              <a:srgbClr val="1E293B"/>
                            </a:solidFill>
                            <a:latin typeface="Cambria Math" panose="02040503050406030204" pitchFamily="18" charset="0"/>
                          </a:rPr>
                          <m:t>0</m:t>
                        </m:r>
                      </m:sub>
                    </m:sSub>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oMath>
                </a14:m>
                <a:r>
                  <a:rPr sz="2100">
                    <a:solidFill>
                      <a:srgbClr val="1E293B"/>
                    </a:solidFill>
                    <a:latin typeface="Calibri"/>
                  </a:rPr>
                  <a:t> (H.4.32b).</a:t>
                </a:r>
              </a:p>
            </p:txBody>
          </p:sp>
        </mc:Choice>
        <mc:Fallback xmlns="">
          <p:sp>
            <p:nvSpPr>
              <p:cNvPr id="11" name="TextBox 10"/>
              <p:cNvSpPr txBox="1"/>
              <p:nvPr/>
            </p:nvSpPr>
            <p:spPr>
              <a:xfrm>
                <a:off x="713232" y="3954780"/>
                <a:ext cx="7534656" cy="1792224"/>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Trục toạ độ</a:t>
                </a:r>
                <a:r>
                  <a:rPr sz="2100">
                    <a:solidFill>
                      <a:srgbClr val="1E293B"/>
                    </a:solidFill>
                    <a:latin typeface="Calibri"/>
                  </a:rPr>
                  <a:t> (còn gọi là </a:t>
                </a:r>
                <a:r>
                  <a:rPr sz="2100" b="1">
                    <a:solidFill>
                      <a:srgbClr val="1E293B"/>
                    </a:solidFill>
                    <a:latin typeface="Calibri"/>
                  </a:rPr>
                  <a:t>trục</a:t>
                </a:r>
                <a:r>
                  <a:rPr sz="2100">
                    <a:solidFill>
                      <a:srgbClr val="1E293B"/>
                    </a:solidFill>
                    <a:latin typeface="Calibri"/>
                  </a:rPr>
                  <a:t>, hay </a:t>
                </a:r>
                <a:r>
                  <a:rPr sz="2100" b="1">
                    <a:solidFill>
                      <a:srgbClr val="1E293B"/>
                    </a:solidFill>
                    <a:latin typeface="Calibri"/>
                  </a:rPr>
                  <a:t>trục số</a:t>
                </a:r>
                <a:r>
                  <a:rPr sz="2100">
                    <a:solidFill>
                      <a:srgbClr val="1E293B"/>
                    </a:solidFill>
                    <a:latin typeface="Calibri"/>
                  </a:rPr>
                  <a:t>) là một đường thẳng mà trên đó đã xác định một điểm </a:t>
                </a:r>
                <a:r>
                  <a:rPr lang="vi-VN"/>
                  <a:t>O</a:t>
                </a:r>
                <a:r>
                  <a:rPr sz="2100">
                    <a:solidFill>
                      <a:srgbClr val="1E293B"/>
                    </a:solidFill>
                    <a:latin typeface="Calibri"/>
                  </a:rPr>
                  <a:t> và một vectơ </a:t>
                </a:r>
                <a:r>
                  <a:rPr lang="vi-VN"/>
                  <a:t>\vec{i}</a:t>
                </a:r>
                <a:r>
                  <a:rPr sz="2100">
                    <a:solidFill>
                      <a:srgbClr val="1E293B"/>
                    </a:solidFill>
                    <a:latin typeface="Calibri"/>
                  </a:rPr>
                  <a:t> có độ dài bằng 1. Điểm </a:t>
                </a:r>
                <a:r>
                  <a:rPr lang="vi-VN"/>
                  <a:t>O</a:t>
                </a:r>
                <a:r>
                  <a:rPr sz="2100">
                    <a:solidFill>
                      <a:srgbClr val="1E293B"/>
                    </a:solidFill>
                    <a:latin typeface="Calibri"/>
                  </a:rPr>
                  <a:t> gọi là </a:t>
                </a:r>
                <a:r>
                  <a:rPr sz="2100" b="1">
                    <a:solidFill>
                      <a:srgbClr val="1E293B"/>
                    </a:solidFill>
                    <a:latin typeface="Calibri"/>
                  </a:rPr>
                  <a:t>gốc toạ độ</a:t>
                </a:r>
                <a:r>
                  <a:rPr sz="2100">
                    <a:solidFill>
                      <a:srgbClr val="1E293B"/>
                    </a:solidFill>
                    <a:latin typeface="Calibri"/>
                  </a:rPr>
                  <a:t>, vectơ </a:t>
                </a:r>
                <a:r>
                  <a:rPr lang="vi-VN"/>
                  <a:t>\vec{i}</a:t>
                </a:r>
                <a:r>
                  <a:rPr sz="2100">
                    <a:solidFill>
                      <a:srgbClr val="1E293B"/>
                    </a:solidFill>
                    <a:latin typeface="Calibri"/>
                  </a:rPr>
                  <a:t> gọi là </a:t>
                </a:r>
                <a:r>
                  <a:rPr sz="2100" b="1">
                    <a:solidFill>
                      <a:srgbClr val="1E293B"/>
                    </a:solidFill>
                    <a:latin typeface="Calibri"/>
                  </a:rPr>
                  <a:t>vectơ đơn vị</a:t>
                </a:r>
                <a:r>
                  <a:rPr sz="2100">
                    <a:solidFill>
                      <a:srgbClr val="1E293B"/>
                    </a:solidFill>
                    <a:latin typeface="Calibri"/>
                  </a:rPr>
                  <a:t> của trục. Điểm </a:t>
                </a:r>
                <a:r>
                  <a:rPr lang="vi-VN"/>
                  <a:t>M</a:t>
                </a:r>
                <a:r>
                  <a:rPr sz="2100">
                    <a:solidFill>
                      <a:srgbClr val="1E293B"/>
                    </a:solidFill>
                    <a:latin typeface="Calibri"/>
                  </a:rPr>
                  <a:t> trên trục biểu diễn số </a:t>
                </a:r>
                <a:r>
                  <a:rPr lang="vi-VN"/>
                  <a:t>x_0</a:t>
                </a:r>
                <a:r>
                  <a:rPr sz="2100">
                    <a:solidFill>
                      <a:srgbClr val="1E293B"/>
                    </a:solidFill>
                    <a:latin typeface="Calibri"/>
                  </a:rPr>
                  <a:t> nếu </a:t>
                </a:r>
                <a:r>
                  <a:rPr lang="vi-VN"/>
                  <a:t>\overrightarrow{OM}</a:t>
                </a:r>
                <a:r>
                  <a:rPr sz="2100">
                    <a:solidFill>
                      <a:srgbClr val="1E293B"/>
                    </a:solidFill>
                    <a:latin typeface="Calibri"/>
                  </a:rPr>
                  <a:t> = </a:t>
                </a:r>
                <a:r>
                  <a:rPr lang="vi-VN"/>
                  <a:t>x_0\vec{i}</a:t>
                </a:r>
                <a:r>
                  <a:rPr sz="2100">
                    <a:solidFill>
                      <a:srgbClr val="1E293B"/>
                    </a:solidFill>
                    <a:latin typeface="Calibri"/>
                  </a:rPr>
                  <a:t> (H.4.32b).</a:t>
                </a:r>
              </a:p>
            </p:txBody>
          </p:sp>
        </mc:Fallback>
      </mc:AlternateContent>
      <p:pic>
        <p:nvPicPr>
          <p:cNvPr id="12" name="Picture 11" descr="h432.png"/>
          <p:cNvPicPr>
            <a:picLocks noChangeAspect="1"/>
          </p:cNvPicPr>
          <p:nvPr/>
        </p:nvPicPr>
        <p:blipFill>
          <a:blip r:embed="rId3"/>
          <a:stretch>
            <a:fillRect/>
          </a:stretch>
        </p:blipFill>
        <p:spPr>
          <a:xfrm>
            <a:off x="8618919" y="1463040"/>
            <a:ext cx="3061842" cy="2194560"/>
          </a:xfrm>
          <a:prstGeom prst="rect">
            <a:avLst/>
          </a:prstGeom>
        </p:spPr>
      </p:pic>
      <p:sp>
        <p:nvSpPr>
          <p:cNvPr id="13" name="TextBox 12"/>
          <p:cNvSpPr txBox="1"/>
          <p:nvPr/>
        </p:nvSpPr>
        <p:spPr>
          <a:xfrm>
            <a:off x="8595360" y="3675887"/>
            <a:ext cx="3108960" cy="365760"/>
          </a:xfrm>
          <a:prstGeom prst="rect">
            <a:avLst/>
          </a:prstGeom>
          <a:noFill/>
        </p:spPr>
        <p:txBody>
          <a:bodyPr wrap="square" lIns="45720" rIns="45720" anchor="t">
            <a:spAutoFit/>
          </a:bodyPr>
          <a:lstStyle/>
          <a:p>
            <a:pPr algn="ctr">
              <a:spcAft>
                <a:spcPts val="800"/>
              </a:spcAft>
            </a:pPr>
            <a:r>
              <a:rPr sz="1600">
                <a:solidFill>
                  <a:srgbClr val="64748B"/>
                </a:solidFill>
                <a:latin typeface="Calibri"/>
              </a:rPr>
              <a:t>Hình 4.32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HỆ TRỤC TOẠ ĐỘ OXY</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7</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7863840" cy="1453896"/>
              </a:xfrm>
              <a:prstGeom prst="rect">
                <a:avLst/>
              </a:prstGeom>
              <a:noFill/>
            </p:spPr>
            <p:txBody>
              <a:bodyPr wrap="square" lIns="45720" rIns="45720" anchor="t">
                <a:spAutoFit/>
              </a:bodyPr>
              <a:lstStyle/>
              <a:p>
                <a:pPr algn="l">
                  <a:spcAft>
                    <a:spcPts val="800"/>
                  </a:spcAft>
                </a:pPr>
                <a:r>
                  <a:rPr sz="2100" b="1">
                    <a:solidFill>
                      <a:srgbClr val="1E293B"/>
                    </a:solidFill>
                    <a:latin typeface="Calibri"/>
                  </a:rPr>
                  <a:t>HĐ2.</a:t>
                </a:r>
                <a:r>
                  <a:rPr sz="2100">
                    <a:solidFill>
                      <a:srgbClr val="1E293B"/>
                    </a:solidFill>
                    <a:latin typeface="Calibri"/>
                  </a:rPr>
                  <a:t> Trong Hình 4.33: a) Hãy biểu thị mỗi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𝑂𝑀</m:t>
                        </m:r>
                      </m:e>
                    </m:acc>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𝑂𝑁</m:t>
                        </m:r>
                      </m:e>
                    </m:acc>
                  </m:oMath>
                </a14:m>
                <a:r>
                  <a:rPr sz="2100">
                    <a:solidFill>
                      <a:srgbClr val="1E293B"/>
                    </a:solidFill>
                    <a:latin typeface="Calibri"/>
                  </a:rPr>
                  <a:t> theo các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r>
                      <a:rPr lang="vi-VN" sz="2100" b="0">
                        <a:solidFill>
                          <a:srgbClr val="1E293B"/>
                        </a:solidFill>
                        <a:latin typeface="Cambria Math" panose="02040503050406030204" pitchFamily="18" charset="0"/>
                      </a:rPr>
                      <m:t>, </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𝑗</m:t>
                        </m:r>
                      </m:e>
                    </m:acc>
                  </m:oMath>
                </a14:m>
                <a:r>
                  <a:rPr sz="2100">
                    <a:solidFill>
                      <a:srgbClr val="1E293B"/>
                    </a:solidFill>
                    <a:latin typeface="Calibri"/>
                  </a:rPr>
                  <a:t>. b) Hãy biểu thị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𝑀𝑁</m:t>
                        </m:r>
                      </m:e>
                    </m:acc>
                  </m:oMath>
                </a14:m>
                <a:r>
                  <a:rPr sz="2100">
                    <a:solidFill>
                      <a:srgbClr val="1E293B"/>
                    </a:solidFill>
                    <a:latin typeface="Calibri"/>
                  </a:rPr>
                  <a:t> theo các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𝑂𝑀</m:t>
                        </m:r>
                      </m:e>
                    </m:acc>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𝑂𝑁</m:t>
                        </m:r>
                      </m:e>
                    </m:acc>
                  </m:oMath>
                </a14:m>
                <a:r>
                  <a:rPr sz="2100">
                    <a:solidFill>
                      <a:srgbClr val="1E293B"/>
                    </a:solidFill>
                    <a:latin typeface="Calibri"/>
                  </a:rPr>
                  <a:t>, từ đó biểu thị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𝑀𝑁</m:t>
                        </m:r>
                      </m:e>
                    </m:acc>
                  </m:oMath>
                </a14:m>
                <a:r>
                  <a:rPr sz="2100">
                    <a:solidFill>
                      <a:srgbClr val="1E293B"/>
                    </a:solidFill>
                    <a:latin typeface="Calibri"/>
                  </a:rPr>
                  <a:t> theo các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r>
                      <a:rPr lang="vi-VN" sz="2100" b="0">
                        <a:solidFill>
                          <a:srgbClr val="1E293B"/>
                        </a:solidFill>
                        <a:latin typeface="Cambria Math" panose="02040503050406030204" pitchFamily="18" charset="0"/>
                      </a:rPr>
                      <m:t>, </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𝑗</m:t>
                        </m:r>
                      </m:e>
                    </m:acc>
                  </m:oMath>
                </a14:m>
                <a:r>
                  <a:rPr sz="2100">
                    <a:solidFill>
                      <a:srgbClr val="1E293B"/>
                    </a:solidFill>
                    <a:latin typeface="Calibri"/>
                  </a:rPr>
                  <a:t>.</a:t>
                </a:r>
              </a:p>
            </p:txBody>
          </p:sp>
        </mc:Choice>
        <mc:Fallback xmlns="">
          <p:sp>
            <p:nvSpPr>
              <p:cNvPr id="7" name="TextBox 6"/>
              <p:cNvSpPr txBox="1"/>
              <p:nvPr/>
            </p:nvSpPr>
            <p:spPr>
              <a:xfrm>
                <a:off x="548640" y="1371600"/>
                <a:ext cx="7863840" cy="145389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HĐ2.</a:t>
                </a:r>
                <a:r>
                  <a:rPr sz="2100">
                    <a:solidFill>
                      <a:srgbClr val="1E293B"/>
                    </a:solidFill>
                    <a:latin typeface="Calibri"/>
                  </a:rPr>
                  <a:t> Trong Hình 4.33: a) Hãy biểu thị mỗi vectơ </a:t>
                </a:r>
                <a:r>
                  <a:rPr lang="vi-VN"/>
                  <a:t>\overrightarrow{OM}</a:t>
                </a:r>
                <a:r>
                  <a:rPr sz="2100">
                    <a:solidFill>
                      <a:srgbClr val="1E293B"/>
                    </a:solidFill>
                    <a:latin typeface="Calibri"/>
                  </a:rPr>
                  <a:t>, </a:t>
                </a:r>
                <a:r>
                  <a:rPr lang="vi-VN"/>
                  <a:t>\overrightarrow{ON}</a:t>
                </a:r>
                <a:r>
                  <a:rPr sz="2100">
                    <a:solidFill>
                      <a:srgbClr val="1E293B"/>
                    </a:solidFill>
                    <a:latin typeface="Calibri"/>
                  </a:rPr>
                  <a:t> theo các vectơ </a:t>
                </a:r>
                <a:r>
                  <a:rPr lang="vi-VN"/>
                  <a:t>\vec{i},\ \vec{j}</a:t>
                </a:r>
                <a:r>
                  <a:rPr sz="2100">
                    <a:solidFill>
                      <a:srgbClr val="1E293B"/>
                    </a:solidFill>
                    <a:latin typeface="Calibri"/>
                  </a:rPr>
                  <a:t>. b) Hãy biểu thị vectơ </a:t>
                </a:r>
                <a:r>
                  <a:rPr lang="vi-VN"/>
                  <a:t>\overrightarrow{MN}</a:t>
                </a:r>
                <a:r>
                  <a:rPr sz="2100">
                    <a:solidFill>
                      <a:srgbClr val="1E293B"/>
                    </a:solidFill>
                    <a:latin typeface="Calibri"/>
                  </a:rPr>
                  <a:t> theo các vectơ </a:t>
                </a:r>
                <a:r>
                  <a:rPr lang="vi-VN"/>
                  <a:t>\overrightarrow{OM}</a:t>
                </a:r>
                <a:r>
                  <a:rPr sz="2100">
                    <a:solidFill>
                      <a:srgbClr val="1E293B"/>
                    </a:solidFill>
                    <a:latin typeface="Calibri"/>
                  </a:rPr>
                  <a:t>, </a:t>
                </a:r>
                <a:r>
                  <a:rPr lang="vi-VN"/>
                  <a:t>\overrightarrow{ON}</a:t>
                </a:r>
                <a:r>
                  <a:rPr sz="2100">
                    <a:solidFill>
                      <a:srgbClr val="1E293B"/>
                    </a:solidFill>
                    <a:latin typeface="Calibri"/>
                  </a:rPr>
                  <a:t>, từ đó biểu thị vectơ </a:t>
                </a:r>
                <a:r>
                  <a:rPr lang="vi-VN"/>
                  <a:t>\overrightarrow{MN}</a:t>
                </a:r>
                <a:r>
                  <a:rPr sz="2100">
                    <a:solidFill>
                      <a:srgbClr val="1E293B"/>
                    </a:solidFill>
                    <a:latin typeface="Calibri"/>
                  </a:rPr>
                  <a:t> theo các vectơ </a:t>
                </a:r>
                <a:r>
                  <a:rPr lang="vi-VN"/>
                  <a:t>\vec{i},\ \vec{j}</a:t>
                </a:r>
                <a:r>
                  <a:rPr sz="2100">
                    <a:solidFill>
                      <a:srgbClr val="1E293B"/>
                    </a:solidFill>
                    <a:latin typeface="Calibri"/>
                  </a:rPr>
                  <a:t>.</a:t>
                </a:r>
              </a:p>
            </p:txBody>
          </p:sp>
        </mc:Fallback>
      </mc:AlternateContent>
      <p:sp>
        <p:nvSpPr>
          <p:cNvPr id="8" name="s1_nen"/>
          <p:cNvSpPr/>
          <p:nvPr/>
        </p:nvSpPr>
        <p:spPr>
          <a:xfrm>
            <a:off x="548640" y="2916936"/>
            <a:ext cx="7863840" cy="72923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953512"/>
                <a:ext cx="7534656" cy="656081"/>
              </a:xfrm>
              <a:prstGeom prst="rect">
                <a:avLst/>
              </a:prstGeom>
              <a:noFill/>
            </p:spPr>
            <p:txBody>
              <a:bodyPr wrap="square" lIns="45720" rIns="45720" anchor="ctr">
                <a:spAutoFit/>
              </a:bodyPr>
              <a:lstStyle/>
              <a:p>
                <a:pPr algn="l">
                  <a:spcAft>
                    <a:spcPts val="800"/>
                  </a:spcAft>
                </a:pPr>
                <a:r>
                  <a:rPr sz="2100">
                    <a:solidFill>
                      <a:srgbClr val="1E293B"/>
                    </a:solidFill>
                    <a:latin typeface="Calibri"/>
                  </a:rPr>
                  <a:t>a)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𝑂𝑀</m:t>
                        </m:r>
                      </m:e>
                    </m:acc>
                  </m:oMath>
                </a14:m>
                <a:r>
                  <a:rPr sz="2100">
                    <a:solidFill>
                      <a:srgbClr val="1E293B"/>
                    </a:solidFill>
                    <a:latin typeface="Calibri"/>
                  </a:rPr>
                  <a:t> = </a:t>
                </a:r>
                <a14:m>
                  <m:oMath xmlns:m="http://schemas.openxmlformats.org/officeDocument/2006/math">
                    <m:r>
                      <a:rPr lang="vi-VN" sz="2100" b="0">
                        <a:solidFill>
                          <a:srgbClr val="1E293B"/>
                        </a:solidFill>
                        <a:latin typeface="Cambria Math" panose="02040503050406030204" pitchFamily="18" charset="0"/>
                      </a:rPr>
                      <m:t>3</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r>
                      <a:rPr lang="vi-VN" sz="2100" b="0">
                        <a:solidFill>
                          <a:srgbClr val="1E293B"/>
                        </a:solidFill>
                        <a:latin typeface="Cambria Math" panose="02040503050406030204" pitchFamily="18" charset="0"/>
                      </a:rPr>
                      <m:t>+5</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𝑗</m:t>
                        </m:r>
                      </m:e>
                    </m:acc>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𝑂𝑁</m:t>
                        </m:r>
                      </m:e>
                    </m:acc>
                  </m:oMath>
                </a14:m>
                <a:r>
                  <a:rPr sz="2100">
                    <a:solidFill>
                      <a:srgbClr val="1E293B"/>
                    </a:solidFill>
                    <a:latin typeface="Calibri"/>
                  </a:rPr>
                  <a:t> = </a:t>
                </a:r>
                <a14:m>
                  <m:oMath xmlns:m="http://schemas.openxmlformats.org/officeDocument/2006/math">
                    <m:r>
                      <a:rPr lang="vi-VN" sz="2100" b="0">
                        <a:solidFill>
                          <a:srgbClr val="1E293B"/>
                        </a:solidFill>
                        <a:latin typeface="Cambria Math" panose="02040503050406030204" pitchFamily="18" charset="0"/>
                      </a:rPr>
                      <m:t>−2</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r>
                      <a:rPr lang="vi-VN" sz="2100" b="0">
                        <a:solidFill>
                          <a:srgbClr val="1E293B"/>
                        </a:solidFill>
                        <a:latin typeface="Cambria Math" panose="02040503050406030204" pitchFamily="18" charset="0"/>
                      </a:rPr>
                      <m:t>+</m:t>
                    </m:r>
                    <m:f>
                      <m:fPr>
                        <m:ctrlPr>
                          <a:rPr lang="vi-VN" sz="2100" b="0">
                            <a:solidFill>
                              <a:srgbClr val="1E293B"/>
                            </a:solidFill>
                            <a:latin typeface="Cambria Math" panose="02040503050406030204" pitchFamily="18" charset="0"/>
                          </a:rPr>
                        </m:ctrlPr>
                      </m:fPr>
                      <m:num>
                        <m:r>
                          <a:rPr lang="vi-VN" sz="2100" b="0">
                            <a:solidFill>
                              <a:srgbClr val="1E293B"/>
                            </a:solidFill>
                            <a:latin typeface="Cambria Math" panose="02040503050406030204" pitchFamily="18" charset="0"/>
                          </a:rPr>
                          <m:t>5</m:t>
                        </m:r>
                      </m:num>
                      <m:den>
                        <m:r>
                          <a:rPr lang="vi-VN" sz="2100" b="0">
                            <a:solidFill>
                              <a:srgbClr val="1E293B"/>
                            </a:solidFill>
                            <a:latin typeface="Cambria Math" panose="02040503050406030204" pitchFamily="18" charset="0"/>
                          </a:rPr>
                          <m:t>2</m:t>
                        </m:r>
                      </m:den>
                    </m:f>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𝑗</m:t>
                        </m:r>
                      </m:e>
                    </m:acc>
                  </m:oMath>
                </a14:m>
                <a:r>
                  <a:rPr sz="2100">
                    <a:solidFill>
                      <a:srgbClr val="1E293B"/>
                    </a:solidFill>
                    <a:latin typeface="Calibri"/>
                  </a:rPr>
                  <a:t>.</a:t>
                </a:r>
              </a:p>
            </p:txBody>
          </p:sp>
        </mc:Choice>
        <mc:Fallback xmlns="">
          <p:sp>
            <p:nvSpPr>
              <p:cNvPr id="9" name="TextBox 8"/>
              <p:cNvSpPr txBox="1"/>
              <p:nvPr/>
            </p:nvSpPr>
            <p:spPr>
              <a:xfrm>
                <a:off x="713232" y="2953512"/>
                <a:ext cx="753465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\overrightarrow{OM}</a:t>
                </a:r>
                <a:r>
                  <a:rPr sz="2100">
                    <a:solidFill>
                      <a:srgbClr val="1E293B"/>
                    </a:solidFill>
                    <a:latin typeface="Calibri"/>
                  </a:rPr>
                  <a:t> = </a:t>
                </a:r>
                <a:r>
                  <a:rPr lang="vi-VN"/>
                  <a:t>3\vec{i}+5\vec{j}</a:t>
                </a:r>
                <a:r>
                  <a:rPr sz="2100">
                    <a:solidFill>
                      <a:srgbClr val="1E293B"/>
                    </a:solidFill>
                    <a:latin typeface="Calibri"/>
                  </a:rPr>
                  <a:t>, </a:t>
                </a:r>
                <a:r>
                  <a:rPr lang="vi-VN"/>
                  <a:t>\overrightarrow{ON}</a:t>
                </a:r>
                <a:r>
                  <a:rPr sz="2100">
                    <a:solidFill>
                      <a:srgbClr val="1E293B"/>
                    </a:solidFill>
                    <a:latin typeface="Calibri"/>
                  </a:rPr>
                  <a:t> = </a:t>
                </a:r>
                <a:r>
                  <a:rPr lang="vi-VN"/>
                  <a:t>-2\vec{i}+\frac{5}{2}\vec{j}</a:t>
                </a:r>
                <a:r>
                  <a:rPr sz="2100">
                    <a:solidFill>
                      <a:srgbClr val="1E293B"/>
                    </a:solidFill>
                    <a:latin typeface="Calibri"/>
                  </a:rPr>
                  <a:t>.</a:t>
                </a:r>
              </a:p>
            </p:txBody>
          </p:sp>
        </mc:Fallback>
      </mc:AlternateContent>
      <p:sp>
        <p:nvSpPr>
          <p:cNvPr id="10" name="s2_nen"/>
          <p:cNvSpPr/>
          <p:nvPr/>
        </p:nvSpPr>
        <p:spPr>
          <a:xfrm>
            <a:off x="548640" y="3737610"/>
            <a:ext cx="7863840" cy="72923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774186"/>
                <a:ext cx="7534656" cy="656081"/>
              </a:xfrm>
              <a:prstGeom prst="rect">
                <a:avLst/>
              </a:prstGeom>
              <a:noFill/>
            </p:spPr>
            <p:txBody>
              <a:bodyPr wrap="square" lIns="45720" rIns="45720" anchor="ctr">
                <a:spAutoFit/>
              </a:bodyPr>
              <a:lstStyle/>
              <a:p>
                <a:pPr algn="l">
                  <a:spcAft>
                    <a:spcPts val="800"/>
                  </a:spcAft>
                </a:pPr>
                <a:r>
                  <a:rPr sz="2100">
                    <a:solidFill>
                      <a:srgbClr val="1E293B"/>
                    </a:solidFill>
                    <a:latin typeface="Calibri"/>
                  </a:rPr>
                  <a:t>b)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𝑀𝑁</m:t>
                        </m:r>
                      </m:e>
                    </m:acc>
                  </m:oMath>
                </a14:m>
                <a:r>
                  <a:rPr sz="2100">
                    <a:solidFill>
                      <a:srgbClr val="1E293B"/>
                    </a:solidFill>
                    <a:latin typeface="Calibri"/>
                  </a:rPr>
                  <a:t> =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𝑂𝑁</m:t>
                        </m:r>
                      </m:e>
                    </m:acc>
                  </m:oMath>
                </a14:m>
                <a:r>
                  <a:rPr sz="2100">
                    <a:solidFill>
                      <a:srgbClr val="1E293B"/>
                    </a:solidFill>
                    <a:latin typeface="Calibri"/>
                  </a:rPr>
                  <a:t> −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𝑂𝑀</m:t>
                        </m:r>
                      </m:e>
                    </m:acc>
                  </m:oMath>
                </a14:m>
                <a:r>
                  <a:rPr sz="2100">
                    <a:solidFill>
                      <a:srgbClr val="1E293B"/>
                    </a:solidFill>
                    <a:latin typeface="Calibri"/>
                  </a:rPr>
                  <a:t> = </a:t>
                </a:r>
                <a14:m>
                  <m:oMath xmlns:m="http://schemas.openxmlformats.org/officeDocument/2006/math">
                    <m:r>
                      <a:rPr lang="vi-VN" sz="2100" b="0">
                        <a:solidFill>
                          <a:srgbClr val="1E293B"/>
                        </a:solidFill>
                        <a:latin typeface="Cambria Math" panose="02040503050406030204" pitchFamily="18" charset="0"/>
                      </a:rPr>
                      <m:t>−5</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r>
                      <a:rPr lang="vi-VN" sz="2100" b="0">
                        <a:solidFill>
                          <a:srgbClr val="1E293B"/>
                        </a:solidFill>
                        <a:latin typeface="Cambria Math" panose="02040503050406030204" pitchFamily="18" charset="0"/>
                      </a:rPr>
                      <m:t>−</m:t>
                    </m:r>
                    <m:f>
                      <m:fPr>
                        <m:ctrlPr>
                          <a:rPr lang="vi-VN" sz="2100" b="0">
                            <a:solidFill>
                              <a:srgbClr val="1E293B"/>
                            </a:solidFill>
                            <a:latin typeface="Cambria Math" panose="02040503050406030204" pitchFamily="18" charset="0"/>
                          </a:rPr>
                        </m:ctrlPr>
                      </m:fPr>
                      <m:num>
                        <m:r>
                          <a:rPr lang="vi-VN" sz="2100" b="0">
                            <a:solidFill>
                              <a:srgbClr val="1E293B"/>
                            </a:solidFill>
                            <a:latin typeface="Cambria Math" panose="02040503050406030204" pitchFamily="18" charset="0"/>
                          </a:rPr>
                          <m:t>5</m:t>
                        </m:r>
                      </m:num>
                      <m:den>
                        <m:r>
                          <a:rPr lang="vi-VN" sz="2100" b="0">
                            <a:solidFill>
                              <a:srgbClr val="1E293B"/>
                            </a:solidFill>
                            <a:latin typeface="Cambria Math" panose="02040503050406030204" pitchFamily="18" charset="0"/>
                          </a:rPr>
                          <m:t>2</m:t>
                        </m:r>
                      </m:den>
                    </m:f>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𝑗</m:t>
                        </m:r>
                      </m:e>
                    </m:acc>
                  </m:oMath>
                </a14:m>
                <a:r>
                  <a:rPr sz="2100">
                    <a:solidFill>
                      <a:srgbClr val="1E293B"/>
                    </a:solidFill>
                    <a:latin typeface="Calibri"/>
                  </a:rPr>
                  <a:t>.</a:t>
                </a:r>
              </a:p>
            </p:txBody>
          </p:sp>
        </mc:Choice>
        <mc:Fallback xmlns="">
          <p:sp>
            <p:nvSpPr>
              <p:cNvPr id="11" name="TextBox 10"/>
              <p:cNvSpPr txBox="1"/>
              <p:nvPr/>
            </p:nvSpPr>
            <p:spPr>
              <a:xfrm>
                <a:off x="713232" y="3774186"/>
                <a:ext cx="753465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r>
                  <a:rPr lang="vi-VN"/>
                  <a:t>\overrightarrow{MN}</a:t>
                </a:r>
                <a:r>
                  <a:rPr sz="2100">
                    <a:solidFill>
                      <a:srgbClr val="1E293B"/>
                    </a:solidFill>
                    <a:latin typeface="Calibri"/>
                  </a:rPr>
                  <a:t> = </a:t>
                </a:r>
                <a:r>
                  <a:rPr lang="vi-VN"/>
                  <a:t>\overrightarrow{ON}</a:t>
                </a:r>
                <a:r>
                  <a:rPr sz="2100">
                    <a:solidFill>
                      <a:srgbClr val="1E293B"/>
                    </a:solidFill>
                    <a:latin typeface="Calibri"/>
                  </a:rPr>
                  <a:t> − </a:t>
                </a:r>
                <a:r>
                  <a:rPr lang="vi-VN"/>
                  <a:t>\overrightarrow{OM}</a:t>
                </a:r>
                <a:r>
                  <a:rPr sz="2100">
                    <a:solidFill>
                      <a:srgbClr val="1E293B"/>
                    </a:solidFill>
                    <a:latin typeface="Calibri"/>
                  </a:rPr>
                  <a:t> = </a:t>
                </a:r>
                <a:r>
                  <a:rPr lang="vi-VN"/>
                  <a:t>-5\vec{i}-\frac{5}{2}\vec{j}</a:t>
                </a:r>
                <a:r>
                  <a:rPr sz="2100">
                    <a:solidFill>
                      <a:srgbClr val="1E293B"/>
                    </a:solidFill>
                    <a:latin typeface="Calibri"/>
                  </a:rPr>
                  <a:t>.</a:t>
                </a:r>
              </a:p>
            </p:txBody>
          </p:sp>
        </mc:Fallback>
      </mc:AlternateContent>
      <p:sp>
        <p:nvSpPr>
          <p:cNvPr id="12" name="s3_nen"/>
          <p:cNvSpPr/>
          <p:nvPr/>
        </p:nvSpPr>
        <p:spPr>
          <a:xfrm>
            <a:off x="548640" y="4558283"/>
            <a:ext cx="7863840" cy="154533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s3_chu"/>
              <p:cNvSpPr txBox="1"/>
              <p:nvPr/>
            </p:nvSpPr>
            <p:spPr>
              <a:xfrm>
                <a:off x="713232" y="4594859"/>
                <a:ext cx="7534656" cy="1472184"/>
              </a:xfrm>
              <a:prstGeom prst="rect">
                <a:avLst/>
              </a:prstGeom>
              <a:noFill/>
            </p:spPr>
            <p:txBody>
              <a:bodyPr wrap="square" lIns="45720" rIns="45720" anchor="ctr">
                <a:spAutoFit/>
              </a:bodyPr>
              <a:lstStyle/>
              <a:p>
                <a:pPr algn="l">
                  <a:spcAft>
                    <a:spcPts val="800"/>
                  </a:spcAft>
                </a:pPr>
                <a:r>
                  <a:rPr sz="2100">
                    <a:solidFill>
                      <a:srgbClr val="1E293B"/>
                    </a:solidFill>
                    <a:latin typeface="Calibri"/>
                  </a:rPr>
                  <a:t>Hai trục </a:t>
                </a:r>
                <a14:m>
                  <m:oMath xmlns:m="http://schemas.openxmlformats.org/officeDocument/2006/math">
                    <m:r>
                      <a:rPr lang="vi-VN" sz="2100" b="0">
                        <a:solidFill>
                          <a:srgbClr val="1E293B"/>
                        </a:solidFill>
                        <a:latin typeface="Cambria Math" panose="02040503050406030204" pitchFamily="18" charset="0"/>
                      </a:rPr>
                      <m:t>𝑂𝑥</m:t>
                    </m:r>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𝑂𝑦</m:t>
                    </m:r>
                  </m:oMath>
                </a14:m>
                <a:r>
                  <a:rPr sz="2100">
                    <a:solidFill>
                      <a:srgbClr val="1E293B"/>
                    </a:solidFill>
                    <a:latin typeface="Calibri"/>
                  </a:rPr>
                  <a:t> có chung gốc </a:t>
                </a:r>
                <a14:m>
                  <m:oMath xmlns:m="http://schemas.openxmlformats.org/officeDocument/2006/math">
                    <m:r>
                      <a:rPr lang="vi-VN" sz="2100" b="0">
                        <a:solidFill>
                          <a:srgbClr val="1E293B"/>
                        </a:solidFill>
                        <a:latin typeface="Cambria Math" panose="02040503050406030204" pitchFamily="18" charset="0"/>
                      </a:rPr>
                      <m:t>𝑂</m:t>
                    </m:r>
                  </m:oMath>
                </a14:m>
                <a:r>
                  <a:rPr sz="2100">
                    <a:solidFill>
                      <a:srgbClr val="1E293B"/>
                    </a:solidFill>
                    <a:latin typeface="Calibri"/>
                  </a:rPr>
                  <a:t> và vuông góc với nhau, vectơ đơn vị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r>
                      <a:rPr lang="vi-VN" sz="2100" b="0">
                        <a:solidFill>
                          <a:srgbClr val="1E293B"/>
                        </a:solidFill>
                        <a:latin typeface="Cambria Math" panose="02040503050406030204" pitchFamily="18" charset="0"/>
                      </a:rPr>
                      <m:t>, </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𝑗</m:t>
                        </m:r>
                      </m:e>
                    </m:acc>
                  </m:oMath>
                </a14:m>
                <a:r>
                  <a:rPr sz="2100">
                    <a:solidFill>
                      <a:srgbClr val="1E293B"/>
                    </a:solidFill>
                    <a:latin typeface="Calibri"/>
                  </a:rPr>
                  <a:t>, gọi là </a:t>
                </a:r>
                <a:r>
                  <a:rPr sz="2100" b="1">
                    <a:solidFill>
                      <a:srgbClr val="1E293B"/>
                    </a:solidFill>
                    <a:latin typeface="Calibri"/>
                  </a:rPr>
                  <a:t>hệ trục toạ độ</a:t>
                </a: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𝑂𝑥𝑦</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𝑂𝑥</m:t>
                    </m:r>
                  </m:oMath>
                </a14:m>
                <a:r>
                  <a:rPr sz="2100">
                    <a:solidFill>
                      <a:srgbClr val="1E293B"/>
                    </a:solidFill>
                    <a:latin typeface="Calibri"/>
                  </a:rPr>
                  <a:t>: trục hoành, </a:t>
                </a:r>
                <a14:m>
                  <m:oMath xmlns:m="http://schemas.openxmlformats.org/officeDocument/2006/math">
                    <m:r>
                      <a:rPr lang="vi-VN" sz="2100" b="0">
                        <a:solidFill>
                          <a:srgbClr val="1E293B"/>
                        </a:solidFill>
                        <a:latin typeface="Cambria Math" panose="02040503050406030204" pitchFamily="18" charset="0"/>
                      </a:rPr>
                      <m:t>𝑂𝑦</m:t>
                    </m:r>
                  </m:oMath>
                </a14:m>
                <a:r>
                  <a:rPr sz="2100">
                    <a:solidFill>
                      <a:srgbClr val="1E293B"/>
                    </a:solidFill>
                    <a:latin typeface="Calibri"/>
                  </a:rPr>
                  <a:t>: trục tung. Mặt phẳng chứa hệ trục gọi là </a:t>
                </a:r>
                <a:r>
                  <a:rPr sz="2100" b="1">
                    <a:solidFill>
                      <a:srgbClr val="1E293B"/>
                    </a:solidFill>
                    <a:latin typeface="Calibri"/>
                  </a:rPr>
                  <a:t>mặt phẳng toạ độ</a:t>
                </a: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𝑂𝑥𝑦</m:t>
                    </m:r>
                  </m:oMath>
                </a14:m>
                <a:r>
                  <a:rPr sz="2100">
                    <a:solidFill>
                      <a:srgbClr val="1E293B"/>
                    </a:solidFill>
                    <a:latin typeface="Calibri"/>
                  </a:rPr>
                  <a:t> (H.4.34).</a:t>
                </a:r>
              </a:p>
            </p:txBody>
          </p:sp>
        </mc:Choice>
        <mc:Fallback xmlns="">
          <p:sp>
            <p:nvSpPr>
              <p:cNvPr id="13" name="TextBox 12"/>
              <p:cNvSpPr txBox="1"/>
              <p:nvPr/>
            </p:nvSpPr>
            <p:spPr>
              <a:xfrm>
                <a:off x="713232" y="4594859"/>
                <a:ext cx="7534656" cy="147218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Hai trục </a:t>
                </a:r>
                <a:r>
                  <a:rPr lang="vi-VN"/>
                  <a:t>Ox,\ Oy</a:t>
                </a:r>
                <a:r>
                  <a:rPr sz="2100">
                    <a:solidFill>
                      <a:srgbClr val="1E293B"/>
                    </a:solidFill>
                    <a:latin typeface="Calibri"/>
                  </a:rPr>
                  <a:t> có chung gốc </a:t>
                </a:r>
                <a:r>
                  <a:rPr lang="vi-VN"/>
                  <a:t>O</a:t>
                </a:r>
                <a:r>
                  <a:rPr sz="2100">
                    <a:solidFill>
                      <a:srgbClr val="1E293B"/>
                    </a:solidFill>
                    <a:latin typeface="Calibri"/>
                  </a:rPr>
                  <a:t> và vuông góc với nhau, vectơ đơn vị </a:t>
                </a:r>
                <a:r>
                  <a:rPr lang="vi-VN"/>
                  <a:t>\vec{i},\ \vec{j}</a:t>
                </a:r>
                <a:r>
                  <a:rPr sz="2100">
                    <a:solidFill>
                      <a:srgbClr val="1E293B"/>
                    </a:solidFill>
                    <a:latin typeface="Calibri"/>
                  </a:rPr>
                  <a:t>, gọi là </a:t>
                </a:r>
                <a:r>
                  <a:rPr sz="2100" b="1">
                    <a:solidFill>
                      <a:srgbClr val="1E293B"/>
                    </a:solidFill>
                    <a:latin typeface="Calibri"/>
                  </a:rPr>
                  <a:t>hệ trục toạ độ</a:t>
                </a:r>
                <a:r>
                  <a:rPr sz="2100">
                    <a:solidFill>
                      <a:srgbClr val="1E293B"/>
                    </a:solidFill>
                    <a:latin typeface="Calibri"/>
                  </a:rPr>
                  <a:t> </a:t>
                </a:r>
                <a:r>
                  <a:rPr lang="vi-VN"/>
                  <a:t>Oxy</a:t>
                </a:r>
                <a:r>
                  <a:rPr sz="2100">
                    <a:solidFill>
                      <a:srgbClr val="1E293B"/>
                    </a:solidFill>
                    <a:latin typeface="Calibri"/>
                  </a:rPr>
                  <a:t>; </a:t>
                </a:r>
                <a:r>
                  <a:rPr lang="vi-VN"/>
                  <a:t>Ox</a:t>
                </a:r>
                <a:r>
                  <a:rPr sz="2100">
                    <a:solidFill>
                      <a:srgbClr val="1E293B"/>
                    </a:solidFill>
                    <a:latin typeface="Calibri"/>
                  </a:rPr>
                  <a:t>: trục hoành, </a:t>
                </a:r>
                <a:r>
                  <a:rPr lang="vi-VN"/>
                  <a:t>Oy</a:t>
                </a:r>
                <a:r>
                  <a:rPr sz="2100">
                    <a:solidFill>
                      <a:srgbClr val="1E293B"/>
                    </a:solidFill>
                    <a:latin typeface="Calibri"/>
                  </a:rPr>
                  <a:t>: trục tung. Mặt phẳng chứa hệ trục gọi là </a:t>
                </a:r>
                <a:r>
                  <a:rPr sz="2100" b="1">
                    <a:solidFill>
                      <a:srgbClr val="1E293B"/>
                    </a:solidFill>
                    <a:latin typeface="Calibri"/>
                  </a:rPr>
                  <a:t>mặt phẳng toạ độ</a:t>
                </a:r>
                <a:r>
                  <a:rPr sz="2100">
                    <a:solidFill>
                      <a:srgbClr val="1E293B"/>
                    </a:solidFill>
                    <a:latin typeface="Calibri"/>
                  </a:rPr>
                  <a:t> </a:t>
                </a:r>
                <a:r>
                  <a:rPr lang="vi-VN"/>
                  <a:t>Oxy</a:t>
                </a:r>
                <a:r>
                  <a:rPr sz="2100">
                    <a:solidFill>
                      <a:srgbClr val="1E293B"/>
                    </a:solidFill>
                    <a:latin typeface="Calibri"/>
                  </a:rPr>
                  <a:t> (H.4.34).</a:t>
                </a:r>
              </a:p>
            </p:txBody>
          </p:sp>
        </mc:Fallback>
      </mc:AlternateContent>
      <p:pic>
        <p:nvPicPr>
          <p:cNvPr id="14" name="Picture 13" descr="h433.png"/>
          <p:cNvPicPr>
            <a:picLocks noChangeAspect="1"/>
          </p:cNvPicPr>
          <p:nvPr/>
        </p:nvPicPr>
        <p:blipFill>
          <a:blip r:embed="rId3"/>
          <a:stretch>
            <a:fillRect/>
          </a:stretch>
        </p:blipFill>
        <p:spPr>
          <a:xfrm>
            <a:off x="8595360" y="1572657"/>
            <a:ext cx="3108960" cy="2523966"/>
          </a:xfrm>
          <a:prstGeom prst="rect">
            <a:avLst/>
          </a:prstGeom>
        </p:spPr>
      </p:pic>
      <p:sp>
        <p:nvSpPr>
          <p:cNvPr id="15" name="TextBox 14"/>
          <p:cNvSpPr txBox="1"/>
          <p:nvPr/>
        </p:nvSpPr>
        <p:spPr>
          <a:xfrm>
            <a:off x="8595360" y="4224527"/>
            <a:ext cx="3108960" cy="365760"/>
          </a:xfrm>
          <a:prstGeom prst="rect">
            <a:avLst/>
          </a:prstGeom>
          <a:noFill/>
        </p:spPr>
        <p:txBody>
          <a:bodyPr wrap="square" lIns="45720" rIns="45720" anchor="t">
            <a:spAutoFit/>
          </a:bodyPr>
          <a:lstStyle/>
          <a:p>
            <a:pPr algn="ctr">
              <a:spcAft>
                <a:spcPts val="800"/>
              </a:spcAft>
            </a:pPr>
            <a:r>
              <a:rPr sz="1600">
                <a:solidFill>
                  <a:srgbClr val="64748B"/>
                </a:solidFill>
                <a:latin typeface="Calibri"/>
              </a:rPr>
              <a:t>Hình 4.33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TOẠ ĐỘ CỦA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8</a:t>
            </a:r>
          </a:p>
        </p:txBody>
      </p:sp>
      <p:sp>
        <p:nvSpPr>
          <p:cNvPr id="7" name="Rounded Rectangle 6"/>
          <p:cNvSpPr/>
          <p:nvPr/>
        </p:nvSpPr>
        <p:spPr>
          <a:xfrm>
            <a:off x="548640" y="1371600"/>
            <a:ext cx="8229600" cy="148437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 name="TextBox 7"/>
              <p:cNvSpPr txBox="1"/>
              <p:nvPr/>
            </p:nvSpPr>
            <p:spPr>
              <a:xfrm>
                <a:off x="713232" y="1408176"/>
                <a:ext cx="7900416" cy="141122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Với mỗi vectơ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𝑢</m:t>
                        </m:r>
                      </m:e>
                    </m:acc>
                  </m:oMath>
                </a14:m>
                <a:r>
                  <a:rPr sz="2000">
                    <a:solidFill>
                      <a:srgbClr val="1E293B"/>
                    </a:solidFill>
                    <a:latin typeface="Calibri"/>
                  </a:rPr>
                  <a:t> trên mặt phẳng </a:t>
                </a:r>
                <a14:m>
                  <m:oMath xmlns:m="http://schemas.openxmlformats.org/officeDocument/2006/math">
                    <m:r>
                      <a:rPr lang="vi-VN" sz="2000" b="0">
                        <a:solidFill>
                          <a:srgbClr val="1E293B"/>
                        </a:solidFill>
                        <a:latin typeface="Cambria Math" panose="02040503050406030204" pitchFamily="18" charset="0"/>
                      </a:rPr>
                      <m:t>𝑂𝑥𝑦</m:t>
                    </m:r>
                  </m:oMath>
                </a14:m>
                <a:r>
                  <a:rPr sz="2000">
                    <a:solidFill>
                      <a:srgbClr val="1E293B"/>
                    </a:solidFill>
                    <a:latin typeface="Calibri"/>
                  </a:rPr>
                  <a:t>, có duy nhất cặp số </a:t>
                </a:r>
                <a14:m>
                  <m:oMath xmlns:m="http://schemas.openxmlformats.org/officeDocument/2006/math">
                    <m:d>
                      <m:dPr>
                        <m:ctrlPr>
                          <a:rPr lang="vi-VN" sz="2000" b="0">
                            <a:solidFill>
                              <a:srgbClr val="1E293B"/>
                            </a:solidFill>
                            <a:latin typeface="Cambria Math" panose="02040503050406030204" pitchFamily="18" charset="0"/>
                          </a:rPr>
                        </m:ctrlPr>
                      </m:dPr>
                      <m:e>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 </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0</m:t>
                            </m:r>
                          </m:sub>
                        </m:sSub>
                      </m:e>
                    </m:d>
                  </m:oMath>
                </a14:m>
                <a:r>
                  <a:rPr sz="2000">
                    <a:solidFill>
                      <a:srgbClr val="1E293B"/>
                    </a:solidFill>
                    <a:latin typeface="Calibri"/>
                  </a:rPr>
                  <a:t> sao cho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𝑢</m:t>
                        </m:r>
                      </m:e>
                    </m:acc>
                    <m:r>
                      <a:rPr lang="vi-VN" sz="2000" b="0">
                        <a:solidFill>
                          <a:srgbClr val="1E293B"/>
                        </a:solidFill>
                        <a:latin typeface="Cambria Math" panose="02040503050406030204" pitchFamily="18" charset="0"/>
                      </a:rPr>
                      <m:t>=</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0</m:t>
                        </m:r>
                      </m:sub>
                    </m:sSub>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0</m:t>
                        </m:r>
                      </m:sub>
                    </m:sSub>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oMath>
                </a14:m>
                <a:r>
                  <a:rPr sz="2000">
                    <a:solidFill>
                      <a:srgbClr val="1E293B"/>
                    </a:solidFill>
                    <a:latin typeface="Calibri"/>
                  </a:rPr>
                  <a:t>. Ta nói vectơ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𝑢</m:t>
                        </m:r>
                      </m:e>
                    </m:acc>
                  </m:oMath>
                </a14:m>
                <a:r>
                  <a:rPr sz="2000">
                    <a:solidFill>
                      <a:srgbClr val="1E293B"/>
                    </a:solidFill>
                    <a:latin typeface="Calibri"/>
                  </a:rPr>
                  <a:t> có </a:t>
                </a:r>
                <a:r>
                  <a:rPr sz="2000" b="1">
                    <a:solidFill>
                      <a:srgbClr val="1E293B"/>
                    </a:solidFill>
                    <a:latin typeface="Calibri"/>
                  </a:rPr>
                  <a:t>toạ độ</a:t>
                </a:r>
                <a:r>
                  <a:rPr sz="2000">
                    <a:solidFill>
                      <a:srgbClr val="1E293B"/>
                    </a:solidFill>
                    <a:latin typeface="Calibri"/>
                  </a:rPr>
                  <a:t> </a:t>
                </a:r>
                <a14:m>
                  <m:oMath xmlns:m="http://schemas.openxmlformats.org/officeDocument/2006/math">
                    <m:d>
                      <m:dPr>
                        <m:ctrlPr>
                          <a:rPr lang="vi-VN" sz="2000" b="0">
                            <a:solidFill>
                              <a:srgbClr val="1E293B"/>
                            </a:solidFill>
                            <a:latin typeface="Cambria Math" panose="02040503050406030204" pitchFamily="18" charset="0"/>
                          </a:rPr>
                        </m:ctrlPr>
                      </m:dPr>
                      <m:e>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 </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0</m:t>
                            </m:r>
                          </m:sub>
                        </m:sSub>
                      </m:e>
                    </m:d>
                  </m:oMath>
                </a14:m>
                <a:r>
                  <a:rPr sz="2000">
                    <a:solidFill>
                      <a:srgbClr val="1E293B"/>
                    </a:solidFill>
                    <a:latin typeface="Calibri"/>
                  </a:rPr>
                  <a:t> và viết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𝑢</m:t>
                        </m:r>
                      </m:e>
                    </m:acc>
                    <m:r>
                      <a:rPr lang="vi-VN" sz="2000" b="0">
                        <a:solidFill>
                          <a:srgbClr val="1E293B"/>
                        </a:solidFill>
                        <a:latin typeface="Cambria Math" panose="02040503050406030204" pitchFamily="18" charset="0"/>
                      </a:rPr>
                      <m:t>=(</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 </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m:t>
                    </m:r>
                  </m:oMath>
                </a14:m>
                <a:r>
                  <a:rPr sz="2000">
                    <a:solidFill>
                      <a:srgbClr val="1E293B"/>
                    </a:solidFill>
                    <a:latin typeface="Calibri"/>
                  </a:rPr>
                  <a:t> hay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𝑢</m:t>
                        </m:r>
                      </m:e>
                    </m:acc>
                    <m:r>
                      <a:rPr lang="vi-VN" sz="2000" b="0">
                        <a:solidFill>
                          <a:srgbClr val="1E293B"/>
                        </a:solidFill>
                        <a:latin typeface="Cambria Math" panose="02040503050406030204" pitchFamily="18" charset="0"/>
                      </a:rPr>
                      <m:t>(</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 </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m:t>
                    </m:r>
                  </m:oMath>
                </a14:m>
                <a:r>
                  <a:rPr sz="2000">
                    <a:solidFill>
                      <a:srgbClr val="1E293B"/>
                    </a:solidFill>
                    <a:latin typeface="Calibri"/>
                  </a:rPr>
                  <a:t>. Các số </a:t>
                </a:r>
                <a14:m>
                  <m:oMath xmlns:m="http://schemas.openxmlformats.org/officeDocument/2006/math">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 </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0</m:t>
                        </m:r>
                      </m:sub>
                    </m:sSub>
                  </m:oMath>
                </a14:m>
                <a:r>
                  <a:rPr sz="2000">
                    <a:solidFill>
                      <a:srgbClr val="1E293B"/>
                    </a:solidFill>
                    <a:latin typeface="Calibri"/>
                  </a:rPr>
                  <a:t> tương ứng được gọi là </a:t>
                </a:r>
                <a:r>
                  <a:rPr sz="2000" b="1">
                    <a:solidFill>
                      <a:srgbClr val="1E293B"/>
                    </a:solidFill>
                    <a:latin typeface="Calibri"/>
                  </a:rPr>
                  <a:t>hoành độ, tung độ</a:t>
                </a:r>
                <a:r>
                  <a:rPr sz="2000">
                    <a:solidFill>
                      <a:srgbClr val="1E293B"/>
                    </a:solidFill>
                    <a:latin typeface="Calibri"/>
                  </a:rPr>
                  <a:t> của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𝑢</m:t>
                        </m:r>
                      </m:e>
                    </m:acc>
                  </m:oMath>
                </a14:m>
                <a:r>
                  <a:rPr sz="2000">
                    <a:solidFill>
                      <a:srgbClr val="1E293B"/>
                    </a:solidFill>
                    <a:latin typeface="Calibri"/>
                  </a:rPr>
                  <a:t>.</a:t>
                </a:r>
              </a:p>
            </p:txBody>
          </p:sp>
        </mc:Choice>
        <mc:Fallback xmlns="">
          <p:sp>
            <p:nvSpPr>
              <p:cNvPr id="8" name="TextBox 7"/>
              <p:cNvSpPr txBox="1"/>
              <p:nvPr/>
            </p:nvSpPr>
            <p:spPr>
              <a:xfrm>
                <a:off x="713232" y="1408176"/>
                <a:ext cx="7900416" cy="14112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Với mỗi vectơ </a:t>
                </a:r>
                <a:r>
                  <a:rPr lang="vi-VN"/>
                  <a:t>\vec{u}</a:t>
                </a:r>
                <a:r>
                  <a:rPr sz="2000">
                    <a:solidFill>
                      <a:srgbClr val="1E293B"/>
                    </a:solidFill>
                    <a:latin typeface="Calibri"/>
                  </a:rPr>
                  <a:t> trên mặt phẳng </a:t>
                </a:r>
                <a:r>
                  <a:rPr lang="vi-VN"/>
                  <a:t>Oxy</a:t>
                </a:r>
                <a:r>
                  <a:rPr sz="2000">
                    <a:solidFill>
                      <a:srgbClr val="1E293B"/>
                    </a:solidFill>
                    <a:latin typeface="Calibri"/>
                  </a:rPr>
                  <a:t>, có duy nhất cặp số </a:t>
                </a:r>
                <a:r>
                  <a:rPr lang="vi-VN"/>
                  <a:t>(x_0;\ y_0)</a:t>
                </a:r>
                <a:r>
                  <a:rPr sz="2000">
                    <a:solidFill>
                      <a:srgbClr val="1E293B"/>
                    </a:solidFill>
                    <a:latin typeface="Calibri"/>
                  </a:rPr>
                  <a:t> sao cho </a:t>
                </a:r>
                <a:r>
                  <a:rPr lang="vi-VN"/>
                  <a:t>\vec{u}=x_0\vec{i}+y_0\vec{j}</a:t>
                </a:r>
                <a:r>
                  <a:rPr sz="2000">
                    <a:solidFill>
                      <a:srgbClr val="1E293B"/>
                    </a:solidFill>
                    <a:latin typeface="Calibri"/>
                  </a:rPr>
                  <a:t>. Ta nói vectơ </a:t>
                </a:r>
                <a:r>
                  <a:rPr lang="vi-VN"/>
                  <a:t>\vec{u}</a:t>
                </a:r>
                <a:r>
                  <a:rPr sz="2000">
                    <a:solidFill>
                      <a:srgbClr val="1E293B"/>
                    </a:solidFill>
                    <a:latin typeface="Calibri"/>
                  </a:rPr>
                  <a:t> có </a:t>
                </a:r>
                <a:r>
                  <a:rPr sz="2000" b="1">
                    <a:solidFill>
                      <a:srgbClr val="1E293B"/>
                    </a:solidFill>
                    <a:latin typeface="Calibri"/>
                  </a:rPr>
                  <a:t>toạ độ</a:t>
                </a:r>
                <a:r>
                  <a:rPr sz="2000">
                    <a:solidFill>
                      <a:srgbClr val="1E293B"/>
                    </a:solidFill>
                    <a:latin typeface="Calibri"/>
                  </a:rPr>
                  <a:t> </a:t>
                </a:r>
                <a:r>
                  <a:rPr lang="vi-VN"/>
                  <a:t>(x_0;\ y_0)</a:t>
                </a:r>
                <a:r>
                  <a:rPr sz="2000">
                    <a:solidFill>
                      <a:srgbClr val="1E293B"/>
                    </a:solidFill>
                    <a:latin typeface="Calibri"/>
                  </a:rPr>
                  <a:t> và viết </a:t>
                </a:r>
                <a:r>
                  <a:rPr lang="vi-VN"/>
                  <a:t>\vec{u}=(x_0;\ y_0)</a:t>
                </a:r>
                <a:r>
                  <a:rPr sz="2000">
                    <a:solidFill>
                      <a:srgbClr val="1E293B"/>
                    </a:solidFill>
                    <a:latin typeface="Calibri"/>
                  </a:rPr>
                  <a:t> hay </a:t>
                </a:r>
                <a:r>
                  <a:rPr lang="vi-VN"/>
                  <a:t>\vec{u}(x_0;\ y_0)</a:t>
                </a:r>
                <a:r>
                  <a:rPr sz="2000">
                    <a:solidFill>
                      <a:srgbClr val="1E293B"/>
                    </a:solidFill>
                    <a:latin typeface="Calibri"/>
                  </a:rPr>
                  <a:t>. Các số </a:t>
                </a:r>
                <a:r>
                  <a:rPr lang="vi-VN"/>
                  <a:t>x_0,\ y_0</a:t>
                </a:r>
                <a:r>
                  <a:rPr sz="2000">
                    <a:solidFill>
                      <a:srgbClr val="1E293B"/>
                    </a:solidFill>
                    <a:latin typeface="Calibri"/>
                  </a:rPr>
                  <a:t> tương ứng được gọi là </a:t>
                </a:r>
                <a:r>
                  <a:rPr sz="2000" b="1">
                    <a:solidFill>
                      <a:srgbClr val="1E293B"/>
                    </a:solidFill>
                    <a:latin typeface="Calibri"/>
                  </a:rPr>
                  <a:t>hoành độ, tung độ</a:t>
                </a:r>
                <a:r>
                  <a:rPr sz="2000">
                    <a:solidFill>
                      <a:srgbClr val="1E293B"/>
                    </a:solidFill>
                    <a:latin typeface="Calibri"/>
                  </a:rPr>
                  <a:t> của </a:t>
                </a:r>
                <a:r>
                  <a:rPr lang="vi-VN"/>
                  <a:t>\vec{u}</a:t>
                </a:r>
                <a:r>
                  <a:rPr sz="20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9" name="s1_chu"/>
              <p:cNvSpPr txBox="1"/>
              <p:nvPr/>
            </p:nvSpPr>
            <p:spPr>
              <a:xfrm>
                <a:off x="548640" y="2929128"/>
                <a:ext cx="8229600" cy="783335"/>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Nhận xét.</a:t>
                </a:r>
                <a:r>
                  <a:rPr sz="2000">
                    <a:solidFill>
                      <a:srgbClr val="1E293B"/>
                    </a:solidFill>
                    <a:latin typeface="Calibri"/>
                  </a:rPr>
                  <a:t> Hai vectơ bằng nhau khi và chỉ khi chúng có cùng toạ độ: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𝑢</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𝑦</m:t>
                    </m:r>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𝑣</m:t>
                        </m:r>
                      </m:e>
                    </m:acc>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 </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𝑦</m:t>
                    </m:r>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xmlns="">
          <p:sp>
            <p:nvSpPr>
              <p:cNvPr id="9" name="TextBox 8"/>
              <p:cNvSpPr txBox="1"/>
              <p:nvPr/>
            </p:nvSpPr>
            <p:spPr>
              <a:xfrm>
                <a:off x="548640" y="2929128"/>
                <a:ext cx="822960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Nhận xét.</a:t>
                </a:r>
                <a:r>
                  <a:rPr sz="2000">
                    <a:solidFill>
                      <a:srgbClr val="1E293B"/>
                    </a:solidFill>
                    <a:latin typeface="Calibri"/>
                  </a:rPr>
                  <a:t> Hai vectơ bằng nhau khi và chỉ khi chúng có cùng toạ độ: </a:t>
                </a:r>
                <a:r>
                  <a:rPr lang="vi-VN"/>
                  <a:t>\vec{u}(x;\ y)=\vec{v}(x';\ y')\Leftrightarrow x=x'</a:t>
                </a:r>
                <a:r>
                  <a:rPr sz="2000">
                    <a:solidFill>
                      <a:srgbClr val="1E293B"/>
                    </a:solidFill>
                    <a:latin typeface="Calibri"/>
                  </a:rPr>
                  <a:t> và </a:t>
                </a:r>
                <a:r>
                  <a:rPr lang="vi-VN"/>
                  <a:t>y=y'</a:t>
                </a:r>
                <a:r>
                  <a:rPr sz="20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10" name="s2_chu"/>
              <p:cNvSpPr txBox="1"/>
              <p:nvPr/>
            </p:nvSpPr>
            <p:spPr>
              <a:xfrm>
                <a:off x="548640" y="3785616"/>
                <a:ext cx="8229600" cy="783335"/>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Ví dụ 1.</a:t>
                </a:r>
                <a:r>
                  <a:rPr sz="2000">
                    <a:solidFill>
                      <a:srgbClr val="1E293B"/>
                    </a:solidFill>
                    <a:latin typeface="Calibri"/>
                  </a:rPr>
                  <a:t> Tìm toạ độ của các vectơ đơn vị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 </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oMath>
                </a14:m>
                <a:r>
                  <a:rPr sz="2000">
                    <a:solidFill>
                      <a:srgbClr val="1E293B"/>
                    </a:solidFill>
                    <a:latin typeface="Calibri"/>
                  </a:rPr>
                  <a:t> tương ứng của các trục </a:t>
                </a:r>
                <a14:m>
                  <m:oMath xmlns:m="http://schemas.openxmlformats.org/officeDocument/2006/math">
                    <m:r>
                      <a:rPr lang="vi-VN" sz="2000" b="0">
                        <a:solidFill>
                          <a:srgbClr val="1E293B"/>
                        </a:solidFill>
                        <a:latin typeface="Cambria Math" panose="02040503050406030204" pitchFamily="18" charset="0"/>
                      </a:rPr>
                      <m:t>𝑂𝑥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𝑂𝑦</m:t>
                    </m:r>
                  </m:oMath>
                </a14:m>
                <a:r>
                  <a:rPr sz="2000">
                    <a:solidFill>
                      <a:srgbClr val="1E293B"/>
                    </a:solidFill>
                    <a:latin typeface="Calibri"/>
                  </a:rPr>
                  <a:t>.</a:t>
                </a:r>
              </a:p>
            </p:txBody>
          </p:sp>
        </mc:Choice>
        <mc:Fallback xmlns="">
          <p:sp>
            <p:nvSpPr>
              <p:cNvPr id="10" name="TextBox 9"/>
              <p:cNvSpPr txBox="1"/>
              <p:nvPr/>
            </p:nvSpPr>
            <p:spPr>
              <a:xfrm>
                <a:off x="548640" y="3785616"/>
                <a:ext cx="822960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1.</a:t>
                </a:r>
                <a:r>
                  <a:rPr sz="2000">
                    <a:solidFill>
                      <a:srgbClr val="1E293B"/>
                    </a:solidFill>
                    <a:latin typeface="Calibri"/>
                  </a:rPr>
                  <a:t> Tìm toạ độ của các vectơ đơn vị </a:t>
                </a:r>
                <a:r>
                  <a:rPr lang="vi-VN"/>
                  <a:t>\vec{i},\ \vec{j}</a:t>
                </a:r>
                <a:r>
                  <a:rPr sz="2000">
                    <a:solidFill>
                      <a:srgbClr val="1E293B"/>
                    </a:solidFill>
                    <a:latin typeface="Calibri"/>
                  </a:rPr>
                  <a:t> tương ứng của các trục </a:t>
                </a:r>
                <a:r>
                  <a:rPr lang="vi-VN"/>
                  <a:t>Ox,\ Oy</a:t>
                </a:r>
                <a:r>
                  <a:rPr sz="2000">
                    <a:solidFill>
                      <a:srgbClr val="1E293B"/>
                    </a:solidFill>
                    <a:latin typeface="Calibri"/>
                  </a:rPr>
                  <a:t>.</a:t>
                </a:r>
              </a:p>
            </p:txBody>
          </p:sp>
        </mc:Fallback>
      </mc:AlternateContent>
      <p:sp>
        <p:nvSpPr>
          <p:cNvPr id="11" name="s3_nen"/>
          <p:cNvSpPr/>
          <p:nvPr/>
        </p:nvSpPr>
        <p:spPr>
          <a:xfrm>
            <a:off x="548640" y="4642104"/>
            <a:ext cx="822960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s3_chu"/>
              <p:cNvSpPr txBox="1"/>
              <p:nvPr/>
            </p:nvSpPr>
            <p:spPr>
              <a:xfrm>
                <a:off x="713232" y="4678680"/>
                <a:ext cx="7900416" cy="49682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=1</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+0</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oMath>
                </a14:m>
                <a:r>
                  <a:rPr sz="2000">
                    <a:solidFill>
                      <a:srgbClr val="1E293B"/>
                    </a:solidFill>
                    <a:latin typeface="Calibri"/>
                  </a:rPr>
                  <a:t> nên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=(1; 0)</m:t>
                    </m:r>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r>
                      <a:rPr lang="vi-VN" sz="2000" b="0">
                        <a:solidFill>
                          <a:srgbClr val="1E293B"/>
                        </a:solidFill>
                        <a:latin typeface="Cambria Math" panose="02040503050406030204" pitchFamily="18" charset="0"/>
                      </a:rPr>
                      <m:t>=0</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+1</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oMath>
                </a14:m>
                <a:r>
                  <a:rPr sz="2000">
                    <a:solidFill>
                      <a:srgbClr val="1E293B"/>
                    </a:solidFill>
                    <a:latin typeface="Calibri"/>
                  </a:rPr>
                  <a:t> nên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r>
                      <a:rPr lang="vi-VN" sz="2000" b="0">
                        <a:solidFill>
                          <a:srgbClr val="1E293B"/>
                        </a:solidFill>
                        <a:latin typeface="Cambria Math" panose="02040503050406030204" pitchFamily="18" charset="0"/>
                      </a:rPr>
                      <m:t>=(0; 1)</m:t>
                    </m:r>
                  </m:oMath>
                </a14:m>
                <a:r>
                  <a:rPr sz="2000">
                    <a:solidFill>
                      <a:srgbClr val="1E293B"/>
                    </a:solidFill>
                    <a:latin typeface="Calibri"/>
                  </a:rPr>
                  <a:t>.</a:t>
                </a:r>
              </a:p>
            </p:txBody>
          </p:sp>
        </mc:Choice>
        <mc:Fallback xmlns="">
          <p:sp>
            <p:nvSpPr>
              <p:cNvPr id="12" name="TextBox 11"/>
              <p:cNvSpPr txBox="1"/>
              <p:nvPr/>
            </p:nvSpPr>
            <p:spPr>
              <a:xfrm>
                <a:off x="713232" y="4678680"/>
                <a:ext cx="790041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\vec{i}=1\vec{i}+0\vec{j}</a:t>
                </a:r>
                <a:r>
                  <a:rPr sz="2000">
                    <a:solidFill>
                      <a:srgbClr val="1E293B"/>
                    </a:solidFill>
                    <a:latin typeface="Calibri"/>
                  </a:rPr>
                  <a:t> nên </a:t>
                </a:r>
                <a:r>
                  <a:rPr lang="vi-VN"/>
                  <a:t>\vec{i}=(1;\ 0)</a:t>
                </a:r>
                <a:r>
                  <a:rPr sz="2000">
                    <a:solidFill>
                      <a:srgbClr val="1E293B"/>
                    </a:solidFill>
                    <a:latin typeface="Calibri"/>
                  </a:rPr>
                  <a:t>; </a:t>
                </a:r>
                <a:r>
                  <a:rPr lang="vi-VN"/>
                  <a:t>\vec{j}=0\vec{i}+1\vec{j}</a:t>
                </a:r>
                <a:r>
                  <a:rPr sz="2000">
                    <a:solidFill>
                      <a:srgbClr val="1E293B"/>
                    </a:solidFill>
                    <a:latin typeface="Calibri"/>
                  </a:rPr>
                  <a:t> nên </a:t>
                </a:r>
                <a:r>
                  <a:rPr lang="vi-VN"/>
                  <a:t>\vec{j}=(0;\ 1)</a:t>
                </a:r>
                <a:r>
                  <a:rPr sz="20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13" name="s4_chu"/>
              <p:cNvSpPr txBox="1"/>
              <p:nvPr/>
            </p:nvSpPr>
            <p:spPr>
              <a:xfrm>
                <a:off x="548640" y="5285232"/>
                <a:ext cx="8229600" cy="478536"/>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Luyện tập 1.</a:t>
                </a:r>
                <a:r>
                  <a:rPr sz="2000">
                    <a:solidFill>
                      <a:srgbClr val="1E293B"/>
                    </a:solidFill>
                    <a:latin typeface="Calibri"/>
                  </a:rPr>
                  <a:t> Tìm toạ độ của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0</m:t>
                        </m:r>
                      </m:e>
                    </m:acc>
                  </m:oMath>
                </a14:m>
                <a:r>
                  <a:rPr sz="2000">
                    <a:solidFill>
                      <a:srgbClr val="1E293B"/>
                    </a:solidFill>
                    <a:latin typeface="Calibri"/>
                  </a:rPr>
                  <a:t>.</a:t>
                </a:r>
              </a:p>
            </p:txBody>
          </p:sp>
        </mc:Choice>
        <mc:Fallback xmlns="">
          <p:sp>
            <p:nvSpPr>
              <p:cNvPr id="13" name="TextBox 12"/>
              <p:cNvSpPr txBox="1"/>
              <p:nvPr/>
            </p:nvSpPr>
            <p:spPr>
              <a:xfrm>
                <a:off x="548640" y="5285232"/>
                <a:ext cx="8229600" cy="478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Luyện tập 1.</a:t>
                </a:r>
                <a:r>
                  <a:rPr sz="2000">
                    <a:solidFill>
                      <a:srgbClr val="1E293B"/>
                    </a:solidFill>
                    <a:latin typeface="Calibri"/>
                  </a:rPr>
                  <a:t> Tìm toạ độ của </a:t>
                </a:r>
                <a:r>
                  <a:rPr lang="vi-VN"/>
                  <a:t>\vec{0}</a:t>
                </a:r>
                <a:r>
                  <a:rPr sz="2000">
                    <a:solidFill>
                      <a:srgbClr val="1E293B"/>
                    </a:solidFill>
                    <a:latin typeface="Calibri"/>
                  </a:rPr>
                  <a:t>.</a:t>
                </a:r>
              </a:p>
            </p:txBody>
          </p:sp>
        </mc:Fallback>
      </mc:AlternateContent>
      <p:sp>
        <p:nvSpPr>
          <p:cNvPr id="14" name="s5_nen"/>
          <p:cNvSpPr/>
          <p:nvPr/>
        </p:nvSpPr>
        <p:spPr>
          <a:xfrm>
            <a:off x="548640" y="5836920"/>
            <a:ext cx="822960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5" name="s5_chu"/>
              <p:cNvSpPr txBox="1"/>
              <p:nvPr/>
            </p:nvSpPr>
            <p:spPr>
              <a:xfrm>
                <a:off x="713232" y="5873496"/>
                <a:ext cx="7900416" cy="49682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0</m:t>
                        </m:r>
                      </m:e>
                    </m:acc>
                    <m:r>
                      <a:rPr lang="vi-VN" sz="2000" b="0">
                        <a:solidFill>
                          <a:srgbClr val="1E293B"/>
                        </a:solidFill>
                        <a:latin typeface="Cambria Math" panose="02040503050406030204" pitchFamily="18" charset="0"/>
                      </a:rPr>
                      <m:t>=0</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+0</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oMath>
                </a14:m>
                <a:r>
                  <a:rPr sz="2000">
                    <a:solidFill>
                      <a:srgbClr val="1E293B"/>
                    </a:solidFill>
                    <a:latin typeface="Calibri"/>
                  </a:rPr>
                  <a:t> nên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0</m:t>
                        </m:r>
                      </m:e>
                    </m:acc>
                    <m:r>
                      <a:rPr lang="vi-VN" sz="2000" b="0">
                        <a:solidFill>
                          <a:srgbClr val="1E293B"/>
                        </a:solidFill>
                        <a:latin typeface="Cambria Math" panose="02040503050406030204" pitchFamily="18" charset="0"/>
                      </a:rPr>
                      <m:t>=(0; 0)</m:t>
                    </m:r>
                  </m:oMath>
                </a14:m>
                <a:r>
                  <a:rPr sz="2000">
                    <a:solidFill>
                      <a:srgbClr val="1E293B"/>
                    </a:solidFill>
                    <a:latin typeface="Calibri"/>
                  </a:rPr>
                  <a:t>.</a:t>
                </a:r>
              </a:p>
            </p:txBody>
          </p:sp>
        </mc:Choice>
        <mc:Fallback xmlns="">
          <p:sp>
            <p:nvSpPr>
              <p:cNvPr id="15" name="TextBox 14"/>
              <p:cNvSpPr txBox="1"/>
              <p:nvPr/>
            </p:nvSpPr>
            <p:spPr>
              <a:xfrm>
                <a:off x="713232" y="5873496"/>
                <a:ext cx="790041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\vec{0}=0\vec{i}+0\vec{j}</a:t>
                </a:r>
                <a:r>
                  <a:rPr sz="2000">
                    <a:solidFill>
                      <a:srgbClr val="1E293B"/>
                    </a:solidFill>
                    <a:latin typeface="Calibri"/>
                  </a:rPr>
                  <a:t> nên </a:t>
                </a:r>
                <a:r>
                  <a:rPr lang="vi-VN"/>
                  <a:t>\vec{0}=(0;\ 0)</a:t>
                </a:r>
                <a:r>
                  <a:rPr sz="2000">
                    <a:solidFill>
                      <a:srgbClr val="1E293B"/>
                    </a:solidFill>
                    <a:latin typeface="Calibri"/>
                  </a:rPr>
                  <a:t>.</a:t>
                </a:r>
              </a:p>
            </p:txBody>
          </p:sp>
        </mc:Fallback>
      </mc:AlternateContent>
      <p:pic>
        <p:nvPicPr>
          <p:cNvPr id="16" name="Picture 15" descr="h434.png"/>
          <p:cNvPicPr>
            <a:picLocks noChangeAspect="1"/>
          </p:cNvPicPr>
          <p:nvPr/>
        </p:nvPicPr>
        <p:blipFill>
          <a:blip r:embed="rId3"/>
          <a:stretch>
            <a:fillRect/>
          </a:stretch>
        </p:blipFill>
        <p:spPr>
          <a:xfrm>
            <a:off x="9273364" y="1463040"/>
            <a:ext cx="2210151" cy="2560320"/>
          </a:xfrm>
          <a:prstGeom prst="rect">
            <a:avLst/>
          </a:prstGeom>
        </p:spPr>
      </p:pic>
      <p:sp>
        <p:nvSpPr>
          <p:cNvPr id="17" name="TextBox 16"/>
          <p:cNvSpPr txBox="1"/>
          <p:nvPr/>
        </p:nvSpPr>
        <p:spPr>
          <a:xfrm>
            <a:off x="9052560" y="4041648"/>
            <a:ext cx="2651760" cy="365760"/>
          </a:xfrm>
          <a:prstGeom prst="rect">
            <a:avLst/>
          </a:prstGeom>
          <a:noFill/>
        </p:spPr>
        <p:txBody>
          <a:bodyPr wrap="square" lIns="45720" rIns="45720" anchor="t">
            <a:spAutoFit/>
          </a:bodyPr>
          <a:lstStyle/>
          <a:p>
            <a:pPr algn="ctr">
              <a:spcAft>
                <a:spcPts val="800"/>
              </a:spcAft>
            </a:pPr>
            <a:r>
              <a:rPr sz="1600">
                <a:solidFill>
                  <a:srgbClr val="64748B"/>
                </a:solidFill>
                <a:latin typeface="Calibri"/>
              </a:rPr>
              <a:t>Hình 4.34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BIỂU THỨC TOẠ ĐỘ CÁC PHÉP TOÁN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9</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1133856"/>
              </a:xfrm>
              <a:prstGeom prst="rect">
                <a:avLst/>
              </a:prstGeom>
              <a:noFill/>
            </p:spPr>
            <p:txBody>
              <a:bodyPr wrap="square" lIns="45720" rIns="45720" anchor="t">
                <a:spAutoFit/>
              </a:bodyPr>
              <a:lstStyle/>
              <a:p>
                <a:pPr algn="l">
                  <a:spcAft>
                    <a:spcPts val="800"/>
                  </a:spcAft>
                </a:pPr>
                <a:r>
                  <a:rPr sz="2100" b="1">
                    <a:solidFill>
                      <a:srgbClr val="1E293B"/>
                    </a:solidFill>
                    <a:latin typeface="Calibri"/>
                  </a:rPr>
                  <a:t>HĐ3.</a:t>
                </a:r>
                <a:r>
                  <a:rPr sz="2100">
                    <a:solidFill>
                      <a:srgbClr val="1E293B"/>
                    </a:solidFill>
                    <a:latin typeface="Calibri"/>
                  </a:rPr>
                  <a:t> Trong mặt phẳng toạ độ </a:t>
                </a:r>
                <a14:m>
                  <m:oMath xmlns:m="http://schemas.openxmlformats.org/officeDocument/2006/math">
                    <m:r>
                      <a:rPr lang="vi-VN" sz="2100" b="0">
                        <a:solidFill>
                          <a:srgbClr val="1E293B"/>
                        </a:solidFill>
                        <a:latin typeface="Cambria Math" panose="02040503050406030204" pitchFamily="18" charset="0"/>
                      </a:rPr>
                      <m:t>𝑂𝑥𝑦</m:t>
                    </m:r>
                  </m:oMath>
                </a14:m>
                <a:r>
                  <a:rPr sz="2100">
                    <a:solidFill>
                      <a:srgbClr val="1E293B"/>
                    </a:solidFill>
                    <a:latin typeface="Calibri"/>
                  </a:rPr>
                  <a:t>, cho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r>
                      <a:rPr lang="vi-VN" sz="2100" b="0">
                        <a:solidFill>
                          <a:srgbClr val="1E293B"/>
                        </a:solidFill>
                        <a:latin typeface="Cambria Math" panose="02040503050406030204" pitchFamily="18" charset="0"/>
                      </a:rPr>
                      <m:t>=(2; −3)</m:t>
                    </m:r>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r>
                      <a:rPr lang="vi-VN" sz="2100" b="0">
                        <a:solidFill>
                          <a:srgbClr val="1E293B"/>
                        </a:solidFill>
                        <a:latin typeface="Cambria Math" panose="02040503050406030204" pitchFamily="18" charset="0"/>
                      </a:rPr>
                      <m:t>=(4; 1)</m:t>
                    </m:r>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𝑎</m:t>
                        </m:r>
                      </m:e>
                    </m:acc>
                    <m:r>
                      <a:rPr lang="vi-VN" sz="2100" b="0">
                        <a:solidFill>
                          <a:srgbClr val="1E293B"/>
                        </a:solidFill>
                        <a:latin typeface="Cambria Math" panose="02040503050406030204" pitchFamily="18" charset="0"/>
                      </a:rPr>
                      <m:t>=(8; −12)</m:t>
                    </m:r>
                  </m:oMath>
                </a14:m>
                <a:r>
                  <a:rPr sz="2100">
                    <a:solidFill>
                      <a:srgbClr val="1E293B"/>
                    </a:solidFill>
                    <a:latin typeface="Calibri"/>
                  </a:rPr>
                  <a:t>. a) Hãy biểu thị mỗi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r>
                      <a:rPr lang="vi-VN" sz="2100" b="0">
                        <a:solidFill>
                          <a:srgbClr val="1E293B"/>
                        </a:solidFill>
                        <a:latin typeface="Cambria Math" panose="02040503050406030204" pitchFamily="18" charset="0"/>
                      </a:rPr>
                      <m:t>, </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r>
                      <a:rPr lang="vi-VN" sz="2100" b="0">
                        <a:solidFill>
                          <a:srgbClr val="1E293B"/>
                        </a:solidFill>
                        <a:latin typeface="Cambria Math" panose="02040503050406030204" pitchFamily="18" charset="0"/>
                      </a:rPr>
                      <m:t>, </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𝑎</m:t>
                        </m:r>
                      </m:e>
                    </m:acc>
                  </m:oMath>
                </a14:m>
                <a:r>
                  <a:rPr sz="2100">
                    <a:solidFill>
                      <a:srgbClr val="1E293B"/>
                    </a:solidFill>
                    <a:latin typeface="Calibri"/>
                  </a:rPr>
                  <a:t> theo các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r>
                      <a:rPr lang="vi-VN" sz="2100" b="0">
                        <a:solidFill>
                          <a:srgbClr val="1E293B"/>
                        </a:solidFill>
                        <a:latin typeface="Cambria Math" panose="02040503050406030204" pitchFamily="18" charset="0"/>
                      </a:rPr>
                      <m:t>, </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𝑗</m:t>
                        </m:r>
                      </m:e>
                    </m:acc>
                  </m:oMath>
                </a14:m>
                <a:r>
                  <a:rPr sz="2100">
                    <a:solidFill>
                      <a:srgbClr val="1E293B"/>
                    </a:solidFill>
                    <a:latin typeface="Calibri"/>
                  </a:rPr>
                  <a:t>. b) Tìm toạ độ của các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r>
                      <a:rPr lang="vi-VN" sz="2100" b="0">
                        <a:solidFill>
                          <a:srgbClr val="1E293B"/>
                        </a:solidFill>
                        <a:latin typeface="Cambria Math" panose="02040503050406030204" pitchFamily="18" charset="0"/>
                      </a:rPr>
                      <m: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4</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oMath>
                </a14:m>
                <a:r>
                  <a:rPr sz="2100">
                    <a:solidFill>
                      <a:srgbClr val="1E293B"/>
                    </a:solidFill>
                    <a:latin typeface="Calibri"/>
                  </a:rPr>
                  <a:t>. c) Tìm mối liên hệ giữa hai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r>
                      <a:rPr lang="vi-VN" sz="2100" b="0">
                        <a:solidFill>
                          <a:srgbClr val="1E293B"/>
                        </a:solidFill>
                        <a:latin typeface="Cambria Math" panose="02040503050406030204" pitchFamily="18" charset="0"/>
                      </a:rPr>
                      <m:t>, </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𝑎</m:t>
                        </m:r>
                      </m:e>
                    </m:acc>
                  </m:oMath>
                </a14:m>
                <a:r>
                  <a:rPr sz="2100">
                    <a:solidFill>
                      <a:srgbClr val="1E293B"/>
                    </a:solidFill>
                    <a:latin typeface="Calibri"/>
                  </a:rPr>
                  <a:t>.</a:t>
                </a:r>
              </a:p>
            </p:txBody>
          </p:sp>
        </mc:Choice>
        <mc:Fallback xmlns="">
          <p:sp>
            <p:nvSpPr>
              <p:cNvPr id="7" name="TextBox 6"/>
              <p:cNvSpPr txBox="1"/>
              <p:nvPr/>
            </p:nvSpPr>
            <p:spPr>
              <a:xfrm>
                <a:off x="548640" y="1371600"/>
                <a:ext cx="1106424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HĐ3.</a:t>
                </a:r>
                <a:r>
                  <a:rPr sz="2100">
                    <a:solidFill>
                      <a:srgbClr val="1E293B"/>
                    </a:solidFill>
                    <a:latin typeface="Calibri"/>
                  </a:rPr>
                  <a:t> Trong mặt phẳng toạ độ </a:t>
                </a:r>
                <a:r>
                  <a:rPr lang="vi-VN"/>
                  <a:t>Oxy</a:t>
                </a:r>
                <a:r>
                  <a:rPr sz="2100">
                    <a:solidFill>
                      <a:srgbClr val="1E293B"/>
                    </a:solidFill>
                    <a:latin typeface="Calibri"/>
                  </a:rPr>
                  <a:t>, cho </a:t>
                </a:r>
                <a:r>
                  <a:rPr lang="vi-VN"/>
                  <a:t>\vec{u}=(2;\ -3)</a:t>
                </a:r>
                <a:r>
                  <a:rPr sz="2100">
                    <a:solidFill>
                      <a:srgbClr val="1E293B"/>
                    </a:solidFill>
                    <a:latin typeface="Calibri"/>
                  </a:rPr>
                  <a:t>, </a:t>
                </a:r>
                <a:r>
                  <a:rPr lang="vi-VN"/>
                  <a:t>\vec{v}=(4;\ 1)</a:t>
                </a:r>
                <a:r>
                  <a:rPr sz="2100">
                    <a:solidFill>
                      <a:srgbClr val="1E293B"/>
                    </a:solidFill>
                    <a:latin typeface="Calibri"/>
                  </a:rPr>
                  <a:t>, </a:t>
                </a:r>
                <a:r>
                  <a:rPr lang="vi-VN"/>
                  <a:t>\vec{a}=(8;\ -12)</a:t>
                </a:r>
                <a:r>
                  <a:rPr sz="2100">
                    <a:solidFill>
                      <a:srgbClr val="1E293B"/>
                    </a:solidFill>
                    <a:latin typeface="Calibri"/>
                  </a:rPr>
                  <a:t>. a) Hãy biểu thị mỗi vectơ </a:t>
                </a:r>
                <a:r>
                  <a:rPr lang="vi-VN"/>
                  <a:t>\vec{u},\ \vec{v},\ \vec{a}</a:t>
                </a:r>
                <a:r>
                  <a:rPr sz="2100">
                    <a:solidFill>
                      <a:srgbClr val="1E293B"/>
                    </a:solidFill>
                    <a:latin typeface="Calibri"/>
                  </a:rPr>
                  <a:t> theo các vectơ </a:t>
                </a:r>
                <a:r>
                  <a:rPr lang="vi-VN"/>
                  <a:t>\vec{i},\ \vec{j}</a:t>
                </a:r>
                <a:r>
                  <a:rPr sz="2100">
                    <a:solidFill>
                      <a:srgbClr val="1E293B"/>
                    </a:solidFill>
                    <a:latin typeface="Calibri"/>
                  </a:rPr>
                  <a:t>. b) Tìm toạ độ của các vectơ </a:t>
                </a:r>
                <a:r>
                  <a:rPr lang="vi-VN"/>
                  <a:t>\vec{u}+\vec{v}</a:t>
                </a:r>
                <a:r>
                  <a:rPr sz="2100">
                    <a:solidFill>
                      <a:srgbClr val="1E293B"/>
                    </a:solidFill>
                    <a:latin typeface="Calibri"/>
                  </a:rPr>
                  <a:t>, </a:t>
                </a:r>
                <a:r>
                  <a:rPr lang="vi-VN"/>
                  <a:t>4\vec{u}</a:t>
                </a:r>
                <a:r>
                  <a:rPr sz="2100">
                    <a:solidFill>
                      <a:srgbClr val="1E293B"/>
                    </a:solidFill>
                    <a:latin typeface="Calibri"/>
                  </a:rPr>
                  <a:t>. c) Tìm mối liên hệ giữa hai vectơ </a:t>
                </a:r>
                <a:r>
                  <a:rPr lang="vi-VN"/>
                  <a:t>\vec{u},\ \vec{a}</a:t>
                </a:r>
                <a:r>
                  <a:rPr sz="2100">
                    <a:solidFill>
                      <a:srgbClr val="1E293B"/>
                    </a:solidFill>
                    <a:latin typeface="Calibri"/>
                  </a:rPr>
                  <a:t>.</a:t>
                </a:r>
              </a:p>
            </p:txBody>
          </p:sp>
        </mc:Fallback>
      </mc:AlternateContent>
      <p:sp>
        <p:nvSpPr>
          <p:cNvPr id="8" name="s1_nen"/>
          <p:cNvSpPr/>
          <p:nvPr/>
        </p:nvSpPr>
        <p:spPr>
          <a:xfrm>
            <a:off x="548640" y="2578608"/>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615184"/>
                <a:ext cx="10735056" cy="512063"/>
              </a:xfrm>
              <a:prstGeom prst="rect">
                <a:avLst/>
              </a:prstGeom>
              <a:noFill/>
            </p:spPr>
            <p:txBody>
              <a:bodyPr wrap="square" lIns="45720" rIns="45720" anchor="ctr">
                <a:spAutoFit/>
              </a:bodyPr>
              <a:lstStyle/>
              <a:p>
                <a:pPr algn="l">
                  <a:spcAft>
                    <a:spcPts val="800"/>
                  </a:spcAft>
                </a:pPr>
                <a:r>
                  <a:rPr sz="2100">
                    <a:solidFill>
                      <a:srgbClr val="1E293B"/>
                    </a:solidFill>
                    <a:latin typeface="Calibri"/>
                  </a:rPr>
                  <a:t>a)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r>
                      <a:rPr lang="vi-VN" sz="2100" b="0">
                        <a:solidFill>
                          <a:srgbClr val="1E293B"/>
                        </a:solidFill>
                        <a:latin typeface="Cambria Math" panose="02040503050406030204" pitchFamily="18" charset="0"/>
                      </a:rPr>
                      <m:t>=2</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r>
                      <a:rPr lang="vi-VN" sz="2100" b="0">
                        <a:solidFill>
                          <a:srgbClr val="1E293B"/>
                        </a:solidFill>
                        <a:latin typeface="Cambria Math" panose="02040503050406030204" pitchFamily="18" charset="0"/>
                      </a:rPr>
                      <m:t>−3</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𝑗</m:t>
                        </m:r>
                      </m:e>
                    </m:acc>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r>
                      <a:rPr lang="vi-VN" sz="2100" b="0">
                        <a:solidFill>
                          <a:srgbClr val="1E293B"/>
                        </a:solidFill>
                        <a:latin typeface="Cambria Math" panose="02040503050406030204" pitchFamily="18" charset="0"/>
                      </a:rPr>
                      <m:t>=4</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r>
                      <a:rPr lang="vi-VN" sz="2100" b="0">
                        <a:solidFill>
                          <a:srgbClr val="1E293B"/>
                        </a:solidFill>
                        <a:latin typeface="Cambria Math" panose="02040503050406030204" pitchFamily="18" charset="0"/>
                      </a:rPr>
                      <m: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𝑗</m:t>
                        </m:r>
                      </m:e>
                    </m:acc>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𝑎</m:t>
                        </m:r>
                      </m:e>
                    </m:acc>
                    <m:r>
                      <a:rPr lang="vi-VN" sz="2100" b="0">
                        <a:solidFill>
                          <a:srgbClr val="1E293B"/>
                        </a:solidFill>
                        <a:latin typeface="Cambria Math" panose="02040503050406030204" pitchFamily="18" charset="0"/>
                      </a:rPr>
                      <m:t>=8</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𝑖</m:t>
                        </m:r>
                      </m:e>
                    </m:acc>
                    <m:r>
                      <a:rPr lang="vi-VN" sz="2100" b="0">
                        <a:solidFill>
                          <a:srgbClr val="1E293B"/>
                        </a:solidFill>
                        <a:latin typeface="Cambria Math" panose="02040503050406030204" pitchFamily="18" charset="0"/>
                      </a:rPr>
                      <m:t>−12</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𝑗</m:t>
                        </m:r>
                      </m:e>
                    </m:acc>
                  </m:oMath>
                </a14:m>
                <a:r>
                  <a:rPr sz="2100">
                    <a:solidFill>
                      <a:srgbClr val="1E293B"/>
                    </a:solidFill>
                    <a:latin typeface="Calibri"/>
                  </a:rPr>
                  <a:t>.</a:t>
                </a:r>
              </a:p>
            </p:txBody>
          </p:sp>
        </mc:Choice>
        <mc:Fallback xmlns="">
          <p:sp>
            <p:nvSpPr>
              <p:cNvPr id="9" name="TextBox 8"/>
              <p:cNvSpPr txBox="1"/>
              <p:nvPr/>
            </p:nvSpPr>
            <p:spPr>
              <a:xfrm>
                <a:off x="713232" y="2615184"/>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\vec{u}=2\vec{i}-3\vec{j}</a:t>
                </a:r>
                <a:r>
                  <a:rPr sz="2100">
                    <a:solidFill>
                      <a:srgbClr val="1E293B"/>
                    </a:solidFill>
                    <a:latin typeface="Calibri"/>
                  </a:rPr>
                  <a:t>, </a:t>
                </a:r>
                <a:r>
                  <a:rPr lang="vi-VN"/>
                  <a:t>\vec{v}=4\vec{i}+\vec{j}</a:t>
                </a:r>
                <a:r>
                  <a:rPr sz="2100">
                    <a:solidFill>
                      <a:srgbClr val="1E293B"/>
                    </a:solidFill>
                    <a:latin typeface="Calibri"/>
                  </a:rPr>
                  <a:t>, </a:t>
                </a:r>
                <a:r>
                  <a:rPr lang="vi-VN"/>
                  <a:t>\vec{a}=8\vec{i}-12\vec{j}</a:t>
                </a:r>
                <a:r>
                  <a:rPr sz="2100">
                    <a:solidFill>
                      <a:srgbClr val="1E293B"/>
                    </a:solidFill>
                    <a:latin typeface="Calibri"/>
                  </a:rPr>
                  <a:t>.</a:t>
                </a:r>
              </a:p>
            </p:txBody>
          </p:sp>
        </mc:Fallback>
      </mc:AlternateContent>
      <p:sp>
        <p:nvSpPr>
          <p:cNvPr id="10" name="s2_nen"/>
          <p:cNvSpPr/>
          <p:nvPr/>
        </p:nvSpPr>
        <p:spPr>
          <a:xfrm>
            <a:off x="548640" y="3236976"/>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273552"/>
                <a:ext cx="10735056" cy="512063"/>
              </a:xfrm>
              <a:prstGeom prst="rect">
                <a:avLst/>
              </a:prstGeom>
              <a:noFill/>
            </p:spPr>
            <p:txBody>
              <a:bodyPr wrap="square" lIns="45720" rIns="45720" anchor="ctr">
                <a:spAutoFit/>
              </a:bodyPr>
              <a:lstStyle/>
              <a:p>
                <a:pPr algn="l">
                  <a:spcAft>
                    <a:spcPts val="800"/>
                  </a:spcAft>
                </a:pPr>
                <a:r>
                  <a:rPr sz="2100">
                    <a:solidFill>
                      <a:srgbClr val="1E293B"/>
                    </a:solidFill>
                    <a:latin typeface="Calibri"/>
                  </a:rPr>
                  <a:t>b)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r>
                      <a:rPr lang="vi-VN" sz="2100" b="0">
                        <a:solidFill>
                          <a:srgbClr val="1E293B"/>
                        </a:solidFill>
                        <a:latin typeface="Cambria Math" panose="02040503050406030204" pitchFamily="18" charset="0"/>
                      </a:rPr>
                      <m: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r>
                      <a:rPr lang="vi-VN" sz="2100" b="0">
                        <a:solidFill>
                          <a:srgbClr val="1E293B"/>
                        </a:solidFill>
                        <a:latin typeface="Cambria Math" panose="02040503050406030204" pitchFamily="18" charset="0"/>
                      </a:rPr>
                      <m:t>=(6; −2)</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4</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r>
                      <a:rPr lang="vi-VN" sz="2100" b="0">
                        <a:solidFill>
                          <a:srgbClr val="1E293B"/>
                        </a:solidFill>
                        <a:latin typeface="Cambria Math" panose="02040503050406030204" pitchFamily="18" charset="0"/>
                      </a:rPr>
                      <m:t>=(8; −12)</m:t>
                    </m:r>
                  </m:oMath>
                </a14:m>
                <a:r>
                  <a:rPr sz="2100">
                    <a:solidFill>
                      <a:srgbClr val="1E293B"/>
                    </a:solidFill>
                    <a:latin typeface="Calibri"/>
                  </a:rPr>
                  <a:t>.</a:t>
                </a:r>
              </a:p>
            </p:txBody>
          </p:sp>
        </mc:Choice>
        <mc:Fallback xmlns="">
          <p:sp>
            <p:nvSpPr>
              <p:cNvPr id="11" name="TextBox 10"/>
              <p:cNvSpPr txBox="1"/>
              <p:nvPr/>
            </p:nvSpPr>
            <p:spPr>
              <a:xfrm>
                <a:off x="713232" y="3273552"/>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r>
                  <a:rPr lang="vi-VN"/>
                  <a:t>\vec{u}+\vec{v}=(6;\ -2)</a:t>
                </a:r>
                <a:r>
                  <a:rPr sz="2100">
                    <a:solidFill>
                      <a:srgbClr val="1E293B"/>
                    </a:solidFill>
                    <a:latin typeface="Calibri"/>
                  </a:rPr>
                  <a:t>, </a:t>
                </a:r>
                <a:r>
                  <a:rPr lang="vi-VN"/>
                  <a:t>4\vec{u}=(8;\ -12)</a:t>
                </a:r>
                <a:r>
                  <a:rPr sz="2100">
                    <a:solidFill>
                      <a:srgbClr val="1E293B"/>
                    </a:solidFill>
                    <a:latin typeface="Calibri"/>
                  </a:rPr>
                  <a:t>.</a:t>
                </a:r>
              </a:p>
            </p:txBody>
          </p:sp>
        </mc:Fallback>
      </mc:AlternateContent>
      <p:sp>
        <p:nvSpPr>
          <p:cNvPr id="12" name="s3_nen"/>
          <p:cNvSpPr/>
          <p:nvPr/>
        </p:nvSpPr>
        <p:spPr>
          <a:xfrm>
            <a:off x="548640" y="3895344"/>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s3_chu"/>
              <p:cNvSpPr txBox="1"/>
              <p:nvPr/>
            </p:nvSpPr>
            <p:spPr>
              <a:xfrm>
                <a:off x="713232" y="3931920"/>
                <a:ext cx="10735056" cy="512063"/>
              </a:xfrm>
              <a:prstGeom prst="rect">
                <a:avLst/>
              </a:prstGeom>
              <a:noFill/>
            </p:spPr>
            <p:txBody>
              <a:bodyPr wrap="square" lIns="45720" rIns="45720" anchor="ctr">
                <a:spAutoFit/>
              </a:bodyPr>
              <a:lstStyle/>
              <a:p>
                <a:pPr algn="l">
                  <a:spcAft>
                    <a:spcPts val="800"/>
                  </a:spcAft>
                </a:pPr>
                <a:r>
                  <a:rPr sz="2100">
                    <a:solidFill>
                      <a:srgbClr val="1E293B"/>
                    </a:solidFill>
                    <a:latin typeface="Calibri"/>
                  </a:rPr>
                  <a:t>c)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𝑎</m:t>
                        </m:r>
                      </m:e>
                    </m:acc>
                    <m:r>
                      <a:rPr lang="vi-VN" sz="2100" b="0">
                        <a:solidFill>
                          <a:srgbClr val="1E293B"/>
                        </a:solidFill>
                        <a:latin typeface="Cambria Math" panose="02040503050406030204" pitchFamily="18" charset="0"/>
                      </a:rPr>
                      <m:t>=4</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oMath>
                </a14:m>
                <a:r>
                  <a:rPr sz="2100">
                    <a:solidFill>
                      <a:srgbClr val="1E293B"/>
                    </a:solidFill>
                    <a:latin typeface="Calibri"/>
                  </a:rPr>
                  <a:t> – hai vectơ cùng hướng.</a:t>
                </a:r>
              </a:p>
            </p:txBody>
          </p:sp>
        </mc:Choice>
        <mc:Fallback xmlns="">
          <p:sp>
            <p:nvSpPr>
              <p:cNvPr id="13" name="TextBox 12"/>
              <p:cNvSpPr txBox="1"/>
              <p:nvPr/>
            </p:nvSpPr>
            <p:spPr>
              <a:xfrm>
                <a:off x="713232" y="3931920"/>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 </a:t>
                </a:r>
                <a:r>
                  <a:rPr lang="vi-VN"/>
                  <a:t>\vec{a}=4\vec{u}</a:t>
                </a:r>
                <a:r>
                  <a:rPr sz="2100">
                    <a:solidFill>
                      <a:srgbClr val="1E293B"/>
                    </a:solidFill>
                    <a:latin typeface="Calibri"/>
                  </a:rPr>
                  <a:t> – hai vectơ cùng hướng.</a:t>
                </a:r>
              </a:p>
            </p:txBody>
          </p:sp>
        </mc:Fallback>
      </mc:AlternateContent>
      <p:sp>
        <p:nvSpPr>
          <p:cNvPr id="14" name="s4_nen"/>
          <p:cNvSpPr/>
          <p:nvPr/>
        </p:nvSpPr>
        <p:spPr>
          <a:xfrm>
            <a:off x="548640" y="4553712"/>
            <a:ext cx="11064240" cy="90525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5" name="s4_chu"/>
              <p:cNvSpPr txBox="1"/>
              <p:nvPr/>
            </p:nvSpPr>
            <p:spPr>
              <a:xfrm>
                <a:off x="713232" y="4590288"/>
                <a:ext cx="10735056" cy="832103"/>
              </a:xfrm>
              <a:prstGeom prst="rect">
                <a:avLst/>
              </a:prstGeom>
              <a:noFill/>
            </p:spPr>
            <p:txBody>
              <a:bodyPr wrap="square" lIns="45720" rIns="45720" anchor="ctr">
                <a:spAutoFit/>
              </a:bodyPr>
              <a:lstStyle/>
              <a:p>
                <a:pPr algn="l">
                  <a:spcAft>
                    <a:spcPts val="800"/>
                  </a:spcAft>
                </a:pPr>
                <a:r>
                  <a:rPr sz="2100">
                    <a:solidFill>
                      <a:srgbClr val="1E293B"/>
                    </a:solidFill>
                    <a:latin typeface="Calibri"/>
                  </a:rPr>
                  <a:t>Cho hai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𝑥</m:t>
                    </m:r>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𝑦</m:t>
                    </m:r>
                    <m:r>
                      <a:rPr lang="vi-VN" sz="2100" b="0">
                        <a:solidFill>
                          <a:srgbClr val="1E293B"/>
                        </a:solidFill>
                        <a:latin typeface="Cambria Math" panose="02040503050406030204" pitchFamily="18" charset="0"/>
                      </a:rPr>
                      <m:t>)</m:t>
                    </m:r>
                  </m:oMath>
                </a14:m>
                <a:r>
                  <a:rPr sz="2100">
                    <a:solidFill>
                      <a:srgbClr val="1E293B"/>
                    </a:solidFill>
                    <a:latin typeface="Calibri"/>
                  </a:rPr>
                  <a:t> và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r>
                      <a:rPr lang="vi-VN" sz="2100" b="0">
                        <a:solidFill>
                          <a:srgbClr val="1E293B"/>
                        </a:solidFill>
                        <a:latin typeface="Cambria Math" panose="02040503050406030204" pitchFamily="18" charset="0"/>
                      </a:rPr>
                      <m:t>=(</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𝑥</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 </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𝑦</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oMath>
                </a14:m>
                <a:r>
                  <a:rPr sz="2100">
                    <a:solidFill>
                      <a:srgbClr val="1E293B"/>
                    </a:solidFill>
                    <a:latin typeface="Calibri"/>
                  </a:rPr>
                  <a:t>. Khi đó: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r>
                      <a:rPr lang="vi-VN" sz="2100" b="0">
                        <a:solidFill>
                          <a:srgbClr val="1E293B"/>
                        </a:solidFill>
                        <a:latin typeface="Cambria Math" panose="02040503050406030204" pitchFamily="18" charset="0"/>
                      </a:rPr>
                      <m: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𝑥</m:t>
                    </m:r>
                    <m:r>
                      <a:rPr lang="vi-VN" sz="2100" b="0">
                        <a:solidFill>
                          <a:srgbClr val="1E293B"/>
                        </a:solidFill>
                        <a:latin typeface="Cambria Math" panose="02040503050406030204" pitchFamily="18" charset="0"/>
                      </a:rPr>
                      <m:t>+</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𝑥</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𝑦</m:t>
                    </m:r>
                    <m:r>
                      <a:rPr lang="vi-VN" sz="2100" b="0">
                        <a:solidFill>
                          <a:srgbClr val="1E293B"/>
                        </a:solidFill>
                        <a:latin typeface="Cambria Math" panose="02040503050406030204" pitchFamily="18" charset="0"/>
                      </a:rPr>
                      <m:t>+</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𝑦</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r>
                      <a:rPr lang="vi-VN" sz="2100" b="0">
                        <a:solidFill>
                          <a:srgbClr val="1E293B"/>
                        </a:solidFill>
                        <a:latin typeface="Cambria Math" panose="02040503050406030204" pitchFamily="18" charset="0"/>
                      </a:rPr>
                      <m: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𝑥</m:t>
                    </m:r>
                    <m:r>
                      <a:rPr lang="vi-VN" sz="2100" b="0">
                        <a:solidFill>
                          <a:srgbClr val="1E293B"/>
                        </a:solidFill>
                        <a:latin typeface="Cambria Math" panose="02040503050406030204" pitchFamily="18" charset="0"/>
                      </a:rPr>
                      <m:t>−</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𝑥</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𝑦</m:t>
                    </m:r>
                    <m:r>
                      <a:rPr lang="vi-VN" sz="2100" b="0">
                        <a:solidFill>
                          <a:srgbClr val="1E293B"/>
                        </a:solidFill>
                        <a:latin typeface="Cambria Math" panose="02040503050406030204" pitchFamily="18" charset="0"/>
                      </a:rPr>
                      <m:t>−</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𝑦</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𝑘</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𝑘𝑥</m:t>
                    </m:r>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𝑘𝑦</m:t>
                    </m:r>
                    <m:r>
                      <a:rPr lang="vi-VN" sz="2100" b="0">
                        <a:solidFill>
                          <a:srgbClr val="1E293B"/>
                        </a:solidFill>
                        <a:latin typeface="Cambria Math" panose="02040503050406030204" pitchFamily="18" charset="0"/>
                      </a:rPr>
                      <m:t>)</m:t>
                    </m:r>
                  </m:oMath>
                </a14:m>
                <a:r>
                  <a:rPr sz="2100">
                    <a:solidFill>
                      <a:srgbClr val="1E293B"/>
                    </a:solidFill>
                    <a:latin typeface="Calibri"/>
                  </a:rPr>
                  <a:t>, với </a:t>
                </a:r>
                <a14:m>
                  <m:oMath xmlns:m="http://schemas.openxmlformats.org/officeDocument/2006/math">
                    <m:r>
                      <a:rPr lang="vi-VN" sz="2100" b="0">
                        <a:solidFill>
                          <a:srgbClr val="1E293B"/>
                        </a:solidFill>
                        <a:latin typeface="Cambria Math" panose="02040503050406030204" pitchFamily="18" charset="0"/>
                      </a:rPr>
                      <m:t>𝑘</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ℝ</m:t>
                    </m:r>
                  </m:oMath>
                </a14:m>
                <a:r>
                  <a:rPr sz="2100">
                    <a:solidFill>
                      <a:srgbClr val="1E293B"/>
                    </a:solidFill>
                    <a:latin typeface="Calibri"/>
                  </a:rPr>
                  <a:t>.</a:t>
                </a:r>
              </a:p>
            </p:txBody>
          </p:sp>
        </mc:Choice>
        <mc:Fallback xmlns="">
          <p:sp>
            <p:nvSpPr>
              <p:cNvPr id="15" name="TextBox 14"/>
              <p:cNvSpPr txBox="1"/>
              <p:nvPr/>
            </p:nvSpPr>
            <p:spPr>
              <a:xfrm>
                <a:off x="713232" y="4590288"/>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Cho hai vectơ </a:t>
                </a:r>
                <a:r>
                  <a:rPr lang="vi-VN"/>
                  <a:t>\vec{u}=(x;\ y)</a:t>
                </a:r>
                <a:r>
                  <a:rPr sz="2100">
                    <a:solidFill>
                      <a:srgbClr val="1E293B"/>
                    </a:solidFill>
                    <a:latin typeface="Calibri"/>
                  </a:rPr>
                  <a:t> và </a:t>
                </a:r>
                <a:r>
                  <a:rPr lang="vi-VN"/>
                  <a:t>\vec{v}=(x';\ y')</a:t>
                </a:r>
                <a:r>
                  <a:rPr sz="2100">
                    <a:solidFill>
                      <a:srgbClr val="1E293B"/>
                    </a:solidFill>
                    <a:latin typeface="Calibri"/>
                  </a:rPr>
                  <a:t>. Khi đó: </a:t>
                </a:r>
                <a:r>
                  <a:rPr lang="vi-VN"/>
                  <a:t>\vec{u}+\vec{v}=(x+x';\ y+y')</a:t>
                </a:r>
                <a:r>
                  <a:rPr sz="2100">
                    <a:solidFill>
                      <a:srgbClr val="1E293B"/>
                    </a:solidFill>
                    <a:latin typeface="Calibri"/>
                  </a:rPr>
                  <a:t>; </a:t>
                </a:r>
                <a:r>
                  <a:rPr lang="vi-VN"/>
                  <a:t>\vec{u}-\vec{v}=(x-x';\ y-y')</a:t>
                </a:r>
                <a:r>
                  <a:rPr sz="2100">
                    <a:solidFill>
                      <a:srgbClr val="1E293B"/>
                    </a:solidFill>
                    <a:latin typeface="Calibri"/>
                  </a:rPr>
                  <a:t>; </a:t>
                </a:r>
                <a:r>
                  <a:rPr lang="vi-VN"/>
                  <a:t>k\vec{u}=(kx;\ ky)</a:t>
                </a:r>
                <a:r>
                  <a:rPr sz="2100">
                    <a:solidFill>
                      <a:srgbClr val="1E293B"/>
                    </a:solidFill>
                    <a:latin typeface="Calibri"/>
                  </a:rPr>
                  <a:t>, với </a:t>
                </a:r>
                <a:r>
                  <a:rPr lang="vi-VN"/>
                  <a:t>k\in\mathbb{R}</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2 (SGK TR.62)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10</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1032510"/>
              </a:xfrm>
              <a:prstGeom prst="rect">
                <a:avLst/>
              </a:prstGeom>
              <a:noFill/>
            </p:spPr>
            <p:txBody>
              <a:bodyPr wrap="square" lIns="45720" rIns="45720" anchor="t">
                <a:spAutoFit/>
              </a:bodyPr>
              <a:lstStyle/>
              <a:p>
                <a:pPr algn="l">
                  <a:spcAft>
                    <a:spcPts val="800"/>
                  </a:spcAft>
                </a:pPr>
                <a:r>
                  <a:rPr sz="2300">
                    <a:solidFill>
                      <a:srgbClr val="1E293B"/>
                    </a:solidFill>
                    <a:latin typeface="Calibri"/>
                  </a:rPr>
                  <a:t>Cho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r>
                      <a:rPr lang="vi-VN" sz="2300" b="0">
                        <a:solidFill>
                          <a:srgbClr val="1E293B"/>
                        </a:solidFill>
                        <a:latin typeface="Cambria Math" panose="02040503050406030204" pitchFamily="18" charset="0"/>
                      </a:rPr>
                      <m:t>=(1; 2)</m:t>
                    </m:r>
                  </m:oMath>
                </a14:m>
                <a:r>
                  <a:rPr sz="2300">
                    <a:solidFill>
                      <a:srgbClr val="1E293B"/>
                    </a:solidFill>
                    <a:latin typeface="Calibri"/>
                  </a:rPr>
                  <a:t>,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r>
                      <a:rPr lang="vi-VN" sz="2300" b="0">
                        <a:solidFill>
                          <a:srgbClr val="1E293B"/>
                        </a:solidFill>
                        <a:latin typeface="Cambria Math" panose="02040503050406030204" pitchFamily="18" charset="0"/>
                      </a:rPr>
                      <m:t>=</m:t>
                    </m:r>
                    <m:d>
                      <m:dPr>
                        <m:ctrlPr>
                          <a:rPr lang="vi-VN" sz="2300" b="0" i="1">
                            <a:solidFill>
                              <a:srgbClr val="1E293B"/>
                            </a:solidFill>
                            <a:latin typeface="Cambria Math" panose="02040503050406030204" pitchFamily="18" charset="0"/>
                          </a:rPr>
                        </m:ctrlPr>
                      </m:dPr>
                      <m:e>
                        <m:f>
                          <m:fPr>
                            <m:ctrlPr>
                              <a:rPr lang="vi-VN" sz="2300" b="0">
                                <a:solidFill>
                                  <a:srgbClr val="1E293B"/>
                                </a:solidFill>
                                <a:latin typeface="Cambria Math" panose="02040503050406030204" pitchFamily="18" charset="0"/>
                              </a:rPr>
                            </m:ctrlPr>
                          </m:fPr>
                          <m:num>
                            <m:r>
                              <a:rPr lang="vi-VN" sz="2300" b="0">
                                <a:solidFill>
                                  <a:srgbClr val="1E293B"/>
                                </a:solidFill>
                                <a:latin typeface="Cambria Math" panose="02040503050406030204" pitchFamily="18" charset="0"/>
                              </a:rPr>
                              <m:t>3</m:t>
                            </m:r>
                          </m:num>
                          <m:den>
                            <m:r>
                              <a:rPr lang="vi-VN" sz="2300" b="0">
                                <a:solidFill>
                                  <a:srgbClr val="1E293B"/>
                                </a:solidFill>
                                <a:latin typeface="Cambria Math" panose="02040503050406030204" pitchFamily="18" charset="0"/>
                              </a:rPr>
                              <m:t>2</m:t>
                            </m:r>
                          </m:den>
                        </m:f>
                        <m:r>
                          <a:rPr lang="vi-VN" sz="2300" b="0">
                            <a:solidFill>
                              <a:srgbClr val="1E293B"/>
                            </a:solidFill>
                            <a:latin typeface="Cambria Math" panose="02040503050406030204" pitchFamily="18" charset="0"/>
                          </a:rPr>
                          <m:t>; 3</m:t>
                        </m:r>
                      </m:e>
                    </m:d>
                  </m:oMath>
                </a14:m>
                <a:r>
                  <a:rPr sz="2300">
                    <a:solidFill>
                      <a:srgbClr val="1E293B"/>
                    </a:solidFill>
                    <a:latin typeface="Calibri"/>
                  </a:rPr>
                  <a:t>. a) Tìm toạ độ của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r>
                      <a:rPr lang="vi-VN" sz="2300" b="0">
                        <a:solidFill>
                          <a:srgbClr val="1E293B"/>
                        </a:solidFill>
                        <a:latin typeface="Cambria Math" panose="02040503050406030204" pitchFamily="18" charset="0"/>
                      </a:rPr>
                      <m:t>+</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oMath>
                </a14:m>
                <a:r>
                  <a:rPr sz="2300">
                    <a:solidFill>
                      <a:srgbClr val="1E293B"/>
                    </a:solidFill>
                    <a:latin typeface="Calibri"/>
                  </a:rPr>
                  <a:t>,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r>
                      <a:rPr lang="vi-VN" sz="2300" b="0">
                        <a:solidFill>
                          <a:srgbClr val="1E293B"/>
                        </a:solidFill>
                        <a:latin typeface="Cambria Math" panose="02040503050406030204" pitchFamily="18" charset="0"/>
                      </a:rPr>
                      <m:t>−2</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oMath>
                </a14:m>
                <a:r>
                  <a:rPr sz="2300">
                    <a:solidFill>
                      <a:srgbClr val="1E293B"/>
                    </a:solidFill>
                    <a:latin typeface="Calibri"/>
                  </a:rPr>
                  <a:t>. b) Hỏi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oMath>
                </a14:m>
                <a:r>
                  <a:rPr sz="2300">
                    <a:solidFill>
                      <a:srgbClr val="1E293B"/>
                    </a:solidFill>
                    <a:latin typeface="Calibri"/>
                  </a:rPr>
                  <a:t> và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oMath>
                </a14:m>
                <a:r>
                  <a:rPr sz="2300">
                    <a:solidFill>
                      <a:srgbClr val="1E293B"/>
                    </a:solidFill>
                    <a:latin typeface="Calibri"/>
                  </a:rPr>
                  <a:t> có cùng phương hay không?</a:t>
                </a:r>
              </a:p>
            </p:txBody>
          </p:sp>
        </mc:Choice>
        <mc:Fallback xmlns="">
          <p:sp>
            <p:nvSpPr>
              <p:cNvPr id="7" name="TextBox 6"/>
              <p:cNvSpPr txBox="1"/>
              <p:nvPr/>
            </p:nvSpPr>
            <p:spPr>
              <a:xfrm>
                <a:off x="548640" y="1371600"/>
                <a:ext cx="11064240" cy="1032510"/>
              </a:xfrm>
              <a:prstGeom prst="rect">
                <a:avLst/>
              </a:prstGeom>
              <a:noFill/>
            </p:spPr>
            <p:txBody>
              <a:bodyPr wrap="square" anchor="t" lIns="45720" rIns="45720">
                <a:spAutoFit/>
              </a:bodyPr>
              <a:lstStyle/>
              <a:p>
                <a:pPr algn="l">
                  <a:spcAft>
                    <a:spcPts val="800"/>
                  </a:spcAft>
                </a:pPr>
                <a:r>
                  <a:rPr sz="2300">
                    <a:solidFill>
                      <a:srgbClr val="1E293B"/>
                    </a:solidFill>
                    <a:latin typeface="Calibri"/>
                  </a:rPr>
                  <a:t>Cho </a:t>
                </a:r>
                <a:r>
                  <a:rPr lang="vi-VN"/>
                  <a:t>\vec{a}=(1;\ 2)</a:t>
                </a:r>
                <a:r>
                  <a:rPr sz="2300">
                    <a:solidFill>
                      <a:srgbClr val="1E293B"/>
                    </a:solidFill>
                    <a:latin typeface="Calibri"/>
                  </a:rPr>
                  <a:t>, </a:t>
                </a:r>
                <a:r>
                  <a:rPr lang="vi-VN"/>
                  <a:t>\vec{b}=\left(\frac{3}{2};\ 3\right)</a:t>
                </a:r>
                <a:r>
                  <a:rPr sz="2300">
                    <a:solidFill>
                      <a:srgbClr val="1E293B"/>
                    </a:solidFill>
                    <a:latin typeface="Calibri"/>
                  </a:rPr>
                  <a:t>. a) Tìm toạ độ của </a:t>
                </a:r>
                <a:r>
                  <a:rPr lang="vi-VN"/>
                  <a:t>\vec{a}+\vec{b}</a:t>
                </a:r>
                <a:r>
                  <a:rPr sz="2300">
                    <a:solidFill>
                      <a:srgbClr val="1E293B"/>
                    </a:solidFill>
                    <a:latin typeface="Calibri"/>
                  </a:rPr>
                  <a:t>, </a:t>
                </a:r>
                <a:r>
                  <a:rPr lang="vi-VN"/>
                  <a:t>\vec{a}-2\vec{b}</a:t>
                </a:r>
                <a:r>
                  <a:rPr sz="2300">
                    <a:solidFill>
                      <a:srgbClr val="1E293B"/>
                    </a:solidFill>
                    <a:latin typeface="Calibri"/>
                  </a:rPr>
                  <a:t>. b) Hỏi </a:t>
                </a:r>
                <a:r>
                  <a:rPr lang="vi-VN"/>
                  <a:t>\vec{a}</a:t>
                </a:r>
                <a:r>
                  <a:rPr sz="2300">
                    <a:solidFill>
                      <a:srgbClr val="1E293B"/>
                    </a:solidFill>
                    <a:latin typeface="Calibri"/>
                  </a:rPr>
                  <a:t> và </a:t>
                </a:r>
                <a:r>
                  <a:rPr lang="vi-VN"/>
                  <a:t>\vec{b}</a:t>
                </a:r>
                <a:r>
                  <a:rPr sz="2300">
                    <a:solidFill>
                      <a:srgbClr val="1E293B"/>
                    </a:solidFill>
                    <a:latin typeface="Calibri"/>
                  </a:rPr>
                  <a:t> có cùng phương hay không?</a:t>
                </a:r>
              </a:p>
            </p:txBody>
          </p:sp>
        </mc:Fallback>
      </mc:AlternateContent>
      <p:sp>
        <p:nvSpPr>
          <p:cNvPr id="8" name="s1_nen"/>
          <p:cNvSpPr/>
          <p:nvPr/>
        </p:nvSpPr>
        <p:spPr>
          <a:xfrm>
            <a:off x="548640" y="2513838"/>
            <a:ext cx="11064240" cy="7734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550414"/>
                <a:ext cx="10735056" cy="700278"/>
              </a:xfrm>
              <a:prstGeom prst="rect">
                <a:avLst/>
              </a:prstGeom>
              <a:noFill/>
            </p:spPr>
            <p:txBody>
              <a:bodyPr wrap="square" lIns="45720" rIns="45720" anchor="ctr">
                <a:spAutoFit/>
              </a:bodyPr>
              <a:lstStyle/>
              <a:p>
                <a:pPr algn="l">
                  <a:spcAft>
                    <a:spcPts val="800"/>
                  </a:spcAft>
                </a:pPr>
                <a:r>
                  <a:rPr sz="2300">
                    <a:solidFill>
                      <a:srgbClr val="1E293B"/>
                    </a:solidFill>
                    <a:latin typeface="Calibri"/>
                  </a:rPr>
                  <a:t>a)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r>
                      <a:rPr lang="vi-VN" sz="2300" b="0">
                        <a:solidFill>
                          <a:srgbClr val="1E293B"/>
                        </a:solidFill>
                        <a:latin typeface="Cambria Math" panose="02040503050406030204" pitchFamily="18" charset="0"/>
                      </a:rPr>
                      <m:t>+</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r>
                      <a:rPr lang="vi-VN" sz="2300" b="0">
                        <a:solidFill>
                          <a:srgbClr val="1E293B"/>
                        </a:solidFill>
                        <a:latin typeface="Cambria Math" panose="02040503050406030204" pitchFamily="18" charset="0"/>
                      </a:rPr>
                      <m:t>=</m:t>
                    </m:r>
                    <m:d>
                      <m:dPr>
                        <m:ctrlPr>
                          <a:rPr lang="vi-VN" sz="2300" b="0" i="1">
                            <a:solidFill>
                              <a:srgbClr val="1E293B"/>
                            </a:solidFill>
                            <a:latin typeface="Cambria Math" panose="02040503050406030204" pitchFamily="18" charset="0"/>
                          </a:rPr>
                        </m:ctrlPr>
                      </m:dPr>
                      <m:e>
                        <m:f>
                          <m:fPr>
                            <m:ctrlPr>
                              <a:rPr lang="vi-VN" sz="2300" b="0">
                                <a:solidFill>
                                  <a:srgbClr val="1E293B"/>
                                </a:solidFill>
                                <a:latin typeface="Cambria Math" panose="02040503050406030204" pitchFamily="18" charset="0"/>
                              </a:rPr>
                            </m:ctrlPr>
                          </m:fPr>
                          <m:num>
                            <m:r>
                              <a:rPr lang="vi-VN" sz="2300" b="0">
                                <a:solidFill>
                                  <a:srgbClr val="1E293B"/>
                                </a:solidFill>
                                <a:latin typeface="Cambria Math" panose="02040503050406030204" pitchFamily="18" charset="0"/>
                              </a:rPr>
                              <m:t>5</m:t>
                            </m:r>
                          </m:num>
                          <m:den>
                            <m:r>
                              <a:rPr lang="vi-VN" sz="2300" b="0">
                                <a:solidFill>
                                  <a:srgbClr val="1E293B"/>
                                </a:solidFill>
                                <a:latin typeface="Cambria Math" panose="02040503050406030204" pitchFamily="18" charset="0"/>
                              </a:rPr>
                              <m:t>2</m:t>
                            </m:r>
                          </m:den>
                        </m:f>
                        <m:r>
                          <a:rPr lang="vi-VN" sz="2300" b="0">
                            <a:solidFill>
                              <a:srgbClr val="1E293B"/>
                            </a:solidFill>
                            <a:latin typeface="Cambria Math" panose="02040503050406030204" pitchFamily="18" charset="0"/>
                          </a:rPr>
                          <m:t>; 5</m:t>
                        </m:r>
                      </m:e>
                    </m:d>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2</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r>
                      <a:rPr lang="vi-VN" sz="2300" b="0">
                        <a:solidFill>
                          <a:srgbClr val="1E293B"/>
                        </a:solidFill>
                        <a:latin typeface="Cambria Math" panose="02040503050406030204" pitchFamily="18" charset="0"/>
                      </a:rPr>
                      <m:t>=(3; 6)</m:t>
                    </m:r>
                  </m:oMath>
                </a14:m>
                <a:r>
                  <a:rPr sz="2300">
                    <a:solidFill>
                      <a:srgbClr val="1E293B"/>
                    </a:solidFill>
                    <a:latin typeface="Calibri"/>
                  </a:rPr>
                  <a:t> nên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r>
                      <a:rPr lang="vi-VN" sz="2300" b="0">
                        <a:solidFill>
                          <a:srgbClr val="1E293B"/>
                        </a:solidFill>
                        <a:latin typeface="Cambria Math" panose="02040503050406030204" pitchFamily="18" charset="0"/>
                      </a:rPr>
                      <m:t>−2</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r>
                      <a:rPr lang="vi-VN" sz="2300" b="0">
                        <a:solidFill>
                          <a:srgbClr val="1E293B"/>
                        </a:solidFill>
                        <a:latin typeface="Cambria Math" panose="02040503050406030204" pitchFamily="18" charset="0"/>
                      </a:rPr>
                      <m:t>=(−2; −4)</m:t>
                    </m:r>
                  </m:oMath>
                </a14:m>
                <a:r>
                  <a:rPr sz="2300">
                    <a:solidFill>
                      <a:srgbClr val="1E293B"/>
                    </a:solidFill>
                    <a:latin typeface="Calibri"/>
                  </a:rPr>
                  <a:t>.</a:t>
                </a:r>
              </a:p>
            </p:txBody>
          </p:sp>
        </mc:Choice>
        <mc:Fallback xmlns="">
          <p:sp>
            <p:nvSpPr>
              <p:cNvPr id="9" name="TextBox 8"/>
              <p:cNvSpPr txBox="1"/>
              <p:nvPr/>
            </p:nvSpPr>
            <p:spPr>
              <a:xfrm>
                <a:off x="713232" y="2550414"/>
                <a:ext cx="10735056" cy="700278"/>
              </a:xfrm>
              <a:prstGeom prst="rect">
                <a:avLst/>
              </a:prstGeom>
              <a:noFill/>
            </p:spPr>
            <p:txBody>
              <a:bodyPr wrap="square" anchor="ctr" lIns="45720" rIns="45720">
                <a:spAutoFit/>
              </a:bodyPr>
              <a:lstStyle/>
              <a:p>
                <a:pPr algn="l">
                  <a:spcAft>
                    <a:spcPts val="800"/>
                  </a:spcAft>
                </a:pPr>
                <a:r>
                  <a:rPr sz="2300">
                    <a:solidFill>
                      <a:srgbClr val="1E293B"/>
                    </a:solidFill>
                    <a:latin typeface="Calibri"/>
                  </a:rPr>
                  <a:t>a) </a:t>
                </a:r>
                <a:r>
                  <a:rPr lang="vi-VN"/>
                  <a:t>\vec{a}+\vec{b}=\left(\frac{5}{2};\ 5\right)</a:t>
                </a:r>
                <a:r>
                  <a:rPr sz="2300">
                    <a:solidFill>
                      <a:srgbClr val="1E293B"/>
                    </a:solidFill>
                    <a:latin typeface="Calibri"/>
                  </a:rPr>
                  <a:t>; </a:t>
                </a:r>
                <a:r>
                  <a:rPr lang="vi-VN"/>
                  <a:t>2\vec{b}=(3;\ 6)</a:t>
                </a:r>
                <a:r>
                  <a:rPr sz="2300">
                    <a:solidFill>
                      <a:srgbClr val="1E293B"/>
                    </a:solidFill>
                    <a:latin typeface="Calibri"/>
                  </a:rPr>
                  <a:t> nên </a:t>
                </a:r>
                <a:r>
                  <a:rPr lang="vi-VN"/>
                  <a:t>\vec{a}-2\vec{b}=(-2;\ -4)</a:t>
                </a:r>
                <a:r>
                  <a:rPr sz="2300">
                    <a:solidFill>
                      <a:srgbClr val="1E293B"/>
                    </a:solidFill>
                    <a:latin typeface="Calibri"/>
                  </a:rPr>
                  <a:t>.</a:t>
                </a:r>
              </a:p>
            </p:txBody>
          </p:sp>
        </mc:Fallback>
      </mc:AlternateContent>
      <p:sp>
        <p:nvSpPr>
          <p:cNvPr id="10" name="s2_nen"/>
          <p:cNvSpPr/>
          <p:nvPr/>
        </p:nvSpPr>
        <p:spPr>
          <a:xfrm>
            <a:off x="548640" y="3396996"/>
            <a:ext cx="11064240" cy="93116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433572"/>
                <a:ext cx="10735056" cy="858011"/>
              </a:xfrm>
              <a:prstGeom prst="rect">
                <a:avLst/>
              </a:prstGeom>
              <a:noFill/>
            </p:spPr>
            <p:txBody>
              <a:bodyPr wrap="square" lIns="45720" rIns="45720" anchor="ctr">
                <a:spAutoFit/>
              </a:bodyPr>
              <a:lstStyle/>
              <a:p>
                <a:pPr algn="l">
                  <a:spcAft>
                    <a:spcPts val="800"/>
                  </a:spcAft>
                </a:pPr>
                <a:r>
                  <a:rPr sz="2300">
                    <a:solidFill>
                      <a:srgbClr val="1E293B"/>
                    </a:solidFill>
                    <a:latin typeface="Calibri"/>
                  </a:rPr>
                  <a:t>b) </a:t>
                </a:r>
                <a14:m>
                  <m:oMath xmlns:m="http://schemas.openxmlformats.org/officeDocument/2006/math">
                    <m:f>
                      <m:fPr>
                        <m:ctrlPr>
                          <a:rPr lang="vi-VN" sz="2300" b="0">
                            <a:solidFill>
                              <a:srgbClr val="1E293B"/>
                            </a:solidFill>
                            <a:latin typeface="Cambria Math" panose="02040503050406030204" pitchFamily="18" charset="0"/>
                          </a:rPr>
                        </m:ctrlPr>
                      </m:fPr>
                      <m:num>
                        <m:r>
                          <a:rPr lang="vi-VN" sz="2300" b="0">
                            <a:solidFill>
                              <a:srgbClr val="1E293B"/>
                            </a:solidFill>
                            <a:latin typeface="Cambria Math" panose="02040503050406030204" pitchFamily="18" charset="0"/>
                          </a:rPr>
                          <m:t>3</m:t>
                        </m:r>
                      </m:num>
                      <m:den>
                        <m:r>
                          <a:rPr lang="vi-VN" sz="2300" b="0">
                            <a:solidFill>
                              <a:srgbClr val="1E293B"/>
                            </a:solidFill>
                            <a:latin typeface="Cambria Math" panose="02040503050406030204" pitchFamily="18" charset="0"/>
                          </a:rPr>
                          <m:t>2</m:t>
                        </m:r>
                      </m:den>
                    </m:f>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r>
                      <a:rPr lang="vi-VN" sz="2300" b="0">
                        <a:solidFill>
                          <a:srgbClr val="1E293B"/>
                        </a:solidFill>
                        <a:latin typeface="Cambria Math" panose="02040503050406030204" pitchFamily="18" charset="0"/>
                      </a:rPr>
                      <m:t>=</m:t>
                    </m:r>
                    <m:d>
                      <m:dPr>
                        <m:ctrlPr>
                          <a:rPr lang="vi-VN" sz="2300" b="0" i="1">
                            <a:solidFill>
                              <a:srgbClr val="1E293B"/>
                            </a:solidFill>
                            <a:latin typeface="Cambria Math" panose="02040503050406030204" pitchFamily="18" charset="0"/>
                          </a:rPr>
                        </m:ctrlPr>
                      </m:dPr>
                      <m:e>
                        <m:f>
                          <m:fPr>
                            <m:ctrlPr>
                              <a:rPr lang="vi-VN" sz="2300" b="0">
                                <a:solidFill>
                                  <a:srgbClr val="1E293B"/>
                                </a:solidFill>
                                <a:latin typeface="Cambria Math" panose="02040503050406030204" pitchFamily="18" charset="0"/>
                              </a:rPr>
                            </m:ctrlPr>
                          </m:fPr>
                          <m:num>
                            <m:r>
                              <a:rPr lang="vi-VN" sz="2300" b="0">
                                <a:solidFill>
                                  <a:srgbClr val="1E293B"/>
                                </a:solidFill>
                                <a:latin typeface="Cambria Math" panose="02040503050406030204" pitchFamily="18" charset="0"/>
                              </a:rPr>
                              <m:t>3</m:t>
                            </m:r>
                          </m:num>
                          <m:den>
                            <m:r>
                              <a:rPr lang="vi-VN" sz="2300" b="0">
                                <a:solidFill>
                                  <a:srgbClr val="1E293B"/>
                                </a:solidFill>
                                <a:latin typeface="Cambria Math" panose="02040503050406030204" pitchFamily="18" charset="0"/>
                              </a:rPr>
                              <m:t>2</m:t>
                            </m:r>
                          </m:den>
                        </m:f>
                        <m:r>
                          <a:rPr lang="vi-VN" sz="2300" b="0">
                            <a:solidFill>
                              <a:srgbClr val="1E293B"/>
                            </a:solidFill>
                            <a:latin typeface="Cambria Math" panose="02040503050406030204" pitchFamily="18" charset="0"/>
                          </a:rPr>
                          <m:t>; 3</m:t>
                        </m:r>
                      </m:e>
                    </m:d>
                    <m:r>
                      <a:rPr lang="vi-VN" sz="2300" b="0">
                        <a:solidFill>
                          <a:srgbClr val="1E293B"/>
                        </a:solidFill>
                        <a:latin typeface="Cambria Math" panose="02040503050406030204" pitchFamily="18" charset="0"/>
                      </a:rPr>
                      <m:t>=</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oMath>
                </a14:m>
                <a:r>
                  <a:rPr sz="2300">
                    <a:solidFill>
                      <a:srgbClr val="1E293B"/>
                    </a:solidFill>
                    <a:latin typeface="Calibri"/>
                  </a:rPr>
                  <a:t> nên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oMath>
                </a14:m>
                <a:r>
                  <a:rPr sz="2300">
                    <a:solidFill>
                      <a:srgbClr val="1E293B"/>
                    </a:solidFill>
                    <a:latin typeface="Calibri"/>
                  </a:rPr>
                  <a:t> và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oMath>
                </a14:m>
                <a:r>
                  <a:rPr sz="2300">
                    <a:solidFill>
                      <a:srgbClr val="1E293B"/>
                    </a:solidFill>
                    <a:latin typeface="Calibri"/>
                  </a:rPr>
                  <a:t> cùng phương.</a:t>
                </a:r>
              </a:p>
            </p:txBody>
          </p:sp>
        </mc:Choice>
        <mc:Fallback xmlns="">
          <p:sp>
            <p:nvSpPr>
              <p:cNvPr id="11" name="TextBox 10"/>
              <p:cNvSpPr txBox="1"/>
              <p:nvPr/>
            </p:nvSpPr>
            <p:spPr>
              <a:xfrm>
                <a:off x="713232" y="3433572"/>
                <a:ext cx="10735056" cy="858011"/>
              </a:xfrm>
              <a:prstGeom prst="rect">
                <a:avLst/>
              </a:prstGeom>
              <a:noFill/>
            </p:spPr>
            <p:txBody>
              <a:bodyPr wrap="square" anchor="ctr" lIns="45720" rIns="45720">
                <a:spAutoFit/>
              </a:bodyPr>
              <a:lstStyle/>
              <a:p>
                <a:pPr algn="l">
                  <a:spcAft>
                    <a:spcPts val="800"/>
                  </a:spcAft>
                </a:pPr>
                <a:r>
                  <a:rPr sz="2300">
                    <a:solidFill>
                      <a:srgbClr val="1E293B"/>
                    </a:solidFill>
                    <a:latin typeface="Calibri"/>
                  </a:rPr>
                  <a:t>b) </a:t>
                </a:r>
                <a:r>
                  <a:rPr lang="vi-VN"/>
                  <a:t>\frac{3}{2}\vec{a}=\left(\frac{3}{2};\ 3\right)=\vec{b}</a:t>
                </a:r>
                <a:r>
                  <a:rPr sz="2300">
                    <a:solidFill>
                      <a:srgbClr val="1E293B"/>
                    </a:solidFill>
                    <a:latin typeface="Calibri"/>
                  </a:rPr>
                  <a:t> nên </a:t>
                </a:r>
                <a:r>
                  <a:rPr lang="vi-VN"/>
                  <a:t>\vec{a}</a:t>
                </a:r>
                <a:r>
                  <a:rPr sz="2300">
                    <a:solidFill>
                      <a:srgbClr val="1E293B"/>
                    </a:solidFill>
                    <a:latin typeface="Calibri"/>
                  </a:rPr>
                  <a:t> và </a:t>
                </a:r>
                <a:r>
                  <a:rPr lang="vi-VN"/>
                  <a:t>\vec{b}</a:t>
                </a:r>
                <a:r>
                  <a:rPr sz="2300">
                    <a:solidFill>
                      <a:srgbClr val="1E293B"/>
                    </a:solidFill>
                    <a:latin typeface="Calibri"/>
                  </a:rPr>
                  <a:t> cùng phương.</a:t>
                </a:r>
              </a:p>
            </p:txBody>
          </p:sp>
        </mc:Fallback>
      </mc:AlternateContent>
      <p:sp>
        <p:nvSpPr>
          <p:cNvPr id="12" name="s3_nen"/>
          <p:cNvSpPr/>
          <p:nvPr/>
        </p:nvSpPr>
        <p:spPr>
          <a:xfrm>
            <a:off x="548640" y="4437888"/>
            <a:ext cx="11064240" cy="128168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s3_chu"/>
              <p:cNvSpPr txBox="1"/>
              <p:nvPr/>
            </p:nvSpPr>
            <p:spPr>
              <a:xfrm>
                <a:off x="713232" y="4474464"/>
                <a:ext cx="10735056" cy="1208532"/>
              </a:xfrm>
              <a:prstGeom prst="rect">
                <a:avLst/>
              </a:prstGeom>
              <a:noFill/>
            </p:spPr>
            <p:txBody>
              <a:bodyPr wrap="square" lIns="45720" rIns="45720" anchor="ctr">
                <a:spAutoFit/>
              </a:bodyPr>
              <a:lstStyle/>
              <a:p>
                <a:pPr algn="l">
                  <a:spcAft>
                    <a:spcPts val="800"/>
                  </a:spcAft>
                </a:pPr>
                <a:r>
                  <a:rPr sz="2300" b="1">
                    <a:solidFill>
                      <a:srgbClr val="1E293B"/>
                    </a:solidFill>
                    <a:latin typeface="Calibri"/>
                  </a:rPr>
                  <a:t>Nhận xét.</a:t>
                </a:r>
                <a:r>
                  <a:rPr sz="2300">
                    <a:solidFill>
                      <a:srgbClr val="1E293B"/>
                    </a:solidFill>
                    <a:latin typeface="Calibri"/>
                  </a:rPr>
                  <a:t> Vectơ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𝑣</m:t>
                        </m:r>
                      </m:e>
                    </m:acc>
                    <m:r>
                      <a:rPr lang="vi-VN" sz="2300" b="0">
                        <a:solidFill>
                          <a:srgbClr val="1E293B"/>
                        </a:solidFill>
                        <a:latin typeface="Cambria Math" panose="02040503050406030204" pitchFamily="18" charset="0"/>
                      </a:rPr>
                      <m:t>(</m:t>
                    </m:r>
                    <m:sSup>
                      <m:sSupPr>
                        <m:ctrlPr>
                          <a:rPr lang="vi-VN" sz="2300" b="0">
                            <a:solidFill>
                              <a:srgbClr val="1E293B"/>
                            </a:solidFill>
                            <a:latin typeface="Cambria Math" panose="02040503050406030204" pitchFamily="18" charset="0"/>
                          </a:rPr>
                        </m:ctrlPr>
                      </m:sSupPr>
                      <m:e>
                        <m:r>
                          <a:rPr lang="vi-VN" sz="2300" b="0">
                            <a:solidFill>
                              <a:srgbClr val="1E293B"/>
                            </a:solidFill>
                            <a:latin typeface="Cambria Math" panose="02040503050406030204" pitchFamily="18" charset="0"/>
                          </a:rPr>
                          <m:t>𝑥</m:t>
                        </m:r>
                      </m:e>
                      <m:sup>
                        <m:r>
                          <a:rPr lang="vi-VN" sz="2300" b="0">
                            <a:solidFill>
                              <a:srgbClr val="1E293B"/>
                            </a:solidFill>
                            <a:latin typeface="Cambria Math" panose="02040503050406030204" pitchFamily="18" charset="0"/>
                          </a:rPr>
                          <m:t>′</m:t>
                        </m:r>
                      </m:sup>
                    </m:sSup>
                    <m:r>
                      <a:rPr lang="vi-VN" sz="2300" b="0">
                        <a:solidFill>
                          <a:srgbClr val="1E293B"/>
                        </a:solidFill>
                        <a:latin typeface="Cambria Math" panose="02040503050406030204" pitchFamily="18" charset="0"/>
                      </a:rPr>
                      <m:t>; </m:t>
                    </m:r>
                    <m:sSup>
                      <m:sSupPr>
                        <m:ctrlPr>
                          <a:rPr lang="vi-VN" sz="2300" b="0">
                            <a:solidFill>
                              <a:srgbClr val="1E293B"/>
                            </a:solidFill>
                            <a:latin typeface="Cambria Math" panose="02040503050406030204" pitchFamily="18" charset="0"/>
                          </a:rPr>
                        </m:ctrlPr>
                      </m:sSupPr>
                      <m:e>
                        <m:r>
                          <a:rPr lang="vi-VN" sz="2300" b="0">
                            <a:solidFill>
                              <a:srgbClr val="1E293B"/>
                            </a:solidFill>
                            <a:latin typeface="Cambria Math" panose="02040503050406030204" pitchFamily="18" charset="0"/>
                          </a:rPr>
                          <m:t>𝑦</m:t>
                        </m:r>
                      </m:e>
                      <m:sup>
                        <m:r>
                          <a:rPr lang="vi-VN" sz="2300" b="0">
                            <a:solidFill>
                              <a:srgbClr val="1E293B"/>
                            </a:solidFill>
                            <a:latin typeface="Cambria Math" panose="02040503050406030204" pitchFamily="18" charset="0"/>
                          </a:rPr>
                          <m:t>′</m:t>
                        </m:r>
                      </m:sup>
                    </m:sSup>
                    <m:r>
                      <a:rPr lang="vi-VN" sz="2300" b="0">
                        <a:solidFill>
                          <a:srgbClr val="1E293B"/>
                        </a:solidFill>
                        <a:latin typeface="Cambria Math" panose="02040503050406030204" pitchFamily="18" charset="0"/>
                      </a:rPr>
                      <m:t>)</m:t>
                    </m:r>
                  </m:oMath>
                </a14:m>
                <a:r>
                  <a:rPr sz="2300">
                    <a:solidFill>
                      <a:srgbClr val="1E293B"/>
                    </a:solidFill>
                    <a:latin typeface="Calibri"/>
                  </a:rPr>
                  <a:t> cùng phương với vectơ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𝑢</m:t>
                        </m:r>
                      </m:e>
                    </m:acc>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𝑥</m:t>
                    </m:r>
                    <m: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𝑦</m:t>
                    </m:r>
                    <m:r>
                      <a:rPr lang="vi-VN" sz="2300" b="0">
                        <a:solidFill>
                          <a:srgbClr val="1E293B"/>
                        </a:solidFill>
                        <a:latin typeface="Cambria Math" panose="02040503050406030204" pitchFamily="18" charset="0"/>
                      </a:rPr>
                      <m:t>)≠</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0</m:t>
                        </m:r>
                      </m:e>
                    </m:acc>
                  </m:oMath>
                </a14:m>
                <a:r>
                  <a:rPr sz="2300">
                    <a:solidFill>
                      <a:srgbClr val="1E293B"/>
                    </a:solidFill>
                    <a:latin typeface="Calibri"/>
                  </a:rPr>
                  <a:t> khi và chỉ khi tồn tại số </a:t>
                </a:r>
                <a14:m>
                  <m:oMath xmlns:m="http://schemas.openxmlformats.org/officeDocument/2006/math">
                    <m:r>
                      <a:rPr lang="vi-VN" sz="2300" b="0">
                        <a:solidFill>
                          <a:srgbClr val="1E293B"/>
                        </a:solidFill>
                        <a:latin typeface="Cambria Math" panose="02040503050406030204" pitchFamily="18" charset="0"/>
                      </a:rPr>
                      <m:t>𝑘</m:t>
                    </m:r>
                  </m:oMath>
                </a14:m>
                <a:r>
                  <a:rPr sz="2300">
                    <a:solidFill>
                      <a:srgbClr val="1E293B"/>
                    </a:solidFill>
                    <a:latin typeface="Calibri"/>
                  </a:rPr>
                  <a:t> sao cho </a:t>
                </a:r>
                <a14:m>
                  <m:oMath xmlns:m="http://schemas.openxmlformats.org/officeDocument/2006/math">
                    <m:sSup>
                      <m:sSupPr>
                        <m:ctrlPr>
                          <a:rPr lang="vi-VN" sz="2300" b="0">
                            <a:solidFill>
                              <a:srgbClr val="1E293B"/>
                            </a:solidFill>
                            <a:latin typeface="Cambria Math" panose="02040503050406030204" pitchFamily="18" charset="0"/>
                          </a:rPr>
                        </m:ctrlPr>
                      </m:sSupPr>
                      <m:e>
                        <m:r>
                          <a:rPr lang="vi-VN" sz="2300" b="0">
                            <a:solidFill>
                              <a:srgbClr val="1E293B"/>
                            </a:solidFill>
                            <a:latin typeface="Cambria Math" panose="02040503050406030204" pitchFamily="18" charset="0"/>
                          </a:rPr>
                          <m:t>𝑥</m:t>
                        </m:r>
                      </m:e>
                      <m:sup>
                        <m:r>
                          <a:rPr lang="vi-VN" sz="2300" b="0">
                            <a:solidFill>
                              <a:srgbClr val="1E293B"/>
                            </a:solidFill>
                            <a:latin typeface="Cambria Math" panose="02040503050406030204" pitchFamily="18" charset="0"/>
                          </a:rPr>
                          <m:t>′</m:t>
                        </m:r>
                      </m:sup>
                    </m:sSup>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𝑘𝑥</m:t>
                    </m:r>
                    <m:r>
                      <a:rPr lang="vi-VN" sz="2300" b="0">
                        <a:solidFill>
                          <a:srgbClr val="1E293B"/>
                        </a:solidFill>
                        <a:latin typeface="Cambria Math" panose="02040503050406030204" pitchFamily="18" charset="0"/>
                      </a:rPr>
                      <m:t>, </m:t>
                    </m:r>
                    <m:sSup>
                      <m:sSupPr>
                        <m:ctrlPr>
                          <a:rPr lang="vi-VN" sz="2300" b="0">
                            <a:solidFill>
                              <a:srgbClr val="1E293B"/>
                            </a:solidFill>
                            <a:latin typeface="Cambria Math" panose="02040503050406030204" pitchFamily="18" charset="0"/>
                          </a:rPr>
                        </m:ctrlPr>
                      </m:sSupPr>
                      <m:e>
                        <m:r>
                          <a:rPr lang="vi-VN" sz="2300" b="0">
                            <a:solidFill>
                              <a:srgbClr val="1E293B"/>
                            </a:solidFill>
                            <a:latin typeface="Cambria Math" panose="02040503050406030204" pitchFamily="18" charset="0"/>
                          </a:rPr>
                          <m:t>𝑦</m:t>
                        </m:r>
                      </m:e>
                      <m:sup>
                        <m:r>
                          <a:rPr lang="vi-VN" sz="2300" b="0">
                            <a:solidFill>
                              <a:srgbClr val="1E293B"/>
                            </a:solidFill>
                            <a:latin typeface="Cambria Math" panose="02040503050406030204" pitchFamily="18" charset="0"/>
                          </a:rPr>
                          <m:t>′</m:t>
                        </m:r>
                      </m:sup>
                    </m:sSup>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𝑘𝑦</m:t>
                    </m:r>
                  </m:oMath>
                </a14:m>
                <a:r>
                  <a:rPr sz="2300">
                    <a:solidFill>
                      <a:srgbClr val="1E293B"/>
                    </a:solidFill>
                    <a:latin typeface="Calibri"/>
                  </a:rPr>
                  <a:t> (hay là </a:t>
                </a:r>
                <a14:m>
                  <m:oMath xmlns:m="http://schemas.openxmlformats.org/officeDocument/2006/math">
                    <m:f>
                      <m:fPr>
                        <m:ctrlPr>
                          <a:rPr lang="vi-VN" sz="2300" b="0">
                            <a:solidFill>
                              <a:srgbClr val="1E293B"/>
                            </a:solidFill>
                            <a:latin typeface="Cambria Math" panose="02040503050406030204" pitchFamily="18" charset="0"/>
                          </a:rPr>
                        </m:ctrlPr>
                      </m:fPr>
                      <m:num>
                        <m:sSup>
                          <m:sSupPr>
                            <m:ctrlPr>
                              <a:rPr lang="vi-VN" sz="2300" b="0">
                                <a:solidFill>
                                  <a:srgbClr val="1E293B"/>
                                </a:solidFill>
                                <a:latin typeface="Cambria Math" panose="02040503050406030204" pitchFamily="18" charset="0"/>
                              </a:rPr>
                            </m:ctrlPr>
                          </m:sSupPr>
                          <m:e>
                            <m:r>
                              <a:rPr lang="vi-VN" sz="2300" b="0">
                                <a:solidFill>
                                  <a:srgbClr val="1E293B"/>
                                </a:solidFill>
                                <a:latin typeface="Cambria Math" panose="02040503050406030204" pitchFamily="18" charset="0"/>
                              </a:rPr>
                              <m:t>𝑥</m:t>
                            </m:r>
                          </m:e>
                          <m:sup>
                            <m:r>
                              <a:rPr lang="vi-VN" sz="2300" b="0">
                                <a:solidFill>
                                  <a:srgbClr val="1E293B"/>
                                </a:solidFill>
                                <a:latin typeface="Cambria Math" panose="02040503050406030204" pitchFamily="18" charset="0"/>
                              </a:rPr>
                              <m:t>′</m:t>
                            </m:r>
                          </m:sup>
                        </m:sSup>
                      </m:num>
                      <m:den>
                        <m:r>
                          <a:rPr lang="vi-VN" sz="2300" b="0">
                            <a:solidFill>
                              <a:srgbClr val="1E293B"/>
                            </a:solidFill>
                            <a:latin typeface="Cambria Math" panose="02040503050406030204" pitchFamily="18" charset="0"/>
                          </a:rPr>
                          <m:t>𝑥</m:t>
                        </m:r>
                      </m:den>
                    </m:f>
                    <m:r>
                      <a:rPr lang="vi-VN" sz="2300" b="0">
                        <a:solidFill>
                          <a:srgbClr val="1E293B"/>
                        </a:solidFill>
                        <a:latin typeface="Cambria Math" panose="02040503050406030204" pitchFamily="18" charset="0"/>
                      </a:rPr>
                      <m:t>=</m:t>
                    </m:r>
                    <m:f>
                      <m:fPr>
                        <m:ctrlPr>
                          <a:rPr lang="vi-VN" sz="2300" b="0" i="1">
                            <a:solidFill>
                              <a:srgbClr val="1E293B"/>
                            </a:solidFill>
                            <a:latin typeface="Cambria Math" panose="02040503050406030204" pitchFamily="18" charset="0"/>
                          </a:rPr>
                        </m:ctrlPr>
                      </m:fPr>
                      <m:num>
                        <m:sSup>
                          <m:sSupPr>
                            <m:ctrlPr>
                              <a:rPr lang="vi-VN" sz="2300" b="0">
                                <a:solidFill>
                                  <a:srgbClr val="1E293B"/>
                                </a:solidFill>
                                <a:latin typeface="Cambria Math" panose="02040503050406030204" pitchFamily="18" charset="0"/>
                              </a:rPr>
                            </m:ctrlPr>
                          </m:sSupPr>
                          <m:e>
                            <m:r>
                              <a:rPr lang="vi-VN" sz="2300" b="0">
                                <a:solidFill>
                                  <a:srgbClr val="1E293B"/>
                                </a:solidFill>
                                <a:latin typeface="Cambria Math" panose="02040503050406030204" pitchFamily="18" charset="0"/>
                              </a:rPr>
                              <m:t>𝑦</m:t>
                            </m:r>
                          </m:e>
                          <m:sup>
                            <m:r>
                              <a:rPr lang="vi-VN" sz="2300" b="0">
                                <a:solidFill>
                                  <a:srgbClr val="1E293B"/>
                                </a:solidFill>
                                <a:latin typeface="Cambria Math" panose="02040503050406030204" pitchFamily="18" charset="0"/>
                              </a:rPr>
                              <m:t>′</m:t>
                            </m:r>
                          </m:sup>
                        </m:sSup>
                      </m:num>
                      <m:den>
                        <m:r>
                          <a:rPr lang="vi-VN" sz="2300" b="0">
                            <a:solidFill>
                              <a:srgbClr val="1E293B"/>
                            </a:solidFill>
                            <a:latin typeface="Cambria Math" panose="02040503050406030204" pitchFamily="18" charset="0"/>
                          </a:rPr>
                          <m:t>𝑦</m:t>
                        </m:r>
                      </m:den>
                    </m:f>
                  </m:oMath>
                </a14:m>
                <a:r>
                  <a:rPr sz="2300">
                    <a:solidFill>
                      <a:srgbClr val="1E293B"/>
                    </a:solidFill>
                    <a:latin typeface="Calibri"/>
                  </a:rPr>
                  <a:t> nếu </a:t>
                </a:r>
                <a14:m>
                  <m:oMath xmlns:m="http://schemas.openxmlformats.org/officeDocument/2006/math">
                    <m:r>
                      <a:rPr lang="vi-VN" sz="2300" b="0">
                        <a:solidFill>
                          <a:srgbClr val="1E293B"/>
                        </a:solidFill>
                        <a:latin typeface="Cambria Math" panose="02040503050406030204" pitchFamily="18" charset="0"/>
                      </a:rPr>
                      <m:t>𝑥𝑦</m:t>
                    </m:r>
                    <m:r>
                      <a:rPr lang="vi-VN" sz="2300" b="0">
                        <a:solidFill>
                          <a:srgbClr val="1E293B"/>
                        </a:solidFill>
                        <a:latin typeface="Cambria Math" panose="02040503050406030204" pitchFamily="18" charset="0"/>
                      </a:rPr>
                      <m:t>≠0</m:t>
                    </m:r>
                  </m:oMath>
                </a14:m>
                <a:r>
                  <a:rPr sz="2300">
                    <a:solidFill>
                      <a:srgbClr val="1E293B"/>
                    </a:solidFill>
                    <a:latin typeface="Calibri"/>
                  </a:rPr>
                  <a:t>).</a:t>
                </a:r>
              </a:p>
            </p:txBody>
          </p:sp>
        </mc:Choice>
        <mc:Fallback xmlns="">
          <p:sp>
            <p:nvSpPr>
              <p:cNvPr id="13" name="TextBox 12"/>
              <p:cNvSpPr txBox="1"/>
              <p:nvPr/>
            </p:nvSpPr>
            <p:spPr>
              <a:xfrm>
                <a:off x="713232" y="4474464"/>
                <a:ext cx="10735056" cy="1208532"/>
              </a:xfrm>
              <a:prstGeom prst="rect">
                <a:avLst/>
              </a:prstGeom>
              <a:noFill/>
            </p:spPr>
            <p:txBody>
              <a:bodyPr wrap="square" anchor="ctr" lIns="45720" rIns="45720">
                <a:spAutoFit/>
              </a:bodyPr>
              <a:lstStyle/>
              <a:p>
                <a:pPr algn="l">
                  <a:spcAft>
                    <a:spcPts val="800"/>
                  </a:spcAft>
                </a:pPr>
                <a:r>
                  <a:rPr sz="2300" b="1">
                    <a:solidFill>
                      <a:srgbClr val="1E293B"/>
                    </a:solidFill>
                    <a:latin typeface="Calibri"/>
                  </a:rPr>
                  <a:t>Nhận xét.</a:t>
                </a:r>
                <a:r>
                  <a:rPr sz="2300">
                    <a:solidFill>
                      <a:srgbClr val="1E293B"/>
                    </a:solidFill>
                    <a:latin typeface="Calibri"/>
                  </a:rPr>
                  <a:t> Vectơ </a:t>
                </a:r>
                <a:r>
                  <a:rPr lang="vi-VN"/>
                  <a:t>\vec{v}(x';\ y')</a:t>
                </a:r>
                <a:r>
                  <a:rPr sz="2300">
                    <a:solidFill>
                      <a:srgbClr val="1E293B"/>
                    </a:solidFill>
                    <a:latin typeface="Calibri"/>
                  </a:rPr>
                  <a:t> cùng phương với vectơ </a:t>
                </a:r>
                <a:r>
                  <a:rPr lang="vi-VN"/>
                  <a:t>\vec{u}(x;\ y)\ne\vec{0}</a:t>
                </a:r>
                <a:r>
                  <a:rPr sz="2300">
                    <a:solidFill>
                      <a:srgbClr val="1E293B"/>
                    </a:solidFill>
                    <a:latin typeface="Calibri"/>
                  </a:rPr>
                  <a:t> khi và chỉ khi tồn tại số </a:t>
                </a:r>
                <a:r>
                  <a:rPr lang="vi-VN"/>
                  <a:t>k</a:t>
                </a:r>
                <a:r>
                  <a:rPr sz="2300">
                    <a:solidFill>
                      <a:srgbClr val="1E293B"/>
                    </a:solidFill>
                    <a:latin typeface="Calibri"/>
                  </a:rPr>
                  <a:t> sao cho </a:t>
                </a:r>
                <a:r>
                  <a:rPr lang="vi-VN"/>
                  <a:t>x'=kx,\ y'=ky</a:t>
                </a:r>
                <a:r>
                  <a:rPr sz="2300">
                    <a:solidFill>
                      <a:srgbClr val="1E293B"/>
                    </a:solidFill>
                    <a:latin typeface="Calibri"/>
                  </a:rPr>
                  <a:t> (hay là </a:t>
                </a:r>
                <a:r>
                  <a:rPr lang="vi-VN"/>
                  <a:t>\frac{x'}{x}=\frac{y'}{y}</a:t>
                </a:r>
                <a:r>
                  <a:rPr sz="2300">
                    <a:solidFill>
                      <a:srgbClr val="1E293B"/>
                    </a:solidFill>
                    <a:latin typeface="Calibri"/>
                  </a:rPr>
                  <a:t> nếu </a:t>
                </a:r>
                <a:r>
                  <a:rPr lang="vi-VN"/>
                  <a:t>xy\ne 0</a:t>
                </a:r>
                <a:r>
                  <a:rPr sz="23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TOẠ ĐỘ CỦA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11</a:t>
            </a:r>
          </a:p>
        </p:txBody>
      </p:sp>
      <mc:AlternateContent xmlns:mc="http://schemas.openxmlformats.org/markup-compatibility/2006" xmlns:a14="http://schemas.microsoft.com/office/drawing/2010/main">
        <mc:Choice Requires="a14">
          <p:sp>
            <p:nvSpPr>
              <p:cNvPr id="7" name="TextBox 6"/>
              <p:cNvSpPr txBox="1"/>
              <p:nvPr/>
            </p:nvSpPr>
            <p:spPr>
              <a:xfrm>
                <a:off x="548640" y="1417320"/>
                <a:ext cx="6035040" cy="356616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r>
                  <a:rPr sz="2200">
                    <a:solidFill>
                      <a:srgbClr val="1E293B"/>
                    </a:solidFill>
                    <a:latin typeface="Calibri"/>
                  </a:rPr>
                  <a:t>Kéo điểm đầu </a:t>
                </a:r>
                <a14:m>
                  <m:oMath xmlns:m="http://schemas.openxmlformats.org/officeDocument/2006/math">
                    <m:r>
                      <a:rPr lang="vi-VN" sz="2200" b="0">
                        <a:solidFill>
                          <a:srgbClr val="1E293B"/>
                        </a:solidFill>
                        <a:latin typeface="Cambria Math" panose="02040503050406030204" pitchFamily="18" charset="0"/>
                      </a:rPr>
                      <m:t>𝐴</m:t>
                    </m:r>
                  </m:oMath>
                </a14:m>
                <a:r>
                  <a:rPr sz="2200">
                    <a:solidFill>
                      <a:srgbClr val="1E293B"/>
                    </a:solidFill>
                    <a:latin typeface="Calibri"/>
                  </a:rPr>
                  <a:t> và điểm cuối </a:t>
                </a:r>
                <a14:m>
                  <m:oMath xmlns:m="http://schemas.openxmlformats.org/officeDocument/2006/math">
                    <m:r>
                      <a:rPr lang="vi-VN" sz="2200" b="0">
                        <a:solidFill>
                          <a:srgbClr val="1E293B"/>
                        </a:solidFill>
                        <a:latin typeface="Cambria Math" panose="02040503050406030204" pitchFamily="18" charset="0"/>
                      </a:rPr>
                      <m:t>𝐵</m:t>
                    </m:r>
                  </m:oMath>
                </a14:m>
                <a:r>
                  <a:rPr sz="2200">
                    <a:solidFill>
                      <a:srgbClr val="1E293B"/>
                    </a:solidFill>
                    <a:latin typeface="Calibri"/>
                  </a:rPr>
                  <a:t> trên lưới ô vuông.</a:t>
                </a:r>
              </a:p>
              <a:p>
                <a:pPr marL="365760" indent="-365760" algn="l">
                  <a:spcAft>
                    <a:spcPts val="800"/>
                  </a:spcAft>
                  <a:buClr>
                    <a:srgbClr val="1E40AF"/>
                  </a:buClr>
                  <a:buFont typeface="Arial"/>
                  <a:buChar char="•"/>
                </a:pPr>
                <a:r>
                  <a:rPr sz="2200">
                    <a:solidFill>
                      <a:srgbClr val="1E293B"/>
                    </a:solidFill>
                    <a:latin typeface="Calibri"/>
                  </a:rPr>
                  <a:t>Bảng giá trị hiện toạ độ của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 </a:t>
                </a:r>
                <a14:m>
                  <m:oMath xmlns:m="http://schemas.openxmlformats.org/officeDocument/2006/math">
                    <m:d>
                      <m:dPr>
                        <m:ctrlPr>
                          <a:rPr lang="vi-VN" sz="2200" b="0">
                            <a:solidFill>
                              <a:srgbClr val="1E293B"/>
                            </a:solidFill>
                            <a:latin typeface="Cambria Math" panose="02040503050406030204" pitchFamily="18" charset="0"/>
                          </a:rPr>
                        </m:ctrlPr>
                      </m:dPr>
                      <m:e>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𝑥</m:t>
                            </m:r>
                          </m:e>
                          <m:sub>
                            <m:r>
                              <a:rPr lang="vi-VN" sz="2200" b="0">
                                <a:solidFill>
                                  <a:srgbClr val="1E293B"/>
                                </a:solidFill>
                                <a:latin typeface="Cambria Math" panose="02040503050406030204" pitchFamily="18" charset="0"/>
                              </a:rPr>
                              <m:t>𝐵</m:t>
                            </m:r>
                          </m:sub>
                        </m:sSub>
                        <m:r>
                          <a:rPr lang="vi-VN" sz="2200" b="0">
                            <a:solidFill>
                              <a:srgbClr val="1E293B"/>
                            </a:solidFill>
                            <a:latin typeface="Cambria Math" panose="02040503050406030204" pitchFamily="18" charset="0"/>
                          </a:rPr>
                          <m:t>−</m:t>
                        </m:r>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𝑥</m:t>
                            </m:r>
                          </m:e>
                          <m:sub>
                            <m:r>
                              <a:rPr lang="vi-VN" sz="2200" b="0">
                                <a:solidFill>
                                  <a:srgbClr val="1E293B"/>
                                </a:solidFill>
                                <a:latin typeface="Cambria Math" panose="02040503050406030204" pitchFamily="18" charset="0"/>
                              </a:rPr>
                              <m:t>𝐴</m:t>
                            </m:r>
                          </m:sub>
                        </m:sSub>
                        <m:r>
                          <a:rPr lang="vi-VN" sz="2200" b="0">
                            <a:solidFill>
                              <a:srgbClr val="1E293B"/>
                            </a:solidFill>
                            <a:latin typeface="Cambria Math" panose="02040503050406030204" pitchFamily="18" charset="0"/>
                          </a:rPr>
                          <m:t>; </m:t>
                        </m:r>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𝑦</m:t>
                            </m:r>
                          </m:e>
                          <m:sub>
                            <m:r>
                              <a:rPr lang="vi-VN" sz="2200" b="0">
                                <a:solidFill>
                                  <a:srgbClr val="1E293B"/>
                                </a:solidFill>
                                <a:latin typeface="Cambria Math" panose="02040503050406030204" pitchFamily="18" charset="0"/>
                              </a:rPr>
                              <m:t>𝐵</m:t>
                            </m:r>
                          </m:sub>
                        </m:sSub>
                        <m:r>
                          <a:rPr lang="vi-VN" sz="2200" b="0">
                            <a:solidFill>
                              <a:srgbClr val="1E293B"/>
                            </a:solidFill>
                            <a:latin typeface="Cambria Math" panose="02040503050406030204" pitchFamily="18" charset="0"/>
                          </a:rPr>
                          <m:t>−</m:t>
                        </m:r>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𝑦</m:t>
                            </m:r>
                          </m:e>
                          <m:sub>
                            <m:r>
                              <a:rPr lang="vi-VN" sz="2200" b="0">
                                <a:solidFill>
                                  <a:srgbClr val="1E293B"/>
                                </a:solidFill>
                                <a:latin typeface="Cambria Math" panose="02040503050406030204" pitchFamily="18" charset="0"/>
                              </a:rPr>
                              <m:t>𝐴</m:t>
                            </m:r>
                          </m:sub>
                        </m:sSub>
                      </m:e>
                    </m:d>
                  </m:oMath>
                </a14:m>
                <a:r>
                  <a:rPr sz="2200">
                    <a:solidFill>
                      <a:srgbClr val="1E293B"/>
                    </a:solidFill>
                    <a:latin typeface="Calibri"/>
                  </a:rPr>
                  <a:t>.</a:t>
                </a:r>
              </a:p>
              <a:p>
                <a:pPr marL="365760" indent="-365760" algn="l">
                  <a:spcAft>
                    <a:spcPts val="800"/>
                  </a:spcAft>
                  <a:buClr>
                    <a:srgbClr val="1E40AF"/>
                  </a:buClr>
                  <a:buFont typeface="Arial"/>
                  <a:buChar char="•"/>
                </a:pPr>
                <a:r>
                  <a:rPr sz="2200">
                    <a:solidFill>
                      <a:srgbClr val="1E293B"/>
                    </a:solidFill>
                    <a:latin typeface="Calibri"/>
                  </a:rPr>
                  <a:t>Tịnh tiến cả vectơ (kéo cả </a:t>
                </a:r>
                <a14:m>
                  <m:oMath xmlns:m="http://schemas.openxmlformats.org/officeDocument/2006/math">
                    <m:r>
                      <a:rPr lang="vi-VN" sz="2200" b="0">
                        <a:solidFill>
                          <a:srgbClr val="1E293B"/>
                        </a:solidFill>
                        <a:latin typeface="Cambria Math" panose="02040503050406030204" pitchFamily="18" charset="0"/>
                      </a:rPr>
                      <m:t>𝐴</m:t>
                    </m:r>
                  </m:oMath>
                </a14:m>
                <a:r>
                  <a:rPr sz="2200">
                    <a:solidFill>
                      <a:srgbClr val="1E293B"/>
                    </a:solidFill>
                    <a:latin typeface="Calibri"/>
                  </a:rPr>
                  <a:t> lẫn </a:t>
                </a:r>
                <a14:m>
                  <m:oMath xmlns:m="http://schemas.openxmlformats.org/officeDocument/2006/math">
                    <m:r>
                      <a:rPr lang="vi-VN" sz="2200" b="0">
                        <a:solidFill>
                          <a:srgbClr val="1E293B"/>
                        </a:solidFill>
                        <a:latin typeface="Cambria Math" panose="02040503050406030204" pitchFamily="18" charset="0"/>
                      </a:rPr>
                      <m:t>𝐵</m:t>
                    </m:r>
                  </m:oMath>
                </a14:m>
                <a:r>
                  <a:rPr sz="2200">
                    <a:solidFill>
                      <a:srgbClr val="1E293B"/>
                    </a:solidFill>
                    <a:latin typeface="Calibri"/>
                  </a:rPr>
                  <a:t>): toạ độ vectơ </a:t>
                </a:r>
                <a:r>
                  <a:rPr sz="2200" b="1">
                    <a:solidFill>
                      <a:srgbClr val="1E293B"/>
                    </a:solidFill>
                    <a:latin typeface="Calibri"/>
                  </a:rPr>
                  <a:t>không đổi</a:t>
                </a:r>
                <a:r>
                  <a:rPr sz="2200">
                    <a:solidFill>
                      <a:srgbClr val="1E293B"/>
                    </a:solidFill>
                    <a:latin typeface="Calibri"/>
                  </a:rPr>
                  <a:t>.</a:t>
                </a:r>
              </a:p>
            </p:txBody>
          </p:sp>
        </mc:Choice>
        <mc:Fallback xmlns="">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điểm đầu </a:t>
                </a:r>
                <a:r>
                  <a:rPr lang="vi-VN"/>
                  <a:t>A</a:t>
                </a:r>
                <a:r>
                  <a:rPr sz="2200">
                    <a:solidFill>
                      <a:srgbClr val="1E293B"/>
                    </a:solidFill>
                    <a:latin typeface="Calibri"/>
                  </a:rPr>
                  <a:t> và điểm cuối </a:t>
                </a:r>
                <a:r>
                  <a:rPr lang="vi-VN"/>
                  <a:t>B</a:t>
                </a:r>
                <a:r>
                  <a:rPr sz="2200">
                    <a:solidFill>
                      <a:srgbClr val="1E293B"/>
                    </a:solidFill>
                    <a:latin typeface="Calibri"/>
                  </a:rPr>
                  <a:t> trên lưới ô vuông.</a:t>
                </a:r>
              </a:p>
              <a:p>
                <a:pPr algn="l" marL="365760" indent="-365760">
                  <a:spcAft>
                    <a:spcPts val="800"/>
                  </a:spcAft>
                  <a:buClr>
                    <a:srgbClr val="1E40AF"/>
                  </a:buClr>
                  <a:buFont typeface="Arial"/>
                  <a:buChar char="•"/>
                </a:pPr>
                <a:r>
                  <a:rPr sz="2200">
                    <a:solidFill>
                      <a:srgbClr val="1E293B"/>
                    </a:solidFill>
                    <a:latin typeface="Calibri"/>
                  </a:rPr>
                  <a:t>Bảng giá trị hiện toạ độ của </a:t>
                </a:r>
                <a:r>
                  <a:rPr lang="vi-VN"/>
                  <a:t>\overrightarrow{AB}</a:t>
                </a:r>
                <a:r>
                  <a:rPr sz="2200">
                    <a:solidFill>
                      <a:srgbClr val="1E293B"/>
                    </a:solidFill>
                    <a:latin typeface="Calibri"/>
                  </a:rPr>
                  <a:t> = </a:t>
                </a:r>
                <a:r>
                  <a:rPr lang="vi-VN"/>
                  <a:t>(x_B-x_A;\ y_B-y_A)</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Tịnh tiến cả vectơ (kéo cả </a:t>
                </a:r>
                <a:r>
                  <a:rPr lang="vi-VN"/>
                  <a:t>A</a:t>
                </a:r>
                <a:r>
                  <a:rPr sz="2200">
                    <a:solidFill>
                      <a:srgbClr val="1E293B"/>
                    </a:solidFill>
                    <a:latin typeface="Calibri"/>
                  </a:rPr>
                  <a:t> lẫn </a:t>
                </a:r>
                <a:r>
                  <a:rPr lang="vi-VN"/>
                  <a:t>B</a:t>
                </a:r>
                <a:r>
                  <a:rPr sz="2200">
                    <a:solidFill>
                      <a:srgbClr val="1E293B"/>
                    </a:solidFill>
                    <a:latin typeface="Calibri"/>
                  </a:rPr>
                  <a:t>): toạ độ vectơ </a:t>
                </a:r>
                <a:r>
                  <a:rPr sz="2200" b="1">
                    <a:solidFill>
                      <a:srgbClr val="1E293B"/>
                    </a:solidFill>
                    <a:latin typeface="Calibri"/>
                  </a:rPr>
                  <a:t>không đổi</a:t>
                </a:r>
                <a:r>
                  <a:rPr sz="2200">
                    <a:solidFill>
                      <a:srgbClr val="1E293B"/>
                    </a:solidFill>
                    <a:latin typeface="Calibri"/>
                  </a:rPr>
                  <a:t>.</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  MỞ GEOGEBRA</a:t>
            </a:r>
          </a:p>
        </p:txBody>
      </p:sp>
      <p:pic>
        <p:nvPicPr>
          <p:cNvPr id="9" name="Picture 8" descr="qr_ggb_1.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lIns="45720" rIns="45720" anchor="t">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h433.png"/>
          <p:cNvPicPr>
            <a:picLocks noChangeAspect="1"/>
          </p:cNvPicPr>
          <p:nvPr/>
        </p:nvPicPr>
        <p:blipFill>
          <a:blip r:embed="rId5"/>
          <a:stretch>
            <a:fillRect/>
          </a:stretch>
        </p:blipFill>
        <p:spPr>
          <a:xfrm>
            <a:off x="6858000" y="1736111"/>
            <a:ext cx="4846320" cy="393441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12</a:t>
            </a:r>
          </a:p>
        </p:txBody>
      </p:sp>
      <p:sp>
        <p:nvSpPr>
          <p:cNvPr id="7" name="Rounded Rectangle 6"/>
          <p:cNvSpPr/>
          <p:nvPr/>
        </p:nvSpPr>
        <p:spPr>
          <a:xfrm>
            <a:off x="548640" y="1463040"/>
            <a:ext cx="11064240" cy="103632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 name="TextBox 7"/>
              <p:cNvSpPr txBox="1"/>
              <p:nvPr/>
            </p:nvSpPr>
            <p:spPr>
              <a:xfrm>
                <a:off x="713232" y="1499616"/>
                <a:ext cx="10735056" cy="963167"/>
              </a:xfrm>
              <a:prstGeom prst="rect">
                <a:avLst/>
              </a:prstGeom>
              <a:noFill/>
            </p:spPr>
            <p:txBody>
              <a:bodyPr wrap="square" lIns="45720" rIns="45720" anchor="ctr">
                <a:spAutoFit/>
              </a:bodyPr>
              <a:lstStyle/>
              <a:p>
                <a:pPr marL="365760" indent="-365760" algn="l">
                  <a:spcAft>
                    <a:spcPts val="800"/>
                  </a:spcAft>
                  <a:buClr>
                    <a:srgbClr val="1E40AF"/>
                  </a:buClr>
                  <a:buFont typeface="Arial"/>
                  <a:buChar char="•"/>
                </a:pP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𝑢</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𝑥</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𝑖</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𝑦</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𝑗</m:t>
                        </m:r>
                      </m:e>
                    </m:acc>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𝑢</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𝑥</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𝑦</m:t>
                    </m:r>
                    <m:r>
                      <a:rPr lang="vi-VN" sz="2200" b="0">
                        <a:solidFill>
                          <a:srgbClr val="1E293B"/>
                        </a:solidFill>
                        <a:latin typeface="Cambria Math" panose="02040503050406030204" pitchFamily="18" charset="0"/>
                      </a:rPr>
                      <m:t>)</m:t>
                    </m:r>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𝑖</m:t>
                        </m:r>
                      </m:e>
                    </m:acc>
                    <m:r>
                      <a:rPr lang="vi-VN" sz="2200" b="0">
                        <a:solidFill>
                          <a:srgbClr val="1E293B"/>
                        </a:solidFill>
                        <a:latin typeface="Cambria Math" panose="02040503050406030204" pitchFamily="18" charset="0"/>
                      </a:rPr>
                      <m:t>=(1; 0)</m:t>
                    </m:r>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𝑗</m:t>
                        </m:r>
                      </m:e>
                    </m:acc>
                    <m:r>
                      <a:rPr lang="vi-VN" sz="2200" b="0">
                        <a:solidFill>
                          <a:srgbClr val="1E293B"/>
                        </a:solidFill>
                        <a:latin typeface="Cambria Math" panose="02040503050406030204" pitchFamily="18" charset="0"/>
                      </a:rPr>
                      <m:t>=(0; 1)</m:t>
                    </m:r>
                  </m:oMath>
                </a14:m>
                <a:r>
                  <a:rPr sz="2200">
                    <a:solidFill>
                      <a:srgbClr val="1E293B"/>
                    </a:solidFill>
                    <a:latin typeface="Calibri"/>
                  </a:rPr>
                  <a:t>.</a:t>
                </a:r>
              </a:p>
              <a:p>
                <a:pPr marL="365760" indent="-365760" algn="l">
                  <a:spcAft>
                    <a:spcPts val="800"/>
                  </a:spcAft>
                  <a:buClr>
                    <a:srgbClr val="1E40AF"/>
                  </a:buClr>
                  <a:buFont typeface="Arial"/>
                  <a:buChar char="•"/>
                </a:pP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𝑢</m:t>
                        </m:r>
                      </m:e>
                    </m:acc>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𝑣</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𝑥</m:t>
                    </m:r>
                    <m:r>
                      <a:rPr lang="vi-VN" sz="2200" b="0">
                        <a:solidFill>
                          <a:srgbClr val="1E293B"/>
                        </a:solidFill>
                        <a:latin typeface="Cambria Math" panose="02040503050406030204" pitchFamily="18" charset="0"/>
                      </a:rPr>
                      <m:t>±</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𝑥</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𝑦</m:t>
                    </m:r>
                    <m:r>
                      <a:rPr lang="vi-VN" sz="2200" b="0">
                        <a:solidFill>
                          <a:srgbClr val="1E293B"/>
                        </a:solidFill>
                        <a:latin typeface="Cambria Math" panose="02040503050406030204" pitchFamily="18" charset="0"/>
                      </a:rPr>
                      <m:t>±</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𝑦</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𝑘</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𝑢</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𝑘𝑥</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𝑘𝑦</m:t>
                    </m:r>
                    <m:r>
                      <a:rPr lang="vi-VN" sz="2200" b="0">
                        <a:solidFill>
                          <a:srgbClr val="1E293B"/>
                        </a:solidFill>
                        <a:latin typeface="Cambria Math" panose="02040503050406030204" pitchFamily="18" charset="0"/>
                      </a:rPr>
                      <m:t>)</m:t>
                    </m:r>
                  </m:oMath>
                </a14:m>
                <a:r>
                  <a:rPr sz="2200">
                    <a:solidFill>
                      <a:srgbClr val="1E293B"/>
                    </a:solidFill>
                    <a:latin typeface="Calibri"/>
                  </a:rPr>
                  <a:t>; cùng phương ⇔ toạ độ tỉ lệ.</a:t>
                </a:r>
              </a:p>
            </p:txBody>
          </p:sp>
        </mc:Choice>
        <mc:Fallback xmlns="">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\vec{u}=x\vec{i}+y\vec{j}\Leftrightarrow\vec{u}=(x;\ y)</a:t>
                </a:r>
                <a:r>
                  <a:rPr sz="2200">
                    <a:solidFill>
                      <a:srgbClr val="1E293B"/>
                    </a:solidFill>
                    <a:latin typeface="Calibri"/>
                  </a:rPr>
                  <a:t>; </a:t>
                </a:r>
                <a:r>
                  <a:rPr lang="vi-VN"/>
                  <a:t>\vec{i}=(1;\ 0)</a:t>
                </a:r>
                <a:r>
                  <a:rPr sz="2200">
                    <a:solidFill>
                      <a:srgbClr val="1E293B"/>
                    </a:solidFill>
                    <a:latin typeface="Calibri"/>
                  </a:rPr>
                  <a:t>, </a:t>
                </a:r>
                <a:r>
                  <a:rPr lang="vi-VN"/>
                  <a:t>\vec{j}=(0;\ 1)</a:t>
                </a:r>
                <a:r>
                  <a:rPr sz="2200">
                    <a:solidFill>
                      <a:srgbClr val="1E293B"/>
                    </a:solidFill>
                    <a:latin typeface="Calibri"/>
                  </a:rPr>
                  <a:t>.</a:t>
                </a:r>
              </a:p>
              <a:p>
                <a:pPr algn="l" marL="365760" indent="-365760">
                  <a:spcAft>
                    <a:spcPts val="800"/>
                  </a:spcAft>
                  <a:buClr>
                    <a:srgbClr val="1E40AF"/>
                  </a:buClr>
                  <a:buFont typeface="Arial"/>
                  <a:buChar char="•"/>
                </a:pPr>
                <a:r>
                  <a:rPr lang="vi-VN"/>
                  <a:t>\vec{u}\pm\vec{v}=(x\pm x';\ y\pm y')</a:t>
                </a:r>
                <a:r>
                  <a:rPr sz="2200">
                    <a:solidFill>
                      <a:srgbClr val="1E293B"/>
                    </a:solidFill>
                    <a:latin typeface="Calibri"/>
                  </a:rPr>
                  <a:t>; </a:t>
                </a:r>
                <a:r>
                  <a:rPr lang="vi-VN"/>
                  <a:t>k\vec{u}=(kx;\ ky)</a:t>
                </a:r>
                <a:r>
                  <a:rPr sz="2200">
                    <a:solidFill>
                      <a:srgbClr val="1E293B"/>
                    </a:solidFill>
                    <a:latin typeface="Calibri"/>
                  </a:rPr>
                  <a:t>; cùng phương ⇔ toạ độ tỉ lệ.</a:t>
                </a:r>
              </a:p>
            </p:txBody>
          </p:sp>
        </mc:Fallback>
      </mc:AlternateContent>
      <p:sp>
        <p:nvSpPr>
          <p:cNvPr id="9" name="Rounded Rectangle 8"/>
          <p:cNvSpPr/>
          <p:nvPr/>
        </p:nvSpPr>
        <p:spPr>
          <a:xfrm>
            <a:off x="548640" y="272796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764536"/>
            <a:ext cx="10735056" cy="1399032"/>
          </a:xfrm>
          <a:prstGeom prst="rect">
            <a:avLst/>
          </a:prstGeom>
          <a:noFill/>
        </p:spPr>
        <p:txBody>
          <a:bodyPr wrap="square" lIns="45720" rIns="45720" anchor="ctr">
            <a:spAutoFit/>
          </a:bodyPr>
          <a:lstStyle/>
          <a:p>
            <a:pPr algn="l">
              <a:spcAft>
                <a:spcPts val="800"/>
              </a:spcAft>
            </a:pPr>
            <a:r>
              <a:rPr sz="2200" b="1">
                <a:solidFill>
                  <a:srgbClr val="1E293B"/>
                </a:solidFill>
                <a:latin typeface="Calibri"/>
              </a:rPr>
              <a:t>Nhiệm vụ về nhà:</a:t>
            </a:r>
          </a:p>
          <a:p>
            <a:pPr marL="365760" indent="-365760" algn="l">
              <a:spcAft>
                <a:spcPts val="800"/>
              </a:spcAft>
              <a:buClr>
                <a:srgbClr val="1E40AF"/>
              </a:buClr>
              <a:buFont typeface="Arial"/>
              <a:buChar char="•"/>
            </a:pPr>
            <a:r>
              <a:rPr sz="2200">
                <a:solidFill>
                  <a:srgbClr val="1E293B"/>
                </a:solidFill>
                <a:latin typeface="Calibri"/>
              </a:rPr>
              <a:t>Ôn khung kiến thức; xem lại HĐ3, Ví dụ 2.</a:t>
            </a:r>
          </a:p>
          <a:p>
            <a:pPr marL="365760" indent="-365760" algn="l">
              <a:spcAft>
                <a:spcPts val="800"/>
              </a:spcAft>
              <a:buClr>
                <a:srgbClr val="1E40AF"/>
              </a:buClr>
              <a:buFont typeface="Arial"/>
              <a:buChar char="•"/>
            </a:pPr>
            <a:r>
              <a:rPr sz="2200">
                <a:solidFill>
                  <a:srgbClr val="1E293B"/>
                </a:solidFill>
                <a:latin typeface="Calibri"/>
              </a:rPr>
              <a:t>Đọc trước HĐ4, HĐ5, Ví dụ 3, Ví dụ 4 (SGK tr.62 – 64).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(T33)</a:t>
            </a:r>
          </a:p>
          <a:p>
            <a:pPr>
              <a:spcAft>
                <a:spcPts val="600"/>
              </a:spcAft>
            </a:pPr>
            <a:r>
              <a:rPr sz="4000" b="1">
                <a:solidFill>
                  <a:srgbClr val="FFFFFF"/>
                </a:solidFill>
                <a:latin typeface="Cambria"/>
              </a:rPr>
              <a:t>Toạ độ điểm, khoảng cách. Trung điểm, trọng tâm</a:t>
            </a:r>
          </a:p>
        </p:txBody>
      </p:sp>
      <p:sp>
        <p:nvSpPr>
          <p:cNvPr id="5" name="TextBox 4"/>
          <p:cNvSpPr txBox="1"/>
          <p:nvPr/>
        </p:nvSpPr>
        <p:spPr>
          <a:xfrm>
            <a:off x="1097280" y="4343400"/>
            <a:ext cx="10332720" cy="1828800"/>
          </a:xfrm>
          <a:prstGeom prst="rect">
            <a:avLst/>
          </a:prstGeom>
          <a:noFill/>
        </p:spPr>
        <p:txBody>
          <a:bodyPr wrap="square" lIns="45720" rIns="45720" anchor="t">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Tìm toạ độ điểm, toạ độ vectơ nối hai điểm; tính độ dài, khoảng cách.</a:t>
            </a:r>
          </a:p>
          <a:p>
            <a:pPr algn="l">
              <a:spcAft>
                <a:spcPts val="800"/>
              </a:spcAft>
            </a:pPr>
            <a:r>
              <a:rPr sz="2200">
                <a:solidFill>
                  <a:srgbClr val="E0E7FF"/>
                </a:solidFill>
                <a:latin typeface="Calibri"/>
              </a:rPr>
              <a:t>• Tìm toạ độ trung điểm, trọng tâm; giải bài toán dự đoán tâm bão.</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KHỞI ĐỘNG: TRUY TÌM TOẠ ĐỘ</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14</a:t>
            </a:r>
          </a:p>
        </p:txBody>
      </p:sp>
      <p:sp>
        <p:nvSpPr>
          <p:cNvPr id="7" name="TextBox 6"/>
          <p:cNvSpPr txBox="1"/>
          <p:nvPr/>
        </p:nvSpPr>
        <p:spPr>
          <a:xfrm>
            <a:off x="548640" y="1325880"/>
            <a:ext cx="11064240" cy="457200"/>
          </a:xfrm>
          <a:prstGeom prst="rect">
            <a:avLst/>
          </a:prstGeom>
          <a:noFill/>
        </p:spPr>
        <p:txBody>
          <a:bodyPr wrap="square" lIns="45720" rIns="45720" anchor="t">
            <a:spAutoFit/>
          </a:bodyPr>
          <a:lstStyle/>
          <a:p>
            <a:pPr algn="l">
              <a:spcAft>
                <a:spcPts val="800"/>
              </a:spcAft>
            </a:pPr>
            <a:r>
              <a:rPr sz="1800">
                <a:solidFill>
                  <a:srgbClr val="64748B"/>
                </a:solidFill>
                <a:latin typeface="Calibri"/>
              </a:rPr>
              <a:t>📋 Từng cặp tìm toạ độ, ghi bảng con. Mỗi câu 30 giây.</a:t>
            </a:r>
          </a:p>
        </p:txBody>
      </p:sp>
      <mc:AlternateContent xmlns:mc="http://schemas.openxmlformats.org/markup-compatibility/2006" xmlns:a14="http://schemas.microsoft.com/office/drawing/2010/main">
        <mc:Choice Requires="a14">
          <p:sp>
            <p:nvSpPr>
              <p:cNvPr id="8" name="TextBox 7"/>
              <p:cNvSpPr txBox="1"/>
              <p:nvPr/>
            </p:nvSpPr>
            <p:spPr>
              <a:xfrm>
                <a:off x="548640" y="1783080"/>
                <a:ext cx="7589520" cy="640080"/>
              </a:xfrm>
              <a:prstGeom prst="rect">
                <a:avLst/>
              </a:prstGeom>
              <a:noFill/>
            </p:spPr>
            <p:txBody>
              <a:bodyPr wrap="square" lIns="45720" rIns="45720" anchor="t">
                <a:spAutoFit/>
              </a:bodyPr>
              <a:lstStyle/>
              <a:p>
                <a:pPr algn="l">
                  <a:spcAft>
                    <a:spcPts val="800"/>
                  </a:spcAft>
                </a:pPr>
                <a:r>
                  <a:rPr sz="2200">
                    <a:solidFill>
                      <a:srgbClr val="1E293B"/>
                    </a:solidFill>
                    <a:latin typeface="Calibri"/>
                  </a:rPr>
                  <a:t>Quan sát Hình 4.33: </a:t>
                </a:r>
                <a14:m>
                  <m:oMath xmlns:m="http://schemas.openxmlformats.org/officeDocument/2006/math">
                    <m:r>
                      <a:rPr lang="vi-VN" sz="2200" b="0">
                        <a:solidFill>
                          <a:srgbClr val="1E293B"/>
                        </a:solidFill>
                        <a:latin typeface="Cambria Math" panose="02040503050406030204" pitchFamily="18" charset="0"/>
                      </a:rPr>
                      <m:t>𝑀</m:t>
                    </m:r>
                    <m:r>
                      <a:rPr lang="vi-VN" sz="2200" b="0">
                        <a:solidFill>
                          <a:srgbClr val="1E293B"/>
                        </a:solidFill>
                        <a:latin typeface="Cambria Math" panose="02040503050406030204" pitchFamily="18" charset="0"/>
                      </a:rPr>
                      <m:t>(3; 5)</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𝑁</m:t>
                    </m:r>
                    <m:d>
                      <m:dPr>
                        <m:ctrlPr>
                          <a:rPr lang="vi-VN" sz="2200" b="0">
                            <a:solidFill>
                              <a:srgbClr val="1E293B"/>
                            </a:solidFill>
                            <a:latin typeface="Cambria Math" panose="02040503050406030204" pitchFamily="18" charset="0"/>
                          </a:rPr>
                        </m:ctrlPr>
                      </m:dPr>
                      <m:e>
                        <m:r>
                          <a:rPr lang="vi-VN" sz="2200" b="0">
                            <a:solidFill>
                              <a:srgbClr val="1E293B"/>
                            </a:solidFill>
                            <a:latin typeface="Cambria Math" panose="02040503050406030204" pitchFamily="18" charset="0"/>
                          </a:rPr>
                          <m:t>−2; </m:t>
                        </m:r>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5</m:t>
                            </m:r>
                          </m:num>
                          <m:den>
                            <m:r>
                              <a:rPr lang="vi-VN" sz="2200" b="0">
                                <a:solidFill>
                                  <a:srgbClr val="1E293B"/>
                                </a:solidFill>
                                <a:latin typeface="Cambria Math" panose="02040503050406030204" pitchFamily="18" charset="0"/>
                              </a:rPr>
                              <m:t>2</m:t>
                            </m:r>
                          </m:den>
                        </m:f>
                      </m:e>
                    </m:d>
                  </m:oMath>
                </a14:m>
                <a:r>
                  <a:rPr sz="2200">
                    <a:solidFill>
                      <a:srgbClr val="1E293B"/>
                    </a:solidFill>
                    <a:latin typeface="Calibri"/>
                  </a:rPr>
                  <a:t>.</a:t>
                </a:r>
              </a:p>
            </p:txBody>
          </p:sp>
        </mc:Choice>
        <mc:Fallback xmlns="">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Quan sát Hình 4.33: </a:t>
                </a:r>
                <a:r>
                  <a:rPr lang="vi-VN"/>
                  <a:t>M(3;\ 5)</a:t>
                </a:r>
                <a:r>
                  <a:rPr sz="2200">
                    <a:solidFill>
                      <a:srgbClr val="1E293B"/>
                    </a:solidFill>
                    <a:latin typeface="Calibri"/>
                  </a:rPr>
                  <a:t>, </a:t>
                </a:r>
                <a:r>
                  <a:rPr lang="vi-VN"/>
                  <a:t>N\left(-2;\ \frac{5}{2}\right)</a:t>
                </a:r>
                <a:r>
                  <a:rPr sz="22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48640" y="2468879"/>
                <a:ext cx="4206240" cy="857250"/>
              </a:xfrm>
              <a:prstGeom prst="rect">
                <a:avLst/>
              </a:prstGeom>
              <a:noFill/>
            </p:spPr>
            <p:txBody>
              <a:bodyPr wrap="square" lIns="45720" rIns="45720" anchor="t">
                <a:spAutoFit/>
              </a:bodyPr>
              <a:lstStyle/>
              <a:p>
                <a:pPr algn="l">
                  <a:spcAft>
                    <a:spcPts val="800"/>
                  </a:spcAft>
                </a:pPr>
                <a:r>
                  <a:rPr sz="2400" b="1">
                    <a:solidFill>
                      <a:srgbClr val="1E293B"/>
                    </a:solidFill>
                    <a:latin typeface="Calibri"/>
                  </a:rPr>
                  <a:t>1.</a:t>
                </a:r>
                <a:r>
                  <a:rPr sz="2400">
                    <a:solidFill>
                      <a:srgbClr val="1E293B"/>
                    </a:solidFill>
                    <a:latin typeface="Calibri"/>
                  </a:rPr>
                  <a:t> Toạ độ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𝑂𝑀</m:t>
                        </m:r>
                      </m:e>
                    </m:acc>
                  </m:oMath>
                </a14:m>
                <a:r>
                  <a:rPr sz="2400">
                    <a:solidFill>
                      <a:srgbClr val="1E293B"/>
                    </a:solidFill>
                    <a:latin typeface="Calibri"/>
                  </a:rPr>
                  <a:t>?</a:t>
                </a:r>
              </a:p>
            </p:txBody>
          </p:sp>
        </mc:Choice>
        <mc:Fallback xmlns="">
          <p:sp>
            <p:nvSpPr>
              <p:cNvPr id="9" name="TextBox 8"/>
              <p:cNvSpPr txBox="1"/>
              <p:nvPr/>
            </p:nvSpPr>
            <p:spPr>
              <a:xfrm>
                <a:off x="548640" y="246887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Toạ độ </a:t>
                </a:r>
                <a:r>
                  <a:rPr lang="vi-VN"/>
                  <a:t>\overrightarrow{OM}</a:t>
                </a:r>
                <a:r>
                  <a:rPr sz="2400">
                    <a:solidFill>
                      <a:srgbClr val="1E293B"/>
                    </a:solidFill>
                    <a:latin typeface="Calibri"/>
                  </a:rPr>
                  <a:t>?</a:t>
                </a:r>
              </a:p>
            </p:txBody>
          </p:sp>
        </mc:Fallback>
      </mc:AlternateContent>
      <p:sp>
        <p:nvSpPr>
          <p:cNvPr id="10" name="s1_nen"/>
          <p:cNvSpPr/>
          <p:nvPr/>
        </p:nvSpPr>
        <p:spPr>
          <a:xfrm>
            <a:off x="4846320" y="2423160"/>
            <a:ext cx="310896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1_chu"/>
              <p:cNvSpPr txBox="1"/>
              <p:nvPr/>
            </p:nvSpPr>
            <p:spPr>
              <a:xfrm>
                <a:off x="5010912" y="2459736"/>
                <a:ext cx="2779776" cy="738378"/>
              </a:xfrm>
              <a:prstGeom prst="rect">
                <a:avLst/>
              </a:prstGeom>
              <a:noFill/>
            </p:spPr>
            <p:txBody>
              <a:bodyPr wrap="square" lIns="45720" rIns="45720" anchor="ctr">
                <a:spAutoFit/>
              </a:bodyPr>
              <a:lstStyle/>
              <a:p>
                <a:pPr algn="ctr">
                  <a:spcAft>
                    <a:spcPts val="800"/>
                  </a:spcAft>
                </a:pP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3; 5</m:t>
                        </m:r>
                      </m:e>
                    </m:d>
                  </m:oMath>
                </a14:m>
                <a:endParaRPr sz="2400">
                  <a:solidFill>
                    <a:srgbClr val="1E293B"/>
                  </a:solidFill>
                  <a:latin typeface="Calibri"/>
                </a:endParaRPr>
              </a:p>
            </p:txBody>
          </p:sp>
        </mc:Choice>
        <mc:Fallback xmlns="">
          <p:sp>
            <p:nvSpPr>
              <p:cNvPr id="11" name="TextBox 10"/>
              <p:cNvSpPr txBox="1"/>
              <p:nvPr/>
            </p:nvSpPr>
            <p:spPr>
              <a:xfrm>
                <a:off x="5010912" y="2459736"/>
                <a:ext cx="277977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(3;\ 5)</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48640" y="3417570"/>
                <a:ext cx="4206240" cy="857250"/>
              </a:xfrm>
              <a:prstGeom prst="rect">
                <a:avLst/>
              </a:prstGeom>
              <a:noFill/>
            </p:spPr>
            <p:txBody>
              <a:bodyPr wrap="square" lIns="45720" rIns="45720" anchor="t">
                <a:spAutoFit/>
              </a:bodyPr>
              <a:lstStyle/>
              <a:p>
                <a:pPr algn="l">
                  <a:spcAft>
                    <a:spcPts val="800"/>
                  </a:spcAft>
                </a:pPr>
                <a:r>
                  <a:rPr sz="2400" b="1">
                    <a:solidFill>
                      <a:srgbClr val="1E293B"/>
                    </a:solidFill>
                    <a:latin typeface="Calibri"/>
                  </a:rPr>
                  <a:t>2.</a:t>
                </a:r>
                <a:r>
                  <a:rPr sz="2400">
                    <a:solidFill>
                      <a:srgbClr val="1E293B"/>
                    </a:solidFill>
                    <a:latin typeface="Calibri"/>
                  </a:rPr>
                  <a:t> Toạ độ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𝑀𝑁</m:t>
                        </m:r>
                      </m:e>
                    </m:acc>
                  </m:oMath>
                </a14:m>
                <a:r>
                  <a:rPr sz="2400">
                    <a:solidFill>
                      <a:srgbClr val="1E293B"/>
                    </a:solidFill>
                    <a:latin typeface="Calibri"/>
                  </a:rPr>
                  <a:t>?</a:t>
                </a:r>
              </a:p>
            </p:txBody>
          </p:sp>
        </mc:Choice>
        <mc:Fallback xmlns="">
          <p:sp>
            <p:nvSpPr>
              <p:cNvPr id="12" name="TextBox 11"/>
              <p:cNvSpPr txBox="1"/>
              <p:nvPr/>
            </p:nvSpPr>
            <p:spPr>
              <a:xfrm>
                <a:off x="548640" y="341757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Toạ độ </a:t>
                </a:r>
                <a:r>
                  <a:rPr lang="vi-VN"/>
                  <a:t>\overrightarrow{MN}</a:t>
                </a:r>
                <a:r>
                  <a:rPr sz="2400">
                    <a:solidFill>
                      <a:srgbClr val="1E293B"/>
                    </a:solidFill>
                    <a:latin typeface="Calibri"/>
                  </a:rPr>
                  <a:t>?</a:t>
                </a:r>
              </a:p>
            </p:txBody>
          </p:sp>
        </mc:Fallback>
      </mc:AlternateContent>
      <p:sp>
        <p:nvSpPr>
          <p:cNvPr id="13" name="s2_nen"/>
          <p:cNvSpPr/>
          <p:nvPr/>
        </p:nvSpPr>
        <p:spPr>
          <a:xfrm>
            <a:off x="4846320" y="3371850"/>
            <a:ext cx="310896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4" name="s2_chu"/>
              <p:cNvSpPr txBox="1"/>
              <p:nvPr/>
            </p:nvSpPr>
            <p:spPr>
              <a:xfrm>
                <a:off x="5010912" y="3408426"/>
                <a:ext cx="2779776" cy="738378"/>
              </a:xfrm>
              <a:prstGeom prst="rect">
                <a:avLst/>
              </a:prstGeom>
              <a:noFill/>
            </p:spPr>
            <p:txBody>
              <a:bodyPr wrap="square" lIns="45720" rIns="45720" anchor="ctr">
                <a:spAutoFit/>
              </a:bodyPr>
              <a:lstStyle/>
              <a:p>
                <a:pPr algn="ctr">
                  <a:spcAft>
                    <a:spcPts val="800"/>
                  </a:spcAft>
                </a:pP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−5; −</m:t>
                        </m:r>
                        <m:f>
                          <m:fPr>
                            <m:ctrlPr>
                              <a:rPr lang="vi-VN" sz="2400" b="0">
                                <a:solidFill>
                                  <a:srgbClr val="1E293B"/>
                                </a:solidFill>
                                <a:latin typeface="Cambria Math" panose="02040503050406030204" pitchFamily="18" charset="0"/>
                              </a:rPr>
                            </m:ctrlPr>
                          </m:fPr>
                          <m:num>
                            <m:r>
                              <a:rPr lang="vi-VN" sz="2400" b="0">
                                <a:solidFill>
                                  <a:srgbClr val="1E293B"/>
                                </a:solidFill>
                                <a:latin typeface="Cambria Math" panose="02040503050406030204" pitchFamily="18" charset="0"/>
                              </a:rPr>
                              <m:t>5</m:t>
                            </m:r>
                          </m:num>
                          <m:den>
                            <m:r>
                              <a:rPr lang="vi-VN" sz="2400" b="0">
                                <a:solidFill>
                                  <a:srgbClr val="1E293B"/>
                                </a:solidFill>
                                <a:latin typeface="Cambria Math" panose="02040503050406030204" pitchFamily="18" charset="0"/>
                              </a:rPr>
                              <m:t>2</m:t>
                            </m:r>
                          </m:den>
                        </m:f>
                      </m:e>
                    </m:d>
                  </m:oMath>
                </a14:m>
                <a:endParaRPr sz="2400">
                  <a:solidFill>
                    <a:srgbClr val="1E293B"/>
                  </a:solidFill>
                  <a:latin typeface="Calibri"/>
                </a:endParaRPr>
              </a:p>
            </p:txBody>
          </p:sp>
        </mc:Choice>
        <mc:Fallback xmlns="">
          <p:sp>
            <p:nvSpPr>
              <p:cNvPr id="14" name="TextBox 13"/>
              <p:cNvSpPr txBox="1"/>
              <p:nvPr/>
            </p:nvSpPr>
            <p:spPr>
              <a:xfrm>
                <a:off x="5010912" y="3408426"/>
                <a:ext cx="277977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\left(-5;\ -\frac{5}{2}\right)</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548640" y="4366259"/>
                <a:ext cx="4206240" cy="857250"/>
              </a:xfrm>
              <a:prstGeom prst="rect">
                <a:avLst/>
              </a:prstGeom>
              <a:noFill/>
            </p:spPr>
            <p:txBody>
              <a:bodyPr wrap="square" lIns="45720" rIns="45720" anchor="t">
                <a:spAutoFit/>
              </a:bodyPr>
              <a:lstStyle/>
              <a:p>
                <a:pPr algn="l">
                  <a:spcAft>
                    <a:spcPts val="800"/>
                  </a:spcAft>
                </a:pPr>
                <a:r>
                  <a:rPr sz="2400" b="1">
                    <a:solidFill>
                      <a:srgbClr val="1E293B"/>
                    </a:solidFill>
                    <a:latin typeface="Calibri"/>
                  </a:rPr>
                  <a:t>3.</a:t>
                </a:r>
                <a:r>
                  <a:rPr sz="2400">
                    <a:solidFill>
                      <a:srgbClr val="1E293B"/>
                    </a:solidFill>
                    <a:latin typeface="Calibri"/>
                  </a:rPr>
                  <a:t> </a:t>
                </a:r>
                <a14:m>
                  <m:oMath xmlns:m="http://schemas.openxmlformats.org/officeDocument/2006/math">
                    <m:d>
                      <m:dPr>
                        <m:begChr m:val="|"/>
                        <m:endChr m:val="|"/>
                        <m:ctrlPr>
                          <a:rPr lang="vi-VN" sz="2400" b="0">
                            <a:solidFill>
                              <a:srgbClr val="1E293B"/>
                            </a:solidFill>
                            <a:latin typeface="Cambria Math" panose="02040503050406030204" pitchFamily="18" charset="0"/>
                          </a:rPr>
                        </m:ctrlPr>
                      </m:dPr>
                      <m:e>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𝑂𝑀</m:t>
                            </m:r>
                          </m:e>
                        </m:acc>
                      </m:e>
                    </m:d>
                  </m:oMath>
                </a14:m>
                <a:r>
                  <a:rPr sz="2400">
                    <a:solidFill>
                      <a:srgbClr val="1E293B"/>
                    </a:solidFill>
                    <a:latin typeface="Calibri"/>
                  </a:rPr>
                  <a:t>?</a:t>
                </a:r>
              </a:p>
            </p:txBody>
          </p:sp>
        </mc:Choice>
        <mc:Fallback xmlns="">
          <p:sp>
            <p:nvSpPr>
              <p:cNvPr id="15" name="TextBox 14"/>
              <p:cNvSpPr txBox="1"/>
              <p:nvPr/>
            </p:nvSpPr>
            <p:spPr>
              <a:xfrm>
                <a:off x="548640" y="436625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a:t>
                </a:r>
                <a:r>
                  <a:rPr lang="vi-VN"/>
                  <a:t>|\overrightarrow{OM}|</a:t>
                </a:r>
                <a:r>
                  <a:rPr sz="2400">
                    <a:solidFill>
                      <a:srgbClr val="1E293B"/>
                    </a:solidFill>
                    <a:latin typeface="Calibri"/>
                  </a:rPr>
                  <a:t>?</a:t>
                </a:r>
              </a:p>
            </p:txBody>
          </p:sp>
        </mc:Fallback>
      </mc:AlternateContent>
      <p:sp>
        <p:nvSpPr>
          <p:cNvPr id="16" name="s3_nen"/>
          <p:cNvSpPr/>
          <p:nvPr/>
        </p:nvSpPr>
        <p:spPr>
          <a:xfrm>
            <a:off x="4846320" y="4320540"/>
            <a:ext cx="310896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7" name="s3_chu"/>
              <p:cNvSpPr txBox="1"/>
              <p:nvPr/>
            </p:nvSpPr>
            <p:spPr>
              <a:xfrm>
                <a:off x="5010912" y="4357116"/>
                <a:ext cx="2779776" cy="738378"/>
              </a:xfrm>
              <a:prstGeom prst="rect">
                <a:avLst/>
              </a:prstGeom>
              <a:noFill/>
            </p:spPr>
            <p:txBody>
              <a:bodyPr wrap="square" lIns="45720" rIns="45720" anchor="ctr">
                <a:spAutoFit/>
              </a:bodyPr>
              <a:lstStyle/>
              <a:p>
                <a:pPr algn="ctr">
                  <a:spcAft>
                    <a:spcPts val="800"/>
                  </a:spcAft>
                </a:pPr>
                <a:r>
                  <a:rPr sz="2400">
                    <a:solidFill>
                      <a:srgbClr val="1E293B"/>
                    </a:solidFill>
                    <a:latin typeface="Calibri"/>
                  </a:rPr>
                  <a:t> </a:t>
                </a:r>
                <a14:m>
                  <m:oMath xmlns:m="http://schemas.openxmlformats.org/officeDocument/2006/math">
                    <m:rad>
                      <m:radPr>
                        <m:degHide m:val="on"/>
                        <m:ctrlPr>
                          <a:rPr lang="vi-VN" sz="2400" b="0" i="1">
                            <a:solidFill>
                              <a:srgbClr val="1E293B"/>
                            </a:solidFill>
                            <a:latin typeface="Cambria Math" panose="02040503050406030204" pitchFamily="18" charset="0"/>
                          </a:rPr>
                        </m:ctrlPr>
                      </m:radPr>
                      <m:deg/>
                      <m:e>
                        <m:r>
                          <a:rPr lang="vi-VN" sz="2400" b="0">
                            <a:solidFill>
                              <a:srgbClr val="1E293B"/>
                            </a:solidFill>
                            <a:latin typeface="Cambria Math" panose="02040503050406030204" pitchFamily="18" charset="0"/>
                          </a:rPr>
                          <m:t>34</m:t>
                        </m:r>
                      </m:e>
                    </m:rad>
                  </m:oMath>
                </a14:m>
                <a:endParaRPr sz="2400">
                  <a:solidFill>
                    <a:srgbClr val="1E293B"/>
                  </a:solidFill>
                  <a:latin typeface="Calibri"/>
                </a:endParaRPr>
              </a:p>
            </p:txBody>
          </p:sp>
        </mc:Choice>
        <mc:Fallback xmlns="">
          <p:sp>
            <p:nvSpPr>
              <p:cNvPr id="17" name="TextBox 16"/>
              <p:cNvSpPr txBox="1"/>
              <p:nvPr/>
            </p:nvSpPr>
            <p:spPr>
              <a:xfrm>
                <a:off x="5010912" y="4357116"/>
                <a:ext cx="277977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\sqrt{34}</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48640" y="5314950"/>
                <a:ext cx="4206240" cy="857250"/>
              </a:xfrm>
              <a:prstGeom prst="rect">
                <a:avLst/>
              </a:prstGeom>
              <a:noFill/>
            </p:spPr>
            <p:txBody>
              <a:bodyPr wrap="square" lIns="45720" rIns="45720" anchor="t">
                <a:spAutoFit/>
              </a:bodyPr>
              <a:lstStyle/>
              <a:p>
                <a:pPr algn="l">
                  <a:spcAft>
                    <a:spcPts val="800"/>
                  </a:spcAft>
                </a:pPr>
                <a:r>
                  <a:rPr sz="2400" b="1">
                    <a:solidFill>
                      <a:srgbClr val="1E293B"/>
                    </a:solidFill>
                    <a:latin typeface="Calibri"/>
                  </a:rPr>
                  <a:t>4.</a:t>
                </a:r>
                <a:r>
                  <a:rPr sz="2400">
                    <a:solidFill>
                      <a:srgbClr val="1E293B"/>
                    </a:solidFill>
                    <a:latin typeface="Calibri"/>
                  </a:rPr>
                  <a:t> Trung điểm </a:t>
                </a:r>
                <a14:m>
                  <m:oMath xmlns:m="http://schemas.openxmlformats.org/officeDocument/2006/math">
                    <m:r>
                      <a:rPr lang="vi-VN" sz="2400" b="0">
                        <a:solidFill>
                          <a:srgbClr val="1E293B"/>
                        </a:solidFill>
                        <a:latin typeface="Cambria Math" panose="02040503050406030204" pitchFamily="18" charset="0"/>
                      </a:rPr>
                      <m:t>𝑀𝑁</m:t>
                    </m:r>
                  </m:oMath>
                </a14:m>
                <a:r>
                  <a:rPr sz="2400">
                    <a:solidFill>
                      <a:srgbClr val="1E293B"/>
                    </a:solidFill>
                    <a:latin typeface="Calibri"/>
                  </a:rPr>
                  <a:t>?</a:t>
                </a:r>
              </a:p>
            </p:txBody>
          </p:sp>
        </mc:Choice>
        <mc:Fallback xmlns="">
          <p:sp>
            <p:nvSpPr>
              <p:cNvPr id="18" name="TextBox 17"/>
              <p:cNvSpPr txBox="1"/>
              <p:nvPr/>
            </p:nvSpPr>
            <p:spPr>
              <a:xfrm>
                <a:off x="548640" y="531495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Trung điểm </a:t>
                </a:r>
                <a:r>
                  <a:rPr lang="vi-VN"/>
                  <a:t>MN</a:t>
                </a:r>
                <a:r>
                  <a:rPr sz="2400">
                    <a:solidFill>
                      <a:srgbClr val="1E293B"/>
                    </a:solidFill>
                    <a:latin typeface="Calibri"/>
                  </a:rPr>
                  <a:t>?</a:t>
                </a:r>
              </a:p>
            </p:txBody>
          </p:sp>
        </mc:Fallback>
      </mc:AlternateContent>
      <p:sp>
        <p:nvSpPr>
          <p:cNvPr id="19" name="s4_nen"/>
          <p:cNvSpPr/>
          <p:nvPr/>
        </p:nvSpPr>
        <p:spPr>
          <a:xfrm>
            <a:off x="4846320" y="5269230"/>
            <a:ext cx="310896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0" name="s4_chu"/>
              <p:cNvSpPr txBox="1"/>
              <p:nvPr/>
            </p:nvSpPr>
            <p:spPr>
              <a:xfrm>
                <a:off x="5010912" y="5305806"/>
                <a:ext cx="2779776" cy="738378"/>
              </a:xfrm>
              <a:prstGeom prst="rect">
                <a:avLst/>
              </a:prstGeom>
              <a:noFill/>
            </p:spPr>
            <p:txBody>
              <a:bodyPr wrap="square" lIns="45720" rIns="45720" anchor="ctr">
                <a:spAutoFit/>
              </a:bodyPr>
              <a:lstStyle/>
              <a:p>
                <a:pPr algn="ctr">
                  <a:spcAft>
                    <a:spcPts val="800"/>
                  </a:spcAft>
                </a:pP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f>
                          <m:fPr>
                            <m:ctrlPr>
                              <a:rPr lang="vi-VN" sz="2400" b="0">
                                <a:solidFill>
                                  <a:srgbClr val="1E293B"/>
                                </a:solidFill>
                                <a:latin typeface="Cambria Math" panose="02040503050406030204" pitchFamily="18" charset="0"/>
                              </a:rPr>
                            </m:ctrlP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 </m:t>
                        </m:r>
                        <m:f>
                          <m:fPr>
                            <m:ctrlPr>
                              <a:rPr lang="vi-VN" sz="2400" b="0">
                                <a:solidFill>
                                  <a:srgbClr val="1E293B"/>
                                </a:solidFill>
                                <a:latin typeface="Cambria Math" panose="02040503050406030204" pitchFamily="18" charset="0"/>
                              </a:rPr>
                            </m:ctrlPr>
                          </m:fPr>
                          <m:num>
                            <m:r>
                              <a:rPr lang="vi-VN" sz="2400" b="0">
                                <a:solidFill>
                                  <a:srgbClr val="1E293B"/>
                                </a:solidFill>
                                <a:latin typeface="Cambria Math" panose="02040503050406030204" pitchFamily="18" charset="0"/>
                              </a:rPr>
                              <m:t>15</m:t>
                            </m:r>
                          </m:num>
                          <m:den>
                            <m:r>
                              <a:rPr lang="vi-VN" sz="2400" b="0">
                                <a:solidFill>
                                  <a:srgbClr val="1E293B"/>
                                </a:solidFill>
                                <a:latin typeface="Cambria Math" panose="02040503050406030204" pitchFamily="18" charset="0"/>
                              </a:rPr>
                              <m:t>4</m:t>
                            </m:r>
                          </m:den>
                        </m:f>
                      </m:e>
                    </m:d>
                  </m:oMath>
                </a14:m>
                <a:endParaRPr sz="2400">
                  <a:solidFill>
                    <a:srgbClr val="1E293B"/>
                  </a:solidFill>
                  <a:latin typeface="Calibri"/>
                </a:endParaRPr>
              </a:p>
            </p:txBody>
          </p:sp>
        </mc:Choice>
        <mc:Fallback xmlns="">
          <p:sp>
            <p:nvSpPr>
              <p:cNvPr id="20" name="TextBox 19"/>
              <p:cNvSpPr txBox="1"/>
              <p:nvPr/>
            </p:nvSpPr>
            <p:spPr>
              <a:xfrm>
                <a:off x="5010912" y="5305806"/>
                <a:ext cx="277977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\left(\frac{1}{2};\ \frac{15}{4}\right)</a:t>
                </a:r>
              </a:p>
            </p:txBody>
          </p:sp>
        </mc:Fallback>
      </mc:AlternateContent>
      <p:pic>
        <p:nvPicPr>
          <p:cNvPr id="21" name="Picture 20" descr="h433.png"/>
          <p:cNvPicPr>
            <a:picLocks noChangeAspect="1"/>
          </p:cNvPicPr>
          <p:nvPr/>
        </p:nvPicPr>
        <p:blipFill>
          <a:blip r:embed="rId3"/>
          <a:stretch>
            <a:fillRect/>
          </a:stretch>
        </p:blipFill>
        <p:spPr>
          <a:xfrm>
            <a:off x="8412480" y="2138503"/>
            <a:ext cx="3291839" cy="267243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TOẠ ĐỘ CỦA ĐIỂM – ĐỘ DÀI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15</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8229600" cy="1392936"/>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HĐ4.</a:t>
                </a:r>
                <a:r>
                  <a:rPr sz="2000">
                    <a:solidFill>
                      <a:srgbClr val="1E293B"/>
                    </a:solidFill>
                    <a:latin typeface="Calibri"/>
                  </a:rPr>
                  <a:t> Cho điểm </a:t>
                </a:r>
                <a14:m>
                  <m:oMath xmlns:m="http://schemas.openxmlformats.org/officeDocument/2006/math">
                    <m:r>
                      <a:rPr lang="vi-VN" sz="2000" b="0">
                        <a:solidFill>
                          <a:srgbClr val="1E293B"/>
                        </a:solidFill>
                        <a:latin typeface="Cambria Math" panose="02040503050406030204" pitchFamily="18" charset="0"/>
                      </a:rPr>
                      <m:t>𝑀</m:t>
                    </m:r>
                    <m:r>
                      <a:rPr lang="vi-VN" sz="2000" b="0">
                        <a:solidFill>
                          <a:srgbClr val="1E293B"/>
                        </a:solidFill>
                        <a:latin typeface="Cambria Math" panose="02040503050406030204" pitchFamily="18" charset="0"/>
                      </a:rPr>
                      <m:t>(</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 </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𝑃</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𝑄</m:t>
                    </m:r>
                  </m:oMath>
                </a14:m>
                <a:r>
                  <a:rPr sz="2000">
                    <a:solidFill>
                      <a:srgbClr val="1E293B"/>
                    </a:solidFill>
                    <a:latin typeface="Calibri"/>
                  </a:rPr>
                  <a:t> là hình chiếu vuông góc của </a:t>
                </a:r>
                <a14:m>
                  <m:oMath xmlns:m="http://schemas.openxmlformats.org/officeDocument/2006/math">
                    <m:r>
                      <a:rPr lang="vi-VN" sz="2000" b="0">
                        <a:solidFill>
                          <a:srgbClr val="1E293B"/>
                        </a:solidFill>
                        <a:latin typeface="Cambria Math" panose="02040503050406030204" pitchFamily="18" charset="0"/>
                      </a:rPr>
                      <m:t>𝑀</m:t>
                    </m:r>
                  </m:oMath>
                </a14:m>
                <a:r>
                  <a:rPr sz="2000">
                    <a:solidFill>
                      <a:srgbClr val="1E293B"/>
                    </a:solidFill>
                    <a:latin typeface="Calibri"/>
                  </a:rPr>
                  <a:t> trên </a:t>
                </a:r>
                <a14:m>
                  <m:oMath xmlns:m="http://schemas.openxmlformats.org/officeDocument/2006/math">
                    <m:r>
                      <a:rPr lang="vi-VN" sz="2000" b="0">
                        <a:solidFill>
                          <a:srgbClr val="1E293B"/>
                        </a:solidFill>
                        <a:latin typeface="Cambria Math" panose="02040503050406030204" pitchFamily="18" charset="0"/>
                      </a:rPr>
                      <m:t>𝑂𝑥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𝑂𝑦</m:t>
                    </m:r>
                  </m:oMath>
                </a14:m>
                <a:r>
                  <a:rPr sz="2000">
                    <a:solidFill>
                      <a:srgbClr val="1E293B"/>
                    </a:solidFill>
                    <a:latin typeface="Calibri"/>
                  </a:rPr>
                  <a:t> (H.4.35). a), b) </a:t>
                </a:r>
                <a14:m>
                  <m:oMath xmlns:m="http://schemas.openxmlformats.org/officeDocument/2006/math">
                    <m:r>
                      <a:rPr lang="vi-VN" sz="2000" b="0">
                        <a:solidFill>
                          <a:srgbClr val="1E293B"/>
                        </a:solidFill>
                        <a:latin typeface="Cambria Math" panose="02040503050406030204" pitchFamily="18" charset="0"/>
                      </a:rPr>
                      <m:t>𝑃</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𝑄</m:t>
                    </m:r>
                  </m:oMath>
                </a14:m>
                <a:r>
                  <a:rPr sz="2000">
                    <a:solidFill>
                      <a:srgbClr val="1E293B"/>
                    </a:solidFill>
                    <a:latin typeface="Calibri"/>
                  </a:rPr>
                  <a:t> biểu diễn số nào? Biểu thị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𝑂𝑃</m:t>
                        </m:r>
                      </m:e>
                    </m:acc>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𝑂𝑄</m:t>
                        </m:r>
                      </m:e>
                    </m:acc>
                  </m:oMath>
                </a14:m>
                <a:r>
                  <a:rPr sz="2000">
                    <a:solidFill>
                      <a:srgbClr val="1E293B"/>
                    </a:solidFill>
                    <a:latin typeface="Calibri"/>
                  </a:rPr>
                  <a:t> theo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 </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oMath>
                </a14:m>
                <a:r>
                  <a:rPr sz="2000">
                    <a:solidFill>
                      <a:srgbClr val="1E293B"/>
                    </a:solidFill>
                    <a:latin typeface="Calibri"/>
                  </a:rPr>
                  <a:t> và tính độ dài. c) Tính độ dài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𝑂𝑀</m:t>
                        </m:r>
                      </m:e>
                    </m:acc>
                  </m:oMath>
                </a14:m>
                <a:r>
                  <a:rPr sz="2000">
                    <a:solidFill>
                      <a:srgbClr val="1E293B"/>
                    </a:solidFill>
                    <a:latin typeface="Calibri"/>
                  </a:rPr>
                  <a:t> theo </a:t>
                </a:r>
                <a14:m>
                  <m:oMath xmlns:m="http://schemas.openxmlformats.org/officeDocument/2006/math">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 </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0</m:t>
                        </m:r>
                      </m:sub>
                    </m:sSub>
                  </m:oMath>
                </a14:m>
                <a:r>
                  <a:rPr sz="2000">
                    <a:solidFill>
                      <a:srgbClr val="1E293B"/>
                    </a:solidFill>
                    <a:latin typeface="Calibri"/>
                  </a:rPr>
                  <a:t>. d) Biểu thị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𝑂𝑀</m:t>
                        </m:r>
                      </m:e>
                    </m:acc>
                  </m:oMath>
                </a14:m>
                <a:r>
                  <a:rPr sz="2000">
                    <a:solidFill>
                      <a:srgbClr val="1E293B"/>
                    </a:solidFill>
                    <a:latin typeface="Calibri"/>
                  </a:rPr>
                  <a:t> theo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 </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oMath>
                </a14:m>
                <a:r>
                  <a:rPr sz="2000">
                    <a:solidFill>
                      <a:srgbClr val="1E293B"/>
                    </a:solidFill>
                    <a:latin typeface="Calibri"/>
                  </a:rPr>
                  <a:t>.</a:t>
                </a:r>
              </a:p>
            </p:txBody>
          </p:sp>
        </mc:Choice>
        <mc:Fallback xmlns="">
          <p:sp>
            <p:nvSpPr>
              <p:cNvPr id="7" name="TextBox 6"/>
              <p:cNvSpPr txBox="1"/>
              <p:nvPr/>
            </p:nvSpPr>
            <p:spPr>
              <a:xfrm>
                <a:off x="548640" y="1371600"/>
                <a:ext cx="8229600" cy="13929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HĐ4.</a:t>
                </a:r>
                <a:r>
                  <a:rPr sz="2000">
                    <a:solidFill>
                      <a:srgbClr val="1E293B"/>
                    </a:solidFill>
                    <a:latin typeface="Calibri"/>
                  </a:rPr>
                  <a:t> Cho điểm </a:t>
                </a:r>
                <a:r>
                  <a:rPr lang="vi-VN"/>
                  <a:t>M(x_0;\ y_0)</a:t>
                </a:r>
                <a:r>
                  <a:rPr sz="2000">
                    <a:solidFill>
                      <a:srgbClr val="1E293B"/>
                    </a:solidFill>
                    <a:latin typeface="Calibri"/>
                  </a:rPr>
                  <a:t>; </a:t>
                </a:r>
                <a:r>
                  <a:rPr lang="vi-VN"/>
                  <a:t>P,\ Q</a:t>
                </a:r>
                <a:r>
                  <a:rPr sz="2000">
                    <a:solidFill>
                      <a:srgbClr val="1E293B"/>
                    </a:solidFill>
                    <a:latin typeface="Calibri"/>
                  </a:rPr>
                  <a:t> là hình chiếu vuông góc của </a:t>
                </a:r>
                <a:r>
                  <a:rPr lang="vi-VN"/>
                  <a:t>M</a:t>
                </a:r>
                <a:r>
                  <a:rPr sz="2000">
                    <a:solidFill>
                      <a:srgbClr val="1E293B"/>
                    </a:solidFill>
                    <a:latin typeface="Calibri"/>
                  </a:rPr>
                  <a:t> trên </a:t>
                </a:r>
                <a:r>
                  <a:rPr lang="vi-VN"/>
                  <a:t>Ox,\ Oy</a:t>
                </a:r>
                <a:r>
                  <a:rPr sz="2000">
                    <a:solidFill>
                      <a:srgbClr val="1E293B"/>
                    </a:solidFill>
                    <a:latin typeface="Calibri"/>
                  </a:rPr>
                  <a:t> (H.4.35). a), b) </a:t>
                </a:r>
                <a:r>
                  <a:rPr lang="vi-VN"/>
                  <a:t>P,\ Q</a:t>
                </a:r>
                <a:r>
                  <a:rPr sz="2000">
                    <a:solidFill>
                      <a:srgbClr val="1E293B"/>
                    </a:solidFill>
                    <a:latin typeface="Calibri"/>
                  </a:rPr>
                  <a:t> biểu diễn số nào? Biểu thị </a:t>
                </a:r>
                <a:r>
                  <a:rPr lang="vi-VN"/>
                  <a:t>\overrightarrow{OP}</a:t>
                </a:r>
                <a:r>
                  <a:rPr sz="2000">
                    <a:solidFill>
                      <a:srgbClr val="1E293B"/>
                    </a:solidFill>
                    <a:latin typeface="Calibri"/>
                  </a:rPr>
                  <a:t>, </a:t>
                </a:r>
                <a:r>
                  <a:rPr lang="vi-VN"/>
                  <a:t>\overrightarrow{OQ}</a:t>
                </a:r>
                <a:r>
                  <a:rPr sz="2000">
                    <a:solidFill>
                      <a:srgbClr val="1E293B"/>
                    </a:solidFill>
                    <a:latin typeface="Calibri"/>
                  </a:rPr>
                  <a:t> theo </a:t>
                </a:r>
                <a:r>
                  <a:rPr lang="vi-VN"/>
                  <a:t>\vec{i},\ \vec{j}</a:t>
                </a:r>
                <a:r>
                  <a:rPr sz="2000">
                    <a:solidFill>
                      <a:srgbClr val="1E293B"/>
                    </a:solidFill>
                    <a:latin typeface="Calibri"/>
                  </a:rPr>
                  <a:t> và tính độ dài. c) Tính độ dài </a:t>
                </a:r>
                <a:r>
                  <a:rPr lang="vi-VN"/>
                  <a:t>\overrightarrow{OM}</a:t>
                </a:r>
                <a:r>
                  <a:rPr sz="2000">
                    <a:solidFill>
                      <a:srgbClr val="1E293B"/>
                    </a:solidFill>
                    <a:latin typeface="Calibri"/>
                  </a:rPr>
                  <a:t> theo </a:t>
                </a:r>
                <a:r>
                  <a:rPr lang="vi-VN"/>
                  <a:t>x_0,\ y_0</a:t>
                </a:r>
                <a:r>
                  <a:rPr sz="2000">
                    <a:solidFill>
                      <a:srgbClr val="1E293B"/>
                    </a:solidFill>
                    <a:latin typeface="Calibri"/>
                  </a:rPr>
                  <a:t>. d) Biểu thị </a:t>
                </a:r>
                <a:r>
                  <a:rPr lang="vi-VN"/>
                  <a:t>\overrightarrow{OM}</a:t>
                </a:r>
                <a:r>
                  <a:rPr sz="2000">
                    <a:solidFill>
                      <a:srgbClr val="1E293B"/>
                    </a:solidFill>
                    <a:latin typeface="Calibri"/>
                  </a:rPr>
                  <a:t> theo </a:t>
                </a:r>
                <a:r>
                  <a:rPr lang="vi-VN"/>
                  <a:t>\vec{i},\ \vec{j}</a:t>
                </a:r>
                <a:r>
                  <a:rPr sz="2000">
                    <a:solidFill>
                      <a:srgbClr val="1E293B"/>
                    </a:solidFill>
                    <a:latin typeface="Calibri"/>
                  </a:rPr>
                  <a:t>.</a:t>
                </a:r>
              </a:p>
            </p:txBody>
          </p:sp>
        </mc:Fallback>
      </mc:AlternateContent>
      <p:sp>
        <p:nvSpPr>
          <p:cNvPr id="8" name="s1_nen"/>
          <p:cNvSpPr/>
          <p:nvPr/>
        </p:nvSpPr>
        <p:spPr>
          <a:xfrm>
            <a:off x="548640" y="2837688"/>
            <a:ext cx="822960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874264"/>
                <a:ext cx="7900416" cy="801623"/>
              </a:xfrm>
              <a:prstGeom prst="rect">
                <a:avLst/>
              </a:prstGeom>
              <a:noFill/>
            </p:spPr>
            <p:txBody>
              <a:bodyPr wrap="square" lIns="45720" rIns="45720" anchor="ctr">
                <a:spAutoFit/>
              </a:bodyPr>
              <a:lstStyle/>
              <a:p>
                <a:pPr algn="l">
                  <a:spcAft>
                    <a:spcPts val="800"/>
                  </a:spcAft>
                </a:pPr>
                <a:r>
                  <a:rPr sz="2000">
                    <a:solidFill>
                      <a:srgbClr val="1E293B"/>
                    </a:solidFill>
                    <a:latin typeface="Calibri"/>
                  </a:rPr>
                  <a:t>a), b) </a:t>
                </a:r>
                <a14:m>
                  <m:oMath xmlns:m="http://schemas.openxmlformats.org/officeDocument/2006/math">
                    <m:r>
                      <a:rPr lang="vi-VN" sz="2000" b="0">
                        <a:solidFill>
                          <a:srgbClr val="1E293B"/>
                        </a:solidFill>
                        <a:latin typeface="Cambria Math" panose="02040503050406030204" pitchFamily="18" charset="0"/>
                      </a:rPr>
                      <m:t>𝑃</m:t>
                    </m:r>
                  </m:oMath>
                </a14:m>
                <a:r>
                  <a:rPr sz="2000">
                    <a:solidFill>
                      <a:srgbClr val="1E293B"/>
                    </a:solidFill>
                    <a:latin typeface="Calibri"/>
                  </a:rPr>
                  <a:t> biểu diễn </a:t>
                </a:r>
                <a14:m>
                  <m:oMath xmlns:m="http://schemas.openxmlformats.org/officeDocument/2006/math">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0</m:t>
                        </m:r>
                      </m:sub>
                    </m:sSub>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𝑂𝑃</m:t>
                        </m:r>
                      </m:e>
                    </m:acc>
                  </m:oMath>
                </a14:m>
                <a:r>
                  <a:rPr sz="2000">
                    <a:solidFill>
                      <a:srgbClr val="1E293B"/>
                    </a:solidFill>
                    <a:latin typeface="Calibri"/>
                  </a:rPr>
                  <a:t> = </a:t>
                </a:r>
                <a14:m>
                  <m:oMath xmlns:m="http://schemas.openxmlformats.org/officeDocument/2006/math">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0</m:t>
                        </m:r>
                      </m:sub>
                    </m:sSub>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oMath>
                </a14:m>
                <a:r>
                  <a:rPr sz="2000">
                    <a:solidFill>
                      <a:srgbClr val="1E293B"/>
                    </a:solidFill>
                    <a:latin typeface="Calibri"/>
                  </a:rPr>
                  <a:t>, </a:t>
                </a:r>
                <a14:m>
                  <m:oMath xmlns:m="http://schemas.openxmlformats.org/officeDocument/2006/math">
                    <m:d>
                      <m:dPr>
                        <m:begChr m:val="|"/>
                        <m:endChr m:val="|"/>
                        <m:ctrlPr>
                          <a:rPr lang="vi-VN" sz="2000" b="0">
                            <a:solidFill>
                              <a:srgbClr val="1E293B"/>
                            </a:solidFill>
                            <a:latin typeface="Cambria Math" panose="02040503050406030204" pitchFamily="18" charset="0"/>
                          </a:rPr>
                        </m:ctrlPr>
                      </m:dPr>
                      <m:e>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𝑂𝑃</m:t>
                            </m:r>
                          </m:e>
                        </m:acc>
                        <m:r>
                          <a:rPr lang="vi-VN" sz="2000" b="0">
                            <a:solidFill>
                              <a:srgbClr val="1E293B"/>
                            </a:solidFill>
                            <a:latin typeface="Cambria Math" panose="02040503050406030204" pitchFamily="18" charset="0"/>
                          </a:rPr>
                          <m:t>|=|</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0</m:t>
                            </m:r>
                          </m:sub>
                        </m:sSub>
                      </m:e>
                    </m:d>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𝑄</m:t>
                    </m:r>
                  </m:oMath>
                </a14:m>
                <a:r>
                  <a:rPr sz="2000">
                    <a:solidFill>
                      <a:srgbClr val="1E293B"/>
                    </a:solidFill>
                    <a:latin typeface="Calibri"/>
                  </a:rPr>
                  <a:t> biểu diễn </a:t>
                </a:r>
                <a14:m>
                  <m:oMath xmlns:m="http://schemas.openxmlformats.org/officeDocument/2006/math">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0</m:t>
                        </m:r>
                      </m:sub>
                    </m:sSub>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𝑂𝑄</m:t>
                        </m:r>
                      </m:e>
                    </m:acc>
                  </m:oMath>
                </a14:m>
                <a:r>
                  <a:rPr sz="2000">
                    <a:solidFill>
                      <a:srgbClr val="1E293B"/>
                    </a:solidFill>
                    <a:latin typeface="Calibri"/>
                  </a:rPr>
                  <a:t> = </a:t>
                </a:r>
                <a14:m>
                  <m:oMath xmlns:m="http://schemas.openxmlformats.org/officeDocument/2006/math">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0</m:t>
                        </m:r>
                      </m:sub>
                    </m:sSub>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oMath>
                </a14:m>
                <a:r>
                  <a:rPr sz="2000">
                    <a:solidFill>
                      <a:srgbClr val="1E293B"/>
                    </a:solidFill>
                    <a:latin typeface="Calibri"/>
                  </a:rPr>
                  <a:t>, </a:t>
                </a:r>
                <a14:m>
                  <m:oMath xmlns:m="http://schemas.openxmlformats.org/officeDocument/2006/math">
                    <m:d>
                      <m:dPr>
                        <m:begChr m:val="|"/>
                        <m:endChr m:val="|"/>
                        <m:ctrlPr>
                          <a:rPr lang="vi-VN" sz="2000" b="0">
                            <a:solidFill>
                              <a:srgbClr val="1E293B"/>
                            </a:solidFill>
                            <a:latin typeface="Cambria Math" panose="02040503050406030204" pitchFamily="18" charset="0"/>
                          </a:rPr>
                        </m:ctrlPr>
                      </m:dPr>
                      <m:e>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𝑂𝑄</m:t>
                            </m:r>
                          </m:e>
                        </m:acc>
                        <m:r>
                          <a:rPr lang="vi-VN" sz="2000" b="0">
                            <a:solidFill>
                              <a:srgbClr val="1E293B"/>
                            </a:solidFill>
                            <a:latin typeface="Cambria Math" panose="02040503050406030204" pitchFamily="18" charset="0"/>
                          </a:rPr>
                          <m:t>|=|</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0</m:t>
                            </m:r>
                          </m:sub>
                        </m:sSub>
                      </m:e>
                    </m:d>
                  </m:oMath>
                </a14:m>
                <a:r>
                  <a:rPr sz="2000">
                    <a:solidFill>
                      <a:srgbClr val="1E293B"/>
                    </a:solidFill>
                    <a:latin typeface="Calibri"/>
                  </a:rPr>
                  <a:t>.</a:t>
                </a:r>
              </a:p>
            </p:txBody>
          </p:sp>
        </mc:Choice>
        <mc:Fallback xmlns="">
          <p:sp>
            <p:nvSpPr>
              <p:cNvPr id="9" name="TextBox 8"/>
              <p:cNvSpPr txBox="1"/>
              <p:nvPr/>
            </p:nvSpPr>
            <p:spPr>
              <a:xfrm>
                <a:off x="713232" y="2874264"/>
                <a:ext cx="79004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b) </a:t>
                </a:r>
                <a:r>
                  <a:rPr lang="vi-VN"/>
                  <a:t>P</a:t>
                </a:r>
                <a:r>
                  <a:rPr sz="2000">
                    <a:solidFill>
                      <a:srgbClr val="1E293B"/>
                    </a:solidFill>
                    <a:latin typeface="Calibri"/>
                  </a:rPr>
                  <a:t> biểu diễn </a:t>
                </a:r>
                <a:r>
                  <a:rPr lang="vi-VN"/>
                  <a:t>x_0</a:t>
                </a:r>
                <a:r>
                  <a:rPr sz="2000">
                    <a:solidFill>
                      <a:srgbClr val="1E293B"/>
                    </a:solidFill>
                    <a:latin typeface="Calibri"/>
                  </a:rPr>
                  <a:t>: </a:t>
                </a:r>
                <a:r>
                  <a:rPr lang="vi-VN"/>
                  <a:t>\overrightarrow{OP}</a:t>
                </a:r>
                <a:r>
                  <a:rPr sz="2000">
                    <a:solidFill>
                      <a:srgbClr val="1E293B"/>
                    </a:solidFill>
                    <a:latin typeface="Calibri"/>
                  </a:rPr>
                  <a:t> = </a:t>
                </a:r>
                <a:r>
                  <a:rPr lang="vi-VN"/>
                  <a:t>x_0\vec{i}</a:t>
                </a:r>
                <a:r>
                  <a:rPr sz="2000">
                    <a:solidFill>
                      <a:srgbClr val="1E293B"/>
                    </a:solidFill>
                    <a:latin typeface="Calibri"/>
                  </a:rPr>
                  <a:t>, </a:t>
                </a:r>
                <a:r>
                  <a:rPr lang="vi-VN"/>
                  <a:t>|\overrightarrow{OP}|=|x_0|</a:t>
                </a:r>
                <a:r>
                  <a:rPr sz="2000">
                    <a:solidFill>
                      <a:srgbClr val="1E293B"/>
                    </a:solidFill>
                    <a:latin typeface="Calibri"/>
                  </a:rPr>
                  <a:t>; </a:t>
                </a:r>
                <a:r>
                  <a:rPr lang="vi-VN"/>
                  <a:t>Q</a:t>
                </a:r>
                <a:r>
                  <a:rPr sz="2000">
                    <a:solidFill>
                      <a:srgbClr val="1E293B"/>
                    </a:solidFill>
                    <a:latin typeface="Calibri"/>
                  </a:rPr>
                  <a:t> biểu diễn </a:t>
                </a:r>
                <a:r>
                  <a:rPr lang="vi-VN"/>
                  <a:t>y_0</a:t>
                </a:r>
                <a:r>
                  <a:rPr sz="2000">
                    <a:solidFill>
                      <a:srgbClr val="1E293B"/>
                    </a:solidFill>
                    <a:latin typeface="Calibri"/>
                  </a:rPr>
                  <a:t>: </a:t>
                </a:r>
                <a:r>
                  <a:rPr lang="vi-VN"/>
                  <a:t>\overrightarrow{OQ}</a:t>
                </a:r>
                <a:r>
                  <a:rPr sz="2000">
                    <a:solidFill>
                      <a:srgbClr val="1E293B"/>
                    </a:solidFill>
                    <a:latin typeface="Calibri"/>
                  </a:rPr>
                  <a:t> = </a:t>
                </a:r>
                <a:r>
                  <a:rPr lang="vi-VN"/>
                  <a:t>y_0\vec{j}</a:t>
                </a:r>
                <a:r>
                  <a:rPr sz="2000">
                    <a:solidFill>
                      <a:srgbClr val="1E293B"/>
                    </a:solidFill>
                    <a:latin typeface="Calibri"/>
                  </a:rPr>
                  <a:t>, </a:t>
                </a:r>
                <a:r>
                  <a:rPr lang="vi-VN"/>
                  <a:t>|\overrightarrow{OQ}|=|y_0|</a:t>
                </a:r>
                <a:r>
                  <a:rPr sz="2000">
                    <a:solidFill>
                      <a:srgbClr val="1E293B"/>
                    </a:solidFill>
                    <a:latin typeface="Calibri"/>
                  </a:rPr>
                  <a:t>.</a:t>
                </a:r>
              </a:p>
            </p:txBody>
          </p:sp>
        </mc:Fallback>
      </mc:AlternateContent>
      <p:sp>
        <p:nvSpPr>
          <p:cNvPr id="10" name="s2_nen"/>
          <p:cNvSpPr/>
          <p:nvPr/>
        </p:nvSpPr>
        <p:spPr>
          <a:xfrm>
            <a:off x="548640" y="3785616"/>
            <a:ext cx="822960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822192"/>
                <a:ext cx="7900416" cy="49682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c) </a:t>
                </a:r>
                <a14:m>
                  <m:oMath xmlns:m="http://schemas.openxmlformats.org/officeDocument/2006/math">
                    <m:r>
                      <a:rPr lang="vi-VN" sz="2000" b="0">
                        <a:solidFill>
                          <a:srgbClr val="1E293B"/>
                        </a:solidFill>
                        <a:latin typeface="Cambria Math" panose="02040503050406030204" pitchFamily="18" charset="0"/>
                      </a:rPr>
                      <m:t>𝑂𝑀</m:t>
                    </m:r>
                    <m:r>
                      <a:rPr lang="vi-VN" sz="2000" b="0">
                        <a:solidFill>
                          <a:srgbClr val="1E293B"/>
                        </a:solidFill>
                        <a:latin typeface="Cambria Math" panose="02040503050406030204" pitchFamily="18" charset="0"/>
                      </a:rPr>
                      <m:t>=</m:t>
                    </m:r>
                    <m:rad>
                      <m:radPr>
                        <m:degHide m:val="on"/>
                        <m:ctrlPr>
                          <a:rPr lang="vi-VN" sz="2000" b="0" i="1">
                            <a:solidFill>
                              <a:srgbClr val="1E293B"/>
                            </a:solidFill>
                            <a:latin typeface="Cambria Math" panose="02040503050406030204" pitchFamily="18" charset="0"/>
                          </a:rPr>
                        </m:ctrlPr>
                      </m:radPr>
                      <m:deg/>
                      <m:e>
                        <m:sSubSup>
                          <m:sSubSupPr>
                            <m:ctrlPr>
                              <a:rPr lang="vi-VN" sz="2000" b="0">
                                <a:solidFill>
                                  <a:srgbClr val="1E293B"/>
                                </a:solidFill>
                                <a:latin typeface="Cambria Math" panose="02040503050406030204" pitchFamily="18" charset="0"/>
                              </a:rPr>
                            </m:ctrlPr>
                          </m:sSubSup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0</m:t>
                            </m:r>
                          </m:sub>
                          <m:sup>
                            <m:r>
                              <a:rPr lang="vi-VN" sz="2000" b="0">
                                <a:solidFill>
                                  <a:srgbClr val="1E293B"/>
                                </a:solidFill>
                                <a:latin typeface="Cambria Math" panose="02040503050406030204" pitchFamily="18" charset="0"/>
                              </a:rPr>
                              <m:t>2</m:t>
                            </m:r>
                          </m:sup>
                        </m:sSubSup>
                        <m:r>
                          <a:rPr lang="vi-VN" sz="2000" b="0">
                            <a:solidFill>
                              <a:srgbClr val="1E293B"/>
                            </a:solidFill>
                            <a:latin typeface="Cambria Math" panose="02040503050406030204" pitchFamily="18" charset="0"/>
                          </a:rPr>
                          <m:t>+</m:t>
                        </m:r>
                        <m:sSubSup>
                          <m:sSubSupPr>
                            <m:ctrlPr>
                              <a:rPr lang="vi-VN" sz="2000" b="0">
                                <a:solidFill>
                                  <a:srgbClr val="1E293B"/>
                                </a:solidFill>
                                <a:latin typeface="Cambria Math" panose="02040503050406030204" pitchFamily="18" charset="0"/>
                              </a:rPr>
                            </m:ctrlPr>
                          </m:sSubSup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0</m:t>
                            </m:r>
                          </m:sub>
                          <m:sup>
                            <m:r>
                              <a:rPr lang="vi-VN" sz="2000" b="0">
                                <a:solidFill>
                                  <a:srgbClr val="1E293B"/>
                                </a:solidFill>
                                <a:latin typeface="Cambria Math" panose="02040503050406030204" pitchFamily="18" charset="0"/>
                              </a:rPr>
                              <m:t>2</m:t>
                            </m:r>
                          </m:sup>
                        </m:sSubSup>
                      </m:e>
                    </m:rad>
                  </m:oMath>
                </a14:m>
                <a:r>
                  <a:rPr sz="2000">
                    <a:solidFill>
                      <a:srgbClr val="1E293B"/>
                    </a:solidFill>
                    <a:latin typeface="Calibri"/>
                  </a:rPr>
                  <a:t>; d)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𝑂𝑀</m:t>
                        </m:r>
                      </m:e>
                    </m:acc>
                  </m:oMath>
                </a14:m>
                <a:r>
                  <a:rPr sz="2000">
                    <a:solidFill>
                      <a:srgbClr val="1E293B"/>
                    </a:solidFill>
                    <a:latin typeface="Calibri"/>
                  </a:rPr>
                  <a:t> =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𝑂𝑃</m:t>
                        </m:r>
                      </m:e>
                    </m:acc>
                  </m:oMath>
                </a14:m>
                <a:r>
                  <a:rPr sz="2000">
                    <a:solidFill>
                      <a:srgbClr val="1E293B"/>
                    </a:solidFill>
                    <a:latin typeface="Calibri"/>
                  </a:rPr>
                  <a:t> +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𝑂𝑄</m:t>
                        </m:r>
                      </m:e>
                    </m:acc>
                  </m:oMath>
                </a14:m>
                <a:r>
                  <a:rPr sz="2000">
                    <a:solidFill>
                      <a:srgbClr val="1E293B"/>
                    </a:solidFill>
                    <a:latin typeface="Calibri"/>
                  </a:rPr>
                  <a:t> = </a:t>
                </a:r>
                <a14:m>
                  <m:oMath xmlns:m="http://schemas.openxmlformats.org/officeDocument/2006/math">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0</m:t>
                        </m:r>
                      </m:sub>
                    </m:sSub>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0</m:t>
                        </m:r>
                      </m:sub>
                    </m:sSub>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oMath>
                </a14:m>
                <a:r>
                  <a:rPr sz="2000">
                    <a:solidFill>
                      <a:srgbClr val="1E293B"/>
                    </a:solidFill>
                    <a:latin typeface="Calibri"/>
                  </a:rPr>
                  <a:t>.</a:t>
                </a:r>
              </a:p>
            </p:txBody>
          </p:sp>
        </mc:Choice>
        <mc:Fallback xmlns="">
          <p:sp>
            <p:nvSpPr>
              <p:cNvPr id="11" name="TextBox 10"/>
              <p:cNvSpPr txBox="1"/>
              <p:nvPr/>
            </p:nvSpPr>
            <p:spPr>
              <a:xfrm>
                <a:off x="713232" y="3822192"/>
                <a:ext cx="790041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r>
                  <a:rPr lang="vi-VN"/>
                  <a:t>OM=\sqrt{x_0^2+y_0^2}</a:t>
                </a:r>
                <a:r>
                  <a:rPr sz="2000">
                    <a:solidFill>
                      <a:srgbClr val="1E293B"/>
                    </a:solidFill>
                    <a:latin typeface="Calibri"/>
                  </a:rPr>
                  <a:t>; d) </a:t>
                </a:r>
                <a:r>
                  <a:rPr lang="vi-VN"/>
                  <a:t>\overrightarrow{OM}</a:t>
                </a:r>
                <a:r>
                  <a:rPr sz="2000">
                    <a:solidFill>
                      <a:srgbClr val="1E293B"/>
                    </a:solidFill>
                    <a:latin typeface="Calibri"/>
                  </a:rPr>
                  <a:t> = </a:t>
                </a:r>
                <a:r>
                  <a:rPr lang="vi-VN"/>
                  <a:t>\overrightarrow{OP}</a:t>
                </a:r>
                <a:r>
                  <a:rPr sz="2000">
                    <a:solidFill>
                      <a:srgbClr val="1E293B"/>
                    </a:solidFill>
                    <a:latin typeface="Calibri"/>
                  </a:rPr>
                  <a:t> + </a:t>
                </a:r>
                <a:r>
                  <a:rPr lang="vi-VN"/>
                  <a:t>\overrightarrow{OQ}</a:t>
                </a:r>
                <a:r>
                  <a:rPr sz="2000">
                    <a:solidFill>
                      <a:srgbClr val="1E293B"/>
                    </a:solidFill>
                    <a:latin typeface="Calibri"/>
                  </a:rPr>
                  <a:t> = </a:t>
                </a:r>
                <a:r>
                  <a:rPr lang="vi-VN"/>
                  <a:t>x_0\vec{i}+y_0\vec{j}</a:t>
                </a:r>
                <a:r>
                  <a:rPr sz="2000">
                    <a:solidFill>
                      <a:srgbClr val="1E293B"/>
                    </a:solidFill>
                    <a:latin typeface="Calibri"/>
                  </a:rPr>
                  <a:t>.</a:t>
                </a:r>
              </a:p>
            </p:txBody>
          </p:sp>
        </mc:Fallback>
      </mc:AlternateContent>
      <p:sp>
        <p:nvSpPr>
          <p:cNvPr id="12" name="s3_nen"/>
          <p:cNvSpPr/>
          <p:nvPr/>
        </p:nvSpPr>
        <p:spPr>
          <a:xfrm>
            <a:off x="548640" y="4428744"/>
            <a:ext cx="8229600" cy="87477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s3_chu"/>
              <p:cNvSpPr txBox="1"/>
              <p:nvPr/>
            </p:nvSpPr>
            <p:spPr>
              <a:xfrm>
                <a:off x="713232" y="4465320"/>
                <a:ext cx="7900416" cy="801623"/>
              </a:xfrm>
              <a:prstGeom prst="rect">
                <a:avLst/>
              </a:prstGeom>
              <a:noFill/>
            </p:spPr>
            <p:txBody>
              <a:bodyPr wrap="square" lIns="45720" rIns="45720" anchor="ctr">
                <a:spAutoFit/>
              </a:bodyPr>
              <a:lstStyle/>
              <a:p>
                <a:pPr algn="l">
                  <a:spcAft>
                    <a:spcPts val="800"/>
                  </a:spcAft>
                </a:pPr>
                <a:r>
                  <a:rPr sz="2000">
                    <a:solidFill>
                      <a:srgbClr val="1E293B"/>
                    </a:solidFill>
                    <a:latin typeface="Calibri"/>
                  </a:rPr>
                  <a:t>Nếu điểm </a:t>
                </a:r>
                <a14:m>
                  <m:oMath xmlns:m="http://schemas.openxmlformats.org/officeDocument/2006/math">
                    <m:r>
                      <a:rPr lang="vi-VN" sz="2000" b="0">
                        <a:solidFill>
                          <a:srgbClr val="1E293B"/>
                        </a:solidFill>
                        <a:latin typeface="Cambria Math" panose="02040503050406030204" pitchFamily="18" charset="0"/>
                      </a:rPr>
                      <m:t>𝑀</m:t>
                    </m:r>
                  </m:oMath>
                </a14:m>
                <a:r>
                  <a:rPr sz="2000">
                    <a:solidFill>
                      <a:srgbClr val="1E293B"/>
                    </a:solidFill>
                    <a:latin typeface="Calibri"/>
                  </a:rPr>
                  <a:t> có toạ độ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𝑦</m:t>
                        </m:r>
                      </m:e>
                    </m:d>
                  </m:oMath>
                </a14:m>
                <a:r>
                  <a:rPr sz="2000">
                    <a:solidFill>
                      <a:srgbClr val="1E293B"/>
                    </a:solidFill>
                    <a:latin typeface="Calibri"/>
                  </a:rPr>
                  <a:t> thì vectơ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𝑂𝑀</m:t>
                        </m:r>
                      </m:e>
                    </m:acc>
                  </m:oMath>
                </a14:m>
                <a:r>
                  <a:rPr sz="2000">
                    <a:solidFill>
                      <a:srgbClr val="1E293B"/>
                    </a:solidFill>
                    <a:latin typeface="Calibri"/>
                  </a:rPr>
                  <a:t> có toạ độ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𝑦</m:t>
                        </m:r>
                      </m:e>
                    </m:d>
                  </m:oMath>
                </a14:m>
                <a:r>
                  <a:rPr sz="2000">
                    <a:solidFill>
                      <a:srgbClr val="1E293B"/>
                    </a:solidFill>
                    <a:latin typeface="Calibri"/>
                  </a:rPr>
                  <a:t> và độ dài </a:t>
                </a:r>
                <a14:m>
                  <m:oMath xmlns:m="http://schemas.openxmlformats.org/officeDocument/2006/math">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𝑂𝑀</m:t>
                        </m:r>
                      </m:e>
                    </m:acc>
                    <m:r>
                      <a:rPr lang="vi-VN" sz="2000" b="0">
                        <a:solidFill>
                          <a:srgbClr val="1E293B"/>
                        </a:solidFill>
                        <a:latin typeface="Cambria Math" panose="02040503050406030204" pitchFamily="18" charset="0"/>
                      </a:rPr>
                      <m:t>|=</m:t>
                    </m:r>
                    <m:rad>
                      <m:radPr>
                        <m:degHide m:val="on"/>
                        <m:ctrlPr>
                          <a:rPr lang="vi-VN" sz="2000" b="0" i="1">
                            <a:solidFill>
                              <a:srgbClr val="1E293B"/>
                            </a:solidFill>
                            <a:latin typeface="Cambria Math" panose="02040503050406030204" pitchFamily="18" charset="0"/>
                          </a:rPr>
                        </m:ctrlPr>
                      </m:radPr>
                      <m:deg/>
                      <m:e>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2</m:t>
                            </m:r>
                          </m:sup>
                        </m:sSup>
                      </m:e>
                    </m:rad>
                  </m:oMath>
                </a14:m>
                <a:r>
                  <a:rPr sz="2000">
                    <a:solidFill>
                      <a:srgbClr val="1E293B"/>
                    </a:solidFill>
                    <a:latin typeface="Calibri"/>
                  </a:rPr>
                  <a:t>.</a:t>
                </a:r>
              </a:p>
            </p:txBody>
          </p:sp>
        </mc:Choice>
        <mc:Fallback xmlns="">
          <p:sp>
            <p:nvSpPr>
              <p:cNvPr id="13" name="TextBox 12"/>
              <p:cNvSpPr txBox="1"/>
              <p:nvPr/>
            </p:nvSpPr>
            <p:spPr>
              <a:xfrm>
                <a:off x="713232" y="4465320"/>
                <a:ext cx="79004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Nếu điểm </a:t>
                </a:r>
                <a:r>
                  <a:rPr lang="vi-VN"/>
                  <a:t>M</a:t>
                </a:r>
                <a:r>
                  <a:rPr sz="2000">
                    <a:solidFill>
                      <a:srgbClr val="1E293B"/>
                    </a:solidFill>
                    <a:latin typeface="Calibri"/>
                  </a:rPr>
                  <a:t> có toạ độ </a:t>
                </a:r>
                <a:r>
                  <a:rPr lang="vi-VN"/>
                  <a:t>(x;\ y)</a:t>
                </a:r>
                <a:r>
                  <a:rPr sz="2000">
                    <a:solidFill>
                      <a:srgbClr val="1E293B"/>
                    </a:solidFill>
                    <a:latin typeface="Calibri"/>
                  </a:rPr>
                  <a:t> thì vectơ </a:t>
                </a:r>
                <a:r>
                  <a:rPr lang="vi-VN"/>
                  <a:t>\overrightarrow{OM}</a:t>
                </a:r>
                <a:r>
                  <a:rPr sz="2000">
                    <a:solidFill>
                      <a:srgbClr val="1E293B"/>
                    </a:solidFill>
                    <a:latin typeface="Calibri"/>
                  </a:rPr>
                  <a:t> có toạ độ </a:t>
                </a:r>
                <a:r>
                  <a:rPr lang="vi-VN"/>
                  <a:t>(x;\ y)</a:t>
                </a:r>
                <a:r>
                  <a:rPr sz="2000">
                    <a:solidFill>
                      <a:srgbClr val="1E293B"/>
                    </a:solidFill>
                    <a:latin typeface="Calibri"/>
                  </a:rPr>
                  <a:t> và độ dài </a:t>
                </a:r>
                <a:r>
                  <a:rPr lang="vi-VN"/>
                  <a:t>|\overrightarrow{OM}|=\sqrt{x^2+y^2}</a:t>
                </a:r>
                <a:r>
                  <a:rPr sz="20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14" name="s4_chu"/>
              <p:cNvSpPr txBox="1"/>
              <p:nvPr/>
            </p:nvSpPr>
            <p:spPr>
              <a:xfrm>
                <a:off x="548640" y="5376672"/>
                <a:ext cx="8229600" cy="783335"/>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Nhận xét.</a:t>
                </a:r>
                <a:r>
                  <a:rPr sz="2000">
                    <a:solidFill>
                      <a:srgbClr val="1E293B"/>
                    </a:solidFill>
                    <a:latin typeface="Calibri"/>
                  </a:rPr>
                  <a:t> Với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𝑢</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𝑦</m:t>
                    </m:r>
                    <m:r>
                      <a:rPr lang="vi-VN" sz="2000" b="0">
                        <a:solidFill>
                          <a:srgbClr val="1E293B"/>
                        </a:solidFill>
                        <a:latin typeface="Cambria Math" panose="02040503050406030204" pitchFamily="18" charset="0"/>
                      </a:rPr>
                      <m:t>)</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𝑢</m:t>
                        </m:r>
                      </m:e>
                    </m:acc>
                    <m:r>
                      <a:rPr lang="vi-VN" sz="2000" b="0">
                        <a:solidFill>
                          <a:srgbClr val="1E293B"/>
                        </a:solidFill>
                        <a:latin typeface="Cambria Math" panose="02040503050406030204" pitchFamily="18" charset="0"/>
                      </a:rPr>
                      <m:t>|=</m:t>
                    </m:r>
                    <m:rad>
                      <m:radPr>
                        <m:degHide m:val="on"/>
                        <m:ctrlPr>
                          <a:rPr lang="vi-VN" sz="2000" b="0" i="1">
                            <a:solidFill>
                              <a:srgbClr val="1E293B"/>
                            </a:solidFill>
                            <a:latin typeface="Cambria Math" panose="02040503050406030204" pitchFamily="18" charset="0"/>
                          </a:rPr>
                        </m:ctrlPr>
                      </m:radPr>
                      <m:deg/>
                      <m:e>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2</m:t>
                            </m:r>
                          </m:sup>
                        </m:sSup>
                      </m:e>
                    </m:rad>
                  </m:oMath>
                </a14:m>
                <a:r>
                  <a:rPr sz="2000">
                    <a:solidFill>
                      <a:srgbClr val="1E293B"/>
                    </a:solidFill>
                    <a:latin typeface="Calibri"/>
                  </a:rPr>
                  <a:t>. Chẳng hạn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𝑢</m:t>
                        </m:r>
                      </m:e>
                    </m:acc>
                    <m:r>
                      <a:rPr lang="vi-VN" sz="2000" b="0">
                        <a:solidFill>
                          <a:srgbClr val="1E293B"/>
                        </a:solidFill>
                        <a:latin typeface="Cambria Math" panose="02040503050406030204" pitchFamily="18" charset="0"/>
                      </a:rPr>
                      <m:t>=(2; −1)</m:t>
                    </m:r>
                  </m:oMath>
                </a14:m>
                <a:r>
                  <a:rPr sz="2000">
                    <a:solidFill>
                      <a:srgbClr val="1E293B"/>
                    </a:solidFill>
                    <a:latin typeface="Calibri"/>
                  </a:rPr>
                  <a:t> có </a:t>
                </a:r>
                <a14:m>
                  <m:oMath xmlns:m="http://schemas.openxmlformats.org/officeDocument/2006/math">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𝑢</m:t>
                        </m:r>
                      </m:e>
                    </m:acc>
                    <m:r>
                      <a:rPr lang="vi-VN" sz="2000" b="0">
                        <a:solidFill>
                          <a:srgbClr val="1E293B"/>
                        </a:solidFill>
                        <a:latin typeface="Cambria Math" panose="02040503050406030204" pitchFamily="18" charset="0"/>
                      </a:rPr>
                      <m:t>|=</m:t>
                    </m:r>
                    <m:rad>
                      <m:radPr>
                        <m:degHide m:val="on"/>
                        <m:ctrlPr>
                          <a:rPr lang="vi-VN" sz="2000" b="0" i="1">
                            <a:solidFill>
                              <a:srgbClr val="1E293B"/>
                            </a:solidFill>
                            <a:latin typeface="Cambria Math" panose="02040503050406030204" pitchFamily="18" charset="0"/>
                          </a:rPr>
                        </m:ctrlPr>
                      </m:radPr>
                      <m:deg/>
                      <m:e>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2</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+(−1</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m:t>
                            </m:r>
                          </m:e>
                          <m:sup>
                            <m:r>
                              <a:rPr lang="vi-VN" sz="2000" b="0">
                                <a:solidFill>
                                  <a:srgbClr val="1E293B"/>
                                </a:solidFill>
                                <a:latin typeface="Cambria Math" panose="02040503050406030204" pitchFamily="18" charset="0"/>
                              </a:rPr>
                              <m:t>2</m:t>
                            </m:r>
                          </m:sup>
                        </m:sSup>
                      </m:e>
                    </m:rad>
                    <m:r>
                      <a:rPr lang="vi-VN" sz="2000" b="0">
                        <a:solidFill>
                          <a:srgbClr val="1E293B"/>
                        </a:solidFill>
                        <a:latin typeface="Cambria Math" panose="02040503050406030204" pitchFamily="18" charset="0"/>
                      </a:rPr>
                      <m:t>=</m:t>
                    </m:r>
                    <m:rad>
                      <m:radPr>
                        <m:degHide m:val="on"/>
                        <m:ctrlPr>
                          <a:rPr lang="vi-VN" sz="2000" b="0" i="1">
                            <a:solidFill>
                              <a:srgbClr val="1E293B"/>
                            </a:solidFill>
                            <a:latin typeface="Cambria Math" panose="02040503050406030204" pitchFamily="18" charset="0"/>
                          </a:rPr>
                        </m:ctrlPr>
                      </m:radPr>
                      <m:deg/>
                      <m:e>
                        <m:r>
                          <a:rPr lang="vi-VN" sz="2000" b="0">
                            <a:solidFill>
                              <a:srgbClr val="1E293B"/>
                            </a:solidFill>
                            <a:latin typeface="Cambria Math" panose="02040503050406030204" pitchFamily="18" charset="0"/>
                          </a:rPr>
                          <m:t>5</m:t>
                        </m:r>
                      </m:e>
                    </m:rad>
                  </m:oMath>
                </a14:m>
                <a:r>
                  <a:rPr sz="2000">
                    <a:solidFill>
                      <a:srgbClr val="1E293B"/>
                    </a:solidFill>
                    <a:latin typeface="Calibri"/>
                  </a:rPr>
                  <a:t>.</a:t>
                </a:r>
              </a:p>
            </p:txBody>
          </p:sp>
        </mc:Choice>
        <mc:Fallback xmlns="">
          <p:sp>
            <p:nvSpPr>
              <p:cNvPr id="14" name="TextBox 13"/>
              <p:cNvSpPr txBox="1"/>
              <p:nvPr/>
            </p:nvSpPr>
            <p:spPr>
              <a:xfrm>
                <a:off x="548640" y="5376672"/>
                <a:ext cx="822960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Nhận xét.</a:t>
                </a:r>
                <a:r>
                  <a:rPr sz="2000">
                    <a:solidFill>
                      <a:srgbClr val="1E293B"/>
                    </a:solidFill>
                    <a:latin typeface="Calibri"/>
                  </a:rPr>
                  <a:t> Với </a:t>
                </a:r>
                <a:r>
                  <a:rPr lang="vi-VN"/>
                  <a:t>\vec{u}=(x;\ y)</a:t>
                </a:r>
                <a:r>
                  <a:rPr sz="2000">
                    <a:solidFill>
                      <a:srgbClr val="1E293B"/>
                    </a:solidFill>
                    <a:latin typeface="Calibri"/>
                  </a:rPr>
                  <a:t>: </a:t>
                </a:r>
                <a:r>
                  <a:rPr lang="vi-VN"/>
                  <a:t>|\vec{u}|=\sqrt{x^2+y^2}</a:t>
                </a:r>
                <a:r>
                  <a:rPr sz="2000">
                    <a:solidFill>
                      <a:srgbClr val="1E293B"/>
                    </a:solidFill>
                    <a:latin typeface="Calibri"/>
                  </a:rPr>
                  <a:t>. Chẳng hạn </a:t>
                </a:r>
                <a:r>
                  <a:rPr lang="vi-VN"/>
                  <a:t>\vec{u}=(2;\ -1)</a:t>
                </a:r>
                <a:r>
                  <a:rPr sz="2000">
                    <a:solidFill>
                      <a:srgbClr val="1E293B"/>
                    </a:solidFill>
                    <a:latin typeface="Calibri"/>
                  </a:rPr>
                  <a:t> có </a:t>
                </a:r>
                <a:r>
                  <a:rPr lang="vi-VN"/>
                  <a:t>|\vec{u}|=\sqrt{2^2+(-1)^2}=\sqrt{5}</a:t>
                </a:r>
                <a:r>
                  <a:rPr sz="2000">
                    <a:solidFill>
                      <a:srgbClr val="1E293B"/>
                    </a:solidFill>
                    <a:latin typeface="Calibri"/>
                  </a:rPr>
                  <a:t>.</a:t>
                </a:r>
              </a:p>
            </p:txBody>
          </p:sp>
        </mc:Fallback>
      </mc:AlternateContent>
      <p:pic>
        <p:nvPicPr>
          <p:cNvPr id="15" name="Picture 14" descr="h435.png"/>
          <p:cNvPicPr>
            <a:picLocks noChangeAspect="1"/>
          </p:cNvPicPr>
          <p:nvPr/>
        </p:nvPicPr>
        <p:blipFill>
          <a:blip r:embed="rId3"/>
          <a:stretch>
            <a:fillRect/>
          </a:stretch>
        </p:blipFill>
        <p:spPr>
          <a:xfrm>
            <a:off x="9052560" y="1583441"/>
            <a:ext cx="2651760" cy="2136637"/>
          </a:xfrm>
          <a:prstGeom prst="rect">
            <a:avLst/>
          </a:prstGeom>
        </p:spPr>
      </p:pic>
      <p:sp>
        <p:nvSpPr>
          <p:cNvPr id="16" name="TextBox 15"/>
          <p:cNvSpPr txBox="1"/>
          <p:nvPr/>
        </p:nvSpPr>
        <p:spPr>
          <a:xfrm>
            <a:off x="9052560" y="3858768"/>
            <a:ext cx="2651760" cy="365760"/>
          </a:xfrm>
          <a:prstGeom prst="rect">
            <a:avLst/>
          </a:prstGeom>
          <a:noFill/>
        </p:spPr>
        <p:txBody>
          <a:bodyPr wrap="square" lIns="45720" rIns="45720" anchor="t">
            <a:spAutoFit/>
          </a:bodyPr>
          <a:lstStyle/>
          <a:p>
            <a:pPr algn="ctr">
              <a:spcAft>
                <a:spcPts val="800"/>
              </a:spcAft>
            </a:pPr>
            <a:r>
              <a:rPr sz="1600">
                <a:solidFill>
                  <a:srgbClr val="64748B"/>
                </a:solidFill>
                <a:latin typeface="Calibri"/>
              </a:rPr>
              <a:t>Hình 4.35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VECTƠ NỐI HAI ĐIỂM – KHOẢNG CÁCH</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16</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1179576"/>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HĐ5.</a:t>
                </a:r>
                <a:r>
                  <a:rPr sz="2200">
                    <a:solidFill>
                      <a:srgbClr val="1E293B"/>
                    </a:solidFill>
                    <a:latin typeface="Calibri"/>
                  </a:rPr>
                  <a:t> Cho các điểm </a:t>
                </a:r>
                <a14:m>
                  <m:oMath xmlns:m="http://schemas.openxmlformats.org/officeDocument/2006/math">
                    <m:r>
                      <a:rPr lang="vi-VN" sz="2200" b="0">
                        <a:solidFill>
                          <a:srgbClr val="1E293B"/>
                        </a:solidFill>
                        <a:latin typeface="Cambria Math" panose="02040503050406030204" pitchFamily="18" charset="0"/>
                      </a:rPr>
                      <m:t>𝑀</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𝑥</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𝑦</m:t>
                    </m:r>
                    <m:r>
                      <a:rPr lang="vi-VN" sz="2200" b="0">
                        <a:solidFill>
                          <a:srgbClr val="1E293B"/>
                        </a:solidFill>
                        <a:latin typeface="Cambria Math" panose="02040503050406030204" pitchFamily="18" charset="0"/>
                      </a:rPr>
                      <m:t>)</m:t>
                    </m:r>
                  </m:oMath>
                </a14:m>
                <a:r>
                  <a:rPr sz="2200">
                    <a:solidFill>
                      <a:srgbClr val="1E293B"/>
                    </a:solidFill>
                    <a:latin typeface="Calibri"/>
                  </a:rPr>
                  <a:t> và </a:t>
                </a:r>
                <a14:m>
                  <m:oMath xmlns:m="http://schemas.openxmlformats.org/officeDocument/2006/math">
                    <m:r>
                      <a:rPr lang="vi-VN" sz="2200" b="0">
                        <a:solidFill>
                          <a:srgbClr val="1E293B"/>
                        </a:solidFill>
                        <a:latin typeface="Cambria Math" panose="02040503050406030204" pitchFamily="18" charset="0"/>
                      </a:rPr>
                      <m:t>𝑁</m:t>
                    </m:r>
                    <m:r>
                      <a:rPr lang="vi-VN" sz="2200" b="0">
                        <a:solidFill>
                          <a:srgbClr val="1E293B"/>
                        </a:solidFill>
                        <a:latin typeface="Cambria Math" panose="02040503050406030204" pitchFamily="18" charset="0"/>
                      </a:rPr>
                      <m:t>(</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𝑥</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 </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𝑦</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oMath>
                </a14:m>
                <a:r>
                  <a:rPr sz="2200">
                    <a:solidFill>
                      <a:srgbClr val="1E293B"/>
                    </a:solidFill>
                    <a:latin typeface="Calibri"/>
                  </a:rPr>
                  <a:t>. a) Tìm toạ độ của các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𝑂𝑀</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𝑂𝑁</m:t>
                        </m:r>
                      </m:e>
                    </m:acc>
                  </m:oMath>
                </a14:m>
                <a:r>
                  <a:rPr sz="2200">
                    <a:solidFill>
                      <a:srgbClr val="1E293B"/>
                    </a:solidFill>
                    <a:latin typeface="Calibri"/>
                  </a:rPr>
                  <a:t>. b) Biểu thị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𝑀𝑁</m:t>
                        </m:r>
                      </m:e>
                    </m:acc>
                  </m:oMath>
                </a14:m>
                <a:r>
                  <a:rPr sz="2200">
                    <a:solidFill>
                      <a:srgbClr val="1E293B"/>
                    </a:solidFill>
                    <a:latin typeface="Calibri"/>
                  </a:rPr>
                  <a:t> theo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𝑂𝑀</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𝑂𝑁</m:t>
                        </m:r>
                      </m:e>
                    </m:acc>
                  </m:oMath>
                </a14:m>
                <a:r>
                  <a:rPr sz="2200">
                    <a:solidFill>
                      <a:srgbClr val="1E293B"/>
                    </a:solidFill>
                    <a:latin typeface="Calibri"/>
                  </a:rPr>
                  <a:t> và tìm toạ độ của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𝑀𝑁</m:t>
                        </m:r>
                      </m:e>
                    </m:acc>
                  </m:oMath>
                </a14:m>
                <a:r>
                  <a:rPr sz="2200">
                    <a:solidFill>
                      <a:srgbClr val="1E293B"/>
                    </a:solidFill>
                    <a:latin typeface="Calibri"/>
                  </a:rPr>
                  <a:t>. c) Tìm độ dài của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𝑀𝑁</m:t>
                        </m:r>
                      </m:e>
                    </m:acc>
                  </m:oMath>
                </a14:m>
                <a:r>
                  <a:rPr sz="2200">
                    <a:solidFill>
                      <a:srgbClr val="1E293B"/>
                    </a:solidFill>
                    <a:latin typeface="Calibri"/>
                  </a:rPr>
                  <a:t>.</a:t>
                </a:r>
              </a:p>
            </p:txBody>
          </p:sp>
        </mc:Choice>
        <mc:Fallback xmlns="">
          <p:sp>
            <p:nvSpPr>
              <p:cNvPr id="7" name="TextBox 6"/>
              <p:cNvSpPr txBox="1"/>
              <p:nvPr/>
            </p:nvSpPr>
            <p:spPr>
              <a:xfrm>
                <a:off x="548640" y="1371600"/>
                <a:ext cx="11064240" cy="117957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HĐ5.</a:t>
                </a:r>
                <a:r>
                  <a:rPr sz="2200">
                    <a:solidFill>
                      <a:srgbClr val="1E293B"/>
                    </a:solidFill>
                    <a:latin typeface="Calibri"/>
                  </a:rPr>
                  <a:t> Cho các điểm </a:t>
                </a:r>
                <a:r>
                  <a:rPr lang="vi-VN"/>
                  <a:t>M(x;\ y)</a:t>
                </a:r>
                <a:r>
                  <a:rPr sz="2200">
                    <a:solidFill>
                      <a:srgbClr val="1E293B"/>
                    </a:solidFill>
                    <a:latin typeface="Calibri"/>
                  </a:rPr>
                  <a:t> và </a:t>
                </a:r>
                <a:r>
                  <a:rPr lang="vi-VN"/>
                  <a:t>N(x';\ y')</a:t>
                </a:r>
                <a:r>
                  <a:rPr sz="2200">
                    <a:solidFill>
                      <a:srgbClr val="1E293B"/>
                    </a:solidFill>
                    <a:latin typeface="Calibri"/>
                  </a:rPr>
                  <a:t>. a) Tìm toạ độ của các vectơ </a:t>
                </a:r>
                <a:r>
                  <a:rPr lang="vi-VN"/>
                  <a:t>\overrightarrow{OM}</a:t>
                </a:r>
                <a:r>
                  <a:rPr sz="2200">
                    <a:solidFill>
                      <a:srgbClr val="1E293B"/>
                    </a:solidFill>
                    <a:latin typeface="Calibri"/>
                  </a:rPr>
                  <a:t>, </a:t>
                </a:r>
                <a:r>
                  <a:rPr lang="vi-VN"/>
                  <a:t>\overrightarrow{ON}</a:t>
                </a:r>
                <a:r>
                  <a:rPr sz="2200">
                    <a:solidFill>
                      <a:srgbClr val="1E293B"/>
                    </a:solidFill>
                    <a:latin typeface="Calibri"/>
                  </a:rPr>
                  <a:t>. b) Biểu thị </a:t>
                </a:r>
                <a:r>
                  <a:rPr lang="vi-VN"/>
                  <a:t>\overrightarrow{MN}</a:t>
                </a:r>
                <a:r>
                  <a:rPr sz="2200">
                    <a:solidFill>
                      <a:srgbClr val="1E293B"/>
                    </a:solidFill>
                    <a:latin typeface="Calibri"/>
                  </a:rPr>
                  <a:t> theo </a:t>
                </a:r>
                <a:r>
                  <a:rPr lang="vi-VN"/>
                  <a:t>\overrightarrow{OM}</a:t>
                </a:r>
                <a:r>
                  <a:rPr sz="2200">
                    <a:solidFill>
                      <a:srgbClr val="1E293B"/>
                    </a:solidFill>
                    <a:latin typeface="Calibri"/>
                  </a:rPr>
                  <a:t>, </a:t>
                </a:r>
                <a:r>
                  <a:rPr lang="vi-VN"/>
                  <a:t>\overrightarrow{ON}</a:t>
                </a:r>
                <a:r>
                  <a:rPr sz="2200">
                    <a:solidFill>
                      <a:srgbClr val="1E293B"/>
                    </a:solidFill>
                    <a:latin typeface="Calibri"/>
                  </a:rPr>
                  <a:t> và tìm toạ độ của </a:t>
                </a:r>
                <a:r>
                  <a:rPr lang="vi-VN"/>
                  <a:t>\overrightarrow{MN}</a:t>
                </a:r>
                <a:r>
                  <a:rPr sz="2200">
                    <a:solidFill>
                      <a:srgbClr val="1E293B"/>
                    </a:solidFill>
                    <a:latin typeface="Calibri"/>
                  </a:rPr>
                  <a:t>. c) Tìm độ dài của vectơ </a:t>
                </a:r>
                <a:r>
                  <a:rPr lang="vi-VN"/>
                  <a:t>\overrightarrow{MN}</a:t>
                </a:r>
                <a:r>
                  <a:rPr sz="2200">
                    <a:solidFill>
                      <a:srgbClr val="1E293B"/>
                    </a:solidFill>
                    <a:latin typeface="Calibri"/>
                  </a:rPr>
                  <a:t>.</a:t>
                </a:r>
              </a:p>
            </p:txBody>
          </p:sp>
        </mc:Fallback>
      </mc:AlternateContent>
      <p:sp>
        <p:nvSpPr>
          <p:cNvPr id="8" name="s1_nen"/>
          <p:cNvSpPr/>
          <p:nvPr/>
        </p:nvSpPr>
        <p:spPr>
          <a:xfrm>
            <a:off x="548640" y="2688336"/>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724912"/>
                <a:ext cx="10735056" cy="862583"/>
              </a:xfrm>
              <a:prstGeom prst="rect">
                <a:avLst/>
              </a:prstGeom>
              <a:noFill/>
            </p:spPr>
            <p:txBody>
              <a:bodyPr wrap="square" lIns="45720" rIns="45720" anchor="ctr">
                <a:spAutoFit/>
              </a:bodyPr>
              <a:lstStyle/>
              <a:p>
                <a:pPr algn="l">
                  <a:spcAft>
                    <a:spcPts val="800"/>
                  </a:spcAft>
                </a:pPr>
                <a:r>
                  <a:rPr sz="2200">
                    <a:solidFill>
                      <a:srgbClr val="1E293B"/>
                    </a:solidFill>
                    <a:latin typeface="Calibri"/>
                  </a:rPr>
                  <a:t>a)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𝑂𝑀</m:t>
                        </m:r>
                      </m:e>
                    </m:acc>
                  </m:oMath>
                </a14:m>
                <a:r>
                  <a:rPr sz="2200">
                    <a:solidFill>
                      <a:srgbClr val="1E293B"/>
                    </a:solidFill>
                    <a:latin typeface="Calibri"/>
                  </a:rPr>
                  <a:t> = </a:t>
                </a:r>
                <a14:m>
                  <m:oMath xmlns:m="http://schemas.openxmlformats.org/officeDocument/2006/math">
                    <m:d>
                      <m:dPr>
                        <m:ctrlPr>
                          <a:rPr lang="vi-VN" sz="2200" b="0">
                            <a:solidFill>
                              <a:srgbClr val="1E293B"/>
                            </a:solidFill>
                            <a:latin typeface="Cambria Math" panose="02040503050406030204" pitchFamily="18" charset="0"/>
                          </a:rPr>
                        </m:ctrlPr>
                      </m:dPr>
                      <m:e>
                        <m:r>
                          <a:rPr lang="vi-VN" sz="2200" b="0">
                            <a:solidFill>
                              <a:srgbClr val="1E293B"/>
                            </a:solidFill>
                            <a:latin typeface="Cambria Math" panose="02040503050406030204" pitchFamily="18" charset="0"/>
                          </a:rPr>
                          <m:t>𝑥</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𝑦</m:t>
                        </m:r>
                      </m:e>
                    </m:d>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𝑂𝑁</m:t>
                        </m:r>
                      </m:e>
                    </m:acc>
                  </m:oMath>
                </a14:m>
                <a:r>
                  <a:rPr sz="2200">
                    <a:solidFill>
                      <a:srgbClr val="1E293B"/>
                    </a:solidFill>
                    <a:latin typeface="Calibri"/>
                  </a:rPr>
                  <a:t> = </a:t>
                </a:r>
                <a14:m>
                  <m:oMath xmlns:m="http://schemas.openxmlformats.org/officeDocument/2006/math">
                    <m:d>
                      <m:dPr>
                        <m:ctrlPr>
                          <a:rPr lang="vi-VN" sz="2200" b="0">
                            <a:solidFill>
                              <a:srgbClr val="1E293B"/>
                            </a:solidFill>
                            <a:latin typeface="Cambria Math" panose="02040503050406030204" pitchFamily="18" charset="0"/>
                          </a:rPr>
                        </m:ctrlPr>
                      </m:dPr>
                      <m:e>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𝑥</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 </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𝑦</m:t>
                            </m:r>
                          </m:e>
                          <m:sup>
                            <m:r>
                              <a:rPr lang="vi-VN" sz="2200" b="0">
                                <a:solidFill>
                                  <a:srgbClr val="1E293B"/>
                                </a:solidFill>
                                <a:latin typeface="Cambria Math" panose="02040503050406030204" pitchFamily="18" charset="0"/>
                              </a:rPr>
                              <m:t>′</m:t>
                            </m:r>
                          </m:sup>
                        </m:sSup>
                      </m:e>
                    </m:d>
                  </m:oMath>
                </a14:m>
                <a:r>
                  <a:rPr sz="2200">
                    <a:solidFill>
                      <a:srgbClr val="1E293B"/>
                    </a:solidFill>
                    <a:latin typeface="Calibri"/>
                  </a:rPr>
                  <a:t>; b)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𝑀𝑁</m:t>
                        </m:r>
                      </m:e>
                    </m:acc>
                  </m:oMath>
                </a14:m>
                <a:r>
                  <a:rPr sz="2200">
                    <a:solidFill>
                      <a:srgbClr val="1E293B"/>
                    </a:solidFill>
                    <a:latin typeface="Calibri"/>
                  </a:rPr>
                  <a:t> =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𝑂𝑁</m:t>
                        </m:r>
                      </m:e>
                    </m:acc>
                  </m:oMath>
                </a14:m>
                <a:r>
                  <a:rPr sz="2200">
                    <a:solidFill>
                      <a:srgbClr val="1E293B"/>
                    </a:solidFill>
                    <a:latin typeface="Calibri"/>
                  </a:rPr>
                  <a:t> −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𝑂𝑀</m:t>
                        </m:r>
                      </m:e>
                    </m:acc>
                  </m:oMath>
                </a14:m>
                <a:r>
                  <a:rPr sz="2200">
                    <a:solidFill>
                      <a:srgbClr val="1E293B"/>
                    </a:solidFill>
                    <a:latin typeface="Calibri"/>
                  </a:rPr>
                  <a:t> = </a:t>
                </a:r>
                <a14:m>
                  <m:oMath xmlns:m="http://schemas.openxmlformats.org/officeDocument/2006/math">
                    <m:d>
                      <m:dPr>
                        <m:ctrlPr>
                          <a:rPr lang="vi-VN" sz="2200" b="0">
                            <a:solidFill>
                              <a:srgbClr val="1E293B"/>
                            </a:solidFill>
                            <a:latin typeface="Cambria Math" panose="02040503050406030204" pitchFamily="18" charset="0"/>
                          </a:rPr>
                        </m:ctrlPr>
                      </m:dPr>
                      <m:e>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𝑥</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𝑥</m:t>
                        </m:r>
                        <m:r>
                          <a:rPr lang="vi-VN" sz="2200" b="0">
                            <a:solidFill>
                              <a:srgbClr val="1E293B"/>
                            </a:solidFill>
                            <a:latin typeface="Cambria Math" panose="02040503050406030204" pitchFamily="18" charset="0"/>
                          </a:rPr>
                          <m:t>; </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𝑦</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𝑦</m:t>
                        </m:r>
                      </m:e>
                    </m:d>
                  </m:oMath>
                </a14:m>
                <a:r>
                  <a:rPr sz="2200">
                    <a:solidFill>
                      <a:srgbClr val="1E293B"/>
                    </a:solidFill>
                    <a:latin typeface="Calibri"/>
                  </a:rPr>
                  <a:t>; c) </a:t>
                </a:r>
                <a14:m>
                  <m:oMath xmlns:m="http://schemas.openxmlformats.org/officeDocument/2006/math">
                    <m:r>
                      <a:rPr lang="vi-VN" sz="2200" b="0">
                        <a:solidFill>
                          <a:srgbClr val="1E293B"/>
                        </a:solidFill>
                        <a:latin typeface="Cambria Math" panose="02040503050406030204" pitchFamily="18" charset="0"/>
                      </a:rPr>
                      <m:t>𝑀𝑁</m:t>
                    </m:r>
                    <m:r>
                      <a:rPr lang="vi-VN" sz="2200" b="0">
                        <a:solidFill>
                          <a:srgbClr val="1E293B"/>
                        </a:solidFill>
                        <a:latin typeface="Cambria Math" panose="02040503050406030204" pitchFamily="18" charset="0"/>
                      </a:rPr>
                      <m:t>=</m:t>
                    </m:r>
                    <m:rad>
                      <m:radPr>
                        <m:degHide m:val="on"/>
                        <m:ctrlPr>
                          <a:rPr lang="vi-VN" sz="2200" b="0" i="1">
                            <a:solidFill>
                              <a:srgbClr val="1E293B"/>
                            </a:solidFill>
                            <a:latin typeface="Cambria Math" panose="02040503050406030204" pitchFamily="18" charset="0"/>
                          </a:rPr>
                        </m:ctrlPr>
                      </m:radPr>
                      <m:deg/>
                      <m:e>
                        <m:sSup>
                          <m:sSupPr>
                            <m:ctrlPr>
                              <a:rPr lang="vi-VN" sz="2200" b="0" i="1">
                                <a:solidFill>
                                  <a:srgbClr val="1E293B"/>
                                </a:solidFill>
                                <a:latin typeface="Cambria Math" panose="02040503050406030204" pitchFamily="18" charset="0"/>
                              </a:rPr>
                            </m:ctrlPr>
                          </m:sSupPr>
                          <m:e>
                            <m:d>
                              <m:dPr>
                                <m:ctrlPr>
                                  <a:rPr lang="vi-VN" sz="2200" b="0" i="1">
                                    <a:solidFill>
                                      <a:srgbClr val="1E293B"/>
                                    </a:solidFill>
                                    <a:latin typeface="Cambria Math" panose="02040503050406030204" pitchFamily="18" charset="0"/>
                                  </a:rPr>
                                </m:ctrlPr>
                              </m:dPr>
                              <m:e>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𝑥</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𝑥</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𝑦</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𝑦</m:t>
                                </m:r>
                              </m:e>
                            </m:d>
                          </m:e>
                          <m:sup>
                            <m:r>
                              <a:rPr lang="vi-VN" sz="2200" b="0">
                                <a:solidFill>
                                  <a:srgbClr val="1E293B"/>
                                </a:solidFill>
                                <a:latin typeface="Cambria Math" panose="02040503050406030204" pitchFamily="18" charset="0"/>
                              </a:rPr>
                              <m:t>2</m:t>
                            </m:r>
                          </m:sup>
                        </m:sSup>
                      </m:e>
                    </m:rad>
                  </m:oMath>
                </a14:m>
                <a:r>
                  <a:rPr sz="2200">
                    <a:solidFill>
                      <a:srgbClr val="1E293B"/>
                    </a:solidFill>
                    <a:latin typeface="Calibri"/>
                  </a:rPr>
                  <a:t>.</a:t>
                </a:r>
              </a:p>
            </p:txBody>
          </p:sp>
        </mc:Choice>
        <mc:Fallback xmlns="">
          <p:sp>
            <p:nvSpPr>
              <p:cNvPr id="9" name="TextBox 8"/>
              <p:cNvSpPr txBox="1"/>
              <p:nvPr/>
            </p:nvSpPr>
            <p:spPr>
              <a:xfrm>
                <a:off x="713232" y="2724912"/>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r>
                  <a:rPr lang="vi-VN"/>
                  <a:t>\overrightarrow{OM}</a:t>
                </a:r>
                <a:r>
                  <a:rPr sz="2200">
                    <a:solidFill>
                      <a:srgbClr val="1E293B"/>
                    </a:solidFill>
                    <a:latin typeface="Calibri"/>
                  </a:rPr>
                  <a:t> = </a:t>
                </a:r>
                <a:r>
                  <a:rPr lang="vi-VN"/>
                  <a:t>(x;\ y)</a:t>
                </a:r>
                <a:r>
                  <a:rPr sz="2200">
                    <a:solidFill>
                      <a:srgbClr val="1E293B"/>
                    </a:solidFill>
                    <a:latin typeface="Calibri"/>
                  </a:rPr>
                  <a:t>, </a:t>
                </a:r>
                <a:r>
                  <a:rPr lang="vi-VN"/>
                  <a:t>\overrightarrow{ON}</a:t>
                </a:r>
                <a:r>
                  <a:rPr sz="2200">
                    <a:solidFill>
                      <a:srgbClr val="1E293B"/>
                    </a:solidFill>
                    <a:latin typeface="Calibri"/>
                  </a:rPr>
                  <a:t> = </a:t>
                </a:r>
                <a:r>
                  <a:rPr lang="vi-VN"/>
                  <a:t>(x';\ y')</a:t>
                </a:r>
                <a:r>
                  <a:rPr sz="2200">
                    <a:solidFill>
                      <a:srgbClr val="1E293B"/>
                    </a:solidFill>
                    <a:latin typeface="Calibri"/>
                  </a:rPr>
                  <a:t>; b) </a:t>
                </a:r>
                <a:r>
                  <a:rPr lang="vi-VN"/>
                  <a:t>\overrightarrow{MN}</a:t>
                </a:r>
                <a:r>
                  <a:rPr sz="2200">
                    <a:solidFill>
                      <a:srgbClr val="1E293B"/>
                    </a:solidFill>
                    <a:latin typeface="Calibri"/>
                  </a:rPr>
                  <a:t> = </a:t>
                </a:r>
                <a:r>
                  <a:rPr lang="vi-VN"/>
                  <a:t>\overrightarrow{ON}</a:t>
                </a:r>
                <a:r>
                  <a:rPr sz="2200">
                    <a:solidFill>
                      <a:srgbClr val="1E293B"/>
                    </a:solidFill>
                    <a:latin typeface="Calibri"/>
                  </a:rPr>
                  <a:t> − </a:t>
                </a:r>
                <a:r>
                  <a:rPr lang="vi-VN"/>
                  <a:t>\overrightarrow{OM}</a:t>
                </a:r>
                <a:r>
                  <a:rPr sz="2200">
                    <a:solidFill>
                      <a:srgbClr val="1E293B"/>
                    </a:solidFill>
                    <a:latin typeface="Calibri"/>
                  </a:rPr>
                  <a:t> = </a:t>
                </a:r>
                <a:r>
                  <a:rPr lang="vi-VN"/>
                  <a:t>(x'-x;\ y'-y)</a:t>
                </a:r>
                <a:r>
                  <a:rPr sz="2200">
                    <a:solidFill>
                      <a:srgbClr val="1E293B"/>
                    </a:solidFill>
                    <a:latin typeface="Calibri"/>
                  </a:rPr>
                  <a:t>; c) </a:t>
                </a:r>
                <a:r>
                  <a:rPr lang="vi-VN"/>
                  <a:t>MN=\sqrt{(x'-x)^2+(y'-y)^2}</a:t>
                </a:r>
                <a:r>
                  <a:rPr sz="2200">
                    <a:solidFill>
                      <a:srgbClr val="1E293B"/>
                    </a:solidFill>
                    <a:latin typeface="Calibri"/>
                  </a:rPr>
                  <a:t>.</a:t>
                </a:r>
              </a:p>
            </p:txBody>
          </p:sp>
        </mc:Fallback>
      </mc:AlternateContent>
      <p:sp>
        <p:nvSpPr>
          <p:cNvPr id="10" name="s2_nen"/>
          <p:cNvSpPr/>
          <p:nvPr/>
        </p:nvSpPr>
        <p:spPr>
          <a:xfrm>
            <a:off x="548640" y="3761232"/>
            <a:ext cx="11064240" cy="93573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797808"/>
                <a:ext cx="10735056" cy="862583"/>
              </a:xfrm>
              <a:prstGeom prst="rect">
                <a:avLst/>
              </a:prstGeom>
              <a:noFill/>
            </p:spPr>
            <p:txBody>
              <a:bodyPr wrap="square" lIns="45720" rIns="45720" anchor="ctr">
                <a:spAutoFit/>
              </a:bodyPr>
              <a:lstStyle/>
              <a:p>
                <a:pPr algn="l">
                  <a:spcAft>
                    <a:spcPts val="800"/>
                  </a:spcAft>
                </a:pPr>
                <a:r>
                  <a:rPr sz="2400">
                    <a:solidFill>
                      <a:srgbClr val="1E293B"/>
                    </a:solidFill>
                    <a:latin typeface="Calibri"/>
                  </a:rPr>
                  <a:t>Với hai điểm </a:t>
                </a:r>
                <a14:m>
                  <m:oMath xmlns:m="http://schemas.openxmlformats.org/officeDocument/2006/math">
                    <m:r>
                      <a:rPr lang="vi-VN" sz="2400" b="0">
                        <a:solidFill>
                          <a:srgbClr val="1E293B"/>
                        </a:solidFill>
                        <a:latin typeface="Cambria Math" panose="02040503050406030204" pitchFamily="18" charset="0"/>
                      </a:rPr>
                      <m:t>𝑀</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𝑥</m:t>
                    </m:r>
                    <m: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𝑦</m:t>
                    </m:r>
                    <m:r>
                      <a:rPr lang="vi-VN" sz="2400" b="0">
                        <a:solidFill>
                          <a:srgbClr val="1E293B"/>
                        </a:solidFill>
                        <a:latin typeface="Cambria Math" panose="02040503050406030204" pitchFamily="18" charset="0"/>
                      </a:rPr>
                      <m:t>)</m:t>
                    </m:r>
                  </m:oMath>
                </a14:m>
                <a:r>
                  <a:rPr sz="2400">
                    <a:solidFill>
                      <a:srgbClr val="1E293B"/>
                    </a:solidFill>
                    <a:latin typeface="Calibri"/>
                  </a:rPr>
                  <a:t> và </a:t>
                </a:r>
                <a14:m>
                  <m:oMath xmlns:m="http://schemas.openxmlformats.org/officeDocument/2006/math">
                    <m:r>
                      <a:rPr lang="vi-VN" sz="2400" b="0">
                        <a:solidFill>
                          <a:srgbClr val="1E293B"/>
                        </a:solidFill>
                        <a:latin typeface="Cambria Math" panose="02040503050406030204" pitchFamily="18" charset="0"/>
                      </a:rPr>
                      <m:t>𝑁</m:t>
                    </m:r>
                    <m:r>
                      <a:rPr lang="vi-VN" sz="2400" b="0">
                        <a:solidFill>
                          <a:srgbClr val="1E293B"/>
                        </a:solidFill>
                        <a:latin typeface="Cambria Math" panose="02040503050406030204" pitchFamily="18" charset="0"/>
                      </a:rPr>
                      <m:t>(</m:t>
                    </m:r>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𝑥</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 </m:t>
                    </m:r>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𝑦</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m:t>
                    </m:r>
                  </m:oMath>
                </a14:m>
                <a:r>
                  <a:rPr sz="2400">
                    <a:solidFill>
                      <a:srgbClr val="1E293B"/>
                    </a:solidFill>
                    <a:latin typeface="Calibri"/>
                  </a:rPr>
                  <a:t> thì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𝑀𝑁</m:t>
                        </m:r>
                      </m:e>
                    </m:acc>
                  </m:oMath>
                </a14:m>
                <a:r>
                  <a:rPr sz="2400">
                    <a:solidFill>
                      <a:srgbClr val="1E293B"/>
                    </a:solidFill>
                    <a:latin typeface="Calibri"/>
                  </a:rPr>
                  <a:t> = </a:t>
                </a:r>
                <a14:m>
                  <m:oMath xmlns:m="http://schemas.openxmlformats.org/officeDocument/2006/math">
                    <m:d>
                      <m:dPr>
                        <m:ctrlPr>
                          <a:rPr lang="vi-VN" sz="2400" b="0">
                            <a:solidFill>
                              <a:srgbClr val="1E293B"/>
                            </a:solidFill>
                            <a:latin typeface="Cambria Math" panose="02040503050406030204" pitchFamily="18" charset="0"/>
                          </a:rPr>
                        </m:ctrlPr>
                      </m:dPr>
                      <m:e>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𝑥</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𝑥</m:t>
                        </m:r>
                        <m:r>
                          <a:rPr lang="vi-VN" sz="2400" b="0">
                            <a:solidFill>
                              <a:srgbClr val="1E293B"/>
                            </a:solidFill>
                            <a:latin typeface="Cambria Math" panose="02040503050406030204" pitchFamily="18" charset="0"/>
                          </a:rPr>
                          <m:t>; </m:t>
                        </m:r>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𝑦</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𝑦</m:t>
                        </m:r>
                      </m:e>
                    </m:d>
                  </m:oMath>
                </a14:m>
                <a:r>
                  <a:rPr sz="2400">
                    <a:solidFill>
                      <a:srgbClr val="1E293B"/>
                    </a:solidFill>
                    <a:latin typeface="Calibri"/>
                  </a:rPr>
                  <a:t> và khoảng cách giữa hai điểm </a:t>
                </a:r>
                <a14:m>
                  <m:oMath xmlns:m="http://schemas.openxmlformats.org/officeDocument/2006/math">
                    <m:r>
                      <a:rPr lang="vi-VN" sz="2400" b="0">
                        <a:solidFill>
                          <a:srgbClr val="1E293B"/>
                        </a:solidFill>
                        <a:latin typeface="Cambria Math" panose="02040503050406030204" pitchFamily="18" charset="0"/>
                      </a:rPr>
                      <m:t>𝑀</m:t>
                    </m:r>
                    <m: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𝑁</m:t>
                    </m:r>
                  </m:oMath>
                </a14:m>
                <a:r>
                  <a:rPr sz="2400">
                    <a:solidFill>
                      <a:srgbClr val="1E293B"/>
                    </a:solidFill>
                    <a:latin typeface="Calibri"/>
                  </a:rPr>
                  <a:t> là </a:t>
                </a:r>
                <a14:m>
                  <m:oMath xmlns:m="http://schemas.openxmlformats.org/officeDocument/2006/math">
                    <m:r>
                      <a:rPr lang="vi-VN" sz="2400" b="0">
                        <a:solidFill>
                          <a:srgbClr val="1E293B"/>
                        </a:solidFill>
                        <a:latin typeface="Cambria Math" panose="02040503050406030204" pitchFamily="18" charset="0"/>
                      </a:rPr>
                      <m:t>𝑀𝑁</m:t>
                    </m:r>
                    <m:r>
                      <a:rPr lang="vi-VN" sz="2400" b="0">
                        <a:solidFill>
                          <a:srgbClr val="1E293B"/>
                        </a:solidFill>
                        <a:latin typeface="Cambria Math" panose="02040503050406030204" pitchFamily="18" charset="0"/>
                      </a:rPr>
                      <m:t>=|</m:t>
                    </m:r>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𝑀𝑁</m:t>
                        </m:r>
                      </m:e>
                    </m:acc>
                    <m:r>
                      <a:rPr lang="vi-VN" sz="2400" b="0">
                        <a:solidFill>
                          <a:srgbClr val="1E293B"/>
                        </a:solidFill>
                        <a:latin typeface="Cambria Math" panose="02040503050406030204" pitchFamily="18" charset="0"/>
                      </a:rPr>
                      <m:t>|=</m:t>
                    </m:r>
                    <m:rad>
                      <m:radPr>
                        <m:degHide m:val="on"/>
                        <m:ctrlPr>
                          <a:rPr lang="vi-VN" sz="2400" b="0" i="1">
                            <a:solidFill>
                              <a:srgbClr val="1E293B"/>
                            </a:solidFill>
                            <a:latin typeface="Cambria Math" panose="02040503050406030204" pitchFamily="18" charset="0"/>
                          </a:rPr>
                        </m:ctrlPr>
                      </m:radPr>
                      <m:deg/>
                      <m:e>
                        <m:sSup>
                          <m:sSupPr>
                            <m:ctrlPr>
                              <a:rPr lang="vi-VN" sz="2400" b="0" i="1">
                                <a:solidFill>
                                  <a:srgbClr val="1E293B"/>
                                </a:solidFill>
                                <a:latin typeface="Cambria Math" panose="02040503050406030204" pitchFamily="18" charset="0"/>
                              </a:rPr>
                            </m:ctrlPr>
                          </m:sSupPr>
                          <m:e>
                            <m:d>
                              <m:dPr>
                                <m:ctrlPr>
                                  <a:rPr lang="vi-VN" sz="2400" b="0" i="1">
                                    <a:solidFill>
                                      <a:srgbClr val="1E293B"/>
                                    </a:solidFill>
                                    <a:latin typeface="Cambria Math" panose="02040503050406030204" pitchFamily="18" charset="0"/>
                                  </a:rPr>
                                </m:ctrlPr>
                              </m:dPr>
                              <m:e>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𝑥</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𝑥</m:t>
                                </m:r>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𝑦</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𝑦</m:t>
                                </m:r>
                              </m:e>
                            </m:d>
                          </m:e>
                          <m:sup>
                            <m:r>
                              <a:rPr lang="vi-VN" sz="2400" b="0">
                                <a:solidFill>
                                  <a:srgbClr val="1E293B"/>
                                </a:solidFill>
                                <a:latin typeface="Cambria Math" panose="02040503050406030204" pitchFamily="18" charset="0"/>
                              </a:rPr>
                              <m:t>2</m:t>
                            </m:r>
                          </m:sup>
                        </m:sSup>
                      </m:e>
                    </m:rad>
                  </m:oMath>
                </a14:m>
                <a:r>
                  <a:rPr sz="2400">
                    <a:solidFill>
                      <a:srgbClr val="1E293B"/>
                    </a:solidFill>
                    <a:latin typeface="Calibri"/>
                  </a:rPr>
                  <a:t>.</a:t>
                </a:r>
              </a:p>
            </p:txBody>
          </p:sp>
        </mc:Choice>
        <mc:Fallback xmlns="">
          <p:sp>
            <p:nvSpPr>
              <p:cNvPr id="11" name="TextBox 10"/>
              <p:cNvSpPr txBox="1"/>
              <p:nvPr/>
            </p:nvSpPr>
            <p:spPr>
              <a:xfrm>
                <a:off x="713232" y="3797808"/>
                <a:ext cx="10735056" cy="862583"/>
              </a:xfrm>
              <a:prstGeom prst="rect">
                <a:avLst/>
              </a:prstGeom>
              <a:noFill/>
            </p:spPr>
            <p:txBody>
              <a:bodyPr wrap="square" anchor="ctr" lIns="45720" rIns="45720">
                <a:spAutoFit/>
              </a:bodyPr>
              <a:lstStyle/>
              <a:p>
                <a:pPr algn="l">
                  <a:spcAft>
                    <a:spcPts val="800"/>
                  </a:spcAft>
                </a:pPr>
                <a:r>
                  <a:rPr sz="2400">
                    <a:solidFill>
                      <a:srgbClr val="1E293B"/>
                    </a:solidFill>
                    <a:latin typeface="Calibri"/>
                  </a:rPr>
                  <a:t>Với hai điểm </a:t>
                </a:r>
                <a:r>
                  <a:rPr lang="vi-VN"/>
                  <a:t>M(x;\ y)</a:t>
                </a:r>
                <a:r>
                  <a:rPr sz="2400">
                    <a:solidFill>
                      <a:srgbClr val="1E293B"/>
                    </a:solidFill>
                    <a:latin typeface="Calibri"/>
                  </a:rPr>
                  <a:t> và </a:t>
                </a:r>
                <a:r>
                  <a:rPr lang="vi-VN"/>
                  <a:t>N(x';\ y')</a:t>
                </a:r>
                <a:r>
                  <a:rPr sz="2400">
                    <a:solidFill>
                      <a:srgbClr val="1E293B"/>
                    </a:solidFill>
                    <a:latin typeface="Calibri"/>
                  </a:rPr>
                  <a:t> thì </a:t>
                </a:r>
                <a:r>
                  <a:rPr lang="vi-VN"/>
                  <a:t>\overrightarrow{MN}</a:t>
                </a:r>
                <a:r>
                  <a:rPr sz="2400">
                    <a:solidFill>
                      <a:srgbClr val="1E293B"/>
                    </a:solidFill>
                    <a:latin typeface="Calibri"/>
                  </a:rPr>
                  <a:t> = </a:t>
                </a:r>
                <a:r>
                  <a:rPr lang="vi-VN"/>
                  <a:t>(x'-x;\ y'-y)</a:t>
                </a:r>
                <a:r>
                  <a:rPr sz="2400">
                    <a:solidFill>
                      <a:srgbClr val="1E293B"/>
                    </a:solidFill>
                    <a:latin typeface="Calibri"/>
                  </a:rPr>
                  <a:t> và khoảng cách giữa hai điểm </a:t>
                </a:r>
                <a:r>
                  <a:rPr lang="vi-VN"/>
                  <a:t>M,\ N</a:t>
                </a:r>
                <a:r>
                  <a:rPr sz="2400">
                    <a:solidFill>
                      <a:srgbClr val="1E293B"/>
                    </a:solidFill>
                    <a:latin typeface="Calibri"/>
                  </a:rPr>
                  <a:t> là </a:t>
                </a:r>
                <a:r>
                  <a:rPr lang="vi-VN"/>
                  <a:t>MN=|\overrightarrow{MN}|=\sqrt{(x'-x)^2+(y'-y)^2}</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(SGK TR.63)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17</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8595360" cy="1453896"/>
              </a:xfrm>
              <a:prstGeom prst="rect">
                <a:avLst/>
              </a:prstGeom>
              <a:noFill/>
            </p:spPr>
            <p:txBody>
              <a:bodyPr wrap="square" lIns="45720" rIns="45720" anchor="t">
                <a:spAutoFit/>
              </a:bodyPr>
              <a:lstStyle/>
              <a:p>
                <a:pPr algn="l">
                  <a:spcAft>
                    <a:spcPts val="800"/>
                  </a:spcAft>
                </a:pPr>
                <a:r>
                  <a:rPr sz="2100">
                    <a:solidFill>
                      <a:srgbClr val="1E293B"/>
                    </a:solidFill>
                    <a:latin typeface="Calibri"/>
                  </a:rPr>
                  <a:t>Cho ba điểm </a:t>
                </a:r>
                <a14:m>
                  <m:oMath xmlns:m="http://schemas.openxmlformats.org/officeDocument/2006/math">
                    <m:r>
                      <a:rPr lang="vi-VN" sz="2100" b="0">
                        <a:solidFill>
                          <a:srgbClr val="1E293B"/>
                        </a:solidFill>
                        <a:latin typeface="Cambria Math" panose="02040503050406030204" pitchFamily="18" charset="0"/>
                      </a:rPr>
                      <m:t>𝐴</m:t>
                    </m:r>
                    <m:r>
                      <a:rPr lang="vi-VN" sz="2100" b="0">
                        <a:solidFill>
                          <a:srgbClr val="1E293B"/>
                        </a:solidFill>
                        <a:latin typeface="Cambria Math" panose="02040503050406030204" pitchFamily="18" charset="0"/>
                      </a:rPr>
                      <m:t>(1; −2)</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𝐵</m:t>
                    </m:r>
                    <m:r>
                      <a:rPr lang="vi-VN" sz="2100" b="0">
                        <a:solidFill>
                          <a:srgbClr val="1E293B"/>
                        </a:solidFill>
                        <a:latin typeface="Cambria Math" panose="02040503050406030204" pitchFamily="18" charset="0"/>
                      </a:rPr>
                      <m:t>(3; 2)</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𝐶</m:t>
                    </m:r>
                    <m:r>
                      <a:rPr lang="vi-VN" sz="2100" b="0">
                        <a:solidFill>
                          <a:srgbClr val="1E293B"/>
                        </a:solidFill>
                        <a:latin typeface="Cambria Math" panose="02040503050406030204" pitchFamily="18" charset="0"/>
                      </a:rPr>
                      <m:t>(7; 4)</m:t>
                    </m:r>
                  </m:oMath>
                </a14:m>
                <a:r>
                  <a:rPr sz="2100">
                    <a:solidFill>
                      <a:srgbClr val="1E293B"/>
                    </a:solidFill>
                    <a:latin typeface="Calibri"/>
                  </a:rPr>
                  <a:t>. a) Tìm toạ độ của các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𝐴𝐵</m:t>
                        </m:r>
                      </m:e>
                    </m:acc>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𝐵𝐶</m:t>
                        </m:r>
                      </m:e>
                    </m:acc>
                  </m:oMath>
                </a14:m>
                <a:r>
                  <a:rPr sz="2100">
                    <a:solidFill>
                      <a:srgbClr val="1E293B"/>
                    </a:solidFill>
                    <a:latin typeface="Calibri"/>
                  </a:rPr>
                  <a:t>. So sánh các khoảng cách từ </a:t>
                </a:r>
                <a14:m>
                  <m:oMath xmlns:m="http://schemas.openxmlformats.org/officeDocument/2006/math">
                    <m:r>
                      <a:rPr lang="vi-VN" sz="2100" b="0">
                        <a:solidFill>
                          <a:srgbClr val="1E293B"/>
                        </a:solidFill>
                        <a:latin typeface="Cambria Math" panose="02040503050406030204" pitchFamily="18" charset="0"/>
                      </a:rPr>
                      <m:t>𝐵</m:t>
                    </m:r>
                  </m:oMath>
                </a14:m>
                <a:r>
                  <a:rPr sz="2100">
                    <a:solidFill>
                      <a:srgbClr val="1E293B"/>
                    </a:solidFill>
                    <a:latin typeface="Calibri"/>
                  </a:rPr>
                  <a:t> tới </a:t>
                </a:r>
                <a14:m>
                  <m:oMath xmlns:m="http://schemas.openxmlformats.org/officeDocument/2006/math">
                    <m:r>
                      <a:rPr lang="vi-VN" sz="2100" b="0">
                        <a:solidFill>
                          <a:srgbClr val="1E293B"/>
                        </a:solidFill>
                        <a:latin typeface="Cambria Math" panose="02040503050406030204" pitchFamily="18" charset="0"/>
                      </a:rPr>
                      <m:t>𝐴</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𝐶</m:t>
                    </m:r>
                  </m:oMath>
                </a14:m>
                <a:r>
                  <a:rPr sz="2100">
                    <a:solidFill>
                      <a:srgbClr val="1E293B"/>
                    </a:solidFill>
                    <a:latin typeface="Calibri"/>
                  </a:rPr>
                  <a:t>. b) Ba điểm </a:t>
                </a:r>
                <a14:m>
                  <m:oMath xmlns:m="http://schemas.openxmlformats.org/officeDocument/2006/math">
                    <m:r>
                      <a:rPr lang="vi-VN" sz="2100" b="0">
                        <a:solidFill>
                          <a:srgbClr val="1E293B"/>
                        </a:solidFill>
                        <a:latin typeface="Cambria Math" panose="02040503050406030204" pitchFamily="18" charset="0"/>
                      </a:rPr>
                      <m:t>𝐴</m:t>
                    </m:r>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𝐵</m:t>
                    </m:r>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𝐶</m:t>
                    </m:r>
                  </m:oMath>
                </a14:m>
                <a:r>
                  <a:rPr sz="2100">
                    <a:solidFill>
                      <a:srgbClr val="1E293B"/>
                    </a:solidFill>
                    <a:latin typeface="Calibri"/>
                  </a:rPr>
                  <a:t> có thẳng hàng hay không? c) Tìm điểm </a:t>
                </a:r>
                <a14:m>
                  <m:oMath xmlns:m="http://schemas.openxmlformats.org/officeDocument/2006/math">
                    <m:r>
                      <a:rPr lang="vi-VN" sz="2100" b="0">
                        <a:solidFill>
                          <a:srgbClr val="1E293B"/>
                        </a:solidFill>
                        <a:latin typeface="Cambria Math" panose="02040503050406030204" pitchFamily="18" charset="0"/>
                      </a:rPr>
                      <m:t>𝐷</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𝑥</m:t>
                    </m:r>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𝑦</m:t>
                    </m:r>
                    <m:r>
                      <a:rPr lang="vi-VN" sz="2100" b="0">
                        <a:solidFill>
                          <a:srgbClr val="1E293B"/>
                        </a:solidFill>
                        <a:latin typeface="Cambria Math" panose="02040503050406030204" pitchFamily="18" charset="0"/>
                      </a:rPr>
                      <m:t>)</m:t>
                    </m:r>
                  </m:oMath>
                </a14:m>
                <a:r>
                  <a:rPr sz="2100">
                    <a:solidFill>
                      <a:srgbClr val="1E293B"/>
                    </a:solidFill>
                    <a:latin typeface="Calibri"/>
                  </a:rPr>
                  <a:t> để </a:t>
                </a:r>
                <a14:m>
                  <m:oMath xmlns:m="http://schemas.openxmlformats.org/officeDocument/2006/math">
                    <m:r>
                      <a:rPr lang="vi-VN" sz="2100" b="0">
                        <a:solidFill>
                          <a:srgbClr val="1E293B"/>
                        </a:solidFill>
                        <a:latin typeface="Cambria Math" panose="02040503050406030204" pitchFamily="18" charset="0"/>
                      </a:rPr>
                      <m:t>𝐴𝐵𝐶𝐷</m:t>
                    </m:r>
                  </m:oMath>
                </a14:m>
                <a:r>
                  <a:rPr sz="2100">
                    <a:solidFill>
                      <a:srgbClr val="1E293B"/>
                    </a:solidFill>
                    <a:latin typeface="Calibri"/>
                  </a:rPr>
                  <a:t> là một hình thoi.</a:t>
                </a:r>
              </a:p>
            </p:txBody>
          </p:sp>
        </mc:Choice>
        <mc:Fallback xmlns="">
          <p:sp>
            <p:nvSpPr>
              <p:cNvPr id="7" name="TextBox 6"/>
              <p:cNvSpPr txBox="1"/>
              <p:nvPr/>
            </p:nvSpPr>
            <p:spPr>
              <a:xfrm>
                <a:off x="548640" y="1371600"/>
                <a:ext cx="8595360" cy="1453896"/>
              </a:xfrm>
              <a:prstGeom prst="rect">
                <a:avLst/>
              </a:prstGeom>
              <a:noFill/>
            </p:spPr>
            <p:txBody>
              <a:bodyPr wrap="square" anchor="t" lIns="45720" rIns="45720">
                <a:spAutoFit/>
              </a:bodyPr>
              <a:lstStyle/>
              <a:p>
                <a:pPr algn="l">
                  <a:spcAft>
                    <a:spcPts val="800"/>
                  </a:spcAft>
                </a:pPr>
                <a:r>
                  <a:rPr sz="2100">
                    <a:solidFill>
                      <a:srgbClr val="1E293B"/>
                    </a:solidFill>
                    <a:latin typeface="Calibri"/>
                  </a:rPr>
                  <a:t>Cho ba điểm </a:t>
                </a:r>
                <a:r>
                  <a:rPr lang="vi-VN"/>
                  <a:t>A(1;\ -2)</a:t>
                </a:r>
                <a:r>
                  <a:rPr sz="2100">
                    <a:solidFill>
                      <a:srgbClr val="1E293B"/>
                    </a:solidFill>
                    <a:latin typeface="Calibri"/>
                  </a:rPr>
                  <a:t>, </a:t>
                </a:r>
                <a:r>
                  <a:rPr lang="vi-VN"/>
                  <a:t>B(3;\ 2)</a:t>
                </a:r>
                <a:r>
                  <a:rPr sz="2100">
                    <a:solidFill>
                      <a:srgbClr val="1E293B"/>
                    </a:solidFill>
                    <a:latin typeface="Calibri"/>
                  </a:rPr>
                  <a:t>, </a:t>
                </a:r>
                <a:r>
                  <a:rPr lang="vi-VN"/>
                  <a:t>C(7;\ 4)</a:t>
                </a:r>
                <a:r>
                  <a:rPr sz="2100">
                    <a:solidFill>
                      <a:srgbClr val="1E293B"/>
                    </a:solidFill>
                    <a:latin typeface="Calibri"/>
                  </a:rPr>
                  <a:t>. a) Tìm toạ độ của các vectơ </a:t>
                </a:r>
                <a:r>
                  <a:rPr lang="vi-VN"/>
                  <a:t>\overrightarrow{AB}</a:t>
                </a:r>
                <a:r>
                  <a:rPr sz="2100">
                    <a:solidFill>
                      <a:srgbClr val="1E293B"/>
                    </a:solidFill>
                    <a:latin typeface="Calibri"/>
                  </a:rPr>
                  <a:t>, </a:t>
                </a:r>
                <a:r>
                  <a:rPr lang="vi-VN"/>
                  <a:t>\overrightarrow{BC}</a:t>
                </a:r>
                <a:r>
                  <a:rPr sz="2100">
                    <a:solidFill>
                      <a:srgbClr val="1E293B"/>
                    </a:solidFill>
                    <a:latin typeface="Calibri"/>
                  </a:rPr>
                  <a:t>. So sánh các khoảng cách từ </a:t>
                </a:r>
                <a:r>
                  <a:rPr lang="vi-VN"/>
                  <a:t>B</a:t>
                </a:r>
                <a:r>
                  <a:rPr sz="2100">
                    <a:solidFill>
                      <a:srgbClr val="1E293B"/>
                    </a:solidFill>
                    <a:latin typeface="Calibri"/>
                  </a:rPr>
                  <a:t> tới </a:t>
                </a:r>
                <a:r>
                  <a:rPr lang="vi-VN"/>
                  <a:t>A</a:t>
                </a:r>
                <a:r>
                  <a:rPr sz="2100">
                    <a:solidFill>
                      <a:srgbClr val="1E293B"/>
                    </a:solidFill>
                    <a:latin typeface="Calibri"/>
                  </a:rPr>
                  <a:t> và </a:t>
                </a:r>
                <a:r>
                  <a:rPr lang="vi-VN"/>
                  <a:t>C</a:t>
                </a:r>
                <a:r>
                  <a:rPr sz="2100">
                    <a:solidFill>
                      <a:srgbClr val="1E293B"/>
                    </a:solidFill>
                    <a:latin typeface="Calibri"/>
                  </a:rPr>
                  <a:t>. b) Ba điểm </a:t>
                </a:r>
                <a:r>
                  <a:rPr lang="vi-VN"/>
                  <a:t>A,\ B,\ C</a:t>
                </a:r>
                <a:r>
                  <a:rPr sz="2100">
                    <a:solidFill>
                      <a:srgbClr val="1E293B"/>
                    </a:solidFill>
                    <a:latin typeface="Calibri"/>
                  </a:rPr>
                  <a:t> có thẳng hàng hay không? c) Tìm điểm </a:t>
                </a:r>
                <a:r>
                  <a:rPr lang="vi-VN"/>
                  <a:t>D(x;\ y)</a:t>
                </a:r>
                <a:r>
                  <a:rPr sz="2100">
                    <a:solidFill>
                      <a:srgbClr val="1E293B"/>
                    </a:solidFill>
                    <a:latin typeface="Calibri"/>
                  </a:rPr>
                  <a:t> để </a:t>
                </a:r>
                <a:r>
                  <a:rPr lang="vi-VN"/>
                  <a:t>ABCD</a:t>
                </a:r>
                <a:r>
                  <a:rPr sz="2100">
                    <a:solidFill>
                      <a:srgbClr val="1E293B"/>
                    </a:solidFill>
                    <a:latin typeface="Calibri"/>
                  </a:rPr>
                  <a:t> là một hình thoi.</a:t>
                </a:r>
              </a:p>
            </p:txBody>
          </p:sp>
        </mc:Fallback>
      </mc:AlternateContent>
      <p:sp>
        <p:nvSpPr>
          <p:cNvPr id="8" name="s1_nen"/>
          <p:cNvSpPr/>
          <p:nvPr/>
        </p:nvSpPr>
        <p:spPr>
          <a:xfrm>
            <a:off x="548640" y="2916936"/>
            <a:ext cx="859536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953512"/>
                <a:ext cx="8266176" cy="832103"/>
              </a:xfrm>
              <a:prstGeom prst="rect">
                <a:avLst/>
              </a:prstGeom>
              <a:noFill/>
            </p:spPr>
            <p:txBody>
              <a:bodyPr wrap="square" lIns="45720" rIns="45720" anchor="ctr">
                <a:spAutoFit/>
              </a:bodyPr>
              <a:lstStyle/>
              <a:p>
                <a:pPr algn="l">
                  <a:spcAft>
                    <a:spcPts val="800"/>
                  </a:spcAft>
                </a:pPr>
                <a:r>
                  <a:rPr sz="2100">
                    <a:solidFill>
                      <a:srgbClr val="1E293B"/>
                    </a:solidFill>
                    <a:latin typeface="Calibri"/>
                  </a:rPr>
                  <a:t>a)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𝐴𝐵</m:t>
                        </m:r>
                      </m:e>
                    </m:acc>
                  </m:oMath>
                </a14:m>
                <a:r>
                  <a:rPr sz="2100">
                    <a:solidFill>
                      <a:srgbClr val="1E293B"/>
                    </a:solidFill>
                    <a:latin typeface="Calibri"/>
                  </a:rPr>
                  <a:t> = </a:t>
                </a:r>
                <a14:m>
                  <m:oMath xmlns:m="http://schemas.openxmlformats.org/officeDocument/2006/math">
                    <m:d>
                      <m:dPr>
                        <m:ctrlPr>
                          <a:rPr lang="vi-VN" sz="2100" b="0">
                            <a:solidFill>
                              <a:srgbClr val="1E293B"/>
                            </a:solidFill>
                            <a:latin typeface="Cambria Math" panose="02040503050406030204" pitchFamily="18" charset="0"/>
                          </a:rPr>
                        </m:ctrlPr>
                      </m:dPr>
                      <m:e>
                        <m:r>
                          <a:rPr lang="vi-VN" sz="2100" b="0">
                            <a:solidFill>
                              <a:srgbClr val="1E293B"/>
                            </a:solidFill>
                            <a:latin typeface="Cambria Math" panose="02040503050406030204" pitchFamily="18" charset="0"/>
                          </a:rPr>
                          <m:t>2; 4</m:t>
                        </m:r>
                      </m:e>
                    </m:d>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𝐵𝐶</m:t>
                        </m:r>
                      </m:e>
                    </m:acc>
                  </m:oMath>
                </a14:m>
                <a:r>
                  <a:rPr sz="2100">
                    <a:solidFill>
                      <a:srgbClr val="1E293B"/>
                    </a:solidFill>
                    <a:latin typeface="Calibri"/>
                  </a:rPr>
                  <a:t> = </a:t>
                </a:r>
                <a14:m>
                  <m:oMath xmlns:m="http://schemas.openxmlformats.org/officeDocument/2006/math">
                    <m:d>
                      <m:dPr>
                        <m:ctrlPr>
                          <a:rPr lang="vi-VN" sz="2100" b="0">
                            <a:solidFill>
                              <a:srgbClr val="1E293B"/>
                            </a:solidFill>
                            <a:latin typeface="Cambria Math" panose="02040503050406030204" pitchFamily="18" charset="0"/>
                          </a:rPr>
                        </m:ctrlPr>
                      </m:dPr>
                      <m:e>
                        <m:r>
                          <a:rPr lang="vi-VN" sz="2100" b="0">
                            <a:solidFill>
                              <a:srgbClr val="1E293B"/>
                            </a:solidFill>
                            <a:latin typeface="Cambria Math" panose="02040503050406030204" pitchFamily="18" charset="0"/>
                          </a:rPr>
                          <m:t>4; 2</m:t>
                        </m:r>
                      </m:e>
                    </m:d>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𝐴𝐵</m:t>
                    </m:r>
                    <m:r>
                      <a:rPr lang="vi-VN" sz="2100" b="0">
                        <a:solidFill>
                          <a:srgbClr val="1E293B"/>
                        </a:solidFill>
                        <a:latin typeface="Cambria Math" panose="02040503050406030204" pitchFamily="18" charset="0"/>
                      </a:rPr>
                      <m:t>=</m:t>
                    </m:r>
                    <m:rad>
                      <m:radPr>
                        <m:degHide m:val="on"/>
                        <m:ctrlPr>
                          <a:rPr lang="vi-VN" sz="2100" b="0" i="1">
                            <a:solidFill>
                              <a:srgbClr val="1E293B"/>
                            </a:solidFill>
                            <a:latin typeface="Cambria Math" panose="02040503050406030204" pitchFamily="18" charset="0"/>
                          </a:rPr>
                        </m:ctrlPr>
                      </m:radPr>
                      <m:deg/>
                      <m:e>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2</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4</m:t>
                            </m:r>
                          </m:e>
                          <m:sup>
                            <m:r>
                              <a:rPr lang="vi-VN" sz="2100" b="0">
                                <a:solidFill>
                                  <a:srgbClr val="1E293B"/>
                                </a:solidFill>
                                <a:latin typeface="Cambria Math" panose="02040503050406030204" pitchFamily="18" charset="0"/>
                              </a:rPr>
                              <m:t>2</m:t>
                            </m:r>
                          </m:sup>
                        </m:sSup>
                      </m:e>
                    </m:rad>
                    <m:r>
                      <a:rPr lang="vi-VN" sz="2100" b="0">
                        <a:solidFill>
                          <a:srgbClr val="1E293B"/>
                        </a:solidFill>
                        <a:latin typeface="Cambria Math" panose="02040503050406030204" pitchFamily="18" charset="0"/>
                      </a:rPr>
                      <m:t>=2</m:t>
                    </m:r>
                    <m:rad>
                      <m:radPr>
                        <m:degHide m:val="on"/>
                        <m:ctrlPr>
                          <a:rPr lang="vi-VN" sz="2100" b="0" i="1">
                            <a:solidFill>
                              <a:srgbClr val="1E293B"/>
                            </a:solidFill>
                            <a:latin typeface="Cambria Math" panose="02040503050406030204" pitchFamily="18" charset="0"/>
                          </a:rPr>
                        </m:ctrlPr>
                      </m:radPr>
                      <m:deg/>
                      <m:e>
                        <m:r>
                          <a:rPr lang="vi-VN" sz="2100" b="0">
                            <a:solidFill>
                              <a:srgbClr val="1E293B"/>
                            </a:solidFill>
                            <a:latin typeface="Cambria Math" panose="02040503050406030204" pitchFamily="18" charset="0"/>
                          </a:rPr>
                          <m:t>5</m:t>
                        </m:r>
                      </m:e>
                    </m:rad>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𝐵𝐶</m:t>
                    </m:r>
                    <m:r>
                      <a:rPr lang="vi-VN" sz="2100" b="0">
                        <a:solidFill>
                          <a:srgbClr val="1E293B"/>
                        </a:solidFill>
                        <a:latin typeface="Cambria Math" panose="02040503050406030204" pitchFamily="18" charset="0"/>
                      </a:rPr>
                      <m:t>=</m:t>
                    </m:r>
                    <m:rad>
                      <m:radPr>
                        <m:degHide m:val="on"/>
                        <m:ctrlPr>
                          <a:rPr lang="vi-VN" sz="2100" b="0" i="1">
                            <a:solidFill>
                              <a:srgbClr val="1E293B"/>
                            </a:solidFill>
                            <a:latin typeface="Cambria Math" panose="02040503050406030204" pitchFamily="18" charset="0"/>
                          </a:rPr>
                        </m:ctrlPr>
                      </m:radPr>
                      <m:deg/>
                      <m:e>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4</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2</m:t>
                            </m:r>
                          </m:e>
                          <m:sup>
                            <m:r>
                              <a:rPr lang="vi-VN" sz="2100" b="0">
                                <a:solidFill>
                                  <a:srgbClr val="1E293B"/>
                                </a:solidFill>
                                <a:latin typeface="Cambria Math" panose="02040503050406030204" pitchFamily="18" charset="0"/>
                              </a:rPr>
                              <m:t>2</m:t>
                            </m:r>
                          </m:sup>
                        </m:sSup>
                      </m:e>
                    </m:rad>
                    <m:r>
                      <a:rPr lang="vi-VN" sz="2100" b="0">
                        <a:solidFill>
                          <a:srgbClr val="1E293B"/>
                        </a:solidFill>
                        <a:latin typeface="Cambria Math" panose="02040503050406030204" pitchFamily="18" charset="0"/>
                      </a:rPr>
                      <m:t>=2</m:t>
                    </m:r>
                    <m:rad>
                      <m:radPr>
                        <m:degHide m:val="on"/>
                        <m:ctrlPr>
                          <a:rPr lang="vi-VN" sz="2100" b="0" i="1">
                            <a:solidFill>
                              <a:srgbClr val="1E293B"/>
                            </a:solidFill>
                            <a:latin typeface="Cambria Math" panose="02040503050406030204" pitchFamily="18" charset="0"/>
                          </a:rPr>
                        </m:ctrlPr>
                      </m:radPr>
                      <m:deg/>
                      <m:e>
                        <m:r>
                          <a:rPr lang="vi-VN" sz="2100" b="0">
                            <a:solidFill>
                              <a:srgbClr val="1E293B"/>
                            </a:solidFill>
                            <a:latin typeface="Cambria Math" panose="02040503050406030204" pitchFamily="18" charset="0"/>
                          </a:rPr>
                          <m:t>5</m:t>
                        </m:r>
                      </m:e>
                    </m:rad>
                  </m:oMath>
                </a14:m>
                <a:r>
                  <a:rPr sz="2100">
                    <a:solidFill>
                      <a:srgbClr val="1E293B"/>
                    </a:solidFill>
                    <a:latin typeface="Calibri"/>
                  </a:rPr>
                  <a:t>: bằng nhau.</a:t>
                </a:r>
              </a:p>
            </p:txBody>
          </p:sp>
        </mc:Choice>
        <mc:Fallback xmlns="">
          <p:sp>
            <p:nvSpPr>
              <p:cNvPr id="9" name="TextBox 8"/>
              <p:cNvSpPr txBox="1"/>
              <p:nvPr/>
            </p:nvSpPr>
            <p:spPr>
              <a:xfrm>
                <a:off x="713232" y="2953512"/>
                <a:ext cx="82661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\overrightarrow{AB}</a:t>
                </a:r>
                <a:r>
                  <a:rPr sz="2100">
                    <a:solidFill>
                      <a:srgbClr val="1E293B"/>
                    </a:solidFill>
                    <a:latin typeface="Calibri"/>
                  </a:rPr>
                  <a:t> = </a:t>
                </a:r>
                <a:r>
                  <a:rPr lang="vi-VN"/>
                  <a:t>(2;\ 4)</a:t>
                </a:r>
                <a:r>
                  <a:rPr sz="2100">
                    <a:solidFill>
                      <a:srgbClr val="1E293B"/>
                    </a:solidFill>
                    <a:latin typeface="Calibri"/>
                  </a:rPr>
                  <a:t>, </a:t>
                </a:r>
                <a:r>
                  <a:rPr lang="vi-VN"/>
                  <a:t>\overrightarrow{BC}</a:t>
                </a:r>
                <a:r>
                  <a:rPr sz="2100">
                    <a:solidFill>
                      <a:srgbClr val="1E293B"/>
                    </a:solidFill>
                    <a:latin typeface="Calibri"/>
                  </a:rPr>
                  <a:t> = </a:t>
                </a:r>
                <a:r>
                  <a:rPr lang="vi-VN"/>
                  <a:t>(4;\ 2)</a:t>
                </a:r>
                <a:r>
                  <a:rPr sz="2100">
                    <a:solidFill>
                      <a:srgbClr val="1E293B"/>
                    </a:solidFill>
                    <a:latin typeface="Calibri"/>
                  </a:rPr>
                  <a:t>; </a:t>
                </a:r>
                <a:r>
                  <a:rPr lang="vi-VN"/>
                  <a:t>AB=\sqrt{2^2+4^2}=2\sqrt{5}</a:t>
                </a:r>
                <a:r>
                  <a:rPr sz="2100">
                    <a:solidFill>
                      <a:srgbClr val="1E293B"/>
                    </a:solidFill>
                    <a:latin typeface="Calibri"/>
                  </a:rPr>
                  <a:t>, </a:t>
                </a:r>
                <a:r>
                  <a:rPr lang="vi-VN"/>
                  <a:t>BC=\sqrt{4^2+2^2}=2\sqrt{5}</a:t>
                </a:r>
                <a:r>
                  <a:rPr sz="2100">
                    <a:solidFill>
                      <a:srgbClr val="1E293B"/>
                    </a:solidFill>
                    <a:latin typeface="Calibri"/>
                  </a:rPr>
                  <a:t>: bằng nhau.</a:t>
                </a:r>
              </a:p>
            </p:txBody>
          </p:sp>
        </mc:Fallback>
      </mc:AlternateContent>
      <p:sp>
        <p:nvSpPr>
          <p:cNvPr id="10" name="s2_nen"/>
          <p:cNvSpPr/>
          <p:nvPr/>
        </p:nvSpPr>
        <p:spPr>
          <a:xfrm>
            <a:off x="548640" y="3913632"/>
            <a:ext cx="859536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950208"/>
                <a:ext cx="8266176" cy="1120140"/>
              </a:xfrm>
              <a:prstGeom prst="rect">
                <a:avLst/>
              </a:prstGeom>
              <a:noFill/>
            </p:spPr>
            <p:txBody>
              <a:bodyPr wrap="square" lIns="45720" rIns="45720" anchor="ctr">
                <a:spAutoFit/>
              </a:bodyPr>
              <a:lstStyle/>
              <a:p>
                <a:pPr algn="l">
                  <a:spcAft>
                    <a:spcPts val="800"/>
                  </a:spcAft>
                </a:pPr>
                <a:r>
                  <a:rPr sz="2100">
                    <a:solidFill>
                      <a:srgbClr val="1E293B"/>
                    </a:solidFill>
                    <a:latin typeface="Calibri"/>
                  </a:rPr>
                  <a:t>b)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𝐴𝐵</m:t>
                        </m:r>
                      </m:e>
                    </m:acc>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𝐵𝐶</m:t>
                        </m:r>
                      </m:e>
                    </m:acc>
                  </m:oMath>
                </a14:m>
                <a:r>
                  <a:rPr sz="2100">
                    <a:solidFill>
                      <a:srgbClr val="1E293B"/>
                    </a:solidFill>
                    <a:latin typeface="Calibri"/>
                  </a:rPr>
                  <a:t> không cùng phương (</a:t>
                </a:r>
                <a14:m>
                  <m:oMath xmlns:m="http://schemas.openxmlformats.org/officeDocument/2006/math">
                    <m:f>
                      <m:fPr>
                        <m:ctrlPr>
                          <a:rPr lang="vi-VN" sz="2100" b="0">
                            <a:solidFill>
                              <a:srgbClr val="1E293B"/>
                            </a:solidFill>
                            <a:latin typeface="Cambria Math" panose="02040503050406030204" pitchFamily="18" charset="0"/>
                          </a:rPr>
                        </m:ctrlPr>
                      </m:fPr>
                      <m:num>
                        <m:r>
                          <a:rPr lang="vi-VN" sz="2100" b="0">
                            <a:solidFill>
                              <a:srgbClr val="1E293B"/>
                            </a:solidFill>
                            <a:latin typeface="Cambria Math" panose="02040503050406030204" pitchFamily="18" charset="0"/>
                          </a:rPr>
                          <m:t>2</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m:t>
                    </m:r>
                    <m:f>
                      <m:fPr>
                        <m:ctrlPr>
                          <a:rPr lang="vi-VN" sz="2100" b="0">
                            <a:solidFill>
                              <a:srgbClr val="1E293B"/>
                            </a:solidFill>
                            <a:latin typeface="Cambria Math" panose="02040503050406030204" pitchFamily="18" charset="0"/>
                          </a:rPr>
                        </m:ctrlPr>
                      </m:fPr>
                      <m:num>
                        <m:r>
                          <a:rPr lang="vi-VN" sz="2100" b="0">
                            <a:solidFill>
                              <a:srgbClr val="1E293B"/>
                            </a:solidFill>
                            <a:latin typeface="Cambria Math" panose="02040503050406030204" pitchFamily="18" charset="0"/>
                          </a:rPr>
                          <m:t>4</m:t>
                        </m:r>
                      </m:num>
                      <m:den>
                        <m:r>
                          <a:rPr lang="vi-VN" sz="2100" b="0">
                            <a:solidFill>
                              <a:srgbClr val="1E293B"/>
                            </a:solidFill>
                            <a:latin typeface="Cambria Math" panose="02040503050406030204" pitchFamily="18" charset="0"/>
                          </a:rPr>
                          <m:t>2</m:t>
                        </m:r>
                      </m:den>
                    </m:f>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𝐴</m:t>
                    </m:r>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𝐵</m:t>
                    </m:r>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𝐶</m:t>
                    </m:r>
                  </m:oMath>
                </a14:m>
                <a:r>
                  <a:rPr sz="2100">
                    <a:solidFill>
                      <a:srgbClr val="1E293B"/>
                    </a:solidFill>
                    <a:latin typeface="Calibri"/>
                  </a:rPr>
                  <a:t> không thẳng hàng.</a:t>
                </a:r>
              </a:p>
            </p:txBody>
          </p:sp>
        </mc:Choice>
        <mc:Fallback xmlns="">
          <p:sp>
            <p:nvSpPr>
              <p:cNvPr id="11" name="TextBox 10"/>
              <p:cNvSpPr txBox="1"/>
              <p:nvPr/>
            </p:nvSpPr>
            <p:spPr>
              <a:xfrm>
                <a:off x="713232" y="3950208"/>
                <a:ext cx="826617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r>
                  <a:rPr lang="vi-VN"/>
                  <a:t>\overrightarrow{AB}</a:t>
                </a:r>
                <a:r>
                  <a:rPr sz="2100">
                    <a:solidFill>
                      <a:srgbClr val="1E293B"/>
                    </a:solidFill>
                    <a:latin typeface="Calibri"/>
                  </a:rPr>
                  <a:t>, </a:t>
                </a:r>
                <a:r>
                  <a:rPr lang="vi-VN"/>
                  <a:t>\overrightarrow{BC}</a:t>
                </a:r>
                <a:r>
                  <a:rPr sz="2100">
                    <a:solidFill>
                      <a:srgbClr val="1E293B"/>
                    </a:solidFill>
                    <a:latin typeface="Calibri"/>
                  </a:rPr>
                  <a:t> không cùng phương (</a:t>
                </a:r>
                <a:r>
                  <a:rPr lang="vi-VN"/>
                  <a:t>\frac{2}{4}\ne\frac{4}{2}</a:t>
                </a:r>
                <a:r>
                  <a:rPr sz="2100">
                    <a:solidFill>
                      <a:srgbClr val="1E293B"/>
                    </a:solidFill>
                    <a:latin typeface="Calibri"/>
                  </a:rPr>
                  <a:t>) nên </a:t>
                </a:r>
                <a:r>
                  <a:rPr lang="vi-VN"/>
                  <a:t>A,\ B,\ C</a:t>
                </a:r>
                <a:r>
                  <a:rPr sz="2100">
                    <a:solidFill>
                      <a:srgbClr val="1E293B"/>
                    </a:solidFill>
                    <a:latin typeface="Calibri"/>
                  </a:rPr>
                  <a:t> không thẳng hàng.</a:t>
                </a:r>
              </a:p>
            </p:txBody>
          </p:sp>
        </mc:Fallback>
      </mc:AlternateContent>
      <p:sp>
        <p:nvSpPr>
          <p:cNvPr id="12" name="s3_nen"/>
          <p:cNvSpPr/>
          <p:nvPr/>
        </p:nvSpPr>
        <p:spPr>
          <a:xfrm>
            <a:off x="548640" y="5198364"/>
            <a:ext cx="859536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s3_chu"/>
              <p:cNvSpPr txBox="1"/>
              <p:nvPr/>
            </p:nvSpPr>
            <p:spPr>
              <a:xfrm>
                <a:off x="713232" y="5234940"/>
                <a:ext cx="8266176" cy="832103"/>
              </a:xfrm>
              <a:prstGeom prst="rect">
                <a:avLst/>
              </a:prstGeom>
              <a:noFill/>
            </p:spPr>
            <p:txBody>
              <a:bodyPr wrap="square" lIns="45720" rIns="45720" anchor="ctr">
                <a:spAutoFit/>
              </a:bodyPr>
              <a:lstStyle/>
              <a:p>
                <a:pPr algn="l">
                  <a:spcAft>
                    <a:spcPts val="800"/>
                  </a:spcAft>
                </a:pPr>
                <a:r>
                  <a:rPr sz="2100">
                    <a:solidFill>
                      <a:srgbClr val="1E293B"/>
                    </a:solidFill>
                    <a:latin typeface="Calibri"/>
                  </a:rPr>
                  <a:t>c) </a:t>
                </a:r>
                <a14:m>
                  <m:oMath xmlns:m="http://schemas.openxmlformats.org/officeDocument/2006/math">
                    <m:r>
                      <a:rPr lang="vi-VN" sz="2100" b="0">
                        <a:solidFill>
                          <a:srgbClr val="1E293B"/>
                        </a:solidFill>
                        <a:latin typeface="Cambria Math" panose="02040503050406030204" pitchFamily="18" charset="0"/>
                      </a:rPr>
                      <m:t>𝐵𝐴</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𝐵𝐶</m:t>
                    </m:r>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𝐴𝐵𝐶𝐷</m:t>
                    </m:r>
                  </m:oMath>
                </a14:m>
                <a:r>
                  <a:rPr sz="2100">
                    <a:solidFill>
                      <a:srgbClr val="1E293B"/>
                    </a:solidFill>
                    <a:latin typeface="Calibri"/>
                  </a:rPr>
                  <a:t> là hình thoi ⇔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𝐴𝐷</m:t>
                        </m:r>
                      </m:e>
                    </m:acc>
                  </m:oMath>
                </a14:m>
                <a:r>
                  <a:rPr sz="2100">
                    <a:solidFill>
                      <a:srgbClr val="1E293B"/>
                    </a:solidFill>
                    <a:latin typeface="Calibri"/>
                  </a:rPr>
                  <a:t> =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𝐵𝐶</m:t>
                        </m:r>
                      </m:e>
                    </m:acc>
                  </m:oMath>
                </a14:m>
                <a:r>
                  <a:rPr sz="2100">
                    <a:solidFill>
                      <a:srgbClr val="1E293B"/>
                    </a:solidFill>
                    <a:latin typeface="Calibri"/>
                  </a:rPr>
                  <a:t> ⇔ </a:t>
                </a:r>
                <a14:m>
                  <m:oMath xmlns:m="http://schemas.openxmlformats.org/officeDocument/2006/math">
                    <m:r>
                      <a:rPr lang="vi-VN" sz="2100" b="0">
                        <a:solidFill>
                          <a:srgbClr val="1E293B"/>
                        </a:solidFill>
                        <a:latin typeface="Cambria Math" panose="02040503050406030204" pitchFamily="18" charset="0"/>
                      </a:rPr>
                      <m:t>𝑥</m:t>
                    </m:r>
                    <m:r>
                      <a:rPr lang="vi-VN" sz="2100" b="0">
                        <a:solidFill>
                          <a:srgbClr val="1E293B"/>
                        </a:solidFill>
                        <a:latin typeface="Cambria Math" panose="02040503050406030204" pitchFamily="18" charset="0"/>
                      </a:rPr>
                      <m:t>−1=4, </m:t>
                    </m:r>
                    <m:r>
                      <a:rPr lang="vi-VN" sz="2100" b="0">
                        <a:solidFill>
                          <a:srgbClr val="1E293B"/>
                        </a:solidFill>
                        <a:latin typeface="Cambria Math" panose="02040503050406030204" pitchFamily="18" charset="0"/>
                      </a:rPr>
                      <m:t>𝑦</m:t>
                    </m:r>
                    <m:r>
                      <a:rPr lang="vi-VN" sz="2100" b="0">
                        <a:solidFill>
                          <a:srgbClr val="1E293B"/>
                        </a:solidFill>
                        <a:latin typeface="Cambria Math" panose="02040503050406030204" pitchFamily="18" charset="0"/>
                      </a:rPr>
                      <m:t>+2=2</m:t>
                    </m:r>
                  </m:oMath>
                </a14:m>
                <a:r>
                  <a:rPr sz="2100">
                    <a:solidFill>
                      <a:srgbClr val="1E293B"/>
                    </a:solidFill>
                    <a:latin typeface="Calibri"/>
                  </a:rPr>
                  <a:t> ⇔ </a:t>
                </a:r>
                <a14:m>
                  <m:oMath xmlns:m="http://schemas.openxmlformats.org/officeDocument/2006/math">
                    <m:r>
                      <a:rPr lang="vi-VN" sz="2100" b="0">
                        <a:solidFill>
                          <a:srgbClr val="1E293B"/>
                        </a:solidFill>
                        <a:latin typeface="Cambria Math" panose="02040503050406030204" pitchFamily="18" charset="0"/>
                      </a:rPr>
                      <m:t>𝐷</m:t>
                    </m:r>
                    <m:r>
                      <a:rPr lang="vi-VN" sz="2100" b="0">
                        <a:solidFill>
                          <a:srgbClr val="1E293B"/>
                        </a:solidFill>
                        <a:latin typeface="Cambria Math" panose="02040503050406030204" pitchFamily="18" charset="0"/>
                      </a:rPr>
                      <m:t>(5; 0)</m:t>
                    </m:r>
                  </m:oMath>
                </a14:m>
                <a:r>
                  <a:rPr sz="2100">
                    <a:solidFill>
                      <a:srgbClr val="1E293B"/>
                    </a:solidFill>
                    <a:latin typeface="Calibri"/>
                  </a:rPr>
                  <a:t>.</a:t>
                </a:r>
              </a:p>
            </p:txBody>
          </p:sp>
        </mc:Choice>
        <mc:Fallback xmlns="">
          <p:sp>
            <p:nvSpPr>
              <p:cNvPr id="13" name="TextBox 12"/>
              <p:cNvSpPr txBox="1"/>
              <p:nvPr/>
            </p:nvSpPr>
            <p:spPr>
              <a:xfrm>
                <a:off x="713232" y="5234940"/>
                <a:ext cx="82661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 </a:t>
                </a:r>
                <a:r>
                  <a:rPr lang="vi-VN"/>
                  <a:t>BA=BC</a:t>
                </a:r>
                <a:r>
                  <a:rPr sz="2100">
                    <a:solidFill>
                      <a:srgbClr val="1E293B"/>
                    </a:solidFill>
                    <a:latin typeface="Calibri"/>
                  </a:rPr>
                  <a:t> nên </a:t>
                </a:r>
                <a:r>
                  <a:rPr lang="vi-VN"/>
                  <a:t>ABCD</a:t>
                </a:r>
                <a:r>
                  <a:rPr sz="2100">
                    <a:solidFill>
                      <a:srgbClr val="1E293B"/>
                    </a:solidFill>
                    <a:latin typeface="Calibri"/>
                  </a:rPr>
                  <a:t> là hình thoi ⇔ </a:t>
                </a:r>
                <a:r>
                  <a:rPr lang="vi-VN"/>
                  <a:t>\overrightarrow{AD}</a:t>
                </a:r>
                <a:r>
                  <a:rPr sz="2100">
                    <a:solidFill>
                      <a:srgbClr val="1E293B"/>
                    </a:solidFill>
                    <a:latin typeface="Calibri"/>
                  </a:rPr>
                  <a:t> = </a:t>
                </a:r>
                <a:r>
                  <a:rPr lang="vi-VN"/>
                  <a:t>\overrightarrow{BC}</a:t>
                </a:r>
                <a:r>
                  <a:rPr sz="2100">
                    <a:solidFill>
                      <a:srgbClr val="1E293B"/>
                    </a:solidFill>
                    <a:latin typeface="Calibri"/>
                  </a:rPr>
                  <a:t> ⇔ </a:t>
                </a:r>
                <a:r>
                  <a:rPr lang="vi-VN"/>
                  <a:t>x-1=4,\ y+2=2</a:t>
                </a:r>
                <a:r>
                  <a:rPr sz="2100">
                    <a:solidFill>
                      <a:srgbClr val="1E293B"/>
                    </a:solidFill>
                    <a:latin typeface="Calibri"/>
                  </a:rPr>
                  <a:t> ⇔ </a:t>
                </a:r>
                <a:r>
                  <a:rPr lang="vi-VN"/>
                  <a:t>D(5;\ 0)</a:t>
                </a:r>
                <a:r>
                  <a:rPr sz="2100">
                    <a:solidFill>
                      <a:srgbClr val="1E293B"/>
                    </a:solidFill>
                    <a:latin typeface="Calibri"/>
                  </a:rPr>
                  <a:t>.</a:t>
                </a:r>
              </a:p>
            </p:txBody>
          </p:sp>
        </mc:Fallback>
      </mc:AlternateContent>
      <p:pic>
        <p:nvPicPr>
          <p:cNvPr id="14" name="Picture 13" descr="h436.png"/>
          <p:cNvPicPr>
            <a:picLocks noChangeAspect="1"/>
          </p:cNvPicPr>
          <p:nvPr/>
        </p:nvPicPr>
        <p:blipFill>
          <a:blip r:embed="rId3"/>
          <a:stretch>
            <a:fillRect/>
          </a:stretch>
        </p:blipFill>
        <p:spPr>
          <a:xfrm>
            <a:off x="9326880" y="1721350"/>
            <a:ext cx="2377440" cy="1677940"/>
          </a:xfrm>
          <a:prstGeom prst="rect">
            <a:avLst/>
          </a:prstGeom>
        </p:spPr>
      </p:pic>
      <p:sp>
        <p:nvSpPr>
          <p:cNvPr id="15" name="TextBox 14"/>
          <p:cNvSpPr txBox="1"/>
          <p:nvPr/>
        </p:nvSpPr>
        <p:spPr>
          <a:xfrm>
            <a:off x="9326880" y="3675887"/>
            <a:ext cx="2377440" cy="365760"/>
          </a:xfrm>
          <a:prstGeom prst="rect">
            <a:avLst/>
          </a:prstGeom>
          <a:noFill/>
        </p:spPr>
        <p:txBody>
          <a:bodyPr wrap="square" lIns="45720" rIns="45720" anchor="t">
            <a:spAutoFit/>
          </a:bodyPr>
          <a:lstStyle/>
          <a:p>
            <a:pPr algn="ctr">
              <a:spcAft>
                <a:spcPts val="800"/>
              </a:spcAft>
            </a:pPr>
            <a:r>
              <a:rPr sz="1600">
                <a:solidFill>
                  <a:srgbClr val="64748B"/>
                </a:solidFill>
                <a:latin typeface="Calibri"/>
              </a:rPr>
              <a:t>Hình 4.36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2 (SGK TR.63)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18</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1271016"/>
              </a:xfrm>
              <a:prstGeom prst="rect">
                <a:avLst/>
              </a:prstGeom>
              <a:noFill/>
            </p:spPr>
            <p:txBody>
              <a:bodyPr wrap="square" lIns="45720" rIns="45720" anchor="t">
                <a:spAutoFit/>
              </a:bodyPr>
              <a:lstStyle/>
              <a:p>
                <a:pPr algn="l">
                  <a:spcAft>
                    <a:spcPts val="800"/>
                  </a:spcAft>
                </a:pPr>
                <a:r>
                  <a:rPr sz="2400">
                    <a:solidFill>
                      <a:srgbClr val="1E293B"/>
                    </a:solidFill>
                    <a:latin typeface="Calibri"/>
                  </a:rPr>
                  <a:t>Trong mặt phẳng toạ độ </a:t>
                </a:r>
                <a14:m>
                  <m:oMath xmlns:m="http://schemas.openxmlformats.org/officeDocument/2006/math">
                    <m:r>
                      <a:rPr lang="vi-VN" sz="2400" b="0">
                        <a:solidFill>
                          <a:srgbClr val="1E293B"/>
                        </a:solidFill>
                        <a:latin typeface="Cambria Math" panose="02040503050406030204" pitchFamily="18" charset="0"/>
                      </a:rPr>
                      <m:t>𝑂𝑥𝑦</m:t>
                    </m:r>
                  </m:oMath>
                </a14:m>
                <a:r>
                  <a:rPr sz="2400">
                    <a:solidFill>
                      <a:srgbClr val="1E293B"/>
                    </a:solidFill>
                    <a:latin typeface="Calibri"/>
                  </a:rPr>
                  <a:t>, cho hai điểm </a:t>
                </a:r>
                <a14:m>
                  <m:oMath xmlns:m="http://schemas.openxmlformats.org/officeDocument/2006/math">
                    <m:r>
                      <a:rPr lang="vi-VN" sz="2400" b="0">
                        <a:solidFill>
                          <a:srgbClr val="1E293B"/>
                        </a:solidFill>
                        <a:latin typeface="Cambria Math" panose="02040503050406030204" pitchFamily="18" charset="0"/>
                      </a:rPr>
                      <m:t>𝐴</m:t>
                    </m:r>
                    <m:r>
                      <a:rPr lang="vi-VN" sz="2400" b="0">
                        <a:solidFill>
                          <a:srgbClr val="1E293B"/>
                        </a:solidFill>
                        <a:latin typeface="Cambria Math" panose="02040503050406030204" pitchFamily="18" charset="0"/>
                      </a:rPr>
                      <m:t>(2; 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𝐵</m:t>
                    </m:r>
                    <m:r>
                      <a:rPr lang="vi-VN" sz="2400" b="0">
                        <a:solidFill>
                          <a:srgbClr val="1E293B"/>
                        </a:solidFill>
                        <a:latin typeface="Cambria Math" panose="02040503050406030204" pitchFamily="18" charset="0"/>
                      </a:rPr>
                      <m:t>(3; 3)</m:t>
                    </m:r>
                  </m:oMath>
                </a14:m>
                <a:r>
                  <a:rPr sz="2400">
                    <a:solidFill>
                      <a:srgbClr val="1E293B"/>
                    </a:solidFill>
                    <a:latin typeface="Calibri"/>
                  </a:rPr>
                  <a:t>. a) Các điểm </a:t>
                </a:r>
                <a14:m>
                  <m:oMath xmlns:m="http://schemas.openxmlformats.org/officeDocument/2006/math">
                    <m:r>
                      <a:rPr lang="vi-VN" sz="2400" b="0">
                        <a:solidFill>
                          <a:srgbClr val="1E293B"/>
                        </a:solidFill>
                        <a:latin typeface="Cambria Math" panose="02040503050406030204" pitchFamily="18" charset="0"/>
                      </a:rPr>
                      <m:t>𝑂</m:t>
                    </m:r>
                    <m: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𝐴</m:t>
                    </m:r>
                    <m: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𝐵</m:t>
                    </m:r>
                  </m:oMath>
                </a14:m>
                <a:r>
                  <a:rPr sz="2400">
                    <a:solidFill>
                      <a:srgbClr val="1E293B"/>
                    </a:solidFill>
                    <a:latin typeface="Calibri"/>
                  </a:rPr>
                  <a:t> có thẳng hàng hay không? b) Tìm điểm </a:t>
                </a:r>
                <a14:m>
                  <m:oMath xmlns:m="http://schemas.openxmlformats.org/officeDocument/2006/math">
                    <m:r>
                      <a:rPr lang="vi-VN" sz="2400" b="0">
                        <a:solidFill>
                          <a:srgbClr val="1E293B"/>
                        </a:solidFill>
                        <a:latin typeface="Cambria Math" panose="02040503050406030204" pitchFamily="18" charset="0"/>
                      </a:rPr>
                      <m:t>𝑀</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𝑥</m:t>
                    </m:r>
                    <m: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𝑦</m:t>
                    </m:r>
                    <m:r>
                      <a:rPr lang="vi-VN" sz="2400" b="0">
                        <a:solidFill>
                          <a:srgbClr val="1E293B"/>
                        </a:solidFill>
                        <a:latin typeface="Cambria Math" panose="02040503050406030204" pitchFamily="18" charset="0"/>
                      </a:rPr>
                      <m:t>)</m:t>
                    </m:r>
                  </m:oMath>
                </a14:m>
                <a:r>
                  <a:rPr sz="2400">
                    <a:solidFill>
                      <a:srgbClr val="1E293B"/>
                    </a:solidFill>
                    <a:latin typeface="Calibri"/>
                  </a:rPr>
                  <a:t> để </a:t>
                </a:r>
                <a14:m>
                  <m:oMath xmlns:m="http://schemas.openxmlformats.org/officeDocument/2006/math">
                    <m:r>
                      <a:rPr lang="vi-VN" sz="2400" b="0">
                        <a:solidFill>
                          <a:srgbClr val="1E293B"/>
                        </a:solidFill>
                        <a:latin typeface="Cambria Math" panose="02040503050406030204" pitchFamily="18" charset="0"/>
                      </a:rPr>
                      <m:t>𝑂𝐴𝐵𝑀</m:t>
                    </m:r>
                  </m:oMath>
                </a14:m>
                <a:r>
                  <a:rPr sz="2400">
                    <a:solidFill>
                      <a:srgbClr val="1E293B"/>
                    </a:solidFill>
                    <a:latin typeface="Calibri"/>
                  </a:rPr>
                  <a:t> là một hình bình hành.</a:t>
                </a:r>
              </a:p>
            </p:txBody>
          </p:sp>
        </mc:Choice>
        <mc:Fallback xmlns="">
          <p:sp>
            <p:nvSpPr>
              <p:cNvPr id="7" name="TextBox 6"/>
              <p:cNvSpPr txBox="1"/>
              <p:nvPr/>
            </p:nvSpPr>
            <p:spPr>
              <a:xfrm>
                <a:off x="548640" y="1371600"/>
                <a:ext cx="11064240" cy="1271016"/>
              </a:xfrm>
              <a:prstGeom prst="rect">
                <a:avLst/>
              </a:prstGeom>
              <a:noFill/>
            </p:spPr>
            <p:txBody>
              <a:bodyPr wrap="square" anchor="t" lIns="45720" rIns="45720">
                <a:spAutoFit/>
              </a:bodyPr>
              <a:lstStyle/>
              <a:p>
                <a:pPr algn="l">
                  <a:spcAft>
                    <a:spcPts val="800"/>
                  </a:spcAft>
                </a:pPr>
                <a:r>
                  <a:rPr sz="2400">
                    <a:solidFill>
                      <a:srgbClr val="1E293B"/>
                    </a:solidFill>
                    <a:latin typeface="Calibri"/>
                  </a:rPr>
                  <a:t>Trong mặt phẳng toạ độ </a:t>
                </a:r>
                <a:r>
                  <a:rPr lang="vi-VN"/>
                  <a:t>Oxy</a:t>
                </a:r>
                <a:r>
                  <a:rPr sz="2400">
                    <a:solidFill>
                      <a:srgbClr val="1E293B"/>
                    </a:solidFill>
                    <a:latin typeface="Calibri"/>
                  </a:rPr>
                  <a:t>, cho hai điểm </a:t>
                </a:r>
                <a:r>
                  <a:rPr lang="vi-VN"/>
                  <a:t>A(2;\ 1)</a:t>
                </a:r>
                <a:r>
                  <a:rPr sz="2400">
                    <a:solidFill>
                      <a:srgbClr val="1E293B"/>
                    </a:solidFill>
                    <a:latin typeface="Calibri"/>
                  </a:rPr>
                  <a:t>, </a:t>
                </a:r>
                <a:r>
                  <a:rPr lang="vi-VN"/>
                  <a:t>B(3;\ 3)</a:t>
                </a:r>
                <a:r>
                  <a:rPr sz="2400">
                    <a:solidFill>
                      <a:srgbClr val="1E293B"/>
                    </a:solidFill>
                    <a:latin typeface="Calibri"/>
                  </a:rPr>
                  <a:t>. a) Các điểm </a:t>
                </a:r>
                <a:r>
                  <a:rPr lang="vi-VN"/>
                  <a:t>O,\ A,\ B</a:t>
                </a:r>
                <a:r>
                  <a:rPr sz="2400">
                    <a:solidFill>
                      <a:srgbClr val="1E293B"/>
                    </a:solidFill>
                    <a:latin typeface="Calibri"/>
                  </a:rPr>
                  <a:t> có thẳng hàng hay không? b) Tìm điểm </a:t>
                </a:r>
                <a:r>
                  <a:rPr lang="vi-VN"/>
                  <a:t>M(x;\ y)</a:t>
                </a:r>
                <a:r>
                  <a:rPr sz="2400">
                    <a:solidFill>
                      <a:srgbClr val="1E293B"/>
                    </a:solidFill>
                    <a:latin typeface="Calibri"/>
                  </a:rPr>
                  <a:t> để </a:t>
                </a:r>
                <a:r>
                  <a:rPr lang="vi-VN"/>
                  <a:t>OABM</a:t>
                </a:r>
                <a:r>
                  <a:rPr sz="2400">
                    <a:solidFill>
                      <a:srgbClr val="1E293B"/>
                    </a:solidFill>
                    <a:latin typeface="Calibri"/>
                  </a:rPr>
                  <a:t> là một hình bình hành.</a:t>
                </a:r>
              </a:p>
            </p:txBody>
          </p:sp>
        </mc:Fallback>
      </mc:AlternateContent>
      <p:sp>
        <p:nvSpPr>
          <p:cNvPr id="8" name="s1_nen"/>
          <p:cNvSpPr/>
          <p:nvPr/>
        </p:nvSpPr>
        <p:spPr>
          <a:xfrm>
            <a:off x="548640" y="2779776"/>
            <a:ext cx="11064240" cy="132588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816352"/>
                <a:ext cx="10735056" cy="1252728"/>
              </a:xfrm>
              <a:prstGeom prst="rect">
                <a:avLst/>
              </a:prstGeom>
              <a:noFill/>
            </p:spPr>
            <p:txBody>
              <a:bodyPr wrap="square" lIns="45720" rIns="45720" anchor="ctr">
                <a:spAutoFit/>
              </a:bodyPr>
              <a:lstStyle/>
              <a:p>
                <a:pPr algn="l">
                  <a:spcAft>
                    <a:spcPts val="800"/>
                  </a:spcAft>
                </a:pPr>
                <a:r>
                  <a:rPr sz="2400">
                    <a:solidFill>
                      <a:srgbClr val="1E293B"/>
                    </a:solidFill>
                    <a:latin typeface="Calibri"/>
                  </a:rPr>
                  <a:t>a)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𝑂𝐴</m:t>
                        </m:r>
                      </m:e>
                    </m:acc>
                  </m:oMath>
                </a14:m>
                <a:r>
                  <a:rPr sz="2400">
                    <a:solidFill>
                      <a:srgbClr val="1E293B"/>
                    </a:solidFill>
                    <a:latin typeface="Calibri"/>
                  </a:rPr>
                  <a:t> =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2; 1</m:t>
                        </m:r>
                      </m:e>
                    </m:d>
                  </m:oMath>
                </a14:m>
                <a:r>
                  <a:rPr sz="2400">
                    <a:solidFill>
                      <a:srgbClr val="1E293B"/>
                    </a:solidFill>
                    <a:latin typeface="Calibri"/>
                  </a:rPr>
                  <a:t>,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𝑂𝐵</m:t>
                        </m:r>
                      </m:e>
                    </m:acc>
                  </m:oMath>
                </a14:m>
                <a:r>
                  <a:rPr sz="2400">
                    <a:solidFill>
                      <a:srgbClr val="1E293B"/>
                    </a:solidFill>
                    <a:latin typeface="Calibri"/>
                  </a:rPr>
                  <a:t> =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3; 3</m:t>
                        </m:r>
                      </m:e>
                    </m:d>
                  </m:oMath>
                </a14:m>
                <a:r>
                  <a:rPr sz="2400">
                    <a:solidFill>
                      <a:srgbClr val="1E293B"/>
                    </a:solidFill>
                    <a:latin typeface="Calibri"/>
                  </a:rPr>
                  <a:t> không cùng phương (</a:t>
                </a:r>
                <a14:m>
                  <m:oMath xmlns:m="http://schemas.openxmlformats.org/officeDocument/2006/math">
                    <m:f>
                      <m:fPr>
                        <m:ctrlPr>
                          <a:rPr lang="vi-VN" sz="2400" b="0">
                            <a:solidFill>
                              <a:srgbClr val="1E293B"/>
                            </a:solidFill>
                            <a:latin typeface="Cambria Math" panose="02040503050406030204" pitchFamily="18" charset="0"/>
                          </a:rPr>
                        </m:ctrlPr>
                      </m:fPr>
                      <m:num>
                        <m:r>
                          <a:rPr lang="vi-VN" sz="2400" b="0">
                            <a:solidFill>
                              <a:srgbClr val="1E293B"/>
                            </a:solidFill>
                            <a:latin typeface="Cambria Math" panose="02040503050406030204" pitchFamily="18" charset="0"/>
                          </a:rPr>
                          <m:t>3</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m:t>
                    </m:r>
                    <m:f>
                      <m:fPr>
                        <m:ctrlPr>
                          <a:rPr lang="vi-VN" sz="2400" b="0">
                            <a:solidFill>
                              <a:srgbClr val="1E293B"/>
                            </a:solidFill>
                            <a:latin typeface="Cambria Math" panose="02040503050406030204" pitchFamily="18" charset="0"/>
                          </a:rPr>
                        </m:ctrlPr>
                      </m:fPr>
                      <m:num>
                        <m:r>
                          <a:rPr lang="vi-VN" sz="2400" b="0">
                            <a:solidFill>
                              <a:srgbClr val="1E293B"/>
                            </a:solidFill>
                            <a:latin typeface="Cambria Math" panose="02040503050406030204" pitchFamily="18" charset="0"/>
                          </a:rPr>
                          <m:t>3</m:t>
                        </m:r>
                      </m:num>
                      <m:den>
                        <m:r>
                          <a:rPr lang="vi-VN" sz="2400" b="0">
                            <a:solidFill>
                              <a:srgbClr val="1E293B"/>
                            </a:solidFill>
                            <a:latin typeface="Cambria Math" panose="02040503050406030204" pitchFamily="18" charset="0"/>
                          </a:rPr>
                          <m:t>1</m:t>
                        </m:r>
                      </m:den>
                    </m:f>
                  </m:oMath>
                </a14:m>
                <a:r>
                  <a:rPr sz="2400">
                    <a:solidFill>
                      <a:srgbClr val="1E293B"/>
                    </a:solidFill>
                    <a:latin typeface="Calibri"/>
                  </a:rPr>
                  <a:t>) nên </a:t>
                </a:r>
                <a14:m>
                  <m:oMath xmlns:m="http://schemas.openxmlformats.org/officeDocument/2006/math">
                    <m:r>
                      <a:rPr lang="vi-VN" sz="2400" b="0">
                        <a:solidFill>
                          <a:srgbClr val="1E293B"/>
                        </a:solidFill>
                        <a:latin typeface="Cambria Math" panose="02040503050406030204" pitchFamily="18" charset="0"/>
                      </a:rPr>
                      <m:t>𝑂</m:t>
                    </m:r>
                    <m: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𝐴</m:t>
                    </m:r>
                    <m: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𝐵</m:t>
                    </m:r>
                  </m:oMath>
                </a14:m>
                <a:r>
                  <a:rPr sz="2400">
                    <a:solidFill>
                      <a:srgbClr val="1E293B"/>
                    </a:solidFill>
                    <a:latin typeface="Calibri"/>
                  </a:rPr>
                  <a:t> không thẳng hàng.</a:t>
                </a:r>
              </a:p>
            </p:txBody>
          </p:sp>
        </mc:Choice>
        <mc:Fallback xmlns="">
          <p:sp>
            <p:nvSpPr>
              <p:cNvPr id="9" name="TextBox 8"/>
              <p:cNvSpPr txBox="1"/>
              <p:nvPr/>
            </p:nvSpPr>
            <p:spPr>
              <a:xfrm>
                <a:off x="713232" y="2816352"/>
                <a:ext cx="10735056" cy="1252728"/>
              </a:xfrm>
              <a:prstGeom prst="rect">
                <a:avLst/>
              </a:prstGeom>
              <a:noFill/>
            </p:spPr>
            <p:txBody>
              <a:bodyPr wrap="square" anchor="ctr" lIns="45720" rIns="45720">
                <a:spAutoFit/>
              </a:bodyPr>
              <a:lstStyle/>
              <a:p>
                <a:pPr algn="l">
                  <a:spcAft>
                    <a:spcPts val="800"/>
                  </a:spcAft>
                </a:pPr>
                <a:r>
                  <a:rPr sz="2400">
                    <a:solidFill>
                      <a:srgbClr val="1E293B"/>
                    </a:solidFill>
                    <a:latin typeface="Calibri"/>
                  </a:rPr>
                  <a:t>a) </a:t>
                </a:r>
                <a:r>
                  <a:rPr lang="vi-VN"/>
                  <a:t>\overrightarrow{OA}</a:t>
                </a:r>
                <a:r>
                  <a:rPr sz="2400">
                    <a:solidFill>
                      <a:srgbClr val="1E293B"/>
                    </a:solidFill>
                    <a:latin typeface="Calibri"/>
                  </a:rPr>
                  <a:t> = </a:t>
                </a:r>
                <a:r>
                  <a:rPr lang="vi-VN"/>
                  <a:t>(2;\ 1)</a:t>
                </a:r>
                <a:r>
                  <a:rPr sz="2400">
                    <a:solidFill>
                      <a:srgbClr val="1E293B"/>
                    </a:solidFill>
                    <a:latin typeface="Calibri"/>
                  </a:rPr>
                  <a:t>, </a:t>
                </a:r>
                <a:r>
                  <a:rPr lang="vi-VN"/>
                  <a:t>\overrightarrow{OB}</a:t>
                </a:r>
                <a:r>
                  <a:rPr sz="2400">
                    <a:solidFill>
                      <a:srgbClr val="1E293B"/>
                    </a:solidFill>
                    <a:latin typeface="Calibri"/>
                  </a:rPr>
                  <a:t> = </a:t>
                </a:r>
                <a:r>
                  <a:rPr lang="vi-VN"/>
                  <a:t>(3;\ 3)</a:t>
                </a:r>
                <a:r>
                  <a:rPr sz="2400">
                    <a:solidFill>
                      <a:srgbClr val="1E293B"/>
                    </a:solidFill>
                    <a:latin typeface="Calibri"/>
                  </a:rPr>
                  <a:t> không cùng phương (</a:t>
                </a:r>
                <a:r>
                  <a:rPr lang="vi-VN"/>
                  <a:t>\frac{3}{2}\ne\frac{3}{1}</a:t>
                </a:r>
                <a:r>
                  <a:rPr sz="2400">
                    <a:solidFill>
                      <a:srgbClr val="1E293B"/>
                    </a:solidFill>
                    <a:latin typeface="Calibri"/>
                  </a:rPr>
                  <a:t>) nên </a:t>
                </a:r>
                <a:r>
                  <a:rPr lang="vi-VN"/>
                  <a:t>O,\ A,\ B</a:t>
                </a:r>
                <a:r>
                  <a:rPr sz="2400">
                    <a:solidFill>
                      <a:srgbClr val="1E293B"/>
                    </a:solidFill>
                    <a:latin typeface="Calibri"/>
                  </a:rPr>
                  <a:t> không thẳng hàng.</a:t>
                </a:r>
              </a:p>
            </p:txBody>
          </p:sp>
        </mc:Fallback>
      </mc:AlternateContent>
      <p:sp>
        <p:nvSpPr>
          <p:cNvPr id="10" name="s2_nen"/>
          <p:cNvSpPr/>
          <p:nvPr/>
        </p:nvSpPr>
        <p:spPr>
          <a:xfrm>
            <a:off x="548640" y="4242816"/>
            <a:ext cx="11064240" cy="996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4279392"/>
                <a:ext cx="10735056" cy="923543"/>
              </a:xfrm>
              <a:prstGeom prst="rect">
                <a:avLst/>
              </a:prstGeom>
              <a:noFill/>
            </p:spPr>
            <p:txBody>
              <a:bodyPr wrap="square" lIns="45720" rIns="45720" anchor="ctr">
                <a:spAutoFit/>
              </a:bodyPr>
              <a:lstStyle/>
              <a:p>
                <a:pPr algn="l">
                  <a:spcAft>
                    <a:spcPts val="800"/>
                  </a:spcAft>
                </a:pPr>
                <a:r>
                  <a:rPr sz="2400">
                    <a:solidFill>
                      <a:srgbClr val="1E293B"/>
                    </a:solidFill>
                    <a:latin typeface="Calibri"/>
                  </a:rPr>
                  <a:t>b) </a:t>
                </a:r>
                <a14:m>
                  <m:oMath xmlns:m="http://schemas.openxmlformats.org/officeDocument/2006/math">
                    <m:r>
                      <a:rPr lang="vi-VN" sz="2400" b="0">
                        <a:solidFill>
                          <a:srgbClr val="1E293B"/>
                        </a:solidFill>
                        <a:latin typeface="Cambria Math" panose="02040503050406030204" pitchFamily="18" charset="0"/>
                      </a:rPr>
                      <m:t>𝑂𝐴𝐵𝑀</m:t>
                    </m:r>
                  </m:oMath>
                </a14:m>
                <a:r>
                  <a:rPr sz="2400">
                    <a:solidFill>
                      <a:srgbClr val="1E293B"/>
                    </a:solidFill>
                    <a:latin typeface="Calibri"/>
                  </a:rPr>
                  <a:t> là hình bình hành ⇔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𝑂𝐴</m:t>
                        </m:r>
                      </m:e>
                    </m:acc>
                  </m:oMath>
                </a14:m>
                <a:r>
                  <a:rPr sz="2400">
                    <a:solidFill>
                      <a:srgbClr val="1E293B"/>
                    </a:solidFill>
                    <a:latin typeface="Calibri"/>
                  </a:rPr>
                  <a:t> =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𝑀𝐵</m:t>
                        </m:r>
                      </m:e>
                    </m:acc>
                  </m:oMath>
                </a14:m>
                <a:r>
                  <a:rPr sz="2400">
                    <a:solidFill>
                      <a:srgbClr val="1E293B"/>
                    </a:solidFill>
                    <a:latin typeface="Calibri"/>
                  </a:rPr>
                  <a:t> ⇔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2; 1)=(3−</m:t>
                        </m:r>
                        <m:r>
                          <a:rPr lang="vi-VN" sz="2400" b="0">
                            <a:solidFill>
                              <a:srgbClr val="1E293B"/>
                            </a:solidFill>
                            <a:latin typeface="Cambria Math" panose="02040503050406030204" pitchFamily="18" charset="0"/>
                          </a:rPr>
                          <m:t>𝑥</m:t>
                        </m:r>
                        <m:r>
                          <a:rPr lang="vi-VN" sz="2400" b="0">
                            <a:solidFill>
                              <a:srgbClr val="1E293B"/>
                            </a:solidFill>
                            <a:latin typeface="Cambria Math" panose="02040503050406030204" pitchFamily="18" charset="0"/>
                          </a:rPr>
                          <m:t>; 3−</m:t>
                        </m:r>
                        <m:r>
                          <a:rPr lang="vi-VN" sz="2400" b="0">
                            <a:solidFill>
                              <a:srgbClr val="1E293B"/>
                            </a:solidFill>
                            <a:latin typeface="Cambria Math" panose="02040503050406030204" pitchFamily="18" charset="0"/>
                          </a:rPr>
                          <m:t>𝑦</m:t>
                        </m:r>
                      </m:e>
                    </m:d>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𝑀</m:t>
                    </m:r>
                    <m:r>
                      <a:rPr lang="vi-VN" sz="2400" b="0">
                        <a:solidFill>
                          <a:srgbClr val="1E293B"/>
                        </a:solidFill>
                        <a:latin typeface="Cambria Math" panose="02040503050406030204" pitchFamily="18" charset="0"/>
                      </a:rPr>
                      <m:t>(1; 2)</m:t>
                    </m:r>
                  </m:oMath>
                </a14:m>
                <a:r>
                  <a:rPr sz="2400">
                    <a:solidFill>
                      <a:srgbClr val="1E293B"/>
                    </a:solidFill>
                    <a:latin typeface="Calibri"/>
                  </a:rPr>
                  <a:t>.</a:t>
                </a:r>
              </a:p>
            </p:txBody>
          </p:sp>
        </mc:Choice>
        <mc:Fallback xmlns="">
          <p:sp>
            <p:nvSpPr>
              <p:cNvPr id="11" name="TextBox 10"/>
              <p:cNvSpPr txBox="1"/>
              <p:nvPr/>
            </p:nvSpPr>
            <p:spPr>
              <a:xfrm>
                <a:off x="713232" y="4279392"/>
                <a:ext cx="10735056" cy="923543"/>
              </a:xfrm>
              <a:prstGeom prst="rect">
                <a:avLst/>
              </a:prstGeom>
              <a:noFill/>
            </p:spPr>
            <p:txBody>
              <a:bodyPr wrap="square" anchor="ctr" lIns="45720" rIns="45720">
                <a:spAutoFit/>
              </a:bodyPr>
              <a:lstStyle/>
              <a:p>
                <a:pPr algn="l">
                  <a:spcAft>
                    <a:spcPts val="800"/>
                  </a:spcAft>
                </a:pPr>
                <a:r>
                  <a:rPr sz="2400">
                    <a:solidFill>
                      <a:srgbClr val="1E293B"/>
                    </a:solidFill>
                    <a:latin typeface="Calibri"/>
                  </a:rPr>
                  <a:t>b) </a:t>
                </a:r>
                <a:r>
                  <a:rPr lang="vi-VN"/>
                  <a:t>OABM</a:t>
                </a:r>
                <a:r>
                  <a:rPr sz="2400">
                    <a:solidFill>
                      <a:srgbClr val="1E293B"/>
                    </a:solidFill>
                    <a:latin typeface="Calibri"/>
                  </a:rPr>
                  <a:t> là hình bình hành ⇔ </a:t>
                </a:r>
                <a:r>
                  <a:rPr lang="vi-VN"/>
                  <a:t>\overrightarrow{OA}</a:t>
                </a:r>
                <a:r>
                  <a:rPr sz="2400">
                    <a:solidFill>
                      <a:srgbClr val="1E293B"/>
                    </a:solidFill>
                    <a:latin typeface="Calibri"/>
                  </a:rPr>
                  <a:t> = </a:t>
                </a:r>
                <a:r>
                  <a:rPr lang="vi-VN"/>
                  <a:t>\overrightarrow{MB}</a:t>
                </a:r>
                <a:r>
                  <a:rPr sz="2400">
                    <a:solidFill>
                      <a:srgbClr val="1E293B"/>
                    </a:solidFill>
                    <a:latin typeface="Calibri"/>
                  </a:rPr>
                  <a:t> ⇔ </a:t>
                </a:r>
                <a:r>
                  <a:rPr lang="vi-VN"/>
                  <a:t>(2;\ 1)=(3-x;\ 3-y)</a:t>
                </a:r>
                <a:r>
                  <a:rPr sz="2400">
                    <a:solidFill>
                      <a:srgbClr val="1E293B"/>
                    </a:solidFill>
                    <a:latin typeface="Calibri"/>
                  </a:rPr>
                  <a:t> ⇔ </a:t>
                </a:r>
                <a:r>
                  <a:rPr lang="vi-VN"/>
                  <a:t>M(1;\ 2)</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4 (SGK TR.63 – 64)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19</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844295"/>
              </a:xfrm>
              <a:prstGeom prst="rect">
                <a:avLst/>
              </a:prstGeom>
              <a:noFill/>
            </p:spPr>
            <p:txBody>
              <a:bodyPr wrap="square" lIns="45720" rIns="45720" anchor="t">
                <a:spAutoFit/>
              </a:bodyPr>
              <a:lstStyle/>
              <a:p>
                <a:pPr algn="l">
                  <a:spcAft>
                    <a:spcPts val="800"/>
                  </a:spcAft>
                </a:pPr>
                <a:r>
                  <a:rPr sz="2200">
                    <a:solidFill>
                      <a:srgbClr val="1E293B"/>
                    </a:solidFill>
                    <a:latin typeface="Calibri"/>
                  </a:rPr>
                  <a:t>Cho ba điểm không thẳng hàng </a:t>
                </a:r>
                <a14:m>
                  <m:oMath xmlns:m="http://schemas.openxmlformats.org/officeDocument/2006/math">
                    <m:r>
                      <a:rPr lang="vi-VN" sz="2200" b="0">
                        <a:solidFill>
                          <a:srgbClr val="1E293B"/>
                        </a:solidFill>
                        <a:latin typeface="Cambria Math" panose="02040503050406030204" pitchFamily="18" charset="0"/>
                      </a:rPr>
                      <m:t>𝐴</m:t>
                    </m:r>
                    <m:r>
                      <a:rPr lang="vi-VN" sz="2200" b="0">
                        <a:solidFill>
                          <a:srgbClr val="1E293B"/>
                        </a:solidFill>
                        <a:latin typeface="Cambria Math" panose="02040503050406030204" pitchFamily="18" charset="0"/>
                      </a:rPr>
                      <m:t>(1; 3)</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𝐵</m:t>
                    </m:r>
                    <m:r>
                      <a:rPr lang="vi-VN" sz="2200" b="0">
                        <a:solidFill>
                          <a:srgbClr val="1E293B"/>
                        </a:solidFill>
                        <a:latin typeface="Cambria Math" panose="02040503050406030204" pitchFamily="18" charset="0"/>
                      </a:rPr>
                      <m:t>(−2; 6)</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𝐶</m:t>
                    </m:r>
                    <m:r>
                      <a:rPr lang="vi-VN" sz="2200" b="0">
                        <a:solidFill>
                          <a:srgbClr val="1E293B"/>
                        </a:solidFill>
                        <a:latin typeface="Cambria Math" panose="02040503050406030204" pitchFamily="18" charset="0"/>
                      </a:rPr>
                      <m:t>(5; 1)</m:t>
                    </m:r>
                  </m:oMath>
                </a14:m>
                <a:r>
                  <a:rPr sz="2200">
                    <a:solidFill>
                      <a:srgbClr val="1E293B"/>
                    </a:solidFill>
                    <a:latin typeface="Calibri"/>
                  </a:rPr>
                  <a:t>. a) Tìm toạ độ trung điểm </a:t>
                </a:r>
                <a14:m>
                  <m:oMath xmlns:m="http://schemas.openxmlformats.org/officeDocument/2006/math">
                    <m:r>
                      <a:rPr lang="vi-VN" sz="2200" b="0">
                        <a:solidFill>
                          <a:srgbClr val="1E293B"/>
                        </a:solidFill>
                        <a:latin typeface="Cambria Math" panose="02040503050406030204" pitchFamily="18" charset="0"/>
                      </a:rPr>
                      <m:t>𝐼</m:t>
                    </m:r>
                  </m:oMath>
                </a14:m>
                <a:r>
                  <a:rPr sz="2200">
                    <a:solidFill>
                      <a:srgbClr val="1E293B"/>
                    </a:solidFill>
                    <a:latin typeface="Calibri"/>
                  </a:rPr>
                  <a:t> của đoạn thẳng </a:t>
                </a:r>
                <a14:m>
                  <m:oMath xmlns:m="http://schemas.openxmlformats.org/officeDocument/2006/math">
                    <m:r>
                      <a:rPr lang="vi-VN" sz="2200" b="0">
                        <a:solidFill>
                          <a:srgbClr val="1E293B"/>
                        </a:solidFill>
                        <a:latin typeface="Cambria Math" panose="02040503050406030204" pitchFamily="18" charset="0"/>
                      </a:rPr>
                      <m:t>𝐴𝐵</m:t>
                    </m:r>
                  </m:oMath>
                </a14:m>
                <a:r>
                  <a:rPr sz="2200">
                    <a:solidFill>
                      <a:srgbClr val="1E293B"/>
                    </a:solidFill>
                    <a:latin typeface="Calibri"/>
                  </a:rPr>
                  <a:t>. b) Tìm toạ độ trọng tâm </a:t>
                </a:r>
                <a14:m>
                  <m:oMath xmlns:m="http://schemas.openxmlformats.org/officeDocument/2006/math">
                    <m:r>
                      <a:rPr lang="vi-VN" sz="2200" b="0">
                        <a:solidFill>
                          <a:srgbClr val="1E293B"/>
                        </a:solidFill>
                        <a:latin typeface="Cambria Math" panose="02040503050406030204" pitchFamily="18" charset="0"/>
                      </a:rPr>
                      <m:t>𝐺</m:t>
                    </m:r>
                  </m:oMath>
                </a14:m>
                <a:r>
                  <a:rPr sz="2200">
                    <a:solidFill>
                      <a:srgbClr val="1E293B"/>
                    </a:solidFill>
                    <a:latin typeface="Calibri"/>
                  </a:rPr>
                  <a:t> của tam giác </a:t>
                </a:r>
                <a14:m>
                  <m:oMath xmlns:m="http://schemas.openxmlformats.org/officeDocument/2006/math">
                    <m:r>
                      <a:rPr lang="vi-VN" sz="2200" b="0">
                        <a:solidFill>
                          <a:srgbClr val="1E293B"/>
                        </a:solidFill>
                        <a:latin typeface="Cambria Math" panose="02040503050406030204" pitchFamily="18" charset="0"/>
                      </a:rPr>
                      <m:t>𝐴𝐵𝐶</m:t>
                    </m:r>
                  </m:oMath>
                </a14:m>
                <a:r>
                  <a:rPr sz="2200">
                    <a:solidFill>
                      <a:srgbClr val="1E293B"/>
                    </a:solidFill>
                    <a:latin typeface="Calibri"/>
                  </a:rPr>
                  <a:t>.</a:t>
                </a:r>
              </a:p>
            </p:txBody>
          </p:sp>
        </mc:Choice>
        <mc:Fallback xmlns="">
          <p:sp>
            <p:nvSpPr>
              <p:cNvPr id="7" name="TextBox 6"/>
              <p:cNvSpPr txBox="1"/>
              <p:nvPr/>
            </p:nvSpPr>
            <p:spPr>
              <a:xfrm>
                <a:off x="548640" y="1371600"/>
                <a:ext cx="11064240" cy="844295"/>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ba điểm không thẳng hàng </a:t>
                </a:r>
                <a:r>
                  <a:rPr lang="vi-VN"/>
                  <a:t>A(1;\ 3)</a:t>
                </a:r>
                <a:r>
                  <a:rPr sz="2200">
                    <a:solidFill>
                      <a:srgbClr val="1E293B"/>
                    </a:solidFill>
                    <a:latin typeface="Calibri"/>
                  </a:rPr>
                  <a:t>, </a:t>
                </a:r>
                <a:r>
                  <a:rPr lang="vi-VN"/>
                  <a:t>B(-2;\ 6)</a:t>
                </a:r>
                <a:r>
                  <a:rPr sz="2200">
                    <a:solidFill>
                      <a:srgbClr val="1E293B"/>
                    </a:solidFill>
                    <a:latin typeface="Calibri"/>
                  </a:rPr>
                  <a:t>, </a:t>
                </a:r>
                <a:r>
                  <a:rPr lang="vi-VN"/>
                  <a:t>C(5;\ 1)</a:t>
                </a:r>
                <a:r>
                  <a:rPr sz="2200">
                    <a:solidFill>
                      <a:srgbClr val="1E293B"/>
                    </a:solidFill>
                    <a:latin typeface="Calibri"/>
                  </a:rPr>
                  <a:t>. a) Tìm toạ độ trung điểm </a:t>
                </a:r>
                <a:r>
                  <a:rPr lang="vi-VN"/>
                  <a:t>I</a:t>
                </a:r>
                <a:r>
                  <a:rPr sz="2200">
                    <a:solidFill>
                      <a:srgbClr val="1E293B"/>
                    </a:solidFill>
                    <a:latin typeface="Calibri"/>
                  </a:rPr>
                  <a:t> của đoạn thẳng </a:t>
                </a:r>
                <a:r>
                  <a:rPr lang="vi-VN"/>
                  <a:t>AB</a:t>
                </a:r>
                <a:r>
                  <a:rPr sz="2200">
                    <a:solidFill>
                      <a:srgbClr val="1E293B"/>
                    </a:solidFill>
                    <a:latin typeface="Calibri"/>
                  </a:rPr>
                  <a:t>. b) Tìm toạ độ trọng tâm </a:t>
                </a:r>
                <a:r>
                  <a:rPr lang="vi-VN"/>
                  <a:t>G</a:t>
                </a:r>
                <a:r>
                  <a:rPr sz="2200">
                    <a:solidFill>
                      <a:srgbClr val="1E293B"/>
                    </a:solidFill>
                    <a:latin typeface="Calibri"/>
                  </a:rPr>
                  <a:t> của tam giác </a:t>
                </a:r>
                <a:r>
                  <a:rPr lang="vi-VN"/>
                  <a:t>ABC</a:t>
                </a:r>
                <a:r>
                  <a:rPr sz="2200">
                    <a:solidFill>
                      <a:srgbClr val="1E293B"/>
                    </a:solidFill>
                    <a:latin typeface="Calibri"/>
                  </a:rPr>
                  <a:t>.</a:t>
                </a:r>
              </a:p>
            </p:txBody>
          </p:sp>
        </mc:Fallback>
      </mc:AlternateContent>
      <p:sp>
        <p:nvSpPr>
          <p:cNvPr id="8" name="s1_nen"/>
          <p:cNvSpPr/>
          <p:nvPr/>
        </p:nvSpPr>
        <p:spPr>
          <a:xfrm>
            <a:off x="548640" y="2325623"/>
            <a:ext cx="11064240" cy="902207"/>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362199"/>
                <a:ext cx="10735056" cy="829056"/>
              </a:xfrm>
              <a:prstGeom prst="rect">
                <a:avLst/>
              </a:prstGeom>
              <a:noFill/>
            </p:spPr>
            <p:txBody>
              <a:bodyPr wrap="square" lIns="45720" rIns="45720" anchor="ctr">
                <a:spAutoFit/>
              </a:bodyPr>
              <a:lstStyle/>
              <a:p>
                <a:pPr algn="l">
                  <a:spcAft>
                    <a:spcPts val="800"/>
                  </a:spcAft>
                </a:pPr>
                <a:r>
                  <a:rPr sz="2200">
                    <a:solidFill>
                      <a:srgbClr val="1E293B"/>
                    </a:solidFill>
                    <a:latin typeface="Calibri"/>
                  </a:rPr>
                  <a:t>a)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𝐼𝐴</m:t>
                        </m:r>
                      </m:e>
                    </m:acc>
                  </m:oMath>
                </a14:m>
                <a:r>
                  <a:rPr sz="2200">
                    <a:solidFill>
                      <a:srgbClr val="1E293B"/>
                    </a:solidFill>
                    <a:latin typeface="Calibri"/>
                  </a:rPr>
                  <a:t> +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𝐼𝐵</m:t>
                        </m:r>
                      </m:e>
                    </m:acc>
                  </m:oMath>
                </a14:m>
                <a:r>
                  <a:rPr sz="2200">
                    <a:solidFill>
                      <a:srgbClr val="1E293B"/>
                    </a:solidFill>
                    <a:latin typeface="Calibri"/>
                  </a:rPr>
                  <a:t> =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0</m:t>
                        </m:r>
                      </m:e>
                    </m:acc>
                  </m:oMath>
                </a14:m>
                <a:r>
                  <a:rPr sz="2200">
                    <a:solidFill>
                      <a:srgbClr val="1E293B"/>
                    </a:solidFill>
                    <a:latin typeface="Calibri"/>
                  </a:rPr>
                  <a:t> ⇔ </a:t>
                </a:r>
                <a14:m>
                  <m:oMath xmlns:m="http://schemas.openxmlformats.org/officeDocument/2006/math">
                    <m:d>
                      <m:dPr>
                        <m:ctrlPr>
                          <a:rPr lang="vi-VN" sz="2200" b="0">
                            <a:solidFill>
                              <a:srgbClr val="1E293B"/>
                            </a:solidFill>
                            <a:latin typeface="Cambria Math" panose="02040503050406030204" pitchFamily="18" charset="0"/>
                          </a:rPr>
                        </m:ctrlPr>
                      </m:dPr>
                      <m:e>
                        <m:r>
                          <a:rPr lang="vi-VN" sz="2200" b="0">
                            <a:solidFill>
                              <a:srgbClr val="1E293B"/>
                            </a:solidFill>
                            <a:latin typeface="Cambria Math" panose="02040503050406030204" pitchFamily="18" charset="0"/>
                          </a:rPr>
                          <m:t>−1−2</m:t>
                        </m:r>
                        <m:r>
                          <a:rPr lang="vi-VN" sz="2200" b="0">
                            <a:solidFill>
                              <a:srgbClr val="1E293B"/>
                            </a:solidFill>
                            <a:latin typeface="Cambria Math" panose="02040503050406030204" pitchFamily="18" charset="0"/>
                          </a:rPr>
                          <m:t>𝑥</m:t>
                        </m:r>
                        <m:r>
                          <a:rPr lang="vi-VN" sz="2200" b="0">
                            <a:solidFill>
                              <a:srgbClr val="1E293B"/>
                            </a:solidFill>
                            <a:latin typeface="Cambria Math" panose="02040503050406030204" pitchFamily="18" charset="0"/>
                          </a:rPr>
                          <m:t>; 9−2</m:t>
                        </m:r>
                        <m:r>
                          <a:rPr lang="vi-VN" sz="2200" b="0">
                            <a:solidFill>
                              <a:srgbClr val="1E293B"/>
                            </a:solidFill>
                            <a:latin typeface="Cambria Math" panose="02040503050406030204" pitchFamily="18" charset="0"/>
                          </a:rPr>
                          <m:t>𝑦</m:t>
                        </m:r>
                        <m:r>
                          <a:rPr lang="vi-VN" sz="2200" b="0">
                            <a:solidFill>
                              <a:srgbClr val="1E293B"/>
                            </a:solidFill>
                            <a:latin typeface="Cambria Math" panose="02040503050406030204" pitchFamily="18" charset="0"/>
                          </a:rPr>
                          <m:t>)=(0; 0</m:t>
                        </m:r>
                      </m:e>
                    </m:d>
                  </m:oMath>
                </a14:m>
                <a:r>
                  <a:rPr sz="2200">
                    <a:solidFill>
                      <a:srgbClr val="1E293B"/>
                    </a:solidFill>
                    <a:latin typeface="Calibri"/>
                  </a:rPr>
                  <a:t> ⇔ </a:t>
                </a:r>
                <a14:m>
                  <m:oMath xmlns:m="http://schemas.openxmlformats.org/officeDocument/2006/math">
                    <m:r>
                      <a:rPr lang="vi-VN" sz="2200" b="0">
                        <a:solidFill>
                          <a:srgbClr val="1E293B"/>
                        </a:solidFill>
                        <a:latin typeface="Cambria Math" panose="02040503050406030204" pitchFamily="18" charset="0"/>
                      </a:rPr>
                      <m:t>𝐼</m:t>
                    </m:r>
                    <m:d>
                      <m:dPr>
                        <m:ctrlPr>
                          <a:rPr lang="vi-VN" sz="2200" b="0">
                            <a:solidFill>
                              <a:srgbClr val="1E293B"/>
                            </a:solidFill>
                            <a:latin typeface="Cambria Math" panose="02040503050406030204" pitchFamily="18" charset="0"/>
                          </a:rPr>
                        </m:ctrlPr>
                      </m:dPr>
                      <m:e>
                        <m:r>
                          <a:rPr lang="vi-VN" sz="2200" b="0">
                            <a:solidFill>
                              <a:srgbClr val="1E293B"/>
                            </a:solidFill>
                            <a:latin typeface="Cambria Math" panose="02040503050406030204" pitchFamily="18" charset="0"/>
                          </a:rPr>
                          <m:t>−</m:t>
                        </m:r>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 </m:t>
                        </m:r>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9</m:t>
                            </m:r>
                          </m:num>
                          <m:den>
                            <m:r>
                              <a:rPr lang="vi-VN" sz="2200" b="0">
                                <a:solidFill>
                                  <a:srgbClr val="1E293B"/>
                                </a:solidFill>
                                <a:latin typeface="Cambria Math" panose="02040503050406030204" pitchFamily="18" charset="0"/>
                              </a:rPr>
                              <m:t>2</m:t>
                            </m:r>
                          </m:den>
                        </m:f>
                      </m:e>
                    </m:d>
                  </m:oMath>
                </a14:m>
                <a:r>
                  <a:rPr sz="2200">
                    <a:solidFill>
                      <a:srgbClr val="1E293B"/>
                    </a:solidFill>
                    <a:latin typeface="Calibri"/>
                  </a:rPr>
                  <a:t>.</a:t>
                </a:r>
              </a:p>
            </p:txBody>
          </p:sp>
        </mc:Choice>
        <mc:Fallback xmlns="">
          <p:sp>
            <p:nvSpPr>
              <p:cNvPr id="9" name="TextBox 8"/>
              <p:cNvSpPr txBox="1"/>
              <p:nvPr/>
            </p:nvSpPr>
            <p:spPr>
              <a:xfrm>
                <a:off x="713232" y="2362199"/>
                <a:ext cx="10735056" cy="829056"/>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r>
                  <a:rPr lang="vi-VN"/>
                  <a:t>\overrightarrow{IA}</a:t>
                </a:r>
                <a:r>
                  <a:rPr sz="2200">
                    <a:solidFill>
                      <a:srgbClr val="1E293B"/>
                    </a:solidFill>
                    <a:latin typeface="Calibri"/>
                  </a:rPr>
                  <a:t> + </a:t>
                </a:r>
                <a:r>
                  <a:rPr lang="vi-VN"/>
                  <a:t>\overrightarrow{IB}</a:t>
                </a:r>
                <a:r>
                  <a:rPr sz="2200">
                    <a:solidFill>
                      <a:srgbClr val="1E293B"/>
                    </a:solidFill>
                    <a:latin typeface="Calibri"/>
                  </a:rPr>
                  <a:t> = </a:t>
                </a:r>
                <a:r>
                  <a:rPr lang="vi-VN"/>
                  <a:t>\vec{0}</a:t>
                </a:r>
                <a:r>
                  <a:rPr sz="2200">
                    <a:solidFill>
                      <a:srgbClr val="1E293B"/>
                    </a:solidFill>
                    <a:latin typeface="Calibri"/>
                  </a:rPr>
                  <a:t> ⇔ </a:t>
                </a:r>
                <a:r>
                  <a:rPr lang="vi-VN"/>
                  <a:t>(-1-2x;\ 9-2y)=(0;\ 0)</a:t>
                </a:r>
                <a:r>
                  <a:rPr sz="2200">
                    <a:solidFill>
                      <a:srgbClr val="1E293B"/>
                    </a:solidFill>
                    <a:latin typeface="Calibri"/>
                  </a:rPr>
                  <a:t> ⇔ </a:t>
                </a:r>
                <a:r>
                  <a:rPr lang="vi-VN"/>
                  <a:t>I\left(-\frac{1}{2};\ \frac{9}{2}\right)</a:t>
                </a:r>
                <a:r>
                  <a:rPr sz="2200">
                    <a:solidFill>
                      <a:srgbClr val="1E293B"/>
                    </a:solidFill>
                    <a:latin typeface="Calibri"/>
                  </a:rPr>
                  <a:t>.</a:t>
                </a:r>
              </a:p>
            </p:txBody>
          </p:sp>
        </mc:Fallback>
      </mc:AlternateContent>
      <p:sp>
        <p:nvSpPr>
          <p:cNvPr id="10" name="s2_nen"/>
          <p:cNvSpPr/>
          <p:nvPr/>
        </p:nvSpPr>
        <p:spPr>
          <a:xfrm>
            <a:off x="548640" y="3337559"/>
            <a:ext cx="11064240" cy="902207"/>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374135"/>
                <a:ext cx="10735056" cy="829056"/>
              </a:xfrm>
              <a:prstGeom prst="rect">
                <a:avLst/>
              </a:prstGeom>
              <a:noFill/>
            </p:spPr>
            <p:txBody>
              <a:bodyPr wrap="square" lIns="45720" rIns="45720" anchor="ctr">
                <a:spAutoFit/>
              </a:bodyPr>
              <a:lstStyle/>
              <a:p>
                <a:pPr algn="l">
                  <a:spcAft>
                    <a:spcPts val="800"/>
                  </a:spcAft>
                </a:pPr>
                <a:r>
                  <a:rPr sz="2200">
                    <a:solidFill>
                      <a:srgbClr val="1E293B"/>
                    </a:solidFill>
                    <a:latin typeface="Calibri"/>
                  </a:rPr>
                  <a:t>b)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𝐺𝐴</m:t>
                        </m:r>
                      </m:e>
                    </m:acc>
                  </m:oMath>
                </a14:m>
                <a:r>
                  <a:rPr sz="2200">
                    <a:solidFill>
                      <a:srgbClr val="1E293B"/>
                    </a:solidFill>
                    <a:latin typeface="Calibri"/>
                  </a:rPr>
                  <a:t> +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𝐺𝐵</m:t>
                        </m:r>
                      </m:e>
                    </m:acc>
                  </m:oMath>
                </a14:m>
                <a:r>
                  <a:rPr sz="2200">
                    <a:solidFill>
                      <a:srgbClr val="1E293B"/>
                    </a:solidFill>
                    <a:latin typeface="Calibri"/>
                  </a:rPr>
                  <a:t> +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𝐺𝐶</m:t>
                        </m:r>
                      </m:e>
                    </m:acc>
                  </m:oMath>
                </a14:m>
                <a:r>
                  <a:rPr sz="2200">
                    <a:solidFill>
                      <a:srgbClr val="1E293B"/>
                    </a:solidFill>
                    <a:latin typeface="Calibri"/>
                  </a:rPr>
                  <a:t> =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0</m:t>
                        </m:r>
                      </m:e>
                    </m:acc>
                  </m:oMath>
                </a14:m>
                <a:r>
                  <a:rPr sz="2200">
                    <a:solidFill>
                      <a:srgbClr val="1E293B"/>
                    </a:solidFill>
                    <a:latin typeface="Calibri"/>
                  </a:rPr>
                  <a:t> ⇔ </a:t>
                </a:r>
                <a14:m>
                  <m:oMath xmlns:m="http://schemas.openxmlformats.org/officeDocument/2006/math">
                    <m:d>
                      <m:dPr>
                        <m:ctrlPr>
                          <a:rPr lang="vi-VN" sz="2200" b="0">
                            <a:solidFill>
                              <a:srgbClr val="1E293B"/>
                            </a:solidFill>
                            <a:latin typeface="Cambria Math" panose="02040503050406030204" pitchFamily="18" charset="0"/>
                          </a:rPr>
                        </m:ctrlPr>
                      </m:dPr>
                      <m:e>
                        <m:r>
                          <a:rPr lang="vi-VN" sz="2200" b="0">
                            <a:solidFill>
                              <a:srgbClr val="1E293B"/>
                            </a:solidFill>
                            <a:latin typeface="Cambria Math" panose="02040503050406030204" pitchFamily="18" charset="0"/>
                          </a:rPr>
                          <m:t>4−3</m:t>
                        </m:r>
                        <m:r>
                          <a:rPr lang="vi-VN" sz="2200" b="0">
                            <a:solidFill>
                              <a:srgbClr val="1E293B"/>
                            </a:solidFill>
                            <a:latin typeface="Cambria Math" panose="02040503050406030204" pitchFamily="18" charset="0"/>
                          </a:rPr>
                          <m:t>𝑥</m:t>
                        </m:r>
                        <m:r>
                          <a:rPr lang="vi-VN" sz="2200" b="0">
                            <a:solidFill>
                              <a:srgbClr val="1E293B"/>
                            </a:solidFill>
                            <a:latin typeface="Cambria Math" panose="02040503050406030204" pitchFamily="18" charset="0"/>
                          </a:rPr>
                          <m:t>; 10−3</m:t>
                        </m:r>
                        <m:r>
                          <a:rPr lang="vi-VN" sz="2200" b="0">
                            <a:solidFill>
                              <a:srgbClr val="1E293B"/>
                            </a:solidFill>
                            <a:latin typeface="Cambria Math" panose="02040503050406030204" pitchFamily="18" charset="0"/>
                          </a:rPr>
                          <m:t>𝑦</m:t>
                        </m:r>
                        <m:r>
                          <a:rPr lang="vi-VN" sz="2200" b="0">
                            <a:solidFill>
                              <a:srgbClr val="1E293B"/>
                            </a:solidFill>
                            <a:latin typeface="Cambria Math" panose="02040503050406030204" pitchFamily="18" charset="0"/>
                          </a:rPr>
                          <m:t>)=(0; 0</m:t>
                        </m:r>
                      </m:e>
                    </m:d>
                  </m:oMath>
                </a14:m>
                <a:r>
                  <a:rPr sz="2200">
                    <a:solidFill>
                      <a:srgbClr val="1E293B"/>
                    </a:solidFill>
                    <a:latin typeface="Calibri"/>
                  </a:rPr>
                  <a:t> ⇔ </a:t>
                </a:r>
                <a14:m>
                  <m:oMath xmlns:m="http://schemas.openxmlformats.org/officeDocument/2006/math">
                    <m:r>
                      <a:rPr lang="vi-VN" sz="2200" b="0">
                        <a:solidFill>
                          <a:srgbClr val="1E293B"/>
                        </a:solidFill>
                        <a:latin typeface="Cambria Math" panose="02040503050406030204" pitchFamily="18" charset="0"/>
                      </a:rPr>
                      <m:t>𝐺</m:t>
                    </m:r>
                    <m:d>
                      <m:dPr>
                        <m:ctrlPr>
                          <a:rPr lang="vi-VN" sz="2200" b="0" i="1">
                            <a:solidFill>
                              <a:srgbClr val="1E293B"/>
                            </a:solidFill>
                            <a:latin typeface="Cambria Math" panose="02040503050406030204" pitchFamily="18" charset="0"/>
                          </a:rPr>
                        </m:ctrlPr>
                      </m:dPr>
                      <m:e>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4</m:t>
                            </m:r>
                          </m:num>
                          <m:den>
                            <m:r>
                              <a:rPr lang="vi-VN" sz="2200" b="0">
                                <a:solidFill>
                                  <a:srgbClr val="1E293B"/>
                                </a:solidFill>
                                <a:latin typeface="Cambria Math" panose="02040503050406030204" pitchFamily="18" charset="0"/>
                              </a:rPr>
                              <m:t>3</m:t>
                            </m:r>
                          </m:den>
                        </m:f>
                        <m:r>
                          <a:rPr lang="vi-VN" sz="2200" b="0">
                            <a:solidFill>
                              <a:srgbClr val="1E293B"/>
                            </a:solidFill>
                            <a:latin typeface="Cambria Math" panose="02040503050406030204" pitchFamily="18" charset="0"/>
                          </a:rPr>
                          <m:t>; </m:t>
                        </m:r>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10</m:t>
                            </m:r>
                          </m:num>
                          <m:den>
                            <m:r>
                              <a:rPr lang="vi-VN" sz="2200" b="0">
                                <a:solidFill>
                                  <a:srgbClr val="1E293B"/>
                                </a:solidFill>
                                <a:latin typeface="Cambria Math" panose="02040503050406030204" pitchFamily="18" charset="0"/>
                              </a:rPr>
                              <m:t>3</m:t>
                            </m:r>
                          </m:den>
                        </m:f>
                      </m:e>
                    </m:d>
                  </m:oMath>
                </a14:m>
                <a:r>
                  <a:rPr sz="2200">
                    <a:solidFill>
                      <a:srgbClr val="1E293B"/>
                    </a:solidFill>
                    <a:latin typeface="Calibri"/>
                  </a:rPr>
                  <a:t>.</a:t>
                </a:r>
              </a:p>
            </p:txBody>
          </p:sp>
        </mc:Choice>
        <mc:Fallback xmlns="">
          <p:sp>
            <p:nvSpPr>
              <p:cNvPr id="11" name="TextBox 10"/>
              <p:cNvSpPr txBox="1"/>
              <p:nvPr/>
            </p:nvSpPr>
            <p:spPr>
              <a:xfrm>
                <a:off x="713232" y="3374135"/>
                <a:ext cx="10735056" cy="829056"/>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a:t>
                </a:r>
                <a:r>
                  <a:rPr lang="vi-VN"/>
                  <a:t>\overrightarrow{GA}</a:t>
                </a:r>
                <a:r>
                  <a:rPr sz="2200">
                    <a:solidFill>
                      <a:srgbClr val="1E293B"/>
                    </a:solidFill>
                    <a:latin typeface="Calibri"/>
                  </a:rPr>
                  <a:t> + </a:t>
                </a:r>
                <a:r>
                  <a:rPr lang="vi-VN"/>
                  <a:t>\overrightarrow{GB}</a:t>
                </a:r>
                <a:r>
                  <a:rPr sz="2200">
                    <a:solidFill>
                      <a:srgbClr val="1E293B"/>
                    </a:solidFill>
                    <a:latin typeface="Calibri"/>
                  </a:rPr>
                  <a:t> + </a:t>
                </a:r>
                <a:r>
                  <a:rPr lang="vi-VN"/>
                  <a:t>\overrightarrow{GC}</a:t>
                </a:r>
                <a:r>
                  <a:rPr sz="2200">
                    <a:solidFill>
                      <a:srgbClr val="1E293B"/>
                    </a:solidFill>
                    <a:latin typeface="Calibri"/>
                  </a:rPr>
                  <a:t> = </a:t>
                </a:r>
                <a:r>
                  <a:rPr lang="vi-VN"/>
                  <a:t>\vec{0}</a:t>
                </a:r>
                <a:r>
                  <a:rPr sz="2200">
                    <a:solidFill>
                      <a:srgbClr val="1E293B"/>
                    </a:solidFill>
                    <a:latin typeface="Calibri"/>
                  </a:rPr>
                  <a:t> ⇔ </a:t>
                </a:r>
                <a:r>
                  <a:rPr lang="vi-VN"/>
                  <a:t>(4-3x;\ 10-3y)=(0;\ 0)</a:t>
                </a:r>
                <a:r>
                  <a:rPr sz="2200">
                    <a:solidFill>
                      <a:srgbClr val="1E293B"/>
                    </a:solidFill>
                    <a:latin typeface="Calibri"/>
                  </a:rPr>
                  <a:t> ⇔ </a:t>
                </a:r>
                <a:r>
                  <a:rPr lang="vi-VN"/>
                  <a:t>G\left(\frac{4}{3};\ \frac{10}{3}\right)</a:t>
                </a:r>
                <a:r>
                  <a:rPr sz="2200">
                    <a:solidFill>
                      <a:srgbClr val="1E293B"/>
                    </a:solidFill>
                    <a:latin typeface="Calibri"/>
                  </a:rPr>
                  <a:t>.</a:t>
                </a:r>
              </a:p>
            </p:txBody>
          </p:sp>
        </mc:Fallback>
      </mc:AlternateContent>
      <p:sp>
        <p:nvSpPr>
          <p:cNvPr id="12" name="s3_nen"/>
          <p:cNvSpPr/>
          <p:nvPr/>
        </p:nvSpPr>
        <p:spPr>
          <a:xfrm>
            <a:off x="548640" y="4349495"/>
            <a:ext cx="11064240" cy="138836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s3_chu"/>
              <p:cNvSpPr txBox="1"/>
              <p:nvPr/>
            </p:nvSpPr>
            <p:spPr>
              <a:xfrm>
                <a:off x="713232" y="4386071"/>
                <a:ext cx="10735056" cy="1315212"/>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Chú ý.</a:t>
                </a:r>
                <a:r>
                  <a:rPr sz="2400">
                    <a:solidFill>
                      <a:srgbClr val="1E293B"/>
                    </a:solidFill>
                    <a:latin typeface="Calibri"/>
                  </a:rPr>
                  <a:t> Trung điểm </a:t>
                </a:r>
                <a14:m>
                  <m:oMath xmlns:m="http://schemas.openxmlformats.org/officeDocument/2006/math">
                    <m:r>
                      <a:rPr lang="vi-VN" sz="2400" b="0">
                        <a:solidFill>
                          <a:srgbClr val="1E293B"/>
                        </a:solidFill>
                        <a:latin typeface="Cambria Math" panose="02040503050406030204" pitchFamily="18" charset="0"/>
                      </a:rPr>
                      <m:t>𝑀</m:t>
                    </m:r>
                  </m:oMath>
                </a14:m>
                <a:r>
                  <a:rPr sz="2400">
                    <a:solidFill>
                      <a:srgbClr val="1E293B"/>
                    </a:solidFill>
                    <a:latin typeface="Calibri"/>
                  </a:rPr>
                  <a:t> của đoạn thẳng </a:t>
                </a:r>
                <a14:m>
                  <m:oMath xmlns:m="http://schemas.openxmlformats.org/officeDocument/2006/math">
                    <m:r>
                      <a:rPr lang="vi-VN" sz="2400" b="0">
                        <a:solidFill>
                          <a:srgbClr val="1E293B"/>
                        </a:solidFill>
                        <a:latin typeface="Cambria Math" panose="02040503050406030204" pitchFamily="18" charset="0"/>
                      </a:rPr>
                      <m:t>𝐴𝐵</m:t>
                    </m:r>
                  </m:oMath>
                </a14:m>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f>
                          <m:fPr>
                            <m:ctrlPr>
                              <a:rPr lang="vi-VN" sz="2400" b="0">
                                <a:solidFill>
                                  <a:srgbClr val="1E293B"/>
                                </a:solidFill>
                                <a:latin typeface="Cambria Math" panose="02040503050406030204" pitchFamily="18" charset="0"/>
                              </a:rPr>
                            </m:ctrlPr>
                          </m:fPr>
                          <m:num>
                            <m:sSub>
                              <m:sSubPr>
                                <m:ctrlPr>
                                  <a:rPr lang="vi-VN" sz="2400" b="0">
                                    <a:solidFill>
                                      <a:srgbClr val="1E293B"/>
                                    </a:solidFill>
                                    <a:latin typeface="Cambria Math" panose="02040503050406030204" pitchFamily="18" charset="0"/>
                                  </a:rPr>
                                </m:ctrlPr>
                              </m:sSubPr>
                              <m:e>
                                <m:r>
                                  <a:rPr lang="vi-VN" sz="2400" b="0">
                                    <a:solidFill>
                                      <a:srgbClr val="1E293B"/>
                                    </a:solidFill>
                                    <a:latin typeface="Cambria Math" panose="02040503050406030204" pitchFamily="18" charset="0"/>
                                  </a:rPr>
                                  <m:t>𝑥</m:t>
                                </m:r>
                              </m:e>
                              <m:sub>
                                <m:r>
                                  <a:rPr lang="vi-VN" sz="2400" b="0">
                                    <a:solidFill>
                                      <a:srgbClr val="1E293B"/>
                                    </a:solidFill>
                                    <a:latin typeface="Cambria Math" panose="02040503050406030204" pitchFamily="18" charset="0"/>
                                  </a:rPr>
                                  <m:t>𝐴</m:t>
                                </m:r>
                              </m:sub>
                            </m:sSub>
                            <m:r>
                              <a:rPr lang="vi-VN" sz="2400" b="0">
                                <a:solidFill>
                                  <a:srgbClr val="1E293B"/>
                                </a:solidFill>
                                <a:latin typeface="Cambria Math" panose="02040503050406030204" pitchFamily="18" charset="0"/>
                              </a:rPr>
                              <m:t>+</m:t>
                            </m:r>
                            <m:sSub>
                              <m:sSubPr>
                                <m:ctrlPr>
                                  <a:rPr lang="vi-VN" sz="2400" b="0">
                                    <a:solidFill>
                                      <a:srgbClr val="1E293B"/>
                                    </a:solidFill>
                                    <a:latin typeface="Cambria Math" panose="02040503050406030204" pitchFamily="18" charset="0"/>
                                  </a:rPr>
                                </m:ctrlPr>
                              </m:sSubPr>
                              <m:e>
                                <m:r>
                                  <a:rPr lang="vi-VN" sz="2400" b="0">
                                    <a:solidFill>
                                      <a:srgbClr val="1E293B"/>
                                    </a:solidFill>
                                    <a:latin typeface="Cambria Math" panose="02040503050406030204" pitchFamily="18" charset="0"/>
                                  </a:rPr>
                                  <m:t>𝑥</m:t>
                                </m:r>
                              </m:e>
                              <m:sub>
                                <m:r>
                                  <a:rPr lang="vi-VN" sz="2400" b="0">
                                    <a:solidFill>
                                      <a:srgbClr val="1E293B"/>
                                    </a:solidFill>
                                    <a:latin typeface="Cambria Math" panose="02040503050406030204" pitchFamily="18" charset="0"/>
                                  </a:rPr>
                                  <m:t>𝐵</m:t>
                                </m:r>
                              </m:sub>
                            </m:sSub>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 </m:t>
                        </m:r>
                        <m:f>
                          <m:fPr>
                            <m:ctrlPr>
                              <a:rPr lang="vi-VN" sz="2400" b="0" i="1">
                                <a:solidFill>
                                  <a:srgbClr val="1E293B"/>
                                </a:solidFill>
                                <a:latin typeface="Cambria Math" panose="02040503050406030204" pitchFamily="18" charset="0"/>
                              </a:rPr>
                            </m:ctrlPr>
                          </m:fPr>
                          <m:num>
                            <m:sSub>
                              <m:sSubPr>
                                <m:ctrlPr>
                                  <a:rPr lang="vi-VN" sz="2400" b="0">
                                    <a:solidFill>
                                      <a:srgbClr val="1E293B"/>
                                    </a:solidFill>
                                    <a:latin typeface="Cambria Math" panose="02040503050406030204" pitchFamily="18" charset="0"/>
                                  </a:rPr>
                                </m:ctrlPr>
                              </m:sSubPr>
                              <m:e>
                                <m:r>
                                  <a:rPr lang="vi-VN" sz="2400" b="0">
                                    <a:solidFill>
                                      <a:srgbClr val="1E293B"/>
                                    </a:solidFill>
                                    <a:latin typeface="Cambria Math" panose="02040503050406030204" pitchFamily="18" charset="0"/>
                                  </a:rPr>
                                  <m:t>𝑦</m:t>
                                </m:r>
                              </m:e>
                              <m:sub>
                                <m:r>
                                  <a:rPr lang="vi-VN" sz="2400" b="0">
                                    <a:solidFill>
                                      <a:srgbClr val="1E293B"/>
                                    </a:solidFill>
                                    <a:latin typeface="Cambria Math" panose="02040503050406030204" pitchFamily="18" charset="0"/>
                                  </a:rPr>
                                  <m:t>𝐴</m:t>
                                </m:r>
                              </m:sub>
                            </m:sSub>
                            <m:r>
                              <a:rPr lang="vi-VN" sz="2400" b="0">
                                <a:solidFill>
                                  <a:srgbClr val="1E293B"/>
                                </a:solidFill>
                                <a:latin typeface="Cambria Math" panose="02040503050406030204" pitchFamily="18" charset="0"/>
                              </a:rPr>
                              <m:t>+</m:t>
                            </m:r>
                            <m:sSub>
                              <m:sSubPr>
                                <m:ctrlPr>
                                  <a:rPr lang="vi-VN" sz="2400" b="0">
                                    <a:solidFill>
                                      <a:srgbClr val="1E293B"/>
                                    </a:solidFill>
                                    <a:latin typeface="Cambria Math" panose="02040503050406030204" pitchFamily="18" charset="0"/>
                                  </a:rPr>
                                </m:ctrlPr>
                              </m:sSubPr>
                              <m:e>
                                <m:r>
                                  <a:rPr lang="vi-VN" sz="2400" b="0">
                                    <a:solidFill>
                                      <a:srgbClr val="1E293B"/>
                                    </a:solidFill>
                                    <a:latin typeface="Cambria Math" panose="02040503050406030204" pitchFamily="18" charset="0"/>
                                  </a:rPr>
                                  <m:t>𝑦</m:t>
                                </m:r>
                              </m:e>
                              <m:sub>
                                <m:r>
                                  <a:rPr lang="vi-VN" sz="2400" b="0">
                                    <a:solidFill>
                                      <a:srgbClr val="1E293B"/>
                                    </a:solidFill>
                                    <a:latin typeface="Cambria Math" panose="02040503050406030204" pitchFamily="18" charset="0"/>
                                  </a:rPr>
                                  <m:t>𝐵</m:t>
                                </m:r>
                              </m:sub>
                            </m:sSub>
                          </m:num>
                          <m:den>
                            <m:r>
                              <a:rPr lang="vi-VN" sz="2400" b="0">
                                <a:solidFill>
                                  <a:srgbClr val="1E293B"/>
                                </a:solidFill>
                                <a:latin typeface="Cambria Math" panose="02040503050406030204" pitchFamily="18" charset="0"/>
                              </a:rPr>
                              <m:t>2</m:t>
                            </m:r>
                          </m:den>
                        </m:f>
                      </m:e>
                    </m:d>
                  </m:oMath>
                </a14:m>
                <a:r>
                  <a:rPr sz="2400">
                    <a:solidFill>
                      <a:srgbClr val="1E293B"/>
                    </a:solidFill>
                    <a:latin typeface="Calibri"/>
                  </a:rPr>
                  <a:t>. Trọng tâm </a:t>
                </a:r>
                <a14:m>
                  <m:oMath xmlns:m="http://schemas.openxmlformats.org/officeDocument/2006/math">
                    <m:r>
                      <a:rPr lang="vi-VN" sz="2400" b="0">
                        <a:solidFill>
                          <a:srgbClr val="1E293B"/>
                        </a:solidFill>
                        <a:latin typeface="Cambria Math" panose="02040503050406030204" pitchFamily="18" charset="0"/>
                      </a:rPr>
                      <m:t>𝐺</m:t>
                    </m:r>
                  </m:oMath>
                </a14:m>
                <a:r>
                  <a:rPr sz="2400">
                    <a:solidFill>
                      <a:srgbClr val="1E293B"/>
                    </a:solidFill>
                    <a:latin typeface="Calibri"/>
                  </a:rPr>
                  <a:t> của tam giác </a:t>
                </a:r>
                <a14:m>
                  <m:oMath xmlns:m="http://schemas.openxmlformats.org/officeDocument/2006/math">
                    <m:r>
                      <a:rPr lang="vi-VN" sz="2400" b="0">
                        <a:solidFill>
                          <a:srgbClr val="1E293B"/>
                        </a:solidFill>
                        <a:latin typeface="Cambria Math" panose="02040503050406030204" pitchFamily="18" charset="0"/>
                      </a:rPr>
                      <m:t>𝐴𝐵𝐶</m:t>
                    </m:r>
                  </m:oMath>
                </a14:m>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f>
                          <m:fPr>
                            <m:ctrlPr>
                              <a:rPr lang="vi-VN" sz="2400" b="0">
                                <a:solidFill>
                                  <a:srgbClr val="1E293B"/>
                                </a:solidFill>
                                <a:latin typeface="Cambria Math" panose="02040503050406030204" pitchFamily="18" charset="0"/>
                              </a:rPr>
                            </m:ctrlPr>
                          </m:fPr>
                          <m:num>
                            <m:sSub>
                              <m:sSubPr>
                                <m:ctrlPr>
                                  <a:rPr lang="vi-VN" sz="2400" b="0">
                                    <a:solidFill>
                                      <a:srgbClr val="1E293B"/>
                                    </a:solidFill>
                                    <a:latin typeface="Cambria Math" panose="02040503050406030204" pitchFamily="18" charset="0"/>
                                  </a:rPr>
                                </m:ctrlPr>
                              </m:sSubPr>
                              <m:e>
                                <m:r>
                                  <a:rPr lang="vi-VN" sz="2400" b="0">
                                    <a:solidFill>
                                      <a:srgbClr val="1E293B"/>
                                    </a:solidFill>
                                    <a:latin typeface="Cambria Math" panose="02040503050406030204" pitchFamily="18" charset="0"/>
                                  </a:rPr>
                                  <m:t>𝑥</m:t>
                                </m:r>
                              </m:e>
                              <m:sub>
                                <m:r>
                                  <a:rPr lang="vi-VN" sz="2400" b="0">
                                    <a:solidFill>
                                      <a:srgbClr val="1E293B"/>
                                    </a:solidFill>
                                    <a:latin typeface="Cambria Math" panose="02040503050406030204" pitchFamily="18" charset="0"/>
                                  </a:rPr>
                                  <m:t>𝐴</m:t>
                                </m:r>
                              </m:sub>
                            </m:sSub>
                            <m:r>
                              <a:rPr lang="vi-VN" sz="2400" b="0">
                                <a:solidFill>
                                  <a:srgbClr val="1E293B"/>
                                </a:solidFill>
                                <a:latin typeface="Cambria Math" panose="02040503050406030204" pitchFamily="18" charset="0"/>
                              </a:rPr>
                              <m:t>+</m:t>
                            </m:r>
                            <m:sSub>
                              <m:sSubPr>
                                <m:ctrlPr>
                                  <a:rPr lang="vi-VN" sz="2400" b="0">
                                    <a:solidFill>
                                      <a:srgbClr val="1E293B"/>
                                    </a:solidFill>
                                    <a:latin typeface="Cambria Math" panose="02040503050406030204" pitchFamily="18" charset="0"/>
                                  </a:rPr>
                                </m:ctrlPr>
                              </m:sSubPr>
                              <m:e>
                                <m:r>
                                  <a:rPr lang="vi-VN" sz="2400" b="0">
                                    <a:solidFill>
                                      <a:srgbClr val="1E293B"/>
                                    </a:solidFill>
                                    <a:latin typeface="Cambria Math" panose="02040503050406030204" pitchFamily="18" charset="0"/>
                                  </a:rPr>
                                  <m:t>𝑥</m:t>
                                </m:r>
                              </m:e>
                              <m:sub>
                                <m:r>
                                  <a:rPr lang="vi-VN" sz="2400" b="0">
                                    <a:solidFill>
                                      <a:srgbClr val="1E293B"/>
                                    </a:solidFill>
                                    <a:latin typeface="Cambria Math" panose="02040503050406030204" pitchFamily="18" charset="0"/>
                                  </a:rPr>
                                  <m:t>𝐵</m:t>
                                </m:r>
                              </m:sub>
                            </m:sSub>
                            <m:r>
                              <a:rPr lang="vi-VN" sz="2400" b="0">
                                <a:solidFill>
                                  <a:srgbClr val="1E293B"/>
                                </a:solidFill>
                                <a:latin typeface="Cambria Math" panose="02040503050406030204" pitchFamily="18" charset="0"/>
                              </a:rPr>
                              <m:t>+</m:t>
                            </m:r>
                            <m:sSub>
                              <m:sSubPr>
                                <m:ctrlPr>
                                  <a:rPr lang="vi-VN" sz="2400" b="0">
                                    <a:solidFill>
                                      <a:srgbClr val="1E293B"/>
                                    </a:solidFill>
                                    <a:latin typeface="Cambria Math" panose="02040503050406030204" pitchFamily="18" charset="0"/>
                                  </a:rPr>
                                </m:ctrlPr>
                              </m:sSubPr>
                              <m:e>
                                <m:r>
                                  <a:rPr lang="vi-VN" sz="2400" b="0">
                                    <a:solidFill>
                                      <a:srgbClr val="1E293B"/>
                                    </a:solidFill>
                                    <a:latin typeface="Cambria Math" panose="02040503050406030204" pitchFamily="18" charset="0"/>
                                  </a:rPr>
                                  <m:t>𝑥</m:t>
                                </m:r>
                              </m:e>
                              <m:sub>
                                <m:r>
                                  <a:rPr lang="vi-VN" sz="2400" b="0">
                                    <a:solidFill>
                                      <a:srgbClr val="1E293B"/>
                                    </a:solidFill>
                                    <a:latin typeface="Cambria Math" panose="02040503050406030204" pitchFamily="18" charset="0"/>
                                  </a:rPr>
                                  <m:t>𝐶</m:t>
                                </m:r>
                              </m:sub>
                            </m:sSub>
                          </m:num>
                          <m:den>
                            <m:r>
                              <a:rPr lang="vi-VN" sz="2400" b="0">
                                <a:solidFill>
                                  <a:srgbClr val="1E293B"/>
                                </a:solidFill>
                                <a:latin typeface="Cambria Math" panose="02040503050406030204" pitchFamily="18" charset="0"/>
                              </a:rPr>
                              <m:t>3</m:t>
                            </m:r>
                          </m:den>
                        </m:f>
                        <m:r>
                          <a:rPr lang="vi-VN" sz="2400" b="0">
                            <a:solidFill>
                              <a:srgbClr val="1E293B"/>
                            </a:solidFill>
                            <a:latin typeface="Cambria Math" panose="02040503050406030204" pitchFamily="18" charset="0"/>
                          </a:rPr>
                          <m:t>; </m:t>
                        </m:r>
                        <m:f>
                          <m:fPr>
                            <m:ctrlPr>
                              <a:rPr lang="vi-VN" sz="2400" b="0" i="1">
                                <a:solidFill>
                                  <a:srgbClr val="1E293B"/>
                                </a:solidFill>
                                <a:latin typeface="Cambria Math" panose="02040503050406030204" pitchFamily="18" charset="0"/>
                              </a:rPr>
                            </m:ctrlPr>
                          </m:fPr>
                          <m:num>
                            <m:sSub>
                              <m:sSubPr>
                                <m:ctrlPr>
                                  <a:rPr lang="vi-VN" sz="2400" b="0">
                                    <a:solidFill>
                                      <a:srgbClr val="1E293B"/>
                                    </a:solidFill>
                                    <a:latin typeface="Cambria Math" panose="02040503050406030204" pitchFamily="18" charset="0"/>
                                  </a:rPr>
                                </m:ctrlPr>
                              </m:sSubPr>
                              <m:e>
                                <m:r>
                                  <a:rPr lang="vi-VN" sz="2400" b="0">
                                    <a:solidFill>
                                      <a:srgbClr val="1E293B"/>
                                    </a:solidFill>
                                    <a:latin typeface="Cambria Math" panose="02040503050406030204" pitchFamily="18" charset="0"/>
                                  </a:rPr>
                                  <m:t>𝑦</m:t>
                                </m:r>
                              </m:e>
                              <m:sub>
                                <m:r>
                                  <a:rPr lang="vi-VN" sz="2400" b="0">
                                    <a:solidFill>
                                      <a:srgbClr val="1E293B"/>
                                    </a:solidFill>
                                    <a:latin typeface="Cambria Math" panose="02040503050406030204" pitchFamily="18" charset="0"/>
                                  </a:rPr>
                                  <m:t>𝐴</m:t>
                                </m:r>
                              </m:sub>
                            </m:sSub>
                            <m:r>
                              <a:rPr lang="vi-VN" sz="2400" b="0">
                                <a:solidFill>
                                  <a:srgbClr val="1E293B"/>
                                </a:solidFill>
                                <a:latin typeface="Cambria Math" panose="02040503050406030204" pitchFamily="18" charset="0"/>
                              </a:rPr>
                              <m:t>+</m:t>
                            </m:r>
                            <m:sSub>
                              <m:sSubPr>
                                <m:ctrlPr>
                                  <a:rPr lang="vi-VN" sz="2400" b="0">
                                    <a:solidFill>
                                      <a:srgbClr val="1E293B"/>
                                    </a:solidFill>
                                    <a:latin typeface="Cambria Math" panose="02040503050406030204" pitchFamily="18" charset="0"/>
                                  </a:rPr>
                                </m:ctrlPr>
                              </m:sSubPr>
                              <m:e>
                                <m:r>
                                  <a:rPr lang="vi-VN" sz="2400" b="0">
                                    <a:solidFill>
                                      <a:srgbClr val="1E293B"/>
                                    </a:solidFill>
                                    <a:latin typeface="Cambria Math" panose="02040503050406030204" pitchFamily="18" charset="0"/>
                                  </a:rPr>
                                  <m:t>𝑦</m:t>
                                </m:r>
                              </m:e>
                              <m:sub>
                                <m:r>
                                  <a:rPr lang="vi-VN" sz="2400" b="0">
                                    <a:solidFill>
                                      <a:srgbClr val="1E293B"/>
                                    </a:solidFill>
                                    <a:latin typeface="Cambria Math" panose="02040503050406030204" pitchFamily="18" charset="0"/>
                                  </a:rPr>
                                  <m:t>𝐵</m:t>
                                </m:r>
                              </m:sub>
                            </m:sSub>
                            <m:r>
                              <a:rPr lang="vi-VN" sz="2400" b="0">
                                <a:solidFill>
                                  <a:srgbClr val="1E293B"/>
                                </a:solidFill>
                                <a:latin typeface="Cambria Math" panose="02040503050406030204" pitchFamily="18" charset="0"/>
                              </a:rPr>
                              <m:t>+</m:t>
                            </m:r>
                            <m:sSub>
                              <m:sSubPr>
                                <m:ctrlPr>
                                  <a:rPr lang="vi-VN" sz="2400" b="0">
                                    <a:solidFill>
                                      <a:srgbClr val="1E293B"/>
                                    </a:solidFill>
                                    <a:latin typeface="Cambria Math" panose="02040503050406030204" pitchFamily="18" charset="0"/>
                                  </a:rPr>
                                </m:ctrlPr>
                              </m:sSubPr>
                              <m:e>
                                <m:r>
                                  <a:rPr lang="vi-VN" sz="2400" b="0">
                                    <a:solidFill>
                                      <a:srgbClr val="1E293B"/>
                                    </a:solidFill>
                                    <a:latin typeface="Cambria Math" panose="02040503050406030204" pitchFamily="18" charset="0"/>
                                  </a:rPr>
                                  <m:t>𝑦</m:t>
                                </m:r>
                              </m:e>
                              <m:sub>
                                <m:r>
                                  <a:rPr lang="vi-VN" sz="2400" b="0">
                                    <a:solidFill>
                                      <a:srgbClr val="1E293B"/>
                                    </a:solidFill>
                                    <a:latin typeface="Cambria Math" panose="02040503050406030204" pitchFamily="18" charset="0"/>
                                  </a:rPr>
                                  <m:t>𝐶</m:t>
                                </m:r>
                              </m:sub>
                            </m:sSub>
                          </m:num>
                          <m:den>
                            <m:r>
                              <a:rPr lang="vi-VN" sz="2400" b="0">
                                <a:solidFill>
                                  <a:srgbClr val="1E293B"/>
                                </a:solidFill>
                                <a:latin typeface="Cambria Math" panose="02040503050406030204" pitchFamily="18" charset="0"/>
                              </a:rPr>
                              <m:t>3</m:t>
                            </m:r>
                          </m:den>
                        </m:f>
                      </m:e>
                    </m:d>
                  </m:oMath>
                </a14:m>
                <a:r>
                  <a:rPr sz="2400">
                    <a:solidFill>
                      <a:srgbClr val="1E293B"/>
                    </a:solidFill>
                    <a:latin typeface="Calibri"/>
                  </a:rPr>
                  <a:t>.</a:t>
                </a:r>
              </a:p>
            </p:txBody>
          </p:sp>
        </mc:Choice>
        <mc:Fallback xmlns="">
          <p:sp>
            <p:nvSpPr>
              <p:cNvPr id="13" name="TextBox 12"/>
              <p:cNvSpPr txBox="1"/>
              <p:nvPr/>
            </p:nvSpPr>
            <p:spPr>
              <a:xfrm>
                <a:off x="713232" y="4386071"/>
                <a:ext cx="10735056" cy="1315212"/>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Chú ý.</a:t>
                </a:r>
                <a:r>
                  <a:rPr sz="2400">
                    <a:solidFill>
                      <a:srgbClr val="1E293B"/>
                    </a:solidFill>
                    <a:latin typeface="Calibri"/>
                  </a:rPr>
                  <a:t> Trung điểm </a:t>
                </a:r>
                <a:r>
                  <a:rPr lang="vi-VN"/>
                  <a:t>M</a:t>
                </a:r>
                <a:r>
                  <a:rPr sz="2400">
                    <a:solidFill>
                      <a:srgbClr val="1E293B"/>
                    </a:solidFill>
                    <a:latin typeface="Calibri"/>
                  </a:rPr>
                  <a:t> của đoạn thẳng </a:t>
                </a:r>
                <a:r>
                  <a:rPr lang="vi-VN"/>
                  <a:t>AB</a:t>
                </a:r>
                <a:r>
                  <a:rPr sz="2400">
                    <a:solidFill>
                      <a:srgbClr val="1E293B"/>
                    </a:solidFill>
                    <a:latin typeface="Calibri"/>
                  </a:rPr>
                  <a:t>: </a:t>
                </a:r>
                <a:r>
                  <a:rPr lang="vi-VN"/>
                  <a:t>\left(\frac{x_A+x_B}{2};\ \frac{y_A+y_B}{2}\right)</a:t>
                </a:r>
                <a:r>
                  <a:rPr sz="2400">
                    <a:solidFill>
                      <a:srgbClr val="1E293B"/>
                    </a:solidFill>
                    <a:latin typeface="Calibri"/>
                  </a:rPr>
                  <a:t>. Trọng tâm </a:t>
                </a:r>
                <a:r>
                  <a:rPr lang="vi-VN"/>
                  <a:t>G</a:t>
                </a:r>
                <a:r>
                  <a:rPr sz="2400">
                    <a:solidFill>
                      <a:srgbClr val="1E293B"/>
                    </a:solidFill>
                    <a:latin typeface="Calibri"/>
                  </a:rPr>
                  <a:t> của tam giác </a:t>
                </a:r>
                <a:r>
                  <a:rPr lang="vi-VN"/>
                  <a:t>ABC</a:t>
                </a:r>
                <a:r>
                  <a:rPr sz="2400">
                    <a:solidFill>
                      <a:srgbClr val="1E293B"/>
                    </a:solidFill>
                    <a:latin typeface="Calibri"/>
                  </a:rPr>
                  <a:t>: </a:t>
                </a:r>
                <a:r>
                  <a:rPr lang="vi-VN"/>
                  <a:t>\left(\frac{x_A+x_B+x_C}{3};\ \frac{y_A+y_B+y_C}{3}\right)</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 DỰ ĐOÁN VỊ TRÍ TÂM BÃO (SGK TR.64)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20</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7863840" cy="1453896"/>
              </a:xfrm>
              <a:prstGeom prst="rect">
                <a:avLst/>
              </a:prstGeom>
              <a:noFill/>
            </p:spPr>
            <p:txBody>
              <a:bodyPr wrap="square" lIns="45720" rIns="45720" anchor="t">
                <a:spAutoFit/>
              </a:bodyPr>
              <a:lstStyle/>
              <a:p>
                <a:pPr algn="l">
                  <a:spcAft>
                    <a:spcPts val="800"/>
                  </a:spcAft>
                </a:pPr>
                <a:r>
                  <a:rPr sz="2100">
                    <a:solidFill>
                      <a:srgbClr val="1E293B"/>
                    </a:solidFill>
                    <a:latin typeface="Calibri"/>
                  </a:rPr>
                  <a:t>Từ thông tin dự báo bão ở đầu bài học, hãy xác định toạ độ vị trí </a:t>
                </a:r>
                <a14:m>
                  <m:oMath xmlns:m="http://schemas.openxmlformats.org/officeDocument/2006/math">
                    <m:r>
                      <a:rPr lang="vi-VN" sz="2100" b="0">
                        <a:solidFill>
                          <a:srgbClr val="1E293B"/>
                        </a:solidFill>
                        <a:latin typeface="Cambria Math" panose="02040503050406030204" pitchFamily="18" charset="0"/>
                      </a:rPr>
                      <m:t>𝑀</m:t>
                    </m:r>
                  </m:oMath>
                </a14:m>
                <a:r>
                  <a:rPr sz="2100">
                    <a:solidFill>
                      <a:srgbClr val="1E293B"/>
                    </a:solidFill>
                    <a:latin typeface="Calibri"/>
                  </a:rPr>
                  <a:t> của tâm bão tại thời điểm 9 giờ trong khoảng thời gian 12 giờ của dự báo. (Tâm bão di chuyển thẳng đều từ </a:t>
                </a:r>
                <a14:m>
                  <m:oMath xmlns:m="http://schemas.openxmlformats.org/officeDocument/2006/math">
                    <m:r>
                      <a:rPr lang="vi-VN" sz="2100" b="0">
                        <a:solidFill>
                          <a:srgbClr val="1E293B"/>
                        </a:solidFill>
                        <a:latin typeface="Cambria Math" panose="02040503050406030204" pitchFamily="18" charset="0"/>
                      </a:rPr>
                      <m:t>𝐴</m:t>
                    </m:r>
                    <m:r>
                      <a:rPr lang="vi-VN" sz="2100" b="0">
                        <a:solidFill>
                          <a:srgbClr val="1E293B"/>
                        </a:solidFill>
                        <a:latin typeface="Cambria Math" panose="02040503050406030204" pitchFamily="18" charset="0"/>
                      </a:rPr>
                      <m:t>(13,8; 108,3)</m:t>
                    </m:r>
                  </m:oMath>
                </a14:m>
                <a:r>
                  <a:rPr sz="2100">
                    <a:solidFill>
                      <a:srgbClr val="1E293B"/>
                    </a:solidFill>
                    <a:latin typeface="Calibri"/>
                  </a:rPr>
                  <a:t> tới </a:t>
                </a:r>
                <a14:m>
                  <m:oMath xmlns:m="http://schemas.openxmlformats.org/officeDocument/2006/math">
                    <m:r>
                      <a:rPr lang="vi-VN" sz="2100" b="0">
                        <a:solidFill>
                          <a:srgbClr val="1E293B"/>
                        </a:solidFill>
                        <a:latin typeface="Cambria Math" panose="02040503050406030204" pitchFamily="18" charset="0"/>
                      </a:rPr>
                      <m:t>𝐵</m:t>
                    </m:r>
                    <m:r>
                      <a:rPr lang="vi-VN" sz="2100" b="0">
                        <a:solidFill>
                          <a:srgbClr val="1E293B"/>
                        </a:solidFill>
                        <a:latin typeface="Cambria Math" panose="02040503050406030204" pitchFamily="18" charset="0"/>
                      </a:rPr>
                      <m:t>(14,1; 106,3)</m:t>
                    </m:r>
                  </m:oMath>
                </a14:m>
                <a:r>
                  <a:rPr sz="2100">
                    <a:solidFill>
                      <a:srgbClr val="1E293B"/>
                    </a:solidFill>
                    <a:latin typeface="Calibri"/>
                  </a:rPr>
                  <a:t>.)</a:t>
                </a:r>
              </a:p>
            </p:txBody>
          </p:sp>
        </mc:Choice>
        <mc:Fallback xmlns="">
          <p:sp>
            <p:nvSpPr>
              <p:cNvPr id="7" name="TextBox 6"/>
              <p:cNvSpPr txBox="1"/>
              <p:nvPr/>
            </p:nvSpPr>
            <p:spPr>
              <a:xfrm>
                <a:off x="548640" y="1371600"/>
                <a:ext cx="7863840" cy="1453896"/>
              </a:xfrm>
              <a:prstGeom prst="rect">
                <a:avLst/>
              </a:prstGeom>
              <a:noFill/>
            </p:spPr>
            <p:txBody>
              <a:bodyPr wrap="square" anchor="t" lIns="45720" rIns="45720">
                <a:spAutoFit/>
              </a:bodyPr>
              <a:lstStyle/>
              <a:p>
                <a:pPr algn="l">
                  <a:spcAft>
                    <a:spcPts val="800"/>
                  </a:spcAft>
                </a:pPr>
                <a:r>
                  <a:rPr sz="2100">
                    <a:solidFill>
                      <a:srgbClr val="1E293B"/>
                    </a:solidFill>
                    <a:latin typeface="Calibri"/>
                  </a:rPr>
                  <a:t>Từ thông tin dự báo bão ở đầu bài học, hãy xác định toạ độ vị trí </a:t>
                </a:r>
                <a:r>
                  <a:rPr lang="vi-VN"/>
                  <a:t>M</a:t>
                </a:r>
                <a:r>
                  <a:rPr sz="2100">
                    <a:solidFill>
                      <a:srgbClr val="1E293B"/>
                    </a:solidFill>
                    <a:latin typeface="Calibri"/>
                  </a:rPr>
                  <a:t> của tâm bão tại thời điểm 9 giờ trong khoảng thời gian 12 giờ của dự báo. (Tâm bão di chuyển thẳng đều từ </a:t>
                </a:r>
                <a:r>
                  <a:rPr lang="vi-VN"/>
                  <a:t>A(13{,}8;\ 108{,}3)</a:t>
                </a:r>
                <a:r>
                  <a:rPr sz="2100">
                    <a:solidFill>
                      <a:srgbClr val="1E293B"/>
                    </a:solidFill>
                    <a:latin typeface="Calibri"/>
                  </a:rPr>
                  <a:t> tới </a:t>
                </a:r>
                <a:r>
                  <a:rPr lang="vi-VN"/>
                  <a:t>B(14{,}1;\ 106{,}3)</a:t>
                </a:r>
                <a:r>
                  <a:rPr sz="2100">
                    <a:solidFill>
                      <a:srgbClr val="1E293B"/>
                    </a:solidFill>
                    <a:latin typeface="Calibri"/>
                  </a:rPr>
                  <a:t>.)</a:t>
                </a:r>
              </a:p>
            </p:txBody>
          </p:sp>
        </mc:Fallback>
      </mc:AlternateContent>
      <p:sp>
        <p:nvSpPr>
          <p:cNvPr id="8" name="s1_nen"/>
          <p:cNvSpPr/>
          <p:nvPr/>
        </p:nvSpPr>
        <p:spPr>
          <a:xfrm>
            <a:off x="548640" y="2916936"/>
            <a:ext cx="786384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953512"/>
                <a:ext cx="7534656" cy="1120140"/>
              </a:xfrm>
              <a:prstGeom prst="rect">
                <a:avLst/>
              </a:prstGeom>
              <a:noFill/>
            </p:spPr>
            <p:txBody>
              <a:bodyPr wrap="square" lIns="45720" rIns="45720" anchor="ctr">
                <a:spAutoFit/>
              </a:bodyPr>
              <a:lstStyle/>
              <a:p>
                <a:pPr algn="l">
                  <a:spcAft>
                    <a:spcPts val="800"/>
                  </a:spcAft>
                </a:pPr>
                <a:r>
                  <a:rPr sz="2100">
                    <a:solidFill>
                      <a:srgbClr val="1E293B"/>
                    </a:solidFill>
                    <a:latin typeface="Calibri"/>
                  </a:rPr>
                  <a:t>Chuyển động thẳng đều nên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𝐴𝑀</m:t>
                        </m:r>
                      </m:e>
                    </m:acc>
                  </m:oMath>
                </a14:m>
                <a:r>
                  <a:rPr sz="2100">
                    <a:solidFill>
                      <a:srgbClr val="1E293B"/>
                    </a:solidFill>
                    <a:latin typeface="Calibri"/>
                  </a:rPr>
                  <a:t> = </a:t>
                </a:r>
                <a14:m>
                  <m:oMath xmlns:m="http://schemas.openxmlformats.org/officeDocument/2006/math">
                    <m:f>
                      <m:fPr>
                        <m:ctrlPr>
                          <a:rPr lang="vi-VN" sz="2100" b="0">
                            <a:solidFill>
                              <a:srgbClr val="1E293B"/>
                            </a:solidFill>
                            <a:latin typeface="Cambria Math" panose="02040503050406030204" pitchFamily="18" charset="0"/>
                          </a:rPr>
                        </m:ctrlPr>
                      </m:fPr>
                      <m:num>
                        <m:r>
                          <a:rPr lang="vi-VN" sz="2100" b="0">
                            <a:solidFill>
                              <a:srgbClr val="1E293B"/>
                            </a:solidFill>
                            <a:latin typeface="Cambria Math" panose="02040503050406030204" pitchFamily="18" charset="0"/>
                          </a:rPr>
                          <m:t>9</m:t>
                        </m:r>
                      </m:num>
                      <m:den>
                        <m:r>
                          <a:rPr lang="vi-VN" sz="2100" b="0">
                            <a:solidFill>
                              <a:srgbClr val="1E293B"/>
                            </a:solidFill>
                            <a:latin typeface="Cambria Math" panose="02040503050406030204" pitchFamily="18" charset="0"/>
                          </a:rPr>
                          <m:t>12</m:t>
                        </m:r>
                      </m:den>
                    </m:f>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𝐴𝐵</m:t>
                        </m:r>
                      </m:e>
                    </m:acc>
                  </m:oMath>
                </a14:m>
                <a:r>
                  <a:rPr sz="2100">
                    <a:solidFill>
                      <a:srgbClr val="1E293B"/>
                    </a:solidFill>
                    <a:latin typeface="Calibri"/>
                  </a:rPr>
                  <a:t> = </a:t>
                </a:r>
                <a14:m>
                  <m:oMath xmlns:m="http://schemas.openxmlformats.org/officeDocument/2006/math">
                    <m:f>
                      <m:fPr>
                        <m:ctrlPr>
                          <a:rPr lang="vi-VN" sz="2100" b="0">
                            <a:solidFill>
                              <a:srgbClr val="1E293B"/>
                            </a:solidFill>
                            <a:latin typeface="Cambria Math" panose="02040503050406030204" pitchFamily="18" charset="0"/>
                          </a:rPr>
                        </m:ctrlPr>
                      </m:fPr>
                      <m:num>
                        <m:r>
                          <a:rPr lang="vi-VN" sz="2100" b="0">
                            <a:solidFill>
                              <a:srgbClr val="1E293B"/>
                            </a:solidFill>
                            <a:latin typeface="Cambria Math" panose="02040503050406030204" pitchFamily="18" charset="0"/>
                          </a:rPr>
                          <m:t>3</m:t>
                        </m:r>
                      </m:num>
                      <m:den>
                        <m:r>
                          <a:rPr lang="vi-VN" sz="2100" b="0">
                            <a:solidFill>
                              <a:srgbClr val="1E293B"/>
                            </a:solidFill>
                            <a:latin typeface="Cambria Math" panose="02040503050406030204" pitchFamily="18" charset="0"/>
                          </a:rPr>
                          <m:t>4</m:t>
                        </m:r>
                      </m:den>
                    </m:f>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𝐴𝐵</m:t>
                        </m:r>
                      </m:e>
                    </m:acc>
                  </m:oMath>
                </a14:m>
                <a:r>
                  <a:rPr sz="2100">
                    <a:solidFill>
                      <a:srgbClr val="1E293B"/>
                    </a:solidFill>
                    <a:latin typeface="Calibri"/>
                  </a:rPr>
                  <a:t>, với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𝐴𝐵</m:t>
                        </m:r>
                      </m:e>
                    </m:acc>
                  </m:oMath>
                </a14:m>
                <a:r>
                  <a:rPr sz="2100">
                    <a:solidFill>
                      <a:srgbClr val="1E293B"/>
                    </a:solidFill>
                    <a:latin typeface="Calibri"/>
                  </a:rPr>
                  <a:t> = </a:t>
                </a:r>
                <a14:m>
                  <m:oMath xmlns:m="http://schemas.openxmlformats.org/officeDocument/2006/math">
                    <m:d>
                      <m:dPr>
                        <m:ctrlPr>
                          <a:rPr lang="vi-VN" sz="2100" b="0">
                            <a:solidFill>
                              <a:srgbClr val="1E293B"/>
                            </a:solidFill>
                            <a:latin typeface="Cambria Math" panose="02040503050406030204" pitchFamily="18" charset="0"/>
                          </a:rPr>
                        </m:ctrlPr>
                      </m:dPr>
                      <m:e>
                        <m:r>
                          <a:rPr lang="vi-VN" sz="2100" b="0">
                            <a:solidFill>
                              <a:srgbClr val="1E293B"/>
                            </a:solidFill>
                            <a:latin typeface="Cambria Math" panose="02040503050406030204" pitchFamily="18" charset="0"/>
                          </a:rPr>
                          <m:t>0,3; −2</m:t>
                        </m:r>
                      </m:e>
                    </m:d>
                  </m:oMath>
                </a14:m>
                <a:r>
                  <a:rPr sz="2100">
                    <a:solidFill>
                      <a:srgbClr val="1E293B"/>
                    </a:solidFill>
                    <a:latin typeface="Calibri"/>
                  </a:rPr>
                  <a:t>.</a:t>
                </a:r>
              </a:p>
            </p:txBody>
          </p:sp>
        </mc:Choice>
        <mc:Fallback xmlns="">
          <p:sp>
            <p:nvSpPr>
              <p:cNvPr id="9" name="TextBox 8"/>
              <p:cNvSpPr txBox="1"/>
              <p:nvPr/>
            </p:nvSpPr>
            <p:spPr>
              <a:xfrm>
                <a:off x="713232" y="2953512"/>
                <a:ext cx="75346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Chuyển động thẳng đều nên </a:t>
                </a:r>
                <a:r>
                  <a:rPr lang="vi-VN"/>
                  <a:t>\overrightarrow{AM}</a:t>
                </a:r>
                <a:r>
                  <a:rPr sz="2100">
                    <a:solidFill>
                      <a:srgbClr val="1E293B"/>
                    </a:solidFill>
                    <a:latin typeface="Calibri"/>
                  </a:rPr>
                  <a:t> = </a:t>
                </a:r>
                <a:r>
                  <a:rPr lang="vi-VN"/>
                  <a:t>\frac{9}{12}</a:t>
                </a:r>
                <a:r>
                  <a:rPr sz="2100">
                    <a:solidFill>
                      <a:srgbClr val="1E293B"/>
                    </a:solidFill>
                    <a:latin typeface="Calibri"/>
                  </a:rPr>
                  <a:t> </a:t>
                </a:r>
                <a:r>
                  <a:rPr lang="vi-VN"/>
                  <a:t>\overrightarrow{AB}</a:t>
                </a:r>
                <a:r>
                  <a:rPr sz="2100">
                    <a:solidFill>
                      <a:srgbClr val="1E293B"/>
                    </a:solidFill>
                    <a:latin typeface="Calibri"/>
                  </a:rPr>
                  <a:t> = </a:t>
                </a:r>
                <a:r>
                  <a:rPr lang="vi-VN"/>
                  <a:t>\frac{3}{4}</a:t>
                </a:r>
                <a:r>
                  <a:rPr sz="2100">
                    <a:solidFill>
                      <a:srgbClr val="1E293B"/>
                    </a:solidFill>
                    <a:latin typeface="Calibri"/>
                  </a:rPr>
                  <a:t> </a:t>
                </a:r>
                <a:r>
                  <a:rPr lang="vi-VN"/>
                  <a:t>\overrightarrow{AB}</a:t>
                </a:r>
                <a:r>
                  <a:rPr sz="2100">
                    <a:solidFill>
                      <a:srgbClr val="1E293B"/>
                    </a:solidFill>
                    <a:latin typeface="Calibri"/>
                  </a:rPr>
                  <a:t>, với </a:t>
                </a:r>
                <a:r>
                  <a:rPr lang="vi-VN"/>
                  <a:t>\overrightarrow{AB}</a:t>
                </a:r>
                <a:r>
                  <a:rPr sz="2100">
                    <a:solidFill>
                      <a:srgbClr val="1E293B"/>
                    </a:solidFill>
                    <a:latin typeface="Calibri"/>
                  </a:rPr>
                  <a:t> = </a:t>
                </a:r>
                <a:r>
                  <a:rPr lang="vi-VN"/>
                  <a:t>(0{,}3;\ -2)</a:t>
                </a:r>
                <a:r>
                  <a:rPr sz="2100">
                    <a:solidFill>
                      <a:srgbClr val="1E293B"/>
                    </a:solidFill>
                    <a:latin typeface="Calibri"/>
                  </a:rPr>
                  <a:t>.</a:t>
                </a:r>
              </a:p>
            </p:txBody>
          </p:sp>
        </mc:Fallback>
      </mc:AlternateContent>
      <p:sp>
        <p:nvSpPr>
          <p:cNvPr id="10" name="s2_nen"/>
          <p:cNvSpPr/>
          <p:nvPr/>
        </p:nvSpPr>
        <p:spPr>
          <a:xfrm>
            <a:off x="548640" y="4201668"/>
            <a:ext cx="78638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4238244"/>
                <a:ext cx="7534656" cy="800099"/>
              </a:xfrm>
              <a:prstGeom prst="rect">
                <a:avLst/>
              </a:prstGeom>
              <a:noFill/>
            </p:spPr>
            <p:txBody>
              <a:bodyPr wrap="square" lIns="45720" rIns="45720" anchor="ctr">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𝑥</m:t>
                    </m:r>
                    <m:r>
                      <a:rPr lang="vi-VN" sz="2100" b="0">
                        <a:solidFill>
                          <a:srgbClr val="1E293B"/>
                        </a:solidFill>
                        <a:latin typeface="Cambria Math" panose="02040503050406030204" pitchFamily="18" charset="0"/>
                      </a:rPr>
                      <m:t>−13,8=</m:t>
                    </m:r>
                    <m:f>
                      <m:fPr>
                        <m:ctrlPr>
                          <a:rPr lang="vi-VN" sz="2100" b="0">
                            <a:solidFill>
                              <a:srgbClr val="1E293B"/>
                            </a:solidFill>
                            <a:latin typeface="Cambria Math" panose="02040503050406030204" pitchFamily="18" charset="0"/>
                          </a:rPr>
                        </m:ctrlPr>
                      </m:fPr>
                      <m:num>
                        <m:r>
                          <a:rPr lang="vi-VN" sz="2100" b="0">
                            <a:solidFill>
                              <a:srgbClr val="1E293B"/>
                            </a:solidFill>
                            <a:latin typeface="Cambria Math" panose="02040503050406030204" pitchFamily="18" charset="0"/>
                          </a:rPr>
                          <m:t>3</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·0,3</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𝑦</m:t>
                    </m:r>
                    <m:r>
                      <a:rPr lang="vi-VN" sz="2100" b="0">
                        <a:solidFill>
                          <a:srgbClr val="1E293B"/>
                        </a:solidFill>
                        <a:latin typeface="Cambria Math" panose="02040503050406030204" pitchFamily="18" charset="0"/>
                      </a:rPr>
                      <m:t>−108,3=</m:t>
                    </m:r>
                    <m:f>
                      <m:fPr>
                        <m:ctrlPr>
                          <a:rPr lang="vi-VN" sz="2100" b="0">
                            <a:solidFill>
                              <a:srgbClr val="1E293B"/>
                            </a:solidFill>
                            <a:latin typeface="Cambria Math" panose="02040503050406030204" pitchFamily="18" charset="0"/>
                          </a:rPr>
                        </m:ctrlPr>
                      </m:fPr>
                      <m:num>
                        <m:r>
                          <a:rPr lang="vi-VN" sz="2100" b="0">
                            <a:solidFill>
                              <a:srgbClr val="1E293B"/>
                            </a:solidFill>
                            <a:latin typeface="Cambria Math" panose="02040503050406030204" pitchFamily="18" charset="0"/>
                          </a:rPr>
                          <m:t>3</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·(−2)</m:t>
                    </m:r>
                  </m:oMath>
                </a14:m>
                <a:r>
                  <a:rPr sz="2100">
                    <a:solidFill>
                      <a:srgbClr val="1E293B"/>
                    </a:solidFill>
                    <a:latin typeface="Calibri"/>
                  </a:rPr>
                  <a:t>.</a:t>
                </a:r>
              </a:p>
            </p:txBody>
          </p:sp>
        </mc:Choice>
        <mc:Fallback xmlns="">
          <p:sp>
            <p:nvSpPr>
              <p:cNvPr id="11" name="TextBox 10"/>
              <p:cNvSpPr txBox="1"/>
              <p:nvPr/>
            </p:nvSpPr>
            <p:spPr>
              <a:xfrm>
                <a:off x="713232" y="4238244"/>
                <a:ext cx="75346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x-13{,}8=\frac{3}{4}\cdot 0{,}3</a:t>
                </a:r>
                <a:r>
                  <a:rPr sz="2100">
                    <a:solidFill>
                      <a:srgbClr val="1E293B"/>
                    </a:solidFill>
                    <a:latin typeface="Calibri"/>
                  </a:rPr>
                  <a:t>; </a:t>
                </a:r>
                <a:r>
                  <a:rPr lang="vi-VN"/>
                  <a:t>y-108{,}3=\frac{3}{4}\cdot(-2)</a:t>
                </a:r>
                <a:r>
                  <a:rPr sz="2100">
                    <a:solidFill>
                      <a:srgbClr val="1E293B"/>
                    </a:solidFill>
                    <a:latin typeface="Calibri"/>
                  </a:rPr>
                  <a:t>.</a:t>
                </a:r>
              </a:p>
            </p:txBody>
          </p:sp>
        </mc:Fallback>
      </mc:AlternateContent>
      <p:sp>
        <p:nvSpPr>
          <p:cNvPr id="12" name="s3_nen"/>
          <p:cNvSpPr/>
          <p:nvPr/>
        </p:nvSpPr>
        <p:spPr>
          <a:xfrm>
            <a:off x="548640" y="5166360"/>
            <a:ext cx="78638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s3_chu"/>
              <p:cNvSpPr txBox="1"/>
              <p:nvPr/>
            </p:nvSpPr>
            <p:spPr>
              <a:xfrm>
                <a:off x="713232" y="5202936"/>
                <a:ext cx="7534656" cy="832103"/>
              </a:xfrm>
              <a:prstGeom prst="rect">
                <a:avLst/>
              </a:prstGeom>
              <a:noFill/>
            </p:spPr>
            <p:txBody>
              <a:bodyPr wrap="square" lIns="45720" rIns="45720" anchor="ctr">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𝑀</m:t>
                    </m:r>
                    <m:r>
                      <a:rPr lang="vi-VN" sz="2100" b="0">
                        <a:solidFill>
                          <a:srgbClr val="1E293B"/>
                        </a:solidFill>
                        <a:latin typeface="Cambria Math" panose="02040503050406030204" pitchFamily="18" charset="0"/>
                      </a:rPr>
                      <m:t>(14,025; 106,8)</m:t>
                    </m:r>
                  </m:oMath>
                </a14:m>
                <a:r>
                  <a:rPr sz="2100">
                    <a:solidFill>
                      <a:srgbClr val="1E293B"/>
                    </a:solidFill>
                    <a:latin typeface="Calibri"/>
                  </a:rPr>
                  <a:t> – khoảng </a:t>
                </a:r>
                <a14:m>
                  <m:oMath xmlns:m="http://schemas.openxmlformats.org/officeDocument/2006/math">
                    <m:r>
                      <a:rPr lang="vi-VN" sz="2100" b="0">
                        <a:solidFill>
                          <a:srgbClr val="1E293B"/>
                        </a:solidFill>
                        <a:latin typeface="Cambria Math" panose="02040503050406030204" pitchFamily="18" charset="0"/>
                      </a:rPr>
                      <m:t>14,</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vĩ bắc, </a:t>
                </a:r>
                <a14:m>
                  <m:oMath xmlns:m="http://schemas.openxmlformats.org/officeDocument/2006/math">
                    <m:r>
                      <a:rPr lang="vi-VN" sz="2100" b="0">
                        <a:solidFill>
                          <a:srgbClr val="1E293B"/>
                        </a:solidFill>
                        <a:latin typeface="Cambria Math" panose="02040503050406030204" pitchFamily="18" charset="0"/>
                      </a:rPr>
                      <m:t>106,</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8</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kinh đông.</a:t>
                </a:r>
              </a:p>
            </p:txBody>
          </p:sp>
        </mc:Choice>
        <mc:Fallback xmlns="">
          <p:sp>
            <p:nvSpPr>
              <p:cNvPr id="13" name="TextBox 12"/>
              <p:cNvSpPr txBox="1"/>
              <p:nvPr/>
            </p:nvSpPr>
            <p:spPr>
              <a:xfrm>
                <a:off x="713232" y="5202936"/>
                <a:ext cx="75346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M(14{,}025;\ 106{,}8)</a:t>
                </a:r>
                <a:r>
                  <a:rPr sz="2100">
                    <a:solidFill>
                      <a:srgbClr val="1E293B"/>
                    </a:solidFill>
                    <a:latin typeface="Calibri"/>
                  </a:rPr>
                  <a:t> – khoảng </a:t>
                </a:r>
                <a:r>
                  <a:rPr lang="vi-VN"/>
                  <a:t>14{,}0^\circ</a:t>
                </a:r>
                <a:r>
                  <a:rPr sz="2100">
                    <a:solidFill>
                      <a:srgbClr val="1E293B"/>
                    </a:solidFill>
                    <a:latin typeface="Calibri"/>
                  </a:rPr>
                  <a:t> vĩ bắc, </a:t>
                </a:r>
                <a:r>
                  <a:rPr lang="vi-VN"/>
                  <a:t>106{,}8^\circ</a:t>
                </a:r>
                <a:r>
                  <a:rPr sz="2100">
                    <a:solidFill>
                      <a:srgbClr val="1E293B"/>
                    </a:solidFill>
                    <a:latin typeface="Calibri"/>
                  </a:rPr>
                  <a:t> kinh đông.</a:t>
                </a:r>
              </a:p>
            </p:txBody>
          </p:sp>
        </mc:Fallback>
      </mc:AlternateContent>
      <p:pic>
        <p:nvPicPr>
          <p:cNvPr id="14" name="Picture 13" descr="bao_m.png"/>
          <p:cNvPicPr>
            <a:picLocks noChangeAspect="1"/>
          </p:cNvPicPr>
          <p:nvPr/>
        </p:nvPicPr>
        <p:blipFill>
          <a:blip r:embed="rId3"/>
          <a:stretch>
            <a:fillRect/>
          </a:stretch>
        </p:blipFill>
        <p:spPr>
          <a:xfrm>
            <a:off x="8595360" y="1800970"/>
            <a:ext cx="3108960" cy="24330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VỊ TRÍ TÂM BÃO THEO THỜI GIAN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21</a:t>
            </a:r>
          </a:p>
        </p:txBody>
      </p:sp>
      <mc:AlternateContent xmlns:mc="http://schemas.openxmlformats.org/markup-compatibility/2006" xmlns:a14="http://schemas.microsoft.com/office/drawing/2010/main">
        <mc:Choice Requires="a14">
          <p:sp>
            <p:nvSpPr>
              <p:cNvPr id="7" name="TextBox 6"/>
              <p:cNvSpPr txBox="1"/>
              <p:nvPr/>
            </p:nvSpPr>
            <p:spPr>
              <a:xfrm>
                <a:off x="548640" y="1417320"/>
                <a:ext cx="6035040" cy="356616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r>
                  <a:rPr sz="2200">
                    <a:solidFill>
                      <a:srgbClr val="1E293B"/>
                    </a:solidFill>
                    <a:latin typeface="Calibri"/>
                  </a:rPr>
                  <a:t>Kéo thanh trượt </a:t>
                </a:r>
                <a14:m>
                  <m:oMath xmlns:m="http://schemas.openxmlformats.org/officeDocument/2006/math">
                    <m:r>
                      <a:rPr lang="vi-VN" sz="2200" b="0">
                        <a:solidFill>
                          <a:srgbClr val="1E293B"/>
                        </a:solidFill>
                        <a:latin typeface="Cambria Math" panose="02040503050406030204" pitchFamily="18" charset="0"/>
                      </a:rPr>
                      <m:t>𝑡</m:t>
                    </m:r>
                  </m:oMath>
                </a14:m>
                <a:r>
                  <a:rPr sz="2200">
                    <a:solidFill>
                      <a:srgbClr val="1E293B"/>
                    </a:solidFill>
                    <a:latin typeface="Calibri"/>
                  </a:rPr>
                  <a:t> (giờ) từ 0 đến 12.</a:t>
                </a:r>
              </a:p>
              <a:p>
                <a:pPr marL="365760" indent="-365760" algn="l">
                  <a:spcAft>
                    <a:spcPts val="800"/>
                  </a:spcAft>
                  <a:buClr>
                    <a:srgbClr val="1E40AF"/>
                  </a:buClr>
                  <a:buFont typeface="Arial"/>
                  <a:buChar char="•"/>
                </a:pPr>
                <a:r>
                  <a:rPr sz="2200">
                    <a:solidFill>
                      <a:srgbClr val="1E293B"/>
                    </a:solidFill>
                    <a:latin typeface="Calibri"/>
                  </a:rPr>
                  <a:t>Điểm </a:t>
                </a:r>
                <a14:m>
                  <m:oMath xmlns:m="http://schemas.openxmlformats.org/officeDocument/2006/math">
                    <m:r>
                      <a:rPr lang="vi-VN" sz="2200" b="0">
                        <a:solidFill>
                          <a:srgbClr val="1E293B"/>
                        </a:solidFill>
                        <a:latin typeface="Cambria Math" panose="02040503050406030204" pitchFamily="18" charset="0"/>
                      </a:rPr>
                      <m:t>𝑀</m:t>
                    </m:r>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𝐴𝑀</m:t>
                        </m:r>
                      </m:e>
                    </m:acc>
                  </m:oMath>
                </a14:m>
                <a:r>
                  <a:rPr sz="2200">
                    <a:solidFill>
                      <a:srgbClr val="1E293B"/>
                    </a:solidFill>
                    <a:latin typeface="Calibri"/>
                  </a:rPr>
                  <a:t> = </a:t>
                </a:r>
                <a14:m>
                  <m:oMath xmlns:m="http://schemas.openxmlformats.org/officeDocument/2006/math">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𝑡</m:t>
                        </m:r>
                      </m:num>
                      <m:den>
                        <m:r>
                          <a:rPr lang="vi-VN" sz="2200" b="0">
                            <a:solidFill>
                              <a:srgbClr val="1E293B"/>
                            </a:solidFill>
                            <a:latin typeface="Cambria Math" panose="02040503050406030204" pitchFamily="18" charset="0"/>
                          </a:rPr>
                          <m:t>12</m:t>
                        </m:r>
                      </m:den>
                    </m:f>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 vị trí tâm bão sau </a:t>
                </a:r>
                <a14:m>
                  <m:oMath xmlns:m="http://schemas.openxmlformats.org/officeDocument/2006/math">
                    <m:r>
                      <a:rPr lang="vi-VN" sz="2200" b="0">
                        <a:solidFill>
                          <a:srgbClr val="1E293B"/>
                        </a:solidFill>
                        <a:latin typeface="Cambria Math" panose="02040503050406030204" pitchFamily="18" charset="0"/>
                      </a:rPr>
                      <m:t>𝑡</m:t>
                    </m:r>
                  </m:oMath>
                </a14:m>
                <a:r>
                  <a:rPr sz="2200">
                    <a:solidFill>
                      <a:srgbClr val="1E293B"/>
                    </a:solidFill>
                    <a:latin typeface="Calibri"/>
                  </a:rPr>
                  <a:t> giờ.</a:t>
                </a:r>
              </a:p>
              <a:p>
                <a:pPr marL="365760" indent="-365760" algn="l">
                  <a:spcAft>
                    <a:spcPts val="800"/>
                  </a:spcAft>
                  <a:buClr>
                    <a:srgbClr val="1E40AF"/>
                  </a:buClr>
                  <a:buFont typeface="Arial"/>
                  <a:buChar char="•"/>
                </a:pPr>
                <a:r>
                  <a:rPr sz="2200">
                    <a:solidFill>
                      <a:srgbClr val="1E293B"/>
                    </a:solidFill>
                    <a:latin typeface="Calibri"/>
                  </a:rPr>
                  <a:t>Đọc toạ độ </a:t>
                </a:r>
                <a14:m>
                  <m:oMath xmlns:m="http://schemas.openxmlformats.org/officeDocument/2006/math">
                    <m:r>
                      <a:rPr lang="vi-VN" sz="2200" b="0">
                        <a:solidFill>
                          <a:srgbClr val="1E293B"/>
                        </a:solidFill>
                        <a:latin typeface="Cambria Math" panose="02040503050406030204" pitchFamily="18" charset="0"/>
                      </a:rPr>
                      <m:t>𝑀</m:t>
                    </m:r>
                  </m:oMath>
                </a14:m>
                <a:r>
                  <a:rPr sz="2200">
                    <a:solidFill>
                      <a:srgbClr val="1E293B"/>
                    </a:solidFill>
                    <a:latin typeface="Calibri"/>
                  </a:rPr>
                  <a:t> ở bảng giá trị; với </a:t>
                </a:r>
                <a14:m>
                  <m:oMath xmlns:m="http://schemas.openxmlformats.org/officeDocument/2006/math">
                    <m:r>
                      <a:rPr lang="vi-VN" sz="2200" b="0">
                        <a:solidFill>
                          <a:srgbClr val="1E293B"/>
                        </a:solidFill>
                        <a:latin typeface="Cambria Math" panose="02040503050406030204" pitchFamily="18" charset="0"/>
                      </a:rPr>
                      <m:t>𝑡</m:t>
                    </m:r>
                    <m:r>
                      <a:rPr lang="vi-VN" sz="2200" b="0">
                        <a:solidFill>
                          <a:srgbClr val="1E293B"/>
                        </a:solidFill>
                        <a:latin typeface="Cambria Math" panose="02040503050406030204" pitchFamily="18" charset="0"/>
                      </a:rPr>
                      <m:t>=9</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𝑀</m:t>
                    </m:r>
                    <m:r>
                      <a:rPr lang="vi-VN" sz="2200" b="0">
                        <a:solidFill>
                          <a:srgbClr val="1E293B"/>
                        </a:solidFill>
                        <a:latin typeface="Cambria Math" panose="02040503050406030204" pitchFamily="18" charset="0"/>
                      </a:rPr>
                      <m:t>(14,025; 106,8)</m:t>
                    </m:r>
                  </m:oMath>
                </a14:m>
                <a:r>
                  <a:rPr sz="2200">
                    <a:solidFill>
                      <a:srgbClr val="1E293B"/>
                    </a:solidFill>
                    <a:latin typeface="Calibri"/>
                  </a:rPr>
                  <a:t>.</a:t>
                </a:r>
              </a:p>
            </p:txBody>
          </p:sp>
        </mc:Choice>
        <mc:Fallback xmlns="">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r>
                  <a:rPr lang="vi-VN"/>
                  <a:t>t</a:t>
                </a:r>
                <a:r>
                  <a:rPr sz="2200">
                    <a:solidFill>
                      <a:srgbClr val="1E293B"/>
                    </a:solidFill>
                    <a:latin typeface="Calibri"/>
                  </a:rPr>
                  <a:t> (giờ) từ 0 đến 12.</a:t>
                </a:r>
              </a:p>
              <a:p>
                <a:pPr algn="l" marL="365760" indent="-365760">
                  <a:spcAft>
                    <a:spcPts val="800"/>
                  </a:spcAft>
                  <a:buClr>
                    <a:srgbClr val="1E40AF"/>
                  </a:buClr>
                  <a:buFont typeface="Arial"/>
                  <a:buChar char="•"/>
                </a:pPr>
                <a:r>
                  <a:rPr sz="2200">
                    <a:solidFill>
                      <a:srgbClr val="1E293B"/>
                    </a:solidFill>
                    <a:latin typeface="Calibri"/>
                  </a:rPr>
                  <a:t>Điểm </a:t>
                </a:r>
                <a:r>
                  <a:rPr lang="vi-VN"/>
                  <a:t>M</a:t>
                </a:r>
                <a:r>
                  <a:rPr sz="2200">
                    <a:solidFill>
                      <a:srgbClr val="1E293B"/>
                    </a:solidFill>
                    <a:latin typeface="Calibri"/>
                  </a:rPr>
                  <a:t>: </a:t>
                </a:r>
                <a:r>
                  <a:rPr lang="vi-VN"/>
                  <a:t>\overrightarrow{AM}</a:t>
                </a:r>
                <a:r>
                  <a:rPr sz="2200">
                    <a:solidFill>
                      <a:srgbClr val="1E293B"/>
                    </a:solidFill>
                    <a:latin typeface="Calibri"/>
                  </a:rPr>
                  <a:t> = </a:t>
                </a:r>
                <a:r>
                  <a:rPr lang="vi-VN"/>
                  <a:t>\frac{t}{12}</a:t>
                </a:r>
                <a:r>
                  <a:rPr sz="2200">
                    <a:solidFill>
                      <a:srgbClr val="1E293B"/>
                    </a:solidFill>
                    <a:latin typeface="Calibri"/>
                  </a:rPr>
                  <a:t> </a:t>
                </a:r>
                <a:r>
                  <a:rPr lang="vi-VN"/>
                  <a:t>\overrightarrow{AB}</a:t>
                </a:r>
                <a:r>
                  <a:rPr sz="2200">
                    <a:solidFill>
                      <a:srgbClr val="1E293B"/>
                    </a:solidFill>
                    <a:latin typeface="Calibri"/>
                  </a:rPr>
                  <a:t> – vị trí tâm bão sau </a:t>
                </a:r>
                <a:r>
                  <a:rPr lang="vi-VN"/>
                  <a:t>t</a:t>
                </a:r>
                <a:r>
                  <a:rPr sz="2200">
                    <a:solidFill>
                      <a:srgbClr val="1E293B"/>
                    </a:solidFill>
                    <a:latin typeface="Calibri"/>
                  </a:rPr>
                  <a:t> giờ.</a:t>
                </a:r>
              </a:p>
              <a:p>
                <a:pPr algn="l" marL="365760" indent="-365760">
                  <a:spcAft>
                    <a:spcPts val="800"/>
                  </a:spcAft>
                  <a:buClr>
                    <a:srgbClr val="1E40AF"/>
                  </a:buClr>
                  <a:buFont typeface="Arial"/>
                  <a:buChar char="•"/>
                </a:pPr>
                <a:r>
                  <a:rPr sz="2200">
                    <a:solidFill>
                      <a:srgbClr val="1E293B"/>
                    </a:solidFill>
                    <a:latin typeface="Calibri"/>
                  </a:rPr>
                  <a:t>Đọc toạ độ </a:t>
                </a:r>
                <a:r>
                  <a:rPr lang="vi-VN"/>
                  <a:t>M</a:t>
                </a:r>
                <a:r>
                  <a:rPr sz="2200">
                    <a:solidFill>
                      <a:srgbClr val="1E293B"/>
                    </a:solidFill>
                    <a:latin typeface="Calibri"/>
                  </a:rPr>
                  <a:t> ở bảng giá trị; với </a:t>
                </a:r>
                <a:r>
                  <a:rPr lang="vi-VN"/>
                  <a:t>t=9</a:t>
                </a:r>
                <a:r>
                  <a:rPr sz="2200">
                    <a:solidFill>
                      <a:srgbClr val="1E293B"/>
                    </a:solidFill>
                    <a:latin typeface="Calibri"/>
                  </a:rPr>
                  <a:t>: </a:t>
                </a:r>
                <a:r>
                  <a:rPr lang="vi-VN"/>
                  <a:t>M(14{,}025;\ 106{,}8)</a:t>
                </a:r>
                <a:r>
                  <a:rPr sz="2200">
                    <a:solidFill>
                      <a:srgbClr val="1E293B"/>
                    </a:solidFill>
                    <a:latin typeface="Calibri"/>
                  </a:rPr>
                  <a:t>.</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  MỞ GEOGEBRA</a:t>
            </a:r>
          </a:p>
        </p:txBody>
      </p:sp>
      <p:pic>
        <p:nvPicPr>
          <p:cNvPr id="9" name="Picture 8" descr="qr_ggb_2.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lIns="45720" rIns="45720" anchor="t">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bao.png"/>
          <p:cNvPicPr>
            <a:picLocks noChangeAspect="1"/>
          </p:cNvPicPr>
          <p:nvPr/>
        </p:nvPicPr>
        <p:blipFill>
          <a:blip r:embed="rId5"/>
          <a:stretch>
            <a:fillRect/>
          </a:stretch>
        </p:blipFill>
        <p:spPr>
          <a:xfrm>
            <a:off x="6858000" y="2033085"/>
            <a:ext cx="4846320" cy="33404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22</a:t>
            </a:r>
          </a:p>
        </p:txBody>
      </p:sp>
      <p:sp>
        <p:nvSpPr>
          <p:cNvPr id="7" name="Rounded Rectangle 6"/>
          <p:cNvSpPr/>
          <p:nvPr/>
        </p:nvSpPr>
        <p:spPr>
          <a:xfrm>
            <a:off x="548640" y="1463040"/>
            <a:ext cx="11064240" cy="13716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 name="TextBox 7"/>
              <p:cNvSpPr txBox="1"/>
              <p:nvPr/>
            </p:nvSpPr>
            <p:spPr>
              <a:xfrm>
                <a:off x="713232" y="1499616"/>
                <a:ext cx="10735056" cy="1298448"/>
              </a:xfrm>
              <a:prstGeom prst="rect">
                <a:avLst/>
              </a:prstGeom>
              <a:noFill/>
            </p:spPr>
            <p:txBody>
              <a:bodyPr wrap="square" lIns="45720" rIns="45720" anchor="ctr">
                <a:spAutoFit/>
              </a:bodyPr>
              <a:lstStyle/>
              <a:p>
                <a:pPr marL="365760" indent="-365760" algn="l">
                  <a:spcAft>
                    <a:spcPts val="800"/>
                  </a:spcAft>
                  <a:buClr>
                    <a:srgbClr val="1E40AF"/>
                  </a:buClr>
                  <a:buFont typeface="Arial"/>
                  <a:buChar char="•"/>
                </a:pP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𝑀𝑁</m:t>
                        </m:r>
                      </m:e>
                    </m:acc>
                  </m:oMath>
                </a14:m>
                <a:r>
                  <a:rPr sz="2200">
                    <a:solidFill>
                      <a:srgbClr val="1E293B"/>
                    </a:solidFill>
                    <a:latin typeface="Calibri"/>
                  </a:rPr>
                  <a:t> = </a:t>
                </a:r>
                <a14:m>
                  <m:oMath xmlns:m="http://schemas.openxmlformats.org/officeDocument/2006/math">
                    <m:d>
                      <m:dPr>
                        <m:ctrlPr>
                          <a:rPr lang="vi-VN" sz="2200" b="0">
                            <a:solidFill>
                              <a:srgbClr val="1E293B"/>
                            </a:solidFill>
                            <a:latin typeface="Cambria Math" panose="02040503050406030204" pitchFamily="18" charset="0"/>
                          </a:rPr>
                        </m:ctrlPr>
                      </m:dPr>
                      <m:e>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𝑥</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𝑥</m:t>
                        </m:r>
                        <m:r>
                          <a:rPr lang="vi-VN" sz="2200" b="0">
                            <a:solidFill>
                              <a:srgbClr val="1E293B"/>
                            </a:solidFill>
                            <a:latin typeface="Cambria Math" panose="02040503050406030204" pitchFamily="18" charset="0"/>
                          </a:rPr>
                          <m:t>; </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𝑦</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𝑦</m:t>
                        </m:r>
                      </m:e>
                    </m:d>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𝑀𝑁</m:t>
                    </m:r>
                    <m:r>
                      <a:rPr lang="vi-VN" sz="2200" b="0">
                        <a:solidFill>
                          <a:srgbClr val="1E293B"/>
                        </a:solidFill>
                        <a:latin typeface="Cambria Math" panose="02040503050406030204" pitchFamily="18" charset="0"/>
                      </a:rPr>
                      <m:t>=</m:t>
                    </m:r>
                    <m:rad>
                      <m:radPr>
                        <m:degHide m:val="on"/>
                        <m:ctrlPr>
                          <a:rPr lang="vi-VN" sz="2200" b="0" i="1">
                            <a:solidFill>
                              <a:srgbClr val="1E293B"/>
                            </a:solidFill>
                            <a:latin typeface="Cambria Math" panose="02040503050406030204" pitchFamily="18" charset="0"/>
                          </a:rPr>
                        </m:ctrlPr>
                      </m:radPr>
                      <m:deg/>
                      <m:e>
                        <m:sSup>
                          <m:sSupPr>
                            <m:ctrlPr>
                              <a:rPr lang="vi-VN" sz="2200" b="0" i="1">
                                <a:solidFill>
                                  <a:srgbClr val="1E293B"/>
                                </a:solidFill>
                                <a:latin typeface="Cambria Math" panose="02040503050406030204" pitchFamily="18" charset="0"/>
                              </a:rPr>
                            </m:ctrlPr>
                          </m:sSupPr>
                          <m:e>
                            <m:d>
                              <m:dPr>
                                <m:ctrlPr>
                                  <a:rPr lang="vi-VN" sz="2200" b="0" i="1">
                                    <a:solidFill>
                                      <a:srgbClr val="1E293B"/>
                                    </a:solidFill>
                                    <a:latin typeface="Cambria Math" panose="02040503050406030204" pitchFamily="18" charset="0"/>
                                  </a:rPr>
                                </m:ctrlPr>
                              </m:dPr>
                              <m:e>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𝑥</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𝑥</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𝑦</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𝑦</m:t>
                                </m:r>
                              </m:e>
                            </m:d>
                          </m:e>
                          <m:sup>
                            <m:r>
                              <a:rPr lang="vi-VN" sz="2200" b="0">
                                <a:solidFill>
                                  <a:srgbClr val="1E293B"/>
                                </a:solidFill>
                                <a:latin typeface="Cambria Math" panose="02040503050406030204" pitchFamily="18" charset="0"/>
                              </a:rPr>
                              <m:t>2</m:t>
                            </m:r>
                          </m:sup>
                        </m:sSup>
                      </m:e>
                    </m:rad>
                  </m:oMath>
                </a14:m>
                <a:r>
                  <a:rPr sz="2200">
                    <a:solidFill>
                      <a:srgbClr val="1E293B"/>
                    </a:solidFill>
                    <a:latin typeface="Calibri"/>
                  </a:rPr>
                  <a:t>.</a:t>
                </a:r>
              </a:p>
              <a:p>
                <a:pPr marL="365760" indent="-365760" algn="l">
                  <a:spcAft>
                    <a:spcPts val="800"/>
                  </a:spcAft>
                  <a:buClr>
                    <a:srgbClr val="1E40AF"/>
                  </a:buClr>
                  <a:buFont typeface="Arial"/>
                  <a:buChar char="•"/>
                </a:pPr>
                <a:r>
                  <a:rPr sz="2200">
                    <a:solidFill>
                      <a:srgbClr val="1E293B"/>
                    </a:solidFill>
                    <a:latin typeface="Calibri"/>
                  </a:rPr>
                  <a:t>Trung điểm: trung bình cộng toạ độ hai đầu mút; trọng tâm: trung bình cộng toạ độ ba đỉnh.</a:t>
                </a:r>
              </a:p>
            </p:txBody>
          </p:sp>
        </mc:Choice>
        <mc:Fallback xmlns="">
          <p:sp>
            <p:nvSpPr>
              <p:cNvPr id="8" name="TextBox 7"/>
              <p:cNvSpPr txBox="1"/>
              <p:nvPr/>
            </p:nvSpPr>
            <p:spPr>
              <a:xfrm>
                <a:off x="713232" y="1499616"/>
                <a:ext cx="10735056" cy="129844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\overrightarrow{MN}</a:t>
                </a:r>
                <a:r>
                  <a:rPr sz="2200">
                    <a:solidFill>
                      <a:srgbClr val="1E293B"/>
                    </a:solidFill>
                    <a:latin typeface="Calibri"/>
                  </a:rPr>
                  <a:t> = </a:t>
                </a:r>
                <a:r>
                  <a:rPr lang="vi-VN"/>
                  <a:t>(x'-x;\ y'-y)</a:t>
                </a:r>
                <a:r>
                  <a:rPr sz="2200">
                    <a:solidFill>
                      <a:srgbClr val="1E293B"/>
                    </a:solidFill>
                    <a:latin typeface="Calibri"/>
                  </a:rPr>
                  <a:t>; </a:t>
                </a:r>
                <a:r>
                  <a:rPr lang="vi-VN"/>
                  <a:t>MN=\sqrt{(x'-x)^2+(y'-y)^2}</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Trung điểm: trung bình cộng toạ độ hai đầu mút; trọng tâm: trung bình cộng toạ độ ba đỉnh.</a:t>
                </a:r>
              </a:p>
            </p:txBody>
          </p:sp>
        </mc:Fallback>
      </mc:AlternateContent>
      <p:sp>
        <p:nvSpPr>
          <p:cNvPr id="9" name="Rounded Rectangle 8"/>
          <p:cNvSpPr/>
          <p:nvPr/>
        </p:nvSpPr>
        <p:spPr>
          <a:xfrm>
            <a:off x="548640" y="306324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3099816"/>
            <a:ext cx="10735056" cy="1399032"/>
          </a:xfrm>
          <a:prstGeom prst="rect">
            <a:avLst/>
          </a:prstGeom>
          <a:noFill/>
        </p:spPr>
        <p:txBody>
          <a:bodyPr wrap="square" lIns="45720" rIns="45720" anchor="ctr">
            <a:spAutoFit/>
          </a:bodyPr>
          <a:lstStyle/>
          <a:p>
            <a:pPr algn="l">
              <a:spcAft>
                <a:spcPts val="800"/>
              </a:spcAft>
            </a:pPr>
            <a:r>
              <a:rPr sz="2200" b="1">
                <a:solidFill>
                  <a:srgbClr val="1E293B"/>
                </a:solidFill>
                <a:latin typeface="Calibri"/>
              </a:rPr>
              <a:t>Nhiệm vụ về nhà:</a:t>
            </a:r>
          </a:p>
          <a:p>
            <a:pPr marL="365760" indent="-365760" algn="l">
              <a:spcAft>
                <a:spcPts val="800"/>
              </a:spcAft>
              <a:buClr>
                <a:srgbClr val="1E40AF"/>
              </a:buClr>
              <a:buFont typeface="Arial"/>
              <a:buChar char="•"/>
            </a:pPr>
            <a:r>
              <a:rPr sz="2200">
                <a:solidFill>
                  <a:srgbClr val="1E293B"/>
                </a:solidFill>
                <a:latin typeface="Calibri"/>
              </a:rPr>
              <a:t>Làm Bài tập 4.16, 4.17 (SGK tr.65).</a:t>
            </a:r>
          </a:p>
          <a:p>
            <a:pPr marL="365760" indent="-365760" algn="l">
              <a:spcAft>
                <a:spcPts val="800"/>
              </a:spcAft>
              <a:buClr>
                <a:srgbClr val="1E40AF"/>
              </a:buClr>
              <a:buFont typeface="Arial"/>
              <a:buChar char="•"/>
            </a:pPr>
            <a:r>
              <a:rPr sz="2200">
                <a:solidFill>
                  <a:srgbClr val="1E293B"/>
                </a:solidFill>
                <a:latin typeface="Calibri"/>
              </a:rPr>
              <a:t>Tiết sau luyện tập: mang máy tính cầm tay, bảng con.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3 (T34)</a:t>
            </a:r>
          </a:p>
          <a:p>
            <a:pPr>
              <a:spcAft>
                <a:spcPts val="600"/>
              </a:spcAft>
            </a:pPr>
            <a:r>
              <a:rPr sz="4000" b="1">
                <a:solidFill>
                  <a:srgbClr val="FFFFFF"/>
                </a:solidFill>
                <a:latin typeface="Cambria"/>
              </a:rPr>
              <a:t>Luyện tập</a:t>
            </a:r>
          </a:p>
        </p:txBody>
      </p:sp>
      <p:sp>
        <p:nvSpPr>
          <p:cNvPr id="5" name="TextBox 4"/>
          <p:cNvSpPr txBox="1"/>
          <p:nvPr/>
        </p:nvSpPr>
        <p:spPr>
          <a:xfrm>
            <a:off x="1097280" y="4343400"/>
            <a:ext cx="10332720" cy="1828800"/>
          </a:xfrm>
          <a:prstGeom prst="rect">
            <a:avLst/>
          </a:prstGeom>
          <a:noFill/>
        </p:spPr>
        <p:txBody>
          <a:bodyPr wrap="square" lIns="45720" rIns="45720" anchor="t">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Vận dụng biểu thức toạ độ giải Bài tập 4.16 – 4.20.</a:t>
            </a:r>
          </a:p>
          <a:p>
            <a:pPr algn="l">
              <a:spcAft>
                <a:spcPts val="800"/>
              </a:spcAft>
            </a:pPr>
            <a:r>
              <a:rPr sz="2200">
                <a:solidFill>
                  <a:srgbClr val="E0E7FF"/>
                </a:solidFill>
                <a:latin typeface="Calibri"/>
              </a:rPr>
              <a:t>• Củng cố toàn bài theo cấu trúc đề thi mới.</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4.16 – 4.17 (SGK TR.65)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24</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783335"/>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4.16.</a:t>
                </a:r>
                <a:r>
                  <a:rPr sz="2000">
                    <a:solidFill>
                      <a:srgbClr val="1E293B"/>
                    </a:solidFill>
                    <a:latin typeface="Calibri"/>
                  </a:rPr>
                  <a:t> Cho các điểm </a:t>
                </a:r>
                <a14:m>
                  <m:oMath xmlns:m="http://schemas.openxmlformats.org/officeDocument/2006/math">
                    <m:r>
                      <a:rPr lang="vi-VN" sz="2000" b="0">
                        <a:solidFill>
                          <a:srgbClr val="1E293B"/>
                        </a:solidFill>
                        <a:latin typeface="Cambria Math" panose="02040503050406030204" pitchFamily="18" charset="0"/>
                      </a:rPr>
                      <m:t>𝑀</m:t>
                    </m:r>
                    <m:r>
                      <a:rPr lang="vi-VN" sz="2000" b="0">
                        <a:solidFill>
                          <a:srgbClr val="1E293B"/>
                        </a:solidFill>
                        <a:latin typeface="Cambria Math" panose="02040503050406030204" pitchFamily="18" charset="0"/>
                      </a:rPr>
                      <m:t>(1; 3)</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𝑁</m:t>
                    </m:r>
                    <m:r>
                      <a:rPr lang="vi-VN" sz="2000" b="0">
                        <a:solidFill>
                          <a:srgbClr val="1E293B"/>
                        </a:solidFill>
                        <a:latin typeface="Cambria Math" panose="02040503050406030204" pitchFamily="18" charset="0"/>
                      </a:rPr>
                      <m:t>(4; 2)</m:t>
                    </m:r>
                  </m:oMath>
                </a14:m>
                <a:r>
                  <a:rPr sz="2000">
                    <a:solidFill>
                      <a:srgbClr val="1E293B"/>
                    </a:solidFill>
                    <a:latin typeface="Calibri"/>
                  </a:rPr>
                  <a:t>. a) Tính độ dài của các đoạn thẳng </a:t>
                </a:r>
                <a14:m>
                  <m:oMath xmlns:m="http://schemas.openxmlformats.org/officeDocument/2006/math">
                    <m:r>
                      <a:rPr lang="vi-VN" sz="2000" b="0">
                        <a:solidFill>
                          <a:srgbClr val="1E293B"/>
                        </a:solidFill>
                        <a:latin typeface="Cambria Math" panose="02040503050406030204" pitchFamily="18" charset="0"/>
                      </a:rPr>
                      <m:t>𝑂𝑀</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𝑂𝑁</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𝑀𝑁</m:t>
                    </m:r>
                  </m:oMath>
                </a14:m>
                <a:r>
                  <a:rPr sz="2000">
                    <a:solidFill>
                      <a:srgbClr val="1E293B"/>
                    </a:solidFill>
                    <a:latin typeface="Calibri"/>
                  </a:rPr>
                  <a:t>. b) Chứng minh rằng tam giác </a:t>
                </a:r>
                <a14:m>
                  <m:oMath xmlns:m="http://schemas.openxmlformats.org/officeDocument/2006/math">
                    <m:r>
                      <a:rPr lang="vi-VN" sz="2000" b="0">
                        <a:solidFill>
                          <a:srgbClr val="1E293B"/>
                        </a:solidFill>
                        <a:latin typeface="Cambria Math" panose="02040503050406030204" pitchFamily="18" charset="0"/>
                      </a:rPr>
                      <m:t>𝑂𝑀𝑁</m:t>
                    </m:r>
                  </m:oMath>
                </a14:m>
                <a:r>
                  <a:rPr sz="2000">
                    <a:solidFill>
                      <a:srgbClr val="1E293B"/>
                    </a:solidFill>
                    <a:latin typeface="Calibri"/>
                  </a:rPr>
                  <a:t> vuông cân.</a:t>
                </a:r>
              </a:p>
            </p:txBody>
          </p:sp>
        </mc:Choice>
        <mc:Fallback xmlns="">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4.16.</a:t>
                </a:r>
                <a:r>
                  <a:rPr sz="2000">
                    <a:solidFill>
                      <a:srgbClr val="1E293B"/>
                    </a:solidFill>
                    <a:latin typeface="Calibri"/>
                  </a:rPr>
                  <a:t> Cho các điểm </a:t>
                </a:r>
                <a:r>
                  <a:rPr lang="vi-VN"/>
                  <a:t>M(1;\ 3)</a:t>
                </a:r>
                <a:r>
                  <a:rPr sz="2000">
                    <a:solidFill>
                      <a:srgbClr val="1E293B"/>
                    </a:solidFill>
                    <a:latin typeface="Calibri"/>
                  </a:rPr>
                  <a:t>, </a:t>
                </a:r>
                <a:r>
                  <a:rPr lang="vi-VN"/>
                  <a:t>N(4;\ 2)</a:t>
                </a:r>
                <a:r>
                  <a:rPr sz="2000">
                    <a:solidFill>
                      <a:srgbClr val="1E293B"/>
                    </a:solidFill>
                    <a:latin typeface="Calibri"/>
                  </a:rPr>
                  <a:t>. a) Tính độ dài của các đoạn thẳng </a:t>
                </a:r>
                <a:r>
                  <a:rPr lang="vi-VN"/>
                  <a:t>OM,\ ON,\ MN</a:t>
                </a:r>
                <a:r>
                  <a:rPr sz="2000">
                    <a:solidFill>
                      <a:srgbClr val="1E293B"/>
                    </a:solidFill>
                    <a:latin typeface="Calibri"/>
                  </a:rPr>
                  <a:t>. b) Chứng minh rằng tam giác </a:t>
                </a:r>
                <a:r>
                  <a:rPr lang="vi-VN"/>
                  <a:t>OMN</a:t>
                </a:r>
                <a:r>
                  <a:rPr sz="2000">
                    <a:solidFill>
                      <a:srgbClr val="1E293B"/>
                    </a:solidFill>
                    <a:latin typeface="Calibri"/>
                  </a:rPr>
                  <a:t> vuông cân.</a:t>
                </a:r>
              </a:p>
            </p:txBody>
          </p:sp>
        </mc:Fallback>
      </mc:AlternateContent>
      <p:sp>
        <p:nvSpPr>
          <p:cNvPr id="8" name="s1_nen"/>
          <p:cNvSpPr/>
          <p:nvPr/>
        </p:nvSpPr>
        <p:spPr>
          <a:xfrm>
            <a:off x="548640" y="2218944"/>
            <a:ext cx="110642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255520"/>
                <a:ext cx="10735056" cy="801623"/>
              </a:xfrm>
              <a:prstGeom prst="rect">
                <a:avLst/>
              </a:prstGeom>
              <a:noFill/>
            </p:spPr>
            <p:txBody>
              <a:bodyPr wrap="square" lIns="45720" rIns="45720" anchor="ctr">
                <a:spAutoFit/>
              </a:bodyPr>
              <a:lstStyle/>
              <a:p>
                <a:pPr algn="l">
                  <a:spcAft>
                    <a:spcPts val="800"/>
                  </a:spcAft>
                </a:pPr>
                <a:r>
                  <a:rPr sz="2000" b="1">
                    <a:solidFill>
                      <a:srgbClr val="1E293B"/>
                    </a:solidFill>
                    <a:latin typeface="Calibri"/>
                  </a:rPr>
                  <a:t>4.16.</a:t>
                </a:r>
                <a:r>
                  <a:rPr sz="2000">
                    <a:solidFill>
                      <a:srgbClr val="1E293B"/>
                    </a:solidFill>
                    <a:latin typeface="Calibri"/>
                  </a:rPr>
                  <a:t> a) </a:t>
                </a:r>
                <a14:m>
                  <m:oMath xmlns:m="http://schemas.openxmlformats.org/officeDocument/2006/math">
                    <m:r>
                      <a:rPr lang="vi-VN" sz="2000" b="0">
                        <a:solidFill>
                          <a:srgbClr val="1E293B"/>
                        </a:solidFill>
                        <a:latin typeface="Cambria Math" panose="02040503050406030204" pitchFamily="18" charset="0"/>
                      </a:rPr>
                      <m:t>𝑂𝑀</m:t>
                    </m:r>
                    <m:r>
                      <a:rPr lang="vi-VN" sz="2000" b="0">
                        <a:solidFill>
                          <a:srgbClr val="1E293B"/>
                        </a:solidFill>
                        <a:latin typeface="Cambria Math" panose="02040503050406030204" pitchFamily="18" charset="0"/>
                      </a:rPr>
                      <m:t>=</m:t>
                    </m:r>
                    <m:rad>
                      <m:radPr>
                        <m:degHide m:val="on"/>
                        <m:ctrlPr>
                          <a:rPr lang="vi-VN" sz="2000" b="0" i="1">
                            <a:solidFill>
                              <a:srgbClr val="1E293B"/>
                            </a:solidFill>
                            <a:latin typeface="Cambria Math" panose="02040503050406030204" pitchFamily="18" charset="0"/>
                          </a:rPr>
                        </m:ctrlPr>
                      </m:radPr>
                      <m:deg/>
                      <m:e>
                        <m:r>
                          <a:rPr lang="vi-VN" sz="2000" b="0">
                            <a:solidFill>
                              <a:srgbClr val="1E293B"/>
                            </a:solidFill>
                            <a:latin typeface="Cambria Math" panose="02040503050406030204" pitchFamily="18" charset="0"/>
                          </a:rPr>
                          <m:t>10</m:t>
                        </m:r>
                      </m:e>
                    </m:rad>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𝑂𝑁</m:t>
                    </m:r>
                    <m:r>
                      <a:rPr lang="vi-VN" sz="2000" b="0">
                        <a:solidFill>
                          <a:srgbClr val="1E293B"/>
                        </a:solidFill>
                        <a:latin typeface="Cambria Math" panose="02040503050406030204" pitchFamily="18" charset="0"/>
                      </a:rPr>
                      <m:t>=2</m:t>
                    </m:r>
                    <m:rad>
                      <m:radPr>
                        <m:degHide m:val="on"/>
                        <m:ctrlPr>
                          <a:rPr lang="vi-VN" sz="2000" b="0" i="1">
                            <a:solidFill>
                              <a:srgbClr val="1E293B"/>
                            </a:solidFill>
                            <a:latin typeface="Cambria Math" panose="02040503050406030204" pitchFamily="18" charset="0"/>
                          </a:rPr>
                        </m:ctrlPr>
                      </m:radPr>
                      <m:deg/>
                      <m:e>
                        <m:r>
                          <a:rPr lang="vi-VN" sz="2000" b="0">
                            <a:solidFill>
                              <a:srgbClr val="1E293B"/>
                            </a:solidFill>
                            <a:latin typeface="Cambria Math" panose="02040503050406030204" pitchFamily="18" charset="0"/>
                          </a:rPr>
                          <m:t>5</m:t>
                        </m:r>
                      </m:e>
                    </m:rad>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𝑀𝑁</m:t>
                    </m:r>
                    <m:r>
                      <a:rPr lang="vi-VN" sz="2000" b="0">
                        <a:solidFill>
                          <a:srgbClr val="1E293B"/>
                        </a:solidFill>
                        <a:latin typeface="Cambria Math" panose="02040503050406030204" pitchFamily="18" charset="0"/>
                      </a:rPr>
                      <m:t>=</m:t>
                    </m:r>
                    <m:rad>
                      <m:radPr>
                        <m:degHide m:val="on"/>
                        <m:ctrlPr>
                          <a:rPr lang="vi-VN" sz="2000" b="0" i="1">
                            <a:solidFill>
                              <a:srgbClr val="1E293B"/>
                            </a:solidFill>
                            <a:latin typeface="Cambria Math" panose="02040503050406030204" pitchFamily="18" charset="0"/>
                          </a:rPr>
                        </m:ctrlPr>
                      </m:radPr>
                      <m:deg/>
                      <m:e>
                        <m:r>
                          <a:rPr lang="vi-VN" sz="2000" b="0">
                            <a:solidFill>
                              <a:srgbClr val="1E293B"/>
                            </a:solidFill>
                            <a:latin typeface="Cambria Math" panose="02040503050406030204" pitchFamily="18" charset="0"/>
                          </a:rPr>
                          <m:t>10</m:t>
                        </m:r>
                      </m:e>
                    </m:rad>
                  </m:oMath>
                </a14:m>
                <a:r>
                  <a:rPr sz="2000">
                    <a:solidFill>
                      <a:srgbClr val="1E293B"/>
                    </a:solidFill>
                    <a:latin typeface="Calibri"/>
                  </a:rPr>
                  <a:t>. b) </a:t>
                </a:r>
                <a14:m>
                  <m:oMath xmlns:m="http://schemas.openxmlformats.org/officeDocument/2006/math">
                    <m:r>
                      <a:rPr lang="vi-VN" sz="2000" b="0">
                        <a:solidFill>
                          <a:srgbClr val="1E293B"/>
                        </a:solidFill>
                        <a:latin typeface="Cambria Math" panose="02040503050406030204" pitchFamily="18" charset="0"/>
                      </a:rPr>
                      <m:t>𝑂𝑀</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𝑀𝑁</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𝑂</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𝑀</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𝑀</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𝑁</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=20=</m:t>
                    </m:r>
                    <m:r>
                      <a:rPr lang="vi-VN" sz="2000" b="0">
                        <a:solidFill>
                          <a:srgbClr val="1E293B"/>
                        </a:solidFill>
                        <a:latin typeface="Cambria Math" panose="02040503050406030204" pitchFamily="18" charset="0"/>
                      </a:rPr>
                      <m:t>𝑂</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𝑁</m:t>
                        </m:r>
                      </m:e>
                      <m:sup>
                        <m:r>
                          <a:rPr lang="vi-VN" sz="2000" b="0">
                            <a:solidFill>
                              <a:srgbClr val="1E293B"/>
                            </a:solidFill>
                            <a:latin typeface="Cambria Math" panose="02040503050406030204" pitchFamily="18" charset="0"/>
                          </a:rPr>
                          <m:t>2</m:t>
                        </m:r>
                      </m:sup>
                    </m:sSup>
                  </m:oMath>
                </a14:m>
                <a:r>
                  <a:rPr sz="2000">
                    <a:solidFill>
                      <a:srgbClr val="1E293B"/>
                    </a:solidFill>
                    <a:latin typeface="Calibri"/>
                  </a:rPr>
                  <a:t> ⇒ tam giác </a:t>
                </a:r>
                <a14:m>
                  <m:oMath xmlns:m="http://schemas.openxmlformats.org/officeDocument/2006/math">
                    <m:r>
                      <a:rPr lang="vi-VN" sz="2000" b="0">
                        <a:solidFill>
                          <a:srgbClr val="1E293B"/>
                        </a:solidFill>
                        <a:latin typeface="Cambria Math" panose="02040503050406030204" pitchFamily="18" charset="0"/>
                      </a:rPr>
                      <m:t>𝑂𝑀𝑁</m:t>
                    </m:r>
                  </m:oMath>
                </a14:m>
                <a:r>
                  <a:rPr sz="2000">
                    <a:solidFill>
                      <a:srgbClr val="1E293B"/>
                    </a:solidFill>
                    <a:latin typeface="Calibri"/>
                  </a:rPr>
                  <a:t> vuông cân tại </a:t>
                </a:r>
                <a14:m>
                  <m:oMath xmlns:m="http://schemas.openxmlformats.org/officeDocument/2006/math">
                    <m:r>
                      <a:rPr lang="vi-VN" sz="2000" b="0">
                        <a:solidFill>
                          <a:srgbClr val="1E293B"/>
                        </a:solidFill>
                        <a:latin typeface="Cambria Math" panose="02040503050406030204" pitchFamily="18" charset="0"/>
                      </a:rPr>
                      <m:t>𝑀</m:t>
                    </m:r>
                  </m:oMath>
                </a14:m>
                <a:r>
                  <a:rPr sz="2000">
                    <a:solidFill>
                      <a:srgbClr val="1E293B"/>
                    </a:solidFill>
                    <a:latin typeface="Calibri"/>
                  </a:rPr>
                  <a:t>.</a:t>
                </a:r>
              </a:p>
            </p:txBody>
          </p:sp>
        </mc:Choice>
        <mc:Fallback xmlns="">
          <p:sp>
            <p:nvSpPr>
              <p:cNvPr id="9" name="TextBox 8"/>
              <p:cNvSpPr txBox="1"/>
              <p:nvPr/>
            </p:nvSpPr>
            <p:spPr>
              <a:xfrm>
                <a:off x="713232" y="2255520"/>
                <a:ext cx="1073505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4.16.</a:t>
                </a:r>
                <a:r>
                  <a:rPr sz="2000">
                    <a:solidFill>
                      <a:srgbClr val="1E293B"/>
                    </a:solidFill>
                    <a:latin typeface="Calibri"/>
                  </a:rPr>
                  <a:t> a) </a:t>
                </a:r>
                <a:r>
                  <a:rPr lang="vi-VN"/>
                  <a:t>OM=\sqrt{10}</a:t>
                </a:r>
                <a:r>
                  <a:rPr sz="2000">
                    <a:solidFill>
                      <a:srgbClr val="1E293B"/>
                    </a:solidFill>
                    <a:latin typeface="Calibri"/>
                  </a:rPr>
                  <a:t>, </a:t>
                </a:r>
                <a:r>
                  <a:rPr lang="vi-VN"/>
                  <a:t>ON=2\sqrt{5}</a:t>
                </a:r>
                <a:r>
                  <a:rPr sz="2000">
                    <a:solidFill>
                      <a:srgbClr val="1E293B"/>
                    </a:solidFill>
                    <a:latin typeface="Calibri"/>
                  </a:rPr>
                  <a:t>, </a:t>
                </a:r>
                <a:r>
                  <a:rPr lang="vi-VN"/>
                  <a:t>MN=\sqrt{10}</a:t>
                </a:r>
                <a:r>
                  <a:rPr sz="2000">
                    <a:solidFill>
                      <a:srgbClr val="1E293B"/>
                    </a:solidFill>
                    <a:latin typeface="Calibri"/>
                  </a:rPr>
                  <a:t>. b) </a:t>
                </a:r>
                <a:r>
                  <a:rPr lang="vi-VN"/>
                  <a:t>OM=MN</a:t>
                </a:r>
                <a:r>
                  <a:rPr sz="2000">
                    <a:solidFill>
                      <a:srgbClr val="1E293B"/>
                    </a:solidFill>
                    <a:latin typeface="Calibri"/>
                  </a:rPr>
                  <a:t>, </a:t>
                </a:r>
                <a:r>
                  <a:rPr lang="vi-VN"/>
                  <a:t>OM^2+MN^2=20=ON^2</a:t>
                </a:r>
                <a:r>
                  <a:rPr sz="2000">
                    <a:solidFill>
                      <a:srgbClr val="1E293B"/>
                    </a:solidFill>
                    <a:latin typeface="Calibri"/>
                  </a:rPr>
                  <a:t> ⇒ tam giác </a:t>
                </a:r>
                <a:r>
                  <a:rPr lang="vi-VN"/>
                  <a:t>OMN</a:t>
                </a:r>
                <a:r>
                  <a:rPr sz="2000">
                    <a:solidFill>
                      <a:srgbClr val="1E293B"/>
                    </a:solidFill>
                    <a:latin typeface="Calibri"/>
                  </a:rPr>
                  <a:t> vuông cân tại </a:t>
                </a:r>
                <a:r>
                  <a:rPr lang="vi-VN"/>
                  <a:t>M</a:t>
                </a:r>
                <a:r>
                  <a:rPr sz="20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10" name="s2_chu"/>
              <p:cNvSpPr txBox="1"/>
              <p:nvPr/>
            </p:nvSpPr>
            <p:spPr>
              <a:xfrm>
                <a:off x="548640" y="3157728"/>
                <a:ext cx="11064240" cy="1088136"/>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4.17.</a:t>
                </a:r>
                <a:r>
                  <a:rPr sz="2000">
                    <a:solidFill>
                      <a:srgbClr val="1E293B"/>
                    </a:solidFill>
                    <a:latin typeface="Calibri"/>
                  </a:rPr>
                  <a:t> Cho các vectơ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=3</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−2</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r>
                      <a:rPr lang="vi-VN" sz="2000" b="0">
                        <a:solidFill>
                          <a:srgbClr val="1E293B"/>
                        </a:solidFill>
                        <a:latin typeface="Cambria Math" panose="02040503050406030204" pitchFamily="18" charset="0"/>
                      </a:rPr>
                      <m:t>=(4; −1)</m:t>
                    </m:r>
                  </m:oMath>
                </a14:m>
                <a:r>
                  <a:rPr sz="2000">
                    <a:solidFill>
                      <a:srgbClr val="1E293B"/>
                    </a:solidFill>
                    <a:latin typeface="Calibri"/>
                  </a:rPr>
                  <a:t> và các điểm </a:t>
                </a:r>
                <a14:m>
                  <m:oMath xmlns:m="http://schemas.openxmlformats.org/officeDocument/2006/math">
                    <m:r>
                      <a:rPr lang="vi-VN" sz="2000" b="0">
                        <a:solidFill>
                          <a:srgbClr val="1E293B"/>
                        </a:solidFill>
                        <a:latin typeface="Cambria Math" panose="02040503050406030204" pitchFamily="18" charset="0"/>
                      </a:rPr>
                      <m:t>𝑀</m:t>
                    </m:r>
                    <m:r>
                      <a:rPr lang="vi-VN" sz="2000" b="0">
                        <a:solidFill>
                          <a:srgbClr val="1E293B"/>
                        </a:solidFill>
                        <a:latin typeface="Cambria Math" panose="02040503050406030204" pitchFamily="18" charset="0"/>
                      </a:rPr>
                      <m:t>(−3; 6)</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𝑁</m:t>
                    </m:r>
                    <m:r>
                      <a:rPr lang="vi-VN" sz="2000" b="0">
                        <a:solidFill>
                          <a:srgbClr val="1E293B"/>
                        </a:solidFill>
                        <a:latin typeface="Cambria Math" panose="02040503050406030204" pitchFamily="18" charset="0"/>
                      </a:rPr>
                      <m:t>(3; −3)</m:t>
                    </m:r>
                  </m:oMath>
                </a14:m>
                <a:r>
                  <a:rPr sz="2000">
                    <a:solidFill>
                      <a:srgbClr val="1E293B"/>
                    </a:solidFill>
                    <a:latin typeface="Calibri"/>
                  </a:rPr>
                  <a:t>. a) Tìm mối liên hệ giữa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𝑀𝑁</m:t>
                        </m:r>
                      </m:e>
                    </m:acc>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2</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oMath>
                </a14:m>
                <a:r>
                  <a:rPr sz="2000">
                    <a:solidFill>
                      <a:srgbClr val="1E293B"/>
                    </a:solidFill>
                    <a:latin typeface="Calibri"/>
                  </a:rPr>
                  <a:t>. b) Các điểm </a:t>
                </a:r>
                <a14:m>
                  <m:oMath xmlns:m="http://schemas.openxmlformats.org/officeDocument/2006/math">
                    <m:r>
                      <a:rPr lang="vi-VN" sz="2000" b="0">
                        <a:solidFill>
                          <a:srgbClr val="1E293B"/>
                        </a:solidFill>
                        <a:latin typeface="Cambria Math" panose="02040503050406030204" pitchFamily="18" charset="0"/>
                      </a:rPr>
                      <m:t>𝑂</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𝑀</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𝑁</m:t>
                    </m:r>
                  </m:oMath>
                </a14:m>
                <a:r>
                  <a:rPr sz="2000">
                    <a:solidFill>
                      <a:srgbClr val="1E293B"/>
                    </a:solidFill>
                    <a:latin typeface="Calibri"/>
                  </a:rPr>
                  <a:t> có thẳng hàng hay không? c) Tìm điểm </a:t>
                </a:r>
                <a14:m>
                  <m:oMath xmlns:m="http://schemas.openxmlformats.org/officeDocument/2006/math">
                    <m:r>
                      <a:rPr lang="vi-VN" sz="2000" b="0">
                        <a:solidFill>
                          <a:srgbClr val="1E293B"/>
                        </a:solidFill>
                        <a:latin typeface="Cambria Math" panose="02040503050406030204" pitchFamily="18" charset="0"/>
                      </a:rPr>
                      <m:t>𝑃</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𝑦</m:t>
                    </m:r>
                    <m:r>
                      <a:rPr lang="vi-VN" sz="2000" b="0">
                        <a:solidFill>
                          <a:srgbClr val="1E293B"/>
                        </a:solidFill>
                        <a:latin typeface="Cambria Math" panose="02040503050406030204" pitchFamily="18" charset="0"/>
                      </a:rPr>
                      <m:t>)</m:t>
                    </m:r>
                  </m:oMath>
                </a14:m>
                <a:r>
                  <a:rPr sz="2000">
                    <a:solidFill>
                      <a:srgbClr val="1E293B"/>
                    </a:solidFill>
                    <a:latin typeface="Calibri"/>
                  </a:rPr>
                  <a:t> để </a:t>
                </a:r>
                <a14:m>
                  <m:oMath xmlns:m="http://schemas.openxmlformats.org/officeDocument/2006/math">
                    <m:r>
                      <a:rPr lang="vi-VN" sz="2000" b="0">
                        <a:solidFill>
                          <a:srgbClr val="1E293B"/>
                        </a:solidFill>
                        <a:latin typeface="Cambria Math" panose="02040503050406030204" pitchFamily="18" charset="0"/>
                      </a:rPr>
                      <m:t>𝑂𝑀𝑁𝑃</m:t>
                    </m:r>
                  </m:oMath>
                </a14:m>
                <a:r>
                  <a:rPr sz="2000">
                    <a:solidFill>
                      <a:srgbClr val="1E293B"/>
                    </a:solidFill>
                    <a:latin typeface="Calibri"/>
                  </a:rPr>
                  <a:t> là một hình bình hành.</a:t>
                </a:r>
              </a:p>
            </p:txBody>
          </p:sp>
        </mc:Choice>
        <mc:Fallback xmlns="">
          <p:sp>
            <p:nvSpPr>
              <p:cNvPr id="10" name="TextBox 9"/>
              <p:cNvSpPr txBox="1"/>
              <p:nvPr/>
            </p:nvSpPr>
            <p:spPr>
              <a:xfrm>
                <a:off x="548640" y="3157728"/>
                <a:ext cx="110642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4.17.</a:t>
                </a:r>
                <a:r>
                  <a:rPr sz="2000">
                    <a:solidFill>
                      <a:srgbClr val="1E293B"/>
                    </a:solidFill>
                    <a:latin typeface="Calibri"/>
                  </a:rPr>
                  <a:t> Cho các vectơ </a:t>
                </a:r>
                <a:r>
                  <a:rPr lang="vi-VN"/>
                  <a:t>\vec{a}=3\vec{i}-2\vec{j}</a:t>
                </a:r>
                <a:r>
                  <a:rPr sz="2000">
                    <a:solidFill>
                      <a:srgbClr val="1E293B"/>
                    </a:solidFill>
                    <a:latin typeface="Calibri"/>
                  </a:rPr>
                  <a:t>, </a:t>
                </a:r>
                <a:r>
                  <a:rPr lang="vi-VN"/>
                  <a:t>\vec{b}=(4;\ -1)</a:t>
                </a:r>
                <a:r>
                  <a:rPr sz="2000">
                    <a:solidFill>
                      <a:srgbClr val="1E293B"/>
                    </a:solidFill>
                    <a:latin typeface="Calibri"/>
                  </a:rPr>
                  <a:t> và các điểm </a:t>
                </a:r>
                <a:r>
                  <a:rPr lang="vi-VN"/>
                  <a:t>M(-3;\ 6)</a:t>
                </a:r>
                <a:r>
                  <a:rPr sz="2000">
                    <a:solidFill>
                      <a:srgbClr val="1E293B"/>
                    </a:solidFill>
                    <a:latin typeface="Calibri"/>
                  </a:rPr>
                  <a:t>, </a:t>
                </a:r>
                <a:r>
                  <a:rPr lang="vi-VN"/>
                  <a:t>N(3;\ -3)</a:t>
                </a:r>
                <a:r>
                  <a:rPr sz="2000">
                    <a:solidFill>
                      <a:srgbClr val="1E293B"/>
                    </a:solidFill>
                    <a:latin typeface="Calibri"/>
                  </a:rPr>
                  <a:t>. a) Tìm mối liên hệ giữa </a:t>
                </a:r>
                <a:r>
                  <a:rPr lang="vi-VN"/>
                  <a:t>\overrightarrow{MN}</a:t>
                </a:r>
                <a:r>
                  <a:rPr sz="2000">
                    <a:solidFill>
                      <a:srgbClr val="1E293B"/>
                    </a:solidFill>
                    <a:latin typeface="Calibri"/>
                  </a:rPr>
                  <a:t> và </a:t>
                </a:r>
                <a:r>
                  <a:rPr lang="vi-VN"/>
                  <a:t>2\vec{a}-\vec{b}</a:t>
                </a:r>
                <a:r>
                  <a:rPr sz="2000">
                    <a:solidFill>
                      <a:srgbClr val="1E293B"/>
                    </a:solidFill>
                    <a:latin typeface="Calibri"/>
                  </a:rPr>
                  <a:t>. b) Các điểm </a:t>
                </a:r>
                <a:r>
                  <a:rPr lang="vi-VN"/>
                  <a:t>O,\ M,\ N</a:t>
                </a:r>
                <a:r>
                  <a:rPr sz="2000">
                    <a:solidFill>
                      <a:srgbClr val="1E293B"/>
                    </a:solidFill>
                    <a:latin typeface="Calibri"/>
                  </a:rPr>
                  <a:t> có thẳng hàng hay không? c) Tìm điểm </a:t>
                </a:r>
                <a:r>
                  <a:rPr lang="vi-VN"/>
                  <a:t>P(x;\ y)</a:t>
                </a:r>
                <a:r>
                  <a:rPr sz="2000">
                    <a:solidFill>
                      <a:srgbClr val="1E293B"/>
                    </a:solidFill>
                    <a:latin typeface="Calibri"/>
                  </a:rPr>
                  <a:t> để </a:t>
                </a:r>
                <a:r>
                  <a:rPr lang="vi-VN"/>
                  <a:t>OMNP</a:t>
                </a:r>
                <a:r>
                  <a:rPr sz="2000">
                    <a:solidFill>
                      <a:srgbClr val="1E293B"/>
                    </a:solidFill>
                    <a:latin typeface="Calibri"/>
                  </a:rPr>
                  <a:t> là một hình bình hành.</a:t>
                </a:r>
              </a:p>
            </p:txBody>
          </p:sp>
        </mc:Fallback>
      </mc:AlternateContent>
      <p:sp>
        <p:nvSpPr>
          <p:cNvPr id="11" name="s3_nen"/>
          <p:cNvSpPr/>
          <p:nvPr/>
        </p:nvSpPr>
        <p:spPr>
          <a:xfrm>
            <a:off x="548640" y="4309872"/>
            <a:ext cx="110642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s3_chu"/>
              <p:cNvSpPr txBox="1"/>
              <p:nvPr/>
            </p:nvSpPr>
            <p:spPr>
              <a:xfrm>
                <a:off x="713232" y="4346448"/>
                <a:ext cx="10735056" cy="801623"/>
              </a:xfrm>
              <a:prstGeom prst="rect">
                <a:avLst/>
              </a:prstGeom>
              <a:noFill/>
            </p:spPr>
            <p:txBody>
              <a:bodyPr wrap="square" lIns="45720" rIns="45720" anchor="ctr">
                <a:spAutoFit/>
              </a:bodyPr>
              <a:lstStyle/>
              <a:p>
                <a:pPr algn="l">
                  <a:spcAft>
                    <a:spcPts val="800"/>
                  </a:spcAft>
                </a:pPr>
                <a:r>
                  <a:rPr sz="2000" b="1">
                    <a:solidFill>
                      <a:srgbClr val="1E293B"/>
                    </a:solidFill>
                    <a:latin typeface="Calibri"/>
                  </a:rPr>
                  <a:t>4.17.</a:t>
                </a:r>
                <a:r>
                  <a:rPr sz="2000">
                    <a:solidFill>
                      <a:srgbClr val="1E293B"/>
                    </a:solidFill>
                    <a:latin typeface="Calibri"/>
                  </a:rPr>
                  <a:t> a) </a:t>
                </a:r>
                <a14:m>
                  <m:oMath xmlns:m="http://schemas.openxmlformats.org/officeDocument/2006/math">
                    <m:r>
                      <a:rPr lang="vi-VN" sz="2000" b="0">
                        <a:solidFill>
                          <a:srgbClr val="1E293B"/>
                        </a:solidFill>
                        <a:latin typeface="Cambria Math" panose="02040503050406030204" pitchFamily="18" charset="0"/>
                      </a:rPr>
                      <m:t>2</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r>
                      <a:rPr lang="vi-VN" sz="2000" b="0">
                        <a:solidFill>
                          <a:srgbClr val="1E293B"/>
                        </a:solidFill>
                        <a:latin typeface="Cambria Math" panose="02040503050406030204" pitchFamily="18" charset="0"/>
                      </a:rPr>
                      <m:t>=(2; −3)</m:t>
                    </m:r>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𝑀𝑁</m:t>
                        </m:r>
                      </m:e>
                    </m:acc>
                  </m:oMath>
                </a14:m>
                <a:r>
                  <a:rPr sz="2000">
                    <a:solidFill>
                      <a:srgbClr val="1E293B"/>
                    </a:solidFill>
                    <a:latin typeface="Calibri"/>
                  </a:rPr>
                  <a:t> =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6; −9)=3(2</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e>
                    </m:d>
                  </m:oMath>
                </a14:m>
                <a:r>
                  <a:rPr sz="2000">
                    <a:solidFill>
                      <a:srgbClr val="1E293B"/>
                    </a:solidFill>
                    <a:latin typeface="Calibri"/>
                  </a:rPr>
                  <a:t>. b)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𝑂𝑀</m:t>
                        </m:r>
                      </m:e>
                    </m:acc>
                  </m:oMath>
                </a14:m>
                <a:r>
                  <a:rPr sz="2000">
                    <a:solidFill>
                      <a:srgbClr val="1E293B"/>
                    </a:solidFill>
                    <a:latin typeface="Calibri"/>
                  </a:rPr>
                  <a:t> =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−3; 6</m:t>
                        </m:r>
                      </m:e>
                    </m:d>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𝑂𝑁</m:t>
                        </m:r>
                      </m:e>
                    </m:acc>
                  </m:oMath>
                </a14:m>
                <a:r>
                  <a:rPr sz="2000">
                    <a:solidFill>
                      <a:srgbClr val="1E293B"/>
                    </a:solidFill>
                    <a:latin typeface="Calibri"/>
                  </a:rPr>
                  <a:t> =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3; −3</m:t>
                        </m:r>
                      </m:e>
                    </m:d>
                  </m:oMath>
                </a14:m>
                <a:r>
                  <a:rPr sz="2000">
                    <a:solidFill>
                      <a:srgbClr val="1E293B"/>
                    </a:solidFill>
                    <a:latin typeface="Calibri"/>
                  </a:rPr>
                  <a:t> không cùng phương ⇒ không thẳng hàng. c)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𝑂𝑃</m:t>
                        </m:r>
                      </m:e>
                    </m:acc>
                  </m:oMath>
                </a14:m>
                <a:r>
                  <a:rPr sz="2000">
                    <a:solidFill>
                      <a:srgbClr val="1E293B"/>
                    </a:solidFill>
                    <a:latin typeface="Calibri"/>
                  </a:rPr>
                  <a:t> =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𝑀𝑁</m:t>
                        </m:r>
                      </m:e>
                    </m:acc>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𝑃</m:t>
                    </m:r>
                    <m:r>
                      <a:rPr lang="vi-VN" sz="2000" b="0">
                        <a:solidFill>
                          <a:srgbClr val="1E293B"/>
                        </a:solidFill>
                        <a:latin typeface="Cambria Math" panose="02040503050406030204" pitchFamily="18" charset="0"/>
                      </a:rPr>
                      <m:t>(6; −9)</m:t>
                    </m:r>
                  </m:oMath>
                </a14:m>
                <a:r>
                  <a:rPr sz="2000">
                    <a:solidFill>
                      <a:srgbClr val="1E293B"/>
                    </a:solidFill>
                    <a:latin typeface="Calibri"/>
                  </a:rPr>
                  <a:t>.</a:t>
                </a:r>
              </a:p>
            </p:txBody>
          </p:sp>
        </mc:Choice>
        <mc:Fallback xmlns="">
          <p:sp>
            <p:nvSpPr>
              <p:cNvPr id="12" name="TextBox 11"/>
              <p:cNvSpPr txBox="1"/>
              <p:nvPr/>
            </p:nvSpPr>
            <p:spPr>
              <a:xfrm>
                <a:off x="713232" y="4346448"/>
                <a:ext cx="1073505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4.17.</a:t>
                </a:r>
                <a:r>
                  <a:rPr sz="2000">
                    <a:solidFill>
                      <a:srgbClr val="1E293B"/>
                    </a:solidFill>
                    <a:latin typeface="Calibri"/>
                  </a:rPr>
                  <a:t> a) </a:t>
                </a:r>
                <a:r>
                  <a:rPr lang="vi-VN"/>
                  <a:t>2\vec{a}-\vec{b}=(2;\ -3)</a:t>
                </a:r>
                <a:r>
                  <a:rPr sz="2000">
                    <a:solidFill>
                      <a:srgbClr val="1E293B"/>
                    </a:solidFill>
                    <a:latin typeface="Calibri"/>
                  </a:rPr>
                  <a:t>, </a:t>
                </a:r>
                <a:r>
                  <a:rPr lang="vi-VN"/>
                  <a:t>\overrightarrow{MN}</a:t>
                </a:r>
                <a:r>
                  <a:rPr sz="2000">
                    <a:solidFill>
                      <a:srgbClr val="1E293B"/>
                    </a:solidFill>
                    <a:latin typeface="Calibri"/>
                  </a:rPr>
                  <a:t> = </a:t>
                </a:r>
                <a:r>
                  <a:rPr lang="vi-VN"/>
                  <a:t>(6;\ -9)=3(2\vec{a}-\vec{b})</a:t>
                </a:r>
                <a:r>
                  <a:rPr sz="2000">
                    <a:solidFill>
                      <a:srgbClr val="1E293B"/>
                    </a:solidFill>
                    <a:latin typeface="Calibri"/>
                  </a:rPr>
                  <a:t>. b) </a:t>
                </a:r>
                <a:r>
                  <a:rPr lang="vi-VN"/>
                  <a:t>\overrightarrow{OM}</a:t>
                </a:r>
                <a:r>
                  <a:rPr sz="2000">
                    <a:solidFill>
                      <a:srgbClr val="1E293B"/>
                    </a:solidFill>
                    <a:latin typeface="Calibri"/>
                  </a:rPr>
                  <a:t> = </a:t>
                </a:r>
                <a:r>
                  <a:rPr lang="vi-VN"/>
                  <a:t>(-3;\ 6)</a:t>
                </a:r>
                <a:r>
                  <a:rPr sz="2000">
                    <a:solidFill>
                      <a:srgbClr val="1E293B"/>
                    </a:solidFill>
                    <a:latin typeface="Calibri"/>
                  </a:rPr>
                  <a:t>, </a:t>
                </a:r>
                <a:r>
                  <a:rPr lang="vi-VN"/>
                  <a:t>\overrightarrow{ON}</a:t>
                </a:r>
                <a:r>
                  <a:rPr sz="2000">
                    <a:solidFill>
                      <a:srgbClr val="1E293B"/>
                    </a:solidFill>
                    <a:latin typeface="Calibri"/>
                  </a:rPr>
                  <a:t> = </a:t>
                </a:r>
                <a:r>
                  <a:rPr lang="vi-VN"/>
                  <a:t>(3;\ -3)</a:t>
                </a:r>
                <a:r>
                  <a:rPr sz="2000">
                    <a:solidFill>
                      <a:srgbClr val="1E293B"/>
                    </a:solidFill>
                    <a:latin typeface="Calibri"/>
                  </a:rPr>
                  <a:t> không cùng phương ⇒ không thẳng hàng. c) </a:t>
                </a:r>
                <a:r>
                  <a:rPr lang="vi-VN"/>
                  <a:t>\overrightarrow{OP}</a:t>
                </a:r>
                <a:r>
                  <a:rPr sz="2000">
                    <a:solidFill>
                      <a:srgbClr val="1E293B"/>
                    </a:solidFill>
                    <a:latin typeface="Calibri"/>
                  </a:rPr>
                  <a:t> = </a:t>
                </a:r>
                <a:r>
                  <a:rPr lang="vi-VN"/>
                  <a:t>\overrightarrow{MN}</a:t>
                </a:r>
                <a:r>
                  <a:rPr sz="2000">
                    <a:solidFill>
                      <a:srgbClr val="1E293B"/>
                    </a:solidFill>
                    <a:latin typeface="Calibri"/>
                  </a:rPr>
                  <a:t> ⇒ </a:t>
                </a:r>
                <a:r>
                  <a:rPr lang="vi-VN"/>
                  <a:t>P(6;\ -9)</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4.18 – 4.19 (SGK TR.65)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25</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1392936"/>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4.18.</a:t>
                </a:r>
                <a:r>
                  <a:rPr sz="2000">
                    <a:solidFill>
                      <a:srgbClr val="1E293B"/>
                    </a:solidFill>
                    <a:latin typeface="Calibri"/>
                  </a:rPr>
                  <a:t> Cho các điểm </a:t>
                </a:r>
                <a14:m>
                  <m:oMath xmlns:m="http://schemas.openxmlformats.org/officeDocument/2006/math">
                    <m:r>
                      <a:rPr lang="vi-VN" sz="2000" b="0">
                        <a:solidFill>
                          <a:srgbClr val="1E293B"/>
                        </a:solidFill>
                        <a:latin typeface="Cambria Math" panose="02040503050406030204" pitchFamily="18" charset="0"/>
                      </a:rPr>
                      <m:t>𝐴</m:t>
                    </m:r>
                    <m:r>
                      <a:rPr lang="vi-VN" sz="2000" b="0">
                        <a:solidFill>
                          <a:srgbClr val="1E293B"/>
                        </a:solidFill>
                        <a:latin typeface="Cambria Math" panose="02040503050406030204" pitchFamily="18" charset="0"/>
                      </a:rPr>
                      <m:t>(1; 3)</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𝐵</m:t>
                    </m:r>
                    <m:r>
                      <a:rPr lang="vi-VN" sz="2000" b="0">
                        <a:solidFill>
                          <a:srgbClr val="1E293B"/>
                        </a:solidFill>
                        <a:latin typeface="Cambria Math" panose="02040503050406030204" pitchFamily="18" charset="0"/>
                      </a:rPr>
                      <m:t>(2; 4)</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𝐶</m:t>
                    </m:r>
                    <m:r>
                      <a:rPr lang="vi-VN" sz="2000" b="0">
                        <a:solidFill>
                          <a:srgbClr val="1E293B"/>
                        </a:solidFill>
                        <a:latin typeface="Cambria Math" panose="02040503050406030204" pitchFamily="18" charset="0"/>
                      </a:rPr>
                      <m:t>(−3; 2)</m:t>
                    </m:r>
                  </m:oMath>
                </a14:m>
                <a:r>
                  <a:rPr sz="2000">
                    <a:solidFill>
                      <a:srgbClr val="1E293B"/>
                    </a:solidFill>
                    <a:latin typeface="Calibri"/>
                  </a:rPr>
                  <a:t>. a) Chứng minh rằng </a:t>
                </a:r>
                <a14:m>
                  <m:oMath xmlns:m="http://schemas.openxmlformats.org/officeDocument/2006/math">
                    <m:r>
                      <a:rPr lang="vi-VN" sz="2000" b="0">
                        <a:solidFill>
                          <a:srgbClr val="1E293B"/>
                        </a:solidFill>
                        <a:latin typeface="Cambria Math" panose="02040503050406030204" pitchFamily="18" charset="0"/>
                      </a:rPr>
                      <m:t>𝐴</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𝐵</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𝐶</m:t>
                    </m:r>
                  </m:oMath>
                </a14:m>
                <a:r>
                  <a:rPr sz="2000">
                    <a:solidFill>
                      <a:srgbClr val="1E293B"/>
                    </a:solidFill>
                    <a:latin typeface="Calibri"/>
                  </a:rPr>
                  <a:t> là ba đỉnh của một tam giác. b) Tìm toạ độ trung điểm </a:t>
                </a:r>
                <a14:m>
                  <m:oMath xmlns:m="http://schemas.openxmlformats.org/officeDocument/2006/math">
                    <m:r>
                      <a:rPr lang="vi-VN" sz="2000" b="0">
                        <a:solidFill>
                          <a:srgbClr val="1E293B"/>
                        </a:solidFill>
                        <a:latin typeface="Cambria Math" panose="02040503050406030204" pitchFamily="18" charset="0"/>
                      </a:rPr>
                      <m:t>𝑀</m:t>
                    </m:r>
                  </m:oMath>
                </a14:m>
                <a:r>
                  <a:rPr sz="2000">
                    <a:solidFill>
                      <a:srgbClr val="1E293B"/>
                    </a:solidFill>
                    <a:latin typeface="Calibri"/>
                  </a:rPr>
                  <a:t> của đoạn thẳng </a:t>
                </a:r>
                <a14:m>
                  <m:oMath xmlns:m="http://schemas.openxmlformats.org/officeDocument/2006/math">
                    <m:r>
                      <a:rPr lang="vi-VN" sz="2000" b="0">
                        <a:solidFill>
                          <a:srgbClr val="1E293B"/>
                        </a:solidFill>
                        <a:latin typeface="Cambria Math" panose="02040503050406030204" pitchFamily="18" charset="0"/>
                      </a:rPr>
                      <m:t>𝐴𝐵</m:t>
                    </m:r>
                  </m:oMath>
                </a14:m>
                <a:r>
                  <a:rPr sz="2000">
                    <a:solidFill>
                      <a:srgbClr val="1E293B"/>
                    </a:solidFill>
                    <a:latin typeface="Calibri"/>
                  </a:rPr>
                  <a:t>. c) Tìm toạ độ trọng tâm </a:t>
                </a:r>
                <a14:m>
                  <m:oMath xmlns:m="http://schemas.openxmlformats.org/officeDocument/2006/math">
                    <m:r>
                      <a:rPr lang="vi-VN" sz="2000" b="0">
                        <a:solidFill>
                          <a:srgbClr val="1E293B"/>
                        </a:solidFill>
                        <a:latin typeface="Cambria Math" panose="02040503050406030204" pitchFamily="18" charset="0"/>
                      </a:rPr>
                      <m:t>𝐺</m:t>
                    </m:r>
                  </m:oMath>
                </a14:m>
                <a:r>
                  <a:rPr sz="2000">
                    <a:solidFill>
                      <a:srgbClr val="1E293B"/>
                    </a:solidFill>
                    <a:latin typeface="Calibri"/>
                  </a:rPr>
                  <a:t> của tam giác </a:t>
                </a:r>
                <a14:m>
                  <m:oMath xmlns:m="http://schemas.openxmlformats.org/officeDocument/2006/math">
                    <m:r>
                      <a:rPr lang="vi-VN" sz="2000" b="0">
                        <a:solidFill>
                          <a:srgbClr val="1E293B"/>
                        </a:solidFill>
                        <a:latin typeface="Cambria Math" panose="02040503050406030204" pitchFamily="18" charset="0"/>
                      </a:rPr>
                      <m:t>𝐴𝐵𝐶</m:t>
                    </m:r>
                  </m:oMath>
                </a14:m>
                <a:r>
                  <a:rPr sz="2000">
                    <a:solidFill>
                      <a:srgbClr val="1E293B"/>
                    </a:solidFill>
                    <a:latin typeface="Calibri"/>
                  </a:rPr>
                  <a:t>. d) Tìm điểm </a:t>
                </a:r>
                <a14:m>
                  <m:oMath xmlns:m="http://schemas.openxmlformats.org/officeDocument/2006/math">
                    <m:r>
                      <a:rPr lang="vi-VN" sz="2000" b="0">
                        <a:solidFill>
                          <a:srgbClr val="1E293B"/>
                        </a:solidFill>
                        <a:latin typeface="Cambria Math" panose="02040503050406030204" pitchFamily="18" charset="0"/>
                      </a:rPr>
                      <m:t>𝐷</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𝑦</m:t>
                    </m:r>
                    <m:r>
                      <a:rPr lang="vi-VN" sz="2000" b="0">
                        <a:solidFill>
                          <a:srgbClr val="1E293B"/>
                        </a:solidFill>
                        <a:latin typeface="Cambria Math" panose="02040503050406030204" pitchFamily="18" charset="0"/>
                      </a:rPr>
                      <m:t>)</m:t>
                    </m:r>
                  </m:oMath>
                </a14:m>
                <a:r>
                  <a:rPr sz="2000">
                    <a:solidFill>
                      <a:srgbClr val="1E293B"/>
                    </a:solidFill>
                    <a:latin typeface="Calibri"/>
                  </a:rPr>
                  <a:t> để </a:t>
                </a:r>
                <a14:m>
                  <m:oMath xmlns:m="http://schemas.openxmlformats.org/officeDocument/2006/math">
                    <m:r>
                      <a:rPr lang="vi-VN" sz="2000" b="0">
                        <a:solidFill>
                          <a:srgbClr val="1E293B"/>
                        </a:solidFill>
                        <a:latin typeface="Cambria Math" panose="02040503050406030204" pitchFamily="18" charset="0"/>
                      </a:rPr>
                      <m:t>𝑂</m:t>
                    </m:r>
                    <m:r>
                      <a:rPr lang="vi-VN" sz="2000" b="0">
                        <a:solidFill>
                          <a:srgbClr val="1E293B"/>
                        </a:solidFill>
                        <a:latin typeface="Cambria Math" panose="02040503050406030204" pitchFamily="18" charset="0"/>
                      </a:rPr>
                      <m:t>(0; 0)</m:t>
                    </m:r>
                  </m:oMath>
                </a14:m>
                <a:r>
                  <a:rPr sz="2000">
                    <a:solidFill>
                      <a:srgbClr val="1E293B"/>
                    </a:solidFill>
                    <a:latin typeface="Calibri"/>
                  </a:rPr>
                  <a:t> là trọng tâm của tam giác </a:t>
                </a:r>
                <a14:m>
                  <m:oMath xmlns:m="http://schemas.openxmlformats.org/officeDocument/2006/math">
                    <m:r>
                      <a:rPr lang="vi-VN" sz="2000" b="0">
                        <a:solidFill>
                          <a:srgbClr val="1E293B"/>
                        </a:solidFill>
                        <a:latin typeface="Cambria Math" panose="02040503050406030204" pitchFamily="18" charset="0"/>
                      </a:rPr>
                      <m:t>𝐴𝐵𝐷</m:t>
                    </m:r>
                  </m:oMath>
                </a14:m>
                <a:r>
                  <a:rPr sz="2000">
                    <a:solidFill>
                      <a:srgbClr val="1E293B"/>
                    </a:solidFill>
                    <a:latin typeface="Calibri"/>
                  </a:rPr>
                  <a:t>.</a:t>
                </a:r>
              </a:p>
            </p:txBody>
          </p:sp>
        </mc:Choice>
        <mc:Fallback xmlns="">
          <p:sp>
            <p:nvSpPr>
              <p:cNvPr id="7" name="TextBox 6"/>
              <p:cNvSpPr txBox="1"/>
              <p:nvPr/>
            </p:nvSpPr>
            <p:spPr>
              <a:xfrm>
                <a:off x="548640" y="1371600"/>
                <a:ext cx="11064240" cy="13929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4.18.</a:t>
                </a:r>
                <a:r>
                  <a:rPr sz="2000">
                    <a:solidFill>
                      <a:srgbClr val="1E293B"/>
                    </a:solidFill>
                    <a:latin typeface="Calibri"/>
                  </a:rPr>
                  <a:t> Cho các điểm </a:t>
                </a:r>
                <a:r>
                  <a:rPr lang="vi-VN"/>
                  <a:t>A(1;\ 3)</a:t>
                </a:r>
                <a:r>
                  <a:rPr sz="2000">
                    <a:solidFill>
                      <a:srgbClr val="1E293B"/>
                    </a:solidFill>
                    <a:latin typeface="Calibri"/>
                  </a:rPr>
                  <a:t>, </a:t>
                </a:r>
                <a:r>
                  <a:rPr lang="vi-VN"/>
                  <a:t>B(2;\ 4)</a:t>
                </a:r>
                <a:r>
                  <a:rPr sz="2000">
                    <a:solidFill>
                      <a:srgbClr val="1E293B"/>
                    </a:solidFill>
                    <a:latin typeface="Calibri"/>
                  </a:rPr>
                  <a:t>, </a:t>
                </a:r>
                <a:r>
                  <a:rPr lang="vi-VN"/>
                  <a:t>C(-3;\ 2)</a:t>
                </a:r>
                <a:r>
                  <a:rPr sz="2000">
                    <a:solidFill>
                      <a:srgbClr val="1E293B"/>
                    </a:solidFill>
                    <a:latin typeface="Calibri"/>
                  </a:rPr>
                  <a:t>. a) Chứng minh rằng </a:t>
                </a:r>
                <a:r>
                  <a:rPr lang="vi-VN"/>
                  <a:t>A,\ B,\ C</a:t>
                </a:r>
                <a:r>
                  <a:rPr sz="2000">
                    <a:solidFill>
                      <a:srgbClr val="1E293B"/>
                    </a:solidFill>
                    <a:latin typeface="Calibri"/>
                  </a:rPr>
                  <a:t> là ba đỉnh của một tam giác. b) Tìm toạ độ trung điểm </a:t>
                </a:r>
                <a:r>
                  <a:rPr lang="vi-VN"/>
                  <a:t>M</a:t>
                </a:r>
                <a:r>
                  <a:rPr sz="2000">
                    <a:solidFill>
                      <a:srgbClr val="1E293B"/>
                    </a:solidFill>
                    <a:latin typeface="Calibri"/>
                  </a:rPr>
                  <a:t> của đoạn thẳng </a:t>
                </a:r>
                <a:r>
                  <a:rPr lang="vi-VN"/>
                  <a:t>AB</a:t>
                </a:r>
                <a:r>
                  <a:rPr sz="2000">
                    <a:solidFill>
                      <a:srgbClr val="1E293B"/>
                    </a:solidFill>
                    <a:latin typeface="Calibri"/>
                  </a:rPr>
                  <a:t>. c) Tìm toạ độ trọng tâm </a:t>
                </a:r>
                <a:r>
                  <a:rPr lang="vi-VN"/>
                  <a:t>G</a:t>
                </a:r>
                <a:r>
                  <a:rPr sz="2000">
                    <a:solidFill>
                      <a:srgbClr val="1E293B"/>
                    </a:solidFill>
                    <a:latin typeface="Calibri"/>
                  </a:rPr>
                  <a:t> của tam giác </a:t>
                </a:r>
                <a:r>
                  <a:rPr lang="vi-VN"/>
                  <a:t>ABC</a:t>
                </a:r>
                <a:r>
                  <a:rPr sz="2000">
                    <a:solidFill>
                      <a:srgbClr val="1E293B"/>
                    </a:solidFill>
                    <a:latin typeface="Calibri"/>
                  </a:rPr>
                  <a:t>. d) Tìm điểm </a:t>
                </a:r>
                <a:r>
                  <a:rPr lang="vi-VN"/>
                  <a:t>D(x;\ y)</a:t>
                </a:r>
                <a:r>
                  <a:rPr sz="2000">
                    <a:solidFill>
                      <a:srgbClr val="1E293B"/>
                    </a:solidFill>
                    <a:latin typeface="Calibri"/>
                  </a:rPr>
                  <a:t> để </a:t>
                </a:r>
                <a:r>
                  <a:rPr lang="vi-VN"/>
                  <a:t>O(0;\ 0)</a:t>
                </a:r>
                <a:r>
                  <a:rPr sz="2000">
                    <a:solidFill>
                      <a:srgbClr val="1E293B"/>
                    </a:solidFill>
                    <a:latin typeface="Calibri"/>
                  </a:rPr>
                  <a:t> là trọng tâm của tam giác </a:t>
                </a:r>
                <a:r>
                  <a:rPr lang="vi-VN"/>
                  <a:t>ABD</a:t>
                </a:r>
                <a:r>
                  <a:rPr sz="2000">
                    <a:solidFill>
                      <a:srgbClr val="1E293B"/>
                    </a:solidFill>
                    <a:latin typeface="Calibri"/>
                  </a:rPr>
                  <a:t>.</a:t>
                </a:r>
              </a:p>
            </p:txBody>
          </p:sp>
        </mc:Fallback>
      </mc:AlternateContent>
      <p:sp>
        <p:nvSpPr>
          <p:cNvPr id="8" name="s1_nen"/>
          <p:cNvSpPr/>
          <p:nvPr/>
        </p:nvSpPr>
        <p:spPr>
          <a:xfrm>
            <a:off x="548640" y="2828544"/>
            <a:ext cx="11064240" cy="11490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865120"/>
                <a:ext cx="10735056" cy="1075944"/>
              </a:xfrm>
              <a:prstGeom prst="rect">
                <a:avLst/>
              </a:prstGeom>
              <a:noFill/>
            </p:spPr>
            <p:txBody>
              <a:bodyPr wrap="square" lIns="45720" rIns="45720" anchor="ctr">
                <a:spAutoFit/>
              </a:bodyPr>
              <a:lstStyle/>
              <a:p>
                <a:pPr algn="l">
                  <a:spcAft>
                    <a:spcPts val="800"/>
                  </a:spcAft>
                </a:pPr>
                <a:r>
                  <a:rPr sz="2000" b="1">
                    <a:solidFill>
                      <a:srgbClr val="1E293B"/>
                    </a:solidFill>
                    <a:latin typeface="Calibri"/>
                  </a:rPr>
                  <a:t>4.18.</a:t>
                </a:r>
                <a:r>
                  <a:rPr sz="2000">
                    <a:solidFill>
                      <a:srgbClr val="1E293B"/>
                    </a:solidFill>
                    <a:latin typeface="Calibri"/>
                  </a:rPr>
                  <a:t> a)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𝐴𝐵</m:t>
                        </m:r>
                      </m:e>
                    </m:acc>
                  </m:oMath>
                </a14:m>
                <a:r>
                  <a:rPr sz="2000">
                    <a:solidFill>
                      <a:srgbClr val="1E293B"/>
                    </a:solidFill>
                    <a:latin typeface="Calibri"/>
                  </a:rPr>
                  <a:t> =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1; 1</m:t>
                        </m:r>
                      </m:e>
                    </m:d>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𝐴𝐶</m:t>
                        </m:r>
                      </m:e>
                    </m:acc>
                  </m:oMath>
                </a14:m>
                <a:r>
                  <a:rPr sz="2000">
                    <a:solidFill>
                      <a:srgbClr val="1E293B"/>
                    </a:solidFill>
                    <a:latin typeface="Calibri"/>
                  </a:rPr>
                  <a:t> =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−4; −1</m:t>
                        </m:r>
                      </m:e>
                    </m:d>
                  </m:oMath>
                </a14:m>
                <a:r>
                  <a:rPr sz="2000">
                    <a:solidFill>
                      <a:srgbClr val="1E293B"/>
                    </a:solidFill>
                    <a:latin typeface="Calibri"/>
                  </a:rPr>
                  <a:t> không cùng phương. b) </a:t>
                </a:r>
                <a14:m>
                  <m:oMath xmlns:m="http://schemas.openxmlformats.org/officeDocument/2006/math">
                    <m:r>
                      <a:rPr lang="vi-VN" sz="2000" b="0">
                        <a:solidFill>
                          <a:srgbClr val="1E293B"/>
                        </a:solidFill>
                        <a:latin typeface="Cambria Math" panose="02040503050406030204" pitchFamily="18" charset="0"/>
                      </a:rPr>
                      <m:t>𝑀</m:t>
                    </m:r>
                    <m:d>
                      <m:dPr>
                        <m:ctrlPr>
                          <a:rPr lang="vi-VN" sz="2000" b="0" i="1">
                            <a:solidFill>
                              <a:srgbClr val="1E293B"/>
                            </a:solidFill>
                            <a:latin typeface="Cambria Math" panose="02040503050406030204" pitchFamily="18" charset="0"/>
                          </a:rPr>
                        </m:ctrlPr>
                      </m:dPr>
                      <m:e>
                        <m:f>
                          <m:fPr>
                            <m:ctrlPr>
                              <a:rPr lang="vi-VN" sz="2000" b="0">
                                <a:solidFill>
                                  <a:srgbClr val="1E293B"/>
                                </a:solidFill>
                                <a:latin typeface="Cambria Math" panose="02040503050406030204" pitchFamily="18" charset="0"/>
                              </a:rPr>
                            </m:ctrlPr>
                          </m:fPr>
                          <m:num>
                            <m:r>
                              <a:rPr lang="vi-VN" sz="2000" b="0">
                                <a:solidFill>
                                  <a:srgbClr val="1E293B"/>
                                </a:solidFill>
                                <a:latin typeface="Cambria Math" panose="02040503050406030204" pitchFamily="18" charset="0"/>
                              </a:rPr>
                              <m:t>3</m:t>
                            </m:r>
                          </m:num>
                          <m:den>
                            <m:r>
                              <a:rPr lang="vi-VN" sz="2000" b="0">
                                <a:solidFill>
                                  <a:srgbClr val="1E293B"/>
                                </a:solidFill>
                                <a:latin typeface="Cambria Math" panose="02040503050406030204" pitchFamily="18" charset="0"/>
                              </a:rPr>
                              <m:t>2</m:t>
                            </m:r>
                          </m:den>
                        </m:f>
                        <m:r>
                          <a:rPr lang="vi-VN" sz="2000" b="0">
                            <a:solidFill>
                              <a:srgbClr val="1E293B"/>
                            </a:solidFill>
                            <a:latin typeface="Cambria Math" panose="02040503050406030204" pitchFamily="18" charset="0"/>
                          </a:rPr>
                          <m:t>; </m:t>
                        </m:r>
                        <m:f>
                          <m:fPr>
                            <m:ctrlPr>
                              <a:rPr lang="vi-VN" sz="2000" b="0">
                                <a:solidFill>
                                  <a:srgbClr val="1E293B"/>
                                </a:solidFill>
                                <a:latin typeface="Cambria Math" panose="02040503050406030204" pitchFamily="18" charset="0"/>
                              </a:rPr>
                            </m:ctrlPr>
                          </m:fPr>
                          <m:num>
                            <m:r>
                              <a:rPr lang="vi-VN" sz="2000" b="0">
                                <a:solidFill>
                                  <a:srgbClr val="1E293B"/>
                                </a:solidFill>
                                <a:latin typeface="Cambria Math" panose="02040503050406030204" pitchFamily="18" charset="0"/>
                              </a:rPr>
                              <m:t>7</m:t>
                            </m:r>
                          </m:num>
                          <m:den>
                            <m:r>
                              <a:rPr lang="vi-VN" sz="2000" b="0">
                                <a:solidFill>
                                  <a:srgbClr val="1E293B"/>
                                </a:solidFill>
                                <a:latin typeface="Cambria Math" panose="02040503050406030204" pitchFamily="18" charset="0"/>
                              </a:rPr>
                              <m:t>2</m:t>
                            </m:r>
                          </m:den>
                        </m:f>
                      </m:e>
                    </m:d>
                  </m:oMath>
                </a14:m>
                <a:r>
                  <a:rPr sz="2000">
                    <a:solidFill>
                      <a:srgbClr val="1E293B"/>
                    </a:solidFill>
                    <a:latin typeface="Calibri"/>
                  </a:rPr>
                  <a:t>. c) </a:t>
                </a:r>
                <a14:m>
                  <m:oMath xmlns:m="http://schemas.openxmlformats.org/officeDocument/2006/math">
                    <m:r>
                      <a:rPr lang="vi-VN" sz="2000" b="0">
                        <a:solidFill>
                          <a:srgbClr val="1E293B"/>
                        </a:solidFill>
                        <a:latin typeface="Cambria Math" panose="02040503050406030204" pitchFamily="18" charset="0"/>
                      </a:rPr>
                      <m:t>𝐺</m:t>
                    </m:r>
                    <m:r>
                      <a:rPr lang="vi-VN" sz="2000" b="0">
                        <a:solidFill>
                          <a:srgbClr val="1E293B"/>
                        </a:solidFill>
                        <a:latin typeface="Cambria Math" panose="02040503050406030204" pitchFamily="18" charset="0"/>
                      </a:rPr>
                      <m:t>(0; 3)</m:t>
                    </m:r>
                  </m:oMath>
                </a14:m>
                <a:r>
                  <a:rPr sz="2000">
                    <a:solidFill>
                      <a:srgbClr val="1E293B"/>
                    </a:solidFill>
                    <a:latin typeface="Calibri"/>
                  </a:rPr>
                  <a:t>. d) </a:t>
                </a:r>
                <a14:m>
                  <m:oMath xmlns:m="http://schemas.openxmlformats.org/officeDocument/2006/math">
                    <m:r>
                      <a:rPr lang="vi-VN" sz="2000" b="0">
                        <a:solidFill>
                          <a:srgbClr val="1E293B"/>
                        </a:solidFill>
                        <a:latin typeface="Cambria Math" panose="02040503050406030204" pitchFamily="18" charset="0"/>
                      </a:rPr>
                      <m:t>𝐷</m:t>
                    </m:r>
                    <m:r>
                      <a:rPr lang="vi-VN" sz="2000" b="0">
                        <a:solidFill>
                          <a:srgbClr val="1E293B"/>
                        </a:solidFill>
                        <a:latin typeface="Cambria Math" panose="02040503050406030204" pitchFamily="18" charset="0"/>
                      </a:rPr>
                      <m:t>(−3; −7)</m:t>
                    </m:r>
                  </m:oMath>
                </a14:m>
                <a:r>
                  <a:rPr sz="2000">
                    <a:solidFill>
                      <a:srgbClr val="1E293B"/>
                    </a:solidFill>
                    <a:latin typeface="Calibri"/>
                  </a:rPr>
                  <a:t>.</a:t>
                </a:r>
              </a:p>
            </p:txBody>
          </p:sp>
        </mc:Choice>
        <mc:Fallback xmlns="">
          <p:sp>
            <p:nvSpPr>
              <p:cNvPr id="9" name="TextBox 8"/>
              <p:cNvSpPr txBox="1"/>
              <p:nvPr/>
            </p:nvSpPr>
            <p:spPr>
              <a:xfrm>
                <a:off x="713232" y="2865120"/>
                <a:ext cx="10735056" cy="107594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4.18.</a:t>
                </a:r>
                <a:r>
                  <a:rPr sz="2000">
                    <a:solidFill>
                      <a:srgbClr val="1E293B"/>
                    </a:solidFill>
                    <a:latin typeface="Calibri"/>
                  </a:rPr>
                  <a:t> a) </a:t>
                </a:r>
                <a:r>
                  <a:rPr lang="vi-VN"/>
                  <a:t>\overrightarrow{AB}</a:t>
                </a:r>
                <a:r>
                  <a:rPr sz="2000">
                    <a:solidFill>
                      <a:srgbClr val="1E293B"/>
                    </a:solidFill>
                    <a:latin typeface="Calibri"/>
                  </a:rPr>
                  <a:t> = </a:t>
                </a:r>
                <a:r>
                  <a:rPr lang="vi-VN"/>
                  <a:t>(1;\ 1)</a:t>
                </a:r>
                <a:r>
                  <a:rPr sz="2000">
                    <a:solidFill>
                      <a:srgbClr val="1E293B"/>
                    </a:solidFill>
                    <a:latin typeface="Calibri"/>
                  </a:rPr>
                  <a:t>, </a:t>
                </a:r>
                <a:r>
                  <a:rPr lang="vi-VN"/>
                  <a:t>\overrightarrow{AC}</a:t>
                </a:r>
                <a:r>
                  <a:rPr sz="2000">
                    <a:solidFill>
                      <a:srgbClr val="1E293B"/>
                    </a:solidFill>
                    <a:latin typeface="Calibri"/>
                  </a:rPr>
                  <a:t> = </a:t>
                </a:r>
                <a:r>
                  <a:rPr lang="vi-VN"/>
                  <a:t>(-4;\ -1)</a:t>
                </a:r>
                <a:r>
                  <a:rPr sz="2000">
                    <a:solidFill>
                      <a:srgbClr val="1E293B"/>
                    </a:solidFill>
                    <a:latin typeface="Calibri"/>
                  </a:rPr>
                  <a:t> không cùng phương. b) </a:t>
                </a:r>
                <a:r>
                  <a:rPr lang="vi-VN"/>
                  <a:t>M\left(\frac{3}{2};\ \frac{7}{2}\right)</a:t>
                </a:r>
                <a:r>
                  <a:rPr sz="2000">
                    <a:solidFill>
                      <a:srgbClr val="1E293B"/>
                    </a:solidFill>
                    <a:latin typeface="Calibri"/>
                  </a:rPr>
                  <a:t>. c) </a:t>
                </a:r>
                <a:r>
                  <a:rPr lang="vi-VN"/>
                  <a:t>G(0;\ 3)</a:t>
                </a:r>
                <a:r>
                  <a:rPr sz="2000">
                    <a:solidFill>
                      <a:srgbClr val="1E293B"/>
                    </a:solidFill>
                    <a:latin typeface="Calibri"/>
                  </a:rPr>
                  <a:t>. d) </a:t>
                </a:r>
                <a:r>
                  <a:rPr lang="vi-VN"/>
                  <a:t>D(-3;\ -7)</a:t>
                </a:r>
                <a:r>
                  <a:rPr sz="20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10" name="s2_chu"/>
              <p:cNvSpPr txBox="1"/>
              <p:nvPr/>
            </p:nvSpPr>
            <p:spPr>
              <a:xfrm>
                <a:off x="548640" y="4041648"/>
                <a:ext cx="11064240" cy="1088136"/>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4.19.</a:t>
                </a:r>
                <a:r>
                  <a:rPr sz="2000">
                    <a:solidFill>
                      <a:srgbClr val="1E293B"/>
                    </a:solidFill>
                    <a:latin typeface="Calibri"/>
                  </a:rPr>
                  <a:t> Tàu khởi hành từ vị trí </a:t>
                </a:r>
                <a14:m>
                  <m:oMath xmlns:m="http://schemas.openxmlformats.org/officeDocument/2006/math">
                    <m:r>
                      <a:rPr lang="vi-VN" sz="2000" b="0">
                        <a:solidFill>
                          <a:srgbClr val="1E293B"/>
                        </a:solidFill>
                        <a:latin typeface="Cambria Math" panose="02040503050406030204" pitchFamily="18" charset="0"/>
                      </a:rPr>
                      <m:t>𝐴</m:t>
                    </m:r>
                    <m:r>
                      <a:rPr lang="vi-VN" sz="2000" b="0">
                        <a:solidFill>
                          <a:srgbClr val="1E293B"/>
                        </a:solidFill>
                        <a:latin typeface="Cambria Math" panose="02040503050406030204" pitchFamily="18" charset="0"/>
                      </a:rPr>
                      <m:t>(1; 2)</m:t>
                    </m:r>
                  </m:oMath>
                </a14:m>
                <a:r>
                  <a:rPr sz="2000">
                    <a:solidFill>
                      <a:srgbClr val="1E293B"/>
                    </a:solidFill>
                    <a:latin typeface="Calibri"/>
                  </a:rPr>
                  <a:t> chuyển động thẳng đều với vận tốc (tính theo giờ) được biểu thị bởi vectơ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𝑣</m:t>
                        </m:r>
                      </m:e>
                    </m:acc>
                    <m:r>
                      <a:rPr lang="vi-VN" sz="2000" b="0">
                        <a:solidFill>
                          <a:srgbClr val="1E293B"/>
                        </a:solidFill>
                        <a:latin typeface="Cambria Math" panose="02040503050406030204" pitchFamily="18" charset="0"/>
                      </a:rPr>
                      <m:t>=(3; 4)</m:t>
                    </m:r>
                  </m:oMath>
                </a14:m>
                <a:r>
                  <a:rPr sz="2000">
                    <a:solidFill>
                      <a:srgbClr val="1E293B"/>
                    </a:solidFill>
                    <a:latin typeface="Calibri"/>
                  </a:rPr>
                  <a:t>. Xác định vị trí của tàu tại thời điểm sau khi khởi hành 1,5 giờ.</a:t>
                </a:r>
              </a:p>
            </p:txBody>
          </p:sp>
        </mc:Choice>
        <mc:Fallback xmlns="">
          <p:sp>
            <p:nvSpPr>
              <p:cNvPr id="10" name="TextBox 9"/>
              <p:cNvSpPr txBox="1"/>
              <p:nvPr/>
            </p:nvSpPr>
            <p:spPr>
              <a:xfrm>
                <a:off x="548640" y="4041648"/>
                <a:ext cx="110642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4.19.</a:t>
                </a:r>
                <a:r>
                  <a:rPr sz="2000">
                    <a:solidFill>
                      <a:srgbClr val="1E293B"/>
                    </a:solidFill>
                    <a:latin typeface="Calibri"/>
                  </a:rPr>
                  <a:t> Tàu khởi hành từ vị trí </a:t>
                </a:r>
                <a:r>
                  <a:rPr lang="vi-VN"/>
                  <a:t>A(1;\ 2)</a:t>
                </a:r>
                <a:r>
                  <a:rPr sz="2000">
                    <a:solidFill>
                      <a:srgbClr val="1E293B"/>
                    </a:solidFill>
                    <a:latin typeface="Calibri"/>
                  </a:rPr>
                  <a:t> chuyển động thẳng đều với vận tốc (tính theo giờ) được biểu thị bởi vectơ </a:t>
                </a:r>
                <a:r>
                  <a:rPr lang="vi-VN"/>
                  <a:t>\vec{v}=(3;\ 4)</a:t>
                </a:r>
                <a:r>
                  <a:rPr sz="2000">
                    <a:solidFill>
                      <a:srgbClr val="1E293B"/>
                    </a:solidFill>
                    <a:latin typeface="Calibri"/>
                  </a:rPr>
                  <a:t>. Xác định vị trí của tàu tại thời điểm sau khi khởi hành 1,5 giờ.</a:t>
                </a:r>
              </a:p>
            </p:txBody>
          </p:sp>
        </mc:Fallback>
      </mc:AlternateContent>
      <p:sp>
        <p:nvSpPr>
          <p:cNvPr id="11" name="s3_nen"/>
          <p:cNvSpPr/>
          <p:nvPr/>
        </p:nvSpPr>
        <p:spPr>
          <a:xfrm>
            <a:off x="548640" y="5193792"/>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s3_chu"/>
              <p:cNvSpPr txBox="1"/>
              <p:nvPr/>
            </p:nvSpPr>
            <p:spPr>
              <a:xfrm>
                <a:off x="713232" y="5230368"/>
                <a:ext cx="10735056" cy="496824"/>
              </a:xfrm>
              <a:prstGeom prst="rect">
                <a:avLst/>
              </a:prstGeom>
              <a:noFill/>
            </p:spPr>
            <p:txBody>
              <a:bodyPr wrap="square" lIns="45720" rIns="45720" anchor="ctr">
                <a:spAutoFit/>
              </a:bodyPr>
              <a:lstStyle/>
              <a:p>
                <a:pPr algn="l">
                  <a:spcAft>
                    <a:spcPts val="800"/>
                  </a:spcAft>
                </a:pPr>
                <a:r>
                  <a:rPr sz="2000" b="1">
                    <a:solidFill>
                      <a:srgbClr val="1E293B"/>
                    </a:solidFill>
                    <a:latin typeface="Calibri"/>
                  </a:rPr>
                  <a:t>4.19.</a:t>
                </a:r>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𝐴𝐵</m:t>
                        </m:r>
                      </m:e>
                    </m:acc>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1,5</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𝑣</m:t>
                        </m:r>
                      </m:e>
                    </m:acc>
                    <m:r>
                      <a:rPr lang="vi-VN" sz="2000" b="0">
                        <a:solidFill>
                          <a:srgbClr val="1E293B"/>
                        </a:solidFill>
                        <a:latin typeface="Cambria Math" panose="02040503050406030204" pitchFamily="18" charset="0"/>
                      </a:rPr>
                      <m:t>=(4,5; 6)</m:t>
                    </m:r>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𝐵</m:t>
                    </m:r>
                    <m:r>
                      <a:rPr lang="vi-VN" sz="2000" b="0">
                        <a:solidFill>
                          <a:srgbClr val="1E293B"/>
                        </a:solidFill>
                        <a:latin typeface="Cambria Math" panose="02040503050406030204" pitchFamily="18" charset="0"/>
                      </a:rPr>
                      <m:t>(5,5; 8)</m:t>
                    </m:r>
                  </m:oMath>
                </a14:m>
                <a:r>
                  <a:rPr sz="2000">
                    <a:solidFill>
                      <a:srgbClr val="1E293B"/>
                    </a:solidFill>
                    <a:latin typeface="Calibri"/>
                  </a:rPr>
                  <a:t>.</a:t>
                </a:r>
              </a:p>
            </p:txBody>
          </p:sp>
        </mc:Choice>
        <mc:Fallback xmlns="">
          <p:sp>
            <p:nvSpPr>
              <p:cNvPr id="12" name="TextBox 11"/>
              <p:cNvSpPr txBox="1"/>
              <p:nvPr/>
            </p:nvSpPr>
            <p:spPr>
              <a:xfrm>
                <a:off x="713232" y="5230368"/>
                <a:ext cx="10735056" cy="49682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4.19.</a:t>
                </a:r>
                <a:r>
                  <a:rPr sz="2000">
                    <a:solidFill>
                      <a:srgbClr val="1E293B"/>
                    </a:solidFill>
                    <a:latin typeface="Calibri"/>
                  </a:rPr>
                  <a:t> </a:t>
                </a:r>
                <a:r>
                  <a:rPr lang="vi-VN"/>
                  <a:t>\overrightarrow{AB}</a:t>
                </a:r>
                <a:r>
                  <a:rPr sz="2000">
                    <a:solidFill>
                      <a:srgbClr val="1E293B"/>
                    </a:solidFill>
                    <a:latin typeface="Calibri"/>
                  </a:rPr>
                  <a:t> = </a:t>
                </a:r>
                <a:r>
                  <a:rPr lang="vi-VN"/>
                  <a:t>1{,}5\vec{v}=(4{,}5;\ 6)</a:t>
                </a:r>
                <a:r>
                  <a:rPr sz="2000">
                    <a:solidFill>
                      <a:srgbClr val="1E293B"/>
                    </a:solidFill>
                    <a:latin typeface="Calibri"/>
                  </a:rPr>
                  <a:t> ⇒ </a:t>
                </a:r>
                <a:r>
                  <a:rPr lang="vi-VN"/>
                  <a:t>B(5{,}5;\ 8)</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4.20 (SGK TR.65)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26</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7863840" cy="1088136"/>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4.20.</a:t>
                </a:r>
                <a:r>
                  <a:rPr sz="2000">
                    <a:solidFill>
                      <a:srgbClr val="1E293B"/>
                    </a:solidFill>
                    <a:latin typeface="Calibri"/>
                  </a:rPr>
                  <a:t> Trong Hình 4.38, quân mã đang ở vị trí có toạ độ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1; 2</m:t>
                        </m:r>
                      </m:e>
                    </m:d>
                  </m:oMath>
                </a14:m>
                <a:r>
                  <a:rPr sz="2000">
                    <a:solidFill>
                      <a:srgbClr val="1E293B"/>
                    </a:solidFill>
                    <a:latin typeface="Calibri"/>
                  </a:rPr>
                  <a:t>. Hỏi sau một nước đi, quân mã có thể đến những vị trí nào?</a:t>
                </a:r>
              </a:p>
            </p:txBody>
          </p:sp>
        </mc:Choice>
        <mc:Fallback xmlns="">
          <p:sp>
            <p:nvSpPr>
              <p:cNvPr id="7" name="TextBox 6"/>
              <p:cNvSpPr txBox="1"/>
              <p:nvPr/>
            </p:nvSpPr>
            <p:spPr>
              <a:xfrm>
                <a:off x="548640" y="1371600"/>
                <a:ext cx="78638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4.20.</a:t>
                </a:r>
                <a:r>
                  <a:rPr sz="2000">
                    <a:solidFill>
                      <a:srgbClr val="1E293B"/>
                    </a:solidFill>
                    <a:latin typeface="Calibri"/>
                  </a:rPr>
                  <a:t> Trong Hình 4.38, quân mã đang ở vị trí có toạ độ </a:t>
                </a:r>
                <a:r>
                  <a:rPr lang="vi-VN"/>
                  <a:t>(1;\ 2)</a:t>
                </a:r>
                <a:r>
                  <a:rPr sz="2000">
                    <a:solidFill>
                      <a:srgbClr val="1E293B"/>
                    </a:solidFill>
                    <a:latin typeface="Calibri"/>
                  </a:rPr>
                  <a:t>. Hỏi sau một nước đi, quân mã có thể đến những vị trí nào?</a:t>
                </a:r>
              </a:p>
            </p:txBody>
          </p:sp>
        </mc:Fallback>
      </mc:AlternateContent>
      <p:sp>
        <p:nvSpPr>
          <p:cNvPr id="8" name="s1_nen"/>
          <p:cNvSpPr/>
          <p:nvPr/>
        </p:nvSpPr>
        <p:spPr>
          <a:xfrm>
            <a:off x="548640" y="2523744"/>
            <a:ext cx="7863840" cy="11795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560320"/>
                <a:ext cx="7534656" cy="110642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Mã đi hình chữ L: dịch chuyển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±1; ±2</m:t>
                        </m:r>
                      </m:e>
                    </m:d>
                  </m:oMath>
                </a14:m>
                <a:r>
                  <a:rPr sz="2000">
                    <a:solidFill>
                      <a:srgbClr val="1E293B"/>
                    </a:solidFill>
                    <a:latin typeface="Calibri"/>
                  </a:rPr>
                  <a:t> hoặc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±2; ±1</m:t>
                        </m:r>
                      </m:e>
                    </m:d>
                  </m:oMath>
                </a14:m>
                <a:r>
                  <a:rPr sz="2000">
                    <a:solidFill>
                      <a:srgbClr val="1E293B"/>
                    </a:solidFill>
                    <a:latin typeface="Calibri"/>
                  </a:rPr>
                  <a:t>. Trong bàn cờ, mã có thể đến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0; 0</m:t>
                        </m:r>
                      </m:e>
                    </m:d>
                  </m:oMath>
                </a14:m>
                <a:r>
                  <a:rPr sz="2000">
                    <a:solidFill>
                      <a:srgbClr val="1E293B"/>
                    </a:solidFill>
                    <a:latin typeface="Calibri"/>
                  </a:rPr>
                  <a:t>,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2; 0</m:t>
                        </m:r>
                      </m:e>
                    </m:d>
                  </m:oMath>
                </a14:m>
                <a:r>
                  <a:rPr sz="2000">
                    <a:solidFill>
                      <a:srgbClr val="1E293B"/>
                    </a:solidFill>
                    <a:latin typeface="Calibri"/>
                  </a:rPr>
                  <a:t>,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3; 1</m:t>
                        </m:r>
                      </m:e>
                    </m:d>
                  </m:oMath>
                </a14:m>
                <a:r>
                  <a:rPr sz="2000">
                    <a:solidFill>
                      <a:srgbClr val="1E293B"/>
                    </a:solidFill>
                    <a:latin typeface="Calibri"/>
                  </a:rPr>
                  <a:t>,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3; 3</m:t>
                        </m:r>
                      </m:e>
                    </m:d>
                  </m:oMath>
                </a14:m>
                <a:r>
                  <a:rPr sz="2000">
                    <a:solidFill>
                      <a:srgbClr val="1E293B"/>
                    </a:solidFill>
                    <a:latin typeface="Calibri"/>
                  </a:rPr>
                  <a:t>,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2; 4</m:t>
                        </m:r>
                      </m:e>
                    </m:d>
                  </m:oMath>
                </a14:m>
                <a:r>
                  <a:rPr sz="2000">
                    <a:solidFill>
                      <a:srgbClr val="1E293B"/>
                    </a:solidFill>
                    <a:latin typeface="Calibri"/>
                  </a:rPr>
                  <a:t>,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0; 4</m:t>
                        </m:r>
                      </m:e>
                    </m:d>
                  </m:oMath>
                </a14:m>
                <a:r>
                  <a:rPr sz="2000">
                    <a:solidFill>
                      <a:srgbClr val="1E293B"/>
                    </a:solidFill>
                    <a:latin typeface="Calibri"/>
                  </a:rPr>
                  <a:t> (tại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3; 3</m:t>
                        </m:r>
                      </m:e>
                    </m:d>
                  </m:oMath>
                </a14:m>
                <a:r>
                  <a:rPr sz="2000">
                    <a:solidFill>
                      <a:srgbClr val="1E293B"/>
                    </a:solidFill>
                    <a:latin typeface="Calibri"/>
                  </a:rPr>
                  <a:t>,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2; 4</m:t>
                        </m:r>
                      </m:e>
                    </m:d>
                  </m:oMath>
                </a14:m>
                <a:r>
                  <a:rPr sz="2000">
                    <a:solidFill>
                      <a:srgbClr val="1E293B"/>
                    </a:solidFill>
                    <a:latin typeface="Calibri"/>
                  </a:rPr>
                  <a:t> là bắt quân đen).</a:t>
                </a:r>
              </a:p>
            </p:txBody>
          </p:sp>
        </mc:Choice>
        <mc:Fallback xmlns="">
          <p:sp>
            <p:nvSpPr>
              <p:cNvPr id="9" name="TextBox 8"/>
              <p:cNvSpPr txBox="1"/>
              <p:nvPr/>
            </p:nvSpPr>
            <p:spPr>
              <a:xfrm>
                <a:off x="713232" y="2560320"/>
                <a:ext cx="753465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Mã đi hình chữ L: dịch chuyển </a:t>
                </a:r>
                <a:r>
                  <a:rPr lang="vi-VN"/>
                  <a:t>(\pm 1;\ \pm 2)</a:t>
                </a:r>
                <a:r>
                  <a:rPr sz="2000">
                    <a:solidFill>
                      <a:srgbClr val="1E293B"/>
                    </a:solidFill>
                    <a:latin typeface="Calibri"/>
                  </a:rPr>
                  <a:t> hoặc </a:t>
                </a:r>
                <a:r>
                  <a:rPr lang="vi-VN"/>
                  <a:t>(\pm 2;\ \pm 1)</a:t>
                </a:r>
                <a:r>
                  <a:rPr sz="2000">
                    <a:solidFill>
                      <a:srgbClr val="1E293B"/>
                    </a:solidFill>
                    <a:latin typeface="Calibri"/>
                  </a:rPr>
                  <a:t>. Trong bàn cờ, mã có thể đến </a:t>
                </a:r>
                <a:r>
                  <a:rPr lang="vi-VN"/>
                  <a:t>(0;\ 0)</a:t>
                </a:r>
                <a:r>
                  <a:rPr sz="2000">
                    <a:solidFill>
                      <a:srgbClr val="1E293B"/>
                    </a:solidFill>
                    <a:latin typeface="Calibri"/>
                  </a:rPr>
                  <a:t>, </a:t>
                </a:r>
                <a:r>
                  <a:rPr lang="vi-VN"/>
                  <a:t>(2;\ 0)</a:t>
                </a:r>
                <a:r>
                  <a:rPr sz="2000">
                    <a:solidFill>
                      <a:srgbClr val="1E293B"/>
                    </a:solidFill>
                    <a:latin typeface="Calibri"/>
                  </a:rPr>
                  <a:t>, </a:t>
                </a:r>
                <a:r>
                  <a:rPr lang="vi-VN"/>
                  <a:t>(3;\ 1)</a:t>
                </a:r>
                <a:r>
                  <a:rPr sz="2000">
                    <a:solidFill>
                      <a:srgbClr val="1E293B"/>
                    </a:solidFill>
                    <a:latin typeface="Calibri"/>
                  </a:rPr>
                  <a:t>, </a:t>
                </a:r>
                <a:r>
                  <a:rPr lang="vi-VN"/>
                  <a:t>(3;\ 3)</a:t>
                </a:r>
                <a:r>
                  <a:rPr sz="2000">
                    <a:solidFill>
                      <a:srgbClr val="1E293B"/>
                    </a:solidFill>
                    <a:latin typeface="Calibri"/>
                  </a:rPr>
                  <a:t>, </a:t>
                </a:r>
                <a:r>
                  <a:rPr lang="vi-VN"/>
                  <a:t>(2;\ 4)</a:t>
                </a:r>
                <a:r>
                  <a:rPr sz="2000">
                    <a:solidFill>
                      <a:srgbClr val="1E293B"/>
                    </a:solidFill>
                    <a:latin typeface="Calibri"/>
                  </a:rPr>
                  <a:t>, </a:t>
                </a:r>
                <a:r>
                  <a:rPr lang="vi-VN"/>
                  <a:t>(0;\ 4)</a:t>
                </a:r>
                <a:r>
                  <a:rPr sz="2000">
                    <a:solidFill>
                      <a:srgbClr val="1E293B"/>
                    </a:solidFill>
                    <a:latin typeface="Calibri"/>
                  </a:rPr>
                  <a:t> (tại </a:t>
                </a:r>
                <a:r>
                  <a:rPr lang="vi-VN"/>
                  <a:t>(3;\ 3)</a:t>
                </a:r>
                <a:r>
                  <a:rPr sz="2000">
                    <a:solidFill>
                      <a:srgbClr val="1E293B"/>
                    </a:solidFill>
                    <a:latin typeface="Calibri"/>
                  </a:rPr>
                  <a:t>, </a:t>
                </a:r>
                <a:r>
                  <a:rPr lang="vi-VN"/>
                  <a:t>(2;\ 4)</a:t>
                </a:r>
                <a:r>
                  <a:rPr sz="2000">
                    <a:solidFill>
                      <a:srgbClr val="1E293B"/>
                    </a:solidFill>
                    <a:latin typeface="Calibri"/>
                  </a:rPr>
                  <a:t> là bắt quân đen).</a:t>
                </a:r>
              </a:p>
            </p:txBody>
          </p:sp>
        </mc:Fallback>
      </mc:AlternateContent>
      <p:pic>
        <p:nvPicPr>
          <p:cNvPr id="10" name="Picture 9" descr="h438.png"/>
          <p:cNvPicPr>
            <a:picLocks noChangeAspect="1"/>
          </p:cNvPicPr>
          <p:nvPr/>
        </p:nvPicPr>
        <p:blipFill>
          <a:blip r:embed="rId3"/>
          <a:stretch>
            <a:fillRect/>
          </a:stretch>
        </p:blipFill>
        <p:spPr>
          <a:xfrm>
            <a:off x="8595360" y="1435693"/>
            <a:ext cx="3108960" cy="3163654"/>
          </a:xfrm>
          <a:prstGeom prst="rect">
            <a:avLst/>
          </a:prstGeom>
        </p:spPr>
      </p:pic>
      <p:sp>
        <p:nvSpPr>
          <p:cNvPr id="11" name="TextBox 10"/>
          <p:cNvSpPr txBox="1"/>
          <p:nvPr/>
        </p:nvSpPr>
        <p:spPr>
          <a:xfrm>
            <a:off x="8595360" y="4681727"/>
            <a:ext cx="3108960" cy="365760"/>
          </a:xfrm>
          <a:prstGeom prst="rect">
            <a:avLst/>
          </a:prstGeom>
          <a:noFill/>
        </p:spPr>
        <p:txBody>
          <a:bodyPr wrap="square" lIns="45720" rIns="45720" anchor="t">
            <a:spAutoFit/>
          </a:bodyPr>
          <a:lstStyle/>
          <a:p>
            <a:pPr algn="ctr">
              <a:spcAft>
                <a:spcPts val="800"/>
              </a:spcAft>
            </a:pPr>
            <a:r>
              <a:rPr sz="1600">
                <a:solidFill>
                  <a:srgbClr val="64748B"/>
                </a:solidFill>
                <a:latin typeface="Calibri"/>
              </a:rPr>
              <a:t>Hình 4.38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RUNG CHUÔNG VÀNG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27</a:t>
            </a:r>
          </a:p>
        </p:txBody>
      </p:sp>
      <p:sp>
        <p:nvSpPr>
          <p:cNvPr id="7" name="Rounded Rectangle 6"/>
          <p:cNvSpPr/>
          <p:nvPr/>
        </p:nvSpPr>
        <p:spPr>
          <a:xfrm>
            <a:off x="1371600" y="1554480"/>
            <a:ext cx="9418320" cy="296265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36192" y="1591056"/>
            <a:ext cx="9089136" cy="2889504"/>
          </a:xfrm>
          <a:prstGeom prst="rect">
            <a:avLst/>
          </a:prstGeom>
          <a:noFill/>
        </p:spPr>
        <p:txBody>
          <a:bodyPr wrap="square" lIns="45720" rIns="45720" anchor="ctr">
            <a:spAutoFit/>
          </a:bodyPr>
          <a:lstStyle/>
          <a:p>
            <a:pPr algn="ctr">
              <a:spcAft>
                <a:spcPts val="800"/>
              </a:spcAft>
            </a:pPr>
            <a:r>
              <a:rPr sz="3000">
                <a:solidFill>
                  <a:srgbClr val="1E293B"/>
                </a:solidFill>
                <a:latin typeface="Calibri"/>
              </a:rPr>
              <a:t>🔔 </a:t>
            </a:r>
            <a:r>
              <a:rPr sz="3000" b="1">
                <a:solidFill>
                  <a:srgbClr val="1E293B"/>
                </a:solidFill>
                <a:latin typeface="Calibri"/>
              </a:rPr>
              <a:t>Luật chơi</a:t>
            </a:r>
          </a:p>
          <a:p>
            <a:pPr marL="365760" indent="-365760" algn="l">
              <a:spcAft>
                <a:spcPts val="800"/>
              </a:spcAft>
              <a:buClr>
                <a:srgbClr val="1E40AF"/>
              </a:buClr>
              <a:buFont typeface="Arial"/>
              <a:buChar char="•"/>
            </a:pPr>
            <a:r>
              <a:rPr sz="2400">
                <a:solidFill>
                  <a:srgbClr val="1E293B"/>
                </a:solidFill>
                <a:latin typeface="Calibri"/>
              </a:rPr>
              <a:t>Mỗi bạn một bảng con – viết đáp án khi hết giờ.</a:t>
            </a:r>
          </a:p>
          <a:p>
            <a:pPr marL="365760" indent="-365760" algn="l">
              <a:spcAft>
                <a:spcPts val="800"/>
              </a:spcAft>
              <a:buClr>
                <a:srgbClr val="1E40AF"/>
              </a:buClr>
              <a:buFont typeface="Arial"/>
              <a:buChar char="•"/>
            </a:pPr>
            <a:r>
              <a:rPr sz="2400">
                <a:solidFill>
                  <a:srgbClr val="1E293B"/>
                </a:solidFill>
                <a:latin typeface="Calibri"/>
              </a:rPr>
              <a:t>Câu nhiều lựa chọn: ghi A, B, C hoặc D (30 giây).</a:t>
            </a:r>
          </a:p>
          <a:p>
            <a:pPr marL="365760" indent="-365760" algn="l">
              <a:spcAft>
                <a:spcPts val="800"/>
              </a:spcAft>
              <a:buClr>
                <a:srgbClr val="1E40AF"/>
              </a:buClr>
              <a:buFont typeface="Arial"/>
              <a:buChar char="•"/>
            </a:pPr>
            <a:r>
              <a:rPr sz="2400">
                <a:solidFill>
                  <a:srgbClr val="1E293B"/>
                </a:solidFill>
                <a:latin typeface="Calibri"/>
              </a:rPr>
              <a:t>Câu Đúng/Sai: ghi Đ hoặc S cho từng ý (60 giây).</a:t>
            </a:r>
          </a:p>
          <a:p>
            <a:pPr marL="365760" indent="-365760" algn="l">
              <a:spcAft>
                <a:spcPts val="800"/>
              </a:spcAft>
              <a:buClr>
                <a:srgbClr val="1E40AF"/>
              </a:buClr>
              <a:buFont typeface="Arial"/>
              <a:buChar char="•"/>
            </a:pPr>
            <a:r>
              <a:rPr sz="2400">
                <a:solidFill>
                  <a:srgbClr val="1E293B"/>
                </a:solidFill>
                <a:latin typeface="Calibri"/>
              </a:rPr>
              <a:t>Câu trả lời ngắn, thực tế: ghi một số (60 giây).</a:t>
            </a:r>
          </a:p>
          <a:p>
            <a:pPr marL="365760" indent="-365760" algn="l">
              <a:spcAft>
                <a:spcPts val="800"/>
              </a:spcAft>
              <a:buClr>
                <a:srgbClr val="1E40AF"/>
              </a:buClr>
              <a:buFont typeface="Arial"/>
              <a:buChar char="•"/>
            </a:pPr>
            <a:r>
              <a:rPr sz="2400">
                <a:solidFill>
                  <a:srgbClr val="1E293B"/>
                </a:solidFill>
                <a:latin typeface="Calibri"/>
              </a:rPr>
              <a:t>Sai: rời sàn thi. Bạn trụ lại cuối cùng </a:t>
            </a:r>
            <a:r>
              <a:rPr sz="2400" b="1">
                <a:solidFill>
                  <a:srgbClr val="1E293B"/>
                </a:solidFill>
                <a:latin typeface="Calibri"/>
              </a:rPr>
              <a:t>rung chuông vàng</a:t>
            </a:r>
            <a:r>
              <a:rPr sz="2400">
                <a:solidFill>
                  <a:srgbClr val="1E293B"/>
                </a:solidFill>
                <a:latin typeface="Calibri"/>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1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28</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569976"/>
              </a:xfrm>
              <a:prstGeom prst="rect">
                <a:avLst/>
              </a:prstGeom>
              <a:noFill/>
            </p:spPr>
            <p:txBody>
              <a:bodyPr wrap="square" lIns="45720" rIns="45720" anchor="t">
                <a:spAutoFit/>
              </a:bodyPr>
              <a:lstStyle/>
              <a:p>
                <a:pPr algn="l">
                  <a:spcAft>
                    <a:spcPts val="800"/>
                  </a:spcAft>
                </a:pPr>
                <a:r>
                  <a:rPr sz="2600">
                    <a:solidFill>
                      <a:srgbClr val="1E293B"/>
                    </a:solidFill>
                    <a:latin typeface="Calibri"/>
                  </a:rPr>
                  <a:t>Cho </a:t>
                </a:r>
                <a14:m>
                  <m:oMath xmlns:m="http://schemas.openxmlformats.org/officeDocument/2006/math">
                    <m:acc>
                      <m:accPr>
                        <m:chr m:val="⃗"/>
                        <m:ctrlPr>
                          <a:rPr lang="vi-VN" sz="2600" b="0">
                            <a:solidFill>
                              <a:srgbClr val="1E293B"/>
                            </a:solidFill>
                            <a:latin typeface="Cambria Math" panose="02040503050406030204" pitchFamily="18" charset="0"/>
                          </a:rPr>
                        </m:ctrlPr>
                      </m:accPr>
                      <m:e>
                        <m:r>
                          <a:rPr lang="vi-VN" sz="2600" b="0">
                            <a:solidFill>
                              <a:srgbClr val="1E293B"/>
                            </a:solidFill>
                            <a:latin typeface="Cambria Math" panose="02040503050406030204" pitchFamily="18" charset="0"/>
                          </a:rPr>
                          <m:t>𝑢</m:t>
                        </m:r>
                      </m:e>
                    </m:acc>
                    <m:r>
                      <a:rPr lang="vi-VN" sz="2600" b="0">
                        <a:solidFill>
                          <a:srgbClr val="1E293B"/>
                        </a:solidFill>
                        <a:latin typeface="Cambria Math" panose="02040503050406030204" pitchFamily="18" charset="0"/>
                      </a:rPr>
                      <m:t>=(2; −1)</m:t>
                    </m:r>
                  </m:oMath>
                </a14:m>
                <a:r>
                  <a:rPr sz="2600">
                    <a:solidFill>
                      <a:srgbClr val="1E293B"/>
                    </a:solidFill>
                    <a:latin typeface="Calibri"/>
                  </a:rPr>
                  <a:t>, </a:t>
                </a:r>
                <a14:m>
                  <m:oMath xmlns:m="http://schemas.openxmlformats.org/officeDocument/2006/math">
                    <m:acc>
                      <m:accPr>
                        <m:chr m:val="⃗"/>
                        <m:ctrlPr>
                          <a:rPr lang="vi-VN" sz="2600" b="0">
                            <a:solidFill>
                              <a:srgbClr val="1E293B"/>
                            </a:solidFill>
                            <a:latin typeface="Cambria Math" panose="02040503050406030204" pitchFamily="18" charset="0"/>
                          </a:rPr>
                        </m:ctrlPr>
                      </m:accPr>
                      <m:e>
                        <m:r>
                          <a:rPr lang="vi-VN" sz="2600" b="0">
                            <a:solidFill>
                              <a:srgbClr val="1E293B"/>
                            </a:solidFill>
                            <a:latin typeface="Cambria Math" panose="02040503050406030204" pitchFamily="18" charset="0"/>
                          </a:rPr>
                          <m:t>𝑣</m:t>
                        </m:r>
                      </m:e>
                    </m:acc>
                    <m:r>
                      <a:rPr lang="vi-VN" sz="2600" b="0">
                        <a:solidFill>
                          <a:srgbClr val="1E293B"/>
                        </a:solidFill>
                        <a:latin typeface="Cambria Math" panose="02040503050406030204" pitchFamily="18" charset="0"/>
                      </a:rPr>
                      <m:t>=(−1; 3)</m:t>
                    </m:r>
                  </m:oMath>
                </a14:m>
                <a:r>
                  <a:rPr sz="2600">
                    <a:solidFill>
                      <a:srgbClr val="1E293B"/>
                    </a:solidFill>
                    <a:latin typeface="Calibri"/>
                  </a:rPr>
                  <a:t>. Toạ độ của </a:t>
                </a:r>
                <a14:m>
                  <m:oMath xmlns:m="http://schemas.openxmlformats.org/officeDocument/2006/math">
                    <m:r>
                      <a:rPr lang="vi-VN" sz="2600" b="0">
                        <a:solidFill>
                          <a:srgbClr val="1E293B"/>
                        </a:solidFill>
                        <a:latin typeface="Cambria Math" panose="02040503050406030204" pitchFamily="18" charset="0"/>
                      </a:rPr>
                      <m:t>2</m:t>
                    </m:r>
                    <m:acc>
                      <m:accPr>
                        <m:chr m:val="⃗"/>
                        <m:ctrlPr>
                          <a:rPr lang="vi-VN" sz="2600" b="0">
                            <a:solidFill>
                              <a:srgbClr val="1E293B"/>
                            </a:solidFill>
                            <a:latin typeface="Cambria Math" panose="02040503050406030204" pitchFamily="18" charset="0"/>
                          </a:rPr>
                        </m:ctrlPr>
                      </m:accPr>
                      <m:e>
                        <m:r>
                          <a:rPr lang="vi-VN" sz="2600" b="0">
                            <a:solidFill>
                              <a:srgbClr val="1E293B"/>
                            </a:solidFill>
                            <a:latin typeface="Cambria Math" panose="02040503050406030204" pitchFamily="18" charset="0"/>
                          </a:rPr>
                          <m:t>𝑢</m:t>
                        </m:r>
                      </m:e>
                    </m:acc>
                    <m:r>
                      <a:rPr lang="vi-VN" sz="2600" b="0">
                        <a:solidFill>
                          <a:srgbClr val="1E293B"/>
                        </a:solidFill>
                        <a:latin typeface="Cambria Math" panose="02040503050406030204" pitchFamily="18" charset="0"/>
                      </a:rPr>
                      <m:t>−</m:t>
                    </m:r>
                    <m:acc>
                      <m:accPr>
                        <m:chr m:val="⃗"/>
                        <m:ctrlPr>
                          <a:rPr lang="vi-VN" sz="2600" b="0">
                            <a:solidFill>
                              <a:srgbClr val="1E293B"/>
                            </a:solidFill>
                            <a:latin typeface="Cambria Math" panose="02040503050406030204" pitchFamily="18" charset="0"/>
                          </a:rPr>
                        </m:ctrlPr>
                      </m:accPr>
                      <m:e>
                        <m:r>
                          <a:rPr lang="vi-VN" sz="2600" b="0">
                            <a:solidFill>
                              <a:srgbClr val="1E293B"/>
                            </a:solidFill>
                            <a:latin typeface="Cambria Math" panose="02040503050406030204" pitchFamily="18" charset="0"/>
                          </a:rPr>
                          <m:t>𝑣</m:t>
                        </m:r>
                      </m:e>
                    </m:acc>
                  </m:oMath>
                </a14:m>
                <a:r>
                  <a:rPr sz="2600">
                    <a:solidFill>
                      <a:srgbClr val="1E293B"/>
                    </a:solidFill>
                    <a:latin typeface="Calibri"/>
                  </a:rPr>
                  <a:t> là</a:t>
                </a:r>
              </a:p>
            </p:txBody>
          </p:sp>
        </mc:Choice>
        <mc:Fallback xmlns="">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\vec{u}=(2;\ -1)</a:t>
                </a:r>
                <a:r>
                  <a:rPr sz="2600">
                    <a:solidFill>
                      <a:srgbClr val="1E293B"/>
                    </a:solidFill>
                    <a:latin typeface="Calibri"/>
                  </a:rPr>
                  <a:t>, </a:t>
                </a:r>
                <a:r>
                  <a:rPr lang="vi-VN"/>
                  <a:t>\vec{v}=(-1;\ 3)</a:t>
                </a:r>
                <a:r>
                  <a:rPr sz="2600">
                    <a:solidFill>
                      <a:srgbClr val="1E293B"/>
                    </a:solidFill>
                    <a:latin typeface="Calibri"/>
                  </a:rPr>
                  <a:t>. Toạ độ của </a:t>
                </a:r>
                <a:r>
                  <a:rPr lang="vi-VN"/>
                  <a:t>2\vec{u}-\vec{v}</a:t>
                </a:r>
                <a:r>
                  <a:rPr sz="2600">
                    <a:solidFill>
                      <a:srgbClr val="1E293B"/>
                    </a:solidFill>
                    <a:latin typeface="Calibri"/>
                  </a:rPr>
                  <a:t> là</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713232" y="250545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3; 1</m:t>
                        </m:r>
                      </m:e>
                    </m:d>
                  </m:oMath>
                </a14:m>
                <a:endParaRPr sz="2400">
                  <a:solidFill>
                    <a:srgbClr val="1E293B"/>
                  </a:solidFill>
                  <a:latin typeface="Calibri"/>
                </a:endParaRPr>
              </a:p>
            </p:txBody>
          </p:sp>
        </mc:Choice>
        <mc:Fallback xmlns="">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(3;\ 1)</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TextBox 10"/>
              <p:cNvSpPr txBox="1"/>
              <p:nvPr/>
            </p:nvSpPr>
            <p:spPr>
              <a:xfrm>
                <a:off x="6336792" y="250545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5; −5</m:t>
                        </m:r>
                      </m:e>
                    </m:d>
                  </m:oMath>
                </a14:m>
                <a:endParaRPr sz="2400">
                  <a:solidFill>
                    <a:srgbClr val="1E293B"/>
                  </a:solidFill>
                  <a:latin typeface="Calibri"/>
                </a:endParaRPr>
              </a:p>
            </p:txBody>
          </p:sp>
        </mc:Choice>
        <mc:Fallback xmlns="">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(5;\ -5)</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713232" y="351129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5; 1</m:t>
                        </m:r>
                      </m:e>
                    </m:d>
                  </m:oMath>
                </a14:m>
                <a:endParaRPr sz="2400">
                  <a:solidFill>
                    <a:srgbClr val="1E293B"/>
                  </a:solidFill>
                  <a:latin typeface="Calibri"/>
                </a:endParaRPr>
              </a:p>
            </p:txBody>
          </p:sp>
        </mc:Choice>
        <mc:Fallback xmlns="">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(5;\ 1)</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5" name="TextBox 14"/>
              <p:cNvSpPr txBox="1"/>
              <p:nvPr/>
            </p:nvSpPr>
            <p:spPr>
              <a:xfrm>
                <a:off x="6336792" y="351129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3; −5</m:t>
                        </m:r>
                      </m:e>
                    </m:d>
                  </m:oMath>
                </a14:m>
                <a:endParaRPr sz="2400">
                  <a:solidFill>
                    <a:srgbClr val="1E293B"/>
                  </a:solidFill>
                  <a:latin typeface="Calibri"/>
                </a:endParaRPr>
              </a:p>
            </p:txBody>
          </p:sp>
        </mc:Choice>
        <mc:Fallback xmlns="">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(3;\ -5)</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7" name="s1_chu"/>
              <p:cNvSpPr txBox="1"/>
              <p:nvPr/>
            </p:nvSpPr>
            <p:spPr>
              <a:xfrm>
                <a:off x="713232" y="4654296"/>
                <a:ext cx="10735056" cy="527304"/>
              </a:xfrm>
              <a:prstGeom prst="rect">
                <a:avLst/>
              </a:prstGeom>
              <a:noFill/>
            </p:spPr>
            <p:txBody>
              <a:bodyPr wrap="square" lIns="45720" rIns="45720" anchor="ctr">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2</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𝑢</m:t>
                        </m:r>
                      </m:e>
                    </m:acc>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𝑣</m:t>
                        </m:r>
                      </m:e>
                    </m:acc>
                    <m:r>
                      <a:rPr lang="vi-VN" sz="2200" b="0">
                        <a:solidFill>
                          <a:srgbClr val="1E293B"/>
                        </a:solidFill>
                        <a:latin typeface="Cambria Math" panose="02040503050406030204" pitchFamily="18" charset="0"/>
                      </a:rPr>
                      <m:t>=(4+1; −2−3)=(5; −5)</m:t>
                    </m:r>
                  </m:oMath>
                </a14:m>
                <a:r>
                  <a:rPr sz="2200">
                    <a:solidFill>
                      <a:srgbClr val="1E293B"/>
                    </a:solidFill>
                    <a:latin typeface="Calibri"/>
                  </a:rPr>
                  <a:t>.</a:t>
                </a:r>
              </a:p>
            </p:txBody>
          </p:sp>
        </mc:Choice>
        <mc:Fallback xmlns="">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2\vec{u}-\vec{v}=(4+1;\ -2-3)=(5;\ -5)</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29</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569976"/>
              </a:xfrm>
              <a:prstGeom prst="rect">
                <a:avLst/>
              </a:prstGeom>
              <a:noFill/>
            </p:spPr>
            <p:txBody>
              <a:bodyPr wrap="square" lIns="45720" rIns="45720" anchor="t">
                <a:spAutoFit/>
              </a:bodyPr>
              <a:lstStyle/>
              <a:p>
                <a:pPr algn="l">
                  <a:spcAft>
                    <a:spcPts val="800"/>
                  </a:spcAft>
                </a:pPr>
                <a:r>
                  <a:rPr sz="2600">
                    <a:solidFill>
                      <a:srgbClr val="1E293B"/>
                    </a:solidFill>
                    <a:latin typeface="Calibri"/>
                  </a:rPr>
                  <a:t>Độ dài của vectơ </a:t>
                </a:r>
                <a14:m>
                  <m:oMath xmlns:m="http://schemas.openxmlformats.org/officeDocument/2006/math">
                    <m:acc>
                      <m:accPr>
                        <m:chr m:val="⃗"/>
                        <m:ctrlPr>
                          <a:rPr lang="vi-VN" sz="2600" b="0">
                            <a:solidFill>
                              <a:srgbClr val="1E293B"/>
                            </a:solidFill>
                            <a:latin typeface="Cambria Math" panose="02040503050406030204" pitchFamily="18" charset="0"/>
                          </a:rPr>
                        </m:ctrlPr>
                      </m:accPr>
                      <m:e>
                        <m:r>
                          <a:rPr lang="vi-VN" sz="2600" b="0">
                            <a:solidFill>
                              <a:srgbClr val="1E293B"/>
                            </a:solidFill>
                            <a:latin typeface="Cambria Math" panose="02040503050406030204" pitchFamily="18" charset="0"/>
                          </a:rPr>
                          <m:t>𝑢</m:t>
                        </m:r>
                      </m:e>
                    </m:acc>
                    <m:r>
                      <a:rPr lang="vi-VN" sz="2600" b="0">
                        <a:solidFill>
                          <a:srgbClr val="1E293B"/>
                        </a:solidFill>
                        <a:latin typeface="Cambria Math" panose="02040503050406030204" pitchFamily="18" charset="0"/>
                      </a:rPr>
                      <m:t>=(2; −1)</m:t>
                    </m:r>
                  </m:oMath>
                </a14:m>
                <a:r>
                  <a:rPr sz="2600">
                    <a:solidFill>
                      <a:srgbClr val="1E293B"/>
                    </a:solidFill>
                    <a:latin typeface="Calibri"/>
                  </a:rPr>
                  <a:t> bằng</a:t>
                </a:r>
              </a:p>
            </p:txBody>
          </p:sp>
        </mc:Choice>
        <mc:Fallback xmlns="">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Độ dài của vectơ </a:t>
                </a:r>
                <a:r>
                  <a:rPr lang="vi-VN"/>
                  <a:t>\vec{u}=(2;\ -1)</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713232" y="250545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5</m:t>
                    </m:r>
                  </m:oMath>
                </a14:m>
                <a:endParaRPr sz="2400">
                  <a:solidFill>
                    <a:srgbClr val="1E293B"/>
                  </a:solidFill>
                  <a:latin typeface="Calibri"/>
                </a:endParaRPr>
              </a:p>
            </p:txBody>
          </p:sp>
        </mc:Choice>
        <mc:Fallback xmlns="">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5</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TextBox 10"/>
              <p:cNvSpPr txBox="1"/>
              <p:nvPr/>
            </p:nvSpPr>
            <p:spPr>
              <a:xfrm>
                <a:off x="6336792" y="250545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ad>
                      <m:radPr>
                        <m:degHide m:val="on"/>
                        <m:ctrlPr>
                          <a:rPr lang="vi-VN" sz="2400" b="0" i="1">
                            <a:solidFill>
                              <a:srgbClr val="1E293B"/>
                            </a:solidFill>
                            <a:latin typeface="Cambria Math" panose="02040503050406030204" pitchFamily="18" charset="0"/>
                          </a:rPr>
                        </m:ctrlPr>
                      </m:radPr>
                      <m:deg/>
                      <m:e>
                        <m:r>
                          <a:rPr lang="vi-VN" sz="2400" b="0">
                            <a:solidFill>
                              <a:srgbClr val="1E293B"/>
                            </a:solidFill>
                            <a:latin typeface="Cambria Math" panose="02040503050406030204" pitchFamily="18" charset="0"/>
                          </a:rPr>
                          <m:t>5</m:t>
                        </m:r>
                      </m:e>
                    </m:rad>
                  </m:oMath>
                </a14:m>
                <a:endParaRPr sz="2400">
                  <a:solidFill>
                    <a:srgbClr val="1E293B"/>
                  </a:solidFill>
                  <a:latin typeface="Calibri"/>
                </a:endParaRPr>
              </a:p>
            </p:txBody>
          </p:sp>
        </mc:Choice>
        <mc:Fallback xmlns="">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\sqrt{5}</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713232" y="351129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ad>
                      <m:radPr>
                        <m:degHide m:val="on"/>
                        <m:ctrlPr>
                          <a:rPr lang="vi-VN" sz="2400" b="0" i="1">
                            <a:solidFill>
                              <a:srgbClr val="1E293B"/>
                            </a:solidFill>
                            <a:latin typeface="Cambria Math" panose="02040503050406030204" pitchFamily="18" charset="0"/>
                          </a:rPr>
                        </m:ctrlPr>
                      </m:radPr>
                      <m:deg/>
                      <m:e>
                        <m:r>
                          <a:rPr lang="vi-VN" sz="2400" b="0">
                            <a:solidFill>
                              <a:srgbClr val="1E293B"/>
                            </a:solidFill>
                            <a:latin typeface="Cambria Math" panose="02040503050406030204" pitchFamily="18" charset="0"/>
                          </a:rPr>
                          <m:t>3</m:t>
                        </m:r>
                      </m:e>
                    </m:rad>
                  </m:oMath>
                </a14:m>
                <a:endParaRPr sz="2400">
                  <a:solidFill>
                    <a:srgbClr val="1E293B"/>
                  </a:solidFill>
                  <a:latin typeface="Calibri"/>
                </a:endParaRPr>
              </a:p>
            </p:txBody>
          </p:sp>
        </mc:Choice>
        <mc:Fallback xmlns="">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\sqrt{3}</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5" name="TextBox 14"/>
              <p:cNvSpPr txBox="1"/>
              <p:nvPr/>
            </p:nvSpPr>
            <p:spPr>
              <a:xfrm>
                <a:off x="6336792" y="351129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3</m:t>
                    </m:r>
                  </m:oMath>
                </a14:m>
                <a:endParaRPr sz="2400">
                  <a:solidFill>
                    <a:srgbClr val="1E293B"/>
                  </a:solidFill>
                  <a:latin typeface="Calibri"/>
                </a:endParaRPr>
              </a:p>
            </p:txBody>
          </p:sp>
        </mc:Choice>
        <mc:Fallback xmlns="">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3</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7" name="s1_chu"/>
              <p:cNvSpPr txBox="1"/>
              <p:nvPr/>
            </p:nvSpPr>
            <p:spPr>
              <a:xfrm>
                <a:off x="713232" y="4654296"/>
                <a:ext cx="10735056" cy="527304"/>
              </a:xfrm>
              <a:prstGeom prst="rect">
                <a:avLst/>
              </a:prstGeom>
              <a:noFill/>
            </p:spPr>
            <p:txBody>
              <a:bodyPr wrap="square" lIns="45720" rIns="45720" anchor="ctr">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𝑢</m:t>
                        </m:r>
                      </m:e>
                    </m:acc>
                    <m:r>
                      <a:rPr lang="vi-VN" sz="2200" b="0">
                        <a:solidFill>
                          <a:srgbClr val="1E293B"/>
                        </a:solidFill>
                        <a:latin typeface="Cambria Math" panose="02040503050406030204" pitchFamily="18" charset="0"/>
                      </a:rPr>
                      <m:t>|=</m:t>
                    </m:r>
                    <m:rad>
                      <m:radPr>
                        <m:degHide m:val="on"/>
                        <m:ctrlPr>
                          <a:rPr lang="vi-VN" sz="2200" b="0" i="1">
                            <a:solidFill>
                              <a:srgbClr val="1E293B"/>
                            </a:solidFill>
                            <a:latin typeface="Cambria Math" panose="02040503050406030204" pitchFamily="18" charset="0"/>
                          </a:rPr>
                        </m:ctrlPr>
                      </m:radPr>
                      <m:deg/>
                      <m:e>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2</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+(−1</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e>
                    </m:rad>
                    <m:r>
                      <a:rPr lang="vi-VN" sz="2200" b="0">
                        <a:solidFill>
                          <a:srgbClr val="1E293B"/>
                        </a:solidFill>
                        <a:latin typeface="Cambria Math" panose="02040503050406030204" pitchFamily="18" charset="0"/>
                      </a:rPr>
                      <m:t>=</m:t>
                    </m:r>
                    <m:rad>
                      <m:radPr>
                        <m:degHide m:val="on"/>
                        <m:ctrlPr>
                          <a:rPr lang="vi-VN" sz="2200" b="0" i="1">
                            <a:solidFill>
                              <a:srgbClr val="1E293B"/>
                            </a:solidFill>
                            <a:latin typeface="Cambria Math" panose="02040503050406030204" pitchFamily="18" charset="0"/>
                          </a:rPr>
                        </m:ctrlPr>
                      </m:radPr>
                      <m:deg/>
                      <m:e>
                        <m:r>
                          <a:rPr lang="vi-VN" sz="2200" b="0">
                            <a:solidFill>
                              <a:srgbClr val="1E293B"/>
                            </a:solidFill>
                            <a:latin typeface="Cambria Math" panose="02040503050406030204" pitchFamily="18" charset="0"/>
                          </a:rPr>
                          <m:t>5</m:t>
                        </m:r>
                      </m:e>
                    </m:rad>
                  </m:oMath>
                </a14:m>
                <a:r>
                  <a:rPr sz="2200">
                    <a:solidFill>
                      <a:srgbClr val="1E293B"/>
                    </a:solidFill>
                    <a:latin typeface="Calibri"/>
                  </a:rPr>
                  <a:t>.</a:t>
                </a:r>
              </a:p>
            </p:txBody>
          </p:sp>
        </mc:Choice>
        <mc:Fallback xmlns="">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|\vec{u}|=\sqrt{2^2+(-1)^2}=\sqrt{5}</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3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30</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569976"/>
              </a:xfrm>
              <a:prstGeom prst="rect">
                <a:avLst/>
              </a:prstGeom>
              <a:noFill/>
            </p:spPr>
            <p:txBody>
              <a:bodyPr wrap="square" lIns="45720" rIns="45720" anchor="t">
                <a:spAutoFit/>
              </a:bodyPr>
              <a:lstStyle/>
              <a:p>
                <a:pPr algn="l">
                  <a:spcAft>
                    <a:spcPts val="800"/>
                  </a:spcAft>
                </a:pPr>
                <a:r>
                  <a:rPr sz="2600">
                    <a:solidFill>
                      <a:srgbClr val="1E293B"/>
                    </a:solidFill>
                    <a:latin typeface="Calibri"/>
                  </a:rPr>
                  <a:t>Cho </a:t>
                </a:r>
                <a14:m>
                  <m:oMath xmlns:m="http://schemas.openxmlformats.org/officeDocument/2006/math">
                    <m:r>
                      <a:rPr lang="vi-VN" sz="2600" b="0">
                        <a:solidFill>
                          <a:srgbClr val="1E293B"/>
                        </a:solidFill>
                        <a:latin typeface="Cambria Math" panose="02040503050406030204" pitchFamily="18" charset="0"/>
                      </a:rPr>
                      <m:t>𝐴</m:t>
                    </m:r>
                    <m:r>
                      <a:rPr lang="vi-VN" sz="2600" b="0">
                        <a:solidFill>
                          <a:srgbClr val="1E293B"/>
                        </a:solidFill>
                        <a:latin typeface="Cambria Math" panose="02040503050406030204" pitchFamily="18" charset="0"/>
                      </a:rPr>
                      <m:t>(1; 2)</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𝐵</m:t>
                    </m:r>
                    <m:r>
                      <a:rPr lang="vi-VN" sz="2600" b="0">
                        <a:solidFill>
                          <a:srgbClr val="1E293B"/>
                        </a:solidFill>
                        <a:latin typeface="Cambria Math" panose="02040503050406030204" pitchFamily="18" charset="0"/>
                      </a:rPr>
                      <m:t>(3; −2)</m:t>
                    </m:r>
                  </m:oMath>
                </a14:m>
                <a:r>
                  <a:rPr sz="2600">
                    <a:solidFill>
                      <a:srgbClr val="1E293B"/>
                    </a:solidFill>
                    <a:latin typeface="Calibri"/>
                  </a:rPr>
                  <a:t>. Toạ độ trung điểm của đoạn thẳng </a:t>
                </a:r>
                <a14:m>
                  <m:oMath xmlns:m="http://schemas.openxmlformats.org/officeDocument/2006/math">
                    <m:r>
                      <a:rPr lang="vi-VN" sz="2600" b="0">
                        <a:solidFill>
                          <a:srgbClr val="1E293B"/>
                        </a:solidFill>
                        <a:latin typeface="Cambria Math" panose="02040503050406030204" pitchFamily="18" charset="0"/>
                      </a:rPr>
                      <m:t>𝐴𝐵</m:t>
                    </m:r>
                  </m:oMath>
                </a14:m>
                <a:r>
                  <a:rPr sz="2600">
                    <a:solidFill>
                      <a:srgbClr val="1E293B"/>
                    </a:solidFill>
                    <a:latin typeface="Calibri"/>
                  </a:rPr>
                  <a:t> là</a:t>
                </a:r>
              </a:p>
            </p:txBody>
          </p:sp>
        </mc:Choice>
        <mc:Fallback xmlns="">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A(1;\ 2)</a:t>
                </a:r>
                <a:r>
                  <a:rPr sz="2600">
                    <a:solidFill>
                      <a:srgbClr val="1E293B"/>
                    </a:solidFill>
                    <a:latin typeface="Calibri"/>
                  </a:rPr>
                  <a:t>, </a:t>
                </a:r>
                <a:r>
                  <a:rPr lang="vi-VN"/>
                  <a:t>B(3;\ -2)</a:t>
                </a:r>
                <a:r>
                  <a:rPr sz="2600">
                    <a:solidFill>
                      <a:srgbClr val="1E293B"/>
                    </a:solidFill>
                    <a:latin typeface="Calibri"/>
                  </a:rPr>
                  <a:t>. Toạ độ trung điểm của đoạn thẳng </a:t>
                </a:r>
                <a:r>
                  <a:rPr lang="vi-VN"/>
                  <a:t>AB</a:t>
                </a:r>
                <a:r>
                  <a:rPr sz="2600">
                    <a:solidFill>
                      <a:srgbClr val="1E293B"/>
                    </a:solidFill>
                    <a:latin typeface="Calibri"/>
                  </a:rPr>
                  <a:t> là</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713232" y="250545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2; 0</m:t>
                        </m:r>
                      </m:e>
                    </m:d>
                  </m:oMath>
                </a14:m>
                <a:endParaRPr sz="2400">
                  <a:solidFill>
                    <a:srgbClr val="1E293B"/>
                  </a:solidFill>
                  <a:latin typeface="Calibri"/>
                </a:endParaRPr>
              </a:p>
            </p:txBody>
          </p:sp>
        </mc:Choice>
        <mc:Fallback xmlns="">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(2;\ 0)</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TextBox 10"/>
              <p:cNvSpPr txBox="1"/>
              <p:nvPr/>
            </p:nvSpPr>
            <p:spPr>
              <a:xfrm>
                <a:off x="6336792" y="250545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1; −2</m:t>
                        </m:r>
                      </m:e>
                    </m:d>
                  </m:oMath>
                </a14:m>
                <a:endParaRPr sz="2400">
                  <a:solidFill>
                    <a:srgbClr val="1E293B"/>
                  </a:solidFill>
                  <a:latin typeface="Calibri"/>
                </a:endParaRPr>
              </a:p>
            </p:txBody>
          </p:sp>
        </mc:Choice>
        <mc:Fallback xmlns="">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 -2)</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713232" y="351129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4; 0</m:t>
                        </m:r>
                      </m:e>
                    </m:d>
                  </m:oMath>
                </a14:m>
                <a:endParaRPr sz="2400">
                  <a:solidFill>
                    <a:srgbClr val="1E293B"/>
                  </a:solidFill>
                  <a:latin typeface="Calibri"/>
                </a:endParaRPr>
              </a:p>
            </p:txBody>
          </p:sp>
        </mc:Choice>
        <mc:Fallback xmlns="">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(4;\ 0)</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5" name="TextBox 14"/>
              <p:cNvSpPr txBox="1"/>
              <p:nvPr/>
            </p:nvSpPr>
            <p:spPr>
              <a:xfrm>
                <a:off x="6336792" y="351129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2; −4</m:t>
                        </m:r>
                      </m:e>
                    </m:d>
                  </m:oMath>
                </a14:m>
                <a:endParaRPr sz="2400">
                  <a:solidFill>
                    <a:srgbClr val="1E293B"/>
                  </a:solidFill>
                  <a:latin typeface="Calibri"/>
                </a:endParaRPr>
              </a:p>
            </p:txBody>
          </p:sp>
        </mc:Choice>
        <mc:Fallback xmlns="">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(2;\ -4)</a:t>
                </a:r>
              </a:p>
            </p:txBody>
          </p:sp>
        </mc:Fallback>
      </mc:AlternateContent>
      <p:sp>
        <p:nvSpPr>
          <p:cNvPr id="16" name="s1_nen"/>
          <p:cNvSpPr/>
          <p:nvPr/>
        </p:nvSpPr>
        <p:spPr>
          <a:xfrm>
            <a:off x="548640" y="4617720"/>
            <a:ext cx="11064240" cy="902207"/>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7" name="s1_chu"/>
              <p:cNvSpPr txBox="1"/>
              <p:nvPr/>
            </p:nvSpPr>
            <p:spPr>
              <a:xfrm>
                <a:off x="713232" y="4654296"/>
                <a:ext cx="10735056" cy="829056"/>
              </a:xfrm>
              <a:prstGeom prst="rect">
                <a:avLst/>
              </a:prstGeom>
              <a:noFill/>
            </p:spPr>
            <p:txBody>
              <a:bodyPr wrap="square" lIns="45720" rIns="45720" anchor="ctr">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14:m>
                  <m:oMath xmlns:m="http://schemas.openxmlformats.org/officeDocument/2006/math">
                    <m:d>
                      <m:dPr>
                        <m:ctrlPr>
                          <a:rPr lang="vi-VN" sz="2200" b="0">
                            <a:solidFill>
                              <a:srgbClr val="1E293B"/>
                            </a:solidFill>
                            <a:latin typeface="Cambria Math" panose="02040503050406030204" pitchFamily="18" charset="0"/>
                          </a:rPr>
                        </m:ctrlPr>
                      </m:dPr>
                      <m:e>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1+3</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 </m:t>
                        </m:r>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2−2</m:t>
                            </m:r>
                          </m:num>
                          <m:den>
                            <m:r>
                              <a:rPr lang="vi-VN" sz="2200" b="0">
                                <a:solidFill>
                                  <a:srgbClr val="1E293B"/>
                                </a:solidFill>
                                <a:latin typeface="Cambria Math" panose="02040503050406030204" pitchFamily="18" charset="0"/>
                              </a:rPr>
                              <m:t>2</m:t>
                            </m:r>
                          </m:den>
                        </m:f>
                      </m:e>
                    </m:d>
                    <m:r>
                      <a:rPr lang="vi-VN" sz="2200" b="0">
                        <a:solidFill>
                          <a:srgbClr val="1E293B"/>
                        </a:solidFill>
                        <a:latin typeface="Cambria Math" panose="02040503050406030204" pitchFamily="18" charset="0"/>
                      </a:rPr>
                      <m:t>=(2; 0)</m:t>
                    </m:r>
                  </m:oMath>
                </a14:m>
                <a:r>
                  <a:rPr sz="2200">
                    <a:solidFill>
                      <a:srgbClr val="1E293B"/>
                    </a:solidFill>
                    <a:latin typeface="Calibri"/>
                  </a:rPr>
                  <a:t>.</a:t>
                </a:r>
              </a:p>
            </p:txBody>
          </p:sp>
        </mc:Choice>
        <mc:Fallback xmlns="">
          <p:sp>
            <p:nvSpPr>
              <p:cNvPr id="17" name="TextBox 16"/>
              <p:cNvSpPr txBox="1"/>
              <p:nvPr/>
            </p:nvSpPr>
            <p:spPr>
              <a:xfrm>
                <a:off x="713232" y="4654296"/>
                <a:ext cx="10735056" cy="829056"/>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r>
                  <a:rPr lang="vi-VN"/>
                  <a:t>\left(\frac{1+3}{2};\ \frac{2-2}{2}\right)=(2;\ 0)</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4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31</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569976"/>
              </a:xfrm>
              <a:prstGeom prst="rect">
                <a:avLst/>
              </a:prstGeom>
              <a:noFill/>
            </p:spPr>
            <p:txBody>
              <a:bodyPr wrap="square" lIns="45720" rIns="45720" anchor="t">
                <a:spAutoFit/>
              </a:bodyPr>
              <a:lstStyle/>
              <a:p>
                <a:pPr algn="l">
                  <a:spcAft>
                    <a:spcPts val="800"/>
                  </a:spcAft>
                </a:pPr>
                <a:r>
                  <a:rPr sz="2600">
                    <a:solidFill>
                      <a:srgbClr val="1E293B"/>
                    </a:solidFill>
                    <a:latin typeface="Calibri"/>
                  </a:rPr>
                  <a:t>Giá trị của </a:t>
                </a:r>
                <a14:m>
                  <m:oMath xmlns:m="http://schemas.openxmlformats.org/officeDocument/2006/math">
                    <m:r>
                      <a:rPr lang="vi-VN" sz="2600" b="0">
                        <a:solidFill>
                          <a:srgbClr val="1E293B"/>
                        </a:solidFill>
                        <a:latin typeface="Cambria Math" panose="02040503050406030204" pitchFamily="18" charset="0"/>
                      </a:rPr>
                      <m:t>𝑚</m:t>
                    </m:r>
                  </m:oMath>
                </a14:m>
                <a:r>
                  <a:rPr sz="2600">
                    <a:solidFill>
                      <a:srgbClr val="1E293B"/>
                    </a:solidFill>
                    <a:latin typeface="Calibri"/>
                  </a:rPr>
                  <a:t> để </a:t>
                </a:r>
                <a14:m>
                  <m:oMath xmlns:m="http://schemas.openxmlformats.org/officeDocument/2006/math">
                    <m:acc>
                      <m:accPr>
                        <m:chr m:val="⃗"/>
                        <m:ctrlPr>
                          <a:rPr lang="vi-VN" sz="2600" b="0">
                            <a:solidFill>
                              <a:srgbClr val="1E293B"/>
                            </a:solidFill>
                            <a:latin typeface="Cambria Math" panose="02040503050406030204" pitchFamily="18" charset="0"/>
                          </a:rPr>
                        </m:ctrlPr>
                      </m:accPr>
                      <m:e>
                        <m:r>
                          <a:rPr lang="vi-VN" sz="2600" b="0">
                            <a:solidFill>
                              <a:srgbClr val="1E293B"/>
                            </a:solidFill>
                            <a:latin typeface="Cambria Math" panose="02040503050406030204" pitchFamily="18" charset="0"/>
                          </a:rPr>
                          <m:t>𝑎</m:t>
                        </m:r>
                      </m:e>
                    </m:acc>
                    <m:r>
                      <a:rPr lang="vi-VN" sz="2600" b="0">
                        <a:solidFill>
                          <a:srgbClr val="1E293B"/>
                        </a:solidFill>
                        <a:latin typeface="Cambria Math" panose="02040503050406030204" pitchFamily="18" charset="0"/>
                      </a:rPr>
                      <m:t>=(2; </m:t>
                    </m:r>
                    <m:r>
                      <a:rPr lang="vi-VN" sz="2600" b="0">
                        <a:solidFill>
                          <a:srgbClr val="1E293B"/>
                        </a:solidFill>
                        <a:latin typeface="Cambria Math" panose="02040503050406030204" pitchFamily="18" charset="0"/>
                      </a:rPr>
                      <m:t>𝑚</m:t>
                    </m:r>
                    <m:r>
                      <a:rPr lang="vi-VN" sz="2600" b="0">
                        <a:solidFill>
                          <a:srgbClr val="1E293B"/>
                        </a:solidFill>
                        <a:latin typeface="Cambria Math" panose="02040503050406030204" pitchFamily="18" charset="0"/>
                      </a:rPr>
                      <m:t>)</m:t>
                    </m:r>
                  </m:oMath>
                </a14:m>
                <a:r>
                  <a:rPr sz="2600">
                    <a:solidFill>
                      <a:srgbClr val="1E293B"/>
                    </a:solidFill>
                    <a:latin typeface="Calibri"/>
                  </a:rPr>
                  <a:t> cùng phương với </a:t>
                </a:r>
                <a14:m>
                  <m:oMath xmlns:m="http://schemas.openxmlformats.org/officeDocument/2006/math">
                    <m:acc>
                      <m:accPr>
                        <m:chr m:val="⃗"/>
                        <m:ctrlPr>
                          <a:rPr lang="vi-VN" sz="2600" b="0">
                            <a:solidFill>
                              <a:srgbClr val="1E293B"/>
                            </a:solidFill>
                            <a:latin typeface="Cambria Math" panose="02040503050406030204" pitchFamily="18" charset="0"/>
                          </a:rPr>
                        </m:ctrlPr>
                      </m:accPr>
                      <m:e>
                        <m:r>
                          <a:rPr lang="vi-VN" sz="2600" b="0">
                            <a:solidFill>
                              <a:srgbClr val="1E293B"/>
                            </a:solidFill>
                            <a:latin typeface="Cambria Math" panose="02040503050406030204" pitchFamily="18" charset="0"/>
                          </a:rPr>
                          <m:t>𝑏</m:t>
                        </m:r>
                      </m:e>
                    </m:acc>
                    <m:r>
                      <a:rPr lang="vi-VN" sz="2600" b="0">
                        <a:solidFill>
                          <a:srgbClr val="1E293B"/>
                        </a:solidFill>
                        <a:latin typeface="Cambria Math" panose="02040503050406030204" pitchFamily="18" charset="0"/>
                      </a:rPr>
                      <m:t>=(1; −3)</m:t>
                    </m:r>
                  </m:oMath>
                </a14:m>
                <a:r>
                  <a:rPr sz="2600">
                    <a:solidFill>
                      <a:srgbClr val="1E293B"/>
                    </a:solidFill>
                    <a:latin typeface="Calibri"/>
                  </a:rPr>
                  <a:t> là</a:t>
                </a:r>
              </a:p>
            </p:txBody>
          </p:sp>
        </mc:Choice>
        <mc:Fallback xmlns="">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Giá trị của </a:t>
                </a:r>
                <a:r>
                  <a:rPr lang="vi-VN"/>
                  <a:t>m</a:t>
                </a:r>
                <a:r>
                  <a:rPr sz="2600">
                    <a:solidFill>
                      <a:srgbClr val="1E293B"/>
                    </a:solidFill>
                    <a:latin typeface="Calibri"/>
                  </a:rPr>
                  <a:t> để </a:t>
                </a:r>
                <a:r>
                  <a:rPr lang="vi-VN"/>
                  <a:t>\vec{a}=(2;\ m)</a:t>
                </a:r>
                <a:r>
                  <a:rPr sz="2600">
                    <a:solidFill>
                      <a:srgbClr val="1E293B"/>
                    </a:solidFill>
                    <a:latin typeface="Calibri"/>
                  </a:rPr>
                  <a:t> cùng phương với </a:t>
                </a:r>
                <a:r>
                  <a:rPr lang="vi-VN"/>
                  <a:t>\vec{b}=(1;\ -3)</a:t>
                </a:r>
                <a:r>
                  <a:rPr sz="2600">
                    <a:solidFill>
                      <a:srgbClr val="1E293B"/>
                    </a:solidFill>
                    <a:latin typeface="Calibri"/>
                  </a:rPr>
                  <a:t> là</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713232" y="250545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−6</m:t>
                    </m:r>
                  </m:oMath>
                </a14:m>
                <a:endParaRPr sz="2400">
                  <a:solidFill>
                    <a:srgbClr val="1E293B"/>
                  </a:solidFill>
                  <a:latin typeface="Calibri"/>
                </a:endParaRPr>
              </a:p>
            </p:txBody>
          </p:sp>
        </mc:Choice>
        <mc:Fallback xmlns="">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-6</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TextBox 10"/>
              <p:cNvSpPr txBox="1"/>
              <p:nvPr/>
            </p:nvSpPr>
            <p:spPr>
              <a:xfrm>
                <a:off x="6336792" y="250545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6</m:t>
                    </m:r>
                  </m:oMath>
                </a14:m>
                <a:endParaRPr sz="2400">
                  <a:solidFill>
                    <a:srgbClr val="1E293B"/>
                  </a:solidFill>
                  <a:latin typeface="Calibri"/>
                </a:endParaRPr>
              </a:p>
            </p:txBody>
          </p:sp>
        </mc:Choice>
        <mc:Fallback xmlns="">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6</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713232" y="351129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m:t>
                    </m:r>
                    <m:f>
                      <m:fPr>
                        <m:ctrlPr>
                          <a:rPr lang="vi-VN" sz="2400" b="0">
                            <a:solidFill>
                              <a:srgbClr val="1E293B"/>
                            </a:solidFill>
                            <a:latin typeface="Cambria Math" panose="02040503050406030204" pitchFamily="18" charset="0"/>
                          </a:rPr>
                        </m:ctrlPr>
                      </m:fPr>
                      <m:num>
                        <m:r>
                          <a:rPr lang="vi-VN" sz="2400" b="0">
                            <a:solidFill>
                              <a:srgbClr val="1E293B"/>
                            </a:solidFill>
                            <a:latin typeface="Cambria Math" panose="02040503050406030204" pitchFamily="18" charset="0"/>
                          </a:rPr>
                          <m:t>3</m:t>
                        </m:r>
                      </m:num>
                      <m:den>
                        <m:r>
                          <a:rPr lang="vi-VN" sz="2400" b="0">
                            <a:solidFill>
                              <a:srgbClr val="1E293B"/>
                            </a:solidFill>
                            <a:latin typeface="Cambria Math" panose="02040503050406030204" pitchFamily="18" charset="0"/>
                          </a:rPr>
                          <m:t>2</m:t>
                        </m:r>
                      </m:den>
                    </m:f>
                  </m:oMath>
                </a14:m>
                <a:endParaRPr sz="2400">
                  <a:solidFill>
                    <a:srgbClr val="1E293B"/>
                  </a:solidFill>
                  <a:latin typeface="Calibri"/>
                </a:endParaRPr>
              </a:p>
            </p:txBody>
          </p:sp>
        </mc:Choice>
        <mc:Fallback xmlns="">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-\frac{3}{2}</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5" name="TextBox 14"/>
              <p:cNvSpPr txBox="1"/>
              <p:nvPr/>
            </p:nvSpPr>
            <p:spPr>
              <a:xfrm>
                <a:off x="6336792" y="3511296"/>
                <a:ext cx="5111496" cy="768096"/>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f>
                      <m:fPr>
                        <m:ctrlPr>
                          <a:rPr lang="vi-VN" sz="2400" b="0">
                            <a:solidFill>
                              <a:srgbClr val="1E293B"/>
                            </a:solidFill>
                            <a:latin typeface="Cambria Math" panose="02040503050406030204" pitchFamily="18" charset="0"/>
                          </a:rPr>
                        </m:ctrlPr>
                      </m:fPr>
                      <m:num>
                        <m:r>
                          <a:rPr lang="vi-VN" sz="2400" b="0">
                            <a:solidFill>
                              <a:srgbClr val="1E293B"/>
                            </a:solidFill>
                            <a:latin typeface="Cambria Math" panose="02040503050406030204" pitchFamily="18" charset="0"/>
                          </a:rPr>
                          <m:t>3</m:t>
                        </m:r>
                      </m:num>
                      <m:den>
                        <m:r>
                          <a:rPr lang="vi-VN" sz="2400" b="0">
                            <a:solidFill>
                              <a:srgbClr val="1E293B"/>
                            </a:solidFill>
                            <a:latin typeface="Cambria Math" panose="02040503050406030204" pitchFamily="18" charset="0"/>
                          </a:rPr>
                          <m:t>2</m:t>
                        </m:r>
                      </m:den>
                    </m:f>
                  </m:oMath>
                </a14:m>
                <a:endParaRPr sz="2400">
                  <a:solidFill>
                    <a:srgbClr val="1E293B"/>
                  </a:solidFill>
                  <a:latin typeface="Calibri"/>
                </a:endParaRPr>
              </a:p>
            </p:txBody>
          </p:sp>
        </mc:Choice>
        <mc:Fallback xmlns="">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\frac{3}{2}</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7" name="s1_chu"/>
              <p:cNvSpPr txBox="1"/>
              <p:nvPr/>
            </p:nvSpPr>
            <p:spPr>
              <a:xfrm>
                <a:off x="713232" y="4654296"/>
                <a:ext cx="10735056" cy="527304"/>
              </a:xfrm>
              <a:prstGeom prst="rect">
                <a:avLst/>
              </a:prstGeom>
              <a:noFill/>
            </p:spPr>
            <p:txBody>
              <a:bodyPr wrap="square" lIns="45720" rIns="45720" anchor="ctr">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r>
                      <a:rPr lang="vi-VN" sz="2200" b="0">
                        <a:solidFill>
                          <a:srgbClr val="1E293B"/>
                        </a:solidFill>
                        <a:latin typeface="Cambria Math" panose="02040503050406030204" pitchFamily="18" charset="0"/>
                      </a:rPr>
                      <m:t>=2</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𝑏</m:t>
                        </m:r>
                      </m:e>
                    </m:acc>
                  </m:oMath>
                </a14:m>
                <a:r>
                  <a:rPr sz="2200">
                    <a:solidFill>
                      <a:srgbClr val="1E293B"/>
                    </a:solidFill>
                    <a:latin typeface="Calibri"/>
                  </a:rPr>
                  <a:t> ⇒ </a:t>
                </a:r>
                <a14:m>
                  <m:oMath xmlns:m="http://schemas.openxmlformats.org/officeDocument/2006/math">
                    <m:r>
                      <a:rPr lang="vi-VN" sz="2200" b="0">
                        <a:solidFill>
                          <a:srgbClr val="1E293B"/>
                        </a:solidFill>
                        <a:latin typeface="Cambria Math" panose="02040503050406030204" pitchFamily="18" charset="0"/>
                      </a:rPr>
                      <m:t>𝑚</m:t>
                    </m:r>
                    <m:r>
                      <a:rPr lang="vi-VN" sz="2200" b="0">
                        <a:solidFill>
                          <a:srgbClr val="1E293B"/>
                        </a:solidFill>
                        <a:latin typeface="Cambria Math" panose="02040503050406030204" pitchFamily="18" charset="0"/>
                      </a:rPr>
                      <m:t>=2·(−3)=−6</m:t>
                    </m:r>
                  </m:oMath>
                </a14:m>
                <a:r>
                  <a:rPr sz="2200">
                    <a:solidFill>
                      <a:srgbClr val="1E293B"/>
                    </a:solidFill>
                    <a:latin typeface="Calibri"/>
                  </a:rPr>
                  <a:t>.</a:t>
                </a:r>
              </a:p>
            </p:txBody>
          </p:sp>
        </mc:Choice>
        <mc:Fallback xmlns="">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r>
                  <a:rPr lang="vi-VN"/>
                  <a:t>\vec{a}=2\vec{b}</a:t>
                </a:r>
                <a:r>
                  <a:rPr sz="2200">
                    <a:solidFill>
                      <a:srgbClr val="1E293B"/>
                    </a:solidFill>
                    <a:latin typeface="Calibri"/>
                  </a:rPr>
                  <a:t> ⇒ </a:t>
                </a:r>
                <a:r>
                  <a:rPr lang="vi-VN"/>
                  <a:t>m=2\cdot(-3)=-6</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5 (ĐÚNG/SAI)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32</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539496"/>
              </a:xfrm>
              <a:prstGeom prst="rect">
                <a:avLst/>
              </a:prstGeom>
              <a:noFill/>
            </p:spPr>
            <p:txBody>
              <a:bodyPr wrap="square" lIns="45720" rIns="45720" anchor="t">
                <a:spAutoFit/>
              </a:bodyPr>
              <a:lstStyle/>
              <a:p>
                <a:pPr algn="l">
                  <a:spcAft>
                    <a:spcPts val="800"/>
                  </a:spcAft>
                </a:pPr>
                <a:r>
                  <a:rPr sz="2400">
                    <a:solidFill>
                      <a:srgbClr val="1E293B"/>
                    </a:solidFill>
                    <a:latin typeface="Calibri"/>
                  </a:rPr>
                  <a:t>Cho </a:t>
                </a:r>
                <a14:m>
                  <m:oMath xmlns:m="http://schemas.openxmlformats.org/officeDocument/2006/math">
                    <m:r>
                      <a:rPr lang="vi-VN" sz="2400" b="0">
                        <a:solidFill>
                          <a:srgbClr val="1E293B"/>
                        </a:solidFill>
                        <a:latin typeface="Cambria Math" panose="02040503050406030204" pitchFamily="18" charset="0"/>
                      </a:rPr>
                      <m:t>𝐴</m:t>
                    </m:r>
                    <m:r>
                      <a:rPr lang="vi-VN" sz="2400" b="0">
                        <a:solidFill>
                          <a:srgbClr val="1E293B"/>
                        </a:solidFill>
                        <a:latin typeface="Cambria Math" panose="02040503050406030204" pitchFamily="18" charset="0"/>
                      </a:rPr>
                      <m:t>(1; 2)</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𝐵</m:t>
                    </m:r>
                    <m:r>
                      <a:rPr lang="vi-VN" sz="2400" b="0">
                        <a:solidFill>
                          <a:srgbClr val="1E293B"/>
                        </a:solidFill>
                        <a:latin typeface="Cambria Math" panose="02040503050406030204" pitchFamily="18" charset="0"/>
                      </a:rPr>
                      <m:t>(3; −2)</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𝐶</m:t>
                    </m:r>
                    <m:r>
                      <a:rPr lang="vi-VN" sz="2400" b="0">
                        <a:solidFill>
                          <a:srgbClr val="1E293B"/>
                        </a:solidFill>
                        <a:latin typeface="Cambria Math" panose="02040503050406030204" pitchFamily="18" charset="0"/>
                      </a:rPr>
                      <m:t>(−1; 0)</m:t>
                    </m:r>
                  </m:oMath>
                </a14:m>
                <a:r>
                  <a:rPr sz="2400">
                    <a:solidFill>
                      <a:srgbClr val="1E293B"/>
                    </a:solidFill>
                    <a:latin typeface="Calibri"/>
                  </a:rPr>
                  <a:t>. Xét tính đúng, sai:</a:t>
                </a:r>
              </a:p>
            </p:txBody>
          </p:sp>
        </mc:Choice>
        <mc:Fallback xmlns="">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a:t>
                </a:r>
                <a:r>
                  <a:rPr lang="vi-VN"/>
                  <a:t>A(1;\ 2)</a:t>
                </a:r>
                <a:r>
                  <a:rPr sz="2400">
                    <a:solidFill>
                      <a:srgbClr val="1E293B"/>
                    </a:solidFill>
                    <a:latin typeface="Calibri"/>
                  </a:rPr>
                  <a:t>, </a:t>
                </a:r>
                <a:r>
                  <a:rPr lang="vi-VN"/>
                  <a:t>B(3;\ -2)</a:t>
                </a:r>
                <a:r>
                  <a:rPr sz="2400">
                    <a:solidFill>
                      <a:srgbClr val="1E293B"/>
                    </a:solidFill>
                    <a:latin typeface="Calibri"/>
                  </a:rPr>
                  <a:t>, </a:t>
                </a:r>
                <a:r>
                  <a:rPr lang="vi-VN"/>
                  <a:t>C(-1;\ 0)</a:t>
                </a:r>
                <a:r>
                  <a:rPr sz="2400">
                    <a:solidFill>
                      <a:srgbClr val="1E293B"/>
                    </a:solidFill>
                    <a:latin typeface="Calibri"/>
                  </a:rPr>
                  <a:t>. Xét tính đúng, sai:</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8640" y="2002536"/>
                <a:ext cx="7680960" cy="941832"/>
              </a:xfrm>
              <a:prstGeom prst="rect">
                <a:avLst/>
              </a:prstGeom>
              <a:noFill/>
            </p:spPr>
            <p:txBody>
              <a:bodyPr wrap="square" lIns="45720" rIns="45720" anchor="t">
                <a:spAutoFit/>
              </a:bodyPr>
              <a:lstStyle/>
              <a:p>
                <a:pPr algn="l">
                  <a:spcAft>
                    <a:spcPts val="800"/>
                  </a:spcAft>
                </a:pPr>
                <a:r>
                  <a:rPr sz="2300">
                    <a:solidFill>
                      <a:srgbClr val="1E293B"/>
                    </a:solidFill>
                    <a:latin typeface="Calibri"/>
                  </a:rPr>
                  <a:t>a)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𝐴𝐵</m:t>
                        </m:r>
                      </m:e>
                    </m:acc>
                  </m:oMath>
                </a14:m>
                <a:r>
                  <a:rPr sz="2300">
                    <a:solidFill>
                      <a:srgbClr val="1E293B"/>
                    </a:solidFill>
                    <a:latin typeface="Calibri"/>
                  </a:rPr>
                  <a:t> = </a:t>
                </a:r>
                <a14:m>
                  <m:oMath xmlns:m="http://schemas.openxmlformats.org/officeDocument/2006/math">
                    <m:d>
                      <m:dPr>
                        <m:ctrlPr>
                          <a:rPr lang="vi-VN" sz="2300" b="0">
                            <a:solidFill>
                              <a:srgbClr val="1E293B"/>
                            </a:solidFill>
                            <a:latin typeface="Cambria Math" panose="02040503050406030204" pitchFamily="18" charset="0"/>
                          </a:rPr>
                        </m:ctrlPr>
                      </m:dPr>
                      <m:e>
                        <m:r>
                          <a:rPr lang="vi-VN" sz="2300" b="0">
                            <a:solidFill>
                              <a:srgbClr val="1E293B"/>
                            </a:solidFill>
                            <a:latin typeface="Cambria Math" panose="02040503050406030204" pitchFamily="18" charset="0"/>
                          </a:rPr>
                          <m:t>2; −4</m:t>
                        </m:r>
                      </m:e>
                    </m:d>
                  </m:oMath>
                </a14:m>
                <a:r>
                  <a:rPr sz="2300">
                    <a:solidFill>
                      <a:srgbClr val="1E293B"/>
                    </a:solidFill>
                    <a:latin typeface="Calibri"/>
                  </a:rPr>
                  <a:t>.</a:t>
                </a:r>
              </a:p>
            </p:txBody>
          </p:sp>
        </mc:Choice>
        <mc:Fallback xmlns="">
          <p:sp>
            <p:nvSpPr>
              <p:cNvPr id="8" name="TextBox 7"/>
              <p:cNvSpPr txBox="1"/>
              <p:nvPr/>
            </p:nvSpPr>
            <p:spPr>
              <a:xfrm>
                <a:off x="548640" y="2002536"/>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a) </a:t>
                </a:r>
                <a:r>
                  <a:rPr lang="vi-VN"/>
                  <a:t>\overrightarrow{AB}</a:t>
                </a:r>
                <a:r>
                  <a:rPr sz="2300">
                    <a:solidFill>
                      <a:srgbClr val="1E293B"/>
                    </a:solidFill>
                    <a:latin typeface="Calibri"/>
                  </a:rPr>
                  <a:t> = </a:t>
                </a:r>
                <a:r>
                  <a:rPr lang="vi-VN"/>
                  <a:t>(2;\ -4)</a:t>
                </a:r>
                <a:r>
                  <a:rPr sz="2300">
                    <a:solidFill>
                      <a:srgbClr val="1E293B"/>
                    </a:solidFill>
                    <a:latin typeface="Calibri"/>
                  </a:rPr>
                  <a:t>.</a:t>
                </a:r>
              </a:p>
            </p:txBody>
          </p:sp>
        </mc:Fallback>
      </mc:AlternateContent>
      <p:sp>
        <p:nvSpPr>
          <p:cNvPr id="9" name="s1_nen"/>
          <p:cNvSpPr/>
          <p:nvPr/>
        </p:nvSpPr>
        <p:spPr>
          <a:xfrm>
            <a:off x="8412480" y="1975104"/>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1_chu"/>
          <p:cNvSpPr txBox="1"/>
          <p:nvPr/>
        </p:nvSpPr>
        <p:spPr>
          <a:xfrm>
            <a:off x="8577072" y="2011680"/>
            <a:ext cx="2871216" cy="731520"/>
          </a:xfrm>
          <a:prstGeom prst="rect">
            <a:avLst/>
          </a:prstGeom>
          <a:noFill/>
        </p:spPr>
        <p:txBody>
          <a:bodyPr wrap="square" lIns="45720" rIns="45720" anchor="ctr">
            <a:spAutoFit/>
          </a:bodyPr>
          <a:lstStyle/>
          <a:p>
            <a:pPr algn="ctr">
              <a:spcAft>
                <a:spcPts val="800"/>
              </a:spcAft>
            </a:pPr>
            <a:r>
              <a:rPr sz="2100" b="1">
                <a:solidFill>
                  <a:srgbClr val="1E293B"/>
                </a:solidFill>
                <a:latin typeface="Calibri"/>
              </a:rPr>
              <a:t>ĐÚNG</a:t>
            </a:r>
          </a:p>
        </p:txBody>
      </p:sp>
      <mc:AlternateContent xmlns:mc="http://schemas.openxmlformats.org/markup-compatibility/2006" xmlns:a14="http://schemas.microsoft.com/office/drawing/2010/main">
        <mc:Choice Requires="a14">
          <p:sp>
            <p:nvSpPr>
              <p:cNvPr id="11" name="TextBox 10"/>
              <p:cNvSpPr txBox="1"/>
              <p:nvPr/>
            </p:nvSpPr>
            <p:spPr>
              <a:xfrm>
                <a:off x="548640" y="2990088"/>
                <a:ext cx="7680960" cy="941832"/>
              </a:xfrm>
              <a:prstGeom prst="rect">
                <a:avLst/>
              </a:prstGeom>
              <a:noFill/>
            </p:spPr>
            <p:txBody>
              <a:bodyPr wrap="square" lIns="45720" rIns="45720" anchor="t">
                <a:spAutoFit/>
              </a:bodyPr>
              <a:lstStyle/>
              <a:p>
                <a:pPr algn="l">
                  <a:spcAft>
                    <a:spcPts val="800"/>
                  </a:spcAft>
                </a:pPr>
                <a:r>
                  <a:rPr sz="2300">
                    <a:solidFill>
                      <a:srgbClr val="1E293B"/>
                    </a:solidFill>
                    <a:latin typeface="Calibri"/>
                  </a:rPr>
                  <a:t>b) </a:t>
                </a:r>
                <a14:m>
                  <m:oMath xmlns:m="http://schemas.openxmlformats.org/officeDocument/2006/math">
                    <m:r>
                      <a:rPr lang="vi-VN" sz="2300" b="0">
                        <a:solidFill>
                          <a:srgbClr val="1E293B"/>
                        </a:solidFill>
                        <a:latin typeface="Cambria Math" panose="02040503050406030204" pitchFamily="18" charset="0"/>
                      </a:rPr>
                      <m:t>𝐴𝐵</m:t>
                    </m:r>
                    <m:r>
                      <a:rPr lang="vi-VN" sz="2300" b="0">
                        <a:solidFill>
                          <a:srgbClr val="1E293B"/>
                        </a:solidFill>
                        <a:latin typeface="Cambria Math" panose="02040503050406030204" pitchFamily="18" charset="0"/>
                      </a:rPr>
                      <m:t>=2</m:t>
                    </m:r>
                    <m:rad>
                      <m:radPr>
                        <m:degHide m:val="on"/>
                        <m:ctrlPr>
                          <a:rPr lang="vi-VN" sz="2300" b="0" i="1">
                            <a:solidFill>
                              <a:srgbClr val="1E293B"/>
                            </a:solidFill>
                            <a:latin typeface="Cambria Math" panose="02040503050406030204" pitchFamily="18" charset="0"/>
                          </a:rPr>
                        </m:ctrlPr>
                      </m:radPr>
                      <m:deg/>
                      <m:e>
                        <m:r>
                          <a:rPr lang="vi-VN" sz="2300" b="0">
                            <a:solidFill>
                              <a:srgbClr val="1E293B"/>
                            </a:solidFill>
                            <a:latin typeface="Cambria Math" panose="02040503050406030204" pitchFamily="18" charset="0"/>
                          </a:rPr>
                          <m:t>3</m:t>
                        </m:r>
                      </m:e>
                    </m:rad>
                  </m:oMath>
                </a14:m>
                <a:r>
                  <a:rPr sz="2300">
                    <a:solidFill>
                      <a:srgbClr val="1E293B"/>
                    </a:solidFill>
                    <a:latin typeface="Calibri"/>
                  </a:rPr>
                  <a:t>.</a:t>
                </a:r>
              </a:p>
            </p:txBody>
          </p:sp>
        </mc:Choice>
        <mc:Fallback xmlns="">
          <p:sp>
            <p:nvSpPr>
              <p:cNvPr id="11" name="TextBox 10"/>
              <p:cNvSpPr txBox="1"/>
              <p:nvPr/>
            </p:nvSpPr>
            <p:spPr>
              <a:xfrm>
                <a:off x="548640" y="2990088"/>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b) </a:t>
                </a:r>
                <a:r>
                  <a:rPr lang="vi-VN"/>
                  <a:t>AB=2\sqrt{3}</a:t>
                </a:r>
                <a:r>
                  <a:rPr sz="2300">
                    <a:solidFill>
                      <a:srgbClr val="1E293B"/>
                    </a:solidFill>
                    <a:latin typeface="Calibri"/>
                  </a:rPr>
                  <a:t>.</a:t>
                </a:r>
              </a:p>
            </p:txBody>
          </p:sp>
        </mc:Fallback>
      </mc:AlternateContent>
      <p:sp>
        <p:nvSpPr>
          <p:cNvPr id="12" name="s2_nen"/>
          <p:cNvSpPr/>
          <p:nvPr/>
        </p:nvSpPr>
        <p:spPr>
          <a:xfrm>
            <a:off x="8412480" y="2962656"/>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s2_chu"/>
              <p:cNvSpPr txBox="1"/>
              <p:nvPr/>
            </p:nvSpPr>
            <p:spPr>
              <a:xfrm>
                <a:off x="8577072" y="2999232"/>
                <a:ext cx="2871216" cy="731520"/>
              </a:xfrm>
              <a:prstGeom prst="rect">
                <a:avLst/>
              </a:prstGeom>
              <a:noFill/>
            </p:spPr>
            <p:txBody>
              <a:bodyPr wrap="square" lIns="45720" rIns="45720" anchor="ctr">
                <a:spAutoFit/>
              </a:bodyPr>
              <a:lstStyle/>
              <a:p>
                <a:pPr algn="ctr">
                  <a:spcAft>
                    <a:spcPts val="800"/>
                  </a:spcAft>
                </a:pPr>
                <a:r>
                  <a:rPr sz="2100" b="1">
                    <a:solidFill>
                      <a:srgbClr val="1E293B"/>
                    </a:solidFill>
                    <a:latin typeface="Calibri"/>
                  </a:rPr>
                  <a:t>SAI</a:t>
                </a: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=2</m:t>
                    </m:r>
                    <m:rad>
                      <m:radPr>
                        <m:degHide m:val="on"/>
                        <m:ctrlPr>
                          <a:rPr lang="vi-VN" sz="2100" b="0" i="1">
                            <a:solidFill>
                              <a:srgbClr val="1E293B"/>
                            </a:solidFill>
                            <a:latin typeface="Cambria Math" panose="02040503050406030204" pitchFamily="18" charset="0"/>
                          </a:rPr>
                        </m:ctrlPr>
                      </m:radPr>
                      <m:deg/>
                      <m:e>
                        <m:r>
                          <a:rPr lang="vi-VN" sz="2100" b="0">
                            <a:solidFill>
                              <a:srgbClr val="1E293B"/>
                            </a:solidFill>
                            <a:latin typeface="Cambria Math" panose="02040503050406030204" pitchFamily="18" charset="0"/>
                          </a:rPr>
                          <m:t>5</m:t>
                        </m:r>
                      </m:e>
                    </m:rad>
                  </m:oMath>
                </a14:m>
                <a:r>
                  <a:rPr sz="2100">
                    <a:solidFill>
                      <a:srgbClr val="1E293B"/>
                    </a:solidFill>
                    <a:latin typeface="Calibri"/>
                  </a:rPr>
                  <a:t>)</a:t>
                </a:r>
              </a:p>
            </p:txBody>
          </p:sp>
        </mc:Choice>
        <mc:Fallback xmlns="">
          <p:sp>
            <p:nvSpPr>
              <p:cNvPr id="13" name="TextBox 12"/>
              <p:cNvSpPr txBox="1"/>
              <p:nvPr/>
            </p:nvSpPr>
            <p:spPr>
              <a:xfrm>
                <a:off x="8577072" y="2999232"/>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a:t>
                </a:r>
                <a:r>
                  <a:rPr lang="vi-VN"/>
                  <a:t>=2\sqrt{5}</a:t>
                </a:r>
                <a:r>
                  <a:rPr sz="21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548640" y="3977639"/>
                <a:ext cx="7680960" cy="941832"/>
              </a:xfrm>
              <a:prstGeom prst="rect">
                <a:avLst/>
              </a:prstGeom>
              <a:noFill/>
            </p:spPr>
            <p:txBody>
              <a:bodyPr wrap="square" lIns="45720" rIns="45720" anchor="t">
                <a:spAutoFit/>
              </a:bodyPr>
              <a:lstStyle/>
              <a:p>
                <a:pPr algn="l">
                  <a:spcAft>
                    <a:spcPts val="800"/>
                  </a:spcAft>
                </a:pPr>
                <a:r>
                  <a:rPr sz="2300">
                    <a:solidFill>
                      <a:srgbClr val="1E293B"/>
                    </a:solidFill>
                    <a:latin typeface="Calibri"/>
                  </a:rPr>
                  <a:t>c) Trọng tâm tam giác </a:t>
                </a:r>
                <a14:m>
                  <m:oMath xmlns:m="http://schemas.openxmlformats.org/officeDocument/2006/math">
                    <m:r>
                      <a:rPr lang="vi-VN" sz="2300" b="0">
                        <a:solidFill>
                          <a:srgbClr val="1E293B"/>
                        </a:solidFill>
                        <a:latin typeface="Cambria Math" panose="02040503050406030204" pitchFamily="18" charset="0"/>
                      </a:rPr>
                      <m:t>𝐴𝐵𝐶</m:t>
                    </m:r>
                  </m:oMath>
                </a14:m>
                <a:r>
                  <a:rPr sz="2300">
                    <a:solidFill>
                      <a:srgbClr val="1E293B"/>
                    </a:solidFill>
                    <a:latin typeface="Calibri"/>
                  </a:rPr>
                  <a:t> là </a:t>
                </a:r>
                <a14:m>
                  <m:oMath xmlns:m="http://schemas.openxmlformats.org/officeDocument/2006/math">
                    <m:r>
                      <a:rPr lang="vi-VN" sz="2300" b="0">
                        <a:solidFill>
                          <a:srgbClr val="1E293B"/>
                        </a:solidFill>
                        <a:latin typeface="Cambria Math" panose="02040503050406030204" pitchFamily="18" charset="0"/>
                      </a:rPr>
                      <m:t>𝐺</m:t>
                    </m:r>
                    <m:r>
                      <a:rPr lang="vi-VN" sz="2300" b="0">
                        <a:solidFill>
                          <a:srgbClr val="1E293B"/>
                        </a:solidFill>
                        <a:latin typeface="Cambria Math" panose="02040503050406030204" pitchFamily="18" charset="0"/>
                      </a:rPr>
                      <m:t>(1; 0)</m:t>
                    </m:r>
                  </m:oMath>
                </a14:m>
                <a:r>
                  <a:rPr sz="2300">
                    <a:solidFill>
                      <a:srgbClr val="1E293B"/>
                    </a:solidFill>
                    <a:latin typeface="Calibri"/>
                  </a:rPr>
                  <a:t>.</a:t>
                </a:r>
              </a:p>
            </p:txBody>
          </p:sp>
        </mc:Choice>
        <mc:Fallback xmlns="">
          <p:sp>
            <p:nvSpPr>
              <p:cNvPr id="14" name="TextBox 13"/>
              <p:cNvSpPr txBox="1"/>
              <p:nvPr/>
            </p:nvSpPr>
            <p:spPr>
              <a:xfrm>
                <a:off x="548640" y="3977639"/>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c) Trọng tâm tam giác </a:t>
                </a:r>
                <a:r>
                  <a:rPr lang="vi-VN"/>
                  <a:t>ABC</a:t>
                </a:r>
                <a:r>
                  <a:rPr sz="2300">
                    <a:solidFill>
                      <a:srgbClr val="1E293B"/>
                    </a:solidFill>
                    <a:latin typeface="Calibri"/>
                  </a:rPr>
                  <a:t> là </a:t>
                </a:r>
                <a:r>
                  <a:rPr lang="vi-VN"/>
                  <a:t>G(1;\ 0)</a:t>
                </a:r>
                <a:r>
                  <a:rPr sz="2300">
                    <a:solidFill>
                      <a:srgbClr val="1E293B"/>
                    </a:solidFill>
                    <a:latin typeface="Calibri"/>
                  </a:rPr>
                  <a:t>.</a:t>
                </a:r>
              </a:p>
            </p:txBody>
          </p:sp>
        </mc:Fallback>
      </mc:AlternateContent>
      <p:sp>
        <p:nvSpPr>
          <p:cNvPr id="15" name="s3_nen"/>
          <p:cNvSpPr/>
          <p:nvPr/>
        </p:nvSpPr>
        <p:spPr>
          <a:xfrm>
            <a:off x="8412480" y="3950207"/>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3_chu"/>
          <p:cNvSpPr txBox="1"/>
          <p:nvPr/>
        </p:nvSpPr>
        <p:spPr>
          <a:xfrm>
            <a:off x="8577072" y="3986783"/>
            <a:ext cx="2871216" cy="731520"/>
          </a:xfrm>
          <a:prstGeom prst="rect">
            <a:avLst/>
          </a:prstGeom>
          <a:noFill/>
        </p:spPr>
        <p:txBody>
          <a:bodyPr wrap="square" lIns="45720" rIns="45720" anchor="ctr">
            <a:spAutoFit/>
          </a:bodyPr>
          <a:lstStyle/>
          <a:p>
            <a:pPr algn="ctr">
              <a:spcAft>
                <a:spcPts val="800"/>
              </a:spcAft>
            </a:pPr>
            <a:r>
              <a:rPr sz="2100" b="1">
                <a:solidFill>
                  <a:srgbClr val="1E293B"/>
                </a:solidFill>
                <a:latin typeface="Calibri"/>
              </a:rPr>
              <a:t>ĐÚNG</a:t>
            </a:r>
          </a:p>
        </p:txBody>
      </p:sp>
      <mc:AlternateContent xmlns:mc="http://schemas.openxmlformats.org/markup-compatibility/2006" xmlns:a14="http://schemas.microsoft.com/office/drawing/2010/main">
        <mc:Choice Requires="a14">
          <p:sp>
            <p:nvSpPr>
              <p:cNvPr id="17" name="TextBox 16"/>
              <p:cNvSpPr txBox="1"/>
              <p:nvPr/>
            </p:nvSpPr>
            <p:spPr>
              <a:xfrm>
                <a:off x="548640" y="4965192"/>
                <a:ext cx="7680960" cy="941832"/>
              </a:xfrm>
              <a:prstGeom prst="rect">
                <a:avLst/>
              </a:prstGeom>
              <a:noFill/>
            </p:spPr>
            <p:txBody>
              <a:bodyPr wrap="square" lIns="45720" rIns="45720" anchor="t">
                <a:spAutoFit/>
              </a:bodyPr>
              <a:lstStyle/>
              <a:p>
                <a:pPr algn="l">
                  <a:spcAft>
                    <a:spcPts val="800"/>
                  </a:spcAft>
                </a:pPr>
                <a:r>
                  <a:rPr sz="2300">
                    <a:solidFill>
                      <a:srgbClr val="1E293B"/>
                    </a:solidFill>
                    <a:latin typeface="Calibri"/>
                  </a:rPr>
                  <a:t>d) </a:t>
                </a:r>
                <a14:m>
                  <m:oMath xmlns:m="http://schemas.openxmlformats.org/officeDocument/2006/math">
                    <m:r>
                      <a:rPr lang="vi-VN" sz="2300" b="0">
                        <a:solidFill>
                          <a:srgbClr val="1E293B"/>
                        </a:solidFill>
                        <a:latin typeface="Cambria Math" panose="02040503050406030204" pitchFamily="18" charset="0"/>
                      </a:rPr>
                      <m:t>𝐴</m:t>
                    </m:r>
                    <m: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𝐵</m:t>
                    </m:r>
                    <m: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𝐶</m:t>
                    </m:r>
                  </m:oMath>
                </a14:m>
                <a:r>
                  <a:rPr sz="2300">
                    <a:solidFill>
                      <a:srgbClr val="1E293B"/>
                    </a:solidFill>
                    <a:latin typeface="Calibri"/>
                  </a:rPr>
                  <a:t> thẳng hàng.</a:t>
                </a:r>
              </a:p>
            </p:txBody>
          </p:sp>
        </mc:Choice>
        <mc:Fallback xmlns="">
          <p:sp>
            <p:nvSpPr>
              <p:cNvPr id="17" name="TextBox 16"/>
              <p:cNvSpPr txBox="1"/>
              <p:nvPr/>
            </p:nvSpPr>
            <p:spPr>
              <a:xfrm>
                <a:off x="548640" y="4965192"/>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d) </a:t>
                </a:r>
                <a:r>
                  <a:rPr lang="vi-VN"/>
                  <a:t>A,\ B,\ C</a:t>
                </a:r>
                <a:r>
                  <a:rPr sz="2300">
                    <a:solidFill>
                      <a:srgbClr val="1E293B"/>
                    </a:solidFill>
                    <a:latin typeface="Calibri"/>
                  </a:rPr>
                  <a:t> thẳng hàng.</a:t>
                </a:r>
              </a:p>
            </p:txBody>
          </p:sp>
        </mc:Fallback>
      </mc:AlternateContent>
      <p:sp>
        <p:nvSpPr>
          <p:cNvPr id="18" name="s4_nen"/>
          <p:cNvSpPr/>
          <p:nvPr/>
        </p:nvSpPr>
        <p:spPr>
          <a:xfrm>
            <a:off x="8412480" y="4937759"/>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4_chu"/>
          <p:cNvSpPr txBox="1"/>
          <p:nvPr/>
        </p:nvSpPr>
        <p:spPr>
          <a:xfrm>
            <a:off x="8577072" y="4974336"/>
            <a:ext cx="2871216" cy="731520"/>
          </a:xfrm>
          <a:prstGeom prst="rect">
            <a:avLst/>
          </a:prstGeom>
          <a:noFill/>
        </p:spPr>
        <p:txBody>
          <a:bodyPr wrap="square" lIns="45720" rIns="45720" anchor="ctr">
            <a:spAutoFit/>
          </a:bodyPr>
          <a:lstStyle/>
          <a:p>
            <a:pPr algn="ctr">
              <a:spcAft>
                <a:spcPts val="800"/>
              </a:spcAft>
            </a:pPr>
            <a:r>
              <a:rPr sz="2100" b="1">
                <a:solidFill>
                  <a:srgbClr val="1E293B"/>
                </a:solidFill>
                <a:latin typeface="Calibri"/>
              </a:rPr>
              <a:t>SAI</a:t>
            </a:r>
            <a:r>
              <a:rPr sz="2100">
                <a:solidFill>
                  <a:srgbClr val="1E293B"/>
                </a:solidFill>
                <a:latin typeface="Calibri"/>
              </a:rPr>
              <a:t> (AB, AC không cùng phương)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6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33</a:t>
            </a:r>
          </a:p>
        </p:txBody>
      </p:sp>
      <mc:AlternateContent xmlns:mc="http://schemas.openxmlformats.org/markup-compatibility/2006" xmlns:a14="http://schemas.microsoft.com/office/drawing/2010/main">
        <mc:Choice Requires="a14">
          <p:sp>
            <p:nvSpPr>
              <p:cNvPr id="7" name="TextBox 6"/>
              <p:cNvSpPr txBox="1"/>
              <p:nvPr/>
            </p:nvSpPr>
            <p:spPr>
              <a:xfrm>
                <a:off x="548640" y="1463040"/>
                <a:ext cx="11064240" cy="966216"/>
              </a:xfrm>
              <a:prstGeom prst="rect">
                <a:avLst/>
              </a:prstGeom>
              <a:noFill/>
            </p:spPr>
            <p:txBody>
              <a:bodyPr wrap="square" lIns="45720" rIns="45720" anchor="t">
                <a:spAutoFit/>
              </a:bodyPr>
              <a:lstStyle/>
              <a:p>
                <a:pPr algn="l">
                  <a:spcAft>
                    <a:spcPts val="800"/>
                  </a:spcAft>
                </a:pPr>
                <a:r>
                  <a:rPr sz="2600">
                    <a:solidFill>
                      <a:srgbClr val="1E293B"/>
                    </a:solidFill>
                    <a:latin typeface="Calibri"/>
                  </a:rPr>
                  <a:t>Cho </a:t>
                </a:r>
                <a14:m>
                  <m:oMath xmlns:m="http://schemas.openxmlformats.org/officeDocument/2006/math">
                    <m:r>
                      <a:rPr lang="vi-VN" sz="2600" b="0">
                        <a:solidFill>
                          <a:srgbClr val="1E293B"/>
                        </a:solidFill>
                        <a:latin typeface="Cambria Math" panose="02040503050406030204" pitchFamily="18" charset="0"/>
                      </a:rPr>
                      <m:t>𝐴</m:t>
                    </m:r>
                    <m:r>
                      <a:rPr lang="vi-VN" sz="2600" b="0">
                        <a:solidFill>
                          <a:srgbClr val="1E293B"/>
                        </a:solidFill>
                        <a:latin typeface="Cambria Math" panose="02040503050406030204" pitchFamily="18" charset="0"/>
                      </a:rPr>
                      <m:t>(1; 2)</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𝐵</m:t>
                    </m:r>
                    <m:r>
                      <a:rPr lang="vi-VN" sz="2600" b="0">
                        <a:solidFill>
                          <a:srgbClr val="1E293B"/>
                        </a:solidFill>
                        <a:latin typeface="Cambria Math" panose="02040503050406030204" pitchFamily="18" charset="0"/>
                      </a:rPr>
                      <m:t>(3; −2)</m:t>
                    </m:r>
                  </m:oMath>
                </a14:m>
                <a:r>
                  <a:rPr sz="2600">
                    <a:solidFill>
                      <a:srgbClr val="1E293B"/>
                    </a:solidFill>
                    <a:latin typeface="Calibri"/>
                  </a:rPr>
                  <a:t>. Tìm </a:t>
                </a:r>
                <a14:m>
                  <m:oMath xmlns:m="http://schemas.openxmlformats.org/officeDocument/2006/math">
                    <m:r>
                      <a:rPr lang="vi-VN" sz="2600" b="0">
                        <a:solidFill>
                          <a:srgbClr val="1E293B"/>
                        </a:solidFill>
                        <a:latin typeface="Cambria Math" panose="02040503050406030204" pitchFamily="18" charset="0"/>
                      </a:rPr>
                      <m:t>𝑥</m:t>
                    </m:r>
                  </m:oMath>
                </a14:m>
                <a:r>
                  <a:rPr sz="2600">
                    <a:solidFill>
                      <a:srgbClr val="1E293B"/>
                    </a:solidFill>
                    <a:latin typeface="Calibri"/>
                  </a:rPr>
                  <a:t> để điểm </a:t>
                </a:r>
                <a14:m>
                  <m:oMath xmlns:m="http://schemas.openxmlformats.org/officeDocument/2006/math">
                    <m:r>
                      <a:rPr lang="vi-VN" sz="2600" b="0">
                        <a:solidFill>
                          <a:srgbClr val="1E293B"/>
                        </a:solidFill>
                        <a:latin typeface="Cambria Math" panose="02040503050406030204" pitchFamily="18" charset="0"/>
                      </a:rPr>
                      <m:t>𝐶</m:t>
                    </m:r>
                    <m:r>
                      <a:rPr lang="vi-VN" sz="2600" b="0">
                        <a:solidFill>
                          <a:srgbClr val="1E293B"/>
                        </a:solidFill>
                        <a:latin typeface="Cambria Math" panose="02040503050406030204" pitchFamily="18" charset="0"/>
                      </a:rPr>
                      <m:t>(</m:t>
                    </m:r>
                    <m:r>
                      <a:rPr lang="vi-VN" sz="2600" b="0">
                        <a:solidFill>
                          <a:srgbClr val="1E293B"/>
                        </a:solidFill>
                        <a:latin typeface="Cambria Math" panose="02040503050406030204" pitchFamily="18" charset="0"/>
                      </a:rPr>
                      <m:t>𝑥</m:t>
                    </m:r>
                    <m:r>
                      <a:rPr lang="vi-VN" sz="2600" b="0">
                        <a:solidFill>
                          <a:srgbClr val="1E293B"/>
                        </a:solidFill>
                        <a:latin typeface="Cambria Math" panose="02040503050406030204" pitchFamily="18" charset="0"/>
                      </a:rPr>
                      <m:t>; 0)</m:t>
                    </m:r>
                  </m:oMath>
                </a14:m>
                <a:r>
                  <a:rPr sz="2600">
                    <a:solidFill>
                      <a:srgbClr val="1E293B"/>
                    </a:solidFill>
                    <a:latin typeface="Calibri"/>
                  </a:rPr>
                  <a:t> thuộc đường thẳng </a:t>
                </a:r>
                <a14:m>
                  <m:oMath xmlns:m="http://schemas.openxmlformats.org/officeDocument/2006/math">
                    <m:r>
                      <a:rPr lang="vi-VN" sz="2600" b="0">
                        <a:solidFill>
                          <a:srgbClr val="1E293B"/>
                        </a:solidFill>
                        <a:latin typeface="Cambria Math" panose="02040503050406030204" pitchFamily="18" charset="0"/>
                      </a:rPr>
                      <m:t>𝐴𝐵</m:t>
                    </m:r>
                  </m:oMath>
                </a14:m>
                <a:r>
                  <a:rPr sz="2600">
                    <a:solidFill>
                      <a:srgbClr val="1E293B"/>
                    </a:solidFill>
                    <a:latin typeface="Calibri"/>
                  </a:rPr>
                  <a:t>.</a:t>
                </a:r>
              </a:p>
            </p:txBody>
          </p:sp>
        </mc:Choice>
        <mc:Fallback xmlns="">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A(1;\ 2)</a:t>
                </a:r>
                <a:r>
                  <a:rPr sz="2600">
                    <a:solidFill>
                      <a:srgbClr val="1E293B"/>
                    </a:solidFill>
                    <a:latin typeface="Calibri"/>
                  </a:rPr>
                  <a:t>, </a:t>
                </a:r>
                <a:r>
                  <a:rPr lang="vi-VN"/>
                  <a:t>B(3;\ -2)</a:t>
                </a:r>
                <a:r>
                  <a:rPr sz="2600">
                    <a:solidFill>
                      <a:srgbClr val="1E293B"/>
                    </a:solidFill>
                    <a:latin typeface="Calibri"/>
                  </a:rPr>
                  <a:t>. Tìm </a:t>
                </a:r>
                <a:r>
                  <a:rPr lang="vi-VN"/>
                  <a:t>x</a:t>
                </a:r>
                <a:r>
                  <a:rPr sz="2600">
                    <a:solidFill>
                      <a:srgbClr val="1E293B"/>
                    </a:solidFill>
                    <a:latin typeface="Calibri"/>
                  </a:rPr>
                  <a:t> để điểm </a:t>
                </a:r>
                <a:r>
                  <a:rPr lang="vi-VN"/>
                  <a:t>C(x;\ 0)</a:t>
                </a:r>
                <a:r>
                  <a:rPr sz="2600">
                    <a:solidFill>
                      <a:srgbClr val="1E293B"/>
                    </a:solidFill>
                    <a:latin typeface="Calibri"/>
                  </a:rPr>
                  <a:t> thuộc đường thẳng </a:t>
                </a:r>
                <a:r>
                  <a:rPr lang="vi-VN"/>
                  <a:t>AB</a:t>
                </a:r>
                <a:r>
                  <a:rPr sz="2600">
                    <a:solidFill>
                      <a:srgbClr val="1E293B"/>
                    </a:solidFill>
                    <a:latin typeface="Calibri"/>
                  </a:rPr>
                  <a:t>.</a:t>
                </a:r>
              </a:p>
            </p:txBody>
          </p:sp>
        </mc:Fallback>
      </mc:AlternateContent>
      <p:sp>
        <p:nvSpPr>
          <p:cNvPr id="8" name="s1_nen"/>
          <p:cNvSpPr/>
          <p:nvPr/>
        </p:nvSpPr>
        <p:spPr>
          <a:xfrm>
            <a:off x="548640" y="3931920"/>
            <a:ext cx="11064240" cy="132588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968496"/>
                <a:ext cx="10735056" cy="1252728"/>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Đáp số: 2.</a:t>
                </a:r>
                <a:r>
                  <a:rPr sz="2400">
                    <a:solidFill>
                      <a:srgbClr val="1E293B"/>
                    </a:solidFill>
                    <a:latin typeface="Calibri"/>
                  </a:rPr>
                  <a:t>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𝐴𝐶</m:t>
                        </m:r>
                      </m:e>
                    </m:acc>
                  </m:oMath>
                </a14:m>
                <a:r>
                  <a:rPr sz="2400">
                    <a:solidFill>
                      <a:srgbClr val="1E293B"/>
                    </a:solidFill>
                    <a:latin typeface="Calibri"/>
                  </a:rPr>
                  <a:t> =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𝑥</m:t>
                        </m:r>
                        <m:r>
                          <a:rPr lang="vi-VN" sz="2400" b="0">
                            <a:solidFill>
                              <a:srgbClr val="1E293B"/>
                            </a:solidFill>
                            <a:latin typeface="Cambria Math" panose="02040503050406030204" pitchFamily="18" charset="0"/>
                          </a:rPr>
                          <m:t>−1; −2</m:t>
                        </m:r>
                      </m:e>
                    </m:d>
                  </m:oMath>
                </a14:m>
                <a:r>
                  <a:rPr sz="2400">
                    <a:solidFill>
                      <a:srgbClr val="1E293B"/>
                    </a:solidFill>
                    <a:latin typeface="Calibri"/>
                  </a:rPr>
                  <a:t> cùng phương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𝐴𝐵</m:t>
                        </m:r>
                      </m:e>
                    </m:acc>
                  </m:oMath>
                </a14:m>
                <a:r>
                  <a:rPr sz="2400">
                    <a:solidFill>
                      <a:srgbClr val="1E293B"/>
                    </a:solidFill>
                    <a:latin typeface="Calibri"/>
                  </a:rPr>
                  <a:t> =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2; −4</m:t>
                        </m:r>
                      </m:e>
                    </m:d>
                  </m:oMath>
                </a14:m>
                <a:r>
                  <a:rPr sz="2400">
                    <a:solidFill>
                      <a:srgbClr val="1E293B"/>
                    </a:solidFill>
                    <a:latin typeface="Calibri"/>
                  </a:rPr>
                  <a:t> ⇒ </a:t>
                </a:r>
                <a14:m>
                  <m:oMath xmlns:m="http://schemas.openxmlformats.org/officeDocument/2006/math">
                    <m:f>
                      <m:fPr>
                        <m:ctrlPr>
                          <a:rPr lang="vi-VN" sz="2400" b="0">
                            <a:solidFill>
                              <a:srgbClr val="1E293B"/>
                            </a:solidFill>
                            <a:latin typeface="Cambria Math" panose="02040503050406030204" pitchFamily="18" charset="0"/>
                          </a:rPr>
                        </m:ctrlPr>
                      </m:fPr>
                      <m:num>
                        <m:r>
                          <a:rPr lang="vi-VN" sz="2400" b="0">
                            <a:solidFill>
                              <a:srgbClr val="1E293B"/>
                            </a:solidFill>
                            <a:latin typeface="Cambria Math" panose="02040503050406030204" pitchFamily="18" charset="0"/>
                          </a:rPr>
                          <m:t>𝑥</m:t>
                        </m:r>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m:t>
                    </m:r>
                    <m:f>
                      <m:fPr>
                        <m:ctrlPr>
                          <a:rPr lang="vi-VN" sz="2400" b="0">
                            <a:solidFill>
                              <a:srgbClr val="1E293B"/>
                            </a:solidFill>
                            <a:latin typeface="Cambria Math" panose="02040503050406030204" pitchFamily="18" charset="0"/>
                          </a:rPr>
                        </m:ctrlPr>
                      </m:fPr>
                      <m:num>
                        <m:r>
                          <a:rPr lang="vi-VN" sz="2400" b="0">
                            <a:solidFill>
                              <a:srgbClr val="1E293B"/>
                            </a:solidFill>
                            <a:latin typeface="Cambria Math" panose="02040503050406030204" pitchFamily="18" charset="0"/>
                          </a:rPr>
                          <m:t>−2</m:t>
                        </m:r>
                      </m:num>
                      <m:den>
                        <m:r>
                          <a:rPr lang="vi-VN" sz="2400" b="0">
                            <a:solidFill>
                              <a:srgbClr val="1E293B"/>
                            </a:solidFill>
                            <a:latin typeface="Cambria Math" panose="02040503050406030204" pitchFamily="18" charset="0"/>
                          </a:rPr>
                          <m:t>−4</m:t>
                        </m:r>
                      </m:den>
                    </m:f>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𝑥</m:t>
                    </m:r>
                    <m:r>
                      <a:rPr lang="vi-VN" sz="2400" b="0">
                        <a:solidFill>
                          <a:srgbClr val="1E293B"/>
                        </a:solidFill>
                        <a:latin typeface="Cambria Math" panose="02040503050406030204" pitchFamily="18" charset="0"/>
                      </a:rPr>
                      <m:t>=2</m:t>
                    </m:r>
                  </m:oMath>
                </a14:m>
                <a:r>
                  <a:rPr sz="2400">
                    <a:solidFill>
                      <a:srgbClr val="1E293B"/>
                    </a:solidFill>
                    <a:latin typeface="Calibri"/>
                  </a:rPr>
                  <a:t>.</a:t>
                </a:r>
              </a:p>
            </p:txBody>
          </p:sp>
        </mc:Choice>
        <mc:Fallback xmlns="">
          <p:sp>
            <p:nvSpPr>
              <p:cNvPr id="9" name="TextBox 8"/>
              <p:cNvSpPr txBox="1"/>
              <p:nvPr/>
            </p:nvSpPr>
            <p:spPr>
              <a:xfrm>
                <a:off x="713232" y="3968496"/>
                <a:ext cx="10735056" cy="12527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2.</a:t>
                </a:r>
                <a:r>
                  <a:rPr sz="2400">
                    <a:solidFill>
                      <a:srgbClr val="1E293B"/>
                    </a:solidFill>
                    <a:latin typeface="Calibri"/>
                  </a:rPr>
                  <a:t> </a:t>
                </a:r>
                <a:r>
                  <a:rPr lang="vi-VN"/>
                  <a:t>\overrightarrow{AC}</a:t>
                </a:r>
                <a:r>
                  <a:rPr sz="2400">
                    <a:solidFill>
                      <a:srgbClr val="1E293B"/>
                    </a:solidFill>
                    <a:latin typeface="Calibri"/>
                  </a:rPr>
                  <a:t> = </a:t>
                </a:r>
                <a:r>
                  <a:rPr lang="vi-VN"/>
                  <a:t>(x-1;\ -2)</a:t>
                </a:r>
                <a:r>
                  <a:rPr sz="2400">
                    <a:solidFill>
                      <a:srgbClr val="1E293B"/>
                    </a:solidFill>
                    <a:latin typeface="Calibri"/>
                  </a:rPr>
                  <a:t> cùng phương </a:t>
                </a:r>
                <a:r>
                  <a:rPr lang="vi-VN"/>
                  <a:t>\overrightarrow{AB}</a:t>
                </a:r>
                <a:r>
                  <a:rPr sz="2400">
                    <a:solidFill>
                      <a:srgbClr val="1E293B"/>
                    </a:solidFill>
                    <a:latin typeface="Calibri"/>
                  </a:rPr>
                  <a:t> = </a:t>
                </a:r>
                <a:r>
                  <a:rPr lang="vi-VN"/>
                  <a:t>(2;\ -4)</a:t>
                </a:r>
                <a:r>
                  <a:rPr sz="2400">
                    <a:solidFill>
                      <a:srgbClr val="1E293B"/>
                    </a:solidFill>
                    <a:latin typeface="Calibri"/>
                  </a:rPr>
                  <a:t> ⇒ </a:t>
                </a:r>
                <a:r>
                  <a:rPr lang="vi-VN"/>
                  <a:t>\frac{x-1}{2}=\frac{-2}{-4}</a:t>
                </a:r>
                <a:r>
                  <a:rPr sz="2400">
                    <a:solidFill>
                      <a:srgbClr val="1E293B"/>
                    </a:solidFill>
                    <a:latin typeface="Calibri"/>
                  </a:rPr>
                  <a:t> ⇒ </a:t>
                </a:r>
                <a:r>
                  <a:rPr lang="vi-VN"/>
                  <a:t>x=2</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7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34</a:t>
            </a:r>
          </a:p>
        </p:txBody>
      </p:sp>
      <mc:AlternateContent xmlns:mc="http://schemas.openxmlformats.org/markup-compatibility/2006" xmlns:a14="http://schemas.microsoft.com/office/drawing/2010/main">
        <mc:Choice Requires="a14">
          <p:sp>
            <p:nvSpPr>
              <p:cNvPr id="7" name="TextBox 6"/>
              <p:cNvSpPr txBox="1"/>
              <p:nvPr/>
            </p:nvSpPr>
            <p:spPr>
              <a:xfrm>
                <a:off x="548640" y="1463040"/>
                <a:ext cx="11064240" cy="1362456"/>
              </a:xfrm>
              <a:prstGeom prst="rect">
                <a:avLst/>
              </a:prstGeom>
              <a:noFill/>
            </p:spPr>
            <p:txBody>
              <a:bodyPr wrap="square" lIns="45720" rIns="45720" anchor="t">
                <a:spAutoFit/>
              </a:bodyPr>
              <a:lstStyle/>
              <a:p>
                <a:pPr algn="l">
                  <a:spcAft>
                    <a:spcPts val="800"/>
                  </a:spcAft>
                </a:pPr>
                <a:r>
                  <a:rPr sz="2600">
                    <a:solidFill>
                      <a:srgbClr val="1E293B"/>
                    </a:solidFill>
                    <a:latin typeface="Calibri"/>
                  </a:rPr>
                  <a:t>Một tàu khởi hành từ </a:t>
                </a:r>
                <a14:m>
                  <m:oMath xmlns:m="http://schemas.openxmlformats.org/officeDocument/2006/math">
                    <m:r>
                      <a:rPr lang="vi-VN" sz="2600" b="0">
                        <a:solidFill>
                          <a:srgbClr val="1E293B"/>
                        </a:solidFill>
                        <a:latin typeface="Cambria Math" panose="02040503050406030204" pitchFamily="18" charset="0"/>
                      </a:rPr>
                      <m:t>𝑂</m:t>
                    </m:r>
                    <m:r>
                      <a:rPr lang="vi-VN" sz="2600" b="0">
                        <a:solidFill>
                          <a:srgbClr val="1E293B"/>
                        </a:solidFill>
                        <a:latin typeface="Cambria Math" panose="02040503050406030204" pitchFamily="18" charset="0"/>
                      </a:rPr>
                      <m:t>(0; 0)</m:t>
                    </m:r>
                  </m:oMath>
                </a14:m>
                <a:r>
                  <a:rPr sz="2600">
                    <a:solidFill>
                      <a:srgbClr val="1E293B"/>
                    </a:solidFill>
                    <a:latin typeface="Calibri"/>
                  </a:rPr>
                  <a:t>, chuyển động thẳng đều với vận tốc (theo giờ) </a:t>
                </a:r>
                <a14:m>
                  <m:oMath xmlns:m="http://schemas.openxmlformats.org/officeDocument/2006/math">
                    <m:acc>
                      <m:accPr>
                        <m:chr m:val="⃗"/>
                        <m:ctrlPr>
                          <a:rPr lang="vi-VN" sz="2600" b="0">
                            <a:solidFill>
                              <a:srgbClr val="1E293B"/>
                            </a:solidFill>
                            <a:latin typeface="Cambria Math" panose="02040503050406030204" pitchFamily="18" charset="0"/>
                          </a:rPr>
                        </m:ctrlPr>
                      </m:accPr>
                      <m:e>
                        <m:r>
                          <a:rPr lang="vi-VN" sz="2600" b="0">
                            <a:solidFill>
                              <a:srgbClr val="1E293B"/>
                            </a:solidFill>
                            <a:latin typeface="Cambria Math" panose="02040503050406030204" pitchFamily="18" charset="0"/>
                          </a:rPr>
                          <m:t>𝑣</m:t>
                        </m:r>
                      </m:e>
                    </m:acc>
                    <m:r>
                      <a:rPr lang="vi-VN" sz="2600" b="0">
                        <a:solidFill>
                          <a:srgbClr val="1E293B"/>
                        </a:solidFill>
                        <a:latin typeface="Cambria Math" panose="02040503050406030204" pitchFamily="18" charset="0"/>
                      </a:rPr>
                      <m:t>=(3; 4)</m:t>
                    </m:r>
                  </m:oMath>
                </a14:m>
                <a:r>
                  <a:rPr sz="2600">
                    <a:solidFill>
                      <a:srgbClr val="1E293B"/>
                    </a:solidFill>
                    <a:latin typeface="Calibri"/>
                  </a:rPr>
                  <a:t> (đơn vị km). Sau 2 giờ tàu cách </a:t>
                </a:r>
                <a14:m>
                  <m:oMath xmlns:m="http://schemas.openxmlformats.org/officeDocument/2006/math">
                    <m:r>
                      <a:rPr lang="vi-VN" sz="2600" b="0">
                        <a:solidFill>
                          <a:srgbClr val="1E293B"/>
                        </a:solidFill>
                        <a:latin typeface="Cambria Math" panose="02040503050406030204" pitchFamily="18" charset="0"/>
                      </a:rPr>
                      <m:t>𝑂</m:t>
                    </m:r>
                  </m:oMath>
                </a14:m>
                <a:r>
                  <a:rPr sz="2600">
                    <a:solidFill>
                      <a:srgbClr val="1E293B"/>
                    </a:solidFill>
                    <a:latin typeface="Calibri"/>
                  </a:rPr>
                  <a:t> bao nhiêu kilômét?</a:t>
                </a:r>
              </a:p>
            </p:txBody>
          </p:sp>
        </mc:Choice>
        <mc:Fallback xmlns="">
          <p:sp>
            <p:nvSpPr>
              <p:cNvPr id="7" name="TextBox 6"/>
              <p:cNvSpPr txBox="1"/>
              <p:nvPr/>
            </p:nvSpPr>
            <p:spPr>
              <a:xfrm>
                <a:off x="548640" y="1463040"/>
                <a:ext cx="11064240" cy="1362456"/>
              </a:xfrm>
              <a:prstGeom prst="rect">
                <a:avLst/>
              </a:prstGeom>
              <a:noFill/>
            </p:spPr>
            <p:txBody>
              <a:bodyPr wrap="square" anchor="t" lIns="45720" rIns="45720">
                <a:spAutoFit/>
              </a:bodyPr>
              <a:lstStyle/>
              <a:p>
                <a:pPr algn="l">
                  <a:spcAft>
                    <a:spcPts val="800"/>
                  </a:spcAft>
                </a:pPr>
                <a:r>
                  <a:rPr sz="2600">
                    <a:solidFill>
                      <a:srgbClr val="1E293B"/>
                    </a:solidFill>
                    <a:latin typeface="Calibri"/>
                  </a:rPr>
                  <a:t>Một tàu khởi hành từ </a:t>
                </a:r>
                <a:r>
                  <a:rPr lang="vi-VN"/>
                  <a:t>O(0;\ 0)</a:t>
                </a:r>
                <a:r>
                  <a:rPr sz="2600">
                    <a:solidFill>
                      <a:srgbClr val="1E293B"/>
                    </a:solidFill>
                    <a:latin typeface="Calibri"/>
                  </a:rPr>
                  <a:t>, chuyển động thẳng đều với vận tốc (theo giờ) </a:t>
                </a:r>
                <a:r>
                  <a:rPr lang="vi-VN"/>
                  <a:t>\vec{v}=(3;\ 4)</a:t>
                </a:r>
                <a:r>
                  <a:rPr sz="2600">
                    <a:solidFill>
                      <a:srgbClr val="1E293B"/>
                    </a:solidFill>
                    <a:latin typeface="Calibri"/>
                  </a:rPr>
                  <a:t> (đơn vị km). Sau 2 giờ tàu cách </a:t>
                </a:r>
                <a:r>
                  <a:rPr lang="vi-VN"/>
                  <a:t>O</a:t>
                </a:r>
                <a:r>
                  <a:rPr sz="2600">
                    <a:solidFill>
                      <a:srgbClr val="1E293B"/>
                    </a:solidFill>
                    <a:latin typeface="Calibri"/>
                  </a:rPr>
                  <a:t> bao nhiêu kilômét?</a:t>
                </a:r>
              </a:p>
            </p:txBody>
          </p:sp>
        </mc:Fallback>
      </mc:AlternateContent>
      <p:sp>
        <p:nvSpPr>
          <p:cNvPr id="8" name="s1_nen"/>
          <p:cNvSpPr/>
          <p:nvPr/>
        </p:nvSpPr>
        <p:spPr>
          <a:xfrm>
            <a:off x="548640" y="3931920"/>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968496"/>
                <a:ext cx="10735056" cy="557784"/>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Đáp số: 10.</a:t>
                </a:r>
                <a:r>
                  <a:rPr sz="2400">
                    <a:solidFill>
                      <a:srgbClr val="1E293B"/>
                    </a:solidFill>
                    <a:latin typeface="Calibri"/>
                  </a:rPr>
                  <a:t> Vị trí sau 2 giờ: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6; 8</m:t>
                        </m:r>
                      </m:e>
                    </m:d>
                  </m:oMath>
                </a14:m>
                <a:r>
                  <a:rPr sz="2400">
                    <a:solidFill>
                      <a:srgbClr val="1E293B"/>
                    </a:solidFill>
                    <a:latin typeface="Calibri"/>
                  </a:rPr>
                  <a:t>; khoảng cách </a:t>
                </a:r>
                <a14:m>
                  <m:oMath xmlns:m="http://schemas.openxmlformats.org/officeDocument/2006/math">
                    <m:rad>
                      <m:radPr>
                        <m:degHide m:val="on"/>
                        <m:ctrlPr>
                          <a:rPr lang="vi-VN" sz="2400" b="0" i="1">
                            <a:solidFill>
                              <a:srgbClr val="1E293B"/>
                            </a:solidFill>
                            <a:latin typeface="Cambria Math" panose="02040503050406030204" pitchFamily="18" charset="0"/>
                          </a:rPr>
                        </m:ctrlPr>
                      </m:radPr>
                      <m:deg/>
                      <m:e>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6</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8</m:t>
                            </m:r>
                          </m:e>
                          <m:sup>
                            <m:r>
                              <a:rPr lang="vi-VN" sz="2400" b="0">
                                <a:solidFill>
                                  <a:srgbClr val="1E293B"/>
                                </a:solidFill>
                                <a:latin typeface="Cambria Math" panose="02040503050406030204" pitchFamily="18" charset="0"/>
                              </a:rPr>
                              <m:t>2</m:t>
                            </m:r>
                          </m:sup>
                        </m:sSup>
                      </m:e>
                    </m:rad>
                    <m:r>
                      <a:rPr lang="vi-VN" sz="2400" b="0">
                        <a:solidFill>
                          <a:srgbClr val="1E293B"/>
                        </a:solidFill>
                        <a:latin typeface="Cambria Math" panose="02040503050406030204" pitchFamily="18" charset="0"/>
                      </a:rPr>
                      <m:t>=10</m:t>
                    </m:r>
                  </m:oMath>
                </a14:m>
                <a:r>
                  <a:rPr sz="2400">
                    <a:solidFill>
                      <a:srgbClr val="1E293B"/>
                    </a:solidFill>
                    <a:latin typeface="Calibri"/>
                  </a:rPr>
                  <a:t> (km).</a:t>
                </a:r>
              </a:p>
            </p:txBody>
          </p:sp>
        </mc:Choice>
        <mc:Fallback xmlns="">
          <p:sp>
            <p:nvSpPr>
              <p:cNvPr id="9" name="TextBox 8"/>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10.</a:t>
                </a:r>
                <a:r>
                  <a:rPr sz="2400">
                    <a:solidFill>
                      <a:srgbClr val="1E293B"/>
                    </a:solidFill>
                    <a:latin typeface="Calibri"/>
                  </a:rPr>
                  <a:t> Vị trí sau 2 giờ: </a:t>
                </a:r>
                <a:r>
                  <a:rPr lang="vi-VN"/>
                  <a:t>(6;\ 8)</a:t>
                </a:r>
                <a:r>
                  <a:rPr sz="2400">
                    <a:solidFill>
                      <a:srgbClr val="1E293B"/>
                    </a:solidFill>
                    <a:latin typeface="Calibri"/>
                  </a:rPr>
                  <a:t>; khoảng cách </a:t>
                </a:r>
                <a:r>
                  <a:rPr lang="vi-VN"/>
                  <a:t>\sqrt{6^2+8^2}=10</a:t>
                </a:r>
                <a:r>
                  <a:rPr sz="2400">
                    <a:solidFill>
                      <a:srgbClr val="1E293B"/>
                    </a:solidFill>
                    <a:latin typeface="Calibri"/>
                  </a:rPr>
                  <a:t> (km).</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8 (THỰC TẾ)</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35</a:t>
            </a:r>
          </a:p>
        </p:txBody>
      </p:sp>
      <mc:AlternateContent xmlns:mc="http://schemas.openxmlformats.org/markup-compatibility/2006" xmlns:a14="http://schemas.microsoft.com/office/drawing/2010/main">
        <mc:Choice Requires="a14">
          <p:sp>
            <p:nvSpPr>
              <p:cNvPr id="7" name="TextBox 6"/>
              <p:cNvSpPr txBox="1"/>
              <p:nvPr/>
            </p:nvSpPr>
            <p:spPr>
              <a:xfrm>
                <a:off x="548640" y="1463040"/>
                <a:ext cx="7863840" cy="1758696"/>
              </a:xfrm>
              <a:prstGeom prst="rect">
                <a:avLst/>
              </a:prstGeom>
              <a:noFill/>
            </p:spPr>
            <p:txBody>
              <a:bodyPr wrap="square" lIns="45720" rIns="45720" anchor="t">
                <a:spAutoFit/>
              </a:bodyPr>
              <a:lstStyle/>
              <a:p>
                <a:pPr algn="l">
                  <a:spcAft>
                    <a:spcPts val="800"/>
                  </a:spcAft>
                </a:pPr>
                <a:r>
                  <a:rPr sz="2600">
                    <a:solidFill>
                      <a:srgbClr val="1E293B"/>
                    </a:solidFill>
                    <a:latin typeface="Calibri"/>
                  </a:rPr>
                  <a:t>Tâm bão di chuyển thẳng đều trong 12 giờ từ </a:t>
                </a:r>
                <a14:m>
                  <m:oMath xmlns:m="http://schemas.openxmlformats.org/officeDocument/2006/math">
                    <m:r>
                      <a:rPr lang="vi-VN" sz="2600" b="0">
                        <a:solidFill>
                          <a:srgbClr val="1E293B"/>
                        </a:solidFill>
                        <a:latin typeface="Cambria Math" panose="02040503050406030204" pitchFamily="18" charset="0"/>
                      </a:rPr>
                      <m:t>𝐴</m:t>
                    </m:r>
                    <m:r>
                      <a:rPr lang="vi-VN" sz="2600" b="0">
                        <a:solidFill>
                          <a:srgbClr val="1E293B"/>
                        </a:solidFill>
                        <a:latin typeface="Cambria Math" panose="02040503050406030204" pitchFamily="18" charset="0"/>
                      </a:rPr>
                      <m:t>(13,8; 108,3)</m:t>
                    </m:r>
                  </m:oMath>
                </a14:m>
                <a:r>
                  <a:rPr sz="2600">
                    <a:solidFill>
                      <a:srgbClr val="1E293B"/>
                    </a:solidFill>
                    <a:latin typeface="Calibri"/>
                  </a:rPr>
                  <a:t> tới </a:t>
                </a:r>
                <a14:m>
                  <m:oMath xmlns:m="http://schemas.openxmlformats.org/officeDocument/2006/math">
                    <m:r>
                      <a:rPr lang="vi-VN" sz="2600" b="0">
                        <a:solidFill>
                          <a:srgbClr val="1E293B"/>
                        </a:solidFill>
                        <a:latin typeface="Cambria Math" panose="02040503050406030204" pitchFamily="18" charset="0"/>
                      </a:rPr>
                      <m:t>𝐵</m:t>
                    </m:r>
                    <m:r>
                      <a:rPr lang="vi-VN" sz="2600" b="0">
                        <a:solidFill>
                          <a:srgbClr val="1E293B"/>
                        </a:solidFill>
                        <a:latin typeface="Cambria Math" panose="02040503050406030204" pitchFamily="18" charset="0"/>
                      </a:rPr>
                      <m:t>(14,1; 106,3)</m:t>
                    </m:r>
                  </m:oMath>
                </a14:m>
                <a:r>
                  <a:rPr sz="2600">
                    <a:solidFill>
                      <a:srgbClr val="1E293B"/>
                    </a:solidFill>
                    <a:latin typeface="Calibri"/>
                  </a:rPr>
                  <a:t>. Sau 4 giờ, tâm bão ở vĩ độ bao nhiêu (hoành độ của </a:t>
                </a:r>
                <a14:m>
                  <m:oMath xmlns:m="http://schemas.openxmlformats.org/officeDocument/2006/math">
                    <m:r>
                      <a:rPr lang="vi-VN" sz="2600" b="0">
                        <a:solidFill>
                          <a:srgbClr val="1E293B"/>
                        </a:solidFill>
                        <a:latin typeface="Cambria Math" panose="02040503050406030204" pitchFamily="18" charset="0"/>
                      </a:rPr>
                      <m:t>𝑀</m:t>
                    </m:r>
                  </m:oMath>
                </a14:m>
                <a:r>
                  <a:rPr sz="2600">
                    <a:solidFill>
                      <a:srgbClr val="1E293B"/>
                    </a:solidFill>
                    <a:latin typeface="Calibri"/>
                  </a:rPr>
                  <a:t>)?</a:t>
                </a:r>
              </a:p>
            </p:txBody>
          </p:sp>
        </mc:Choice>
        <mc:Fallback xmlns="">
          <p:sp>
            <p:nvSpPr>
              <p:cNvPr id="7" name="TextBox 6"/>
              <p:cNvSpPr txBox="1"/>
              <p:nvPr/>
            </p:nvSpPr>
            <p:spPr>
              <a:xfrm>
                <a:off x="548640" y="1463040"/>
                <a:ext cx="7863840" cy="175869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Tâm bão di chuyển thẳng đều trong 12 giờ từ </a:t>
                </a:r>
                <a:r>
                  <a:rPr lang="vi-VN"/>
                  <a:t>A(13{,}8;\ 108{,}3)</a:t>
                </a:r>
                <a:r>
                  <a:rPr sz="2600">
                    <a:solidFill>
                      <a:srgbClr val="1E293B"/>
                    </a:solidFill>
                    <a:latin typeface="Calibri"/>
                  </a:rPr>
                  <a:t> tới </a:t>
                </a:r>
                <a:r>
                  <a:rPr lang="vi-VN"/>
                  <a:t>B(14{,}1;\ 106{,}3)</a:t>
                </a:r>
                <a:r>
                  <a:rPr sz="2600">
                    <a:solidFill>
                      <a:srgbClr val="1E293B"/>
                    </a:solidFill>
                    <a:latin typeface="Calibri"/>
                  </a:rPr>
                  <a:t>. Sau 4 giờ, tâm bão ở vĩ độ bao nhiêu (hoành độ của </a:t>
                </a:r>
                <a:r>
                  <a:rPr lang="vi-VN"/>
                  <a:t>M</a:t>
                </a:r>
                <a:r>
                  <a:rPr sz="2600">
                    <a:solidFill>
                      <a:srgbClr val="1E293B"/>
                    </a:solidFill>
                    <a:latin typeface="Calibri"/>
                  </a:rPr>
                  <a:t>)?</a:t>
                </a:r>
              </a:p>
            </p:txBody>
          </p:sp>
        </mc:Fallback>
      </mc:AlternateContent>
      <p:sp>
        <p:nvSpPr>
          <p:cNvPr id="8" name="s1_nen"/>
          <p:cNvSpPr/>
          <p:nvPr/>
        </p:nvSpPr>
        <p:spPr>
          <a:xfrm>
            <a:off x="548640" y="3931920"/>
            <a:ext cx="11064240" cy="960119"/>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968496"/>
                <a:ext cx="10735056" cy="886967"/>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Đáp số: 13,9.</a:t>
                </a:r>
                <a:r>
                  <a:rPr sz="2400">
                    <a:solidFill>
                      <a:srgbClr val="1E293B"/>
                    </a:solidFill>
                    <a:latin typeface="Calibri"/>
                  </a:rPr>
                  <a:t>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𝐴𝑀</m:t>
                        </m:r>
                      </m:e>
                    </m:acc>
                  </m:oMath>
                </a14:m>
                <a:r>
                  <a:rPr sz="2400">
                    <a:solidFill>
                      <a:srgbClr val="1E293B"/>
                    </a:solidFill>
                    <a:latin typeface="Calibri"/>
                  </a:rPr>
                  <a:t> = </a:t>
                </a:r>
                <a14:m>
                  <m:oMath xmlns:m="http://schemas.openxmlformats.org/officeDocument/2006/math">
                    <m:f>
                      <m:fPr>
                        <m:ctrlPr>
                          <a:rPr lang="vi-VN" sz="2400" b="0">
                            <a:solidFill>
                              <a:srgbClr val="1E293B"/>
                            </a:solidFill>
                            <a:latin typeface="Cambria Math" panose="02040503050406030204" pitchFamily="18" charset="0"/>
                          </a:rPr>
                        </m:ctrlPr>
                      </m:fPr>
                      <m:num>
                        <m:r>
                          <a:rPr lang="vi-VN" sz="2400" b="0">
                            <a:solidFill>
                              <a:srgbClr val="1E293B"/>
                            </a:solidFill>
                            <a:latin typeface="Cambria Math" panose="02040503050406030204" pitchFamily="18" charset="0"/>
                          </a:rPr>
                          <m:t>4</m:t>
                        </m:r>
                      </m:num>
                      <m:den>
                        <m:r>
                          <a:rPr lang="vi-VN" sz="2400" b="0">
                            <a:solidFill>
                              <a:srgbClr val="1E293B"/>
                            </a:solidFill>
                            <a:latin typeface="Cambria Math" panose="02040503050406030204" pitchFamily="18" charset="0"/>
                          </a:rPr>
                          <m:t>12</m:t>
                        </m:r>
                      </m:den>
                    </m:f>
                  </m:oMath>
                </a14:m>
                <a:r>
                  <a:rPr sz="2400">
                    <a:solidFill>
                      <a:srgbClr val="1E293B"/>
                    </a:solidFill>
                    <a:latin typeface="Calibri"/>
                  </a:rPr>
                  <a:t>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𝐴𝐵</m:t>
                        </m:r>
                      </m:e>
                    </m:acc>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𝑥</m:t>
                    </m:r>
                    <m:r>
                      <a:rPr lang="vi-VN" sz="2400" b="0">
                        <a:solidFill>
                          <a:srgbClr val="1E293B"/>
                        </a:solidFill>
                        <a:latin typeface="Cambria Math" panose="02040503050406030204" pitchFamily="18" charset="0"/>
                      </a:rPr>
                      <m:t>=13,8+</m:t>
                    </m:r>
                    <m:f>
                      <m:fPr>
                        <m:ctrlPr>
                          <a:rPr lang="vi-VN" sz="2400" b="0">
                            <a:solidFill>
                              <a:srgbClr val="1E293B"/>
                            </a:solidFill>
                            <a:latin typeface="Cambria Math" panose="02040503050406030204" pitchFamily="18" charset="0"/>
                          </a:rPr>
                        </m:ctrlP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3</m:t>
                        </m:r>
                      </m:den>
                    </m:f>
                    <m:r>
                      <a:rPr lang="vi-VN" sz="2400" b="0">
                        <a:solidFill>
                          <a:srgbClr val="1E293B"/>
                        </a:solidFill>
                        <a:latin typeface="Cambria Math" panose="02040503050406030204" pitchFamily="18" charset="0"/>
                      </a:rPr>
                      <m:t>·0,3=13,9</m:t>
                    </m:r>
                  </m:oMath>
                </a14:m>
                <a:r>
                  <a:rPr sz="2400">
                    <a:solidFill>
                      <a:srgbClr val="1E293B"/>
                    </a:solidFill>
                    <a:latin typeface="Calibri"/>
                  </a:rPr>
                  <a:t>.</a:t>
                </a:r>
              </a:p>
            </p:txBody>
          </p:sp>
        </mc:Choice>
        <mc:Fallback xmlns="">
          <p:sp>
            <p:nvSpPr>
              <p:cNvPr id="9" name="TextBox 8"/>
              <p:cNvSpPr txBox="1"/>
              <p:nvPr/>
            </p:nvSpPr>
            <p:spPr>
              <a:xfrm>
                <a:off x="713232" y="3968496"/>
                <a:ext cx="10735056" cy="886967"/>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13,9.</a:t>
                </a:r>
                <a:r>
                  <a:rPr sz="2400">
                    <a:solidFill>
                      <a:srgbClr val="1E293B"/>
                    </a:solidFill>
                    <a:latin typeface="Calibri"/>
                  </a:rPr>
                  <a:t> </a:t>
                </a:r>
                <a:r>
                  <a:rPr lang="vi-VN"/>
                  <a:t>\overrightarrow{AM}</a:t>
                </a:r>
                <a:r>
                  <a:rPr sz="2400">
                    <a:solidFill>
                      <a:srgbClr val="1E293B"/>
                    </a:solidFill>
                    <a:latin typeface="Calibri"/>
                  </a:rPr>
                  <a:t> = </a:t>
                </a:r>
                <a:r>
                  <a:rPr lang="vi-VN"/>
                  <a:t>\frac{4}{12}</a:t>
                </a:r>
                <a:r>
                  <a:rPr sz="2400">
                    <a:solidFill>
                      <a:srgbClr val="1E293B"/>
                    </a:solidFill>
                    <a:latin typeface="Calibri"/>
                  </a:rPr>
                  <a:t> </a:t>
                </a:r>
                <a:r>
                  <a:rPr lang="vi-VN"/>
                  <a:t>\overrightarrow{AB}</a:t>
                </a:r>
                <a:r>
                  <a:rPr sz="2400">
                    <a:solidFill>
                      <a:srgbClr val="1E293B"/>
                    </a:solidFill>
                    <a:latin typeface="Calibri"/>
                  </a:rPr>
                  <a:t> ⇒ </a:t>
                </a:r>
                <a:r>
                  <a:rPr lang="vi-VN"/>
                  <a:t>x=13{,}8+\frac{1}{3}\cdot 0{,}3=13{,}9</a:t>
                </a:r>
                <a:r>
                  <a:rPr sz="2400">
                    <a:solidFill>
                      <a:srgbClr val="1E293B"/>
                    </a:solidFill>
                    <a:latin typeface="Calibri"/>
                  </a:rPr>
                  <a:t>.</a:t>
                </a:r>
              </a:p>
            </p:txBody>
          </p:sp>
        </mc:Fallback>
      </mc:AlternateContent>
      <p:pic>
        <p:nvPicPr>
          <p:cNvPr id="10" name="Picture 9" descr="bao.png"/>
          <p:cNvPicPr>
            <a:picLocks noChangeAspect="1"/>
          </p:cNvPicPr>
          <p:nvPr/>
        </p:nvPicPr>
        <p:blipFill>
          <a:blip r:embed="rId3"/>
          <a:stretch>
            <a:fillRect/>
          </a:stretch>
        </p:blipFill>
        <p:spPr>
          <a:xfrm>
            <a:off x="8595360" y="1580288"/>
            <a:ext cx="3108960" cy="21429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36</a:t>
            </a:r>
          </a:p>
        </p:txBody>
      </p:sp>
      <p:sp>
        <p:nvSpPr>
          <p:cNvPr id="7" name="TextBox 6"/>
          <p:cNvSpPr txBox="1"/>
          <p:nvPr/>
        </p:nvSpPr>
        <p:spPr>
          <a:xfrm>
            <a:off x="548640" y="1417320"/>
            <a:ext cx="7589520" cy="4754880"/>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https://trangtu66.github.io/Taode_thi_online/cc_bai10_t10.html</a:t>
            </a:r>
          </a:p>
          <a:p>
            <a:pPr algn="l">
              <a:spcAft>
                <a:spcPts val="800"/>
              </a:spcAft>
            </a:pPr>
            <a:r>
              <a:rPr sz="2200" b="1">
                <a:solidFill>
                  <a:srgbClr val="1E293B"/>
                </a:solidFill>
                <a:latin typeface="Calibri"/>
              </a:rPr>
              <a:t>Nhiệm vụ về nhà:</a:t>
            </a:r>
          </a:p>
          <a:p>
            <a:pPr marL="365760" indent="-365760" algn="l">
              <a:spcAft>
                <a:spcPts val="800"/>
              </a:spcAft>
              <a:buClr>
                <a:srgbClr val="1E40AF"/>
              </a:buClr>
              <a:buFont typeface="Arial"/>
              <a:buChar char="•"/>
            </a:pPr>
            <a:r>
              <a:rPr sz="2200">
                <a:solidFill>
                  <a:srgbClr val="1E293B"/>
                </a:solidFill>
                <a:latin typeface="Calibri"/>
              </a:rPr>
              <a:t>Hoàn thành Bài tập 4.16 – 4.20.</a:t>
            </a:r>
          </a:p>
          <a:p>
            <a:pPr marL="365760" indent="-365760" algn="l">
              <a:spcAft>
                <a:spcPts val="800"/>
              </a:spcAft>
              <a:buClr>
                <a:srgbClr val="1E40AF"/>
              </a:buClr>
              <a:buFont typeface="Arial"/>
              <a:buChar char="•"/>
            </a:pPr>
            <a:r>
              <a:rPr sz="2200">
                <a:solidFill>
                  <a:srgbClr val="1E293B"/>
                </a:solidFill>
                <a:latin typeface="Calibri"/>
              </a:rPr>
              <a:t>Đọc trước </a:t>
            </a:r>
            <a:r>
              <a:rPr sz="2200" b="1">
                <a:solidFill>
                  <a:srgbClr val="1E293B"/>
                </a:solidFill>
                <a:latin typeface="Calibri"/>
              </a:rPr>
              <a:t>Bài 11. Tích vô hướng của hai vectơ</a:t>
            </a:r>
            <a:r>
              <a:rPr sz="2200">
                <a:solidFill>
                  <a:srgbClr val="1E293B"/>
                </a:solidFill>
                <a:latin typeface="Calibri"/>
              </a:rPr>
              <a:t> (SGK tr.66).</a:t>
            </a:r>
          </a:p>
          <a:p>
            <a:pPr marL="365760" indent="-365760" algn="l">
              <a:spcAft>
                <a:spcPts val="800"/>
              </a:spcAft>
              <a:buClr>
                <a:srgbClr val="1E40AF"/>
              </a:buClr>
              <a:buFont typeface="Arial"/>
              <a:buChar char="•"/>
            </a:pPr>
            <a:r>
              <a:rPr sz="2200">
                <a:solidFill>
                  <a:srgbClr val="1E293B"/>
                </a:solidFill>
                <a:latin typeface="Calibri"/>
              </a:rPr>
              <a:t>Nhóm: vẽ sơ đồ vườn cà phê nhà em trên giấy kẻ ô, gắn hệ trục, ghi toạ độ các gốc cây, tính khoảng cách giữa hai cây.</a:t>
            </a:r>
          </a:p>
        </p:txBody>
      </p:sp>
      <p:pic>
        <p:nvPicPr>
          <p:cNvPr id="8" name="Picture 7" descr="QR_CungCo_Bai10_Toan10.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  MỞ BÀI CỦNG CỐ</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37</a:t>
            </a:r>
          </a:p>
        </p:txBody>
      </p:sp>
      <p:pic>
        <p:nvPicPr>
          <p:cNvPr id="7" name="Picture 6" descr="SoDoTuDuy_TOAN10_Bai10_VectoTrongMatPhangToaDo_T32-34.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38</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484632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r>
                  <a:rPr sz="2100">
                    <a:solidFill>
                      <a:srgbClr val="1E293B"/>
                    </a:solidFill>
                    <a:latin typeface="Calibri"/>
                  </a:rPr>
                  <a:t>Lấy toạ độ điểm đầu trừ điểm cuối: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𝑀𝑁</m:t>
                        </m:r>
                      </m:e>
                    </m:acc>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𝑥</m:t>
                        </m:r>
                      </m:e>
                      <m:sub>
                        <m:r>
                          <a:rPr lang="vi-VN" sz="2100" b="0">
                            <a:solidFill>
                              <a:srgbClr val="1E293B"/>
                            </a:solidFill>
                            <a:latin typeface="Cambria Math" panose="02040503050406030204" pitchFamily="18" charset="0"/>
                          </a:rPr>
                          <m:t>𝑀</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𝑥</m:t>
                        </m:r>
                      </m:e>
                      <m:sub>
                        <m:r>
                          <a:rPr lang="vi-VN" sz="2100" b="0">
                            <a:solidFill>
                              <a:srgbClr val="1E293B"/>
                            </a:solidFill>
                            <a:latin typeface="Cambria Math" panose="02040503050406030204" pitchFamily="18" charset="0"/>
                          </a:rPr>
                          <m:t>𝑁</m:t>
                        </m:r>
                      </m:sub>
                    </m:sSub>
                    <m:r>
                      <a:rPr lang="vi-VN" sz="2100" b="0">
                        <a:solidFill>
                          <a:srgbClr val="1E293B"/>
                        </a:solidFill>
                        <a:latin typeface="Cambria Math" panose="02040503050406030204" pitchFamily="18" charset="0"/>
                      </a:rPr>
                      <m:t>; </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𝑦</m:t>
                        </m:r>
                      </m:e>
                      <m:sub>
                        <m:r>
                          <a:rPr lang="vi-VN" sz="2100" b="0">
                            <a:solidFill>
                              <a:srgbClr val="1E293B"/>
                            </a:solidFill>
                            <a:latin typeface="Cambria Math" panose="02040503050406030204" pitchFamily="18" charset="0"/>
                          </a:rPr>
                          <m:t>𝑀</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𝑦</m:t>
                        </m:r>
                      </m:e>
                      <m:sub>
                        <m:r>
                          <a:rPr lang="vi-VN" sz="2100" b="0">
                            <a:solidFill>
                              <a:srgbClr val="1E293B"/>
                            </a:solidFill>
                            <a:latin typeface="Cambria Math" panose="02040503050406030204" pitchFamily="18" charset="0"/>
                          </a:rPr>
                          <m:t>𝑁</m:t>
                        </m:r>
                      </m:sub>
                    </m:sSub>
                    <m:r>
                      <a:rPr lang="vi-VN" sz="2100" b="0">
                        <a:solidFill>
                          <a:srgbClr val="1E293B"/>
                        </a:solidFill>
                        <a:latin typeface="Cambria Math" panose="02040503050406030204" pitchFamily="18" charset="0"/>
                      </a:rPr>
                      <m:t>)</m:t>
                    </m:r>
                  </m:oMath>
                </a14:m>
                <a:r>
                  <a:rPr sz="2100">
                    <a:solidFill>
                      <a:srgbClr val="1E293B"/>
                    </a:solidFill>
                    <a:latin typeface="Calibri"/>
                  </a:rPr>
                  <a:t> – sai.</a:t>
                </a:r>
              </a:p>
              <a:p>
                <a:pPr marL="365760" indent="-365760" algn="l">
                  <a:spcAft>
                    <a:spcPts val="800"/>
                  </a:spcAft>
                  <a:buClr>
                    <a:srgbClr val="1E40AF"/>
                  </a:buClr>
                  <a:buFont typeface="Arial"/>
                  <a:buChar char="•"/>
                </a:pPr>
                <a:r>
                  <a:rPr sz="2100">
                    <a:solidFill>
                      <a:srgbClr val="1E293B"/>
                    </a:solidFill>
                    <a:latin typeface="Calibri"/>
                  </a:rPr>
                  <a:t>Nhầm thứ tự đỉnh hình bình hành: </a:t>
                </a:r>
                <a14:m>
                  <m:oMath xmlns:m="http://schemas.openxmlformats.org/officeDocument/2006/math">
                    <m:r>
                      <a:rPr lang="vi-VN" sz="2100" b="0">
                        <a:solidFill>
                          <a:srgbClr val="1E293B"/>
                        </a:solidFill>
                        <a:latin typeface="Cambria Math" panose="02040503050406030204" pitchFamily="18" charset="0"/>
                      </a:rPr>
                      <m:t>𝑂𝐴𝐵𝑀</m:t>
                    </m:r>
                  </m:oMath>
                </a14:m>
                <a:r>
                  <a:rPr sz="2100">
                    <a:solidFill>
                      <a:srgbClr val="1E293B"/>
                    </a:solidFill>
                    <a:latin typeface="Calibri"/>
                  </a:rPr>
                  <a:t> ⇔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𝑂𝐴</m:t>
                        </m:r>
                      </m:e>
                    </m:acc>
                    <m:r>
                      <a:rPr lang="vi-VN" sz="2100" b="0">
                        <a:solidFill>
                          <a:srgbClr val="1E293B"/>
                        </a:solidFill>
                        <a:latin typeface="Cambria Math" panose="02040503050406030204" pitchFamily="18" charset="0"/>
                      </a:rPr>
                      <m: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𝑀𝐵</m:t>
                        </m:r>
                      </m:e>
                    </m:acc>
                  </m:oMath>
                </a14:m>
                <a:r>
                  <a:rPr sz="2100">
                    <a:solidFill>
                      <a:srgbClr val="1E293B"/>
                    </a:solidFill>
                    <a:latin typeface="Calibri"/>
                  </a:rPr>
                  <a:t> (không phải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𝐵𝑀</m:t>
                        </m:r>
                      </m:e>
                    </m:acc>
                  </m:oMath>
                </a14:m>
                <a:r>
                  <a:rPr sz="2100">
                    <a:solidFill>
                      <a:srgbClr val="1E293B"/>
                    </a:solidFill>
                    <a:latin typeface="Calibri"/>
                  </a:rPr>
                  <a:t>).</a:t>
                </a:r>
              </a:p>
              <a:p>
                <a:pPr marL="365760" indent="-365760" algn="l">
                  <a:spcAft>
                    <a:spcPts val="800"/>
                  </a:spcAft>
                  <a:buClr>
                    <a:srgbClr val="1E40AF"/>
                  </a:buClr>
                  <a:buFont typeface="Arial"/>
                  <a:buChar char="•"/>
                </a:pPr>
                <a:r>
                  <a:rPr sz="2100">
                    <a:solidFill>
                      <a:srgbClr val="1E293B"/>
                    </a:solidFill>
                    <a:latin typeface="Calibri"/>
                  </a:rPr>
                  <a:t>Quên căn khi tính độ dài; cộng các toạ độ thay vì bình phương.</a:t>
                </a:r>
              </a:p>
              <a:p>
                <a:pPr marL="365760" indent="-365760" algn="l">
                  <a:spcAft>
                    <a:spcPts val="800"/>
                  </a:spcAft>
                  <a:buClr>
                    <a:srgbClr val="1E40AF"/>
                  </a:buClr>
                  <a:buFont typeface="Arial"/>
                  <a:buChar char="•"/>
                </a:pPr>
                <a:r>
                  <a:rPr sz="2100">
                    <a:solidFill>
                      <a:srgbClr val="1E293B"/>
                    </a:solidFill>
                    <a:latin typeface="Calibri"/>
                  </a:rPr>
                  <a:t>Điều kiện cùng phương </a:t>
                </a:r>
                <a14:m>
                  <m:oMath xmlns:m="http://schemas.openxmlformats.org/officeDocument/2006/math">
                    <m:f>
                      <m:fPr>
                        <m:ctrlPr>
                          <a:rPr lang="vi-VN" sz="2100" b="0">
                            <a:solidFill>
                              <a:srgbClr val="1E293B"/>
                            </a:solidFill>
                            <a:latin typeface="Cambria Math" panose="02040503050406030204" pitchFamily="18" charset="0"/>
                          </a:rPr>
                        </m:ctrlPr>
                      </m:fPr>
                      <m:num>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𝑥</m:t>
                            </m:r>
                          </m:e>
                          <m:sup>
                            <m:r>
                              <a:rPr lang="vi-VN" sz="2100" b="0">
                                <a:solidFill>
                                  <a:srgbClr val="1E293B"/>
                                </a:solidFill>
                                <a:latin typeface="Cambria Math" panose="02040503050406030204" pitchFamily="18" charset="0"/>
                              </a:rPr>
                              <m:t>′</m:t>
                            </m:r>
                          </m:sup>
                        </m:sSup>
                      </m:num>
                      <m:den>
                        <m:r>
                          <a:rPr lang="vi-VN" sz="2100" b="0">
                            <a:solidFill>
                              <a:srgbClr val="1E293B"/>
                            </a:solidFill>
                            <a:latin typeface="Cambria Math" panose="02040503050406030204" pitchFamily="18" charset="0"/>
                          </a:rPr>
                          <m:t>𝑥</m:t>
                        </m:r>
                      </m:den>
                    </m:f>
                    <m:r>
                      <a:rPr lang="vi-VN" sz="2100" b="0">
                        <a:solidFill>
                          <a:srgbClr val="1E293B"/>
                        </a:solidFill>
                        <a:latin typeface="Cambria Math" panose="02040503050406030204" pitchFamily="18" charset="0"/>
                      </a:rPr>
                      <m:t>=</m:t>
                    </m:r>
                    <m:f>
                      <m:fPr>
                        <m:ctrlPr>
                          <a:rPr lang="vi-VN" sz="2100" b="0" i="1">
                            <a:solidFill>
                              <a:srgbClr val="1E293B"/>
                            </a:solidFill>
                            <a:latin typeface="Cambria Math" panose="02040503050406030204" pitchFamily="18" charset="0"/>
                          </a:rPr>
                        </m:ctrlPr>
                      </m:fPr>
                      <m:num>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𝑦</m:t>
                            </m:r>
                          </m:e>
                          <m:sup>
                            <m:r>
                              <a:rPr lang="vi-VN" sz="2100" b="0">
                                <a:solidFill>
                                  <a:srgbClr val="1E293B"/>
                                </a:solidFill>
                                <a:latin typeface="Cambria Math" panose="02040503050406030204" pitchFamily="18" charset="0"/>
                              </a:rPr>
                              <m:t>′</m:t>
                            </m:r>
                          </m:sup>
                        </m:sSup>
                      </m:num>
                      <m:den>
                        <m:r>
                          <a:rPr lang="vi-VN" sz="2100" b="0">
                            <a:solidFill>
                              <a:srgbClr val="1E293B"/>
                            </a:solidFill>
                            <a:latin typeface="Cambria Math" panose="02040503050406030204" pitchFamily="18" charset="0"/>
                          </a:rPr>
                          <m:t>𝑦</m:t>
                        </m:r>
                      </m:den>
                    </m:f>
                  </m:oMath>
                </a14:m>
                <a:r>
                  <a:rPr sz="2100">
                    <a:solidFill>
                      <a:srgbClr val="1E293B"/>
                    </a:solidFill>
                    <a:latin typeface="Calibri"/>
                  </a:rPr>
                  <a:t> dùng khi có toạ độ bằng 0.</a:t>
                </a:r>
              </a:p>
            </p:txBody>
          </p:sp>
        </mc:Choice>
        <mc:Fallback xmlns="">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Lấy toạ độ điểm đầu trừ điểm cuối: </a:t>
                </a:r>
                <a:r>
                  <a:rPr lang="vi-VN"/>
                  <a:t>\overrightarrow{MN}=(x_M-x_N;\ y_M-y_N)</a:t>
                </a:r>
                <a:r>
                  <a:rPr sz="2100">
                    <a:solidFill>
                      <a:srgbClr val="1E293B"/>
                    </a:solidFill>
                    <a:latin typeface="Calibri"/>
                  </a:rPr>
                  <a:t> – sai.</a:t>
                </a:r>
              </a:p>
              <a:p>
                <a:pPr algn="l" marL="365760" indent="-365760">
                  <a:spcAft>
                    <a:spcPts val="800"/>
                  </a:spcAft>
                  <a:buClr>
                    <a:srgbClr val="1E40AF"/>
                  </a:buClr>
                  <a:buFont typeface="Arial"/>
                  <a:buChar char="•"/>
                </a:pPr>
                <a:r>
                  <a:rPr sz="2100">
                    <a:solidFill>
                      <a:srgbClr val="1E293B"/>
                    </a:solidFill>
                    <a:latin typeface="Calibri"/>
                  </a:rPr>
                  <a:t>Nhầm thứ tự đỉnh hình bình hành: </a:t>
                </a:r>
                <a:r>
                  <a:rPr lang="vi-VN"/>
                  <a:t>OABM</a:t>
                </a:r>
                <a:r>
                  <a:rPr sz="2100">
                    <a:solidFill>
                      <a:srgbClr val="1E293B"/>
                    </a:solidFill>
                    <a:latin typeface="Calibri"/>
                  </a:rPr>
                  <a:t> ⇔ </a:t>
                </a:r>
                <a:r>
                  <a:rPr lang="vi-VN"/>
                  <a:t>\overrightarrow{OA}=\overrightarrow{MB}</a:t>
                </a:r>
                <a:r>
                  <a:rPr sz="2100">
                    <a:solidFill>
                      <a:srgbClr val="1E293B"/>
                    </a:solidFill>
                    <a:latin typeface="Calibri"/>
                  </a:rPr>
                  <a:t> (không phải </a:t>
                </a:r>
                <a:r>
                  <a:rPr lang="vi-VN"/>
                  <a:t>\overrightarrow{BM}</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Quên căn khi tính độ dài; cộng các toạ độ thay vì bình phương.</a:t>
                </a:r>
              </a:p>
              <a:p>
                <a:pPr algn="l" marL="365760" indent="-365760">
                  <a:spcAft>
                    <a:spcPts val="800"/>
                  </a:spcAft>
                  <a:buClr>
                    <a:srgbClr val="1E40AF"/>
                  </a:buClr>
                  <a:buFont typeface="Arial"/>
                  <a:buChar char="•"/>
                </a:pPr>
                <a:r>
                  <a:rPr sz="2100">
                    <a:solidFill>
                      <a:srgbClr val="1E293B"/>
                    </a:solidFill>
                    <a:latin typeface="Calibri"/>
                  </a:rPr>
                  <a:t>Điều kiện cùng phương </a:t>
                </a:r>
                <a:r>
                  <a:rPr lang="vi-VN"/>
                  <a:t>\frac{x'}{x}=\frac{y'}{y}</a:t>
                </a:r>
                <a:r>
                  <a:rPr sz="2100">
                    <a:solidFill>
                      <a:srgbClr val="1E293B"/>
                    </a:solidFill>
                    <a:latin typeface="Calibri"/>
                  </a:rPr>
                  <a:t> dùng khi có toạ độ bằng 0.</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Vectơ trong mặt phẳng toạ độ – Toán 10          39</a:t>
            </a:r>
          </a:p>
        </p:txBody>
      </p:sp>
      <p:sp>
        <p:nvSpPr>
          <p:cNvPr id="7" name="TextBox 6"/>
          <p:cNvSpPr txBox="1"/>
          <p:nvPr/>
        </p:nvSpPr>
        <p:spPr>
          <a:xfrm>
            <a:off x="548640" y="1371600"/>
            <a:ext cx="11064240" cy="484632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giấy kẻ ô, đếm ô để tìm toạ độ; giao HĐ1–HĐ3, Bài 4.16a.</a:t>
            </a:r>
          </a:p>
          <a:p>
            <a:pPr marL="365760" indent="-365760" algn="l">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Bài 4.17c, 4.18d, 4.20; tự đặt bài toán về vị trí tàu, bão.</a:t>
            </a:r>
          </a:p>
          <a:p>
            <a:pPr marL="365760" indent="-365760" algn="l">
              <a:spcAft>
                <a:spcPts val="800"/>
              </a:spcAft>
              <a:buClr>
                <a:srgbClr val="1E40AF"/>
              </a:buClr>
              <a:buFont typeface="Arial"/>
              <a:buChar char="•"/>
            </a:pPr>
            <a:r>
              <a:rPr sz="2000" b="1">
                <a:solidFill>
                  <a:srgbClr val="1E293B"/>
                </a:solidFill>
                <a:latin typeface="Calibri"/>
              </a:rPr>
              <a:t>10A7 (khiếm thính):</a:t>
            </a:r>
            <a:r>
              <a:rPr sz="2000">
                <a:solidFill>
                  <a:srgbClr val="1E293B"/>
                </a:solidFill>
                <a:latin typeface="Calibri"/>
              </a:rPr>
              <a:t> luật chơi, yêu cầu có chữ trên slide; video có phụ đề. </a:t>
            </a:r>
            <a:r>
              <a:rPr sz="2000" b="1">
                <a:solidFill>
                  <a:srgbClr val="1E293B"/>
                </a:solidFill>
                <a:latin typeface="Calibri"/>
              </a:rPr>
              <a:t>10A4:</a:t>
            </a:r>
            <a:r>
              <a:rPr sz="2000">
                <a:solidFill>
                  <a:srgbClr val="1E293B"/>
                </a:solidFill>
                <a:latin typeface="Calibri"/>
              </a:rPr>
              <a:t> trả lời tại chỗ bằng bảng con.</a:t>
            </a:r>
          </a:p>
          <a:p>
            <a:pPr marL="365760" indent="-365760" algn="l">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KHBD in, lưới ô vuông vẽ bảng; tính bằng máy tính cầm tay thay GeoGebra.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5600</Words>
  <Application>Microsoft Office PowerPoint</Application>
  <PresentationFormat>Widescreen</PresentationFormat>
  <Paragraphs>338</Paragraphs>
  <Slides>39</Slides>
  <Notes>39</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Trang Truong</cp:lastModifiedBy>
  <cp:revision>2</cp:revision>
  <dcterms:created xsi:type="dcterms:W3CDTF">2013-01-27T09:14:16Z</dcterms:created>
  <dcterms:modified xsi:type="dcterms:W3CDTF">2026-10-30T11:15:43Z</dcterms:modified>
  <cp:category/>
</cp:coreProperties>
</file>