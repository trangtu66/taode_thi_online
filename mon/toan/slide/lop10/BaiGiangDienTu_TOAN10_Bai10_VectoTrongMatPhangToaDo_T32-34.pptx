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video mở trang online (cần Internet).</a:t>
            </a:r>
          </a:p>
          <a:p>
            <a:r>
              <a:t>Lớp 10A7 có HS khiếm thính: mọi yêu cầu, luật chơi đều có chữ trên slide; video có phụ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trục toạ độ 7' – HĐ2, hệ trục, khung toạ độ 12' – Ví dụ 1, LT1: 4' – HĐ3, Ví dụ 2, Nhận xét 11' – Tổng kết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Liên hệ: bão đổ bộ miền Trung ảnh hưởng Gia Lai. HS dự đoán; giải ở Vận dụng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tr.60) – 3'. Click 1. GV giới thiệu trục toạ độ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tr.61) – 4'. Click 1, 2. Nhắc quy tắc hình bình hành, quy tắc hiệu.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(SGK tr.61), Nhận xét. Ví dụ 1 (click 1), Luyện tập 1 (click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tr.61) – 5'. Click 1–3.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 2). Chốt Nhận xét: điều kiện cùng phương theo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A=(1,1), B=(4,3), u=Vector(A,B), ShowGrid(true). Nhấn mạnh: toạ độ vectơ khác toạ độ điểm.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Truy tìm toạ độ 6' – HĐ4, HĐ5, khung 9' – Ví dụ 3, LT2: 12' – Ví dụ 4, công thức 7' – Vận dụng bão, GeoGebra 8'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Câu 3, 4 dẫn vào bài mới (HS có thể dự đoán bằng Pythagore, trung bình cộng). Đáp án đã kiểm tra. Click 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tr.62) – 4'. Click 1, 2.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(SGK tr.62) – 3'. Click 1. Chốt khung – công thức khoảng cách.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1–3). Chú ý thứ tự đỉnh hình thoi: AD = BC.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4'. Click 1, 2. Sai lầm: viết OA = BM thay vì OA = MB (KHBD – Trạm AI).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(click 1, 2). Chốt Chú ý – công thức trung điểm, trọng tâm.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HS làm nhóm (máy tính cầm tay). Click 1–3. M ≈ 14,0° vĩ bắc, 106,8° kinh đông. Chú ý (SGK): chỉ tính trong phạm vi đoạn đường ngắn.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Lệnh: A=(13.8,108.3), B=(14.1,106.3), t=Slider(0,12,1), M=A+t/12*(B-A).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Bài tập 4.16 – 4.20 (22') – Rung chuông vàng 18' – Củng cố online, giao việc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tr.124 – 125;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tr.124 – 125;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tr.124 – 125;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8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là 2u + v; C, D sai dấu một thành phần.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quên căn (5); cộng sai dấu √(4−1) = √3; |2|+|−1| =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(1;−2) = AB/2; (4;0) quên chia 2; (2;−4) = toạ độ 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sai dấu; lập tỉ lệ ngược 1/2 = m/(−3) sai.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Đáp án đã kiểm tra bằng Python: Đ – S – Đ – 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Sai lầm: lấy 3 + 4 = 7 rồi nhân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10_VectoTrongMatPhang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trangtu66.github.io/Taode_thi_online/GGB_T10_Bai10_1_ToaDoVecto.html" TargetMode="External"/><Relationship Id="rId4" Type="http://schemas.openxmlformats.org/officeDocument/2006/relationships/image" Target="../media/image6.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trangtu66.github.io/Taode_thi_online/GGB_T10_Bai10_2_TamBao.html" TargetMode="External"/><Relationship Id="rId4" Type="http://schemas.openxmlformats.org/officeDocument/2006/relationships/image" Target="../media/image10.png"/><Relationship Id="rId5"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hyperlink" Target="https://trangtu66.github.io/Taode_thi_online/cc_bai10_t10.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10</a:t>
            </a:r>
          </a:p>
          <a:p>
            <a:pPr>
              <a:spcAft>
                <a:spcPts val="600"/>
              </a:spcAft>
            </a:pPr>
            <a:r>
              <a:rPr sz="4400" b="1">
                <a:solidFill>
                  <a:srgbClr val="FFFFFF"/>
                </a:solidFill>
                <a:latin typeface="Cambria"/>
              </a:rPr>
              <a:t>VECTƠ TRONG MẶT PHẲNG TOẠ ĐỘ</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10 – Kết nối tri thức với cuộc sống (SGK tập một, tr.60 – 65)</a:t>
            </a:r>
          </a:p>
          <a:p>
            <a:pPr algn="l">
              <a:spcAft>
                <a:spcPts val="800"/>
              </a:spcAft>
            </a:pPr>
            <a:r>
              <a:rPr sz="2200">
                <a:solidFill>
                  <a:srgbClr val="E0E7FF"/>
                </a:solidFill>
                <a:latin typeface="Calibri"/>
              </a:rPr>
              <a:t>3 tiết: T32 – T34</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a:t>
            </a:r>
          </a:p>
        </p:txBody>
      </p:sp>
      <p:sp>
        <p:nvSpPr>
          <p:cNvPr id="7" name="Rounded Rectangle 6"/>
          <p:cNvSpPr/>
          <p:nvPr/>
        </p:nvSpPr>
        <p:spPr>
          <a:xfrm>
            <a:off x="548640" y="1417320"/>
            <a:ext cx="11064240" cy="224332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17017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Nhận biết toạ độ của vectơ và thể hiện các phép toán vectơ theo toạ độ.</a:t>
            </a:r>
          </a:p>
          <a:p>
            <a:pPr algn="l" marL="365760" indent="-365760">
              <a:spcAft>
                <a:spcPts val="800"/>
              </a:spcAft>
              <a:buClr>
                <a:srgbClr val="1E40AF"/>
              </a:buClr>
              <a:buFont typeface="Arial"/>
              <a:buChar char="•"/>
            </a:pPr>
            <a:r>
              <a:rPr sz="2200">
                <a:solidFill>
                  <a:srgbClr val="1E293B"/>
                </a:solidFill>
                <a:latin typeface="Calibri"/>
              </a:rPr>
              <a:t>Thể hiện mối quan hệ giữa các vectơ thông qua toạ độ của chúng.</a:t>
            </a:r>
          </a:p>
          <a:p>
            <a:pPr algn="l" marL="365760" indent="-365760">
              <a:spcAft>
                <a:spcPts val="800"/>
              </a:spcAft>
              <a:buClr>
                <a:srgbClr val="1E40AF"/>
              </a:buClr>
              <a:buFont typeface="Arial"/>
              <a:buChar char="•"/>
            </a:pPr>
            <a:r>
              <a:rPr sz="2200">
                <a:solidFill>
                  <a:srgbClr val="1E293B"/>
                </a:solidFill>
                <a:latin typeface="Calibri"/>
              </a:rPr>
              <a:t>Ứng dụng của toạ độ vectơ trong bài toán xác định vị trí của vật trên mặt phẳng toạ độ.</a:t>
            </a:r>
          </a:p>
        </p:txBody>
      </p:sp>
      <p:sp>
        <p:nvSpPr>
          <p:cNvPr id="9" name="TextBox 8"/>
          <p:cNvSpPr txBox="1"/>
          <p:nvPr/>
        </p:nvSpPr>
        <p:spPr>
          <a:xfrm>
            <a:off x="548640" y="388924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(cùng phương, thẳng hàng qua toạ độ); mô hình hoá (vị trí tâm bão, tàu thuỷ); giải quyết vấn đề; sử dụng công cụ (GeoGebra, máy tính cầm tay).</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T32</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Toạ độ của vectơ. 2. Biểu thức toạ độ của các phép toán vectơ</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T33</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Toạ độ điểm, độ dài, khoảng cách; trung điểm, trọng tâm; dự đoán tâm bão</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Truy tìm toạ độ · GeoGebra</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T34</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4.16 – 4.20</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(T32)</a:t>
            </a:r>
          </a:p>
          <a:p>
            <a:pPr>
              <a:spcAft>
                <a:spcPts val="600"/>
              </a:spcAft>
            </a:pPr>
            <a:r>
              <a:rPr sz="4000" b="1">
                <a:solidFill>
                  <a:srgbClr val="FFFFFF"/>
                </a:solidFill>
                <a:latin typeface="Cambria"/>
              </a:rPr>
              <a:t>Toạ độ của vectơ. Biểu thức toạ độ các phép toán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toạ độ của vectơ đối với hệ trục Oxy.</a:t>
            </a:r>
          </a:p>
          <a:p>
            <a:pPr algn="l">
              <a:spcAft>
                <a:spcPts val="800"/>
              </a:spcAft>
            </a:pPr>
            <a:r>
              <a:rPr sz="2200">
                <a:solidFill>
                  <a:srgbClr val="E0E7FF"/>
                </a:solidFill>
                <a:latin typeface="Calibri"/>
              </a:rPr>
              <a:t>• Tính toạ độ tổng, hiệu, tích vectơ với một số; nhận biết hai vectơ cùng phương qua toạ độ.</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DỰ ĐOÁN VỊ TRÍ TÂM BÃO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bản tin dự báo thời tiết thể hiện đường đi trong 12 giờ của một cơn bão trên một mặt phẳng toạ độ. Trong khoảng thời gian đó, tâm bão di chuyển thẳng đều từ vị trí có toạ độ </a:t>
                </a:r>
                <a14:m>
                  <m:oMath xmlns:m="http://schemas.openxmlformats.org/officeDocument/2006/math">
                    <m:d>
                      <m:dPr>
                        <m:sepChr m:val=""/>
                      </m:dPr>
                      <m:e>
                        <m:r>
                          <a:rPr lang="vi-VN" sz="2200" b="0">
                            <a:solidFill>
                              <a:srgbClr val="1E293B"/>
                            </a:solidFill>
                            <a:latin typeface="Cambria Math" panose="02040503050406030204" pitchFamily="18" charset="0"/>
                          </a:rPr>
                          <m:t>13</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8</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108</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e>
                    </m:d>
                  </m:oMath>
                </a14:m>
                <a:r>
                  <a:rPr sz="2200">
                    <a:solidFill>
                      <a:srgbClr val="1E293B"/>
                    </a:solidFill>
                    <a:latin typeface="Calibri"/>
                  </a:rPr>
                  <a:t> đến vị trí có toạ độ </a:t>
                </a:r>
                <a14:m>
                  <m:oMath xmlns:m="http://schemas.openxmlformats.org/officeDocument/2006/math">
                    <m:d>
                      <m:dPr>
                        <m:sepChr m:val=""/>
                      </m:dPr>
                      <m:e>
                        <m:r>
                          <a:rPr lang="vi-VN" sz="2200" b="0">
                            <a:solidFill>
                              <a:srgbClr val="1E293B"/>
                            </a:solidFill>
                            <a:latin typeface="Cambria Math" panose="02040503050406030204" pitchFamily="18" charset="0"/>
                          </a:rPr>
                          <m:t>14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106</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e>
                    </m:d>
                  </m:oMath>
                </a14:m>
                <a:r>
                  <a:rPr sz="2200">
                    <a:solidFill>
                      <a:srgbClr val="1E293B"/>
                    </a:solidFill>
                    <a:latin typeface="Calibri"/>
                  </a:rPr>
                  <a:t>. </a:t>
                </a:r>
                <a:r>
                  <a:rPr sz="2200" b="1">
                    <a:solidFill>
                      <a:srgbClr val="1E293B"/>
                    </a:solidFill>
                    <a:latin typeface="Calibri"/>
                  </a:rPr>
                  <a:t>Dựa vào thông tin trên, liệu ta có thể dự đoán được vị trí của tâm bão tại thời điểm bất kì trong khoảng thời gian 12 giờ đó hay không?</a:t>
                </a:r>
              </a:p>
              <a:p>
                <a:pPr algn="l">
                  <a:spcAft>
                    <a:spcPts val="800"/>
                  </a:spcAft>
                </a:pPr>
                <a:r>
                  <a:rPr sz="2000">
                    <a:solidFill>
                      <a:srgbClr val="64748B"/>
                    </a:solidFill>
                    <a:latin typeface="Calibri"/>
                  </a:rPr>
                  <a:t>(SGK Toán 10 tập một, tr.60)</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bản tin dự báo thời tiết thể hiện đường đi trong 12 giờ của một cơn bão trên một mặt phẳng toạ độ. Trong khoảng thời gian đó, tâm bão di chuyển thẳng đều từ vị trí có toạ độ </a:t>
                </a:r>
                <a:r>
                  <a:rPr lang="vi-VN"/>
                  <a:t>(13{,}8;\ 108{,}3)</a:t>
                </a:r>
                <a:r>
                  <a:rPr sz="2200">
                    <a:solidFill>
                      <a:srgbClr val="1E293B"/>
                    </a:solidFill>
                    <a:latin typeface="Calibri"/>
                  </a:rPr>
                  <a:t> đến vị trí có toạ độ </a:t>
                </a:r>
                <a:r>
                  <a:rPr lang="vi-VN"/>
                  <a:t>(14{,}1;\ 106{,}3)</a:t>
                </a:r>
                <a:r>
                  <a:rPr sz="2200">
                    <a:solidFill>
                      <a:srgbClr val="1E293B"/>
                    </a:solidFill>
                    <a:latin typeface="Calibri"/>
                  </a:rPr>
                  <a:t>. </a:t>
                </a:r>
                <a:r>
                  <a:rPr sz="2200" b="1">
                    <a:solidFill>
                      <a:srgbClr val="1E293B"/>
                    </a:solidFill>
                    <a:latin typeface="Calibri"/>
                  </a:rPr>
                  <a:t>Dựa vào thông tin trên, liệu ta có thể dự đoán được vị trí của tâm bão tại thời điểm bất kì trong khoảng thời gian 12 giờ đó hay không?</a:t>
                </a:r>
              </a:p>
              <a:p>
                <a:pPr algn="l">
                  <a:spcAft>
                    <a:spcPts val="800"/>
                  </a:spcAft>
                </a:pPr>
                <a:r>
                  <a:rPr sz="2000">
                    <a:solidFill>
                      <a:srgbClr val="64748B"/>
                    </a:solidFill>
                    <a:latin typeface="Calibri"/>
                  </a:rPr>
                  <a:t>(SGK Toán 10 tập một, tr.60)</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bao.png"/>
          <p:cNvPicPr>
            <a:picLocks noChangeAspect="1"/>
          </p:cNvPicPr>
          <p:nvPr/>
        </p:nvPicPr>
        <p:blipFill>
          <a:blip r:embed="rId5"/>
          <a:stretch>
            <a:fillRect/>
          </a:stretch>
        </p:blipFill>
        <p:spPr>
          <a:xfrm>
            <a:off x="7315200" y="1962054"/>
            <a:ext cx="4389120" cy="3025331"/>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4.31: vị trí x° vĩ bắc, y° kinh đông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TOẠ ĐỘ CỦA VECTƠ – TRỤC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59791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Trên trục số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gọi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là điểm biểu diễn số 1 và đặt </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(H.4.32a).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điểm biểu diễn số 4,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là điểm biểu diễn số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 Hãy biểu thị mỗi vectơ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theo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a:t>
                </a:r>
              </a:p>
            </p:txBody>
          </p:sp>
        </mc:Choice>
        <mc:Fallback>
          <p:sp>
            <p:nvSpPr>
              <p:cNvPr id="7" name="TextBox 6"/>
              <p:cNvSpPr txBox="1"/>
              <p:nvPr/>
            </p:nvSpPr>
            <p:spPr>
              <a:xfrm>
                <a:off x="548640" y="1371600"/>
                <a:ext cx="7863840" cy="159791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Trên trục số </a:t>
                </a:r>
                <a:r>
                  <a:rPr lang="vi-VN"/>
                  <a:t>Ox</a:t>
                </a:r>
                <a:r>
                  <a:rPr sz="2100">
                    <a:solidFill>
                      <a:srgbClr val="1E293B"/>
                    </a:solidFill>
                    <a:latin typeface="Calibri"/>
                  </a:rPr>
                  <a:t>, gọi </a:t>
                </a:r>
                <a:r>
                  <a:rPr lang="vi-VN"/>
                  <a:t>A</a:t>
                </a:r>
                <a:r>
                  <a:rPr sz="2100">
                    <a:solidFill>
                      <a:srgbClr val="1E293B"/>
                    </a:solidFill>
                    <a:latin typeface="Calibri"/>
                  </a:rPr>
                  <a:t> là điểm biểu diễn số 1 và đặt </a:t>
                </a:r>
                <a:r>
                  <a:rPr lang="vi-VN"/>
                  <a:t>\overrightarrow{OA}</a:t>
                </a:r>
                <a:r>
                  <a:rPr sz="2100">
                    <a:solidFill>
                      <a:srgbClr val="1E293B"/>
                    </a:solidFill>
                    <a:latin typeface="Calibri"/>
                  </a:rPr>
                  <a:t> = </a:t>
                </a:r>
                <a:r>
                  <a:rPr lang="vi-VN"/>
                  <a:t>\vec{i}</a:t>
                </a:r>
                <a:r>
                  <a:rPr sz="2100">
                    <a:solidFill>
                      <a:srgbClr val="1E293B"/>
                    </a:solidFill>
                    <a:latin typeface="Calibri"/>
                  </a:rPr>
                  <a:t> (H.4.32a). Gọi </a:t>
                </a:r>
                <a:r>
                  <a:rPr lang="vi-VN"/>
                  <a:t>M</a:t>
                </a:r>
                <a:r>
                  <a:rPr sz="2100">
                    <a:solidFill>
                      <a:srgbClr val="1E293B"/>
                    </a:solidFill>
                    <a:latin typeface="Calibri"/>
                  </a:rPr>
                  <a:t> là điểm biểu diễn số 4, </a:t>
                </a:r>
                <a:r>
                  <a:rPr lang="vi-VN"/>
                  <a:t>N</a:t>
                </a:r>
                <a:r>
                  <a:rPr sz="2100">
                    <a:solidFill>
                      <a:srgbClr val="1E293B"/>
                    </a:solidFill>
                    <a:latin typeface="Calibri"/>
                  </a:rPr>
                  <a:t> là điểm biểu diễn số </a:t>
                </a:r>
                <a:r>
                  <a:rPr lang="vi-VN"/>
                  <a:t>-\frac{3}{2}</a:t>
                </a:r>
                <a:r>
                  <a:rPr sz="2100">
                    <a:solidFill>
                      <a:srgbClr val="1E293B"/>
                    </a:solidFill>
                    <a:latin typeface="Calibri"/>
                  </a:rPr>
                  <a:t>. Hãy biểu thị mỗi vectơ </a:t>
                </a:r>
                <a:r>
                  <a:rPr lang="vi-VN"/>
                  <a:t>\overrightarrow{OM}</a:t>
                </a:r>
                <a:r>
                  <a:rPr sz="2100">
                    <a:solidFill>
                      <a:srgbClr val="1E293B"/>
                    </a:solidFill>
                    <a:latin typeface="Calibri"/>
                  </a:rPr>
                  <a:t>, </a:t>
                </a:r>
                <a:r>
                  <a:rPr lang="vi-VN"/>
                  <a:t>\overrightarrow{ON}</a:t>
                </a:r>
                <a:r>
                  <a:rPr sz="2100">
                    <a:solidFill>
                      <a:srgbClr val="1E293B"/>
                    </a:solidFill>
                    <a:latin typeface="Calibri"/>
                  </a:rPr>
                  <a:t> theo vectơ </a:t>
                </a:r>
                <a:r>
                  <a:rPr lang="vi-VN"/>
                  <a:t>\vec{i}</a:t>
                </a:r>
                <a:r>
                  <a:rPr sz="2100">
                    <a:solidFill>
                      <a:srgbClr val="1E293B"/>
                    </a:solidFill>
                    <a:latin typeface="Calibri"/>
                  </a:rPr>
                  <a:t>.</a:t>
                </a:r>
              </a:p>
            </p:txBody>
          </p:sp>
        </mc:Fallback>
      </mc:AlternateContent>
      <p:sp>
        <p:nvSpPr>
          <p:cNvPr id="8" name="s1_nen"/>
          <p:cNvSpPr/>
          <p:nvPr/>
        </p:nvSpPr>
        <p:spPr>
          <a:xfrm>
            <a:off x="548640" y="3079242"/>
            <a:ext cx="78638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15818"/>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2</m:t>
                        </m:r>
                      </m:den>
                    </m:f>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a:t>
                </a:r>
              </a:p>
            </p:txBody>
          </p:sp>
        </mc:Choice>
        <mc:Fallback>
          <p:sp>
            <p:nvSpPr>
              <p:cNvPr id="9" name="TextBox 8"/>
              <p:cNvSpPr txBox="1"/>
              <p:nvPr/>
            </p:nvSpPr>
            <p:spPr>
              <a:xfrm>
                <a:off x="713232" y="3115818"/>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\overrightarrow{OM}</a:t>
                </a:r>
                <a:r>
                  <a:rPr sz="2100">
                    <a:solidFill>
                      <a:srgbClr val="1E293B"/>
                    </a:solidFill>
                    <a:latin typeface="Calibri"/>
                  </a:rPr>
                  <a:t> = </a:t>
                </a:r>
                <a:r>
                  <a:rPr lang="vi-VN"/>
                  <a:t>4\vec{i}</a:t>
                </a:r>
                <a:r>
                  <a:rPr sz="2100">
                    <a:solidFill>
                      <a:srgbClr val="1E293B"/>
                    </a:solidFill>
                    <a:latin typeface="Calibri"/>
                  </a:rPr>
                  <a:t>, </a:t>
                </a:r>
                <a:r>
                  <a:rPr lang="vi-VN"/>
                  <a:t>\overrightarrow{ON}</a:t>
                </a:r>
                <a:r>
                  <a:rPr sz="2100">
                    <a:solidFill>
                      <a:srgbClr val="1E293B"/>
                    </a:solidFill>
                    <a:latin typeface="Calibri"/>
                  </a:rPr>
                  <a:t> = </a:t>
                </a:r>
                <a:r>
                  <a:rPr lang="vi-VN"/>
                  <a:t>-\frac{3}{2}\vec{i}</a:t>
                </a:r>
                <a:r>
                  <a:rPr sz="2100">
                    <a:solidFill>
                      <a:srgbClr val="1E293B"/>
                    </a:solidFill>
                    <a:latin typeface="Calibri"/>
                  </a:rPr>
                  <a:t>.</a:t>
                </a:r>
              </a:p>
            </p:txBody>
          </p:sp>
        </mc:Fallback>
      </mc:AlternateContent>
      <p:sp>
        <p:nvSpPr>
          <p:cNvPr id="10" name="s2_nen"/>
          <p:cNvSpPr/>
          <p:nvPr/>
        </p:nvSpPr>
        <p:spPr>
          <a:xfrm>
            <a:off x="548640" y="3918204"/>
            <a:ext cx="7863840" cy="186537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4780"/>
                <a:ext cx="7534656" cy="179222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Trục toạ độ</a:t>
                </a:r>
                <a:r>
                  <a:rPr sz="2100">
                    <a:solidFill>
                      <a:srgbClr val="1E293B"/>
                    </a:solidFill>
                    <a:latin typeface="Calibri"/>
                  </a:rPr>
                  <a:t> (còn gọi là </a:t>
                </a:r>
                <a:r>
                  <a:rPr sz="2100" b="1">
                    <a:solidFill>
                      <a:srgbClr val="1E293B"/>
                    </a:solidFill>
                    <a:latin typeface="Calibri"/>
                  </a:rPr>
                  <a:t>trục</a:t>
                </a:r>
                <a:r>
                  <a:rPr sz="2100">
                    <a:solidFill>
                      <a:srgbClr val="1E293B"/>
                    </a:solidFill>
                    <a:latin typeface="Calibri"/>
                  </a:rPr>
                  <a:t>, hay </a:t>
                </a:r>
                <a:r>
                  <a:rPr sz="2100" b="1">
                    <a:solidFill>
                      <a:srgbClr val="1E293B"/>
                    </a:solidFill>
                    <a:latin typeface="Calibri"/>
                  </a:rPr>
                  <a:t>trục số</a:t>
                </a:r>
                <a:r>
                  <a:rPr sz="2100">
                    <a:solidFill>
                      <a:srgbClr val="1E293B"/>
                    </a:solidFill>
                    <a:latin typeface="Calibri"/>
                  </a:rPr>
                  <a:t>) là một đường thẳng mà trên đó đã xác định một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một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có độ dài bằng 1.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gọi là </a:t>
                </a:r>
                <a:r>
                  <a:rPr sz="2100" b="1">
                    <a:solidFill>
                      <a:srgbClr val="1E293B"/>
                    </a:solidFill>
                    <a:latin typeface="Calibri"/>
                  </a:rPr>
                  <a:t>gốc toạ độ</a:t>
                </a:r>
                <a:r>
                  <a:rPr sz="2100">
                    <a:solidFill>
                      <a:srgbClr val="1E293B"/>
                    </a:solidFill>
                    <a:latin typeface="Calibri"/>
                  </a:rPr>
                  <a:t>,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gọi là </a:t>
                </a:r>
                <a:r>
                  <a:rPr sz="2100" b="1">
                    <a:solidFill>
                      <a:srgbClr val="1E293B"/>
                    </a:solidFill>
                    <a:latin typeface="Calibri"/>
                  </a:rPr>
                  <a:t>vectơ đơn vị</a:t>
                </a:r>
                <a:r>
                  <a:rPr sz="2100">
                    <a:solidFill>
                      <a:srgbClr val="1E293B"/>
                    </a:solidFill>
                    <a:latin typeface="Calibri"/>
                  </a:rPr>
                  <a:t> của trục.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trên trục biểu diễn số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oMath>
                </a14:m>
                <a:r>
                  <a:rPr sz="2100">
                    <a:solidFill>
                      <a:srgbClr val="1E293B"/>
                    </a:solidFill>
                    <a:latin typeface="Calibri"/>
                  </a:rPr>
                  <a:t> nếu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(H.4.32b).</a:t>
                </a:r>
              </a:p>
            </p:txBody>
          </p:sp>
        </mc:Choice>
        <mc:Fallback>
          <p:sp>
            <p:nvSpPr>
              <p:cNvPr id="11" name="TextBox 10"/>
              <p:cNvSpPr txBox="1"/>
              <p:nvPr/>
            </p:nvSpPr>
            <p:spPr>
              <a:xfrm>
                <a:off x="713232" y="3954780"/>
                <a:ext cx="7534656" cy="179222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Trục toạ độ</a:t>
                </a:r>
                <a:r>
                  <a:rPr sz="2100">
                    <a:solidFill>
                      <a:srgbClr val="1E293B"/>
                    </a:solidFill>
                    <a:latin typeface="Calibri"/>
                  </a:rPr>
                  <a:t> (còn gọi là </a:t>
                </a:r>
                <a:r>
                  <a:rPr sz="2100" b="1">
                    <a:solidFill>
                      <a:srgbClr val="1E293B"/>
                    </a:solidFill>
                    <a:latin typeface="Calibri"/>
                  </a:rPr>
                  <a:t>trục</a:t>
                </a:r>
                <a:r>
                  <a:rPr sz="2100">
                    <a:solidFill>
                      <a:srgbClr val="1E293B"/>
                    </a:solidFill>
                    <a:latin typeface="Calibri"/>
                  </a:rPr>
                  <a:t>, hay </a:t>
                </a:r>
                <a:r>
                  <a:rPr sz="2100" b="1">
                    <a:solidFill>
                      <a:srgbClr val="1E293B"/>
                    </a:solidFill>
                    <a:latin typeface="Calibri"/>
                  </a:rPr>
                  <a:t>trục số</a:t>
                </a:r>
                <a:r>
                  <a:rPr sz="2100">
                    <a:solidFill>
                      <a:srgbClr val="1E293B"/>
                    </a:solidFill>
                    <a:latin typeface="Calibri"/>
                  </a:rPr>
                  <a:t>) là một đường thẳng mà trên đó đã xác định một điểm </a:t>
                </a:r>
                <a:r>
                  <a:rPr lang="vi-VN"/>
                  <a:t>O</a:t>
                </a:r>
                <a:r>
                  <a:rPr sz="2100">
                    <a:solidFill>
                      <a:srgbClr val="1E293B"/>
                    </a:solidFill>
                    <a:latin typeface="Calibri"/>
                  </a:rPr>
                  <a:t> và một vectơ </a:t>
                </a:r>
                <a:r>
                  <a:rPr lang="vi-VN"/>
                  <a:t>\vec{i}</a:t>
                </a:r>
                <a:r>
                  <a:rPr sz="2100">
                    <a:solidFill>
                      <a:srgbClr val="1E293B"/>
                    </a:solidFill>
                    <a:latin typeface="Calibri"/>
                  </a:rPr>
                  <a:t> có độ dài bằng 1. Điểm </a:t>
                </a:r>
                <a:r>
                  <a:rPr lang="vi-VN"/>
                  <a:t>O</a:t>
                </a:r>
                <a:r>
                  <a:rPr sz="2100">
                    <a:solidFill>
                      <a:srgbClr val="1E293B"/>
                    </a:solidFill>
                    <a:latin typeface="Calibri"/>
                  </a:rPr>
                  <a:t> gọi là </a:t>
                </a:r>
                <a:r>
                  <a:rPr sz="2100" b="1">
                    <a:solidFill>
                      <a:srgbClr val="1E293B"/>
                    </a:solidFill>
                    <a:latin typeface="Calibri"/>
                  </a:rPr>
                  <a:t>gốc toạ độ</a:t>
                </a:r>
                <a:r>
                  <a:rPr sz="2100">
                    <a:solidFill>
                      <a:srgbClr val="1E293B"/>
                    </a:solidFill>
                    <a:latin typeface="Calibri"/>
                  </a:rPr>
                  <a:t>, vectơ </a:t>
                </a:r>
                <a:r>
                  <a:rPr lang="vi-VN"/>
                  <a:t>\vec{i}</a:t>
                </a:r>
                <a:r>
                  <a:rPr sz="2100">
                    <a:solidFill>
                      <a:srgbClr val="1E293B"/>
                    </a:solidFill>
                    <a:latin typeface="Calibri"/>
                  </a:rPr>
                  <a:t> gọi là </a:t>
                </a:r>
                <a:r>
                  <a:rPr sz="2100" b="1">
                    <a:solidFill>
                      <a:srgbClr val="1E293B"/>
                    </a:solidFill>
                    <a:latin typeface="Calibri"/>
                  </a:rPr>
                  <a:t>vectơ đơn vị</a:t>
                </a:r>
                <a:r>
                  <a:rPr sz="2100">
                    <a:solidFill>
                      <a:srgbClr val="1E293B"/>
                    </a:solidFill>
                    <a:latin typeface="Calibri"/>
                  </a:rPr>
                  <a:t> của trục. Điểm </a:t>
                </a:r>
                <a:r>
                  <a:rPr lang="vi-VN"/>
                  <a:t>M</a:t>
                </a:r>
                <a:r>
                  <a:rPr sz="2100">
                    <a:solidFill>
                      <a:srgbClr val="1E293B"/>
                    </a:solidFill>
                    <a:latin typeface="Calibri"/>
                  </a:rPr>
                  <a:t> trên trục biểu diễn số </a:t>
                </a:r>
                <a:r>
                  <a:rPr lang="vi-VN"/>
                  <a:t>x_0</a:t>
                </a:r>
                <a:r>
                  <a:rPr sz="2100">
                    <a:solidFill>
                      <a:srgbClr val="1E293B"/>
                    </a:solidFill>
                    <a:latin typeface="Calibri"/>
                  </a:rPr>
                  <a:t> nếu </a:t>
                </a:r>
                <a:r>
                  <a:rPr lang="vi-VN"/>
                  <a:t>\overrightarrow{OM}</a:t>
                </a:r>
                <a:r>
                  <a:rPr sz="2100">
                    <a:solidFill>
                      <a:srgbClr val="1E293B"/>
                    </a:solidFill>
                    <a:latin typeface="Calibri"/>
                  </a:rPr>
                  <a:t> = </a:t>
                </a:r>
                <a:r>
                  <a:rPr lang="vi-VN"/>
                  <a:t>x_0\vec{i}</a:t>
                </a:r>
                <a:r>
                  <a:rPr sz="2100">
                    <a:solidFill>
                      <a:srgbClr val="1E293B"/>
                    </a:solidFill>
                    <a:latin typeface="Calibri"/>
                  </a:rPr>
                  <a:t> (H.4.32b).</a:t>
                </a:r>
              </a:p>
            </p:txBody>
          </p:sp>
        </mc:Fallback>
      </mc:AlternateContent>
      <p:pic>
        <p:nvPicPr>
          <p:cNvPr id="12" name="Picture 11" descr="h432.png"/>
          <p:cNvPicPr>
            <a:picLocks noChangeAspect="1"/>
          </p:cNvPicPr>
          <p:nvPr/>
        </p:nvPicPr>
        <p:blipFill>
          <a:blip r:embed="rId3"/>
          <a:stretch>
            <a:fillRect/>
          </a:stretch>
        </p:blipFill>
        <p:spPr>
          <a:xfrm>
            <a:off x="8618919" y="1463040"/>
            <a:ext cx="3061842" cy="2194560"/>
          </a:xfrm>
          <a:prstGeom prst="rect">
            <a:avLst/>
          </a:prstGeom>
        </p:spPr>
      </p:pic>
      <p:sp>
        <p:nvSpPr>
          <p:cNvPr id="13" name="TextBox 12"/>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HỆ TRỤC TOẠ ĐỘ OXY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Trong Hình 4.33: a) Hãy biểu thị mỗi vectơ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b) Hãy biểu thị vectơ </a:t>
                </a:r>
                <a14:m>
                  <m:oMath xmlns:m="http://schemas.openxmlformats.org/officeDocument/2006/math">
                    <m:acc>
                      <m:accPr>
                        <m:chr m:val="⃗"/>
                      </m:accPr>
                      <m:e>
                        <m:r>
                          <a:rPr lang="vi-VN" sz="2100" b="0">
                            <a:solidFill>
                              <a:srgbClr val="1E293B"/>
                            </a:solidFill>
                            <a:latin typeface="Cambria Math" panose="02040503050406030204" pitchFamily="18" charset="0"/>
                          </a:rPr>
                          <m:t>MN</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từ đó biểu thị vectơ </a:t>
                </a:r>
                <a14:m>
                  <m:oMath xmlns:m="http://schemas.openxmlformats.org/officeDocument/2006/math">
                    <m:acc>
                      <m:accPr>
                        <m:chr m:val="⃗"/>
                      </m:accPr>
                      <m:e>
                        <m:r>
                          <a:rPr lang="vi-VN" sz="2100" b="0">
                            <a:solidFill>
                              <a:srgbClr val="1E293B"/>
                            </a:solidFill>
                            <a:latin typeface="Cambria Math" panose="02040503050406030204" pitchFamily="18" charset="0"/>
                          </a:rPr>
                          <m:t>MN</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Trong Hình 4.33: a) Hãy biểu thị mỗi vectơ </a:t>
                </a:r>
                <a:r>
                  <a:rPr lang="vi-VN"/>
                  <a:t>\overrightarrow{OM}</a:t>
                </a:r>
                <a:r>
                  <a:rPr sz="2100">
                    <a:solidFill>
                      <a:srgbClr val="1E293B"/>
                    </a:solidFill>
                    <a:latin typeface="Calibri"/>
                  </a:rPr>
                  <a:t>, </a:t>
                </a:r>
                <a:r>
                  <a:rPr lang="vi-VN"/>
                  <a:t>\overrightarrow{ON}</a:t>
                </a:r>
                <a:r>
                  <a:rPr sz="2100">
                    <a:solidFill>
                      <a:srgbClr val="1E293B"/>
                    </a:solidFill>
                    <a:latin typeface="Calibri"/>
                  </a:rPr>
                  <a:t> theo các vectơ </a:t>
                </a:r>
                <a:r>
                  <a:rPr lang="vi-VN"/>
                  <a:t>\vec{i},\ \vec{j}</a:t>
                </a:r>
                <a:r>
                  <a:rPr sz="2100">
                    <a:solidFill>
                      <a:srgbClr val="1E293B"/>
                    </a:solidFill>
                    <a:latin typeface="Calibri"/>
                  </a:rPr>
                  <a:t>. b) Hãy biểu thị vectơ </a:t>
                </a:r>
                <a:r>
                  <a:rPr lang="vi-VN"/>
                  <a:t>\overrightarrow{MN}</a:t>
                </a:r>
                <a:r>
                  <a:rPr sz="2100">
                    <a:solidFill>
                      <a:srgbClr val="1E293B"/>
                    </a:solidFill>
                    <a:latin typeface="Calibri"/>
                  </a:rPr>
                  <a:t> theo các vectơ </a:t>
                </a:r>
                <a:r>
                  <a:rPr lang="vi-VN"/>
                  <a:t>\overrightarrow{OM}</a:t>
                </a:r>
                <a:r>
                  <a:rPr sz="2100">
                    <a:solidFill>
                      <a:srgbClr val="1E293B"/>
                    </a:solidFill>
                    <a:latin typeface="Calibri"/>
                  </a:rPr>
                  <a:t>, </a:t>
                </a:r>
                <a:r>
                  <a:rPr lang="vi-VN"/>
                  <a:t>\overrightarrow{ON}</a:t>
                </a:r>
                <a:r>
                  <a:rPr sz="2100">
                    <a:solidFill>
                      <a:srgbClr val="1E293B"/>
                    </a:solidFill>
                    <a:latin typeface="Calibri"/>
                  </a:rPr>
                  <a:t>, từ đó biểu thị vectơ </a:t>
                </a:r>
                <a:r>
                  <a:rPr lang="vi-VN"/>
                  <a:t>\overrightarrow{MN}</a:t>
                </a:r>
                <a:r>
                  <a:rPr sz="2100">
                    <a:solidFill>
                      <a:srgbClr val="1E293B"/>
                    </a:solidFill>
                    <a:latin typeface="Calibri"/>
                  </a:rPr>
                  <a:t> theo các vectơ </a:t>
                </a:r>
                <a:r>
                  <a:rPr lang="vi-VN"/>
                  <a:t>\vec{i},\ \vec{j}</a:t>
                </a:r>
                <a:r>
                  <a:rPr sz="2100">
                    <a:solidFill>
                      <a:srgbClr val="1E293B"/>
                    </a:solidFill>
                    <a:latin typeface="Calibri"/>
                  </a:rPr>
                  <a:t>.</a:t>
                </a:r>
              </a:p>
            </p:txBody>
          </p:sp>
        </mc:Fallback>
      </mc:AlternateContent>
      <p:sp>
        <p:nvSpPr>
          <p:cNvPr id="8" name="s1_nen"/>
          <p:cNvSpPr/>
          <p:nvPr/>
        </p:nvSpPr>
        <p:spPr>
          <a:xfrm>
            <a:off x="548640" y="2916936"/>
            <a:ext cx="78638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+5</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m:t>
                        </m:r>
                      </m:num>
                      <m:den>
                        <m:r>
                          <a:rPr lang="vi-VN" sz="2100" b="0">
                            <a:solidFill>
                              <a:srgbClr val="1E293B"/>
                            </a:solidFill>
                            <a:latin typeface="Cambria Math" panose="02040503050406030204" pitchFamily="18" charset="0"/>
                          </a:rPr>
                          <m:t>2</m:t>
                        </m:r>
                      </m:den>
                    </m:f>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9" name="TextBox 8"/>
              <p:cNvSpPr txBox="1"/>
              <p:nvPr/>
            </p:nvSpPr>
            <p:spPr>
              <a:xfrm>
                <a:off x="713232" y="2953512"/>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\overrightarrow{OM}</a:t>
                </a:r>
                <a:r>
                  <a:rPr sz="2100">
                    <a:solidFill>
                      <a:srgbClr val="1E293B"/>
                    </a:solidFill>
                    <a:latin typeface="Calibri"/>
                  </a:rPr>
                  <a:t> = </a:t>
                </a:r>
                <a:r>
                  <a:rPr lang="vi-VN"/>
                  <a:t>3\vec{i}+5\vec{j}</a:t>
                </a:r>
                <a:r>
                  <a:rPr sz="2100">
                    <a:solidFill>
                      <a:srgbClr val="1E293B"/>
                    </a:solidFill>
                    <a:latin typeface="Calibri"/>
                  </a:rPr>
                  <a:t>, </a:t>
                </a:r>
                <a:r>
                  <a:rPr lang="vi-VN"/>
                  <a:t>\overrightarrow{ON}</a:t>
                </a:r>
                <a:r>
                  <a:rPr sz="2100">
                    <a:solidFill>
                      <a:srgbClr val="1E293B"/>
                    </a:solidFill>
                    <a:latin typeface="Calibri"/>
                  </a:rPr>
                  <a:t> = </a:t>
                </a:r>
                <a:r>
                  <a:rPr lang="vi-VN"/>
                  <a:t>-2\vec{i}+\frac{5}{2}\vec{j}</a:t>
                </a:r>
                <a:r>
                  <a:rPr sz="2100">
                    <a:solidFill>
                      <a:srgbClr val="1E293B"/>
                    </a:solidFill>
                    <a:latin typeface="Calibri"/>
                  </a:rPr>
                  <a:t>.</a:t>
                </a:r>
              </a:p>
            </p:txBody>
          </p:sp>
        </mc:Fallback>
      </mc:AlternateContent>
      <p:sp>
        <p:nvSpPr>
          <p:cNvPr id="10" name="s2_nen"/>
          <p:cNvSpPr/>
          <p:nvPr/>
        </p:nvSpPr>
        <p:spPr>
          <a:xfrm>
            <a:off x="548640" y="3737610"/>
            <a:ext cx="78638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74186"/>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MN</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−5</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m:t>
                        </m:r>
                      </m:num>
                      <m:den>
                        <m:r>
                          <a:rPr lang="vi-VN" sz="2100" b="0">
                            <a:solidFill>
                              <a:srgbClr val="1E293B"/>
                            </a:solidFill>
                            <a:latin typeface="Cambria Math" panose="02040503050406030204" pitchFamily="18" charset="0"/>
                          </a:rPr>
                          <m:t>2</m:t>
                        </m:r>
                      </m:den>
                    </m:f>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11" name="TextBox 10"/>
              <p:cNvSpPr txBox="1"/>
              <p:nvPr/>
            </p:nvSpPr>
            <p:spPr>
              <a:xfrm>
                <a:off x="713232" y="3774186"/>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\overrightarrow{MN}</a:t>
                </a:r>
                <a:r>
                  <a:rPr sz="2100">
                    <a:solidFill>
                      <a:srgbClr val="1E293B"/>
                    </a:solidFill>
                    <a:latin typeface="Calibri"/>
                  </a:rPr>
                  <a:t> = </a:t>
                </a:r>
                <a:r>
                  <a:rPr lang="vi-VN"/>
                  <a:t>\overrightarrow{ON}</a:t>
                </a:r>
                <a:r>
                  <a:rPr sz="2100">
                    <a:solidFill>
                      <a:srgbClr val="1E293B"/>
                    </a:solidFill>
                    <a:latin typeface="Calibri"/>
                  </a:rPr>
                  <a:t> − </a:t>
                </a:r>
                <a:r>
                  <a:rPr lang="vi-VN"/>
                  <a:t>\overrightarrow{OM}</a:t>
                </a:r>
                <a:r>
                  <a:rPr sz="2100">
                    <a:solidFill>
                      <a:srgbClr val="1E293B"/>
                    </a:solidFill>
                    <a:latin typeface="Calibri"/>
                  </a:rPr>
                  <a:t> = </a:t>
                </a:r>
                <a:r>
                  <a:rPr lang="vi-VN"/>
                  <a:t>-5\vec{i}-\frac{5}{2}\vec{j}</a:t>
                </a:r>
                <a:r>
                  <a:rPr sz="2100">
                    <a:solidFill>
                      <a:srgbClr val="1E293B"/>
                    </a:solidFill>
                    <a:latin typeface="Calibri"/>
                  </a:rPr>
                  <a:t>.</a:t>
                </a:r>
              </a:p>
            </p:txBody>
          </p:sp>
        </mc:Fallback>
      </mc:AlternateContent>
      <p:sp>
        <p:nvSpPr>
          <p:cNvPr id="12" name="s3_nen"/>
          <p:cNvSpPr/>
          <p:nvPr/>
        </p:nvSpPr>
        <p:spPr>
          <a:xfrm>
            <a:off x="548640" y="4558283"/>
            <a:ext cx="7863840" cy="154533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594859"/>
                <a:ext cx="7534656" cy="147218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trục </a:t>
                </a:r>
                <a14:m>
                  <m:oMath xmlns:m="http://schemas.openxmlformats.org/officeDocument/2006/math">
                    <m:r>
                      <a:rPr lang="vi-VN" sz="2100" b="0">
                        <a:solidFill>
                          <a:srgbClr val="1E293B"/>
                        </a:solidFill>
                        <a:latin typeface="Cambria Math" panose="02040503050406030204" pitchFamily="18" charset="0"/>
                      </a:rPr>
                      <m:t>Ox,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Oy</m:t>
                    </m:r>
                  </m:oMath>
                </a14:m>
                <a:r>
                  <a:rPr sz="2100">
                    <a:solidFill>
                      <a:srgbClr val="1E293B"/>
                    </a:solidFill>
                    <a:latin typeface="Calibri"/>
                  </a:rPr>
                  <a:t> có chung gốc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vuông góc với nhau, vectơ đơn vị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gọi là </a:t>
                </a:r>
                <a:r>
                  <a:rPr sz="2100" b="1">
                    <a:solidFill>
                      <a:srgbClr val="1E293B"/>
                    </a:solidFill>
                    <a:latin typeface="Calibri"/>
                  </a:rPr>
                  <a:t>hệ trục toạ độ</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Oxy</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trục hoành,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trục tung. Mặt phẳng chứa hệ trục gọi là </a:t>
                </a:r>
                <a:r>
                  <a:rPr sz="2100" b="1">
                    <a:solidFill>
                      <a:srgbClr val="1E293B"/>
                    </a:solidFill>
                    <a:latin typeface="Calibri"/>
                  </a:rPr>
                  <a:t>mặt phẳng toạ độ</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Oxy</m:t>
                    </m:r>
                  </m:oMath>
                </a14:m>
                <a:r>
                  <a:rPr sz="2100">
                    <a:solidFill>
                      <a:srgbClr val="1E293B"/>
                    </a:solidFill>
                    <a:latin typeface="Calibri"/>
                  </a:rPr>
                  <a:t> (H.4.34).</a:t>
                </a:r>
              </a:p>
            </p:txBody>
          </p:sp>
        </mc:Choice>
        <mc:Fallback>
          <p:sp>
            <p:nvSpPr>
              <p:cNvPr id="13" name="TextBox 12"/>
              <p:cNvSpPr txBox="1"/>
              <p:nvPr/>
            </p:nvSpPr>
            <p:spPr>
              <a:xfrm>
                <a:off x="713232" y="4594859"/>
                <a:ext cx="7534656" cy="147218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trục </a:t>
                </a:r>
                <a:r>
                  <a:rPr lang="vi-VN"/>
                  <a:t>Ox,\ Oy</a:t>
                </a:r>
                <a:r>
                  <a:rPr sz="2100">
                    <a:solidFill>
                      <a:srgbClr val="1E293B"/>
                    </a:solidFill>
                    <a:latin typeface="Calibri"/>
                  </a:rPr>
                  <a:t> có chung gốc </a:t>
                </a:r>
                <a:r>
                  <a:rPr lang="vi-VN"/>
                  <a:t>O</a:t>
                </a:r>
                <a:r>
                  <a:rPr sz="2100">
                    <a:solidFill>
                      <a:srgbClr val="1E293B"/>
                    </a:solidFill>
                    <a:latin typeface="Calibri"/>
                  </a:rPr>
                  <a:t> và vuông góc với nhau, vectơ đơn vị </a:t>
                </a:r>
                <a:r>
                  <a:rPr lang="vi-VN"/>
                  <a:t>\vec{i},\ \vec{j}</a:t>
                </a:r>
                <a:r>
                  <a:rPr sz="2100">
                    <a:solidFill>
                      <a:srgbClr val="1E293B"/>
                    </a:solidFill>
                    <a:latin typeface="Calibri"/>
                  </a:rPr>
                  <a:t>, gọi là </a:t>
                </a:r>
                <a:r>
                  <a:rPr sz="2100" b="1">
                    <a:solidFill>
                      <a:srgbClr val="1E293B"/>
                    </a:solidFill>
                    <a:latin typeface="Calibri"/>
                  </a:rPr>
                  <a:t>hệ trục toạ độ</a:t>
                </a:r>
                <a:r>
                  <a:rPr sz="2100">
                    <a:solidFill>
                      <a:srgbClr val="1E293B"/>
                    </a:solidFill>
                    <a:latin typeface="Calibri"/>
                  </a:rPr>
                  <a:t> </a:t>
                </a:r>
                <a:r>
                  <a:rPr lang="vi-VN"/>
                  <a:t>Oxy</a:t>
                </a:r>
                <a:r>
                  <a:rPr sz="2100">
                    <a:solidFill>
                      <a:srgbClr val="1E293B"/>
                    </a:solidFill>
                    <a:latin typeface="Calibri"/>
                  </a:rPr>
                  <a:t>; </a:t>
                </a:r>
                <a:r>
                  <a:rPr lang="vi-VN"/>
                  <a:t>Ox</a:t>
                </a:r>
                <a:r>
                  <a:rPr sz="2100">
                    <a:solidFill>
                      <a:srgbClr val="1E293B"/>
                    </a:solidFill>
                    <a:latin typeface="Calibri"/>
                  </a:rPr>
                  <a:t>: trục hoành, </a:t>
                </a:r>
                <a:r>
                  <a:rPr lang="vi-VN"/>
                  <a:t>Oy</a:t>
                </a:r>
                <a:r>
                  <a:rPr sz="2100">
                    <a:solidFill>
                      <a:srgbClr val="1E293B"/>
                    </a:solidFill>
                    <a:latin typeface="Calibri"/>
                  </a:rPr>
                  <a:t>: trục tung. Mặt phẳng chứa hệ trục gọi là </a:t>
                </a:r>
                <a:r>
                  <a:rPr sz="2100" b="1">
                    <a:solidFill>
                      <a:srgbClr val="1E293B"/>
                    </a:solidFill>
                    <a:latin typeface="Calibri"/>
                  </a:rPr>
                  <a:t>mặt phẳng toạ độ</a:t>
                </a:r>
                <a:r>
                  <a:rPr sz="2100">
                    <a:solidFill>
                      <a:srgbClr val="1E293B"/>
                    </a:solidFill>
                    <a:latin typeface="Calibri"/>
                  </a:rPr>
                  <a:t> </a:t>
                </a:r>
                <a:r>
                  <a:rPr lang="vi-VN"/>
                  <a:t>Oxy</a:t>
                </a:r>
                <a:r>
                  <a:rPr sz="2100">
                    <a:solidFill>
                      <a:srgbClr val="1E293B"/>
                    </a:solidFill>
                    <a:latin typeface="Calibri"/>
                  </a:rPr>
                  <a:t> (H.4.34).</a:t>
                </a:r>
              </a:p>
            </p:txBody>
          </p:sp>
        </mc:Fallback>
      </mc:AlternateContent>
      <p:pic>
        <p:nvPicPr>
          <p:cNvPr id="14" name="Picture 13" descr="h433.png"/>
          <p:cNvPicPr>
            <a:picLocks noChangeAspect="1"/>
          </p:cNvPicPr>
          <p:nvPr/>
        </p:nvPicPr>
        <p:blipFill>
          <a:blip r:embed="rId3"/>
          <a:stretch>
            <a:fillRect/>
          </a:stretch>
        </p:blipFill>
        <p:spPr>
          <a:xfrm>
            <a:off x="8595360" y="1572657"/>
            <a:ext cx="3108960" cy="2523966"/>
          </a:xfrm>
          <a:prstGeom prst="rect">
            <a:avLst/>
          </a:prstGeom>
        </p:spPr>
      </p:pic>
      <p:sp>
        <p:nvSpPr>
          <p:cNvPr id="15" name="TextBox 14"/>
          <p:cNvSpPr txBox="1"/>
          <p:nvPr/>
        </p:nvSpPr>
        <p:spPr>
          <a:xfrm>
            <a:off x="8595360" y="422452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8</a:t>
            </a:r>
          </a:p>
        </p:txBody>
      </p:sp>
      <p:sp>
        <p:nvSpPr>
          <p:cNvPr id="7" name="Rounded Rectangle 6"/>
          <p:cNvSpPr/>
          <p:nvPr/>
        </p:nvSpPr>
        <p:spPr>
          <a:xfrm>
            <a:off x="548640" y="1371600"/>
            <a:ext cx="8229600" cy="14843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90041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Với mỗi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trên mặt phẳng </a:t>
                </a:r>
                <a14:m>
                  <m:oMath xmlns:m="http://schemas.openxmlformats.org/officeDocument/2006/math">
                    <m:r>
                      <a:rPr lang="vi-VN" sz="2000" b="0">
                        <a:solidFill>
                          <a:srgbClr val="1E293B"/>
                        </a:solidFill>
                        <a:latin typeface="Cambria Math" panose="02040503050406030204" pitchFamily="18" charset="0"/>
                      </a:rPr>
                      <m:t>Oxy</m:t>
                    </m:r>
                  </m:oMath>
                </a14:m>
                <a:r>
                  <a:rPr sz="2000">
                    <a:solidFill>
                      <a:srgbClr val="1E293B"/>
                    </a:solidFill>
                    <a:latin typeface="Calibri"/>
                  </a:rPr>
                  <a:t>, có duy nhất cặp số </a:t>
                </a:r>
                <a14:m>
                  <m:oMath xmlns:m="http://schemas.openxmlformats.org/officeDocument/2006/math">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Ta nói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có </a:t>
                </a:r>
                <a:r>
                  <a:rPr sz="2000" b="1">
                    <a:solidFill>
                      <a:srgbClr val="1E293B"/>
                    </a:solidFill>
                    <a:latin typeface="Calibri"/>
                  </a:rPr>
                  <a:t>toạ độ</a:t>
                </a:r>
                <a:r>
                  <a:rPr sz="2000">
                    <a:solidFill>
                      <a:srgbClr val="1E293B"/>
                    </a:solidFill>
                    <a:latin typeface="Calibri"/>
                  </a:rPr>
                  <a:t> </a:t>
                </a:r>
                <a14:m>
                  <m:oMath xmlns:m="http://schemas.openxmlformats.org/officeDocument/2006/math">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và viết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hay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Các số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tương ứng được gọi là </a:t>
                </a:r>
                <a:r>
                  <a:rPr sz="2000" b="1">
                    <a:solidFill>
                      <a:srgbClr val="1E293B"/>
                    </a:solidFill>
                    <a:latin typeface="Calibri"/>
                  </a:rPr>
                  <a:t>hoành độ, tung độ</a:t>
                </a:r>
                <a:r>
                  <a:rPr sz="2000">
                    <a:solidFill>
                      <a:srgbClr val="1E293B"/>
                    </a:solidFill>
                    <a:latin typeface="Calibri"/>
                  </a:rPr>
                  <a:t>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a:t>
                </a:r>
              </a:p>
            </p:txBody>
          </p:sp>
        </mc:Choice>
        <mc:Fallback>
          <p:sp>
            <p:nvSpPr>
              <p:cNvPr id="8" name="TextBox 7"/>
              <p:cNvSpPr txBox="1"/>
              <p:nvPr/>
            </p:nvSpPr>
            <p:spPr>
              <a:xfrm>
                <a:off x="713232" y="1408176"/>
                <a:ext cx="790041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Với mỗi vectơ </a:t>
                </a:r>
                <a:r>
                  <a:rPr lang="vi-VN"/>
                  <a:t>\vec{u}</a:t>
                </a:r>
                <a:r>
                  <a:rPr sz="2000">
                    <a:solidFill>
                      <a:srgbClr val="1E293B"/>
                    </a:solidFill>
                    <a:latin typeface="Calibri"/>
                  </a:rPr>
                  <a:t> trên mặt phẳng </a:t>
                </a:r>
                <a:r>
                  <a:rPr lang="vi-VN"/>
                  <a:t>Oxy</a:t>
                </a:r>
                <a:r>
                  <a:rPr sz="2000">
                    <a:solidFill>
                      <a:srgbClr val="1E293B"/>
                    </a:solidFill>
                    <a:latin typeface="Calibri"/>
                  </a:rPr>
                  <a:t>, có duy nhất cặp số </a:t>
                </a:r>
                <a:r>
                  <a:rPr lang="vi-VN"/>
                  <a:t>(x_0;\ y_0)</a:t>
                </a:r>
                <a:r>
                  <a:rPr sz="2000">
                    <a:solidFill>
                      <a:srgbClr val="1E293B"/>
                    </a:solidFill>
                    <a:latin typeface="Calibri"/>
                  </a:rPr>
                  <a:t> sao cho </a:t>
                </a:r>
                <a:r>
                  <a:rPr lang="vi-VN"/>
                  <a:t>\vec{u}=x_0\vec{i}+y_0\vec{j}</a:t>
                </a:r>
                <a:r>
                  <a:rPr sz="2000">
                    <a:solidFill>
                      <a:srgbClr val="1E293B"/>
                    </a:solidFill>
                    <a:latin typeface="Calibri"/>
                  </a:rPr>
                  <a:t>. Ta nói vectơ </a:t>
                </a:r>
                <a:r>
                  <a:rPr lang="vi-VN"/>
                  <a:t>\vec{u}</a:t>
                </a:r>
                <a:r>
                  <a:rPr sz="2000">
                    <a:solidFill>
                      <a:srgbClr val="1E293B"/>
                    </a:solidFill>
                    <a:latin typeface="Calibri"/>
                  </a:rPr>
                  <a:t> có </a:t>
                </a:r>
                <a:r>
                  <a:rPr sz="2000" b="1">
                    <a:solidFill>
                      <a:srgbClr val="1E293B"/>
                    </a:solidFill>
                    <a:latin typeface="Calibri"/>
                  </a:rPr>
                  <a:t>toạ độ</a:t>
                </a:r>
                <a:r>
                  <a:rPr sz="2000">
                    <a:solidFill>
                      <a:srgbClr val="1E293B"/>
                    </a:solidFill>
                    <a:latin typeface="Calibri"/>
                  </a:rPr>
                  <a:t> </a:t>
                </a:r>
                <a:r>
                  <a:rPr lang="vi-VN"/>
                  <a:t>(x_0;\ y_0)</a:t>
                </a:r>
                <a:r>
                  <a:rPr sz="2000">
                    <a:solidFill>
                      <a:srgbClr val="1E293B"/>
                    </a:solidFill>
                    <a:latin typeface="Calibri"/>
                  </a:rPr>
                  <a:t> và viết </a:t>
                </a:r>
                <a:r>
                  <a:rPr lang="vi-VN"/>
                  <a:t>\vec{u}=(x_0;\ y_0)</a:t>
                </a:r>
                <a:r>
                  <a:rPr sz="2000">
                    <a:solidFill>
                      <a:srgbClr val="1E293B"/>
                    </a:solidFill>
                    <a:latin typeface="Calibri"/>
                  </a:rPr>
                  <a:t> hay </a:t>
                </a:r>
                <a:r>
                  <a:rPr lang="vi-VN"/>
                  <a:t>\vec{u}(x_0;\ y_0)</a:t>
                </a:r>
                <a:r>
                  <a:rPr sz="2000">
                    <a:solidFill>
                      <a:srgbClr val="1E293B"/>
                    </a:solidFill>
                    <a:latin typeface="Calibri"/>
                  </a:rPr>
                  <a:t>. Các số </a:t>
                </a:r>
                <a:r>
                  <a:rPr lang="vi-VN"/>
                  <a:t>x_0,\ y_0</a:t>
                </a:r>
                <a:r>
                  <a:rPr sz="2000">
                    <a:solidFill>
                      <a:srgbClr val="1E293B"/>
                    </a:solidFill>
                    <a:latin typeface="Calibri"/>
                  </a:rPr>
                  <a:t> tương ứng được gọi là </a:t>
                </a:r>
                <a:r>
                  <a:rPr sz="2000" b="1">
                    <a:solidFill>
                      <a:srgbClr val="1E293B"/>
                    </a:solidFill>
                    <a:latin typeface="Calibri"/>
                  </a:rPr>
                  <a:t>hoành độ, tung độ</a:t>
                </a:r>
                <a:r>
                  <a:rPr sz="2000">
                    <a:solidFill>
                      <a:srgbClr val="1E293B"/>
                    </a:solidFill>
                    <a:latin typeface="Calibri"/>
                  </a:rPr>
                  <a:t> của </a:t>
                </a:r>
                <a:r>
                  <a:rPr lang="vi-VN"/>
                  <a:t>\vec{u}</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s1_chu"/>
              <p:cNvSpPr txBox="1"/>
              <p:nvPr/>
            </p:nvSpPr>
            <p:spPr>
              <a:xfrm>
                <a:off x="548640" y="2929128"/>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Hai vectơ bằng nhau khi và chỉ khi chúng có cùng toạ độ: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548640" y="2929128"/>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Hai vectơ bằng nhau khi và chỉ khi chúng có cùng toạ độ: </a:t>
                </a:r>
                <a:r>
                  <a:rPr lang="vi-VN"/>
                  <a:t>\vec{u}(x;\ y)=\vec{v}(x';\ y')\Leftrightarrow x=x'</a:t>
                </a:r>
                <a:r>
                  <a:rPr sz="2000">
                    <a:solidFill>
                      <a:srgbClr val="1E293B"/>
                    </a:solidFill>
                    <a:latin typeface="Calibri"/>
                  </a:rPr>
                  <a:t> và </a:t>
                </a:r>
                <a:r>
                  <a:rPr lang="vi-VN"/>
                  <a:t>y=y'</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785616"/>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Tìm toạ độ của các vectơ đơn vị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tương ứng của các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oMath>
                </a14:m>
                <a:r>
                  <a:rPr sz="2000">
                    <a:solidFill>
                      <a:srgbClr val="1E293B"/>
                    </a:solidFill>
                    <a:latin typeface="Calibri"/>
                  </a:rPr>
                  <a:t>.</a:t>
                </a:r>
              </a:p>
            </p:txBody>
          </p:sp>
        </mc:Choice>
        <mc:Fallback>
          <p:sp>
            <p:nvSpPr>
              <p:cNvPr id="10" name="TextBox 9"/>
              <p:cNvSpPr txBox="1"/>
              <p:nvPr/>
            </p:nvSpPr>
            <p:spPr>
              <a:xfrm>
                <a:off x="548640" y="3785616"/>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Tìm toạ độ của các vectơ đơn vị </a:t>
                </a:r>
                <a:r>
                  <a:rPr lang="vi-VN"/>
                  <a:t>\vec{i},\ \vec{j}</a:t>
                </a:r>
                <a:r>
                  <a:rPr sz="2000">
                    <a:solidFill>
                      <a:srgbClr val="1E293B"/>
                    </a:solidFill>
                    <a:latin typeface="Calibri"/>
                  </a:rPr>
                  <a:t> tương ứng của các trục </a:t>
                </a:r>
                <a:r>
                  <a:rPr lang="vi-VN"/>
                  <a:t>Ox,\ Oy</a:t>
                </a:r>
                <a:r>
                  <a:rPr sz="2000">
                    <a:solidFill>
                      <a:srgbClr val="1E293B"/>
                    </a:solidFill>
                    <a:latin typeface="Calibri"/>
                  </a:rPr>
                  <a:t>.</a:t>
                </a:r>
              </a:p>
            </p:txBody>
          </p:sp>
        </mc:Fallback>
      </mc:AlternateContent>
      <p:sp>
        <p:nvSpPr>
          <p:cNvPr id="11" name="s3_nen"/>
          <p:cNvSpPr/>
          <p:nvPr/>
        </p:nvSpPr>
        <p:spPr>
          <a:xfrm>
            <a:off x="548640" y="4642104"/>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678680"/>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a:t>
                </a:r>
              </a:p>
            </p:txBody>
          </p:sp>
        </mc:Choice>
        <mc:Fallback>
          <p:sp>
            <p:nvSpPr>
              <p:cNvPr id="12" name="TextBox 11"/>
              <p:cNvSpPr txBox="1"/>
              <p:nvPr/>
            </p:nvSpPr>
            <p:spPr>
              <a:xfrm>
                <a:off x="713232" y="4678680"/>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\vec{i}=1\vec{i}+0\vec{j}</a:t>
                </a:r>
                <a:r>
                  <a:rPr sz="2000">
                    <a:solidFill>
                      <a:srgbClr val="1E293B"/>
                    </a:solidFill>
                    <a:latin typeface="Calibri"/>
                  </a:rPr>
                  <a:t> nên </a:t>
                </a:r>
                <a:r>
                  <a:rPr lang="vi-VN"/>
                  <a:t>\vec{i}=(1;\ 0)</a:t>
                </a:r>
                <a:r>
                  <a:rPr sz="2000">
                    <a:solidFill>
                      <a:srgbClr val="1E293B"/>
                    </a:solidFill>
                    <a:latin typeface="Calibri"/>
                  </a:rPr>
                  <a:t>; </a:t>
                </a:r>
                <a:r>
                  <a:rPr lang="vi-VN"/>
                  <a:t>\vec{j}=0\vec{i}+1\vec{j}</a:t>
                </a:r>
                <a:r>
                  <a:rPr sz="2000">
                    <a:solidFill>
                      <a:srgbClr val="1E293B"/>
                    </a:solidFill>
                    <a:latin typeface="Calibri"/>
                  </a:rPr>
                  <a:t> nên </a:t>
                </a:r>
                <a:r>
                  <a:rPr lang="vi-VN"/>
                  <a:t>\vec{j}=(0;\ 1)</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5285232"/>
                <a:ext cx="822960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Tìm toạ độ của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p:txBody>
          </p:sp>
        </mc:Choice>
        <mc:Fallback>
          <p:sp>
            <p:nvSpPr>
              <p:cNvPr id="13" name="TextBox 12"/>
              <p:cNvSpPr txBox="1"/>
              <p:nvPr/>
            </p:nvSpPr>
            <p:spPr>
              <a:xfrm>
                <a:off x="548640" y="5285232"/>
                <a:ext cx="822960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Tìm toạ độ của </a:t>
                </a:r>
                <a:r>
                  <a:rPr lang="vi-VN"/>
                  <a:t>\vec{0}</a:t>
                </a:r>
                <a:r>
                  <a:rPr sz="2000">
                    <a:solidFill>
                      <a:srgbClr val="1E293B"/>
                    </a:solidFill>
                    <a:latin typeface="Calibri"/>
                  </a:rPr>
                  <a:t>.</a:t>
                </a:r>
              </a:p>
            </p:txBody>
          </p:sp>
        </mc:Fallback>
      </mc:AlternateContent>
      <p:sp>
        <p:nvSpPr>
          <p:cNvPr id="14" name="s5_nen"/>
          <p:cNvSpPr/>
          <p:nvPr/>
        </p:nvSpPr>
        <p:spPr>
          <a:xfrm>
            <a:off x="548640" y="5836920"/>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873496"/>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5" name="TextBox 14"/>
              <p:cNvSpPr txBox="1"/>
              <p:nvPr/>
            </p:nvSpPr>
            <p:spPr>
              <a:xfrm>
                <a:off x="713232" y="5873496"/>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\vec{0}=0\vec{i}+0\vec{j}</a:t>
                </a:r>
                <a:r>
                  <a:rPr sz="2000">
                    <a:solidFill>
                      <a:srgbClr val="1E293B"/>
                    </a:solidFill>
                    <a:latin typeface="Calibri"/>
                  </a:rPr>
                  <a:t> nên </a:t>
                </a:r>
                <a:r>
                  <a:rPr lang="vi-VN"/>
                  <a:t>\vec{0}=(0;\ 0)</a:t>
                </a:r>
                <a:r>
                  <a:rPr sz="2000">
                    <a:solidFill>
                      <a:srgbClr val="1E293B"/>
                    </a:solidFill>
                    <a:latin typeface="Calibri"/>
                  </a:rPr>
                  <a:t>.</a:t>
                </a:r>
              </a:p>
            </p:txBody>
          </p:sp>
        </mc:Fallback>
      </mc:AlternateContent>
      <p:pic>
        <p:nvPicPr>
          <p:cNvPr id="16" name="Picture 15" descr="h434.png"/>
          <p:cNvPicPr>
            <a:picLocks noChangeAspect="1"/>
          </p:cNvPicPr>
          <p:nvPr/>
        </p:nvPicPr>
        <p:blipFill>
          <a:blip r:embed="rId3"/>
          <a:stretch>
            <a:fillRect/>
          </a:stretch>
        </p:blipFill>
        <p:spPr>
          <a:xfrm>
            <a:off x="9273364" y="1463040"/>
            <a:ext cx="2210151" cy="2560320"/>
          </a:xfrm>
          <a:prstGeom prst="rect">
            <a:avLst/>
          </a:prstGeom>
        </p:spPr>
      </p:pic>
      <p:sp>
        <p:nvSpPr>
          <p:cNvPr id="17" name="TextBox 16"/>
          <p:cNvSpPr txBox="1"/>
          <p:nvPr/>
        </p:nvSpPr>
        <p:spPr>
          <a:xfrm>
            <a:off x="9052560" y="404164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BIỂU THỨC TOẠ ĐỘ CÁC PHÉP TOÁN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mặt phẳng toạ độ </a:t>
                </a:r>
                <a14:m>
                  <m:oMath xmlns:m="http://schemas.openxmlformats.org/officeDocument/2006/math">
                    <m:r>
                      <a:rPr lang="vi-VN" sz="2100" b="0">
                        <a:solidFill>
                          <a:srgbClr val="1E293B"/>
                        </a:solidFill>
                        <a:latin typeface="Cambria Math" panose="02040503050406030204" pitchFamily="18" charset="0"/>
                      </a:rPr>
                      <m:t>Oxy</m:t>
                    </m:r>
                  </m:oMath>
                </a14:m>
                <a:r>
                  <a:rPr sz="2100">
                    <a:solidFill>
                      <a:srgbClr val="1E293B"/>
                    </a:solidFill>
                    <a:latin typeface="Calibri"/>
                  </a:rPr>
                  <a:t>, cho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−12)</m:t>
                    </m:r>
                  </m:oMath>
                </a14:m>
                <a:r>
                  <a:rPr sz="2100">
                    <a:solidFill>
                      <a:srgbClr val="1E293B"/>
                    </a:solidFill>
                    <a:latin typeface="Calibri"/>
                  </a:rPr>
                  <a:t>. a) Hãy biểu thị mỗi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b) Tìm toạ độ của các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u</m:t>
                        </m:r>
                      </m:e>
                    </m:acc>
                  </m:oMath>
                </a14:m>
                <a:r>
                  <a:rPr sz="2100">
                    <a:solidFill>
                      <a:srgbClr val="1E293B"/>
                    </a:solidFill>
                    <a:latin typeface="Calibri"/>
                  </a:rPr>
                  <a:t>. c) Tìm mối liên hệ giữa hai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a:t>
                </a:r>
              </a:p>
            </p:txBody>
          </p:sp>
        </mc:Choice>
        <mc:Fallback>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mặt phẳng toạ độ </a:t>
                </a:r>
                <a:r>
                  <a:rPr lang="vi-VN"/>
                  <a:t>Oxy</a:t>
                </a:r>
                <a:r>
                  <a:rPr sz="2100">
                    <a:solidFill>
                      <a:srgbClr val="1E293B"/>
                    </a:solidFill>
                    <a:latin typeface="Calibri"/>
                  </a:rPr>
                  <a:t>, cho </a:t>
                </a:r>
                <a:r>
                  <a:rPr lang="vi-VN"/>
                  <a:t>\vec{u}=(2;\ -3)</a:t>
                </a:r>
                <a:r>
                  <a:rPr sz="2100">
                    <a:solidFill>
                      <a:srgbClr val="1E293B"/>
                    </a:solidFill>
                    <a:latin typeface="Calibri"/>
                  </a:rPr>
                  <a:t>, </a:t>
                </a:r>
                <a:r>
                  <a:rPr lang="vi-VN"/>
                  <a:t>\vec{v}=(4;\ 1)</a:t>
                </a:r>
                <a:r>
                  <a:rPr sz="2100">
                    <a:solidFill>
                      <a:srgbClr val="1E293B"/>
                    </a:solidFill>
                    <a:latin typeface="Calibri"/>
                  </a:rPr>
                  <a:t>, </a:t>
                </a:r>
                <a:r>
                  <a:rPr lang="vi-VN"/>
                  <a:t>\vec{a}=(8;\ -12)</a:t>
                </a:r>
                <a:r>
                  <a:rPr sz="2100">
                    <a:solidFill>
                      <a:srgbClr val="1E293B"/>
                    </a:solidFill>
                    <a:latin typeface="Calibri"/>
                  </a:rPr>
                  <a:t>. a) Hãy biểu thị mỗi vectơ </a:t>
                </a:r>
                <a:r>
                  <a:rPr lang="vi-VN"/>
                  <a:t>\vec{u},\ \vec{v},\ \vec{a}</a:t>
                </a:r>
                <a:r>
                  <a:rPr sz="2100">
                    <a:solidFill>
                      <a:srgbClr val="1E293B"/>
                    </a:solidFill>
                    <a:latin typeface="Calibri"/>
                  </a:rPr>
                  <a:t> theo các vectơ </a:t>
                </a:r>
                <a:r>
                  <a:rPr lang="vi-VN"/>
                  <a:t>\vec{i},\ \vec{j}</a:t>
                </a:r>
                <a:r>
                  <a:rPr sz="2100">
                    <a:solidFill>
                      <a:srgbClr val="1E293B"/>
                    </a:solidFill>
                    <a:latin typeface="Calibri"/>
                  </a:rPr>
                  <a:t>. b) Tìm toạ độ của các vectơ </a:t>
                </a:r>
                <a:r>
                  <a:rPr lang="vi-VN"/>
                  <a:t>\vec{u}+\vec{v}</a:t>
                </a:r>
                <a:r>
                  <a:rPr sz="2100">
                    <a:solidFill>
                      <a:srgbClr val="1E293B"/>
                    </a:solidFill>
                    <a:latin typeface="Calibri"/>
                  </a:rPr>
                  <a:t>, </a:t>
                </a:r>
                <a:r>
                  <a:rPr lang="vi-VN"/>
                  <a:t>4\vec{u}</a:t>
                </a:r>
                <a:r>
                  <a:rPr sz="2100">
                    <a:solidFill>
                      <a:srgbClr val="1E293B"/>
                    </a:solidFill>
                    <a:latin typeface="Calibri"/>
                  </a:rPr>
                  <a:t>. c) Tìm mối liên hệ giữa hai vectơ </a:t>
                </a:r>
                <a:r>
                  <a:rPr lang="vi-VN"/>
                  <a:t>\vec{u},\ \vec{a}</a:t>
                </a:r>
                <a:r>
                  <a:rPr sz="2100">
                    <a:solidFill>
                      <a:srgbClr val="1E293B"/>
                    </a:solidFill>
                    <a:latin typeface="Calibri"/>
                  </a:rPr>
                  <a:t>.</a:t>
                </a:r>
              </a:p>
            </p:txBody>
          </p:sp>
        </mc:Fallback>
      </mc:AlternateContent>
      <p:sp>
        <p:nvSpPr>
          <p:cNvPr id="8" name="s1_nen"/>
          <p:cNvSpPr/>
          <p:nvPr/>
        </p:nvSpPr>
        <p:spPr>
          <a:xfrm>
            <a:off x="548640" y="2578608"/>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15184"/>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=8</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−12</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9" name="TextBox 8"/>
              <p:cNvSpPr txBox="1"/>
              <p:nvPr/>
            </p:nvSpPr>
            <p:spPr>
              <a:xfrm>
                <a:off x="713232" y="2615184"/>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\vec{u}=2\vec{i}-3\vec{j}</a:t>
                </a:r>
                <a:r>
                  <a:rPr sz="2100">
                    <a:solidFill>
                      <a:srgbClr val="1E293B"/>
                    </a:solidFill>
                    <a:latin typeface="Calibri"/>
                  </a:rPr>
                  <a:t>, </a:t>
                </a:r>
                <a:r>
                  <a:rPr lang="vi-VN"/>
                  <a:t>\vec{v}=4\vec{i}+\vec{j}</a:t>
                </a:r>
                <a:r>
                  <a:rPr sz="2100">
                    <a:solidFill>
                      <a:srgbClr val="1E293B"/>
                    </a:solidFill>
                    <a:latin typeface="Calibri"/>
                  </a:rPr>
                  <a:t>, </a:t>
                </a:r>
                <a:r>
                  <a:rPr lang="vi-VN"/>
                  <a:t>\vec{a}=8\vec{i}-12\vec{j}</a:t>
                </a:r>
                <a:r>
                  <a:rPr sz="2100">
                    <a:solidFill>
                      <a:srgbClr val="1E293B"/>
                    </a:solidFill>
                    <a:latin typeface="Calibri"/>
                  </a:rPr>
                  <a:t>.</a:t>
                </a:r>
              </a:p>
            </p:txBody>
          </p:sp>
        </mc:Fallback>
      </mc:AlternateContent>
      <p:sp>
        <p:nvSpPr>
          <p:cNvPr id="10" name="s2_nen"/>
          <p:cNvSpPr/>
          <p:nvPr/>
        </p:nvSpPr>
        <p:spPr>
          <a:xfrm>
            <a:off x="548640" y="3236976"/>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73552"/>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=(6;</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−12)</m:t>
                    </m:r>
                  </m:oMath>
                </a14:m>
                <a:r>
                  <a:rPr sz="2100">
                    <a:solidFill>
                      <a:srgbClr val="1E293B"/>
                    </a:solidFill>
                    <a:latin typeface="Calibri"/>
                  </a:rPr>
                  <a:t>.</a:t>
                </a:r>
              </a:p>
            </p:txBody>
          </p:sp>
        </mc:Choice>
        <mc:Fallback>
          <p:sp>
            <p:nvSpPr>
              <p:cNvPr id="11" name="TextBox 10"/>
              <p:cNvSpPr txBox="1"/>
              <p:nvPr/>
            </p:nvSpPr>
            <p:spPr>
              <a:xfrm>
                <a:off x="713232" y="3273552"/>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\vec{u}+\vec{v}=(6;\ -2)</a:t>
                </a:r>
                <a:r>
                  <a:rPr sz="2100">
                    <a:solidFill>
                      <a:srgbClr val="1E293B"/>
                    </a:solidFill>
                    <a:latin typeface="Calibri"/>
                  </a:rPr>
                  <a:t>, </a:t>
                </a:r>
                <a:r>
                  <a:rPr lang="vi-VN"/>
                  <a:t>4\vec{u}=(8;\ -12)</a:t>
                </a:r>
                <a:r>
                  <a:rPr sz="2100">
                    <a:solidFill>
                      <a:srgbClr val="1E293B"/>
                    </a:solidFill>
                    <a:latin typeface="Calibri"/>
                  </a:rPr>
                  <a:t>.</a:t>
                </a:r>
              </a:p>
            </p:txBody>
          </p:sp>
        </mc:Fallback>
      </mc:AlternateContent>
      <p:sp>
        <p:nvSpPr>
          <p:cNvPr id="12" name="s3_nen"/>
          <p:cNvSpPr/>
          <p:nvPr/>
        </p:nvSpPr>
        <p:spPr>
          <a:xfrm>
            <a:off x="548640" y="389534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u</m:t>
                        </m:r>
                      </m:e>
                    </m:acc>
                  </m:oMath>
                </a14:m>
                <a:r>
                  <a:rPr sz="2100">
                    <a:solidFill>
                      <a:srgbClr val="1E293B"/>
                    </a:solidFill>
                    <a:latin typeface="Calibri"/>
                  </a:rPr>
                  <a:t> – hai vectơ cùng hướng.</a:t>
                </a:r>
              </a:p>
            </p:txBody>
          </p:sp>
        </mc:Choice>
        <mc:Fallback>
          <p:sp>
            <p:nvSpPr>
              <p:cNvPr id="13" name="TextBox 12"/>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r>
                  <a:rPr lang="vi-VN"/>
                  <a:t>\vec{a}=4\vec{u}</a:t>
                </a:r>
                <a:r>
                  <a:rPr sz="2100">
                    <a:solidFill>
                      <a:srgbClr val="1E293B"/>
                    </a:solidFill>
                    <a:latin typeface="Calibri"/>
                  </a:rPr>
                  <a:t> – hai vectơ cùng hướng.</a:t>
                </a:r>
              </a:p>
            </p:txBody>
          </p:sp>
        </mc:Fallback>
      </mc:AlternateContent>
      <p:sp>
        <p:nvSpPr>
          <p:cNvPr id="14" name="s4_nen"/>
          <p:cNvSpPr/>
          <p:nvPr/>
        </p:nvSpPr>
        <p:spPr>
          <a:xfrm>
            <a:off x="548640" y="4553712"/>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713232" y="4590288"/>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hai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Khi đó: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=(kx;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ky)</m:t>
                    </m:r>
                  </m:oMath>
                </a14:m>
                <a:r>
                  <a:rPr sz="2100">
                    <a:solidFill>
                      <a:srgbClr val="1E293B"/>
                    </a:solidFill>
                    <a:latin typeface="Calibri"/>
                  </a:rPr>
                  <a:t>, với </a:t>
                </a:r>
                <a14:m>
                  <m:oMath xmlns:m="http://schemas.openxmlformats.org/officeDocument/2006/math">
                    <m:r>
                      <a:rPr lang="vi-VN" sz="2100" b="0">
                        <a:solidFill>
                          <a:srgbClr val="1E293B"/>
                        </a:solidFill>
                        <a:latin typeface="Cambria Math" panose="02040503050406030204" pitchFamily="18" charset="0"/>
                      </a:rPr>
                      <m:t>k∈ℝ</m:t>
                    </m:r>
                  </m:oMath>
                </a14:m>
                <a:r>
                  <a:rPr sz="2100">
                    <a:solidFill>
                      <a:srgbClr val="1E293B"/>
                    </a:solidFill>
                    <a:latin typeface="Calibri"/>
                  </a:rPr>
                  <a:t>.</a:t>
                </a:r>
              </a:p>
            </p:txBody>
          </p:sp>
        </mc:Choice>
        <mc:Fallback>
          <p:sp>
            <p:nvSpPr>
              <p:cNvPr id="15" name="TextBox 14"/>
              <p:cNvSpPr txBox="1"/>
              <p:nvPr/>
            </p:nvSpPr>
            <p:spPr>
              <a:xfrm>
                <a:off x="713232" y="4590288"/>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hai vectơ </a:t>
                </a:r>
                <a:r>
                  <a:rPr lang="vi-VN"/>
                  <a:t>\vec{u}=(x;\ y)</a:t>
                </a:r>
                <a:r>
                  <a:rPr sz="2100">
                    <a:solidFill>
                      <a:srgbClr val="1E293B"/>
                    </a:solidFill>
                    <a:latin typeface="Calibri"/>
                  </a:rPr>
                  <a:t> và </a:t>
                </a:r>
                <a:r>
                  <a:rPr lang="vi-VN"/>
                  <a:t>\vec{v}=(x';\ y')</a:t>
                </a:r>
                <a:r>
                  <a:rPr sz="2100">
                    <a:solidFill>
                      <a:srgbClr val="1E293B"/>
                    </a:solidFill>
                    <a:latin typeface="Calibri"/>
                  </a:rPr>
                  <a:t>. Khi đó: </a:t>
                </a:r>
                <a:r>
                  <a:rPr lang="vi-VN"/>
                  <a:t>\vec{u}+\vec{v}=(x+x';\ y+y')</a:t>
                </a:r>
                <a:r>
                  <a:rPr sz="2100">
                    <a:solidFill>
                      <a:srgbClr val="1E293B"/>
                    </a:solidFill>
                    <a:latin typeface="Calibri"/>
                  </a:rPr>
                  <a:t>; </a:t>
                </a:r>
                <a:r>
                  <a:rPr lang="vi-VN"/>
                  <a:t>\vec{u}-\vec{v}=(x-x';\ y-y')</a:t>
                </a:r>
                <a:r>
                  <a:rPr sz="2100">
                    <a:solidFill>
                      <a:srgbClr val="1E293B"/>
                    </a:solidFill>
                    <a:latin typeface="Calibri"/>
                  </a:rPr>
                  <a:t>; </a:t>
                </a:r>
                <a:r>
                  <a:rPr lang="vi-VN"/>
                  <a:t>k\vec{u}=(kx;\ ky)</a:t>
                </a:r>
                <a:r>
                  <a:rPr sz="2100">
                    <a:solidFill>
                      <a:srgbClr val="1E293B"/>
                    </a:solidFill>
                    <a:latin typeface="Calibri"/>
                  </a:rPr>
                  <a:t>, với </a:t>
                </a:r>
                <a:r>
                  <a:rPr lang="vi-VN"/>
                  <a:t>k\in\mathbb{R}</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32510"/>
              </a:xfrm>
              <a:prstGeom prst="rect">
                <a:avLst/>
              </a:prstGeom>
              <a:noFill/>
            </p:spPr>
            <p:txBody>
              <a:bodyPr wrap="square" anchor="t" lIns="45720" rIns="45720">
                <a:spAutoFit/>
              </a:bodyPr>
              <a:lstStyle/>
              <a:p>
                <a:pPr algn="l">
                  <a:spcAft>
                    <a:spcPts val="800"/>
                  </a:spcAft>
                </a:pPr>
                <a:r>
                  <a:rPr sz="2300">
                    <a:solidFill>
                      <a:srgbClr val="1E293B"/>
                    </a:solidFill>
                    <a:latin typeface="Calibri"/>
                  </a:rPr>
                  <a:t>Cho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m:t>
                    </m:r>
                    <m:d>
                      <m:dPr>
                        <m:sepChr m:val=""/>
                      </m:dPr>
                      <m:e>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e>
                    </m:d>
                  </m:oMath>
                </a14:m>
                <a:r>
                  <a:rPr sz="2300">
                    <a:solidFill>
                      <a:srgbClr val="1E293B"/>
                    </a:solidFill>
                    <a:latin typeface="Calibri"/>
                  </a:rPr>
                  <a:t>. a) Tìm toạ độ của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−2</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b) Hỏi </a:t>
                </a:r>
                <a14:m>
                  <m:oMath xmlns:m="http://schemas.openxmlformats.org/officeDocument/2006/math">
                    <m:acc>
                      <m:accPr>
                        <m:chr m:val="⃗"/>
                      </m:accPr>
                      <m:e>
                        <m:r>
                          <a:rPr lang="vi-VN" sz="2300" b="0">
                            <a:solidFill>
                              <a:srgbClr val="1E293B"/>
                            </a:solidFill>
                            <a:latin typeface="Cambria Math" panose="02040503050406030204" pitchFamily="18" charset="0"/>
                          </a:rPr>
                          <m:t>a</m:t>
                        </m:r>
                      </m:e>
                    </m:acc>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có cùng phương hay không?</a:t>
                </a:r>
              </a:p>
            </p:txBody>
          </p:sp>
        </mc:Choice>
        <mc:Fallback>
          <p:sp>
            <p:nvSpPr>
              <p:cNvPr id="7" name="TextBox 6"/>
              <p:cNvSpPr txBox="1"/>
              <p:nvPr/>
            </p:nvSpPr>
            <p:spPr>
              <a:xfrm>
                <a:off x="548640" y="1371600"/>
                <a:ext cx="11064240" cy="1032510"/>
              </a:xfrm>
              <a:prstGeom prst="rect">
                <a:avLst/>
              </a:prstGeom>
              <a:noFill/>
            </p:spPr>
            <p:txBody>
              <a:bodyPr wrap="square" anchor="t" lIns="45720" rIns="45720">
                <a:spAutoFit/>
              </a:bodyPr>
              <a:lstStyle/>
              <a:p>
                <a:pPr algn="l">
                  <a:spcAft>
                    <a:spcPts val="800"/>
                  </a:spcAft>
                </a:pPr>
                <a:r>
                  <a:rPr sz="2300">
                    <a:solidFill>
                      <a:srgbClr val="1E293B"/>
                    </a:solidFill>
                    <a:latin typeface="Calibri"/>
                  </a:rPr>
                  <a:t>Cho </a:t>
                </a:r>
                <a:r>
                  <a:rPr lang="vi-VN"/>
                  <a:t>\vec{a}=(1;\ 2)</a:t>
                </a:r>
                <a:r>
                  <a:rPr sz="2300">
                    <a:solidFill>
                      <a:srgbClr val="1E293B"/>
                    </a:solidFill>
                    <a:latin typeface="Calibri"/>
                  </a:rPr>
                  <a:t>, </a:t>
                </a:r>
                <a:r>
                  <a:rPr lang="vi-VN"/>
                  <a:t>\vec{b}=\left(\frac{3}{2};\ 3\right)</a:t>
                </a:r>
                <a:r>
                  <a:rPr sz="2300">
                    <a:solidFill>
                      <a:srgbClr val="1E293B"/>
                    </a:solidFill>
                    <a:latin typeface="Calibri"/>
                  </a:rPr>
                  <a:t>. a) Tìm toạ độ của </a:t>
                </a:r>
                <a:r>
                  <a:rPr lang="vi-VN"/>
                  <a:t>\vec{a}+\vec{b}</a:t>
                </a:r>
                <a:r>
                  <a:rPr sz="2300">
                    <a:solidFill>
                      <a:srgbClr val="1E293B"/>
                    </a:solidFill>
                    <a:latin typeface="Calibri"/>
                  </a:rPr>
                  <a:t>, </a:t>
                </a:r>
                <a:r>
                  <a:rPr lang="vi-VN"/>
                  <a:t>\vec{a}-2\vec{b}</a:t>
                </a:r>
                <a:r>
                  <a:rPr sz="2300">
                    <a:solidFill>
                      <a:srgbClr val="1E293B"/>
                    </a:solidFill>
                    <a:latin typeface="Calibri"/>
                  </a:rPr>
                  <a:t>. b) Hỏi </a:t>
                </a:r>
                <a:r>
                  <a:rPr lang="vi-VN"/>
                  <a:t>\vec{a}</a:t>
                </a:r>
                <a:r>
                  <a:rPr sz="2300">
                    <a:solidFill>
                      <a:srgbClr val="1E293B"/>
                    </a:solidFill>
                    <a:latin typeface="Calibri"/>
                  </a:rPr>
                  <a:t> và </a:t>
                </a:r>
                <a:r>
                  <a:rPr lang="vi-VN"/>
                  <a:t>\vec{b}</a:t>
                </a:r>
                <a:r>
                  <a:rPr sz="2300">
                    <a:solidFill>
                      <a:srgbClr val="1E293B"/>
                    </a:solidFill>
                    <a:latin typeface="Calibri"/>
                  </a:rPr>
                  <a:t> có cùng phương hay không?</a:t>
                </a:r>
              </a:p>
            </p:txBody>
          </p:sp>
        </mc:Fallback>
      </mc:AlternateContent>
      <p:sp>
        <p:nvSpPr>
          <p:cNvPr id="8" name="s1_nen"/>
          <p:cNvSpPr/>
          <p:nvPr/>
        </p:nvSpPr>
        <p:spPr>
          <a:xfrm>
            <a:off x="548640" y="2513838"/>
            <a:ext cx="11064240" cy="7734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50414"/>
                <a:ext cx="10735056" cy="700278"/>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m:t>
                    </m:r>
                    <m:d>
                      <m:dPr>
                        <m:sepChr m:val=""/>
                      </m:dPr>
                      <m:e>
                        <m:f>
                          <m:fPr>
                            <m:type m:val="bar"/>
                          </m:fPr>
                          <m:num>
                            <m:r>
                              <a:rPr lang="vi-VN" sz="2300" b="0">
                                <a:solidFill>
                                  <a:srgbClr val="1E293B"/>
                                </a:solidFill>
                                <a:latin typeface="Cambria Math" panose="02040503050406030204" pitchFamily="18" charset="0"/>
                              </a:rPr>
                              <m:t>5</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2</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6)</m:t>
                    </m:r>
                  </m:oMath>
                </a14:m>
                <a:r>
                  <a:rPr sz="2300">
                    <a:solidFill>
                      <a:srgbClr val="1E293B"/>
                    </a:solidFill>
                    <a:latin typeface="Calibri"/>
                  </a:rPr>
                  <a:t> nên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−2</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−4)</m:t>
                    </m:r>
                  </m:oMath>
                </a14:m>
                <a:r>
                  <a:rPr sz="2300">
                    <a:solidFill>
                      <a:srgbClr val="1E293B"/>
                    </a:solidFill>
                    <a:latin typeface="Calibri"/>
                  </a:rPr>
                  <a:t>.</a:t>
                </a:r>
              </a:p>
            </p:txBody>
          </p:sp>
        </mc:Choice>
        <mc:Fallback>
          <p:sp>
            <p:nvSpPr>
              <p:cNvPr id="9" name="TextBox 8"/>
              <p:cNvSpPr txBox="1"/>
              <p:nvPr/>
            </p:nvSpPr>
            <p:spPr>
              <a:xfrm>
                <a:off x="713232" y="2550414"/>
                <a:ext cx="10735056" cy="700278"/>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\vec{a}+\vec{b}=\left(\frac{5}{2};\ 5\right)</a:t>
                </a:r>
                <a:r>
                  <a:rPr sz="2300">
                    <a:solidFill>
                      <a:srgbClr val="1E293B"/>
                    </a:solidFill>
                    <a:latin typeface="Calibri"/>
                  </a:rPr>
                  <a:t>; </a:t>
                </a:r>
                <a:r>
                  <a:rPr lang="vi-VN"/>
                  <a:t>2\vec{b}=(3;\ 6)</a:t>
                </a:r>
                <a:r>
                  <a:rPr sz="2300">
                    <a:solidFill>
                      <a:srgbClr val="1E293B"/>
                    </a:solidFill>
                    <a:latin typeface="Calibri"/>
                  </a:rPr>
                  <a:t> nên </a:t>
                </a:r>
                <a:r>
                  <a:rPr lang="vi-VN"/>
                  <a:t>\vec{a}-2\vec{b}=(-2;\ -4)</a:t>
                </a:r>
                <a:r>
                  <a:rPr sz="2300">
                    <a:solidFill>
                      <a:srgbClr val="1E293B"/>
                    </a:solidFill>
                    <a:latin typeface="Calibri"/>
                  </a:rPr>
                  <a:t>.</a:t>
                </a:r>
              </a:p>
            </p:txBody>
          </p:sp>
        </mc:Fallback>
      </mc:AlternateContent>
      <p:sp>
        <p:nvSpPr>
          <p:cNvPr id="10" name="s2_nen"/>
          <p:cNvSpPr/>
          <p:nvPr/>
        </p:nvSpPr>
        <p:spPr>
          <a:xfrm>
            <a:off x="548640" y="3396996"/>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33572"/>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14:m>
                  <m:oMath xmlns:m="http://schemas.openxmlformats.org/officeDocument/2006/math">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2</m:t>
                        </m:r>
                      </m:den>
                    </m:f>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d>
                      <m:dPr>
                        <m:sepChr m:val=""/>
                      </m:dPr>
                      <m:e>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e>
                    </m:d>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nên </a:t>
                </a:r>
                <a14:m>
                  <m:oMath xmlns:m="http://schemas.openxmlformats.org/officeDocument/2006/math">
                    <m:acc>
                      <m:accPr>
                        <m:chr m:val="⃗"/>
                      </m:accPr>
                      <m:e>
                        <m:r>
                          <a:rPr lang="vi-VN" sz="2300" b="0">
                            <a:solidFill>
                              <a:srgbClr val="1E293B"/>
                            </a:solidFill>
                            <a:latin typeface="Cambria Math" panose="02040503050406030204" pitchFamily="18" charset="0"/>
                          </a:rPr>
                          <m:t>a</m:t>
                        </m:r>
                      </m:e>
                    </m:acc>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cùng phương.</a:t>
                </a:r>
              </a:p>
            </p:txBody>
          </p:sp>
        </mc:Choice>
        <mc:Fallback>
          <p:sp>
            <p:nvSpPr>
              <p:cNvPr id="11" name="TextBox 10"/>
              <p:cNvSpPr txBox="1"/>
              <p:nvPr/>
            </p:nvSpPr>
            <p:spPr>
              <a:xfrm>
                <a:off x="713232" y="3433572"/>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\frac{3}{2}\vec{a}=\left(\frac{3}{2};\ 3\right)=\vec{b}</a:t>
                </a:r>
                <a:r>
                  <a:rPr sz="2300">
                    <a:solidFill>
                      <a:srgbClr val="1E293B"/>
                    </a:solidFill>
                    <a:latin typeface="Calibri"/>
                  </a:rPr>
                  <a:t> nên </a:t>
                </a:r>
                <a:r>
                  <a:rPr lang="vi-VN"/>
                  <a:t>\vec{a}</a:t>
                </a:r>
                <a:r>
                  <a:rPr sz="2300">
                    <a:solidFill>
                      <a:srgbClr val="1E293B"/>
                    </a:solidFill>
                    <a:latin typeface="Calibri"/>
                  </a:rPr>
                  <a:t> và </a:t>
                </a:r>
                <a:r>
                  <a:rPr lang="vi-VN"/>
                  <a:t>\vec{b}</a:t>
                </a:r>
                <a:r>
                  <a:rPr sz="2300">
                    <a:solidFill>
                      <a:srgbClr val="1E293B"/>
                    </a:solidFill>
                    <a:latin typeface="Calibri"/>
                  </a:rPr>
                  <a:t> cùng phương.</a:t>
                </a:r>
              </a:p>
            </p:txBody>
          </p:sp>
        </mc:Fallback>
      </mc:AlternateContent>
      <p:sp>
        <p:nvSpPr>
          <p:cNvPr id="12" name="s3_nen"/>
          <p:cNvSpPr/>
          <p:nvPr/>
        </p:nvSpPr>
        <p:spPr>
          <a:xfrm>
            <a:off x="548640" y="4437888"/>
            <a:ext cx="11064240" cy="128168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474464"/>
                <a:ext cx="10735056" cy="120853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Nhận xét.</a:t>
                </a:r>
                <a:r>
                  <a:rPr sz="2300">
                    <a:solidFill>
                      <a:srgbClr val="1E293B"/>
                    </a:solidFill>
                    <a:latin typeface="Calibri"/>
                  </a:rPr>
                  <a:t> Vectơ </a:t>
                </a:r>
                <a14:m>
                  <m:oMath xmlns:m="http://schemas.openxmlformats.org/officeDocument/2006/math">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m:t>
                    </m:r>
                  </m:oMath>
                </a14:m>
                <a:r>
                  <a:rPr sz="2300">
                    <a:solidFill>
                      <a:srgbClr val="1E293B"/>
                    </a:solidFill>
                    <a:latin typeface="Calibri"/>
                  </a:rPr>
                  <a:t> cùng phương với vectơ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(x;</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y)≠</m:t>
                    </m:r>
                    <m:acc>
                      <m:accPr>
                        <m:chr m:val="⃗"/>
                      </m:accPr>
                      <m:e>
                        <m:r>
                          <a:rPr lang="vi-VN" sz="2300" b="0">
                            <a:solidFill>
                              <a:srgbClr val="1E293B"/>
                            </a:solidFill>
                            <a:latin typeface="Cambria Math" panose="02040503050406030204" pitchFamily="18" charset="0"/>
                          </a:rPr>
                          <m:t>0</m:t>
                        </m:r>
                      </m:e>
                    </m:acc>
                  </m:oMath>
                </a14:m>
                <a:r>
                  <a:rPr sz="2300">
                    <a:solidFill>
                      <a:srgbClr val="1E293B"/>
                    </a:solidFill>
                    <a:latin typeface="Calibri"/>
                  </a:rPr>
                  <a:t> khi và chỉ khi tồn tại số </a:t>
                </a:r>
                <a14:m>
                  <m:oMath xmlns:m="http://schemas.openxmlformats.org/officeDocument/2006/math">
                    <m:r>
                      <a:rPr lang="vi-VN" sz="2300" b="0">
                        <a:solidFill>
                          <a:srgbClr val="1E293B"/>
                        </a:solidFill>
                        <a:latin typeface="Cambria Math" panose="02040503050406030204" pitchFamily="18" charset="0"/>
                      </a:rPr>
                      <m:t>k</m:t>
                    </m:r>
                  </m:oMath>
                </a14:m>
                <a:r>
                  <a:rPr sz="2300">
                    <a:solidFill>
                      <a:srgbClr val="1E293B"/>
                    </a:solidFill>
                    <a:latin typeface="Calibri"/>
                  </a:rPr>
                  <a:t> sao cho </a:t>
                </a:r>
                <a14:m>
                  <m:oMath xmlns:m="http://schemas.openxmlformats.org/officeDocument/2006/math">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=kx,</m:t>
                    </m:r>
                    <m:r>
                      <m:rPr>
                        <m:sty m:val="p"/>
                      </m:rPr>
                      <a:rPr lang="vi-VN" sz="2300" b="0">
                        <a:solidFill>
                          <a:srgbClr val="1E293B"/>
                        </a:solidFill>
                        <a:latin typeface="Cambria Math" panose="02040503050406030204" pitchFamily="18" charset="0"/>
                      </a:rPr>
                      <m:t> </m:t>
                    </m:r>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=ky</m:t>
                    </m:r>
                  </m:oMath>
                </a14:m>
                <a:r>
                  <a:rPr sz="2300">
                    <a:solidFill>
                      <a:srgbClr val="1E293B"/>
                    </a:solidFill>
                    <a:latin typeface="Calibri"/>
                  </a:rPr>
                  <a:t> (hay là </a:t>
                </a:r>
                <a14:m>
                  <m:oMath xmlns:m="http://schemas.openxmlformats.org/officeDocument/2006/math">
                    <m:f>
                      <m:fPr>
                        <m:type m:val="bar"/>
                      </m:fPr>
                      <m:num>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m:t>
                            </m:r>
                          </m:sup>
                        </m:sSup>
                      </m:num>
                      <m:den>
                        <m:r>
                          <a:rPr lang="vi-VN" sz="2300" b="0">
                            <a:solidFill>
                              <a:srgbClr val="1E293B"/>
                            </a:solidFill>
                            <a:latin typeface="Cambria Math" panose="02040503050406030204" pitchFamily="18" charset="0"/>
                          </a:rPr>
                          <m:t>x</m:t>
                        </m:r>
                      </m:den>
                    </m:f>
                    <m:r>
                      <a:rPr lang="vi-VN" sz="2300" b="0">
                        <a:solidFill>
                          <a:srgbClr val="1E293B"/>
                        </a:solidFill>
                        <a:latin typeface="Cambria Math" panose="02040503050406030204" pitchFamily="18" charset="0"/>
                      </a:rPr>
                      <m:t>=</m:t>
                    </m:r>
                    <m:f>
                      <m:fPr>
                        <m:type m:val="bar"/>
                      </m:fPr>
                      <m:num>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num>
                      <m:den>
                        <m:r>
                          <a:rPr lang="vi-VN" sz="2300" b="0">
                            <a:solidFill>
                              <a:srgbClr val="1E293B"/>
                            </a:solidFill>
                            <a:latin typeface="Cambria Math" panose="02040503050406030204" pitchFamily="18" charset="0"/>
                          </a:rPr>
                          <m:t>y</m:t>
                        </m:r>
                      </m:den>
                    </m:f>
                  </m:oMath>
                </a14:m>
                <a:r>
                  <a:rPr sz="2300">
                    <a:solidFill>
                      <a:srgbClr val="1E293B"/>
                    </a:solidFill>
                    <a:latin typeface="Calibri"/>
                  </a:rPr>
                  <a:t> nếu </a:t>
                </a:r>
                <a14:m>
                  <m:oMath xmlns:m="http://schemas.openxmlformats.org/officeDocument/2006/math">
                    <m:r>
                      <a:rPr lang="vi-VN" sz="2300" b="0">
                        <a:solidFill>
                          <a:srgbClr val="1E293B"/>
                        </a:solidFill>
                        <a:latin typeface="Cambria Math" panose="02040503050406030204" pitchFamily="18" charset="0"/>
                      </a:rPr>
                      <m:t>xy≠0</m:t>
                    </m:r>
                  </m:oMath>
                </a14:m>
                <a:r>
                  <a:rPr sz="2300">
                    <a:solidFill>
                      <a:srgbClr val="1E293B"/>
                    </a:solidFill>
                    <a:latin typeface="Calibri"/>
                  </a:rPr>
                  <a:t>).</a:t>
                </a:r>
              </a:p>
            </p:txBody>
          </p:sp>
        </mc:Choice>
        <mc:Fallback>
          <p:sp>
            <p:nvSpPr>
              <p:cNvPr id="13" name="TextBox 12"/>
              <p:cNvSpPr txBox="1"/>
              <p:nvPr/>
            </p:nvSpPr>
            <p:spPr>
              <a:xfrm>
                <a:off x="713232" y="4474464"/>
                <a:ext cx="10735056" cy="120853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Nhận xét.</a:t>
                </a:r>
                <a:r>
                  <a:rPr sz="2300">
                    <a:solidFill>
                      <a:srgbClr val="1E293B"/>
                    </a:solidFill>
                    <a:latin typeface="Calibri"/>
                  </a:rPr>
                  <a:t> Vectơ </a:t>
                </a:r>
                <a:r>
                  <a:rPr lang="vi-VN"/>
                  <a:t>\vec{v}(x';\ y')</a:t>
                </a:r>
                <a:r>
                  <a:rPr sz="2300">
                    <a:solidFill>
                      <a:srgbClr val="1E293B"/>
                    </a:solidFill>
                    <a:latin typeface="Calibri"/>
                  </a:rPr>
                  <a:t> cùng phương với vectơ </a:t>
                </a:r>
                <a:r>
                  <a:rPr lang="vi-VN"/>
                  <a:t>\vec{u}(x;\ y)\ne\vec{0}</a:t>
                </a:r>
                <a:r>
                  <a:rPr sz="2300">
                    <a:solidFill>
                      <a:srgbClr val="1E293B"/>
                    </a:solidFill>
                    <a:latin typeface="Calibri"/>
                  </a:rPr>
                  <a:t> khi và chỉ khi tồn tại số </a:t>
                </a:r>
                <a:r>
                  <a:rPr lang="vi-VN"/>
                  <a:t>k</a:t>
                </a:r>
                <a:r>
                  <a:rPr sz="2300">
                    <a:solidFill>
                      <a:srgbClr val="1E293B"/>
                    </a:solidFill>
                    <a:latin typeface="Calibri"/>
                  </a:rPr>
                  <a:t> sao cho </a:t>
                </a:r>
                <a:r>
                  <a:rPr lang="vi-VN"/>
                  <a:t>x'=kx,\ y'=ky</a:t>
                </a:r>
                <a:r>
                  <a:rPr sz="2300">
                    <a:solidFill>
                      <a:srgbClr val="1E293B"/>
                    </a:solidFill>
                    <a:latin typeface="Calibri"/>
                  </a:rPr>
                  <a:t> (hay là </a:t>
                </a:r>
                <a:r>
                  <a:rPr lang="vi-VN"/>
                  <a:t>\frac{x'}{x}=\frac{y'}{y}</a:t>
                </a:r>
                <a:r>
                  <a:rPr sz="2300">
                    <a:solidFill>
                      <a:srgbClr val="1E293B"/>
                    </a:solidFill>
                    <a:latin typeface="Calibri"/>
                  </a:rPr>
                  <a:t> nếu </a:t>
                </a:r>
                <a:r>
                  <a:rPr lang="vi-VN"/>
                  <a:t>xy\ne 0</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TOẠ ĐỘ CỦA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đầu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trên lưới ô vuông.</a:t>
                </a:r>
              </a:p>
              <a:p>
                <a:pPr algn="l" marL="365760" indent="-365760">
                  <a:spcAft>
                    <a:spcPts val="800"/>
                  </a:spcAft>
                  <a:buClr>
                    <a:srgbClr val="1E40AF"/>
                  </a:buClr>
                  <a:buFont typeface="Arial"/>
                  <a:buChar char="•"/>
                </a:pPr>
                <a:r>
                  <a:rPr sz="2200">
                    <a:solidFill>
                      <a:srgbClr val="1E293B"/>
                    </a:solidFill>
                    <a:latin typeface="Calibri"/>
                  </a:rPr>
                  <a:t>Bảng giá trị hiện toạ độ của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A</m:t>
                            </m:r>
                          </m:sub>
                        </m:sSub>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Tịnh tiến cả vectơ (kéo cả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lẫn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toạ độ vectơ </a:t>
                </a:r>
                <a:r>
                  <a:rPr sz="2200" b="1">
                    <a:solidFill>
                      <a:srgbClr val="1E293B"/>
                    </a:solidFill>
                    <a:latin typeface="Calibri"/>
                  </a:rPr>
                  <a:t>không đổi</a:t>
                </a:r>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đầu </a:t>
                </a:r>
                <a:r>
                  <a:rPr lang="vi-VN"/>
                  <a:t>A</a:t>
                </a:r>
                <a:r>
                  <a:rPr sz="2200">
                    <a:solidFill>
                      <a:srgbClr val="1E293B"/>
                    </a:solidFill>
                    <a:latin typeface="Calibri"/>
                  </a:rPr>
                  <a:t> và điểm cuối </a:t>
                </a:r>
                <a:r>
                  <a:rPr lang="vi-VN"/>
                  <a:t>B</a:t>
                </a:r>
                <a:r>
                  <a:rPr sz="2200">
                    <a:solidFill>
                      <a:srgbClr val="1E293B"/>
                    </a:solidFill>
                    <a:latin typeface="Calibri"/>
                  </a:rPr>
                  <a:t> trên lưới ô vuông.</a:t>
                </a:r>
              </a:p>
              <a:p>
                <a:pPr algn="l" marL="365760" indent="-365760">
                  <a:spcAft>
                    <a:spcPts val="800"/>
                  </a:spcAft>
                  <a:buClr>
                    <a:srgbClr val="1E40AF"/>
                  </a:buClr>
                  <a:buFont typeface="Arial"/>
                  <a:buChar char="•"/>
                </a:pPr>
                <a:r>
                  <a:rPr sz="2200">
                    <a:solidFill>
                      <a:srgbClr val="1E293B"/>
                    </a:solidFill>
                    <a:latin typeface="Calibri"/>
                  </a:rPr>
                  <a:t>Bảng giá trị hiện toạ độ của </a:t>
                </a:r>
                <a:r>
                  <a:rPr lang="vi-VN"/>
                  <a:t>\overrightarrow{AB}</a:t>
                </a:r>
                <a:r>
                  <a:rPr sz="2200">
                    <a:solidFill>
                      <a:srgbClr val="1E293B"/>
                    </a:solidFill>
                    <a:latin typeface="Calibri"/>
                  </a:rPr>
                  <a:t> = </a:t>
                </a:r>
                <a:r>
                  <a:rPr lang="vi-VN"/>
                  <a:t>(x_B-x_A;\ y_B-y_A)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Tịnh tiến cả vectơ (kéo cả </a:t>
                </a:r>
                <a:r>
                  <a:rPr lang="vi-VN"/>
                  <a:t>A</a:t>
                </a:r>
                <a:r>
                  <a:rPr sz="2200">
                    <a:solidFill>
                      <a:srgbClr val="1E293B"/>
                    </a:solidFill>
                    <a:latin typeface="Calibri"/>
                  </a:rPr>
                  <a:t> lẫn </a:t>
                </a:r>
                <a:r>
                  <a:rPr lang="vi-VN"/>
                  <a:t>B</a:t>
                </a:r>
                <a:r>
                  <a:rPr sz="2200">
                    <a:solidFill>
                      <a:srgbClr val="1E293B"/>
                    </a:solidFill>
                    <a:latin typeface="Calibri"/>
                  </a:rPr>
                  <a:t>): toạ độ vectơ </a:t>
                </a:r>
                <a:r>
                  <a:rPr sz="2200" b="1">
                    <a:solidFill>
                      <a:srgbClr val="1E293B"/>
                    </a:solidFill>
                    <a:latin typeface="Calibri"/>
                  </a:rPr>
                  <a:t>không đổi</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33.png"/>
          <p:cNvPicPr>
            <a:picLocks noChangeAspect="1"/>
          </p:cNvPicPr>
          <p:nvPr/>
        </p:nvPicPr>
        <p:blipFill>
          <a:blip r:embed="rId5"/>
          <a:stretch>
            <a:fillRect/>
          </a:stretch>
        </p:blipFill>
        <p:spPr>
          <a:xfrm>
            <a:off x="6858000" y="1736111"/>
            <a:ext cx="4846320" cy="393441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12</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=(kx;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ky)</m:t>
                    </m:r>
                  </m:oMath>
                </a14:m>
                <a:r>
                  <a:rPr sz="2200">
                    <a:solidFill>
                      <a:srgbClr val="1E293B"/>
                    </a:solidFill>
                    <a:latin typeface="Calibri"/>
                  </a:rPr>
                  <a:t>; cùng phương ⇔ toạ độ tỉ lệ.</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\vec{u}=x\vec{i}+y\vec{j}\Leftrightarrow\vec{u}=(x;\ y)</a:t>
                </a:r>
                <a:r>
                  <a:rPr sz="2200">
                    <a:solidFill>
                      <a:srgbClr val="1E293B"/>
                    </a:solidFill>
                    <a:latin typeface="Calibri"/>
                  </a:rPr>
                  <a:t>; </a:t>
                </a:r>
                <a:r>
                  <a:rPr lang="vi-VN"/>
                  <a:t>\vec{i}=(1;\ 0)</a:t>
                </a:r>
                <a:r>
                  <a:rPr sz="2200">
                    <a:solidFill>
                      <a:srgbClr val="1E293B"/>
                    </a:solidFill>
                    <a:latin typeface="Calibri"/>
                  </a:rPr>
                  <a:t>, </a:t>
                </a:r>
                <a:r>
                  <a:rPr lang="vi-VN"/>
                  <a:t>\vec{j}=(0;\ 1)</a:t>
                </a:r>
                <a:r>
                  <a:rPr sz="2200">
                    <a:solidFill>
                      <a:srgbClr val="1E293B"/>
                    </a:solidFill>
                    <a:latin typeface="Calibri"/>
                  </a:rPr>
                  <a:t>.</a:t>
                </a:r>
              </a:p>
              <a:p>
                <a:pPr algn="l" marL="365760" indent="-365760">
                  <a:spcAft>
                    <a:spcPts val="800"/>
                  </a:spcAft>
                  <a:buClr>
                    <a:srgbClr val="1E40AF"/>
                  </a:buClr>
                  <a:buFont typeface="Arial"/>
                  <a:buChar char="•"/>
                </a:pPr>
                <a:r>
                  <a:rPr lang="vi-VN"/>
                  <a:t>\vec{u}\pm\vec{v}=(x\pm x';\ y\pm y')</a:t>
                </a:r>
                <a:r>
                  <a:rPr sz="2200">
                    <a:solidFill>
                      <a:srgbClr val="1E293B"/>
                    </a:solidFill>
                    <a:latin typeface="Calibri"/>
                  </a:rPr>
                  <a:t>; </a:t>
                </a:r>
                <a:r>
                  <a:rPr lang="vi-VN"/>
                  <a:t>k\vec{u}=(kx;\ ky)</a:t>
                </a:r>
                <a:r>
                  <a:rPr sz="2200">
                    <a:solidFill>
                      <a:srgbClr val="1E293B"/>
                    </a:solidFill>
                    <a:latin typeface="Calibri"/>
                  </a:rPr>
                  <a:t>; cùng phương ⇔ toạ độ tỉ lệ.</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Ôn khung kiến thức; xem lại HĐ3, Ví dụ 2.</a:t>
            </a:r>
          </a:p>
          <a:p>
            <a:pPr algn="l" marL="365760" indent="-365760">
              <a:spcAft>
                <a:spcPts val="800"/>
              </a:spcAft>
              <a:buClr>
                <a:srgbClr val="1E40AF"/>
              </a:buClr>
              <a:buFont typeface="Arial"/>
              <a:buChar char="•"/>
            </a:pPr>
            <a:r>
              <a:rPr sz="2200">
                <a:solidFill>
                  <a:srgbClr val="1E293B"/>
                </a:solidFill>
                <a:latin typeface="Calibri"/>
              </a:rPr>
              <a:t>Đọc trước HĐ4, HĐ5, Ví dụ 3, Ví dụ 4 (SGK tr.62 – 64).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(T33)</a:t>
            </a:r>
          </a:p>
          <a:p>
            <a:pPr>
              <a:spcAft>
                <a:spcPts val="600"/>
              </a:spcAft>
            </a:pPr>
            <a:r>
              <a:rPr sz="4000" b="1">
                <a:solidFill>
                  <a:srgbClr val="FFFFFF"/>
                </a:solidFill>
                <a:latin typeface="Cambria"/>
              </a:rPr>
              <a:t>Toạ độ điểm, khoảng cách. Trung điểm, trọng tâm</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Tìm toạ độ điểm, toạ độ vectơ nối hai điểm; tính độ dài, khoảng cách.</a:t>
            </a:r>
          </a:p>
          <a:p>
            <a:pPr algn="l">
              <a:spcAft>
                <a:spcPts val="800"/>
              </a:spcAft>
            </a:pPr>
            <a:r>
              <a:rPr sz="2200">
                <a:solidFill>
                  <a:srgbClr val="E0E7FF"/>
                </a:solidFill>
                <a:latin typeface="Calibri"/>
              </a:rPr>
              <a:t>• Tìm toạ độ trung điểm, trọng tâm; giải bài toán dự đoán tâm bão.</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TRUY TÌM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Từng cặp tìm toạ độ, ghi bảng con. Mỗi câu 30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Quan sát Hình 4.33: </a:t>
                </a:r>
                <a14:m>
                  <m:oMath xmlns:m="http://schemas.openxmlformats.org/officeDocument/2006/math">
                    <m:r>
                      <a:rPr lang="vi-VN" sz="2200" b="0">
                        <a:solidFill>
                          <a:srgbClr val="1E293B"/>
                        </a:solidFill>
                        <a:latin typeface="Cambria Math" panose="02040503050406030204" pitchFamily="18" charset="0"/>
                      </a:rPr>
                      <m:t>M(3;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N</m:t>
                    </m:r>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Quan sát Hình 4.33: </a:t>
                </a:r>
                <a:r>
                  <a:rPr lang="vi-VN"/>
                  <a:t>M(3;\ 5)</a:t>
                </a:r>
                <a:r>
                  <a:rPr sz="2200">
                    <a:solidFill>
                      <a:srgbClr val="1E293B"/>
                    </a:solidFill>
                    <a:latin typeface="Calibri"/>
                  </a:rPr>
                  <a:t>, </a:t>
                </a:r>
                <a:r>
                  <a:rPr lang="vi-VN"/>
                  <a:t>N\left(-2;\ \frac{5}{2}\right)</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OM</m:t>
                        </m:r>
                      </m:e>
                    </m:acc>
                  </m:oMath>
                </a14:m>
                <a:r>
                  <a:rPr sz="2400">
                    <a:solidFill>
                      <a:srgbClr val="1E293B"/>
                    </a:solidFill>
                    <a:latin typeface="Calibri"/>
                  </a:rPr>
                  <a:t>?</a:t>
                </a:r>
              </a:p>
            </p:txBody>
          </p:sp>
        </mc:Choice>
        <mc:Fallback>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r>
                  <a:rPr lang="vi-VN"/>
                  <a:t>\overrightarrow{OM}</a:t>
                </a:r>
                <a:r>
                  <a:rPr sz="2400">
                    <a:solidFill>
                      <a:srgbClr val="1E293B"/>
                    </a:solidFill>
                    <a:latin typeface="Calibri"/>
                  </a:rPr>
                  <a:t>?</a:t>
                </a:r>
              </a:p>
            </p:txBody>
          </p:sp>
        </mc:Fallback>
      </mc:AlternateContent>
      <p:sp>
        <p:nvSpPr>
          <p:cNvPr id="10" name="s1_nen"/>
          <p:cNvSpPr/>
          <p:nvPr/>
        </p:nvSpPr>
        <p:spPr>
          <a:xfrm>
            <a:off x="4846320" y="242316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01091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e>
                    </m:d>
                  </m:oMath>
                </a14:m>
              </a:p>
            </p:txBody>
          </p:sp>
        </mc:Choice>
        <mc:Fallback>
          <p:sp>
            <p:nvSpPr>
              <p:cNvPr id="11" name="TextBox 10"/>
              <p:cNvSpPr txBox="1"/>
              <p:nvPr/>
            </p:nvSpPr>
            <p:spPr>
              <a:xfrm>
                <a:off x="501091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5)</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a:t>
                </a:r>
              </a:p>
            </p:txBody>
          </p:sp>
        </mc:Choice>
        <mc:Fallback>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r>
                  <a:rPr lang="vi-VN"/>
                  <a:t>\overrightarrow{MN}</a:t>
                </a:r>
                <a:r>
                  <a:rPr sz="2400">
                    <a:solidFill>
                      <a:srgbClr val="1E293B"/>
                    </a:solidFill>
                    <a:latin typeface="Calibri"/>
                  </a:rPr>
                  <a:t>?</a:t>
                </a:r>
              </a:p>
            </p:txBody>
          </p:sp>
        </mc:Fallback>
      </mc:AlternateContent>
      <p:sp>
        <p:nvSpPr>
          <p:cNvPr id="13" name="s2_nen"/>
          <p:cNvSpPr/>
          <p:nvPr/>
        </p:nvSpPr>
        <p:spPr>
          <a:xfrm>
            <a:off x="4846320" y="337185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01091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5</m:t>
                            </m:r>
                          </m:num>
                          <m:den>
                            <m:r>
                              <a:rPr lang="vi-VN" sz="2400" b="0">
                                <a:solidFill>
                                  <a:srgbClr val="1E293B"/>
                                </a:solidFill>
                                <a:latin typeface="Cambria Math" panose="02040503050406030204" pitchFamily="18" charset="0"/>
                              </a:rPr>
                              <m:t>2</m:t>
                            </m:r>
                          </m:den>
                        </m:f>
                      </m:e>
                    </m:d>
                  </m:oMath>
                </a14:m>
              </a:p>
            </p:txBody>
          </p:sp>
        </mc:Choice>
        <mc:Fallback>
          <p:sp>
            <p:nvSpPr>
              <p:cNvPr id="14" name="TextBox 13"/>
              <p:cNvSpPr txBox="1"/>
              <p:nvPr/>
            </p:nvSpPr>
            <p:spPr>
              <a:xfrm>
                <a:off x="501091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\left(-5;\ -\frac{5}{2}\right)</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d>
                      <m:dPr>
                        <m:begChr m:val="|"/>
                        <m:sepChr m:val=""/>
                        <m:endChr m:val="|"/>
                      </m:dPr>
                      <m:e>
                        <m:acc>
                          <m:accPr>
                            <m:chr m:val="⃗"/>
                          </m:accPr>
                          <m:e>
                            <m:r>
                              <a:rPr lang="vi-VN" sz="2400" b="0">
                                <a:solidFill>
                                  <a:srgbClr val="1E293B"/>
                                </a:solidFill>
                                <a:latin typeface="Cambria Math" panose="02040503050406030204" pitchFamily="18" charset="0"/>
                              </a:rPr>
                              <m:t>OM</m:t>
                            </m:r>
                          </m:e>
                        </m:acc>
                      </m:e>
                    </m:d>
                  </m:oMath>
                </a14:m>
                <a:r>
                  <a:rPr sz="2400">
                    <a:solidFill>
                      <a:srgbClr val="1E293B"/>
                    </a:solidFill>
                    <a:latin typeface="Calibri"/>
                  </a:rPr>
                  <a:t>?</a:t>
                </a:r>
              </a:p>
            </p:txBody>
          </p:sp>
        </mc:Choice>
        <mc:Fallback>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|\overrightarrow{OM}|</a:t>
                </a:r>
                <a:r>
                  <a:rPr sz="2400">
                    <a:solidFill>
                      <a:srgbClr val="1E293B"/>
                    </a:solidFill>
                    <a:latin typeface="Calibri"/>
                  </a:rPr>
                  <a:t>?</a:t>
                </a:r>
              </a:p>
            </p:txBody>
          </p:sp>
        </mc:Fallback>
      </mc:AlternateContent>
      <p:sp>
        <p:nvSpPr>
          <p:cNvPr id="16" name="s3_nen"/>
          <p:cNvSpPr/>
          <p:nvPr/>
        </p:nvSpPr>
        <p:spPr>
          <a:xfrm>
            <a:off x="4846320" y="432054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01091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34</m:t>
                        </m:r>
                      </m:e>
                    </m:rad>
                  </m:oMath>
                </a14:m>
              </a:p>
            </p:txBody>
          </p:sp>
        </mc:Choice>
        <mc:Fallback>
          <p:sp>
            <p:nvSpPr>
              <p:cNvPr id="17" name="TextBox 16"/>
              <p:cNvSpPr txBox="1"/>
              <p:nvPr/>
            </p:nvSpPr>
            <p:spPr>
              <a:xfrm>
                <a:off x="501091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\sqrt{34}</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Trung điểm </a:t>
                </a:r>
                <a14:m>
                  <m:oMath xmlns:m="http://schemas.openxmlformats.org/officeDocument/2006/math">
                    <m:r>
                      <a:rPr lang="vi-VN" sz="2400" b="0">
                        <a:solidFill>
                          <a:srgbClr val="1E293B"/>
                        </a:solidFill>
                        <a:latin typeface="Cambria Math" panose="02040503050406030204" pitchFamily="18" charset="0"/>
                      </a:rPr>
                      <m:t>MN</m:t>
                    </m:r>
                  </m:oMath>
                </a14:m>
                <a:r>
                  <a:rPr sz="2400">
                    <a:solidFill>
                      <a:srgbClr val="1E293B"/>
                    </a:solidFill>
                    <a:latin typeface="Calibri"/>
                  </a:rPr>
                  <a:t>?</a:t>
                </a:r>
              </a:p>
            </p:txBody>
          </p:sp>
        </mc:Choice>
        <mc:Fallback>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Trung điểm </a:t>
                </a:r>
                <a:r>
                  <a:rPr lang="vi-VN"/>
                  <a:t>MN</a:t>
                </a:r>
                <a:r>
                  <a:rPr sz="2400">
                    <a:solidFill>
                      <a:srgbClr val="1E293B"/>
                    </a:solidFill>
                    <a:latin typeface="Calibri"/>
                  </a:rPr>
                  <a:t>?</a:t>
                </a:r>
              </a:p>
            </p:txBody>
          </p:sp>
        </mc:Fallback>
      </mc:AlternateContent>
      <p:sp>
        <p:nvSpPr>
          <p:cNvPr id="19" name="s4_nen"/>
          <p:cNvSpPr/>
          <p:nvPr/>
        </p:nvSpPr>
        <p:spPr>
          <a:xfrm>
            <a:off x="4846320" y="526923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01091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r>
                              <a:rPr lang="vi-VN" sz="2400" b="0">
                                <a:solidFill>
                                  <a:srgbClr val="1E293B"/>
                                </a:solidFill>
                                <a:latin typeface="Cambria Math" panose="02040503050406030204" pitchFamily="18" charset="0"/>
                              </a:rPr>
                              <m:t>15</m:t>
                            </m:r>
                          </m:num>
                          <m:den>
                            <m:r>
                              <a:rPr lang="vi-VN" sz="2400" b="0">
                                <a:solidFill>
                                  <a:srgbClr val="1E293B"/>
                                </a:solidFill>
                                <a:latin typeface="Cambria Math" panose="02040503050406030204" pitchFamily="18" charset="0"/>
                              </a:rPr>
                              <m:t>4</m:t>
                            </m:r>
                          </m:den>
                        </m:f>
                      </m:e>
                    </m:d>
                  </m:oMath>
                </a14:m>
              </a:p>
            </p:txBody>
          </p:sp>
        </mc:Choice>
        <mc:Fallback>
          <p:sp>
            <p:nvSpPr>
              <p:cNvPr id="20" name="TextBox 19"/>
              <p:cNvSpPr txBox="1"/>
              <p:nvPr/>
            </p:nvSpPr>
            <p:spPr>
              <a:xfrm>
                <a:off x="501091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\left(\frac{1}{2};\ \frac{15}{4}\right)</a:t>
                </a:r>
              </a:p>
            </p:txBody>
          </p:sp>
        </mc:Fallback>
      </mc:AlternateContent>
      <p:pic>
        <p:nvPicPr>
          <p:cNvPr id="21" name="Picture 20" descr="h433.png"/>
          <p:cNvPicPr>
            <a:picLocks noChangeAspect="1"/>
          </p:cNvPicPr>
          <p:nvPr/>
        </p:nvPicPr>
        <p:blipFill>
          <a:blip r:embed="rId3"/>
          <a:stretch>
            <a:fillRect/>
          </a:stretch>
        </p:blipFill>
        <p:spPr>
          <a:xfrm>
            <a:off x="8412480" y="2138503"/>
            <a:ext cx="3291839" cy="267243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ĐIỂM – ĐỘ DÀI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HĐ4.</a:t>
                </a:r>
                <a:r>
                  <a:rPr sz="2000">
                    <a:solidFill>
                      <a:srgbClr val="1E293B"/>
                    </a:solidFill>
                    <a:latin typeface="Calibri"/>
                  </a:rPr>
                  <a:t> Cho điểm </a:t>
                </a:r>
                <a14:m>
                  <m:oMath xmlns:m="http://schemas.openxmlformats.org/officeDocument/2006/math">
                    <m:r>
                      <a:rPr lang="vi-VN" sz="2000" b="0">
                        <a:solidFill>
                          <a:srgbClr val="1E293B"/>
                        </a:solidFill>
                        <a:latin typeface="Cambria Math" panose="02040503050406030204" pitchFamily="18" charset="0"/>
                      </a:rPr>
                      <m:t>M(</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P,</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Q</m:t>
                    </m:r>
                  </m:oMath>
                </a14:m>
                <a:r>
                  <a:rPr sz="2000">
                    <a:solidFill>
                      <a:srgbClr val="1E293B"/>
                    </a:solidFill>
                    <a:latin typeface="Calibri"/>
                  </a:rPr>
                  <a:t> là hình chiếu vuông góc của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oMath>
                </a14:m>
                <a:r>
                  <a:rPr sz="2000">
                    <a:solidFill>
                      <a:srgbClr val="1E293B"/>
                    </a:solidFill>
                    <a:latin typeface="Calibri"/>
                  </a:rPr>
                  <a:t> (H.4.35). a), b) </a:t>
                </a:r>
                <a14:m>
                  <m:oMath xmlns:m="http://schemas.openxmlformats.org/officeDocument/2006/math">
                    <m:r>
                      <a:rPr lang="vi-VN" sz="2000" b="0">
                        <a:solidFill>
                          <a:srgbClr val="1E293B"/>
                        </a:solidFill>
                        <a:latin typeface="Cambria Math" panose="02040503050406030204" pitchFamily="18" charset="0"/>
                      </a:rPr>
                      <m:t>P,</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Q</m:t>
                    </m:r>
                  </m:oMath>
                </a14:m>
                <a:r>
                  <a:rPr sz="2000">
                    <a:solidFill>
                      <a:srgbClr val="1E293B"/>
                    </a:solidFill>
                    <a:latin typeface="Calibri"/>
                  </a:rPr>
                  <a:t> biểu diễn số nào? Biểu thị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OQ</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và tính độ dài. c) Tính độ dài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theo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d) Biểu thị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a:t>
                </a:r>
              </a:p>
            </p:txBody>
          </p:sp>
        </mc:Choice>
        <mc:Fallback>
          <p:sp>
            <p:nvSpPr>
              <p:cNvPr id="7" name="TextBox 6"/>
              <p:cNvSpPr txBox="1"/>
              <p:nvPr/>
            </p:nvSpPr>
            <p:spPr>
              <a:xfrm>
                <a:off x="548640" y="1371600"/>
                <a:ext cx="822960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HĐ4.</a:t>
                </a:r>
                <a:r>
                  <a:rPr sz="2000">
                    <a:solidFill>
                      <a:srgbClr val="1E293B"/>
                    </a:solidFill>
                    <a:latin typeface="Calibri"/>
                  </a:rPr>
                  <a:t> Cho điểm </a:t>
                </a:r>
                <a:r>
                  <a:rPr lang="vi-VN"/>
                  <a:t>M(x_0;\ y_0)</a:t>
                </a:r>
                <a:r>
                  <a:rPr sz="2000">
                    <a:solidFill>
                      <a:srgbClr val="1E293B"/>
                    </a:solidFill>
                    <a:latin typeface="Calibri"/>
                  </a:rPr>
                  <a:t>; </a:t>
                </a:r>
                <a:r>
                  <a:rPr lang="vi-VN"/>
                  <a:t>P,\ Q</a:t>
                </a:r>
                <a:r>
                  <a:rPr sz="2000">
                    <a:solidFill>
                      <a:srgbClr val="1E293B"/>
                    </a:solidFill>
                    <a:latin typeface="Calibri"/>
                  </a:rPr>
                  <a:t> là hình chiếu vuông góc của </a:t>
                </a:r>
                <a:r>
                  <a:rPr lang="vi-VN"/>
                  <a:t>M</a:t>
                </a:r>
                <a:r>
                  <a:rPr sz="2000">
                    <a:solidFill>
                      <a:srgbClr val="1E293B"/>
                    </a:solidFill>
                    <a:latin typeface="Calibri"/>
                  </a:rPr>
                  <a:t> trên </a:t>
                </a:r>
                <a:r>
                  <a:rPr lang="vi-VN"/>
                  <a:t>Ox,\ Oy</a:t>
                </a:r>
                <a:r>
                  <a:rPr sz="2000">
                    <a:solidFill>
                      <a:srgbClr val="1E293B"/>
                    </a:solidFill>
                    <a:latin typeface="Calibri"/>
                  </a:rPr>
                  <a:t> (H.4.35). a), b) </a:t>
                </a:r>
                <a:r>
                  <a:rPr lang="vi-VN"/>
                  <a:t>P,\ Q</a:t>
                </a:r>
                <a:r>
                  <a:rPr sz="2000">
                    <a:solidFill>
                      <a:srgbClr val="1E293B"/>
                    </a:solidFill>
                    <a:latin typeface="Calibri"/>
                  </a:rPr>
                  <a:t> biểu diễn số nào? Biểu thị </a:t>
                </a:r>
                <a:r>
                  <a:rPr lang="vi-VN"/>
                  <a:t>\overrightarrow{OP}</a:t>
                </a:r>
                <a:r>
                  <a:rPr sz="2000">
                    <a:solidFill>
                      <a:srgbClr val="1E293B"/>
                    </a:solidFill>
                    <a:latin typeface="Calibri"/>
                  </a:rPr>
                  <a:t>, </a:t>
                </a:r>
                <a:r>
                  <a:rPr lang="vi-VN"/>
                  <a:t>\overrightarrow{OQ}</a:t>
                </a:r>
                <a:r>
                  <a:rPr sz="2000">
                    <a:solidFill>
                      <a:srgbClr val="1E293B"/>
                    </a:solidFill>
                    <a:latin typeface="Calibri"/>
                  </a:rPr>
                  <a:t> theo </a:t>
                </a:r>
                <a:r>
                  <a:rPr lang="vi-VN"/>
                  <a:t>\vec{i},\ \vec{j}</a:t>
                </a:r>
                <a:r>
                  <a:rPr sz="2000">
                    <a:solidFill>
                      <a:srgbClr val="1E293B"/>
                    </a:solidFill>
                    <a:latin typeface="Calibri"/>
                  </a:rPr>
                  <a:t> và tính độ dài. c) Tính độ dài </a:t>
                </a:r>
                <a:r>
                  <a:rPr lang="vi-VN"/>
                  <a:t>\overrightarrow{OM}</a:t>
                </a:r>
                <a:r>
                  <a:rPr sz="2000">
                    <a:solidFill>
                      <a:srgbClr val="1E293B"/>
                    </a:solidFill>
                    <a:latin typeface="Calibri"/>
                  </a:rPr>
                  <a:t> theo </a:t>
                </a:r>
                <a:r>
                  <a:rPr lang="vi-VN"/>
                  <a:t>x_0,\ y_0</a:t>
                </a:r>
                <a:r>
                  <a:rPr sz="2000">
                    <a:solidFill>
                      <a:srgbClr val="1E293B"/>
                    </a:solidFill>
                    <a:latin typeface="Calibri"/>
                  </a:rPr>
                  <a:t>. d) Biểu thị </a:t>
                </a:r>
                <a:r>
                  <a:rPr lang="vi-VN"/>
                  <a:t>\overrightarrow{OM}</a:t>
                </a:r>
                <a:r>
                  <a:rPr sz="2000">
                    <a:solidFill>
                      <a:srgbClr val="1E293B"/>
                    </a:solidFill>
                    <a:latin typeface="Calibri"/>
                  </a:rPr>
                  <a:t> theo </a:t>
                </a:r>
                <a:r>
                  <a:rPr lang="vi-VN"/>
                  <a:t>\vec{i},\ \vec{j}</a:t>
                </a:r>
                <a:r>
                  <a:rPr sz="2000">
                    <a:solidFill>
                      <a:srgbClr val="1E293B"/>
                    </a:solidFill>
                    <a:latin typeface="Calibri"/>
                  </a:rPr>
                  <a:t>.</a:t>
                </a:r>
              </a:p>
            </p:txBody>
          </p:sp>
        </mc:Fallback>
      </mc:AlternateContent>
      <p:sp>
        <p:nvSpPr>
          <p:cNvPr id="8" name="s1_nen"/>
          <p:cNvSpPr/>
          <p:nvPr/>
        </p:nvSpPr>
        <p:spPr>
          <a:xfrm>
            <a:off x="548640" y="2837688"/>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74264"/>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b)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biểu diễn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i</m:t>
                        </m:r>
                      </m:e>
                    </m:acc>
                  </m:oMath>
                </a14:m>
                <a:r>
                  <a:rPr sz="2000">
                    <a:solidFill>
                      <a:srgbClr val="1E293B"/>
                    </a:solidFill>
                    <a:latin typeface="Calibri"/>
                  </a:rPr>
                  <a:t>, </a:t>
                </a:r>
                <a14:m>
                  <m:oMath xmlns:m="http://schemas.openxmlformats.org/officeDocument/2006/math">
                    <m:d>
                      <m:dPr>
                        <m:begChr m:val="|"/>
                        <m:sepChr m:val=""/>
                        <m:endChr m:val="|"/>
                      </m:dPr>
                      <m:e>
                        <m:acc>
                          <m:accPr>
                            <m:chr m:val="⃗"/>
                          </m:accPr>
                          <m:e>
                            <m:r>
                              <a:rPr lang="vi-VN" sz="2000" b="0">
                                <a:solidFill>
                                  <a:srgbClr val="1E293B"/>
                                </a:solidFill>
                                <a:latin typeface="Cambria Math" panose="02040503050406030204" pitchFamily="18" charset="0"/>
                              </a:rPr>
                              <m:t>OP</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Q</m:t>
                    </m:r>
                  </m:oMath>
                </a14:m>
                <a:r>
                  <a:rPr sz="2000">
                    <a:solidFill>
                      <a:srgbClr val="1E293B"/>
                    </a:solidFill>
                    <a:latin typeface="Calibri"/>
                  </a:rPr>
                  <a:t> biểu diễn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OQ</m:t>
                        </m:r>
                      </m:e>
                    </m:acc>
                  </m:oMath>
                </a14:m>
                <a:r>
                  <a:rPr sz="2000">
                    <a:solidFill>
                      <a:srgbClr val="1E293B"/>
                    </a:solidFill>
                    <a:latin typeface="Calibri"/>
                  </a:rPr>
                  <a:t> =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d>
                      <m:dPr>
                        <m:begChr m:val="|"/>
                        <m:sepChr m:val=""/>
                        <m:endChr m:val="|"/>
                      </m:dPr>
                      <m:e>
                        <m:acc>
                          <m:accPr>
                            <m:chr m:val="⃗"/>
                          </m:accPr>
                          <m:e>
                            <m:r>
                              <a:rPr lang="vi-VN" sz="2000" b="0">
                                <a:solidFill>
                                  <a:srgbClr val="1E293B"/>
                                </a:solidFill>
                                <a:latin typeface="Cambria Math" panose="02040503050406030204" pitchFamily="18" charset="0"/>
                              </a:rPr>
                              <m:t>OQ</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a:t>
                </a:r>
              </a:p>
            </p:txBody>
          </p:sp>
        </mc:Choice>
        <mc:Fallback>
          <p:sp>
            <p:nvSpPr>
              <p:cNvPr id="9" name="TextBox 8"/>
              <p:cNvSpPr txBox="1"/>
              <p:nvPr/>
            </p:nvSpPr>
            <p:spPr>
              <a:xfrm>
                <a:off x="713232" y="2874264"/>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b) </a:t>
                </a:r>
                <a:r>
                  <a:rPr lang="vi-VN"/>
                  <a:t>P</a:t>
                </a:r>
                <a:r>
                  <a:rPr sz="2000">
                    <a:solidFill>
                      <a:srgbClr val="1E293B"/>
                    </a:solidFill>
                    <a:latin typeface="Calibri"/>
                  </a:rPr>
                  <a:t> biểu diễn </a:t>
                </a:r>
                <a:r>
                  <a:rPr lang="vi-VN"/>
                  <a:t>x_0</a:t>
                </a:r>
                <a:r>
                  <a:rPr sz="2000">
                    <a:solidFill>
                      <a:srgbClr val="1E293B"/>
                    </a:solidFill>
                    <a:latin typeface="Calibri"/>
                  </a:rPr>
                  <a:t>: </a:t>
                </a:r>
                <a:r>
                  <a:rPr lang="vi-VN"/>
                  <a:t>\overrightarrow{OP}</a:t>
                </a:r>
                <a:r>
                  <a:rPr sz="2000">
                    <a:solidFill>
                      <a:srgbClr val="1E293B"/>
                    </a:solidFill>
                    <a:latin typeface="Calibri"/>
                  </a:rPr>
                  <a:t> = </a:t>
                </a:r>
                <a:r>
                  <a:rPr lang="vi-VN"/>
                  <a:t>x_0\vec{i}</a:t>
                </a:r>
                <a:r>
                  <a:rPr sz="2000">
                    <a:solidFill>
                      <a:srgbClr val="1E293B"/>
                    </a:solidFill>
                    <a:latin typeface="Calibri"/>
                  </a:rPr>
                  <a:t>, </a:t>
                </a:r>
                <a:r>
                  <a:rPr lang="vi-VN"/>
                  <a:t>|\overrightarrow{OP}|=|x_0|</a:t>
                </a:r>
                <a:r>
                  <a:rPr sz="2000">
                    <a:solidFill>
                      <a:srgbClr val="1E293B"/>
                    </a:solidFill>
                    <a:latin typeface="Calibri"/>
                  </a:rPr>
                  <a:t>; </a:t>
                </a:r>
                <a:r>
                  <a:rPr lang="vi-VN"/>
                  <a:t>Q</a:t>
                </a:r>
                <a:r>
                  <a:rPr sz="2000">
                    <a:solidFill>
                      <a:srgbClr val="1E293B"/>
                    </a:solidFill>
                    <a:latin typeface="Calibri"/>
                  </a:rPr>
                  <a:t> biểu diễn </a:t>
                </a:r>
                <a:r>
                  <a:rPr lang="vi-VN"/>
                  <a:t>y_0</a:t>
                </a:r>
                <a:r>
                  <a:rPr sz="2000">
                    <a:solidFill>
                      <a:srgbClr val="1E293B"/>
                    </a:solidFill>
                    <a:latin typeface="Calibri"/>
                  </a:rPr>
                  <a:t>: </a:t>
                </a:r>
                <a:r>
                  <a:rPr lang="vi-VN"/>
                  <a:t>\overrightarrow{OQ}</a:t>
                </a:r>
                <a:r>
                  <a:rPr sz="2000">
                    <a:solidFill>
                      <a:srgbClr val="1E293B"/>
                    </a:solidFill>
                    <a:latin typeface="Calibri"/>
                  </a:rPr>
                  <a:t> = </a:t>
                </a:r>
                <a:r>
                  <a:rPr lang="vi-VN"/>
                  <a:t>y_0\vec{j}</a:t>
                </a:r>
                <a:r>
                  <a:rPr sz="2000">
                    <a:solidFill>
                      <a:srgbClr val="1E293B"/>
                    </a:solidFill>
                    <a:latin typeface="Calibri"/>
                  </a:rPr>
                  <a:t>, </a:t>
                </a:r>
                <a:r>
                  <a:rPr lang="vi-VN"/>
                  <a:t>|\overrightarrow{OQ}|=|y_0|</a:t>
                </a:r>
                <a:r>
                  <a:rPr sz="2000">
                    <a:solidFill>
                      <a:srgbClr val="1E293B"/>
                    </a:solidFill>
                    <a:latin typeface="Calibri"/>
                  </a:rPr>
                  <a:t>.</a:t>
                </a:r>
              </a:p>
            </p:txBody>
          </p:sp>
        </mc:Fallback>
      </mc:AlternateContent>
      <p:sp>
        <p:nvSpPr>
          <p:cNvPr id="10" name="s2_nen"/>
          <p:cNvSpPr/>
          <p:nvPr/>
        </p:nvSpPr>
        <p:spPr>
          <a:xfrm>
            <a:off x="548640" y="3785616"/>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822192"/>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a:rPr lang="vi-VN" sz="2000" b="0">
                        <a:solidFill>
                          <a:srgbClr val="1E293B"/>
                        </a:solidFill>
                        <a:latin typeface="Cambria Math" panose="02040503050406030204" pitchFamily="18" charset="0"/>
                      </a:rPr>
                      <m:t>OM=</m:t>
                    </m:r>
                    <m:rad>
                      <m:radPr>
                        <m:degHide m:val="on"/>
                      </m:radPr>
                      <m:deg/>
                      <m:e>
                        <m:sSubSup>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up>
                            <m:r>
                              <a:rPr lang="vi-VN" sz="2000" b="0">
                                <a:solidFill>
                                  <a:srgbClr val="1E293B"/>
                                </a:solidFill>
                                <a:latin typeface="Cambria Math" panose="02040503050406030204" pitchFamily="18" charset="0"/>
                              </a:rPr>
                              <m:t>2</m:t>
                            </m:r>
                          </m:sup>
                        </m:sSubSup>
                      </m:e>
                    </m:rad>
                  </m:oMath>
                </a14:m>
                <a:r>
                  <a:rPr sz="2000">
                    <a:solidFill>
                      <a:srgbClr val="1E293B"/>
                    </a:solidFill>
                    <a:latin typeface="Calibri"/>
                  </a:rPr>
                  <a:t>; d)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OQ</m:t>
                        </m:r>
                      </m:e>
                    </m:acc>
                  </m:oMath>
                </a14:m>
                <a:r>
                  <a:rPr sz="2000">
                    <a:solidFill>
                      <a:srgbClr val="1E293B"/>
                    </a:solidFill>
                    <a:latin typeface="Calibri"/>
                  </a:rPr>
                  <a:t> =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a:t>
                </a:r>
              </a:p>
            </p:txBody>
          </p:sp>
        </mc:Choice>
        <mc:Fallback>
          <p:sp>
            <p:nvSpPr>
              <p:cNvPr id="11" name="TextBox 10"/>
              <p:cNvSpPr txBox="1"/>
              <p:nvPr/>
            </p:nvSpPr>
            <p:spPr>
              <a:xfrm>
                <a:off x="713232" y="3822192"/>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OM=\sqrt{x_0^2+y_0^2}</a:t>
                </a:r>
                <a:r>
                  <a:rPr sz="2000">
                    <a:solidFill>
                      <a:srgbClr val="1E293B"/>
                    </a:solidFill>
                    <a:latin typeface="Calibri"/>
                  </a:rPr>
                  <a:t>; d) </a:t>
                </a:r>
                <a:r>
                  <a:rPr lang="vi-VN"/>
                  <a:t>\overrightarrow{OM}</a:t>
                </a:r>
                <a:r>
                  <a:rPr sz="2000">
                    <a:solidFill>
                      <a:srgbClr val="1E293B"/>
                    </a:solidFill>
                    <a:latin typeface="Calibri"/>
                  </a:rPr>
                  <a:t> = </a:t>
                </a:r>
                <a:r>
                  <a:rPr lang="vi-VN"/>
                  <a:t>\overrightarrow{OP}</a:t>
                </a:r>
                <a:r>
                  <a:rPr sz="2000">
                    <a:solidFill>
                      <a:srgbClr val="1E293B"/>
                    </a:solidFill>
                    <a:latin typeface="Calibri"/>
                  </a:rPr>
                  <a:t> + </a:t>
                </a:r>
                <a:r>
                  <a:rPr lang="vi-VN"/>
                  <a:t>\overrightarrow{OQ}</a:t>
                </a:r>
                <a:r>
                  <a:rPr sz="2000">
                    <a:solidFill>
                      <a:srgbClr val="1E293B"/>
                    </a:solidFill>
                    <a:latin typeface="Calibri"/>
                  </a:rPr>
                  <a:t> = </a:t>
                </a:r>
                <a:r>
                  <a:rPr lang="vi-VN"/>
                  <a:t>x_0\vec{i}+y_0\vec{j}</a:t>
                </a:r>
                <a:r>
                  <a:rPr sz="2000">
                    <a:solidFill>
                      <a:srgbClr val="1E293B"/>
                    </a:solidFill>
                    <a:latin typeface="Calibri"/>
                  </a:rPr>
                  <a:t>.</a:t>
                </a:r>
              </a:p>
            </p:txBody>
          </p:sp>
        </mc:Fallback>
      </mc:AlternateContent>
      <p:sp>
        <p:nvSpPr>
          <p:cNvPr id="12" name="s3_nen"/>
          <p:cNvSpPr/>
          <p:nvPr/>
        </p:nvSpPr>
        <p:spPr>
          <a:xfrm>
            <a:off x="548640" y="4428744"/>
            <a:ext cx="822960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465320"/>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Nếu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có toạ độ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e>
                    </m:d>
                  </m:oMath>
                </a14:m>
                <a:r>
                  <a:rPr sz="2000">
                    <a:solidFill>
                      <a:srgbClr val="1E293B"/>
                    </a:solidFill>
                    <a:latin typeface="Calibri"/>
                  </a:rPr>
                  <a:t> thì vectơ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có toạ độ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e>
                    </m:d>
                  </m:oMath>
                </a14:m>
                <a:r>
                  <a:rPr sz="2000">
                    <a:solidFill>
                      <a:srgbClr val="1E293B"/>
                    </a:solidFill>
                    <a:latin typeface="Calibri"/>
                  </a:rPr>
                  <a:t> và độ dài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OM</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a:t>
                </a:r>
              </a:p>
            </p:txBody>
          </p:sp>
        </mc:Choice>
        <mc:Fallback>
          <p:sp>
            <p:nvSpPr>
              <p:cNvPr id="13" name="TextBox 12"/>
              <p:cNvSpPr txBox="1"/>
              <p:nvPr/>
            </p:nvSpPr>
            <p:spPr>
              <a:xfrm>
                <a:off x="713232" y="4465320"/>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Nếu điểm </a:t>
                </a:r>
                <a:r>
                  <a:rPr lang="vi-VN"/>
                  <a:t>M</a:t>
                </a:r>
                <a:r>
                  <a:rPr sz="2000">
                    <a:solidFill>
                      <a:srgbClr val="1E293B"/>
                    </a:solidFill>
                    <a:latin typeface="Calibri"/>
                  </a:rPr>
                  <a:t> có toạ độ </a:t>
                </a:r>
                <a:r>
                  <a:rPr lang="vi-VN"/>
                  <a:t>(x;\ y)</a:t>
                </a:r>
                <a:r>
                  <a:rPr sz="2000">
                    <a:solidFill>
                      <a:srgbClr val="1E293B"/>
                    </a:solidFill>
                    <a:latin typeface="Calibri"/>
                  </a:rPr>
                  <a:t> thì vectơ </a:t>
                </a:r>
                <a:r>
                  <a:rPr lang="vi-VN"/>
                  <a:t>\overrightarrow{OM}</a:t>
                </a:r>
                <a:r>
                  <a:rPr sz="2000">
                    <a:solidFill>
                      <a:srgbClr val="1E293B"/>
                    </a:solidFill>
                    <a:latin typeface="Calibri"/>
                  </a:rPr>
                  <a:t> có toạ độ </a:t>
                </a:r>
                <a:r>
                  <a:rPr lang="vi-VN"/>
                  <a:t>(x;\ y)</a:t>
                </a:r>
                <a:r>
                  <a:rPr sz="2000">
                    <a:solidFill>
                      <a:srgbClr val="1E293B"/>
                    </a:solidFill>
                    <a:latin typeface="Calibri"/>
                  </a:rPr>
                  <a:t> và độ dài </a:t>
                </a:r>
                <a:r>
                  <a:rPr lang="vi-VN"/>
                  <a:t>|\overrightarrow{OM}|=\sqrt{x^2+y^2}</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s4_chu"/>
              <p:cNvSpPr txBox="1"/>
              <p:nvPr/>
            </p:nvSpPr>
            <p:spPr>
              <a:xfrm>
                <a:off x="548640" y="5376672"/>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Với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Chẳng hạn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2</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5</m:t>
                        </m:r>
                      </m:e>
                    </m:rad>
                  </m:oMath>
                </a14:m>
                <a:r>
                  <a:rPr sz="2000">
                    <a:solidFill>
                      <a:srgbClr val="1E293B"/>
                    </a:solidFill>
                    <a:latin typeface="Calibri"/>
                  </a:rPr>
                  <a:t>.</a:t>
                </a:r>
              </a:p>
            </p:txBody>
          </p:sp>
        </mc:Choice>
        <mc:Fallback>
          <p:sp>
            <p:nvSpPr>
              <p:cNvPr id="14" name="TextBox 13"/>
              <p:cNvSpPr txBox="1"/>
              <p:nvPr/>
            </p:nvSpPr>
            <p:spPr>
              <a:xfrm>
                <a:off x="548640" y="5376672"/>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Với </a:t>
                </a:r>
                <a:r>
                  <a:rPr lang="vi-VN"/>
                  <a:t>\vec{u}=(x;\ y)</a:t>
                </a:r>
                <a:r>
                  <a:rPr sz="2000">
                    <a:solidFill>
                      <a:srgbClr val="1E293B"/>
                    </a:solidFill>
                    <a:latin typeface="Calibri"/>
                  </a:rPr>
                  <a:t>: </a:t>
                </a:r>
                <a:r>
                  <a:rPr lang="vi-VN"/>
                  <a:t>|\vec{u}|=\sqrt{x^2+y^2}</a:t>
                </a:r>
                <a:r>
                  <a:rPr sz="2000">
                    <a:solidFill>
                      <a:srgbClr val="1E293B"/>
                    </a:solidFill>
                    <a:latin typeface="Calibri"/>
                  </a:rPr>
                  <a:t>. Chẳng hạn </a:t>
                </a:r>
                <a:r>
                  <a:rPr lang="vi-VN"/>
                  <a:t>\vec{u}=(2;\ -1)</a:t>
                </a:r>
                <a:r>
                  <a:rPr sz="2000">
                    <a:solidFill>
                      <a:srgbClr val="1E293B"/>
                    </a:solidFill>
                    <a:latin typeface="Calibri"/>
                  </a:rPr>
                  <a:t> có </a:t>
                </a:r>
                <a:r>
                  <a:rPr lang="vi-VN"/>
                  <a:t>|\vec{u}|=\sqrt{2^2+(-1)^2}=\sqrt{5}</a:t>
                </a:r>
                <a:r>
                  <a:rPr sz="2000">
                    <a:solidFill>
                      <a:srgbClr val="1E293B"/>
                    </a:solidFill>
                    <a:latin typeface="Calibri"/>
                  </a:rPr>
                  <a:t>.</a:t>
                </a:r>
              </a:p>
            </p:txBody>
          </p:sp>
        </mc:Fallback>
      </mc:AlternateContent>
      <p:pic>
        <p:nvPicPr>
          <p:cNvPr id="15" name="Picture 14" descr="h435.png"/>
          <p:cNvPicPr>
            <a:picLocks noChangeAspect="1"/>
          </p:cNvPicPr>
          <p:nvPr/>
        </p:nvPicPr>
        <p:blipFill>
          <a:blip r:embed="rId3"/>
          <a:stretch>
            <a:fillRect/>
          </a:stretch>
        </p:blipFill>
        <p:spPr>
          <a:xfrm>
            <a:off x="9052560" y="1583441"/>
            <a:ext cx="2651760" cy="2136637"/>
          </a:xfrm>
          <a:prstGeom prst="rect">
            <a:avLst/>
          </a:prstGeom>
        </p:spPr>
      </p:pic>
      <p:sp>
        <p:nvSpPr>
          <p:cNvPr id="16" name="TextBox 15"/>
          <p:cNvSpPr txBox="1"/>
          <p:nvPr/>
        </p:nvSpPr>
        <p:spPr>
          <a:xfrm>
            <a:off x="9052560" y="385876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NỐI HAI ĐIỂM – KHOẢNG CÁCH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HĐ5.</a:t>
                </a:r>
                <a:r>
                  <a:rPr sz="2200">
                    <a:solidFill>
                      <a:srgbClr val="1E293B"/>
                    </a:solidFill>
                    <a:latin typeface="Calibri"/>
                  </a:rPr>
                  <a:t> Cho các điểm </a:t>
                </a: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N(</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 Tìm toạ độ của các vectơ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b) Biểu thị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theo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và tìm toạ độ của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c) Tìm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HĐ5.</a:t>
                </a:r>
                <a:r>
                  <a:rPr sz="2200">
                    <a:solidFill>
                      <a:srgbClr val="1E293B"/>
                    </a:solidFill>
                    <a:latin typeface="Calibri"/>
                  </a:rPr>
                  <a:t> Cho các điểm </a:t>
                </a:r>
                <a:r>
                  <a:rPr lang="vi-VN"/>
                  <a:t>M(x;\ y)</a:t>
                </a:r>
                <a:r>
                  <a:rPr sz="2200">
                    <a:solidFill>
                      <a:srgbClr val="1E293B"/>
                    </a:solidFill>
                    <a:latin typeface="Calibri"/>
                  </a:rPr>
                  <a:t> và </a:t>
                </a:r>
                <a:r>
                  <a:rPr lang="vi-VN"/>
                  <a:t>N(x';\ y')</a:t>
                </a:r>
                <a:r>
                  <a:rPr sz="2200">
                    <a:solidFill>
                      <a:srgbClr val="1E293B"/>
                    </a:solidFill>
                    <a:latin typeface="Calibri"/>
                  </a:rPr>
                  <a:t>. a) Tìm toạ độ của các vectơ </a:t>
                </a:r>
                <a:r>
                  <a:rPr lang="vi-VN"/>
                  <a:t>\overrightarrow{OM}</a:t>
                </a:r>
                <a:r>
                  <a:rPr sz="2200">
                    <a:solidFill>
                      <a:srgbClr val="1E293B"/>
                    </a:solidFill>
                    <a:latin typeface="Calibri"/>
                  </a:rPr>
                  <a:t>, </a:t>
                </a:r>
                <a:r>
                  <a:rPr lang="vi-VN"/>
                  <a:t>\overrightarrow{ON}</a:t>
                </a:r>
                <a:r>
                  <a:rPr sz="2200">
                    <a:solidFill>
                      <a:srgbClr val="1E293B"/>
                    </a:solidFill>
                    <a:latin typeface="Calibri"/>
                  </a:rPr>
                  <a:t>. b) Biểu thị </a:t>
                </a:r>
                <a:r>
                  <a:rPr lang="vi-VN"/>
                  <a:t>\overrightarrow{MN}</a:t>
                </a:r>
                <a:r>
                  <a:rPr sz="2200">
                    <a:solidFill>
                      <a:srgbClr val="1E293B"/>
                    </a:solidFill>
                    <a:latin typeface="Calibri"/>
                  </a:rPr>
                  <a:t> theo </a:t>
                </a:r>
                <a:r>
                  <a:rPr lang="vi-VN"/>
                  <a:t>\overrightarrow{OM}</a:t>
                </a:r>
                <a:r>
                  <a:rPr sz="2200">
                    <a:solidFill>
                      <a:srgbClr val="1E293B"/>
                    </a:solidFill>
                    <a:latin typeface="Calibri"/>
                  </a:rPr>
                  <a:t>, </a:t>
                </a:r>
                <a:r>
                  <a:rPr lang="vi-VN"/>
                  <a:t>\overrightarrow{ON}</a:t>
                </a:r>
                <a:r>
                  <a:rPr sz="2200">
                    <a:solidFill>
                      <a:srgbClr val="1E293B"/>
                    </a:solidFill>
                    <a:latin typeface="Calibri"/>
                  </a:rPr>
                  <a:t> và tìm toạ độ của </a:t>
                </a:r>
                <a:r>
                  <a:rPr lang="vi-VN"/>
                  <a:t>\overrightarrow{MN}</a:t>
                </a:r>
                <a:r>
                  <a:rPr sz="2200">
                    <a:solidFill>
                      <a:srgbClr val="1E293B"/>
                    </a:solidFill>
                    <a:latin typeface="Calibri"/>
                  </a:rPr>
                  <a:t>. c) Tìm độ dài của vectơ </a:t>
                </a:r>
                <a:r>
                  <a:rPr lang="vi-VN"/>
                  <a:t>\overrightarrow{MN}</a:t>
                </a:r>
                <a:r>
                  <a:rPr sz="2200">
                    <a:solidFill>
                      <a:srgbClr val="1E293B"/>
                    </a:solidFill>
                    <a:latin typeface="Calibri"/>
                  </a:rPr>
                  <a:t>.</a:t>
                </a:r>
              </a:p>
            </p:txBody>
          </p:sp>
        </mc:Fallback>
      </mc:AlternateContent>
      <p:sp>
        <p:nvSpPr>
          <p:cNvPr id="8" name="s1_nen"/>
          <p:cNvSpPr/>
          <p:nvPr/>
        </p:nvSpPr>
        <p:spPr>
          <a:xfrm>
            <a:off x="548640" y="2688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e>
                    </m:d>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e>
                    </m:d>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oMath>
                </a14:m>
                <a:r>
                  <a:rPr sz="2200">
                    <a:solidFill>
                      <a:srgbClr val="1E293B"/>
                    </a:solidFill>
                    <a:latin typeface="Calibri"/>
                  </a:rPr>
                  <a:t>; c) </a:t>
                </a:r>
                <a14:m>
                  <m:oMath xmlns:m="http://schemas.openxmlformats.org/officeDocument/2006/math">
                    <m:r>
                      <a:rPr lang="vi-VN" sz="2200" b="0">
                        <a:solidFill>
                          <a:srgbClr val="1E293B"/>
                        </a:solidFill>
                        <a:latin typeface="Cambria Math" panose="02040503050406030204" pitchFamily="18" charset="0"/>
                      </a:rPr>
                      <m:t>MN=</m:t>
                    </m:r>
                    <m:rad>
                      <m:radPr>
                        <m:degHide m:val="on"/>
                      </m:radPr>
                      <m:deg/>
                      <m:e>
                        <m:sSup>
                          <m:e>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9" name="TextBox 8"/>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\overrightarrow{OM}</a:t>
                </a:r>
                <a:r>
                  <a:rPr sz="2200">
                    <a:solidFill>
                      <a:srgbClr val="1E293B"/>
                    </a:solidFill>
                    <a:latin typeface="Calibri"/>
                  </a:rPr>
                  <a:t> = </a:t>
                </a:r>
                <a:r>
                  <a:rPr lang="vi-VN"/>
                  <a:t>(x;\ y)</a:t>
                </a:r>
                <a:r>
                  <a:rPr sz="2200">
                    <a:solidFill>
                      <a:srgbClr val="1E293B"/>
                    </a:solidFill>
                    <a:latin typeface="Calibri"/>
                  </a:rPr>
                  <a:t>, </a:t>
                </a:r>
                <a:r>
                  <a:rPr lang="vi-VN"/>
                  <a:t>\overrightarrow{ON}</a:t>
                </a:r>
                <a:r>
                  <a:rPr sz="2200">
                    <a:solidFill>
                      <a:srgbClr val="1E293B"/>
                    </a:solidFill>
                    <a:latin typeface="Calibri"/>
                  </a:rPr>
                  <a:t> = </a:t>
                </a:r>
                <a:r>
                  <a:rPr lang="vi-VN"/>
                  <a:t>(x';\ y')</a:t>
                </a:r>
                <a:r>
                  <a:rPr sz="2200">
                    <a:solidFill>
                      <a:srgbClr val="1E293B"/>
                    </a:solidFill>
                    <a:latin typeface="Calibri"/>
                  </a:rPr>
                  <a:t>; b)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(x'-x;\ y'-y)</a:t>
                </a:r>
                <a:r>
                  <a:rPr sz="2200">
                    <a:solidFill>
                      <a:srgbClr val="1E293B"/>
                    </a:solidFill>
                    <a:latin typeface="Calibri"/>
                  </a:rPr>
                  <a:t>; c) </a:t>
                </a:r>
                <a:r>
                  <a:rPr lang="vi-VN"/>
                  <a:t>MN=\sqrt{(x'-x)^2+(y'-y)^2}</a:t>
                </a:r>
                <a:r>
                  <a:rPr sz="2200">
                    <a:solidFill>
                      <a:srgbClr val="1E293B"/>
                    </a:solidFill>
                    <a:latin typeface="Calibri"/>
                  </a:rPr>
                  <a:t>.</a:t>
                </a:r>
              </a:p>
            </p:txBody>
          </p:sp>
        </mc:Fallback>
      </mc:AlternateContent>
      <p:sp>
        <p:nvSpPr>
          <p:cNvPr id="10" name="s2_nen"/>
          <p:cNvSpPr/>
          <p:nvPr/>
        </p:nvSpPr>
        <p:spPr>
          <a:xfrm>
            <a:off x="548640" y="3761232"/>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97808"/>
                <a:ext cx="10735056" cy="86258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hai điểm </a:t>
                </a:r>
                <a14:m>
                  <m:oMath xmlns:m="http://schemas.openxmlformats.org/officeDocument/2006/math">
                    <m:r>
                      <a:rPr lang="vi-VN" sz="2400" b="0">
                        <a:solidFill>
                          <a:srgbClr val="1E293B"/>
                        </a:solidFill>
                        <a:latin typeface="Cambria Math" panose="02040503050406030204" pitchFamily="18" charset="0"/>
                      </a:rPr>
                      <m:t>M(x;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thì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 = </a:t>
                </a:r>
                <a14:m>
                  <m:oMath xmlns:m="http://schemas.openxmlformats.org/officeDocument/2006/math">
                    <m:d>
                      <m:dPr>
                        <m:sepChr m:val=""/>
                      </m:dPr>
                      <m:e>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y</m:t>
                        </m:r>
                      </m:e>
                    </m:d>
                  </m:oMath>
                </a14:m>
                <a:r>
                  <a:rPr sz="2400">
                    <a:solidFill>
                      <a:srgbClr val="1E293B"/>
                    </a:solidFill>
                    <a:latin typeface="Calibri"/>
                  </a:rPr>
                  <a:t> và khoảng cách giữa hai điểm </a:t>
                </a:r>
                <a14:m>
                  <m:oMath xmlns:m="http://schemas.openxmlformats.org/officeDocument/2006/math">
                    <m:r>
                      <a:rPr lang="vi-VN" sz="2400" b="0">
                        <a:solidFill>
                          <a:srgbClr val="1E293B"/>
                        </a:solidFill>
                        <a:latin typeface="Cambria Math" panose="02040503050406030204" pitchFamily="18" charset="0"/>
                      </a:rPr>
                      <m:t>M,</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N</m:t>
                    </m:r>
                  </m:oMath>
                </a14:m>
                <a:r>
                  <a:rPr sz="2400">
                    <a:solidFill>
                      <a:srgbClr val="1E293B"/>
                    </a:solidFill>
                    <a:latin typeface="Calibri"/>
                  </a:rPr>
                  <a:t> là </a:t>
                </a:r>
                <a14:m>
                  <m:oMath xmlns:m="http://schemas.openxmlformats.org/officeDocument/2006/math">
                    <m:r>
                      <a:rPr lang="vi-VN" sz="2400" b="0">
                        <a:solidFill>
                          <a:srgbClr val="1E293B"/>
                        </a:solidFill>
                        <a:latin typeface="Cambria Math" panose="02040503050406030204" pitchFamily="18" charset="0"/>
                      </a:rPr>
                      <m:t>MN=|</m:t>
                    </m:r>
                    <m:acc>
                      <m:accPr>
                        <m:chr m:val="⃗"/>
                      </m:accPr>
                      <m:e>
                        <m:r>
                          <a:rPr lang="vi-VN" sz="2400" b="0">
                            <a:solidFill>
                              <a:srgbClr val="1E293B"/>
                            </a:solidFill>
                            <a:latin typeface="Cambria Math" panose="02040503050406030204" pitchFamily="18" charset="0"/>
                          </a:rPr>
                          <m:t>MN</m:t>
                        </m:r>
                      </m:e>
                    </m:acc>
                    <m:r>
                      <a:rPr lang="vi-VN" sz="2400" b="0">
                        <a:solidFill>
                          <a:srgbClr val="1E293B"/>
                        </a:solidFill>
                        <a:latin typeface="Cambria Math" panose="02040503050406030204" pitchFamily="18" charset="0"/>
                      </a:rPr>
                      <m:t>|=</m:t>
                    </m:r>
                    <m:rad>
                      <m:radPr>
                        <m:degHide m:val="on"/>
                      </m:radPr>
                      <m:deg/>
                      <m:e>
                        <m:sSup>
                          <m:e>
                            <m:d>
                              <m:dPr>
                                <m:sepChr m:val=""/>
                              </m:dPr>
                              <m:e>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y</m:t>
                                </m:r>
                              </m:e>
                            </m:d>
                          </m:e>
                          <m:sup>
                            <m:r>
                              <a:rPr lang="vi-VN" sz="2400" b="0">
                                <a:solidFill>
                                  <a:srgbClr val="1E293B"/>
                                </a:solidFill>
                                <a:latin typeface="Cambria Math" panose="02040503050406030204" pitchFamily="18" charset="0"/>
                              </a:rPr>
                              <m:t>2</m:t>
                            </m:r>
                          </m:sup>
                        </m:sSup>
                      </m:e>
                    </m:rad>
                  </m:oMath>
                </a14:m>
                <a:r>
                  <a:rPr sz="2400">
                    <a:solidFill>
                      <a:srgbClr val="1E293B"/>
                    </a:solidFill>
                    <a:latin typeface="Calibri"/>
                  </a:rPr>
                  <a:t>.</a:t>
                </a:r>
              </a:p>
            </p:txBody>
          </p:sp>
        </mc:Choice>
        <mc:Fallback>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hai điểm </a:t>
                </a:r>
                <a:r>
                  <a:rPr lang="vi-VN"/>
                  <a:t>M(x;\ y)</a:t>
                </a:r>
                <a:r>
                  <a:rPr sz="2400">
                    <a:solidFill>
                      <a:srgbClr val="1E293B"/>
                    </a:solidFill>
                    <a:latin typeface="Calibri"/>
                  </a:rPr>
                  <a:t> và </a:t>
                </a:r>
                <a:r>
                  <a:rPr lang="vi-VN"/>
                  <a:t>N(x';\ y')</a:t>
                </a:r>
                <a:r>
                  <a:rPr sz="2400">
                    <a:solidFill>
                      <a:srgbClr val="1E293B"/>
                    </a:solidFill>
                    <a:latin typeface="Calibri"/>
                  </a:rPr>
                  <a:t> thì </a:t>
                </a:r>
                <a:r>
                  <a:rPr lang="vi-VN"/>
                  <a:t>\overrightarrow{MN}</a:t>
                </a:r>
                <a:r>
                  <a:rPr sz="2400">
                    <a:solidFill>
                      <a:srgbClr val="1E293B"/>
                    </a:solidFill>
                    <a:latin typeface="Calibri"/>
                  </a:rPr>
                  <a:t> = </a:t>
                </a:r>
                <a:r>
                  <a:rPr lang="vi-VN"/>
                  <a:t>(x'-x;\ y'-y)</a:t>
                </a:r>
                <a:r>
                  <a:rPr sz="2400">
                    <a:solidFill>
                      <a:srgbClr val="1E293B"/>
                    </a:solidFill>
                    <a:latin typeface="Calibri"/>
                  </a:rPr>
                  <a:t> và khoảng cách giữa hai điểm </a:t>
                </a:r>
                <a:r>
                  <a:rPr lang="vi-VN"/>
                  <a:t>M,\ N</a:t>
                </a:r>
                <a:r>
                  <a:rPr sz="2400">
                    <a:solidFill>
                      <a:srgbClr val="1E293B"/>
                    </a:solidFill>
                    <a:latin typeface="Calibri"/>
                  </a:rPr>
                  <a:t> là </a:t>
                </a:r>
                <a:r>
                  <a:rPr lang="vi-VN"/>
                  <a:t>MN=|\overrightarrow{MN}|=\sqrt{(x'-x)^2+(y'-y)^2}</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ba điểm </a:t>
                </a:r>
                <a14:m>
                  <m:oMath xmlns:m="http://schemas.openxmlformats.org/officeDocument/2006/math">
                    <m:r>
                      <a:rPr lang="vi-VN" sz="2100" b="0">
                        <a:solidFill>
                          <a:srgbClr val="1E293B"/>
                        </a:solidFill>
                        <a:latin typeface="Cambria Math" panose="02040503050406030204" pitchFamily="18" charset="0"/>
                      </a:rPr>
                      <m:t>A(1;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 a) Tìm toạ độ của các vectơ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So sánh các khoảng cách từ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tới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C</m:t>
                    </m:r>
                  </m:oMath>
                </a14:m>
                <a:r>
                  <a:rPr sz="2100">
                    <a:solidFill>
                      <a:srgbClr val="1E293B"/>
                    </a:solidFill>
                    <a:latin typeface="Calibri"/>
                  </a:rPr>
                  <a:t>. b) Ba điểm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có thẳng hàng hay không? c) Tìm điểm </a:t>
                </a:r>
                <a14:m>
                  <m:oMath xmlns:m="http://schemas.openxmlformats.org/officeDocument/2006/math">
                    <m:r>
                      <a:rPr lang="vi-VN" sz="2100" b="0">
                        <a:solidFill>
                          <a:srgbClr val="1E293B"/>
                        </a:solidFill>
                        <a:latin typeface="Cambria Math" panose="02040503050406030204" pitchFamily="18" charset="0"/>
                      </a:rPr>
                      <m:t>D(x;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oMath>
                </a14:m>
                <a:r>
                  <a:rPr sz="2100">
                    <a:solidFill>
                      <a:srgbClr val="1E293B"/>
                    </a:solidFill>
                    <a:latin typeface="Calibri"/>
                  </a:rPr>
                  <a:t> để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là một hình thoi.</a:t>
                </a:r>
              </a:p>
            </p:txBody>
          </p:sp>
        </mc:Choice>
        <mc:Fallback>
          <p:sp>
            <p:nvSpPr>
              <p:cNvPr id="7" name="TextBox 6"/>
              <p:cNvSpPr txBox="1"/>
              <p:nvPr/>
            </p:nvSpPr>
            <p:spPr>
              <a:xfrm>
                <a:off x="548640" y="1371600"/>
                <a:ext cx="859536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ba điểm </a:t>
                </a:r>
                <a:r>
                  <a:rPr lang="vi-VN"/>
                  <a:t>A(1;\ -2)</a:t>
                </a:r>
                <a:r>
                  <a:rPr sz="2100">
                    <a:solidFill>
                      <a:srgbClr val="1E293B"/>
                    </a:solidFill>
                    <a:latin typeface="Calibri"/>
                  </a:rPr>
                  <a:t>, </a:t>
                </a:r>
                <a:r>
                  <a:rPr lang="vi-VN"/>
                  <a:t>B(3;\ 2)</a:t>
                </a:r>
                <a:r>
                  <a:rPr sz="2100">
                    <a:solidFill>
                      <a:srgbClr val="1E293B"/>
                    </a:solidFill>
                    <a:latin typeface="Calibri"/>
                  </a:rPr>
                  <a:t>, </a:t>
                </a:r>
                <a:r>
                  <a:rPr lang="vi-VN"/>
                  <a:t>C(7;\ 4)</a:t>
                </a:r>
                <a:r>
                  <a:rPr sz="2100">
                    <a:solidFill>
                      <a:srgbClr val="1E293B"/>
                    </a:solidFill>
                    <a:latin typeface="Calibri"/>
                  </a:rPr>
                  <a:t>. a) Tìm toạ độ của các vectơ </a:t>
                </a:r>
                <a:r>
                  <a:rPr lang="vi-VN"/>
                  <a:t>\overrightarrow{AB}</a:t>
                </a:r>
                <a:r>
                  <a:rPr sz="2100">
                    <a:solidFill>
                      <a:srgbClr val="1E293B"/>
                    </a:solidFill>
                    <a:latin typeface="Calibri"/>
                  </a:rPr>
                  <a:t>, </a:t>
                </a:r>
                <a:r>
                  <a:rPr lang="vi-VN"/>
                  <a:t>\overrightarrow{BC}</a:t>
                </a:r>
                <a:r>
                  <a:rPr sz="2100">
                    <a:solidFill>
                      <a:srgbClr val="1E293B"/>
                    </a:solidFill>
                    <a:latin typeface="Calibri"/>
                  </a:rPr>
                  <a:t>. So sánh các khoảng cách từ </a:t>
                </a:r>
                <a:r>
                  <a:rPr lang="vi-VN"/>
                  <a:t>B</a:t>
                </a:r>
                <a:r>
                  <a:rPr sz="2100">
                    <a:solidFill>
                      <a:srgbClr val="1E293B"/>
                    </a:solidFill>
                    <a:latin typeface="Calibri"/>
                  </a:rPr>
                  <a:t> tới </a:t>
                </a:r>
                <a:r>
                  <a:rPr lang="vi-VN"/>
                  <a:t>A</a:t>
                </a:r>
                <a:r>
                  <a:rPr sz="2100">
                    <a:solidFill>
                      <a:srgbClr val="1E293B"/>
                    </a:solidFill>
                    <a:latin typeface="Calibri"/>
                  </a:rPr>
                  <a:t> và </a:t>
                </a:r>
                <a:r>
                  <a:rPr lang="vi-VN"/>
                  <a:t>C</a:t>
                </a:r>
                <a:r>
                  <a:rPr sz="2100">
                    <a:solidFill>
                      <a:srgbClr val="1E293B"/>
                    </a:solidFill>
                    <a:latin typeface="Calibri"/>
                  </a:rPr>
                  <a:t>. b) Ba điểm </a:t>
                </a:r>
                <a:r>
                  <a:rPr lang="vi-VN"/>
                  <a:t>A,\ B,\ C</a:t>
                </a:r>
                <a:r>
                  <a:rPr sz="2100">
                    <a:solidFill>
                      <a:srgbClr val="1E293B"/>
                    </a:solidFill>
                    <a:latin typeface="Calibri"/>
                  </a:rPr>
                  <a:t> có thẳng hàng hay không? c) Tìm điểm </a:t>
                </a:r>
                <a:r>
                  <a:rPr lang="vi-VN"/>
                  <a:t>D(x;\ y)</a:t>
                </a:r>
                <a:r>
                  <a:rPr sz="2100">
                    <a:solidFill>
                      <a:srgbClr val="1E293B"/>
                    </a:solidFill>
                    <a:latin typeface="Calibri"/>
                  </a:rPr>
                  <a:t> để </a:t>
                </a:r>
                <a:r>
                  <a:rPr lang="vi-VN"/>
                  <a:t>ABCD</a:t>
                </a:r>
                <a:r>
                  <a:rPr sz="2100">
                    <a:solidFill>
                      <a:srgbClr val="1E293B"/>
                    </a:solidFill>
                    <a:latin typeface="Calibri"/>
                  </a:rPr>
                  <a:t> là một hình thoi.</a:t>
                </a:r>
              </a:p>
            </p:txBody>
          </p:sp>
        </mc:Fallback>
      </mc:AlternateContent>
      <p:sp>
        <p:nvSpPr>
          <p:cNvPr id="8" name="s1_nen"/>
          <p:cNvSpPr/>
          <p:nvPr/>
        </p:nvSpPr>
        <p:spPr>
          <a:xfrm>
            <a:off x="548640" y="2916936"/>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e>
                    </m:d>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4</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m:t>
                    </m:r>
                    <m:rad>
                      <m:radPr>
                        <m:degHide m:val="on"/>
                      </m:radPr>
                      <m:deg/>
                      <m:e>
                        <m:sSup>
                          <m:e>
                            <m:r>
                              <a:rPr lang="vi-VN" sz="2100" b="0">
                                <a:solidFill>
                                  <a:srgbClr val="1E293B"/>
                                </a:solidFill>
                                <a:latin typeface="Cambria Math" panose="02040503050406030204" pitchFamily="18" charset="0"/>
                              </a:rPr>
                              <m:t>2</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m:t>
                            </m:r>
                          </m:e>
                          <m:sup>
                            <m:r>
                              <a:rPr lang="vi-VN" sz="2100" b="0">
                                <a:solidFill>
                                  <a:srgbClr val="1E293B"/>
                                </a:solidFill>
                                <a:latin typeface="Cambria Math" panose="02040503050406030204" pitchFamily="18" charset="0"/>
                              </a:rPr>
                              <m:t>2</m:t>
                            </m:r>
                          </m:sup>
                        </m:sSup>
                      </m:e>
                    </m:rad>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5</m:t>
                        </m:r>
                      </m:e>
                    </m:rad>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BC=</m:t>
                    </m:r>
                    <m:rad>
                      <m:radPr>
                        <m:degHide m:val="on"/>
                      </m:radPr>
                      <m:deg/>
                      <m:e>
                        <m:sSup>
                          <m:e>
                            <m:r>
                              <a:rPr lang="vi-VN" sz="2100" b="0">
                                <a:solidFill>
                                  <a:srgbClr val="1E293B"/>
                                </a:solidFill>
                                <a:latin typeface="Cambria Math" panose="02040503050406030204" pitchFamily="18" charset="0"/>
                              </a:rPr>
                              <m:t>4</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2</m:t>
                            </m:r>
                          </m:e>
                          <m:sup>
                            <m:r>
                              <a:rPr lang="vi-VN" sz="2100" b="0">
                                <a:solidFill>
                                  <a:srgbClr val="1E293B"/>
                                </a:solidFill>
                                <a:latin typeface="Cambria Math" panose="02040503050406030204" pitchFamily="18" charset="0"/>
                              </a:rPr>
                              <m:t>2</m:t>
                            </m:r>
                          </m:sup>
                        </m:sSup>
                      </m:e>
                    </m:rad>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5</m:t>
                        </m:r>
                      </m:e>
                    </m:rad>
                  </m:oMath>
                </a14:m>
                <a:r>
                  <a:rPr sz="2100">
                    <a:solidFill>
                      <a:srgbClr val="1E293B"/>
                    </a:solidFill>
                    <a:latin typeface="Calibri"/>
                  </a:rPr>
                  <a:t>: bằng nhau.</a:t>
                </a:r>
              </a:p>
            </p:txBody>
          </p:sp>
        </mc:Choice>
        <mc:Fallback>
          <p:sp>
            <p:nvSpPr>
              <p:cNvPr id="9" name="TextBox 8"/>
              <p:cNvSpPr txBox="1"/>
              <p:nvPr/>
            </p:nvSpPr>
            <p:spPr>
              <a:xfrm>
                <a:off x="713232" y="29535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\overrightarrow{AB}</a:t>
                </a:r>
                <a:r>
                  <a:rPr sz="2100">
                    <a:solidFill>
                      <a:srgbClr val="1E293B"/>
                    </a:solidFill>
                    <a:latin typeface="Calibri"/>
                  </a:rPr>
                  <a:t> = </a:t>
                </a:r>
                <a:r>
                  <a:rPr lang="vi-VN"/>
                  <a:t>(2;\ 4)</a:t>
                </a:r>
                <a:r>
                  <a:rPr sz="2100">
                    <a:solidFill>
                      <a:srgbClr val="1E293B"/>
                    </a:solidFill>
                    <a:latin typeface="Calibri"/>
                  </a:rPr>
                  <a:t>, </a:t>
                </a:r>
                <a:r>
                  <a:rPr lang="vi-VN"/>
                  <a:t>\overrightarrow{BC}</a:t>
                </a:r>
                <a:r>
                  <a:rPr sz="2100">
                    <a:solidFill>
                      <a:srgbClr val="1E293B"/>
                    </a:solidFill>
                    <a:latin typeface="Calibri"/>
                  </a:rPr>
                  <a:t> = </a:t>
                </a:r>
                <a:r>
                  <a:rPr lang="vi-VN"/>
                  <a:t>(4;\ 2)</a:t>
                </a:r>
                <a:r>
                  <a:rPr sz="2100">
                    <a:solidFill>
                      <a:srgbClr val="1E293B"/>
                    </a:solidFill>
                    <a:latin typeface="Calibri"/>
                  </a:rPr>
                  <a:t>; </a:t>
                </a:r>
                <a:r>
                  <a:rPr lang="vi-VN"/>
                  <a:t>AB=\sqrt{2^2+4^2}=2\sqrt{5}</a:t>
                </a:r>
                <a:r>
                  <a:rPr sz="2100">
                    <a:solidFill>
                      <a:srgbClr val="1E293B"/>
                    </a:solidFill>
                    <a:latin typeface="Calibri"/>
                  </a:rPr>
                  <a:t>, </a:t>
                </a:r>
                <a:r>
                  <a:rPr lang="vi-VN"/>
                  <a:t>BC=\sqrt{4^2+2^2}=2\sqrt{5}</a:t>
                </a:r>
                <a:r>
                  <a:rPr sz="2100">
                    <a:solidFill>
                      <a:srgbClr val="1E293B"/>
                    </a:solidFill>
                    <a:latin typeface="Calibri"/>
                  </a:rPr>
                  <a:t>: bằng nhau.</a:t>
                </a:r>
              </a:p>
            </p:txBody>
          </p:sp>
        </mc:Fallback>
      </mc:AlternateContent>
      <p:sp>
        <p:nvSpPr>
          <p:cNvPr id="10" name="s2_nen"/>
          <p:cNvSpPr/>
          <p:nvPr/>
        </p:nvSpPr>
        <p:spPr>
          <a:xfrm>
            <a:off x="548640" y="3913632"/>
            <a:ext cx="859536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0208"/>
                <a:ext cx="826617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không cùng phương (</a:t>
                </a:r>
                <a14:m>
                  <m:oMath xmlns:m="http://schemas.openxmlformats.org/officeDocument/2006/math">
                    <m:f>
                      <m:fPr>
                        <m:type m:val="bar"/>
                      </m:fPr>
                      <m:num>
                        <m:r>
                          <a:rPr lang="vi-VN" sz="2100" b="0">
                            <a:solidFill>
                              <a:srgbClr val="1E293B"/>
                            </a:solidFill>
                            <a:latin typeface="Cambria Math" panose="02040503050406030204" pitchFamily="18" charset="0"/>
                          </a:rPr>
                          <m:t>2</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4</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không thẳng hàng.</a:t>
                </a:r>
              </a:p>
            </p:txBody>
          </p:sp>
        </mc:Choice>
        <mc:Fallback>
          <p:sp>
            <p:nvSpPr>
              <p:cNvPr id="11" name="TextBox 10"/>
              <p:cNvSpPr txBox="1"/>
              <p:nvPr/>
            </p:nvSpPr>
            <p:spPr>
              <a:xfrm>
                <a:off x="713232" y="3950208"/>
                <a:ext cx="826617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\overrightarrow{AB}</a:t>
                </a:r>
                <a:r>
                  <a:rPr sz="2100">
                    <a:solidFill>
                      <a:srgbClr val="1E293B"/>
                    </a:solidFill>
                    <a:latin typeface="Calibri"/>
                  </a:rPr>
                  <a:t>, </a:t>
                </a:r>
                <a:r>
                  <a:rPr lang="vi-VN"/>
                  <a:t>\overrightarrow{BC}</a:t>
                </a:r>
                <a:r>
                  <a:rPr sz="2100">
                    <a:solidFill>
                      <a:srgbClr val="1E293B"/>
                    </a:solidFill>
                    <a:latin typeface="Calibri"/>
                  </a:rPr>
                  <a:t> không cùng phương (</a:t>
                </a:r>
                <a:r>
                  <a:rPr lang="vi-VN"/>
                  <a:t>\frac{2}{4}\ne\frac{4}{2}</a:t>
                </a:r>
                <a:r>
                  <a:rPr sz="2100">
                    <a:solidFill>
                      <a:srgbClr val="1E293B"/>
                    </a:solidFill>
                    <a:latin typeface="Calibri"/>
                  </a:rPr>
                  <a:t>) nên </a:t>
                </a:r>
                <a:r>
                  <a:rPr lang="vi-VN"/>
                  <a:t>A,\ B,\ C</a:t>
                </a:r>
                <a:r>
                  <a:rPr sz="2100">
                    <a:solidFill>
                      <a:srgbClr val="1E293B"/>
                    </a:solidFill>
                    <a:latin typeface="Calibri"/>
                  </a:rPr>
                  <a:t> không thẳng hàng.</a:t>
                </a:r>
              </a:p>
            </p:txBody>
          </p:sp>
        </mc:Fallback>
      </mc:AlternateContent>
      <p:sp>
        <p:nvSpPr>
          <p:cNvPr id="12" name="s3_nen"/>
          <p:cNvSpPr/>
          <p:nvPr/>
        </p:nvSpPr>
        <p:spPr>
          <a:xfrm>
            <a:off x="548640" y="5198364"/>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34940"/>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14:m>
                  <m:oMath xmlns:m="http://schemas.openxmlformats.org/officeDocument/2006/math">
                    <m:r>
                      <a:rPr lang="vi-VN" sz="2100" b="0">
                        <a:solidFill>
                          <a:srgbClr val="1E293B"/>
                        </a:solidFill>
                        <a:latin typeface="Cambria Math" panose="02040503050406030204" pitchFamily="18" charset="0"/>
                      </a:rPr>
                      <m:t>BA=BC</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là hình thoi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x−1=4,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y+2=2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D(5;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13" name="TextBox 12"/>
              <p:cNvSpPr txBox="1"/>
              <p:nvPr/>
            </p:nvSpPr>
            <p:spPr>
              <a:xfrm>
                <a:off x="713232" y="5234940"/>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r>
                  <a:rPr lang="vi-VN"/>
                  <a:t>BA=BC</a:t>
                </a:r>
                <a:r>
                  <a:rPr sz="2100">
                    <a:solidFill>
                      <a:srgbClr val="1E293B"/>
                    </a:solidFill>
                    <a:latin typeface="Calibri"/>
                  </a:rPr>
                  <a:t> nên </a:t>
                </a:r>
                <a:r>
                  <a:rPr lang="vi-VN"/>
                  <a:t>ABCD</a:t>
                </a:r>
                <a:r>
                  <a:rPr sz="2100">
                    <a:solidFill>
                      <a:srgbClr val="1E293B"/>
                    </a:solidFill>
                    <a:latin typeface="Calibri"/>
                  </a:rPr>
                  <a:t> là hình thoi ⇔ </a:t>
                </a:r>
                <a:r>
                  <a:rPr lang="vi-VN"/>
                  <a:t>\overrightarrow{AD}</a:t>
                </a:r>
                <a:r>
                  <a:rPr sz="2100">
                    <a:solidFill>
                      <a:srgbClr val="1E293B"/>
                    </a:solidFill>
                    <a:latin typeface="Calibri"/>
                  </a:rPr>
                  <a:t> = </a:t>
                </a:r>
                <a:r>
                  <a:rPr lang="vi-VN"/>
                  <a:t>\overrightarrow{BC}</a:t>
                </a:r>
                <a:r>
                  <a:rPr sz="2100">
                    <a:solidFill>
                      <a:srgbClr val="1E293B"/>
                    </a:solidFill>
                    <a:latin typeface="Calibri"/>
                  </a:rPr>
                  <a:t> ⇔ </a:t>
                </a:r>
                <a:r>
                  <a:rPr lang="vi-VN"/>
                  <a:t>x-1=4,\ y+2=2</a:t>
                </a:r>
                <a:r>
                  <a:rPr sz="2100">
                    <a:solidFill>
                      <a:srgbClr val="1E293B"/>
                    </a:solidFill>
                    <a:latin typeface="Calibri"/>
                  </a:rPr>
                  <a:t> ⇔ </a:t>
                </a:r>
                <a:r>
                  <a:rPr lang="vi-VN"/>
                  <a:t>D(5;\ 0)</a:t>
                </a:r>
                <a:r>
                  <a:rPr sz="2100">
                    <a:solidFill>
                      <a:srgbClr val="1E293B"/>
                    </a:solidFill>
                    <a:latin typeface="Calibri"/>
                  </a:rPr>
                  <a:t>.</a:t>
                </a:r>
              </a:p>
            </p:txBody>
          </p:sp>
        </mc:Fallback>
      </mc:AlternateContent>
      <p:pic>
        <p:nvPicPr>
          <p:cNvPr id="14" name="Picture 13" descr="h436.png"/>
          <p:cNvPicPr>
            <a:picLocks noChangeAspect="1"/>
          </p:cNvPicPr>
          <p:nvPr/>
        </p:nvPicPr>
        <p:blipFill>
          <a:blip r:embed="rId3"/>
          <a:stretch>
            <a:fillRect/>
          </a:stretch>
        </p:blipFill>
        <p:spPr>
          <a:xfrm>
            <a:off x="9326880" y="1721350"/>
            <a:ext cx="2377440" cy="1677940"/>
          </a:xfrm>
          <a:prstGeom prst="rect">
            <a:avLst/>
          </a:prstGeom>
        </p:spPr>
      </p:pic>
      <p:sp>
        <p:nvSpPr>
          <p:cNvPr id="15" name="TextBox 14"/>
          <p:cNvSpPr txBox="1"/>
          <p:nvPr/>
        </p:nvSpPr>
        <p:spPr>
          <a:xfrm>
            <a:off x="9326880" y="367588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mặt phẳng toạ độ </a:t>
                </a:r>
                <a14:m>
                  <m:oMath xmlns:m="http://schemas.openxmlformats.org/officeDocument/2006/math">
                    <m:r>
                      <a:rPr lang="vi-VN" sz="2400" b="0">
                        <a:solidFill>
                          <a:srgbClr val="1E293B"/>
                        </a:solidFill>
                        <a:latin typeface="Cambria Math" panose="02040503050406030204" pitchFamily="18" charset="0"/>
                      </a:rPr>
                      <m:t>Oxy</m:t>
                    </m:r>
                  </m:oMath>
                </a14:m>
                <a:r>
                  <a:rPr sz="2400">
                    <a:solidFill>
                      <a:srgbClr val="1E293B"/>
                    </a:solidFill>
                    <a:latin typeface="Calibri"/>
                  </a:rPr>
                  <a:t>, cho hai điểm </a:t>
                </a:r>
                <a14:m>
                  <m:oMath xmlns:m="http://schemas.openxmlformats.org/officeDocument/2006/math">
                    <m:r>
                      <a:rPr lang="vi-VN" sz="2400" b="0">
                        <a:solidFill>
                          <a:srgbClr val="1E293B"/>
                        </a:solidFill>
                        <a:latin typeface="Cambria Math" panose="02040503050406030204" pitchFamily="18" charset="0"/>
                      </a:rPr>
                      <m:t>A(2;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 a) Các điểm </a:t>
                </a:r>
                <a14:m>
                  <m:oMath xmlns:m="http://schemas.openxmlformats.org/officeDocument/2006/math">
                    <m:r>
                      <a:rPr lang="vi-VN" sz="2400" b="0">
                        <a:solidFill>
                          <a:srgbClr val="1E293B"/>
                        </a:solidFill>
                        <a:latin typeface="Cambria Math" panose="02040503050406030204" pitchFamily="18" charset="0"/>
                      </a:rPr>
                      <m:t>O,</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có thẳng hàng hay không? b) Tìm điểm </a:t>
                </a:r>
                <a14:m>
                  <m:oMath xmlns:m="http://schemas.openxmlformats.org/officeDocument/2006/math">
                    <m:r>
                      <a:rPr lang="vi-VN" sz="2400" b="0">
                        <a:solidFill>
                          <a:srgbClr val="1E293B"/>
                        </a:solidFill>
                        <a:latin typeface="Cambria Math" panose="02040503050406030204" pitchFamily="18" charset="0"/>
                      </a:rPr>
                      <m:t>M(x;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oMath>
                </a14:m>
                <a:r>
                  <a:rPr sz="2400">
                    <a:solidFill>
                      <a:srgbClr val="1E293B"/>
                    </a:solidFill>
                    <a:latin typeface="Calibri"/>
                  </a:rPr>
                  <a:t> để </a:t>
                </a:r>
                <a14:m>
                  <m:oMath xmlns:m="http://schemas.openxmlformats.org/officeDocument/2006/math">
                    <m:r>
                      <a:rPr lang="vi-VN" sz="2400" b="0">
                        <a:solidFill>
                          <a:srgbClr val="1E293B"/>
                        </a:solidFill>
                        <a:latin typeface="Cambria Math" panose="02040503050406030204" pitchFamily="18" charset="0"/>
                      </a:rPr>
                      <m:t>OABM</m:t>
                    </m:r>
                  </m:oMath>
                </a14:m>
                <a:r>
                  <a:rPr sz="2400">
                    <a:solidFill>
                      <a:srgbClr val="1E293B"/>
                    </a:solidFill>
                    <a:latin typeface="Calibri"/>
                  </a:rPr>
                  <a:t> là một hình bình hành.</a:t>
                </a:r>
              </a:p>
            </p:txBody>
          </p:sp>
        </mc:Choice>
        <mc:Fallback>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mặt phẳng toạ độ </a:t>
                </a:r>
                <a:r>
                  <a:rPr lang="vi-VN"/>
                  <a:t>Oxy</a:t>
                </a:r>
                <a:r>
                  <a:rPr sz="2400">
                    <a:solidFill>
                      <a:srgbClr val="1E293B"/>
                    </a:solidFill>
                    <a:latin typeface="Calibri"/>
                  </a:rPr>
                  <a:t>, cho hai điểm </a:t>
                </a:r>
                <a:r>
                  <a:rPr lang="vi-VN"/>
                  <a:t>A(2;\ 1)</a:t>
                </a:r>
                <a:r>
                  <a:rPr sz="2400">
                    <a:solidFill>
                      <a:srgbClr val="1E293B"/>
                    </a:solidFill>
                    <a:latin typeface="Calibri"/>
                  </a:rPr>
                  <a:t>, </a:t>
                </a:r>
                <a:r>
                  <a:rPr lang="vi-VN"/>
                  <a:t>B(3;\ 3)</a:t>
                </a:r>
                <a:r>
                  <a:rPr sz="2400">
                    <a:solidFill>
                      <a:srgbClr val="1E293B"/>
                    </a:solidFill>
                    <a:latin typeface="Calibri"/>
                  </a:rPr>
                  <a:t>. a) Các điểm </a:t>
                </a:r>
                <a:r>
                  <a:rPr lang="vi-VN"/>
                  <a:t>O,\ A,\ B</a:t>
                </a:r>
                <a:r>
                  <a:rPr sz="2400">
                    <a:solidFill>
                      <a:srgbClr val="1E293B"/>
                    </a:solidFill>
                    <a:latin typeface="Calibri"/>
                  </a:rPr>
                  <a:t> có thẳng hàng hay không? b) Tìm điểm </a:t>
                </a:r>
                <a:r>
                  <a:rPr lang="vi-VN"/>
                  <a:t>M(x;\ y)</a:t>
                </a:r>
                <a:r>
                  <a:rPr sz="2400">
                    <a:solidFill>
                      <a:srgbClr val="1E293B"/>
                    </a:solidFill>
                    <a:latin typeface="Calibri"/>
                  </a:rPr>
                  <a:t> để </a:t>
                </a:r>
                <a:r>
                  <a:rPr lang="vi-VN"/>
                  <a:t>OABM</a:t>
                </a:r>
                <a:r>
                  <a:rPr sz="2400">
                    <a:solidFill>
                      <a:srgbClr val="1E293B"/>
                    </a:solidFill>
                    <a:latin typeface="Calibri"/>
                  </a:rPr>
                  <a:t> là một hình bình hành.</a:t>
                </a:r>
              </a:p>
            </p:txBody>
          </p:sp>
        </mc:Fallback>
      </mc:AlternateContent>
      <p:sp>
        <p:nvSpPr>
          <p:cNvPr id="8" name="s1_nen"/>
          <p:cNvSpPr/>
          <p:nvPr/>
        </p:nvSpPr>
        <p:spPr>
          <a:xfrm>
            <a:off x="548640" y="2779776"/>
            <a:ext cx="11064240" cy="132588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16352"/>
                <a:ext cx="10735056" cy="1252728"/>
              </a:xfrm>
              <a:prstGeom prst="rect">
                <a:avLst/>
              </a:prstGeom>
              <a:noFill/>
            </p:spPr>
            <p:txBody>
              <a:bodyPr wrap="square" anchor="ctr" lIns="45720" rIns="45720">
                <a:spAutoFit/>
              </a:bodyPr>
              <a:lstStyle/>
              <a:p>
                <a:pPr algn="l">
                  <a:spcAft>
                    <a:spcPts val="800"/>
                  </a:spcAft>
                </a:pPr>
                <a:r>
                  <a:rPr sz="2400">
                    <a:solidFill>
                      <a:srgbClr val="1E293B"/>
                    </a:solidFill>
                    <a:latin typeface="Calibri"/>
                  </a:rPr>
                  <a:t>a)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OB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r>
                  <a:rPr sz="2400">
                    <a:solidFill>
                      <a:srgbClr val="1E293B"/>
                    </a:solidFill>
                    <a:latin typeface="Calibri"/>
                  </a:rPr>
                  <a:t> không cùng phương (</a:t>
                </a:r>
                <a14:m>
                  <m:oMath xmlns:m="http://schemas.openxmlformats.org/officeDocument/2006/math">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1</m:t>
                        </m:r>
                      </m:den>
                    </m:f>
                  </m:oMath>
                </a14:m>
                <a:r>
                  <a:rPr sz="2400">
                    <a:solidFill>
                      <a:srgbClr val="1E293B"/>
                    </a:solidFill>
                    <a:latin typeface="Calibri"/>
                  </a:rPr>
                  <a:t>) nên </a:t>
                </a:r>
                <a14:m>
                  <m:oMath xmlns:m="http://schemas.openxmlformats.org/officeDocument/2006/math">
                    <m:r>
                      <a:rPr lang="vi-VN" sz="2400" b="0">
                        <a:solidFill>
                          <a:srgbClr val="1E293B"/>
                        </a:solidFill>
                        <a:latin typeface="Cambria Math" panose="02040503050406030204" pitchFamily="18" charset="0"/>
                      </a:rPr>
                      <m:t>O,</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không thẳng hàng.</a:t>
                </a:r>
              </a:p>
            </p:txBody>
          </p:sp>
        </mc:Choice>
        <mc:Fallback>
          <p:sp>
            <p:nvSpPr>
              <p:cNvPr id="9" name="TextBox 8"/>
              <p:cNvSpPr txBox="1"/>
              <p:nvPr/>
            </p:nvSpPr>
            <p:spPr>
              <a:xfrm>
                <a:off x="713232" y="2816352"/>
                <a:ext cx="10735056" cy="1252728"/>
              </a:xfrm>
              <a:prstGeom prst="rect">
                <a:avLst/>
              </a:prstGeom>
              <a:noFill/>
            </p:spPr>
            <p:txBody>
              <a:bodyPr wrap="square" anchor="ctr" lIns="45720" rIns="45720">
                <a:spAutoFit/>
              </a:bodyPr>
              <a:lstStyle/>
              <a:p>
                <a:pPr algn="l">
                  <a:spcAft>
                    <a:spcPts val="800"/>
                  </a:spcAft>
                </a:pPr>
                <a:r>
                  <a:rPr sz="2400">
                    <a:solidFill>
                      <a:srgbClr val="1E293B"/>
                    </a:solidFill>
                    <a:latin typeface="Calibri"/>
                  </a:rPr>
                  <a:t>a) </a:t>
                </a:r>
                <a:r>
                  <a:rPr lang="vi-VN"/>
                  <a:t>\overrightarrow{OA}</a:t>
                </a:r>
                <a:r>
                  <a:rPr sz="2400">
                    <a:solidFill>
                      <a:srgbClr val="1E293B"/>
                    </a:solidFill>
                    <a:latin typeface="Calibri"/>
                  </a:rPr>
                  <a:t> = </a:t>
                </a:r>
                <a:r>
                  <a:rPr lang="vi-VN"/>
                  <a:t>(2;\ 1)</a:t>
                </a:r>
                <a:r>
                  <a:rPr sz="2400">
                    <a:solidFill>
                      <a:srgbClr val="1E293B"/>
                    </a:solidFill>
                    <a:latin typeface="Calibri"/>
                  </a:rPr>
                  <a:t>, </a:t>
                </a:r>
                <a:r>
                  <a:rPr lang="vi-VN"/>
                  <a:t>\overrightarrow{OB}</a:t>
                </a:r>
                <a:r>
                  <a:rPr sz="2400">
                    <a:solidFill>
                      <a:srgbClr val="1E293B"/>
                    </a:solidFill>
                    <a:latin typeface="Calibri"/>
                  </a:rPr>
                  <a:t> = </a:t>
                </a:r>
                <a:r>
                  <a:rPr lang="vi-VN"/>
                  <a:t>(3;\ 3)</a:t>
                </a:r>
                <a:r>
                  <a:rPr sz="2400">
                    <a:solidFill>
                      <a:srgbClr val="1E293B"/>
                    </a:solidFill>
                    <a:latin typeface="Calibri"/>
                  </a:rPr>
                  <a:t> không cùng phương (</a:t>
                </a:r>
                <a:r>
                  <a:rPr lang="vi-VN"/>
                  <a:t>\frac{3}{2}\ne\frac{3}{1}</a:t>
                </a:r>
                <a:r>
                  <a:rPr sz="2400">
                    <a:solidFill>
                      <a:srgbClr val="1E293B"/>
                    </a:solidFill>
                    <a:latin typeface="Calibri"/>
                  </a:rPr>
                  <a:t>) nên </a:t>
                </a:r>
                <a:r>
                  <a:rPr lang="vi-VN"/>
                  <a:t>O,\ A,\ B</a:t>
                </a:r>
                <a:r>
                  <a:rPr sz="2400">
                    <a:solidFill>
                      <a:srgbClr val="1E293B"/>
                    </a:solidFill>
                    <a:latin typeface="Calibri"/>
                  </a:rPr>
                  <a:t> không thẳng hàng.</a:t>
                </a:r>
              </a:p>
            </p:txBody>
          </p:sp>
        </mc:Fallback>
      </mc:AlternateContent>
      <p:sp>
        <p:nvSpPr>
          <p:cNvPr id="10" name="s2_nen"/>
          <p:cNvSpPr/>
          <p:nvPr/>
        </p:nvSpPr>
        <p:spPr>
          <a:xfrm>
            <a:off x="548640" y="4242816"/>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7939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OABM</m:t>
                    </m:r>
                  </m:oMath>
                </a14:m>
                <a:r>
                  <a:rPr sz="2400">
                    <a:solidFill>
                      <a:srgbClr val="1E293B"/>
                    </a:solidFill>
                    <a:latin typeface="Calibri"/>
                  </a:rPr>
                  <a:t> là hình bình hành ⇔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y</m:t>
                        </m:r>
                      </m:e>
                    </m:d>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M(1;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oMath>
                </a14:m>
                <a:r>
                  <a:rPr sz="2400">
                    <a:solidFill>
                      <a:srgbClr val="1E293B"/>
                    </a:solidFill>
                    <a:latin typeface="Calibri"/>
                  </a:rPr>
                  <a:t>.</a:t>
                </a:r>
              </a:p>
            </p:txBody>
          </p:sp>
        </mc:Choice>
        <mc:Fallback>
          <p:sp>
            <p:nvSpPr>
              <p:cNvPr id="11" name="TextBox 10"/>
              <p:cNvSpPr txBox="1"/>
              <p:nvPr/>
            </p:nvSpPr>
            <p:spPr>
              <a:xfrm>
                <a:off x="713232" y="427939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b) </a:t>
                </a:r>
                <a:r>
                  <a:rPr lang="vi-VN"/>
                  <a:t>OABM</a:t>
                </a:r>
                <a:r>
                  <a:rPr sz="2400">
                    <a:solidFill>
                      <a:srgbClr val="1E293B"/>
                    </a:solidFill>
                    <a:latin typeface="Calibri"/>
                  </a:rPr>
                  <a:t> là hình bình hành ⇔ </a:t>
                </a:r>
                <a:r>
                  <a:rPr lang="vi-VN"/>
                  <a:t>\overrightarrow{OA}</a:t>
                </a:r>
                <a:r>
                  <a:rPr sz="2400">
                    <a:solidFill>
                      <a:srgbClr val="1E293B"/>
                    </a:solidFill>
                    <a:latin typeface="Calibri"/>
                  </a:rPr>
                  <a:t> = </a:t>
                </a:r>
                <a:r>
                  <a:rPr lang="vi-VN"/>
                  <a:t>\overrightarrow{MB}</a:t>
                </a:r>
                <a:r>
                  <a:rPr sz="2400">
                    <a:solidFill>
                      <a:srgbClr val="1E293B"/>
                    </a:solidFill>
                    <a:latin typeface="Calibri"/>
                  </a:rPr>
                  <a:t> ⇔ </a:t>
                </a:r>
                <a:r>
                  <a:rPr lang="vi-VN"/>
                  <a:t>(2;\ 1)=(3-x;\ 3-y)</a:t>
                </a:r>
                <a:r>
                  <a:rPr sz="2400">
                    <a:solidFill>
                      <a:srgbClr val="1E293B"/>
                    </a:solidFill>
                    <a:latin typeface="Calibri"/>
                  </a:rPr>
                  <a:t> ⇔ </a:t>
                </a:r>
                <a:r>
                  <a:rPr lang="vi-VN"/>
                  <a:t>M(1;\ 2)</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TR.63 – 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ba điểm không thẳng hàng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a) Tìm toạ độ trung điểm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của đoạn thẳng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b) Tìm toạ độ trọng tâm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ba điểm không thẳng hàng </a:t>
                </a:r>
                <a:r>
                  <a:rPr lang="vi-VN"/>
                  <a:t>A(1;\ 3)</a:t>
                </a:r>
                <a:r>
                  <a:rPr sz="2200">
                    <a:solidFill>
                      <a:srgbClr val="1E293B"/>
                    </a:solidFill>
                    <a:latin typeface="Calibri"/>
                  </a:rPr>
                  <a:t>, </a:t>
                </a:r>
                <a:r>
                  <a:rPr lang="vi-VN"/>
                  <a:t>B(-2;\ 6)</a:t>
                </a:r>
                <a:r>
                  <a:rPr sz="2200">
                    <a:solidFill>
                      <a:srgbClr val="1E293B"/>
                    </a:solidFill>
                    <a:latin typeface="Calibri"/>
                  </a:rPr>
                  <a:t>, </a:t>
                </a:r>
                <a:r>
                  <a:rPr lang="vi-VN"/>
                  <a:t>C(5;\ 1)</a:t>
                </a:r>
                <a:r>
                  <a:rPr sz="2200">
                    <a:solidFill>
                      <a:srgbClr val="1E293B"/>
                    </a:solidFill>
                    <a:latin typeface="Calibri"/>
                  </a:rPr>
                  <a:t>. a) Tìm toạ độ trung điểm </a:t>
                </a:r>
                <a:r>
                  <a:rPr lang="vi-VN"/>
                  <a:t>I</a:t>
                </a:r>
                <a:r>
                  <a:rPr sz="2200">
                    <a:solidFill>
                      <a:srgbClr val="1E293B"/>
                    </a:solidFill>
                    <a:latin typeface="Calibri"/>
                  </a:rPr>
                  <a:t> của đoạn thẳng </a:t>
                </a:r>
                <a:r>
                  <a:rPr lang="vi-VN"/>
                  <a:t>AB</a:t>
                </a:r>
                <a:r>
                  <a:rPr sz="2200">
                    <a:solidFill>
                      <a:srgbClr val="1E293B"/>
                    </a:solidFill>
                    <a:latin typeface="Calibri"/>
                  </a:rPr>
                  <a:t>. b) Tìm toạ độ trọng tâm </a:t>
                </a:r>
                <a:r>
                  <a:rPr lang="vi-VN"/>
                  <a:t>G</a:t>
                </a:r>
                <a:r>
                  <a:rPr sz="2200">
                    <a:solidFill>
                      <a:srgbClr val="1E293B"/>
                    </a:solidFill>
                    <a:latin typeface="Calibri"/>
                  </a:rPr>
                  <a:t> của tam giác </a:t>
                </a:r>
                <a:r>
                  <a:rPr lang="vi-VN"/>
                  <a:t>ABC</a:t>
                </a:r>
                <a:r>
                  <a:rPr sz="2200">
                    <a:solidFill>
                      <a:srgbClr val="1E293B"/>
                    </a:solidFill>
                    <a:latin typeface="Calibri"/>
                  </a:rPr>
                  <a:t>.</a:t>
                </a:r>
              </a:p>
            </p:txBody>
          </p:sp>
        </mc:Fallback>
      </mc:AlternateContent>
      <p:sp>
        <p:nvSpPr>
          <p:cNvPr id="8" name="s1_nen"/>
          <p:cNvSpPr/>
          <p:nvPr/>
        </p:nvSpPr>
        <p:spPr>
          <a:xfrm>
            <a:off x="548640" y="2325623"/>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62199"/>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IA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IB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9</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I</m:t>
                    </m:r>
                    <m:d>
                      <m:dPr>
                        <m:sep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9</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a:t>
                </a:r>
              </a:p>
            </p:txBody>
          </p:sp>
        </mc:Choice>
        <mc:Fallback>
          <p:sp>
            <p:nvSpPr>
              <p:cNvPr id="9" name="TextBox 8"/>
              <p:cNvSpPr txBox="1"/>
              <p:nvPr/>
            </p:nvSpPr>
            <p:spPr>
              <a:xfrm>
                <a:off x="713232" y="2362199"/>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\overrightarrow{IA}</a:t>
                </a:r>
                <a:r>
                  <a:rPr sz="2200">
                    <a:solidFill>
                      <a:srgbClr val="1E293B"/>
                    </a:solidFill>
                    <a:latin typeface="Calibri"/>
                  </a:rPr>
                  <a:t> + </a:t>
                </a:r>
                <a:r>
                  <a:rPr lang="vi-VN"/>
                  <a:t>\overrightarrow{IB}</a:t>
                </a:r>
                <a:r>
                  <a:rPr sz="2200">
                    <a:solidFill>
                      <a:srgbClr val="1E293B"/>
                    </a:solidFill>
                    <a:latin typeface="Calibri"/>
                  </a:rPr>
                  <a:t> = </a:t>
                </a:r>
                <a:r>
                  <a:rPr lang="vi-VN"/>
                  <a:t>\vec{0}</a:t>
                </a:r>
                <a:r>
                  <a:rPr sz="2200">
                    <a:solidFill>
                      <a:srgbClr val="1E293B"/>
                    </a:solidFill>
                    <a:latin typeface="Calibri"/>
                  </a:rPr>
                  <a:t> ⇔ </a:t>
                </a:r>
                <a:r>
                  <a:rPr lang="vi-VN"/>
                  <a:t>(-1-2x;\ 9-2y)=(0;\ 0)</a:t>
                </a:r>
                <a:r>
                  <a:rPr sz="2200">
                    <a:solidFill>
                      <a:srgbClr val="1E293B"/>
                    </a:solidFill>
                    <a:latin typeface="Calibri"/>
                  </a:rPr>
                  <a:t> ⇔ </a:t>
                </a:r>
                <a:r>
                  <a:rPr lang="vi-VN"/>
                  <a:t>I\left(-\frac{1}{2};\ \frac{9}{2}\right)</a:t>
                </a:r>
                <a:r>
                  <a:rPr sz="2200">
                    <a:solidFill>
                      <a:srgbClr val="1E293B"/>
                    </a:solidFill>
                    <a:latin typeface="Calibri"/>
                  </a:rPr>
                  <a:t>.</a:t>
                </a:r>
              </a:p>
            </p:txBody>
          </p:sp>
        </mc:Fallback>
      </mc:AlternateContent>
      <p:sp>
        <p:nvSpPr>
          <p:cNvPr id="10" name="s2_nen"/>
          <p:cNvSpPr/>
          <p:nvPr/>
        </p:nvSpPr>
        <p:spPr>
          <a:xfrm>
            <a:off x="548640" y="3337559"/>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74135"/>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acc>
                      <m:accPr>
                        <m:chr m:val="⃗"/>
                      </m:accPr>
                      <m:e>
                        <m:r>
                          <a:rPr lang="vi-VN" sz="2200" b="0">
                            <a:solidFill>
                              <a:srgbClr val="1E293B"/>
                            </a:solidFill>
                            <a:latin typeface="Cambria Math" panose="02040503050406030204" pitchFamily="18" charset="0"/>
                          </a:rPr>
                          <m:t>GA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G</m:t>
                    </m:r>
                    <m:d>
                      <m:dPr>
                        <m:sepChr m:val=""/>
                      </m:dPr>
                      <m:e>
                        <m:f>
                          <m:fPr>
                            <m:type m:val="bar"/>
                          </m:fPr>
                          <m:num>
                            <m:r>
                              <a:rPr lang="vi-VN" sz="2200" b="0">
                                <a:solidFill>
                                  <a:srgbClr val="1E293B"/>
                                </a:solidFill>
                                <a:latin typeface="Cambria Math" panose="02040503050406030204" pitchFamily="18" charset="0"/>
                              </a:rPr>
                              <m:t>4</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10</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a:t>
                </a:r>
              </a:p>
            </p:txBody>
          </p:sp>
        </mc:Choice>
        <mc:Fallback>
          <p:sp>
            <p:nvSpPr>
              <p:cNvPr id="11" name="TextBox 10"/>
              <p:cNvSpPr txBox="1"/>
              <p:nvPr/>
            </p:nvSpPr>
            <p:spPr>
              <a:xfrm>
                <a:off x="713232" y="3374135"/>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\overrightarrow{GA}</a:t>
                </a:r>
                <a:r>
                  <a:rPr sz="2200">
                    <a:solidFill>
                      <a:srgbClr val="1E293B"/>
                    </a:solidFill>
                    <a:latin typeface="Calibri"/>
                  </a:rPr>
                  <a:t> + </a:t>
                </a:r>
                <a:r>
                  <a:rPr lang="vi-VN"/>
                  <a:t>\overrightarrow{GB}</a:t>
                </a:r>
                <a:r>
                  <a:rPr sz="2200">
                    <a:solidFill>
                      <a:srgbClr val="1E293B"/>
                    </a:solidFill>
                    <a:latin typeface="Calibri"/>
                  </a:rPr>
                  <a:t> + </a:t>
                </a:r>
                <a:r>
                  <a:rPr lang="vi-VN"/>
                  <a:t>\overrightarrow{GC}</a:t>
                </a:r>
                <a:r>
                  <a:rPr sz="2200">
                    <a:solidFill>
                      <a:srgbClr val="1E293B"/>
                    </a:solidFill>
                    <a:latin typeface="Calibri"/>
                  </a:rPr>
                  <a:t> = </a:t>
                </a:r>
                <a:r>
                  <a:rPr lang="vi-VN"/>
                  <a:t>\vec{0}</a:t>
                </a:r>
                <a:r>
                  <a:rPr sz="2200">
                    <a:solidFill>
                      <a:srgbClr val="1E293B"/>
                    </a:solidFill>
                    <a:latin typeface="Calibri"/>
                  </a:rPr>
                  <a:t> ⇔ </a:t>
                </a:r>
                <a:r>
                  <a:rPr lang="vi-VN"/>
                  <a:t>(4-3x;\ 10-3y)=(0;\ 0)</a:t>
                </a:r>
                <a:r>
                  <a:rPr sz="2200">
                    <a:solidFill>
                      <a:srgbClr val="1E293B"/>
                    </a:solidFill>
                    <a:latin typeface="Calibri"/>
                  </a:rPr>
                  <a:t> ⇔ </a:t>
                </a:r>
                <a:r>
                  <a:rPr lang="vi-VN"/>
                  <a:t>G\left(\frac{4}{3};\ \frac{10}{3}\right)</a:t>
                </a:r>
                <a:r>
                  <a:rPr sz="2200">
                    <a:solidFill>
                      <a:srgbClr val="1E293B"/>
                    </a:solidFill>
                    <a:latin typeface="Calibri"/>
                  </a:rPr>
                  <a:t>.</a:t>
                </a:r>
              </a:p>
            </p:txBody>
          </p:sp>
        </mc:Fallback>
      </mc:AlternateContent>
      <p:sp>
        <p:nvSpPr>
          <p:cNvPr id="12" name="s3_nen"/>
          <p:cNvSpPr/>
          <p:nvPr/>
        </p:nvSpPr>
        <p:spPr>
          <a:xfrm>
            <a:off x="548640" y="4349495"/>
            <a:ext cx="11064240" cy="13883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386071"/>
                <a:ext cx="10735056" cy="1315212"/>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Chú ý.</a:t>
                </a:r>
                <a:r>
                  <a:rPr sz="2400">
                    <a:solidFill>
                      <a:srgbClr val="1E293B"/>
                    </a:solidFill>
                    <a:latin typeface="Calibri"/>
                  </a:rPr>
                  <a:t> Trung điểm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của đoạn thẳng </a:t>
                </a:r>
                <a14:m>
                  <m:oMath xmlns:m="http://schemas.openxmlformats.org/officeDocument/2006/math">
                    <m:r>
                      <a:rPr lang="vi-VN" sz="2400" b="0">
                        <a:solidFill>
                          <a:srgbClr val="1E293B"/>
                        </a:solidFill>
                        <a:latin typeface="Cambria Math" panose="02040503050406030204" pitchFamily="18" charset="0"/>
                      </a:rPr>
                      <m:t>AB</m:t>
                    </m:r>
                  </m:oMath>
                </a14:m>
                <a:r>
                  <a:rPr sz="2400">
                    <a:solidFill>
                      <a:srgbClr val="1E293B"/>
                    </a:solidFill>
                    <a:latin typeface="Calibri"/>
                  </a:rPr>
                  <a:t>: </a:t>
                </a:r>
                <a14:m>
                  <m:oMath xmlns:m="http://schemas.openxmlformats.org/officeDocument/2006/math">
                    <m:d>
                      <m:dPr>
                        <m:sepChr m:val=""/>
                      </m:dPr>
                      <m:e>
                        <m:f>
                          <m:fPr>
                            <m:type m:val="bar"/>
                          </m:fPr>
                          <m:num>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B</m:t>
                                </m:r>
                              </m:sub>
                            </m:sSub>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B</m:t>
                                </m:r>
                              </m:sub>
                            </m:sSub>
                          </m:num>
                          <m:den>
                            <m:r>
                              <a:rPr lang="vi-VN" sz="2400" b="0">
                                <a:solidFill>
                                  <a:srgbClr val="1E293B"/>
                                </a:solidFill>
                                <a:latin typeface="Cambria Math" panose="02040503050406030204" pitchFamily="18" charset="0"/>
                              </a:rPr>
                              <m:t>2</m:t>
                            </m:r>
                          </m:den>
                        </m:f>
                      </m:e>
                    </m:d>
                  </m:oMath>
                </a14:m>
                <a:r>
                  <a:rPr sz="2400">
                    <a:solidFill>
                      <a:srgbClr val="1E293B"/>
                    </a:solidFill>
                    <a:latin typeface="Calibri"/>
                  </a:rPr>
                  <a:t>. Trọng tâm </a:t>
                </a:r>
                <a14:m>
                  <m:oMath xmlns:m="http://schemas.openxmlformats.org/officeDocument/2006/math">
                    <m:r>
                      <a:rPr lang="vi-VN" sz="2400" b="0">
                        <a:solidFill>
                          <a:srgbClr val="1E293B"/>
                        </a:solidFill>
                        <a:latin typeface="Cambria Math" panose="02040503050406030204" pitchFamily="18" charset="0"/>
                      </a:rPr>
                      <m:t>G</m:t>
                    </m:r>
                  </m:oMath>
                </a14:m>
                <a:r>
                  <a:rPr sz="2400">
                    <a:solidFill>
                      <a:srgbClr val="1E293B"/>
                    </a:solidFill>
                    <a:latin typeface="Calibri"/>
                  </a:rPr>
                  <a:t> của tam giác </a:t>
                </a:r>
                <a14:m>
                  <m:oMath xmlns:m="http://schemas.openxmlformats.org/officeDocument/2006/math">
                    <m:r>
                      <a:rPr lang="vi-VN" sz="2400" b="0">
                        <a:solidFill>
                          <a:srgbClr val="1E293B"/>
                        </a:solidFill>
                        <a:latin typeface="Cambria Math" panose="02040503050406030204" pitchFamily="18" charset="0"/>
                      </a:rPr>
                      <m:t>ABC</m:t>
                    </m:r>
                  </m:oMath>
                </a14:m>
                <a:r>
                  <a:rPr sz="2400">
                    <a:solidFill>
                      <a:srgbClr val="1E293B"/>
                    </a:solidFill>
                    <a:latin typeface="Calibri"/>
                  </a:rPr>
                  <a:t>: </a:t>
                </a:r>
                <a14:m>
                  <m:oMath xmlns:m="http://schemas.openxmlformats.org/officeDocument/2006/math">
                    <m:d>
                      <m:dPr>
                        <m:sepChr m:val=""/>
                      </m:dPr>
                      <m:e>
                        <m:f>
                          <m:fPr>
                            <m:type m:val="bar"/>
                          </m:fPr>
                          <m:num>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B</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C</m:t>
                                </m:r>
                              </m:sub>
                            </m:sSub>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B</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m:t>
                                </m:r>
                              </m:sub>
                            </m:sSub>
                          </m:num>
                          <m:den>
                            <m:r>
                              <a:rPr lang="vi-VN" sz="2400" b="0">
                                <a:solidFill>
                                  <a:srgbClr val="1E293B"/>
                                </a:solidFill>
                                <a:latin typeface="Cambria Math" panose="02040503050406030204" pitchFamily="18" charset="0"/>
                              </a:rPr>
                              <m:t>3</m:t>
                            </m:r>
                          </m:den>
                        </m:f>
                      </m:e>
                    </m:d>
                  </m:oMath>
                </a14:m>
                <a:r>
                  <a:rPr sz="2400">
                    <a:solidFill>
                      <a:srgbClr val="1E293B"/>
                    </a:solidFill>
                    <a:latin typeface="Calibri"/>
                  </a:rPr>
                  <a:t>.</a:t>
                </a:r>
              </a:p>
            </p:txBody>
          </p:sp>
        </mc:Choice>
        <mc:Fallback>
          <p:sp>
            <p:nvSpPr>
              <p:cNvPr id="13" name="TextBox 12"/>
              <p:cNvSpPr txBox="1"/>
              <p:nvPr/>
            </p:nvSpPr>
            <p:spPr>
              <a:xfrm>
                <a:off x="713232" y="4386071"/>
                <a:ext cx="10735056" cy="1315212"/>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Chú ý.</a:t>
                </a:r>
                <a:r>
                  <a:rPr sz="2400">
                    <a:solidFill>
                      <a:srgbClr val="1E293B"/>
                    </a:solidFill>
                    <a:latin typeface="Calibri"/>
                  </a:rPr>
                  <a:t> Trung điểm </a:t>
                </a:r>
                <a:r>
                  <a:rPr lang="vi-VN"/>
                  <a:t>M</a:t>
                </a:r>
                <a:r>
                  <a:rPr sz="2400">
                    <a:solidFill>
                      <a:srgbClr val="1E293B"/>
                    </a:solidFill>
                    <a:latin typeface="Calibri"/>
                  </a:rPr>
                  <a:t> của đoạn thẳng </a:t>
                </a:r>
                <a:r>
                  <a:rPr lang="vi-VN"/>
                  <a:t>AB</a:t>
                </a:r>
                <a:r>
                  <a:rPr sz="2400">
                    <a:solidFill>
                      <a:srgbClr val="1E293B"/>
                    </a:solidFill>
                    <a:latin typeface="Calibri"/>
                  </a:rPr>
                  <a:t>: </a:t>
                </a:r>
                <a:r>
                  <a:rPr lang="vi-VN"/>
                  <a:t>\left(\frac{x_A+x_B}{2};\ \frac{y_A+y_B}{2}\right)</a:t>
                </a:r>
                <a:r>
                  <a:rPr sz="2400">
                    <a:solidFill>
                      <a:srgbClr val="1E293B"/>
                    </a:solidFill>
                    <a:latin typeface="Calibri"/>
                  </a:rPr>
                  <a:t>. Trọng tâm </a:t>
                </a:r>
                <a:r>
                  <a:rPr lang="vi-VN"/>
                  <a:t>G</a:t>
                </a:r>
                <a:r>
                  <a:rPr sz="2400">
                    <a:solidFill>
                      <a:srgbClr val="1E293B"/>
                    </a:solidFill>
                    <a:latin typeface="Calibri"/>
                  </a:rPr>
                  <a:t> của tam giác </a:t>
                </a:r>
                <a:r>
                  <a:rPr lang="vi-VN"/>
                  <a:t>ABC</a:t>
                </a:r>
                <a:r>
                  <a:rPr sz="2400">
                    <a:solidFill>
                      <a:srgbClr val="1E293B"/>
                    </a:solidFill>
                    <a:latin typeface="Calibri"/>
                  </a:rPr>
                  <a:t>: </a:t>
                </a:r>
                <a:r>
                  <a:rPr lang="vi-VN"/>
                  <a:t>\left(\frac{x_A+x_B+x_C}{3};\ \frac{y_A+y_B+y_C}{3}\right)</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DỰ ĐOÁN VỊ TRÍ TÂM BÃO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Từ thông tin dự báo bão ở đầu bài học, hãy xác định toạ độ vị trí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của tâm bão tại thời điểm 9 giờ trong khoảng thời gian 12 giờ của dự báo. (Tâm bão di chuyển thẳng đều từ </a:t>
                </a:r>
                <a14:m>
                  <m:oMath xmlns:m="http://schemas.openxmlformats.org/officeDocument/2006/math">
                    <m:r>
                      <a:rPr lang="vi-VN" sz="2100" b="0">
                        <a:solidFill>
                          <a:srgbClr val="1E293B"/>
                        </a:solidFill>
                        <a:latin typeface="Cambria Math" panose="02040503050406030204" pitchFamily="18" charset="0"/>
                      </a:rPr>
                      <m:t>A(13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108</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oMath>
                </a14:m>
                <a:r>
                  <a:rPr sz="2100">
                    <a:solidFill>
                      <a:srgbClr val="1E293B"/>
                    </a:solidFill>
                    <a:latin typeface="Calibri"/>
                  </a:rPr>
                  <a:t> tới </a:t>
                </a:r>
                <a14:m>
                  <m:oMath xmlns:m="http://schemas.openxmlformats.org/officeDocument/2006/math">
                    <m:r>
                      <a:rPr lang="vi-VN" sz="2100" b="0">
                        <a:solidFill>
                          <a:srgbClr val="1E293B"/>
                        </a:solidFill>
                        <a:latin typeface="Cambria Math" panose="02040503050406030204" pitchFamily="18" charset="0"/>
                      </a:rPr>
                      <m:t>B(14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106</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Từ thông tin dự báo bão ở đầu bài học, hãy xác định toạ độ vị trí </a:t>
                </a:r>
                <a:r>
                  <a:rPr lang="vi-VN"/>
                  <a:t>M</a:t>
                </a:r>
                <a:r>
                  <a:rPr sz="2100">
                    <a:solidFill>
                      <a:srgbClr val="1E293B"/>
                    </a:solidFill>
                    <a:latin typeface="Calibri"/>
                  </a:rPr>
                  <a:t> của tâm bão tại thời điểm 9 giờ trong khoảng thời gian 12 giờ của dự báo. (Tâm bão di chuyển thẳng đều từ </a:t>
                </a:r>
                <a:r>
                  <a:rPr lang="vi-VN"/>
                  <a:t>A(13{,}8;\ 108{,}3)</a:t>
                </a:r>
                <a:r>
                  <a:rPr sz="2100">
                    <a:solidFill>
                      <a:srgbClr val="1E293B"/>
                    </a:solidFill>
                    <a:latin typeface="Calibri"/>
                  </a:rPr>
                  <a:t> tới </a:t>
                </a:r>
                <a:r>
                  <a:rPr lang="vi-VN"/>
                  <a:t>B(14{,}1;\ 106{,}3)</a:t>
                </a:r>
                <a:r>
                  <a:rPr sz="2100">
                    <a:solidFill>
                      <a:srgbClr val="1E293B"/>
                    </a:solidFill>
                    <a:latin typeface="Calibri"/>
                  </a:rPr>
                  <a:t>.)</a:t>
                </a:r>
              </a:p>
            </p:txBody>
          </p:sp>
        </mc:Fallback>
      </mc:AlternateContent>
      <p:sp>
        <p:nvSpPr>
          <p:cNvPr id="8" name="s1_nen"/>
          <p:cNvSpPr/>
          <p:nvPr/>
        </p:nvSpPr>
        <p:spPr>
          <a:xfrm>
            <a:off x="548640" y="2916936"/>
            <a:ext cx="78638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Chuyển động thẳng đều nên </a:t>
                </a:r>
                <a14:m>
                  <m:oMath xmlns:m="http://schemas.openxmlformats.org/officeDocument/2006/math">
                    <m:acc>
                      <m:accPr>
                        <m:chr m:val="⃗"/>
                      </m:accPr>
                      <m:e>
                        <m:r>
                          <a:rPr lang="vi-VN" sz="2100" b="0">
                            <a:solidFill>
                              <a:srgbClr val="1E293B"/>
                            </a:solidFill>
                            <a:latin typeface="Cambria Math" panose="02040503050406030204" pitchFamily="18" charset="0"/>
                          </a:rPr>
                          <m:t>AM</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9</m:t>
                        </m:r>
                      </m:num>
                      <m:den>
                        <m:r>
                          <a:rPr lang="vi-VN" sz="2100" b="0">
                            <a:solidFill>
                              <a:srgbClr val="1E293B"/>
                            </a:solidFill>
                            <a:latin typeface="Cambria Math" panose="02040503050406030204" pitchFamily="18" charset="0"/>
                          </a:rPr>
                          <m:t>12</m:t>
                        </m:r>
                      </m:den>
                    </m:f>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với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9" name="TextBox 8"/>
              <p:cNvSpPr txBox="1"/>
              <p:nvPr/>
            </p:nvSpPr>
            <p:spPr>
              <a:xfrm>
                <a:off x="713232" y="2953512"/>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Chuyển động thẳng đều nên </a:t>
                </a:r>
                <a:r>
                  <a:rPr lang="vi-VN"/>
                  <a:t>\overrightarrow{AM}</a:t>
                </a:r>
                <a:r>
                  <a:rPr sz="2100">
                    <a:solidFill>
                      <a:srgbClr val="1E293B"/>
                    </a:solidFill>
                    <a:latin typeface="Calibri"/>
                  </a:rPr>
                  <a:t> = </a:t>
                </a:r>
                <a:r>
                  <a:rPr lang="vi-VN"/>
                  <a:t>\frac{9}{12}</a:t>
                </a:r>
                <a:r>
                  <a:rPr sz="2100">
                    <a:solidFill>
                      <a:srgbClr val="1E293B"/>
                    </a:solidFill>
                    <a:latin typeface="Calibri"/>
                  </a:rPr>
                  <a:t> </a:t>
                </a:r>
                <a:r>
                  <a:rPr lang="vi-VN"/>
                  <a:t>\overrightarrow{AB}</a:t>
                </a:r>
                <a:r>
                  <a:rPr sz="2100">
                    <a:solidFill>
                      <a:srgbClr val="1E293B"/>
                    </a:solidFill>
                    <a:latin typeface="Calibri"/>
                  </a:rPr>
                  <a:t> = </a:t>
                </a:r>
                <a:r>
                  <a:rPr lang="vi-VN"/>
                  <a:t>\frac{3}{4}</a:t>
                </a:r>
                <a:r>
                  <a:rPr sz="2100">
                    <a:solidFill>
                      <a:srgbClr val="1E293B"/>
                    </a:solidFill>
                    <a:latin typeface="Calibri"/>
                  </a:rPr>
                  <a:t> </a:t>
                </a:r>
                <a:r>
                  <a:rPr lang="vi-VN"/>
                  <a:t>\overrightarrow{AB}</a:t>
                </a:r>
                <a:r>
                  <a:rPr sz="2100">
                    <a:solidFill>
                      <a:srgbClr val="1E293B"/>
                    </a:solidFill>
                    <a:latin typeface="Calibri"/>
                  </a:rPr>
                  <a:t>, với </a:t>
                </a:r>
                <a:r>
                  <a:rPr lang="vi-VN"/>
                  <a:t>\overrightarrow{AB}</a:t>
                </a:r>
                <a:r>
                  <a:rPr sz="2100">
                    <a:solidFill>
                      <a:srgbClr val="1E293B"/>
                    </a:solidFill>
                    <a:latin typeface="Calibri"/>
                  </a:rPr>
                  <a:t> = </a:t>
                </a:r>
                <a:r>
                  <a:rPr lang="vi-VN"/>
                  <a:t>(0{,}3;\ -2)</a:t>
                </a:r>
                <a:r>
                  <a:rPr sz="2100">
                    <a:solidFill>
                      <a:srgbClr val="1E293B"/>
                    </a:solidFill>
                    <a:latin typeface="Calibri"/>
                  </a:rPr>
                  <a:t>.</a:t>
                </a:r>
              </a:p>
            </p:txBody>
          </p:sp>
        </mc:Fallback>
      </mc:AlternateContent>
      <p:sp>
        <p:nvSpPr>
          <p:cNvPr id="10" name="s2_nen"/>
          <p:cNvSpPr/>
          <p:nvPr/>
        </p:nvSpPr>
        <p:spPr>
          <a:xfrm>
            <a:off x="548640" y="4201668"/>
            <a:ext cx="78638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38244"/>
                <a:ext cx="75346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x−13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y−108</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·(−2)</m:t>
                    </m:r>
                  </m:oMath>
                </a14:m>
                <a:r>
                  <a:rPr sz="2100">
                    <a:solidFill>
                      <a:srgbClr val="1E293B"/>
                    </a:solidFill>
                    <a:latin typeface="Calibri"/>
                  </a:rPr>
                  <a:t>.</a:t>
                </a:r>
              </a:p>
            </p:txBody>
          </p:sp>
        </mc:Choice>
        <mc:Fallback>
          <p:sp>
            <p:nvSpPr>
              <p:cNvPr id="11" name="TextBox 10"/>
              <p:cNvSpPr txBox="1"/>
              <p:nvPr/>
            </p:nvSpPr>
            <p:spPr>
              <a:xfrm>
                <a:off x="713232" y="4238244"/>
                <a:ext cx="75346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x-13{,}8=\frac{3}{4}\cdot 0{,}3</a:t>
                </a:r>
                <a:r>
                  <a:rPr sz="2100">
                    <a:solidFill>
                      <a:srgbClr val="1E293B"/>
                    </a:solidFill>
                    <a:latin typeface="Calibri"/>
                  </a:rPr>
                  <a:t>; </a:t>
                </a:r>
                <a:r>
                  <a:rPr lang="vi-VN"/>
                  <a:t>y-108{,}3=\frac{3}{4}\cdot(-2)</a:t>
                </a:r>
                <a:r>
                  <a:rPr sz="2100">
                    <a:solidFill>
                      <a:srgbClr val="1E293B"/>
                    </a:solidFill>
                    <a:latin typeface="Calibri"/>
                  </a:rPr>
                  <a:t>.</a:t>
                </a:r>
              </a:p>
            </p:txBody>
          </p:sp>
        </mc:Fallback>
      </mc:AlternateContent>
      <p:sp>
        <p:nvSpPr>
          <p:cNvPr id="12" name="s3_nen"/>
          <p:cNvSpPr/>
          <p:nvPr/>
        </p:nvSpPr>
        <p:spPr>
          <a:xfrm>
            <a:off x="548640" y="5166360"/>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02936"/>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M(14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025;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106</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m:t>
                    </m:r>
                  </m:oMath>
                </a14:m>
                <a:r>
                  <a:rPr sz="2100">
                    <a:solidFill>
                      <a:srgbClr val="1E293B"/>
                    </a:solidFill>
                    <a:latin typeface="Calibri"/>
                  </a:rPr>
                  <a:t> – khoảng </a:t>
                </a:r>
                <a14:m>
                  <m:oMath xmlns:m="http://schemas.openxmlformats.org/officeDocument/2006/math">
                    <m:r>
                      <a:rPr lang="vi-VN" sz="2100" b="0">
                        <a:solidFill>
                          <a:srgbClr val="1E293B"/>
                        </a:solidFill>
                        <a:latin typeface="Cambria Math" panose="02040503050406030204" pitchFamily="18" charset="0"/>
                      </a:rPr>
                      <m:t>14</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vĩ bắc, </a:t>
                </a:r>
                <a14:m>
                  <m:oMath xmlns:m="http://schemas.openxmlformats.org/officeDocument/2006/math">
                    <m:r>
                      <a:rPr lang="vi-VN" sz="2100" b="0">
                        <a:solidFill>
                          <a:srgbClr val="1E293B"/>
                        </a:solidFill>
                        <a:latin typeface="Cambria Math" panose="02040503050406030204" pitchFamily="18" charset="0"/>
                      </a:rPr>
                      <m:t>106</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8</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kinh đông.</a:t>
                </a:r>
              </a:p>
            </p:txBody>
          </p:sp>
        </mc:Choice>
        <mc:Fallback>
          <p:sp>
            <p:nvSpPr>
              <p:cNvPr id="13" name="TextBox 12"/>
              <p:cNvSpPr txBox="1"/>
              <p:nvPr/>
            </p:nvSpPr>
            <p:spPr>
              <a:xfrm>
                <a:off x="713232" y="5202936"/>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M(14{,}025;\ 106{,}8)</a:t>
                </a:r>
                <a:r>
                  <a:rPr sz="2100">
                    <a:solidFill>
                      <a:srgbClr val="1E293B"/>
                    </a:solidFill>
                    <a:latin typeface="Calibri"/>
                  </a:rPr>
                  <a:t> – khoảng </a:t>
                </a:r>
                <a:r>
                  <a:rPr lang="vi-VN"/>
                  <a:t>14{,}0^\circ</a:t>
                </a:r>
                <a:r>
                  <a:rPr sz="2100">
                    <a:solidFill>
                      <a:srgbClr val="1E293B"/>
                    </a:solidFill>
                    <a:latin typeface="Calibri"/>
                  </a:rPr>
                  <a:t> vĩ bắc, </a:t>
                </a:r>
                <a:r>
                  <a:rPr lang="vi-VN"/>
                  <a:t>106{,}8^\circ</a:t>
                </a:r>
                <a:r>
                  <a:rPr sz="2100">
                    <a:solidFill>
                      <a:srgbClr val="1E293B"/>
                    </a:solidFill>
                    <a:latin typeface="Calibri"/>
                  </a:rPr>
                  <a:t> kinh đông.</a:t>
                </a:r>
              </a:p>
            </p:txBody>
          </p:sp>
        </mc:Fallback>
      </mc:AlternateContent>
      <p:pic>
        <p:nvPicPr>
          <p:cNvPr id="14" name="Picture 13" descr="bao_m.png"/>
          <p:cNvPicPr>
            <a:picLocks noChangeAspect="1"/>
          </p:cNvPicPr>
          <p:nvPr/>
        </p:nvPicPr>
        <p:blipFill>
          <a:blip r:embed="rId3"/>
          <a:stretch>
            <a:fillRect/>
          </a:stretch>
        </p:blipFill>
        <p:spPr>
          <a:xfrm>
            <a:off x="8595360" y="1800970"/>
            <a:ext cx="3108960" cy="24330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VỊ TRÍ TÂM BÃO THEO THỜI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(giờ) từ 0 đến 12.</a:t>
                </a:r>
              </a:p>
              <a:p>
                <a:pPr algn="l" marL="365760" indent="-365760">
                  <a:spcAft>
                    <a:spcPts val="800"/>
                  </a:spcAft>
                  <a:buClr>
                    <a:srgbClr val="1E40AF"/>
                  </a:buClr>
                  <a:buFont typeface="Arial"/>
                  <a:buChar char="•"/>
                </a:pPr>
                <a:r>
                  <a:rPr sz="2200">
                    <a:solidFill>
                      <a:srgbClr val="1E293B"/>
                    </a:solidFill>
                    <a:latin typeface="Calibri"/>
                  </a:rPr>
                  <a:t>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t</m:t>
                        </m:r>
                      </m:num>
                      <m:den>
                        <m:r>
                          <a:rPr lang="vi-VN" sz="2200" b="0">
                            <a:solidFill>
                              <a:srgbClr val="1E293B"/>
                            </a:solidFill>
                            <a:latin typeface="Cambria Math" panose="02040503050406030204" pitchFamily="18" charset="0"/>
                          </a:rPr>
                          <m:t>12</m:t>
                        </m:r>
                      </m:den>
                    </m:f>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vị trí tâm bão sau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giờ.</a:t>
                </a:r>
              </a:p>
              <a:p>
                <a:pPr algn="l" marL="365760" indent="-365760">
                  <a:spcAft>
                    <a:spcPts val="800"/>
                  </a:spcAft>
                  <a:buClr>
                    <a:srgbClr val="1E40AF"/>
                  </a:buClr>
                  <a:buFont typeface="Arial"/>
                  <a:buChar char="•"/>
                </a:pPr>
                <a:r>
                  <a:rPr sz="2200">
                    <a:solidFill>
                      <a:srgbClr val="1E293B"/>
                    </a:solidFill>
                    <a:latin typeface="Calibri"/>
                  </a:rPr>
                  <a:t>Đọc toạ độ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ở bảng giá trị; với </a:t>
                </a:r>
                <a14:m>
                  <m:oMath xmlns:m="http://schemas.openxmlformats.org/officeDocument/2006/math">
                    <m:r>
                      <a:rPr lang="vi-VN" sz="2200" b="0">
                        <a:solidFill>
                          <a:srgbClr val="1E293B"/>
                        </a:solidFill>
                        <a:latin typeface="Cambria Math" panose="02040503050406030204" pitchFamily="18" charset="0"/>
                      </a:rPr>
                      <m:t>t=9</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M(14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025;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106</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8)</m:t>
                    </m:r>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(giờ) từ 0 đến 12.</a:t>
                </a:r>
              </a:p>
              <a:p>
                <a:pPr algn="l" marL="365760" indent="-365760">
                  <a:spcAft>
                    <a:spcPts val="800"/>
                  </a:spcAft>
                  <a:buClr>
                    <a:srgbClr val="1E40AF"/>
                  </a:buClr>
                  <a:buFont typeface="Arial"/>
                  <a:buChar char="•"/>
                </a:pPr>
                <a:r>
                  <a:rPr sz="2200">
                    <a:solidFill>
                      <a:srgbClr val="1E293B"/>
                    </a:solidFill>
                    <a:latin typeface="Calibri"/>
                  </a:rPr>
                  <a:t>Điểm </a:t>
                </a:r>
                <a:r>
                  <a:rPr lang="vi-VN"/>
                  <a:t>M</a:t>
                </a:r>
                <a:r>
                  <a:rPr sz="2200">
                    <a:solidFill>
                      <a:srgbClr val="1E293B"/>
                    </a:solidFill>
                    <a:latin typeface="Calibri"/>
                  </a:rPr>
                  <a:t>: </a:t>
                </a:r>
                <a:r>
                  <a:rPr lang="vi-VN"/>
                  <a:t>\overrightarrow{AM}</a:t>
                </a:r>
                <a:r>
                  <a:rPr sz="2200">
                    <a:solidFill>
                      <a:srgbClr val="1E293B"/>
                    </a:solidFill>
                    <a:latin typeface="Calibri"/>
                  </a:rPr>
                  <a:t> = </a:t>
                </a:r>
                <a:r>
                  <a:rPr lang="vi-VN"/>
                  <a:t>\frac{t}{12}</a:t>
                </a:r>
                <a:r>
                  <a:rPr sz="2200">
                    <a:solidFill>
                      <a:srgbClr val="1E293B"/>
                    </a:solidFill>
                    <a:latin typeface="Calibri"/>
                  </a:rPr>
                  <a:t> </a:t>
                </a:r>
                <a:r>
                  <a:rPr lang="vi-VN"/>
                  <a:t>\overrightarrow{AB}</a:t>
                </a:r>
                <a:r>
                  <a:rPr sz="2200">
                    <a:solidFill>
                      <a:srgbClr val="1E293B"/>
                    </a:solidFill>
                    <a:latin typeface="Calibri"/>
                  </a:rPr>
                  <a:t> – vị trí tâm bão sau </a:t>
                </a:r>
                <a:r>
                  <a:rPr lang="vi-VN"/>
                  <a:t>t</a:t>
                </a:r>
                <a:r>
                  <a:rPr sz="2200">
                    <a:solidFill>
                      <a:srgbClr val="1E293B"/>
                    </a:solidFill>
                    <a:latin typeface="Calibri"/>
                  </a:rPr>
                  <a:t> giờ.</a:t>
                </a:r>
              </a:p>
              <a:p>
                <a:pPr algn="l" marL="365760" indent="-365760">
                  <a:spcAft>
                    <a:spcPts val="800"/>
                  </a:spcAft>
                  <a:buClr>
                    <a:srgbClr val="1E40AF"/>
                  </a:buClr>
                  <a:buFont typeface="Arial"/>
                  <a:buChar char="•"/>
                </a:pPr>
                <a:r>
                  <a:rPr sz="2200">
                    <a:solidFill>
                      <a:srgbClr val="1E293B"/>
                    </a:solidFill>
                    <a:latin typeface="Calibri"/>
                  </a:rPr>
                  <a:t>Đọc toạ độ </a:t>
                </a:r>
                <a:r>
                  <a:rPr lang="vi-VN"/>
                  <a:t>M</a:t>
                </a:r>
                <a:r>
                  <a:rPr sz="2200">
                    <a:solidFill>
                      <a:srgbClr val="1E293B"/>
                    </a:solidFill>
                    <a:latin typeface="Calibri"/>
                  </a:rPr>
                  <a:t> ở bảng giá trị; với </a:t>
                </a:r>
                <a:r>
                  <a:rPr lang="vi-VN"/>
                  <a:t>t=9</a:t>
                </a:r>
                <a:r>
                  <a:rPr sz="2200">
                    <a:solidFill>
                      <a:srgbClr val="1E293B"/>
                    </a:solidFill>
                    <a:latin typeface="Calibri"/>
                  </a:rPr>
                  <a:t>: </a:t>
                </a:r>
                <a:r>
                  <a:rPr lang="vi-VN"/>
                  <a:t>M(14{,}025;\ 106{,}8)</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ao.png"/>
          <p:cNvPicPr>
            <a:picLocks noChangeAspect="1"/>
          </p:cNvPicPr>
          <p:nvPr/>
        </p:nvPicPr>
        <p:blipFill>
          <a:blip r:embed="rId5"/>
          <a:stretch>
            <a:fillRect/>
          </a:stretch>
        </p:blipFill>
        <p:spPr>
          <a:xfrm>
            <a:off x="6858000" y="2033085"/>
            <a:ext cx="4846320" cy="334047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22</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MN=</m:t>
                    </m:r>
                    <m:rad>
                      <m:radPr>
                        <m:degHide m:val="on"/>
                      </m:radPr>
                      <m:deg/>
                      <m:e>
                        <m:sSup>
                          <m:e>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trung bình cộng toạ độ hai đầu mút; trọng tâm: trung bình cộng toạ độ ba đỉnh.</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\overrightarrow{MN}</a:t>
                </a:r>
                <a:r>
                  <a:rPr sz="2200">
                    <a:solidFill>
                      <a:srgbClr val="1E293B"/>
                    </a:solidFill>
                    <a:latin typeface="Calibri"/>
                  </a:rPr>
                  <a:t> = </a:t>
                </a:r>
                <a:r>
                  <a:rPr lang="vi-VN"/>
                  <a:t>(x'-x;\ y'-y)</a:t>
                </a:r>
                <a:r>
                  <a:rPr sz="2200">
                    <a:solidFill>
                      <a:srgbClr val="1E293B"/>
                    </a:solidFill>
                    <a:latin typeface="Calibri"/>
                  </a:rPr>
                  <a:t>; </a:t>
                </a:r>
                <a:r>
                  <a:rPr lang="vi-VN"/>
                  <a:t>MN=\sqrt{(x'-x)^2+(y'-y)^2}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trung bình cộng toạ độ hai đầu mút; trọng tâm: trung bình cộng toạ độ ba đỉnh.</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4.16, 4.17 (SGK tr.65).</a:t>
            </a:r>
          </a:p>
          <a:p>
            <a:pPr algn="l" marL="365760" indent="-365760">
              <a:spcAft>
                <a:spcPts val="800"/>
              </a:spcAft>
              <a:buClr>
                <a:srgbClr val="1E40AF"/>
              </a:buClr>
              <a:buFont typeface="Arial"/>
              <a:buChar char="•"/>
            </a:pPr>
            <a:r>
              <a:rPr sz="2200">
                <a:solidFill>
                  <a:srgbClr val="1E293B"/>
                </a:solidFill>
                <a:latin typeface="Calibri"/>
              </a:rPr>
              <a:t>Tiết sau luyện tập: mang máy tính cầm tay, bảng con.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(T34)</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biểu thức toạ độ giải Bài tập 4.16 – 4.20.</a:t>
            </a:r>
          </a:p>
          <a:p>
            <a:pPr algn="l">
              <a:spcAft>
                <a:spcPts val="800"/>
              </a:spcAft>
            </a:pPr>
            <a:r>
              <a:rPr sz="2200">
                <a:solidFill>
                  <a:srgbClr val="E0E7FF"/>
                </a:solidFill>
                <a:latin typeface="Calibri"/>
              </a:rPr>
              <a:t>• Củng cố toàn bài theo cấu trúc đề thi mới.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4.16 – 4.17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Cho các điểm </a:t>
                </a:r>
                <a14:m>
                  <m:oMath xmlns:m="http://schemas.openxmlformats.org/officeDocument/2006/math">
                    <m:r>
                      <a:rPr lang="vi-VN" sz="2000" b="0">
                        <a:solidFill>
                          <a:srgbClr val="1E293B"/>
                        </a:solidFill>
                        <a:latin typeface="Cambria Math" panose="02040503050406030204" pitchFamily="18" charset="0"/>
                      </a:rPr>
                      <m:t>M(1;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N(4;</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 Tính độ dài của các đoạn thẳng </a:t>
                </a:r>
                <a14:m>
                  <m:oMath xmlns:m="http://schemas.openxmlformats.org/officeDocument/2006/math">
                    <m:r>
                      <a:rPr lang="vi-VN" sz="2000" b="0">
                        <a:solidFill>
                          <a:srgbClr val="1E293B"/>
                        </a:solidFill>
                        <a:latin typeface="Cambria Math" panose="02040503050406030204" pitchFamily="18" charset="0"/>
                      </a:rPr>
                      <m:t>OM,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ON,</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MN</m:t>
                    </m:r>
                  </m:oMath>
                </a14:m>
                <a:r>
                  <a:rPr sz="2000">
                    <a:solidFill>
                      <a:srgbClr val="1E293B"/>
                    </a:solidFill>
                    <a:latin typeface="Calibri"/>
                  </a:rPr>
                  <a:t>. b) Chứng minh rằng tam giác </a:t>
                </a:r>
                <a14:m>
                  <m:oMath xmlns:m="http://schemas.openxmlformats.org/officeDocument/2006/math">
                    <m:r>
                      <a:rPr lang="vi-VN" sz="2000" b="0">
                        <a:solidFill>
                          <a:srgbClr val="1E293B"/>
                        </a:solidFill>
                        <a:latin typeface="Cambria Math" panose="02040503050406030204" pitchFamily="18" charset="0"/>
                      </a:rPr>
                      <m:t>OMN</m:t>
                    </m:r>
                  </m:oMath>
                </a14:m>
                <a:r>
                  <a:rPr sz="2000">
                    <a:solidFill>
                      <a:srgbClr val="1E293B"/>
                    </a:solidFill>
                    <a:latin typeface="Calibri"/>
                  </a:rPr>
                  <a:t> vuông cân.</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Cho các điểm </a:t>
                </a:r>
                <a:r>
                  <a:rPr lang="vi-VN"/>
                  <a:t>M(1;\ 3)</a:t>
                </a:r>
                <a:r>
                  <a:rPr sz="2000">
                    <a:solidFill>
                      <a:srgbClr val="1E293B"/>
                    </a:solidFill>
                    <a:latin typeface="Calibri"/>
                  </a:rPr>
                  <a:t>, </a:t>
                </a:r>
                <a:r>
                  <a:rPr lang="vi-VN"/>
                  <a:t>N(4;\ 2)</a:t>
                </a:r>
                <a:r>
                  <a:rPr sz="2000">
                    <a:solidFill>
                      <a:srgbClr val="1E293B"/>
                    </a:solidFill>
                    <a:latin typeface="Calibri"/>
                  </a:rPr>
                  <a:t>. a) Tính độ dài của các đoạn thẳng </a:t>
                </a:r>
                <a:r>
                  <a:rPr lang="vi-VN"/>
                  <a:t>OM,\ ON,\ MN</a:t>
                </a:r>
                <a:r>
                  <a:rPr sz="2000">
                    <a:solidFill>
                      <a:srgbClr val="1E293B"/>
                    </a:solidFill>
                    <a:latin typeface="Calibri"/>
                  </a:rPr>
                  <a:t>. b) Chứng minh rằng tam giác </a:t>
                </a:r>
                <a:r>
                  <a:rPr lang="vi-VN"/>
                  <a:t>OMN</a:t>
                </a:r>
                <a:r>
                  <a:rPr sz="2000">
                    <a:solidFill>
                      <a:srgbClr val="1E293B"/>
                    </a:solidFill>
                    <a:latin typeface="Calibri"/>
                  </a:rPr>
                  <a:t> vuông cân.</a:t>
                </a:r>
              </a:p>
            </p:txBody>
          </p:sp>
        </mc:Fallback>
      </mc:AlternateContent>
      <p:sp>
        <p:nvSpPr>
          <p:cNvPr id="8" name="s1_nen"/>
          <p:cNvSpPr/>
          <p:nvPr/>
        </p:nvSpPr>
        <p:spPr>
          <a:xfrm>
            <a:off x="548640" y="2218944"/>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OM=</m:t>
                    </m:r>
                    <m:rad>
                      <m:radPr>
                        <m:degHide m:val="on"/>
                      </m:radPr>
                      <m:deg/>
                      <m:e>
                        <m:r>
                          <a:rPr lang="vi-VN" sz="2000" b="0">
                            <a:solidFill>
                              <a:srgbClr val="1E293B"/>
                            </a:solidFill>
                            <a:latin typeface="Cambria Math" panose="02040503050406030204" pitchFamily="18" charset="0"/>
                          </a:rPr>
                          <m:t>10</m:t>
                        </m:r>
                      </m:e>
                    </m:ra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ON=2</m:t>
                    </m:r>
                    <m:rad>
                      <m:radPr>
                        <m:degHide m:val="on"/>
                      </m:radPr>
                      <m:deg/>
                      <m:e>
                        <m:r>
                          <a:rPr lang="vi-VN" sz="2000" b="0">
                            <a:solidFill>
                              <a:srgbClr val="1E293B"/>
                            </a:solidFill>
                            <a:latin typeface="Cambria Math" panose="02040503050406030204" pitchFamily="18" charset="0"/>
                          </a:rPr>
                          <m:t>5</m:t>
                        </m:r>
                      </m:e>
                    </m:ra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MN=</m:t>
                    </m:r>
                    <m:rad>
                      <m:radPr>
                        <m:degHide m:val="on"/>
                      </m:radPr>
                      <m:deg/>
                      <m:e>
                        <m:r>
                          <a:rPr lang="vi-VN" sz="2000" b="0">
                            <a:solidFill>
                              <a:srgbClr val="1E293B"/>
                            </a:solidFill>
                            <a:latin typeface="Cambria Math" panose="02040503050406030204" pitchFamily="18" charset="0"/>
                          </a:rPr>
                          <m:t>10</m:t>
                        </m:r>
                      </m:e>
                    </m:rad>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OM=MN</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=20=O</m:t>
                    </m:r>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 tam giác </a:t>
                </a:r>
                <a14:m>
                  <m:oMath xmlns:m="http://schemas.openxmlformats.org/officeDocument/2006/math">
                    <m:r>
                      <a:rPr lang="vi-VN" sz="2000" b="0">
                        <a:solidFill>
                          <a:srgbClr val="1E293B"/>
                        </a:solidFill>
                        <a:latin typeface="Cambria Math" panose="02040503050406030204" pitchFamily="18" charset="0"/>
                      </a:rPr>
                      <m:t>OMN</m:t>
                    </m:r>
                  </m:oMath>
                </a14:m>
                <a:r>
                  <a:rPr sz="2000">
                    <a:solidFill>
                      <a:srgbClr val="1E293B"/>
                    </a:solidFill>
                    <a:latin typeface="Calibri"/>
                  </a:rPr>
                  <a:t> vuông cân tại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a:t>
                </a:r>
              </a:p>
            </p:txBody>
          </p:sp>
        </mc:Choice>
        <mc:Fallback>
          <p:sp>
            <p:nvSpPr>
              <p:cNvPr id="9" name="TextBox 8"/>
              <p:cNvSpPr txBox="1"/>
              <p:nvPr/>
            </p:nvSpPr>
            <p:spPr>
              <a:xfrm>
                <a:off x="713232" y="2255520"/>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a) </a:t>
                </a:r>
                <a:r>
                  <a:rPr lang="vi-VN"/>
                  <a:t>OM=\sqrt{10}</a:t>
                </a:r>
                <a:r>
                  <a:rPr sz="2000">
                    <a:solidFill>
                      <a:srgbClr val="1E293B"/>
                    </a:solidFill>
                    <a:latin typeface="Calibri"/>
                  </a:rPr>
                  <a:t>, </a:t>
                </a:r>
                <a:r>
                  <a:rPr lang="vi-VN"/>
                  <a:t>ON=2\sqrt{5}</a:t>
                </a:r>
                <a:r>
                  <a:rPr sz="2000">
                    <a:solidFill>
                      <a:srgbClr val="1E293B"/>
                    </a:solidFill>
                    <a:latin typeface="Calibri"/>
                  </a:rPr>
                  <a:t>, </a:t>
                </a:r>
                <a:r>
                  <a:rPr lang="vi-VN"/>
                  <a:t>MN=\sqrt{10}</a:t>
                </a:r>
                <a:r>
                  <a:rPr sz="2000">
                    <a:solidFill>
                      <a:srgbClr val="1E293B"/>
                    </a:solidFill>
                    <a:latin typeface="Calibri"/>
                  </a:rPr>
                  <a:t>. b) </a:t>
                </a:r>
                <a:r>
                  <a:rPr lang="vi-VN"/>
                  <a:t>OM=MN</a:t>
                </a:r>
                <a:r>
                  <a:rPr sz="2000">
                    <a:solidFill>
                      <a:srgbClr val="1E293B"/>
                    </a:solidFill>
                    <a:latin typeface="Calibri"/>
                  </a:rPr>
                  <a:t>, </a:t>
                </a:r>
                <a:r>
                  <a:rPr lang="vi-VN"/>
                  <a:t>OM^2+MN^2=20=ON^2</a:t>
                </a:r>
                <a:r>
                  <a:rPr sz="2000">
                    <a:solidFill>
                      <a:srgbClr val="1E293B"/>
                    </a:solidFill>
                    <a:latin typeface="Calibri"/>
                  </a:rPr>
                  <a:t> ⇒ tam giác </a:t>
                </a:r>
                <a:r>
                  <a:rPr lang="vi-VN"/>
                  <a:t>OMN</a:t>
                </a:r>
                <a:r>
                  <a:rPr sz="2000">
                    <a:solidFill>
                      <a:srgbClr val="1E293B"/>
                    </a:solidFill>
                    <a:latin typeface="Calibri"/>
                  </a:rPr>
                  <a:t> vuông cân tại </a:t>
                </a:r>
                <a:r>
                  <a:rPr lang="vi-VN"/>
                  <a:t>M</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57728"/>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4.17.</a:t>
                </a:r>
                <a:r>
                  <a:rPr sz="2000">
                    <a:solidFill>
                      <a:srgbClr val="1E293B"/>
                    </a:solidFill>
                    <a:latin typeface="Calibri"/>
                  </a:rPr>
                  <a:t> Cho các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=(4;</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và các điểm </a:t>
                </a:r>
                <a14:m>
                  <m:oMath xmlns:m="http://schemas.openxmlformats.org/officeDocument/2006/math">
                    <m:r>
                      <a:rPr lang="vi-VN" sz="2000" b="0">
                        <a:solidFill>
                          <a:srgbClr val="1E293B"/>
                        </a:solidFill>
                        <a:latin typeface="Cambria Math" panose="02040503050406030204" pitchFamily="18" charset="0"/>
                      </a:rPr>
                      <m:t>M(−3;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 Tìm mối liên hệ giữa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Các điểm </a:t>
                </a:r>
                <a14:m>
                  <m:oMath xmlns:m="http://schemas.openxmlformats.org/officeDocument/2006/math">
                    <m:r>
                      <a:rPr lang="vi-VN" sz="2000" b="0">
                        <a:solidFill>
                          <a:srgbClr val="1E293B"/>
                        </a:solidFill>
                        <a:latin typeface="Cambria Math" panose="02040503050406030204" pitchFamily="18" charset="0"/>
                      </a:rPr>
                      <m:t>O,</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có thẳng hàng hay không? c) Tìm điểm </a:t>
                </a:r>
                <a14:m>
                  <m:oMath xmlns:m="http://schemas.openxmlformats.org/officeDocument/2006/math">
                    <m:r>
                      <a:rPr lang="vi-VN" sz="2000" b="0">
                        <a:solidFill>
                          <a:srgbClr val="1E293B"/>
                        </a:solidFill>
                        <a:latin typeface="Cambria Math" panose="02040503050406030204" pitchFamily="18" charset="0"/>
                      </a:rPr>
                      <m:t>P(x;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để </a:t>
                </a:r>
                <a14:m>
                  <m:oMath xmlns:m="http://schemas.openxmlformats.org/officeDocument/2006/math">
                    <m:r>
                      <a:rPr lang="vi-VN" sz="2000" b="0">
                        <a:solidFill>
                          <a:srgbClr val="1E293B"/>
                        </a:solidFill>
                        <a:latin typeface="Cambria Math" panose="02040503050406030204" pitchFamily="18" charset="0"/>
                      </a:rPr>
                      <m:t>OMNP</m:t>
                    </m:r>
                  </m:oMath>
                </a14:m>
                <a:r>
                  <a:rPr sz="2000">
                    <a:solidFill>
                      <a:srgbClr val="1E293B"/>
                    </a:solidFill>
                    <a:latin typeface="Calibri"/>
                  </a:rPr>
                  <a:t> là một hình bình hành.</a:t>
                </a:r>
              </a:p>
            </p:txBody>
          </p:sp>
        </mc:Choice>
        <mc:Fallback>
          <p:sp>
            <p:nvSpPr>
              <p:cNvPr id="10" name="TextBox 9"/>
              <p:cNvSpPr txBox="1"/>
              <p:nvPr/>
            </p:nvSpPr>
            <p:spPr>
              <a:xfrm>
                <a:off x="548640" y="3157728"/>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4.17.</a:t>
                </a:r>
                <a:r>
                  <a:rPr sz="2000">
                    <a:solidFill>
                      <a:srgbClr val="1E293B"/>
                    </a:solidFill>
                    <a:latin typeface="Calibri"/>
                  </a:rPr>
                  <a:t> Cho các vectơ </a:t>
                </a:r>
                <a:r>
                  <a:rPr lang="vi-VN"/>
                  <a:t>\vec{a}=3\vec{i}-2\vec{j}</a:t>
                </a:r>
                <a:r>
                  <a:rPr sz="2000">
                    <a:solidFill>
                      <a:srgbClr val="1E293B"/>
                    </a:solidFill>
                    <a:latin typeface="Calibri"/>
                  </a:rPr>
                  <a:t>, </a:t>
                </a:r>
                <a:r>
                  <a:rPr lang="vi-VN"/>
                  <a:t>\vec{b}=(4;\ -1)</a:t>
                </a:r>
                <a:r>
                  <a:rPr sz="2000">
                    <a:solidFill>
                      <a:srgbClr val="1E293B"/>
                    </a:solidFill>
                    <a:latin typeface="Calibri"/>
                  </a:rPr>
                  <a:t> và các điểm </a:t>
                </a:r>
                <a:r>
                  <a:rPr lang="vi-VN"/>
                  <a:t>M(-3;\ 6)</a:t>
                </a:r>
                <a:r>
                  <a:rPr sz="2000">
                    <a:solidFill>
                      <a:srgbClr val="1E293B"/>
                    </a:solidFill>
                    <a:latin typeface="Calibri"/>
                  </a:rPr>
                  <a:t>, </a:t>
                </a:r>
                <a:r>
                  <a:rPr lang="vi-VN"/>
                  <a:t>N(3;\ -3)</a:t>
                </a:r>
                <a:r>
                  <a:rPr sz="2000">
                    <a:solidFill>
                      <a:srgbClr val="1E293B"/>
                    </a:solidFill>
                    <a:latin typeface="Calibri"/>
                  </a:rPr>
                  <a:t>. a) Tìm mối liên hệ giữa </a:t>
                </a:r>
                <a:r>
                  <a:rPr lang="vi-VN"/>
                  <a:t>\overrightarrow{MN}</a:t>
                </a:r>
                <a:r>
                  <a:rPr sz="2000">
                    <a:solidFill>
                      <a:srgbClr val="1E293B"/>
                    </a:solidFill>
                    <a:latin typeface="Calibri"/>
                  </a:rPr>
                  <a:t> và </a:t>
                </a:r>
                <a:r>
                  <a:rPr lang="vi-VN"/>
                  <a:t>2\vec{a}-\vec{b}</a:t>
                </a:r>
                <a:r>
                  <a:rPr sz="2000">
                    <a:solidFill>
                      <a:srgbClr val="1E293B"/>
                    </a:solidFill>
                    <a:latin typeface="Calibri"/>
                  </a:rPr>
                  <a:t>. b) Các điểm </a:t>
                </a:r>
                <a:r>
                  <a:rPr lang="vi-VN"/>
                  <a:t>O,\ M,\ N</a:t>
                </a:r>
                <a:r>
                  <a:rPr sz="2000">
                    <a:solidFill>
                      <a:srgbClr val="1E293B"/>
                    </a:solidFill>
                    <a:latin typeface="Calibri"/>
                  </a:rPr>
                  <a:t> có thẳng hàng hay không? c) Tìm điểm </a:t>
                </a:r>
                <a:r>
                  <a:rPr lang="vi-VN"/>
                  <a:t>P(x;\ y)</a:t>
                </a:r>
                <a:r>
                  <a:rPr sz="2000">
                    <a:solidFill>
                      <a:srgbClr val="1E293B"/>
                    </a:solidFill>
                    <a:latin typeface="Calibri"/>
                  </a:rPr>
                  <a:t> để </a:t>
                </a:r>
                <a:r>
                  <a:rPr lang="vi-VN"/>
                  <a:t>OMNP</a:t>
                </a:r>
                <a:r>
                  <a:rPr sz="2000">
                    <a:solidFill>
                      <a:srgbClr val="1E293B"/>
                    </a:solidFill>
                    <a:latin typeface="Calibri"/>
                  </a:rPr>
                  <a:t> là một hình bình hành.</a:t>
                </a:r>
              </a:p>
            </p:txBody>
          </p:sp>
        </mc:Fallback>
      </mc:AlternateContent>
      <p:sp>
        <p:nvSpPr>
          <p:cNvPr id="11" name="s3_nen"/>
          <p:cNvSpPr/>
          <p:nvPr/>
        </p:nvSpPr>
        <p:spPr>
          <a:xfrm>
            <a:off x="548640" y="4309872"/>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346448"/>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4.17.</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6</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e>
                    </m:d>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ON</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e>
                    </m:d>
                  </m:oMath>
                </a14:m>
                <a:r>
                  <a:rPr sz="2000">
                    <a:solidFill>
                      <a:srgbClr val="1E293B"/>
                    </a:solidFill>
                    <a:latin typeface="Calibri"/>
                  </a:rPr>
                  <a:t> không cùng phương ⇒ không thẳng hàng. c)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P(6;</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oMath>
                </a14:m>
                <a:r>
                  <a:rPr sz="2000">
                    <a:solidFill>
                      <a:srgbClr val="1E293B"/>
                    </a:solidFill>
                    <a:latin typeface="Calibri"/>
                  </a:rPr>
                  <a:t>.</a:t>
                </a:r>
              </a:p>
            </p:txBody>
          </p:sp>
        </mc:Choice>
        <mc:Fallback>
          <p:sp>
            <p:nvSpPr>
              <p:cNvPr id="12" name="TextBox 11"/>
              <p:cNvSpPr txBox="1"/>
              <p:nvPr/>
            </p:nvSpPr>
            <p:spPr>
              <a:xfrm>
                <a:off x="713232" y="4346448"/>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4.17.</a:t>
                </a:r>
                <a:r>
                  <a:rPr sz="2000">
                    <a:solidFill>
                      <a:srgbClr val="1E293B"/>
                    </a:solidFill>
                    <a:latin typeface="Calibri"/>
                  </a:rPr>
                  <a:t> a) </a:t>
                </a:r>
                <a:r>
                  <a:rPr lang="vi-VN"/>
                  <a:t>2\vec{a}-\vec{b}=(2;\ -3)</a:t>
                </a:r>
                <a:r>
                  <a:rPr sz="2000">
                    <a:solidFill>
                      <a:srgbClr val="1E293B"/>
                    </a:solidFill>
                    <a:latin typeface="Calibri"/>
                  </a:rPr>
                  <a:t>, </a:t>
                </a:r>
                <a:r>
                  <a:rPr lang="vi-VN"/>
                  <a:t>\overrightarrow{MN}</a:t>
                </a:r>
                <a:r>
                  <a:rPr sz="2000">
                    <a:solidFill>
                      <a:srgbClr val="1E293B"/>
                    </a:solidFill>
                    <a:latin typeface="Calibri"/>
                  </a:rPr>
                  <a:t> = </a:t>
                </a:r>
                <a:r>
                  <a:rPr lang="vi-VN"/>
                  <a:t>(6;\ -9)=3(2\vec{a}-\vec{b})</a:t>
                </a:r>
                <a:r>
                  <a:rPr sz="2000">
                    <a:solidFill>
                      <a:srgbClr val="1E293B"/>
                    </a:solidFill>
                    <a:latin typeface="Calibri"/>
                  </a:rPr>
                  <a:t>. b) </a:t>
                </a:r>
                <a:r>
                  <a:rPr lang="vi-VN"/>
                  <a:t>\overrightarrow{OM}</a:t>
                </a:r>
                <a:r>
                  <a:rPr sz="2000">
                    <a:solidFill>
                      <a:srgbClr val="1E293B"/>
                    </a:solidFill>
                    <a:latin typeface="Calibri"/>
                  </a:rPr>
                  <a:t> = </a:t>
                </a:r>
                <a:r>
                  <a:rPr lang="vi-VN"/>
                  <a:t>(-3;\ 6)</a:t>
                </a:r>
                <a:r>
                  <a:rPr sz="2000">
                    <a:solidFill>
                      <a:srgbClr val="1E293B"/>
                    </a:solidFill>
                    <a:latin typeface="Calibri"/>
                  </a:rPr>
                  <a:t>, </a:t>
                </a:r>
                <a:r>
                  <a:rPr lang="vi-VN"/>
                  <a:t>\overrightarrow{ON}</a:t>
                </a:r>
                <a:r>
                  <a:rPr sz="2000">
                    <a:solidFill>
                      <a:srgbClr val="1E293B"/>
                    </a:solidFill>
                    <a:latin typeface="Calibri"/>
                  </a:rPr>
                  <a:t> = </a:t>
                </a:r>
                <a:r>
                  <a:rPr lang="vi-VN"/>
                  <a:t>(3;\ -3)</a:t>
                </a:r>
                <a:r>
                  <a:rPr sz="2000">
                    <a:solidFill>
                      <a:srgbClr val="1E293B"/>
                    </a:solidFill>
                    <a:latin typeface="Calibri"/>
                  </a:rPr>
                  <a:t> không cùng phương ⇒ không thẳng hàng. c) </a:t>
                </a:r>
                <a:r>
                  <a:rPr lang="vi-VN"/>
                  <a:t>\overrightarrow{OP}</a:t>
                </a:r>
                <a:r>
                  <a:rPr sz="2000">
                    <a:solidFill>
                      <a:srgbClr val="1E293B"/>
                    </a:solidFill>
                    <a:latin typeface="Calibri"/>
                  </a:rPr>
                  <a:t> = </a:t>
                </a:r>
                <a:r>
                  <a:rPr lang="vi-VN"/>
                  <a:t>\overrightarrow{MN}</a:t>
                </a:r>
                <a:r>
                  <a:rPr sz="2000">
                    <a:solidFill>
                      <a:srgbClr val="1E293B"/>
                    </a:solidFill>
                    <a:latin typeface="Calibri"/>
                  </a:rPr>
                  <a:t> ⇒ </a:t>
                </a:r>
                <a:r>
                  <a:rPr lang="vi-VN"/>
                  <a:t>P(6;\ -9)</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4.18 – 4.19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Cho các điểm </a:t>
                </a:r>
                <a14:m>
                  <m:oMath xmlns:m="http://schemas.openxmlformats.org/officeDocument/2006/math">
                    <m:r>
                      <a:rPr lang="vi-VN" sz="2000" b="0">
                        <a:solidFill>
                          <a:srgbClr val="1E293B"/>
                        </a:solidFill>
                        <a:latin typeface="Cambria Math" panose="02040503050406030204" pitchFamily="18" charset="0"/>
                      </a:rPr>
                      <m:t>A(1;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 Chứng minh rằng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oMath>
                </a14:m>
                <a:r>
                  <a:rPr sz="2000">
                    <a:solidFill>
                      <a:srgbClr val="1E293B"/>
                    </a:solidFill>
                    <a:latin typeface="Calibri"/>
                  </a:rPr>
                  <a:t> là ba đỉnh của một tam giác. b) Tìm toạ độ trung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của đoạn thẳng </a:t>
                </a:r>
                <a14:m>
                  <m:oMath xmlns:m="http://schemas.openxmlformats.org/officeDocument/2006/math">
                    <m:r>
                      <a:rPr lang="vi-VN" sz="2000" b="0">
                        <a:solidFill>
                          <a:srgbClr val="1E293B"/>
                        </a:solidFill>
                        <a:latin typeface="Cambria Math" panose="02040503050406030204" pitchFamily="18" charset="0"/>
                      </a:rPr>
                      <m:t>AB</m:t>
                    </m:r>
                  </m:oMath>
                </a14:m>
                <a:r>
                  <a:rPr sz="2000">
                    <a:solidFill>
                      <a:srgbClr val="1E293B"/>
                    </a:solidFill>
                    <a:latin typeface="Calibri"/>
                  </a:rPr>
                  <a:t>. c) Tìm toạ độ trọng tâm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d) Tìm điểm </a:t>
                </a:r>
                <a14:m>
                  <m:oMath xmlns:m="http://schemas.openxmlformats.org/officeDocument/2006/math">
                    <m:r>
                      <a:rPr lang="vi-VN" sz="2000" b="0">
                        <a:solidFill>
                          <a:srgbClr val="1E293B"/>
                        </a:solidFill>
                        <a:latin typeface="Cambria Math" panose="02040503050406030204" pitchFamily="18" charset="0"/>
                      </a:rPr>
                      <m:t>D(x;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để </a:t>
                </a:r>
                <a14:m>
                  <m:oMath xmlns:m="http://schemas.openxmlformats.org/officeDocument/2006/math">
                    <m:r>
                      <a:rPr lang="vi-VN" sz="2000" b="0">
                        <a:solidFill>
                          <a:srgbClr val="1E293B"/>
                        </a:solidFill>
                        <a:latin typeface="Cambria Math" panose="02040503050406030204" pitchFamily="18" charset="0"/>
                      </a:rPr>
                      <m:t>O(0;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là trọng tâm của tam giác </a:t>
                </a:r>
                <a14:m>
                  <m:oMath xmlns:m="http://schemas.openxmlformats.org/officeDocument/2006/math">
                    <m:r>
                      <a:rPr lang="vi-VN" sz="2000" b="0">
                        <a:solidFill>
                          <a:srgbClr val="1E293B"/>
                        </a:solidFill>
                        <a:latin typeface="Cambria Math" panose="02040503050406030204" pitchFamily="18" charset="0"/>
                      </a:rPr>
                      <m:t>ABD</m:t>
                    </m:r>
                  </m:oMath>
                </a14:m>
                <a:r>
                  <a:rPr sz="2000">
                    <a:solidFill>
                      <a:srgbClr val="1E293B"/>
                    </a:solidFill>
                    <a:latin typeface="Calibri"/>
                  </a:rPr>
                  <a:t>.</a:t>
                </a:r>
              </a:p>
            </p:txBody>
          </p:sp>
        </mc:Choice>
        <mc:Fallback>
          <p:sp>
            <p:nvSpPr>
              <p:cNvPr id="7" name="TextBox 6"/>
              <p:cNvSpPr txBox="1"/>
              <p:nvPr/>
            </p:nvSpPr>
            <p:spPr>
              <a:xfrm>
                <a:off x="548640" y="1371600"/>
                <a:ext cx="110642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Cho các điểm </a:t>
                </a:r>
                <a:r>
                  <a:rPr lang="vi-VN"/>
                  <a:t>A(1;\ 3)</a:t>
                </a:r>
                <a:r>
                  <a:rPr sz="2000">
                    <a:solidFill>
                      <a:srgbClr val="1E293B"/>
                    </a:solidFill>
                    <a:latin typeface="Calibri"/>
                  </a:rPr>
                  <a:t>, </a:t>
                </a:r>
                <a:r>
                  <a:rPr lang="vi-VN"/>
                  <a:t>B(2;\ 4)</a:t>
                </a:r>
                <a:r>
                  <a:rPr sz="2000">
                    <a:solidFill>
                      <a:srgbClr val="1E293B"/>
                    </a:solidFill>
                    <a:latin typeface="Calibri"/>
                  </a:rPr>
                  <a:t>, </a:t>
                </a:r>
                <a:r>
                  <a:rPr lang="vi-VN"/>
                  <a:t>C(-3;\ 2)</a:t>
                </a:r>
                <a:r>
                  <a:rPr sz="2000">
                    <a:solidFill>
                      <a:srgbClr val="1E293B"/>
                    </a:solidFill>
                    <a:latin typeface="Calibri"/>
                  </a:rPr>
                  <a:t>. a) Chứng minh rằng </a:t>
                </a:r>
                <a:r>
                  <a:rPr lang="vi-VN"/>
                  <a:t>A,\ B,\ C</a:t>
                </a:r>
                <a:r>
                  <a:rPr sz="2000">
                    <a:solidFill>
                      <a:srgbClr val="1E293B"/>
                    </a:solidFill>
                    <a:latin typeface="Calibri"/>
                  </a:rPr>
                  <a:t> là ba đỉnh của một tam giác. b) Tìm toạ độ trung điểm </a:t>
                </a:r>
                <a:r>
                  <a:rPr lang="vi-VN"/>
                  <a:t>M</a:t>
                </a:r>
                <a:r>
                  <a:rPr sz="2000">
                    <a:solidFill>
                      <a:srgbClr val="1E293B"/>
                    </a:solidFill>
                    <a:latin typeface="Calibri"/>
                  </a:rPr>
                  <a:t> của đoạn thẳng </a:t>
                </a:r>
                <a:r>
                  <a:rPr lang="vi-VN"/>
                  <a:t>AB</a:t>
                </a:r>
                <a:r>
                  <a:rPr sz="2000">
                    <a:solidFill>
                      <a:srgbClr val="1E293B"/>
                    </a:solidFill>
                    <a:latin typeface="Calibri"/>
                  </a:rPr>
                  <a:t>. c) Tìm toạ độ trọng tâm </a:t>
                </a:r>
                <a:r>
                  <a:rPr lang="vi-VN"/>
                  <a:t>G</a:t>
                </a:r>
                <a:r>
                  <a:rPr sz="2000">
                    <a:solidFill>
                      <a:srgbClr val="1E293B"/>
                    </a:solidFill>
                    <a:latin typeface="Calibri"/>
                  </a:rPr>
                  <a:t> của tam giác </a:t>
                </a:r>
                <a:r>
                  <a:rPr lang="vi-VN"/>
                  <a:t>ABC</a:t>
                </a:r>
                <a:r>
                  <a:rPr sz="2000">
                    <a:solidFill>
                      <a:srgbClr val="1E293B"/>
                    </a:solidFill>
                    <a:latin typeface="Calibri"/>
                  </a:rPr>
                  <a:t>. d) Tìm điểm </a:t>
                </a:r>
                <a:r>
                  <a:rPr lang="vi-VN"/>
                  <a:t>D(x;\ y)</a:t>
                </a:r>
                <a:r>
                  <a:rPr sz="2000">
                    <a:solidFill>
                      <a:srgbClr val="1E293B"/>
                    </a:solidFill>
                    <a:latin typeface="Calibri"/>
                  </a:rPr>
                  <a:t> để </a:t>
                </a:r>
                <a:r>
                  <a:rPr lang="vi-VN"/>
                  <a:t>O(0;\ 0)</a:t>
                </a:r>
                <a:r>
                  <a:rPr sz="2000">
                    <a:solidFill>
                      <a:srgbClr val="1E293B"/>
                    </a:solidFill>
                    <a:latin typeface="Calibri"/>
                  </a:rPr>
                  <a:t> là trọng tâm của tam giác </a:t>
                </a:r>
                <a:r>
                  <a:rPr lang="vi-VN"/>
                  <a:t>ABD</a:t>
                </a:r>
                <a:r>
                  <a:rPr sz="2000">
                    <a:solidFill>
                      <a:srgbClr val="1E293B"/>
                    </a:solidFill>
                    <a:latin typeface="Calibri"/>
                  </a:rPr>
                  <a:t>.</a:t>
                </a:r>
              </a:p>
            </p:txBody>
          </p:sp>
        </mc:Fallback>
      </mc:AlternateContent>
      <p:sp>
        <p:nvSpPr>
          <p:cNvPr id="8" name="s1_nen"/>
          <p:cNvSpPr/>
          <p:nvPr/>
        </p:nvSpPr>
        <p:spPr>
          <a:xfrm>
            <a:off x="548640" y="2828544"/>
            <a:ext cx="1106424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65120"/>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không cùng phương. b) </a:t>
                </a:r>
                <a14:m>
                  <m:oMath xmlns:m="http://schemas.openxmlformats.org/officeDocument/2006/math">
                    <m:r>
                      <a:rPr lang="vi-VN" sz="2000" b="0">
                        <a:solidFill>
                          <a:srgbClr val="1E293B"/>
                        </a:solidFill>
                        <a:latin typeface="Cambria Math" panose="02040503050406030204" pitchFamily="18" charset="0"/>
                      </a:rPr>
                      <m:t>M</m:t>
                    </m:r>
                    <m:d>
                      <m:dPr>
                        <m:sepChr m:val=""/>
                      </m:dPr>
                      <m:e>
                        <m:f>
                          <m:fPr>
                            <m:type m:val="bar"/>
                          </m:fPr>
                          <m:num>
                            <m:r>
                              <a:rPr lang="vi-VN" sz="2000" b="0">
                                <a:solidFill>
                                  <a:srgbClr val="1E293B"/>
                                </a:solidFill>
                                <a:latin typeface="Cambria Math" panose="02040503050406030204" pitchFamily="18" charset="0"/>
                              </a:rPr>
                              <m:t>3</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f>
                          <m:fPr>
                            <m:type m:val="ba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2</m:t>
                            </m:r>
                          </m:den>
                        </m:f>
                      </m:e>
                    </m:d>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G(0;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d) </a:t>
                </a:r>
                <a14:m>
                  <m:oMath xmlns:m="http://schemas.openxmlformats.org/officeDocument/2006/math">
                    <m:r>
                      <a:rPr lang="vi-VN" sz="2000" b="0">
                        <a:solidFill>
                          <a:srgbClr val="1E293B"/>
                        </a:solidFill>
                        <a:latin typeface="Cambria Math" panose="02040503050406030204" pitchFamily="18" charset="0"/>
                      </a:rPr>
                      <m:t>D(−3;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m:t>
                    </m:r>
                  </m:oMath>
                </a14:m>
                <a:r>
                  <a:rPr sz="2000">
                    <a:solidFill>
                      <a:srgbClr val="1E293B"/>
                    </a:solidFill>
                    <a:latin typeface="Calibri"/>
                  </a:rPr>
                  <a:t>.</a:t>
                </a:r>
              </a:p>
            </p:txBody>
          </p:sp>
        </mc:Choice>
        <mc:Fallback>
          <p:sp>
            <p:nvSpPr>
              <p:cNvPr id="9" name="TextBox 8"/>
              <p:cNvSpPr txBox="1"/>
              <p:nvPr/>
            </p:nvSpPr>
            <p:spPr>
              <a:xfrm>
                <a:off x="713232" y="2865120"/>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a) </a:t>
                </a:r>
                <a:r>
                  <a:rPr lang="vi-VN"/>
                  <a:t>\overrightarrow{AB}</a:t>
                </a:r>
                <a:r>
                  <a:rPr sz="2000">
                    <a:solidFill>
                      <a:srgbClr val="1E293B"/>
                    </a:solidFill>
                    <a:latin typeface="Calibri"/>
                  </a:rPr>
                  <a:t> = </a:t>
                </a:r>
                <a:r>
                  <a:rPr lang="vi-VN"/>
                  <a:t>(1;\ 1)</a:t>
                </a:r>
                <a:r>
                  <a:rPr sz="2000">
                    <a:solidFill>
                      <a:srgbClr val="1E293B"/>
                    </a:solidFill>
                    <a:latin typeface="Calibri"/>
                  </a:rPr>
                  <a:t>, </a:t>
                </a:r>
                <a:r>
                  <a:rPr lang="vi-VN"/>
                  <a:t>\overrightarrow{AC}</a:t>
                </a:r>
                <a:r>
                  <a:rPr sz="2000">
                    <a:solidFill>
                      <a:srgbClr val="1E293B"/>
                    </a:solidFill>
                    <a:latin typeface="Calibri"/>
                  </a:rPr>
                  <a:t> = </a:t>
                </a:r>
                <a:r>
                  <a:rPr lang="vi-VN"/>
                  <a:t>(-4;\ -1)</a:t>
                </a:r>
                <a:r>
                  <a:rPr sz="2000">
                    <a:solidFill>
                      <a:srgbClr val="1E293B"/>
                    </a:solidFill>
                    <a:latin typeface="Calibri"/>
                  </a:rPr>
                  <a:t> không cùng phương. b) </a:t>
                </a:r>
                <a:r>
                  <a:rPr lang="vi-VN"/>
                  <a:t>M\left(\frac{3}{2};\ \frac{7}{2}\right)</a:t>
                </a:r>
                <a:r>
                  <a:rPr sz="2000">
                    <a:solidFill>
                      <a:srgbClr val="1E293B"/>
                    </a:solidFill>
                    <a:latin typeface="Calibri"/>
                  </a:rPr>
                  <a:t>. c) </a:t>
                </a:r>
                <a:r>
                  <a:rPr lang="vi-VN"/>
                  <a:t>G(0;\ 3)</a:t>
                </a:r>
                <a:r>
                  <a:rPr sz="2000">
                    <a:solidFill>
                      <a:srgbClr val="1E293B"/>
                    </a:solidFill>
                    <a:latin typeface="Calibri"/>
                  </a:rPr>
                  <a:t>. d) </a:t>
                </a:r>
                <a:r>
                  <a:rPr lang="vi-VN"/>
                  <a:t>D(-3;\ -7)</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4041648"/>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4.19.</a:t>
                </a:r>
                <a:r>
                  <a:rPr sz="2000">
                    <a:solidFill>
                      <a:srgbClr val="1E293B"/>
                    </a:solidFill>
                    <a:latin typeface="Calibri"/>
                  </a:rPr>
                  <a:t> Tàu khởi hành từ vị trí </a:t>
                </a:r>
                <a14:m>
                  <m:oMath xmlns:m="http://schemas.openxmlformats.org/officeDocument/2006/math">
                    <m:r>
                      <a:rPr lang="vi-VN" sz="2000" b="0">
                        <a:solidFill>
                          <a:srgbClr val="1E293B"/>
                        </a:solidFill>
                        <a:latin typeface="Cambria Math" panose="02040503050406030204" pitchFamily="18" charset="0"/>
                      </a:rPr>
                      <m:t>A(1;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chuyển động thẳng đều với vận tốc (tính theo giờ) được biểu thị bởi vectơ </a:t>
                </a:r>
                <a14:m>
                  <m:oMath xmlns:m="http://schemas.openxmlformats.org/officeDocument/2006/math">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 Xác định vị trí của tàu tại thời điểm sau khi khởi hành 1,5 giờ.</a:t>
                </a:r>
              </a:p>
            </p:txBody>
          </p:sp>
        </mc:Choice>
        <mc:Fallback>
          <p:sp>
            <p:nvSpPr>
              <p:cNvPr id="10" name="TextBox 9"/>
              <p:cNvSpPr txBox="1"/>
              <p:nvPr/>
            </p:nvSpPr>
            <p:spPr>
              <a:xfrm>
                <a:off x="548640" y="4041648"/>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4.19.</a:t>
                </a:r>
                <a:r>
                  <a:rPr sz="2000">
                    <a:solidFill>
                      <a:srgbClr val="1E293B"/>
                    </a:solidFill>
                    <a:latin typeface="Calibri"/>
                  </a:rPr>
                  <a:t> Tàu khởi hành từ vị trí </a:t>
                </a:r>
                <a:r>
                  <a:rPr lang="vi-VN"/>
                  <a:t>A(1;\ 2)</a:t>
                </a:r>
                <a:r>
                  <a:rPr sz="2000">
                    <a:solidFill>
                      <a:srgbClr val="1E293B"/>
                    </a:solidFill>
                    <a:latin typeface="Calibri"/>
                  </a:rPr>
                  <a:t> chuyển động thẳng đều với vận tốc (tính theo giờ) được biểu thị bởi vectơ </a:t>
                </a:r>
                <a:r>
                  <a:rPr lang="vi-VN"/>
                  <a:t>\vec{v}=(3;\ 4)</a:t>
                </a:r>
                <a:r>
                  <a:rPr sz="2000">
                    <a:solidFill>
                      <a:srgbClr val="1E293B"/>
                    </a:solidFill>
                    <a:latin typeface="Calibri"/>
                  </a:rPr>
                  <a:t>. Xác định vị trí của tàu tại thời điểm sau khi khởi hành 1,5 giờ.</a:t>
                </a:r>
              </a:p>
            </p:txBody>
          </p:sp>
        </mc:Fallback>
      </mc:AlternateContent>
      <p:sp>
        <p:nvSpPr>
          <p:cNvPr id="11" name="s3_nen"/>
          <p:cNvSpPr/>
          <p:nvPr/>
        </p:nvSpPr>
        <p:spPr>
          <a:xfrm>
            <a:off x="548640" y="519379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230368"/>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4.19.</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B(5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a:t>
                </a:r>
              </a:p>
            </p:txBody>
          </p:sp>
        </mc:Choice>
        <mc:Fallback>
          <p:sp>
            <p:nvSpPr>
              <p:cNvPr id="12" name="TextBox 11"/>
              <p:cNvSpPr txBox="1"/>
              <p:nvPr/>
            </p:nvSpPr>
            <p:spPr>
              <a:xfrm>
                <a:off x="713232" y="5230368"/>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4.19.</a:t>
                </a:r>
                <a:r>
                  <a:rPr sz="2000">
                    <a:solidFill>
                      <a:srgbClr val="1E293B"/>
                    </a:solidFill>
                    <a:latin typeface="Calibri"/>
                  </a:rPr>
                  <a:t> </a:t>
                </a:r>
                <a:r>
                  <a:rPr lang="vi-VN"/>
                  <a:t>\overrightarrow{AB}</a:t>
                </a:r>
                <a:r>
                  <a:rPr sz="2000">
                    <a:solidFill>
                      <a:srgbClr val="1E293B"/>
                    </a:solidFill>
                    <a:latin typeface="Calibri"/>
                  </a:rPr>
                  <a:t> = </a:t>
                </a:r>
                <a:r>
                  <a:rPr lang="vi-VN"/>
                  <a:t>1{,}5\vec{v}=(4{,}5;\ 6)</a:t>
                </a:r>
                <a:r>
                  <a:rPr sz="2000">
                    <a:solidFill>
                      <a:srgbClr val="1E293B"/>
                    </a:solidFill>
                    <a:latin typeface="Calibri"/>
                  </a:rPr>
                  <a:t> ⇒ </a:t>
                </a:r>
                <a:r>
                  <a:rPr lang="vi-VN"/>
                  <a:t>B(5{,}5;\ 8)</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4.20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4.20.</a:t>
                </a:r>
                <a:r>
                  <a:rPr sz="2000">
                    <a:solidFill>
                      <a:srgbClr val="1E293B"/>
                    </a:solidFill>
                    <a:latin typeface="Calibri"/>
                  </a:rPr>
                  <a:t> Trong Hình 4.38, quân mã đang ở vị trí có toạ độ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Hỏi sau một nước đi, quân mã có thể đến những vị trí nào?</a:t>
                </a:r>
              </a:p>
            </p:txBody>
          </p:sp>
        </mc:Choice>
        <mc:Fallback>
          <p:sp>
            <p:nvSpPr>
              <p:cNvPr id="7" name="TextBox 6"/>
              <p:cNvSpPr txBox="1"/>
              <p:nvPr/>
            </p:nvSpPr>
            <p:spPr>
              <a:xfrm>
                <a:off x="548640" y="1371600"/>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4.20.</a:t>
                </a:r>
                <a:r>
                  <a:rPr sz="2000">
                    <a:solidFill>
                      <a:srgbClr val="1E293B"/>
                    </a:solidFill>
                    <a:latin typeface="Calibri"/>
                  </a:rPr>
                  <a:t> Trong Hình 4.38, quân mã đang ở vị trí có toạ độ </a:t>
                </a:r>
                <a:r>
                  <a:rPr lang="vi-VN"/>
                  <a:t>(1;\ 2)</a:t>
                </a:r>
                <a:r>
                  <a:rPr sz="2000">
                    <a:solidFill>
                      <a:srgbClr val="1E293B"/>
                    </a:solidFill>
                    <a:latin typeface="Calibri"/>
                  </a:rPr>
                  <a:t>. Hỏi sau một nước đi, quân mã có thể đến những vị trí nào?</a:t>
                </a:r>
              </a:p>
            </p:txBody>
          </p:sp>
        </mc:Fallback>
      </mc:AlternateContent>
      <p:sp>
        <p:nvSpPr>
          <p:cNvPr id="8" name="s1_nen"/>
          <p:cNvSpPr/>
          <p:nvPr/>
        </p:nvSpPr>
        <p:spPr>
          <a:xfrm>
            <a:off x="548640" y="2523744"/>
            <a:ext cx="786384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0320"/>
                <a:ext cx="75346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Mã đi hình chữ L: dịch chuyển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hoặc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Trong bàn cờ, mã có thể đến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e>
                    </m:d>
                  </m:oMath>
                </a14:m>
                <a:r>
                  <a:rPr sz="2000">
                    <a:solidFill>
                      <a:srgbClr val="1E293B"/>
                    </a:solidFill>
                    <a:latin typeface="Calibri"/>
                  </a:rPr>
                  <a:t> (tại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e>
                    </m:d>
                  </m:oMath>
                </a14:m>
                <a:r>
                  <a:rPr sz="2000">
                    <a:solidFill>
                      <a:srgbClr val="1E293B"/>
                    </a:solidFill>
                    <a:latin typeface="Calibri"/>
                  </a:rPr>
                  <a:t> là bắt quân đen).</a:t>
                </a:r>
              </a:p>
            </p:txBody>
          </p:sp>
        </mc:Choice>
        <mc:Fallback>
          <p:sp>
            <p:nvSpPr>
              <p:cNvPr id="9" name="TextBox 8"/>
              <p:cNvSpPr txBox="1"/>
              <p:nvPr/>
            </p:nvSpPr>
            <p:spPr>
              <a:xfrm>
                <a:off x="713232" y="2560320"/>
                <a:ext cx="75346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Mã đi hình chữ L: dịch chuyển </a:t>
                </a:r>
                <a:r>
                  <a:rPr lang="vi-VN"/>
                  <a:t>(\pm 1;\ \pm 2)</a:t>
                </a:r>
                <a:r>
                  <a:rPr sz="2000">
                    <a:solidFill>
                      <a:srgbClr val="1E293B"/>
                    </a:solidFill>
                    <a:latin typeface="Calibri"/>
                  </a:rPr>
                  <a:t> hoặc </a:t>
                </a:r>
                <a:r>
                  <a:rPr lang="vi-VN"/>
                  <a:t>(\pm 2;\ \pm 1)</a:t>
                </a:r>
                <a:r>
                  <a:rPr sz="2000">
                    <a:solidFill>
                      <a:srgbClr val="1E293B"/>
                    </a:solidFill>
                    <a:latin typeface="Calibri"/>
                  </a:rPr>
                  <a:t>. Trong bàn cờ, mã có thể đến </a:t>
                </a:r>
                <a:r>
                  <a:rPr lang="vi-VN"/>
                  <a:t>(0;\ 0)</a:t>
                </a:r>
                <a:r>
                  <a:rPr sz="2000">
                    <a:solidFill>
                      <a:srgbClr val="1E293B"/>
                    </a:solidFill>
                    <a:latin typeface="Calibri"/>
                  </a:rPr>
                  <a:t>, </a:t>
                </a:r>
                <a:r>
                  <a:rPr lang="vi-VN"/>
                  <a:t>(2;\ 0)</a:t>
                </a:r>
                <a:r>
                  <a:rPr sz="2000">
                    <a:solidFill>
                      <a:srgbClr val="1E293B"/>
                    </a:solidFill>
                    <a:latin typeface="Calibri"/>
                  </a:rPr>
                  <a:t>, </a:t>
                </a:r>
                <a:r>
                  <a:rPr lang="vi-VN"/>
                  <a:t>(3;\ 1)</a:t>
                </a:r>
                <a:r>
                  <a:rPr sz="2000">
                    <a:solidFill>
                      <a:srgbClr val="1E293B"/>
                    </a:solidFill>
                    <a:latin typeface="Calibri"/>
                  </a:rPr>
                  <a:t>, </a:t>
                </a:r>
                <a:r>
                  <a:rPr lang="vi-VN"/>
                  <a:t>(3;\ 3)</a:t>
                </a:r>
                <a:r>
                  <a:rPr sz="2000">
                    <a:solidFill>
                      <a:srgbClr val="1E293B"/>
                    </a:solidFill>
                    <a:latin typeface="Calibri"/>
                  </a:rPr>
                  <a:t>, </a:t>
                </a:r>
                <a:r>
                  <a:rPr lang="vi-VN"/>
                  <a:t>(2;\ 4)</a:t>
                </a:r>
                <a:r>
                  <a:rPr sz="2000">
                    <a:solidFill>
                      <a:srgbClr val="1E293B"/>
                    </a:solidFill>
                    <a:latin typeface="Calibri"/>
                  </a:rPr>
                  <a:t>, </a:t>
                </a:r>
                <a:r>
                  <a:rPr lang="vi-VN"/>
                  <a:t>(0;\ 4)</a:t>
                </a:r>
                <a:r>
                  <a:rPr sz="2000">
                    <a:solidFill>
                      <a:srgbClr val="1E293B"/>
                    </a:solidFill>
                    <a:latin typeface="Calibri"/>
                  </a:rPr>
                  <a:t> (tại </a:t>
                </a:r>
                <a:r>
                  <a:rPr lang="vi-VN"/>
                  <a:t>(3;\ 3)</a:t>
                </a:r>
                <a:r>
                  <a:rPr sz="2000">
                    <a:solidFill>
                      <a:srgbClr val="1E293B"/>
                    </a:solidFill>
                    <a:latin typeface="Calibri"/>
                  </a:rPr>
                  <a:t>, </a:t>
                </a:r>
                <a:r>
                  <a:rPr lang="vi-VN"/>
                  <a:t>(2;\ 4)</a:t>
                </a:r>
                <a:r>
                  <a:rPr sz="2000">
                    <a:solidFill>
                      <a:srgbClr val="1E293B"/>
                    </a:solidFill>
                    <a:latin typeface="Calibri"/>
                  </a:rPr>
                  <a:t> là bắt quân đen).</a:t>
                </a:r>
              </a:p>
            </p:txBody>
          </p:sp>
        </mc:Fallback>
      </mc:AlternateContent>
      <p:pic>
        <p:nvPicPr>
          <p:cNvPr id="10" name="Picture 9" descr="h438.png"/>
          <p:cNvPicPr>
            <a:picLocks noChangeAspect="1"/>
          </p:cNvPicPr>
          <p:nvPr/>
        </p:nvPicPr>
        <p:blipFill>
          <a:blip r:embed="rId3"/>
          <a:stretch>
            <a:fillRect/>
          </a:stretch>
        </p:blipFill>
        <p:spPr>
          <a:xfrm>
            <a:off x="8595360" y="1435693"/>
            <a:ext cx="3108960" cy="3163654"/>
          </a:xfrm>
          <a:prstGeom prst="rect">
            <a:avLst/>
          </a:prstGeom>
        </p:spPr>
      </p:pic>
      <p:sp>
        <p:nvSpPr>
          <p:cNvPr id="11" name="TextBox 10"/>
          <p:cNvSpPr txBox="1"/>
          <p:nvPr/>
        </p:nvSpPr>
        <p:spPr>
          <a:xfrm>
            <a:off x="8595360" y="468172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27</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3)</m:t>
                    </m:r>
                  </m:oMath>
                </a14:m>
                <a:r>
                  <a:rPr sz="2600">
                    <a:solidFill>
                      <a:srgbClr val="1E293B"/>
                    </a:solidFill>
                    <a:latin typeface="Calibri"/>
                  </a:rPr>
                  <a:t>. Toạ độ của </a:t>
                </a:r>
                <a14:m>
                  <m:oMath xmlns:m="http://schemas.openxmlformats.org/officeDocument/2006/math">
                    <m:r>
                      <a:rPr lang="vi-VN" sz="2600" b="0">
                        <a:solidFill>
                          <a:srgbClr val="1E293B"/>
                        </a:solidFill>
                        <a:latin typeface="Cambria Math" panose="02040503050406030204" pitchFamily="18" charset="0"/>
                      </a:rPr>
                      <m:t>2</m:t>
                    </m:r>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v</m:t>
                        </m:r>
                      </m:e>
                    </m:acc>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\vec{u}=(2;\ -1)</a:t>
                </a:r>
                <a:r>
                  <a:rPr sz="2600">
                    <a:solidFill>
                      <a:srgbClr val="1E293B"/>
                    </a:solidFill>
                    <a:latin typeface="Calibri"/>
                  </a:rPr>
                  <a:t>, </a:t>
                </a:r>
                <a:r>
                  <a:rPr lang="vi-VN"/>
                  <a:t>\vec{v}=(-1;\ 3)</a:t>
                </a:r>
                <a:r>
                  <a:rPr sz="2600">
                    <a:solidFill>
                      <a:srgbClr val="1E293B"/>
                    </a:solidFill>
                    <a:latin typeface="Calibri"/>
                  </a:rPr>
                  <a:t>. Toạ độ của </a:t>
                </a:r>
                <a:r>
                  <a:rPr lang="vi-VN"/>
                  <a:t>2\vec{u}-\vec{v}</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(3;\ 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(5;\ -5)</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(5;\ 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 -5)</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2</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=(4+1;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−2−3)=(5;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2\vec{u}-\vec{v}=(4+1;\ -2-3)=(5;\ -5)</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của vectơ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m:t>
                    </m:r>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của vectơ </a:t>
                </a:r>
                <a:r>
                  <a:rPr lang="vi-VN"/>
                  <a:t>\vec{u}=(2;\ -1)</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5</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5</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5</m:t>
                        </m:r>
                      </m:e>
                    </m:ra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\sqrt{5}</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3</m:t>
                        </m:r>
                      </m:e>
                    </m:ra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\sqrt{3}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5</m:t>
                        </m:r>
                      </m:e>
                    </m:rad>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|\vec{u}|=\sqrt{2^2+(-1)^2}=\sqrt{5}</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Toạ độ trung điểm của đoạn thẳng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 2)</a:t>
                </a:r>
                <a:r>
                  <a:rPr sz="2600">
                    <a:solidFill>
                      <a:srgbClr val="1E293B"/>
                    </a:solidFill>
                    <a:latin typeface="Calibri"/>
                  </a:rPr>
                  <a:t>, </a:t>
                </a:r>
                <a:r>
                  <a:rPr lang="vi-VN"/>
                  <a:t>B(3;\ -2)</a:t>
                </a:r>
                <a:r>
                  <a:rPr sz="2600">
                    <a:solidFill>
                      <a:srgbClr val="1E293B"/>
                    </a:solidFill>
                    <a:latin typeface="Calibri"/>
                  </a:rPr>
                  <a:t>. Toạ độ trung điểm của đoạn thẳng </a:t>
                </a:r>
                <a:r>
                  <a:rPr lang="vi-VN"/>
                  <a:t>AB</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 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 -2)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(4;\ 0)</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 -4)</a:t>
                </a:r>
              </a:p>
            </p:txBody>
          </p:sp>
        </mc:Fallback>
      </mc:AlternateContent>
      <p:sp>
        <p:nvSpPr>
          <p:cNvPr id="16" name="s1_nen"/>
          <p:cNvSpPr/>
          <p:nvPr/>
        </p:nvSpPr>
        <p:spPr>
          <a:xfrm>
            <a:off x="548640" y="4617720"/>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d>
                      <m:dPr>
                        <m:sepChr m:val=""/>
                      </m:dPr>
                      <m:e>
                        <m:f>
                          <m:fPr>
                            <m:type m:val="bar"/>
                          </m:fPr>
                          <m:num>
                            <m:r>
                              <a:rPr lang="vi-VN" sz="2200" b="0">
                                <a:solidFill>
                                  <a:srgbClr val="1E293B"/>
                                </a:solidFill>
                                <a:latin typeface="Cambria Math" panose="02040503050406030204" pitchFamily="18" charset="0"/>
                              </a:rPr>
                              <m:t>1+3</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2−2</m:t>
                            </m:r>
                          </m:num>
                          <m:den>
                            <m:r>
                              <a:rPr lang="vi-VN" sz="2200" b="0">
                                <a:solidFill>
                                  <a:srgbClr val="1E293B"/>
                                </a:solidFill>
                                <a:latin typeface="Cambria Math" panose="02040503050406030204" pitchFamily="18" charset="0"/>
                              </a:rPr>
                              <m:t>2</m:t>
                            </m:r>
                          </m:den>
                        </m:f>
                      </m:e>
                    </m:d>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oMath>
                </a14:m>
                <a:r>
                  <a:rPr sz="2200">
                    <a:solidFill>
                      <a:srgbClr val="1E293B"/>
                    </a:solidFill>
                    <a:latin typeface="Calibri"/>
                  </a:rPr>
                  <a:t>.</a:t>
                </a:r>
              </a:p>
            </p:txBody>
          </p:sp>
        </mc:Choice>
        <mc:Fallback>
          <p:sp>
            <p:nvSpPr>
              <p:cNvPr id="17" name="TextBox 16"/>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\left(\frac{1+3}{2};\ \frac{2-2}{2}\right)=(2;\ 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Giá trị của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để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m:t>
                    </m:r>
                  </m:oMath>
                </a14:m>
                <a:r>
                  <a:rPr sz="2600">
                    <a:solidFill>
                      <a:srgbClr val="1E293B"/>
                    </a:solidFill>
                    <a:latin typeface="Calibri"/>
                  </a:rPr>
                  <a:t> cùng phương với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−3)</m:t>
                    </m:r>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Giá trị của </a:t>
                </a:r>
                <a:r>
                  <a:rPr lang="vi-VN"/>
                  <a:t>m</a:t>
                </a:r>
                <a:r>
                  <a:rPr sz="2600">
                    <a:solidFill>
                      <a:srgbClr val="1E293B"/>
                    </a:solidFill>
                    <a:latin typeface="Calibri"/>
                  </a:rPr>
                  <a:t> để </a:t>
                </a:r>
                <a:r>
                  <a:rPr lang="vi-VN"/>
                  <a:t>\vec{a}=(2;\ m)</a:t>
                </a:r>
                <a:r>
                  <a:rPr sz="2600">
                    <a:solidFill>
                      <a:srgbClr val="1E293B"/>
                    </a:solidFill>
                    <a:latin typeface="Calibri"/>
                  </a:rPr>
                  <a:t> cùng phương với </a:t>
                </a:r>
                <a:r>
                  <a:rPr lang="vi-VN"/>
                  <a:t>\vec{b}=(1;\ -3)</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-6</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6</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2</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-\frac{3}{2}</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2</m:t>
                        </m:r>
                      </m:den>
                    </m:f>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\frac{3}{2}</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=2</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m=2·(−3)=−6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\vec{a}=2\vec{b}</a:t>
                </a:r>
                <a:r>
                  <a:rPr sz="2200">
                    <a:solidFill>
                      <a:srgbClr val="1E293B"/>
                    </a:solidFill>
                    <a:latin typeface="Calibri"/>
                  </a:rPr>
                  <a:t> ⇒ </a:t>
                </a:r>
                <a:r>
                  <a:rPr lang="vi-VN"/>
                  <a:t>m=2\cdot(-3)=-6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14:m>
                  <m:oMath xmlns:m="http://schemas.openxmlformats.org/officeDocument/2006/math">
                    <m:r>
                      <a:rPr lang="vi-VN" sz="2400" b="0">
                        <a:solidFill>
                          <a:srgbClr val="1E293B"/>
                        </a:solidFill>
                        <a:latin typeface="Cambria Math" panose="02040503050406030204" pitchFamily="18" charset="0"/>
                      </a:rPr>
                      <m:t>A(1;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oMath>
                </a14:m>
                <a:r>
                  <a:rPr sz="2400">
                    <a:solidFill>
                      <a:srgbClr val="1E293B"/>
                    </a:solidFill>
                    <a:latin typeface="Calibri"/>
                  </a:rPr>
                  <a:t>. Xét tính đúng, sai:</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r>
                  <a:rPr lang="vi-VN"/>
                  <a:t>A(1;\ 2)</a:t>
                </a:r>
                <a:r>
                  <a:rPr sz="2400">
                    <a:solidFill>
                      <a:srgbClr val="1E293B"/>
                    </a:solidFill>
                    <a:latin typeface="Calibri"/>
                  </a:rPr>
                  <a:t>, </a:t>
                </a:r>
                <a:r>
                  <a:rPr lang="vi-VN"/>
                  <a:t>B(3;\ -2)</a:t>
                </a:r>
                <a:r>
                  <a:rPr sz="2400">
                    <a:solidFill>
                      <a:srgbClr val="1E293B"/>
                    </a:solidFill>
                    <a:latin typeface="Calibri"/>
                  </a:rPr>
                  <a:t>, </a:t>
                </a:r>
                <a:r>
                  <a:rPr lang="vi-VN"/>
                  <a:t>C(-1;\ 0)</a:t>
                </a:r>
                <a:r>
                  <a:rPr sz="2400">
                    <a:solidFill>
                      <a:srgbClr val="1E293B"/>
                    </a:solidFill>
                    <a:latin typeface="Calibri"/>
                  </a:rPr>
                  <a:t>.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AB</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2</m:t>
                        </m:r>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m:t>
                        </m:r>
                      </m:e>
                    </m:d>
                  </m:oMath>
                </a14:m>
                <a:r>
                  <a:rPr sz="2300">
                    <a:solidFill>
                      <a:srgbClr val="1E293B"/>
                    </a:solidFill>
                    <a:latin typeface="Calibri"/>
                  </a:rPr>
                  <a:t>.</a:t>
                </a:r>
              </a:p>
            </p:txBody>
          </p:sp>
        </mc:Choice>
        <mc:Fallback>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\overrightarrow{AB}</a:t>
                </a:r>
                <a:r>
                  <a:rPr sz="2300">
                    <a:solidFill>
                      <a:srgbClr val="1E293B"/>
                    </a:solidFill>
                    <a:latin typeface="Calibri"/>
                  </a:rPr>
                  <a:t> = </a:t>
                </a:r>
                <a:r>
                  <a:rPr lang="vi-VN"/>
                  <a:t>(2;\ -4)</a:t>
                </a:r>
                <a:r>
                  <a:rPr sz="2300">
                    <a:solidFill>
                      <a:srgbClr val="1E293B"/>
                    </a:solidFill>
                    <a:latin typeface="Calibri"/>
                  </a:rPr>
                  <a:t>.</a:t>
                </a:r>
              </a:p>
            </p:txBody>
          </p:sp>
        </mc:Fallback>
      </mc:AlternateContent>
      <p:sp>
        <p:nvSpPr>
          <p:cNvPr id="9" name="s1_nen"/>
          <p:cNvSpPr/>
          <p:nvPr/>
        </p:nvSpPr>
        <p:spPr>
          <a:xfrm>
            <a:off x="8412480" y="1975104"/>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011680"/>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AB=2</m:t>
                    </m:r>
                    <m:rad>
                      <m:radPr>
                        <m:degHide m:val="on"/>
                      </m:radPr>
                      <m:deg/>
                      <m:e>
                        <m:r>
                          <a:rPr lang="vi-VN" sz="2300" b="0">
                            <a:solidFill>
                              <a:srgbClr val="1E293B"/>
                            </a:solidFill>
                            <a:latin typeface="Cambria Math" panose="02040503050406030204" pitchFamily="18" charset="0"/>
                          </a:rPr>
                          <m:t>3</m:t>
                        </m:r>
                      </m:e>
                    </m:rad>
                  </m:oMath>
                </a14:m>
                <a:r>
                  <a:rPr sz="2300">
                    <a:solidFill>
                      <a:srgbClr val="1E293B"/>
                    </a:solidFill>
                    <a:latin typeface="Calibri"/>
                  </a:rPr>
                  <a:t>.</a:t>
                </a:r>
              </a:p>
            </p:txBody>
          </p:sp>
        </mc:Choice>
        <mc:Fallback>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r>
                  <a:rPr lang="vi-VN"/>
                  <a:t>AB=2\sqrt{3}</a:t>
                </a:r>
                <a:r>
                  <a:rPr sz="2300">
                    <a:solidFill>
                      <a:srgbClr val="1E293B"/>
                    </a:solidFill>
                    <a:latin typeface="Calibri"/>
                  </a:rPr>
                  <a:t>.</a:t>
                </a:r>
              </a:p>
            </p:txBody>
          </p:sp>
        </mc:Fallback>
      </mc:AlternateContent>
      <p:sp>
        <p:nvSpPr>
          <p:cNvPr id="12" name="s2_nen"/>
          <p:cNvSpPr/>
          <p:nvPr/>
        </p:nvSpPr>
        <p:spPr>
          <a:xfrm>
            <a:off x="8412480" y="2962656"/>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8577072" y="299923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5</m:t>
                        </m:r>
                      </m:e>
                    </m:rad>
                  </m:oMath>
                </a14:m>
                <a:r>
                  <a:rPr sz="2100">
                    <a:solidFill>
                      <a:srgbClr val="1E293B"/>
                    </a:solidFill>
                    <a:latin typeface="Calibri"/>
                  </a:rPr>
                  <a:t>)</a:t>
                </a:r>
              </a:p>
            </p:txBody>
          </p:sp>
        </mc:Choice>
        <mc:Fallback>
          <p:sp>
            <p:nvSpPr>
              <p:cNvPr id="13" name="TextBox 12"/>
              <p:cNvSpPr txBox="1"/>
              <p:nvPr/>
            </p:nvSpPr>
            <p:spPr>
              <a:xfrm>
                <a:off x="8577072" y="299923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a:t>
                </a:r>
                <a:r>
                  <a:rPr lang="vi-VN"/>
                  <a:t>=2\sqrt{5}</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Trọng tâm tam giác </a:t>
                </a:r>
                <a14:m>
                  <m:oMath xmlns:m="http://schemas.openxmlformats.org/officeDocument/2006/math">
                    <m:r>
                      <a:rPr lang="vi-VN" sz="2300" b="0">
                        <a:solidFill>
                          <a:srgbClr val="1E293B"/>
                        </a:solidFill>
                        <a:latin typeface="Cambria Math" panose="02040503050406030204" pitchFamily="18" charset="0"/>
                      </a:rPr>
                      <m:t>ABC</m:t>
                    </m:r>
                  </m:oMath>
                </a14:m>
                <a:r>
                  <a:rPr sz="2300">
                    <a:solidFill>
                      <a:srgbClr val="1E293B"/>
                    </a:solidFill>
                    <a:latin typeface="Calibri"/>
                  </a:rPr>
                  <a:t> là </a:t>
                </a:r>
                <a14:m>
                  <m:oMath xmlns:m="http://schemas.openxmlformats.org/officeDocument/2006/math">
                    <m:r>
                      <a:rPr lang="vi-VN" sz="2300" b="0">
                        <a:solidFill>
                          <a:srgbClr val="1E293B"/>
                        </a:solidFill>
                        <a:latin typeface="Cambria Math" panose="02040503050406030204" pitchFamily="18" charset="0"/>
                      </a:rPr>
                      <m:t>G(1;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m:t>
                    </m:r>
                  </m:oMath>
                </a14:m>
                <a:r>
                  <a:rPr sz="2300">
                    <a:solidFill>
                      <a:srgbClr val="1E293B"/>
                    </a:solidFill>
                    <a:latin typeface="Calibri"/>
                  </a:rPr>
                  <a:t>.</a:t>
                </a:r>
              </a:p>
            </p:txBody>
          </p:sp>
        </mc:Choice>
        <mc:Fallback>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Trọng tâm tam giác </a:t>
                </a:r>
                <a:r>
                  <a:rPr lang="vi-VN"/>
                  <a:t>ABC</a:t>
                </a:r>
                <a:r>
                  <a:rPr sz="2300">
                    <a:solidFill>
                      <a:srgbClr val="1E293B"/>
                    </a:solidFill>
                    <a:latin typeface="Calibri"/>
                  </a:rPr>
                  <a:t> là </a:t>
                </a:r>
                <a:r>
                  <a:rPr lang="vi-VN"/>
                  <a:t>G(1;\ 0)</a:t>
                </a:r>
                <a:r>
                  <a:rPr sz="2300">
                    <a:solidFill>
                      <a:srgbClr val="1E293B"/>
                    </a:solidFill>
                    <a:latin typeface="Calibri"/>
                  </a:rPr>
                  <a:t>.</a:t>
                </a:r>
              </a:p>
            </p:txBody>
          </p:sp>
        </mc:Fallback>
      </mc:AlternateContent>
      <p:sp>
        <p:nvSpPr>
          <p:cNvPr id="15" name="s3_nen"/>
          <p:cNvSpPr/>
          <p:nvPr/>
        </p:nvSpPr>
        <p:spPr>
          <a:xfrm>
            <a:off x="8412480" y="3950207"/>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3986783"/>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14:m>
                  <m:oMath xmlns:m="http://schemas.openxmlformats.org/officeDocument/2006/math">
                    <m:r>
                      <a:rPr lang="vi-VN" sz="2300" b="0">
                        <a:solidFill>
                          <a:srgbClr val="1E293B"/>
                        </a:solidFill>
                        <a:latin typeface="Cambria Math" panose="02040503050406030204" pitchFamily="18" charset="0"/>
                      </a:rPr>
                      <m:t>A,</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B,</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C</m:t>
                    </m:r>
                  </m:oMath>
                </a14:m>
                <a:r>
                  <a:rPr sz="2300">
                    <a:solidFill>
                      <a:srgbClr val="1E293B"/>
                    </a:solidFill>
                    <a:latin typeface="Calibri"/>
                  </a:rPr>
                  <a:t> thẳng hàng.</a:t>
                </a:r>
              </a:p>
            </p:txBody>
          </p:sp>
        </mc:Choice>
        <mc:Fallback>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r>
                  <a:rPr lang="vi-VN"/>
                  <a:t>A,\ B,\ C</a:t>
                </a:r>
                <a:r>
                  <a:rPr sz="2300">
                    <a:solidFill>
                      <a:srgbClr val="1E293B"/>
                    </a:solidFill>
                    <a:latin typeface="Calibri"/>
                  </a:rPr>
                  <a:t> thẳng hàng.</a:t>
                </a:r>
              </a:p>
            </p:txBody>
          </p:sp>
        </mc:Fallback>
      </mc:AlternateContent>
      <p:sp>
        <p:nvSpPr>
          <p:cNvPr id="18" name="s4_nen"/>
          <p:cNvSpPr/>
          <p:nvPr/>
        </p:nvSpPr>
        <p:spPr>
          <a:xfrm>
            <a:off x="8412480" y="4937759"/>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4974336"/>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(AB, AC không cùng phương)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33</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Tìm </a:t>
                </a:r>
                <a14:m>
                  <m:oMath xmlns:m="http://schemas.openxmlformats.org/officeDocument/2006/math">
                    <m:r>
                      <a:rPr lang="vi-VN" sz="2600" b="0">
                        <a:solidFill>
                          <a:srgbClr val="1E293B"/>
                        </a:solidFill>
                        <a:latin typeface="Cambria Math" panose="02040503050406030204" pitchFamily="18" charset="0"/>
                      </a:rPr>
                      <m:t>x</m:t>
                    </m:r>
                  </m:oMath>
                </a14:m>
                <a:r>
                  <a:rPr sz="2600">
                    <a:solidFill>
                      <a:srgbClr val="1E293B"/>
                    </a:solidFill>
                    <a:latin typeface="Calibri"/>
                  </a:rPr>
                  <a:t> để điểm </a:t>
                </a:r>
                <a14:m>
                  <m:oMath xmlns:m="http://schemas.openxmlformats.org/officeDocument/2006/math">
                    <m:r>
                      <a:rPr lang="vi-VN" sz="2600" b="0">
                        <a:solidFill>
                          <a:srgbClr val="1E293B"/>
                        </a:solidFill>
                        <a:latin typeface="Cambria Math" panose="02040503050406030204" pitchFamily="18" charset="0"/>
                      </a:rPr>
                      <m:t>C(x;</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0)</m:t>
                    </m:r>
                  </m:oMath>
                </a14:m>
                <a:r>
                  <a:rPr sz="2600">
                    <a:solidFill>
                      <a:srgbClr val="1E293B"/>
                    </a:solidFill>
                    <a:latin typeface="Calibri"/>
                  </a:rPr>
                  <a:t> thuộc đường thẳng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 2)</a:t>
                </a:r>
                <a:r>
                  <a:rPr sz="2600">
                    <a:solidFill>
                      <a:srgbClr val="1E293B"/>
                    </a:solidFill>
                    <a:latin typeface="Calibri"/>
                  </a:rPr>
                  <a:t>, </a:t>
                </a:r>
                <a:r>
                  <a:rPr lang="vi-VN"/>
                  <a:t>B(3;\ -2)</a:t>
                </a:r>
                <a:r>
                  <a:rPr sz="2600">
                    <a:solidFill>
                      <a:srgbClr val="1E293B"/>
                    </a:solidFill>
                    <a:latin typeface="Calibri"/>
                  </a:rPr>
                  <a:t>. Tìm </a:t>
                </a:r>
                <a:r>
                  <a:rPr lang="vi-VN"/>
                  <a:t>x</a:t>
                </a:r>
                <a:r>
                  <a:rPr sz="2600">
                    <a:solidFill>
                      <a:srgbClr val="1E293B"/>
                    </a:solidFill>
                    <a:latin typeface="Calibri"/>
                  </a:rPr>
                  <a:t> để điểm </a:t>
                </a:r>
                <a:r>
                  <a:rPr lang="vi-VN"/>
                  <a:t>C(x;\ 0)</a:t>
                </a:r>
                <a:r>
                  <a:rPr sz="2600">
                    <a:solidFill>
                      <a:srgbClr val="1E293B"/>
                    </a:solidFill>
                    <a:latin typeface="Calibri"/>
                  </a:rPr>
                  <a:t> thuộc đường thẳng </a:t>
                </a:r>
                <a:r>
                  <a:rPr lang="vi-VN"/>
                  <a:t>AB</a:t>
                </a:r>
                <a:r>
                  <a:rPr sz="2600">
                    <a:solidFill>
                      <a:srgbClr val="1E293B"/>
                    </a:solidFill>
                    <a:latin typeface="Calibri"/>
                  </a:rPr>
                  <a:t>.</a:t>
                </a:r>
              </a:p>
            </p:txBody>
          </p:sp>
        </mc:Fallback>
      </mc:AlternateContent>
      <p:sp>
        <p:nvSpPr>
          <p:cNvPr id="8" name="s1_nen"/>
          <p:cNvSpPr/>
          <p:nvPr/>
        </p:nvSpPr>
        <p:spPr>
          <a:xfrm>
            <a:off x="548640" y="3931920"/>
            <a:ext cx="11064240" cy="132588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12527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2.</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cùng phương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e>
                    </m:d>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x−1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−4</m:t>
                        </m:r>
                      </m:den>
                    </m:f>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x=2</m:t>
                    </m:r>
                  </m:oMath>
                </a14:m>
                <a:r>
                  <a:rPr sz="2400">
                    <a:solidFill>
                      <a:srgbClr val="1E293B"/>
                    </a:solidFill>
                    <a:latin typeface="Calibri"/>
                  </a:rPr>
                  <a:t>.</a:t>
                </a:r>
              </a:p>
            </p:txBody>
          </p:sp>
        </mc:Choice>
        <mc:Fallback>
          <p:sp>
            <p:nvSpPr>
              <p:cNvPr id="9" name="TextBox 8"/>
              <p:cNvSpPr txBox="1"/>
              <p:nvPr/>
            </p:nvSpPr>
            <p:spPr>
              <a:xfrm>
                <a:off x="713232" y="3968496"/>
                <a:ext cx="10735056" cy="12527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2.</a:t>
                </a:r>
                <a:r>
                  <a:rPr sz="2400">
                    <a:solidFill>
                      <a:srgbClr val="1E293B"/>
                    </a:solidFill>
                    <a:latin typeface="Calibri"/>
                  </a:rPr>
                  <a:t> </a:t>
                </a:r>
                <a:r>
                  <a:rPr lang="vi-VN"/>
                  <a:t>\overrightarrow{AC}</a:t>
                </a:r>
                <a:r>
                  <a:rPr sz="2400">
                    <a:solidFill>
                      <a:srgbClr val="1E293B"/>
                    </a:solidFill>
                    <a:latin typeface="Calibri"/>
                  </a:rPr>
                  <a:t> = </a:t>
                </a:r>
                <a:r>
                  <a:rPr lang="vi-VN"/>
                  <a:t>(x-1;\ -2)</a:t>
                </a:r>
                <a:r>
                  <a:rPr sz="2400">
                    <a:solidFill>
                      <a:srgbClr val="1E293B"/>
                    </a:solidFill>
                    <a:latin typeface="Calibri"/>
                  </a:rPr>
                  <a:t> cùng phương </a:t>
                </a:r>
                <a:r>
                  <a:rPr lang="vi-VN"/>
                  <a:t>\overrightarrow{AB}</a:t>
                </a:r>
                <a:r>
                  <a:rPr sz="2400">
                    <a:solidFill>
                      <a:srgbClr val="1E293B"/>
                    </a:solidFill>
                    <a:latin typeface="Calibri"/>
                  </a:rPr>
                  <a:t> = </a:t>
                </a:r>
                <a:r>
                  <a:rPr lang="vi-VN"/>
                  <a:t>(2;\ -4)</a:t>
                </a:r>
                <a:r>
                  <a:rPr sz="2400">
                    <a:solidFill>
                      <a:srgbClr val="1E293B"/>
                    </a:solidFill>
                    <a:latin typeface="Calibri"/>
                  </a:rPr>
                  <a:t> ⇒ </a:t>
                </a:r>
                <a:r>
                  <a:rPr lang="vi-VN"/>
                  <a:t>\frac{x-1}{2}=\frac{-2}{-4}</a:t>
                </a:r>
                <a:r>
                  <a:rPr sz="2400">
                    <a:solidFill>
                      <a:srgbClr val="1E293B"/>
                    </a:solidFill>
                    <a:latin typeface="Calibri"/>
                  </a:rPr>
                  <a:t> ⇒ </a:t>
                </a:r>
                <a:r>
                  <a:rPr lang="vi-VN"/>
                  <a:t>x=2</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34</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tàu khởi hành từ </a:t>
                </a:r>
                <a14:m>
                  <m:oMath xmlns:m="http://schemas.openxmlformats.org/officeDocument/2006/math">
                    <m:r>
                      <a:rPr lang="vi-VN" sz="2600" b="0">
                        <a:solidFill>
                          <a:srgbClr val="1E293B"/>
                        </a:solidFill>
                        <a:latin typeface="Cambria Math" panose="02040503050406030204" pitchFamily="18" charset="0"/>
                      </a:rPr>
                      <m:t>O(0;</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0)</m:t>
                    </m:r>
                  </m:oMath>
                </a14:m>
                <a:r>
                  <a:rPr sz="2600">
                    <a:solidFill>
                      <a:srgbClr val="1E293B"/>
                    </a:solidFill>
                    <a:latin typeface="Calibri"/>
                  </a:rPr>
                  <a:t>, chuyển động thẳng đều với vận tốc (theo giờ)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4)</m:t>
                    </m:r>
                  </m:oMath>
                </a14:m>
                <a:r>
                  <a:rPr sz="2600">
                    <a:solidFill>
                      <a:srgbClr val="1E293B"/>
                    </a:solidFill>
                    <a:latin typeface="Calibri"/>
                  </a:rPr>
                  <a:t> (đơn vị km). Sau 2 giờ tàu cách </a:t>
                </a:r>
                <a14:m>
                  <m:oMath xmlns:m="http://schemas.openxmlformats.org/officeDocument/2006/math">
                    <m:r>
                      <a:rPr lang="vi-VN" sz="2600" b="0">
                        <a:solidFill>
                          <a:srgbClr val="1E293B"/>
                        </a:solidFill>
                        <a:latin typeface="Cambria Math" panose="02040503050406030204" pitchFamily="18" charset="0"/>
                      </a:rPr>
                      <m:t>O</m:t>
                    </m:r>
                  </m:oMath>
                </a14:m>
                <a:r>
                  <a:rPr sz="2600">
                    <a:solidFill>
                      <a:srgbClr val="1E293B"/>
                    </a:solidFill>
                    <a:latin typeface="Calibri"/>
                  </a:rPr>
                  <a:t> bao nhiêu kilômét?</a:t>
                </a:r>
              </a:p>
            </p:txBody>
          </p:sp>
        </mc:Choice>
        <mc:Fallback>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tàu khởi hành từ </a:t>
                </a:r>
                <a:r>
                  <a:rPr lang="vi-VN"/>
                  <a:t>O(0;\ 0)</a:t>
                </a:r>
                <a:r>
                  <a:rPr sz="2600">
                    <a:solidFill>
                      <a:srgbClr val="1E293B"/>
                    </a:solidFill>
                    <a:latin typeface="Calibri"/>
                  </a:rPr>
                  <a:t>, chuyển động thẳng đều với vận tốc (theo giờ) </a:t>
                </a:r>
                <a:r>
                  <a:rPr lang="vi-VN"/>
                  <a:t>\vec{v}=(3;\ 4)</a:t>
                </a:r>
                <a:r>
                  <a:rPr sz="2600">
                    <a:solidFill>
                      <a:srgbClr val="1E293B"/>
                    </a:solidFill>
                    <a:latin typeface="Calibri"/>
                  </a:rPr>
                  <a:t> (đơn vị km). Sau 2 giờ tàu cách </a:t>
                </a:r>
                <a:r>
                  <a:rPr lang="vi-VN"/>
                  <a:t>O</a:t>
                </a:r>
                <a:r>
                  <a:rPr sz="2600">
                    <a:solidFill>
                      <a:srgbClr val="1E293B"/>
                    </a:solidFill>
                    <a:latin typeface="Calibri"/>
                  </a:rPr>
                  <a:t> bao nhiêu kilômét?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a:t>
                </a:r>
                <a:r>
                  <a:rPr sz="2400">
                    <a:solidFill>
                      <a:srgbClr val="1E293B"/>
                    </a:solidFill>
                    <a:latin typeface="Calibri"/>
                  </a:rPr>
                  <a:t> Vị trí sau 2 giờ: </a:t>
                </a:r>
                <a14:m>
                  <m:oMath xmlns:m="http://schemas.openxmlformats.org/officeDocument/2006/math">
                    <m:d>
                      <m:dPr>
                        <m:sepChr m:val=""/>
                      </m:dPr>
                      <m:e>
                        <m:r>
                          <a:rPr lang="vi-VN" sz="2400" b="0">
                            <a:solidFill>
                              <a:srgbClr val="1E293B"/>
                            </a:solidFill>
                            <a:latin typeface="Cambria Math" panose="02040503050406030204" pitchFamily="18" charset="0"/>
                          </a:rPr>
                          <m:t>6</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8</m:t>
                        </m:r>
                      </m:e>
                    </m:d>
                  </m:oMath>
                </a14:m>
                <a:r>
                  <a:rPr sz="2400">
                    <a:solidFill>
                      <a:srgbClr val="1E293B"/>
                    </a:solidFill>
                    <a:latin typeface="Calibri"/>
                  </a:rPr>
                  <a:t>; khoảng cách </a:t>
                </a:r>
                <a14:m>
                  <m:oMath xmlns:m="http://schemas.openxmlformats.org/officeDocument/2006/math">
                    <m:rad>
                      <m:radPr>
                        <m:degHide m:val="on"/>
                      </m:radPr>
                      <m:deg/>
                      <m:e>
                        <m:sSup>
                          <m:e>
                            <m:r>
                              <a:rPr lang="vi-VN" sz="2400" b="0">
                                <a:solidFill>
                                  <a:srgbClr val="1E293B"/>
                                </a:solidFill>
                                <a:latin typeface="Cambria Math" panose="02040503050406030204" pitchFamily="18" charset="0"/>
                              </a:rPr>
                              <m:t>6</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8</m:t>
                            </m:r>
                          </m:e>
                          <m:sup>
                            <m:r>
                              <a:rPr lang="vi-VN" sz="2400" b="0">
                                <a:solidFill>
                                  <a:srgbClr val="1E293B"/>
                                </a:solidFill>
                                <a:latin typeface="Cambria Math" panose="02040503050406030204" pitchFamily="18" charset="0"/>
                              </a:rPr>
                              <m:t>2</m:t>
                            </m:r>
                          </m:sup>
                        </m:sSup>
                      </m:e>
                    </m:rad>
                    <m:r>
                      <a:rPr lang="vi-VN" sz="2400" b="0">
                        <a:solidFill>
                          <a:srgbClr val="1E293B"/>
                        </a:solidFill>
                        <a:latin typeface="Cambria Math" panose="02040503050406030204" pitchFamily="18" charset="0"/>
                      </a:rPr>
                      <m:t>=10</m:t>
                    </m:r>
                  </m:oMath>
                </a14:m>
                <a:r>
                  <a:rPr sz="2400">
                    <a:solidFill>
                      <a:srgbClr val="1E293B"/>
                    </a:solidFill>
                    <a:latin typeface="Calibri"/>
                  </a:rPr>
                  <a:t> (km).</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a:t>
                </a:r>
                <a:r>
                  <a:rPr sz="2400">
                    <a:solidFill>
                      <a:srgbClr val="1E293B"/>
                    </a:solidFill>
                    <a:latin typeface="Calibri"/>
                  </a:rPr>
                  <a:t> Vị trí sau 2 giờ: </a:t>
                </a:r>
                <a:r>
                  <a:rPr lang="vi-VN"/>
                  <a:t>(6;\ 8)</a:t>
                </a:r>
                <a:r>
                  <a:rPr sz="2400">
                    <a:solidFill>
                      <a:srgbClr val="1E293B"/>
                    </a:solidFill>
                    <a:latin typeface="Calibri"/>
                  </a:rPr>
                  <a:t>; khoảng cách </a:t>
                </a:r>
                <a:r>
                  <a:rPr lang="vi-VN"/>
                  <a:t>\sqrt{6^2+8^2}=10</a:t>
                </a:r>
                <a:r>
                  <a:rPr sz="2400">
                    <a:solidFill>
                      <a:srgbClr val="1E293B"/>
                    </a:solidFill>
                    <a:latin typeface="Calibri"/>
                  </a:rPr>
                  <a:t> (km).</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bão di chuyển thẳng đều trong 12 giờ từ </a:t>
                </a:r>
                <a14:m>
                  <m:oMath xmlns:m="http://schemas.openxmlformats.org/officeDocument/2006/math">
                    <m:r>
                      <a:rPr lang="vi-VN" sz="2600" b="0">
                        <a:solidFill>
                          <a:srgbClr val="1E293B"/>
                        </a:solidFill>
                        <a:latin typeface="Cambria Math" panose="02040503050406030204" pitchFamily="18" charset="0"/>
                      </a:rPr>
                      <m:t>A(13</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8;</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108</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3)</m:t>
                    </m:r>
                  </m:oMath>
                </a14:m>
                <a:r>
                  <a:rPr sz="2600">
                    <a:solidFill>
                      <a:srgbClr val="1E293B"/>
                    </a:solidFill>
                    <a:latin typeface="Calibri"/>
                  </a:rPr>
                  <a:t> tới </a:t>
                </a:r>
                <a14:m>
                  <m:oMath xmlns:m="http://schemas.openxmlformats.org/officeDocument/2006/math">
                    <m:r>
                      <a:rPr lang="vi-VN" sz="2600" b="0">
                        <a:solidFill>
                          <a:srgbClr val="1E293B"/>
                        </a:solidFill>
                        <a:latin typeface="Cambria Math" panose="02040503050406030204" pitchFamily="18" charset="0"/>
                      </a:rPr>
                      <m:t>B(14</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106</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3)</m:t>
                    </m:r>
                  </m:oMath>
                </a14:m>
                <a:r>
                  <a:rPr sz="2600">
                    <a:solidFill>
                      <a:srgbClr val="1E293B"/>
                    </a:solidFill>
                    <a:latin typeface="Calibri"/>
                  </a:rPr>
                  <a:t>. Sau 4 giờ, tâm bão ở vĩ độ bao nhiêu (hoành độ của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a:t>
                </a:r>
              </a:p>
            </p:txBody>
          </p:sp>
        </mc:Choice>
        <mc:Fallback>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bão di chuyển thẳng đều trong 12 giờ từ </a:t>
                </a:r>
                <a:r>
                  <a:rPr lang="vi-VN"/>
                  <a:t>A(13{,}8;\ 108{,}3)</a:t>
                </a:r>
                <a:r>
                  <a:rPr sz="2600">
                    <a:solidFill>
                      <a:srgbClr val="1E293B"/>
                    </a:solidFill>
                    <a:latin typeface="Calibri"/>
                  </a:rPr>
                  <a:t> tới </a:t>
                </a:r>
                <a:r>
                  <a:rPr lang="vi-VN"/>
                  <a:t>B(14{,}1;\ 106{,}3)</a:t>
                </a:r>
                <a:r>
                  <a:rPr sz="2600">
                    <a:solidFill>
                      <a:srgbClr val="1E293B"/>
                    </a:solidFill>
                    <a:latin typeface="Calibri"/>
                  </a:rPr>
                  <a:t>. Sau 4 giờ, tâm bão ở vĩ độ bao nhiêu (hoành độ của </a:t>
                </a:r>
                <a:r>
                  <a:rPr lang="vi-VN"/>
                  <a:t>M</a:t>
                </a:r>
                <a:r>
                  <a:rPr sz="2600">
                    <a:solidFill>
                      <a:srgbClr val="1E293B"/>
                    </a:solidFill>
                    <a:latin typeface="Calibri"/>
                  </a:rPr>
                  <a:t>)?</a:t>
                </a:r>
              </a:p>
            </p:txBody>
          </p:sp>
        </mc:Fallback>
      </mc:AlternateContent>
      <p:sp>
        <p:nvSpPr>
          <p:cNvPr id="8" name="s1_nen"/>
          <p:cNvSpPr/>
          <p:nvPr/>
        </p:nvSpPr>
        <p:spPr>
          <a:xfrm>
            <a:off x="548640" y="3931920"/>
            <a:ext cx="11064240" cy="960119"/>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886967"/>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13,9.</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4</m:t>
                        </m:r>
                      </m:num>
                      <m:den>
                        <m:r>
                          <a:rPr lang="vi-VN" sz="2400" b="0">
                            <a:solidFill>
                              <a:srgbClr val="1E293B"/>
                            </a:solidFill>
                            <a:latin typeface="Cambria Math" panose="02040503050406030204" pitchFamily="18" charset="0"/>
                          </a:rPr>
                          <m:t>12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x=13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8+</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3=13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9</m:t>
                    </m:r>
                  </m:oMath>
                </a14:m>
                <a:r>
                  <a:rPr sz="2400">
                    <a:solidFill>
                      <a:srgbClr val="1E293B"/>
                    </a:solidFill>
                    <a:latin typeface="Calibri"/>
                  </a:rPr>
                  <a:t>.</a:t>
                </a:r>
              </a:p>
            </p:txBody>
          </p:sp>
        </mc:Choice>
        <mc:Fallback>
          <p:sp>
            <p:nvSpPr>
              <p:cNvPr id="9" name="TextBox 8"/>
              <p:cNvSpPr txBox="1"/>
              <p:nvPr/>
            </p:nvSpPr>
            <p:spPr>
              <a:xfrm>
                <a:off x="713232" y="3968496"/>
                <a:ext cx="10735056" cy="886967"/>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13,9.</a:t>
                </a:r>
                <a:r>
                  <a:rPr sz="2400">
                    <a:solidFill>
                      <a:srgbClr val="1E293B"/>
                    </a:solidFill>
                    <a:latin typeface="Calibri"/>
                  </a:rPr>
                  <a:t> </a:t>
                </a:r>
                <a:r>
                  <a:rPr lang="vi-VN"/>
                  <a:t>\overrightarrow{AM}</a:t>
                </a:r>
                <a:r>
                  <a:rPr sz="2400">
                    <a:solidFill>
                      <a:srgbClr val="1E293B"/>
                    </a:solidFill>
                    <a:latin typeface="Calibri"/>
                  </a:rPr>
                  <a:t> = </a:t>
                </a:r>
                <a:r>
                  <a:rPr lang="vi-VN"/>
                  <a:t>\frac{4}{12}</a:t>
                </a:r>
                <a:r>
                  <a:rPr sz="2400">
                    <a:solidFill>
                      <a:srgbClr val="1E293B"/>
                    </a:solidFill>
                    <a:latin typeface="Calibri"/>
                  </a:rPr>
                  <a:t> </a:t>
                </a:r>
                <a:r>
                  <a:rPr lang="vi-VN"/>
                  <a:t>\overrightarrow{AB}</a:t>
                </a:r>
                <a:r>
                  <a:rPr sz="2400">
                    <a:solidFill>
                      <a:srgbClr val="1E293B"/>
                    </a:solidFill>
                    <a:latin typeface="Calibri"/>
                  </a:rPr>
                  <a:t> ⇒ </a:t>
                </a:r>
                <a:r>
                  <a:rPr lang="vi-VN"/>
                  <a:t>x=13{,}8+\frac{1}{3}\cdot 0{,}3=13{,}9</a:t>
                </a:r>
                <a:r>
                  <a:rPr sz="2400">
                    <a:solidFill>
                      <a:srgbClr val="1E293B"/>
                    </a:solidFill>
                    <a:latin typeface="Calibri"/>
                  </a:rPr>
                  <a:t>.</a:t>
                </a:r>
              </a:p>
            </p:txBody>
          </p:sp>
        </mc:Fallback>
      </mc:AlternateContent>
      <p:pic>
        <p:nvPicPr>
          <p:cNvPr id="10" name="Picture 9" descr="bao.png"/>
          <p:cNvPicPr>
            <a:picLocks noChangeAspect="1"/>
          </p:cNvPicPr>
          <p:nvPr/>
        </p:nvPicPr>
        <p:blipFill>
          <a:blip r:embed="rId3"/>
          <a:stretch>
            <a:fillRect/>
          </a:stretch>
        </p:blipFill>
        <p:spPr>
          <a:xfrm>
            <a:off x="8595360" y="1580288"/>
            <a:ext cx="3108960" cy="21429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36</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https://trangtu66.github.io/Taode_thi_online/cc_bai10_t10.html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4.16 – 4.20.</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11. Tích vô hướng của hai vectơ</a:t>
            </a:r>
            <a:r>
              <a:rPr sz="2200">
                <a:solidFill>
                  <a:srgbClr val="1E293B"/>
                </a:solidFill>
                <a:latin typeface="Calibri"/>
              </a:rPr>
              <a:t> (SGK tr.66).</a:t>
            </a:r>
          </a:p>
          <a:p>
            <a:pPr algn="l" marL="365760" indent="-365760">
              <a:spcAft>
                <a:spcPts val="800"/>
              </a:spcAft>
              <a:buClr>
                <a:srgbClr val="1E40AF"/>
              </a:buClr>
              <a:buFont typeface="Arial"/>
              <a:buChar char="•"/>
            </a:pPr>
            <a:r>
              <a:rPr sz="2200">
                <a:solidFill>
                  <a:srgbClr val="1E293B"/>
                </a:solidFill>
                <a:latin typeface="Calibri"/>
              </a:rPr>
              <a:t>Nhóm: vẽ sơ đồ vườn cà phê nhà em trên giấy kẻ ô, gắn hệ trục, ghi toạ độ các gốc cây, tính khoảng cách giữa hai cây.</a:t>
            </a:r>
          </a:p>
        </p:txBody>
      </p:sp>
      <p:pic>
        <p:nvPicPr>
          <p:cNvPr id="8" name="Picture 7" descr="QR_CungCo_Bai10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37</a:t>
            </a:r>
          </a:p>
        </p:txBody>
      </p:sp>
      <p:pic>
        <p:nvPicPr>
          <p:cNvPr id="7" name="Picture 6" descr="SoDoTuDuy_TOAN10_Bai10_VectoTrongMatPhangToaDo_T32-34.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a:t>
                </a:r>
                <a14:m>
                  <m:oMath xmlns:m="http://schemas.openxmlformats.org/officeDocument/2006/math">
                    <m:acc>
                      <m:accPr>
                        <m:chr m:val="⃗"/>
                      </m:accPr>
                      <m:e>
                        <m:r>
                          <a:rPr lang="vi-VN" sz="2100" b="0">
                            <a:solidFill>
                              <a:srgbClr val="1E293B"/>
                            </a:solidFill>
                            <a:latin typeface="Cambria Math" panose="02040503050406030204" pitchFamily="18" charset="0"/>
                          </a:rPr>
                          <m:t>MN</m:t>
                        </m:r>
                      </m:e>
                    </m:acc>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M</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N</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M</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N</m:t>
                        </m:r>
                      </m:sub>
                    </m:sSub>
                    <m:r>
                      <a:rPr lang="vi-VN" sz="2100" b="0">
                        <a:solidFill>
                          <a:srgbClr val="1E293B"/>
                        </a:solidFill>
                        <a:latin typeface="Cambria Math" panose="02040503050406030204" pitchFamily="18" charset="0"/>
                      </a:rPr>
                      <m:t>)</m:t>
                    </m:r>
                  </m:oMath>
                </a14:m>
                <a:r>
                  <a:rPr sz="2100">
                    <a:solidFill>
                      <a:srgbClr val="1E293B"/>
                    </a:solidFill>
                    <a:latin typeface="Calibri"/>
                  </a:rPr>
                  <a:t> – sai.</a:t>
                </a:r>
              </a:p>
              <a:p>
                <a:pPr algn="l" marL="365760" indent="-365760">
                  <a:spcAft>
                    <a:spcPts val="800"/>
                  </a:spcAft>
                  <a:buClr>
                    <a:srgbClr val="1E40AF"/>
                  </a:buClr>
                  <a:buFont typeface="Arial"/>
                  <a:buChar char="•"/>
                </a:pPr>
                <a:r>
                  <a:rPr sz="2100">
                    <a:solidFill>
                      <a:srgbClr val="1E293B"/>
                    </a:solidFill>
                    <a:latin typeface="Calibri"/>
                  </a:rPr>
                  <a:t>Nhầm thứ tự đỉnh hình bình hành: </a:t>
                </a:r>
                <a14:m>
                  <m:oMath xmlns:m="http://schemas.openxmlformats.org/officeDocument/2006/math">
                    <m:r>
                      <a:rPr lang="vi-VN" sz="2100" b="0">
                        <a:solidFill>
                          <a:srgbClr val="1E293B"/>
                        </a:solidFill>
                        <a:latin typeface="Cambria Math" panose="02040503050406030204" pitchFamily="18" charset="0"/>
                      </a:rPr>
                      <m:t>OABM</m:t>
                    </m:r>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MB</m:t>
                        </m:r>
                      </m:e>
                    </m:acc>
                  </m:oMath>
                </a14:m>
                <a:r>
                  <a:rPr sz="2100">
                    <a:solidFill>
                      <a:srgbClr val="1E293B"/>
                    </a:solidFill>
                    <a:latin typeface="Calibri"/>
                  </a:rPr>
                  <a:t> (không phải </a:t>
                </a:r>
                <a14:m>
                  <m:oMath xmlns:m="http://schemas.openxmlformats.org/officeDocument/2006/math">
                    <m:acc>
                      <m:accPr>
                        <m:chr m:val="⃗"/>
                      </m:accPr>
                      <m:e>
                        <m:r>
                          <a:rPr lang="vi-VN" sz="2100" b="0">
                            <a:solidFill>
                              <a:srgbClr val="1E293B"/>
                            </a:solidFill>
                            <a:latin typeface="Cambria Math" panose="02040503050406030204" pitchFamily="18" charset="0"/>
                          </a:rPr>
                          <m:t>BM</m:t>
                        </m:r>
                      </m:e>
                    </m:acc>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căn khi tính độ dài; cộng các toạ độ thay vì bình phương.</a:t>
                </a:r>
              </a:p>
              <a:p>
                <a:pPr algn="l" marL="365760" indent="-365760">
                  <a:spcAft>
                    <a:spcPts val="800"/>
                  </a:spcAft>
                  <a:buClr>
                    <a:srgbClr val="1E40AF"/>
                  </a:buClr>
                  <a:buFont typeface="Arial"/>
                  <a:buChar char="•"/>
                </a:pPr>
                <a:r>
                  <a:rPr sz="2100">
                    <a:solidFill>
                      <a:srgbClr val="1E293B"/>
                    </a:solidFill>
                    <a:latin typeface="Calibri"/>
                  </a:rPr>
                  <a:t>Điều kiện cùng phương </a:t>
                </a:r>
                <a14:m>
                  <m:oMath xmlns:m="http://schemas.openxmlformats.org/officeDocument/2006/math">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num>
                      <m:den>
                        <m:r>
                          <a:rPr lang="vi-VN" sz="2100" b="0">
                            <a:solidFill>
                              <a:srgbClr val="1E293B"/>
                            </a:solidFill>
                            <a:latin typeface="Cambria Math" panose="02040503050406030204" pitchFamily="18" charset="0"/>
                          </a:rPr>
                          <m:t>x</m:t>
                        </m:r>
                      </m:den>
                    </m:f>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num>
                      <m:den>
                        <m:r>
                          <a:rPr lang="vi-VN" sz="2100" b="0">
                            <a:solidFill>
                              <a:srgbClr val="1E293B"/>
                            </a:solidFill>
                            <a:latin typeface="Cambria Math" panose="02040503050406030204" pitchFamily="18" charset="0"/>
                          </a:rPr>
                          <m:t>y</m:t>
                        </m:r>
                      </m:den>
                    </m:f>
                  </m:oMath>
                </a14:m>
                <a:r>
                  <a:rPr sz="2100">
                    <a:solidFill>
                      <a:srgbClr val="1E293B"/>
                    </a:solidFill>
                    <a:latin typeface="Calibri"/>
                  </a:rPr>
                  <a:t> dùng khi có toạ độ bằng 0.</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a:t>
                </a:r>
                <a:r>
                  <a:rPr lang="vi-VN"/>
                  <a:t>\overrightarrow{MN}=(x_M-x_N;\ y_M-y_N)</a:t>
                </a:r>
                <a:r>
                  <a:rPr sz="2100">
                    <a:solidFill>
                      <a:srgbClr val="1E293B"/>
                    </a:solidFill>
                    <a:latin typeface="Calibri"/>
                  </a:rPr>
                  <a:t> – sai.</a:t>
                </a:r>
              </a:p>
              <a:p>
                <a:pPr algn="l" marL="365760" indent="-365760">
                  <a:spcAft>
                    <a:spcPts val="800"/>
                  </a:spcAft>
                  <a:buClr>
                    <a:srgbClr val="1E40AF"/>
                  </a:buClr>
                  <a:buFont typeface="Arial"/>
                  <a:buChar char="•"/>
                </a:pPr>
                <a:r>
                  <a:rPr sz="2100">
                    <a:solidFill>
                      <a:srgbClr val="1E293B"/>
                    </a:solidFill>
                    <a:latin typeface="Calibri"/>
                  </a:rPr>
                  <a:t>Nhầm thứ tự đỉnh hình bình hành: </a:t>
                </a:r>
                <a:r>
                  <a:rPr lang="vi-VN"/>
                  <a:t>OABM</a:t>
                </a:r>
                <a:r>
                  <a:rPr sz="2100">
                    <a:solidFill>
                      <a:srgbClr val="1E293B"/>
                    </a:solidFill>
                    <a:latin typeface="Calibri"/>
                  </a:rPr>
                  <a:t> ⇔ </a:t>
                </a:r>
                <a:r>
                  <a:rPr lang="vi-VN"/>
                  <a:t>\overrightarrow{OA}=\overrightarrow{MB}</a:t>
                </a:r>
                <a:r>
                  <a:rPr sz="2100">
                    <a:solidFill>
                      <a:srgbClr val="1E293B"/>
                    </a:solidFill>
                    <a:latin typeface="Calibri"/>
                  </a:rPr>
                  <a:t> (không phải </a:t>
                </a:r>
                <a:r>
                  <a:rPr lang="vi-VN"/>
                  <a:t>\overrightarrow{BM}</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căn khi tính độ dài; cộng các toạ độ thay vì bình phương.</a:t>
                </a:r>
              </a:p>
              <a:p>
                <a:pPr algn="l" marL="365760" indent="-365760">
                  <a:spcAft>
                    <a:spcPts val="800"/>
                  </a:spcAft>
                  <a:buClr>
                    <a:srgbClr val="1E40AF"/>
                  </a:buClr>
                  <a:buFont typeface="Arial"/>
                  <a:buChar char="•"/>
                </a:pPr>
                <a:r>
                  <a:rPr sz="2100">
                    <a:solidFill>
                      <a:srgbClr val="1E293B"/>
                    </a:solidFill>
                    <a:latin typeface="Calibri"/>
                  </a:rPr>
                  <a:t>Điều kiện cùng phương </a:t>
                </a:r>
                <a:r>
                  <a:rPr lang="vi-VN"/>
                  <a:t>\frac{x'}{x}=\frac{y'}{y}</a:t>
                </a:r>
                <a:r>
                  <a:rPr sz="2100">
                    <a:solidFill>
                      <a:srgbClr val="1E293B"/>
                    </a:solidFill>
                    <a:latin typeface="Calibri"/>
                  </a:rPr>
                  <a:t> dùng khi có toạ độ bằng 0.</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giấy kẻ ô, đếm ô để tìm toạ độ; giao HĐ1–HĐ3, Bài 4.16a.</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4.17c, 4.18d, 4.20; tự đặt bài toán về vị trí tàu, bão.</a:t>
            </a:r>
          </a:p>
          <a:p>
            <a:pPr algn="l" marL="365760" indent="-365760">
              <a:spcAft>
                <a:spcPts val="800"/>
              </a:spcAft>
              <a:buClr>
                <a:srgbClr val="1E40AF"/>
              </a:buClr>
              <a:buFont typeface="Arial"/>
              <a:buChar char="•"/>
            </a:pPr>
            <a:r>
              <a:rPr sz="2000" b="1">
                <a:solidFill>
                  <a:srgbClr val="1E293B"/>
                </a:solidFill>
                <a:latin typeface="Calibri"/>
              </a:rPr>
              <a:t>10A7 (khiếm thính):</a:t>
            </a:r>
            <a:r>
              <a:rPr sz="2000">
                <a:solidFill>
                  <a:srgbClr val="1E293B"/>
                </a:solidFill>
                <a:latin typeface="Calibri"/>
              </a:rPr>
              <a:t> luật chơi, yêu cầu có chữ trên slide; video có phụ đề. </a:t>
            </a:r>
            <a:r>
              <a:rPr sz="2000" b="1">
                <a:solidFill>
                  <a:srgbClr val="1E293B"/>
                </a:solidFill>
                <a:latin typeface="Calibri"/>
              </a:rPr>
              <a:t>10A4:</a:t>
            </a:r>
            <a:r>
              <a:rPr sz="2000">
                <a:solidFill>
                  <a:srgbClr val="1E293B"/>
                </a:solidFill>
                <a:latin typeface="Calibri"/>
              </a:rPr>
              <a:t> trả lời tại chỗ bằng bảng con.</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lưới ô vuông vẽ bảng; tính bằng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