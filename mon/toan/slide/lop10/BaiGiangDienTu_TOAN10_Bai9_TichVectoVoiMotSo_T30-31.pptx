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GeoGebra, video mở trang online (cần Internet).</a:t>
            </a:r>
          </a:p>
          <a:p>
            <a:r>
              <a:t>Lớp 10A7 có HS khiếm thính: mọi yêu cầu, luật chơi đều có chữ trên slide; video có phụ đề.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6' – HĐ1, HĐ2, định nghĩa 12' – Ví dụ 1, LT1: 8' – Tính chất 9' – GeoGebra, trò chơi 7' – Tổng kết 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Video mở đầu (phụ đề). Liên hệ: đòn gánh cà phê ở Vĩnh Thạnh – gánh nặng bên nào thì vai lệch về bên đó. Giải ở cuối Ví dụ 3 (Tiết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 (SGK tr.55) – 4'. Click 1, 2. Chốt khung k &gt; 0. Câu hỏi (?): 1a = a (click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 (SGK tr.56) – 4'. Click 1. Chốt khung k &lt; 0, Chú ý, Nhận xét. Câu hỏi (?): −a = (−1)a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chốt Chú ý, Nhận xét; minh hoạ Hình 4.24 (click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1: điều kiện cùng phương (click 1). Luyện tập 1: HS làm cặp 3' (click 2). b) chỉ đúng khi M thuộc tia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HĐ3, HĐ4 (SGK tr.57) – 5'. Click 1: HĐ3 cả bốn ý đều đúng; click 2: HĐ4. Chốt khung tính chất.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dự đoán trước khi kéo (k = −2? k = 1/2?). Lệnh: k=Slider(-3,3,0.5), O=(0,0), A=(2,1), a=Vector(O,A), ka=Vector(O,O+k*a).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Luật in trên slide (HS khiếm thính 10A7). Click lật đáp án: S – Đ – Đ – Đ – S. Câu 5 là lỗi AI hay mắc (KHBD, Trạm kiểm chứng AI).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Ghép đôi khởi động 6' – Ví dụ 2, LT2, Nhận xét 9' – LT3, phân tích vectơ 8' – Ví dụ 3, điểm khối tâm 8' – Bài tập 10' – Củng cố 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Đáp án đã kiểm tra bằng toạ độ: AG = 2/3 AM; GM = 1/2 AG; AM = 3 GM; BC = 2 MC.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2: GV trình bày (click 1). Luyện tập 2: HS làm 3' (click 2). Chốt Nhận xét – học thuộc.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đếm ô trên lưới 3' (click 1). Chốt Chú ý: phân tích duy nhất theo hai vectơ không cùng phương.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dẫn dắt (click 1–3). Trở lại bài toán mở đầu: điểm khối tâm M thoả m1·MA1 + … + mn·MAn = 0 (click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Lệnh: A=(0,0), B=(6,0), m1=Slider(1,10,1), m2=Slider(1,10,1), M=(m1*A+m2*B)/(m1+m2). Liên hệ: gánh hai sọt cà phê không đều.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5'. Click 1–4. Câu 4 là Bài 4.13a (chuẩn bị cho phần bài tập).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bài: gọi HS trình bày, click hiện đáp án (đối chiếu SGV tr.116 – 117;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bài: gọi HS trình bày, click hiện đáp án (đối chiếu SGV tr.116 – 117;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bài: gọi HS trình bày, click hiện đáp án (đối chiếu SGV tr.116 – 117; đã kiểm tra bằng Python).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Đọc ở nhà (SGK tr.59). GV giới thiệu 1': phân tích lực gió F thành các lực thành phần.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0/VIDEO_MoDau_TOAN10_Bai9_TichVectoVoiMotSo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rangtu66.github.io/Taode_thi_online/GGB_T10_Bai9_1_TichVoiSo.html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trangtu66.github.io/Taode_thi_online/GGB_T10_Bai9_2_KhoiTam.html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hyperlink" Target="https://trangtu66.github.io/Taode_thi_online/cc_bai9_t10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CHƯƠNG IV. VECTƠ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9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mbria"/>
              </a:rPr>
              <a:t>TÍCH CỦA MỘT VECTƠ VỚI MỘT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Toán 10 – Kết nối tri thức với cuộc sống (SGK tập một, tr.55 – 59)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T30 – T31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tr.55)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Thực hiện phép nhân vectơ với một số.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Mô tả các mối quan hệ cùng phương, cùng hướng bằng vectơ.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1810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 (điều kiện cùng phương, thẳng hàng); mô hình hoá (điểm khối tâm, phân tích lực); giải quyết vấn đề; sử dụng công cụ (GeoGebra).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 khi tự kiểm tra kết quả, trách nhiệm khi làm việc nhóm.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1. Tích của một vectơ với một số. 2. Các tính chất của phép nhân vectơ với một số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Đúng hay Sai? ·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Trung điểm, trọng tâm; phân tích vectơ; điểm khối tâm; Bài tập 4.11 – 4.15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Ghép đôi · Ai nhanh hơn?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(T30)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Tích của một vectơ với một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Xác định vectơ k·a; nhận biết điều kiện hai vectơ cùng phương.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Vận dụng các tính chất của phép nhân vectơ với một số.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THANH ĐÒN CÂN BẰNG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Với mỗi cặp vật đặt trên hai đầu của một thanh đòn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luôn có duy nhất một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nếu đặt trụ đỡ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thanh đòn ở trạng thái cân bằng (H.4.20). Trong Vật lí,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 trên được gọi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điểm khối tâm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hệ chất điểm.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Làm thế nào xác định vị trí điểm khối tâm bằng Hình học?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10 tập một, tr.55)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Với mỗi cặp vật đặt trên hai đầu của một thanh đòn </a:t>
                </a:r>
                <a:r>
                  <a:rPr lang="vi-VN"/>
                  <a:t>AB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luôn có duy nhất một 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AB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nếu đặt trụ đỡ tại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thì thanh đòn ở trạng thái cân bằng (H.4.20). Trong Vật lí, 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như trên được gọi là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điểm khối tâm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hệ chất điểm.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Làm thế nào xác định vị trí điểm khối tâm bằng Hình học?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10 tập một, tr.55)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h4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753182"/>
            <a:ext cx="4389120" cy="14430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TÍCH CỦA MỘT VECTƠ VỚI MỘT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Hãy xác định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Tìm mối quan hệ giữa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mối quan hệ như thế nào về hướng và độ dài đối với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vectơ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Hãy xác định điểm </a:t>
                </a:r>
                <a:r>
                  <a:rPr lang="vi-VN"/>
                  <a:t>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Tìm mối quan hệ giữa </a:t>
                </a:r>
                <a:r>
                  <a:rPr lang="vi-VN"/>
                  <a:t>\overrightarrow{AC}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\vec{a}+\vec{a}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Vectơ </a:t>
                </a:r>
                <a:r>
                  <a:rPr lang="vi-VN"/>
                  <a:t>\vec{a}+\vec{a}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mối quan hệ như thế nào về hướng và độ dài đối với vectơ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32888"/>
            <a:ext cx="822960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69464"/>
                <a:ext cx="790041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69464"/>
                <a:ext cx="790041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\overrightarrow{AC}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\vec{a}+\vec{a}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176016"/>
            <a:ext cx="822960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212592"/>
                <a:ext cx="790041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cùng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có độ dài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212592"/>
                <a:ext cx="790041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\vec{a}+\vec{a}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cùng hướng với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có độ dài </a:t>
                </a:r>
                <a:r>
                  <a:rPr lang="vi-VN"/>
                  <a:t>2|\vec{a}|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3819144"/>
            <a:ext cx="8229600" cy="117957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3855720"/>
                <a:ext cx="790041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Tích của một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một số thực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k&gt;0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một vectơ, kí hiệu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cùng hướng với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có độ dài bằng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855720"/>
                <a:ext cx="790041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Tích của một vectơ </a:t>
                </a:r>
                <a:r>
                  <a:rPr lang="vi-VN"/>
                  <a:t>\vec{a}\ne\vec{0}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với một số thực </a:t>
                </a:r>
                <a:r>
                  <a:rPr lang="vi-VN"/>
                  <a:t>k&gt;0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một vectơ, kí hiệu là </a:t>
                </a:r>
                <a:r>
                  <a:rPr lang="vi-VN"/>
                  <a:t>k\vec{a}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cùng hướng với vectơ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có độ dài bằng </a:t>
                </a:r>
                <a:r>
                  <a:rPr lang="vi-VN"/>
                  <a:t>k|\vec{a}|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548640" y="5071872"/>
                <a:ext cx="8229600" cy="478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❓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bằng nhau hay không?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5071872"/>
                <a:ext cx="8229600" cy="478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❓ </a:t>
                </a:r>
                <a:r>
                  <a:rPr lang="vi-VN"/>
                  <a:t>1\vec{a}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bằng nhau hay không?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5623560"/>
            <a:ext cx="822960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5_chu"/>
          <p:cNvSpPr txBox="1"/>
          <p:nvPr/>
        </p:nvSpPr>
        <p:spPr>
          <a:xfrm>
            <a:off x="713232" y="5660136"/>
            <a:ext cx="7900416" cy="49682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Có – cùng hướng, cùng độ dài.</a:t>
            </a:r>
          </a:p>
        </p:txBody>
      </p:sp>
      <p:pic>
        <p:nvPicPr>
          <p:cNvPr id="17" name="Picture 16" descr="h4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65800"/>
            <a:ext cx="2651760" cy="157191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52560" y="385876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TRƯỜNG HỢP k &lt; 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453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một trục số, gọi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tương ứng biểu diễn các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Hãy nêu mối quan hệ về hướng và độ dài của mỗi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ON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Viết đẳng thức thể hiện mối quan hệ giữa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4538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một trục số, gọi </a:t>
                </a:r>
                <a:r>
                  <a:rPr lang="vi-VN"/>
                  <a:t>O,\ A,\ M,\ 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tương ứng biểu diễn các số </a:t>
                </a:r>
                <a:r>
                  <a:rPr lang="vi-VN"/>
                  <a:t>0;\ 1;\ \sqrt{2};\ -\sqrt{2}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Hãy nêu mối quan hệ về hướng và độ dài của mỗi vectơ </a:t>
                </a:r>
                <a:r>
                  <a:rPr lang="vi-VN"/>
                  <a:t>\overrightarrow{OM}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\overrightarrow{ON}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vectơ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Viết đẳng thức thể hiện mối quan hệ giữa hai vectơ </a:t>
                </a:r>
                <a:r>
                  <a:rPr lang="vi-VN"/>
                  <a:t>\overrightarrow{OM}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916936"/>
            <a:ext cx="822960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953512"/>
                <a:ext cx="790041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hướng,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ON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ngược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cùng có độ dài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53512"/>
                <a:ext cx="790041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\overrightarrow{OM}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hướng, </a:t>
                </a:r>
                <a:r>
                  <a:rPr lang="vi-VN"/>
                  <a:t>\overrightarrow{ON}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ngược hướng với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cùng có độ dài </a:t>
                </a:r>
                <a:r>
                  <a:rPr lang="vi-VN"/>
                  <a:t>\sqrt{2}|\vec{a}|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\overrightarrow{OM}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913632"/>
            <a:ext cx="8229600" cy="122529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950208"/>
                <a:ext cx="790041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Tích của một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một số thực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k&lt;0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một vectơ, kí hiệu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ngược hướng với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có độ dài bằng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(−k)|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950208"/>
                <a:ext cx="7900416" cy="11521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Tích của một vectơ </a:t>
                </a:r>
                <a:r>
                  <a:rPr lang="vi-VN"/>
                  <a:t>\vec{a}\ne\vec{0}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với một số thực </a:t>
                </a:r>
                <a:r>
                  <a:rPr lang="vi-VN"/>
                  <a:t>k&lt;0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một vectơ, kí hiệu là </a:t>
                </a:r>
                <a:r>
                  <a:rPr lang="vi-VN"/>
                  <a:t>k\vec{a}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ngược hướng với vectơ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có độ dài bằng </a:t>
                </a:r>
                <a:r>
                  <a:rPr lang="vi-VN"/>
                  <a:t>(-k)|\vec{a}|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h4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735927"/>
            <a:ext cx="2651760" cy="5515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2560" y="2578608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CHÚ Ý – NHẬN XÉT (SGK TR.56)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Quy ước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độ dài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cùng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k≥0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ngược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1795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Quy ước </a:t>
                </a:r>
                <a:r>
                  <a:rPr lang="vi-VN"/>
                  <a:t>k\vec{a}=\vec{0}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\vec{a}=\vec{0}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k=0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k\vec{a}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có độ dài </a:t>
                </a:r>
                <a:r>
                  <a:rPr lang="vi-VN"/>
                  <a:t>|k|\cdot|\vec{a}|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cùng hướng với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k\ge 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ngược hướng với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\vec{a}\ne\vec{0}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k&lt;0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660904"/>
            <a:ext cx="78638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97480"/>
                <a:ext cx="75346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❓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(−1)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bằng nhau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(cùng ngược hướng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cùng độ dài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97480"/>
                <a:ext cx="75346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❓ </a:t>
                </a:r>
                <a:r>
                  <a:rPr lang="vi-VN"/>
                  <a:t>-\vec{a}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(-1)\vec{a}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bằng nhau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(cùng ngược hướng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cùng độ dài </a:t>
                </a:r>
                <a:r>
                  <a:rPr lang="vi-VN"/>
                  <a:t>|\vec{a}|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706368"/>
                <a:ext cx="7863840" cy="9951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Hình 4.24, hai trung tuyến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BN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cắt nhau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GM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706368"/>
                <a:ext cx="7863840" cy="9951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Trong Hình 4.24, hai trung tuyến </a:t>
                </a:r>
                <a:r>
                  <a:rPr lang="vi-VN"/>
                  <a:t>AM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BN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của 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cắt nhau tại </a:t>
                </a:r>
                <a:r>
                  <a:rPr lang="vi-VN"/>
                  <a:t>G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Ta có </a:t>
                </a:r>
                <a:r>
                  <a:rPr lang="vi-VN"/>
                  <a:t>\overrightarrow{GA}=-2\overrightarrow{GM}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\overrightarrow{MN}=-\frac{1}{2}\overrightarrow{AB}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1" name="Picture 10" descr="h4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593233"/>
            <a:ext cx="3108960" cy="21170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95360" y="3858768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1 – LUYỆN TẬP 1 (SGK TR.56)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 rằng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cùng phương khi và chỉ khi tồn tại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Chứng minh rằng hai vectơ </a:t>
                </a:r>
                <a:r>
                  <a:rPr lang="vi-VN"/>
                  <a:t>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\vec{b}\ (\vec{b}\ne\vec{0})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cùng phương khi và chỉ khi tồn tại số </a:t>
                </a:r>
                <a:r>
                  <a:rPr lang="vi-VN"/>
                  <a:t>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\vec{a}=k\vec{b}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28088"/>
            <a:ext cx="11064240" cy="11490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64664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Nếu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cùng phương. Ngược lại, lấy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cùng hướng,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k=−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r>
                                  <a:rPr lang="vi-VN" sz="20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b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ngược hướng: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64664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Nếu </a:t>
                </a:r>
                <a:r>
                  <a:rPr lang="vi-VN"/>
                  <a:t>\vec{a}=k\vec{b}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thì cùng phương. Ngược lại, lấy </a:t>
                </a:r>
                <a:r>
                  <a:rPr lang="vi-VN"/>
                  <a:t>k=\frac{|\vec{a}|}{|\vec{b}|}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cùng hướng, </a:t>
                </a:r>
                <a:r>
                  <a:rPr lang="vi-VN"/>
                  <a:t>k=-\frac{|\vec{a}|}{|\vec{b}|}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nếu ngược hướng: </a:t>
                </a:r>
                <a:r>
                  <a:rPr lang="vi-VN"/>
                  <a:t>\vec{a}=k\vec{b}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50336"/>
                <a:ext cx="11064240" cy="21366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đi qua hai điểm phân biệt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(H.4.25). Những khẳng định nào sau đây là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và chỉ khi tồn tại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Với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bất kì, ta luôn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tia đối của tia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và chỉ khi tồn tại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t≤0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50336"/>
                <a:ext cx="11064240" cy="213664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đường thẳng </a:t>
                </a:r>
                <a:r>
                  <a:rPr lang="vi-VN"/>
                  <a:t>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đi qua hai điểm phân biệt </a:t>
                </a:r>
                <a:r>
                  <a:rPr lang="vi-VN"/>
                  <a:t>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(H.4.25). Những khẳng định nào sau đây là đúng?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Điểm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</a:t>
                </a:r>
                <a:r>
                  <a:rPr lang="vi-VN"/>
                  <a:t>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và chỉ khi tồn tại số </a:t>
                </a:r>
                <a:r>
                  <a:rPr lang="vi-VN"/>
                  <a:t>t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\overrightarrow{AM}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t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Với điểm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bất kì, ta luôn có </a:t>
                </a:r>
                <a:r>
                  <a:rPr lang="vi-VN"/>
                  <a:t>\overrightarrow{AM}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\frac{AM}{AB}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Điểm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tia đối của tia </a:t>
                </a:r>
                <a:r>
                  <a:rPr lang="vi-VN"/>
                  <a:t>AB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khi và chỉ khi tồn tại số </a:t>
                </a:r>
                <a:r>
                  <a:rPr lang="vi-VN"/>
                  <a:t>t\le 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\overrightarrow{AM}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t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5660136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696712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Đúng; b) Sai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(chỉ đúng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tia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Đúng.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696712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a) Đúng; b) Sai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(chỉ đúng khi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tia </a:t>
                </a:r>
                <a:r>
                  <a:rPr lang="vi-VN"/>
                  <a:t>AB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c) Đúng.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TÍNH CHẤT CỦA PHÉP NHÂN VECTƠ VỚI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331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hai số thực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những khẳng định nào sau đây là đúng? 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k(t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(kt)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cùng độ dài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</m:acc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Nếu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kt≥0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thì cả hai cùng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c) Nếu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kt&lt;0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thì cả hai ngược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k(t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(kt)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bằng nhau.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595360" cy="1331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\vec{u}\ne\vec{0}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hai số thực </a:t>
                </a:r>
                <a:r>
                  <a:rPr lang="vi-VN"/>
                  <a:t>k,\ 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những khẳng định nào sau đây là đúng? a) </a:t>
                </a:r>
                <a:r>
                  <a:rPr lang="vi-VN"/>
                  <a:t>k(t\vec{u})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(kt)\vec{u}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cùng độ dài </a:t>
                </a:r>
                <a:r>
                  <a:rPr lang="vi-VN"/>
                  <a:t>|kt|\cdot|\vec{u}|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Nếu </a:t>
                </a:r>
                <a:r>
                  <a:rPr lang="vi-VN"/>
                  <a:t>kt\ge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thì cả hai cùng hướng với </a:t>
                </a:r>
                <a:r>
                  <a:rPr lang="vi-VN"/>
                  <a:t>\vec{u}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c) Nếu </a:t>
                </a:r>
                <a:r>
                  <a:rPr lang="vi-VN"/>
                  <a:t>kt&lt;0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thì cả hai ngược hướng với </a:t>
                </a:r>
                <a:r>
                  <a:rPr lang="vi-VN"/>
                  <a:t>\vec{u}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d) </a:t>
                </a:r>
                <a:r>
                  <a:rPr lang="vi-VN"/>
                  <a:t>k(t\vec{u})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(kt)\vec{u}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bằng nhau.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76728"/>
            <a:ext cx="859536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_chu"/>
          <p:cNvSpPr txBox="1"/>
          <p:nvPr/>
        </p:nvSpPr>
        <p:spPr>
          <a:xfrm>
            <a:off x="713232" y="2813304"/>
            <a:ext cx="8266176" cy="48158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1E293B"/>
                </a:solidFill>
                <a:latin typeface="Calibri"/>
              </a:rPr>
              <a:t>Cả bốn khẳng định a), b), c), d) đều đúng.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04616"/>
                <a:ext cx="859536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Hãy chỉ ra trên Hình 4.26 hai vectơ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Từ đó, nêu mối quan hệ giữa hai vectơ đó.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04616"/>
                <a:ext cx="859536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Hãy chỉ ra trên Hình 4.26 hai vectơ </a:t>
                </a:r>
                <a:r>
                  <a:rPr lang="vi-VN"/>
                  <a:t>3(\vec{u}+\vec{v})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3\vec{u}+3\vec{v}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Từ đó, nêu mối quan hệ giữa hai vectơ đó.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230624"/>
            <a:ext cx="859536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267200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)=3</m:t>
                    </m:r>
                  </m:oMath>
                </a14:m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hai vectơ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bằng nhau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267200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3(\vec{u}+\vec{v})=3</a:t>
                </a:r>
                <a:r>
                  <a:rPr lang="vi-VN"/>
                  <a:t>\overrightarrow{OM}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\overrightarrow{OC}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3\vec{u}+3\vec{v}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\overrightarrow{OA}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\overrightarrow{OC}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hai vectơ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bằng nhau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148072"/>
            <a:ext cx="8595360" cy="84429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184648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Với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hai số thực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k(t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)=(kt)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(k+t)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+t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(−1)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184648"/>
                <a:ext cx="826617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Với hai vectơ </a:t>
                </a:r>
                <a:r>
                  <a:rPr lang="vi-VN"/>
                  <a:t>\vec{a},\ \vec{b}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hai số thực </a:t>
                </a:r>
                <a:r>
                  <a:rPr lang="vi-VN"/>
                  <a:t>k,\ 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k(t\vec{a})=(kt)\vec{a}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(k+t)\vec{a}=k\vec{a}+t\vec{a}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k(\vec{a}+\vec{b})=k\vec{a}+k\vec{b}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k(\vec{a}-\vec{b})=k\vec{a}-k\vec{b}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1\vec{a}=\vec{a}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(-1)\vec{a}=-\vec{a}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5" name="Picture 14" descr="h4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234859"/>
            <a:ext cx="2377440" cy="19310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6880" y="4224527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VECTƠ K·A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đến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kéo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đổi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hướng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ngược hướng;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Bảng giá trị: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k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từ </a:t>
                </a:r>
                <a:r>
                  <a:rPr lang="vi-VN"/>
                  <a:t>-3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đến </a:t>
                </a:r>
                <a:r>
                  <a:rPr lang="vi-VN"/>
                  <a:t>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kéo điểm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đổi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k&gt;0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k\vec{a}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hướng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k&lt;0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ngược hướng; </a:t>
                </a:r>
                <a:r>
                  <a:rPr lang="vi-VN"/>
                  <a:t>k=0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\vec{0}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Bảng giá trị: </a:t>
                </a:r>
                <a:r>
                  <a:rPr lang="vi-VN"/>
                  <a:t>|k\vec{a}|=|k|\cdot|\vec{a}|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h4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244349"/>
            <a:ext cx="4846320" cy="29179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ĐÚNG HAY SAI?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Cả lớp giơ thẻ Đ (xanh) / S (đỏ) trong 10 giây cho mỗi câu.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822960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|\vec{a}|=3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74976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hướng với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74976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-2\vec{a}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hướng với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8961120" y="2474976"/>
            <a:ext cx="2651759" cy="629716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_chu"/>
          <p:cNvSpPr txBox="1"/>
          <p:nvPr/>
        </p:nvSpPr>
        <p:spPr>
          <a:xfrm>
            <a:off x="8961120" y="2529840"/>
            <a:ext cx="2651759" cy="6022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(ngược hướng)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214420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|−2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214420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|-2\vec{a}|=6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8961120" y="3214420"/>
            <a:ext cx="2651759" cy="629716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2_chu"/>
          <p:cNvSpPr txBox="1"/>
          <p:nvPr/>
        </p:nvSpPr>
        <p:spPr>
          <a:xfrm>
            <a:off x="8961120" y="3269284"/>
            <a:ext cx="2651759" cy="6022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3953865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3953865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5\vec{a}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phương.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8961120" y="3953865"/>
            <a:ext cx="2651759" cy="629716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3_chu"/>
          <p:cNvSpPr txBox="1"/>
          <p:nvPr/>
        </p:nvSpPr>
        <p:spPr>
          <a:xfrm>
            <a:off x="8961120" y="4008729"/>
            <a:ext cx="2651759" cy="6022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48640" y="4693310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0·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548640" y="4693310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0\cdot\vec{a}=\vec{0}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9" name="s4_nen"/>
          <p:cNvSpPr/>
          <p:nvPr/>
        </p:nvSpPr>
        <p:spPr>
          <a:xfrm>
            <a:off x="8961120" y="4693310"/>
            <a:ext cx="2651759" cy="629716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4_chu"/>
          <p:cNvSpPr txBox="1"/>
          <p:nvPr/>
        </p:nvSpPr>
        <p:spPr>
          <a:xfrm>
            <a:off x="8961120" y="4748174"/>
            <a:ext cx="2651759" cy="6022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  <a:r>
              <a:rPr sz="1700">
                <a:solidFill>
                  <a:srgbClr val="FFFFFF"/>
                </a:solidFill>
                <a:latin typeface="Calibri"/>
              </a:rPr>
              <a:t> (quy ước)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48640" y="5432755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|−2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|=−6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21" name="TextBox 20"/>
              <p:cNvSpPr txBox="1"/>
              <p:nvPr/>
            </p:nvSpPr>
            <p:spPr>
              <a:xfrm>
                <a:off x="548640" y="5432755"/>
                <a:ext cx="8229600" cy="69372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|-2\vec{a}|=-6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22" name="s5_nen"/>
          <p:cNvSpPr/>
          <p:nvPr/>
        </p:nvSpPr>
        <p:spPr>
          <a:xfrm>
            <a:off x="8961120" y="5432755"/>
            <a:ext cx="2651759" cy="629716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5_chu"/>
          <p:cNvSpPr txBox="1"/>
          <p:nvPr/>
        </p:nvSpPr>
        <p:spPr>
          <a:xfrm>
            <a:off x="8961120" y="5487619"/>
            <a:ext cx="2651759" cy="60228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(độ dài không âm)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03632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cùng hướng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k≥0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ngược hướng nếu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độ dài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phương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tính chất kết hợp, phân phối.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9631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k\vec{a}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cùng hướng </a:t>
                </a: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k\ge 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ngược hướng nếu </a:t>
                </a:r>
                <a:r>
                  <a:rPr lang="vi-VN"/>
                  <a:t>k&lt;0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độ dài </a:t>
                </a:r>
                <a:r>
                  <a:rPr lang="vi-VN"/>
                  <a:t>|k|\cdot|\vec{a}|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\vec{a}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\vec{b}\ (\vec{b}\ne\vec{0})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cùng phương ⇔ </a:t>
                </a:r>
                <a:r>
                  <a:rPr lang="vi-VN"/>
                  <a:t>\vec{a}=k\vec{b}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tính chất kết hợp, phân phối.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272796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6453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4.11 (SGK tr.58).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Ví dụ 2, Ví dụ 3 (SGK tr.57 – 58).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(T31)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Trung điểm, trọng tâm. Phân tích vectơ. Điểm khối tâm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Biểu thị trung điểm, trọng tâm bằng vectơ; phân tích một vectơ theo hai vectơ.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Xác định điểm thoả mãn đẳng thức vectơ (điểm khối tâm).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ĐỘNG: GHÉP ĐÔI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Cặp đôi ghép, ghi vào bảng con trong 1 phút.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Tam giác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trọng tâm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Ghép mỗi vectơ với hệ thức đúng: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1106424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Tam giác </a:t>
                </a:r>
                <a:r>
                  <a:rPr lang="vi-VN"/>
                  <a:t>ABC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trọng tâm </a:t>
                </a:r>
                <a:r>
                  <a:rPr lang="vi-VN"/>
                  <a:t>G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:r>
                  <a:rPr lang="vi-VN"/>
                  <a:t>BC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Ghép mỗi vectơ với hệ thức đúng: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2764535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13232" y="280111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280111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\overrightarrow{AG}</a:t>
                </a:r>
              </a:p>
            </p:txBody>
          </p:sp>
        </mc:Fallback>
      </mc:AlternateContent>
      <p:sp>
        <p:nvSpPr>
          <p:cNvPr id="11" name="Rounded Rectangle 10"/>
          <p:cNvSpPr/>
          <p:nvPr/>
        </p:nvSpPr>
        <p:spPr>
          <a:xfrm>
            <a:off x="3200400" y="2764535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364992" y="280111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GM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3364992" y="2801111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\overrightarrow{GM}</a:t>
                </a:r>
              </a:p>
            </p:txBody>
          </p:sp>
        </mc:Fallback>
      </mc:AlternateContent>
      <p:sp>
        <p:nvSpPr>
          <p:cNvPr id="13" name="s1_nen"/>
          <p:cNvSpPr/>
          <p:nvPr/>
        </p:nvSpPr>
        <p:spPr>
          <a:xfrm>
            <a:off x="5852160" y="2764535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_chu"/>
          <p:cNvSpPr txBox="1"/>
          <p:nvPr/>
        </p:nvSpPr>
        <p:spPr>
          <a:xfrm>
            <a:off x="6016752" y="2801111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 – 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97223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13232" y="373379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GM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373379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\overrightarrow{GM}</a:t>
                </a:r>
              </a:p>
            </p:txBody>
          </p:sp>
        </mc:Fallback>
      </mc:AlternateContent>
      <p:sp>
        <p:nvSpPr>
          <p:cNvPr id="17" name="Rounded Rectangle 16"/>
          <p:cNvSpPr/>
          <p:nvPr/>
        </p:nvSpPr>
        <p:spPr>
          <a:xfrm>
            <a:off x="3200400" y="3697223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364992" y="373379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3364992" y="3733799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\overrightarrow{MC}</a:t>
                </a:r>
              </a:p>
            </p:txBody>
          </p:sp>
        </mc:Fallback>
      </mc:AlternateContent>
      <p:sp>
        <p:nvSpPr>
          <p:cNvPr id="19" name="s2_nen"/>
          <p:cNvSpPr/>
          <p:nvPr/>
        </p:nvSpPr>
        <p:spPr>
          <a:xfrm>
            <a:off x="5852160" y="3697223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2_chu"/>
          <p:cNvSpPr txBox="1"/>
          <p:nvPr/>
        </p:nvSpPr>
        <p:spPr>
          <a:xfrm>
            <a:off x="6016752" y="3733799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 – 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29911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713232" y="4666487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2" name="TextBox 21"/>
              <p:cNvSpPr txBox="1"/>
              <p:nvPr/>
            </p:nvSpPr>
            <p:spPr>
              <a:xfrm>
                <a:off x="713232" y="4666487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\overrightarrow{AM}</a:t>
                </a:r>
              </a:p>
            </p:txBody>
          </p:sp>
        </mc:Fallback>
      </mc:AlternateContent>
      <p:sp>
        <p:nvSpPr>
          <p:cNvPr id="23" name="Rounded Rectangle 22"/>
          <p:cNvSpPr/>
          <p:nvPr/>
        </p:nvSpPr>
        <p:spPr>
          <a:xfrm>
            <a:off x="3200400" y="4629911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364992" y="4666487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4" name="TextBox 23"/>
              <p:cNvSpPr txBox="1"/>
              <p:nvPr/>
            </p:nvSpPr>
            <p:spPr>
              <a:xfrm>
                <a:off x="3364992" y="4666487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\frac{2}{3}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\overrightarrow{AM}</a:t>
                </a:r>
              </a:p>
            </p:txBody>
          </p:sp>
        </mc:Fallback>
      </mc:AlternateContent>
      <p:sp>
        <p:nvSpPr>
          <p:cNvPr id="25" name="s3_nen"/>
          <p:cNvSpPr/>
          <p:nvPr/>
        </p:nvSpPr>
        <p:spPr>
          <a:xfrm>
            <a:off x="5852160" y="4629911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3_chu"/>
          <p:cNvSpPr txBox="1"/>
          <p:nvPr/>
        </p:nvSpPr>
        <p:spPr>
          <a:xfrm>
            <a:off x="6016752" y="4666487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3 – 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5626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713232" y="559917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28" name="TextBox 27"/>
              <p:cNvSpPr txBox="1"/>
              <p:nvPr/>
            </p:nvSpPr>
            <p:spPr>
              <a:xfrm>
                <a:off x="713232" y="559917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\overrightarrow{BC}</a:t>
                </a:r>
              </a:p>
            </p:txBody>
          </p:sp>
        </mc:Fallback>
      </mc:AlternateContent>
      <p:sp>
        <p:nvSpPr>
          <p:cNvPr id="29" name="Rounded Rectangle 28"/>
          <p:cNvSpPr/>
          <p:nvPr/>
        </p:nvSpPr>
        <p:spPr>
          <a:xfrm>
            <a:off x="3200400" y="5562600"/>
            <a:ext cx="2377440" cy="7772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3364992" y="559917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AG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30" name="TextBox 29"/>
              <p:cNvSpPr txBox="1"/>
              <p:nvPr/>
            </p:nvSpPr>
            <p:spPr>
              <a:xfrm>
                <a:off x="3364992" y="5599176"/>
                <a:ext cx="2048256" cy="7040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\overrightarrow{AG}</a:t>
                </a:r>
              </a:p>
            </p:txBody>
          </p:sp>
        </mc:Fallback>
      </mc:AlternateContent>
      <p:sp>
        <p:nvSpPr>
          <p:cNvPr id="31" name="s4_nen"/>
          <p:cNvSpPr/>
          <p:nvPr/>
        </p:nvSpPr>
        <p:spPr>
          <a:xfrm>
            <a:off x="5852160" y="556260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4_chu"/>
          <p:cNvSpPr txBox="1"/>
          <p:nvPr/>
        </p:nvSpPr>
        <p:spPr>
          <a:xfrm>
            <a:off x="6016752" y="5599176"/>
            <a:ext cx="1133856" cy="7040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4 – B</a:t>
            </a:r>
          </a:p>
        </p:txBody>
      </p:sp>
      <p:pic>
        <p:nvPicPr>
          <p:cNvPr id="33" name="Picture 32" descr="h4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562062"/>
            <a:ext cx="4023360" cy="2739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2 – LUYỆN TẬP 2 (SGK TR.57)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đoạn thẳng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trung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với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tuỳ ý,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OI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đoạn thẳng </a:t>
                </a:r>
                <a:r>
                  <a:rPr lang="vi-VN"/>
                  <a:t>AB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trung điểm </a:t>
                </a:r>
                <a:r>
                  <a:rPr lang="vi-VN"/>
                  <a:t>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với điểm </a:t>
                </a:r>
                <a:r>
                  <a:rPr lang="vi-VN"/>
                  <a:t>O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tuỳ ý, ta có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\overrightarrow{OI}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76856"/>
            <a:ext cx="1106424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13432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(Ví dụ 3a, Bài 8). Do đó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OI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+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OI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OI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13432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\overrightarrow{IA}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\overrightarrow{IB}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(Ví dụ 3a, Bài 8). Do đó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(</a:t>
                </a:r>
                <a:r>
                  <a:rPr lang="vi-VN"/>
                  <a:t>\overrightarrow{OI}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\overrightarrow{IA}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+ (</a:t>
                </a:r>
                <a:r>
                  <a:rPr lang="vi-VN"/>
                  <a:t>\overrightarrow{OI}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\overrightarrow{IB}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\overrightarrow{OI}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273551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trọng tâm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với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tuỳ ý,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OG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273551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:r>
                  <a:rPr lang="vi-VN"/>
                  <a:t>ABC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có trọng tâm </a:t>
                </a:r>
                <a:r>
                  <a:rPr lang="vi-VN"/>
                  <a:t>G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Chứng minh rằng với điểm </a:t>
                </a:r>
                <a:r>
                  <a:rPr lang="vi-VN"/>
                  <a:t>O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tuỳ ý, ta có 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178807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215383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OG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OG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215383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\overrightarrow{OA}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(</a:t>
                </a:r>
                <a:r>
                  <a:rPr lang="vi-VN"/>
                  <a:t>\overrightarrow{GA}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\overrightarrow{GB}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\overrightarrow{GC}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855463"/>
            <a:ext cx="11064240" cy="90525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892039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GC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892039"/>
                <a:ext cx="1073505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Nhận xét.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:r>
                  <a:rPr lang="vi-VN"/>
                  <a:t>AB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\overrightarrow{IA}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\overrightarrow{IB}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G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là trọng tâm tam giác </a:t>
                </a:r>
                <a:r>
                  <a:rPr lang="vi-VN"/>
                  <a:t>ABC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\overrightarrow{GA}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\overrightarrow{GB}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\overrightarrow{GC}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3 – PHÂN TÍCH VECTƠ (SGK TR.57)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Trong Hình 4.27, hãy biểu thị mỗi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tức là tìm các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z,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=t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+z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Trong Hình 4.27, hãy biểu thị mỗi vectơ </a:t>
                </a:r>
                <a:r>
                  <a:rPr lang="vi-VN"/>
                  <a:t>\vec{u},\ \vec{v}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:r>
                  <a:rPr lang="vi-VN"/>
                  <a:t>\vec{a},\ 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tức là tìm các số </a:t>
                </a:r>
                <a:r>
                  <a:rPr lang="vi-VN"/>
                  <a:t>x,\ y,\ z,\ t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\vec{u}=x\vec{a}+y\vec{b}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\vec{v}=t\vec{a}+z\vec{b}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615184"/>
            <a:ext cx="78638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51760"/>
                <a:ext cx="75346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t=−2,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z=3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51760"/>
                <a:ext cx="75346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\vec{u}=\vec{a}+2\vec{b}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x=1,\ y=2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lang="vi-VN"/>
                  <a:t>\vec{v}=-2\vec{a}+3\vec{b}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t=-2,\ z=3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310128"/>
            <a:ext cx="7863840" cy="154533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46704"/>
                <a:ext cx="7534656" cy="14721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hai vectơ không cùng phương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(H.4.28). Khi đó, mọi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đều biểu thị (phân tích) được một cách duy nhất theo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nghĩa là có duy nhất cặp số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+y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46704"/>
                <a:ext cx="7534656" cy="14721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hai vectơ không cùng phương </a:t>
                </a:r>
                <a:r>
                  <a:rPr lang="vi-VN"/>
                  <a:t>\vec{a},\ 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(H.4.28). Khi đó, mọi vectơ </a:t>
                </a:r>
                <a:r>
                  <a:rPr lang="vi-VN"/>
                  <a:t>\vec{u}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đều biểu thị (phân tích) được một cách duy nhất theo hai vectơ </a:t>
                </a:r>
                <a:r>
                  <a:rPr lang="vi-VN"/>
                  <a:t>\vec{a},\ 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nghĩa là có duy nhất cặp số </a:t>
                </a:r>
                <a:r>
                  <a:rPr lang="vi-VN"/>
                  <a:t>(x;\ y)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\vec{u}=x\vec{a}+y\vec{b}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h4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90" y="1463040"/>
            <a:ext cx="308610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95360" y="36758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4.27</a:t>
            </a:r>
          </a:p>
        </p:txBody>
      </p:sp>
      <p:pic>
        <p:nvPicPr>
          <p:cNvPr id="14" name="Picture 13" descr="h4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105" y="4023360"/>
            <a:ext cx="189747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ĐIỂM KHỐI TÂM (SGK TR.58)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Hãy xác định điểm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75285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:r>
                  <a:rPr lang="vi-VN"/>
                  <a:t>ABC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Hãy xác định điểm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\overrightarrow{MA}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88464"/>
            <a:ext cx="78638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25040"/>
                <a:ext cx="75346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25040"/>
                <a:ext cx="75346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⇔ </a:t>
                </a:r>
                <a:r>
                  <a:rPr lang="vi-VN"/>
                  <a:t>\overrightarrow{MA}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(</a:t>
                </a:r>
                <a:r>
                  <a:rPr lang="vi-VN"/>
                  <a:t>\overrightarrow{MA}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 + </a:t>
                </a:r>
                <a:r>
                  <a:rPr lang="vi-VN"/>
                  <a:t>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(</a:t>
                </a:r>
                <a:r>
                  <a:rPr lang="vi-VN"/>
                  <a:t>\overrightarrow{MA}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\vec{0}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6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\overrightarrow{MA}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096768"/>
            <a:ext cx="7863840" cy="81534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133344"/>
                <a:ext cx="7534656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133344"/>
                <a:ext cx="7534656" cy="74218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⇔ </a:t>
                </a:r>
                <a:r>
                  <a:rPr lang="vi-VN"/>
                  <a:t>\overrightarrow{AM}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\frac{1}{2}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\frac{1}{3}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\overrightarrow{AC}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3976116"/>
            <a:ext cx="7863840" cy="126415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012692"/>
                <a:ext cx="7534656" cy="119100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Lấy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thuộc cạnh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AF=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AE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AF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đỉnh thứ tư của hình bình hành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EAFM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012692"/>
                <a:ext cx="7534656" cy="119100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Lấy </a:t>
                </a:r>
                <a:r>
                  <a:rPr lang="vi-VN"/>
                  <a:t>E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:r>
                  <a:rPr lang="vi-VN"/>
                  <a:t>AB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F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thuộc cạnh </a:t>
                </a:r>
                <a:r>
                  <a:rPr lang="vi-VN"/>
                  <a:t>AC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AF=\frac{1}{3}AC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\overrightarrow{AM}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\overrightarrow{AE}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\overrightarrow{AF}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đỉnh thứ tư của hình bình hành </a:t>
                </a:r>
                <a:r>
                  <a:rPr lang="vi-VN"/>
                  <a:t>EAFM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4" name="s4_nen"/>
          <p:cNvSpPr/>
          <p:nvPr/>
        </p:nvSpPr>
        <p:spPr>
          <a:xfrm>
            <a:off x="548640" y="5304282"/>
            <a:ext cx="78638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4_chu"/>
              <p:cNvSpPr txBox="1"/>
              <p:nvPr/>
            </p:nvSpPr>
            <p:spPr>
              <a:xfrm>
                <a:off x="713232" y="5340858"/>
                <a:ext cx="75346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Điểm khối tâm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hệ chất điểm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khối lượng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sSub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acc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713232" y="5340858"/>
                <a:ext cx="75346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Điểm khối tâm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hệ chất điểm </a:t>
                </a:r>
                <a:r>
                  <a:rPr lang="vi-VN"/>
                  <a:t>A_1,\ldots,A_n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khối lượng </a:t>
                </a:r>
                <a:r>
                  <a:rPr lang="vi-VN"/>
                  <a:t>m_1,\ldots,m_n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m_1\overrightarrow{MA_1}+m_2\overrightarrow{MA_2}+\cdots+m_n\overrightarrow{MA_n}=\vec{0}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6" name="Picture 15" descr="h4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90169"/>
            <a:ext cx="3108960" cy="17403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5360" y="3675887"/>
            <a:ext cx="31089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4.29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ĐIỂM KHỐI TÂM THANH ĐÒN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Hai vật khối lượng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đặt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(kéo thanh trượt).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thoả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vị trí đặt trụ đỡ.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Vật nào nặng hơn thì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gần vật đó hơn – giống đòn gánh cà phê.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Hai vật khối lượng </a:t>
                </a:r>
                <a:r>
                  <a:rPr lang="vi-VN"/>
                  <a:t>m_1,\ m_2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đặt tại </a:t>
                </a:r>
                <a:r>
                  <a:rPr lang="vi-VN"/>
                  <a:t>A,\ 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(kéo thanh trượt).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thoả </a:t>
                </a:r>
                <a:r>
                  <a:rPr lang="vi-VN"/>
                  <a:t>m_1\overrightarrow{MA}+m_2\overrightarrow{MB}=\vec{0}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– vị trí đặt trụ đỡ.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Vật nào nặng hơn thì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gần vật đó hơn – giống đòn gánh cà phê.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h4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906622"/>
            <a:ext cx="4846320" cy="15933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AI NHANH HƠN?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Mỗi câu 20 giây, ghi đáp số lên bảng con; giơ bảng trước, đúng được điểm.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hai điểm phân biệt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A,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|\vec{a}|=2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hai điểm phân biệt </a:t>
                </a:r>
                <a:r>
                  <a:rPr lang="vi-VN"/>
                  <a:t>A,\ 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|−3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|-3\vec{a}|=\ ?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7223760" y="2423160"/>
            <a:ext cx="21945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7388352" y="245973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388352" y="245973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6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=k(−4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Số </a:t>
                </a:r>
                <a:r>
                  <a:rPr lang="vi-VN"/>
                  <a:t>k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2\vec{a}=k(-4\vec{a})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7223760" y="3371850"/>
            <a:ext cx="21945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2_chu"/>
              <p:cNvSpPr txBox="1"/>
              <p:nvPr/>
            </p:nvSpPr>
            <p:spPr>
              <a:xfrm>
                <a:off x="7388352" y="340842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388352" y="340842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k=-\frac{1}{2}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trung điểm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IB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trung điểm </a:t>
                </a:r>
                <a:r>
                  <a:rPr lang="vi-VN"/>
                  <a:t>AB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\overrightarrow{AB}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? </a:t>
                </a:r>
                <a:r>
                  <a:rPr lang="vi-VN"/>
                  <a:t>\overrightarrow{IB}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7223760" y="4320540"/>
            <a:ext cx="21945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3_chu"/>
              <p:cNvSpPr txBox="1"/>
              <p:nvPr/>
            </p:nvSpPr>
            <p:spPr>
              <a:xfrm>
                <a:off x="7388352" y="435711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388352" y="435711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thoả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AK</m:t>
                        </m:r>
                      </m:e>
                    </m:acc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?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658368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K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thoả </a:t>
                </a:r>
                <a:r>
                  <a:rPr lang="vi-VN"/>
                  <a:t>\overrightarrow{KA}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\overrightarrow{KB}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\overrightarrow{AK}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? </a:t>
                </a:r>
                <a:r>
                  <a:rPr lang="vi-VN"/>
                  <a:t>\overrightarrow{AB}</a:t>
                </a:r>
              </a:p>
            </p:txBody>
          </p:sp>
        </mc:Fallback>
      </mc:AlternateContent>
      <p:sp>
        <p:nvSpPr>
          <p:cNvPr id="19" name="s4_nen"/>
          <p:cNvSpPr/>
          <p:nvPr/>
        </p:nvSpPr>
        <p:spPr>
          <a:xfrm>
            <a:off x="7223760" y="5269230"/>
            <a:ext cx="219456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4_chu"/>
              <p:cNvSpPr txBox="1"/>
              <p:nvPr/>
            </p:nvSpPr>
            <p:spPr>
              <a:xfrm>
                <a:off x="7388352" y="530580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7388352" y="5305806"/>
                <a:ext cx="186537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\frac{2}{3}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4.11 – 4.12 (SGK TR.58)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hình bình hành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trung điểm của cạnh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BC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Hãy biểu thị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hình bình hành </a:t>
                </a:r>
                <a:r>
                  <a:rPr lang="vi-VN"/>
                  <a:t>ABCD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trung điểm của cạnh </a:t>
                </a:r>
                <a:r>
                  <a:rPr lang="vi-VN"/>
                  <a:t>BC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Hãy biểu thị </a:t>
                </a:r>
                <a:r>
                  <a:rPr lang="vi-VN"/>
                  <a:t>\overrightarrow{AM}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theo hai vectơ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18944"/>
            <a:ext cx="11064240" cy="7071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55520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55520"/>
                <a:ext cx="107350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\frac{1}{2}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299008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tứ giác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tương ứng là trung điểm của các cạnh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CD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Chứng minh rằng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299008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tứ giác </a:t>
                </a:r>
                <a:r>
                  <a:rPr lang="vi-VN"/>
                  <a:t>ABCD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Gọi </a:t>
                </a:r>
                <a:r>
                  <a:rPr lang="vi-VN"/>
                  <a:t>M,\ N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tương ứng là trung điểm của các cạnh </a:t>
                </a:r>
                <a:r>
                  <a:rPr lang="vi-VN"/>
                  <a:t>AB,\ CD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Chứng minh rằng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\overrightarrow{AC}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837431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874007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CN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DN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cộng lại: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MN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Lại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 +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AD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874007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\overrightarrow{MB}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\overrightarrow{CN}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\overrightarrow{MA}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\overrightarrow{DN}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cộng lại: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\overrightarrow{MN}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Lại có </a:t>
                </a:r>
                <a:r>
                  <a:rPr lang="vi-VN"/>
                  <a:t>\overrightarrow{AC}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(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\overrightarrow{DC}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 + (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\overrightarrow{CD}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\overrightarrow{AD}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\overrightarrow{BC}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4.13 – 4.14 (SGK TR.58)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hai điểm phân biệt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Hãy xác định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minh rằng với mọi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OK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hai điểm phân biệt </a:t>
                </a:r>
                <a:r>
                  <a:rPr lang="vi-VN"/>
                  <a:t>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Hãy xác định điểm </a:t>
                </a:r>
                <a:r>
                  <a:rPr lang="vi-VN"/>
                  <a:t>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\overrightarrow{KA}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\overrightarrow{KB}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minh rằng với mọi điểm </a:t>
                </a:r>
                <a:r>
                  <a:rPr lang="vi-VN"/>
                  <a:t>O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ta có </a:t>
                </a:r>
                <a:r>
                  <a:rPr lang="vi-VN"/>
                  <a:t>\overrightarrow{OK}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\frac{1}{3}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\frac{2}{3}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93264"/>
            <a:ext cx="110642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29840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⇔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AK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đoạn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AK=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OK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−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29840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\overrightarrow{KA}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(</a:t>
                </a:r>
                <a:r>
                  <a:rPr lang="vi-VN"/>
                  <a:t>\overrightarrow{KA}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⇔ </a:t>
                </a:r>
                <a:r>
                  <a:rPr lang="vi-VN"/>
                  <a:t>\overrightarrow{AK}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\frac{2}{3}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\overrightarrow{AB}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K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thuộc đoạn </a:t>
                </a:r>
                <a:r>
                  <a:rPr lang="vi-VN"/>
                  <a:t>AB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AK=\frac{2}{3}AB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\overrightarrow{OK}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\frac{2}{3}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(</a:t>
                </a:r>
                <a:r>
                  <a:rPr lang="vi-VN"/>
                  <a:t>\overrightarrow{OB}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−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\frac{1}{3}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\frac{2}{3}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84352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ABC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Hãy xác định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minh rằng với mọi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ta có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84352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Cho tam giác </a:t>
                </a:r>
                <a:r>
                  <a:rPr lang="vi-VN"/>
                  <a:t>ABC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a) Hãy xác định điểm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\overrightarrow{MA}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\overrightarrow{MB}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Chứng minh rằng với mọi điểm </a:t>
                </a:r>
                <a:r>
                  <a:rPr lang="vi-VN"/>
                  <a:t>O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ta có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690872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72744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Với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trung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⇒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IC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MB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MC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OM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72744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Với </a:t>
                </a:r>
                <a:r>
                  <a:rPr lang="vi-VN"/>
                  <a:t>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trung điểm </a:t>
                </a:r>
                <a:r>
                  <a:rPr lang="vi-VN"/>
                  <a:t>AB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\overrightarrow{MI}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⇒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trung điểm </a:t>
                </a:r>
                <a:r>
                  <a:rPr lang="vi-VN"/>
                  <a:t>IC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\overrightarrow{OA}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\overrightarrow{OB}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= </a:t>
                </a:r>
                <a:r>
                  <a:rPr lang="vi-VN"/>
                  <a:t>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(</a:t>
                </a:r>
                <a:r>
                  <a:rPr lang="vi-VN"/>
                  <a:t>\overrightarrow{MA}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\overrightarrow{MB}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+ </a:t>
                </a:r>
                <a:r>
                  <a:rPr lang="vi-VN"/>
                  <a:t>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\overrightarrow{MC}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 = </a:t>
                </a:r>
                <a:r>
                  <a:rPr lang="vi-VN"/>
                  <a:t>4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\overrightarrow{OM}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4.15 (SGK TR.59)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13816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Chất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chịu tác động của ba 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như Hình 4.30 và ở trạng thái cân bằng (tức là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). Tính độ lớn của các 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biết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độ lớn là 20 N.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138160" cy="10881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4.15.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Chất điểm </a:t>
                </a:r>
                <a:r>
                  <a:rPr lang="vi-VN"/>
                  <a:t>A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chịu tác động của ba lực </a:t>
                </a:r>
                <a:r>
                  <a:rPr lang="vi-VN"/>
                  <a:t>\vec{F_1},\ \vec{F_2},\ \vec{F_3}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như Hình 4.30 và ở trạng thái cân bằng (tức là </a:t>
                </a:r>
                <a:r>
                  <a:rPr lang="vi-VN"/>
                  <a:t>\vec{F_1}+\vec{F_2}+\vec{F_3}=\vec{0}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). Tính độ lớn của các lực </a:t>
                </a:r>
                <a:r>
                  <a:rPr lang="vi-VN"/>
                  <a:t>\vec{F_2},\ \vec{F_3}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biết </a:t>
                </a:r>
                <a:r>
                  <a:rPr lang="vi-VN"/>
                  <a:t>\vec{F_1}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độ lớn là 20 N.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23744"/>
            <a:ext cx="813816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60320"/>
                <a:ext cx="780897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=−(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góc giữa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60320"/>
                <a:ext cx="780897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\vec{F_3}=-(\vec{F_1}+\vec{F_2})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\vec{F_1}\perp\vec{F_2}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góc giữa </a:t>
                </a:r>
                <a:r>
                  <a:rPr lang="vi-VN"/>
                  <a:t>\vec{F_3}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\vec{F_2}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là </a:t>
                </a:r>
                <a:r>
                  <a:rPr lang="vi-VN"/>
                  <a:t>120^\circ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157728"/>
            <a:ext cx="813816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194304"/>
                <a:ext cx="780897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|=|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≈11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</m:accPr>
                      <m:e>
                        <m:sSub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|=</m:t>
                    </m:r>
                    <m:f>
                      <m:fPr>
                        <m:type m:val="bar"/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</m:dPr>
                          <m:e>
                            <m:acc>
                              <m:accPr>
                                <m:chr m:val="⃗"/>
                              </m:accPr>
                              <m:e>
                                <m:sSub>
                                  <m:e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F</m:t>
                                    </m:r>
                                  </m:e>
                                  <m:sub>
                                    <m:r>
                                      <a:rPr lang="vi-VN" sz="2000" b="0">
                                        <a:solidFill>
                                          <a:srgbClr val="1E293B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≈23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09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N.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194304"/>
                <a:ext cx="780897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|\vec{F_2}|=|\vec{F_1}|\tan 30^\circ=\frac{20\sqrt{3}}{3}\approx 11{,}55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N; </a:t>
                </a:r>
                <a:r>
                  <a:rPr lang="vi-VN"/>
                  <a:t>|\vec{F_3}|=\frac{|\vec{F_1}|}{\cos 30^\circ}=\frac{40\sqrt{3}}{3}\approx 23{,}09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N.</a:t>
                </a:r>
              </a:p>
            </p:txBody>
          </p:sp>
        </mc:Fallback>
      </mc:AlternateContent>
      <p:pic>
        <p:nvPicPr>
          <p:cNvPr id="12" name="Picture 11" descr="h4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054" y="1371600"/>
            <a:ext cx="1119892" cy="2103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EM CÓ BIẾT? – THUYỀN BUỒM ĐI NGƯỢC GIÓ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766560" cy="41148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Mặc dù dựa vào lực đẩy của gió, bằng cách đi theo đường dích dắc, thuyền buồm vẫn có thể di chuyển tới một vị trí ở ngược hướng gió so với vị trí xuất phát.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của gió được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phân tích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thành 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với cánh buồm và 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vuông góc với cánh buồm;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lại phân tích thành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(dọc sống thuyền) và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(vuông góc sống thuyền). Lực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đẩy thuyền đi.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766560" cy="411480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Mặc dù dựa vào lực đẩy của gió, bằng cách đi theo đường dích dắc, thuyền buồm vẫn có thể di chuyển tới một vị trí ở ngược hướng gió so với vị trí xuất phát.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Lực </a:t>
                </a:r>
                <a:r>
                  <a:rPr lang="vi-VN"/>
                  <a:t>\vec{F}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của gió được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phân tích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thành lực </a:t>
                </a:r>
                <a:r>
                  <a:rPr lang="vi-VN"/>
                  <a:t>\vec{p}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cùng phương với cánh buồm và lực </a:t>
                </a:r>
                <a:r>
                  <a:rPr lang="vi-VN"/>
                  <a:t>\vec{q}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vuông góc với cánh buồm; </a:t>
                </a:r>
                <a:r>
                  <a:rPr lang="vi-VN"/>
                  <a:t>\vec{q}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lại phân tích thành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(dọc sống thuyền) và </a:t>
                </a:r>
                <a:r>
                  <a:rPr lang="vi-VN"/>
                  <a:t>\vec{b}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(vuông góc sống thuyền). Lực </a:t>
                </a:r>
                <a:r>
                  <a:rPr lang="vi-VN"/>
                  <a:t>\vec{a}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đẩy thuyền đi.</a:t>
                </a:r>
              </a:p>
            </p:txBody>
          </p:sp>
        </mc:Fallback>
      </mc:AlternateContent>
      <p:pic>
        <p:nvPicPr>
          <p:cNvPr id="8" name="Picture 7" descr="thuyenbu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907169"/>
            <a:ext cx="4206240" cy="331798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https://trangtu66.github.io/Taode_thi_online/cc_bai9_t10.html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4.11 – 4.15.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10. Vectơ trong mặt phẳng toạ độ</a:t>
            </a:r>
            <a:r>
              <a:rPr sz="2200">
                <a:solidFill>
                  <a:srgbClr val="1E293B"/>
                </a:solidFill>
                <a:latin typeface="Calibri"/>
              </a:rPr>
              <a:t> (SGK tr.60).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Đo khoảng cách từ vai đến hai đầu đòn gánh khi gánh hai sọt cà phê khác nhau; giải thích bằng điểm khối tâm.</a:t>
            </a:r>
          </a:p>
        </p:txBody>
      </p:sp>
      <p:pic>
        <p:nvPicPr>
          <p:cNvPr id="8" name="Picture 7" descr="QR_CungCo_Bai9_Toan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26</a:t>
            </a:r>
          </a:p>
        </p:txBody>
      </p:sp>
      <p:pic>
        <p:nvPicPr>
          <p:cNvPr id="7" name="Picture 6" descr="SoDoTuDuy_TOAN10_Bai9_TichVectoVoiMotSo_T30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k&lt;0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(ra độ dài âm) – đúng là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</m:acc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Biến đổi dấu sai khi chuyển vế: từ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viết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AB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Luyện tập 1b: quên điều kiện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thuộc tia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AB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3: biểu thị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nhưng quên đổi chiều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acc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AM</m:t>
                        </m:r>
                      </m:e>
                    </m:acc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</a:t>
                </a:r>
                <a:r>
                  <a:rPr lang="vi-VN"/>
                  <a:t>|k\vec{a}|=k|\vec{a}|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k&lt;0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(ra độ dài âm) – đúng là </a:t>
                </a:r>
                <a:r>
                  <a:rPr lang="vi-VN"/>
                  <a:t>|k|\cdot|\vec{a}|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Biến đổi dấu sai khi chuyển vế: từ </a:t>
                </a:r>
                <a:r>
                  <a:rPr lang="vi-VN"/>
                  <a:t>3\overrightarrow{KA}+2\overrightarrow{AB}=\vec{0}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viết </a:t>
                </a:r>
                <a:r>
                  <a:rPr lang="vi-VN"/>
                  <a:t>3\overrightarrow{KA}=2\overrightarrow{AB}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Luyện tập 1b: quên điều kiện </a:t>
                </a:r>
                <a:r>
                  <a:rPr lang="vi-VN"/>
                  <a:t>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thuộc tia </a:t>
                </a:r>
                <a:r>
                  <a:rPr lang="vi-VN"/>
                  <a:t>AB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3: biểu thị </a:t>
                </a:r>
                <a:r>
                  <a:rPr lang="vi-VN"/>
                  <a:t>\overrightarrow{AM}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nhưng quên đổi chiều </a:t>
                </a:r>
                <a:r>
                  <a:rPr lang="vi-VN"/>
                  <a:t>\overrightarrow{MA}=-\overrightarrow{AM}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9. Tích của một vectơ với một số – Toán 10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HS cần hỗ trợ: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dùng giấy kẻ ô vẽ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⃗"/>
                      </m:acc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giao HĐ1, HĐ2, Bài 4.11.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HS khá, giỏi: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Bài 4.13, 4.14, 4.15; tìm điểm khối tâm của 3 vật đặt ở 3 đỉnh tam giác.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10A7 (khiếm thính):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luật chơi, yêu cầu có chữ trên slide; video có phụ đề.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10A4: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trả lời tại chỗ bằng bảng con.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Mất điện/mạng: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KHBD in; mô hình thanh đòn bằng thước kẻ và hai cục tẩy thay GeoGebra.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HS cần hỗ trợ: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dùng giấy kẻ ô vẽ </a:t>
                </a:r>
                <a:r>
                  <a:rPr lang="vi-VN"/>
                  <a:t>2\vec{a}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-\vec{a}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\frac{1}{2}\vec{a}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giao HĐ1, HĐ2, Bài 4.11.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HS khá, giỏi: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Bài 4.13, 4.14, 4.15; tìm điểm khối tâm của 3 vật đặt ở 3 đỉnh tam giác.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10A7 (khiếm thính):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luật chơi, yêu cầu có chữ trên slide; video có phụ đề.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10A4: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trả lời tại chỗ bằng bảng con.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Mất điện/mạng: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KHBD in; mô hình thanh đòn bằng thước kẻ và hai cục tẩy thay GeoGebra.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