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notesMaster" Target="notesMasters/notesMaster1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giỏi – mức 3. GV có thể vẽ sơ đồ hướng đi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giỏi – mức 3. GV có thể vẽ sơ đồ hướng đi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giỏi – mức 3. GV có thể vẽ sơ đồ hướng đi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4 HS, 8 phút. Nộp bảng phụ hoặc Padlet kèm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4 HS, 8 phút. Nộp bảng phụ hoặc Padlet kèm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4 HS, 8 phút. Nộp bảng phụ hoặc Padlet kèm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4 HS, 8 phút. Nộp bảng phụ hoặc Padlet kèm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trangtu66.github.io/Taode_thi_online/cc_chuong3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474720"/>
            <a:ext cx="2286000" cy="36576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22 theo PPCT · Năm học 2026 – 2027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HĐ 1. MỞ ĐẦU – ÔN NHANH CÔNG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(T22) · 5 phút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– CHƯƠNG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593073" y="1931116"/>
            <a:ext cx="1745815" cy="73984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9568" y="1654804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sin²α + cos²α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721851" y="2457917"/>
            <a:ext cx="1617037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0790" y="2282317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sin(180°–α) = sinα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764777" y="2670962"/>
            <a:ext cx="1574111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7864" y="2708407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cos(180°–α) = –cosα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764777" y="2670962"/>
            <a:ext cx="1574111" cy="73984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7864" y="3134497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Bảng 30°, 45°, 60°,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120°, 135°, 150°</a:t>
            </a:r>
          </a:p>
        </p:txBody>
      </p:sp>
      <p:sp>
        <p:nvSpPr>
          <p:cNvPr id="15" name="Oval 14"/>
          <p:cNvSpPr/>
          <p:nvPr/>
        </p:nvSpPr>
        <p:spPr>
          <a:xfrm>
            <a:off x="3363922" y="1922084"/>
            <a:ext cx="1949933" cy="1497756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Góc từ 0°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đến 180° Giá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trị LG đặc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biệt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15646" y="2244872"/>
            <a:ext cx="1659963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75609" y="1968560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a/sinA = b/sinB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c/sinC = 2R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574111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9757" y="2596073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a² = b²+c²–2bc·cosA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15646" y="2670962"/>
            <a:ext cx="1402407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18053" y="3022163"/>
            <a:ext cx="2260321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cosA = (b²+c²–a²)/(2bc)</a:t>
            </a:r>
          </a:p>
        </p:txBody>
      </p:sp>
      <p:sp>
        <p:nvSpPr>
          <p:cNvPr id="23" name="Oval 22"/>
          <p:cNvSpPr/>
          <p:nvPr/>
        </p:nvSpPr>
        <p:spPr>
          <a:xfrm>
            <a:off x="6810021" y="2259078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Định lí Sin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&amp; Cosin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464295" y="4510374"/>
            <a:ext cx="1874593" cy="72822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48346" y="4334774"/>
            <a:ext cx="1315949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 = ½bc·sinA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2593073" y="5037175"/>
            <a:ext cx="1745815" cy="20142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9568" y="4760864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 = a/(2sinA) 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ngoại tiếp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678925" y="5238597"/>
            <a:ext cx="165996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33716" y="5388376"/>
            <a:ext cx="1745209" cy="754044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 = S/p; 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= (a+b+c)/2 – nội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tiếp</a:t>
            </a:r>
          </a:p>
        </p:txBody>
      </p:sp>
      <p:sp>
        <p:nvSpPr>
          <p:cNvPr id="31" name="Oval 30"/>
          <p:cNvSpPr/>
          <p:nvPr/>
        </p:nvSpPr>
        <p:spPr>
          <a:xfrm>
            <a:off x="3433264" y="4826713"/>
            <a:ext cx="1811249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Diện tích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R, 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15646" y="4924841"/>
            <a:ext cx="1702889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18535" y="4547819"/>
            <a:ext cx="1659357" cy="754044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Tính S, R, r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khi biết 2 cạnh,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 góc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5646" y="5238597"/>
            <a:ext cx="1531185" cy="41446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246831" y="5376753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Đo đạc thực tế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(Bài 3.18, 3.19 SGK)</a:t>
            </a:r>
          </a:p>
        </p:txBody>
      </p:sp>
      <p:sp>
        <p:nvSpPr>
          <p:cNvPr id="37" name="Oval 36"/>
          <p:cNvSpPr/>
          <p:nvPr/>
        </p:nvSpPr>
        <p:spPr>
          <a:xfrm>
            <a:off x="6601995" y="4826713"/>
            <a:ext cx="222730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tập ứng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dụng thực tiễn</a:t>
            </a:r>
          </a:p>
        </p:txBody>
      </p:sp>
      <p:sp>
        <p:nvSpPr>
          <p:cNvPr id="38" name="Oval 37"/>
          <p:cNvSpPr/>
          <p:nvPr/>
        </p:nvSpPr>
        <p:spPr>
          <a:xfrm>
            <a:off x="4784178" y="3484793"/>
            <a:ext cx="248617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HỆ THỨC LƯỢNG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TRONG TAM GIÁC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NHANH: ÔN CÔNG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5298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Đã biết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nửa chu vi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tính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bằng công thức nào?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Đã biết 3 cạnh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a,b,c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dùng định lí nào để tính góc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Gợi ý: dùng GTLG góc đặc biệt và các hệ thức đã học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5298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135^\circ = 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120^\circ = 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Đã biết </a:t>
                </a:r>
                <a:r>
                  <a:rPr lang="vi-VN"/>
                  <a:t>S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nửa chu vi </a:t>
                </a:r>
                <a:r>
                  <a:rPr lang="vi-VN"/>
                  <a:t>p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tính </a:t>
                </a:r>
                <a:r>
                  <a:rPr lang="vi-VN"/>
                  <a:t>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bằng công thức nào?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Đã biết 3 cạnh </a:t>
                </a:r>
                <a:r>
                  <a:rPr lang="vi-VN"/>
                  <a:t>a, b, 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dùng định lí nào để tính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Gợi ý: dùng GTLG góc đặc biệt và các hệ thức đã học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NHANH: ÔN CÔNG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91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(bán kính đường tròn nội tiếp)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91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135^\circ = \sin(180^\circ - 45^\circ) = \dfrac{\sqrt{2}}{2}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120^\circ = -\cos 60^\circ = -\dfrac{1}{2}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r = \dfrac{S}{p}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(bán kính đường tròn nội tiếp)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NHANH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Định lí cosin: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2bc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Định lí cosin: </a:t>
                </a:r>
                <a:r>
                  <a:rPr lang="vi-VN"/>
                  <a:t>\cos A = \dfrac{b^2 + c^2 - a^2}{2bc}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167830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167830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định lí cosin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167830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\sin 135^\circ = \dfrac{\sqrt{2}}{2}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\cos 120^\circ = -\dfrac{1}{2}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r = \dfrac{S}{p}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định lí cosin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HĐ 2. LUYỆN TẬP – PHIẾU PHÂN HÓA 3 MỨC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25 phút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3.12: MỨC 1 – TRẮC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3995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=135°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Tìm khẳng định đúng: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3995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B_^=135°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Tìm khẳng định đúng: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A. </a:t>
                </a:r>
                <a:r>
                  <a:rPr lang="vi-VN"/>
                  <a:t>S=1/2ca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S=−(√(2))/4ac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S=(√(2))/4bc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S=(√(2))/4ca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A. </a:t>
                </a:r>
                <a:r>
                  <a:rPr lang="vi-VN"/>
                  <a:t>R=a/sinA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R=(√(2))/2b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R=(√(2))/2c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R=(√(2))/2a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3.12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−2ca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135°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từ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B=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áp dụng công thức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và định lí cosin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A. </a:t>
                </a:r>
                <a:r>
                  <a:rPr lang="vi-VN"/>
                  <a:t>a^2=b^2+c^2+√(2)ab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b/sinA=a/sinB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sinB=−(√(2))/2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b^2=c^2+a^2−2cacos135°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\sin B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\cos B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từ </a:t>
                </a:r>
                <a:r>
                  <a:rPr lang="vi-VN"/>
                  <a:t>B = 135^\circ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áp dụng công thức </a:t>
                </a:r>
                <a:r>
                  <a:rPr lang="vi-VN"/>
                  <a:t>S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R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và định lí cosin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3.12: MỨC 1 – TRẮC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094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D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135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−2ac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D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094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S = \dfrac{1}{2}ac \sin 135^\circ = \dfrac{\sqrt{2}}{4}ac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D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R = \dfrac{b}{2\sin 135^\circ} = \dfrac{b}{\sqrt{2}} = \dfrac{\sqrt{2}}{2}b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b^2 = a^2 + c^2 - 2ac\cos 135^\circ = a^2 + c^2 + \sqrt{2}\,ac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D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4009644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09644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D; b) B; c) 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3.13: MỨC 1 – TRẮC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7371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Tìm khẳng định đúng: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abc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4r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2S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a+b+c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+2bc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S=r(a+b+c)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A&gt;0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A≤0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Nhớ: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2S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a+b+c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−(B+C)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7371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Tìm khẳng định đúng: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A. </a:t>
                </a:r>
                <a:r>
                  <a:rPr lang="vi-VN"/>
                  <a:t>S=abc/4r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r=2S/(a+b+c)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a^2=b^2+c^2+2bccosA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S=r(a+b+c)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A. </a:t>
                </a:r>
                <a:r>
                  <a:rPr lang="vi-VN"/>
                  <a:t>sinA=sin(B+C)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cosA=cos(B+C)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cosA&gt;0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sinA≤0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Nhớ: </a:t>
                </a:r>
                <a:r>
                  <a:rPr lang="vi-VN"/>
                  <a:t>r = \dfrac{S}{p} = \dfrac{2S}{a+b+c}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A = 180^\circ - (B+C)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3.13: MỨC 1 – TRẮC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468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(a+b+c)/2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2S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a+b+c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−(B+C)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A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468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r = \dfrac{S}{p} = \dfrac{S}{(a+b+c)/2} = \dfrac{2S}{a+b+c}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A = 180^\circ - (B+C)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\sin A = \sin(B+C)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A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147060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47060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B; b)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3.14: TÍNH $M$, $N$, $P$, $Q$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5524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45°·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45°+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60°·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30°+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45°·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5524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M=sin45°·cos45°+sin30°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N=sin60°·cos30°+1/2sin45°·cos45°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P=1+tan^260°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3.14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rgPr>
                          <m:scrLvl m:val="0"/>
                        </m:argPr>
                        <m:sSup>
                          <m:e>
                            <m:argPr>
                              <m:scrLvl m:val="0"/>
                            </m:argPr>
                            <m:r>
                              <m:rPr>
                                <m:sty m:val="p"/>
                              </m:rP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120°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Thay: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Q=1/(sin^2120°)−cot^2120°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Thay: </a:t>
                </a:r>
                <a:r>
                  <a:rPr lang="vi-VN"/>
                  <a:t>\sin 45^\circ = \cos 45^\circ = \dfrac{\sqrt{2}}{2}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\sin 60^\circ = \dfrac{\sqrt{3}}{2}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\tan 60^\circ = \sqrt{3}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3.14: TÍNH $M$, $N$, $P$, $Q$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3995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=1+3=4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3995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M = \dfrac{\sqrt{2}}{2} \cdot \dfrac{\sqrt{2}}{2} + \dfrac{1}{2} = \dfrac{1}{2} + \dfrac{1}{2} = 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N = \dfrac{3}{4} + \dfrac{1}{2} \cdot \dfrac{1}{2} = \dfrac{3}{4} + \dfrac{1}{4} = 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P = 1 + \tan^2 60^\circ = 1 + 3 = 4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3.14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Q = \dfrac{1}{\sin^2 120^\circ} - \cot^2 120^\circ = \dfrac{4}{3} - \dfrac{1}{3} = 1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563495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563495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N=1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P=4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Q=1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563495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 = 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N = 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P = 4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Q = 1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3.15: TÍNH $A$, $R$, $S$, $R$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=60°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=45°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AC=10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Suy ra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từ tổng ba góc; dùng định lí sin tính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B_^=60°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C_^=45°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AC=10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Suy ra </a:t>
                </a:r>
                <a:r>
                  <a:rPr lang="vi-VN"/>
                  <a:t>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từ tổng ba góc; dùng định lí sin tính </a:t>
                </a:r>
                <a:r>
                  <a:rPr lang="vi-VN"/>
                  <a:t>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c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S = \dfrac{1}{2}bc\sin 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r = \dfrac{S}{p}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3.15: TÍNH $A$, $R$, $S$, $R$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5(3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 = 180^\circ - 60^\circ - 45^\circ = 75^\circ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 = \dfrac{b\sin A}{\sin B} = \dfrac{10\sin 75^\circ}{\sin 60^\circ} = \dfrac{5(3\sqrt{2}+\sqrt{6})}{3} \approx 11{,}15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3.15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996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≈8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≈5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996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c = \dfrac{10\sin 45^\circ}{\sin 60^\circ} = \dfrac{10\sqrt{6}}{3} \approx 8{,}17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R = \dfrac{b}{2\sin B} = \dfrac{10\sqrt{3}}{3} \approx 5{,}77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3.15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9961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·10·8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≈39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p≈14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r≈2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9961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 = \dfrac{1}{2}\cdot 10 \cdot 8{,}17 \cdot \sin 75^\circ \approx 39{,}43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p \approx 14{,}66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r \approx 2{,}69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599817"/>
            <a:ext cx="96012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599817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a≈11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R≈5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S≈39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r≈2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599817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A = 75^\circ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a \approx 11{,}15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R \approx 5{,}77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S \approx 39{,}43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r \approx 2{,}69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3.16C: ĐƯỜNG TRUNG TUYẾN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707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trung tuyến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AM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Chứng minh: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Chứng minh: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−B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Áp dụng định lí cosin trong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△ABM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△ACM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dùng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MB=MC=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AMC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limUp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AMB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707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trung tuyến </a:t>
                </a:r>
                <a:r>
                  <a:rPr lang="vi-VN"/>
                  <a:t>AM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Chứng minh: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Chứng minh: </a:t>
                </a:r>
                <a:r>
                  <a:rPr lang="vi-VN"/>
                  <a:t>MA^2 = \dfrac{2AB^2 + 2AC^2 - BC^2}{4}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Áp dụng định lí cosin trong </a:t>
                </a:r>
                <a:r>
                  <a:rPr lang="vi-VN"/>
                  <a:t>\triangle ABM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\triangle ACM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dùng </a:t>
                </a:r>
                <a:r>
                  <a:rPr lang="vi-VN"/>
                  <a:t>MB = MC = \dfrac{a}{2}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\widehat{AMC} = 180^\circ - \widehat{AMB}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3.16C: ĐƯỜNG TRUNG TUYẾN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186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△ABM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−2MA·MB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AMB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△ACM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−2MA·MC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AMC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MB=MC=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AMC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AMB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Cộng hai hệ thức: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+A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186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</a:t>
                </a:r>
                <a:r>
                  <a:rPr lang="vi-VN"/>
                  <a:t>\triangle ABM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AB^2 = MA^2 + MB^2 - 2 MA\cdot MB\cos\widehat{AMB}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</a:t>
                </a:r>
                <a:r>
                  <a:rPr lang="vi-VN"/>
                  <a:t>\triangle ACM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AC^2 = MA^2 + MC^2 - 2 MA\cdot MC\cos\widehat{AMC}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MB = MC = \dfrac{a}{2}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\cos\widehat{AMC} = -\cos\widehat{AMB}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Cộng hai hệ thức: </a:t>
                </a:r>
                <a:r>
                  <a:rPr lang="vi-VN"/>
                  <a:t>AB^2 + AC^2 = 2MA^2 + \dfrac{a^2}{2}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3.16C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Suy ra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+2A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−B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Suy ra </a:t>
                </a:r>
                <a:r>
                  <a:rPr lang="vi-VN"/>
                  <a:t>MA^2 = \dfrac{2AB^2 + 2AC^2 - BC^2}{4}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8820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8820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  <m:sSup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+2A</m:t>
                        </m:r>
                        <m:sSup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−B</m:t>
                        </m:r>
                        <m:sSup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8820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MA^2 = \dfrac{2AB^2 + 2AC^2 - BC^2}{4}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3.17: QUAN HỆ GÓC VÀ CẠNH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926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Chứng minh: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Góc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nhọn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Góc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tù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Góc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vuông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Xuất phát từ định lí cosin: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−2bc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dấu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926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Chứng minh: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nhọn </a:t>
                </a:r>
                <a:r>
                  <a:rPr lang="vi-VN"/>
                  <a:t>⇒b^2+c^2&gt;a^2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tù </a:t>
                </a:r>
                <a:r>
                  <a:rPr lang="vi-VN"/>
                  <a:t>⇒b^2+c^2&lt;a^2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vuông </a:t>
                </a:r>
                <a:r>
                  <a:rPr lang="vi-VN"/>
                  <a:t>⇒b^2+c^2=a^2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Xuất phát từ định lí cosin: </a:t>
                </a:r>
                <a:r>
                  <a:rPr lang="vi-VN"/>
                  <a:t>a^2 = b^2 + c^2 - 2bc\cos 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dấu </a:t>
                </a:r>
                <a:r>
                  <a:rPr lang="vi-VN"/>
                  <a:t>\cos A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3.17: QUAN HỆ GÓC VÀ CẠNH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2387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Từ định lí cosin: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−2bc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Góc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nhọn: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A&gt;0⇒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Góc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tù: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A&lt;0⇒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A=0⇒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2387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Từ định lí cosin: </a:t>
                </a:r>
                <a:r>
                  <a:rPr lang="vi-VN"/>
                  <a:t>a^2 = b^2 + c^2 - 2bc\cos A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nhọn: </a:t>
                </a:r>
                <a:r>
                  <a:rPr lang="vi-VN"/>
                  <a:t>\cos A &gt; 0 \Rightarrow a^2 &lt; b^2 + c^2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tù: </a:t>
                </a:r>
                <a:r>
                  <a:rPr lang="vi-VN"/>
                  <a:t>\cos A &lt; 0 \Rightarrow a^2 &gt; b^2 + c^2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A = 90^\circ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\cos A = 0 \Rightarrow a^2 = b^2 + c^2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624072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62407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Cả ba suy trực tiếp từ định lí cosin và dấu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62407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Cả ba suy trực tiếp từ định lí cosin và dấu </a:t>
                </a:r>
                <a:r>
                  <a:rPr lang="vi-VN"/>
                  <a:t>\cos A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3.18: BÀI TOÁN TÀU BIỂN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7066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ở vị trí cách 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53 km về hướng N34°E.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chuyển động thẳng đều 30 km/h về hướng đông, đồng thời 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chuyển động thẳng đều 50 km/h để gặp 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a) 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cần đi theo hướng nào?   b) Sau bao lâu gặp nhau?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Đặt tàu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tại gốc; xác định toạ độ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từ hướng N34°E; gọi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là góc hướng đi của tàu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lập hệ PT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7066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Tàu </a:t>
                </a:r>
                <a:r>
                  <a:rPr lang="vi-VN"/>
                  <a:t>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ở vị trí cách tàu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53 km về hướng N34°E.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Tàu </a:t>
                </a:r>
                <a:r>
                  <a:rPr lang="vi-VN"/>
                  <a:t>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chuyển động thẳng đều 30 km/h về hướng đông, đồng thời tàu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chuyển động thẳng đều 50 km/h để gặp tàu </a:t>
                </a:r>
                <a:r>
                  <a:rPr lang="vi-VN"/>
                  <a:t>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a) Tàu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cần đi theo hướng nào?   b) Sau bao lâu gặp nhau?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Đặt tàu </a:t>
                </a:r>
                <a:r>
                  <a:rPr lang="vi-VN"/>
                  <a:t>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tại gốc; xác định toạ độ </a:t>
                </a:r>
                <a:r>
                  <a:rPr lang="vi-VN"/>
                  <a:t>B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từ hướng N34°E; gọi </a:t>
                </a:r>
                <a:r>
                  <a:rPr lang="vi-VN"/>
                  <a:t>\theta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là góc hướng đi của tàu </a:t>
                </a:r>
                <a:r>
                  <a:rPr lang="vi-VN"/>
                  <a:t>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lập hệ PT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3.18: BÀI TOÁN TÀU BIỂN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91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B=(53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)≈(29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64;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94)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km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Sau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giờ: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=(50t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θ;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64+30t;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94)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Hệ: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θ=29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64+30t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  và 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θ=43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94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Giải hệ: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θ≈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so với trục đông → lệch Bắc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hướng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N64°E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91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B = (53\sin 34^\circ;\; 53\cos 34^\circ) \approx (29{,}64;\; 43{,}94)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km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Sau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giờ: </a:t>
                </a:r>
                <a:r>
                  <a:rPr lang="vi-VN"/>
                  <a:t>A' = (50t\cos\theta;\; 50t\sin\theta)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B' = (29{,}64+30t;\; 43{,}94)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Hệ: </a:t>
                </a:r>
                <a:r>
                  <a:rPr lang="vi-VN"/>
                  <a:t>50t\cos\theta = 29{,}64 + 30t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  và   </a:t>
                </a:r>
                <a:r>
                  <a:rPr lang="vi-VN"/>
                  <a:t>50t\sin\theta = 43{,}94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Giải hệ: </a:t>
                </a:r>
                <a:r>
                  <a:rPr lang="vi-VN"/>
                  <a:t>\theta \approx 26^\circ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so với trục đông → lệch Bắc </a:t>
                </a:r>
                <a:r>
                  <a:rPr lang="vi-VN"/>
                  <a:t>64^\circ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hướng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N64°E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3.18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Thời gian: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94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giờ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Thời gian: </a:t>
                </a:r>
                <a:r>
                  <a:rPr lang="vi-VN"/>
                  <a:t>t = \dfrac{43{,}94}{50\sin 26^\circ} \approx 2{,}0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giờ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Tàu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đi hướng N64°E; gặp nhau sau khoảng 2 giờ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Tàu </a:t>
                </a:r>
                <a:r>
                  <a:rPr lang="vi-VN"/>
                  <a:t>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đi hướng N64°E; gặp nhau sau khoảng 2 giờ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3.19: SÂN BÓNG CHÀY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Trên sân bóng chày, gôn Nhà, gôn 1, gôn 2, gôn 3 là 4 đỉnh hình vuông cạnh 27,4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Vị trí ném bóng nằm trên đường nối gôn Nhà với gôn 2, cách gôn Nhà 18,44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 khoảng cách từ vị trí ném bóng tới gôn 1 và gôn 3.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Tam giác gôn Nhà (H) – vị trí ném bóng (P) – gôn 1 (F):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HP=18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m,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HF=27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m,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PHF</m:t>
                        </m:r>
                      </m:e>
                      <m:li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Trên sân bóng chày, gôn Nhà, gôn 1, gôn 2, gôn 3 là 4 đỉnh hình vuông cạnh 27,4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Vị trí ném bóng nằm trên đường nối gôn Nhà với gôn 2, cách gôn Nhà 18,44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 khoảng cách từ vị trí ném bóng tới gôn 1 và gôn 3.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Tam giác gôn Nhà (H) – vị trí ném bóng (P) – gôn 1 (F): </a:t>
                </a:r>
                <a:r>
                  <a:rPr lang="vi-VN"/>
                  <a:t>HP = 18{,}44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m, </a:t>
                </a:r>
                <a:r>
                  <a:rPr lang="vi-VN"/>
                  <a:t>HF = 27{,}4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m, </a:t>
                </a:r>
                <a:r>
                  <a:rPr lang="vi-VN"/>
                  <a:t>\widehat{PHF} = 45^\circ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3.19: SÂN BÓNG CHÀY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830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Hình vuông cạnh 27,4 m; góc tại gôn Nhà giữa cạnh đi gôn 1 và đường chéo là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=18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+27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−2·18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44·27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4·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=339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83+750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76−1010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51·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≈376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PF≈19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m; theo đối xứng hình vuông, khoảng cách đến gôn 3 cũng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≈19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830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Hình vuông cạnh 27,4 m; góc tại gôn Nhà giữa cạnh đi gôn 1 và đường chéo là </a:t>
                </a:r>
                <a:r>
                  <a:rPr lang="vi-VN"/>
                  <a:t>45^\circ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PF^2 = 18{,}44^2 + 27{,}4^2 - 2 \cdot 18{,}44 \cdot 27{,}4 \cdot \cos 45^\circ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= 339{,}83 + 750{,}76 - 1010{,}51 \cdot \dfrac{\sqrt{2}}{2} \approx 376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PF \approx 19{,}4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m; theo đối xứng hình vuông, khoảng cách đến gôn 3 cũng </a:t>
                </a:r>
                <a:r>
                  <a:rPr lang="vi-VN"/>
                  <a:t>\approx 19{,}4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508502"/>
            <a:ext cx="9601200" cy="655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508502"/>
                <a:ext cx="9235440" cy="6553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Khoảng cách tới gôn 1 và gôn 3 đều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≈19</m:t>
                    </m:r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508502"/>
                <a:ext cx="9235440" cy="6553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Khoảng cách tới gôn 1 và gôn 3 đều </a:t>
                </a:r>
                <a:r>
                  <a:rPr lang="vi-VN"/>
                  <a:t>\approx 19{,}4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HĐ 3. VẬN DỤNG – ĐO ĐẠC THỰC TẾ ĐỊA PHƯƠNG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10 phút · Nhiệm vụ nhóm 4 HS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ĐO DIỆN TÍCH –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78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Người dân xã địa phương cần đo diện tích thửa đất tam giác có hai cạnh 80 m và 60 m, góc kẹp 75°.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a) Tính diện tích thửa đất.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b) Tính cạnh còn lại và bán kính đường tròn ngoại tiếp.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723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Dùng chatbot AI hỏi gợi ý cách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không hỏi đáp số; ghi Nhật ký AI.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Câu lệnh mẫu cho AI: ‘Tính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bằng công thức cộng góc. Chỉ gợi ý một bước, không giải hoàn toàn.’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723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Dùng chatbot AI hỏi gợi ý cách tính </a:t>
                </a:r>
                <a:r>
                  <a:rPr lang="vi-VN"/>
                  <a:t>\sin 75^\circ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không hỏi đáp số; ghi Nhật ký AI.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Câu lệnh mẫu cho AI: ‘Tính </a:t>
                </a:r>
                <a:r>
                  <a:rPr lang="vi-VN"/>
                  <a:t>\sin(45^\circ + 30^\circ)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bằng công thức cộng góc. Chỉ gợi ý một bước, không giải hoàn toàn.’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ĐO DIỆN TÍCH –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4574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9659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·80·60·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≈2318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m²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−2·80·60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≈7517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c≈86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4574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75^\circ = \dfrac{\sqrt{6}+\sqrt{2}}{4} \approx 0{,}9659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S = \dfrac{1}{2} \cdot 80 \cdot 60 \cdot \sin 75^\circ \approx 2318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m²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c^2 = 80^2 + 60^2 - 2\cdot 80\cdot 60 \cos 75^\circ \approx 7517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c \approx 86{,}7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abc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4S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≈44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R = \dfrac{abc}{4S} \approx 44{,}8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S≈2318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m²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ha;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c≈86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R≈44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S \approx 2318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m² </a:t>
                </a:r>
                <a:r>
                  <a:rPr lang="vi-VN"/>
                  <a:t>\approx 0{,}23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ha; </a:t>
                </a:r>
                <a:r>
                  <a:rPr lang="vi-VN"/>
                  <a:t>c \approx 86{,}7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m; </a:t>
                </a:r>
                <a:r>
                  <a:rPr lang="vi-VN"/>
                  <a:t>R \approx 44{,}8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HĐ 4. 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5 phút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– CHƯƠNG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37</a:t>
            </a:r>
          </a:p>
        </p:txBody>
      </p:sp>
      <p:pic>
        <p:nvPicPr>
          <p:cNvPr id="6" name="Picture 5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266" y="1417320"/>
            <a:ext cx="777498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Điền nội dung từng nhánh – GV hiện đáp án từng bước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3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trangtu66.github.io/Taode_thi_online/cc_chuong3_t10.html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