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83" r:id="rId34"/>
    <p:sldId id="260" r:id="rId11"/>
    <p:sldId id="261" r:id="rId12"/>
    <p:sldId id="282" r:id="rId33"/>
    <p:sldId id="262" r:id="rId13"/>
    <p:sldId id="281" r:id="rId32"/>
    <p:sldId id="263" r:id="rId14"/>
    <p:sldId id="280" r:id="rId31"/>
    <p:sldId id="264" r:id="rId15"/>
    <p:sldId id="279" r:id="rId30"/>
    <p:sldId id="265" r:id="rId16"/>
    <p:sldId id="266" r:id="rId17"/>
    <p:sldId id="278" r:id="rId29"/>
    <p:sldId id="267" r:id="rId18"/>
    <p:sldId id="277" r:id="rId28"/>
    <p:sldId id="268" r:id="rId19"/>
    <p:sldId id="276" r:id="rId27"/>
    <p:sldId id="269" r:id="rId20"/>
    <p:sldId id="275" r:id="rId26"/>
    <p:sldId id="270" r:id="rId21"/>
    <p:sldId id="274" r:id="rId25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9.xml"/><Relationship Id="rId14" Type="http://schemas.openxmlformats.org/officeDocument/2006/relationships/slide" Target="slides/slide11.xml"/><Relationship Id="rId15" Type="http://schemas.openxmlformats.org/officeDocument/2006/relationships/slide" Target="slides/slide13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8.xml"/><Relationship Id="rId19" Type="http://schemas.openxmlformats.org/officeDocument/2006/relationships/slide" Target="slides/slide20.xml"/><Relationship Id="rId20" Type="http://schemas.openxmlformats.org/officeDocument/2006/relationships/slide" Target="slides/slide22.xml"/><Relationship Id="rId21" Type="http://schemas.openxmlformats.org/officeDocument/2006/relationships/slide" Target="slides/slide24.xml"/><Relationship Id="rId22" Type="http://schemas.openxmlformats.org/officeDocument/2006/relationships/slide" Target="slides/slide26.xml"/><Relationship Id="rId23" Type="http://schemas.openxmlformats.org/officeDocument/2006/relationships/slide" Target="slides/slide27.xml"/><Relationship Id="rId24" Type="http://schemas.openxmlformats.org/officeDocument/2006/relationships/slide" Target="slides/slide28.xml"/><Relationship Id="rId25" Type="http://schemas.openxmlformats.org/officeDocument/2006/relationships/slide" Target="slides/slide25.xml"/><Relationship Id="rId26" Type="http://schemas.openxmlformats.org/officeDocument/2006/relationships/slide" Target="slides/slide23.xml"/><Relationship Id="rId27" Type="http://schemas.openxmlformats.org/officeDocument/2006/relationships/slide" Target="slides/slide21.xml"/><Relationship Id="rId28" Type="http://schemas.openxmlformats.org/officeDocument/2006/relationships/slide" Target="slides/slide19.xml"/><Relationship Id="rId29" Type="http://schemas.openxmlformats.org/officeDocument/2006/relationships/slide" Target="slides/slide17.xml"/><Relationship Id="rId30" Type="http://schemas.openxmlformats.org/officeDocument/2006/relationships/slide" Target="slides/slide14.xml"/><Relationship Id="rId31" Type="http://schemas.openxmlformats.org/officeDocument/2006/relationships/slide" Target="slides/slide12.xml"/><Relationship Id="rId32" Type="http://schemas.openxmlformats.org/officeDocument/2006/relationships/slide" Target="slides/slide10.xml"/><Relationship Id="rId33" Type="http://schemas.openxmlformats.org/officeDocument/2006/relationships/slide" Target="slides/slide8.xml"/><Relationship Id="rId34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hyperlink" Target="https://trangtu66.github.io/Taode_thi_online/cc_bai6_t10.htm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E40AF"/>
                </a:solidFill>
                <a:latin typeface="Arial"/>
              </a:rPr>
              <a:t>BÀI 6. HỆ THỨC LƯỢNG TRONG TAM GIÁC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0040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E293B"/>
                </a:solidFill>
                <a:latin typeface="Calibri"/>
              </a:rPr>
              <a:t>Chương III. Hệ thức lượng trong tam giác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4251960"/>
            <a:ext cx="2286000" cy="3000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5262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Môn Toán – Lớp 10 (Kết nối tri thức với cuộc sống)</a:t>
            </a:r>
          </a:p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Tiết 18 – 21 theo PPCT (T18 – T21) · Năm học 2026 – 2027</a:t>
            </a:r>
          </a:p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GV soạn: TTT – Trường THPT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6. Hệ thức lượng trong tam giác         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3685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Hiểu định lí côsin, định lí sin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Nắm các công thức diện tích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Giải tam giác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Đo khoảng cách không đến được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Tính diện tích khu đất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Kiểm chứng lời giải của AI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KHỞI ĐỘNG: THÁP RÙA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6. Hệ thức lượng trong tam giác         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Không bơi ra tháp để đo được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Chỉ có dụng cụ đơn giản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779776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79776"/>
            <a:ext cx="6035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Đo khoảng cách tới Tháp Rùa?</a:t>
            </a:r>
          </a:p>
        </p:txBody>
      </p:sp>
      <p:pic>
        <p:nvPicPr>
          <p:cNvPr id="9" name="Picture 8" descr="b6_thapru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310297"/>
            <a:ext cx="4389120" cy="301464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848088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HĐ1: ĐƯỜNG ĐI CỦA TÀU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6. Hệ thức lượng trong tam giác         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2267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Tàu đi hướng đông 20 km/h, 1 giờ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Rẽ hướng đông nam, đi tiếp 0,5 giờ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Tàu cách cảng bao nhiêu km?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Gợi mở: Tam giác có vuông không?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610344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HĐ1: ĐƯỜNG ĐI CỦA TÀU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6. Hệ thức lượng trong tam giác         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Hướng đông 20 km/h trong 1 giờ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Rẽ đông nam, đi tiếp 0,5 giờ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Tam giác không vuông: Pythagore?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Cần Pythagore cho tam giác bất kì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1. ĐỊNH LÍ CÔSIN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6. Hệ thức lượng trong tam giác         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Thiết lập từ Hình 3.8 (HĐ2)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A = 90°: trở thành định lí Pythagore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779776"/>
            <a:ext cx="6400800" cy="14173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14400" y="2779776"/>
                <a:ext cx="6035040" cy="141732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a² = b² + c² − 2bc·cos A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A=</m:t>
                    </m:r>
                    <m:f>
                      <m:fPr>
                        <m:type m:val="bar"/>
                      </m:fPr>
                      <m:num>
                        <m:sSup>
                          <m:e>
                            <m:r>
                              <a:rPr lang="vi-VN" sz="2400" b="1">
                                <a:solidFill>
                                  <a:srgbClr val="991B1B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</m:e>
                          <m:sup>
                            <m:r>
                              <a:rPr lang="vi-VN" sz="2400" b="1">
                                <a:solidFill>
                                  <a:srgbClr val="991B1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e>
                            <m:r>
                              <a:rPr lang="vi-VN" sz="2400" b="1">
                                <a:solidFill>
                                  <a:srgbClr val="991B1B"/>
                                </a:solidFill>
                                <a:latin typeface="Cambria Math" panose="02040503050406030204" pitchFamily="18" charset="0"/>
                              </a:rPr>
                              <m:t>c</m:t>
                            </m:r>
                          </m:e>
                          <m:sup>
                            <m:r>
                              <a:rPr lang="vi-VN" sz="2400" b="1">
                                <a:solidFill>
                                  <a:srgbClr val="991B1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e>
                            <m:r>
                              <a:rPr lang="vi-VN" sz="2400" b="1">
                                <a:solidFill>
                                  <a:srgbClr val="991B1B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p>
                            <m:r>
                              <a:rPr lang="vi-VN" sz="2400" b="1">
                                <a:solidFill>
                                  <a:srgbClr val="991B1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2bc</m:t>
                        </m:r>
                      </m:den>
                    </m:f>
                  </m:oMath>
                </a14:m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914400" y="2779776"/>
                <a:ext cx="6035040" cy="141732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a² = b² + c² − 2bc·cos A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:r>
                  <a:rPr lang="vi-VN"/>
                  <a:t>\cos\ A=\frac{b^2+c^2−a^2}{2bc}</a:t>
                </a:r>
              </a:p>
            </p:txBody>
          </p:sp>
        </mc:Fallback>
      </mc:AlternateContent>
      <p:pic>
        <p:nvPicPr>
          <p:cNvPr id="9" name="Picture 8" descr="b6_h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563586"/>
            <a:ext cx="4389120" cy="250806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848088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1 – VẬN DỤNG 1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6. Hệ thức lượng trong tam giác          7</a:t>
            </a:r>
          </a:p>
        </p:txBody>
      </p:sp>
      <p:pic>
        <p:nvPicPr>
          <p:cNvPr id="9" name="Picture 8" descr="b6_h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933700"/>
            <a:ext cx="4389120" cy="1767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1508760"/>
            <a:ext cx="640080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Ví dụ 1: AB = 5, AC = 8, A = 120°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Tính BC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Vận dụng 1: tính khoảng cách tàu – cảng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610344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1 – VẬN DỤNG 1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6. Hệ thức lượng trong tam giác         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AB = 5, AC = 8, A = 120°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BC² = 25 + 64 + 40 = 129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Tàu: AC² = 500 + 200√2 ⇒ AC ≈ 28 km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6035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BC = √129 ≈ 11,36</a:t>
            </a:r>
          </a:p>
        </p:txBody>
      </p:sp>
      <p:pic>
        <p:nvPicPr>
          <p:cNvPr id="9" name="Picture 8" descr="b6_h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933700"/>
            <a:ext cx="4389120" cy="176784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848088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2. ĐỊNH LÍ SIN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6. Hệ thức lượng trong tam giác          9</a:t>
            </a:r>
          </a:p>
        </p:txBody>
      </p:sp>
      <p:pic>
        <p:nvPicPr>
          <p:cNvPr id="9" name="Picture 8" descr="b6_h3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4156" y="4443984"/>
            <a:ext cx="3733208" cy="17739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1508760"/>
            <a:ext cx="10789920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Ví dụ 2: A = 135°, C = 15°, b = 12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Tính a, c và bán kính 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610344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2. ĐỊNH LÍ SIN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6. Hệ thức lượng trong tam giác         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A nhọn hay A tù: a = 2R·sin A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Ví dụ 2: A = 135°, C = 15°, b = 12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a = 12√2;  c ≈ 6,21;  R =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8686800" cy="9601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14400" y="3346704"/>
                <a:ext cx="8321040" cy="96012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  <m:r>
                          <m:rPr>
                            <m:sty m:val="p"/>
                          </m:rP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den>
                    </m:f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  <m:r>
                          <m:rPr>
                            <m:sty m:val="p"/>
                          </m:rP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den>
                    </m:f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  <m:r>
                          <m:rPr>
                            <m:sty m:val="p"/>
                          </m:rP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</m:den>
                    </m:f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=2R</m:t>
                    </m:r>
                  </m:oMath>
                </a14:m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914400" y="3346704"/>
                <a:ext cx="8321040" cy="96012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:r>
                  <a:rPr lang="vi-VN"/>
                  <a:t>\frac{a}{\sin\ A}=\frac{b}{\sin\ B}=\frac{c}{\sin\ C}=2R</a:t>
                </a:r>
              </a:p>
            </p:txBody>
          </p:sp>
        </mc:Fallback>
      </mc:AlternateContent>
      <p:pic>
        <p:nvPicPr>
          <p:cNvPr id="9" name="Picture 8" descr="b6_h3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4156" y="4443984"/>
            <a:ext cx="3733208" cy="17739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848088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3. GIẢI TAM GIÁC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6. Hệ thức lượng trong tam giác         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Ví dụ 3: giải tam giác ABC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 = 14, A = 60°, B = 40°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Gợi mở: Biết một cạnh, hai góc: dùng định lí nào?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610344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3. GIẢI TAM GIÁC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6. Hệ thức lượng trong tam giác         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2267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Hai cạnh và góc xen giữa: côsin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Ba cạnh: côsin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Một cạnh và hai góc: sin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Ví dụ 3: a ≈ 12,31;  b ≈ 9,14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13632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913632"/>
            <a:ext cx="6035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Tìm góc từ sin: xét góc tù</a:t>
            </a:r>
          </a:p>
        </p:txBody>
      </p:sp>
      <p:pic>
        <p:nvPicPr>
          <p:cNvPr id="9" name="Picture 8" descr="b6_vd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085073"/>
            <a:ext cx="4389120" cy="346509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848088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4: ĐO TỚI THÁP RÙA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6. Hệ thức lượng trong tam giác          13</a:t>
            </a:r>
          </a:p>
        </p:txBody>
      </p:sp>
      <p:pic>
        <p:nvPicPr>
          <p:cNvPr id="9" name="Picture 8" descr="b6_h3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769888"/>
            <a:ext cx="4389120" cy="409546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1508760"/>
            <a:ext cx="640080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Đo khoảng cách từ bờ A tới Tháp Rùa C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Chỉ có thước dây, giác kế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Nêu các bước đo và cách tính AC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610344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4: ĐO TỚI THÁP RÙA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6. Hệ thức lượng trong tam giác         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B1. Cắm cọc A, B; đo AB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B2. Tại A đo góc CAB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B3. Tại B đo góc CBA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6400800" cy="9601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14400" y="3346704"/>
                <a:ext cx="6035040" cy="96012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B4. 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AC=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AB·</m:t>
                        </m:r>
                        <m:r>
                          <m:rPr>
                            <m:sty m:val="p"/>
                          </m:rP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  <m:r>
                          <m:rPr>
                            <m:sty m:val="p"/>
                          </m:rP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  <m:r>
                          <m:rPr>
                            <m:sty m:val="p"/>
                          </m:rP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</m:den>
                    </m:f>
                  </m:oMath>
                </a14:m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914400" y="3346704"/>
                <a:ext cx="6035040" cy="96012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B4. </a:t>
                </a:r>
                <a:r>
                  <a:rPr lang="vi-VN"/>
                  <a:t>AC=\frac{AB\cdot\sin\ B}{\sin\ C}</a:t>
                </a:r>
              </a:p>
            </p:txBody>
          </p:sp>
        </mc:Fallback>
      </mc:AlternateContent>
      <p:pic>
        <p:nvPicPr>
          <p:cNvPr id="9" name="Picture 8" descr="b6_h3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769888"/>
            <a:ext cx="4389120" cy="4095463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4. CÔNG THỨC DIỆN TÍCH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6. Hệ thức lượng trong tam giác         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p: nửa chu vi;  r: bán kính nội tiếp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212848"/>
            <a:ext cx="6400800" cy="14173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14400" y="2212848"/>
                <a:ext cx="6035040" cy="141732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S=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bc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A=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abc</m:t>
                        </m:r>
                      </m:num>
                      <m:den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4R</m:t>
                        </m:r>
                      </m:den>
                    </m:f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=pr</m:t>
                    </m:r>
                  </m:oMath>
                </a14:m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Heron: 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S=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p(p−a)(p−b)(p−c)</m:t>
                        </m:r>
                      </m:e>
                    </m:rad>
                  </m:oMath>
                </a14:m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914400" y="2212848"/>
                <a:ext cx="6035040" cy="141732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:r>
                  <a:rPr lang="vi-VN"/>
                  <a:t>S=\frac{1}{2}bc\sin\ A=\frac{abc}{4R}=pr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Heron: </a:t>
                </a:r>
                <a:r>
                  <a:rPr lang="vi-VN"/>
                  <a:t>S=\sqrt{p(p−a)(p−b)(p−c)}</a:t>
                </a:r>
              </a:p>
            </p:txBody>
          </p:sp>
        </mc:Fallback>
      </mc:AlternateContent>
      <p:pic>
        <p:nvPicPr>
          <p:cNvPr id="9" name="Picture 8" descr="b6_h3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050287"/>
            <a:ext cx="4389120" cy="353466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848088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5 – VÍ DỤ 6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6. Hệ thức lượng trong tam giác         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2267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Ví dụ 5: c = 4, b = 6, A = 150°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Tính diện tích tam giác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Ví dụ 6: a = 13, b = 14, c = 15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Tính diện tích tam giác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610344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5 – VÍ DỤ 6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6. Hệ thức lượng trong tam giác          17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2542032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c = 4, b = 6, A = 150°: 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·6·4·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150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=6</m:t>
                    </m:r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 = 13, b = 14, c = 15:  cos A = 0,6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sin A = 0,8 ⇒ S = 84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Heron: p = 21, S = √(21·8·7·6) = 84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2542032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c = 4, b = 6, A = 150°:  </a:t>
                </a:r>
                <a:r>
                  <a:rPr lang="vi-VN"/>
                  <a:t>S=\frac{1}{2}\cdot 6\cdot 4\cdot\sin\ 150^\circ=6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 = 13, b = 14, c = 15:  cos A = 0,6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sin A = 0,8 ⇒ S = 84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Heron: p = 21, S = √(21·8·7·6) = 84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848088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VẬN DỤNG 3: CÔNG VIÊN HÒA BÌNH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6. Hệ thức lượng trong tam giác          18</a:t>
            </a:r>
          </a:p>
        </p:txBody>
      </p:sp>
      <p:pic>
        <p:nvPicPr>
          <p:cNvPr id="9" name="Picture 8" descr="b6_h3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958340"/>
            <a:ext cx="4389120" cy="3718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1508760"/>
            <a:ext cx="640080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Tính diện tích công viên Hòa Bình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(số đo trên Hình 3.17)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Gợi mở: Chia ngũ giác thành tam giác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610344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VẬN DỤNG 3: CÔNG VIÊN HÒA BÌNH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6. Hệ thức lượng trong tam giác         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Chia ngũ giác thành 3 tam giác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Tính mỗi tam giác bằng Heron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779776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79776"/>
            <a:ext cx="6035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S ≈ 216 449 m² ≈ 21,6 ha</a:t>
            </a:r>
          </a:p>
        </p:txBody>
      </p:sp>
      <p:pic>
        <p:nvPicPr>
          <p:cNvPr id="9" name="Picture 8" descr="b6_h3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958340"/>
            <a:ext cx="4389120" cy="371856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848088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LUYỆN TẬP: BÀI 3.9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6. Hệ thức lượng trong tam giác          20</a:t>
            </a:r>
          </a:p>
        </p:txBody>
      </p:sp>
      <p:pic>
        <p:nvPicPr>
          <p:cNvPr id="9" name="Picture 8" descr="b6_h3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786833"/>
            <a:ext cx="4389120" cy="40615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1508760"/>
            <a:ext cx="6400800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Tính chiều cao tòa nhà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(số đo trên Hình 3.18)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610344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LUYỆN TẬP: BÀI 3.9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6. Hệ thức lượng trong tam giác          21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140817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Góc BAC = 10°;  góc ABC = 40°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AC=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  <m:r>
                          <m:rPr>
                            <m:sty m:val="p"/>
                          </m:r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  <m:r>
                          <m:rPr>
                            <m:sty m:val="p"/>
                          </m:r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40</m:t>
                            </m:r>
                          </m:e>
                          <m:sup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∘</m:t>
                            </m:r>
                          </m:sup>
                        </m:sSup>
                      </m:num>
                      <m:den>
                        <m:r>
                          <m:rPr>
                            <m:sty m:val="p"/>
                          </m:r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  <m:r>
                          <m:rPr>
                            <m:sty m:val="p"/>
                          </m:r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∘</m:t>
                            </m:r>
                          </m:sup>
                        </m:sSup>
                      </m:den>
                    </m:f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≈18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51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m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140817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Góc BAC = 10°;  góc ABC = 40°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AC=\frac{5\sin\ 40^\circ}{\sin\ 10^\circ}\approx 18{,}51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m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3054096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054096"/>
            <a:ext cx="6035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Tòa nhà cao 7 + AC·sin 40° ≈ 18,9 m</a:t>
            </a:r>
          </a:p>
        </p:txBody>
      </p:sp>
      <p:pic>
        <p:nvPicPr>
          <p:cNvPr id="9" name="Picture 8" descr="b6_h3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786833"/>
            <a:ext cx="4389120" cy="4061573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848088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LUYỆN TẬP: BÀI 3.8, 3.11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6. Hệ thức lượng trong tam giác          22</a:t>
            </a:r>
          </a:p>
        </p:txBody>
      </p:sp>
      <p:pic>
        <p:nvPicPr>
          <p:cNvPr id="9" name="Picture 8" descr="b6_h3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481475"/>
            <a:ext cx="4389120" cy="467228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1508760"/>
            <a:ext cx="640080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3.8: AB = 105 km, BC = 16 km, B = 110°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Tính AC và hướng từ A đến C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3.11: tính AD; đường mới ngắn hơn?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610344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LUYỆN TẬP: BÀI 3.8, 3.11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6. Hệ thức lượng trong tam giác          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3.8: AB = 105 km, BC = 16 km, góc B = 110°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AC ≈ 111,5 km; hướng khoảng S62°E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3.11: AD ≈ 16,57 km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6035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Đường mới ngắn hơn khoảng 9,43 km</a:t>
            </a:r>
          </a:p>
        </p:txBody>
      </p:sp>
      <p:pic>
        <p:nvPicPr>
          <p:cNvPr id="9" name="Picture 8" descr="b6_h3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481475"/>
            <a:ext cx="4389120" cy="467228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848088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TRẠM KIỂM CHỨNG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6. Hệ thức lượng trong tam giác          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AI: cos 120° = 1/2 ⇒ BC = 7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AI: R = a : sin A = 12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Gợi mở: Tìm bước sai, giải thích, sửa lại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610344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TRẠM KIỂM CHỨNG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6. Hệ thức lượng trong tam giác          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Tìm lỗi trong lời giải AI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AI: cos 120° = 1/2 ⇒ BC = 7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AI: R = a : sin A =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8686800" cy="1143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832104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A tù ⇒ BC lớn nhất: BC = √129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a : sin A = 2R ⇒ R = 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NHIỆM VỤ NHÓM: KĨ SƯ ĐO ĐẠC NHÍ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6. Hệ thức lượng trong tam giác          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3401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Đề 1: đo chiều cao cột cờ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Đề 2: đo diện tích bồn hoa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Đo mỗi đại lượng ít nhất 2 lần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Kiểm chứng GeoGebra, Google Maps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Nhận xét sai số, nộp 3–5 slide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Kèm Nhật ký sử dụng AI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SƠ ĐỒ TƯ DUY BÀI HỌC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6. Hệ thức lượng trong tam giác          27</a:t>
            </a:r>
          </a:p>
        </p:txBody>
      </p:sp>
      <p:cxnSp>
        <p:nvCxnSpPr>
          <p:cNvPr id="6" name="Connector 5"/>
          <p:cNvCxnSpPr/>
          <p:nvPr/>
        </p:nvCxnSpPr>
        <p:spPr>
          <a:xfrm flipH="1" flipV="1">
            <a:off x="4338888" y="2670962"/>
            <a:ext cx="1688379" cy="1283818"/>
          </a:xfrm>
          <a:prstGeom prst="line">
            <a:avLst/>
          </a:prstGeom>
          <a:ln w="44450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 flipV="1">
            <a:off x="2678925" y="1942739"/>
            <a:ext cx="1659963" cy="728223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933716" y="1666427"/>
            <a:ext cx="1745209" cy="552622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a/sinA = b/sinB =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c/sinC = 2R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2678925" y="2670962"/>
            <a:ext cx="1659963" cy="0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933716" y="2293940"/>
            <a:ext cx="1745209" cy="754044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Tìm cạnh khi biết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2 góc + 1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cạnh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2635999" y="2670962"/>
            <a:ext cx="1702889" cy="728223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76642" y="3122874"/>
            <a:ext cx="1659357" cy="552622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Tìm góc khi biết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3 cạnh</a:t>
            </a:r>
          </a:p>
        </p:txBody>
      </p:sp>
      <p:sp>
        <p:nvSpPr>
          <p:cNvPr id="13" name="Oval 12"/>
          <p:cNvSpPr/>
          <p:nvPr/>
        </p:nvSpPr>
        <p:spPr>
          <a:xfrm>
            <a:off x="3433264" y="2427575"/>
            <a:ext cx="1811249" cy="486773"/>
          </a:xfrm>
          <a:prstGeom prst="ellipse">
            <a:avLst/>
          </a:prstGeom>
          <a:solidFill>
            <a:srgbClr val="E2EFDA"/>
          </a:solidFill>
          <a:ln w="31750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Định lí sin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6027267" y="2670962"/>
            <a:ext cx="1688379" cy="1283818"/>
          </a:xfrm>
          <a:prstGeom prst="line">
            <a:avLst/>
          </a:prstGeom>
          <a:ln w="44450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7715646" y="2043450"/>
            <a:ext cx="1574111" cy="627512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289757" y="1867849"/>
            <a:ext cx="1916913" cy="351200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a² = b²+c²−2bc·cosA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7715646" y="2469540"/>
            <a:ext cx="1402407" cy="201422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118053" y="2293940"/>
            <a:ext cx="2260321" cy="351200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cosA = (b²+c²−a²)/(2bc)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715646" y="2670962"/>
            <a:ext cx="1659963" cy="426090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375609" y="2720030"/>
            <a:ext cx="1745209" cy="754044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Tìm cạnh khi biết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2 cạnh + góc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xen</a:t>
            </a:r>
          </a:p>
        </p:txBody>
      </p:sp>
      <p:sp>
        <p:nvSpPr>
          <p:cNvPr id="21" name="Oval 20"/>
          <p:cNvSpPr/>
          <p:nvPr/>
        </p:nvSpPr>
        <p:spPr>
          <a:xfrm>
            <a:off x="6671337" y="2427575"/>
            <a:ext cx="2088617" cy="486773"/>
          </a:xfrm>
          <a:prstGeom prst="ellipse">
            <a:avLst/>
          </a:prstGeom>
          <a:solidFill>
            <a:srgbClr val="FFF2CC"/>
          </a:solidFill>
          <a:ln w="3175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Định lí cosin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4338888" y="3954780"/>
            <a:ext cx="1688379" cy="1283817"/>
          </a:xfrm>
          <a:prstGeom prst="line">
            <a:avLst/>
          </a:prstGeom>
          <a:ln w="4445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 flipV="1">
            <a:off x="2764777" y="4510374"/>
            <a:ext cx="1574111" cy="728223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47864" y="4234063"/>
            <a:ext cx="1916913" cy="552622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S = ½bc·sinA =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½ac·sinB = ½ab·sinC</a:t>
            </a:r>
          </a:p>
        </p:txBody>
      </p:sp>
      <p:cxnSp>
        <p:nvCxnSpPr>
          <p:cNvPr id="25" name="Connector 24"/>
          <p:cNvCxnSpPr/>
          <p:nvPr/>
        </p:nvCxnSpPr>
        <p:spPr>
          <a:xfrm flipH="1" flipV="1">
            <a:off x="2764777" y="5137886"/>
            <a:ext cx="1574111" cy="100711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47864" y="4861575"/>
            <a:ext cx="1916913" cy="552622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R = a/(2sinA) –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bán kính ngoại tiếp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2807703" y="5238597"/>
            <a:ext cx="1531185" cy="627512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04938" y="5489087"/>
            <a:ext cx="2002765" cy="754044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r = S/p; p=(a+b+c)/2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– bán kính nội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tiếp</a:t>
            </a:r>
          </a:p>
        </p:txBody>
      </p:sp>
      <p:sp>
        <p:nvSpPr>
          <p:cNvPr id="29" name="Oval 28"/>
          <p:cNvSpPr/>
          <p:nvPr/>
        </p:nvSpPr>
        <p:spPr>
          <a:xfrm>
            <a:off x="3433264" y="4658216"/>
            <a:ext cx="1811249" cy="1160762"/>
          </a:xfrm>
          <a:prstGeom prst="ellipse">
            <a:avLst/>
          </a:prstGeom>
          <a:solidFill>
            <a:srgbClr val="E2EFDA"/>
          </a:solidFill>
          <a:ln w="31750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Diện tích R</a:t>
            </a:r>
          </a:p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ngoại &amp; r</a:t>
            </a:r>
          </a:p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nội tiếp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27267" y="3954780"/>
            <a:ext cx="1688379" cy="1283817"/>
          </a:xfrm>
          <a:prstGeom prst="line">
            <a:avLst/>
          </a:prstGeom>
          <a:ln w="44450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7715646" y="4924841"/>
            <a:ext cx="1531185" cy="313756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9246831" y="4648530"/>
            <a:ext cx="2002765" cy="552622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Đo khoảng cách không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trực tiếp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715646" y="5238597"/>
            <a:ext cx="1574111" cy="313756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9289757" y="5276042"/>
            <a:ext cx="1916913" cy="552622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Xác định chiều cao,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khoảng cách đảo</a:t>
            </a:r>
          </a:p>
        </p:txBody>
      </p:sp>
      <p:sp>
        <p:nvSpPr>
          <p:cNvPr id="35" name="Oval 34"/>
          <p:cNvSpPr/>
          <p:nvPr/>
        </p:nvSpPr>
        <p:spPr>
          <a:xfrm>
            <a:off x="6671337" y="4826713"/>
            <a:ext cx="2088617" cy="823767"/>
          </a:xfrm>
          <a:prstGeom prst="ellipse">
            <a:avLst/>
          </a:prstGeom>
          <a:solidFill>
            <a:srgbClr val="FFF2CC"/>
          </a:solidFill>
          <a:ln w="3175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Bài toán đo</a:t>
            </a:r>
          </a:p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đạc thực tiễn</a:t>
            </a:r>
          </a:p>
        </p:txBody>
      </p:sp>
      <p:sp>
        <p:nvSpPr>
          <p:cNvPr id="36" name="Oval 35"/>
          <p:cNvSpPr/>
          <p:nvPr/>
        </p:nvSpPr>
        <p:spPr>
          <a:xfrm>
            <a:off x="4941353" y="3287245"/>
            <a:ext cx="2171828" cy="1335069"/>
          </a:xfrm>
          <a:prstGeom prst="ellipse">
            <a:avLst/>
          </a:prstGeom>
          <a:solidFill>
            <a:srgbClr val="002060"/>
          </a:solidFill>
          <a:ln w="25400">
            <a:solidFill>
              <a:srgbClr val="000B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ĐỊNH LÍ SIN,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COSIN &amp; DIỆN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TÍCH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6. Hệ thức lượng trong tam giác          28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4572000" cy="457200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CungCo_Bai6_Toan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691640"/>
            <a:ext cx="4114800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720" y="1554480"/>
            <a:ext cx="60350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Quét mã QR bằng điện thoại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Nhập họ tên và lớp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7 câu – làm trong 7 phút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Nộp bài, xem lời giải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0" y="4754880"/>
            <a:ext cx="6035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1E40AF"/>
                </a:solidFill>
                <a:latin typeface="Calibri"/>
                <a:hlinkClick r:id="rId3"/>
              </a:rPr>
              <a:t>trangtu66.github.io/Taode_thi_online/cc_bai6_t10.html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TTT</dc:creator>
  <cp:keywords/>
  <dc:description>generated using python-pptx</dc:description>
  <cp:lastModifiedBy>TTT</cp:lastModifiedBy>
  <cp:revision>1</cp:revision>
  <dcterms:created xsi:type="dcterms:W3CDTF">2013-01-27T09:14:16Z</dcterms:created>
  <dcterms:modified xsi:type="dcterms:W3CDTF">2013-01-27T09:15:58Z</dcterms:modified>
  <cp:category/>
</cp:coreProperties>
</file>