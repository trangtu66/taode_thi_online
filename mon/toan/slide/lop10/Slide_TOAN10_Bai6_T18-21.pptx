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3" r:id="rId34"/>
    <p:sldId id="260" r:id="rId11"/>
    <p:sldId id="261" r:id="rId12"/>
    <p:sldId id="282" r:id="rId33"/>
    <p:sldId id="262" r:id="rId13"/>
    <p:sldId id="281" r:id="rId32"/>
    <p:sldId id="263" r:id="rId14"/>
    <p:sldId id="280" r:id="rId31"/>
    <p:sldId id="264" r:id="rId15"/>
    <p:sldId id="279" r:id="rId30"/>
    <p:sldId id="265" r:id="rId16"/>
    <p:sldId id="266" r:id="rId17"/>
    <p:sldId id="278" r:id="rId29"/>
    <p:sldId id="267" r:id="rId18"/>
    <p:sldId id="277" r:id="rId28"/>
    <p:sldId id="268" r:id="rId19"/>
    <p:sldId id="276" r:id="rId27"/>
    <p:sldId id="269" r:id="rId20"/>
    <p:sldId id="275" r:id="rId26"/>
    <p:sldId id="270" r:id="rId21"/>
    <p:sldId id="274" r:id="rId25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9.xml"/><Relationship Id="rId14" Type="http://schemas.openxmlformats.org/officeDocument/2006/relationships/slide" Target="slides/slide11.xml"/><Relationship Id="rId15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8.xml"/><Relationship Id="rId19" Type="http://schemas.openxmlformats.org/officeDocument/2006/relationships/slide" Target="slides/slide20.xml"/><Relationship Id="rId20" Type="http://schemas.openxmlformats.org/officeDocument/2006/relationships/slide" Target="slides/slide22.xml"/><Relationship Id="rId21" Type="http://schemas.openxmlformats.org/officeDocument/2006/relationships/slide" Target="slides/slide24.xml"/><Relationship Id="rId22" Type="http://schemas.openxmlformats.org/officeDocument/2006/relationships/slide" Target="slides/slide26.xml"/><Relationship Id="rId23" Type="http://schemas.openxmlformats.org/officeDocument/2006/relationships/slide" Target="slides/slide27.xml"/><Relationship Id="rId24" Type="http://schemas.openxmlformats.org/officeDocument/2006/relationships/slide" Target="slides/slide28.xml"/><Relationship Id="rId25" Type="http://schemas.openxmlformats.org/officeDocument/2006/relationships/slide" Target="slides/slide25.xml"/><Relationship Id="rId26" Type="http://schemas.openxmlformats.org/officeDocument/2006/relationships/slide" Target="slides/slide23.xml"/><Relationship Id="rId27" Type="http://schemas.openxmlformats.org/officeDocument/2006/relationships/slide" Target="slides/slide21.xml"/><Relationship Id="rId28" Type="http://schemas.openxmlformats.org/officeDocument/2006/relationships/slide" Target="slides/slide19.xml"/><Relationship Id="rId29" Type="http://schemas.openxmlformats.org/officeDocument/2006/relationships/slide" Target="slides/slide17.xml"/><Relationship Id="rId30" Type="http://schemas.openxmlformats.org/officeDocument/2006/relationships/slide" Target="slides/slide14.xml"/><Relationship Id="rId31" Type="http://schemas.openxmlformats.org/officeDocument/2006/relationships/slide" Target="slides/slide12.xml"/><Relationship Id="rId32" Type="http://schemas.openxmlformats.org/officeDocument/2006/relationships/slide" Target="slides/slide10.xml"/><Relationship Id="rId33" Type="http://schemas.openxmlformats.org/officeDocument/2006/relationships/slide" Target="slides/slide8.xml"/><Relationship Id="rId34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trangtu66.github.io/Taode_thi_online/cc_bai6_t10.html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6. HỆ THỨC LƯỢNG TRONG TAM GIÁC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III. Hệ thức lượng trong tam giác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10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18 – 21 theo PPCT (T18 – T21)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685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Hiểu định lí côsin, định lí 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Nắm các công thức diện tích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Giải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Đo khoảng cách không đến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Tính diện tích khu đất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Kiểm chứng lời giải của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THÁP RÙA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Không bơi ra tháp để đo được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Chỉ có dụng cụ đơn giản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Đo khoảng cách tới Tháp Rùa?</a:t>
            </a:r>
          </a:p>
        </p:txBody>
      </p:sp>
      <p:pic>
        <p:nvPicPr>
          <p:cNvPr id="9" name="Picture 8" descr="b6_thapru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310297"/>
            <a:ext cx="4389120" cy="30146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ĐƯỜNG ĐI CỦA TÀU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Tàu đi hướng đông 20 km/h, 1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Rẽ hướng đông nam, đi tiếp 0,5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Tàu cách cảng bao nhiêu km?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Tam giác có vuông không?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ĐƯỜNG ĐI CỦA TÀU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Hướng đông 20 km/h trong 1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Rẽ đông nam, đi tiếp 0,5 giờ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Tam giác không vuông: Pythagore?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Pythagore cho tam giác bất kì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ĐỊNH LÍ CÔSIN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Thiết lập từ Hình 3.8 (HĐ2)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90°: trở thành định lí Pythagore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a² = b² + c² − 2bc·cos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</m:e>
                          <m:sup>
                            <m:r>
                              <a:rPr lang="vi-VN" sz="2400" b="1">
                                <a:solidFill>
                                  <a:srgbClr val="991B1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2bc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779776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a² = b² + c² − 2bc·cos A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\cos\ A=\frac{b^2+c^2−a^2}{2bc}</a:t>
                </a:r>
              </a:p>
            </p:txBody>
          </p:sp>
        </mc:Fallback>
      </mc:AlternateContent>
      <p:pic>
        <p:nvPicPr>
          <p:cNvPr id="9" name="Picture 8" descr="b6_h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563586"/>
            <a:ext cx="4389120" cy="25080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VẬN DỤNG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7</a:t>
            </a:r>
          </a:p>
        </p:txBody>
      </p:sp>
      <p:pic>
        <p:nvPicPr>
          <p:cNvPr id="9" name="Picture 8" descr="b6_h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33700"/>
            <a:ext cx="4389120" cy="1767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1: AB = 5, AC = 8, A = 120°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BC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Vận dụng 1: tính khoảng cách tàu – cảng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1 – VẬN DỤNG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AB = 5, AC = 8, A = 120°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BC² = 25 + 64 + 40 = 129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Tàu: AC² = 500 + 200√2 ⇒ AC ≈ 28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BC = √129 ≈ 11,36</a:t>
            </a:r>
          </a:p>
        </p:txBody>
      </p:sp>
      <p:pic>
        <p:nvPicPr>
          <p:cNvPr id="9" name="Picture 8" descr="b6_h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933700"/>
            <a:ext cx="4389120" cy="176784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ĐỊNH LÍ 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9</a:t>
            </a:r>
          </a:p>
        </p:txBody>
      </p:sp>
      <p:pic>
        <p:nvPicPr>
          <p:cNvPr id="9" name="Picture 8" descr="b6_h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156" y="4443984"/>
            <a:ext cx="3733208" cy="17739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1078992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A = 135°, C = 15°, b = 12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a, c và bán kính 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ĐỊNH LÍ SIN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nhọn hay A tù: a = 2R·sin 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2: A = 135°, C = 15°, b = 12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= 12√2;  c ≈ 6,21;  R =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=2R</m:t>
                    </m:r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8321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\frac{a}{\sin\ A}=\frac{b}{\sin\ B}=\frac{c}{\sin\ C}=2R</a:t>
                </a:r>
              </a:p>
            </p:txBody>
          </p:sp>
        </mc:Fallback>
      </mc:AlternateContent>
      <p:pic>
        <p:nvPicPr>
          <p:cNvPr id="9" name="Picture 8" descr="b6_h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4156" y="4443984"/>
            <a:ext cx="3733208" cy="177393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GIẢI TAM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3: giải tam giác ABC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 = 14, A = 60°, B = 40°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Biết một cạnh, hai góc: dùng định lí nào?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GIẢI TAM GIÁC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Hai cạnh và góc xen giữa: côsin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Ba cạnh: côsin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Một cạnh và hai góc: sin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3: a ≈ 12,31;  b ≈ 9,14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136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136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Tìm góc từ sin: xét góc tù</a:t>
            </a:r>
          </a:p>
        </p:txBody>
      </p:sp>
      <p:pic>
        <p:nvPicPr>
          <p:cNvPr id="9" name="Picture 8" descr="b6_v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85073"/>
            <a:ext cx="4389120" cy="3465094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ĐO TỚI THÁP RÙA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13</a:t>
            </a:r>
          </a:p>
        </p:txBody>
      </p:sp>
      <p:pic>
        <p:nvPicPr>
          <p:cNvPr id="9" name="Picture 8" descr="b6_h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69888"/>
            <a:ext cx="4389120" cy="4095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khoảng cách từ bờ A tới Tháp Rùa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Chỉ có thước dây, giác kế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Nêu các bước đo và cách tính 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4: ĐO TỚI THÁP RÙA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B1. Cắm cọc A, B; đo 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B2. Tại A đo góc CAB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B3. Tại B đo góc CBA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9601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B4.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AB·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3346704"/>
                <a:ext cx="6035040" cy="9601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B4. </a:t>
                </a:r>
                <a:r>
                  <a:rPr lang="vi-VN"/>
                  <a:t>AC=\frac{AB\cdot\sin\ B}{\sin\ C}</a:t>
                </a:r>
              </a:p>
            </p:txBody>
          </p:sp>
        </mc:Fallback>
      </mc:AlternateContent>
      <p:pic>
        <p:nvPicPr>
          <p:cNvPr id="9" name="Picture 8" descr="b6_h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69888"/>
            <a:ext cx="4389120" cy="409546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CÔNG THỨC DIỆN TÍCH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p: nửa chu vi;  r: bán kính nội tiếp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12848"/>
            <a:ext cx="6400800" cy="141732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bc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A=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abc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4R</m:t>
                        </m:r>
                      </m:den>
                    </m:f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=pr</m:t>
                    </m:r>
                  </m:oMath>
                </a14:m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Heron: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991B1B"/>
                        </a:solidFill>
                        <a:latin typeface="Cambria Math" panose="02040503050406030204" pitchFamily="18" charset="0"/>
                      </a:rPr>
                      <m:t>S=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400" b="1">
                            <a:solidFill>
                              <a:srgbClr val="991B1B"/>
                            </a:solidFill>
                            <a:latin typeface="Cambria Math" panose="02040503050406030204" pitchFamily="18" charset="0"/>
                          </a:rPr>
                          <m:t>p(p−a)(p−b)(p−c)</m:t>
                        </m:r>
                      </m:e>
                    </m:rad>
                  </m:oMath>
                </a14:m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914400" y="2212848"/>
                <a:ext cx="6035040" cy="1417320"/>
              </a:xfrm>
              <a:prstGeom prst="rect">
                <a:avLst/>
              </a:prstGeom>
              <a:noFill/>
            </p:spPr>
            <p:txBody>
              <a:bodyPr wrap="square" anchor="ctr">
                <a:spAutoFit/>
              </a:bodyPr>
              <a:lstStyle/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 </a:t>
                </a:r>
                <a:r>
                  <a:rPr lang="vi-VN"/>
                  <a:t>S=\frac{1}{2}bc\sin\ A=\frac{abc}{4R}=pr</a:t>
                </a:r>
              </a:p>
              <a:p>
                <a:pPr algn="l">
                  <a:spcAft>
                    <a:spcPts val="400"/>
                  </a:spcAft>
                </a:pPr>
                <a:r>
                  <a:rPr sz="2400" b="1">
                    <a:solidFill>
                      <a:srgbClr val="991B1B"/>
                    </a:solidFill>
                    <a:latin typeface="Calibri"/>
                  </a:rPr>
                  <a:t>Heron: </a:t>
                </a:r>
                <a:r>
                  <a:rPr lang="vi-VN"/>
                  <a:t>S=\sqrt{p(p−a)(p−b)(p−c)}</a:t>
                </a:r>
              </a:p>
            </p:txBody>
          </p:sp>
        </mc:Fallback>
      </mc:AlternateContent>
      <p:pic>
        <p:nvPicPr>
          <p:cNvPr id="9" name="Picture 8" descr="b6_h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050287"/>
            <a:ext cx="4389120" cy="35346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5: c = 4, b = 6, A = 150°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diện tích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Ví dụ 6: a = 13, b = 14, c = 15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diện tích tam giác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VÍ DỤ 6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 = 4, b = 6, A = 150°: 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·6·4·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150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 = 13, b = 14, c = 15:  cos A = 0,6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A = 0,8 ⇒ S = 84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Heron: p = 21, S = √(21·8·7·6) = 84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54203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 = 4, b = 6, A = 150°:  </a:t>
                </a:r>
                <a:r>
                  <a:rPr lang="vi-VN"/>
                  <a:t>S=\frac{1}{2}\cdot 6\cdot 4\cdot\sin\ 150^\circ=6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 = 13, b = 14, c = 15:  cos A = 0,6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sin A = 0,8 ⇒ S = 84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Heron: p = 21, S = √(21·8·7·6) = 84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3: CÔNG VIÊN HÒA BÌNH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18</a:t>
            </a:r>
          </a:p>
        </p:txBody>
      </p:sp>
      <p:pic>
        <p:nvPicPr>
          <p:cNvPr id="9" name="Picture 8" descr="b6_h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58340"/>
            <a:ext cx="4389120" cy="37185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diện tích công viên Hòa Bình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(số đo trên Hình 3.17)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Chia ngũ giác thành tam giác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3: CÔNG VIÊN HÒA BÌNH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Chia ngũ giác thành 3 tam giác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mỗi tam giác bằng Heron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7977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7977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S ≈ 216 449 m² ≈ 21,6 ha</a:t>
            </a:r>
          </a:p>
        </p:txBody>
      </p:sp>
      <p:pic>
        <p:nvPicPr>
          <p:cNvPr id="9" name="Picture 8" descr="b6_h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58340"/>
            <a:ext cx="4389120" cy="3718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20</a:t>
            </a:r>
          </a:p>
        </p:txBody>
      </p:sp>
      <p:pic>
        <p:nvPicPr>
          <p:cNvPr id="9" name="Picture 8" descr="b6_h3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6833"/>
            <a:ext cx="4389120" cy="406157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1338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chiều cao tòa nhà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(số đo trên Hình 3.18)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3.9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Góc BAC = 10°;  góc ABC = 40°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AC=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∘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≈18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51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40817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Góc BAC = 10°;  góc ABC = 40°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AC=\frac{5\sin\ 40^\circ}{\sin\ 10^\circ}\approx 18{,}51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m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05409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5409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Tòa nhà cao 7 + AC·sin 40° ≈ 18,9 m</a:t>
            </a:r>
          </a:p>
        </p:txBody>
      </p:sp>
      <p:pic>
        <p:nvPicPr>
          <p:cNvPr id="9" name="Picture 8" descr="b6_h3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6833"/>
            <a:ext cx="4389120" cy="4061573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3.8, 3.11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22</a:t>
            </a:r>
          </a:p>
        </p:txBody>
      </p:sp>
      <p:pic>
        <p:nvPicPr>
          <p:cNvPr id="9" name="Picture 8" descr="b6_h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81475"/>
            <a:ext cx="4389120" cy="46722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3.8: AB = 105 km, BC = 16 km, B = 110°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Tính AC và hướng từ A đến 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3.11: tính AD; đường mới ngắn hơn?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TẬP: BÀI 3.8, 3.11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3.8: AB = 105 km, BC = 16 km, góc B = 110°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AC ≈ 111,5 km; hướng khoảng S62°E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3.11: AD ≈ 16,57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Đường mới ngắn hơn khoảng 9,43 km</a:t>
            </a:r>
          </a:p>
        </p:txBody>
      </p:sp>
      <p:pic>
        <p:nvPicPr>
          <p:cNvPr id="9" name="Picture 8" descr="b6_h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481475"/>
            <a:ext cx="4389120" cy="467228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848088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cos 120° = 1/2 ⇒ BC = 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R = a : sin A = 12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Gợi mở: Tìm bước sai, giải thích, sửa lại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01223" y="457200"/>
            <a:ext cx="941832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ĐỀ BÀI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9610344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E40AF"/>
                </a:solidFill>
                <a:latin typeface="Calibri"/>
              </a:rPr>
              <a:t>Tìm lỗi trong lời giải AI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cos 120° = 1/2 ⇒ BC = 7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AI: R = a : sin A =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 tù ⇒ BC lớn nhất: BC = √129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a : sin A = 2R ⇒ R = 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LỜI GIẢI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NHÓM: KĨ SƯ ĐO ĐẠC NHÍ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34015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1: đo chiều cao cột cờ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2: đo diện tích bồn hoa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Đo mỗi đại lượng ít nhất 2 lần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Kiểm chứng GeoGebra, Google Maps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Nhận xét sai số, nộp 3–5 slide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Kèm Nhật ký sử dụng AI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27</a:t>
            </a:r>
          </a:p>
        </p:txBody>
      </p:sp>
      <p:pic>
        <p:nvPicPr>
          <p:cNvPr id="6" name="Picture 5" descr="b6_min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056" y="1417320"/>
            <a:ext cx="8593408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10 · Bài 6. Hệ thức lượng trong tam giác          28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6_Toan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trangtu66.github.io/Taode_thi_online/cc_bai6_t10.html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