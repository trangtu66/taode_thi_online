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7" d="100"/>
          <a:sy n="77" d="100"/>
        </p:scale>
        <p:origin x="80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0368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Bìa. Đáp án, lời giải hiện theo click. Nút GeoGebra, video mở trang online (cần Internet).</a:t>
            </a:r>
          </a:p>
          <a:p>
            <a:r>
              <a:t>Lớp 10A7 có HS khiếm thính: mọi yêu cầu đều có chữ trên slide; video mở đầu có phụ đề.</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Yêu cầu cần đạt lấy từ khung 'Kiến thức, kĩ năng' SGK tr.46.</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Chiếu để HS nắm lộ trình bài học.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Tiết 1 (45'): Khởi động 7' – Khái niệm vectơ 13' – Cùng phương, cùng hướng, bằng nhau 15' – GeoGebra, trò chơi 7' – Tổng kết 3'.</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 Chiếu video mở đầu (có phụ đề). HS suy nghĩ 1', trao đổi cặp. GV ghi nhận dự đoán, chưa chốt – câu trả lời là VECTƠ (chốt sau khung kiến thức mục 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HĐ1 (SGK tr.47) – 4'. Click 1: hướng; click 2: quãng đường 10√2 ≈ 14,14 km (Pythagore).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GV chốt khung kiến thức (SGK tr.47) và trả lời câu hỏi mở đầu: dùng VECTƠ để biểu diễn vận tốc gió. Chú ý kí hiệu (2').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Ví dụ 1: GV hướng dẫn (click 1). Luyện tập 1: HS làm cá nhân 2' (click 2). Có 6 vectơ: hai chiều trên mỗi cạnh.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HĐ2 (SGK tr.47) – 3'. Click 1: a) đúng; b) sai (hai chiều xe); c) đúng.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GV chốt khung (SGK tr.48). Hình 4.7: mỗi cặp trong AB, a, x, y, z cùng phương; b không cùng phương với các vectơ trên.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HĐ3 (SGK tr.48) – 3'. Click 1: cùng hướng với a: AB, y; ngược hướng: x, z (quan sát mũi tên trên Hình 4.7).</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GV chốt khung và Chú ý (SGK tr.48). 3'.</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GV kéo điểm, HS nhận xét. Lệnh: A=(0,0), B=(3,1), u=Vector(A,B), C=(1,-3), D=C+u, v=Vector(C,D), E=C-u, w=Vector(C,E).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Luật in trên slide (cho HS khiếm thính lớp 10A7). Click lần lượt lật đáp án. Đáp án: S – Đ – S – Đ – Đ.</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Tiết 2 (45'): Khởi động 'Ai tinh mắt?' 6' – Ví dụ 2, LT2: 9' – Ví dụ 3, LT3, GeoGebra 10' – Ví dụ 4, Vận dụng 8' – Bài tập 9' – Củng cố 3'.</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Click 1–3 hiện đáp án (đã kiểm tra bằng toạ độ). Ôn lại: bằng nhau = cùng độ dài + cùng hướng.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GV hướng dẫn, HS trả lời miệng. Click 1: đáp án.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 làm cặp 3'. Click 1. Hình thang cân: không có cặp vectơ nào bằng nhau.</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GV trình bày 2 chiều chứng minh (click 1, 2), chốt Nhận xét.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Dẫn vào Luyện tập 3. Lệnh: A=(0,0), B=(4,2), C=(6,3), f=Line(A,B), u=Vector(A,B), w=Vector(A,C), thangHang=AreCollinear(A,B,C).</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 làm cá nhân 2'. Click 1: d). Theo SGV/KHBD: c) chỉ là điều kiện cần (M ngoài đoạn AB về phía B vẫn có AB, AM cùng hướng).</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Chú ý + Ví dụ 4 (SGK tr.49 – 50) – 5'. Click 1: hình đúng là 4.11b; click 2: d' = 3d. Liên hệ Vật lí (lực đẩy Archimedes).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Click 1: Hình 4.11b đúng; click 2: d' = 3d.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Theo SGV: |v| = 3, |va| = 18, |vb| = 12 (km/h) ⇒ tỉ lệ 1 : 6 : 4. Click 1: hình; click 2: cùng phương; click 3: ngược hướng.</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Chữa bài: gọi HS trình bày, click hiện đáp án (đối chiếu SGV tr.102 và KHBD).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Chữa bài: gọi HS trình bày, click hiện đáp án (đối chiếu SGV tr.102 và KHBD).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Chữa bài: gọi HS trình bày, click hiện đáp án (đối chiếu SGV tr.102 và KHBD).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HS quét QR làm bài củng cố online ở nhà. Đáp án chỉ mở khi GV cho phép.</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Củng cố cuối bài: HS nhìn sơ đồ nhắc lại các khái niệm.</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ẩn – chỉ GV xem khi chuẩn bị.</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ẩn – chỉ GV xem khi chuẩn bị.</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gtu66.github.io/Taode_thi_online/mon/toan/video/lop10/VIDEO_MoDau_TOAN10_Bai7_CacKhaiNiemMoDau.mp4"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trangtu66.github.io/Taode_thi_online/GGB_T10_Bai7_1_VectoBangNhau.html" TargetMode="External"/><Relationship Id="rId4" Type="http://schemas.openxmlformats.org/officeDocument/2006/relationships/image" Target="../media/image6.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trangtu66.github.io/Taode_thi_online/GGB_T10_Bai7_2_BaDiemThangHang.html" TargetMode="External"/><Relationship Id="rId4" Type="http://schemas.openxmlformats.org/officeDocument/2006/relationships/image" Target="../media/image10.png"/><Relationship Id="rId5"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hyperlink" Target="https://trangtu66.github.io/Taode_thi_online/cc_bai7_t10.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CHƯƠNG IV. VECTƠ</a:t>
            </a:r>
          </a:p>
          <a:p>
            <a:pPr>
              <a:spcAft>
                <a:spcPts val="600"/>
              </a:spcAft>
            </a:pPr>
            <a:r>
              <a:rPr sz="3000" b="1">
                <a:solidFill>
                  <a:srgbClr val="FFFFFF"/>
                </a:solidFill>
                <a:latin typeface="Cambria"/>
              </a:rPr>
              <a:t>BÀI 7</a:t>
            </a:r>
          </a:p>
          <a:p>
            <a:pPr>
              <a:spcAft>
                <a:spcPts val="600"/>
              </a:spcAft>
            </a:pPr>
            <a:r>
              <a:rPr sz="4800" b="1">
                <a:solidFill>
                  <a:srgbClr val="FFFFFF"/>
                </a:solidFill>
                <a:latin typeface="Cambria"/>
              </a:rPr>
              <a:t>CÁC KHÁI NIỆM MỞ ĐẦU</a:t>
            </a:r>
          </a:p>
        </p:txBody>
      </p:sp>
      <p:sp>
        <p:nvSpPr>
          <p:cNvPr id="5" name="TextBox 4"/>
          <p:cNvSpPr txBox="1"/>
          <p:nvPr/>
        </p:nvSpPr>
        <p:spPr>
          <a:xfrm>
            <a:off x="1097280" y="4343400"/>
            <a:ext cx="10332720" cy="430887"/>
          </a:xfrm>
          <a:prstGeom prst="rect">
            <a:avLst/>
          </a:prstGeom>
          <a:noFill/>
        </p:spPr>
        <p:txBody>
          <a:bodyPr wrap="square" lIns="45720" rIns="45720" anchor="t">
            <a:spAutoFit/>
          </a:bodyPr>
          <a:lstStyle/>
          <a:p>
            <a:pPr algn="l">
              <a:spcAft>
                <a:spcPts val="800"/>
              </a:spcAft>
            </a:pPr>
            <a:r>
              <a:rPr sz="2200">
                <a:solidFill>
                  <a:srgbClr val="E0E7FF"/>
                </a:solidFill>
                <a:latin typeface="Calibri"/>
              </a:rPr>
              <a:t>2 tiết: T26 – T27</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2</a:t>
            </a:r>
          </a:p>
        </p:txBody>
      </p:sp>
      <p:sp>
        <p:nvSpPr>
          <p:cNvPr id="7" name="Rounded Rectangle 6"/>
          <p:cNvSpPr/>
          <p:nvPr/>
        </p:nvSpPr>
        <p:spPr>
          <a:xfrm>
            <a:off x="548640" y="1417320"/>
            <a:ext cx="11064240" cy="180746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1453896"/>
            <a:ext cx="10735056" cy="1734312"/>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tr.46)</a:t>
            </a:r>
          </a:p>
          <a:p>
            <a:pPr marL="365760" indent="-365760" algn="l">
              <a:spcAft>
                <a:spcPts val="800"/>
              </a:spcAft>
              <a:buClr>
                <a:srgbClr val="1E40AF"/>
              </a:buClr>
              <a:buFont typeface="Arial"/>
              <a:buChar char="•"/>
            </a:pPr>
            <a:r>
              <a:rPr sz="2200">
                <a:solidFill>
                  <a:srgbClr val="1E293B"/>
                </a:solidFill>
                <a:latin typeface="Calibri"/>
              </a:rPr>
              <a:t>Nhận biết khái niệm vectơ, hai vectơ cùng phương, hai vectơ cùng hướng, hai vectơ bằng nhau, vectơ-không.</a:t>
            </a:r>
          </a:p>
          <a:p>
            <a:pPr marL="365760" indent="-365760" algn="l">
              <a:spcAft>
                <a:spcPts val="800"/>
              </a:spcAft>
              <a:buClr>
                <a:srgbClr val="1E40AF"/>
              </a:buClr>
              <a:buFont typeface="Arial"/>
              <a:buChar char="•"/>
            </a:pPr>
            <a:r>
              <a:rPr sz="2200">
                <a:solidFill>
                  <a:srgbClr val="1E293B"/>
                </a:solidFill>
                <a:latin typeface="Calibri"/>
              </a:rPr>
              <a:t>Biểu thị một số đại lượng như lực, vận tốc bằng vectơ.</a:t>
            </a:r>
          </a:p>
        </p:txBody>
      </p:sp>
      <p:sp>
        <p:nvSpPr>
          <p:cNvPr id="9" name="TextBox 8"/>
          <p:cNvSpPr txBox="1"/>
          <p:nvPr/>
        </p:nvSpPr>
        <p:spPr>
          <a:xfrm>
            <a:off x="548640" y="3453384"/>
            <a:ext cx="11064240" cy="274320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(nhận biết, so sánh vectơ); mô hình hoá (biểu diễn lực, vận tốc bằng vectơ); giao tiếp toán học (dùng đúng kí hiệu); sử dụng công cụ (GeoGebra).</a:t>
            </a:r>
          </a:p>
          <a:p>
            <a:pPr marL="365760" indent="-365760" algn="l">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khi tự kiểm tra kết quả, trách nhiệm khi làm việc nhóm.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2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27632"/>
            <a:ext cx="1188720" cy="594360"/>
          </a:xfrm>
          <a:prstGeom prst="rect">
            <a:avLst/>
          </a:prstGeom>
          <a:noFill/>
        </p:spPr>
        <p:txBody>
          <a:bodyPr wrap="square" lIns="45720" rIns="45720" anchor="t">
            <a:spAutoFit/>
          </a:bodyPr>
          <a:lstStyle/>
          <a:p>
            <a:pPr algn="ctr">
              <a:spcAft>
                <a:spcPts val="800"/>
              </a:spcAft>
            </a:pPr>
            <a:r>
              <a:rPr sz="2400" b="1">
                <a:solidFill>
                  <a:srgbClr val="FFFFFF"/>
                </a:solidFill>
                <a:latin typeface="Calibri"/>
              </a:rPr>
              <a:t>T26</a:t>
            </a:r>
          </a:p>
        </p:txBody>
      </p:sp>
      <p:sp>
        <p:nvSpPr>
          <p:cNvPr id="9" name="TextBox 8"/>
          <p:cNvSpPr txBox="1"/>
          <p:nvPr/>
        </p:nvSpPr>
        <p:spPr>
          <a:xfrm>
            <a:off x="1920240" y="1645920"/>
            <a:ext cx="6035040" cy="731520"/>
          </a:xfrm>
          <a:prstGeom prst="rect">
            <a:avLst/>
          </a:prstGeom>
          <a:noFill/>
        </p:spPr>
        <p:txBody>
          <a:bodyPr wrap="square" lIns="45720" rIns="45720" anchor="t">
            <a:spAutoFit/>
          </a:bodyPr>
          <a:lstStyle/>
          <a:p>
            <a:pPr algn="l">
              <a:spcAft>
                <a:spcPts val="800"/>
              </a:spcAft>
            </a:pPr>
            <a:r>
              <a:rPr sz="2200">
                <a:solidFill>
                  <a:srgbClr val="1E293B"/>
                </a:solidFill>
                <a:latin typeface="Calibri"/>
              </a:rPr>
              <a:t>1. Khái niệm vectơ. 2. Hai vectơ cùng phương, cùng hướng, bằng nhau</a:t>
            </a:r>
          </a:p>
        </p:txBody>
      </p:sp>
      <p:sp>
        <p:nvSpPr>
          <p:cNvPr id="10" name="TextBox 9"/>
          <p:cNvSpPr txBox="1"/>
          <p:nvPr/>
        </p:nvSpPr>
        <p:spPr>
          <a:xfrm>
            <a:off x="8046720" y="1645920"/>
            <a:ext cx="3749039" cy="731520"/>
          </a:xfrm>
          <a:prstGeom prst="rect">
            <a:avLst/>
          </a:prstGeom>
          <a:noFill/>
        </p:spPr>
        <p:txBody>
          <a:bodyPr wrap="square" lIns="45720" rIns="45720" anchor="t">
            <a:spAutoFit/>
          </a:bodyPr>
          <a:lstStyle/>
          <a:p>
            <a:pPr algn="l">
              <a:spcAft>
                <a:spcPts val="800"/>
              </a:spcAft>
            </a:pPr>
            <a:r>
              <a:rPr sz="2000">
                <a:solidFill>
                  <a:srgbClr val="1E293B"/>
                </a:solidFill>
                <a:latin typeface="Calibri"/>
              </a:rPr>
              <a:t>🎮 Đúng hay Sai? · GeoGebra</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587752"/>
            <a:ext cx="1188720" cy="594360"/>
          </a:xfrm>
          <a:prstGeom prst="rect">
            <a:avLst/>
          </a:prstGeom>
          <a:noFill/>
        </p:spPr>
        <p:txBody>
          <a:bodyPr wrap="square" lIns="45720" rIns="45720" anchor="t">
            <a:spAutoFit/>
          </a:bodyPr>
          <a:lstStyle/>
          <a:p>
            <a:pPr algn="ctr">
              <a:spcAft>
                <a:spcPts val="800"/>
              </a:spcAft>
            </a:pPr>
            <a:r>
              <a:rPr sz="2400" b="1">
                <a:solidFill>
                  <a:srgbClr val="FFFFFF"/>
                </a:solidFill>
                <a:latin typeface="Calibri"/>
              </a:rPr>
              <a:t>T27</a:t>
            </a:r>
          </a:p>
        </p:txBody>
      </p:sp>
      <p:sp>
        <p:nvSpPr>
          <p:cNvPr id="13" name="TextBox 12"/>
          <p:cNvSpPr txBox="1"/>
          <p:nvPr/>
        </p:nvSpPr>
        <p:spPr>
          <a:xfrm>
            <a:off x="1920240" y="2606040"/>
            <a:ext cx="6035040" cy="731520"/>
          </a:xfrm>
          <a:prstGeom prst="rect">
            <a:avLst/>
          </a:prstGeom>
          <a:noFill/>
        </p:spPr>
        <p:txBody>
          <a:bodyPr wrap="square" lIns="45720" rIns="45720" anchor="t">
            <a:spAutoFit/>
          </a:bodyPr>
          <a:lstStyle/>
          <a:p>
            <a:pPr algn="l">
              <a:spcAft>
                <a:spcPts val="800"/>
              </a:spcAft>
            </a:pPr>
            <a:r>
              <a:rPr sz="2200">
                <a:solidFill>
                  <a:srgbClr val="1E293B"/>
                </a:solidFill>
                <a:latin typeface="Calibri"/>
              </a:rPr>
              <a:t>Ba điểm thẳng hàng; biểu diễn lực, vận tốc; Bài tập 4.1 – 4.5</a:t>
            </a:r>
          </a:p>
        </p:txBody>
      </p:sp>
      <p:sp>
        <p:nvSpPr>
          <p:cNvPr id="14" name="TextBox 13"/>
          <p:cNvSpPr txBox="1"/>
          <p:nvPr/>
        </p:nvSpPr>
        <p:spPr>
          <a:xfrm>
            <a:off x="8046720" y="2606040"/>
            <a:ext cx="3749039" cy="731520"/>
          </a:xfrm>
          <a:prstGeom prst="rect">
            <a:avLst/>
          </a:prstGeom>
          <a:noFill/>
        </p:spPr>
        <p:txBody>
          <a:bodyPr wrap="square" lIns="45720" rIns="45720" anchor="t">
            <a:spAutoFit/>
          </a:bodyPr>
          <a:lstStyle/>
          <a:p>
            <a:pPr algn="l">
              <a:spcAft>
                <a:spcPts val="800"/>
              </a:spcAft>
            </a:pPr>
            <a:r>
              <a:rPr sz="2000">
                <a:solidFill>
                  <a:srgbClr val="1E293B"/>
                </a:solidFill>
                <a:latin typeface="Calibri"/>
              </a:rPr>
              <a:t>🎮 Ai tinh mắt? · GeoGebra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(T26)</a:t>
            </a:r>
          </a:p>
          <a:p>
            <a:pPr>
              <a:spcAft>
                <a:spcPts val="600"/>
              </a:spcAft>
            </a:pPr>
            <a:r>
              <a:rPr sz="4000" b="1">
                <a:solidFill>
                  <a:srgbClr val="FFFFFF"/>
                </a:solidFill>
                <a:latin typeface="Cambria"/>
              </a:rPr>
              <a:t>Khái niệm vectơ. Hai vectơ cùng phương, cùng hướng, bằng nhau</a:t>
            </a:r>
          </a:p>
        </p:txBody>
      </p:sp>
      <p:sp>
        <p:nvSpPr>
          <p:cNvPr id="5" name="TextBox 4"/>
          <p:cNvSpPr txBox="1"/>
          <p:nvPr/>
        </p:nvSpPr>
        <p:spPr>
          <a:xfrm>
            <a:off x="1097280" y="4343400"/>
            <a:ext cx="10332720" cy="1828800"/>
          </a:xfrm>
          <a:prstGeom prst="rect">
            <a:avLst/>
          </a:prstGeom>
          <a:noFill/>
        </p:spPr>
        <p:txBody>
          <a:bodyPr wrap="square" lIns="45720" rIns="45720" anchor="t">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vectơ, độ dài, giá của vectơ.</a:t>
            </a:r>
          </a:p>
          <a:p>
            <a:pPr algn="l">
              <a:spcAft>
                <a:spcPts val="800"/>
              </a:spcAft>
            </a:pPr>
            <a:r>
              <a:rPr sz="2200">
                <a:solidFill>
                  <a:srgbClr val="E0E7FF"/>
                </a:solidFill>
                <a:latin typeface="Calibri"/>
              </a:rPr>
              <a:t>• Nhận biết hai vectơ cùng phương, cùng hướng, ngược hướng, bằng nhau; vectơ-không.</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CÂU HỎI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5</a:t>
            </a:r>
          </a:p>
        </p:txBody>
      </p:sp>
      <p:sp>
        <p:nvSpPr>
          <p:cNvPr id="7" name="TextBox 6"/>
          <p:cNvSpPr txBox="1"/>
          <p:nvPr/>
        </p:nvSpPr>
        <p:spPr>
          <a:xfrm>
            <a:off x="548640" y="1417320"/>
            <a:ext cx="6583680" cy="3840480"/>
          </a:xfrm>
          <a:prstGeom prst="rect">
            <a:avLst/>
          </a:prstGeom>
          <a:noFill/>
        </p:spPr>
        <p:txBody>
          <a:bodyPr wrap="square" lIns="45720" rIns="45720" anchor="t">
            <a:spAutoFit/>
          </a:bodyPr>
          <a:lstStyle/>
          <a:p>
            <a:pPr algn="l">
              <a:spcAft>
                <a:spcPts val="800"/>
              </a:spcAft>
            </a:pPr>
            <a:r>
              <a:rPr sz="2200">
                <a:solidFill>
                  <a:srgbClr val="1E293B"/>
                </a:solidFill>
                <a:latin typeface="Calibri"/>
              </a:rPr>
              <a:t>Nhiệt độ và gió là hai yếu tố luôn cùng được đề cập trong các bản tin dự báo thời tiết. Tuy nhiên, nhiệt độ là đại lượng chỉ có độ lớn, còn gió có cả hướng và độ lớn. Với một đơn vị đo, ta có thể dùng số để biểu diễn nhiệt độ. </a:t>
            </a:r>
            <a:r>
              <a:rPr sz="2200" b="1">
                <a:solidFill>
                  <a:srgbClr val="1E293B"/>
                </a:solidFill>
                <a:latin typeface="Calibri"/>
              </a:rPr>
              <a:t>Đối với các đại lượng gồm hướng và độ lớn như vận tốc gió thì sao? Ta có thể dùng đối tượng toán học nào để biểu diễn chúng?</a:t>
            </a:r>
          </a:p>
          <a:p>
            <a:pPr algn="l">
              <a:spcAft>
                <a:spcPts val="800"/>
              </a:spcAft>
            </a:pPr>
            <a:r>
              <a:rPr sz="2000">
                <a:solidFill>
                  <a:srgbClr val="64748B"/>
                </a:solidFill>
                <a:latin typeface="Calibri"/>
              </a:rPr>
              <a:t>(SGK Toán 10 tập một, tr.46)</a:t>
            </a:r>
          </a:p>
        </p:txBody>
      </p:sp>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thoitiet.png"/>
          <p:cNvPicPr>
            <a:picLocks noChangeAspect="1"/>
          </p:cNvPicPr>
          <p:nvPr/>
        </p:nvPicPr>
        <p:blipFill>
          <a:blip r:embed="rId5"/>
          <a:stretch>
            <a:fillRect/>
          </a:stretch>
        </p:blipFill>
        <p:spPr>
          <a:xfrm>
            <a:off x="7315200" y="2083136"/>
            <a:ext cx="4389120" cy="2783167"/>
          </a:xfrm>
          <a:prstGeom prst="rect">
            <a:avLst/>
          </a:prstGeom>
        </p:spPr>
      </p:pic>
      <p:sp>
        <p:nvSpPr>
          <p:cNvPr id="11" name="TextBox 10"/>
          <p:cNvSpPr txBox="1"/>
          <p:nvPr/>
        </p:nvSpPr>
        <p:spPr>
          <a:xfrm>
            <a:off x="7315200" y="5504688"/>
            <a:ext cx="4389120" cy="365760"/>
          </a:xfrm>
          <a:prstGeom prst="rect">
            <a:avLst/>
          </a:prstGeom>
          <a:noFill/>
        </p:spPr>
        <p:txBody>
          <a:bodyPr wrap="square" lIns="45720" rIns="45720" anchor="t">
            <a:spAutoFit/>
          </a:bodyPr>
          <a:lstStyle/>
          <a:p>
            <a:pPr algn="ctr">
              <a:spcAft>
                <a:spcPts val="800"/>
              </a:spcAft>
            </a:pPr>
            <a:r>
              <a:rPr sz="1600">
                <a:solidFill>
                  <a:srgbClr val="64748B"/>
                </a:solidFill>
                <a:latin typeface="Calibri"/>
              </a:rPr>
              <a:t>Bản tin: Nhiệt độ 30 °C; Gió: đông nam, 18 km/h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KHÁI NIỆM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6</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7680960" cy="1850136"/>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HĐ1.</a:t>
                </a:r>
                <a:r>
                  <a:rPr sz="2200">
                    <a:solidFill>
                      <a:srgbClr val="1E293B"/>
                    </a:solidFill>
                    <a:latin typeface="Calibri"/>
                  </a:rPr>
                  <a:t> Một con tàu khởi hành từ đảo </a:t>
                </a:r>
                <a14:m>
                  <m:oMath xmlns:m="http://schemas.openxmlformats.org/officeDocument/2006/math">
                    <m:r>
                      <a:rPr lang="vi-VN" sz="2200" b="0">
                        <a:solidFill>
                          <a:srgbClr val="1E293B"/>
                        </a:solidFill>
                        <a:latin typeface="Cambria Math" panose="02040503050406030204" pitchFamily="18" charset="0"/>
                      </a:rPr>
                      <m:t>𝐴</m:t>
                    </m:r>
                  </m:oMath>
                </a14:m>
                <a:r>
                  <a:rPr sz="2200">
                    <a:solidFill>
                      <a:srgbClr val="1E293B"/>
                    </a:solidFill>
                    <a:latin typeface="Calibri"/>
                  </a:rPr>
                  <a:t>, đi thẳng về hướng đông 10 km rồi đi thẳng tiếp 10 km về hướng nam thì tới đảo </a:t>
                </a:r>
                <a14:m>
                  <m:oMath xmlns:m="http://schemas.openxmlformats.org/officeDocument/2006/math">
                    <m:r>
                      <a:rPr lang="vi-VN" sz="2200" b="0">
                        <a:solidFill>
                          <a:srgbClr val="1E293B"/>
                        </a:solidFill>
                        <a:latin typeface="Cambria Math" panose="02040503050406030204" pitchFamily="18" charset="0"/>
                      </a:rPr>
                      <m:t>𝐵</m:t>
                    </m:r>
                  </m:oMath>
                </a14:m>
                <a:r>
                  <a:rPr sz="2200">
                    <a:solidFill>
                      <a:srgbClr val="1E293B"/>
                    </a:solidFill>
                    <a:latin typeface="Calibri"/>
                  </a:rPr>
                  <a:t> (H.4.2). Nếu từ đảo </a:t>
                </a:r>
                <a14:m>
                  <m:oMath xmlns:m="http://schemas.openxmlformats.org/officeDocument/2006/math">
                    <m:r>
                      <a:rPr lang="vi-VN" sz="2200" b="0">
                        <a:solidFill>
                          <a:srgbClr val="1E293B"/>
                        </a:solidFill>
                        <a:latin typeface="Cambria Math" panose="02040503050406030204" pitchFamily="18" charset="0"/>
                      </a:rPr>
                      <m:t>𝐴</m:t>
                    </m:r>
                  </m:oMath>
                </a14:m>
                <a:r>
                  <a:rPr sz="2200">
                    <a:solidFill>
                      <a:srgbClr val="1E293B"/>
                    </a:solidFill>
                    <a:latin typeface="Calibri"/>
                  </a:rPr>
                  <a:t>, tàu đi thẳng (không đổi hướng) tới đảo </a:t>
                </a:r>
                <a14:m>
                  <m:oMath xmlns:m="http://schemas.openxmlformats.org/officeDocument/2006/math">
                    <m:r>
                      <a:rPr lang="vi-VN" sz="2200" b="0">
                        <a:solidFill>
                          <a:srgbClr val="1E293B"/>
                        </a:solidFill>
                        <a:latin typeface="Cambria Math" panose="02040503050406030204" pitchFamily="18" charset="0"/>
                      </a:rPr>
                      <m:t>𝐵</m:t>
                    </m:r>
                  </m:oMath>
                </a14:m>
                <a:r>
                  <a:rPr sz="2200">
                    <a:solidFill>
                      <a:srgbClr val="1E293B"/>
                    </a:solidFill>
                    <a:latin typeface="Calibri"/>
                  </a:rPr>
                  <a:t>, thì phải đi theo hướng nào và quãng đường phải đi dài bao nhiêu kilômét?</a:t>
                </a:r>
              </a:p>
            </p:txBody>
          </p:sp>
        </mc:Choice>
        <mc:Fallback xmlns="">
          <p:sp>
            <p:nvSpPr>
              <p:cNvPr id="7" name="TextBox 6"/>
              <p:cNvSpPr txBox="1"/>
              <p:nvPr/>
            </p:nvSpPr>
            <p:spPr>
              <a:xfrm>
                <a:off x="548640" y="1371600"/>
                <a:ext cx="7680960" cy="185013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HĐ1.</a:t>
                </a:r>
                <a:r>
                  <a:rPr sz="2200">
                    <a:solidFill>
                      <a:srgbClr val="1E293B"/>
                    </a:solidFill>
                    <a:latin typeface="Calibri"/>
                  </a:rPr>
                  <a:t> Một con tàu khởi hành từ đảo </a:t>
                </a:r>
                <a:r>
                  <a:rPr lang="vi-VN"/>
                  <a:t>A</a:t>
                </a:r>
                <a:r>
                  <a:rPr sz="2200">
                    <a:solidFill>
                      <a:srgbClr val="1E293B"/>
                    </a:solidFill>
                    <a:latin typeface="Calibri"/>
                  </a:rPr>
                  <a:t>, đi thẳng về hướng đông 10 km rồi đi thẳng tiếp 10 km về hướng nam thì tới đảo </a:t>
                </a:r>
                <a:r>
                  <a:rPr lang="vi-VN"/>
                  <a:t>B</a:t>
                </a:r>
                <a:r>
                  <a:rPr sz="2200">
                    <a:solidFill>
                      <a:srgbClr val="1E293B"/>
                    </a:solidFill>
                    <a:latin typeface="Calibri"/>
                  </a:rPr>
                  <a:t> (H.4.2). Nếu từ đảo </a:t>
                </a:r>
                <a:r>
                  <a:rPr lang="vi-VN"/>
                  <a:t>A</a:t>
                </a:r>
                <a:r>
                  <a:rPr sz="2200">
                    <a:solidFill>
                      <a:srgbClr val="1E293B"/>
                    </a:solidFill>
                    <a:latin typeface="Calibri"/>
                  </a:rPr>
                  <a:t>, tàu đi thẳng (không đổi hướng) tới đảo </a:t>
                </a:r>
                <a:r>
                  <a:rPr lang="vi-VN"/>
                  <a:t>B</a:t>
                </a:r>
                <a:r>
                  <a:rPr sz="2200">
                    <a:solidFill>
                      <a:srgbClr val="1E293B"/>
                    </a:solidFill>
                    <a:latin typeface="Calibri"/>
                  </a:rPr>
                  <a:t>, thì phải đi theo hướng nào và quãng đường phải đi dài bao nhiêu kilômét?</a:t>
                </a:r>
              </a:p>
            </p:txBody>
          </p:sp>
        </mc:Fallback>
      </mc:AlternateContent>
      <p:sp>
        <p:nvSpPr>
          <p:cNvPr id="8" name="s1_nen"/>
          <p:cNvSpPr/>
          <p:nvPr/>
        </p:nvSpPr>
        <p:spPr>
          <a:xfrm>
            <a:off x="548640" y="3313176"/>
            <a:ext cx="76809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349752"/>
                <a:ext cx="7351776" cy="527304"/>
              </a:xfrm>
              <a:prstGeom prst="rect">
                <a:avLst/>
              </a:prstGeom>
              <a:noFill/>
            </p:spPr>
            <p:txBody>
              <a:bodyPr wrap="square" lIns="45720" rIns="45720" anchor="ctr">
                <a:spAutoFit/>
              </a:bodyPr>
              <a:lstStyle/>
              <a:p>
                <a:pPr algn="l">
                  <a:spcAft>
                    <a:spcPts val="800"/>
                  </a:spcAft>
                </a:pPr>
                <a:r>
                  <a:rPr sz="2200">
                    <a:solidFill>
                      <a:srgbClr val="1E293B"/>
                    </a:solidFill>
                    <a:latin typeface="Calibri"/>
                  </a:rPr>
                  <a:t>Hướng </a:t>
                </a:r>
                <a:r>
                  <a:rPr sz="2200" b="1">
                    <a:solidFill>
                      <a:srgbClr val="1E293B"/>
                    </a:solidFill>
                    <a:latin typeface="Calibri"/>
                  </a:rPr>
                  <a:t>đông nam</a:t>
                </a:r>
                <a:r>
                  <a:rPr sz="2200">
                    <a:solidFill>
                      <a:srgbClr val="1E293B"/>
                    </a:solidFill>
                    <a:latin typeface="Calibri"/>
                  </a:rPr>
                  <a:t> (từ </a:t>
                </a:r>
                <a14:m>
                  <m:oMath xmlns:m="http://schemas.openxmlformats.org/officeDocument/2006/math">
                    <m:r>
                      <a:rPr lang="vi-VN" sz="2200" b="0">
                        <a:solidFill>
                          <a:srgbClr val="1E293B"/>
                        </a:solidFill>
                        <a:latin typeface="Cambria Math" panose="02040503050406030204" pitchFamily="18" charset="0"/>
                      </a:rPr>
                      <m:t>𝐴</m:t>
                    </m:r>
                  </m:oMath>
                </a14:m>
                <a:r>
                  <a:rPr sz="2200">
                    <a:solidFill>
                      <a:srgbClr val="1E293B"/>
                    </a:solidFill>
                    <a:latin typeface="Calibri"/>
                  </a:rPr>
                  <a:t> thẳng tới </a:t>
                </a:r>
                <a14:m>
                  <m:oMath xmlns:m="http://schemas.openxmlformats.org/officeDocument/2006/math">
                    <m:r>
                      <a:rPr lang="vi-VN" sz="2200" b="0">
                        <a:solidFill>
                          <a:srgbClr val="1E293B"/>
                        </a:solidFill>
                        <a:latin typeface="Cambria Math" panose="02040503050406030204" pitchFamily="18" charset="0"/>
                      </a:rPr>
                      <m:t>𝐵</m:t>
                    </m:r>
                  </m:oMath>
                </a14:m>
                <a:r>
                  <a:rPr sz="2200">
                    <a:solidFill>
                      <a:srgbClr val="1E293B"/>
                    </a:solidFill>
                    <a:latin typeface="Calibri"/>
                  </a:rPr>
                  <a:t>).</a:t>
                </a:r>
              </a:p>
            </p:txBody>
          </p:sp>
        </mc:Choice>
        <mc:Fallback xmlns="">
          <p:sp>
            <p:nvSpPr>
              <p:cNvPr id="9" name="TextBox 8"/>
              <p:cNvSpPr txBox="1"/>
              <p:nvPr/>
            </p:nvSpPr>
            <p:spPr>
              <a:xfrm>
                <a:off x="713232" y="3349752"/>
                <a:ext cx="73517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Hướng </a:t>
                </a:r>
                <a:r>
                  <a:rPr sz="2200" b="1">
                    <a:solidFill>
                      <a:srgbClr val="1E293B"/>
                    </a:solidFill>
                    <a:latin typeface="Calibri"/>
                  </a:rPr>
                  <a:t>đông nam</a:t>
                </a:r>
                <a:r>
                  <a:rPr sz="2200">
                    <a:solidFill>
                      <a:srgbClr val="1E293B"/>
                    </a:solidFill>
                    <a:latin typeface="Calibri"/>
                  </a:rPr>
                  <a:t> (từ </a:t>
                </a:r>
                <a:r>
                  <a:rPr lang="vi-VN"/>
                  <a:t>A</a:t>
                </a:r>
                <a:r>
                  <a:rPr sz="2200">
                    <a:solidFill>
                      <a:srgbClr val="1E293B"/>
                    </a:solidFill>
                    <a:latin typeface="Calibri"/>
                  </a:rPr>
                  <a:t> thẳng tới </a:t>
                </a:r>
                <a:r>
                  <a:rPr lang="vi-VN"/>
                  <a:t>B</a:t>
                </a:r>
                <a:r>
                  <a:rPr sz="2200">
                    <a:solidFill>
                      <a:srgbClr val="1E293B"/>
                    </a:solidFill>
                    <a:latin typeface="Calibri"/>
                  </a:rPr>
                  <a:t>).</a:t>
                </a:r>
              </a:p>
            </p:txBody>
          </p:sp>
        </mc:Fallback>
      </mc:AlternateContent>
      <p:sp>
        <p:nvSpPr>
          <p:cNvPr id="10" name="s2_nen"/>
          <p:cNvSpPr/>
          <p:nvPr/>
        </p:nvSpPr>
        <p:spPr>
          <a:xfrm>
            <a:off x="548640" y="4005072"/>
            <a:ext cx="76809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4041648"/>
                <a:ext cx="7351776" cy="527304"/>
              </a:xfrm>
              <a:prstGeom prst="rect">
                <a:avLst/>
              </a:prstGeom>
              <a:noFill/>
            </p:spPr>
            <p:txBody>
              <a:bodyPr wrap="square" lIns="45720" rIns="45720" anchor="ctr">
                <a:spAutoFit/>
              </a:bodyPr>
              <a:lstStyle/>
              <a:p>
                <a:pPr algn="l">
                  <a:spcAft>
                    <a:spcPts val="800"/>
                  </a:spcAft>
                </a:pPr>
                <a:r>
                  <a:rPr sz="2200">
                    <a:solidFill>
                      <a:srgbClr val="1E293B"/>
                    </a:solidFill>
                    <a:latin typeface="Calibri"/>
                  </a:rPr>
                  <a:t>Quãng đường: </a:t>
                </a:r>
                <a14:m>
                  <m:oMath xmlns:m="http://schemas.openxmlformats.org/officeDocument/2006/math">
                    <m:r>
                      <a:rPr lang="vi-VN" sz="2200" b="0">
                        <a:solidFill>
                          <a:srgbClr val="1E293B"/>
                        </a:solidFill>
                        <a:latin typeface="Cambria Math" panose="02040503050406030204" pitchFamily="18" charset="0"/>
                      </a:rPr>
                      <m:t>𝐴𝐵</m:t>
                    </m:r>
                    <m:r>
                      <a:rPr lang="vi-VN" sz="2200" b="0">
                        <a:solidFill>
                          <a:srgbClr val="1E293B"/>
                        </a:solidFill>
                        <a:latin typeface="Cambria Math" panose="02040503050406030204" pitchFamily="18" charset="0"/>
                      </a:rPr>
                      <m:t>=</m:t>
                    </m:r>
                    <m:rad>
                      <m:radPr>
                        <m:degHide m:val="on"/>
                        <m:ctrlPr>
                          <a:rPr lang="vi-VN" sz="2200" b="0" i="1">
                            <a:solidFill>
                              <a:srgbClr val="1E293B"/>
                            </a:solidFill>
                            <a:latin typeface="Cambria Math" panose="02040503050406030204" pitchFamily="18" charset="0"/>
                          </a:rPr>
                        </m:ctrlPr>
                      </m:radPr>
                      <m:deg/>
                      <m:e>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10</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10</m:t>
                            </m:r>
                          </m:e>
                          <m:sup>
                            <m:r>
                              <a:rPr lang="vi-VN" sz="2200" b="0">
                                <a:solidFill>
                                  <a:srgbClr val="1E293B"/>
                                </a:solidFill>
                                <a:latin typeface="Cambria Math" panose="02040503050406030204" pitchFamily="18" charset="0"/>
                              </a:rPr>
                              <m:t>2</m:t>
                            </m:r>
                          </m:sup>
                        </m:sSup>
                      </m:e>
                    </m:rad>
                    <m:r>
                      <a:rPr lang="vi-VN" sz="2200" b="0">
                        <a:solidFill>
                          <a:srgbClr val="1E293B"/>
                        </a:solidFill>
                        <a:latin typeface="Cambria Math" panose="02040503050406030204" pitchFamily="18" charset="0"/>
                      </a:rPr>
                      <m:t>=10</m:t>
                    </m:r>
                    <m:rad>
                      <m:radPr>
                        <m:degHide m:val="on"/>
                        <m:ctrlPr>
                          <a:rPr lang="vi-VN" sz="2200" b="0" i="1">
                            <a:solidFill>
                              <a:srgbClr val="1E293B"/>
                            </a:solidFill>
                            <a:latin typeface="Cambria Math" panose="02040503050406030204" pitchFamily="18" charset="0"/>
                          </a:rPr>
                        </m:ctrlPr>
                      </m:radPr>
                      <m:deg/>
                      <m:e>
                        <m:r>
                          <a:rPr lang="vi-VN" sz="2200" b="0">
                            <a:solidFill>
                              <a:srgbClr val="1E293B"/>
                            </a:solidFill>
                            <a:latin typeface="Cambria Math" panose="02040503050406030204" pitchFamily="18" charset="0"/>
                          </a:rPr>
                          <m:t>2</m:t>
                        </m:r>
                      </m:e>
                    </m:rad>
                    <m:r>
                      <a:rPr lang="vi-VN" sz="2200" b="0">
                        <a:solidFill>
                          <a:srgbClr val="1E293B"/>
                        </a:solidFill>
                        <a:latin typeface="Cambria Math" panose="02040503050406030204" pitchFamily="18" charset="0"/>
                      </a:rPr>
                      <m:t>≈14,14</m:t>
                    </m:r>
                  </m:oMath>
                </a14:m>
                <a:r>
                  <a:rPr sz="2200">
                    <a:solidFill>
                      <a:srgbClr val="1E293B"/>
                    </a:solidFill>
                    <a:latin typeface="Calibri"/>
                  </a:rPr>
                  <a:t> (km).</a:t>
                </a:r>
              </a:p>
            </p:txBody>
          </p:sp>
        </mc:Choice>
        <mc:Fallback xmlns="">
          <p:sp>
            <p:nvSpPr>
              <p:cNvPr id="11" name="TextBox 10"/>
              <p:cNvSpPr txBox="1"/>
              <p:nvPr/>
            </p:nvSpPr>
            <p:spPr>
              <a:xfrm>
                <a:off x="713232" y="4041648"/>
                <a:ext cx="73517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Quãng đường: </a:t>
                </a:r>
                <a:r>
                  <a:rPr lang="vi-VN"/>
                  <a:t>AB=\sqrt{10^2+10^2}=10\sqrt{2}\approx 14{,}14</a:t>
                </a:r>
                <a:r>
                  <a:rPr sz="2200">
                    <a:solidFill>
                      <a:srgbClr val="1E293B"/>
                    </a:solidFill>
                    <a:latin typeface="Calibri"/>
                  </a:rPr>
                  <a:t> (km).</a:t>
                </a:r>
              </a:p>
            </p:txBody>
          </p:sp>
        </mc:Fallback>
      </mc:AlternateContent>
      <p:pic>
        <p:nvPicPr>
          <p:cNvPr id="12" name="Picture 11" descr="h42.png"/>
          <p:cNvPicPr>
            <a:picLocks noChangeAspect="1"/>
          </p:cNvPicPr>
          <p:nvPr/>
        </p:nvPicPr>
        <p:blipFill>
          <a:blip r:embed="rId3"/>
          <a:stretch>
            <a:fillRect/>
          </a:stretch>
        </p:blipFill>
        <p:spPr>
          <a:xfrm>
            <a:off x="8412480" y="1825519"/>
            <a:ext cx="3291840" cy="20182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VECTƠ – ĐỘ DÀI CỦA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7</a:t>
            </a:r>
          </a:p>
        </p:txBody>
      </p:sp>
      <p:sp>
        <p:nvSpPr>
          <p:cNvPr id="7" name="Rounded Rectangle 6"/>
          <p:cNvSpPr/>
          <p:nvPr/>
        </p:nvSpPr>
        <p:spPr>
          <a:xfrm>
            <a:off x="548640" y="1371600"/>
            <a:ext cx="11064240" cy="13716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1408176"/>
            <a:ext cx="10735056" cy="1298448"/>
          </a:xfrm>
          <a:prstGeom prst="rect">
            <a:avLst/>
          </a:prstGeom>
          <a:noFill/>
        </p:spPr>
        <p:txBody>
          <a:bodyPr wrap="square" lIns="45720" rIns="45720" anchor="ctr">
            <a:spAutoFit/>
          </a:bodyPr>
          <a:lstStyle/>
          <a:p>
            <a:pPr marL="365760" indent="-365760" algn="l">
              <a:spcAft>
                <a:spcPts val="800"/>
              </a:spcAft>
              <a:buClr>
                <a:srgbClr val="1E40AF"/>
              </a:buClr>
              <a:buFont typeface="Arial"/>
              <a:buChar char="•"/>
            </a:pPr>
            <a:r>
              <a:rPr sz="2200" b="1">
                <a:solidFill>
                  <a:srgbClr val="1E293B"/>
                </a:solidFill>
                <a:latin typeface="Calibri"/>
              </a:rPr>
              <a:t>Vectơ</a:t>
            </a:r>
            <a:r>
              <a:rPr sz="2200">
                <a:solidFill>
                  <a:srgbClr val="1E293B"/>
                </a:solidFill>
                <a:latin typeface="Calibri"/>
              </a:rPr>
              <a:t> là một đoạn thẳng có hướng, nghĩa là, trong hai điểm mút của đoạn thẳng, đã chỉ rõ điểm đầu, điểm cuối.</a:t>
            </a:r>
          </a:p>
          <a:p>
            <a:pPr marL="365760" indent="-365760" algn="l">
              <a:spcAft>
                <a:spcPts val="800"/>
              </a:spcAft>
              <a:buClr>
                <a:srgbClr val="1E40AF"/>
              </a:buClr>
              <a:buFont typeface="Arial"/>
              <a:buChar char="•"/>
            </a:pPr>
            <a:r>
              <a:rPr sz="2200" b="1">
                <a:solidFill>
                  <a:srgbClr val="1E293B"/>
                </a:solidFill>
                <a:latin typeface="Calibri"/>
              </a:rPr>
              <a:t>Độ dài của vectơ</a:t>
            </a:r>
            <a:r>
              <a:rPr sz="2200">
                <a:solidFill>
                  <a:srgbClr val="1E293B"/>
                </a:solidFill>
                <a:latin typeface="Calibri"/>
              </a:rPr>
              <a:t> là khoảng cách giữa điểm đầu và điểm cuối của vectơ đó.</a:t>
            </a:r>
          </a:p>
        </p:txBody>
      </p:sp>
      <mc:AlternateContent xmlns:mc="http://schemas.openxmlformats.org/markup-compatibility/2006" xmlns:a14="http://schemas.microsoft.com/office/drawing/2010/main">
        <mc:Choice Requires="a14">
          <p:sp>
            <p:nvSpPr>
              <p:cNvPr id="9" name="TextBox 8"/>
              <p:cNvSpPr txBox="1"/>
              <p:nvPr/>
            </p:nvSpPr>
            <p:spPr>
              <a:xfrm>
                <a:off x="548640" y="2926080"/>
                <a:ext cx="11064240" cy="3291840"/>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Chú ý</a:t>
                </a:r>
              </a:p>
              <a:p>
                <a:pPr marL="365760" indent="-365760" algn="l">
                  <a:spcAft>
                    <a:spcPts val="800"/>
                  </a:spcAft>
                  <a:buClr>
                    <a:srgbClr val="1E40AF"/>
                  </a:buClr>
                  <a:buFont typeface="Arial"/>
                  <a:buChar char="•"/>
                </a:pPr>
                <a:r>
                  <a:rPr sz="2200">
                    <a:solidFill>
                      <a:srgbClr val="1E293B"/>
                    </a:solidFill>
                    <a:latin typeface="Calibri"/>
                  </a:rPr>
                  <a:t>Vectơ có điểm đầu </a:t>
                </a:r>
                <a14:m>
                  <m:oMath xmlns:m="http://schemas.openxmlformats.org/officeDocument/2006/math">
                    <m:r>
                      <a:rPr lang="vi-VN" sz="2200" b="0">
                        <a:solidFill>
                          <a:srgbClr val="1E293B"/>
                        </a:solidFill>
                        <a:latin typeface="Cambria Math" panose="02040503050406030204" pitchFamily="18" charset="0"/>
                      </a:rPr>
                      <m:t>𝐴</m:t>
                    </m:r>
                  </m:oMath>
                </a14:m>
                <a:r>
                  <a:rPr sz="2200">
                    <a:solidFill>
                      <a:srgbClr val="1E293B"/>
                    </a:solidFill>
                    <a:latin typeface="Calibri"/>
                  </a:rPr>
                  <a:t> và điểm cuối </a:t>
                </a:r>
                <a14:m>
                  <m:oMath xmlns:m="http://schemas.openxmlformats.org/officeDocument/2006/math">
                    <m:r>
                      <a:rPr lang="vi-VN" sz="2200" b="0">
                        <a:solidFill>
                          <a:srgbClr val="1E293B"/>
                        </a:solidFill>
                        <a:latin typeface="Cambria Math" panose="02040503050406030204" pitchFamily="18" charset="0"/>
                      </a:rPr>
                      <m:t>𝐵</m:t>
                    </m:r>
                  </m:oMath>
                </a14:m>
                <a:r>
                  <a:rPr sz="2200">
                    <a:solidFill>
                      <a:srgbClr val="1E293B"/>
                    </a:solidFill>
                    <a:latin typeface="Calibri"/>
                  </a:rPr>
                  <a:t> được kí hiệu là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đọc là vectơ </a:t>
                </a:r>
                <a14:m>
                  <m:oMath xmlns:m="http://schemas.openxmlformats.org/officeDocument/2006/math">
                    <m:r>
                      <a:rPr lang="vi-VN" sz="2200" b="0">
                        <a:solidFill>
                          <a:srgbClr val="1E293B"/>
                        </a:solidFill>
                        <a:latin typeface="Cambria Math" panose="02040503050406030204" pitchFamily="18" charset="0"/>
                      </a:rPr>
                      <m:t>𝐴𝐵</m:t>
                    </m:r>
                  </m:oMath>
                </a14:m>
                <a:r>
                  <a:rPr sz="2200">
                    <a:solidFill>
                      <a:srgbClr val="1E293B"/>
                    </a:solidFill>
                    <a:latin typeface="Calibri"/>
                  </a:rPr>
                  <a:t> (H.4.3).</a:t>
                </a:r>
              </a:p>
              <a:p>
                <a:pPr marL="365760" indent="-365760" algn="l">
                  <a:spcAft>
                    <a:spcPts val="800"/>
                  </a:spcAft>
                  <a:buClr>
                    <a:srgbClr val="1E40AF"/>
                  </a:buClr>
                  <a:buFont typeface="Arial"/>
                  <a:buChar char="•"/>
                </a:pPr>
                <a:r>
                  <a:rPr sz="2200">
                    <a:solidFill>
                      <a:srgbClr val="1E293B"/>
                    </a:solidFill>
                    <a:latin typeface="Calibri"/>
                  </a:rPr>
                  <a:t>Để vẽ một vectơ, ta vẽ đoạn thẳng nối điểm đầu và điểm cuối của nó, rồi đánh dấu mũi tên ở điểm cuối.</a:t>
                </a:r>
              </a:p>
              <a:p>
                <a:pPr marL="365760" indent="-365760" algn="l">
                  <a:spcAft>
                    <a:spcPts val="800"/>
                  </a:spcAft>
                  <a:buClr>
                    <a:srgbClr val="1E40AF"/>
                  </a:buClr>
                  <a:buFont typeface="Arial"/>
                  <a:buChar char="•"/>
                </a:pPr>
                <a:r>
                  <a:rPr sz="2200">
                    <a:solidFill>
                      <a:srgbClr val="1E293B"/>
                    </a:solidFill>
                    <a:latin typeface="Calibri"/>
                  </a:rPr>
                  <a:t>Vectơ còn được kí hiệu là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 </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𝑏</m:t>
                        </m:r>
                      </m:e>
                    </m:acc>
                    <m:r>
                      <a:rPr lang="vi-VN" sz="2200" b="0">
                        <a:solidFill>
                          <a:srgbClr val="1E293B"/>
                        </a:solidFill>
                        <a:latin typeface="Cambria Math" panose="02040503050406030204" pitchFamily="18" charset="0"/>
                      </a:rPr>
                      <m:t>, </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𝑥</m:t>
                        </m:r>
                      </m:e>
                    </m:acc>
                    <m:r>
                      <a:rPr lang="vi-VN" sz="2200" b="0">
                        <a:solidFill>
                          <a:srgbClr val="1E293B"/>
                        </a:solidFill>
                        <a:latin typeface="Cambria Math" panose="02040503050406030204" pitchFamily="18" charset="0"/>
                      </a:rPr>
                      <m:t>, </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𝑦</m:t>
                        </m:r>
                      </m:e>
                    </m:acc>
                    <m:r>
                      <a:rPr lang="vi-VN" sz="2200" b="0">
                        <a:solidFill>
                          <a:srgbClr val="1E293B"/>
                        </a:solidFill>
                        <a:latin typeface="Cambria Math" panose="02040503050406030204" pitchFamily="18" charset="0"/>
                      </a:rPr>
                      <m:t>,…</m:t>
                    </m:r>
                  </m:oMath>
                </a14:m>
                <a:r>
                  <a:rPr sz="2200">
                    <a:solidFill>
                      <a:srgbClr val="1E293B"/>
                    </a:solidFill>
                    <a:latin typeface="Calibri"/>
                  </a:rPr>
                  <a:t> (H.4.4).</a:t>
                </a:r>
              </a:p>
              <a:p>
                <a:pPr marL="365760" indent="-365760" algn="l">
                  <a:spcAft>
                    <a:spcPts val="800"/>
                  </a:spcAft>
                  <a:buClr>
                    <a:srgbClr val="1E40AF"/>
                  </a:buClr>
                  <a:buFont typeface="Arial"/>
                  <a:buChar char="•"/>
                </a:pPr>
                <a:r>
                  <a:rPr sz="2200">
                    <a:solidFill>
                      <a:srgbClr val="1E293B"/>
                    </a:solidFill>
                    <a:latin typeface="Calibri"/>
                  </a:rPr>
                  <a:t>Độ dài của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oMath>
                </a14:m>
                <a:r>
                  <a:rPr sz="2200">
                    <a:solidFill>
                      <a:srgbClr val="1E293B"/>
                    </a:solidFill>
                    <a:latin typeface="Calibri"/>
                  </a:rPr>
                  <a:t> tương ứng được kí hiệu là </a:t>
                </a:r>
                <a14:m>
                  <m:oMath xmlns:m="http://schemas.openxmlformats.org/officeDocument/2006/math">
                    <m:d>
                      <m:dPr>
                        <m:begChr m:val="|"/>
                        <m:endChr m:val="|"/>
                        <m:ctrlPr>
                          <a:rPr lang="vi-VN" sz="2200" b="0">
                            <a:solidFill>
                              <a:srgbClr val="1E293B"/>
                            </a:solidFill>
                            <a:latin typeface="Cambria Math" panose="02040503050406030204" pitchFamily="18" charset="0"/>
                          </a:rPr>
                        </m:ctrlPr>
                      </m:dPr>
                      <m:e>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e>
                    </m:d>
                  </m:oMath>
                </a14:m>
                <a:r>
                  <a:rPr sz="2200">
                    <a:solidFill>
                      <a:srgbClr val="1E293B"/>
                    </a:solidFill>
                    <a:latin typeface="Calibri"/>
                  </a:rPr>
                  <a:t>, </a:t>
                </a:r>
                <a14:m>
                  <m:oMath xmlns:m="http://schemas.openxmlformats.org/officeDocument/2006/math">
                    <m:d>
                      <m:dPr>
                        <m:begChr m:val="|"/>
                        <m:endChr m:val="|"/>
                        <m:ctrlPr>
                          <a:rPr lang="vi-VN" sz="2200" b="0">
                            <a:solidFill>
                              <a:srgbClr val="1E293B"/>
                            </a:solidFill>
                            <a:latin typeface="Cambria Math" panose="02040503050406030204" pitchFamily="18" charset="0"/>
                          </a:rPr>
                        </m:ctrlPr>
                      </m:dPr>
                      <m:e>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e>
                    </m:d>
                  </m:oMath>
                </a14:m>
                <a:r>
                  <a:rPr sz="2200">
                    <a:solidFill>
                      <a:srgbClr val="1E293B"/>
                    </a:solidFill>
                    <a:latin typeface="Calibri"/>
                  </a:rPr>
                  <a:t>.</a:t>
                </a:r>
              </a:p>
            </p:txBody>
          </p:sp>
        </mc:Choice>
        <mc:Fallback xmlns="">
          <p:sp>
            <p:nvSpPr>
              <p:cNvPr id="9" name="TextBox 8"/>
              <p:cNvSpPr txBox="1"/>
              <p:nvPr/>
            </p:nvSpPr>
            <p:spPr>
              <a:xfrm>
                <a:off x="548640" y="2926080"/>
                <a:ext cx="11064240" cy="329184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Chú ý</a:t>
                </a:r>
              </a:p>
              <a:p>
                <a:pPr algn="l" marL="365760" indent="-365760">
                  <a:spcAft>
                    <a:spcPts val="800"/>
                  </a:spcAft>
                  <a:buClr>
                    <a:srgbClr val="1E40AF"/>
                  </a:buClr>
                  <a:buFont typeface="Arial"/>
                  <a:buChar char="•"/>
                </a:pPr>
                <a:r>
                  <a:rPr sz="2200">
                    <a:solidFill>
                      <a:srgbClr val="1E293B"/>
                    </a:solidFill>
                    <a:latin typeface="Calibri"/>
                  </a:rPr>
                  <a:t>Vectơ có điểm đầu </a:t>
                </a:r>
                <a:r>
                  <a:rPr lang="vi-VN"/>
                  <a:t>A</a:t>
                </a:r>
                <a:r>
                  <a:rPr sz="2200">
                    <a:solidFill>
                      <a:srgbClr val="1E293B"/>
                    </a:solidFill>
                    <a:latin typeface="Calibri"/>
                  </a:rPr>
                  <a:t> và điểm cuối </a:t>
                </a:r>
                <a:r>
                  <a:rPr lang="vi-VN"/>
                  <a:t>B</a:t>
                </a:r>
                <a:r>
                  <a:rPr sz="2200">
                    <a:solidFill>
                      <a:srgbClr val="1E293B"/>
                    </a:solidFill>
                    <a:latin typeface="Calibri"/>
                  </a:rPr>
                  <a:t> được kí hiệu là </a:t>
                </a:r>
                <a:r>
                  <a:rPr lang="vi-VN"/>
                  <a:t>\overrightarrow{AB}</a:t>
                </a:r>
                <a:r>
                  <a:rPr sz="2200">
                    <a:solidFill>
                      <a:srgbClr val="1E293B"/>
                    </a:solidFill>
                    <a:latin typeface="Calibri"/>
                  </a:rPr>
                  <a:t>, đọc là vectơ </a:t>
                </a:r>
                <a:r>
                  <a:rPr lang="vi-VN"/>
                  <a:t>AB</a:t>
                </a:r>
                <a:r>
                  <a:rPr sz="2200">
                    <a:solidFill>
                      <a:srgbClr val="1E293B"/>
                    </a:solidFill>
                    <a:latin typeface="Calibri"/>
                  </a:rPr>
                  <a:t> (H.4.3).</a:t>
                </a:r>
              </a:p>
              <a:p>
                <a:pPr algn="l" marL="365760" indent="-365760">
                  <a:spcAft>
                    <a:spcPts val="800"/>
                  </a:spcAft>
                  <a:buClr>
                    <a:srgbClr val="1E40AF"/>
                  </a:buClr>
                  <a:buFont typeface="Arial"/>
                  <a:buChar char="•"/>
                </a:pPr>
                <a:r>
                  <a:rPr sz="2200">
                    <a:solidFill>
                      <a:srgbClr val="1E293B"/>
                    </a:solidFill>
                    <a:latin typeface="Calibri"/>
                  </a:rPr>
                  <a:t>Để vẽ một vectơ, ta vẽ đoạn thẳng nối điểm đầu và điểm cuối của nó, rồi đánh dấu mũi tên ở điểm cuối.</a:t>
                </a:r>
              </a:p>
              <a:p>
                <a:pPr algn="l" marL="365760" indent="-365760">
                  <a:spcAft>
                    <a:spcPts val="800"/>
                  </a:spcAft>
                  <a:buClr>
                    <a:srgbClr val="1E40AF"/>
                  </a:buClr>
                  <a:buFont typeface="Arial"/>
                  <a:buChar char="•"/>
                </a:pPr>
                <a:r>
                  <a:rPr sz="2200">
                    <a:solidFill>
                      <a:srgbClr val="1E293B"/>
                    </a:solidFill>
                    <a:latin typeface="Calibri"/>
                  </a:rPr>
                  <a:t>Vectơ còn được kí hiệu là </a:t>
                </a:r>
                <a:r>
                  <a:rPr lang="vi-VN"/>
                  <a:t>\vec{a},\ \vec{b},\ \vec{x},\ \vec{y},\ldots</a:t>
                </a:r>
                <a:r>
                  <a:rPr sz="2200">
                    <a:solidFill>
                      <a:srgbClr val="1E293B"/>
                    </a:solidFill>
                    <a:latin typeface="Calibri"/>
                  </a:rPr>
                  <a:t> (H.4.4).</a:t>
                </a:r>
              </a:p>
              <a:p>
                <a:pPr algn="l" marL="365760" indent="-365760">
                  <a:spcAft>
                    <a:spcPts val="800"/>
                  </a:spcAft>
                  <a:buClr>
                    <a:srgbClr val="1E40AF"/>
                  </a:buClr>
                  <a:buFont typeface="Arial"/>
                  <a:buChar char="•"/>
                </a:pPr>
                <a:r>
                  <a:rPr sz="2200">
                    <a:solidFill>
                      <a:srgbClr val="1E293B"/>
                    </a:solidFill>
                    <a:latin typeface="Calibri"/>
                  </a:rPr>
                  <a:t>Độ dài của vectơ </a:t>
                </a:r>
                <a:r>
                  <a:rPr lang="vi-VN"/>
                  <a:t>\overrightarrow{AB}</a:t>
                </a:r>
                <a:r>
                  <a:rPr sz="2200">
                    <a:solidFill>
                      <a:srgbClr val="1E293B"/>
                    </a:solidFill>
                    <a:latin typeface="Calibri"/>
                  </a:rPr>
                  <a:t>, </a:t>
                </a:r>
                <a:r>
                  <a:rPr lang="vi-VN"/>
                  <a:t>\vec{a}</a:t>
                </a:r>
                <a:r>
                  <a:rPr sz="2200">
                    <a:solidFill>
                      <a:srgbClr val="1E293B"/>
                    </a:solidFill>
                    <a:latin typeface="Calibri"/>
                  </a:rPr>
                  <a:t> tương ứng được kí hiệu là </a:t>
                </a:r>
                <a:r>
                  <a:rPr lang="vi-VN"/>
                  <a:t>|\overrightarrow{AB}|</a:t>
                </a:r>
                <a:r>
                  <a:rPr sz="2200">
                    <a:solidFill>
                      <a:srgbClr val="1E293B"/>
                    </a:solidFill>
                    <a:latin typeface="Calibri"/>
                  </a:rPr>
                  <a:t>, </a:t>
                </a:r>
                <a:r>
                  <a:rPr lang="vi-VN"/>
                  <a:t>|\vec{a}|</a:t>
                </a:r>
                <a:r>
                  <a:rPr sz="2200">
                    <a:solidFill>
                      <a:srgbClr val="1E293B"/>
                    </a:solidFill>
                    <a:latin typeface="Calibri"/>
                  </a:rPr>
                  <a:t>.</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VÍ DỤ 1 – LUYỆN TẬP 1 (SGK TR.47)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8</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844295"/>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Ví dụ 1.</a:t>
                </a:r>
                <a:r>
                  <a:rPr sz="2200">
                    <a:solidFill>
                      <a:srgbClr val="1E293B"/>
                    </a:solidFill>
                    <a:latin typeface="Calibri"/>
                  </a:rPr>
                  <a:t> Cho hình vuông </a:t>
                </a:r>
                <a14:m>
                  <m:oMath xmlns:m="http://schemas.openxmlformats.org/officeDocument/2006/math">
                    <m:r>
                      <a:rPr lang="vi-VN" sz="2200" b="0">
                        <a:solidFill>
                          <a:srgbClr val="1E293B"/>
                        </a:solidFill>
                        <a:latin typeface="Cambria Math" panose="02040503050406030204" pitchFamily="18" charset="0"/>
                      </a:rPr>
                      <m:t>𝐴𝐵𝐶𝐷</m:t>
                    </m:r>
                  </m:oMath>
                </a14:m>
                <a:r>
                  <a:rPr sz="2200">
                    <a:solidFill>
                      <a:srgbClr val="1E293B"/>
                    </a:solidFill>
                    <a:latin typeface="Calibri"/>
                  </a:rPr>
                  <a:t> với cạnh có độ dài bằng 1. Tính độ dài các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𝐶𝐴</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𝐵𝐷</m:t>
                        </m:r>
                      </m:e>
                    </m:acc>
                  </m:oMath>
                </a14:m>
                <a:r>
                  <a:rPr sz="2200">
                    <a:solidFill>
                      <a:srgbClr val="1E293B"/>
                    </a:solidFill>
                    <a:latin typeface="Calibri"/>
                  </a:rPr>
                  <a:t>.</a:t>
                </a:r>
              </a:p>
            </p:txBody>
          </p:sp>
        </mc:Choice>
        <mc:Fallback xmlns="">
          <p:sp>
            <p:nvSpPr>
              <p:cNvPr id="7" name="TextBox 6"/>
              <p:cNvSpPr txBox="1"/>
              <p:nvPr/>
            </p:nvSpPr>
            <p:spPr>
              <a:xfrm>
                <a:off x="548640" y="137160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1.</a:t>
                </a:r>
                <a:r>
                  <a:rPr sz="2200">
                    <a:solidFill>
                      <a:srgbClr val="1E293B"/>
                    </a:solidFill>
                    <a:latin typeface="Calibri"/>
                  </a:rPr>
                  <a:t> Cho hình vuông </a:t>
                </a:r>
                <a:r>
                  <a:rPr lang="vi-VN"/>
                  <a:t>ABCD</a:t>
                </a:r>
                <a:r>
                  <a:rPr sz="2200">
                    <a:solidFill>
                      <a:srgbClr val="1E293B"/>
                    </a:solidFill>
                    <a:latin typeface="Calibri"/>
                  </a:rPr>
                  <a:t> với cạnh có độ dài bằng 1. Tính độ dài các vectơ </a:t>
                </a:r>
                <a:r>
                  <a:rPr lang="vi-VN"/>
                  <a:t>\overrightarrow{AC}</a:t>
                </a:r>
                <a:r>
                  <a:rPr sz="2200">
                    <a:solidFill>
                      <a:srgbClr val="1E293B"/>
                    </a:solidFill>
                    <a:latin typeface="Calibri"/>
                  </a:rPr>
                  <a:t>, </a:t>
                </a:r>
                <a:r>
                  <a:rPr lang="vi-VN"/>
                  <a:t>\overrightarrow{CA}</a:t>
                </a:r>
                <a:r>
                  <a:rPr sz="2200">
                    <a:solidFill>
                      <a:srgbClr val="1E293B"/>
                    </a:solidFill>
                    <a:latin typeface="Calibri"/>
                  </a:rPr>
                  <a:t>, </a:t>
                </a:r>
                <a:r>
                  <a:rPr lang="vi-VN"/>
                  <a:t>\overrightarrow{BD}</a:t>
                </a:r>
                <a:r>
                  <a:rPr sz="2200">
                    <a:solidFill>
                      <a:srgbClr val="1E293B"/>
                    </a:solidFill>
                    <a:latin typeface="Calibri"/>
                  </a:rPr>
                  <a:t>.</a:t>
                </a:r>
              </a:p>
            </p:txBody>
          </p:sp>
        </mc:Fallback>
      </mc:AlternateContent>
      <p:sp>
        <p:nvSpPr>
          <p:cNvPr id="8" name="s1_nen"/>
          <p:cNvSpPr/>
          <p:nvPr/>
        </p:nvSpPr>
        <p:spPr>
          <a:xfrm>
            <a:off x="548640" y="2353056"/>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389632"/>
                <a:ext cx="10735056" cy="862583"/>
              </a:xfrm>
              <a:prstGeom prst="rect">
                <a:avLst/>
              </a:prstGeom>
              <a:noFill/>
            </p:spPr>
            <p:txBody>
              <a:bodyPr wrap="square" lIns="45720" rIns="45720" anchor="ctr">
                <a:spAutoFit/>
              </a:bodyPr>
              <a:lstStyle/>
              <a:p>
                <a:pPr algn="l">
                  <a:spcAft>
                    <a:spcPts val="800"/>
                  </a:spcAft>
                </a:pPr>
                <a:r>
                  <a:rPr sz="2200">
                    <a:solidFill>
                      <a:srgbClr val="1E293B"/>
                    </a:solidFill>
                    <a:latin typeface="Calibri"/>
                  </a:rPr>
                  <a:t>Đường chéo hình vuông cạnh 1 có độ dài </a:t>
                </a:r>
                <a14:m>
                  <m:oMath xmlns:m="http://schemas.openxmlformats.org/officeDocument/2006/math">
                    <m:rad>
                      <m:radPr>
                        <m:degHide m:val="on"/>
                        <m:ctrlPr>
                          <a:rPr lang="vi-VN" sz="2200" b="0" i="1">
                            <a:solidFill>
                              <a:srgbClr val="1E293B"/>
                            </a:solidFill>
                            <a:latin typeface="Cambria Math" panose="02040503050406030204" pitchFamily="18" charset="0"/>
                          </a:rPr>
                        </m:ctrlPr>
                      </m:radPr>
                      <m:deg/>
                      <m:e>
                        <m:r>
                          <a:rPr lang="vi-VN" sz="2200" b="0">
                            <a:solidFill>
                              <a:srgbClr val="1E293B"/>
                            </a:solidFill>
                            <a:latin typeface="Cambria Math" panose="02040503050406030204" pitchFamily="18" charset="0"/>
                          </a:rPr>
                          <m:t>2</m:t>
                        </m:r>
                      </m:e>
                    </m:rad>
                  </m:oMath>
                </a14:m>
                <a:r>
                  <a:rPr sz="2200">
                    <a:solidFill>
                      <a:srgbClr val="1E293B"/>
                    </a:solidFill>
                    <a:latin typeface="Calibri"/>
                  </a:rPr>
                  <a:t>. Vậy </a:t>
                </a:r>
                <a14:m>
                  <m:oMath xmlns:m="http://schemas.openxmlformats.org/officeDocument/2006/math">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𝐴𝐶</m:t>
                    </m:r>
                    <m:r>
                      <a:rPr lang="vi-VN" sz="2200" b="0">
                        <a:solidFill>
                          <a:srgbClr val="1E293B"/>
                        </a:solidFill>
                        <a:latin typeface="Cambria Math" panose="02040503050406030204" pitchFamily="18" charset="0"/>
                      </a:rPr>
                      <m:t>=</m:t>
                    </m:r>
                    <m:rad>
                      <m:radPr>
                        <m:degHide m:val="on"/>
                        <m:ctrlPr>
                          <a:rPr lang="vi-VN" sz="2200" b="0" i="1">
                            <a:solidFill>
                              <a:srgbClr val="1E293B"/>
                            </a:solidFill>
                            <a:latin typeface="Cambria Math" panose="02040503050406030204" pitchFamily="18" charset="0"/>
                          </a:rPr>
                        </m:ctrlPr>
                      </m:radPr>
                      <m:deg/>
                      <m:e>
                        <m:r>
                          <a:rPr lang="vi-VN" sz="2200" b="0">
                            <a:solidFill>
                              <a:srgbClr val="1E293B"/>
                            </a:solidFill>
                            <a:latin typeface="Cambria Math" panose="02040503050406030204" pitchFamily="18" charset="0"/>
                          </a:rPr>
                          <m:t>2</m:t>
                        </m:r>
                      </m:e>
                    </m:rad>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𝐶𝐴</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𝐶𝐴</m:t>
                    </m:r>
                    <m:r>
                      <a:rPr lang="vi-VN" sz="2200" b="0">
                        <a:solidFill>
                          <a:srgbClr val="1E293B"/>
                        </a:solidFill>
                        <a:latin typeface="Cambria Math" panose="02040503050406030204" pitchFamily="18" charset="0"/>
                      </a:rPr>
                      <m:t>=</m:t>
                    </m:r>
                    <m:rad>
                      <m:radPr>
                        <m:degHide m:val="on"/>
                        <m:ctrlPr>
                          <a:rPr lang="vi-VN" sz="2200" b="0" i="1">
                            <a:solidFill>
                              <a:srgbClr val="1E293B"/>
                            </a:solidFill>
                            <a:latin typeface="Cambria Math" panose="02040503050406030204" pitchFamily="18" charset="0"/>
                          </a:rPr>
                        </m:ctrlPr>
                      </m:radPr>
                      <m:deg/>
                      <m:e>
                        <m:r>
                          <a:rPr lang="vi-VN" sz="2200" b="0">
                            <a:solidFill>
                              <a:srgbClr val="1E293B"/>
                            </a:solidFill>
                            <a:latin typeface="Cambria Math" panose="02040503050406030204" pitchFamily="18" charset="0"/>
                          </a:rPr>
                          <m:t>2</m:t>
                        </m:r>
                      </m:e>
                    </m:rad>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𝐵𝐷</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𝐵𝐷</m:t>
                    </m:r>
                    <m:r>
                      <a:rPr lang="vi-VN" sz="2200" b="0">
                        <a:solidFill>
                          <a:srgbClr val="1E293B"/>
                        </a:solidFill>
                        <a:latin typeface="Cambria Math" panose="02040503050406030204" pitchFamily="18" charset="0"/>
                      </a:rPr>
                      <m:t>=</m:t>
                    </m:r>
                    <m:rad>
                      <m:radPr>
                        <m:degHide m:val="on"/>
                        <m:ctrlPr>
                          <a:rPr lang="vi-VN" sz="2200" b="0" i="1">
                            <a:solidFill>
                              <a:srgbClr val="1E293B"/>
                            </a:solidFill>
                            <a:latin typeface="Cambria Math" panose="02040503050406030204" pitchFamily="18" charset="0"/>
                          </a:rPr>
                        </m:ctrlPr>
                      </m:radPr>
                      <m:deg/>
                      <m:e>
                        <m:r>
                          <a:rPr lang="vi-VN" sz="2200" b="0">
                            <a:solidFill>
                              <a:srgbClr val="1E293B"/>
                            </a:solidFill>
                            <a:latin typeface="Cambria Math" panose="02040503050406030204" pitchFamily="18" charset="0"/>
                          </a:rPr>
                          <m:t>2</m:t>
                        </m:r>
                      </m:e>
                    </m:rad>
                  </m:oMath>
                </a14:m>
                <a:r>
                  <a:rPr sz="2200">
                    <a:solidFill>
                      <a:srgbClr val="1E293B"/>
                    </a:solidFill>
                    <a:latin typeface="Calibri"/>
                  </a:rPr>
                  <a:t>.</a:t>
                </a:r>
              </a:p>
            </p:txBody>
          </p:sp>
        </mc:Choice>
        <mc:Fallback xmlns="">
          <p:sp>
            <p:nvSpPr>
              <p:cNvPr id="9" name="TextBox 8"/>
              <p:cNvSpPr txBox="1"/>
              <p:nvPr/>
            </p:nvSpPr>
            <p:spPr>
              <a:xfrm>
                <a:off x="713232" y="2389632"/>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Đường chéo hình vuông cạnh 1 có độ dài </a:t>
                </a:r>
                <a:r>
                  <a:rPr lang="vi-VN"/>
                  <a:t>\sqrt{2}</a:t>
                </a:r>
                <a:r>
                  <a:rPr sz="2200">
                    <a:solidFill>
                      <a:srgbClr val="1E293B"/>
                    </a:solidFill>
                    <a:latin typeface="Calibri"/>
                  </a:rPr>
                  <a:t>. Vậy </a:t>
                </a:r>
                <a:r>
                  <a:rPr lang="vi-VN"/>
                  <a:t>|\overrightarrow{AC}|=AC=\sqrt{2}</a:t>
                </a:r>
                <a:r>
                  <a:rPr sz="2200">
                    <a:solidFill>
                      <a:srgbClr val="1E293B"/>
                    </a:solidFill>
                    <a:latin typeface="Calibri"/>
                  </a:rPr>
                  <a:t>, </a:t>
                </a:r>
                <a:r>
                  <a:rPr lang="vi-VN"/>
                  <a:t>|\overrightarrow{CA}|=CA=\sqrt{2}</a:t>
                </a:r>
                <a:r>
                  <a:rPr sz="2200">
                    <a:solidFill>
                      <a:srgbClr val="1E293B"/>
                    </a:solidFill>
                    <a:latin typeface="Calibri"/>
                  </a:rPr>
                  <a:t>, </a:t>
                </a:r>
                <a:r>
                  <a:rPr lang="vi-VN"/>
                  <a:t>|\overrightarrow{BD}|=BD=\sqrt{2}</a:t>
                </a:r>
                <a:r>
                  <a:rPr sz="22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0" name="s2_chu"/>
              <p:cNvSpPr txBox="1"/>
              <p:nvPr/>
            </p:nvSpPr>
            <p:spPr>
              <a:xfrm>
                <a:off x="548640" y="3425952"/>
                <a:ext cx="11064240" cy="1179576"/>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Luyện tập 1.</a:t>
                </a:r>
                <a:r>
                  <a:rPr sz="2200">
                    <a:solidFill>
                      <a:srgbClr val="1E293B"/>
                    </a:solidFill>
                    <a:latin typeface="Calibri"/>
                  </a:rPr>
                  <a:t> Cho tam giác đều </a:t>
                </a:r>
                <a14:m>
                  <m:oMath xmlns:m="http://schemas.openxmlformats.org/officeDocument/2006/math">
                    <m:r>
                      <a:rPr lang="vi-VN" sz="2200" b="0">
                        <a:solidFill>
                          <a:srgbClr val="1E293B"/>
                        </a:solidFill>
                        <a:latin typeface="Cambria Math" panose="02040503050406030204" pitchFamily="18" charset="0"/>
                      </a:rPr>
                      <m:t>𝐴𝐵𝐶</m:t>
                    </m:r>
                  </m:oMath>
                </a14:m>
                <a:r>
                  <a:rPr sz="2200">
                    <a:solidFill>
                      <a:srgbClr val="1E293B"/>
                    </a:solidFill>
                    <a:latin typeface="Calibri"/>
                  </a:rPr>
                  <a:t> với cạnh có độ dài bằng </a:t>
                </a:r>
                <a14:m>
                  <m:oMath xmlns:m="http://schemas.openxmlformats.org/officeDocument/2006/math">
                    <m:r>
                      <a:rPr lang="vi-VN" sz="2200" b="0">
                        <a:solidFill>
                          <a:srgbClr val="1E293B"/>
                        </a:solidFill>
                        <a:latin typeface="Cambria Math" panose="02040503050406030204" pitchFamily="18" charset="0"/>
                      </a:rPr>
                      <m:t>𝑎</m:t>
                    </m:r>
                  </m:oMath>
                </a14:m>
                <a:r>
                  <a:rPr sz="2200">
                    <a:solidFill>
                      <a:srgbClr val="1E293B"/>
                    </a:solidFill>
                    <a:latin typeface="Calibri"/>
                  </a:rPr>
                  <a:t>. Hãy chỉ ra các vectơ có độ dài bằng </a:t>
                </a:r>
                <a14:m>
                  <m:oMath xmlns:m="http://schemas.openxmlformats.org/officeDocument/2006/math">
                    <m:r>
                      <a:rPr lang="vi-VN" sz="2200" b="0">
                        <a:solidFill>
                          <a:srgbClr val="1E293B"/>
                        </a:solidFill>
                        <a:latin typeface="Cambria Math" panose="02040503050406030204" pitchFamily="18" charset="0"/>
                      </a:rPr>
                      <m:t>𝑎</m:t>
                    </m:r>
                  </m:oMath>
                </a14:m>
                <a:r>
                  <a:rPr sz="2200">
                    <a:solidFill>
                      <a:srgbClr val="1E293B"/>
                    </a:solidFill>
                    <a:latin typeface="Calibri"/>
                  </a:rPr>
                  <a:t> và có điểm đầu, điểm cuối là các đỉnh của tam giác </a:t>
                </a:r>
                <a14:m>
                  <m:oMath xmlns:m="http://schemas.openxmlformats.org/officeDocument/2006/math">
                    <m:r>
                      <a:rPr lang="vi-VN" sz="2200" b="0">
                        <a:solidFill>
                          <a:srgbClr val="1E293B"/>
                        </a:solidFill>
                        <a:latin typeface="Cambria Math" panose="02040503050406030204" pitchFamily="18" charset="0"/>
                      </a:rPr>
                      <m:t>𝐴𝐵𝐶</m:t>
                    </m:r>
                  </m:oMath>
                </a14:m>
                <a:r>
                  <a:rPr sz="2200">
                    <a:solidFill>
                      <a:srgbClr val="1E293B"/>
                    </a:solidFill>
                    <a:latin typeface="Calibri"/>
                  </a:rPr>
                  <a:t>.</a:t>
                </a:r>
              </a:p>
            </p:txBody>
          </p:sp>
        </mc:Choice>
        <mc:Fallback xmlns="">
          <p:sp>
            <p:nvSpPr>
              <p:cNvPr id="10" name="TextBox 9"/>
              <p:cNvSpPr txBox="1"/>
              <p:nvPr/>
            </p:nvSpPr>
            <p:spPr>
              <a:xfrm>
                <a:off x="548640" y="3425952"/>
                <a:ext cx="11064240" cy="117957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1.</a:t>
                </a:r>
                <a:r>
                  <a:rPr sz="2200">
                    <a:solidFill>
                      <a:srgbClr val="1E293B"/>
                    </a:solidFill>
                    <a:latin typeface="Calibri"/>
                  </a:rPr>
                  <a:t> Cho tam giác đều </a:t>
                </a:r>
                <a:r>
                  <a:rPr lang="vi-VN"/>
                  <a:t>ABC</a:t>
                </a:r>
                <a:r>
                  <a:rPr sz="2200">
                    <a:solidFill>
                      <a:srgbClr val="1E293B"/>
                    </a:solidFill>
                    <a:latin typeface="Calibri"/>
                  </a:rPr>
                  <a:t> với cạnh có độ dài bằng </a:t>
                </a:r>
                <a:r>
                  <a:rPr lang="vi-VN"/>
                  <a:t>a</a:t>
                </a:r>
                <a:r>
                  <a:rPr sz="2200">
                    <a:solidFill>
                      <a:srgbClr val="1E293B"/>
                    </a:solidFill>
                    <a:latin typeface="Calibri"/>
                  </a:rPr>
                  <a:t>. Hãy chỉ ra các vectơ có độ dài bằng </a:t>
                </a:r>
                <a:r>
                  <a:rPr lang="vi-VN"/>
                  <a:t>a</a:t>
                </a:r>
                <a:r>
                  <a:rPr sz="2200">
                    <a:solidFill>
                      <a:srgbClr val="1E293B"/>
                    </a:solidFill>
                    <a:latin typeface="Calibri"/>
                  </a:rPr>
                  <a:t> và có điểm đầu, điểm cuối là các đỉnh của tam giác </a:t>
                </a:r>
                <a:r>
                  <a:rPr lang="vi-VN"/>
                  <a:t>ABC</a:t>
                </a:r>
                <a:r>
                  <a:rPr sz="2200">
                    <a:solidFill>
                      <a:srgbClr val="1E293B"/>
                    </a:solidFill>
                    <a:latin typeface="Calibri"/>
                  </a:rPr>
                  <a:t>.</a:t>
                </a:r>
              </a:p>
            </p:txBody>
          </p:sp>
        </mc:Fallback>
      </mc:AlternateContent>
      <p:sp>
        <p:nvSpPr>
          <p:cNvPr id="11" name="s3_nen"/>
          <p:cNvSpPr/>
          <p:nvPr/>
        </p:nvSpPr>
        <p:spPr>
          <a:xfrm>
            <a:off x="548640" y="4742688"/>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s3_chu"/>
              <p:cNvSpPr txBox="1"/>
              <p:nvPr/>
            </p:nvSpPr>
            <p:spPr>
              <a:xfrm>
                <a:off x="713232" y="4779264"/>
                <a:ext cx="10735056" cy="527304"/>
              </a:xfrm>
              <a:prstGeom prst="rect">
                <a:avLst/>
              </a:prstGeom>
              <a:noFill/>
            </p:spPr>
            <p:txBody>
              <a:bodyPr wrap="square" lIns="45720" rIns="45720" anchor="ctr">
                <a:spAutoFit/>
              </a:bodyPr>
              <a:lstStyle/>
              <a:p>
                <a:pPr algn="l">
                  <a:spcAft>
                    <a:spcPts val="800"/>
                  </a:spcAft>
                </a:pPr>
                <a:r>
                  <a:rPr sz="2200">
                    <a:solidFill>
                      <a:srgbClr val="1E293B"/>
                    </a:solidFill>
                    <a:latin typeface="Calibri"/>
                  </a:rPr>
                  <a:t>Sáu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𝐵𝐴</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𝐵𝐶</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𝐶𝐵</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𝐶𝐴</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oMath>
                </a14:m>
                <a:r>
                  <a:rPr sz="2200">
                    <a:solidFill>
                      <a:srgbClr val="1E293B"/>
                    </a:solidFill>
                    <a:latin typeface="Calibri"/>
                  </a:rPr>
                  <a:t>.</a:t>
                </a:r>
              </a:p>
            </p:txBody>
          </p:sp>
        </mc:Choice>
        <mc:Fallback xmlns="">
          <p:sp>
            <p:nvSpPr>
              <p:cNvPr id="12" name="TextBox 11"/>
              <p:cNvSpPr txBox="1"/>
              <p:nvPr/>
            </p:nvSpPr>
            <p:spPr>
              <a:xfrm>
                <a:off x="713232" y="4779264"/>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Sáu vectơ: </a:t>
                </a:r>
                <a:r>
                  <a:rPr lang="vi-VN"/>
                  <a:t>\overrightarrow{AB}</a:t>
                </a:r>
                <a:r>
                  <a:rPr sz="2200">
                    <a:solidFill>
                      <a:srgbClr val="1E293B"/>
                    </a:solidFill>
                    <a:latin typeface="Calibri"/>
                  </a:rPr>
                  <a:t>, </a:t>
                </a:r>
                <a:r>
                  <a:rPr lang="vi-VN"/>
                  <a:t>\overrightarrow{BA}</a:t>
                </a:r>
                <a:r>
                  <a:rPr sz="2200">
                    <a:solidFill>
                      <a:srgbClr val="1E293B"/>
                    </a:solidFill>
                    <a:latin typeface="Calibri"/>
                  </a:rPr>
                  <a:t>, </a:t>
                </a:r>
                <a:r>
                  <a:rPr lang="vi-VN"/>
                  <a:t>\overrightarrow{BC}</a:t>
                </a:r>
                <a:r>
                  <a:rPr sz="2200">
                    <a:solidFill>
                      <a:srgbClr val="1E293B"/>
                    </a:solidFill>
                    <a:latin typeface="Calibri"/>
                  </a:rPr>
                  <a:t>, </a:t>
                </a:r>
                <a:r>
                  <a:rPr lang="vi-VN"/>
                  <a:t>\overrightarrow{CB}</a:t>
                </a:r>
                <a:r>
                  <a:rPr sz="2200">
                    <a:solidFill>
                      <a:srgbClr val="1E293B"/>
                    </a:solidFill>
                    <a:latin typeface="Calibri"/>
                  </a:rPr>
                  <a:t>, </a:t>
                </a:r>
                <a:r>
                  <a:rPr lang="vi-VN"/>
                  <a:t>\overrightarrow{CA}</a:t>
                </a:r>
                <a:r>
                  <a:rPr sz="2200">
                    <a:solidFill>
                      <a:srgbClr val="1E293B"/>
                    </a:solidFill>
                    <a:latin typeface="Calibri"/>
                  </a:rPr>
                  <a:t>, </a:t>
                </a:r>
                <a:r>
                  <a:rPr lang="vi-VN"/>
                  <a:t>\overrightarrow{AC}</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HAI VECTƠ CÙNG PHƯƠNG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9</a:t>
            </a:r>
          </a:p>
        </p:txBody>
      </p:sp>
      <p:sp>
        <p:nvSpPr>
          <p:cNvPr id="7" name="TextBox 6"/>
          <p:cNvSpPr txBox="1"/>
          <p:nvPr/>
        </p:nvSpPr>
        <p:spPr>
          <a:xfrm>
            <a:off x="548640" y="1371600"/>
            <a:ext cx="7863840" cy="844295"/>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HĐ2.</a:t>
            </a:r>
            <a:r>
              <a:rPr sz="2200">
                <a:solidFill>
                  <a:srgbClr val="1E293B"/>
                </a:solidFill>
                <a:latin typeface="Calibri"/>
              </a:rPr>
              <a:t> Quan sát các làn đường trong Hình 4.5 và cho biết những nhận xét nào sau đây là đúng.</a:t>
            </a:r>
          </a:p>
        </p:txBody>
      </p:sp>
      <p:sp>
        <p:nvSpPr>
          <p:cNvPr id="8" name="s1_chu"/>
          <p:cNvSpPr txBox="1"/>
          <p:nvPr/>
        </p:nvSpPr>
        <p:spPr>
          <a:xfrm>
            <a:off x="548640" y="2307336"/>
            <a:ext cx="7863840" cy="1716024"/>
          </a:xfrm>
          <a:prstGeom prst="rect">
            <a:avLst/>
          </a:prstGeom>
          <a:noFill/>
        </p:spPr>
        <p:txBody>
          <a:bodyPr wrap="square" lIns="45720" rIns="45720" anchor="t">
            <a:spAutoFit/>
          </a:bodyPr>
          <a:lstStyle/>
          <a:p>
            <a:pPr algn="l">
              <a:spcAft>
                <a:spcPts val="800"/>
              </a:spcAft>
            </a:pPr>
            <a:r>
              <a:rPr sz="2200">
                <a:solidFill>
                  <a:srgbClr val="1E293B"/>
                </a:solidFill>
                <a:latin typeface="Calibri"/>
              </a:rPr>
              <a:t>a) Các làn đường song song với nhau.</a:t>
            </a:r>
          </a:p>
          <a:p>
            <a:pPr algn="l">
              <a:spcAft>
                <a:spcPts val="800"/>
              </a:spcAft>
            </a:pPr>
            <a:r>
              <a:rPr sz="2200">
                <a:solidFill>
                  <a:srgbClr val="1E293B"/>
                </a:solidFill>
                <a:latin typeface="Calibri"/>
              </a:rPr>
              <a:t>b) Các xe chạy theo cùng một hướng.</a:t>
            </a:r>
          </a:p>
          <a:p>
            <a:pPr algn="l">
              <a:spcAft>
                <a:spcPts val="800"/>
              </a:spcAft>
            </a:pPr>
            <a:r>
              <a:rPr sz="2200">
                <a:solidFill>
                  <a:srgbClr val="1E293B"/>
                </a:solidFill>
                <a:latin typeface="Calibri"/>
              </a:rPr>
              <a:t>c) Hai xe bất kì đều chạy theo cùng một hướng hoặc hai hướng ngược nhau.</a:t>
            </a:r>
          </a:p>
        </p:txBody>
      </p:sp>
      <p:sp>
        <p:nvSpPr>
          <p:cNvPr id="9" name="s2_nen"/>
          <p:cNvSpPr/>
          <p:nvPr/>
        </p:nvSpPr>
        <p:spPr>
          <a:xfrm>
            <a:off x="548640" y="4114800"/>
            <a:ext cx="78638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2_chu"/>
          <p:cNvSpPr txBox="1"/>
          <p:nvPr/>
        </p:nvSpPr>
        <p:spPr>
          <a:xfrm>
            <a:off x="713232" y="4151376"/>
            <a:ext cx="7534656" cy="527304"/>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a) Đúng; b) Sai; c) Đúng.</a:t>
            </a:r>
          </a:p>
        </p:txBody>
      </p:sp>
      <p:pic>
        <p:nvPicPr>
          <p:cNvPr id="11" name="Picture 10" descr="h45.png"/>
          <p:cNvPicPr>
            <a:picLocks noChangeAspect="1"/>
          </p:cNvPicPr>
          <p:nvPr/>
        </p:nvPicPr>
        <p:blipFill>
          <a:blip r:embed="rId3"/>
          <a:stretch>
            <a:fillRect/>
          </a:stretch>
        </p:blipFill>
        <p:spPr>
          <a:xfrm>
            <a:off x="8686800" y="2025535"/>
            <a:ext cx="2926080" cy="3081250"/>
          </a:xfrm>
          <a:prstGeom prst="rect">
            <a:avLst/>
          </a:prstGeom>
        </p:spPr>
      </p:pic>
      <p:sp>
        <p:nvSpPr>
          <p:cNvPr id="12" name="TextBox 11"/>
          <p:cNvSpPr txBox="1"/>
          <p:nvPr/>
        </p:nvSpPr>
        <p:spPr>
          <a:xfrm>
            <a:off x="8686800" y="5779007"/>
            <a:ext cx="2926080" cy="365760"/>
          </a:xfrm>
          <a:prstGeom prst="rect">
            <a:avLst/>
          </a:prstGeom>
          <a:noFill/>
        </p:spPr>
        <p:txBody>
          <a:bodyPr wrap="square" lIns="45720" rIns="45720" anchor="t">
            <a:spAutoFit/>
          </a:bodyPr>
          <a:lstStyle/>
          <a:p>
            <a:pPr algn="ctr">
              <a:spcAft>
                <a:spcPts val="800"/>
              </a:spcAft>
            </a:pPr>
            <a:r>
              <a:rPr sz="1600">
                <a:solidFill>
                  <a:srgbClr val="64748B"/>
                </a:solidFill>
                <a:latin typeface="Calibri"/>
              </a:rPr>
              <a:t>Hình 4.5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GIÁ CỦA VECTƠ – HAI VECTƠ CÙNG PHƯƠNG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10</a:t>
            </a:r>
          </a:p>
        </p:txBody>
      </p:sp>
      <p:sp>
        <p:nvSpPr>
          <p:cNvPr id="7" name="Rounded Rectangle 6"/>
          <p:cNvSpPr/>
          <p:nvPr/>
        </p:nvSpPr>
        <p:spPr>
          <a:xfrm>
            <a:off x="548640" y="1371600"/>
            <a:ext cx="7680960" cy="17068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1408176"/>
            <a:ext cx="7351776" cy="1633728"/>
          </a:xfrm>
          <a:prstGeom prst="rect">
            <a:avLst/>
          </a:prstGeom>
          <a:noFill/>
        </p:spPr>
        <p:txBody>
          <a:bodyPr wrap="square" lIns="45720" rIns="45720" anchor="ctr">
            <a:spAutoFit/>
          </a:bodyPr>
          <a:lstStyle/>
          <a:p>
            <a:pPr marL="365760" indent="-365760" algn="l">
              <a:spcAft>
                <a:spcPts val="800"/>
              </a:spcAft>
              <a:buClr>
                <a:srgbClr val="1E40AF"/>
              </a:buClr>
              <a:buFont typeface="Arial"/>
              <a:buChar char="•"/>
            </a:pPr>
            <a:r>
              <a:rPr sz="2200">
                <a:solidFill>
                  <a:srgbClr val="1E293B"/>
                </a:solidFill>
                <a:latin typeface="Calibri"/>
              </a:rPr>
              <a:t>Đường thẳng đi qua điểm đầu và điểm cuối của một vectơ được gọi là </a:t>
            </a:r>
            <a:r>
              <a:rPr sz="2200" b="1">
                <a:solidFill>
                  <a:srgbClr val="1E293B"/>
                </a:solidFill>
                <a:latin typeface="Calibri"/>
              </a:rPr>
              <a:t>giá</a:t>
            </a:r>
            <a:r>
              <a:rPr sz="2200">
                <a:solidFill>
                  <a:srgbClr val="1E293B"/>
                </a:solidFill>
                <a:latin typeface="Calibri"/>
              </a:rPr>
              <a:t> của vectơ đó.</a:t>
            </a:r>
          </a:p>
          <a:p>
            <a:pPr marL="365760" indent="-365760" algn="l">
              <a:spcAft>
                <a:spcPts val="800"/>
              </a:spcAft>
              <a:buClr>
                <a:srgbClr val="1E40AF"/>
              </a:buClr>
              <a:buFont typeface="Arial"/>
              <a:buChar char="•"/>
            </a:pPr>
            <a:r>
              <a:rPr sz="2200">
                <a:solidFill>
                  <a:srgbClr val="1E293B"/>
                </a:solidFill>
                <a:latin typeface="Calibri"/>
              </a:rPr>
              <a:t>Hai vectơ được gọi là </a:t>
            </a:r>
            <a:r>
              <a:rPr sz="2200" b="1">
                <a:solidFill>
                  <a:srgbClr val="1E293B"/>
                </a:solidFill>
                <a:latin typeface="Calibri"/>
              </a:rPr>
              <a:t>cùng phương</a:t>
            </a:r>
            <a:r>
              <a:rPr sz="2200">
                <a:solidFill>
                  <a:srgbClr val="1E293B"/>
                </a:solidFill>
                <a:latin typeface="Calibri"/>
              </a:rPr>
              <a:t> nếu chúng có giá song song hoặc trùng nhau.</a:t>
            </a:r>
          </a:p>
        </p:txBody>
      </p:sp>
      <mc:AlternateContent xmlns:mc="http://schemas.openxmlformats.org/markup-compatibility/2006" xmlns:a14="http://schemas.microsoft.com/office/drawing/2010/main">
        <mc:Choice Requires="a14">
          <p:sp>
            <p:nvSpPr>
              <p:cNvPr id="9" name="TextBox 8"/>
              <p:cNvSpPr txBox="1"/>
              <p:nvPr/>
            </p:nvSpPr>
            <p:spPr>
              <a:xfrm>
                <a:off x="548640" y="3307080"/>
                <a:ext cx="7680960" cy="1463040"/>
              </a:xfrm>
              <a:prstGeom prst="rect">
                <a:avLst/>
              </a:prstGeom>
              <a:noFill/>
            </p:spPr>
            <p:txBody>
              <a:bodyPr wrap="square" lIns="45720" rIns="45720" anchor="t">
                <a:spAutoFit/>
              </a:bodyPr>
              <a:lstStyle/>
              <a:p>
                <a:pPr algn="l">
                  <a:spcAft>
                    <a:spcPts val="800"/>
                  </a:spcAft>
                </a:pPr>
                <a:r>
                  <a:rPr sz="2200">
                    <a:solidFill>
                      <a:srgbClr val="1E293B"/>
                    </a:solidFill>
                    <a:latin typeface="Calibri"/>
                  </a:rPr>
                  <a:t>Trong Hình 4.7, mỗi cặp vectơ trong các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r>
                      <a:rPr lang="vi-VN" sz="2200" b="0">
                        <a:solidFill>
                          <a:srgbClr val="1E293B"/>
                        </a:solidFill>
                        <a:latin typeface="Cambria Math" panose="02040503050406030204" pitchFamily="18" charset="0"/>
                      </a:rPr>
                      <m:t>, </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 </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𝑥</m:t>
                        </m:r>
                      </m:e>
                    </m:acc>
                    <m:r>
                      <a:rPr lang="vi-VN" sz="2200" b="0">
                        <a:solidFill>
                          <a:srgbClr val="1E293B"/>
                        </a:solidFill>
                        <a:latin typeface="Cambria Math" panose="02040503050406030204" pitchFamily="18" charset="0"/>
                      </a:rPr>
                      <m:t>, </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𝑦</m:t>
                        </m:r>
                      </m:e>
                    </m:acc>
                    <m:r>
                      <a:rPr lang="vi-VN" sz="2200" b="0">
                        <a:solidFill>
                          <a:srgbClr val="1E293B"/>
                        </a:solidFill>
                        <a:latin typeface="Cambria Math" panose="02040503050406030204" pitchFamily="18" charset="0"/>
                      </a:rPr>
                      <m:t>, </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𝑧</m:t>
                        </m:r>
                      </m:e>
                    </m:acc>
                  </m:oMath>
                </a14:m>
                <a:r>
                  <a:rPr sz="2200">
                    <a:solidFill>
                      <a:srgbClr val="1E293B"/>
                    </a:solidFill>
                    <a:latin typeface="Calibri"/>
                  </a:rPr>
                  <a:t> đều cùng phương, nhưng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𝑏</m:t>
                        </m:r>
                      </m:e>
                    </m:acc>
                  </m:oMath>
                </a14:m>
                <a:r>
                  <a:rPr sz="2200">
                    <a:solidFill>
                      <a:srgbClr val="1E293B"/>
                    </a:solidFill>
                    <a:latin typeface="Calibri"/>
                  </a:rPr>
                  <a:t> không cùng phương với mỗi vectơ trên.</a:t>
                </a:r>
              </a:p>
            </p:txBody>
          </p:sp>
        </mc:Choice>
        <mc:Fallback xmlns="">
          <p:sp>
            <p:nvSpPr>
              <p:cNvPr id="9" name="TextBox 8"/>
              <p:cNvSpPr txBox="1"/>
              <p:nvPr/>
            </p:nvSpPr>
            <p:spPr>
              <a:xfrm>
                <a:off x="548640" y="3307080"/>
                <a:ext cx="7680960" cy="1463040"/>
              </a:xfrm>
              <a:prstGeom prst="rect">
                <a:avLst/>
              </a:prstGeom>
              <a:noFill/>
            </p:spPr>
            <p:txBody>
              <a:bodyPr wrap="square" anchor="t" lIns="45720" rIns="45720">
                <a:spAutoFit/>
              </a:bodyPr>
              <a:lstStyle/>
              <a:p>
                <a:pPr algn="l">
                  <a:spcAft>
                    <a:spcPts val="800"/>
                  </a:spcAft>
                </a:pPr>
                <a:r>
                  <a:rPr sz="2200">
                    <a:solidFill>
                      <a:srgbClr val="1E293B"/>
                    </a:solidFill>
                    <a:latin typeface="Calibri"/>
                  </a:rPr>
                  <a:t>Trong Hình 4.7, mỗi cặp vectơ trong các vectơ </a:t>
                </a:r>
                <a:r>
                  <a:rPr lang="vi-VN"/>
                  <a:t>\overrightarrow{AB},\ \vec{a},\ \vec{x},\ \vec{y},\ \vec{z}</a:t>
                </a:r>
                <a:r>
                  <a:rPr sz="2200">
                    <a:solidFill>
                      <a:srgbClr val="1E293B"/>
                    </a:solidFill>
                    <a:latin typeface="Calibri"/>
                  </a:rPr>
                  <a:t> đều cùng phương, nhưng vectơ </a:t>
                </a:r>
                <a:r>
                  <a:rPr lang="vi-VN"/>
                  <a:t>\vec{b}</a:t>
                </a:r>
                <a:r>
                  <a:rPr sz="2200">
                    <a:solidFill>
                      <a:srgbClr val="1E293B"/>
                    </a:solidFill>
                    <a:latin typeface="Calibri"/>
                  </a:rPr>
                  <a:t> không cùng phương với mỗi vectơ trên.</a:t>
                </a:r>
              </a:p>
            </p:txBody>
          </p:sp>
        </mc:Fallback>
      </mc:AlternateContent>
      <p:pic>
        <p:nvPicPr>
          <p:cNvPr id="10" name="Picture 9" descr="h47.png"/>
          <p:cNvPicPr>
            <a:picLocks noChangeAspect="1"/>
          </p:cNvPicPr>
          <p:nvPr/>
        </p:nvPicPr>
        <p:blipFill>
          <a:blip r:embed="rId3"/>
          <a:stretch>
            <a:fillRect/>
          </a:stretch>
        </p:blipFill>
        <p:spPr>
          <a:xfrm>
            <a:off x="8623687" y="1371600"/>
            <a:ext cx="2869425" cy="31089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HAI VECTƠ CÙNG HƯỚNG, NGƯỢC HƯỚNG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11</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7863840" cy="1850136"/>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HĐ3.</a:t>
                </a:r>
                <a:r>
                  <a:rPr sz="2200">
                    <a:solidFill>
                      <a:srgbClr val="1E293B"/>
                    </a:solidFill>
                    <a:latin typeface="Calibri"/>
                  </a:rPr>
                  <a:t> Xét các vectơ cùng phương trong Hình 4.7. Hai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oMath>
                </a14:m>
                <a:r>
                  <a:rPr sz="2200">
                    <a:solidFill>
                      <a:srgbClr val="1E293B"/>
                    </a:solidFill>
                    <a:latin typeface="Calibri"/>
                  </a:rPr>
                  <a:t> và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được gọi là cùng hướng, còn hai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oMath>
                </a14:m>
                <a:r>
                  <a:rPr sz="2200">
                    <a:solidFill>
                      <a:srgbClr val="1E293B"/>
                    </a:solidFill>
                    <a:latin typeface="Calibri"/>
                  </a:rPr>
                  <a:t> và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𝑥</m:t>
                        </m:r>
                      </m:e>
                    </m:acc>
                  </m:oMath>
                </a14:m>
                <a:r>
                  <a:rPr sz="2200">
                    <a:solidFill>
                      <a:srgbClr val="1E293B"/>
                    </a:solidFill>
                    <a:latin typeface="Calibri"/>
                  </a:rPr>
                  <a:t> được gọi là ngược hướng. Hãy chỉ ra các vectơ cùng hướng với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oMath>
                </a14:m>
                <a:r>
                  <a:rPr sz="2200">
                    <a:solidFill>
                      <a:srgbClr val="1E293B"/>
                    </a:solidFill>
                    <a:latin typeface="Calibri"/>
                  </a:rPr>
                  <a:t> và các vectơ ngược hướng với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oMath>
                </a14:m>
                <a:r>
                  <a:rPr sz="2200">
                    <a:solidFill>
                      <a:srgbClr val="1E293B"/>
                    </a:solidFill>
                    <a:latin typeface="Calibri"/>
                  </a:rPr>
                  <a:t>.</a:t>
                </a:r>
              </a:p>
            </p:txBody>
          </p:sp>
        </mc:Choice>
        <mc:Fallback xmlns="">
          <p:sp>
            <p:nvSpPr>
              <p:cNvPr id="7" name="TextBox 6"/>
              <p:cNvSpPr txBox="1"/>
              <p:nvPr/>
            </p:nvSpPr>
            <p:spPr>
              <a:xfrm>
                <a:off x="548640" y="1371600"/>
                <a:ext cx="7863840" cy="185013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HĐ3.</a:t>
                </a:r>
                <a:r>
                  <a:rPr sz="2200">
                    <a:solidFill>
                      <a:srgbClr val="1E293B"/>
                    </a:solidFill>
                    <a:latin typeface="Calibri"/>
                  </a:rPr>
                  <a:t> Xét các vectơ cùng phương trong Hình 4.7. Hai vectơ </a:t>
                </a:r>
                <a:r>
                  <a:rPr lang="vi-VN"/>
                  <a:t>\vec{a}</a:t>
                </a:r>
                <a:r>
                  <a:rPr sz="2200">
                    <a:solidFill>
                      <a:srgbClr val="1E293B"/>
                    </a:solidFill>
                    <a:latin typeface="Calibri"/>
                  </a:rPr>
                  <a:t> và </a:t>
                </a:r>
                <a:r>
                  <a:rPr lang="vi-VN"/>
                  <a:t>\overrightarrow{AB}</a:t>
                </a:r>
                <a:r>
                  <a:rPr sz="2200">
                    <a:solidFill>
                      <a:srgbClr val="1E293B"/>
                    </a:solidFill>
                    <a:latin typeface="Calibri"/>
                  </a:rPr>
                  <a:t> được gọi là cùng hướng, còn hai vectơ </a:t>
                </a:r>
                <a:r>
                  <a:rPr lang="vi-VN"/>
                  <a:t>\vec{a}</a:t>
                </a:r>
                <a:r>
                  <a:rPr sz="2200">
                    <a:solidFill>
                      <a:srgbClr val="1E293B"/>
                    </a:solidFill>
                    <a:latin typeface="Calibri"/>
                  </a:rPr>
                  <a:t> và </a:t>
                </a:r>
                <a:r>
                  <a:rPr lang="vi-VN"/>
                  <a:t>\vec{x}</a:t>
                </a:r>
                <a:r>
                  <a:rPr sz="2200">
                    <a:solidFill>
                      <a:srgbClr val="1E293B"/>
                    </a:solidFill>
                    <a:latin typeface="Calibri"/>
                  </a:rPr>
                  <a:t> được gọi là ngược hướng. Hãy chỉ ra các vectơ cùng hướng với vectơ </a:t>
                </a:r>
                <a:r>
                  <a:rPr lang="vi-VN"/>
                  <a:t>\vec{a}</a:t>
                </a:r>
                <a:r>
                  <a:rPr sz="2200">
                    <a:solidFill>
                      <a:srgbClr val="1E293B"/>
                    </a:solidFill>
                    <a:latin typeface="Calibri"/>
                  </a:rPr>
                  <a:t> và các vectơ ngược hướng với vectơ </a:t>
                </a:r>
                <a:r>
                  <a:rPr lang="vi-VN"/>
                  <a:t>\vec{a}</a:t>
                </a:r>
                <a:r>
                  <a:rPr sz="2200">
                    <a:solidFill>
                      <a:srgbClr val="1E293B"/>
                    </a:solidFill>
                    <a:latin typeface="Calibri"/>
                  </a:rPr>
                  <a:t>.</a:t>
                </a:r>
              </a:p>
            </p:txBody>
          </p:sp>
        </mc:Fallback>
      </mc:AlternateContent>
      <p:sp>
        <p:nvSpPr>
          <p:cNvPr id="8" name="s1_nen"/>
          <p:cNvSpPr/>
          <p:nvPr/>
        </p:nvSpPr>
        <p:spPr>
          <a:xfrm>
            <a:off x="548640" y="3313176"/>
            <a:ext cx="78638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349752"/>
                <a:ext cx="7534656" cy="527304"/>
              </a:xfrm>
              <a:prstGeom prst="rect">
                <a:avLst/>
              </a:prstGeom>
              <a:noFill/>
            </p:spPr>
            <p:txBody>
              <a:bodyPr wrap="square" lIns="45720" rIns="45720" anchor="ctr">
                <a:spAutoFit/>
              </a:bodyPr>
              <a:lstStyle/>
              <a:p>
                <a:pPr algn="l">
                  <a:spcAft>
                    <a:spcPts val="800"/>
                  </a:spcAft>
                </a:pPr>
                <a:r>
                  <a:rPr sz="2200">
                    <a:solidFill>
                      <a:srgbClr val="1E293B"/>
                    </a:solidFill>
                    <a:latin typeface="Calibri"/>
                  </a:rPr>
                  <a:t>Cùng hướng với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r>
                      <a:rPr lang="vi-VN" sz="2200" b="0">
                        <a:solidFill>
                          <a:srgbClr val="1E293B"/>
                        </a:solidFill>
                        <a:latin typeface="Cambria Math" panose="02040503050406030204" pitchFamily="18" charset="0"/>
                      </a:rPr>
                      <m:t>, </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𝑦</m:t>
                        </m:r>
                      </m:e>
                    </m:acc>
                  </m:oMath>
                </a14:m>
                <a:r>
                  <a:rPr sz="2200">
                    <a:solidFill>
                      <a:srgbClr val="1E293B"/>
                    </a:solidFill>
                    <a:latin typeface="Calibri"/>
                  </a:rPr>
                  <a:t>. Ngược hướng với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𝑥</m:t>
                        </m:r>
                      </m:e>
                    </m:acc>
                    <m:r>
                      <a:rPr lang="vi-VN" sz="2200" b="0">
                        <a:solidFill>
                          <a:srgbClr val="1E293B"/>
                        </a:solidFill>
                        <a:latin typeface="Cambria Math" panose="02040503050406030204" pitchFamily="18" charset="0"/>
                      </a:rPr>
                      <m:t>, </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𝑧</m:t>
                        </m:r>
                      </m:e>
                    </m:acc>
                  </m:oMath>
                </a14:m>
                <a:r>
                  <a:rPr sz="2200">
                    <a:solidFill>
                      <a:srgbClr val="1E293B"/>
                    </a:solidFill>
                    <a:latin typeface="Calibri"/>
                  </a:rPr>
                  <a:t>.</a:t>
                </a:r>
              </a:p>
            </p:txBody>
          </p:sp>
        </mc:Choice>
        <mc:Fallback xmlns="">
          <p:sp>
            <p:nvSpPr>
              <p:cNvPr id="9" name="TextBox 8"/>
              <p:cNvSpPr txBox="1"/>
              <p:nvPr/>
            </p:nvSpPr>
            <p:spPr>
              <a:xfrm>
                <a:off x="713232" y="3349752"/>
                <a:ext cx="75346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Cùng hướng với </a:t>
                </a:r>
                <a:r>
                  <a:rPr lang="vi-VN"/>
                  <a:t>\vec{a}</a:t>
                </a:r>
                <a:r>
                  <a:rPr sz="2200">
                    <a:solidFill>
                      <a:srgbClr val="1E293B"/>
                    </a:solidFill>
                    <a:latin typeface="Calibri"/>
                  </a:rPr>
                  <a:t>: </a:t>
                </a:r>
                <a:r>
                  <a:rPr lang="vi-VN"/>
                  <a:t>\overrightarrow{AB},\ \vec{y}</a:t>
                </a:r>
                <a:r>
                  <a:rPr sz="2200">
                    <a:solidFill>
                      <a:srgbClr val="1E293B"/>
                    </a:solidFill>
                    <a:latin typeface="Calibri"/>
                  </a:rPr>
                  <a:t>. Ngược hướng với </a:t>
                </a:r>
                <a:r>
                  <a:rPr lang="vi-VN"/>
                  <a:t>\vec{a}</a:t>
                </a:r>
                <a:r>
                  <a:rPr sz="2200">
                    <a:solidFill>
                      <a:srgbClr val="1E293B"/>
                    </a:solidFill>
                    <a:latin typeface="Calibri"/>
                  </a:rPr>
                  <a:t>: </a:t>
                </a:r>
                <a:r>
                  <a:rPr lang="vi-VN"/>
                  <a:t>\vec{x},\ \vec{z}</a:t>
                </a:r>
                <a:r>
                  <a:rPr sz="2200">
                    <a:solidFill>
                      <a:srgbClr val="1E293B"/>
                    </a:solidFill>
                    <a:latin typeface="Calibri"/>
                  </a:rPr>
                  <a:t>.</a:t>
                </a:r>
              </a:p>
            </p:txBody>
          </p:sp>
        </mc:Fallback>
      </mc:AlternateContent>
      <p:sp>
        <p:nvSpPr>
          <p:cNvPr id="10" name="s2_nen"/>
          <p:cNvSpPr/>
          <p:nvPr/>
        </p:nvSpPr>
        <p:spPr>
          <a:xfrm>
            <a:off x="548640" y="4005072"/>
            <a:ext cx="7863840" cy="93573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2_chu"/>
          <p:cNvSpPr txBox="1"/>
          <p:nvPr/>
        </p:nvSpPr>
        <p:spPr>
          <a:xfrm>
            <a:off x="713232" y="4041648"/>
            <a:ext cx="7534656" cy="862583"/>
          </a:xfrm>
          <a:prstGeom prst="rect">
            <a:avLst/>
          </a:prstGeom>
          <a:noFill/>
        </p:spPr>
        <p:txBody>
          <a:bodyPr wrap="square" lIns="45720" rIns="45720" anchor="ctr">
            <a:spAutoFit/>
          </a:bodyPr>
          <a:lstStyle/>
          <a:p>
            <a:pPr algn="l">
              <a:spcAft>
                <a:spcPts val="800"/>
              </a:spcAft>
            </a:pPr>
            <a:r>
              <a:rPr sz="2200">
                <a:solidFill>
                  <a:srgbClr val="1E293B"/>
                </a:solidFill>
                <a:latin typeface="Calibri"/>
              </a:rPr>
              <a:t>Đối với hai vectơ cùng phương thì chúng </a:t>
            </a:r>
            <a:r>
              <a:rPr sz="2200" b="1">
                <a:solidFill>
                  <a:srgbClr val="1E293B"/>
                </a:solidFill>
                <a:latin typeface="Calibri"/>
              </a:rPr>
              <a:t>cùng hướng</a:t>
            </a:r>
            <a:r>
              <a:rPr sz="2200">
                <a:solidFill>
                  <a:srgbClr val="1E293B"/>
                </a:solidFill>
                <a:latin typeface="Calibri"/>
              </a:rPr>
              <a:t> hoặc </a:t>
            </a:r>
            <a:r>
              <a:rPr sz="2200" b="1">
                <a:solidFill>
                  <a:srgbClr val="1E293B"/>
                </a:solidFill>
                <a:latin typeface="Calibri"/>
              </a:rPr>
              <a:t>ngược hướng</a:t>
            </a:r>
            <a:r>
              <a:rPr sz="2200">
                <a:solidFill>
                  <a:srgbClr val="1E293B"/>
                </a:solidFill>
                <a:latin typeface="Calibri"/>
              </a:rPr>
              <a:t>.</a:t>
            </a:r>
          </a:p>
        </p:txBody>
      </p:sp>
      <p:sp>
        <p:nvSpPr>
          <p:cNvPr id="12" name="s3_chu"/>
          <p:cNvSpPr txBox="1"/>
          <p:nvPr/>
        </p:nvSpPr>
        <p:spPr>
          <a:xfrm>
            <a:off x="548640" y="5032248"/>
            <a:ext cx="7863840" cy="844295"/>
          </a:xfrm>
          <a:prstGeom prst="rect">
            <a:avLst/>
          </a:prstGeom>
          <a:noFill/>
        </p:spPr>
        <p:txBody>
          <a:bodyPr wrap="square" lIns="45720" rIns="45720" anchor="t">
            <a:spAutoFit/>
          </a:bodyPr>
          <a:lstStyle/>
          <a:p>
            <a:pPr algn="l">
              <a:spcAft>
                <a:spcPts val="800"/>
              </a:spcAft>
            </a:pPr>
            <a:r>
              <a:rPr sz="2000">
                <a:solidFill>
                  <a:srgbClr val="64748B"/>
                </a:solidFill>
                <a:latin typeface="Calibri"/>
              </a:rPr>
              <a:t>💡 Chỉ khi hai vectơ cùng phương, ta mới nói tới chúng cùng hướng hay ngược hướng.</a:t>
            </a:r>
          </a:p>
        </p:txBody>
      </p:sp>
      <p:pic>
        <p:nvPicPr>
          <p:cNvPr id="13" name="Picture 12" descr="h47.png"/>
          <p:cNvPicPr>
            <a:picLocks noChangeAspect="1"/>
          </p:cNvPicPr>
          <p:nvPr/>
        </p:nvPicPr>
        <p:blipFill>
          <a:blip r:embed="rId3"/>
          <a:stretch>
            <a:fillRect/>
          </a:stretch>
        </p:blipFill>
        <p:spPr>
          <a:xfrm>
            <a:off x="8623687" y="1371600"/>
            <a:ext cx="2869425" cy="31089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HAI VECTƠ BẰNG NHAU – VECTƠ-KHÔNG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12</a:t>
            </a:r>
          </a:p>
        </p:txBody>
      </p:sp>
      <p:sp>
        <p:nvSpPr>
          <p:cNvPr id="7" name="Rounded Rectangle 6"/>
          <p:cNvSpPr/>
          <p:nvPr/>
        </p:nvSpPr>
        <p:spPr>
          <a:xfrm>
            <a:off x="548640" y="1371600"/>
            <a:ext cx="11064240" cy="93573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7"/>
              <p:cNvSpPr txBox="1"/>
              <p:nvPr/>
            </p:nvSpPr>
            <p:spPr>
              <a:xfrm>
                <a:off x="713232" y="1408176"/>
                <a:ext cx="10735056" cy="862583"/>
              </a:xfrm>
              <a:prstGeom prst="rect">
                <a:avLst/>
              </a:prstGeom>
              <a:noFill/>
            </p:spPr>
            <p:txBody>
              <a:bodyPr wrap="square" lIns="45720" rIns="45720" anchor="ctr">
                <a:spAutoFit/>
              </a:bodyPr>
              <a:lstStyle/>
              <a:p>
                <a:pPr algn="l">
                  <a:spcAft>
                    <a:spcPts val="800"/>
                  </a:spcAft>
                </a:pPr>
                <a:r>
                  <a:rPr sz="2200">
                    <a:solidFill>
                      <a:srgbClr val="1E293B"/>
                    </a:solidFill>
                    <a:latin typeface="Calibri"/>
                  </a:rPr>
                  <a:t>Hai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oMath>
                </a14:m>
                <a:r>
                  <a:rPr sz="2200">
                    <a:solidFill>
                      <a:srgbClr val="1E293B"/>
                    </a:solidFill>
                    <a:latin typeface="Calibri"/>
                  </a:rPr>
                  <a:t> và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𝑏</m:t>
                        </m:r>
                      </m:e>
                    </m:acc>
                  </m:oMath>
                </a14:m>
                <a:r>
                  <a:rPr sz="2200">
                    <a:solidFill>
                      <a:srgbClr val="1E293B"/>
                    </a:solidFill>
                    <a:latin typeface="Calibri"/>
                  </a:rPr>
                  <a:t> được gọi là </a:t>
                </a:r>
                <a:r>
                  <a:rPr sz="2200" b="1">
                    <a:solidFill>
                      <a:srgbClr val="1E293B"/>
                    </a:solidFill>
                    <a:latin typeface="Calibri"/>
                  </a:rPr>
                  <a:t>bằng nhau</a:t>
                </a:r>
                <a:r>
                  <a:rPr sz="2200">
                    <a:solidFill>
                      <a:srgbClr val="1E293B"/>
                    </a:solidFill>
                    <a:latin typeface="Calibri"/>
                  </a:rPr>
                  <a:t>, kí hiệu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𝑏</m:t>
                        </m:r>
                      </m:e>
                    </m:acc>
                  </m:oMath>
                </a14:m>
                <a:r>
                  <a:rPr sz="2200">
                    <a:solidFill>
                      <a:srgbClr val="1E293B"/>
                    </a:solidFill>
                    <a:latin typeface="Calibri"/>
                  </a:rPr>
                  <a:t>, nếu chúng có cùng độ dài và cùng hướng.</a:t>
                </a:r>
              </a:p>
            </p:txBody>
          </p:sp>
        </mc:Choice>
        <mc:Fallback xmlns="">
          <p:sp>
            <p:nvSpPr>
              <p:cNvPr id="8" name="TextBox 7"/>
              <p:cNvSpPr txBox="1"/>
              <p:nvPr/>
            </p:nvSpPr>
            <p:spPr>
              <a:xfrm>
                <a:off x="713232" y="1408176"/>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Hai vectơ </a:t>
                </a:r>
                <a:r>
                  <a:rPr lang="vi-VN"/>
                  <a:t>\vec{a}</a:t>
                </a:r>
                <a:r>
                  <a:rPr sz="2200">
                    <a:solidFill>
                      <a:srgbClr val="1E293B"/>
                    </a:solidFill>
                    <a:latin typeface="Calibri"/>
                  </a:rPr>
                  <a:t> và </a:t>
                </a:r>
                <a:r>
                  <a:rPr lang="vi-VN"/>
                  <a:t>\vec{b}</a:t>
                </a:r>
                <a:r>
                  <a:rPr sz="2200">
                    <a:solidFill>
                      <a:srgbClr val="1E293B"/>
                    </a:solidFill>
                    <a:latin typeface="Calibri"/>
                  </a:rPr>
                  <a:t> được gọi là </a:t>
                </a:r>
                <a:r>
                  <a:rPr sz="2200" b="1">
                    <a:solidFill>
                      <a:srgbClr val="1E293B"/>
                    </a:solidFill>
                    <a:latin typeface="Calibri"/>
                  </a:rPr>
                  <a:t>bằng nhau</a:t>
                </a:r>
                <a:r>
                  <a:rPr sz="2200">
                    <a:solidFill>
                      <a:srgbClr val="1E293B"/>
                    </a:solidFill>
                    <a:latin typeface="Calibri"/>
                  </a:rPr>
                  <a:t>, kí hiệu </a:t>
                </a:r>
                <a:r>
                  <a:rPr lang="vi-VN"/>
                  <a:t>\vec{a}=\vec{b}</a:t>
                </a:r>
                <a:r>
                  <a:rPr sz="2200">
                    <a:solidFill>
                      <a:srgbClr val="1E293B"/>
                    </a:solidFill>
                    <a:latin typeface="Calibri"/>
                  </a:rPr>
                  <a:t>, nếu chúng có cùng độ dài và cùng hướng.</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48640" y="2490216"/>
                <a:ext cx="11064240" cy="3657600"/>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Chú ý</a:t>
                </a:r>
              </a:p>
              <a:p>
                <a:pPr marL="365760" indent="-365760" algn="l">
                  <a:spcAft>
                    <a:spcPts val="800"/>
                  </a:spcAft>
                  <a:buClr>
                    <a:srgbClr val="1E40AF"/>
                  </a:buClr>
                  <a:buFont typeface="Arial"/>
                  <a:buChar char="•"/>
                </a:pPr>
                <a:r>
                  <a:rPr sz="2200">
                    <a:solidFill>
                      <a:srgbClr val="1E293B"/>
                    </a:solidFill>
                    <a:latin typeface="Calibri"/>
                  </a:rPr>
                  <a:t>Ta cũng xét các vectơ có điểm đầu và điểm cuối trùng nhau (chẳng hạn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𝐴𝐴</m:t>
                        </m:r>
                      </m:e>
                    </m:acc>
                    <m:r>
                      <a:rPr lang="vi-VN" sz="2200" b="0">
                        <a:solidFill>
                          <a:srgbClr val="1E293B"/>
                        </a:solidFill>
                        <a:latin typeface="Cambria Math" panose="02040503050406030204" pitchFamily="18" charset="0"/>
                      </a:rPr>
                      <m:t>, </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𝐵𝐵</m:t>
                        </m:r>
                      </m:e>
                    </m:acc>
                    <m:r>
                      <a:rPr lang="vi-VN" sz="2200" b="0">
                        <a:solidFill>
                          <a:srgbClr val="1E293B"/>
                        </a:solidFill>
                        <a:latin typeface="Cambria Math" panose="02040503050406030204" pitchFamily="18" charset="0"/>
                      </a:rPr>
                      <m:t>, </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𝑀𝑀</m:t>
                        </m:r>
                      </m:e>
                    </m:acc>
                  </m:oMath>
                </a14:m>
                <a:r>
                  <a:rPr sz="2200">
                    <a:solidFill>
                      <a:srgbClr val="1E293B"/>
                    </a:solidFill>
                    <a:latin typeface="Calibri"/>
                  </a:rPr>
                  <a:t>), gọi là các </a:t>
                </a:r>
                <a:r>
                  <a:rPr sz="2200" b="1">
                    <a:solidFill>
                      <a:srgbClr val="1E293B"/>
                    </a:solidFill>
                    <a:latin typeface="Calibri"/>
                  </a:rPr>
                  <a:t>vectơ-không</a:t>
                </a:r>
                <a:r>
                  <a:rPr sz="2200">
                    <a:solidFill>
                      <a:srgbClr val="1E293B"/>
                    </a:solidFill>
                    <a:latin typeface="Calibri"/>
                  </a:rPr>
                  <a:t>.</a:t>
                </a:r>
              </a:p>
              <a:p>
                <a:pPr marL="365760" indent="-365760" algn="l">
                  <a:spcAft>
                    <a:spcPts val="800"/>
                  </a:spcAft>
                  <a:buClr>
                    <a:srgbClr val="1E40AF"/>
                  </a:buClr>
                  <a:buFont typeface="Arial"/>
                  <a:buChar char="•"/>
                </a:pPr>
                <a:r>
                  <a:rPr sz="2200">
                    <a:solidFill>
                      <a:srgbClr val="1E293B"/>
                    </a:solidFill>
                    <a:latin typeface="Calibri"/>
                  </a:rPr>
                  <a:t>Ta quy ước vectơ-không có độ dài bằng 0, cùng hướng (do đó cùng phương) với mọi vectơ.</a:t>
                </a:r>
              </a:p>
              <a:p>
                <a:pPr marL="365760" indent="-365760" algn="l">
                  <a:spcAft>
                    <a:spcPts val="800"/>
                  </a:spcAft>
                  <a:buClr>
                    <a:srgbClr val="1E40AF"/>
                  </a:buClr>
                  <a:buFont typeface="Arial"/>
                  <a:buChar char="•"/>
                </a:pPr>
                <a:r>
                  <a:rPr sz="2200">
                    <a:solidFill>
                      <a:srgbClr val="1E293B"/>
                    </a:solidFill>
                    <a:latin typeface="Calibri"/>
                  </a:rPr>
                  <a:t>Các vectơ-không có cùng độ dài và cùng hướng nên bằng nhau và được kí hiệu chung là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a:p>
                <a:pPr marL="365760" indent="-365760" algn="l">
                  <a:spcAft>
                    <a:spcPts val="800"/>
                  </a:spcAft>
                  <a:buClr>
                    <a:srgbClr val="1E40AF"/>
                  </a:buClr>
                  <a:buFont typeface="Arial"/>
                  <a:buChar char="•"/>
                </a:pPr>
                <a:r>
                  <a:rPr sz="2200">
                    <a:solidFill>
                      <a:srgbClr val="1E293B"/>
                    </a:solidFill>
                    <a:latin typeface="Calibri"/>
                  </a:rPr>
                  <a:t>Với mỗi điểm </a:t>
                </a:r>
                <a14:m>
                  <m:oMath xmlns:m="http://schemas.openxmlformats.org/officeDocument/2006/math">
                    <m:r>
                      <a:rPr lang="vi-VN" sz="2200" b="0">
                        <a:solidFill>
                          <a:srgbClr val="1E293B"/>
                        </a:solidFill>
                        <a:latin typeface="Cambria Math" panose="02040503050406030204" pitchFamily="18" charset="0"/>
                      </a:rPr>
                      <m:t>𝑂</m:t>
                    </m:r>
                  </m:oMath>
                </a14:m>
                <a:r>
                  <a:rPr sz="2200">
                    <a:solidFill>
                      <a:srgbClr val="1E293B"/>
                    </a:solidFill>
                    <a:latin typeface="Calibri"/>
                  </a:rPr>
                  <a:t> và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oMath>
                </a14:m>
                <a:r>
                  <a:rPr sz="2200">
                    <a:solidFill>
                      <a:srgbClr val="1E293B"/>
                    </a:solidFill>
                    <a:latin typeface="Calibri"/>
                  </a:rPr>
                  <a:t> cho trước, có duy nhất điểm </a:t>
                </a:r>
                <a14:m>
                  <m:oMath xmlns:m="http://schemas.openxmlformats.org/officeDocument/2006/math">
                    <m:r>
                      <a:rPr lang="vi-VN" sz="2200" b="0">
                        <a:solidFill>
                          <a:srgbClr val="1E293B"/>
                        </a:solidFill>
                        <a:latin typeface="Cambria Math" panose="02040503050406030204" pitchFamily="18" charset="0"/>
                      </a:rPr>
                      <m:t>𝐴</m:t>
                    </m:r>
                  </m:oMath>
                </a14:m>
                <a:r>
                  <a:rPr sz="2200">
                    <a:solidFill>
                      <a:srgbClr val="1E293B"/>
                    </a:solidFill>
                    <a:latin typeface="Calibri"/>
                  </a:rPr>
                  <a:t> sao cho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𝑂𝐴</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oMath>
                </a14:m>
                <a:r>
                  <a:rPr sz="2200">
                    <a:solidFill>
                      <a:srgbClr val="1E293B"/>
                    </a:solidFill>
                    <a:latin typeface="Calibri"/>
                  </a:rPr>
                  <a:t> (H.4.8).</a:t>
                </a:r>
              </a:p>
            </p:txBody>
          </p:sp>
        </mc:Choice>
        <mc:Fallback xmlns="">
          <p:sp>
            <p:nvSpPr>
              <p:cNvPr id="9" name="TextBox 8"/>
              <p:cNvSpPr txBox="1"/>
              <p:nvPr/>
            </p:nvSpPr>
            <p:spPr>
              <a:xfrm>
                <a:off x="548640" y="2490216"/>
                <a:ext cx="11064240" cy="365760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Chú ý</a:t>
                </a:r>
              </a:p>
              <a:p>
                <a:pPr algn="l" marL="365760" indent="-365760">
                  <a:spcAft>
                    <a:spcPts val="800"/>
                  </a:spcAft>
                  <a:buClr>
                    <a:srgbClr val="1E40AF"/>
                  </a:buClr>
                  <a:buFont typeface="Arial"/>
                  <a:buChar char="•"/>
                </a:pPr>
                <a:r>
                  <a:rPr sz="2200">
                    <a:solidFill>
                      <a:srgbClr val="1E293B"/>
                    </a:solidFill>
                    <a:latin typeface="Calibri"/>
                  </a:rPr>
                  <a:t>Ta cũng xét các vectơ có điểm đầu và điểm cuối trùng nhau (chẳng hạn </a:t>
                </a:r>
                <a:r>
                  <a:rPr lang="vi-VN"/>
                  <a:t>\overrightarrow{AA},\ \overrightarrow{BB},\ \overrightarrow{MM}</a:t>
                </a:r>
                <a:r>
                  <a:rPr sz="2200">
                    <a:solidFill>
                      <a:srgbClr val="1E293B"/>
                    </a:solidFill>
                    <a:latin typeface="Calibri"/>
                  </a:rPr>
                  <a:t>), gọi là các </a:t>
                </a:r>
                <a:r>
                  <a:rPr sz="2200" b="1">
                    <a:solidFill>
                      <a:srgbClr val="1E293B"/>
                    </a:solidFill>
                    <a:latin typeface="Calibri"/>
                  </a:rPr>
                  <a:t>vectơ-không</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Ta quy ước vectơ-không có độ dài bằng 0, cùng hướng (do đó cùng phương) với mọi vectơ.</a:t>
                </a:r>
              </a:p>
              <a:p>
                <a:pPr algn="l" marL="365760" indent="-365760">
                  <a:spcAft>
                    <a:spcPts val="800"/>
                  </a:spcAft>
                  <a:buClr>
                    <a:srgbClr val="1E40AF"/>
                  </a:buClr>
                  <a:buFont typeface="Arial"/>
                  <a:buChar char="•"/>
                </a:pPr>
                <a:r>
                  <a:rPr sz="2200">
                    <a:solidFill>
                      <a:srgbClr val="1E293B"/>
                    </a:solidFill>
                    <a:latin typeface="Calibri"/>
                  </a:rPr>
                  <a:t>Các vectơ-không có cùng độ dài và cùng hướng nên bằng nhau và được kí hiệu chung là </a:t>
                </a:r>
                <a:r>
                  <a:rPr lang="vi-VN"/>
                  <a:t>\vec{0}</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Với mỗi điểm </a:t>
                </a:r>
                <a:r>
                  <a:rPr lang="vi-VN"/>
                  <a:t>O</a:t>
                </a:r>
                <a:r>
                  <a:rPr sz="2200">
                    <a:solidFill>
                      <a:srgbClr val="1E293B"/>
                    </a:solidFill>
                    <a:latin typeface="Calibri"/>
                  </a:rPr>
                  <a:t> và vectơ </a:t>
                </a:r>
                <a:r>
                  <a:rPr lang="vi-VN"/>
                  <a:t>\vec{a}</a:t>
                </a:r>
                <a:r>
                  <a:rPr sz="2200">
                    <a:solidFill>
                      <a:srgbClr val="1E293B"/>
                    </a:solidFill>
                    <a:latin typeface="Calibri"/>
                  </a:rPr>
                  <a:t> cho trước, có duy nhất điểm </a:t>
                </a:r>
                <a:r>
                  <a:rPr lang="vi-VN"/>
                  <a:t>A</a:t>
                </a:r>
                <a:r>
                  <a:rPr sz="2200">
                    <a:solidFill>
                      <a:srgbClr val="1E293B"/>
                    </a:solidFill>
                    <a:latin typeface="Calibri"/>
                  </a:rPr>
                  <a:t> sao cho </a:t>
                </a:r>
                <a:r>
                  <a:rPr lang="vi-VN"/>
                  <a:t>\overrightarrow{OA}=\vec{a}</a:t>
                </a:r>
                <a:r>
                  <a:rPr sz="2200">
                    <a:solidFill>
                      <a:srgbClr val="1E293B"/>
                    </a:solidFill>
                    <a:latin typeface="Calibri"/>
                  </a:rPr>
                  <a:t> (H.4.8).</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VECTƠ BẰNG NHAU, CÙNG PHƯƠNG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13</a:t>
            </a:r>
          </a:p>
        </p:txBody>
      </p:sp>
      <mc:AlternateContent xmlns:mc="http://schemas.openxmlformats.org/markup-compatibility/2006" xmlns:a14="http://schemas.microsoft.com/office/drawing/2010/main">
        <mc:Choice Requires="a14">
          <p:sp>
            <p:nvSpPr>
              <p:cNvPr id="7" name="TextBox 6"/>
              <p:cNvSpPr txBox="1"/>
              <p:nvPr/>
            </p:nvSpPr>
            <p:spPr>
              <a:xfrm>
                <a:off x="548640" y="1417320"/>
                <a:ext cx="6035040" cy="356616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200">
                    <a:solidFill>
                      <a:srgbClr val="1E293B"/>
                    </a:solidFill>
                    <a:latin typeface="Calibri"/>
                  </a:rPr>
                  <a:t>Kéo </a:t>
                </a:r>
                <a14:m>
                  <m:oMath xmlns:m="http://schemas.openxmlformats.org/officeDocument/2006/math">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𝐵</m:t>
                    </m:r>
                  </m:oMath>
                </a14:m>
                <a:r>
                  <a:rPr sz="2200">
                    <a:solidFill>
                      <a:srgbClr val="1E293B"/>
                    </a:solidFill>
                    <a:latin typeface="Calibri"/>
                  </a:rPr>
                  <a:t> để thay đổi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𝑢</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(xanh dương).</a:t>
                </a:r>
              </a:p>
              <a:p>
                <a:pPr marL="365760" indent="-365760" algn="l">
                  <a:spcAft>
                    <a:spcPts val="800"/>
                  </a:spcAft>
                  <a:buClr>
                    <a:srgbClr val="1E40AF"/>
                  </a:buClr>
                  <a:buFont typeface="Arial"/>
                  <a:buChar char="•"/>
                </a:pPr>
                <a:r>
                  <a:rPr sz="2200">
                    <a:solidFill>
                      <a:srgbClr val="1E293B"/>
                    </a:solidFill>
                    <a:latin typeface="Calibri"/>
                  </a:rPr>
                  <a:t>Từ điểm </a:t>
                </a:r>
                <a14:m>
                  <m:oMath xmlns:m="http://schemas.openxmlformats.org/officeDocument/2006/math">
                    <m:r>
                      <a:rPr lang="vi-VN" sz="2200" b="0">
                        <a:solidFill>
                          <a:srgbClr val="1E293B"/>
                        </a:solidFill>
                        <a:latin typeface="Cambria Math" panose="02040503050406030204" pitchFamily="18" charset="0"/>
                      </a:rPr>
                      <m:t>𝐶</m:t>
                    </m:r>
                  </m:oMath>
                </a14:m>
                <a:r>
                  <a:rPr sz="2200">
                    <a:solidFill>
                      <a:srgbClr val="1E293B"/>
                    </a:solidFill>
                    <a:latin typeface="Calibri"/>
                  </a:rPr>
                  <a:t>,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𝐶𝐷</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𝑢</m:t>
                        </m:r>
                      </m:e>
                    </m:acc>
                  </m:oMath>
                </a14:m>
                <a:r>
                  <a:rPr sz="2200">
                    <a:solidFill>
                      <a:srgbClr val="1E293B"/>
                    </a:solidFill>
                    <a:latin typeface="Calibri"/>
                  </a:rPr>
                  <a:t> (xanh lá) luôn cùng hướng, cùng độ dài.</a:t>
                </a:r>
              </a:p>
              <a:p>
                <a:pPr marL="365760" indent="-365760" algn="l">
                  <a:spcAft>
                    <a:spcPts val="800"/>
                  </a:spcAft>
                  <a:buClr>
                    <a:srgbClr val="1E40AF"/>
                  </a:buClr>
                  <a:buFont typeface="Arial"/>
                  <a:buChar char="•"/>
                </a:pPr>
                <a:r>
                  <a:rPr sz="2200">
                    <a:solidFill>
                      <a:srgbClr val="1E293B"/>
                    </a:solidFill>
                    <a:latin typeface="Calibri"/>
                  </a:rPr>
                  <a:t>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𝐶𝐸</m:t>
                        </m:r>
                      </m:e>
                    </m:acc>
                  </m:oMath>
                </a14:m>
                <a:r>
                  <a:rPr sz="2200">
                    <a:solidFill>
                      <a:srgbClr val="1E293B"/>
                    </a:solidFill>
                    <a:latin typeface="Calibri"/>
                  </a:rPr>
                  <a:t> (đỏ) cùng độ dài nhưng </a:t>
                </a:r>
                <a:r>
                  <a:rPr sz="2200" b="1">
                    <a:solidFill>
                      <a:srgbClr val="1E293B"/>
                    </a:solidFill>
                    <a:latin typeface="Calibri"/>
                  </a:rPr>
                  <a:t>ngược hướng</a:t>
                </a:r>
                <a:r>
                  <a:rPr sz="2200">
                    <a:solidFill>
                      <a:srgbClr val="1E293B"/>
                    </a:solidFill>
                    <a:latin typeface="Calibri"/>
                  </a:rPr>
                  <a:t>.</a:t>
                </a:r>
              </a:p>
              <a:p>
                <a:pPr marL="365760" indent="-365760" algn="l">
                  <a:spcAft>
                    <a:spcPts val="800"/>
                  </a:spcAft>
                  <a:buClr>
                    <a:srgbClr val="1E40AF"/>
                  </a:buClr>
                  <a:buFont typeface="Arial"/>
                  <a:buChar char="•"/>
                </a:pPr>
                <a:r>
                  <a:rPr sz="2200">
                    <a:solidFill>
                      <a:srgbClr val="1E293B"/>
                    </a:solidFill>
                    <a:latin typeface="Calibri"/>
                  </a:rPr>
                  <a:t>Kéo </a:t>
                </a:r>
                <a14:m>
                  <m:oMath xmlns:m="http://schemas.openxmlformats.org/officeDocument/2006/math">
                    <m:r>
                      <a:rPr lang="vi-VN" sz="2200" b="0">
                        <a:solidFill>
                          <a:srgbClr val="1E293B"/>
                        </a:solidFill>
                        <a:latin typeface="Cambria Math" panose="02040503050406030204" pitchFamily="18" charset="0"/>
                      </a:rPr>
                      <m:t>𝐶</m:t>
                    </m:r>
                  </m:oMath>
                </a14:m>
                <a:r>
                  <a:rPr sz="2200">
                    <a:solidFill>
                      <a:srgbClr val="1E293B"/>
                    </a:solidFill>
                    <a:latin typeface="Calibri"/>
                  </a:rPr>
                  <a:t> đến vị trí bất kì: luôn dựng được duy nhất điểm </a:t>
                </a:r>
                <a14:m>
                  <m:oMath xmlns:m="http://schemas.openxmlformats.org/officeDocument/2006/math">
                    <m:r>
                      <a:rPr lang="vi-VN" sz="2200" b="0">
                        <a:solidFill>
                          <a:srgbClr val="1E293B"/>
                        </a:solidFill>
                        <a:latin typeface="Cambria Math" panose="02040503050406030204" pitchFamily="18" charset="0"/>
                      </a:rPr>
                      <m:t>𝐷</m:t>
                    </m:r>
                  </m:oMath>
                </a14:m>
                <a:r>
                  <a:rPr sz="2200">
                    <a:solidFill>
                      <a:srgbClr val="1E293B"/>
                    </a:solidFill>
                    <a:latin typeface="Calibri"/>
                  </a:rPr>
                  <a:t>.</a:t>
                </a:r>
              </a:p>
            </p:txBody>
          </p:sp>
        </mc:Choice>
        <mc:Fallback xmlns="">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a:t>
                </a:r>
                <a:r>
                  <a:rPr lang="vi-VN"/>
                  <a:t>A,\ B</a:t>
                </a:r>
                <a:r>
                  <a:rPr sz="2200">
                    <a:solidFill>
                      <a:srgbClr val="1E293B"/>
                    </a:solidFill>
                    <a:latin typeface="Calibri"/>
                  </a:rPr>
                  <a:t> để thay đổi </a:t>
                </a:r>
                <a:r>
                  <a:rPr lang="vi-VN"/>
                  <a:t>\vec{u}=\overrightarrow{AB}</a:t>
                </a:r>
                <a:r>
                  <a:rPr sz="2200">
                    <a:solidFill>
                      <a:srgbClr val="1E293B"/>
                    </a:solidFill>
                    <a:latin typeface="Calibri"/>
                  </a:rPr>
                  <a:t> (xanh dương).</a:t>
                </a:r>
              </a:p>
              <a:p>
                <a:pPr algn="l" marL="365760" indent="-365760">
                  <a:spcAft>
                    <a:spcPts val="800"/>
                  </a:spcAft>
                  <a:buClr>
                    <a:srgbClr val="1E40AF"/>
                  </a:buClr>
                  <a:buFont typeface="Arial"/>
                  <a:buChar char="•"/>
                </a:pPr>
                <a:r>
                  <a:rPr sz="2200">
                    <a:solidFill>
                      <a:srgbClr val="1E293B"/>
                    </a:solidFill>
                    <a:latin typeface="Calibri"/>
                  </a:rPr>
                  <a:t>Từ điểm </a:t>
                </a:r>
                <a:r>
                  <a:rPr lang="vi-VN"/>
                  <a:t>C</a:t>
                </a:r>
                <a:r>
                  <a:rPr sz="2200">
                    <a:solidFill>
                      <a:srgbClr val="1E293B"/>
                    </a:solidFill>
                    <a:latin typeface="Calibri"/>
                  </a:rPr>
                  <a:t>, vectơ </a:t>
                </a:r>
                <a:r>
                  <a:rPr lang="vi-VN"/>
                  <a:t>\overrightarrow{CD}=\vec{u}</a:t>
                </a:r>
                <a:r>
                  <a:rPr sz="2200">
                    <a:solidFill>
                      <a:srgbClr val="1E293B"/>
                    </a:solidFill>
                    <a:latin typeface="Calibri"/>
                  </a:rPr>
                  <a:t> (xanh lá) luôn cùng hướng, cùng độ dài.</a:t>
                </a:r>
              </a:p>
              <a:p>
                <a:pPr algn="l" marL="365760" indent="-365760">
                  <a:spcAft>
                    <a:spcPts val="800"/>
                  </a:spcAft>
                  <a:buClr>
                    <a:srgbClr val="1E40AF"/>
                  </a:buClr>
                  <a:buFont typeface="Arial"/>
                  <a:buChar char="•"/>
                </a:pPr>
                <a:r>
                  <a:rPr sz="2200">
                    <a:solidFill>
                      <a:srgbClr val="1E293B"/>
                    </a:solidFill>
                    <a:latin typeface="Calibri"/>
                  </a:rPr>
                  <a:t>Vectơ </a:t>
                </a:r>
                <a:r>
                  <a:rPr lang="vi-VN"/>
                  <a:t>\overrightarrow{CE}</a:t>
                </a:r>
                <a:r>
                  <a:rPr sz="2200">
                    <a:solidFill>
                      <a:srgbClr val="1E293B"/>
                    </a:solidFill>
                    <a:latin typeface="Calibri"/>
                  </a:rPr>
                  <a:t> (đỏ) cùng độ dài nhưng </a:t>
                </a:r>
                <a:r>
                  <a:rPr sz="2200" b="1">
                    <a:solidFill>
                      <a:srgbClr val="1E293B"/>
                    </a:solidFill>
                    <a:latin typeface="Calibri"/>
                  </a:rPr>
                  <a:t>ngược hướng</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Kéo </a:t>
                </a:r>
                <a:r>
                  <a:rPr lang="vi-VN"/>
                  <a:t>C</a:t>
                </a:r>
                <a:r>
                  <a:rPr sz="2200">
                    <a:solidFill>
                      <a:srgbClr val="1E293B"/>
                    </a:solidFill>
                    <a:latin typeface="Calibri"/>
                  </a:rPr>
                  <a:t> đến vị trí bất kì: luôn dựng được duy nhất điểm </a:t>
                </a:r>
                <a:r>
                  <a:rPr lang="vi-VN"/>
                  <a:t>D</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lIns="45720" rIns="45720" anchor="t">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47.png"/>
          <p:cNvPicPr>
            <a:picLocks noChangeAspect="1"/>
          </p:cNvPicPr>
          <p:nvPr/>
        </p:nvPicPr>
        <p:blipFill>
          <a:blip r:embed="rId5"/>
          <a:stretch>
            <a:fillRect/>
          </a:stretch>
        </p:blipFill>
        <p:spPr>
          <a:xfrm>
            <a:off x="7213486" y="1463040"/>
            <a:ext cx="4135348" cy="44805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ĐÚNG HAY 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14</a:t>
            </a:r>
          </a:p>
        </p:txBody>
      </p:sp>
      <p:sp>
        <p:nvSpPr>
          <p:cNvPr id="7" name="TextBox 6"/>
          <p:cNvSpPr txBox="1"/>
          <p:nvPr/>
        </p:nvSpPr>
        <p:spPr>
          <a:xfrm>
            <a:off x="548640" y="1325880"/>
            <a:ext cx="11064240" cy="457200"/>
          </a:xfrm>
          <a:prstGeom prst="rect">
            <a:avLst/>
          </a:prstGeom>
          <a:noFill/>
        </p:spPr>
        <p:txBody>
          <a:bodyPr wrap="square" lIns="45720" rIns="45720" anchor="t">
            <a:spAutoFit/>
          </a:bodyPr>
          <a:lstStyle/>
          <a:p>
            <a:pPr algn="l">
              <a:spcAft>
                <a:spcPts val="800"/>
              </a:spcAft>
            </a:pPr>
            <a:r>
              <a:rPr sz="1800">
                <a:solidFill>
                  <a:srgbClr val="64748B"/>
                </a:solidFill>
                <a:latin typeface="Calibri"/>
              </a:rPr>
              <a:t>📋 Cả lớp giơ thẻ Đ (xanh) / S (đỏ) trong 10 giây cho mỗi câu.</a:t>
            </a:r>
          </a:p>
        </p:txBody>
      </p:sp>
      <p:sp>
        <p:nvSpPr>
          <p:cNvPr id="8" name="TextBox 7"/>
          <p:cNvSpPr txBox="1"/>
          <p:nvPr/>
        </p:nvSpPr>
        <p:spPr>
          <a:xfrm>
            <a:off x="548640" y="1828800"/>
            <a:ext cx="8229600" cy="822959"/>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1.</a:t>
            </a:r>
            <a:r>
              <a:rPr sz="2100">
                <a:solidFill>
                  <a:srgbClr val="1E293B"/>
                </a:solidFill>
                <a:latin typeface="Calibri"/>
              </a:rPr>
              <a:t> Hai vectơ cùng phương thì cùng hướng.</a:t>
            </a:r>
          </a:p>
        </p:txBody>
      </p:sp>
      <p:sp>
        <p:nvSpPr>
          <p:cNvPr id="9" name="s1_nen"/>
          <p:cNvSpPr/>
          <p:nvPr/>
        </p:nvSpPr>
        <p:spPr>
          <a:xfrm>
            <a:off x="8961120" y="1828800"/>
            <a:ext cx="2651759"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1_chu"/>
          <p:cNvSpPr txBox="1"/>
          <p:nvPr/>
        </p:nvSpPr>
        <p:spPr>
          <a:xfrm>
            <a:off x="8961120" y="1883664"/>
            <a:ext cx="2651759" cy="640080"/>
          </a:xfrm>
          <a:prstGeom prst="rect">
            <a:avLst/>
          </a:prstGeom>
          <a:noFill/>
        </p:spPr>
        <p:txBody>
          <a:bodyPr wrap="square" lIns="45720" rIns="45720" anchor="t">
            <a:spAutoFit/>
          </a:bodyPr>
          <a:lstStyle/>
          <a:p>
            <a:pPr algn="ctr">
              <a:spcAft>
                <a:spcPts val="800"/>
              </a:spcAft>
            </a:pPr>
            <a:r>
              <a:rPr sz="1700" b="1">
                <a:solidFill>
                  <a:srgbClr val="FFFFFF"/>
                </a:solidFill>
                <a:latin typeface="Calibri"/>
              </a:rPr>
              <a:t>SAI</a:t>
            </a:r>
            <a:r>
              <a:rPr sz="1700">
                <a:solidFill>
                  <a:srgbClr val="FFFFFF"/>
                </a:solidFill>
                <a:latin typeface="Calibri"/>
              </a:rPr>
              <a:t> (có thể ngược hướng)</a:t>
            </a:r>
          </a:p>
        </p:txBody>
      </p:sp>
      <p:sp>
        <p:nvSpPr>
          <p:cNvPr id="11" name="TextBox 10"/>
          <p:cNvSpPr txBox="1"/>
          <p:nvPr/>
        </p:nvSpPr>
        <p:spPr>
          <a:xfrm>
            <a:off x="548640" y="2697480"/>
            <a:ext cx="8229600" cy="822959"/>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2.</a:t>
            </a:r>
            <a:r>
              <a:rPr sz="2100">
                <a:solidFill>
                  <a:srgbClr val="1E293B"/>
                </a:solidFill>
                <a:latin typeface="Calibri"/>
              </a:rPr>
              <a:t> Hai vectơ cùng hướng thì cùng phương.</a:t>
            </a:r>
          </a:p>
        </p:txBody>
      </p:sp>
      <p:sp>
        <p:nvSpPr>
          <p:cNvPr id="12" name="s2_nen"/>
          <p:cNvSpPr/>
          <p:nvPr/>
        </p:nvSpPr>
        <p:spPr>
          <a:xfrm>
            <a:off x="8961120" y="2697480"/>
            <a:ext cx="2651759"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2_chu"/>
          <p:cNvSpPr txBox="1"/>
          <p:nvPr/>
        </p:nvSpPr>
        <p:spPr>
          <a:xfrm>
            <a:off x="8961120" y="2752344"/>
            <a:ext cx="2651759" cy="640080"/>
          </a:xfrm>
          <a:prstGeom prst="rect">
            <a:avLst/>
          </a:prstGeom>
          <a:noFill/>
        </p:spPr>
        <p:txBody>
          <a:bodyPr wrap="square" lIns="45720" rIns="45720" anchor="t">
            <a:spAutoFit/>
          </a:bodyPr>
          <a:lstStyle/>
          <a:p>
            <a:pPr algn="ctr">
              <a:spcAft>
                <a:spcPts val="800"/>
              </a:spcAft>
            </a:pPr>
            <a:r>
              <a:rPr sz="1700" b="1">
                <a:solidFill>
                  <a:srgbClr val="FFFFFF"/>
                </a:solidFill>
                <a:latin typeface="Calibri"/>
              </a:rPr>
              <a:t>ĐÚNG</a:t>
            </a:r>
          </a:p>
        </p:txBody>
      </p:sp>
      <p:sp>
        <p:nvSpPr>
          <p:cNvPr id="14" name="TextBox 13"/>
          <p:cNvSpPr txBox="1"/>
          <p:nvPr/>
        </p:nvSpPr>
        <p:spPr>
          <a:xfrm>
            <a:off x="548640" y="3566160"/>
            <a:ext cx="8229600" cy="822959"/>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3.</a:t>
            </a:r>
            <a:r>
              <a:rPr sz="2100">
                <a:solidFill>
                  <a:srgbClr val="1E293B"/>
                </a:solidFill>
                <a:latin typeface="Calibri"/>
              </a:rPr>
              <a:t> Hai vectơ có độ dài bằng nhau thì bằng nhau.</a:t>
            </a:r>
          </a:p>
        </p:txBody>
      </p:sp>
      <p:sp>
        <p:nvSpPr>
          <p:cNvPr id="15" name="s3_nen"/>
          <p:cNvSpPr/>
          <p:nvPr/>
        </p:nvSpPr>
        <p:spPr>
          <a:xfrm>
            <a:off x="8961120" y="3566160"/>
            <a:ext cx="2651759"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3_chu"/>
          <p:cNvSpPr txBox="1"/>
          <p:nvPr/>
        </p:nvSpPr>
        <p:spPr>
          <a:xfrm>
            <a:off x="8961120" y="3621024"/>
            <a:ext cx="2651759" cy="640080"/>
          </a:xfrm>
          <a:prstGeom prst="rect">
            <a:avLst/>
          </a:prstGeom>
          <a:noFill/>
        </p:spPr>
        <p:txBody>
          <a:bodyPr wrap="square" lIns="45720" rIns="45720" anchor="t">
            <a:spAutoFit/>
          </a:bodyPr>
          <a:lstStyle/>
          <a:p>
            <a:pPr algn="ctr">
              <a:spcAft>
                <a:spcPts val="800"/>
              </a:spcAft>
            </a:pPr>
            <a:r>
              <a:rPr sz="1700" b="1">
                <a:solidFill>
                  <a:srgbClr val="FFFFFF"/>
                </a:solidFill>
                <a:latin typeface="Calibri"/>
              </a:rPr>
              <a:t>SAI</a:t>
            </a:r>
            <a:r>
              <a:rPr sz="1700">
                <a:solidFill>
                  <a:srgbClr val="FFFFFF"/>
                </a:solidFill>
                <a:latin typeface="Calibri"/>
              </a:rPr>
              <a:t> (còn phải cùng hướng)</a:t>
            </a:r>
          </a:p>
        </p:txBody>
      </p:sp>
      <p:sp>
        <p:nvSpPr>
          <p:cNvPr id="17" name="TextBox 16"/>
          <p:cNvSpPr txBox="1"/>
          <p:nvPr/>
        </p:nvSpPr>
        <p:spPr>
          <a:xfrm>
            <a:off x="548640" y="4434840"/>
            <a:ext cx="8229600" cy="822959"/>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4.</a:t>
            </a:r>
            <a:r>
              <a:rPr sz="2100">
                <a:solidFill>
                  <a:srgbClr val="1E293B"/>
                </a:solidFill>
                <a:latin typeface="Calibri"/>
              </a:rPr>
              <a:t> Vectơ-không cùng phương với mọi vectơ.</a:t>
            </a:r>
          </a:p>
        </p:txBody>
      </p:sp>
      <p:sp>
        <p:nvSpPr>
          <p:cNvPr id="18" name="s4_nen"/>
          <p:cNvSpPr/>
          <p:nvPr/>
        </p:nvSpPr>
        <p:spPr>
          <a:xfrm>
            <a:off x="8961120" y="4434840"/>
            <a:ext cx="2651759"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4_chu"/>
          <p:cNvSpPr txBox="1"/>
          <p:nvPr/>
        </p:nvSpPr>
        <p:spPr>
          <a:xfrm>
            <a:off x="8961120" y="4489703"/>
            <a:ext cx="2651759" cy="640080"/>
          </a:xfrm>
          <a:prstGeom prst="rect">
            <a:avLst/>
          </a:prstGeom>
          <a:noFill/>
        </p:spPr>
        <p:txBody>
          <a:bodyPr wrap="square" lIns="45720" rIns="45720" anchor="t">
            <a:spAutoFit/>
          </a:bodyPr>
          <a:lstStyle/>
          <a:p>
            <a:pPr algn="ctr">
              <a:spcAft>
                <a:spcPts val="800"/>
              </a:spcAft>
            </a:pPr>
            <a:r>
              <a:rPr sz="1700" b="1">
                <a:solidFill>
                  <a:srgbClr val="FFFFFF"/>
                </a:solidFill>
                <a:latin typeface="Calibri"/>
              </a:rPr>
              <a:t>ĐÚNG</a:t>
            </a:r>
            <a:r>
              <a:rPr sz="1700">
                <a:solidFill>
                  <a:srgbClr val="FFFFFF"/>
                </a:solidFill>
                <a:latin typeface="Calibri"/>
              </a:rPr>
              <a:t> (quy ước)</a:t>
            </a:r>
          </a:p>
        </p:txBody>
      </p:sp>
      <mc:AlternateContent xmlns:mc="http://schemas.openxmlformats.org/markup-compatibility/2006" xmlns:a14="http://schemas.microsoft.com/office/drawing/2010/main">
        <mc:Choice Requires="a14">
          <p:sp>
            <p:nvSpPr>
              <p:cNvPr id="20" name="TextBox 19"/>
              <p:cNvSpPr txBox="1"/>
              <p:nvPr/>
            </p:nvSpPr>
            <p:spPr>
              <a:xfrm>
                <a:off x="548640" y="5303520"/>
                <a:ext cx="8229600" cy="822959"/>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5.</a:t>
                </a:r>
                <a:r>
                  <a:rPr sz="2100">
                    <a:solidFill>
                      <a:srgbClr val="1E293B"/>
                    </a:solidFill>
                    <a:latin typeface="Calibri"/>
                  </a:rPr>
                  <a:t> Nếu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𝐴𝐵</m:t>
                        </m:r>
                      </m:e>
                    </m:acc>
                  </m:oMath>
                </a14:m>
                <a:r>
                  <a:rPr sz="2100">
                    <a:solidFill>
                      <a:srgbClr val="1E293B"/>
                    </a:solidFill>
                    <a:latin typeface="Calibri"/>
                  </a:rPr>
                  <a:t>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𝐷𝐶</m:t>
                        </m:r>
                      </m:e>
                    </m:acc>
                  </m:oMath>
                </a14:m>
                <a:r>
                  <a:rPr sz="2100">
                    <a:solidFill>
                      <a:srgbClr val="1E293B"/>
                    </a:solidFill>
                    <a:latin typeface="Calibri"/>
                  </a:rPr>
                  <a:t> thì </a:t>
                </a:r>
                <a14:m>
                  <m:oMath xmlns:m="http://schemas.openxmlformats.org/officeDocument/2006/math">
                    <m:r>
                      <a:rPr lang="vi-VN" sz="2100" b="0">
                        <a:solidFill>
                          <a:srgbClr val="1E293B"/>
                        </a:solidFill>
                        <a:latin typeface="Cambria Math" panose="02040503050406030204" pitchFamily="18" charset="0"/>
                      </a:rPr>
                      <m:t>𝐴𝐵</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𝐷𝐶</m:t>
                    </m:r>
                  </m:oMath>
                </a14:m>
                <a:r>
                  <a:rPr sz="2100">
                    <a:solidFill>
                      <a:srgbClr val="1E293B"/>
                    </a:solidFill>
                    <a:latin typeface="Calibri"/>
                  </a:rPr>
                  <a:t>.</a:t>
                </a:r>
              </a:p>
            </p:txBody>
          </p:sp>
        </mc:Choice>
        <mc:Fallback xmlns="">
          <p:sp>
            <p:nvSpPr>
              <p:cNvPr id="20" name="TextBox 19"/>
              <p:cNvSpPr txBox="1"/>
              <p:nvPr/>
            </p:nvSpPr>
            <p:spPr>
              <a:xfrm>
                <a:off x="548640" y="5303520"/>
                <a:ext cx="8229600" cy="822959"/>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5.</a:t>
                </a:r>
                <a:r>
                  <a:rPr sz="2100">
                    <a:solidFill>
                      <a:srgbClr val="1E293B"/>
                    </a:solidFill>
                    <a:latin typeface="Calibri"/>
                  </a:rPr>
                  <a:t> Nếu </a:t>
                </a:r>
                <a:r>
                  <a:rPr lang="vi-VN"/>
                  <a:t>\overrightarrow{AB}</a:t>
                </a:r>
                <a:r>
                  <a:rPr sz="2100">
                    <a:solidFill>
                      <a:srgbClr val="1E293B"/>
                    </a:solidFill>
                    <a:latin typeface="Calibri"/>
                  </a:rPr>
                  <a:t> = </a:t>
                </a:r>
                <a:r>
                  <a:rPr lang="vi-VN"/>
                  <a:t>\overrightarrow{DC}</a:t>
                </a:r>
                <a:r>
                  <a:rPr sz="2100">
                    <a:solidFill>
                      <a:srgbClr val="1E293B"/>
                    </a:solidFill>
                    <a:latin typeface="Calibri"/>
                  </a:rPr>
                  <a:t> thì </a:t>
                </a:r>
                <a:r>
                  <a:rPr lang="vi-VN"/>
                  <a:t>AB=DC</a:t>
                </a:r>
                <a:r>
                  <a:rPr sz="2100">
                    <a:solidFill>
                      <a:srgbClr val="1E293B"/>
                    </a:solidFill>
                    <a:latin typeface="Calibri"/>
                  </a:rPr>
                  <a:t>.</a:t>
                </a:r>
              </a:p>
            </p:txBody>
          </p:sp>
        </mc:Fallback>
      </mc:AlternateContent>
      <p:sp>
        <p:nvSpPr>
          <p:cNvPr id="21" name="s5_nen"/>
          <p:cNvSpPr/>
          <p:nvPr/>
        </p:nvSpPr>
        <p:spPr>
          <a:xfrm>
            <a:off x="8961120" y="5303520"/>
            <a:ext cx="2651759"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s5_chu"/>
          <p:cNvSpPr txBox="1"/>
          <p:nvPr/>
        </p:nvSpPr>
        <p:spPr>
          <a:xfrm>
            <a:off x="8961120" y="5358383"/>
            <a:ext cx="2651759" cy="640080"/>
          </a:xfrm>
          <a:prstGeom prst="rect">
            <a:avLst/>
          </a:prstGeom>
          <a:noFill/>
        </p:spPr>
        <p:txBody>
          <a:bodyPr wrap="square" lIns="45720" rIns="45720" anchor="t">
            <a:spAutoFit/>
          </a:bodyPr>
          <a:lstStyle/>
          <a:p>
            <a:pPr algn="ctr">
              <a:spcAft>
                <a:spcPts val="800"/>
              </a:spcAft>
            </a:pPr>
            <a:r>
              <a:rPr sz="1700" b="1">
                <a:solidFill>
                  <a:srgbClr val="FFFFFF"/>
                </a:solidFill>
                <a:latin typeface="Calibri"/>
              </a:rPr>
              <a:t>ĐÚNG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15</a:t>
            </a:r>
          </a:p>
        </p:txBody>
      </p:sp>
      <p:sp>
        <p:nvSpPr>
          <p:cNvPr id="7" name="Rounded Rectangle 6"/>
          <p:cNvSpPr/>
          <p:nvPr/>
        </p:nvSpPr>
        <p:spPr>
          <a:xfrm>
            <a:off x="548640" y="1463040"/>
            <a:ext cx="11064240" cy="13716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7"/>
              <p:cNvSpPr txBox="1"/>
              <p:nvPr/>
            </p:nvSpPr>
            <p:spPr>
              <a:xfrm>
                <a:off x="713232" y="1499616"/>
                <a:ext cx="10735056" cy="1298448"/>
              </a:xfrm>
              <a:prstGeom prst="rect">
                <a:avLst/>
              </a:prstGeom>
              <a:noFill/>
            </p:spPr>
            <p:txBody>
              <a:bodyPr wrap="square" lIns="45720" rIns="45720" anchor="ctr">
                <a:spAutoFit/>
              </a:bodyPr>
              <a:lstStyle/>
              <a:p>
                <a:pPr marL="365760" indent="-365760" algn="l">
                  <a:spcAft>
                    <a:spcPts val="800"/>
                  </a:spcAft>
                  <a:buClr>
                    <a:srgbClr val="1E40AF"/>
                  </a:buClr>
                  <a:buFont typeface="Arial"/>
                  <a:buChar char="•"/>
                </a:pPr>
                <a:r>
                  <a:rPr sz="2200">
                    <a:solidFill>
                      <a:srgbClr val="1E293B"/>
                    </a:solidFill>
                    <a:latin typeface="Calibri"/>
                  </a:rPr>
                  <a:t>Vectơ: đoạn thẳng có hướng; độ dài vectơ; giá của vectơ.</a:t>
                </a:r>
              </a:p>
              <a:p>
                <a:pPr marL="365760" indent="-365760" algn="l">
                  <a:spcAft>
                    <a:spcPts val="800"/>
                  </a:spcAft>
                  <a:buClr>
                    <a:srgbClr val="1E40AF"/>
                  </a:buClr>
                  <a:buFont typeface="Arial"/>
                  <a:buChar char="•"/>
                </a:pPr>
                <a:r>
                  <a:rPr sz="2200">
                    <a:solidFill>
                      <a:srgbClr val="1E293B"/>
                    </a:solidFill>
                    <a:latin typeface="Calibri"/>
                  </a:rPr>
                  <a:t>Cùng phương: giá song song hoặc trùng nhau ⇒ cùng hướng hoặc ngược hướng; bằng nhau: cùng độ dài và cùng hướng;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p:txBody>
          </p:sp>
        </mc:Choice>
        <mc:Fallback xmlns="">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Vectơ: đoạn thẳng có hướng; độ dài vectơ; giá của vectơ.</a:t>
                </a:r>
              </a:p>
              <a:p>
                <a:pPr algn="l" marL="365760" indent="-365760">
                  <a:spcAft>
                    <a:spcPts val="800"/>
                  </a:spcAft>
                  <a:buClr>
                    <a:srgbClr val="1E40AF"/>
                  </a:buClr>
                  <a:buFont typeface="Arial"/>
                  <a:buChar char="•"/>
                </a:pPr>
                <a:r>
                  <a:rPr sz="2200">
                    <a:solidFill>
                      <a:srgbClr val="1E293B"/>
                    </a:solidFill>
                    <a:latin typeface="Calibri"/>
                  </a:rPr>
                  <a:t>Cùng phương: giá song song hoặc trùng nhau ⇒ cùng hướng hoặc ngược hướng; bằng nhau: cùng độ dài và cùng hướng; </a:t>
                </a:r>
                <a:r>
                  <a:rPr lang="vi-VN"/>
                  <a:t>\vec{0}</a:t>
                </a:r>
                <a:r>
                  <a:rPr sz="2200">
                    <a:solidFill>
                      <a:srgbClr val="1E293B"/>
                    </a:solidFill>
                    <a:latin typeface="Calibri"/>
                  </a:rPr>
                  <a:t>.</a:t>
                </a:r>
              </a:p>
            </p:txBody>
          </p:sp>
        </mc:Fallback>
      </mc:AlternateContent>
      <p:sp>
        <p:nvSpPr>
          <p:cNvPr id="9" name="Rounded Rectangle 8"/>
          <p:cNvSpPr/>
          <p:nvPr/>
        </p:nvSpPr>
        <p:spPr>
          <a:xfrm>
            <a:off x="548640" y="306324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3099816"/>
            <a:ext cx="10735056" cy="1399032"/>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Nhiệm vụ về nhà:</a:t>
            </a:r>
          </a:p>
          <a:p>
            <a:pPr marL="365760" indent="-365760" algn="l">
              <a:spcAft>
                <a:spcPts val="800"/>
              </a:spcAft>
              <a:buClr>
                <a:srgbClr val="1E40AF"/>
              </a:buClr>
              <a:buFont typeface="Arial"/>
              <a:buChar char="•"/>
            </a:pPr>
            <a:r>
              <a:rPr sz="2200">
                <a:solidFill>
                  <a:srgbClr val="1E293B"/>
                </a:solidFill>
                <a:latin typeface="Calibri"/>
              </a:rPr>
              <a:t>Học khung kiến thức; làm Bài tập 4.1, 4.2 (SGK tr.50).</a:t>
            </a:r>
          </a:p>
          <a:p>
            <a:pPr marL="365760" indent="-365760" algn="l">
              <a:spcAft>
                <a:spcPts val="800"/>
              </a:spcAft>
              <a:buClr>
                <a:srgbClr val="1E40AF"/>
              </a:buClr>
              <a:buFont typeface="Arial"/>
              <a:buChar char="•"/>
            </a:pPr>
            <a:r>
              <a:rPr sz="2200">
                <a:solidFill>
                  <a:srgbClr val="1E293B"/>
                </a:solidFill>
                <a:latin typeface="Calibri"/>
              </a:rPr>
              <a:t>Đọc trước Ví dụ 2, Ví dụ 3, Ví dụ 4 (SGK tr.48 – 50).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(T27)</a:t>
            </a:r>
          </a:p>
          <a:p>
            <a:pPr>
              <a:spcAft>
                <a:spcPts val="600"/>
              </a:spcAft>
            </a:pPr>
            <a:r>
              <a:rPr sz="4000" b="1">
                <a:solidFill>
                  <a:srgbClr val="FFFFFF"/>
                </a:solidFill>
                <a:latin typeface="Cambria"/>
              </a:rPr>
              <a:t>Ba điểm thẳng hàng. Biểu diễn đại lượng bằng vectơ</a:t>
            </a:r>
          </a:p>
        </p:txBody>
      </p:sp>
      <p:sp>
        <p:nvSpPr>
          <p:cNvPr id="5" name="TextBox 4"/>
          <p:cNvSpPr txBox="1"/>
          <p:nvPr/>
        </p:nvSpPr>
        <p:spPr>
          <a:xfrm>
            <a:off x="1097280" y="4343400"/>
            <a:ext cx="10332720" cy="1828800"/>
          </a:xfrm>
          <a:prstGeom prst="rect">
            <a:avLst/>
          </a:prstGeom>
          <a:noFill/>
        </p:spPr>
        <p:txBody>
          <a:bodyPr wrap="square" lIns="45720" rIns="45720" anchor="t">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hai vectơ bằng nhau trong hình; điều kiện ba điểm thẳng hàng.</a:t>
            </a:r>
          </a:p>
          <a:p>
            <a:pPr algn="l">
              <a:spcAft>
                <a:spcPts val="800"/>
              </a:spcAft>
            </a:pPr>
            <a:r>
              <a:rPr sz="2200">
                <a:solidFill>
                  <a:srgbClr val="E0E7FF"/>
                </a:solidFill>
                <a:latin typeface="Calibri"/>
              </a:rPr>
              <a:t>• Biểu thị lực, vận tốc bằng vectơ.</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KHỞI ĐỘNG: AI TINH MẮT?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17</a:t>
            </a:r>
          </a:p>
        </p:txBody>
      </p:sp>
      <p:sp>
        <p:nvSpPr>
          <p:cNvPr id="7" name="TextBox 6"/>
          <p:cNvSpPr txBox="1"/>
          <p:nvPr/>
        </p:nvSpPr>
        <p:spPr>
          <a:xfrm>
            <a:off x="548640" y="1325880"/>
            <a:ext cx="11064240" cy="457200"/>
          </a:xfrm>
          <a:prstGeom prst="rect">
            <a:avLst/>
          </a:prstGeom>
          <a:noFill/>
        </p:spPr>
        <p:txBody>
          <a:bodyPr wrap="square" lIns="45720" rIns="45720" anchor="t">
            <a:spAutoFit/>
          </a:bodyPr>
          <a:lstStyle/>
          <a:p>
            <a:pPr algn="l">
              <a:spcAft>
                <a:spcPts val="800"/>
              </a:spcAft>
            </a:pPr>
            <a:r>
              <a:rPr sz="1800">
                <a:solidFill>
                  <a:srgbClr val="64748B"/>
                </a:solidFill>
                <a:latin typeface="Calibri"/>
              </a:rPr>
              <a:t>📋 Ai giơ tay trước và đúng được cộng điểm. Mỗi câu 30 giây.</a:t>
            </a:r>
          </a:p>
        </p:txBody>
      </p:sp>
      <mc:AlternateContent xmlns:mc="http://schemas.openxmlformats.org/markup-compatibility/2006" xmlns:a14="http://schemas.microsoft.com/office/drawing/2010/main">
        <mc:Choice Requires="a14">
          <p:sp>
            <p:nvSpPr>
              <p:cNvPr id="8" name="TextBox 7"/>
              <p:cNvSpPr txBox="1"/>
              <p:nvPr/>
            </p:nvSpPr>
            <p:spPr>
              <a:xfrm>
                <a:off x="548640" y="1783080"/>
                <a:ext cx="7589520" cy="640080"/>
              </a:xfrm>
              <a:prstGeom prst="rect">
                <a:avLst/>
              </a:prstGeom>
              <a:noFill/>
            </p:spPr>
            <p:txBody>
              <a:bodyPr wrap="square" lIns="45720" rIns="45720" anchor="t">
                <a:spAutoFit/>
              </a:bodyPr>
              <a:lstStyle/>
              <a:p>
                <a:pPr algn="l">
                  <a:spcAft>
                    <a:spcPts val="800"/>
                  </a:spcAft>
                </a:pPr>
                <a:r>
                  <a:rPr sz="2200">
                    <a:solidFill>
                      <a:srgbClr val="1E293B"/>
                    </a:solidFill>
                    <a:latin typeface="Calibri"/>
                  </a:rPr>
                  <a:t>Cho lục giác đều </a:t>
                </a:r>
                <a14:m>
                  <m:oMath xmlns:m="http://schemas.openxmlformats.org/officeDocument/2006/math">
                    <m:r>
                      <a:rPr lang="vi-VN" sz="2200" b="0">
                        <a:solidFill>
                          <a:srgbClr val="1E293B"/>
                        </a:solidFill>
                        <a:latin typeface="Cambria Math" panose="02040503050406030204" pitchFamily="18" charset="0"/>
                      </a:rPr>
                      <m:t>𝐴𝐵𝐶𝐷𝐸𝐹</m:t>
                    </m:r>
                  </m:oMath>
                </a14:m>
                <a:r>
                  <a:rPr sz="2200">
                    <a:solidFill>
                      <a:srgbClr val="1E293B"/>
                    </a:solidFill>
                    <a:latin typeface="Calibri"/>
                  </a:rPr>
                  <a:t> tâm </a:t>
                </a:r>
                <a14:m>
                  <m:oMath xmlns:m="http://schemas.openxmlformats.org/officeDocument/2006/math">
                    <m:r>
                      <a:rPr lang="vi-VN" sz="2200" b="0">
                        <a:solidFill>
                          <a:srgbClr val="1E293B"/>
                        </a:solidFill>
                        <a:latin typeface="Cambria Math" panose="02040503050406030204" pitchFamily="18" charset="0"/>
                      </a:rPr>
                      <m:t>𝑂</m:t>
                    </m:r>
                  </m:oMath>
                </a14:m>
                <a:r>
                  <a:rPr sz="2200">
                    <a:solidFill>
                      <a:srgbClr val="1E293B"/>
                    </a:solidFill>
                    <a:latin typeface="Calibri"/>
                  </a:rPr>
                  <a:t>, cạnh bằng 1.</a:t>
                </a:r>
              </a:p>
            </p:txBody>
          </p:sp>
        </mc:Choice>
        <mc:Fallback xmlns="">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lục giác đều </a:t>
                </a:r>
                <a:r>
                  <a:rPr lang="vi-VN"/>
                  <a:t>ABCDEF</a:t>
                </a:r>
                <a:r>
                  <a:rPr sz="2200">
                    <a:solidFill>
                      <a:srgbClr val="1E293B"/>
                    </a:solidFill>
                    <a:latin typeface="Calibri"/>
                  </a:rPr>
                  <a:t> tâm </a:t>
                </a:r>
                <a:r>
                  <a:rPr lang="vi-VN"/>
                  <a:t>O</a:t>
                </a:r>
                <a:r>
                  <a:rPr sz="2200">
                    <a:solidFill>
                      <a:srgbClr val="1E293B"/>
                    </a:solidFill>
                    <a:latin typeface="Calibri"/>
                  </a:rPr>
                  <a:t>, cạnh bằng 1.</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48640" y="2468879"/>
                <a:ext cx="4297680" cy="932688"/>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1.</a:t>
                </a:r>
                <a:r>
                  <a:rPr sz="2200">
                    <a:solidFill>
                      <a:srgbClr val="1E293B"/>
                    </a:solidFill>
                    <a:latin typeface="Calibri"/>
                  </a:rPr>
                  <a:t> Ba vectơ (khác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bằng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a:t>
                </a:r>
              </a:p>
            </p:txBody>
          </p:sp>
        </mc:Choice>
        <mc:Fallback xmlns="">
          <p:sp>
            <p:nvSpPr>
              <p:cNvPr id="9" name="TextBox 8"/>
              <p:cNvSpPr txBox="1"/>
              <p:nvPr/>
            </p:nvSpPr>
            <p:spPr>
              <a:xfrm>
                <a:off x="548640" y="2468879"/>
                <a:ext cx="4297680" cy="932688"/>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a:t>
                </a:r>
                <a:r>
                  <a:rPr sz="2200">
                    <a:solidFill>
                      <a:srgbClr val="1E293B"/>
                    </a:solidFill>
                    <a:latin typeface="Calibri"/>
                  </a:rPr>
                  <a:t> Ba vectơ (khác </a:t>
                </a:r>
                <a:r>
                  <a:rPr lang="vi-VN"/>
                  <a:t>\overrightarrow{AB}</a:t>
                </a:r>
                <a:r>
                  <a:rPr sz="2200">
                    <a:solidFill>
                      <a:srgbClr val="1E293B"/>
                    </a:solidFill>
                    <a:latin typeface="Calibri"/>
                  </a:rPr>
                  <a:t>) bằng </a:t>
                </a:r>
                <a:r>
                  <a:rPr lang="vi-VN"/>
                  <a:t>\overrightarrow{AB}</a:t>
                </a:r>
                <a:r>
                  <a:rPr sz="2200">
                    <a:solidFill>
                      <a:srgbClr val="1E293B"/>
                    </a:solidFill>
                    <a:latin typeface="Calibri"/>
                  </a:rPr>
                  <a:t>?</a:t>
                </a:r>
              </a:p>
            </p:txBody>
          </p:sp>
        </mc:Fallback>
      </mc:AlternateContent>
      <p:sp>
        <p:nvSpPr>
          <p:cNvPr id="10" name="s1_nen"/>
          <p:cNvSpPr/>
          <p:nvPr/>
        </p:nvSpPr>
        <p:spPr>
          <a:xfrm>
            <a:off x="4937760" y="2423160"/>
            <a:ext cx="3291840" cy="88696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1_chu"/>
              <p:cNvSpPr txBox="1"/>
              <p:nvPr/>
            </p:nvSpPr>
            <p:spPr>
              <a:xfrm>
                <a:off x="5102352" y="2459736"/>
                <a:ext cx="2962656" cy="813816"/>
              </a:xfrm>
              <a:prstGeom prst="rect">
                <a:avLst/>
              </a:prstGeom>
              <a:noFill/>
            </p:spPr>
            <p:txBody>
              <a:bodyPr wrap="square" lIns="45720" rIns="45720" anchor="ctr">
                <a:spAutoFit/>
              </a:bodyPr>
              <a:lstStyle/>
              <a:p>
                <a:pPr algn="ctr">
                  <a:spcAft>
                    <a:spcPts val="800"/>
                  </a:spcAft>
                </a:pPr>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𝐹𝑂</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𝑂𝐶</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𝐸𝐷</m:t>
                        </m:r>
                      </m:e>
                    </m:acc>
                  </m:oMath>
                </a14:m>
                <a:endParaRPr sz="2200">
                  <a:solidFill>
                    <a:srgbClr val="1E293B"/>
                  </a:solidFill>
                  <a:latin typeface="Calibri"/>
                </a:endParaRPr>
              </a:p>
            </p:txBody>
          </p:sp>
        </mc:Choice>
        <mc:Fallback xmlns="">
          <p:sp>
            <p:nvSpPr>
              <p:cNvPr id="11" name="TextBox 10"/>
              <p:cNvSpPr txBox="1"/>
              <p:nvPr/>
            </p:nvSpPr>
            <p:spPr>
              <a:xfrm>
                <a:off x="5102352" y="2459736"/>
                <a:ext cx="2962656" cy="813816"/>
              </a:xfrm>
              <a:prstGeom prst="rect">
                <a:avLst/>
              </a:prstGeom>
              <a:noFill/>
            </p:spPr>
            <p:txBody>
              <a:bodyPr wrap="square" anchor="ctr" lIns="45720" rIns="45720">
                <a:spAutoFit/>
              </a:bodyPr>
              <a:lstStyle/>
              <a:p>
                <a:pPr algn="ctr">
                  <a:spcAft>
                    <a:spcPts val="800"/>
                  </a:spcAft>
                </a:pPr>
                <a:r>
                  <a:rPr sz="2200">
                    <a:solidFill>
                      <a:srgbClr val="1E293B"/>
                    </a:solidFill>
                    <a:latin typeface="Calibri"/>
                  </a:rPr>
                  <a:t> </a:t>
                </a:r>
                <a:r>
                  <a:rPr lang="vi-VN"/>
                  <a:t>\overrightarrow{FO}</a:t>
                </a:r>
                <a:r>
                  <a:rPr sz="2200">
                    <a:solidFill>
                      <a:srgbClr val="1E293B"/>
                    </a:solidFill>
                    <a:latin typeface="Calibri"/>
                  </a:rPr>
                  <a:t>, </a:t>
                </a:r>
                <a:r>
                  <a:rPr lang="vi-VN"/>
                  <a:t>\overrightarrow{OC}</a:t>
                </a:r>
                <a:r>
                  <a:rPr sz="2200">
                    <a:solidFill>
                      <a:srgbClr val="1E293B"/>
                    </a:solidFill>
                    <a:latin typeface="Calibri"/>
                  </a:rPr>
                  <a:t>, </a:t>
                </a:r>
                <a:r>
                  <a:rPr lang="vi-VN"/>
                  <a:t>\overrightarrow{ED}</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48640" y="3493008"/>
                <a:ext cx="4297680" cy="932688"/>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2.</a:t>
                </a:r>
                <a:r>
                  <a:rPr sz="2200">
                    <a:solidFill>
                      <a:srgbClr val="1E293B"/>
                    </a:solidFill>
                    <a:latin typeface="Calibri"/>
                  </a:rPr>
                  <a:t> Bốn vectơ (khác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𝐴𝐷</m:t>
                        </m:r>
                      </m:e>
                    </m:acc>
                  </m:oMath>
                </a14:m>
                <a:r>
                  <a:rPr sz="2200">
                    <a:solidFill>
                      <a:srgbClr val="1E293B"/>
                    </a:solidFill>
                    <a:latin typeface="Calibri"/>
                  </a:rPr>
                  <a:t>) cùng hướng với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𝐴𝐷</m:t>
                        </m:r>
                      </m:e>
                    </m:acc>
                  </m:oMath>
                </a14:m>
                <a:r>
                  <a:rPr sz="2200">
                    <a:solidFill>
                      <a:srgbClr val="1E293B"/>
                    </a:solidFill>
                    <a:latin typeface="Calibri"/>
                  </a:rPr>
                  <a:t>?</a:t>
                </a:r>
              </a:p>
            </p:txBody>
          </p:sp>
        </mc:Choice>
        <mc:Fallback xmlns="">
          <p:sp>
            <p:nvSpPr>
              <p:cNvPr id="12" name="TextBox 11"/>
              <p:cNvSpPr txBox="1"/>
              <p:nvPr/>
            </p:nvSpPr>
            <p:spPr>
              <a:xfrm>
                <a:off x="548640" y="3493008"/>
                <a:ext cx="4297680" cy="932688"/>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2.</a:t>
                </a:r>
                <a:r>
                  <a:rPr sz="2200">
                    <a:solidFill>
                      <a:srgbClr val="1E293B"/>
                    </a:solidFill>
                    <a:latin typeface="Calibri"/>
                  </a:rPr>
                  <a:t> Bốn vectơ (khác </a:t>
                </a:r>
                <a:r>
                  <a:rPr lang="vi-VN"/>
                  <a:t>\overrightarrow{AD}</a:t>
                </a:r>
                <a:r>
                  <a:rPr sz="2200">
                    <a:solidFill>
                      <a:srgbClr val="1E293B"/>
                    </a:solidFill>
                    <a:latin typeface="Calibri"/>
                  </a:rPr>
                  <a:t>) cùng hướng với </a:t>
                </a:r>
                <a:r>
                  <a:rPr lang="vi-VN"/>
                  <a:t>\overrightarrow{AD}</a:t>
                </a:r>
                <a:r>
                  <a:rPr sz="2200">
                    <a:solidFill>
                      <a:srgbClr val="1E293B"/>
                    </a:solidFill>
                    <a:latin typeface="Calibri"/>
                  </a:rPr>
                  <a:t>?</a:t>
                </a:r>
              </a:p>
            </p:txBody>
          </p:sp>
        </mc:Fallback>
      </mc:AlternateContent>
      <p:sp>
        <p:nvSpPr>
          <p:cNvPr id="13" name="s2_nen"/>
          <p:cNvSpPr/>
          <p:nvPr/>
        </p:nvSpPr>
        <p:spPr>
          <a:xfrm>
            <a:off x="4937760" y="3447288"/>
            <a:ext cx="3291840" cy="88696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4" name="s2_chu"/>
              <p:cNvSpPr txBox="1"/>
              <p:nvPr/>
            </p:nvSpPr>
            <p:spPr>
              <a:xfrm>
                <a:off x="5102352" y="3483864"/>
                <a:ext cx="2962656" cy="813816"/>
              </a:xfrm>
              <a:prstGeom prst="rect">
                <a:avLst/>
              </a:prstGeom>
              <a:noFill/>
            </p:spPr>
            <p:txBody>
              <a:bodyPr wrap="square" lIns="45720" rIns="45720" anchor="ctr">
                <a:spAutoFit/>
              </a:bodyPr>
              <a:lstStyle/>
              <a:p>
                <a:pPr algn="ctr">
                  <a:spcAft>
                    <a:spcPts val="800"/>
                  </a:spcAft>
                </a:pPr>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𝐴𝑂</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𝑂𝐷</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𝐵𝐶</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𝐹𝐸</m:t>
                        </m:r>
                      </m:e>
                    </m:acc>
                  </m:oMath>
                </a14:m>
                <a:endParaRPr sz="2200">
                  <a:solidFill>
                    <a:srgbClr val="1E293B"/>
                  </a:solidFill>
                  <a:latin typeface="Calibri"/>
                </a:endParaRPr>
              </a:p>
            </p:txBody>
          </p:sp>
        </mc:Choice>
        <mc:Fallback xmlns="">
          <p:sp>
            <p:nvSpPr>
              <p:cNvPr id="14" name="TextBox 13"/>
              <p:cNvSpPr txBox="1"/>
              <p:nvPr/>
            </p:nvSpPr>
            <p:spPr>
              <a:xfrm>
                <a:off x="5102352" y="3483864"/>
                <a:ext cx="2962656" cy="813816"/>
              </a:xfrm>
              <a:prstGeom prst="rect">
                <a:avLst/>
              </a:prstGeom>
              <a:noFill/>
            </p:spPr>
            <p:txBody>
              <a:bodyPr wrap="square" anchor="ctr" lIns="45720" rIns="45720">
                <a:spAutoFit/>
              </a:bodyPr>
              <a:lstStyle/>
              <a:p>
                <a:pPr algn="ctr">
                  <a:spcAft>
                    <a:spcPts val="800"/>
                  </a:spcAft>
                </a:pPr>
                <a:r>
                  <a:rPr sz="2200">
                    <a:solidFill>
                      <a:srgbClr val="1E293B"/>
                    </a:solidFill>
                    <a:latin typeface="Calibri"/>
                  </a:rPr>
                  <a:t> </a:t>
                </a:r>
                <a:r>
                  <a:rPr lang="vi-VN"/>
                  <a:t>\overrightarrow{AO}</a:t>
                </a:r>
                <a:r>
                  <a:rPr sz="2200">
                    <a:solidFill>
                      <a:srgbClr val="1E293B"/>
                    </a:solidFill>
                    <a:latin typeface="Calibri"/>
                  </a:rPr>
                  <a:t>, </a:t>
                </a:r>
                <a:r>
                  <a:rPr lang="vi-VN"/>
                  <a:t>\overrightarrow{OD}</a:t>
                </a:r>
                <a:r>
                  <a:rPr sz="2200">
                    <a:solidFill>
                      <a:srgbClr val="1E293B"/>
                    </a:solidFill>
                    <a:latin typeface="Calibri"/>
                  </a:rPr>
                  <a:t>, </a:t>
                </a:r>
                <a:r>
                  <a:rPr lang="vi-VN"/>
                  <a:t>\overrightarrow{BC}</a:t>
                </a:r>
                <a:r>
                  <a:rPr sz="2200">
                    <a:solidFill>
                      <a:srgbClr val="1E293B"/>
                    </a:solidFill>
                    <a:latin typeface="Calibri"/>
                  </a:rPr>
                  <a:t>, </a:t>
                </a:r>
                <a:r>
                  <a:rPr lang="vi-VN"/>
                  <a:t>\overrightarrow{FE}</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48640" y="4517136"/>
                <a:ext cx="4297680" cy="932688"/>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3.</a:t>
                </a:r>
                <a:r>
                  <a:rPr sz="2200">
                    <a:solidFill>
                      <a:srgbClr val="1E293B"/>
                    </a:solidFill>
                    <a:latin typeface="Calibri"/>
                  </a:rPr>
                  <a:t> Độ dài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𝐴𝐷</m:t>
                        </m:r>
                      </m:e>
                    </m:acc>
                  </m:oMath>
                </a14:m>
                <a:r>
                  <a:rPr sz="2200">
                    <a:solidFill>
                      <a:srgbClr val="1E293B"/>
                    </a:solidFill>
                    <a:latin typeface="Calibri"/>
                  </a:rPr>
                  <a:t>?</a:t>
                </a:r>
              </a:p>
            </p:txBody>
          </p:sp>
        </mc:Choice>
        <mc:Fallback xmlns="">
          <p:sp>
            <p:nvSpPr>
              <p:cNvPr id="15" name="TextBox 14"/>
              <p:cNvSpPr txBox="1"/>
              <p:nvPr/>
            </p:nvSpPr>
            <p:spPr>
              <a:xfrm>
                <a:off x="548640" y="4517136"/>
                <a:ext cx="4297680" cy="932688"/>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3.</a:t>
                </a:r>
                <a:r>
                  <a:rPr sz="2200">
                    <a:solidFill>
                      <a:srgbClr val="1E293B"/>
                    </a:solidFill>
                    <a:latin typeface="Calibri"/>
                  </a:rPr>
                  <a:t> Độ dài vectơ </a:t>
                </a:r>
                <a:r>
                  <a:rPr lang="vi-VN"/>
                  <a:t>\overrightarrow{AD}</a:t>
                </a:r>
                <a:r>
                  <a:rPr sz="2200">
                    <a:solidFill>
                      <a:srgbClr val="1E293B"/>
                    </a:solidFill>
                    <a:latin typeface="Calibri"/>
                  </a:rPr>
                  <a:t>?</a:t>
                </a:r>
              </a:p>
            </p:txBody>
          </p:sp>
        </mc:Fallback>
      </mc:AlternateContent>
      <p:sp>
        <p:nvSpPr>
          <p:cNvPr id="16" name="s3_nen"/>
          <p:cNvSpPr/>
          <p:nvPr/>
        </p:nvSpPr>
        <p:spPr>
          <a:xfrm>
            <a:off x="4937760" y="4471416"/>
            <a:ext cx="3291840" cy="88696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7" name="s3_chu"/>
              <p:cNvSpPr txBox="1"/>
              <p:nvPr/>
            </p:nvSpPr>
            <p:spPr>
              <a:xfrm>
                <a:off x="5102352" y="4507992"/>
                <a:ext cx="2962656" cy="813816"/>
              </a:xfrm>
              <a:prstGeom prst="rect">
                <a:avLst/>
              </a:prstGeom>
              <a:noFill/>
            </p:spPr>
            <p:txBody>
              <a:bodyPr wrap="square" lIns="45720" rIns="45720" anchor="ctr">
                <a:spAutoFit/>
              </a:bodyPr>
              <a:lstStyle/>
              <a:p>
                <a:pPr algn="ctr">
                  <a:spcAft>
                    <a:spcPts val="800"/>
                  </a:spcAft>
                </a:pP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𝐴𝐷</m:t>
                        </m:r>
                      </m:e>
                    </m:acc>
                    <m:r>
                      <a:rPr lang="vi-VN" sz="2200" b="0">
                        <a:solidFill>
                          <a:srgbClr val="1E293B"/>
                        </a:solidFill>
                        <a:latin typeface="Cambria Math" panose="02040503050406030204" pitchFamily="18" charset="0"/>
                      </a:rPr>
                      <m:t>|=2</m:t>
                    </m:r>
                  </m:oMath>
                </a14:m>
                <a:endParaRPr sz="2200">
                  <a:solidFill>
                    <a:srgbClr val="1E293B"/>
                  </a:solidFill>
                  <a:latin typeface="Calibri"/>
                </a:endParaRPr>
              </a:p>
            </p:txBody>
          </p:sp>
        </mc:Choice>
        <mc:Fallback xmlns="">
          <p:sp>
            <p:nvSpPr>
              <p:cNvPr id="17" name="TextBox 16"/>
              <p:cNvSpPr txBox="1"/>
              <p:nvPr/>
            </p:nvSpPr>
            <p:spPr>
              <a:xfrm>
                <a:off x="5102352" y="4507992"/>
                <a:ext cx="2962656" cy="813816"/>
              </a:xfrm>
              <a:prstGeom prst="rect">
                <a:avLst/>
              </a:prstGeom>
              <a:noFill/>
            </p:spPr>
            <p:txBody>
              <a:bodyPr wrap="square" anchor="ctr" lIns="45720" rIns="45720">
                <a:spAutoFit/>
              </a:bodyPr>
              <a:lstStyle/>
              <a:p>
                <a:pPr algn="ctr">
                  <a:spcAft>
                    <a:spcPts val="800"/>
                  </a:spcAft>
                </a:pPr>
                <a:r>
                  <a:rPr sz="2200">
                    <a:solidFill>
                      <a:srgbClr val="1E293B"/>
                    </a:solidFill>
                    <a:latin typeface="Calibri"/>
                  </a:rPr>
                  <a:t> </a:t>
                </a:r>
                <a:r>
                  <a:rPr lang="vi-VN"/>
                  <a:t>|\overrightarrow{AD}|=2</a:t>
                </a:r>
              </a:p>
            </p:txBody>
          </p:sp>
        </mc:Fallback>
      </mc:AlternateContent>
      <p:pic>
        <p:nvPicPr>
          <p:cNvPr id="18" name="Picture 17" descr="lucgiac.png"/>
          <p:cNvPicPr>
            <a:picLocks noChangeAspect="1"/>
          </p:cNvPicPr>
          <p:nvPr/>
        </p:nvPicPr>
        <p:blipFill>
          <a:blip r:embed="rId3"/>
          <a:stretch>
            <a:fillRect/>
          </a:stretch>
        </p:blipFill>
        <p:spPr>
          <a:xfrm>
            <a:off x="8412480" y="2004916"/>
            <a:ext cx="3291840" cy="29396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VÍ DỤ 2 (SGK TR.48)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18</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8595360" cy="1179576"/>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Ví dụ 2.</a:t>
                </a:r>
                <a:r>
                  <a:rPr sz="2200">
                    <a:solidFill>
                      <a:srgbClr val="1E293B"/>
                    </a:solidFill>
                    <a:latin typeface="Calibri"/>
                  </a:rPr>
                  <a:t> Cho hình chữ nhật </a:t>
                </a:r>
                <a14:m>
                  <m:oMath xmlns:m="http://schemas.openxmlformats.org/officeDocument/2006/math">
                    <m:r>
                      <a:rPr lang="vi-VN" sz="2200" b="0">
                        <a:solidFill>
                          <a:srgbClr val="1E293B"/>
                        </a:solidFill>
                        <a:latin typeface="Cambria Math" panose="02040503050406030204" pitchFamily="18" charset="0"/>
                      </a:rPr>
                      <m:t>𝐴𝐵𝐶𝐷</m:t>
                    </m:r>
                  </m:oMath>
                </a14:m>
                <a:r>
                  <a:rPr sz="2200">
                    <a:solidFill>
                      <a:srgbClr val="1E293B"/>
                    </a:solidFill>
                    <a:latin typeface="Calibri"/>
                  </a:rPr>
                  <a:t>. Hãy chỉ ra mối quan hệ về độ dài, phương, hướng giữa các cặp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𝐴𝐷</m:t>
                        </m:r>
                      </m:e>
                    </m:acc>
                  </m:oMath>
                </a14:m>
                <a:r>
                  <a:rPr sz="2200">
                    <a:solidFill>
                      <a:srgbClr val="1E293B"/>
                    </a:solidFill>
                    <a:latin typeface="Calibri"/>
                  </a:rPr>
                  <a:t> và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𝐵𝐶</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và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𝐶𝐷</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oMath>
                </a14:m>
                <a:r>
                  <a:rPr sz="2200">
                    <a:solidFill>
                      <a:srgbClr val="1E293B"/>
                    </a:solidFill>
                    <a:latin typeface="Calibri"/>
                  </a:rPr>
                  <a:t> và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𝐵𝐷</m:t>
                        </m:r>
                      </m:e>
                    </m:acc>
                  </m:oMath>
                </a14:m>
                <a:r>
                  <a:rPr sz="2200">
                    <a:solidFill>
                      <a:srgbClr val="1E293B"/>
                    </a:solidFill>
                    <a:latin typeface="Calibri"/>
                  </a:rPr>
                  <a:t>. Những cặp vectơ nào là bằng nhau?</a:t>
                </a:r>
              </a:p>
            </p:txBody>
          </p:sp>
        </mc:Choice>
        <mc:Fallback xmlns="">
          <p:sp>
            <p:nvSpPr>
              <p:cNvPr id="7" name="TextBox 6"/>
              <p:cNvSpPr txBox="1"/>
              <p:nvPr/>
            </p:nvSpPr>
            <p:spPr>
              <a:xfrm>
                <a:off x="548640" y="1371600"/>
                <a:ext cx="8595360" cy="117957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2.</a:t>
                </a:r>
                <a:r>
                  <a:rPr sz="2200">
                    <a:solidFill>
                      <a:srgbClr val="1E293B"/>
                    </a:solidFill>
                    <a:latin typeface="Calibri"/>
                  </a:rPr>
                  <a:t> Cho hình chữ nhật </a:t>
                </a:r>
                <a:r>
                  <a:rPr lang="vi-VN"/>
                  <a:t>ABCD</a:t>
                </a:r>
                <a:r>
                  <a:rPr sz="2200">
                    <a:solidFill>
                      <a:srgbClr val="1E293B"/>
                    </a:solidFill>
                    <a:latin typeface="Calibri"/>
                  </a:rPr>
                  <a:t>. Hãy chỉ ra mối quan hệ về độ dài, phương, hướng giữa các cặp vectơ: </a:t>
                </a:r>
                <a:r>
                  <a:rPr lang="vi-VN"/>
                  <a:t>\overrightarrow{AD}</a:t>
                </a:r>
                <a:r>
                  <a:rPr sz="2200">
                    <a:solidFill>
                      <a:srgbClr val="1E293B"/>
                    </a:solidFill>
                    <a:latin typeface="Calibri"/>
                  </a:rPr>
                  <a:t> và </a:t>
                </a:r>
                <a:r>
                  <a:rPr lang="vi-VN"/>
                  <a:t>\overrightarrow{BC}</a:t>
                </a:r>
                <a:r>
                  <a:rPr sz="2200">
                    <a:solidFill>
                      <a:srgbClr val="1E293B"/>
                    </a:solidFill>
                    <a:latin typeface="Calibri"/>
                  </a:rPr>
                  <a:t>, </a:t>
                </a:r>
                <a:r>
                  <a:rPr lang="vi-VN"/>
                  <a:t>\overrightarrow{AB}</a:t>
                </a:r>
                <a:r>
                  <a:rPr sz="2200">
                    <a:solidFill>
                      <a:srgbClr val="1E293B"/>
                    </a:solidFill>
                    <a:latin typeface="Calibri"/>
                  </a:rPr>
                  <a:t> và </a:t>
                </a:r>
                <a:r>
                  <a:rPr lang="vi-VN"/>
                  <a:t>\overrightarrow{CD}</a:t>
                </a:r>
                <a:r>
                  <a:rPr sz="2200">
                    <a:solidFill>
                      <a:srgbClr val="1E293B"/>
                    </a:solidFill>
                    <a:latin typeface="Calibri"/>
                  </a:rPr>
                  <a:t>, </a:t>
                </a:r>
                <a:r>
                  <a:rPr lang="vi-VN"/>
                  <a:t>\overrightarrow{AC}</a:t>
                </a:r>
                <a:r>
                  <a:rPr sz="2200">
                    <a:solidFill>
                      <a:srgbClr val="1E293B"/>
                    </a:solidFill>
                    <a:latin typeface="Calibri"/>
                  </a:rPr>
                  <a:t> và </a:t>
                </a:r>
                <a:r>
                  <a:rPr lang="vi-VN"/>
                  <a:t>\overrightarrow{BD}</a:t>
                </a:r>
                <a:r>
                  <a:rPr sz="2200">
                    <a:solidFill>
                      <a:srgbClr val="1E293B"/>
                    </a:solidFill>
                    <a:latin typeface="Calibri"/>
                  </a:rPr>
                  <a:t>. Những cặp vectơ nào là bằng nhau?</a:t>
                </a:r>
              </a:p>
            </p:txBody>
          </p:sp>
        </mc:Fallback>
      </mc:AlternateContent>
      <p:sp>
        <p:nvSpPr>
          <p:cNvPr id="8" name="s1_nen"/>
          <p:cNvSpPr/>
          <p:nvPr/>
        </p:nvSpPr>
        <p:spPr>
          <a:xfrm>
            <a:off x="548640" y="2688336"/>
            <a:ext cx="8595360" cy="12710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724912"/>
                <a:ext cx="8266176" cy="1197864"/>
              </a:xfrm>
              <a:prstGeom prst="rect">
                <a:avLst/>
              </a:prstGeom>
              <a:noFill/>
            </p:spPr>
            <p:txBody>
              <a:bodyPr wrap="square" lIns="45720" rIns="45720" anchor="ctr">
                <a:spAutoFit/>
              </a:bodyPr>
              <a:lstStyle/>
              <a:p>
                <a:pPr algn="l">
                  <a:spcAft>
                    <a:spcPts val="800"/>
                  </a:spcAft>
                </a:pPr>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𝐴𝐷</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𝐵𝐶</m:t>
                        </m:r>
                      </m:e>
                    </m:acc>
                  </m:oMath>
                </a14:m>
                <a:r>
                  <a:rPr sz="2200">
                    <a:solidFill>
                      <a:srgbClr val="1E293B"/>
                    </a:solidFill>
                    <a:latin typeface="Calibri"/>
                  </a:rPr>
                  <a:t>: cùng độ dài, cùng hướng ⇒ bằng nhau.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𝐶𝐷</m:t>
                        </m:r>
                      </m:e>
                    </m:acc>
                  </m:oMath>
                </a14:m>
                <a:r>
                  <a:rPr sz="2200">
                    <a:solidFill>
                      <a:srgbClr val="1E293B"/>
                    </a:solidFill>
                    <a:latin typeface="Calibri"/>
                  </a:rPr>
                  <a:t>: cùng độ dài, ngược hướng.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𝐵𝐷</m:t>
                        </m:r>
                      </m:e>
                    </m:acc>
                  </m:oMath>
                </a14:m>
                <a:r>
                  <a:rPr sz="2200">
                    <a:solidFill>
                      <a:srgbClr val="1E293B"/>
                    </a:solidFill>
                    <a:latin typeface="Calibri"/>
                  </a:rPr>
                  <a:t>: cùng độ dài, không cùng phương. Chỉ có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𝐴𝐷</m:t>
                        </m:r>
                      </m:e>
                    </m:acc>
                  </m:oMath>
                </a14:m>
                <a:r>
                  <a:rPr sz="2200">
                    <a:solidFill>
                      <a:srgbClr val="1E293B"/>
                    </a:solidFill>
                    <a:latin typeface="Calibri"/>
                  </a:rPr>
                  <a:t> =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𝐵𝐶</m:t>
                        </m:r>
                      </m:e>
                    </m:acc>
                  </m:oMath>
                </a14:m>
                <a:r>
                  <a:rPr sz="2200">
                    <a:solidFill>
                      <a:srgbClr val="1E293B"/>
                    </a:solidFill>
                    <a:latin typeface="Calibri"/>
                  </a:rPr>
                  <a:t>.</a:t>
                </a:r>
              </a:p>
            </p:txBody>
          </p:sp>
        </mc:Choice>
        <mc:Fallback xmlns="">
          <p:sp>
            <p:nvSpPr>
              <p:cNvPr id="9" name="TextBox 8"/>
              <p:cNvSpPr txBox="1"/>
              <p:nvPr/>
            </p:nvSpPr>
            <p:spPr>
              <a:xfrm>
                <a:off x="713232" y="2724912"/>
                <a:ext cx="8266176" cy="119786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\overrightarrow{AD}</a:t>
                </a:r>
                <a:r>
                  <a:rPr sz="2200">
                    <a:solidFill>
                      <a:srgbClr val="1E293B"/>
                    </a:solidFill>
                    <a:latin typeface="Calibri"/>
                  </a:rPr>
                  <a:t>, </a:t>
                </a:r>
                <a:r>
                  <a:rPr lang="vi-VN"/>
                  <a:t>\overrightarrow{BC}</a:t>
                </a:r>
                <a:r>
                  <a:rPr sz="2200">
                    <a:solidFill>
                      <a:srgbClr val="1E293B"/>
                    </a:solidFill>
                    <a:latin typeface="Calibri"/>
                  </a:rPr>
                  <a:t>: cùng độ dài, cùng hướng ⇒ bằng nhau. </a:t>
                </a:r>
                <a:r>
                  <a:rPr lang="vi-VN"/>
                  <a:t>\overrightarrow{AB}</a:t>
                </a:r>
                <a:r>
                  <a:rPr sz="2200">
                    <a:solidFill>
                      <a:srgbClr val="1E293B"/>
                    </a:solidFill>
                    <a:latin typeface="Calibri"/>
                  </a:rPr>
                  <a:t>, </a:t>
                </a:r>
                <a:r>
                  <a:rPr lang="vi-VN"/>
                  <a:t>\overrightarrow{CD}</a:t>
                </a:r>
                <a:r>
                  <a:rPr sz="2200">
                    <a:solidFill>
                      <a:srgbClr val="1E293B"/>
                    </a:solidFill>
                    <a:latin typeface="Calibri"/>
                  </a:rPr>
                  <a:t>: cùng độ dài, ngược hướng. </a:t>
                </a:r>
                <a:r>
                  <a:rPr lang="vi-VN"/>
                  <a:t>\overrightarrow{AC}</a:t>
                </a:r>
                <a:r>
                  <a:rPr sz="2200">
                    <a:solidFill>
                      <a:srgbClr val="1E293B"/>
                    </a:solidFill>
                    <a:latin typeface="Calibri"/>
                  </a:rPr>
                  <a:t>, </a:t>
                </a:r>
                <a:r>
                  <a:rPr lang="vi-VN"/>
                  <a:t>\overrightarrow{BD}</a:t>
                </a:r>
                <a:r>
                  <a:rPr sz="2200">
                    <a:solidFill>
                      <a:srgbClr val="1E293B"/>
                    </a:solidFill>
                    <a:latin typeface="Calibri"/>
                  </a:rPr>
                  <a:t>: cùng độ dài, không cùng phương. Chỉ có </a:t>
                </a:r>
                <a:r>
                  <a:rPr lang="vi-VN"/>
                  <a:t>\overrightarrow{AD}</a:t>
                </a:r>
                <a:r>
                  <a:rPr sz="2200">
                    <a:solidFill>
                      <a:srgbClr val="1E293B"/>
                    </a:solidFill>
                    <a:latin typeface="Calibri"/>
                  </a:rPr>
                  <a:t> = </a:t>
                </a:r>
                <a:r>
                  <a:rPr lang="vi-VN"/>
                  <a:t>\overrightarrow{BC}</a:t>
                </a:r>
                <a:r>
                  <a:rPr sz="2200">
                    <a:solidFill>
                      <a:srgbClr val="1E293B"/>
                    </a:solidFill>
                    <a:latin typeface="Calibri"/>
                  </a:rPr>
                  <a:t>.</a:t>
                </a:r>
              </a:p>
            </p:txBody>
          </p:sp>
        </mc:Fallback>
      </mc:AlternateContent>
      <p:pic>
        <p:nvPicPr>
          <p:cNvPr id="10" name="Picture 9" descr="h49.png"/>
          <p:cNvPicPr>
            <a:picLocks noChangeAspect="1"/>
          </p:cNvPicPr>
          <p:nvPr/>
        </p:nvPicPr>
        <p:blipFill>
          <a:blip r:embed="rId3"/>
          <a:stretch>
            <a:fillRect/>
          </a:stretch>
        </p:blipFill>
        <p:spPr>
          <a:xfrm>
            <a:off x="9326880" y="1575412"/>
            <a:ext cx="2377440" cy="16040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2 (SGK TR.49)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19</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8595360" cy="1514856"/>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Luyện tập 2.</a:t>
                </a:r>
                <a:r>
                  <a:rPr sz="2200">
                    <a:solidFill>
                      <a:srgbClr val="1E293B"/>
                    </a:solidFill>
                    <a:latin typeface="Calibri"/>
                  </a:rPr>
                  <a:t> Cho hình thang cân </a:t>
                </a:r>
                <a14:m>
                  <m:oMath xmlns:m="http://schemas.openxmlformats.org/officeDocument/2006/math">
                    <m:r>
                      <a:rPr lang="vi-VN" sz="2200" b="0">
                        <a:solidFill>
                          <a:srgbClr val="1E293B"/>
                        </a:solidFill>
                        <a:latin typeface="Cambria Math" panose="02040503050406030204" pitchFamily="18" charset="0"/>
                      </a:rPr>
                      <m:t>𝐴𝐵𝐶𝐷</m:t>
                    </m:r>
                  </m:oMath>
                </a14:m>
                <a:r>
                  <a:rPr sz="2200">
                    <a:solidFill>
                      <a:srgbClr val="1E293B"/>
                    </a:solidFill>
                    <a:latin typeface="Calibri"/>
                  </a:rPr>
                  <a:t> với hai đáy </a:t>
                </a:r>
                <a14:m>
                  <m:oMath xmlns:m="http://schemas.openxmlformats.org/officeDocument/2006/math">
                    <m:r>
                      <a:rPr lang="vi-VN" sz="2200" b="0">
                        <a:solidFill>
                          <a:srgbClr val="1E293B"/>
                        </a:solidFill>
                        <a:latin typeface="Cambria Math" panose="02040503050406030204" pitchFamily="18" charset="0"/>
                      </a:rPr>
                      <m:t>𝐴𝐵</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𝐶𝐷</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𝐴𝐵</m:t>
                    </m:r>
                    <m:r>
                      <a:rPr lang="vi-VN" sz="2200" b="0">
                        <a:solidFill>
                          <a:srgbClr val="1E293B"/>
                        </a:solidFill>
                        <a:latin typeface="Cambria Math" panose="02040503050406030204" pitchFamily="18" charset="0"/>
                      </a:rPr>
                      <m:t>&lt;</m:t>
                    </m:r>
                    <m:r>
                      <a:rPr lang="vi-VN" sz="2200" b="0">
                        <a:solidFill>
                          <a:srgbClr val="1E293B"/>
                        </a:solidFill>
                        <a:latin typeface="Cambria Math" panose="02040503050406030204" pitchFamily="18" charset="0"/>
                      </a:rPr>
                      <m:t>𝐶𝐷</m:t>
                    </m:r>
                  </m:oMath>
                </a14:m>
                <a:r>
                  <a:rPr sz="2200">
                    <a:solidFill>
                      <a:srgbClr val="1E293B"/>
                    </a:solidFill>
                    <a:latin typeface="Calibri"/>
                  </a:rPr>
                  <a:t> (H.4.10). Hãy chỉ ra mối quan hệ về độ dài, phương, hướng giữa các cặp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𝐴𝐷</m:t>
                        </m:r>
                      </m:e>
                    </m:acc>
                  </m:oMath>
                </a14:m>
                <a:r>
                  <a:rPr sz="2200">
                    <a:solidFill>
                      <a:srgbClr val="1E293B"/>
                    </a:solidFill>
                    <a:latin typeface="Calibri"/>
                  </a:rPr>
                  <a:t> và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𝐵𝐶</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và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𝐶𝐷</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oMath>
                </a14:m>
                <a:r>
                  <a:rPr sz="2200">
                    <a:solidFill>
                      <a:srgbClr val="1E293B"/>
                    </a:solidFill>
                    <a:latin typeface="Calibri"/>
                  </a:rPr>
                  <a:t> và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𝐵𝐷</m:t>
                        </m:r>
                      </m:e>
                    </m:acc>
                  </m:oMath>
                </a14:m>
                <a:r>
                  <a:rPr sz="2200">
                    <a:solidFill>
                      <a:srgbClr val="1E293B"/>
                    </a:solidFill>
                    <a:latin typeface="Calibri"/>
                  </a:rPr>
                  <a:t>. Có cặp vectơ nào bằng nhau không?</a:t>
                </a:r>
              </a:p>
            </p:txBody>
          </p:sp>
        </mc:Choice>
        <mc:Fallback xmlns="">
          <p:sp>
            <p:nvSpPr>
              <p:cNvPr id="7" name="TextBox 6"/>
              <p:cNvSpPr txBox="1"/>
              <p:nvPr/>
            </p:nvSpPr>
            <p:spPr>
              <a:xfrm>
                <a:off x="548640" y="1371600"/>
                <a:ext cx="8595360" cy="151485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2.</a:t>
                </a:r>
                <a:r>
                  <a:rPr sz="2200">
                    <a:solidFill>
                      <a:srgbClr val="1E293B"/>
                    </a:solidFill>
                    <a:latin typeface="Calibri"/>
                  </a:rPr>
                  <a:t> Cho hình thang cân </a:t>
                </a:r>
                <a:r>
                  <a:rPr lang="vi-VN"/>
                  <a:t>ABCD</a:t>
                </a:r>
                <a:r>
                  <a:rPr sz="2200">
                    <a:solidFill>
                      <a:srgbClr val="1E293B"/>
                    </a:solidFill>
                    <a:latin typeface="Calibri"/>
                  </a:rPr>
                  <a:t> với hai đáy </a:t>
                </a:r>
                <a:r>
                  <a:rPr lang="vi-VN"/>
                  <a:t>AB,\ CD</a:t>
                </a:r>
                <a:r>
                  <a:rPr sz="2200">
                    <a:solidFill>
                      <a:srgbClr val="1E293B"/>
                    </a:solidFill>
                    <a:latin typeface="Calibri"/>
                  </a:rPr>
                  <a:t>, </a:t>
                </a:r>
                <a:r>
                  <a:rPr lang="vi-VN"/>
                  <a:t>AB&lt;CD</a:t>
                </a:r>
                <a:r>
                  <a:rPr sz="2200">
                    <a:solidFill>
                      <a:srgbClr val="1E293B"/>
                    </a:solidFill>
                    <a:latin typeface="Calibri"/>
                  </a:rPr>
                  <a:t> (H.4.10). Hãy chỉ ra mối quan hệ về độ dài, phương, hướng giữa các cặp vectơ </a:t>
                </a:r>
                <a:r>
                  <a:rPr lang="vi-VN"/>
                  <a:t>\overrightarrow{AD}</a:t>
                </a:r>
                <a:r>
                  <a:rPr sz="2200">
                    <a:solidFill>
                      <a:srgbClr val="1E293B"/>
                    </a:solidFill>
                    <a:latin typeface="Calibri"/>
                  </a:rPr>
                  <a:t> và </a:t>
                </a:r>
                <a:r>
                  <a:rPr lang="vi-VN"/>
                  <a:t>\overrightarrow{BC}</a:t>
                </a:r>
                <a:r>
                  <a:rPr sz="2200">
                    <a:solidFill>
                      <a:srgbClr val="1E293B"/>
                    </a:solidFill>
                    <a:latin typeface="Calibri"/>
                  </a:rPr>
                  <a:t>, </a:t>
                </a:r>
                <a:r>
                  <a:rPr lang="vi-VN"/>
                  <a:t>\overrightarrow{AB}</a:t>
                </a:r>
                <a:r>
                  <a:rPr sz="2200">
                    <a:solidFill>
                      <a:srgbClr val="1E293B"/>
                    </a:solidFill>
                    <a:latin typeface="Calibri"/>
                  </a:rPr>
                  <a:t> và </a:t>
                </a:r>
                <a:r>
                  <a:rPr lang="vi-VN"/>
                  <a:t>\overrightarrow{CD}</a:t>
                </a:r>
                <a:r>
                  <a:rPr sz="2200">
                    <a:solidFill>
                      <a:srgbClr val="1E293B"/>
                    </a:solidFill>
                    <a:latin typeface="Calibri"/>
                  </a:rPr>
                  <a:t>, </a:t>
                </a:r>
                <a:r>
                  <a:rPr lang="vi-VN"/>
                  <a:t>\overrightarrow{AC}</a:t>
                </a:r>
                <a:r>
                  <a:rPr sz="2200">
                    <a:solidFill>
                      <a:srgbClr val="1E293B"/>
                    </a:solidFill>
                    <a:latin typeface="Calibri"/>
                  </a:rPr>
                  <a:t> và </a:t>
                </a:r>
                <a:r>
                  <a:rPr lang="vi-VN"/>
                  <a:t>\overrightarrow{BD}</a:t>
                </a:r>
                <a:r>
                  <a:rPr sz="2200">
                    <a:solidFill>
                      <a:srgbClr val="1E293B"/>
                    </a:solidFill>
                    <a:latin typeface="Calibri"/>
                  </a:rPr>
                  <a:t>. Có cặp vectơ nào bằng nhau không?</a:t>
                </a:r>
              </a:p>
            </p:txBody>
          </p:sp>
        </mc:Fallback>
      </mc:AlternateContent>
      <p:sp>
        <p:nvSpPr>
          <p:cNvPr id="8" name="s1_nen"/>
          <p:cNvSpPr/>
          <p:nvPr/>
        </p:nvSpPr>
        <p:spPr>
          <a:xfrm>
            <a:off x="548640" y="3023616"/>
            <a:ext cx="8595360" cy="12710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060192"/>
                <a:ext cx="8266176" cy="1197864"/>
              </a:xfrm>
              <a:prstGeom prst="rect">
                <a:avLst/>
              </a:prstGeom>
              <a:noFill/>
            </p:spPr>
            <p:txBody>
              <a:bodyPr wrap="square" lIns="45720" rIns="45720" anchor="ctr">
                <a:spAutoFit/>
              </a:bodyPr>
              <a:lstStyle/>
              <a:p>
                <a:pPr algn="l">
                  <a:spcAft>
                    <a:spcPts val="800"/>
                  </a:spcAft>
                </a:pPr>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𝐴𝐷</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𝐵𝐶</m:t>
                        </m:r>
                      </m:e>
                    </m:acc>
                  </m:oMath>
                </a14:m>
                <a:r>
                  <a:rPr sz="2200">
                    <a:solidFill>
                      <a:srgbClr val="1E293B"/>
                    </a:solidFill>
                    <a:latin typeface="Calibri"/>
                  </a:rPr>
                  <a:t>: cùng độ dài, không cùng phương.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𝐶𝐷</m:t>
                        </m:r>
                      </m:e>
                    </m:acc>
                  </m:oMath>
                </a14:m>
                <a:r>
                  <a:rPr sz="2200">
                    <a:solidFill>
                      <a:srgbClr val="1E293B"/>
                    </a:solidFill>
                    <a:latin typeface="Calibri"/>
                  </a:rPr>
                  <a:t>: cùng phương, ngược hướng, </a:t>
                </a:r>
                <a14:m>
                  <m:oMath xmlns:m="http://schemas.openxmlformats.org/officeDocument/2006/math">
                    <m:r>
                      <a:rPr lang="vi-VN" sz="2200" b="0">
                        <a:solidFill>
                          <a:srgbClr val="1E293B"/>
                        </a:solidFill>
                        <a:latin typeface="Cambria Math" panose="02040503050406030204" pitchFamily="18" charset="0"/>
                      </a:rPr>
                      <m:t>𝐴𝐵</m:t>
                    </m:r>
                    <m:r>
                      <a:rPr lang="vi-VN" sz="2200" b="0">
                        <a:solidFill>
                          <a:srgbClr val="1E293B"/>
                        </a:solidFill>
                        <a:latin typeface="Cambria Math" panose="02040503050406030204" pitchFamily="18" charset="0"/>
                      </a:rPr>
                      <m:t>&lt;</m:t>
                    </m:r>
                    <m:r>
                      <a:rPr lang="vi-VN" sz="2200" b="0">
                        <a:solidFill>
                          <a:srgbClr val="1E293B"/>
                        </a:solidFill>
                        <a:latin typeface="Cambria Math" panose="02040503050406030204" pitchFamily="18" charset="0"/>
                      </a:rPr>
                      <m:t>𝐶𝐷</m:t>
                    </m:r>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𝐵𝐷</m:t>
                        </m:r>
                      </m:e>
                    </m:acc>
                  </m:oMath>
                </a14:m>
                <a:r>
                  <a:rPr sz="2200">
                    <a:solidFill>
                      <a:srgbClr val="1E293B"/>
                    </a:solidFill>
                    <a:latin typeface="Calibri"/>
                  </a:rPr>
                  <a:t>: cùng độ dài, không cùng phương. </a:t>
                </a:r>
                <a:r>
                  <a:rPr sz="2200" b="1">
                    <a:solidFill>
                      <a:srgbClr val="1E293B"/>
                    </a:solidFill>
                    <a:latin typeface="Calibri"/>
                  </a:rPr>
                  <a:t>Không có</a:t>
                </a:r>
                <a:r>
                  <a:rPr sz="2200">
                    <a:solidFill>
                      <a:srgbClr val="1E293B"/>
                    </a:solidFill>
                    <a:latin typeface="Calibri"/>
                  </a:rPr>
                  <a:t> cặp nào bằng nhau.</a:t>
                </a:r>
              </a:p>
            </p:txBody>
          </p:sp>
        </mc:Choice>
        <mc:Fallback xmlns="">
          <p:sp>
            <p:nvSpPr>
              <p:cNvPr id="9" name="TextBox 8"/>
              <p:cNvSpPr txBox="1"/>
              <p:nvPr/>
            </p:nvSpPr>
            <p:spPr>
              <a:xfrm>
                <a:off x="713232" y="3060192"/>
                <a:ext cx="8266176" cy="119786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\overrightarrow{AD}</a:t>
                </a:r>
                <a:r>
                  <a:rPr sz="2200">
                    <a:solidFill>
                      <a:srgbClr val="1E293B"/>
                    </a:solidFill>
                    <a:latin typeface="Calibri"/>
                  </a:rPr>
                  <a:t>, </a:t>
                </a:r>
                <a:r>
                  <a:rPr lang="vi-VN"/>
                  <a:t>\overrightarrow{BC}</a:t>
                </a:r>
                <a:r>
                  <a:rPr sz="2200">
                    <a:solidFill>
                      <a:srgbClr val="1E293B"/>
                    </a:solidFill>
                    <a:latin typeface="Calibri"/>
                  </a:rPr>
                  <a:t>: cùng độ dài, không cùng phương. </a:t>
                </a:r>
                <a:r>
                  <a:rPr lang="vi-VN"/>
                  <a:t>\overrightarrow{AB}</a:t>
                </a:r>
                <a:r>
                  <a:rPr sz="2200">
                    <a:solidFill>
                      <a:srgbClr val="1E293B"/>
                    </a:solidFill>
                    <a:latin typeface="Calibri"/>
                  </a:rPr>
                  <a:t>, </a:t>
                </a:r>
                <a:r>
                  <a:rPr lang="vi-VN"/>
                  <a:t>\overrightarrow{CD}</a:t>
                </a:r>
                <a:r>
                  <a:rPr sz="2200">
                    <a:solidFill>
                      <a:srgbClr val="1E293B"/>
                    </a:solidFill>
                    <a:latin typeface="Calibri"/>
                  </a:rPr>
                  <a:t>: cùng phương, ngược hướng, </a:t>
                </a:r>
                <a:r>
                  <a:rPr lang="vi-VN"/>
                  <a:t>AB&lt;CD</a:t>
                </a:r>
                <a:r>
                  <a:rPr sz="2200">
                    <a:solidFill>
                      <a:srgbClr val="1E293B"/>
                    </a:solidFill>
                    <a:latin typeface="Calibri"/>
                  </a:rPr>
                  <a:t>. </a:t>
                </a:r>
                <a:r>
                  <a:rPr lang="vi-VN"/>
                  <a:t>\overrightarrow{AC}</a:t>
                </a:r>
                <a:r>
                  <a:rPr sz="2200">
                    <a:solidFill>
                      <a:srgbClr val="1E293B"/>
                    </a:solidFill>
                    <a:latin typeface="Calibri"/>
                  </a:rPr>
                  <a:t>, </a:t>
                </a:r>
                <a:r>
                  <a:rPr lang="vi-VN"/>
                  <a:t>\overrightarrow{BD}</a:t>
                </a:r>
                <a:r>
                  <a:rPr sz="2200">
                    <a:solidFill>
                      <a:srgbClr val="1E293B"/>
                    </a:solidFill>
                    <a:latin typeface="Calibri"/>
                  </a:rPr>
                  <a:t>: cùng độ dài, không cùng phương. </a:t>
                </a:r>
                <a:r>
                  <a:rPr sz="2200" b="1">
                    <a:solidFill>
                      <a:srgbClr val="1E293B"/>
                    </a:solidFill>
                    <a:latin typeface="Calibri"/>
                  </a:rPr>
                  <a:t>Không có</a:t>
                </a:r>
                <a:r>
                  <a:rPr sz="2200">
                    <a:solidFill>
                      <a:srgbClr val="1E293B"/>
                    </a:solidFill>
                    <a:latin typeface="Calibri"/>
                  </a:rPr>
                  <a:t> cặp nào bằng nhau.</a:t>
                </a:r>
              </a:p>
            </p:txBody>
          </p:sp>
        </mc:Fallback>
      </mc:AlternateContent>
      <p:pic>
        <p:nvPicPr>
          <p:cNvPr id="10" name="Picture 9" descr="h410.png"/>
          <p:cNvPicPr>
            <a:picLocks noChangeAspect="1"/>
          </p:cNvPicPr>
          <p:nvPr/>
        </p:nvPicPr>
        <p:blipFill>
          <a:blip r:embed="rId3"/>
          <a:stretch>
            <a:fillRect/>
          </a:stretch>
        </p:blipFill>
        <p:spPr>
          <a:xfrm>
            <a:off x="9326880" y="1667587"/>
            <a:ext cx="2377440" cy="17854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 BA ĐIỂM THẲNG HÀNG (SGK TR.49)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20</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844295"/>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Ví dụ 3.</a:t>
                </a:r>
                <a:r>
                  <a:rPr sz="2200">
                    <a:solidFill>
                      <a:srgbClr val="1E293B"/>
                    </a:solidFill>
                    <a:latin typeface="Calibri"/>
                  </a:rPr>
                  <a:t> Chứng minh rằng ba điểm phân biệt </a:t>
                </a:r>
                <a14:m>
                  <m:oMath xmlns:m="http://schemas.openxmlformats.org/officeDocument/2006/math">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𝐵</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𝐶</m:t>
                    </m:r>
                  </m:oMath>
                </a14:m>
                <a:r>
                  <a:rPr sz="2200">
                    <a:solidFill>
                      <a:srgbClr val="1E293B"/>
                    </a:solidFill>
                    <a:latin typeface="Calibri"/>
                  </a:rPr>
                  <a:t> thẳng hàng khi và chỉ khi hai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oMath>
                </a14:m>
                <a:r>
                  <a:rPr sz="2200">
                    <a:solidFill>
                      <a:srgbClr val="1E293B"/>
                    </a:solidFill>
                    <a:latin typeface="Calibri"/>
                  </a:rPr>
                  <a:t> cùng phương.</a:t>
                </a:r>
              </a:p>
            </p:txBody>
          </p:sp>
        </mc:Choice>
        <mc:Fallback xmlns="">
          <p:sp>
            <p:nvSpPr>
              <p:cNvPr id="7" name="TextBox 6"/>
              <p:cNvSpPr txBox="1"/>
              <p:nvPr/>
            </p:nvSpPr>
            <p:spPr>
              <a:xfrm>
                <a:off x="548640" y="137160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3.</a:t>
                </a:r>
                <a:r>
                  <a:rPr sz="2200">
                    <a:solidFill>
                      <a:srgbClr val="1E293B"/>
                    </a:solidFill>
                    <a:latin typeface="Calibri"/>
                  </a:rPr>
                  <a:t> Chứng minh rằng ba điểm phân biệt </a:t>
                </a:r>
                <a:r>
                  <a:rPr lang="vi-VN"/>
                  <a:t>A,\ B,\ C</a:t>
                </a:r>
                <a:r>
                  <a:rPr sz="2200">
                    <a:solidFill>
                      <a:srgbClr val="1E293B"/>
                    </a:solidFill>
                    <a:latin typeface="Calibri"/>
                  </a:rPr>
                  <a:t> thẳng hàng khi và chỉ khi hai vectơ </a:t>
                </a:r>
                <a:r>
                  <a:rPr lang="vi-VN"/>
                  <a:t>\overrightarrow{AB}</a:t>
                </a:r>
                <a:r>
                  <a:rPr sz="2200">
                    <a:solidFill>
                      <a:srgbClr val="1E293B"/>
                    </a:solidFill>
                    <a:latin typeface="Calibri"/>
                  </a:rPr>
                  <a:t>, </a:t>
                </a:r>
                <a:r>
                  <a:rPr lang="vi-VN"/>
                  <a:t>\overrightarrow{AC}</a:t>
                </a:r>
                <a:r>
                  <a:rPr sz="2200">
                    <a:solidFill>
                      <a:srgbClr val="1E293B"/>
                    </a:solidFill>
                    <a:latin typeface="Calibri"/>
                  </a:rPr>
                  <a:t> cùng phương.</a:t>
                </a:r>
              </a:p>
            </p:txBody>
          </p:sp>
        </mc:Fallback>
      </mc:AlternateContent>
      <p:sp>
        <p:nvSpPr>
          <p:cNvPr id="8" name="s1_nen"/>
          <p:cNvSpPr/>
          <p:nvPr/>
        </p:nvSpPr>
        <p:spPr>
          <a:xfrm>
            <a:off x="548640" y="2307336"/>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343912"/>
                <a:ext cx="10735056" cy="862583"/>
              </a:xfrm>
              <a:prstGeom prst="rect">
                <a:avLst/>
              </a:prstGeom>
              <a:noFill/>
            </p:spPr>
            <p:txBody>
              <a:bodyPr wrap="square" lIns="45720" rIns="45720" anchor="ctr">
                <a:spAutoFit/>
              </a:bodyPr>
              <a:lstStyle/>
              <a:p>
                <a:pPr algn="l">
                  <a:spcAft>
                    <a:spcPts val="800"/>
                  </a:spcAft>
                </a:pPr>
                <a:r>
                  <a:rPr sz="2200">
                    <a:solidFill>
                      <a:srgbClr val="1E293B"/>
                    </a:solidFill>
                    <a:latin typeface="Calibri"/>
                  </a:rPr>
                  <a:t>Nếu </a:t>
                </a:r>
                <a14:m>
                  <m:oMath xmlns:m="http://schemas.openxmlformats.org/officeDocument/2006/math">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𝐵</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𝐶</m:t>
                    </m:r>
                  </m:oMath>
                </a14:m>
                <a:r>
                  <a:rPr sz="2200">
                    <a:solidFill>
                      <a:srgbClr val="1E293B"/>
                    </a:solidFill>
                    <a:latin typeface="Calibri"/>
                  </a:rPr>
                  <a:t> thẳng hàng thì chúng cùng thuộc một đường thẳng </a:t>
                </a:r>
                <a14:m>
                  <m:oMath xmlns:m="http://schemas.openxmlformats.org/officeDocument/2006/math">
                    <m:r>
                      <a:rPr lang="vi-VN" sz="2200" b="0">
                        <a:solidFill>
                          <a:srgbClr val="1E293B"/>
                        </a:solidFill>
                        <a:latin typeface="Cambria Math" panose="02040503050406030204" pitchFamily="18" charset="0"/>
                      </a:rPr>
                      <m:t>𝑑</m:t>
                    </m:r>
                  </m:oMath>
                </a14:m>
                <a:r>
                  <a:rPr sz="2200">
                    <a:solidFill>
                      <a:srgbClr val="1E293B"/>
                    </a:solidFill>
                    <a:latin typeface="Calibri"/>
                  </a:rPr>
                  <a:t>, hai vectơ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oMath>
                </a14:m>
                <a:r>
                  <a:rPr sz="2200">
                    <a:solidFill>
                      <a:srgbClr val="1E293B"/>
                    </a:solidFill>
                    <a:latin typeface="Calibri"/>
                  </a:rPr>
                  <a:t> có cùng giá </a:t>
                </a:r>
                <a14:m>
                  <m:oMath xmlns:m="http://schemas.openxmlformats.org/officeDocument/2006/math">
                    <m:r>
                      <a:rPr lang="vi-VN" sz="2200" b="0">
                        <a:solidFill>
                          <a:srgbClr val="1E293B"/>
                        </a:solidFill>
                        <a:latin typeface="Cambria Math" panose="02040503050406030204" pitchFamily="18" charset="0"/>
                      </a:rPr>
                      <m:t>𝑑</m:t>
                    </m:r>
                  </m:oMath>
                </a14:m>
                <a:r>
                  <a:rPr sz="2200">
                    <a:solidFill>
                      <a:srgbClr val="1E293B"/>
                    </a:solidFill>
                    <a:latin typeface="Calibri"/>
                  </a:rPr>
                  <a:t> nên cùng phương.</a:t>
                </a:r>
              </a:p>
            </p:txBody>
          </p:sp>
        </mc:Choice>
        <mc:Fallback xmlns="">
          <p:sp>
            <p:nvSpPr>
              <p:cNvPr id="9" name="TextBox 8"/>
              <p:cNvSpPr txBox="1"/>
              <p:nvPr/>
            </p:nvSpPr>
            <p:spPr>
              <a:xfrm>
                <a:off x="713232" y="2343912"/>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Nếu </a:t>
                </a:r>
                <a:r>
                  <a:rPr lang="vi-VN"/>
                  <a:t>A,\ B,\ C</a:t>
                </a:r>
                <a:r>
                  <a:rPr sz="2200">
                    <a:solidFill>
                      <a:srgbClr val="1E293B"/>
                    </a:solidFill>
                    <a:latin typeface="Calibri"/>
                  </a:rPr>
                  <a:t> thẳng hàng thì chúng cùng thuộc một đường thẳng </a:t>
                </a:r>
                <a:r>
                  <a:rPr lang="vi-VN"/>
                  <a:t>d</a:t>
                </a:r>
                <a:r>
                  <a:rPr sz="2200">
                    <a:solidFill>
                      <a:srgbClr val="1E293B"/>
                    </a:solidFill>
                    <a:latin typeface="Calibri"/>
                  </a:rPr>
                  <a:t>, hai vectơ </a:t>
                </a:r>
                <a:r>
                  <a:rPr lang="vi-VN"/>
                  <a:t>\overrightarrow{AB}</a:t>
                </a:r>
                <a:r>
                  <a:rPr sz="2200">
                    <a:solidFill>
                      <a:srgbClr val="1E293B"/>
                    </a:solidFill>
                    <a:latin typeface="Calibri"/>
                  </a:rPr>
                  <a:t>, </a:t>
                </a:r>
                <a:r>
                  <a:rPr lang="vi-VN"/>
                  <a:t>\overrightarrow{AC}</a:t>
                </a:r>
                <a:r>
                  <a:rPr sz="2200">
                    <a:solidFill>
                      <a:srgbClr val="1E293B"/>
                    </a:solidFill>
                    <a:latin typeface="Calibri"/>
                  </a:rPr>
                  <a:t> có cùng giá </a:t>
                </a:r>
                <a:r>
                  <a:rPr lang="vi-VN"/>
                  <a:t>d</a:t>
                </a:r>
                <a:r>
                  <a:rPr sz="2200">
                    <a:solidFill>
                      <a:srgbClr val="1E293B"/>
                    </a:solidFill>
                    <a:latin typeface="Calibri"/>
                  </a:rPr>
                  <a:t> nên cùng phương.</a:t>
                </a:r>
              </a:p>
            </p:txBody>
          </p:sp>
        </mc:Fallback>
      </mc:AlternateContent>
      <p:sp>
        <p:nvSpPr>
          <p:cNvPr id="10" name="s2_nen"/>
          <p:cNvSpPr/>
          <p:nvPr/>
        </p:nvSpPr>
        <p:spPr>
          <a:xfrm>
            <a:off x="548640" y="3334512"/>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371088"/>
                <a:ext cx="10735056" cy="862583"/>
              </a:xfrm>
              <a:prstGeom prst="rect">
                <a:avLst/>
              </a:prstGeom>
              <a:noFill/>
            </p:spPr>
            <p:txBody>
              <a:bodyPr wrap="square" lIns="45720" rIns="45720" anchor="ctr">
                <a:spAutoFit/>
              </a:bodyPr>
              <a:lstStyle/>
              <a:p>
                <a:pPr algn="l">
                  <a:spcAft>
                    <a:spcPts val="800"/>
                  </a:spcAft>
                </a:pPr>
                <a:r>
                  <a:rPr sz="2200">
                    <a:solidFill>
                      <a:srgbClr val="1E293B"/>
                    </a:solidFill>
                    <a:latin typeface="Calibri"/>
                  </a:rPr>
                  <a:t>Nếu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oMath>
                </a14:m>
                <a:r>
                  <a:rPr sz="2200">
                    <a:solidFill>
                      <a:srgbClr val="1E293B"/>
                    </a:solidFill>
                    <a:latin typeface="Calibri"/>
                  </a:rPr>
                  <a:t> cùng phương thì chúng cùng giá hoặc có hai giá song song; mà hai giá cùng đi qua </a:t>
                </a:r>
                <a14:m>
                  <m:oMath xmlns:m="http://schemas.openxmlformats.org/officeDocument/2006/math">
                    <m:r>
                      <a:rPr lang="vi-VN" sz="2200" b="0">
                        <a:solidFill>
                          <a:srgbClr val="1E293B"/>
                        </a:solidFill>
                        <a:latin typeface="Cambria Math" panose="02040503050406030204" pitchFamily="18" charset="0"/>
                      </a:rPr>
                      <m:t>𝐴</m:t>
                    </m:r>
                  </m:oMath>
                </a14:m>
                <a:r>
                  <a:rPr sz="2200">
                    <a:solidFill>
                      <a:srgbClr val="1E293B"/>
                    </a:solidFill>
                    <a:latin typeface="Calibri"/>
                  </a:rPr>
                  <a:t> nên trùng nhau. Vậy </a:t>
                </a:r>
                <a14:m>
                  <m:oMath xmlns:m="http://schemas.openxmlformats.org/officeDocument/2006/math">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𝐵</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𝐶</m:t>
                    </m:r>
                  </m:oMath>
                </a14:m>
                <a:r>
                  <a:rPr sz="2200">
                    <a:solidFill>
                      <a:srgbClr val="1E293B"/>
                    </a:solidFill>
                    <a:latin typeface="Calibri"/>
                  </a:rPr>
                  <a:t> thẳng hàng.</a:t>
                </a:r>
              </a:p>
            </p:txBody>
          </p:sp>
        </mc:Choice>
        <mc:Fallback xmlns="">
          <p:sp>
            <p:nvSpPr>
              <p:cNvPr id="11" name="TextBox 10"/>
              <p:cNvSpPr txBox="1"/>
              <p:nvPr/>
            </p:nvSpPr>
            <p:spPr>
              <a:xfrm>
                <a:off x="713232" y="3371088"/>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Nếu </a:t>
                </a:r>
                <a:r>
                  <a:rPr lang="vi-VN"/>
                  <a:t>\overrightarrow{AB}</a:t>
                </a:r>
                <a:r>
                  <a:rPr sz="2200">
                    <a:solidFill>
                      <a:srgbClr val="1E293B"/>
                    </a:solidFill>
                    <a:latin typeface="Calibri"/>
                  </a:rPr>
                  <a:t>, </a:t>
                </a:r>
                <a:r>
                  <a:rPr lang="vi-VN"/>
                  <a:t>\overrightarrow{AC}</a:t>
                </a:r>
                <a:r>
                  <a:rPr sz="2200">
                    <a:solidFill>
                      <a:srgbClr val="1E293B"/>
                    </a:solidFill>
                    <a:latin typeface="Calibri"/>
                  </a:rPr>
                  <a:t> cùng phương thì chúng cùng giá hoặc có hai giá song song; mà hai giá cùng đi qua </a:t>
                </a:r>
                <a:r>
                  <a:rPr lang="vi-VN"/>
                  <a:t>A</a:t>
                </a:r>
                <a:r>
                  <a:rPr sz="2200">
                    <a:solidFill>
                      <a:srgbClr val="1E293B"/>
                    </a:solidFill>
                    <a:latin typeface="Calibri"/>
                  </a:rPr>
                  <a:t> nên trùng nhau. Vậy </a:t>
                </a:r>
                <a:r>
                  <a:rPr lang="vi-VN"/>
                  <a:t>A,\ B,\ C</a:t>
                </a:r>
                <a:r>
                  <a:rPr sz="2200">
                    <a:solidFill>
                      <a:srgbClr val="1E293B"/>
                    </a:solidFill>
                    <a:latin typeface="Calibri"/>
                  </a:rPr>
                  <a:t> thẳng hàng.</a:t>
                </a:r>
              </a:p>
            </p:txBody>
          </p:sp>
        </mc:Fallback>
      </mc:AlternateContent>
      <p:sp>
        <p:nvSpPr>
          <p:cNvPr id="12" name="s3_nen"/>
          <p:cNvSpPr/>
          <p:nvPr/>
        </p:nvSpPr>
        <p:spPr>
          <a:xfrm>
            <a:off x="548640" y="4361688"/>
            <a:ext cx="11064240" cy="93573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4398264"/>
                <a:ext cx="10735056" cy="862583"/>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Nhận xét.</a:t>
                </a:r>
                <a:r>
                  <a:rPr sz="2200">
                    <a:solidFill>
                      <a:srgbClr val="1E293B"/>
                    </a:solidFill>
                    <a:latin typeface="Calibri"/>
                  </a:rPr>
                  <a:t> Ba điểm phân biệt </a:t>
                </a:r>
                <a14:m>
                  <m:oMath xmlns:m="http://schemas.openxmlformats.org/officeDocument/2006/math">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𝐵</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𝐶</m:t>
                    </m:r>
                  </m:oMath>
                </a14:m>
                <a:r>
                  <a:rPr sz="2200">
                    <a:solidFill>
                      <a:srgbClr val="1E293B"/>
                    </a:solidFill>
                    <a:latin typeface="Calibri"/>
                  </a:rPr>
                  <a:t> thẳng hàng khi và chỉ khi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oMath>
                </a14:m>
                <a:r>
                  <a:rPr sz="2200">
                    <a:solidFill>
                      <a:srgbClr val="1E293B"/>
                    </a:solidFill>
                    <a:latin typeface="Calibri"/>
                  </a:rPr>
                  <a:t> cùng phương.</a:t>
                </a:r>
              </a:p>
            </p:txBody>
          </p:sp>
        </mc:Choice>
        <mc:Fallback xmlns="">
          <p:sp>
            <p:nvSpPr>
              <p:cNvPr id="13" name="TextBox 12"/>
              <p:cNvSpPr txBox="1"/>
              <p:nvPr/>
            </p:nvSpPr>
            <p:spPr>
              <a:xfrm>
                <a:off x="713232" y="4398264"/>
                <a:ext cx="10735056" cy="862583"/>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Nhận xét.</a:t>
                </a:r>
                <a:r>
                  <a:rPr sz="2200">
                    <a:solidFill>
                      <a:srgbClr val="1E293B"/>
                    </a:solidFill>
                    <a:latin typeface="Calibri"/>
                  </a:rPr>
                  <a:t> Ba điểm phân biệt </a:t>
                </a:r>
                <a:r>
                  <a:rPr lang="vi-VN"/>
                  <a:t>A,\ B,\ C</a:t>
                </a:r>
                <a:r>
                  <a:rPr sz="2200">
                    <a:solidFill>
                      <a:srgbClr val="1E293B"/>
                    </a:solidFill>
                    <a:latin typeface="Calibri"/>
                  </a:rPr>
                  <a:t> thẳng hàng khi và chỉ khi </a:t>
                </a:r>
                <a:r>
                  <a:rPr lang="vi-VN"/>
                  <a:t>\overrightarrow{AB}</a:t>
                </a:r>
                <a:r>
                  <a:rPr sz="2200">
                    <a:solidFill>
                      <a:srgbClr val="1E293B"/>
                    </a:solidFill>
                    <a:latin typeface="Calibri"/>
                  </a:rPr>
                  <a:t>, </a:t>
                </a:r>
                <a:r>
                  <a:rPr lang="vi-VN"/>
                  <a:t>\overrightarrow{AC}</a:t>
                </a:r>
                <a:r>
                  <a:rPr sz="2200">
                    <a:solidFill>
                      <a:srgbClr val="1E293B"/>
                    </a:solidFill>
                    <a:latin typeface="Calibri"/>
                  </a:rPr>
                  <a:t> cùng phương.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BA ĐIỂM THẲNG HÀNG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21</a:t>
            </a:r>
          </a:p>
        </p:txBody>
      </p:sp>
      <mc:AlternateContent xmlns:mc="http://schemas.openxmlformats.org/markup-compatibility/2006" xmlns:a14="http://schemas.microsoft.com/office/drawing/2010/main">
        <mc:Choice Requires="a14">
          <p:sp>
            <p:nvSpPr>
              <p:cNvPr id="7" name="TextBox 6"/>
              <p:cNvSpPr txBox="1"/>
              <p:nvPr/>
            </p:nvSpPr>
            <p:spPr>
              <a:xfrm>
                <a:off x="548640" y="1417320"/>
                <a:ext cx="6035040" cy="356616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200">
                    <a:solidFill>
                      <a:srgbClr val="1E293B"/>
                    </a:solidFill>
                    <a:latin typeface="Calibri"/>
                  </a:rPr>
                  <a:t>Kéo điểm </a:t>
                </a:r>
                <a14:m>
                  <m:oMath xmlns:m="http://schemas.openxmlformats.org/officeDocument/2006/math">
                    <m:r>
                      <a:rPr lang="vi-VN" sz="2200" b="0">
                        <a:solidFill>
                          <a:srgbClr val="1E293B"/>
                        </a:solidFill>
                        <a:latin typeface="Cambria Math" panose="02040503050406030204" pitchFamily="18" charset="0"/>
                      </a:rPr>
                      <m:t>𝐶</m:t>
                    </m:r>
                  </m:oMath>
                </a14:m>
                <a:r>
                  <a:rPr sz="2200">
                    <a:solidFill>
                      <a:srgbClr val="1E293B"/>
                    </a:solidFill>
                    <a:latin typeface="Calibri"/>
                  </a:rPr>
                  <a:t>: giá trị </a:t>
                </a:r>
                <a:r>
                  <a:rPr sz="2200" b="1">
                    <a:solidFill>
                      <a:srgbClr val="1E293B"/>
                    </a:solidFill>
                    <a:latin typeface="Calibri"/>
                  </a:rPr>
                  <a:t>thangHang</a:t>
                </a:r>
                <a:r>
                  <a:rPr sz="2200">
                    <a:solidFill>
                      <a:srgbClr val="1E293B"/>
                    </a:solidFill>
                    <a:latin typeface="Calibri"/>
                  </a:rPr>
                  <a:t> báo </a:t>
                </a:r>
                <a14:m>
                  <m:oMath xmlns:m="http://schemas.openxmlformats.org/officeDocument/2006/math">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𝐵</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𝐶</m:t>
                    </m:r>
                  </m:oMath>
                </a14:m>
                <a:r>
                  <a:rPr sz="2200">
                    <a:solidFill>
                      <a:srgbClr val="1E293B"/>
                    </a:solidFill>
                    <a:latin typeface="Calibri"/>
                  </a:rPr>
                  <a:t> có thẳng hàng không.</a:t>
                </a:r>
              </a:p>
              <a:p>
                <a:pPr marL="365760" indent="-365760" algn="l">
                  <a:spcAft>
                    <a:spcPts val="800"/>
                  </a:spcAft>
                  <a:buClr>
                    <a:srgbClr val="1E40AF"/>
                  </a:buClr>
                  <a:buFont typeface="Arial"/>
                  <a:buChar char="•"/>
                </a:pPr>
                <a:r>
                  <a:rPr sz="2200">
                    <a:solidFill>
                      <a:srgbClr val="1E293B"/>
                    </a:solidFill>
                    <a:latin typeface="Calibri"/>
                  </a:rPr>
                  <a:t>Khi thẳng hàng,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 và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𝐴𝐶</m:t>
                        </m:r>
                      </m:e>
                    </m:acc>
                  </m:oMath>
                </a14:m>
                <a:r>
                  <a:rPr sz="2200">
                    <a:solidFill>
                      <a:srgbClr val="1E293B"/>
                    </a:solidFill>
                    <a:latin typeface="Calibri"/>
                  </a:rPr>
                  <a:t> (đỏ, xanh) cùng phương.</a:t>
                </a:r>
              </a:p>
              <a:p>
                <a:pPr marL="365760" indent="-365760" algn="l">
                  <a:spcAft>
                    <a:spcPts val="800"/>
                  </a:spcAft>
                  <a:buClr>
                    <a:srgbClr val="1E40AF"/>
                  </a:buClr>
                  <a:buFont typeface="Arial"/>
                  <a:buChar char="•"/>
                </a:pPr>
                <a:r>
                  <a:rPr sz="2200">
                    <a:solidFill>
                      <a:srgbClr val="1E293B"/>
                    </a:solidFill>
                    <a:latin typeface="Calibri"/>
                  </a:rPr>
                  <a:t>Thử đưa </a:t>
                </a:r>
                <a14:m>
                  <m:oMath xmlns:m="http://schemas.openxmlformats.org/officeDocument/2006/math">
                    <m:r>
                      <a:rPr lang="vi-VN" sz="2200" b="0">
                        <a:solidFill>
                          <a:srgbClr val="1E293B"/>
                        </a:solidFill>
                        <a:latin typeface="Cambria Math" panose="02040503050406030204" pitchFamily="18" charset="0"/>
                      </a:rPr>
                      <m:t>𝐶</m:t>
                    </m:r>
                  </m:oMath>
                </a14:m>
                <a:r>
                  <a:rPr sz="2200">
                    <a:solidFill>
                      <a:srgbClr val="1E293B"/>
                    </a:solidFill>
                    <a:latin typeface="Calibri"/>
                  </a:rPr>
                  <a:t> nằm giữa </a:t>
                </a:r>
                <a14:m>
                  <m:oMath xmlns:m="http://schemas.openxmlformats.org/officeDocument/2006/math">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𝐵</m:t>
                    </m:r>
                  </m:oMath>
                </a14:m>
                <a:r>
                  <a:rPr sz="2200">
                    <a:solidFill>
                      <a:srgbClr val="1E293B"/>
                    </a:solidFill>
                    <a:latin typeface="Calibri"/>
                  </a:rPr>
                  <a:t> rồi ra ngoài đoạn </a:t>
                </a:r>
                <a14:m>
                  <m:oMath xmlns:m="http://schemas.openxmlformats.org/officeDocument/2006/math">
                    <m:r>
                      <a:rPr lang="vi-VN" sz="2200" b="0">
                        <a:solidFill>
                          <a:srgbClr val="1E293B"/>
                        </a:solidFill>
                        <a:latin typeface="Cambria Math" panose="02040503050406030204" pitchFamily="18" charset="0"/>
                      </a:rPr>
                      <m:t>𝐴𝐵</m:t>
                    </m:r>
                  </m:oMath>
                </a14:m>
                <a:r>
                  <a:rPr sz="2200">
                    <a:solidFill>
                      <a:srgbClr val="1E293B"/>
                    </a:solidFill>
                    <a:latin typeface="Calibri"/>
                  </a:rPr>
                  <a:t>: quan sát hướng của hai vectơ.</a:t>
                </a:r>
              </a:p>
            </p:txBody>
          </p:sp>
        </mc:Choice>
        <mc:Fallback xmlns="">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điểm </a:t>
                </a:r>
                <a:r>
                  <a:rPr lang="vi-VN"/>
                  <a:t>C</a:t>
                </a:r>
                <a:r>
                  <a:rPr sz="2200">
                    <a:solidFill>
                      <a:srgbClr val="1E293B"/>
                    </a:solidFill>
                    <a:latin typeface="Calibri"/>
                  </a:rPr>
                  <a:t>: giá trị </a:t>
                </a:r>
                <a:r>
                  <a:rPr sz="2200" b="1">
                    <a:solidFill>
                      <a:srgbClr val="1E293B"/>
                    </a:solidFill>
                    <a:latin typeface="Calibri"/>
                  </a:rPr>
                  <a:t>thangHang</a:t>
                </a:r>
                <a:r>
                  <a:rPr sz="2200">
                    <a:solidFill>
                      <a:srgbClr val="1E293B"/>
                    </a:solidFill>
                    <a:latin typeface="Calibri"/>
                  </a:rPr>
                  <a:t> báo </a:t>
                </a:r>
                <a:r>
                  <a:rPr lang="vi-VN"/>
                  <a:t>A,\ B,\ C</a:t>
                </a:r>
                <a:r>
                  <a:rPr sz="2200">
                    <a:solidFill>
                      <a:srgbClr val="1E293B"/>
                    </a:solidFill>
                    <a:latin typeface="Calibri"/>
                  </a:rPr>
                  <a:t> có thẳng hàng không.</a:t>
                </a:r>
              </a:p>
              <a:p>
                <a:pPr algn="l" marL="365760" indent="-365760">
                  <a:spcAft>
                    <a:spcPts val="800"/>
                  </a:spcAft>
                  <a:buClr>
                    <a:srgbClr val="1E40AF"/>
                  </a:buClr>
                  <a:buFont typeface="Arial"/>
                  <a:buChar char="•"/>
                </a:pPr>
                <a:r>
                  <a:rPr sz="2200">
                    <a:solidFill>
                      <a:srgbClr val="1E293B"/>
                    </a:solidFill>
                    <a:latin typeface="Calibri"/>
                  </a:rPr>
                  <a:t>Khi thẳng hàng, </a:t>
                </a:r>
                <a:r>
                  <a:rPr lang="vi-VN"/>
                  <a:t>\overrightarrow{AB}</a:t>
                </a:r>
                <a:r>
                  <a:rPr sz="2200">
                    <a:solidFill>
                      <a:srgbClr val="1E293B"/>
                    </a:solidFill>
                    <a:latin typeface="Calibri"/>
                  </a:rPr>
                  <a:t> và </a:t>
                </a:r>
                <a:r>
                  <a:rPr lang="vi-VN"/>
                  <a:t>\overrightarrow{AC}</a:t>
                </a:r>
                <a:r>
                  <a:rPr sz="2200">
                    <a:solidFill>
                      <a:srgbClr val="1E293B"/>
                    </a:solidFill>
                    <a:latin typeface="Calibri"/>
                  </a:rPr>
                  <a:t> (đỏ, xanh) cùng phương.</a:t>
                </a:r>
              </a:p>
              <a:p>
                <a:pPr algn="l" marL="365760" indent="-365760">
                  <a:spcAft>
                    <a:spcPts val="800"/>
                  </a:spcAft>
                  <a:buClr>
                    <a:srgbClr val="1E40AF"/>
                  </a:buClr>
                  <a:buFont typeface="Arial"/>
                  <a:buChar char="•"/>
                </a:pPr>
                <a:r>
                  <a:rPr sz="2200">
                    <a:solidFill>
                      <a:srgbClr val="1E293B"/>
                    </a:solidFill>
                    <a:latin typeface="Calibri"/>
                  </a:rPr>
                  <a:t>Thử đưa </a:t>
                </a:r>
                <a:r>
                  <a:rPr lang="vi-VN"/>
                  <a:t>C</a:t>
                </a:r>
                <a:r>
                  <a:rPr sz="2200">
                    <a:solidFill>
                      <a:srgbClr val="1E293B"/>
                    </a:solidFill>
                    <a:latin typeface="Calibri"/>
                  </a:rPr>
                  <a:t> nằm giữa </a:t>
                </a:r>
                <a:r>
                  <a:rPr lang="vi-VN"/>
                  <a:t>A,\ B</a:t>
                </a:r>
                <a:r>
                  <a:rPr sz="2200">
                    <a:solidFill>
                      <a:srgbClr val="1E293B"/>
                    </a:solidFill>
                    <a:latin typeface="Calibri"/>
                  </a:rPr>
                  <a:t> rồi ra ngoài đoạn </a:t>
                </a:r>
                <a:r>
                  <a:rPr lang="vi-VN"/>
                  <a:t>AB</a:t>
                </a:r>
                <a:r>
                  <a:rPr sz="2200">
                    <a:solidFill>
                      <a:srgbClr val="1E293B"/>
                    </a:solidFill>
                    <a:latin typeface="Calibri"/>
                  </a:rPr>
                  <a:t>: quan sát hướng của hai vectơ.</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  MỞ GEOGEBRA</a:t>
            </a:r>
          </a:p>
        </p:txBody>
      </p:sp>
      <p:pic>
        <p:nvPicPr>
          <p:cNvPr id="9" name="Picture 8" descr="qr_ggb_2.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lIns="45720" rIns="45720" anchor="t">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410.png"/>
          <p:cNvPicPr>
            <a:picLocks noChangeAspect="1"/>
          </p:cNvPicPr>
          <p:nvPr/>
        </p:nvPicPr>
        <p:blipFill>
          <a:blip r:embed="rId5"/>
          <a:stretch>
            <a:fillRect/>
          </a:stretch>
        </p:blipFill>
        <p:spPr>
          <a:xfrm>
            <a:off x="6858000" y="1883517"/>
            <a:ext cx="4846320" cy="363960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3 (SGK TR.49)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22</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905255"/>
              </a:xfrm>
              <a:prstGeom prst="rect">
                <a:avLst/>
              </a:prstGeom>
              <a:noFill/>
            </p:spPr>
            <p:txBody>
              <a:bodyPr wrap="square" lIns="45720" rIns="45720" anchor="t">
                <a:spAutoFit/>
              </a:bodyPr>
              <a:lstStyle/>
              <a:p>
                <a:pPr algn="l">
                  <a:spcAft>
                    <a:spcPts val="800"/>
                  </a:spcAft>
                </a:pPr>
                <a:r>
                  <a:rPr sz="2400">
                    <a:solidFill>
                      <a:srgbClr val="1E293B"/>
                    </a:solidFill>
                    <a:latin typeface="Calibri"/>
                  </a:rPr>
                  <a:t>Trong các điều kiện dưới đây, chọn điều kiện cần và đủ để một điểm </a:t>
                </a:r>
                <a14:m>
                  <m:oMath xmlns:m="http://schemas.openxmlformats.org/officeDocument/2006/math">
                    <m:r>
                      <a:rPr lang="vi-VN" sz="2400" b="0">
                        <a:solidFill>
                          <a:srgbClr val="1E293B"/>
                        </a:solidFill>
                        <a:latin typeface="Cambria Math" panose="02040503050406030204" pitchFamily="18" charset="0"/>
                      </a:rPr>
                      <m:t>𝑀</m:t>
                    </m:r>
                  </m:oMath>
                </a14:m>
                <a:r>
                  <a:rPr sz="2400">
                    <a:solidFill>
                      <a:srgbClr val="1E293B"/>
                    </a:solidFill>
                    <a:latin typeface="Calibri"/>
                  </a:rPr>
                  <a:t> nằm giữa hai điểm phân biệt </a:t>
                </a:r>
                <a14:m>
                  <m:oMath xmlns:m="http://schemas.openxmlformats.org/officeDocument/2006/math">
                    <m:r>
                      <a:rPr lang="vi-VN" sz="2400" b="0">
                        <a:solidFill>
                          <a:srgbClr val="1E293B"/>
                        </a:solidFill>
                        <a:latin typeface="Cambria Math" panose="02040503050406030204" pitchFamily="18" charset="0"/>
                      </a:rPr>
                      <m:t>𝐴</m:t>
                    </m:r>
                  </m:oMath>
                </a14:m>
                <a:r>
                  <a:rPr sz="2400">
                    <a:solidFill>
                      <a:srgbClr val="1E293B"/>
                    </a:solidFill>
                    <a:latin typeface="Calibri"/>
                  </a:rPr>
                  <a:t> và </a:t>
                </a:r>
                <a14:m>
                  <m:oMath xmlns:m="http://schemas.openxmlformats.org/officeDocument/2006/math">
                    <m:r>
                      <a:rPr lang="vi-VN" sz="2400" b="0">
                        <a:solidFill>
                          <a:srgbClr val="1E293B"/>
                        </a:solidFill>
                        <a:latin typeface="Cambria Math" panose="02040503050406030204" pitchFamily="18" charset="0"/>
                      </a:rPr>
                      <m:t>𝐵</m:t>
                    </m:r>
                  </m:oMath>
                </a14:m>
                <a:r>
                  <a:rPr sz="2400">
                    <a:solidFill>
                      <a:srgbClr val="1E293B"/>
                    </a:solidFill>
                    <a:latin typeface="Calibri"/>
                  </a:rPr>
                  <a:t>.</a:t>
                </a:r>
              </a:p>
            </p:txBody>
          </p:sp>
        </mc:Choice>
        <mc:Fallback xmlns="">
          <p:sp>
            <p:nvSpPr>
              <p:cNvPr id="7" name="TextBox 6"/>
              <p:cNvSpPr txBox="1"/>
              <p:nvPr/>
            </p:nvSpPr>
            <p:spPr>
              <a:xfrm>
                <a:off x="548640" y="1371600"/>
                <a:ext cx="11064240" cy="905255"/>
              </a:xfrm>
              <a:prstGeom prst="rect">
                <a:avLst/>
              </a:prstGeom>
              <a:noFill/>
            </p:spPr>
            <p:txBody>
              <a:bodyPr wrap="square" anchor="t" lIns="45720" rIns="45720">
                <a:spAutoFit/>
              </a:bodyPr>
              <a:lstStyle/>
              <a:p>
                <a:pPr algn="l">
                  <a:spcAft>
                    <a:spcPts val="800"/>
                  </a:spcAft>
                </a:pPr>
                <a:r>
                  <a:rPr sz="2400">
                    <a:solidFill>
                      <a:srgbClr val="1E293B"/>
                    </a:solidFill>
                    <a:latin typeface="Calibri"/>
                  </a:rPr>
                  <a:t>Trong các điều kiện dưới đây, chọn điều kiện cần và đủ để một điểm </a:t>
                </a:r>
                <a:r>
                  <a:rPr lang="vi-VN"/>
                  <a:t>M</a:t>
                </a:r>
                <a:r>
                  <a:rPr sz="2400">
                    <a:solidFill>
                      <a:srgbClr val="1E293B"/>
                    </a:solidFill>
                    <a:latin typeface="Calibri"/>
                  </a:rPr>
                  <a:t> nằm giữa hai điểm phân biệt </a:t>
                </a:r>
                <a:r>
                  <a:rPr lang="vi-VN"/>
                  <a:t>A</a:t>
                </a:r>
                <a:r>
                  <a:rPr sz="2400">
                    <a:solidFill>
                      <a:srgbClr val="1E293B"/>
                    </a:solidFill>
                    <a:latin typeface="Calibri"/>
                  </a:rPr>
                  <a:t> và </a:t>
                </a:r>
                <a:r>
                  <a:rPr lang="vi-VN"/>
                  <a:t>B</a:t>
                </a:r>
                <a:r>
                  <a:rPr sz="24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8" name="s1_chu"/>
              <p:cNvSpPr txBox="1"/>
              <p:nvPr/>
            </p:nvSpPr>
            <p:spPr>
              <a:xfrm>
                <a:off x="548640" y="2368296"/>
                <a:ext cx="11064240" cy="1938528"/>
              </a:xfrm>
              <a:prstGeom prst="rect">
                <a:avLst/>
              </a:prstGeom>
              <a:noFill/>
            </p:spPr>
            <p:txBody>
              <a:bodyPr wrap="square" lIns="45720" rIns="45720" anchor="t">
                <a:spAutoFit/>
              </a:bodyPr>
              <a:lstStyle/>
              <a:p>
                <a:pPr algn="l">
                  <a:spcAft>
                    <a:spcPts val="800"/>
                  </a:spcAft>
                </a:pPr>
                <a:r>
                  <a:rPr sz="2400">
                    <a:solidFill>
                      <a:srgbClr val="1E293B"/>
                    </a:solidFill>
                    <a:latin typeface="Calibri"/>
                  </a:rPr>
                  <a:t>a)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𝐴𝐵</m:t>
                        </m:r>
                      </m:e>
                    </m:acc>
                  </m:oMath>
                </a14:m>
                <a:r>
                  <a:rPr sz="2400">
                    <a:solidFill>
                      <a:srgbClr val="1E293B"/>
                    </a:solidFill>
                    <a:latin typeface="Calibri"/>
                  </a:rPr>
                  <a:t> và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𝐴𝑀</m:t>
                        </m:r>
                      </m:e>
                    </m:acc>
                  </m:oMath>
                </a14:m>
                <a:r>
                  <a:rPr sz="2400">
                    <a:solidFill>
                      <a:srgbClr val="1E293B"/>
                    </a:solidFill>
                    <a:latin typeface="Calibri"/>
                  </a:rPr>
                  <a:t> ngược hướng.</a:t>
                </a:r>
              </a:p>
              <a:p>
                <a:pPr algn="l">
                  <a:spcAft>
                    <a:spcPts val="800"/>
                  </a:spcAft>
                </a:pPr>
                <a:r>
                  <a:rPr sz="2400">
                    <a:solidFill>
                      <a:srgbClr val="1E293B"/>
                    </a:solidFill>
                    <a:latin typeface="Calibri"/>
                  </a:rPr>
                  <a:t>b)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𝑀𝐴</m:t>
                        </m:r>
                      </m:e>
                    </m:acc>
                  </m:oMath>
                </a14:m>
                <a:r>
                  <a:rPr sz="2400">
                    <a:solidFill>
                      <a:srgbClr val="1E293B"/>
                    </a:solidFill>
                    <a:latin typeface="Calibri"/>
                  </a:rPr>
                  <a:t> và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𝑀𝐵</m:t>
                        </m:r>
                      </m:e>
                    </m:acc>
                  </m:oMath>
                </a14:m>
                <a:r>
                  <a:rPr sz="2400">
                    <a:solidFill>
                      <a:srgbClr val="1E293B"/>
                    </a:solidFill>
                    <a:latin typeface="Calibri"/>
                  </a:rPr>
                  <a:t> cùng phương.</a:t>
                </a:r>
              </a:p>
              <a:p>
                <a:pPr algn="l">
                  <a:spcAft>
                    <a:spcPts val="800"/>
                  </a:spcAft>
                </a:pPr>
                <a:r>
                  <a:rPr sz="2400">
                    <a:solidFill>
                      <a:srgbClr val="1E293B"/>
                    </a:solidFill>
                    <a:latin typeface="Calibri"/>
                  </a:rPr>
                  <a:t>c)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𝐴𝐵</m:t>
                        </m:r>
                      </m:e>
                    </m:acc>
                  </m:oMath>
                </a14:m>
                <a:r>
                  <a:rPr sz="2400">
                    <a:solidFill>
                      <a:srgbClr val="1E293B"/>
                    </a:solidFill>
                    <a:latin typeface="Calibri"/>
                  </a:rPr>
                  <a:t> và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𝐴𝑀</m:t>
                        </m:r>
                      </m:e>
                    </m:acc>
                  </m:oMath>
                </a14:m>
                <a:r>
                  <a:rPr sz="2400">
                    <a:solidFill>
                      <a:srgbClr val="1E293B"/>
                    </a:solidFill>
                    <a:latin typeface="Calibri"/>
                  </a:rPr>
                  <a:t> cùng hướng.</a:t>
                </a:r>
              </a:p>
              <a:p>
                <a:pPr algn="l">
                  <a:spcAft>
                    <a:spcPts val="800"/>
                  </a:spcAft>
                </a:pPr>
                <a:r>
                  <a:rPr sz="2400">
                    <a:solidFill>
                      <a:srgbClr val="1E293B"/>
                    </a:solidFill>
                    <a:latin typeface="Calibri"/>
                  </a:rPr>
                  <a:t>d)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𝑀𝐴</m:t>
                        </m:r>
                      </m:e>
                    </m:acc>
                  </m:oMath>
                </a14:m>
                <a:r>
                  <a:rPr sz="2400">
                    <a:solidFill>
                      <a:srgbClr val="1E293B"/>
                    </a:solidFill>
                    <a:latin typeface="Calibri"/>
                  </a:rPr>
                  <a:t> và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𝑀𝐵</m:t>
                        </m:r>
                      </m:e>
                    </m:acc>
                  </m:oMath>
                </a14:m>
                <a:r>
                  <a:rPr sz="2400">
                    <a:solidFill>
                      <a:srgbClr val="1E293B"/>
                    </a:solidFill>
                    <a:latin typeface="Calibri"/>
                  </a:rPr>
                  <a:t> ngược hướng.</a:t>
                </a:r>
              </a:p>
            </p:txBody>
          </p:sp>
        </mc:Choice>
        <mc:Fallback xmlns="">
          <p:sp>
            <p:nvSpPr>
              <p:cNvPr id="8" name="TextBox 7"/>
              <p:cNvSpPr txBox="1"/>
              <p:nvPr/>
            </p:nvSpPr>
            <p:spPr>
              <a:xfrm>
                <a:off x="548640" y="2368296"/>
                <a:ext cx="11064240" cy="1938528"/>
              </a:xfrm>
              <a:prstGeom prst="rect">
                <a:avLst/>
              </a:prstGeom>
              <a:noFill/>
            </p:spPr>
            <p:txBody>
              <a:bodyPr wrap="square" anchor="t" lIns="45720" rIns="45720">
                <a:spAutoFit/>
              </a:bodyPr>
              <a:lstStyle/>
              <a:p>
                <a:pPr algn="l">
                  <a:spcAft>
                    <a:spcPts val="800"/>
                  </a:spcAft>
                </a:pPr>
                <a:r>
                  <a:rPr sz="2400">
                    <a:solidFill>
                      <a:srgbClr val="1E293B"/>
                    </a:solidFill>
                    <a:latin typeface="Calibri"/>
                  </a:rPr>
                  <a:t>a) </a:t>
                </a:r>
                <a:r>
                  <a:rPr lang="vi-VN"/>
                  <a:t>\overrightarrow{AB}</a:t>
                </a:r>
                <a:r>
                  <a:rPr sz="2400">
                    <a:solidFill>
                      <a:srgbClr val="1E293B"/>
                    </a:solidFill>
                    <a:latin typeface="Calibri"/>
                  </a:rPr>
                  <a:t> và </a:t>
                </a:r>
                <a:r>
                  <a:rPr lang="vi-VN"/>
                  <a:t>\overrightarrow{AM}</a:t>
                </a:r>
                <a:r>
                  <a:rPr sz="2400">
                    <a:solidFill>
                      <a:srgbClr val="1E293B"/>
                    </a:solidFill>
                    <a:latin typeface="Calibri"/>
                  </a:rPr>
                  <a:t> ngược hướng.</a:t>
                </a:r>
              </a:p>
              <a:p>
                <a:pPr algn="l">
                  <a:spcAft>
                    <a:spcPts val="800"/>
                  </a:spcAft>
                </a:pPr>
                <a:r>
                  <a:rPr sz="2400">
                    <a:solidFill>
                      <a:srgbClr val="1E293B"/>
                    </a:solidFill>
                    <a:latin typeface="Calibri"/>
                  </a:rPr>
                  <a:t>b) </a:t>
                </a:r>
                <a:r>
                  <a:rPr lang="vi-VN"/>
                  <a:t>\overrightarrow{MA}</a:t>
                </a:r>
                <a:r>
                  <a:rPr sz="2400">
                    <a:solidFill>
                      <a:srgbClr val="1E293B"/>
                    </a:solidFill>
                    <a:latin typeface="Calibri"/>
                  </a:rPr>
                  <a:t> và </a:t>
                </a:r>
                <a:r>
                  <a:rPr lang="vi-VN"/>
                  <a:t>\overrightarrow{MB}</a:t>
                </a:r>
                <a:r>
                  <a:rPr sz="2400">
                    <a:solidFill>
                      <a:srgbClr val="1E293B"/>
                    </a:solidFill>
                    <a:latin typeface="Calibri"/>
                  </a:rPr>
                  <a:t> cùng phương.</a:t>
                </a:r>
              </a:p>
              <a:p>
                <a:pPr algn="l">
                  <a:spcAft>
                    <a:spcPts val="800"/>
                  </a:spcAft>
                </a:pPr>
                <a:r>
                  <a:rPr sz="2400">
                    <a:solidFill>
                      <a:srgbClr val="1E293B"/>
                    </a:solidFill>
                    <a:latin typeface="Calibri"/>
                  </a:rPr>
                  <a:t>c) </a:t>
                </a:r>
                <a:r>
                  <a:rPr lang="vi-VN"/>
                  <a:t>\overrightarrow{AB}</a:t>
                </a:r>
                <a:r>
                  <a:rPr sz="2400">
                    <a:solidFill>
                      <a:srgbClr val="1E293B"/>
                    </a:solidFill>
                    <a:latin typeface="Calibri"/>
                  </a:rPr>
                  <a:t> và </a:t>
                </a:r>
                <a:r>
                  <a:rPr lang="vi-VN"/>
                  <a:t>\overrightarrow{AM}</a:t>
                </a:r>
                <a:r>
                  <a:rPr sz="2400">
                    <a:solidFill>
                      <a:srgbClr val="1E293B"/>
                    </a:solidFill>
                    <a:latin typeface="Calibri"/>
                  </a:rPr>
                  <a:t> cùng hướng.</a:t>
                </a:r>
              </a:p>
              <a:p>
                <a:pPr algn="l">
                  <a:spcAft>
                    <a:spcPts val="800"/>
                  </a:spcAft>
                </a:pPr>
                <a:r>
                  <a:rPr sz="2400">
                    <a:solidFill>
                      <a:srgbClr val="1E293B"/>
                    </a:solidFill>
                    <a:latin typeface="Calibri"/>
                  </a:rPr>
                  <a:t>d) </a:t>
                </a:r>
                <a:r>
                  <a:rPr lang="vi-VN"/>
                  <a:t>\overrightarrow{MA}</a:t>
                </a:r>
                <a:r>
                  <a:rPr sz="2400">
                    <a:solidFill>
                      <a:srgbClr val="1E293B"/>
                    </a:solidFill>
                    <a:latin typeface="Calibri"/>
                  </a:rPr>
                  <a:t> và </a:t>
                </a:r>
                <a:r>
                  <a:rPr lang="vi-VN"/>
                  <a:t>\overrightarrow{MB}</a:t>
                </a:r>
                <a:r>
                  <a:rPr sz="2400">
                    <a:solidFill>
                      <a:srgbClr val="1E293B"/>
                    </a:solidFill>
                    <a:latin typeface="Calibri"/>
                  </a:rPr>
                  <a:t> ngược hướng.</a:t>
                </a:r>
              </a:p>
            </p:txBody>
          </p:sp>
        </mc:Fallback>
      </mc:AlternateContent>
      <p:sp>
        <p:nvSpPr>
          <p:cNvPr id="9" name="s2_nen"/>
          <p:cNvSpPr/>
          <p:nvPr/>
        </p:nvSpPr>
        <p:spPr>
          <a:xfrm>
            <a:off x="548640" y="4398264"/>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0" name="s2_chu"/>
              <p:cNvSpPr txBox="1"/>
              <p:nvPr/>
            </p:nvSpPr>
            <p:spPr>
              <a:xfrm>
                <a:off x="713232" y="4434840"/>
                <a:ext cx="10735056" cy="557784"/>
              </a:xfrm>
              <a:prstGeom prst="rect">
                <a:avLst/>
              </a:prstGeom>
              <a:noFill/>
            </p:spPr>
            <p:txBody>
              <a:bodyPr wrap="square" lIns="45720" rIns="45720" anchor="ctr">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𝑀</m:t>
                    </m:r>
                  </m:oMath>
                </a14:m>
                <a:r>
                  <a:rPr sz="2400">
                    <a:solidFill>
                      <a:srgbClr val="1E293B"/>
                    </a:solidFill>
                    <a:latin typeface="Calibri"/>
                  </a:rPr>
                  <a:t> nằm giữa </a:t>
                </a:r>
                <a14:m>
                  <m:oMath xmlns:m="http://schemas.openxmlformats.org/officeDocument/2006/math">
                    <m:r>
                      <a:rPr lang="vi-VN" sz="2400" b="0">
                        <a:solidFill>
                          <a:srgbClr val="1E293B"/>
                        </a:solidFill>
                        <a:latin typeface="Cambria Math" panose="02040503050406030204" pitchFamily="18" charset="0"/>
                      </a:rPr>
                      <m:t>𝐴</m:t>
                    </m:r>
                    <m: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𝐵</m:t>
                    </m:r>
                  </m:oMath>
                </a14:m>
                <a:r>
                  <a:rPr sz="2400">
                    <a:solidFill>
                      <a:srgbClr val="1E293B"/>
                    </a:solidFill>
                    <a:latin typeface="Calibri"/>
                  </a:rPr>
                  <a:t> ⇔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𝑀𝐴</m:t>
                        </m:r>
                      </m:e>
                    </m:acc>
                  </m:oMath>
                </a14:m>
                <a:r>
                  <a:rPr sz="2400">
                    <a:solidFill>
                      <a:srgbClr val="1E293B"/>
                    </a:solidFill>
                    <a:latin typeface="Calibri"/>
                  </a:rPr>
                  <a:t> và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𝑀𝐵</m:t>
                        </m:r>
                      </m:e>
                    </m:acc>
                  </m:oMath>
                </a14:m>
                <a:r>
                  <a:rPr sz="2400">
                    <a:solidFill>
                      <a:srgbClr val="1E293B"/>
                    </a:solidFill>
                    <a:latin typeface="Calibri"/>
                  </a:rPr>
                  <a:t> ngược hướng.</a:t>
                </a:r>
              </a:p>
            </p:txBody>
          </p:sp>
        </mc:Choice>
        <mc:Fallback xmlns="">
          <p:sp>
            <p:nvSpPr>
              <p:cNvPr id="10" name="TextBox 9"/>
              <p:cNvSpPr txBox="1"/>
              <p:nvPr/>
            </p:nvSpPr>
            <p:spPr>
              <a:xfrm>
                <a:off x="713232" y="4434840"/>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M</a:t>
                </a:r>
                <a:r>
                  <a:rPr sz="2400">
                    <a:solidFill>
                      <a:srgbClr val="1E293B"/>
                    </a:solidFill>
                    <a:latin typeface="Calibri"/>
                  </a:rPr>
                  <a:t> nằm giữa </a:t>
                </a:r>
                <a:r>
                  <a:rPr lang="vi-VN"/>
                  <a:t>A,\ B</a:t>
                </a:r>
                <a:r>
                  <a:rPr sz="2400">
                    <a:solidFill>
                      <a:srgbClr val="1E293B"/>
                    </a:solidFill>
                    <a:latin typeface="Calibri"/>
                  </a:rPr>
                  <a:t> ⇔ </a:t>
                </a:r>
                <a:r>
                  <a:rPr lang="vi-VN"/>
                  <a:t>\overrightarrow{MA}</a:t>
                </a:r>
                <a:r>
                  <a:rPr sz="2400">
                    <a:solidFill>
                      <a:srgbClr val="1E293B"/>
                    </a:solidFill>
                    <a:latin typeface="Calibri"/>
                  </a:rPr>
                  <a:t> và </a:t>
                </a:r>
                <a:r>
                  <a:rPr lang="vi-VN"/>
                  <a:t>\overrightarrow{MB}</a:t>
                </a:r>
                <a:r>
                  <a:rPr sz="2400">
                    <a:solidFill>
                      <a:srgbClr val="1E293B"/>
                    </a:solidFill>
                    <a:latin typeface="Calibri"/>
                  </a:rPr>
                  <a:t> ngược hướng.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BIỂU DIỄN ĐẠI LƯỢNG BẰNG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23</a:t>
            </a:r>
          </a:p>
        </p:txBody>
      </p:sp>
      <p:sp>
        <p:nvSpPr>
          <p:cNvPr id="7" name="Rounded Rectangle 6"/>
          <p:cNvSpPr/>
          <p:nvPr/>
        </p:nvSpPr>
        <p:spPr>
          <a:xfrm>
            <a:off x="548640" y="1463040"/>
            <a:ext cx="11064240" cy="185013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1499616"/>
            <a:ext cx="10735056" cy="1776984"/>
          </a:xfrm>
          <a:prstGeom prst="rect">
            <a:avLst/>
          </a:prstGeom>
          <a:noFill/>
        </p:spPr>
        <p:txBody>
          <a:bodyPr wrap="square" lIns="45720" rIns="45720" anchor="ctr">
            <a:spAutoFit/>
          </a:bodyPr>
          <a:lstStyle/>
          <a:p>
            <a:pPr algn="l">
              <a:spcAft>
                <a:spcPts val="800"/>
              </a:spcAft>
            </a:pPr>
            <a:r>
              <a:rPr sz="2600" b="1">
                <a:solidFill>
                  <a:srgbClr val="1E293B"/>
                </a:solidFill>
                <a:latin typeface="Calibri"/>
              </a:rPr>
              <a:t>Chú ý.</a:t>
            </a:r>
            <a:r>
              <a:rPr sz="2600">
                <a:solidFill>
                  <a:srgbClr val="1E293B"/>
                </a:solidFill>
                <a:latin typeface="Calibri"/>
              </a:rPr>
              <a:t> Ta có thể dùng vectơ để biểu diễn các đại lượng như lực, vận tốc, gia tốc. Hướng của vectơ chỉ hướng của đại lượng, độ dài của vectơ thể hiện cho độ lớn của đại lượng và được lấy tỉ lệ với độ lớn của đại lượng.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VÍ DỤ 4 (SGK TR.49 – 50)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24</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6035040" cy="2414016"/>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Ví dụ 4.</a:t>
                </a:r>
                <a:r>
                  <a:rPr sz="2100">
                    <a:solidFill>
                      <a:srgbClr val="1E293B"/>
                    </a:solidFill>
                    <a:latin typeface="Calibri"/>
                  </a:rPr>
                  <a:t> Một vật </a:t>
                </a:r>
                <a14:m>
                  <m:oMath xmlns:m="http://schemas.openxmlformats.org/officeDocument/2006/math">
                    <m:r>
                      <a:rPr lang="vi-VN" sz="2100" b="0">
                        <a:solidFill>
                          <a:srgbClr val="1E293B"/>
                        </a:solidFill>
                        <a:latin typeface="Cambria Math" panose="02040503050406030204" pitchFamily="18" charset="0"/>
                      </a:rPr>
                      <m:t>𝐴</m:t>
                    </m:r>
                  </m:oMath>
                </a14:m>
                <a:r>
                  <a:rPr sz="2100">
                    <a:solidFill>
                      <a:srgbClr val="1E293B"/>
                    </a:solidFill>
                    <a:latin typeface="Calibri"/>
                  </a:rPr>
                  <a:t> được thả chìm hoàn toàn dưới đáy một cốc chất lỏng. Trong ba cách biểu diễn lực đẩy Archimedes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𝐹</m:t>
                        </m:r>
                      </m:e>
                    </m:acc>
                  </m:oMath>
                </a14:m>
                <a:r>
                  <a:rPr sz="2100">
                    <a:solidFill>
                      <a:srgbClr val="1E293B"/>
                    </a:solidFill>
                    <a:latin typeface="Calibri"/>
                  </a:rPr>
                  <a:t> và trọng lực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𝑃</m:t>
                        </m:r>
                      </m:e>
                    </m:acc>
                  </m:oMath>
                </a14:m>
                <a:r>
                  <a:rPr sz="2100">
                    <a:solidFill>
                      <a:srgbClr val="1E293B"/>
                    </a:solidFill>
                    <a:latin typeface="Calibri"/>
                  </a:rPr>
                  <a:t> ở Hình 4.11, có một cách biểu diễn đúng. Hãy chỉ ra mối quan hệ giữa trọng lượng riêng của vật </a:t>
                </a:r>
                <a14:m>
                  <m:oMath xmlns:m="http://schemas.openxmlformats.org/officeDocument/2006/math">
                    <m:r>
                      <a:rPr lang="vi-VN" sz="2100" b="0">
                        <a:solidFill>
                          <a:srgbClr val="1E293B"/>
                        </a:solidFill>
                        <a:latin typeface="Cambria Math" panose="02040503050406030204" pitchFamily="18" charset="0"/>
                      </a:rPr>
                      <m:t>𝐴</m:t>
                    </m:r>
                  </m:oMath>
                </a14:m>
                <a:r>
                  <a:rPr sz="2100">
                    <a:solidFill>
                      <a:srgbClr val="1E293B"/>
                    </a:solidFill>
                    <a:latin typeface="Calibri"/>
                  </a:rPr>
                  <a:t> và của chất lỏng trong cốc.</a:t>
                </a:r>
              </a:p>
            </p:txBody>
          </p:sp>
        </mc:Choice>
        <mc:Fallback xmlns="">
          <p:sp>
            <p:nvSpPr>
              <p:cNvPr id="7" name="TextBox 6"/>
              <p:cNvSpPr txBox="1"/>
              <p:nvPr/>
            </p:nvSpPr>
            <p:spPr>
              <a:xfrm>
                <a:off x="548640" y="1371600"/>
                <a:ext cx="6035040" cy="241401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4.</a:t>
                </a:r>
                <a:r>
                  <a:rPr sz="2100">
                    <a:solidFill>
                      <a:srgbClr val="1E293B"/>
                    </a:solidFill>
                    <a:latin typeface="Calibri"/>
                  </a:rPr>
                  <a:t> Một vật </a:t>
                </a:r>
                <a:r>
                  <a:rPr lang="vi-VN"/>
                  <a:t>A</a:t>
                </a:r>
                <a:r>
                  <a:rPr sz="2100">
                    <a:solidFill>
                      <a:srgbClr val="1E293B"/>
                    </a:solidFill>
                    <a:latin typeface="Calibri"/>
                  </a:rPr>
                  <a:t> được thả chìm hoàn toàn dưới đáy một cốc chất lỏng. Trong ba cách biểu diễn lực đẩy Archimedes </a:t>
                </a:r>
                <a:r>
                  <a:rPr lang="vi-VN"/>
                  <a:t>\vec{F}</a:t>
                </a:r>
                <a:r>
                  <a:rPr sz="2100">
                    <a:solidFill>
                      <a:srgbClr val="1E293B"/>
                    </a:solidFill>
                    <a:latin typeface="Calibri"/>
                  </a:rPr>
                  <a:t> và trọng lực </a:t>
                </a:r>
                <a:r>
                  <a:rPr lang="vi-VN"/>
                  <a:t>\vec{P}</a:t>
                </a:r>
                <a:r>
                  <a:rPr sz="2100">
                    <a:solidFill>
                      <a:srgbClr val="1E293B"/>
                    </a:solidFill>
                    <a:latin typeface="Calibri"/>
                  </a:rPr>
                  <a:t> ở Hình 4.11, có một cách biểu diễn đúng. Hãy chỉ ra mối quan hệ giữa trọng lượng riêng của vật </a:t>
                </a:r>
                <a:r>
                  <a:rPr lang="vi-VN"/>
                  <a:t>A</a:t>
                </a:r>
                <a:r>
                  <a:rPr sz="2100">
                    <a:solidFill>
                      <a:srgbClr val="1E293B"/>
                    </a:solidFill>
                    <a:latin typeface="Calibri"/>
                  </a:rPr>
                  <a:t> và của chất lỏng trong cốc.</a:t>
                </a:r>
              </a:p>
            </p:txBody>
          </p:sp>
        </mc:Fallback>
      </mc:AlternateContent>
      <p:sp>
        <p:nvSpPr>
          <p:cNvPr id="8" name="s1_nen"/>
          <p:cNvSpPr/>
          <p:nvPr/>
        </p:nvSpPr>
        <p:spPr>
          <a:xfrm>
            <a:off x="548640" y="3877056"/>
            <a:ext cx="6035040"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913632"/>
                <a:ext cx="5705855" cy="1152144"/>
              </a:xfrm>
              <a:prstGeom prst="rect">
                <a:avLst/>
              </a:prstGeom>
              <a:noFill/>
            </p:spPr>
            <p:txBody>
              <a:bodyPr wrap="square" lIns="45720" rIns="45720" anchor="ctr">
                <a:spAutoFit/>
              </a:bodyPr>
              <a:lstStyle/>
              <a:p>
                <a:pPr algn="l">
                  <a:spcAft>
                    <a:spcPts val="800"/>
                  </a:spcAft>
                </a:pPr>
                <a:r>
                  <a:rPr sz="2100">
                    <a:solidFill>
                      <a:srgbClr val="1E293B"/>
                    </a:solidFill>
                    <a:latin typeface="Calibri"/>
                  </a:rPr>
                  <a:t>Hai lực cùng phương (thẳng đứng), ngược hướng; vật chìm nên </a:t>
                </a:r>
                <a14:m>
                  <m:oMath xmlns:m="http://schemas.openxmlformats.org/officeDocument/2006/math">
                    <m:d>
                      <m:dPr>
                        <m:begChr m:val="|"/>
                        <m:endChr m:val="|"/>
                        <m:ctrlPr>
                          <a:rPr lang="vi-VN" sz="2100" b="0">
                            <a:solidFill>
                              <a:srgbClr val="1E293B"/>
                            </a:solidFill>
                            <a:latin typeface="Cambria Math" panose="02040503050406030204" pitchFamily="18" charset="0"/>
                          </a:rPr>
                        </m:ctrlPr>
                      </m:dPr>
                      <m:e>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𝑃</m:t>
                            </m:r>
                          </m:e>
                        </m:acc>
                        <m:r>
                          <a:rPr lang="vi-VN" sz="2100" b="0">
                            <a:solidFill>
                              <a:srgbClr val="1E293B"/>
                            </a:solidFill>
                            <a:latin typeface="Cambria Math" panose="02040503050406030204" pitchFamily="18" charset="0"/>
                          </a:rPr>
                          <m:t>|&gt;|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𝐹</m:t>
                            </m:r>
                          </m:e>
                        </m:acc>
                      </m:e>
                    </m:d>
                  </m:oMath>
                </a14:m>
                <a:r>
                  <a:rPr sz="2100">
                    <a:solidFill>
                      <a:srgbClr val="1E293B"/>
                    </a:solidFill>
                    <a:latin typeface="Calibri"/>
                  </a:rPr>
                  <a:t> ⇒ </a:t>
                </a:r>
                <a:r>
                  <a:rPr sz="2100" b="1">
                    <a:solidFill>
                      <a:srgbClr val="1E293B"/>
                    </a:solidFill>
                    <a:latin typeface="Calibri"/>
                  </a:rPr>
                  <a:t>Hình 4.11b</a:t>
                </a:r>
                <a:r>
                  <a:rPr sz="2100">
                    <a:solidFill>
                      <a:srgbClr val="1E293B"/>
                    </a:solidFill>
                    <a:latin typeface="Calibri"/>
                  </a:rPr>
                  <a:t> đúng, </a:t>
                </a:r>
                <a14:m>
                  <m:oMath xmlns:m="http://schemas.openxmlformats.org/officeDocument/2006/math">
                    <m:d>
                      <m:dPr>
                        <m:begChr m:val="|"/>
                        <m:endChr m:val="|"/>
                        <m:ctrlPr>
                          <a:rPr lang="vi-VN" sz="2100" b="0">
                            <a:solidFill>
                              <a:srgbClr val="1E293B"/>
                            </a:solidFill>
                            <a:latin typeface="Cambria Math" panose="02040503050406030204" pitchFamily="18" charset="0"/>
                          </a:rPr>
                        </m:ctrlPr>
                      </m:dPr>
                      <m:e>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𝑃</m:t>
                            </m:r>
                          </m:e>
                        </m:acc>
                        <m:r>
                          <a:rPr lang="vi-VN" sz="2100" b="0">
                            <a:solidFill>
                              <a:srgbClr val="1E293B"/>
                            </a:solidFill>
                            <a:latin typeface="Cambria Math" panose="02040503050406030204" pitchFamily="18" charset="0"/>
                          </a:rPr>
                          <m:t>|=3|</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𝐹</m:t>
                            </m:r>
                          </m:e>
                        </m:acc>
                      </m:e>
                    </m:d>
                  </m:oMath>
                </a14:m>
                <a:r>
                  <a:rPr sz="2100">
                    <a:solidFill>
                      <a:srgbClr val="1E293B"/>
                    </a:solidFill>
                    <a:latin typeface="Calibri"/>
                  </a:rPr>
                  <a:t>.</a:t>
                </a:r>
              </a:p>
            </p:txBody>
          </p:sp>
        </mc:Choice>
        <mc:Fallback xmlns="">
          <p:sp>
            <p:nvSpPr>
              <p:cNvPr id="9" name="TextBox 8"/>
              <p:cNvSpPr txBox="1"/>
              <p:nvPr/>
            </p:nvSpPr>
            <p:spPr>
              <a:xfrm>
                <a:off x="713232" y="3913632"/>
                <a:ext cx="5705855"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Hai lực cùng phương (thẳng đứng), ngược hướng; vật chìm nên </a:t>
                </a:r>
                <a:r>
                  <a:rPr lang="vi-VN"/>
                  <a:t>|\vec{P}|&gt;|\vec{F}|</a:t>
                </a:r>
                <a:r>
                  <a:rPr sz="2100">
                    <a:solidFill>
                      <a:srgbClr val="1E293B"/>
                    </a:solidFill>
                    <a:latin typeface="Calibri"/>
                  </a:rPr>
                  <a:t> ⇒ </a:t>
                </a:r>
                <a:r>
                  <a:rPr sz="2100" b="1">
                    <a:solidFill>
                      <a:srgbClr val="1E293B"/>
                    </a:solidFill>
                    <a:latin typeface="Calibri"/>
                  </a:rPr>
                  <a:t>Hình 4.11b</a:t>
                </a:r>
                <a:r>
                  <a:rPr sz="2100">
                    <a:solidFill>
                      <a:srgbClr val="1E293B"/>
                    </a:solidFill>
                    <a:latin typeface="Calibri"/>
                  </a:rPr>
                  <a:t> đúng, </a:t>
                </a:r>
                <a:r>
                  <a:rPr lang="vi-VN"/>
                  <a:t>|\vec{P}|=3|\vec{F}|</a:t>
                </a:r>
                <a:r>
                  <a:rPr sz="2100">
                    <a:solidFill>
                      <a:srgbClr val="1E293B"/>
                    </a:solidFill>
                    <a:latin typeface="Calibri"/>
                  </a:rPr>
                  <a:t>.</a:t>
                </a:r>
              </a:p>
            </p:txBody>
          </p:sp>
        </mc:Fallback>
      </mc:AlternateContent>
      <p:sp>
        <p:nvSpPr>
          <p:cNvPr id="10" name="s2_nen"/>
          <p:cNvSpPr/>
          <p:nvPr/>
        </p:nvSpPr>
        <p:spPr>
          <a:xfrm>
            <a:off x="548640" y="5193792"/>
            <a:ext cx="60350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5230368"/>
                <a:ext cx="5705855" cy="83210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𝑃</m:t>
                        </m:r>
                      </m:e>
                    </m:acc>
                    <m:r>
                      <a:rPr lang="vi-VN" sz="2100" b="0">
                        <a:solidFill>
                          <a:srgbClr val="1E293B"/>
                        </a:solidFill>
                        <a:latin typeface="Cambria Math" panose="02040503050406030204" pitchFamily="18" charset="0"/>
                      </a:rPr>
                      <m:t>|=</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𝑑</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𝑉</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𝐹</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𝑑</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𝑉</m:t>
                    </m:r>
                  </m:oMath>
                </a14:m>
                <a:r>
                  <a:rPr sz="2100">
                    <a:solidFill>
                      <a:srgbClr val="1E293B"/>
                    </a:solidFill>
                    <a:latin typeface="Calibri"/>
                  </a:rPr>
                  <a:t> ⇒ </a:t>
                </a:r>
                <a14:m>
                  <m:oMath xmlns:m="http://schemas.openxmlformats.org/officeDocument/2006/math">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𝑑</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=3</m:t>
                    </m:r>
                    <m:r>
                      <a:rPr lang="vi-VN" sz="2100" b="0">
                        <a:solidFill>
                          <a:srgbClr val="1E293B"/>
                        </a:solidFill>
                        <a:latin typeface="Cambria Math" panose="02040503050406030204" pitchFamily="18" charset="0"/>
                      </a:rPr>
                      <m:t>𝑑</m:t>
                    </m:r>
                  </m:oMath>
                </a14:m>
                <a:r>
                  <a:rPr sz="2100">
                    <a:solidFill>
                      <a:srgbClr val="1E293B"/>
                    </a:solidFill>
                    <a:latin typeface="Calibri"/>
                  </a:rPr>
                  <a:t>: trọng lượng riêng của vật gấp 3 lần của chất lỏng.</a:t>
                </a:r>
              </a:p>
            </p:txBody>
          </p:sp>
        </mc:Choice>
        <mc:Fallback xmlns="">
          <p:sp>
            <p:nvSpPr>
              <p:cNvPr id="11" name="TextBox 10"/>
              <p:cNvSpPr txBox="1"/>
              <p:nvPr/>
            </p:nvSpPr>
            <p:spPr>
              <a:xfrm>
                <a:off x="713232" y="5230368"/>
                <a:ext cx="570585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|\vec{P}|=d'\cdot V</a:t>
                </a:r>
                <a:r>
                  <a:rPr sz="2100">
                    <a:solidFill>
                      <a:srgbClr val="1E293B"/>
                    </a:solidFill>
                    <a:latin typeface="Calibri"/>
                  </a:rPr>
                  <a:t>, </a:t>
                </a:r>
                <a:r>
                  <a:rPr lang="vi-VN"/>
                  <a:t>|\vec{F}|=d\cdot V</a:t>
                </a:r>
                <a:r>
                  <a:rPr sz="2100">
                    <a:solidFill>
                      <a:srgbClr val="1E293B"/>
                    </a:solidFill>
                    <a:latin typeface="Calibri"/>
                  </a:rPr>
                  <a:t> ⇒ </a:t>
                </a:r>
                <a:r>
                  <a:rPr lang="vi-VN"/>
                  <a:t>d'=3d</a:t>
                </a:r>
                <a:r>
                  <a:rPr sz="2100">
                    <a:solidFill>
                      <a:srgbClr val="1E293B"/>
                    </a:solidFill>
                    <a:latin typeface="Calibri"/>
                  </a:rPr>
                  <a:t>: trọng lượng riêng của vật gấp 3 lần của chất lỏng.</a:t>
                </a:r>
              </a:p>
            </p:txBody>
          </p:sp>
        </mc:Fallback>
      </mc:AlternateContent>
      <p:pic>
        <p:nvPicPr>
          <p:cNvPr id="12" name="Picture 11" descr="h411.png"/>
          <p:cNvPicPr>
            <a:picLocks noChangeAspect="1"/>
          </p:cNvPicPr>
          <p:nvPr/>
        </p:nvPicPr>
        <p:blipFill>
          <a:blip r:embed="rId3"/>
          <a:stretch>
            <a:fillRect/>
          </a:stretch>
        </p:blipFill>
        <p:spPr>
          <a:xfrm>
            <a:off x="6766560" y="2202161"/>
            <a:ext cx="4937760" cy="14478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(SGK TR.50)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25</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1133856"/>
              </a:xfrm>
              <a:prstGeom prst="rect">
                <a:avLst/>
              </a:prstGeom>
              <a:noFill/>
            </p:spPr>
            <p:txBody>
              <a:bodyPr wrap="square" lIns="45720" rIns="45720" anchor="t">
                <a:spAutoFit/>
              </a:bodyPr>
              <a:lstStyle/>
              <a:p>
                <a:pPr algn="l">
                  <a:spcAft>
                    <a:spcPts val="800"/>
                  </a:spcAft>
                </a:pPr>
                <a:r>
                  <a:rPr sz="2100">
                    <a:solidFill>
                      <a:srgbClr val="1E293B"/>
                    </a:solidFill>
                    <a:latin typeface="Calibri"/>
                  </a:rPr>
                  <a:t>Hai ca nô </a:t>
                </a:r>
                <a14:m>
                  <m:oMath xmlns:m="http://schemas.openxmlformats.org/officeDocument/2006/math">
                    <m:r>
                      <a:rPr lang="vi-VN" sz="2100" b="0">
                        <a:solidFill>
                          <a:srgbClr val="1E293B"/>
                        </a:solidFill>
                        <a:latin typeface="Cambria Math" panose="02040503050406030204" pitchFamily="18" charset="0"/>
                      </a:rPr>
                      <m:t>𝐴</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𝐵</m:t>
                    </m:r>
                  </m:oMath>
                </a14:m>
                <a:r>
                  <a:rPr sz="2100">
                    <a:solidFill>
                      <a:srgbClr val="1E293B"/>
                    </a:solidFill>
                    <a:latin typeface="Calibri"/>
                  </a:rPr>
                  <a:t> chạy trên sông với các vận tốc riêng có cùng độ lớn là 15 km/h. Ca nô </a:t>
                </a:r>
                <a14:m>
                  <m:oMath xmlns:m="http://schemas.openxmlformats.org/officeDocument/2006/math">
                    <m:r>
                      <a:rPr lang="vi-VN" sz="2100" b="0">
                        <a:solidFill>
                          <a:srgbClr val="1E293B"/>
                        </a:solidFill>
                        <a:latin typeface="Cambria Math" panose="02040503050406030204" pitchFamily="18" charset="0"/>
                      </a:rPr>
                      <m:t>𝐴</m:t>
                    </m:r>
                  </m:oMath>
                </a14:m>
                <a:r>
                  <a:rPr sz="2100">
                    <a:solidFill>
                      <a:srgbClr val="1E293B"/>
                    </a:solidFill>
                    <a:latin typeface="Calibri"/>
                  </a:rPr>
                  <a:t> chạy xuôi dòng, ca nô </a:t>
                </a:r>
                <a14:m>
                  <m:oMath xmlns:m="http://schemas.openxmlformats.org/officeDocument/2006/math">
                    <m:r>
                      <a:rPr lang="vi-VN" sz="2100" b="0">
                        <a:solidFill>
                          <a:srgbClr val="1E293B"/>
                        </a:solidFill>
                        <a:latin typeface="Cambria Math" panose="02040503050406030204" pitchFamily="18" charset="0"/>
                      </a:rPr>
                      <m:t>𝐵</m:t>
                    </m:r>
                  </m:oMath>
                </a14:m>
                <a:r>
                  <a:rPr sz="2100">
                    <a:solidFill>
                      <a:srgbClr val="1E293B"/>
                    </a:solidFill>
                    <a:latin typeface="Calibri"/>
                  </a:rPr>
                  <a:t> chạy ngược dòng. Vận tốc của dòng nước là 3 km/h.</a:t>
                </a:r>
              </a:p>
            </p:txBody>
          </p:sp>
        </mc:Choice>
        <mc:Fallback xmlns="">
          <p:sp>
            <p:nvSpPr>
              <p:cNvPr id="7" name="TextBox 6"/>
              <p:cNvSpPr txBox="1"/>
              <p:nvPr/>
            </p:nvSpPr>
            <p:spPr>
              <a:xfrm>
                <a:off x="548640" y="1371600"/>
                <a:ext cx="11064240" cy="1133856"/>
              </a:xfrm>
              <a:prstGeom prst="rect">
                <a:avLst/>
              </a:prstGeom>
              <a:noFill/>
            </p:spPr>
            <p:txBody>
              <a:bodyPr wrap="square" anchor="t" lIns="45720" rIns="45720">
                <a:spAutoFit/>
              </a:bodyPr>
              <a:lstStyle/>
              <a:p>
                <a:pPr algn="l">
                  <a:spcAft>
                    <a:spcPts val="800"/>
                  </a:spcAft>
                </a:pPr>
                <a:r>
                  <a:rPr sz="2100">
                    <a:solidFill>
                      <a:srgbClr val="1E293B"/>
                    </a:solidFill>
                    <a:latin typeface="Calibri"/>
                  </a:rPr>
                  <a:t>Hai ca nô </a:t>
                </a:r>
                <a:r>
                  <a:rPr lang="vi-VN"/>
                  <a:t>A</a:t>
                </a:r>
                <a:r>
                  <a:rPr sz="2100">
                    <a:solidFill>
                      <a:srgbClr val="1E293B"/>
                    </a:solidFill>
                    <a:latin typeface="Calibri"/>
                  </a:rPr>
                  <a:t> và </a:t>
                </a:r>
                <a:r>
                  <a:rPr lang="vi-VN"/>
                  <a:t>B</a:t>
                </a:r>
                <a:r>
                  <a:rPr sz="2100">
                    <a:solidFill>
                      <a:srgbClr val="1E293B"/>
                    </a:solidFill>
                    <a:latin typeface="Calibri"/>
                  </a:rPr>
                  <a:t> chạy trên sông với các vận tốc riêng có cùng độ lớn là 15 km/h. Ca nô </a:t>
                </a:r>
                <a:r>
                  <a:rPr lang="vi-VN"/>
                  <a:t>A</a:t>
                </a:r>
                <a:r>
                  <a:rPr sz="2100">
                    <a:solidFill>
                      <a:srgbClr val="1E293B"/>
                    </a:solidFill>
                    <a:latin typeface="Calibri"/>
                  </a:rPr>
                  <a:t> chạy xuôi dòng, ca nô </a:t>
                </a:r>
                <a:r>
                  <a:rPr lang="vi-VN"/>
                  <a:t>B</a:t>
                </a:r>
                <a:r>
                  <a:rPr sz="2100">
                    <a:solidFill>
                      <a:srgbClr val="1E293B"/>
                    </a:solidFill>
                    <a:latin typeface="Calibri"/>
                  </a:rPr>
                  <a:t> chạy ngược dòng. Vận tốc của dòng nước là 3 km/h.</a:t>
                </a:r>
              </a:p>
            </p:txBody>
          </p:sp>
        </mc:Fallback>
      </mc:AlternateContent>
      <mc:AlternateContent xmlns:mc="http://schemas.openxmlformats.org/markup-compatibility/2006" xmlns:a14="http://schemas.microsoft.com/office/drawing/2010/main">
        <mc:Choice Requires="a14">
          <p:sp>
            <p:nvSpPr>
              <p:cNvPr id="8" name="s1_chu"/>
              <p:cNvSpPr txBox="1"/>
              <p:nvPr/>
            </p:nvSpPr>
            <p:spPr>
              <a:xfrm>
                <a:off x="548640" y="2578608"/>
                <a:ext cx="11064240" cy="1554480"/>
              </a:xfrm>
              <a:prstGeom prst="rect">
                <a:avLst/>
              </a:prstGeom>
              <a:noFill/>
            </p:spPr>
            <p:txBody>
              <a:bodyPr wrap="square" lIns="45720" rIns="45720" anchor="t">
                <a:spAutoFit/>
              </a:bodyPr>
              <a:lstStyle/>
              <a:p>
                <a:pPr algn="l">
                  <a:spcAft>
                    <a:spcPts val="800"/>
                  </a:spcAft>
                </a:pPr>
                <a:r>
                  <a:rPr sz="2100">
                    <a:solidFill>
                      <a:srgbClr val="1E293B"/>
                    </a:solidFill>
                    <a:latin typeface="Calibri"/>
                  </a:rPr>
                  <a:t>a) Thể hiện trên hình vẽ vectơ vận tốc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oMath>
                </a14:m>
                <a:r>
                  <a:rPr sz="2100">
                    <a:solidFill>
                      <a:srgbClr val="1E293B"/>
                    </a:solidFill>
                    <a:latin typeface="Calibri"/>
                  </a:rPr>
                  <a:t> của dòng nước và các vectơ vận tốc thực tế </a:t>
                </a:r>
                <a14:m>
                  <m:oMath xmlns:m="http://schemas.openxmlformats.org/officeDocument/2006/math">
                    <m:acc>
                      <m:accPr>
                        <m:chr m:val="⃗"/>
                        <m:ctrlPr>
                          <a:rPr lang="vi-VN" sz="2100" b="0">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𝑎</m:t>
                            </m:r>
                          </m:sub>
                        </m:sSub>
                      </m:e>
                    </m:acc>
                    <m:r>
                      <a:rPr lang="vi-VN" sz="2100" b="0">
                        <a:solidFill>
                          <a:srgbClr val="1E293B"/>
                        </a:solidFill>
                        <a:latin typeface="Cambria Math" panose="02040503050406030204" pitchFamily="18" charset="0"/>
                      </a:rPr>
                      <m:t>, </m:t>
                    </m:r>
                    <m:acc>
                      <m:accPr>
                        <m:chr m:val="⃗"/>
                        <m:ctrlPr>
                          <a:rPr lang="vi-VN" sz="2100" b="0" i="1">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𝑏</m:t>
                            </m:r>
                          </m:sub>
                        </m:sSub>
                      </m:e>
                    </m:acc>
                  </m:oMath>
                </a14:m>
                <a:r>
                  <a:rPr sz="2100">
                    <a:solidFill>
                      <a:srgbClr val="1E293B"/>
                    </a:solidFill>
                    <a:latin typeface="Calibri"/>
                  </a:rPr>
                  <a:t> của các ca nô </a:t>
                </a:r>
                <a14:m>
                  <m:oMath xmlns:m="http://schemas.openxmlformats.org/officeDocument/2006/math">
                    <m:r>
                      <a:rPr lang="vi-VN" sz="2100" b="0">
                        <a:solidFill>
                          <a:srgbClr val="1E293B"/>
                        </a:solidFill>
                        <a:latin typeface="Cambria Math" panose="02040503050406030204" pitchFamily="18" charset="0"/>
                      </a:rPr>
                      <m:t>𝐴</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𝐵</m:t>
                    </m:r>
                  </m:oMath>
                </a14:m>
                <a:r>
                  <a:rPr sz="2100">
                    <a:solidFill>
                      <a:srgbClr val="1E293B"/>
                    </a:solidFill>
                    <a:latin typeface="Calibri"/>
                  </a:rPr>
                  <a:t>.</a:t>
                </a:r>
              </a:p>
              <a:p>
                <a:pPr algn="l">
                  <a:spcAft>
                    <a:spcPts val="800"/>
                  </a:spcAft>
                </a:pPr>
                <a:r>
                  <a:rPr sz="2100">
                    <a:solidFill>
                      <a:srgbClr val="1E293B"/>
                    </a:solidFill>
                    <a:latin typeface="Calibri"/>
                  </a:rPr>
                  <a:t>b) Trong các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 </m:t>
                    </m:r>
                    <m:acc>
                      <m:accPr>
                        <m:chr m:val="⃗"/>
                        <m:ctrlPr>
                          <a:rPr lang="vi-VN" sz="2100" b="0" i="1">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𝑎</m:t>
                            </m:r>
                          </m:sub>
                        </m:sSub>
                      </m:e>
                    </m:acc>
                    <m:r>
                      <a:rPr lang="vi-VN" sz="2100" b="0">
                        <a:solidFill>
                          <a:srgbClr val="1E293B"/>
                        </a:solidFill>
                        <a:latin typeface="Cambria Math" panose="02040503050406030204" pitchFamily="18" charset="0"/>
                      </a:rPr>
                      <m:t>, </m:t>
                    </m:r>
                    <m:acc>
                      <m:accPr>
                        <m:chr m:val="⃗"/>
                        <m:ctrlPr>
                          <a:rPr lang="vi-VN" sz="2100" b="0" i="1">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𝑏</m:t>
                            </m:r>
                          </m:sub>
                        </m:sSub>
                      </m:e>
                    </m:acc>
                  </m:oMath>
                </a14:m>
                <a:r>
                  <a:rPr sz="2100">
                    <a:solidFill>
                      <a:srgbClr val="1E293B"/>
                    </a:solidFill>
                    <a:latin typeface="Calibri"/>
                  </a:rPr>
                  <a:t>, những cặp vectơ nào cùng phương và những cặp nào ngược hướng?</a:t>
                </a:r>
              </a:p>
            </p:txBody>
          </p:sp>
        </mc:Choice>
        <mc:Fallback xmlns="">
          <p:sp>
            <p:nvSpPr>
              <p:cNvPr id="8" name="TextBox 7"/>
              <p:cNvSpPr txBox="1"/>
              <p:nvPr/>
            </p:nvSpPr>
            <p:spPr>
              <a:xfrm>
                <a:off x="548640" y="2578608"/>
                <a:ext cx="11064240" cy="1554480"/>
              </a:xfrm>
              <a:prstGeom prst="rect">
                <a:avLst/>
              </a:prstGeom>
              <a:noFill/>
            </p:spPr>
            <p:txBody>
              <a:bodyPr wrap="square" anchor="t" lIns="45720" rIns="45720">
                <a:spAutoFit/>
              </a:bodyPr>
              <a:lstStyle/>
              <a:p>
                <a:pPr algn="l">
                  <a:spcAft>
                    <a:spcPts val="800"/>
                  </a:spcAft>
                </a:pPr>
                <a:r>
                  <a:rPr sz="2100">
                    <a:solidFill>
                      <a:srgbClr val="1E293B"/>
                    </a:solidFill>
                    <a:latin typeface="Calibri"/>
                  </a:rPr>
                  <a:t>a) Thể hiện trên hình vẽ vectơ vận tốc </a:t>
                </a:r>
                <a:r>
                  <a:rPr lang="vi-VN"/>
                  <a:t>\vec{v}</a:t>
                </a:r>
                <a:r>
                  <a:rPr sz="2100">
                    <a:solidFill>
                      <a:srgbClr val="1E293B"/>
                    </a:solidFill>
                    <a:latin typeface="Calibri"/>
                  </a:rPr>
                  <a:t> của dòng nước và các vectơ vận tốc thực tế </a:t>
                </a:r>
                <a:r>
                  <a:rPr lang="vi-VN"/>
                  <a:t>\vec{v_a},\ \vec{v_b}</a:t>
                </a:r>
                <a:r>
                  <a:rPr sz="2100">
                    <a:solidFill>
                      <a:srgbClr val="1E293B"/>
                    </a:solidFill>
                    <a:latin typeface="Calibri"/>
                  </a:rPr>
                  <a:t> của các ca nô </a:t>
                </a:r>
                <a:r>
                  <a:rPr lang="vi-VN"/>
                  <a:t>A,\ B</a:t>
                </a:r>
                <a:r>
                  <a:rPr sz="2100">
                    <a:solidFill>
                      <a:srgbClr val="1E293B"/>
                    </a:solidFill>
                    <a:latin typeface="Calibri"/>
                  </a:rPr>
                  <a:t>.</a:t>
                </a:r>
              </a:p>
              <a:p>
                <a:pPr algn="l">
                  <a:spcAft>
                    <a:spcPts val="800"/>
                  </a:spcAft>
                </a:pPr>
                <a:r>
                  <a:rPr sz="2100">
                    <a:solidFill>
                      <a:srgbClr val="1E293B"/>
                    </a:solidFill>
                    <a:latin typeface="Calibri"/>
                  </a:rPr>
                  <a:t>b) Trong các vectơ </a:t>
                </a:r>
                <a:r>
                  <a:rPr lang="vi-VN"/>
                  <a:t>\vec{v},\ \vec{v_a},\ \vec{v_b}</a:t>
                </a:r>
                <a:r>
                  <a:rPr sz="2100">
                    <a:solidFill>
                      <a:srgbClr val="1E293B"/>
                    </a:solidFill>
                    <a:latin typeface="Calibri"/>
                  </a:rPr>
                  <a:t>, những cặp vectơ nào cùng phương và những cặp nào ngược hướng?</a:t>
                </a:r>
              </a:p>
            </p:txBody>
          </p:sp>
        </mc:Fallback>
      </mc:AlternateContent>
      <p:sp>
        <p:nvSpPr>
          <p:cNvPr id="9" name="s2_nen"/>
          <p:cNvSpPr/>
          <p:nvPr/>
        </p:nvSpPr>
        <p:spPr>
          <a:xfrm>
            <a:off x="548640" y="4206240"/>
            <a:ext cx="11064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0" name="s2_chu"/>
              <p:cNvSpPr txBox="1"/>
              <p:nvPr/>
            </p:nvSpPr>
            <p:spPr>
              <a:xfrm>
                <a:off x="713232" y="4242816"/>
                <a:ext cx="10735056" cy="83210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a) </a:t>
                </a:r>
                <a14:m>
                  <m:oMath xmlns:m="http://schemas.openxmlformats.org/officeDocument/2006/math">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|=3</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acc>
                      <m:accPr>
                        <m:chr m:val="⃗"/>
                        <m:ctrlPr>
                          <a:rPr lang="vi-VN" sz="2100" b="0" i="1">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𝑎</m:t>
                            </m:r>
                          </m:sub>
                        </m:sSub>
                      </m:e>
                    </m:acc>
                    <m:r>
                      <a:rPr lang="vi-VN" sz="2100" b="0">
                        <a:solidFill>
                          <a:srgbClr val="1E293B"/>
                        </a:solidFill>
                        <a:latin typeface="Cambria Math" panose="02040503050406030204" pitchFamily="18" charset="0"/>
                      </a:rPr>
                      <m:t>|=15+3=18</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acc>
                      <m:accPr>
                        <m:chr m:val="⃗"/>
                        <m:ctrlPr>
                          <a:rPr lang="vi-VN" sz="2100" b="0" i="1">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𝑏</m:t>
                            </m:r>
                          </m:sub>
                        </m:sSub>
                      </m:e>
                    </m:acc>
                    <m:r>
                      <a:rPr lang="vi-VN" sz="2100" b="0">
                        <a:solidFill>
                          <a:srgbClr val="1E293B"/>
                        </a:solidFill>
                        <a:latin typeface="Cambria Math" panose="02040503050406030204" pitchFamily="18" charset="0"/>
                      </a:rPr>
                      <m:t>|=15−3=12</m:t>
                    </m:r>
                  </m:oMath>
                </a14:m>
                <a:r>
                  <a:rPr sz="2100">
                    <a:solidFill>
                      <a:srgbClr val="1E293B"/>
                    </a:solidFill>
                    <a:latin typeface="Calibri"/>
                  </a:rPr>
                  <a:t> (km/h); vẽ độ dài theo tỉ lệ </a:t>
                </a:r>
                <a14:m>
                  <m:oMath xmlns:m="http://schemas.openxmlformats.org/officeDocument/2006/math">
                    <m:r>
                      <a:rPr lang="vi-VN" sz="2100" b="0">
                        <a:solidFill>
                          <a:srgbClr val="1E293B"/>
                        </a:solidFill>
                        <a:latin typeface="Cambria Math" panose="02040503050406030204" pitchFamily="18" charset="0"/>
                      </a:rPr>
                      <m:t>1:6:4</m:t>
                    </m:r>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 </m:t>
                    </m:r>
                    <m:acc>
                      <m:accPr>
                        <m:chr m:val="⃗"/>
                        <m:ctrlPr>
                          <a:rPr lang="vi-VN" sz="2100" b="0" i="1">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𝑎</m:t>
                            </m:r>
                          </m:sub>
                        </m:sSub>
                      </m:e>
                    </m:acc>
                  </m:oMath>
                </a14:m>
                <a:r>
                  <a:rPr sz="2100">
                    <a:solidFill>
                      <a:srgbClr val="1E293B"/>
                    </a:solidFill>
                    <a:latin typeface="Calibri"/>
                  </a:rPr>
                  <a:t> cùng chiều dòng nước.</a:t>
                </a:r>
              </a:p>
            </p:txBody>
          </p:sp>
        </mc:Choice>
        <mc:Fallback xmlns="">
          <p:sp>
            <p:nvSpPr>
              <p:cNvPr id="10" name="TextBox 9"/>
              <p:cNvSpPr txBox="1"/>
              <p:nvPr/>
            </p:nvSpPr>
            <p:spPr>
              <a:xfrm>
                <a:off x="713232" y="4242816"/>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|\vec{v}|=3</a:t>
                </a:r>
                <a:r>
                  <a:rPr sz="2100">
                    <a:solidFill>
                      <a:srgbClr val="1E293B"/>
                    </a:solidFill>
                    <a:latin typeface="Calibri"/>
                  </a:rPr>
                  <a:t>, </a:t>
                </a:r>
                <a:r>
                  <a:rPr lang="vi-VN"/>
                  <a:t>|\vec{v_a}|=15+3=18</a:t>
                </a:r>
                <a:r>
                  <a:rPr sz="2100">
                    <a:solidFill>
                      <a:srgbClr val="1E293B"/>
                    </a:solidFill>
                    <a:latin typeface="Calibri"/>
                  </a:rPr>
                  <a:t>, </a:t>
                </a:r>
                <a:r>
                  <a:rPr lang="vi-VN"/>
                  <a:t>|\vec{v_b}|=15-3=12</a:t>
                </a:r>
                <a:r>
                  <a:rPr sz="2100">
                    <a:solidFill>
                      <a:srgbClr val="1E293B"/>
                    </a:solidFill>
                    <a:latin typeface="Calibri"/>
                  </a:rPr>
                  <a:t> (km/h); vẽ độ dài theo tỉ lệ </a:t>
                </a:r>
                <a:r>
                  <a:rPr lang="vi-VN"/>
                  <a:t>1:6:4</a:t>
                </a:r>
                <a:r>
                  <a:rPr sz="2100">
                    <a:solidFill>
                      <a:srgbClr val="1E293B"/>
                    </a:solidFill>
                    <a:latin typeface="Calibri"/>
                  </a:rPr>
                  <a:t>; </a:t>
                </a:r>
                <a:r>
                  <a:rPr lang="vi-VN"/>
                  <a:t>\vec{v},\ \vec{v_a}</a:t>
                </a:r>
                <a:r>
                  <a:rPr sz="2100">
                    <a:solidFill>
                      <a:srgbClr val="1E293B"/>
                    </a:solidFill>
                    <a:latin typeface="Calibri"/>
                  </a:rPr>
                  <a:t> cùng chiều dòng nước.</a:t>
                </a:r>
              </a:p>
            </p:txBody>
          </p:sp>
        </mc:Fallback>
      </mc:AlternateContent>
      <p:sp>
        <p:nvSpPr>
          <p:cNvPr id="11" name="s3_nen"/>
          <p:cNvSpPr/>
          <p:nvPr/>
        </p:nvSpPr>
        <p:spPr>
          <a:xfrm>
            <a:off x="548640" y="5184648"/>
            <a:ext cx="11064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s3_chu"/>
              <p:cNvSpPr txBox="1"/>
              <p:nvPr/>
            </p:nvSpPr>
            <p:spPr>
              <a:xfrm>
                <a:off x="713232" y="5221224"/>
                <a:ext cx="10735056" cy="83210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b) Cùng phương: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oMath>
                </a14:m>
                <a:r>
                  <a:rPr sz="2100">
                    <a:solidFill>
                      <a:srgbClr val="1E293B"/>
                    </a:solidFill>
                    <a:latin typeface="Calibri"/>
                  </a:rPr>
                  <a:t> và </a:t>
                </a:r>
                <a14:m>
                  <m:oMath xmlns:m="http://schemas.openxmlformats.org/officeDocument/2006/math">
                    <m:acc>
                      <m:accPr>
                        <m:chr m:val="⃗"/>
                        <m:ctrlPr>
                          <a:rPr lang="vi-VN" sz="2100" b="0">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𝑎</m:t>
                            </m:r>
                          </m:sub>
                        </m:sSub>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𝑎</m:t>
                            </m:r>
                          </m:sub>
                        </m:sSub>
                      </m:e>
                    </m:acc>
                  </m:oMath>
                </a14:m>
                <a:r>
                  <a:rPr sz="2100">
                    <a:solidFill>
                      <a:srgbClr val="1E293B"/>
                    </a:solidFill>
                    <a:latin typeface="Calibri"/>
                  </a:rPr>
                  <a:t> và </a:t>
                </a:r>
                <a14:m>
                  <m:oMath xmlns:m="http://schemas.openxmlformats.org/officeDocument/2006/math">
                    <m:acc>
                      <m:accPr>
                        <m:chr m:val="⃗"/>
                        <m:ctrlPr>
                          <a:rPr lang="vi-VN" sz="2100" b="0">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𝑏</m:t>
                            </m:r>
                          </m:sub>
                        </m:sSub>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𝑏</m:t>
                            </m:r>
                          </m:sub>
                        </m:sSub>
                      </m:e>
                    </m:acc>
                  </m:oMath>
                </a14:m>
                <a:r>
                  <a:rPr sz="2100">
                    <a:solidFill>
                      <a:srgbClr val="1E293B"/>
                    </a:solidFill>
                    <a:latin typeface="Calibri"/>
                  </a:rPr>
                  <a:t> và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oMath>
                </a14:m>
                <a:r>
                  <a:rPr sz="2100">
                    <a:solidFill>
                      <a:srgbClr val="1E293B"/>
                    </a:solidFill>
                    <a:latin typeface="Calibri"/>
                  </a:rPr>
                  <a:t>. Ngược hướng: </a:t>
                </a:r>
                <a14:m>
                  <m:oMath xmlns:m="http://schemas.openxmlformats.org/officeDocument/2006/math">
                    <m:acc>
                      <m:accPr>
                        <m:chr m:val="⃗"/>
                        <m:ctrlPr>
                          <a:rPr lang="vi-VN" sz="2100" b="0">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𝑎</m:t>
                            </m:r>
                          </m:sub>
                        </m:sSub>
                      </m:e>
                    </m:acc>
                  </m:oMath>
                </a14:m>
                <a:r>
                  <a:rPr sz="2100">
                    <a:solidFill>
                      <a:srgbClr val="1E293B"/>
                    </a:solidFill>
                    <a:latin typeface="Calibri"/>
                  </a:rPr>
                  <a:t> và </a:t>
                </a:r>
                <a14:m>
                  <m:oMath xmlns:m="http://schemas.openxmlformats.org/officeDocument/2006/math">
                    <m:acc>
                      <m:accPr>
                        <m:chr m:val="⃗"/>
                        <m:ctrlPr>
                          <a:rPr lang="vi-VN" sz="2100" b="0">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𝑏</m:t>
                            </m:r>
                          </m:sub>
                        </m:sSub>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𝑣</m:t>
                            </m:r>
                          </m:e>
                          <m:sub>
                            <m:r>
                              <a:rPr lang="vi-VN" sz="2100" b="0">
                                <a:solidFill>
                                  <a:srgbClr val="1E293B"/>
                                </a:solidFill>
                                <a:latin typeface="Cambria Math" panose="02040503050406030204" pitchFamily="18" charset="0"/>
                              </a:rPr>
                              <m:t>𝑏</m:t>
                            </m:r>
                          </m:sub>
                        </m:sSub>
                      </m:e>
                    </m:acc>
                  </m:oMath>
                </a14:m>
                <a:r>
                  <a:rPr sz="2100">
                    <a:solidFill>
                      <a:srgbClr val="1E293B"/>
                    </a:solidFill>
                    <a:latin typeface="Calibri"/>
                  </a:rPr>
                  <a:t> và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oMath>
                </a14:m>
                <a:r>
                  <a:rPr sz="2100">
                    <a:solidFill>
                      <a:srgbClr val="1E293B"/>
                    </a:solidFill>
                    <a:latin typeface="Calibri"/>
                  </a:rPr>
                  <a:t>.</a:t>
                </a:r>
              </a:p>
            </p:txBody>
          </p:sp>
        </mc:Choice>
        <mc:Fallback xmlns="">
          <p:sp>
            <p:nvSpPr>
              <p:cNvPr id="12" name="TextBox 11"/>
              <p:cNvSpPr txBox="1"/>
              <p:nvPr/>
            </p:nvSpPr>
            <p:spPr>
              <a:xfrm>
                <a:off x="713232" y="5221224"/>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Cùng phương: </a:t>
                </a:r>
                <a:r>
                  <a:rPr lang="vi-VN"/>
                  <a:t>\vec{v}</a:t>
                </a:r>
                <a:r>
                  <a:rPr sz="2100">
                    <a:solidFill>
                      <a:srgbClr val="1E293B"/>
                    </a:solidFill>
                    <a:latin typeface="Calibri"/>
                  </a:rPr>
                  <a:t> và </a:t>
                </a:r>
                <a:r>
                  <a:rPr lang="vi-VN"/>
                  <a:t>\vec{v_a}</a:t>
                </a:r>
                <a:r>
                  <a:rPr sz="2100">
                    <a:solidFill>
                      <a:srgbClr val="1E293B"/>
                    </a:solidFill>
                    <a:latin typeface="Calibri"/>
                  </a:rPr>
                  <a:t>, </a:t>
                </a:r>
                <a:r>
                  <a:rPr lang="vi-VN"/>
                  <a:t>\vec{v_a}</a:t>
                </a:r>
                <a:r>
                  <a:rPr sz="2100">
                    <a:solidFill>
                      <a:srgbClr val="1E293B"/>
                    </a:solidFill>
                    <a:latin typeface="Calibri"/>
                  </a:rPr>
                  <a:t> và </a:t>
                </a:r>
                <a:r>
                  <a:rPr lang="vi-VN"/>
                  <a:t>\vec{v_b}</a:t>
                </a:r>
                <a:r>
                  <a:rPr sz="2100">
                    <a:solidFill>
                      <a:srgbClr val="1E293B"/>
                    </a:solidFill>
                    <a:latin typeface="Calibri"/>
                  </a:rPr>
                  <a:t>, </a:t>
                </a:r>
                <a:r>
                  <a:rPr lang="vi-VN"/>
                  <a:t>\vec{v_b}</a:t>
                </a:r>
                <a:r>
                  <a:rPr sz="2100">
                    <a:solidFill>
                      <a:srgbClr val="1E293B"/>
                    </a:solidFill>
                    <a:latin typeface="Calibri"/>
                  </a:rPr>
                  <a:t> và </a:t>
                </a:r>
                <a:r>
                  <a:rPr lang="vi-VN"/>
                  <a:t>\vec{v}</a:t>
                </a:r>
                <a:r>
                  <a:rPr sz="2100">
                    <a:solidFill>
                      <a:srgbClr val="1E293B"/>
                    </a:solidFill>
                    <a:latin typeface="Calibri"/>
                  </a:rPr>
                  <a:t>. Ngược hướng: </a:t>
                </a:r>
                <a:r>
                  <a:rPr lang="vi-VN"/>
                  <a:t>\vec{v_a}</a:t>
                </a:r>
                <a:r>
                  <a:rPr sz="2100">
                    <a:solidFill>
                      <a:srgbClr val="1E293B"/>
                    </a:solidFill>
                    <a:latin typeface="Calibri"/>
                  </a:rPr>
                  <a:t> và </a:t>
                </a:r>
                <a:r>
                  <a:rPr lang="vi-VN"/>
                  <a:t>\vec{v_b}</a:t>
                </a:r>
                <a:r>
                  <a:rPr sz="2100">
                    <a:solidFill>
                      <a:srgbClr val="1E293B"/>
                    </a:solidFill>
                    <a:latin typeface="Calibri"/>
                  </a:rPr>
                  <a:t>, </a:t>
                </a:r>
                <a:r>
                  <a:rPr lang="vi-VN"/>
                  <a:t>\vec{v_b}</a:t>
                </a:r>
                <a:r>
                  <a:rPr sz="2100">
                    <a:solidFill>
                      <a:srgbClr val="1E293B"/>
                    </a:solidFill>
                    <a:latin typeface="Calibri"/>
                  </a:rPr>
                  <a:t> và </a:t>
                </a:r>
                <a:r>
                  <a:rPr lang="vi-VN"/>
                  <a:t>\vec{v}</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4.1 – 4.2 (SGK TR.50)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26</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8138160" cy="1621536"/>
              </a:xfrm>
              <a:prstGeom prst="rect">
                <a:avLst/>
              </a:prstGeom>
              <a:noFill/>
            </p:spPr>
            <p:txBody>
              <a:bodyPr wrap="square" lIns="45720" rIns="45720" anchor="t">
                <a:spAutoFit/>
              </a:bodyPr>
              <a:lstStyle/>
              <a:p>
                <a:pPr algn="l">
                  <a:spcAft>
                    <a:spcPts val="800"/>
                  </a:spcAft>
                </a:pPr>
                <a:r>
                  <a:rPr sz="1900" b="1">
                    <a:solidFill>
                      <a:srgbClr val="1E293B"/>
                    </a:solidFill>
                    <a:latin typeface="Calibri"/>
                  </a:rPr>
                  <a:t>4.1.</a:t>
                </a:r>
                <a:r>
                  <a:rPr sz="1900">
                    <a:solidFill>
                      <a:srgbClr val="1E293B"/>
                    </a:solidFill>
                    <a:latin typeface="Calibri"/>
                  </a:rPr>
                  <a:t> Cho ba vectơ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r>
                      <a:rPr lang="vi-VN" sz="1900" b="0">
                        <a:solidFill>
                          <a:srgbClr val="1E293B"/>
                        </a:solidFill>
                        <a:latin typeface="Cambria Math" panose="02040503050406030204" pitchFamily="18" charset="0"/>
                      </a:rPr>
                      <m:t>, </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r>
                      <a:rPr lang="vi-VN" sz="1900" b="0">
                        <a:solidFill>
                          <a:srgbClr val="1E293B"/>
                        </a:solidFill>
                        <a:latin typeface="Cambria Math" panose="02040503050406030204" pitchFamily="18" charset="0"/>
                      </a:rPr>
                      <m:t>, </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𝑐</m:t>
                        </m:r>
                      </m:e>
                    </m:acc>
                  </m:oMath>
                </a14:m>
                <a:r>
                  <a:rPr sz="1900">
                    <a:solidFill>
                      <a:srgbClr val="1E293B"/>
                    </a:solidFill>
                    <a:latin typeface="Calibri"/>
                  </a:rPr>
                  <a:t> đều khác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0</m:t>
                        </m:r>
                      </m:e>
                    </m:acc>
                  </m:oMath>
                </a14:m>
                <a:r>
                  <a:rPr sz="1900">
                    <a:solidFill>
                      <a:srgbClr val="1E293B"/>
                    </a:solidFill>
                    <a:latin typeface="Calibri"/>
                  </a:rPr>
                  <a:t>. Khẳng định nào đúng? a)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r>
                      <a:rPr lang="vi-VN" sz="1900" b="0">
                        <a:solidFill>
                          <a:srgbClr val="1E293B"/>
                        </a:solidFill>
                        <a:latin typeface="Cambria Math" panose="02040503050406030204" pitchFamily="18" charset="0"/>
                      </a:rPr>
                      <m:t>, </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r>
                      <a:rPr lang="vi-VN" sz="1900" b="0">
                        <a:solidFill>
                          <a:srgbClr val="1E293B"/>
                        </a:solidFill>
                        <a:latin typeface="Cambria Math" panose="02040503050406030204" pitchFamily="18" charset="0"/>
                      </a:rPr>
                      <m:t>, </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𝑐</m:t>
                        </m:r>
                      </m:e>
                    </m:acc>
                  </m:oMath>
                </a14:m>
                <a:r>
                  <a:rPr sz="1900">
                    <a:solidFill>
                      <a:srgbClr val="1E293B"/>
                    </a:solidFill>
                    <a:latin typeface="Calibri"/>
                  </a:rPr>
                  <a:t> đều cùng hướng với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0</m:t>
                        </m:r>
                      </m:e>
                    </m:acc>
                  </m:oMath>
                </a14:m>
                <a:r>
                  <a:rPr sz="1900">
                    <a:solidFill>
                      <a:srgbClr val="1E293B"/>
                    </a:solidFill>
                    <a:latin typeface="Calibri"/>
                  </a:rPr>
                  <a:t>; b) Nếu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oMath>
                </a14:m>
                <a:r>
                  <a:rPr sz="1900">
                    <a:solidFill>
                      <a:srgbClr val="1E293B"/>
                    </a:solidFill>
                    <a:latin typeface="Calibri"/>
                  </a:rPr>
                  <a:t> không cùng hướng với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oMath>
                </a14:m>
                <a:r>
                  <a:rPr sz="1900">
                    <a:solidFill>
                      <a:srgbClr val="1E293B"/>
                    </a:solidFill>
                    <a:latin typeface="Calibri"/>
                  </a:rPr>
                  <a:t> thì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oMath>
                </a14:m>
                <a:r>
                  <a:rPr sz="1900">
                    <a:solidFill>
                      <a:srgbClr val="1E293B"/>
                    </a:solidFill>
                    <a:latin typeface="Calibri"/>
                  </a:rPr>
                  <a:t> ngược hướng với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oMath>
                </a14:m>
                <a:r>
                  <a:rPr sz="1900">
                    <a:solidFill>
                      <a:srgbClr val="1E293B"/>
                    </a:solidFill>
                    <a:latin typeface="Calibri"/>
                  </a:rPr>
                  <a:t>; c) Nếu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r>
                      <a:rPr lang="vi-VN" sz="1900" b="0">
                        <a:solidFill>
                          <a:srgbClr val="1E293B"/>
                        </a:solidFill>
                        <a:latin typeface="Cambria Math" panose="02040503050406030204" pitchFamily="18" charset="0"/>
                      </a:rPr>
                      <m:t>, </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oMath>
                </a14:m>
                <a:r>
                  <a:rPr sz="1900">
                    <a:solidFill>
                      <a:srgbClr val="1E293B"/>
                    </a:solidFill>
                    <a:latin typeface="Calibri"/>
                  </a:rPr>
                  <a:t> đều cùng phương với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𝑐</m:t>
                        </m:r>
                      </m:e>
                    </m:acc>
                  </m:oMath>
                </a14:m>
                <a:r>
                  <a:rPr sz="1900">
                    <a:solidFill>
                      <a:srgbClr val="1E293B"/>
                    </a:solidFill>
                    <a:latin typeface="Calibri"/>
                  </a:rPr>
                  <a:t> thì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r>
                      <a:rPr lang="vi-VN" sz="1900" b="0">
                        <a:solidFill>
                          <a:srgbClr val="1E293B"/>
                        </a:solidFill>
                        <a:latin typeface="Cambria Math" panose="02040503050406030204" pitchFamily="18" charset="0"/>
                      </a:rPr>
                      <m:t>, </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oMath>
                </a14:m>
                <a:r>
                  <a:rPr sz="1900">
                    <a:solidFill>
                      <a:srgbClr val="1E293B"/>
                    </a:solidFill>
                    <a:latin typeface="Calibri"/>
                  </a:rPr>
                  <a:t> cùng phương; d) Nếu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r>
                      <a:rPr lang="vi-VN" sz="1900" b="0">
                        <a:solidFill>
                          <a:srgbClr val="1E293B"/>
                        </a:solidFill>
                        <a:latin typeface="Cambria Math" panose="02040503050406030204" pitchFamily="18" charset="0"/>
                      </a:rPr>
                      <m:t>, </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oMath>
                </a14:m>
                <a:r>
                  <a:rPr sz="1900">
                    <a:solidFill>
                      <a:srgbClr val="1E293B"/>
                    </a:solidFill>
                    <a:latin typeface="Calibri"/>
                  </a:rPr>
                  <a:t> đều cùng hướng với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𝑐</m:t>
                        </m:r>
                      </m:e>
                    </m:acc>
                  </m:oMath>
                </a14:m>
                <a:r>
                  <a:rPr sz="1900">
                    <a:solidFill>
                      <a:srgbClr val="1E293B"/>
                    </a:solidFill>
                    <a:latin typeface="Calibri"/>
                  </a:rPr>
                  <a:t> thì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r>
                      <a:rPr lang="vi-VN" sz="1900" b="0">
                        <a:solidFill>
                          <a:srgbClr val="1E293B"/>
                        </a:solidFill>
                        <a:latin typeface="Cambria Math" panose="02040503050406030204" pitchFamily="18" charset="0"/>
                      </a:rPr>
                      <m:t>, </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oMath>
                </a14:m>
                <a:r>
                  <a:rPr sz="1900">
                    <a:solidFill>
                      <a:srgbClr val="1E293B"/>
                    </a:solidFill>
                    <a:latin typeface="Calibri"/>
                  </a:rPr>
                  <a:t> cùng hướng.</a:t>
                </a:r>
              </a:p>
            </p:txBody>
          </p:sp>
        </mc:Choice>
        <mc:Fallback xmlns="">
          <p:sp>
            <p:nvSpPr>
              <p:cNvPr id="7" name="TextBox 6"/>
              <p:cNvSpPr txBox="1"/>
              <p:nvPr/>
            </p:nvSpPr>
            <p:spPr>
              <a:xfrm>
                <a:off x="548640" y="1371600"/>
                <a:ext cx="8138160" cy="162153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4.1.</a:t>
                </a:r>
                <a:r>
                  <a:rPr sz="1900">
                    <a:solidFill>
                      <a:srgbClr val="1E293B"/>
                    </a:solidFill>
                    <a:latin typeface="Calibri"/>
                  </a:rPr>
                  <a:t> Cho ba vectơ </a:t>
                </a:r>
                <a:r>
                  <a:rPr lang="vi-VN"/>
                  <a:t>\vec{a},\ \vec{b},\ \vec{c}</a:t>
                </a:r>
                <a:r>
                  <a:rPr sz="1900">
                    <a:solidFill>
                      <a:srgbClr val="1E293B"/>
                    </a:solidFill>
                    <a:latin typeface="Calibri"/>
                  </a:rPr>
                  <a:t> đều khác </a:t>
                </a:r>
                <a:r>
                  <a:rPr lang="vi-VN"/>
                  <a:t>\vec{0}</a:t>
                </a:r>
                <a:r>
                  <a:rPr sz="1900">
                    <a:solidFill>
                      <a:srgbClr val="1E293B"/>
                    </a:solidFill>
                    <a:latin typeface="Calibri"/>
                  </a:rPr>
                  <a:t>. Khẳng định nào đúng? a) </a:t>
                </a:r>
                <a:r>
                  <a:rPr lang="vi-VN"/>
                  <a:t>\vec{a},\ \vec{b},\ \vec{c}</a:t>
                </a:r>
                <a:r>
                  <a:rPr sz="1900">
                    <a:solidFill>
                      <a:srgbClr val="1E293B"/>
                    </a:solidFill>
                    <a:latin typeface="Calibri"/>
                  </a:rPr>
                  <a:t> đều cùng hướng với </a:t>
                </a:r>
                <a:r>
                  <a:rPr lang="vi-VN"/>
                  <a:t>\vec{0}</a:t>
                </a:r>
                <a:r>
                  <a:rPr sz="1900">
                    <a:solidFill>
                      <a:srgbClr val="1E293B"/>
                    </a:solidFill>
                    <a:latin typeface="Calibri"/>
                  </a:rPr>
                  <a:t>; b) Nếu </a:t>
                </a:r>
                <a:r>
                  <a:rPr lang="vi-VN"/>
                  <a:t>\vec{b}</a:t>
                </a:r>
                <a:r>
                  <a:rPr sz="1900">
                    <a:solidFill>
                      <a:srgbClr val="1E293B"/>
                    </a:solidFill>
                    <a:latin typeface="Calibri"/>
                  </a:rPr>
                  <a:t> không cùng hướng với </a:t>
                </a:r>
                <a:r>
                  <a:rPr lang="vi-VN"/>
                  <a:t>\vec{a}</a:t>
                </a:r>
                <a:r>
                  <a:rPr sz="1900">
                    <a:solidFill>
                      <a:srgbClr val="1E293B"/>
                    </a:solidFill>
                    <a:latin typeface="Calibri"/>
                  </a:rPr>
                  <a:t> thì </a:t>
                </a:r>
                <a:r>
                  <a:rPr lang="vi-VN"/>
                  <a:t>\vec{b}</a:t>
                </a:r>
                <a:r>
                  <a:rPr sz="1900">
                    <a:solidFill>
                      <a:srgbClr val="1E293B"/>
                    </a:solidFill>
                    <a:latin typeface="Calibri"/>
                  </a:rPr>
                  <a:t> ngược hướng với </a:t>
                </a:r>
                <a:r>
                  <a:rPr lang="vi-VN"/>
                  <a:t>\vec{a}</a:t>
                </a:r>
                <a:r>
                  <a:rPr sz="1900">
                    <a:solidFill>
                      <a:srgbClr val="1E293B"/>
                    </a:solidFill>
                    <a:latin typeface="Calibri"/>
                  </a:rPr>
                  <a:t>; c) Nếu </a:t>
                </a:r>
                <a:r>
                  <a:rPr lang="vi-VN"/>
                  <a:t>\vec{a},\ \vec{b}</a:t>
                </a:r>
                <a:r>
                  <a:rPr sz="1900">
                    <a:solidFill>
                      <a:srgbClr val="1E293B"/>
                    </a:solidFill>
                    <a:latin typeface="Calibri"/>
                  </a:rPr>
                  <a:t> đều cùng phương với </a:t>
                </a:r>
                <a:r>
                  <a:rPr lang="vi-VN"/>
                  <a:t>\vec{c}</a:t>
                </a:r>
                <a:r>
                  <a:rPr sz="1900">
                    <a:solidFill>
                      <a:srgbClr val="1E293B"/>
                    </a:solidFill>
                    <a:latin typeface="Calibri"/>
                  </a:rPr>
                  <a:t> thì </a:t>
                </a:r>
                <a:r>
                  <a:rPr lang="vi-VN"/>
                  <a:t>\vec{a},\ \vec{b}</a:t>
                </a:r>
                <a:r>
                  <a:rPr sz="1900">
                    <a:solidFill>
                      <a:srgbClr val="1E293B"/>
                    </a:solidFill>
                    <a:latin typeface="Calibri"/>
                  </a:rPr>
                  <a:t> cùng phương; d) Nếu </a:t>
                </a:r>
                <a:r>
                  <a:rPr lang="vi-VN"/>
                  <a:t>\vec{a},\ \vec{b}</a:t>
                </a:r>
                <a:r>
                  <a:rPr sz="1900">
                    <a:solidFill>
                      <a:srgbClr val="1E293B"/>
                    </a:solidFill>
                    <a:latin typeface="Calibri"/>
                  </a:rPr>
                  <a:t> đều cùng hướng với </a:t>
                </a:r>
                <a:r>
                  <a:rPr lang="vi-VN"/>
                  <a:t>\vec{c}</a:t>
                </a:r>
                <a:r>
                  <a:rPr sz="1900">
                    <a:solidFill>
                      <a:srgbClr val="1E293B"/>
                    </a:solidFill>
                    <a:latin typeface="Calibri"/>
                  </a:rPr>
                  <a:t> thì </a:t>
                </a:r>
                <a:r>
                  <a:rPr lang="vi-VN"/>
                  <a:t>\vec{a},\ \vec{b}</a:t>
                </a:r>
                <a:r>
                  <a:rPr sz="1900">
                    <a:solidFill>
                      <a:srgbClr val="1E293B"/>
                    </a:solidFill>
                    <a:latin typeface="Calibri"/>
                  </a:rPr>
                  <a:t> cùng hướng.</a:t>
                </a:r>
              </a:p>
            </p:txBody>
          </p:sp>
        </mc:Fallback>
      </mc:AlternateContent>
      <p:sp>
        <p:nvSpPr>
          <p:cNvPr id="8" name="s1_nen"/>
          <p:cNvSpPr/>
          <p:nvPr/>
        </p:nvSpPr>
        <p:spPr>
          <a:xfrm>
            <a:off x="548640" y="3057144"/>
            <a:ext cx="813816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093720"/>
                <a:ext cx="7808976" cy="771143"/>
              </a:xfrm>
              <a:prstGeom prst="rect">
                <a:avLst/>
              </a:prstGeom>
              <a:noFill/>
            </p:spPr>
            <p:txBody>
              <a:bodyPr wrap="square" lIns="45720" rIns="45720" anchor="ctr">
                <a:spAutoFit/>
              </a:bodyPr>
              <a:lstStyle/>
              <a:p>
                <a:pPr algn="l">
                  <a:spcAft>
                    <a:spcPts val="800"/>
                  </a:spcAft>
                </a:pPr>
                <a:r>
                  <a:rPr sz="1900" b="1">
                    <a:solidFill>
                      <a:srgbClr val="1E293B"/>
                    </a:solidFill>
                    <a:latin typeface="Calibri"/>
                  </a:rPr>
                  <a:t>4.1.</a:t>
                </a:r>
                <a:r>
                  <a:rPr sz="1900">
                    <a:solidFill>
                      <a:srgbClr val="1E293B"/>
                    </a:solidFill>
                    <a:latin typeface="Calibri"/>
                  </a:rPr>
                  <a:t> Đúng: a, c, d. Sai: b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oMath>
                </a14:m>
                <a:r>
                  <a:rPr sz="1900">
                    <a:solidFill>
                      <a:srgbClr val="1E293B"/>
                    </a:solidFill>
                    <a:latin typeface="Calibri"/>
                  </a:rPr>
                  <a:t> có thể không cùng phương với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oMath>
                </a14:m>
                <a:r>
                  <a:rPr sz="1900">
                    <a:solidFill>
                      <a:srgbClr val="1E293B"/>
                    </a:solidFill>
                    <a:latin typeface="Calibri"/>
                  </a:rPr>
                  <a:t>).</a:t>
                </a:r>
              </a:p>
            </p:txBody>
          </p:sp>
        </mc:Choice>
        <mc:Fallback xmlns="">
          <p:sp>
            <p:nvSpPr>
              <p:cNvPr id="9" name="TextBox 8"/>
              <p:cNvSpPr txBox="1"/>
              <p:nvPr/>
            </p:nvSpPr>
            <p:spPr>
              <a:xfrm>
                <a:off x="713232" y="3093720"/>
                <a:ext cx="780897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4.1.</a:t>
                </a:r>
                <a:r>
                  <a:rPr sz="1900">
                    <a:solidFill>
                      <a:srgbClr val="1E293B"/>
                    </a:solidFill>
                    <a:latin typeface="Calibri"/>
                  </a:rPr>
                  <a:t> Đúng: a, c, d. Sai: b (</a:t>
                </a:r>
                <a:r>
                  <a:rPr lang="vi-VN"/>
                  <a:t>\vec{b}</a:t>
                </a:r>
                <a:r>
                  <a:rPr sz="1900">
                    <a:solidFill>
                      <a:srgbClr val="1E293B"/>
                    </a:solidFill>
                    <a:latin typeface="Calibri"/>
                  </a:rPr>
                  <a:t> có thể không cùng phương với </a:t>
                </a:r>
                <a:r>
                  <a:rPr lang="vi-VN"/>
                  <a:t>\vec{a}</a:t>
                </a:r>
                <a:r>
                  <a:rPr sz="1900">
                    <a:solidFill>
                      <a:srgbClr val="1E293B"/>
                    </a:solidFill>
                    <a:latin typeface="Calibri"/>
                  </a:rPr>
                  <a:t>).</a:t>
                </a:r>
              </a:p>
            </p:txBody>
          </p:sp>
        </mc:Fallback>
      </mc:AlternateContent>
      <p:sp>
        <p:nvSpPr>
          <p:cNvPr id="10" name="s2_chu"/>
          <p:cNvSpPr txBox="1"/>
          <p:nvPr/>
        </p:nvSpPr>
        <p:spPr>
          <a:xfrm>
            <a:off x="548640" y="3965448"/>
            <a:ext cx="8138160" cy="752855"/>
          </a:xfrm>
          <a:prstGeom prst="rect">
            <a:avLst/>
          </a:prstGeom>
          <a:noFill/>
        </p:spPr>
        <p:txBody>
          <a:bodyPr wrap="square" lIns="45720" rIns="45720" anchor="t">
            <a:spAutoFit/>
          </a:bodyPr>
          <a:lstStyle/>
          <a:p>
            <a:pPr algn="l">
              <a:spcAft>
                <a:spcPts val="800"/>
              </a:spcAft>
            </a:pPr>
            <a:r>
              <a:rPr sz="1900" b="1">
                <a:solidFill>
                  <a:srgbClr val="1E293B"/>
                </a:solidFill>
                <a:latin typeface="Calibri"/>
              </a:rPr>
              <a:t>4.2.</a:t>
            </a:r>
            <a:r>
              <a:rPr sz="1900">
                <a:solidFill>
                  <a:srgbClr val="1E293B"/>
                </a:solidFill>
                <a:latin typeface="Calibri"/>
              </a:rPr>
              <a:t> Trong Hình 4.12, chỉ ra các vectơ cùng phương, các cặp vectơ ngược hướng và các cặp vectơ bằng nhau.</a:t>
            </a:r>
          </a:p>
        </p:txBody>
      </p:sp>
      <p:sp>
        <p:nvSpPr>
          <p:cNvPr id="11" name="s3_nen"/>
          <p:cNvSpPr/>
          <p:nvPr/>
        </p:nvSpPr>
        <p:spPr>
          <a:xfrm>
            <a:off x="548640" y="4782312"/>
            <a:ext cx="813816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s3_chu"/>
              <p:cNvSpPr txBox="1"/>
              <p:nvPr/>
            </p:nvSpPr>
            <p:spPr>
              <a:xfrm>
                <a:off x="713232" y="4818888"/>
                <a:ext cx="7808976" cy="771143"/>
              </a:xfrm>
              <a:prstGeom prst="rect">
                <a:avLst/>
              </a:prstGeom>
              <a:noFill/>
            </p:spPr>
            <p:txBody>
              <a:bodyPr wrap="square" lIns="45720" rIns="45720" anchor="ctr">
                <a:spAutoFit/>
              </a:bodyPr>
              <a:lstStyle/>
              <a:p>
                <a:pPr algn="l">
                  <a:spcAft>
                    <a:spcPts val="800"/>
                  </a:spcAft>
                </a:pPr>
                <a:r>
                  <a:rPr sz="1900" b="1">
                    <a:solidFill>
                      <a:srgbClr val="1E293B"/>
                    </a:solidFill>
                    <a:latin typeface="Calibri"/>
                  </a:rPr>
                  <a:t>4.2.</a:t>
                </a:r>
                <a:r>
                  <a:rPr sz="1900">
                    <a:solidFill>
                      <a:srgbClr val="1E293B"/>
                    </a:solidFill>
                    <a:latin typeface="Calibri"/>
                  </a:rPr>
                  <a:t> Cùng phương: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oMath>
                </a14:m>
                <a:r>
                  <a:rPr sz="1900">
                    <a:solidFill>
                      <a:srgbClr val="1E293B"/>
                    </a:solidFill>
                    <a:latin typeface="Calibri"/>
                  </a:rPr>
                  <a:t> và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oMath>
                </a14:m>
                <a:r>
                  <a:rPr sz="1900">
                    <a:solidFill>
                      <a:srgbClr val="1E293B"/>
                    </a:solidFill>
                    <a:latin typeface="Calibri"/>
                  </a:rPr>
                  <a:t>,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oMath>
                </a14:m>
                <a:r>
                  <a:rPr sz="1900">
                    <a:solidFill>
                      <a:srgbClr val="1E293B"/>
                    </a:solidFill>
                    <a:latin typeface="Calibri"/>
                  </a:rPr>
                  <a:t> và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𝑐</m:t>
                        </m:r>
                      </m:e>
                    </m:acc>
                  </m:oMath>
                </a14:m>
                <a:r>
                  <a:rPr sz="1900">
                    <a:solidFill>
                      <a:srgbClr val="1E293B"/>
                    </a:solidFill>
                    <a:latin typeface="Calibri"/>
                  </a:rPr>
                  <a:t>,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𝑐</m:t>
                        </m:r>
                      </m:e>
                    </m:acc>
                  </m:oMath>
                </a14:m>
                <a:r>
                  <a:rPr sz="1900">
                    <a:solidFill>
                      <a:srgbClr val="1E293B"/>
                    </a:solidFill>
                    <a:latin typeface="Calibri"/>
                  </a:rPr>
                  <a:t> và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oMath>
                </a14:m>
                <a:r>
                  <a:rPr sz="1900">
                    <a:solidFill>
                      <a:srgbClr val="1E293B"/>
                    </a:solidFill>
                    <a:latin typeface="Calibri"/>
                  </a:rPr>
                  <a:t>. Ngược hướng: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oMath>
                </a14:m>
                <a:r>
                  <a:rPr sz="1900">
                    <a:solidFill>
                      <a:srgbClr val="1E293B"/>
                    </a:solidFill>
                    <a:latin typeface="Calibri"/>
                  </a:rPr>
                  <a:t> và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oMath>
                </a14:m>
                <a:r>
                  <a:rPr sz="1900">
                    <a:solidFill>
                      <a:srgbClr val="1E293B"/>
                    </a:solidFill>
                    <a:latin typeface="Calibri"/>
                  </a:rPr>
                  <a:t>,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𝑏</m:t>
                        </m:r>
                      </m:e>
                    </m:acc>
                  </m:oMath>
                </a14:m>
                <a:r>
                  <a:rPr sz="1900">
                    <a:solidFill>
                      <a:srgbClr val="1E293B"/>
                    </a:solidFill>
                    <a:latin typeface="Calibri"/>
                  </a:rPr>
                  <a:t> và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𝑐</m:t>
                        </m:r>
                      </m:e>
                    </m:acc>
                  </m:oMath>
                </a14:m>
                <a:r>
                  <a:rPr sz="1900">
                    <a:solidFill>
                      <a:srgbClr val="1E293B"/>
                    </a:solidFill>
                    <a:latin typeface="Calibri"/>
                  </a:rPr>
                  <a:t>. Bằng nhau: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𝑎</m:t>
                        </m:r>
                      </m:e>
                    </m:acc>
                    <m:r>
                      <a:rPr lang="vi-VN" sz="1900" b="0">
                        <a:solidFill>
                          <a:srgbClr val="1E293B"/>
                        </a:solidFill>
                        <a:latin typeface="Cambria Math" panose="02040503050406030204" pitchFamily="18" charset="0"/>
                      </a:rPr>
                      <m:t>=</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𝑐</m:t>
                        </m:r>
                      </m:e>
                    </m:acc>
                  </m:oMath>
                </a14:m>
                <a:r>
                  <a:rPr sz="1900">
                    <a:solidFill>
                      <a:srgbClr val="1E293B"/>
                    </a:solidFill>
                    <a:latin typeface="Calibri"/>
                  </a:rPr>
                  <a:t>.</a:t>
                </a:r>
              </a:p>
            </p:txBody>
          </p:sp>
        </mc:Choice>
        <mc:Fallback xmlns="">
          <p:sp>
            <p:nvSpPr>
              <p:cNvPr id="12" name="TextBox 11"/>
              <p:cNvSpPr txBox="1"/>
              <p:nvPr/>
            </p:nvSpPr>
            <p:spPr>
              <a:xfrm>
                <a:off x="713232" y="4818888"/>
                <a:ext cx="780897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4.2.</a:t>
                </a:r>
                <a:r>
                  <a:rPr sz="1900">
                    <a:solidFill>
                      <a:srgbClr val="1E293B"/>
                    </a:solidFill>
                    <a:latin typeface="Calibri"/>
                  </a:rPr>
                  <a:t> Cùng phương: </a:t>
                </a:r>
                <a:r>
                  <a:rPr lang="vi-VN"/>
                  <a:t>\vec{a}</a:t>
                </a:r>
                <a:r>
                  <a:rPr sz="1900">
                    <a:solidFill>
                      <a:srgbClr val="1E293B"/>
                    </a:solidFill>
                    <a:latin typeface="Calibri"/>
                  </a:rPr>
                  <a:t> và </a:t>
                </a:r>
                <a:r>
                  <a:rPr lang="vi-VN"/>
                  <a:t>\vec{b}</a:t>
                </a:r>
                <a:r>
                  <a:rPr sz="1900">
                    <a:solidFill>
                      <a:srgbClr val="1E293B"/>
                    </a:solidFill>
                    <a:latin typeface="Calibri"/>
                  </a:rPr>
                  <a:t>, </a:t>
                </a:r>
                <a:r>
                  <a:rPr lang="vi-VN"/>
                  <a:t>\vec{b}</a:t>
                </a:r>
                <a:r>
                  <a:rPr sz="1900">
                    <a:solidFill>
                      <a:srgbClr val="1E293B"/>
                    </a:solidFill>
                    <a:latin typeface="Calibri"/>
                  </a:rPr>
                  <a:t> và </a:t>
                </a:r>
                <a:r>
                  <a:rPr lang="vi-VN"/>
                  <a:t>\vec{c}</a:t>
                </a:r>
                <a:r>
                  <a:rPr sz="1900">
                    <a:solidFill>
                      <a:srgbClr val="1E293B"/>
                    </a:solidFill>
                    <a:latin typeface="Calibri"/>
                  </a:rPr>
                  <a:t>, </a:t>
                </a:r>
                <a:r>
                  <a:rPr lang="vi-VN"/>
                  <a:t>\vec{c}</a:t>
                </a:r>
                <a:r>
                  <a:rPr sz="1900">
                    <a:solidFill>
                      <a:srgbClr val="1E293B"/>
                    </a:solidFill>
                    <a:latin typeface="Calibri"/>
                  </a:rPr>
                  <a:t> và </a:t>
                </a:r>
                <a:r>
                  <a:rPr lang="vi-VN"/>
                  <a:t>\vec{a}</a:t>
                </a:r>
                <a:r>
                  <a:rPr sz="1900">
                    <a:solidFill>
                      <a:srgbClr val="1E293B"/>
                    </a:solidFill>
                    <a:latin typeface="Calibri"/>
                  </a:rPr>
                  <a:t>. Ngược hướng: </a:t>
                </a:r>
                <a:r>
                  <a:rPr lang="vi-VN"/>
                  <a:t>\vec{a}</a:t>
                </a:r>
                <a:r>
                  <a:rPr sz="1900">
                    <a:solidFill>
                      <a:srgbClr val="1E293B"/>
                    </a:solidFill>
                    <a:latin typeface="Calibri"/>
                  </a:rPr>
                  <a:t> và </a:t>
                </a:r>
                <a:r>
                  <a:rPr lang="vi-VN"/>
                  <a:t>\vec{b}</a:t>
                </a:r>
                <a:r>
                  <a:rPr sz="1900">
                    <a:solidFill>
                      <a:srgbClr val="1E293B"/>
                    </a:solidFill>
                    <a:latin typeface="Calibri"/>
                  </a:rPr>
                  <a:t>, </a:t>
                </a:r>
                <a:r>
                  <a:rPr lang="vi-VN"/>
                  <a:t>\vec{b}</a:t>
                </a:r>
                <a:r>
                  <a:rPr sz="1900">
                    <a:solidFill>
                      <a:srgbClr val="1E293B"/>
                    </a:solidFill>
                    <a:latin typeface="Calibri"/>
                  </a:rPr>
                  <a:t> và </a:t>
                </a:r>
                <a:r>
                  <a:rPr lang="vi-VN"/>
                  <a:t>\vec{c}</a:t>
                </a:r>
                <a:r>
                  <a:rPr sz="1900">
                    <a:solidFill>
                      <a:srgbClr val="1E293B"/>
                    </a:solidFill>
                    <a:latin typeface="Calibri"/>
                  </a:rPr>
                  <a:t>. Bằng nhau: </a:t>
                </a:r>
                <a:r>
                  <a:rPr lang="vi-VN"/>
                  <a:t>\vec{a}=\vec{c}</a:t>
                </a:r>
                <a:r>
                  <a:rPr sz="1900">
                    <a:solidFill>
                      <a:srgbClr val="1E293B"/>
                    </a:solidFill>
                    <a:latin typeface="Calibri"/>
                  </a:rPr>
                  <a:t>.</a:t>
                </a:r>
              </a:p>
            </p:txBody>
          </p:sp>
        </mc:Fallback>
      </mc:AlternateContent>
      <p:pic>
        <p:nvPicPr>
          <p:cNvPr id="13" name="Picture 12" descr="h412.png"/>
          <p:cNvPicPr>
            <a:picLocks noChangeAspect="1"/>
          </p:cNvPicPr>
          <p:nvPr/>
        </p:nvPicPr>
        <p:blipFill>
          <a:blip r:embed="rId3"/>
          <a:stretch>
            <a:fillRect/>
          </a:stretch>
        </p:blipFill>
        <p:spPr>
          <a:xfrm>
            <a:off x="9177793" y="1463040"/>
            <a:ext cx="2218413" cy="28346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4.3 – 4.4 (SGK TR.50)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27</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463295"/>
              </a:xfrm>
              <a:prstGeom prst="rect">
                <a:avLst/>
              </a:prstGeom>
              <a:noFill/>
            </p:spPr>
            <p:txBody>
              <a:bodyPr wrap="square" lIns="45720" rIns="45720" anchor="t">
                <a:spAutoFit/>
              </a:bodyPr>
              <a:lstStyle/>
              <a:p>
                <a:pPr algn="l">
                  <a:spcAft>
                    <a:spcPts val="800"/>
                  </a:spcAft>
                </a:pPr>
                <a:r>
                  <a:rPr sz="1900" b="1">
                    <a:solidFill>
                      <a:srgbClr val="1E293B"/>
                    </a:solidFill>
                    <a:latin typeface="Calibri"/>
                  </a:rPr>
                  <a:t>4.3.</a:t>
                </a:r>
                <a:r>
                  <a:rPr sz="1900">
                    <a:solidFill>
                      <a:srgbClr val="1E293B"/>
                    </a:solidFill>
                    <a:latin typeface="Calibri"/>
                  </a:rPr>
                  <a:t> Chứng minh rằng tứ giác </a:t>
                </a:r>
                <a14:m>
                  <m:oMath xmlns:m="http://schemas.openxmlformats.org/officeDocument/2006/math">
                    <m:r>
                      <a:rPr lang="vi-VN" sz="1900" b="0">
                        <a:solidFill>
                          <a:srgbClr val="1E293B"/>
                        </a:solidFill>
                        <a:latin typeface="Cambria Math" panose="02040503050406030204" pitchFamily="18" charset="0"/>
                      </a:rPr>
                      <m:t>𝐴𝐵𝐶𝐷</m:t>
                    </m:r>
                  </m:oMath>
                </a14:m>
                <a:r>
                  <a:rPr sz="1900">
                    <a:solidFill>
                      <a:srgbClr val="1E293B"/>
                    </a:solidFill>
                    <a:latin typeface="Calibri"/>
                  </a:rPr>
                  <a:t> là một hình bình hành khi và chỉ khi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𝐵𝐶</m:t>
                        </m:r>
                      </m:e>
                    </m:acc>
                  </m:oMath>
                </a14:m>
                <a:r>
                  <a:rPr sz="1900">
                    <a:solidFill>
                      <a:srgbClr val="1E293B"/>
                    </a:solidFill>
                    <a:latin typeface="Calibri"/>
                  </a:rPr>
                  <a:t> =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𝐴𝐷</m:t>
                        </m:r>
                      </m:e>
                    </m:acc>
                  </m:oMath>
                </a14:m>
                <a:r>
                  <a:rPr sz="1900">
                    <a:solidFill>
                      <a:srgbClr val="1E293B"/>
                    </a:solidFill>
                    <a:latin typeface="Calibri"/>
                  </a:rPr>
                  <a:t>.</a:t>
                </a:r>
              </a:p>
            </p:txBody>
          </p:sp>
        </mc:Choice>
        <mc:Fallback xmlns="">
          <p:sp>
            <p:nvSpPr>
              <p:cNvPr id="7" name="TextBox 6"/>
              <p:cNvSpPr txBox="1"/>
              <p:nvPr/>
            </p:nvSpPr>
            <p:spPr>
              <a:xfrm>
                <a:off x="548640" y="1371600"/>
                <a:ext cx="11064240" cy="46329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4.3.</a:t>
                </a:r>
                <a:r>
                  <a:rPr sz="1900">
                    <a:solidFill>
                      <a:srgbClr val="1E293B"/>
                    </a:solidFill>
                    <a:latin typeface="Calibri"/>
                  </a:rPr>
                  <a:t> Chứng minh rằng tứ giác </a:t>
                </a:r>
                <a:r>
                  <a:rPr lang="vi-VN"/>
                  <a:t>ABCD</a:t>
                </a:r>
                <a:r>
                  <a:rPr sz="1900">
                    <a:solidFill>
                      <a:srgbClr val="1E293B"/>
                    </a:solidFill>
                    <a:latin typeface="Calibri"/>
                  </a:rPr>
                  <a:t> là một hình bình hành khi và chỉ khi </a:t>
                </a:r>
                <a:r>
                  <a:rPr lang="vi-VN"/>
                  <a:t>\overrightarrow{BC}</a:t>
                </a:r>
                <a:r>
                  <a:rPr sz="1900">
                    <a:solidFill>
                      <a:srgbClr val="1E293B"/>
                    </a:solidFill>
                    <a:latin typeface="Calibri"/>
                  </a:rPr>
                  <a:t> = </a:t>
                </a:r>
                <a:r>
                  <a:rPr lang="vi-VN"/>
                  <a:t>\overrightarrow{AD}</a:t>
                </a:r>
                <a:r>
                  <a:rPr sz="1900">
                    <a:solidFill>
                      <a:srgbClr val="1E293B"/>
                    </a:solidFill>
                    <a:latin typeface="Calibri"/>
                  </a:rPr>
                  <a:t>.</a:t>
                </a:r>
              </a:p>
            </p:txBody>
          </p:sp>
        </mc:Fallback>
      </mc:AlternateContent>
      <p:sp>
        <p:nvSpPr>
          <p:cNvPr id="8" name="s1_nen"/>
          <p:cNvSpPr/>
          <p:nvPr/>
        </p:nvSpPr>
        <p:spPr>
          <a:xfrm>
            <a:off x="548640" y="1898904"/>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1935480"/>
                <a:ext cx="10735056" cy="771143"/>
              </a:xfrm>
              <a:prstGeom prst="rect">
                <a:avLst/>
              </a:prstGeom>
              <a:noFill/>
            </p:spPr>
            <p:txBody>
              <a:bodyPr wrap="square" lIns="45720" rIns="45720" anchor="ctr">
                <a:spAutoFit/>
              </a:bodyPr>
              <a:lstStyle/>
              <a:p>
                <a:pPr algn="l">
                  <a:spcAft>
                    <a:spcPts val="800"/>
                  </a:spcAft>
                </a:pPr>
                <a:r>
                  <a:rPr sz="1900" b="1">
                    <a:solidFill>
                      <a:srgbClr val="1E293B"/>
                    </a:solidFill>
                    <a:latin typeface="Calibri"/>
                  </a:rPr>
                  <a:t>4.3.</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𝐴𝐵𝐶𝐷</m:t>
                    </m:r>
                  </m:oMath>
                </a14:m>
                <a:r>
                  <a:rPr sz="1900">
                    <a:solidFill>
                      <a:srgbClr val="1E293B"/>
                    </a:solidFill>
                    <a:latin typeface="Calibri"/>
                  </a:rPr>
                  <a:t> là hình bình hành ⇒ </a:t>
                </a:r>
                <a14:m>
                  <m:oMath xmlns:m="http://schemas.openxmlformats.org/officeDocument/2006/math">
                    <m:r>
                      <a:rPr lang="vi-VN" sz="1900" b="0">
                        <a:solidFill>
                          <a:srgbClr val="1E293B"/>
                        </a:solidFill>
                        <a:latin typeface="Cambria Math" panose="02040503050406030204" pitchFamily="18" charset="0"/>
                      </a:rPr>
                      <m:t>𝐵𝐶</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𝐴𝐷</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𝐵𝐶</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𝐴𝐷</m:t>
                    </m:r>
                  </m:oMath>
                </a14:m>
                <a:r>
                  <a:rPr sz="1900">
                    <a:solidFill>
                      <a:srgbClr val="1E293B"/>
                    </a:solidFill>
                    <a:latin typeface="Calibri"/>
                  </a:rPr>
                  <a:t> ⇒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𝐵𝐶</m:t>
                        </m:r>
                      </m:e>
                    </m:acc>
                  </m:oMath>
                </a14:m>
                <a:r>
                  <a:rPr sz="1900">
                    <a:solidFill>
                      <a:srgbClr val="1E293B"/>
                    </a:solidFill>
                    <a:latin typeface="Calibri"/>
                  </a:rPr>
                  <a:t> =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𝐴𝐷</m:t>
                        </m:r>
                      </m:e>
                    </m:acc>
                  </m:oMath>
                </a14:m>
                <a:r>
                  <a:rPr sz="1900">
                    <a:solidFill>
                      <a:srgbClr val="1E293B"/>
                    </a:solidFill>
                    <a:latin typeface="Calibri"/>
                  </a:rPr>
                  <a:t>. Ngược lại,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𝐵𝐶</m:t>
                        </m:r>
                      </m:e>
                    </m:acc>
                  </m:oMath>
                </a14:m>
                <a:r>
                  <a:rPr sz="1900">
                    <a:solidFill>
                      <a:srgbClr val="1E293B"/>
                    </a:solidFill>
                    <a:latin typeface="Calibri"/>
                  </a:rPr>
                  <a:t> =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𝐴𝐷</m:t>
                        </m:r>
                      </m:e>
                    </m:acc>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𝐵𝐶</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𝐴𝐷</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𝐵𝐶</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𝐴𝐷</m:t>
                    </m:r>
                  </m:oMath>
                </a14:m>
                <a:r>
                  <a:rPr sz="1900">
                    <a:solidFill>
                      <a:srgbClr val="1E293B"/>
                    </a:solidFill>
                    <a:latin typeface="Calibri"/>
                  </a:rPr>
                  <a:t> (không trùng) ⇒ hình bình hành.</a:t>
                </a:r>
              </a:p>
            </p:txBody>
          </p:sp>
        </mc:Choice>
        <mc:Fallback xmlns="">
          <p:sp>
            <p:nvSpPr>
              <p:cNvPr id="9" name="TextBox 8"/>
              <p:cNvSpPr txBox="1"/>
              <p:nvPr/>
            </p:nvSpPr>
            <p:spPr>
              <a:xfrm>
                <a:off x="713232" y="1935480"/>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4.3.</a:t>
                </a:r>
                <a:r>
                  <a:rPr sz="1900">
                    <a:solidFill>
                      <a:srgbClr val="1E293B"/>
                    </a:solidFill>
                    <a:latin typeface="Calibri"/>
                  </a:rPr>
                  <a:t> </a:t>
                </a:r>
                <a:r>
                  <a:rPr lang="vi-VN"/>
                  <a:t>ABCD</a:t>
                </a:r>
                <a:r>
                  <a:rPr sz="1900">
                    <a:solidFill>
                      <a:srgbClr val="1E293B"/>
                    </a:solidFill>
                    <a:latin typeface="Calibri"/>
                  </a:rPr>
                  <a:t> là hình bình hành ⇒ </a:t>
                </a:r>
                <a:r>
                  <a:rPr lang="vi-VN"/>
                  <a:t>BC\parallel AD</a:t>
                </a:r>
                <a:r>
                  <a:rPr sz="1900">
                    <a:solidFill>
                      <a:srgbClr val="1E293B"/>
                    </a:solidFill>
                    <a:latin typeface="Calibri"/>
                  </a:rPr>
                  <a:t>, </a:t>
                </a:r>
                <a:r>
                  <a:rPr lang="vi-VN"/>
                  <a:t>BC=AD</a:t>
                </a:r>
                <a:r>
                  <a:rPr sz="1900">
                    <a:solidFill>
                      <a:srgbClr val="1E293B"/>
                    </a:solidFill>
                    <a:latin typeface="Calibri"/>
                  </a:rPr>
                  <a:t> ⇒ </a:t>
                </a:r>
                <a:r>
                  <a:rPr lang="vi-VN"/>
                  <a:t>\overrightarrow{BC}</a:t>
                </a:r>
                <a:r>
                  <a:rPr sz="1900">
                    <a:solidFill>
                      <a:srgbClr val="1E293B"/>
                    </a:solidFill>
                    <a:latin typeface="Calibri"/>
                  </a:rPr>
                  <a:t> = </a:t>
                </a:r>
                <a:r>
                  <a:rPr lang="vi-VN"/>
                  <a:t>\overrightarrow{AD}</a:t>
                </a:r>
                <a:r>
                  <a:rPr sz="1900">
                    <a:solidFill>
                      <a:srgbClr val="1E293B"/>
                    </a:solidFill>
                    <a:latin typeface="Calibri"/>
                  </a:rPr>
                  <a:t>. Ngược lại, </a:t>
                </a:r>
                <a:r>
                  <a:rPr lang="vi-VN"/>
                  <a:t>\overrightarrow{BC}</a:t>
                </a:r>
                <a:r>
                  <a:rPr sz="1900">
                    <a:solidFill>
                      <a:srgbClr val="1E293B"/>
                    </a:solidFill>
                    <a:latin typeface="Calibri"/>
                  </a:rPr>
                  <a:t> = </a:t>
                </a:r>
                <a:r>
                  <a:rPr lang="vi-VN"/>
                  <a:t>\overrightarrow{AD}</a:t>
                </a:r>
                <a:r>
                  <a:rPr sz="1900">
                    <a:solidFill>
                      <a:srgbClr val="1E293B"/>
                    </a:solidFill>
                    <a:latin typeface="Calibri"/>
                  </a:rPr>
                  <a:t> ⇒ </a:t>
                </a:r>
                <a:r>
                  <a:rPr lang="vi-VN"/>
                  <a:t>BC=AD</a:t>
                </a:r>
                <a:r>
                  <a:rPr sz="1900">
                    <a:solidFill>
                      <a:srgbClr val="1E293B"/>
                    </a:solidFill>
                    <a:latin typeface="Calibri"/>
                  </a:rPr>
                  <a:t>, </a:t>
                </a:r>
                <a:r>
                  <a:rPr lang="vi-VN"/>
                  <a:t>BC\parallel AD</a:t>
                </a:r>
                <a:r>
                  <a:rPr sz="1900">
                    <a:solidFill>
                      <a:srgbClr val="1E293B"/>
                    </a:solidFill>
                    <a:latin typeface="Calibri"/>
                  </a:rPr>
                  <a:t> (không trùng) ⇒ hình bình hành.</a:t>
                </a:r>
              </a:p>
            </p:txBody>
          </p:sp>
        </mc:Fallback>
      </mc:AlternateContent>
      <mc:AlternateContent xmlns:mc="http://schemas.openxmlformats.org/markup-compatibility/2006" xmlns:a14="http://schemas.microsoft.com/office/drawing/2010/main">
        <mc:Choice Requires="a14">
          <p:sp>
            <p:nvSpPr>
              <p:cNvPr id="10" name="s2_chu"/>
              <p:cNvSpPr txBox="1"/>
              <p:nvPr/>
            </p:nvSpPr>
            <p:spPr>
              <a:xfrm>
                <a:off x="548640" y="2807208"/>
                <a:ext cx="11064240" cy="1042415"/>
              </a:xfrm>
              <a:prstGeom prst="rect">
                <a:avLst/>
              </a:prstGeom>
              <a:noFill/>
            </p:spPr>
            <p:txBody>
              <a:bodyPr wrap="square" lIns="45720" rIns="45720" anchor="t">
                <a:spAutoFit/>
              </a:bodyPr>
              <a:lstStyle/>
              <a:p>
                <a:pPr algn="l">
                  <a:spcAft>
                    <a:spcPts val="800"/>
                  </a:spcAft>
                </a:pPr>
                <a:r>
                  <a:rPr sz="1900" b="1">
                    <a:solidFill>
                      <a:srgbClr val="1E293B"/>
                    </a:solidFill>
                    <a:latin typeface="Calibri"/>
                  </a:rPr>
                  <a:t>4.4.</a:t>
                </a:r>
                <a:r>
                  <a:rPr sz="1900">
                    <a:solidFill>
                      <a:srgbClr val="1E293B"/>
                    </a:solidFill>
                    <a:latin typeface="Calibri"/>
                  </a:rPr>
                  <a:t> Cho hình vuông </a:t>
                </a:r>
                <a14:m>
                  <m:oMath xmlns:m="http://schemas.openxmlformats.org/officeDocument/2006/math">
                    <m:r>
                      <a:rPr lang="vi-VN" sz="1900" b="0">
                        <a:solidFill>
                          <a:srgbClr val="1E293B"/>
                        </a:solidFill>
                        <a:latin typeface="Cambria Math" panose="02040503050406030204" pitchFamily="18" charset="0"/>
                      </a:rPr>
                      <m:t>𝐴𝐵𝐶𝐷</m:t>
                    </m:r>
                  </m:oMath>
                </a14:m>
                <a:r>
                  <a:rPr sz="1900">
                    <a:solidFill>
                      <a:srgbClr val="1E293B"/>
                    </a:solidFill>
                    <a:latin typeface="Calibri"/>
                  </a:rPr>
                  <a:t> có hai đường chéo cắt nhau tại </a:t>
                </a:r>
                <a14:m>
                  <m:oMath xmlns:m="http://schemas.openxmlformats.org/officeDocument/2006/math">
                    <m:r>
                      <a:rPr lang="vi-VN" sz="1900" b="0">
                        <a:solidFill>
                          <a:srgbClr val="1E293B"/>
                        </a:solidFill>
                        <a:latin typeface="Cambria Math" panose="02040503050406030204" pitchFamily="18" charset="0"/>
                      </a:rPr>
                      <m:t>𝑂</m:t>
                    </m:r>
                  </m:oMath>
                </a14:m>
                <a:r>
                  <a:rPr sz="1900">
                    <a:solidFill>
                      <a:srgbClr val="1E293B"/>
                    </a:solidFill>
                    <a:latin typeface="Calibri"/>
                  </a:rPr>
                  <a:t>. Hãy chỉ ra tập hợp </a:t>
                </a:r>
                <a14:m>
                  <m:oMath xmlns:m="http://schemas.openxmlformats.org/officeDocument/2006/math">
                    <m:r>
                      <a:rPr lang="vi-VN" sz="1900" b="0">
                        <a:solidFill>
                          <a:srgbClr val="1E293B"/>
                        </a:solidFill>
                        <a:latin typeface="Cambria Math" panose="02040503050406030204" pitchFamily="18" charset="0"/>
                      </a:rPr>
                      <m:t>𝑆</m:t>
                    </m:r>
                  </m:oMath>
                </a14:m>
                <a:r>
                  <a:rPr sz="1900">
                    <a:solidFill>
                      <a:srgbClr val="1E293B"/>
                    </a:solidFill>
                    <a:latin typeface="Calibri"/>
                  </a:rPr>
                  <a:t> gồm tất cả các vectơ khác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0</m:t>
                        </m:r>
                      </m:e>
                    </m:acc>
                  </m:oMath>
                </a14:m>
                <a:r>
                  <a:rPr sz="1900">
                    <a:solidFill>
                      <a:srgbClr val="1E293B"/>
                    </a:solidFill>
                    <a:latin typeface="Calibri"/>
                  </a:rPr>
                  <a:t>, có điểm đầu và điểm cuối thuộc tập hợp </a:t>
                </a:r>
                <a14:m>
                  <m:oMath xmlns:m="http://schemas.openxmlformats.org/officeDocument/2006/math">
                    <m:d>
                      <m:dPr>
                        <m:begChr m:val="{"/>
                        <m:endChr m:val="}"/>
                        <m:ctrlPr>
                          <a:rPr lang="vi-VN" sz="1900" b="0">
                            <a:solidFill>
                              <a:srgbClr val="1E293B"/>
                            </a:solidFill>
                            <a:latin typeface="Cambria Math" panose="02040503050406030204" pitchFamily="18" charset="0"/>
                          </a:rPr>
                        </m:ctrlPr>
                      </m:dPr>
                      <m:e>
                        <m:r>
                          <a:rPr lang="vi-VN" sz="1900" b="0">
                            <a:solidFill>
                              <a:srgbClr val="1E293B"/>
                            </a:solidFill>
                            <a:latin typeface="Cambria Math" panose="02040503050406030204" pitchFamily="18" charset="0"/>
                          </a:rPr>
                          <m:t>𝐴</m:t>
                        </m:r>
                        <m: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𝐵</m:t>
                        </m:r>
                        <m: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𝐶</m:t>
                        </m:r>
                        <m: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𝐷</m:t>
                        </m:r>
                        <m: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𝑂</m:t>
                        </m:r>
                      </m:e>
                    </m:d>
                  </m:oMath>
                </a14:m>
                <a:r>
                  <a:rPr sz="1900">
                    <a:solidFill>
                      <a:srgbClr val="1E293B"/>
                    </a:solidFill>
                    <a:latin typeface="Calibri"/>
                  </a:rPr>
                  <a:t>. Chia </a:t>
                </a:r>
                <a14:m>
                  <m:oMath xmlns:m="http://schemas.openxmlformats.org/officeDocument/2006/math">
                    <m:r>
                      <a:rPr lang="vi-VN" sz="1900" b="0">
                        <a:solidFill>
                          <a:srgbClr val="1E293B"/>
                        </a:solidFill>
                        <a:latin typeface="Cambria Math" panose="02040503050406030204" pitchFamily="18" charset="0"/>
                      </a:rPr>
                      <m:t>𝑆</m:t>
                    </m:r>
                  </m:oMath>
                </a14:m>
                <a:r>
                  <a:rPr sz="1900">
                    <a:solidFill>
                      <a:srgbClr val="1E293B"/>
                    </a:solidFill>
                    <a:latin typeface="Calibri"/>
                  </a:rPr>
                  <a:t> thành các nhóm sao cho hai vectơ thuộc cùng một nhóm khi và chỉ khi chúng bằng nhau.</a:t>
                </a:r>
              </a:p>
            </p:txBody>
          </p:sp>
        </mc:Choice>
        <mc:Fallback xmlns="">
          <p:sp>
            <p:nvSpPr>
              <p:cNvPr id="10" name="TextBox 9"/>
              <p:cNvSpPr txBox="1"/>
              <p:nvPr/>
            </p:nvSpPr>
            <p:spPr>
              <a:xfrm>
                <a:off x="548640" y="2807208"/>
                <a:ext cx="11064240" cy="104241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4.4.</a:t>
                </a:r>
                <a:r>
                  <a:rPr sz="1900">
                    <a:solidFill>
                      <a:srgbClr val="1E293B"/>
                    </a:solidFill>
                    <a:latin typeface="Calibri"/>
                  </a:rPr>
                  <a:t> Cho hình vuông </a:t>
                </a:r>
                <a:r>
                  <a:rPr lang="vi-VN"/>
                  <a:t>ABCD</a:t>
                </a:r>
                <a:r>
                  <a:rPr sz="1900">
                    <a:solidFill>
                      <a:srgbClr val="1E293B"/>
                    </a:solidFill>
                    <a:latin typeface="Calibri"/>
                  </a:rPr>
                  <a:t> có hai đường chéo cắt nhau tại </a:t>
                </a:r>
                <a:r>
                  <a:rPr lang="vi-VN"/>
                  <a:t>O</a:t>
                </a:r>
                <a:r>
                  <a:rPr sz="1900">
                    <a:solidFill>
                      <a:srgbClr val="1E293B"/>
                    </a:solidFill>
                    <a:latin typeface="Calibri"/>
                  </a:rPr>
                  <a:t>. Hãy chỉ ra tập hợp </a:t>
                </a:r>
                <a:r>
                  <a:rPr lang="vi-VN"/>
                  <a:t>S</a:t>
                </a:r>
                <a:r>
                  <a:rPr sz="1900">
                    <a:solidFill>
                      <a:srgbClr val="1E293B"/>
                    </a:solidFill>
                    <a:latin typeface="Calibri"/>
                  </a:rPr>
                  <a:t> gồm tất cả các vectơ khác </a:t>
                </a:r>
                <a:r>
                  <a:rPr lang="vi-VN"/>
                  <a:t>\vec{0}</a:t>
                </a:r>
                <a:r>
                  <a:rPr sz="1900">
                    <a:solidFill>
                      <a:srgbClr val="1E293B"/>
                    </a:solidFill>
                    <a:latin typeface="Calibri"/>
                  </a:rPr>
                  <a:t>, có điểm đầu và điểm cuối thuộc tập hợp </a:t>
                </a:r>
                <a:r>
                  <a:rPr lang="vi-VN"/>
                  <a:t>\{A;\ B;\ C;\ D;\ O\}</a:t>
                </a:r>
                <a:r>
                  <a:rPr sz="1900">
                    <a:solidFill>
                      <a:srgbClr val="1E293B"/>
                    </a:solidFill>
                    <a:latin typeface="Calibri"/>
                  </a:rPr>
                  <a:t>. Chia </a:t>
                </a:r>
                <a:r>
                  <a:rPr lang="vi-VN"/>
                  <a:t>S</a:t>
                </a:r>
                <a:r>
                  <a:rPr sz="1900">
                    <a:solidFill>
                      <a:srgbClr val="1E293B"/>
                    </a:solidFill>
                    <a:latin typeface="Calibri"/>
                  </a:rPr>
                  <a:t> thành các nhóm sao cho hai vectơ thuộc cùng một nhóm khi và chỉ khi chúng bằng nhau.</a:t>
                </a:r>
              </a:p>
            </p:txBody>
          </p:sp>
        </mc:Fallback>
      </mc:AlternateContent>
      <p:sp>
        <p:nvSpPr>
          <p:cNvPr id="11" name="s3_nen"/>
          <p:cNvSpPr/>
          <p:nvPr/>
        </p:nvSpPr>
        <p:spPr>
          <a:xfrm>
            <a:off x="548640" y="3913631"/>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s3_chu"/>
              <p:cNvSpPr txBox="1"/>
              <p:nvPr/>
            </p:nvSpPr>
            <p:spPr>
              <a:xfrm>
                <a:off x="713232" y="3950207"/>
                <a:ext cx="10735056" cy="771143"/>
              </a:xfrm>
              <a:prstGeom prst="rect">
                <a:avLst/>
              </a:prstGeom>
              <a:noFill/>
            </p:spPr>
            <p:txBody>
              <a:bodyPr wrap="square" lIns="45720" rIns="45720" anchor="ctr">
                <a:spAutoFit/>
              </a:bodyPr>
              <a:lstStyle/>
              <a:p>
                <a:pPr algn="l">
                  <a:spcAft>
                    <a:spcPts val="800"/>
                  </a:spcAft>
                </a:pPr>
                <a:r>
                  <a:rPr sz="1900" b="1">
                    <a:solidFill>
                      <a:srgbClr val="1E293B"/>
                    </a:solidFill>
                    <a:latin typeface="Calibri"/>
                  </a:rPr>
                  <a:t>4.4.</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𝑆</m:t>
                    </m:r>
                  </m:oMath>
                </a14:m>
                <a:r>
                  <a:rPr sz="1900">
                    <a:solidFill>
                      <a:srgbClr val="1E293B"/>
                    </a:solidFill>
                    <a:latin typeface="Calibri"/>
                  </a:rPr>
                  <a:t> có 20 vectơ, chia 12 nhóm: </a:t>
                </a:r>
                <a14:m>
                  <m:oMath xmlns:m="http://schemas.openxmlformats.org/officeDocument/2006/math">
                    <m:d>
                      <m:dPr>
                        <m:begChr m:val="{"/>
                        <m:endChr m:val="}"/>
                        <m:sepChr m:val=","/>
                        <m:ctrlPr>
                          <a:rPr lang="vi-VN" sz="1900" b="0">
                            <a:solidFill>
                              <a:srgbClr val="1E293B"/>
                            </a:solidFill>
                            <a:latin typeface="Cambria Math" panose="02040503050406030204" pitchFamily="18" charset="0"/>
                          </a:rPr>
                        </m:ctrlPr>
                      </m:dPr>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𝐴𝐵</m:t>
                            </m:r>
                          </m:e>
                        </m:acc>
                      </m:e>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𝐷𝐶</m:t>
                            </m:r>
                          </m:e>
                        </m:acc>
                      </m:e>
                    </m:d>
                  </m:oMath>
                </a14:m>
                <a:r>
                  <a:rPr sz="1900">
                    <a:solidFill>
                      <a:srgbClr val="1E293B"/>
                    </a:solidFill>
                    <a:latin typeface="Calibri"/>
                  </a:rPr>
                  <a:t>, </a:t>
                </a:r>
                <a14:m>
                  <m:oMath xmlns:m="http://schemas.openxmlformats.org/officeDocument/2006/math">
                    <m:d>
                      <m:dPr>
                        <m:begChr m:val="{"/>
                        <m:endChr m:val="}"/>
                        <m:sepChr m:val=","/>
                        <m:ctrlPr>
                          <a:rPr lang="vi-VN" sz="1900" b="0">
                            <a:solidFill>
                              <a:srgbClr val="1E293B"/>
                            </a:solidFill>
                            <a:latin typeface="Cambria Math" panose="02040503050406030204" pitchFamily="18" charset="0"/>
                          </a:rPr>
                        </m:ctrlPr>
                      </m:dPr>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𝐵𝐴</m:t>
                            </m:r>
                          </m:e>
                        </m:acc>
                      </m:e>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𝐶𝐷</m:t>
                            </m:r>
                          </m:e>
                        </m:acc>
                      </m:e>
                    </m:d>
                  </m:oMath>
                </a14:m>
                <a:r>
                  <a:rPr sz="1900">
                    <a:solidFill>
                      <a:srgbClr val="1E293B"/>
                    </a:solidFill>
                    <a:latin typeface="Calibri"/>
                  </a:rPr>
                  <a:t>, </a:t>
                </a:r>
                <a14:m>
                  <m:oMath xmlns:m="http://schemas.openxmlformats.org/officeDocument/2006/math">
                    <m:d>
                      <m:dPr>
                        <m:begChr m:val="{"/>
                        <m:endChr m:val="}"/>
                        <m:sepChr m:val=","/>
                        <m:ctrlPr>
                          <a:rPr lang="vi-VN" sz="1900" b="0">
                            <a:solidFill>
                              <a:srgbClr val="1E293B"/>
                            </a:solidFill>
                            <a:latin typeface="Cambria Math" panose="02040503050406030204" pitchFamily="18" charset="0"/>
                          </a:rPr>
                        </m:ctrlPr>
                      </m:dPr>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𝐴𝐷</m:t>
                            </m:r>
                          </m:e>
                        </m:acc>
                      </m:e>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𝐵𝐶</m:t>
                            </m:r>
                          </m:e>
                        </m:acc>
                      </m:e>
                    </m:d>
                  </m:oMath>
                </a14:m>
                <a:r>
                  <a:rPr sz="1900">
                    <a:solidFill>
                      <a:srgbClr val="1E293B"/>
                    </a:solidFill>
                    <a:latin typeface="Calibri"/>
                  </a:rPr>
                  <a:t>, </a:t>
                </a:r>
                <a14:m>
                  <m:oMath xmlns:m="http://schemas.openxmlformats.org/officeDocument/2006/math">
                    <m:d>
                      <m:dPr>
                        <m:begChr m:val="{"/>
                        <m:endChr m:val="}"/>
                        <m:sepChr m:val=","/>
                        <m:ctrlPr>
                          <a:rPr lang="vi-VN" sz="1900" b="0">
                            <a:solidFill>
                              <a:srgbClr val="1E293B"/>
                            </a:solidFill>
                            <a:latin typeface="Cambria Math" panose="02040503050406030204" pitchFamily="18" charset="0"/>
                          </a:rPr>
                        </m:ctrlPr>
                      </m:dPr>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𝐷𝐴</m:t>
                            </m:r>
                          </m:e>
                        </m:acc>
                      </m:e>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𝐶𝐵</m:t>
                            </m:r>
                          </m:e>
                        </m:acc>
                      </m:e>
                    </m:d>
                  </m:oMath>
                </a14:m>
                <a:r>
                  <a:rPr sz="1900">
                    <a:solidFill>
                      <a:srgbClr val="1E293B"/>
                    </a:solidFill>
                    <a:latin typeface="Calibri"/>
                  </a:rPr>
                  <a:t>, </a:t>
                </a:r>
                <a14:m>
                  <m:oMath xmlns:m="http://schemas.openxmlformats.org/officeDocument/2006/math">
                    <m:d>
                      <m:dPr>
                        <m:begChr m:val="{"/>
                        <m:endChr m:val="}"/>
                        <m:sepChr m:val=","/>
                        <m:ctrlPr>
                          <a:rPr lang="vi-VN" sz="1900" b="0">
                            <a:solidFill>
                              <a:srgbClr val="1E293B"/>
                            </a:solidFill>
                            <a:latin typeface="Cambria Math" panose="02040503050406030204" pitchFamily="18" charset="0"/>
                          </a:rPr>
                        </m:ctrlPr>
                      </m:dPr>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𝐴𝑂</m:t>
                            </m:r>
                          </m:e>
                        </m:acc>
                      </m:e>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𝑂𝐶</m:t>
                            </m:r>
                          </m:e>
                        </m:acc>
                      </m:e>
                    </m:d>
                  </m:oMath>
                </a14:m>
                <a:r>
                  <a:rPr sz="1900">
                    <a:solidFill>
                      <a:srgbClr val="1E293B"/>
                    </a:solidFill>
                    <a:latin typeface="Calibri"/>
                  </a:rPr>
                  <a:t>, </a:t>
                </a:r>
                <a14:m>
                  <m:oMath xmlns:m="http://schemas.openxmlformats.org/officeDocument/2006/math">
                    <m:d>
                      <m:dPr>
                        <m:begChr m:val="{"/>
                        <m:endChr m:val="}"/>
                        <m:sepChr m:val=","/>
                        <m:ctrlPr>
                          <a:rPr lang="vi-VN" sz="1900" b="0">
                            <a:solidFill>
                              <a:srgbClr val="1E293B"/>
                            </a:solidFill>
                            <a:latin typeface="Cambria Math" panose="02040503050406030204" pitchFamily="18" charset="0"/>
                          </a:rPr>
                        </m:ctrlPr>
                      </m:dPr>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𝑂𝐴</m:t>
                            </m:r>
                          </m:e>
                        </m:acc>
                      </m:e>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𝐶𝑂</m:t>
                            </m:r>
                          </m:e>
                        </m:acc>
                      </m:e>
                    </m:d>
                  </m:oMath>
                </a14:m>
                <a:r>
                  <a:rPr sz="1900">
                    <a:solidFill>
                      <a:srgbClr val="1E293B"/>
                    </a:solidFill>
                    <a:latin typeface="Calibri"/>
                  </a:rPr>
                  <a:t>, </a:t>
                </a:r>
                <a14:m>
                  <m:oMath xmlns:m="http://schemas.openxmlformats.org/officeDocument/2006/math">
                    <m:d>
                      <m:dPr>
                        <m:begChr m:val="{"/>
                        <m:endChr m:val="}"/>
                        <m:sepChr m:val=","/>
                        <m:ctrlPr>
                          <a:rPr lang="vi-VN" sz="1900" b="0">
                            <a:solidFill>
                              <a:srgbClr val="1E293B"/>
                            </a:solidFill>
                            <a:latin typeface="Cambria Math" panose="02040503050406030204" pitchFamily="18" charset="0"/>
                          </a:rPr>
                        </m:ctrlPr>
                      </m:dPr>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𝐵𝑂</m:t>
                            </m:r>
                          </m:e>
                        </m:acc>
                      </m:e>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𝑂𝐷</m:t>
                            </m:r>
                          </m:e>
                        </m:acc>
                      </m:e>
                    </m:d>
                  </m:oMath>
                </a14:m>
                <a:r>
                  <a:rPr sz="1900">
                    <a:solidFill>
                      <a:srgbClr val="1E293B"/>
                    </a:solidFill>
                    <a:latin typeface="Calibri"/>
                  </a:rPr>
                  <a:t>, </a:t>
                </a:r>
                <a14:m>
                  <m:oMath xmlns:m="http://schemas.openxmlformats.org/officeDocument/2006/math">
                    <m:d>
                      <m:dPr>
                        <m:begChr m:val="{"/>
                        <m:endChr m:val="}"/>
                        <m:sepChr m:val=","/>
                        <m:ctrlPr>
                          <a:rPr lang="vi-VN" sz="1900" b="0">
                            <a:solidFill>
                              <a:srgbClr val="1E293B"/>
                            </a:solidFill>
                            <a:latin typeface="Cambria Math" panose="02040503050406030204" pitchFamily="18" charset="0"/>
                          </a:rPr>
                        </m:ctrlPr>
                      </m:dPr>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𝑂𝐵</m:t>
                            </m:r>
                          </m:e>
                        </m:acc>
                      </m:e>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𝐷𝑂</m:t>
                            </m:r>
                          </m:e>
                        </m:acc>
                      </m:e>
                    </m:d>
                  </m:oMath>
                </a14:m>
                <a:r>
                  <a:rPr sz="1900">
                    <a:solidFill>
                      <a:srgbClr val="1E293B"/>
                    </a:solidFill>
                    <a:latin typeface="Calibri"/>
                  </a:rPr>
                  <a:t> và 4 nhóm một vectơ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𝐴𝐶</m:t>
                        </m:r>
                      </m:e>
                    </m:acc>
                  </m:oMath>
                </a14:m>
                <a:r>
                  <a:rPr sz="1900">
                    <a:solidFill>
                      <a:srgbClr val="1E293B"/>
                    </a:solidFill>
                    <a:latin typeface="Calibri"/>
                  </a:rPr>
                  <a:t>,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𝐶𝐴</m:t>
                        </m:r>
                      </m:e>
                    </m:acc>
                  </m:oMath>
                </a14:m>
                <a:r>
                  <a:rPr sz="1900">
                    <a:solidFill>
                      <a:srgbClr val="1E293B"/>
                    </a:solidFill>
                    <a:latin typeface="Calibri"/>
                  </a:rPr>
                  <a:t>,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𝐵𝐷</m:t>
                        </m:r>
                      </m:e>
                    </m:acc>
                  </m:oMath>
                </a14:m>
                <a:r>
                  <a:rPr sz="1900">
                    <a:solidFill>
                      <a:srgbClr val="1E293B"/>
                    </a:solidFill>
                    <a:latin typeface="Calibri"/>
                  </a:rPr>
                  <a:t>,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𝐷𝐵</m:t>
                        </m:r>
                      </m:e>
                    </m:acc>
                  </m:oMath>
                </a14:m>
                <a:r>
                  <a:rPr sz="1900">
                    <a:solidFill>
                      <a:srgbClr val="1E293B"/>
                    </a:solidFill>
                    <a:latin typeface="Calibri"/>
                  </a:rPr>
                  <a:t>.</a:t>
                </a:r>
              </a:p>
            </p:txBody>
          </p:sp>
        </mc:Choice>
        <mc:Fallback xmlns="">
          <p:sp>
            <p:nvSpPr>
              <p:cNvPr id="12" name="TextBox 11"/>
              <p:cNvSpPr txBox="1"/>
              <p:nvPr/>
            </p:nvSpPr>
            <p:spPr>
              <a:xfrm>
                <a:off x="713232" y="3950207"/>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4.4.</a:t>
                </a:r>
                <a:r>
                  <a:rPr sz="1900">
                    <a:solidFill>
                      <a:srgbClr val="1E293B"/>
                    </a:solidFill>
                    <a:latin typeface="Calibri"/>
                  </a:rPr>
                  <a:t> </a:t>
                </a:r>
                <a:r>
                  <a:rPr lang="vi-VN"/>
                  <a:t>S</a:t>
                </a:r>
                <a:r>
                  <a:rPr sz="1900">
                    <a:solidFill>
                      <a:srgbClr val="1E293B"/>
                    </a:solidFill>
                    <a:latin typeface="Calibri"/>
                  </a:rPr>
                  <a:t> có 20 vectơ, chia 12 nhóm: </a:t>
                </a:r>
                <a:r>
                  <a:rPr lang="vi-VN"/>
                  <a:t>\{\overrightarrow{AB},\overrightarrow{DC}\}</a:t>
                </a:r>
                <a:r>
                  <a:rPr sz="1900">
                    <a:solidFill>
                      <a:srgbClr val="1E293B"/>
                    </a:solidFill>
                    <a:latin typeface="Calibri"/>
                  </a:rPr>
                  <a:t>, </a:t>
                </a:r>
                <a:r>
                  <a:rPr lang="vi-VN"/>
                  <a:t>\{\overrightarrow{BA},\overrightarrow{CD}\}</a:t>
                </a:r>
                <a:r>
                  <a:rPr sz="1900">
                    <a:solidFill>
                      <a:srgbClr val="1E293B"/>
                    </a:solidFill>
                    <a:latin typeface="Calibri"/>
                  </a:rPr>
                  <a:t>, </a:t>
                </a:r>
                <a:r>
                  <a:rPr lang="vi-VN"/>
                  <a:t>\{\overrightarrow{AD},\overrightarrow{BC}\}</a:t>
                </a:r>
                <a:r>
                  <a:rPr sz="1900">
                    <a:solidFill>
                      <a:srgbClr val="1E293B"/>
                    </a:solidFill>
                    <a:latin typeface="Calibri"/>
                  </a:rPr>
                  <a:t>, </a:t>
                </a:r>
                <a:r>
                  <a:rPr lang="vi-VN"/>
                  <a:t>\{\overrightarrow{DA},\overrightarrow{CB}\}</a:t>
                </a:r>
                <a:r>
                  <a:rPr sz="1900">
                    <a:solidFill>
                      <a:srgbClr val="1E293B"/>
                    </a:solidFill>
                    <a:latin typeface="Calibri"/>
                  </a:rPr>
                  <a:t>, </a:t>
                </a:r>
                <a:r>
                  <a:rPr lang="vi-VN"/>
                  <a:t>\{\overrightarrow{AO},\overrightarrow{OC}\}</a:t>
                </a:r>
                <a:r>
                  <a:rPr sz="1900">
                    <a:solidFill>
                      <a:srgbClr val="1E293B"/>
                    </a:solidFill>
                    <a:latin typeface="Calibri"/>
                  </a:rPr>
                  <a:t>, </a:t>
                </a:r>
                <a:r>
                  <a:rPr lang="vi-VN"/>
                  <a:t>\{\overrightarrow{OA},\overrightarrow{CO}\}</a:t>
                </a:r>
                <a:r>
                  <a:rPr sz="1900">
                    <a:solidFill>
                      <a:srgbClr val="1E293B"/>
                    </a:solidFill>
                    <a:latin typeface="Calibri"/>
                  </a:rPr>
                  <a:t>, </a:t>
                </a:r>
                <a:r>
                  <a:rPr lang="vi-VN"/>
                  <a:t>\{\overrightarrow{BO},\overrightarrow{OD}\}</a:t>
                </a:r>
                <a:r>
                  <a:rPr sz="1900">
                    <a:solidFill>
                      <a:srgbClr val="1E293B"/>
                    </a:solidFill>
                    <a:latin typeface="Calibri"/>
                  </a:rPr>
                  <a:t>, </a:t>
                </a:r>
                <a:r>
                  <a:rPr lang="vi-VN"/>
                  <a:t>\{\overrightarrow{OB},\overrightarrow{DO}\}</a:t>
                </a:r>
                <a:r>
                  <a:rPr sz="1900">
                    <a:solidFill>
                      <a:srgbClr val="1E293B"/>
                    </a:solidFill>
                    <a:latin typeface="Calibri"/>
                  </a:rPr>
                  <a:t> và 4 nhóm một vectơ </a:t>
                </a:r>
                <a:r>
                  <a:rPr lang="vi-VN"/>
                  <a:t>\overrightarrow{AC}</a:t>
                </a:r>
                <a:r>
                  <a:rPr sz="1900">
                    <a:solidFill>
                      <a:srgbClr val="1E293B"/>
                    </a:solidFill>
                    <a:latin typeface="Calibri"/>
                  </a:rPr>
                  <a:t>, </a:t>
                </a:r>
                <a:r>
                  <a:rPr lang="vi-VN"/>
                  <a:t>\overrightarrow{CA}</a:t>
                </a:r>
                <a:r>
                  <a:rPr sz="1900">
                    <a:solidFill>
                      <a:srgbClr val="1E293B"/>
                    </a:solidFill>
                    <a:latin typeface="Calibri"/>
                  </a:rPr>
                  <a:t>, </a:t>
                </a:r>
                <a:r>
                  <a:rPr lang="vi-VN"/>
                  <a:t>\overrightarrow{BD}</a:t>
                </a:r>
                <a:r>
                  <a:rPr sz="1900">
                    <a:solidFill>
                      <a:srgbClr val="1E293B"/>
                    </a:solidFill>
                    <a:latin typeface="Calibri"/>
                  </a:rPr>
                  <a:t>, </a:t>
                </a:r>
                <a:r>
                  <a:rPr lang="vi-VN"/>
                  <a:t>\overrightarrow{DB}</a:t>
                </a:r>
                <a:r>
                  <a:rPr sz="19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4.5 (SGK TR.50)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28</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8138160" cy="1621536"/>
              </a:xfrm>
              <a:prstGeom prst="rect">
                <a:avLst/>
              </a:prstGeom>
              <a:noFill/>
            </p:spPr>
            <p:txBody>
              <a:bodyPr wrap="square" lIns="45720" rIns="45720" anchor="t">
                <a:spAutoFit/>
              </a:bodyPr>
              <a:lstStyle/>
              <a:p>
                <a:pPr algn="l">
                  <a:spcAft>
                    <a:spcPts val="800"/>
                  </a:spcAft>
                </a:pPr>
                <a:r>
                  <a:rPr sz="1900" b="1">
                    <a:solidFill>
                      <a:srgbClr val="1E293B"/>
                    </a:solidFill>
                    <a:latin typeface="Calibri"/>
                  </a:rPr>
                  <a:t>4.5.</a:t>
                </a:r>
                <a:r>
                  <a:rPr sz="1900">
                    <a:solidFill>
                      <a:srgbClr val="1E293B"/>
                    </a:solidFill>
                    <a:latin typeface="Calibri"/>
                  </a:rPr>
                  <a:t> Trên mặt phẳng toạ độ </a:t>
                </a:r>
                <a14:m>
                  <m:oMath xmlns:m="http://schemas.openxmlformats.org/officeDocument/2006/math">
                    <m:r>
                      <a:rPr lang="vi-VN" sz="1900" b="0">
                        <a:solidFill>
                          <a:srgbClr val="1E293B"/>
                        </a:solidFill>
                        <a:latin typeface="Cambria Math" panose="02040503050406030204" pitchFamily="18" charset="0"/>
                      </a:rPr>
                      <m:t>𝑂𝑥𝑦</m:t>
                    </m:r>
                  </m:oMath>
                </a14:m>
                <a:r>
                  <a:rPr sz="1900">
                    <a:solidFill>
                      <a:srgbClr val="1E293B"/>
                    </a:solidFill>
                    <a:latin typeface="Calibri"/>
                  </a:rPr>
                  <a:t>, hãy vẽ các vectơ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𝑂𝐴</m:t>
                        </m:r>
                      </m:e>
                    </m:acc>
                    <m:r>
                      <a:rPr lang="vi-VN" sz="1900" b="0">
                        <a:solidFill>
                          <a:srgbClr val="1E293B"/>
                        </a:solidFill>
                        <a:latin typeface="Cambria Math" panose="02040503050406030204" pitchFamily="18" charset="0"/>
                      </a:rPr>
                      <m:t>, </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𝑀𝑁</m:t>
                        </m:r>
                      </m:e>
                    </m:acc>
                  </m:oMath>
                </a14:m>
                <a:r>
                  <a:rPr sz="1900">
                    <a:solidFill>
                      <a:srgbClr val="1E293B"/>
                    </a:solidFill>
                    <a:latin typeface="Calibri"/>
                  </a:rPr>
                  <a:t> với </a:t>
                </a:r>
                <a14:m>
                  <m:oMath xmlns:m="http://schemas.openxmlformats.org/officeDocument/2006/math">
                    <m:r>
                      <a:rPr lang="vi-VN" sz="1900" b="0">
                        <a:solidFill>
                          <a:srgbClr val="1E293B"/>
                        </a:solidFill>
                        <a:latin typeface="Cambria Math" panose="02040503050406030204" pitchFamily="18" charset="0"/>
                      </a:rPr>
                      <m:t>𝐴</m:t>
                    </m:r>
                    <m:r>
                      <a:rPr lang="vi-VN" sz="1900" b="0">
                        <a:solidFill>
                          <a:srgbClr val="1E293B"/>
                        </a:solidFill>
                        <a:latin typeface="Cambria Math" panose="02040503050406030204" pitchFamily="18" charset="0"/>
                      </a:rPr>
                      <m:t>(1; 2)</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𝑀</m:t>
                    </m:r>
                    <m:r>
                      <a:rPr lang="vi-VN" sz="1900" b="0">
                        <a:solidFill>
                          <a:srgbClr val="1E293B"/>
                        </a:solidFill>
                        <a:latin typeface="Cambria Math" panose="02040503050406030204" pitchFamily="18" charset="0"/>
                      </a:rPr>
                      <m:t>(0; −1)</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𝑁</m:t>
                    </m:r>
                    <m:r>
                      <a:rPr lang="vi-VN" sz="1900" b="0">
                        <a:solidFill>
                          <a:srgbClr val="1E293B"/>
                        </a:solidFill>
                        <a:latin typeface="Cambria Math" panose="02040503050406030204" pitchFamily="18" charset="0"/>
                      </a:rPr>
                      <m:t>(3; 5)</m:t>
                    </m:r>
                  </m:oMath>
                </a14:m>
                <a:r>
                  <a:rPr sz="1900">
                    <a:solidFill>
                      <a:srgbClr val="1E293B"/>
                    </a:solidFill>
                    <a:latin typeface="Calibri"/>
                  </a:rPr>
                  <a:t>. a) Chỉ ra mối quan hệ giữa hai vectơ trên. b) Một vật thể khởi hành từ </a:t>
                </a:r>
                <a14:m>
                  <m:oMath xmlns:m="http://schemas.openxmlformats.org/officeDocument/2006/math">
                    <m:r>
                      <a:rPr lang="vi-VN" sz="1900" b="0">
                        <a:solidFill>
                          <a:srgbClr val="1E293B"/>
                        </a:solidFill>
                        <a:latin typeface="Cambria Math" panose="02040503050406030204" pitchFamily="18" charset="0"/>
                      </a:rPr>
                      <m:t>𝑀</m:t>
                    </m:r>
                  </m:oMath>
                </a14:m>
                <a:r>
                  <a:rPr sz="1900">
                    <a:solidFill>
                      <a:srgbClr val="1E293B"/>
                    </a:solidFill>
                    <a:latin typeface="Calibri"/>
                  </a:rPr>
                  <a:t> và chuyển động thẳng đều với vận tốc (tính theo giờ) được biểu diễn bởi vectơ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𝑣</m:t>
                        </m:r>
                      </m:e>
                    </m:acc>
                    <m:r>
                      <a:rPr lang="vi-VN" sz="1900" b="0">
                        <a:solidFill>
                          <a:srgbClr val="1E293B"/>
                        </a:solidFill>
                        <a:latin typeface="Cambria Math" panose="02040503050406030204" pitchFamily="18" charset="0"/>
                      </a:rPr>
                      <m:t>=</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𝑂𝐴</m:t>
                        </m:r>
                      </m:e>
                    </m:acc>
                  </m:oMath>
                </a14:m>
                <a:r>
                  <a:rPr sz="1900">
                    <a:solidFill>
                      <a:srgbClr val="1E293B"/>
                    </a:solidFill>
                    <a:latin typeface="Calibri"/>
                  </a:rPr>
                  <a:t>. Hỏi vật thể đó có đi qua </a:t>
                </a:r>
                <a14:m>
                  <m:oMath xmlns:m="http://schemas.openxmlformats.org/officeDocument/2006/math">
                    <m:r>
                      <a:rPr lang="vi-VN" sz="1900" b="0">
                        <a:solidFill>
                          <a:srgbClr val="1E293B"/>
                        </a:solidFill>
                        <a:latin typeface="Cambria Math" panose="02040503050406030204" pitchFamily="18" charset="0"/>
                      </a:rPr>
                      <m:t>𝑁</m:t>
                    </m:r>
                  </m:oMath>
                </a14:m>
                <a:r>
                  <a:rPr sz="1900">
                    <a:solidFill>
                      <a:srgbClr val="1E293B"/>
                    </a:solidFill>
                    <a:latin typeface="Calibri"/>
                  </a:rPr>
                  <a:t> hay không? Nếu có thì sau bao lâu vật sẽ tới </a:t>
                </a:r>
                <a14:m>
                  <m:oMath xmlns:m="http://schemas.openxmlformats.org/officeDocument/2006/math">
                    <m:r>
                      <a:rPr lang="vi-VN" sz="1900" b="0">
                        <a:solidFill>
                          <a:srgbClr val="1E293B"/>
                        </a:solidFill>
                        <a:latin typeface="Cambria Math" panose="02040503050406030204" pitchFamily="18" charset="0"/>
                      </a:rPr>
                      <m:t>𝑁</m:t>
                    </m:r>
                  </m:oMath>
                </a14:m>
                <a:r>
                  <a:rPr sz="1900">
                    <a:solidFill>
                      <a:srgbClr val="1E293B"/>
                    </a:solidFill>
                    <a:latin typeface="Calibri"/>
                  </a:rPr>
                  <a:t>?</a:t>
                </a:r>
              </a:p>
            </p:txBody>
          </p:sp>
        </mc:Choice>
        <mc:Fallback xmlns="">
          <p:sp>
            <p:nvSpPr>
              <p:cNvPr id="7" name="TextBox 6"/>
              <p:cNvSpPr txBox="1"/>
              <p:nvPr/>
            </p:nvSpPr>
            <p:spPr>
              <a:xfrm>
                <a:off x="548640" y="1371600"/>
                <a:ext cx="8138160" cy="162153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4.5.</a:t>
                </a:r>
                <a:r>
                  <a:rPr sz="1900">
                    <a:solidFill>
                      <a:srgbClr val="1E293B"/>
                    </a:solidFill>
                    <a:latin typeface="Calibri"/>
                  </a:rPr>
                  <a:t> Trên mặt phẳng toạ độ </a:t>
                </a:r>
                <a:r>
                  <a:rPr lang="vi-VN"/>
                  <a:t>Oxy</a:t>
                </a:r>
                <a:r>
                  <a:rPr sz="1900">
                    <a:solidFill>
                      <a:srgbClr val="1E293B"/>
                    </a:solidFill>
                    <a:latin typeface="Calibri"/>
                  </a:rPr>
                  <a:t>, hãy vẽ các vectơ </a:t>
                </a:r>
                <a:r>
                  <a:rPr lang="vi-VN"/>
                  <a:t>\overrightarrow{OA},\ \overrightarrow{MN}</a:t>
                </a:r>
                <a:r>
                  <a:rPr sz="1900">
                    <a:solidFill>
                      <a:srgbClr val="1E293B"/>
                    </a:solidFill>
                    <a:latin typeface="Calibri"/>
                  </a:rPr>
                  <a:t> với </a:t>
                </a:r>
                <a:r>
                  <a:rPr lang="vi-VN"/>
                  <a:t>A(1;\ 2)</a:t>
                </a:r>
                <a:r>
                  <a:rPr sz="1900">
                    <a:solidFill>
                      <a:srgbClr val="1E293B"/>
                    </a:solidFill>
                    <a:latin typeface="Calibri"/>
                  </a:rPr>
                  <a:t>, </a:t>
                </a:r>
                <a:r>
                  <a:rPr lang="vi-VN"/>
                  <a:t>M(0;\ -1)</a:t>
                </a:r>
                <a:r>
                  <a:rPr sz="1900">
                    <a:solidFill>
                      <a:srgbClr val="1E293B"/>
                    </a:solidFill>
                    <a:latin typeface="Calibri"/>
                  </a:rPr>
                  <a:t>, </a:t>
                </a:r>
                <a:r>
                  <a:rPr lang="vi-VN"/>
                  <a:t>N(3;\ 5)</a:t>
                </a:r>
                <a:r>
                  <a:rPr sz="1900">
                    <a:solidFill>
                      <a:srgbClr val="1E293B"/>
                    </a:solidFill>
                    <a:latin typeface="Calibri"/>
                  </a:rPr>
                  <a:t>. a) Chỉ ra mối quan hệ giữa hai vectơ trên. b) Một vật thể khởi hành từ </a:t>
                </a:r>
                <a:r>
                  <a:rPr lang="vi-VN"/>
                  <a:t>M</a:t>
                </a:r>
                <a:r>
                  <a:rPr sz="1900">
                    <a:solidFill>
                      <a:srgbClr val="1E293B"/>
                    </a:solidFill>
                    <a:latin typeface="Calibri"/>
                  </a:rPr>
                  <a:t> và chuyển động thẳng đều với vận tốc (tính theo giờ) được biểu diễn bởi vectơ </a:t>
                </a:r>
                <a:r>
                  <a:rPr lang="vi-VN"/>
                  <a:t>\vec{v}=\overrightarrow{OA}</a:t>
                </a:r>
                <a:r>
                  <a:rPr sz="1900">
                    <a:solidFill>
                      <a:srgbClr val="1E293B"/>
                    </a:solidFill>
                    <a:latin typeface="Calibri"/>
                  </a:rPr>
                  <a:t>. Hỏi vật thể đó có đi qua </a:t>
                </a:r>
                <a:r>
                  <a:rPr lang="vi-VN"/>
                  <a:t>N</a:t>
                </a:r>
                <a:r>
                  <a:rPr sz="1900">
                    <a:solidFill>
                      <a:srgbClr val="1E293B"/>
                    </a:solidFill>
                    <a:latin typeface="Calibri"/>
                  </a:rPr>
                  <a:t> hay không? Nếu có thì sau bao lâu vật sẽ tới </a:t>
                </a:r>
                <a:r>
                  <a:rPr lang="vi-VN"/>
                  <a:t>N</a:t>
                </a:r>
                <a:r>
                  <a:rPr sz="1900">
                    <a:solidFill>
                      <a:srgbClr val="1E293B"/>
                    </a:solidFill>
                    <a:latin typeface="Calibri"/>
                  </a:rPr>
                  <a:t>?</a:t>
                </a:r>
              </a:p>
            </p:txBody>
          </p:sp>
        </mc:Fallback>
      </mc:AlternateContent>
      <p:sp>
        <p:nvSpPr>
          <p:cNvPr id="8" name="s1_nen"/>
          <p:cNvSpPr/>
          <p:nvPr/>
        </p:nvSpPr>
        <p:spPr>
          <a:xfrm>
            <a:off x="548640" y="3057144"/>
            <a:ext cx="813816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093720"/>
                <a:ext cx="7808976" cy="771143"/>
              </a:xfrm>
              <a:prstGeom prst="rect">
                <a:avLst/>
              </a:prstGeom>
              <a:noFill/>
            </p:spPr>
            <p:txBody>
              <a:bodyPr wrap="square" lIns="45720" rIns="45720" anchor="ctr">
                <a:spAutoFit/>
              </a:bodyPr>
              <a:lstStyle/>
              <a:p>
                <a:pPr algn="l">
                  <a:spcAft>
                    <a:spcPts val="800"/>
                  </a:spcAft>
                </a:pPr>
                <a:r>
                  <a:rPr sz="1900">
                    <a:solidFill>
                      <a:srgbClr val="1E293B"/>
                    </a:solidFill>
                    <a:latin typeface="Calibri"/>
                  </a:rPr>
                  <a:t>a)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𝑀𝑁</m:t>
                        </m:r>
                      </m:e>
                    </m:acc>
                  </m:oMath>
                </a14:m>
                <a:r>
                  <a:rPr sz="1900">
                    <a:solidFill>
                      <a:srgbClr val="1E293B"/>
                    </a:solidFill>
                    <a:latin typeface="Calibri"/>
                  </a:rPr>
                  <a:t> cùng hướng với </a:t>
                </a:r>
                <a14:m>
                  <m:oMath xmlns:m="http://schemas.openxmlformats.org/officeDocument/2006/math">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𝑂𝐴</m:t>
                        </m:r>
                      </m:e>
                    </m:acc>
                  </m:oMath>
                </a14:m>
                <a:r>
                  <a:rPr sz="1900">
                    <a:solidFill>
                      <a:srgbClr val="1E293B"/>
                    </a:solidFill>
                    <a:latin typeface="Calibri"/>
                  </a:rPr>
                  <a:t> và </a:t>
                </a:r>
                <a14:m>
                  <m:oMath xmlns:m="http://schemas.openxmlformats.org/officeDocument/2006/math">
                    <m:d>
                      <m:dPr>
                        <m:begChr m:val="|"/>
                        <m:endChr m:val="|"/>
                        <m:ctrlPr>
                          <a:rPr lang="vi-VN" sz="1900" b="0">
                            <a:solidFill>
                              <a:srgbClr val="1E293B"/>
                            </a:solidFill>
                            <a:latin typeface="Cambria Math" panose="02040503050406030204" pitchFamily="18" charset="0"/>
                          </a:rPr>
                        </m:ctrlPr>
                      </m:dPr>
                      <m:e>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𝑀𝑁</m:t>
                            </m:r>
                          </m:e>
                        </m:acc>
                        <m:r>
                          <a:rPr lang="vi-VN" sz="1900" b="0">
                            <a:solidFill>
                              <a:srgbClr val="1E293B"/>
                            </a:solidFill>
                            <a:latin typeface="Cambria Math" panose="02040503050406030204" pitchFamily="18" charset="0"/>
                          </a:rPr>
                          <m:t>|=3|</m:t>
                        </m:r>
                        <m:acc>
                          <m:accPr>
                            <m:chr m:val="⃗"/>
                            <m:ctrlPr>
                              <a:rPr lang="vi-VN" sz="1900" b="0">
                                <a:solidFill>
                                  <a:srgbClr val="1E293B"/>
                                </a:solidFill>
                                <a:latin typeface="Cambria Math" panose="02040503050406030204" pitchFamily="18" charset="0"/>
                              </a:rPr>
                            </m:ctrlPr>
                          </m:accPr>
                          <m:e>
                            <m:r>
                              <a:rPr lang="vi-VN" sz="1900" b="0">
                                <a:solidFill>
                                  <a:srgbClr val="1E293B"/>
                                </a:solidFill>
                                <a:latin typeface="Cambria Math" panose="02040503050406030204" pitchFamily="18" charset="0"/>
                              </a:rPr>
                              <m:t>𝑂𝐴</m:t>
                            </m:r>
                          </m:e>
                        </m:acc>
                      </m:e>
                    </m:d>
                  </m:oMath>
                </a14:m>
                <a:r>
                  <a:rPr sz="1900">
                    <a:solidFill>
                      <a:srgbClr val="1E293B"/>
                    </a:solidFill>
                    <a:latin typeface="Calibri"/>
                  </a:rPr>
                  <a:t> (mỗi giờ đi 1 ô ngang, 2 ô dọc; </a:t>
                </a:r>
                <a14:m>
                  <m:oMath xmlns:m="http://schemas.openxmlformats.org/officeDocument/2006/math">
                    <m:r>
                      <a:rPr lang="vi-VN" sz="1900" b="0">
                        <a:solidFill>
                          <a:srgbClr val="1E293B"/>
                        </a:solidFill>
                        <a:latin typeface="Cambria Math" panose="02040503050406030204" pitchFamily="18" charset="0"/>
                      </a:rPr>
                      <m:t>𝑀𝑁</m:t>
                    </m:r>
                  </m:oMath>
                </a14:m>
                <a:r>
                  <a:rPr sz="1900">
                    <a:solidFill>
                      <a:srgbClr val="1E293B"/>
                    </a:solidFill>
                    <a:latin typeface="Calibri"/>
                  </a:rPr>
                  <a:t> gồm 3 ô ngang, 6 ô dọc).</a:t>
                </a:r>
              </a:p>
            </p:txBody>
          </p:sp>
        </mc:Choice>
        <mc:Fallback xmlns="">
          <p:sp>
            <p:nvSpPr>
              <p:cNvPr id="9" name="TextBox 8"/>
              <p:cNvSpPr txBox="1"/>
              <p:nvPr/>
            </p:nvSpPr>
            <p:spPr>
              <a:xfrm>
                <a:off x="713232" y="3093720"/>
                <a:ext cx="780897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r>
                  <a:rPr lang="vi-VN"/>
                  <a:t>\overrightarrow{MN}</a:t>
                </a:r>
                <a:r>
                  <a:rPr sz="1900">
                    <a:solidFill>
                      <a:srgbClr val="1E293B"/>
                    </a:solidFill>
                    <a:latin typeface="Calibri"/>
                  </a:rPr>
                  <a:t> cùng hướng với </a:t>
                </a:r>
                <a:r>
                  <a:rPr lang="vi-VN"/>
                  <a:t>\overrightarrow{OA}</a:t>
                </a:r>
                <a:r>
                  <a:rPr sz="1900">
                    <a:solidFill>
                      <a:srgbClr val="1E293B"/>
                    </a:solidFill>
                    <a:latin typeface="Calibri"/>
                  </a:rPr>
                  <a:t> và </a:t>
                </a:r>
                <a:r>
                  <a:rPr lang="vi-VN"/>
                  <a:t>|\overrightarrow{MN}|=3|\overrightarrow{OA}|</a:t>
                </a:r>
                <a:r>
                  <a:rPr sz="1900">
                    <a:solidFill>
                      <a:srgbClr val="1E293B"/>
                    </a:solidFill>
                    <a:latin typeface="Calibri"/>
                  </a:rPr>
                  <a:t> (mỗi giờ đi 1 ô ngang, 2 ô dọc; </a:t>
                </a:r>
                <a:r>
                  <a:rPr lang="vi-VN"/>
                  <a:t>MN</a:t>
                </a:r>
                <a:r>
                  <a:rPr sz="1900">
                    <a:solidFill>
                      <a:srgbClr val="1E293B"/>
                    </a:solidFill>
                    <a:latin typeface="Calibri"/>
                  </a:rPr>
                  <a:t> gồm 3 ô ngang, 6 ô dọc).</a:t>
                </a:r>
              </a:p>
            </p:txBody>
          </p:sp>
        </mc:Fallback>
      </mc:AlternateContent>
      <p:sp>
        <p:nvSpPr>
          <p:cNvPr id="10" name="s2_nen"/>
          <p:cNvSpPr/>
          <p:nvPr/>
        </p:nvSpPr>
        <p:spPr>
          <a:xfrm>
            <a:off x="548640" y="3965448"/>
            <a:ext cx="813816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4002024"/>
                <a:ext cx="7808976" cy="481583"/>
              </a:xfrm>
              <a:prstGeom prst="rect">
                <a:avLst/>
              </a:prstGeom>
              <a:noFill/>
            </p:spPr>
            <p:txBody>
              <a:bodyPr wrap="square" lIns="45720" rIns="45720" anchor="ctr">
                <a:spAutoFit/>
              </a:bodyPr>
              <a:lstStyle/>
              <a:p>
                <a:pPr algn="l">
                  <a:spcAft>
                    <a:spcPts val="800"/>
                  </a:spcAft>
                </a:pPr>
                <a:r>
                  <a:rPr sz="1900">
                    <a:solidFill>
                      <a:srgbClr val="1E293B"/>
                    </a:solidFill>
                    <a:latin typeface="Calibri"/>
                  </a:rPr>
                  <a:t>b) Có. Sau 3 giờ vật tới </a:t>
                </a:r>
                <a14:m>
                  <m:oMath xmlns:m="http://schemas.openxmlformats.org/officeDocument/2006/math">
                    <m:r>
                      <a:rPr lang="vi-VN" sz="1900" b="0">
                        <a:solidFill>
                          <a:srgbClr val="1E293B"/>
                        </a:solidFill>
                        <a:latin typeface="Cambria Math" panose="02040503050406030204" pitchFamily="18" charset="0"/>
                      </a:rPr>
                      <m:t>𝑁</m:t>
                    </m:r>
                  </m:oMath>
                </a14:m>
                <a:r>
                  <a:rPr sz="1900">
                    <a:solidFill>
                      <a:srgbClr val="1E293B"/>
                    </a:solidFill>
                    <a:latin typeface="Calibri"/>
                  </a:rPr>
                  <a:t>.</a:t>
                </a:r>
              </a:p>
            </p:txBody>
          </p:sp>
        </mc:Choice>
        <mc:Fallback xmlns="">
          <p:sp>
            <p:nvSpPr>
              <p:cNvPr id="11" name="TextBox 10"/>
              <p:cNvSpPr txBox="1"/>
              <p:nvPr/>
            </p:nvSpPr>
            <p:spPr>
              <a:xfrm>
                <a:off x="713232" y="4002024"/>
                <a:ext cx="780897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b) Có. Sau 3 giờ vật tới </a:t>
                </a:r>
                <a:r>
                  <a:rPr lang="vi-VN"/>
                  <a:t>N</a:t>
                </a:r>
                <a:r>
                  <a:rPr sz="1900">
                    <a:solidFill>
                      <a:srgbClr val="1E293B"/>
                    </a:solidFill>
                    <a:latin typeface="Calibri"/>
                  </a:rPr>
                  <a:t>.</a:t>
                </a:r>
              </a:p>
            </p:txBody>
          </p:sp>
        </mc:Fallback>
      </mc:AlternateContent>
      <p:pic>
        <p:nvPicPr>
          <p:cNvPr id="12" name="Picture 11" descr="bai45.png"/>
          <p:cNvPicPr>
            <a:picLocks noChangeAspect="1"/>
          </p:cNvPicPr>
          <p:nvPr/>
        </p:nvPicPr>
        <p:blipFill>
          <a:blip r:embed="rId3"/>
          <a:stretch>
            <a:fillRect/>
          </a:stretch>
        </p:blipFill>
        <p:spPr>
          <a:xfrm>
            <a:off x="8992925" y="1463040"/>
            <a:ext cx="2588149" cy="28346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29</a:t>
            </a:r>
          </a:p>
        </p:txBody>
      </p:sp>
      <p:sp>
        <p:nvSpPr>
          <p:cNvPr id="7" name="TextBox 6"/>
          <p:cNvSpPr txBox="1"/>
          <p:nvPr/>
        </p:nvSpPr>
        <p:spPr>
          <a:xfrm>
            <a:off x="548640" y="1417320"/>
            <a:ext cx="7589520" cy="4754880"/>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https://trangtu66.github.io/Taode_thi_online/cc_bai7_t10.html</a:t>
            </a:r>
          </a:p>
          <a:p>
            <a:pPr algn="l">
              <a:spcAft>
                <a:spcPts val="800"/>
              </a:spcAft>
            </a:pPr>
            <a:r>
              <a:rPr sz="2200" b="1">
                <a:solidFill>
                  <a:srgbClr val="1E293B"/>
                </a:solidFill>
                <a:latin typeface="Calibri"/>
              </a:rPr>
              <a:t>Nhiệm vụ về nhà:</a:t>
            </a:r>
          </a:p>
          <a:p>
            <a:pPr marL="365760" indent="-365760" algn="l">
              <a:spcAft>
                <a:spcPts val="800"/>
              </a:spcAft>
              <a:buClr>
                <a:srgbClr val="1E40AF"/>
              </a:buClr>
              <a:buFont typeface="Arial"/>
              <a:buChar char="•"/>
            </a:pPr>
            <a:r>
              <a:rPr sz="2200">
                <a:solidFill>
                  <a:srgbClr val="1E293B"/>
                </a:solidFill>
                <a:latin typeface="Calibri"/>
              </a:rPr>
              <a:t>Hoàn thành Bài tập 4.1 – 4.5.</a:t>
            </a:r>
          </a:p>
          <a:p>
            <a:pPr marL="365760" indent="-365760" algn="l">
              <a:spcAft>
                <a:spcPts val="800"/>
              </a:spcAft>
              <a:buClr>
                <a:srgbClr val="1E40AF"/>
              </a:buClr>
              <a:buFont typeface="Arial"/>
              <a:buChar char="•"/>
            </a:pPr>
            <a:r>
              <a:rPr sz="2200">
                <a:solidFill>
                  <a:srgbClr val="1E293B"/>
                </a:solidFill>
                <a:latin typeface="Calibri"/>
              </a:rPr>
              <a:t>Đọc trước </a:t>
            </a:r>
            <a:r>
              <a:rPr sz="2200" b="1">
                <a:solidFill>
                  <a:srgbClr val="1E293B"/>
                </a:solidFill>
                <a:latin typeface="Calibri"/>
              </a:rPr>
              <a:t>Bài 8. Tổng và hiệu của hai vectơ</a:t>
            </a:r>
            <a:r>
              <a:rPr sz="2200">
                <a:solidFill>
                  <a:srgbClr val="1E293B"/>
                </a:solidFill>
                <a:latin typeface="Calibri"/>
              </a:rPr>
              <a:t> (SGK tr.51).</a:t>
            </a:r>
          </a:p>
          <a:p>
            <a:pPr marL="365760" indent="-365760" algn="l">
              <a:spcAft>
                <a:spcPts val="800"/>
              </a:spcAft>
              <a:buClr>
                <a:srgbClr val="1E40AF"/>
              </a:buClr>
              <a:buFont typeface="Arial"/>
              <a:buChar char="•"/>
            </a:pPr>
            <a:r>
              <a:rPr sz="2200">
                <a:solidFill>
                  <a:srgbClr val="1E293B"/>
                </a:solidFill>
                <a:latin typeface="Calibri"/>
              </a:rPr>
              <a:t>Tìm 2 hình ảnh thực tế có thể biểu diễn bằng vectơ (lực kéo, vận tốc…), vẽ vectơ lên ảnh.</a:t>
            </a:r>
          </a:p>
        </p:txBody>
      </p:sp>
      <p:pic>
        <p:nvPicPr>
          <p:cNvPr id="8" name="Picture 7" descr="QR_CungCo_Bai7_Toan10.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  MỞ BÀI CỦNG CỐ</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30</a:t>
            </a:r>
          </a:p>
        </p:txBody>
      </p:sp>
      <p:pic>
        <p:nvPicPr>
          <p:cNvPr id="7" name="Picture 6" descr="SoDoTuDuy_TOAN10_Bai7_CacKhaiNiemMoDau_T26-27.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31</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484632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100">
                    <a:solidFill>
                      <a:srgbClr val="1E293B"/>
                    </a:solidFill>
                    <a:latin typeface="Calibri"/>
                  </a:rPr>
                  <a:t>Nhầm </a:t>
                </a:r>
                <a:r>
                  <a:rPr sz="2100" b="1">
                    <a:solidFill>
                      <a:srgbClr val="1E293B"/>
                    </a:solidFill>
                    <a:latin typeface="Calibri"/>
                  </a:rPr>
                  <a:t>cùng phương</a:t>
                </a:r>
                <a:r>
                  <a:rPr sz="2100">
                    <a:solidFill>
                      <a:srgbClr val="1E293B"/>
                    </a:solidFill>
                    <a:latin typeface="Calibri"/>
                  </a:rPr>
                  <a:t> với </a:t>
                </a:r>
                <a:r>
                  <a:rPr sz="2100" b="1">
                    <a:solidFill>
                      <a:srgbClr val="1E293B"/>
                    </a:solidFill>
                    <a:latin typeface="Calibri"/>
                  </a:rPr>
                  <a:t>cùng hướng</a:t>
                </a:r>
                <a:r>
                  <a:rPr sz="2100">
                    <a:solidFill>
                      <a:srgbClr val="1E293B"/>
                    </a:solidFill>
                    <a:latin typeface="Calibri"/>
                  </a:rPr>
                  <a:t>; nhầm </a:t>
                </a:r>
                <a:r>
                  <a:rPr sz="2100" b="1">
                    <a:solidFill>
                      <a:srgbClr val="1E293B"/>
                    </a:solidFill>
                    <a:latin typeface="Calibri"/>
                  </a:rPr>
                  <a:t>bằng nhau</a:t>
                </a:r>
                <a:r>
                  <a:rPr sz="2100">
                    <a:solidFill>
                      <a:srgbClr val="1E293B"/>
                    </a:solidFill>
                    <a:latin typeface="Calibri"/>
                  </a:rPr>
                  <a:t> với </a:t>
                </a:r>
                <a:r>
                  <a:rPr sz="2100" b="1">
                    <a:solidFill>
                      <a:srgbClr val="1E293B"/>
                    </a:solidFill>
                    <a:latin typeface="Calibri"/>
                  </a:rPr>
                  <a:t>cùng độ dài</a:t>
                </a:r>
                <a:r>
                  <a:rPr sz="2100">
                    <a:solidFill>
                      <a:srgbClr val="1E293B"/>
                    </a:solidFill>
                    <a:latin typeface="Calibri"/>
                  </a:rPr>
                  <a:t>.</a:t>
                </a:r>
              </a:p>
              <a:p>
                <a:pPr marL="365760" indent="-365760" algn="l">
                  <a:spcAft>
                    <a:spcPts val="800"/>
                  </a:spcAft>
                  <a:buClr>
                    <a:srgbClr val="1E40AF"/>
                  </a:buClr>
                  <a:buFont typeface="Arial"/>
                  <a:buChar char="•"/>
                </a:pPr>
                <a:r>
                  <a:rPr sz="2100">
                    <a:solidFill>
                      <a:srgbClr val="1E293B"/>
                    </a:solidFill>
                    <a:latin typeface="Calibri"/>
                  </a:rPr>
                  <a:t>Viết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𝐴𝐵</m:t>
                        </m:r>
                      </m:e>
                    </m:acc>
                  </m:oMath>
                </a14:m>
                <a:r>
                  <a:rPr sz="2100">
                    <a:solidFill>
                      <a:srgbClr val="1E293B"/>
                    </a:solidFill>
                    <a:latin typeface="Calibri"/>
                  </a:rPr>
                  <a:t>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𝐶𝐷</m:t>
                        </m:r>
                      </m:e>
                    </m:acc>
                  </m:oMath>
                </a14:m>
                <a:r>
                  <a:rPr sz="2100">
                    <a:solidFill>
                      <a:srgbClr val="1E293B"/>
                    </a:solidFill>
                    <a:latin typeface="Calibri"/>
                  </a:rPr>
                  <a:t> cho hai cạnh đối của hình bình hành </a:t>
                </a:r>
                <a14:m>
                  <m:oMath xmlns:m="http://schemas.openxmlformats.org/officeDocument/2006/math">
                    <m:r>
                      <a:rPr lang="vi-VN" sz="2100" b="0">
                        <a:solidFill>
                          <a:srgbClr val="1E293B"/>
                        </a:solidFill>
                        <a:latin typeface="Cambria Math" panose="02040503050406030204" pitchFamily="18" charset="0"/>
                      </a:rPr>
                      <m:t>𝐴𝐵𝐶𝐷</m:t>
                    </m:r>
                  </m:oMath>
                </a14:m>
                <a:r>
                  <a:rPr sz="2100">
                    <a:solidFill>
                      <a:srgbClr val="1E293B"/>
                    </a:solidFill>
                    <a:latin typeface="Calibri"/>
                  </a:rPr>
                  <a:t> (đúng phải là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𝐴𝐵</m:t>
                        </m:r>
                      </m:e>
                    </m:acc>
                  </m:oMath>
                </a14:m>
                <a:r>
                  <a:rPr sz="2100">
                    <a:solidFill>
                      <a:srgbClr val="1E293B"/>
                    </a:solidFill>
                    <a:latin typeface="Calibri"/>
                  </a:rPr>
                  <a:t>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𝐷𝐶</m:t>
                        </m:r>
                      </m:e>
                    </m:acc>
                  </m:oMath>
                </a14:m>
                <a:r>
                  <a:rPr sz="2100">
                    <a:solidFill>
                      <a:srgbClr val="1E293B"/>
                    </a:solidFill>
                    <a:latin typeface="Calibri"/>
                  </a:rPr>
                  <a:t>).</a:t>
                </a:r>
              </a:p>
              <a:p>
                <a:pPr marL="365760" indent="-365760" algn="l">
                  <a:spcAft>
                    <a:spcPts val="800"/>
                  </a:spcAft>
                  <a:buClr>
                    <a:srgbClr val="1E40AF"/>
                  </a:buClr>
                  <a:buFont typeface="Arial"/>
                  <a:buChar char="•"/>
                </a:pPr>
                <a:r>
                  <a:rPr sz="2100">
                    <a:solidFill>
                      <a:srgbClr val="1E293B"/>
                    </a:solidFill>
                    <a:latin typeface="Calibri"/>
                  </a:rPr>
                  <a:t>Quên vectơ-không cùng hướng với mọi vectơ (Bài 4.1a).</a:t>
                </a:r>
              </a:p>
              <a:p>
                <a:pPr marL="365760" indent="-365760" algn="l">
                  <a:spcAft>
                    <a:spcPts val="800"/>
                  </a:spcAft>
                  <a:buClr>
                    <a:srgbClr val="1E40AF"/>
                  </a:buClr>
                  <a:buFont typeface="Arial"/>
                  <a:buChar char="•"/>
                </a:pPr>
                <a:r>
                  <a:rPr sz="2100">
                    <a:solidFill>
                      <a:srgbClr val="1E293B"/>
                    </a:solidFill>
                    <a:latin typeface="Calibri"/>
                  </a:rPr>
                  <a:t>Luyện tập 3: chọn c) – chỉ là điều kiện cần, không đủ.</a:t>
                </a:r>
              </a:p>
            </p:txBody>
          </p:sp>
        </mc:Choice>
        <mc:Fallback xmlns="">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Nhầm </a:t>
                </a:r>
                <a:r>
                  <a:rPr sz="2100" b="1">
                    <a:solidFill>
                      <a:srgbClr val="1E293B"/>
                    </a:solidFill>
                    <a:latin typeface="Calibri"/>
                  </a:rPr>
                  <a:t>cùng phương</a:t>
                </a:r>
                <a:r>
                  <a:rPr sz="2100">
                    <a:solidFill>
                      <a:srgbClr val="1E293B"/>
                    </a:solidFill>
                    <a:latin typeface="Calibri"/>
                  </a:rPr>
                  <a:t> với </a:t>
                </a:r>
                <a:r>
                  <a:rPr sz="2100" b="1">
                    <a:solidFill>
                      <a:srgbClr val="1E293B"/>
                    </a:solidFill>
                    <a:latin typeface="Calibri"/>
                  </a:rPr>
                  <a:t>cùng hướng</a:t>
                </a:r>
                <a:r>
                  <a:rPr sz="2100">
                    <a:solidFill>
                      <a:srgbClr val="1E293B"/>
                    </a:solidFill>
                    <a:latin typeface="Calibri"/>
                  </a:rPr>
                  <a:t>; nhầm </a:t>
                </a:r>
                <a:r>
                  <a:rPr sz="2100" b="1">
                    <a:solidFill>
                      <a:srgbClr val="1E293B"/>
                    </a:solidFill>
                    <a:latin typeface="Calibri"/>
                  </a:rPr>
                  <a:t>bằng nhau</a:t>
                </a:r>
                <a:r>
                  <a:rPr sz="2100">
                    <a:solidFill>
                      <a:srgbClr val="1E293B"/>
                    </a:solidFill>
                    <a:latin typeface="Calibri"/>
                  </a:rPr>
                  <a:t> với </a:t>
                </a:r>
                <a:r>
                  <a:rPr sz="2100" b="1">
                    <a:solidFill>
                      <a:srgbClr val="1E293B"/>
                    </a:solidFill>
                    <a:latin typeface="Calibri"/>
                  </a:rPr>
                  <a:t>cùng độ dài</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Viết </a:t>
                </a:r>
                <a:r>
                  <a:rPr lang="vi-VN"/>
                  <a:t>\overrightarrow{AB}</a:t>
                </a:r>
                <a:r>
                  <a:rPr sz="2100">
                    <a:solidFill>
                      <a:srgbClr val="1E293B"/>
                    </a:solidFill>
                    <a:latin typeface="Calibri"/>
                  </a:rPr>
                  <a:t> = </a:t>
                </a:r>
                <a:r>
                  <a:rPr lang="vi-VN"/>
                  <a:t>\overrightarrow{CD}</a:t>
                </a:r>
                <a:r>
                  <a:rPr sz="2100">
                    <a:solidFill>
                      <a:srgbClr val="1E293B"/>
                    </a:solidFill>
                    <a:latin typeface="Calibri"/>
                  </a:rPr>
                  <a:t> cho hai cạnh đối của hình bình hành </a:t>
                </a:r>
                <a:r>
                  <a:rPr lang="vi-VN"/>
                  <a:t>ABCD</a:t>
                </a:r>
                <a:r>
                  <a:rPr sz="2100">
                    <a:solidFill>
                      <a:srgbClr val="1E293B"/>
                    </a:solidFill>
                    <a:latin typeface="Calibri"/>
                  </a:rPr>
                  <a:t> (đúng phải là </a:t>
                </a:r>
                <a:r>
                  <a:rPr lang="vi-VN"/>
                  <a:t>\overrightarrow{AB}</a:t>
                </a:r>
                <a:r>
                  <a:rPr sz="2100">
                    <a:solidFill>
                      <a:srgbClr val="1E293B"/>
                    </a:solidFill>
                    <a:latin typeface="Calibri"/>
                  </a:rPr>
                  <a:t> = </a:t>
                </a:r>
                <a:r>
                  <a:rPr lang="vi-VN"/>
                  <a:t>\overrightarrow{DC}</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Quên vectơ-không cùng hướng với mọi vectơ (Bài 4.1a).</a:t>
                </a:r>
              </a:p>
              <a:p>
                <a:pPr algn="l" marL="365760" indent="-365760">
                  <a:spcAft>
                    <a:spcPts val="800"/>
                  </a:spcAft>
                  <a:buClr>
                    <a:srgbClr val="1E40AF"/>
                  </a:buClr>
                  <a:buFont typeface="Arial"/>
                  <a:buChar char="•"/>
                </a:pPr>
                <a:r>
                  <a:rPr sz="2100">
                    <a:solidFill>
                      <a:srgbClr val="1E293B"/>
                    </a:solidFill>
                    <a:latin typeface="Calibri"/>
                  </a:rPr>
                  <a:t>Luyện tập 3: chọn c) – chỉ là điều kiện cần, không đủ.</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Các khái niệm mở đầu – Toán 10          32</a:t>
            </a:r>
          </a:p>
        </p:txBody>
      </p:sp>
      <p:sp>
        <p:nvSpPr>
          <p:cNvPr id="7" name="TextBox 6"/>
          <p:cNvSpPr txBox="1"/>
          <p:nvPr/>
        </p:nvSpPr>
        <p:spPr>
          <a:xfrm>
            <a:off x="548640" y="1371600"/>
            <a:ext cx="11064240" cy="484632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dùng que tính có gắn mũi tên để minh hoạ vectơ; giao Ví dụ 1, Luyện tập 1, Bài 4.1, 4.2.</a:t>
            </a:r>
          </a:p>
          <a:p>
            <a:pPr marL="365760" indent="-365760" algn="l">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Bài 4.4, 4.5; tự đặt câu hỏi về lục giác đều.</a:t>
            </a:r>
          </a:p>
          <a:p>
            <a:pPr marL="365760" indent="-365760" algn="l">
              <a:spcAft>
                <a:spcPts val="800"/>
              </a:spcAft>
              <a:buClr>
                <a:srgbClr val="1E40AF"/>
              </a:buClr>
              <a:buFont typeface="Arial"/>
              <a:buChar char="•"/>
            </a:pPr>
            <a:r>
              <a:rPr sz="2000" b="1">
                <a:solidFill>
                  <a:srgbClr val="1E293B"/>
                </a:solidFill>
                <a:latin typeface="Calibri"/>
              </a:rPr>
              <a:t>Lớp 10A7 (HS khiếm thính):</a:t>
            </a:r>
            <a:r>
              <a:rPr sz="2000">
                <a:solidFill>
                  <a:srgbClr val="1E293B"/>
                </a:solidFill>
                <a:latin typeface="Calibri"/>
              </a:rPr>
              <a:t> luật chơi, yêu cầu luôn có chữ trên slide; video có phụ đề; dùng thẻ Đ/S, bảng con thay trả lời miệng. </a:t>
            </a:r>
            <a:r>
              <a:rPr sz="2000" b="1">
                <a:solidFill>
                  <a:srgbClr val="1E293B"/>
                </a:solidFill>
                <a:latin typeface="Calibri"/>
              </a:rPr>
              <a:t>Lớp 10A4:</a:t>
            </a:r>
            <a:r>
              <a:rPr sz="2000">
                <a:solidFill>
                  <a:srgbClr val="1E293B"/>
                </a:solidFill>
                <a:latin typeface="Calibri"/>
              </a:rPr>
              <a:t> HS trả lời tại chỗ, không yêu cầu di chuyển lên bảng nếu không phù hợp sức khoẻ.</a:t>
            </a:r>
          </a:p>
          <a:p>
            <a:pPr marL="365760" indent="-365760" algn="l">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dùng KHBD in, hình vẽ trên bảng; GeoGebra thay bằng que tính, giấy kẻ 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4650</Words>
  <Application>Microsoft Office PowerPoint</Application>
  <PresentationFormat>Widescreen</PresentationFormat>
  <Paragraphs>269</Paragraphs>
  <Slides>32</Slides>
  <Notes>32</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Trang Truong</cp:lastModifiedBy>
  <cp:revision>2</cp:revision>
  <dcterms:created xsi:type="dcterms:W3CDTF">2013-01-27T09:14:16Z</dcterms:created>
  <dcterms:modified xsi:type="dcterms:W3CDTF">2026-10-30T11:13:54Z</dcterms:modified>
  <cp:category/>
</cp:coreProperties>
</file>