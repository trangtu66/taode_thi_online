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Bìa. Đáp án, lời giải hiện theo click. Nút GeoGebra, video mở trang online (cần Internet).</a:t>
            </a:r>
          </a:p>
          <a:p>
            <a:r>
              <a:t>Lớp 10A7 có HS khiếm thính: mọi yêu cầu, luật chơi đều có chữ trên slide; video có phụ đề.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Yêu cầu cần đạt lấy từ khung 'Kiến thức, kĩ năng' SGK tr.71 – 72 (SGV tr.133).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7' (cả phần hệ thống kiến thức). Video 1 phút 07 giây (phụ đề). Các nhóm chuẩn bị trả lời nhanh ở trò chơi Ghép đôi.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2'. Theo SGV tr.133 (Tổng kết kiến thức). Hiện từng khung theo click; HS nhắc lại trước khi GV hiện.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2'. Theo SGV tr.133. Hiện từng khung theo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2'. G là trọng tâm tam giác ABC; u = (x; y), v = (x'; y'). Click 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8'. Bài 4.27 – 4.32 (SGK tr.71). Mỗi câu 30 giây, HS giơ thẻ A/B/C/D hoặc ghi bảng con. Đáp án theo SGV tr.134, đã kiểm tra bằng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Nhiễu D: sai dấu thành phần thứ hai.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A: cùng hướng; B: ngược hướng; D: góc 45°.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Nhiễu A, B: |a| = √2 (quên căn → nghĩ bằng 1 + 1 hay 1 − 1).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Nhiễu D: bỏ dấu trừ của côsin.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HS hay chọn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A: góc đúng là 135°; C: AC ⊥ BD nên bằng 0; D: bằng a^2.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4'. Mức 1 – 2: 4.33; Mức 3: 4.34. Chữa bài: gọi HS trình bày, click hiện đáp án (đối chiếu SGV tr.134 – 136; đã kiểm tra bằng Python).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5'. Mức 1 – 2: a – c; Mức 3: d (chú ý thứ tự đỉnh BCAD). Chữa bài: gọi HS trình bày, click hiện đáp án (đối chiếu SGV tr.134 – 136; đã kiểm tra bằng Python).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5'. Nhóm – Mức 3. Chữa bài: gọi HS trình bày, click hiện đáp án (đối chiếu SGV tr.134 – 136; đã kiểm tra bằng Python).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2'. Nhóm kiểm chứng kết quả 4.35 trên điện thoại (QR).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Nhóm lẻ: số 1, nhóm chẵn: số 2 (Phiếu học tập – KHBD). Click 1, 2. NLa, NLc: kiểm chứng kết quả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Hướng dẫn 2', HS hoàn thiện ở nhà (SGV tr.136). Click hiện gợi 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Gợi ý: hướng S15°E là lệch 15° từ hướng nam về phía đông (Bài 3.8, tr.42). Click 1–3. SGV tr.136: ≈ 19,44 km/h.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Lệnh: T=(20sin(15°),-20cos(15°)), N=T-(w,0), vr=Vector(O,N).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Dùng khi còn thời gian hoặc giao về nhà (bài củng cố online cũng 7 câu). 8 câu theo cấu trúc đề thi từ 2025: 4 nhiều lựa chọn, 1 Đúng/Sai, 2 trả lời ngắn, 1 thực tế. Đáp án đã kiểm tra bằng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Nhiễu: 2u + v = (0; 7); sai dấu một thành phần.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Nhiễu A, B: thiếu dấu trừ (GA = −(GB + GC)).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Nhầm với điều kiện cùng phương.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Nhiễu B: hình bình hành ABDC; C: ADBC.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1–4. Đáp án đã kiểm tra bằng Python: Đ – Đ – S – 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 Sai lầm: cộng độ lớn 12 + 5 = 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5'. Bài củng cố 7 câu trong 7 phút (nếu còn giờ làm tại lớp). Đáp án chỉ mở khi GV cho phép.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2'. GV hiện sơ đồ, HS nêu nội dung từng nhánh.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rangtu66.github.io/Taode_thi_online/mon/toan/video/lop10/VIDEO_MoDau_TOAN10_BaiTapCuoiChuong4.mp4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trangtu66.github.io/Taode_thi_online/GGB_T10_BTCC4_1_TamGiacVuong.html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trangtu66.github.io/Taode_thi_online/GGB_T10_BTCC4_2_CaNo.html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Relationship Id="rId4" Type="http://schemas.openxmlformats.org/officeDocument/2006/relationships/hyperlink" Target="https://trangtu66.github.io/Taode_thi_online/cc_chuong4_t10.html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CHƯƠNG IV. VECTƠ</a:t>
            </a:r>
          </a:p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ÔN TẬP CHƯƠNG</a:t>
            </a:r>
          </a:p>
          <a:p>
            <a:pPr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mbria"/>
              </a:rPr>
              <a:t>BÀI TẬP CUỐI CHƯƠNG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1 tiết: T38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180746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53896"/>
            <a:ext cx="10735056" cy="1734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Yêu cầu cần đạt</a:t>
            </a:r>
            <a:r>
              <a:rPr sz="2200">
                <a:solidFill>
                  <a:srgbClr val="1E293B"/>
                </a:solidFill>
                <a:latin typeface="Calibri"/>
              </a:rPr>
              <a:t> (SGK tr.71 – 72 (SGV tr.133))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Hệ thống kiến thức Chương IV: vectơ; tổng, hiệu, tích với một số; toạ độ của vectơ; tích vô hướng.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Giải các bài tập tổng hợp SGK (Bài 4.27 – 4.39).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53384"/>
            <a:ext cx="1106424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Năng lực toán học:</a:t>
            </a:r>
            <a:r>
              <a:rPr sz="2200">
                <a:solidFill>
                  <a:srgbClr val="1E293B"/>
                </a:solidFill>
                <a:latin typeface="Calibri"/>
              </a:rPr>
              <a:t> tư duy và lập luận (chứng minh đẳng thức vectơ, tam giác vuông); mô hình hoá (vận tốc ca nô, dòng nước); giải quyết vấn đề (chọn cách giải hình học hay toạ độ); sử dụng công cụ (GeoGebra, máy tính cầm tay).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Phẩm chất:</a:t>
            </a:r>
            <a:r>
              <a:rPr sz="2200">
                <a:solidFill>
                  <a:srgbClr val="1E293B"/>
                </a:solidFill>
                <a:latin typeface="Calibri"/>
              </a:rPr>
              <a:t> chăm chỉ, trung thực khi tự kiểm tra kết quả, trách nhiệm khi làm việc nhóm.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KHỞI ĐỘNG – VECTƠ QUANH 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583680" cy="38404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Chương IV đã giúp chúng ta dùng vectơ để mô tả gió, dòng nước, lực và vận tốc.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Trước khi luyện tập, em hãy nhớ lại: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quy tắc ba điểm, quy tắc hình bình hành, quy tắc hiệu; hướng và độ dài của vectơ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toạ độ của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MN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hai cách tính tích vô hướng; điều kiện hai vectơ cùng phương, vuông góc.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64748B"/>
                    </a:solidFill>
                    <a:latin typeface="Calibri"/>
                  </a:rPr>
                  <a:t>(Video mở đầu – Bài tập cuối chương IV)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583680" cy="38404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Chương IV đã giúp chúng ta dùng vectơ để mô tả gió, dòng nước, lực và vận tốc.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Trước khi luyện tập, em hãy nhớ lại: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quy tắc ba điểm, quy tắc hình bình hành, quy tắc hiệu; hướng và độ dài của vectơ </a:t>
                </a:r>
                <a:r>
                  <a:rPr lang="vi-VN"/>
                  <a:t>k\vec{a}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toạ độ của vectơ </a:t>
                </a:r>
                <a:r>
                  <a:rPr lang="vi-VN"/>
                  <a:t>\overrightarrow{MN}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hai cách tính tích vô hướng; điều kiện hai vectơ cùng phương, vuông góc.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64748B"/>
                    </a:solidFill>
                    <a:latin typeface="Calibri"/>
                  </a:rPr>
                  <a:t>(Video mở đầu – Bài tập cuối chương IV)</a:t>
                </a:r>
              </a:p>
            </p:txBody>
          </p:sp>
        </mc:Fallback>
      </mc:AlternateContent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349240"/>
            <a:ext cx="3931920" cy="6400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VIDEO MỞ ĐẦU</a:t>
            </a:r>
          </a:p>
        </p:txBody>
      </p:sp>
      <p:pic>
        <p:nvPicPr>
          <p:cNvPr id="9" name="Picture 8" descr="qr_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074920"/>
            <a:ext cx="1188720" cy="1188720"/>
          </a:xfrm>
          <a:prstGeom prst="rect">
            <a:avLst/>
          </a:prstGeom>
        </p:spPr>
      </p:pic>
      <p:pic>
        <p:nvPicPr>
          <p:cNvPr id="10" name="Picture 9" descr="ph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828800"/>
            <a:ext cx="4389120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5504688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Ảnh: Wikimedia Commons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HỆ THỐNG KIẾN THỨC – VECTƠ VÀ CÁC PHÉP TOÁN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1005839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408176"/>
                <a:ext cx="10735056" cy="932687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Quy tắc ba điểm: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quy tắc hiệu: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Quy tắc hình bình hành: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ABCD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hình bình hành thì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AD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408176"/>
                <a:ext cx="10735056" cy="932687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Quy tắc ba điểm: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\overrightarrow{AB}+\overrightarrow{BC}=\overrightarrow{AC}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quy tắc hiệu: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\overrightarrow{AC}-\overrightarrow{AB}=\overrightarrow{BC}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Quy tắc hình bình hành: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ABCD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hình bình hành thì </a:t>
                </a:r>
                <a:r>
                  <a:rPr lang="vi-VN"/>
                  <a:t>\overrightarrow{AB}+\overrightarrow{AD}=\overrightarrow{AC}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548640" y="2514599"/>
            <a:ext cx="11064240" cy="1005839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1_chu"/>
              <p:cNvSpPr txBox="1"/>
              <p:nvPr/>
            </p:nvSpPr>
            <p:spPr>
              <a:xfrm>
                <a:off x="713232" y="2551175"/>
                <a:ext cx="10735056" cy="932687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trung điểm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⇔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MB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⇔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OB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OM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với mọi điểm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trọng tâm tam giác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⇔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GB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GC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⇔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OB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OC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OG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713232" y="2551175"/>
                <a:ext cx="10735056" cy="932687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M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trung điểm </a:t>
                </a:r>
                <a:r>
                  <a:rPr lang="vi-VN"/>
                  <a:t>AB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⇔ </a:t>
                </a:r>
                <a:r>
                  <a:rPr lang="vi-VN"/>
                  <a:t>\overrightarrow{MA}+\overrightarrow{MB}=\vec{0}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⇔ </a:t>
                </a:r>
                <a:r>
                  <a:rPr lang="vi-VN"/>
                  <a:t>\overrightarrow{OA}+\overrightarrow{OB}=2\overrightarrow{OM}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với mọi điểm </a:t>
                </a:r>
                <a:r>
                  <a:rPr lang="vi-VN"/>
                  <a:t>O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G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trọng tâm tam giác </a:t>
                </a:r>
                <a:r>
                  <a:rPr lang="vi-VN"/>
                  <a:t>ABC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⇔ </a:t>
                </a:r>
                <a:r>
                  <a:rPr lang="vi-VN"/>
                  <a:t>\overrightarrow{GA}+\overrightarrow{GB}+\overrightarrow{GC}=\vec{0}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⇔ </a:t>
                </a:r>
                <a:r>
                  <a:rPr lang="vi-VN"/>
                  <a:t>\overrightarrow{OA}+\overrightarrow{OB}+\overrightarrow{OC}=3\overrightarrow{OG}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2_nen"/>
          <p:cNvSpPr/>
          <p:nvPr/>
        </p:nvSpPr>
        <p:spPr>
          <a:xfrm>
            <a:off x="548640" y="3657599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2_chu"/>
              <p:cNvSpPr txBox="1"/>
              <p:nvPr/>
            </p:nvSpPr>
            <p:spPr>
              <a:xfrm>
                <a:off x="713232" y="3694175"/>
                <a:ext cx="10735056" cy="12527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cùng phương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⇔ có số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để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=k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Ba điểm phân biệt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thẳng hàng ⇔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cùng phương.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không cùng phương: mọi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biểu thị duy nhất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=x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+y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3694175"/>
                <a:ext cx="10735056" cy="12527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\vec{a}\ne\vec{0}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\vec{b}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cùng phương </a:t>
                </a:r>
                <a:r>
                  <a:rPr lang="vi-VN"/>
                  <a:t>\vec{a}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⇔ có số </a:t>
                </a:r>
                <a:r>
                  <a:rPr lang="vi-VN"/>
                  <a:t>k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để </a:t>
                </a:r>
                <a:r>
                  <a:rPr lang="vi-VN"/>
                  <a:t>\vec{b}=k\vec{a}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Ba điểm phân biệt </a:t>
                </a:r>
                <a:r>
                  <a:rPr lang="vi-VN"/>
                  <a:t>A,\ B,\ C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thẳng hàng ⇔ </a:t>
                </a:r>
                <a:r>
                  <a:rPr lang="vi-VN"/>
                  <a:t>\overrightarrow{AB}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\overrightarrow{AC}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cùng phương.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\vec{a},\ \vec{b}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không cùng phương: mọi </a:t>
                </a:r>
                <a:r>
                  <a:rPr lang="vi-VN"/>
                  <a:t>\vec{u}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biểu thị duy nhất </a:t>
                </a:r>
                <a:r>
                  <a:rPr lang="vi-VN"/>
                  <a:t>\vec{u}=x\vec{a}+y\vec{b}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HỆ THỐNG KIẾN THỨC – TOẠ ĐỘ VÀ TÍCH VÔ HƯỚNG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40817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=|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|·|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|·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40817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\vec{u}\cdot\vec{v}=|\vec{u}|\cdot|\vec{v}|\cdot\cos(\vec{u},\ \vec{v})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548640" y="2154936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1_chu"/>
              <p:cNvSpPr txBox="1"/>
              <p:nvPr/>
            </p:nvSpPr>
            <p:spPr>
              <a:xfrm>
                <a:off x="713232" y="2191512"/>
                <a:ext cx="10735056" cy="129844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=(x;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±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=(x±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y±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=(kx;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ky)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|=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=x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+y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+y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MN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MN=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sSub>
                                  <m:e>
                                    <m:r>
                                      <a:rPr lang="vi-VN" sz="2200" b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vi-VN" sz="2200" b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vi-VN" sz="2200" b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vi-VN" sz="2200" b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b>
                                </m:sSub>
                                <m:sSup>
                                  <m:e>
                                    <m:r>
                                      <a:rPr lang="vi-VN" sz="2200" b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vi-VN" sz="2200" b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e>
                                    <m:r>
                                      <a:rPr lang="vi-VN" sz="2200" b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vi-VN" sz="2200" b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vi-VN" sz="2200" b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vi-VN" sz="2200" b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713232" y="2191512"/>
                <a:ext cx="10735056" cy="129844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Cho </a:t>
                </a:r>
                <a:r>
                  <a:rPr lang="vi-VN"/>
                  <a:t>\vec{u}=(x;\ y)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\vec{v}=(x';\ y')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\vec{u}\pm\vec{v}=(x\pm x';\ y\pm y')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k\vec{u}=(kx;\ ky)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|\vec{u}|=\sqrt{x^2+y^2}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\vec{u}\cdot\vec{v}=xx'+yy'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\vec{u}\perp\vec{v}\Leftrightarrow xx'+yy'=0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\overrightarrow{MN}=(x_N-x_M;\ y_N-y_M)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MN=\sqrt{(x_N-x_M)^2+(y_N-y_M)^2}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2_nen"/>
          <p:cNvSpPr/>
          <p:nvPr/>
        </p:nvSpPr>
        <p:spPr>
          <a:xfrm>
            <a:off x="548640" y="3709416"/>
            <a:ext cx="11064240" cy="138836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2_chu"/>
              <p:cNvSpPr txBox="1"/>
              <p:nvPr/>
            </p:nvSpPr>
            <p:spPr>
              <a:xfrm>
                <a:off x="713232" y="3745992"/>
                <a:ext cx="10735056" cy="131521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Trung điểm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sSub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sub>
                            </m:sSub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sSub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sub>
                            </m:sSub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trọng tâm tam giác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sSub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sub>
                            </m:s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sSub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sub>
                            </m:s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3745992"/>
                <a:ext cx="10735056" cy="131521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Trung điểm </a:t>
                </a:r>
                <a:r>
                  <a:rPr lang="vi-VN"/>
                  <a:t>AB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\left(\frac{x_A+x_B}{2};\ \frac{y_A+y_B}{2}\right)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trọng tâm tam giác </a:t>
                </a:r>
                <a:r>
                  <a:rPr lang="vi-VN"/>
                  <a:t>ABC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\left(\frac{x_A+x_B+x_C}{3};\ \frac{y_A+y_B+y_C}{3}\right)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TRÒ CHƠI: GHÉP ĐÔI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64748B"/>
                </a:solidFill>
                <a:latin typeface="Calibri"/>
              </a:rPr>
              <a:t>📋 Mỗi nhóm ghép cột trái với cột phải, ghi vào bảng con trong 1 phút.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459736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459736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\overrightarrow{AB}+\overrightarrow{BC}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3200400" y="2423160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364992" y="2459736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3364992" y="2459736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\sqrt{x^2+y^2}</a:t>
                </a:r>
              </a:p>
            </p:txBody>
          </p:sp>
        </mc:Fallback>
      </mc:AlternateContent>
      <p:sp>
        <p:nvSpPr>
          <p:cNvPr id="12" name="s1_nen"/>
          <p:cNvSpPr/>
          <p:nvPr/>
        </p:nvSpPr>
        <p:spPr>
          <a:xfrm>
            <a:off x="5852160" y="2423160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1_chu"/>
          <p:cNvSpPr txBox="1"/>
          <p:nvPr/>
        </p:nvSpPr>
        <p:spPr>
          <a:xfrm>
            <a:off x="6016752" y="2459736"/>
            <a:ext cx="1133856" cy="7040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1 –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55848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713232" y="3392424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GA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GB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GC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713232" y="3392424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\overrightarrow{GA}+\overrightarrow{GB}+\overrightarrow{GC}</a:t>
                </a:r>
              </a:p>
            </p:txBody>
          </p:sp>
        </mc:Fallback>
      </mc:AlternateContent>
      <p:sp>
        <p:nvSpPr>
          <p:cNvPr id="16" name="Rounded Rectangle 15"/>
          <p:cNvSpPr/>
          <p:nvPr/>
        </p:nvSpPr>
        <p:spPr>
          <a:xfrm>
            <a:off x="3200400" y="3355848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3364992" y="3392424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3364992" y="3392424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\overrightarrow{AC}</a:t>
                </a:r>
              </a:p>
            </p:txBody>
          </p:sp>
        </mc:Fallback>
      </mc:AlternateContent>
      <p:sp>
        <p:nvSpPr>
          <p:cNvPr id="18" name="s2_nen"/>
          <p:cNvSpPr/>
          <p:nvPr/>
        </p:nvSpPr>
        <p:spPr>
          <a:xfrm>
            <a:off x="5852160" y="3355848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2_chu"/>
          <p:cNvSpPr txBox="1"/>
          <p:nvPr/>
        </p:nvSpPr>
        <p:spPr>
          <a:xfrm>
            <a:off x="6016752" y="3392424"/>
            <a:ext cx="1133856" cy="7040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2 – 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88536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713232" y="4325112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(toạ độ)</a:t>
                </a:r>
              </a:p>
            </p:txBody>
          </p:sp>
        </mc:Choice>
        <mc:Fallback>
          <p:sp>
            <p:nvSpPr>
              <p:cNvPr id="21" name="TextBox 20"/>
              <p:cNvSpPr txBox="1"/>
              <p:nvPr/>
            </p:nvSpPr>
            <p:spPr>
              <a:xfrm>
                <a:off x="713232" y="4325112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\vec{u}\cdot\vec{v}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(toạ độ)</a:t>
                </a:r>
              </a:p>
            </p:txBody>
          </p:sp>
        </mc:Fallback>
      </mc:AlternateContent>
      <p:sp>
        <p:nvSpPr>
          <p:cNvPr id="22" name="Rounded Rectangle 21"/>
          <p:cNvSpPr/>
          <p:nvPr/>
        </p:nvSpPr>
        <p:spPr>
          <a:xfrm>
            <a:off x="3200400" y="4288536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364992" y="4325112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+y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23" name="TextBox 22"/>
              <p:cNvSpPr txBox="1"/>
              <p:nvPr/>
            </p:nvSpPr>
            <p:spPr>
              <a:xfrm>
                <a:off x="3364992" y="4325112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xx'+yy'</a:t>
                </a:r>
              </a:p>
            </p:txBody>
          </p:sp>
        </mc:Fallback>
      </mc:AlternateContent>
      <p:sp>
        <p:nvSpPr>
          <p:cNvPr id="24" name="s3_nen"/>
          <p:cNvSpPr/>
          <p:nvPr/>
        </p:nvSpPr>
        <p:spPr>
          <a:xfrm>
            <a:off x="5852160" y="4288536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3_chu"/>
          <p:cNvSpPr txBox="1"/>
          <p:nvPr/>
        </p:nvSpPr>
        <p:spPr>
          <a:xfrm>
            <a:off x="6016752" y="4325112"/>
            <a:ext cx="1133856" cy="7040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3 – 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21224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713232" y="5257800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4.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</m:acc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(toạ độ)</a:t>
                </a:r>
              </a:p>
            </p:txBody>
          </p:sp>
        </mc:Choice>
        <mc:Fallback>
          <p:sp>
            <p:nvSpPr>
              <p:cNvPr id="27" name="TextBox 26"/>
              <p:cNvSpPr txBox="1"/>
              <p:nvPr/>
            </p:nvSpPr>
            <p:spPr>
              <a:xfrm>
                <a:off x="713232" y="5257800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4.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|\vec{u}|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(toạ độ)</a:t>
                </a:r>
              </a:p>
            </p:txBody>
          </p:sp>
        </mc:Fallback>
      </mc:AlternateContent>
      <p:sp>
        <p:nvSpPr>
          <p:cNvPr id="28" name="Rounded Rectangle 27"/>
          <p:cNvSpPr/>
          <p:nvPr/>
        </p:nvSpPr>
        <p:spPr>
          <a:xfrm>
            <a:off x="3200400" y="5221224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3364992" y="5257800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9" name="TextBox 28"/>
              <p:cNvSpPr txBox="1"/>
              <p:nvPr/>
            </p:nvSpPr>
            <p:spPr>
              <a:xfrm>
                <a:off x="3364992" y="5257800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\vec{0}</a:t>
                </a:r>
              </a:p>
            </p:txBody>
          </p:sp>
        </mc:Fallback>
      </mc:AlternateContent>
      <p:sp>
        <p:nvSpPr>
          <p:cNvPr id="30" name="s4_nen"/>
          <p:cNvSpPr/>
          <p:nvPr/>
        </p:nvSpPr>
        <p:spPr>
          <a:xfrm>
            <a:off x="5852160" y="5221224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4_chu"/>
          <p:cNvSpPr txBox="1"/>
          <p:nvPr/>
        </p:nvSpPr>
        <p:spPr>
          <a:xfrm>
            <a:off x="6016752" y="5257800"/>
            <a:ext cx="1133856" cy="7040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4 – 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VÒNG 1: TRẮC NGHIỆM SGK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554480"/>
            <a:ext cx="9418320" cy="2962656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591056"/>
            <a:ext cx="9089136" cy="2889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>
                <a:solidFill>
                  <a:srgbClr val="1E293B"/>
                </a:solidFill>
                <a:latin typeface="Calibri"/>
              </a:rPr>
              <a:t>🔔 </a:t>
            </a:r>
            <a:r>
              <a:rPr sz="3000" b="1">
                <a:solidFill>
                  <a:srgbClr val="1E293B"/>
                </a:solidFill>
                <a:latin typeface="Calibri"/>
              </a:rPr>
              <a:t>Luật chơi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bạn một bảng con hoặc bộ thẻ A, B, C, D.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câu 30 giây – hết giờ cùng giơ đáp án.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Sai: rời sàn thi (được cứu trợ 1 lần).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Vòng 1: 6 câu trắc nghiệm SGK (Bài 4.27 – 4.32).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Bạn trụ lại cuối cùng </a:t>
            </a:r>
            <a:r>
              <a:rPr sz="2400" b="1">
                <a:solidFill>
                  <a:srgbClr val="1E293B"/>
                </a:solidFill>
                <a:latin typeface="Calibri"/>
              </a:rPr>
              <a:t>rung chuông vàng</a:t>
            </a:r>
            <a:r>
              <a:rPr sz="2400">
                <a:solidFill>
                  <a:srgbClr val="1E293B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VÒNG 1 – BÀI 4.27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69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Trong mặt phẳng toạ độ, cặp vectơ nào sau đây có cùng phương?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=(2;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\vec{u}=(2;\ 3)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\vec{v}=\left(\frac{1}{2};\ 6\right)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=(1;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\vec{a}=(\sqrt{2};\ 6)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\vec{b}=(1;\ 3\sqrt{2})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=(1;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0)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\vec{i}=(0;\ 1)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\vec{j}=(1;\ 0)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=(1;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=(2;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−6)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\vec{c}=(1;\ 3)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\vec{d}=(2;\ -6)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10530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9799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(toạ độ tỉ lệ: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9799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\vec{b}=\frac{1}{\sqrt{2}}\vec{a}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(toạ độ tỉ lệ: </a:t>
                </a:r>
                <a:r>
                  <a:rPr lang="vi-VN"/>
                  <a:t>\frac{1}{\sqrt{2}}=\frac{3\sqrt{2}}{6}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VÒNG 1 – BÀI 4.28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69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Trong mặt phẳng toạ độ, cặp vectơ nào sau đây vuông góc với nhau?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=(2;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=(4;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6)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\vec{u}=(2;\ 3)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\vec{v}=(4;\ 6)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=(1;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=(−1;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\vec{a}=(1;\ -1)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\vec{b}=(-1;\ 1)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=(a;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=(−b;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a)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\vec{z}=(a;\ b)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\vec{t}=(-b;\ a)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=(1;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=(2;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0)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\vec{n}=(1;\ 1)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\vec{k}=(2;\ 0)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=−ab+ab=0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\vec{z}\cdot\vec{t}=-ab+ab=0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VÒNG 1 – BÀI 4.29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69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Trong mặt phẳng toạ độ, vectơ nào sau đây có độ dài bằng 1?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=(1;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\vec{a}=(1;\ 1)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=(1;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\vec{b}=(1;\ -1)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\vec{c}=\left(2;\ \frac{1}{2}\right)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\vec{d}=\left(\frac{1}{\sqrt{2}};\ \frac{-1}{\sqrt{2}}\right)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90220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|=</m:t>
                    </m:r>
                    <m:rad>
                      <m:radPr>
                        <m:degHide m:val="on"/>
                      </m:radPr>
                      <m:deg/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|\vec{d}|=\sqrt{\frac{1}{2}+\frac{1}{2}}=1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VÒNG 1 – BÀI 4.30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Góc giữa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=(1;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và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=(−2;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có số đo bằng: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Góc giữa vectơ </a:t>
                </a:r>
                <a:r>
                  <a:rPr lang="vi-VN"/>
                  <a:t>\vec{a}=(1;\ -1)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và vectơ </a:t>
                </a:r>
                <a:r>
                  <a:rPr lang="vi-VN"/>
                  <a:t>\vec{b}=(-2;\ 0)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có số đo bằng: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90^\circ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0^\circ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135^\circ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45^\circ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90220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·2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⇒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\cos(\vec{a},\ \vec{b})=\frac{-2}{\sqrt{2}\cdot 2}=-\frac{\sqrt{2}}{2}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⇒ </a:t>
                </a:r>
                <a:r>
                  <a:rPr lang="vi-VN"/>
                  <a:t>135^\circ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VÒNG 1 – BÀI 4.31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69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Khẳng định nào sau đây là đúng?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(\vec{a}\cdot\vec{b})\vec{c}=\vec{a}(\vec{b}\cdot\vec{c})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"/>
                        <m:endChr m:val="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e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acc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sSup>
                          <m:e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acc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(\vec{a}\cdot\vec{b})^2=\vec{a}^2\cdot\vec{b}^2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=|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|·|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\vec{a}\cdot\vec{b}=|\vec{a}|\cdot|\vec{b}|\sin(\vec{a},\ \vec{b})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·(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\vec{a}\cdot(\vec{b}-\vec{c})=\vec{a}\cdot\vec{b}-\vec{a}\cdot\vec{c}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9357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862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Tính chất phân phối đối với phép trừ. (B chỉ đúng khi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cùng phương; A: hai vế là hai vectơ cùng phương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.)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862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Tính chất phân phối đối với phép trừ. (B chỉ đúng khi </a:t>
                </a:r>
                <a:r>
                  <a:rPr lang="vi-VN"/>
                  <a:t>\vec{a},\ \vec{b}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cùng phương; A: hai vế là hai vectơ cùng phương </a:t>
                </a:r>
                <a:r>
                  <a:rPr lang="vi-VN"/>
                  <a:t>\vec{c}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\vec{a}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.)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VÒNG 1 – BÀI 4.32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Cho hình vuông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ABCD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có cạnh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 Khẳng định nào sau đây là đúng?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Cho hình vuông </a:t>
                </a:r>
                <a:r>
                  <a:rPr lang="vi-VN"/>
                  <a:t>ABCD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có cạnh </a:t>
                </a:r>
                <a:r>
                  <a:rPr lang="vi-VN"/>
                  <a:t>a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 Khẳng định nào sau đây là đúng?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,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AB</m:t>
                            </m:r>
                          </m:e>
                        </m:acc>
                      </m:e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BD</m:t>
                            </m:r>
                          </m:e>
                        </m:acc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\left(\overrightarrow{AB},\ \overrightarrow{BD}\right)=45^\circ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\overrightarrow{AC}\cdot\overrightarrow{BC}=a^2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BD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\overrightarrow{AC}\cdot\overrightarrow{BD}=a^2\sqrt{2}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BA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BD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\overrightarrow{BA}\cdot\overrightarrow{BD}=-a^2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75133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,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AC</m:t>
                            </m:r>
                          </m:e>
                        </m:acc>
                      </m:e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BC</m:t>
                            </m:r>
                          </m:e>
                        </m:acc>
                      </m:e>
                    </m:d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=a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·a·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\left(\overrightarrow{AC},\ \overrightarrow{BC}\right)=45^\circ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\overrightarrow{AC}\cdot\overrightarrow{BC}=a\sqrt{2}\cdot a\cdot\frac{\sqrt{2}}{2}=a^2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4.33 – 4.34 (SGK TR.71 – 72)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1795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4.33.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Trên cạnh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BC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của tam giác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lấy điểm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sao cho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MB=3MC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a) Tìm mối liên hệ giữa hai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MB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MC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b) Biểu thị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theo hai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1795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4.33.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Trên cạnh </a:t>
                </a:r>
                <a:r>
                  <a:rPr lang="vi-VN"/>
                  <a:t>BC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của tam giác </a:t>
                </a:r>
                <a:r>
                  <a:rPr lang="vi-VN"/>
                  <a:t>ABC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lấy điểm </a:t>
                </a:r>
                <a:r>
                  <a:rPr lang="vi-VN"/>
                  <a:t>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sao cho </a:t>
                </a:r>
                <a:r>
                  <a:rPr lang="vi-VN"/>
                  <a:t>MB=3MC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a) Tìm mối liên hệ giữa hai vectơ </a:t>
                </a:r>
                <a:r>
                  <a:rPr lang="vi-VN"/>
                  <a:t>\overrightarrow{MB}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\overrightarrow{MC}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b) Biểu thị vectơ </a:t>
                </a:r>
                <a:r>
                  <a:rPr lang="vi-VN"/>
                  <a:t>\overrightarrow{AM}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theo hai vectơ </a:t>
                </a:r>
                <a:r>
                  <a:rPr lang="vi-VN"/>
                  <a:t>\overrightarrow{AB}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\overrightarrow{AC}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615184"/>
            <a:ext cx="11064240" cy="10530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651760"/>
                <a:ext cx="10735056" cy="9799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MB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=−3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MC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sepChr m:val="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AC</m:t>
                            </m:r>
                          </m:e>
                        </m:acc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AB</m:t>
                            </m:r>
                          </m:e>
                        </m:acc>
                      </m:e>
                    </m:d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651760"/>
                <a:ext cx="10735056" cy="9799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\overrightarrow{MB}=-3\overrightarrow{MC}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\overrightarrow{AM}=\overrightarrow{AB}+\frac{3}{4}\overrightarrow{BC}=\overrightarrow{AB}+\frac{3}{4}\left(\overrightarrow{AC}-\overrightarrow{AB}\right)=\frac{1}{4}\overrightarrow{AB}+\frac{3}{4}\overrightarrow{AC}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732276"/>
                <a:ext cx="11064240" cy="844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4.34.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Cho hình bình hành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ABCD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Chứng minh rằng với mọi điểm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ta có: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MC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MB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MD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732276"/>
                <a:ext cx="11064240" cy="844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4.34.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Cho hình bình hành </a:t>
                </a:r>
                <a:r>
                  <a:rPr lang="vi-VN"/>
                  <a:t>ABCD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Chứng minh rằng với mọi điểm </a:t>
                </a:r>
                <a:r>
                  <a:rPr lang="vi-VN"/>
                  <a:t>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ta có: </a:t>
                </a:r>
                <a:r>
                  <a:rPr lang="vi-VN"/>
                  <a:t>\overrightarrow{MA}+\overrightarrow{MC}=\overrightarrow{MB}+\overrightarrow{MD}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640580"/>
            <a:ext cx="11064240" cy="9357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677156"/>
                <a:ext cx="10735056" cy="862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giao điểm của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AC,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BD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trung điểm của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AC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BD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MC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MI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MB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MD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677156"/>
                <a:ext cx="10735056" cy="862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Gọi </a:t>
                </a:r>
                <a:r>
                  <a:rPr lang="vi-VN"/>
                  <a:t>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giao điểm của </a:t>
                </a:r>
                <a:r>
                  <a:rPr lang="vi-VN"/>
                  <a:t>AC,\ BD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trung điểm của </a:t>
                </a:r>
                <a:r>
                  <a:rPr lang="vi-VN"/>
                  <a:t>AC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BD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\overrightarrow{MA}+\overrightarrow{MC}=2\overrightarrow{MI}=\overrightarrow{MB}+\overrightarrow{MD}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4.35 (SGK TR.72)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7680960" cy="16215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4.35.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Cho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A(2;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B(−2;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C(−5;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a) Tìm toạ độ của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BA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b) Chứng minh rằng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là ba đỉnh của một tam giác vuông. Tính diện tích và chu vi của tam giác đó. c) Tìm toạ độ trọng tâm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của tam giác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d) Tìm toạ độ điểm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sao cho tứ giác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BCAD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là một hình bình hành.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7680960" cy="16215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4.35.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Cho </a:t>
                </a:r>
                <a:r>
                  <a:rPr lang="vi-VN"/>
                  <a:t>A(2;\ 1)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B(-2;\ 5)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C(-5;\ 2)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a) Tìm toạ độ của </a:t>
                </a:r>
                <a:r>
                  <a:rPr lang="vi-VN"/>
                  <a:t>\overrightarrow{BA}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\overrightarrow{BC}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b) Chứng minh rằng </a:t>
                </a:r>
                <a:r>
                  <a:rPr lang="vi-VN"/>
                  <a:t>A,\ B,\ C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là ba đỉnh của một tam giác vuông. Tính diện tích và chu vi của tam giác đó. c) Tìm toạ độ trọng tâm </a:t>
                </a:r>
                <a:r>
                  <a:rPr lang="vi-VN"/>
                  <a:t>G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của tam giác </a:t>
                </a:r>
                <a:r>
                  <a:rPr lang="vi-VN"/>
                  <a:t>ABC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d) Tìm toạ độ điểm </a:t>
                </a:r>
                <a:r>
                  <a:rPr lang="vi-VN"/>
                  <a:t>D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sao cho tứ giác </a:t>
                </a:r>
                <a:r>
                  <a:rPr lang="vi-VN"/>
                  <a:t>BCAD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là một hình bình hành.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011424"/>
            <a:ext cx="7680960" cy="5547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048000"/>
                <a:ext cx="7351776" cy="481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BA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048000"/>
                <a:ext cx="7351776" cy="481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\overrightarrow{BA}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(4;\ -4)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\overrightarrow{BC}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(-3;\ -3)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630168"/>
            <a:ext cx="7680960" cy="97459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666744"/>
                <a:ext cx="7351776" cy="90144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BA</m:t>
                        </m:r>
                      </m:e>
                    </m:acc>
                  </m:oMath>
                </a14:m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</m:oMath>
                </a14:m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−12+12=0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⇒ tam giác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vuông tại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BA=4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BC=3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AC=5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·4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·3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chu vi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666744"/>
                <a:ext cx="7351776" cy="90144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\overrightarrow{BA}</a:t>
                </a:r>
                <a:r>
                  <a:rPr lang="vi-VN"/>
                  <a:t>\cdot</a:t>
                </a:r>
                <a:r>
                  <a:rPr lang="vi-VN"/>
                  <a:t>\overrightarrow{BC}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-12+12=0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⇒ tam giác </a:t>
                </a:r>
                <a:r>
                  <a:rPr lang="vi-VN"/>
                  <a:t>ABC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vuông tại </a:t>
                </a:r>
                <a:r>
                  <a:rPr lang="vi-VN"/>
                  <a:t>B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BA=4\sqrt{2}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BC=3\sqrt{2}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AC=5\sqrt{2}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S=\frac{1}{2}\cdot 4\sqrt{2}\cdot 3\sqrt{2}=12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chu vi </a:t>
                </a:r>
                <a:r>
                  <a:rPr lang="vi-VN"/>
                  <a:t>12\sqrt{2}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3_nen"/>
          <p:cNvSpPr/>
          <p:nvPr/>
        </p:nvSpPr>
        <p:spPr>
          <a:xfrm>
            <a:off x="548640" y="4668774"/>
            <a:ext cx="7680960" cy="110490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3_chu"/>
              <p:cNvSpPr txBox="1"/>
              <p:nvPr/>
            </p:nvSpPr>
            <p:spPr>
              <a:xfrm>
                <a:off x="713232" y="4705350"/>
                <a:ext cx="7351776" cy="103174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sepChr m:val="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d)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BCAD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là hình bình hành ⇔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AD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CB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⇒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D(5;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4705350"/>
                <a:ext cx="7351776" cy="103174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G\left(-\frac{5}{3};\ \frac{8}{3}\right)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d) </a:t>
                </a:r>
                <a:r>
                  <a:rPr lang="vi-VN"/>
                  <a:t>BCAD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là hình bình hành ⇔ </a:t>
                </a:r>
                <a:r>
                  <a:rPr lang="vi-VN"/>
                  <a:t>\overrightarrow{AD}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\overrightarrow{CB}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(3;\ 3)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⇒ </a:t>
                </a:r>
                <a:r>
                  <a:rPr lang="vi-VN"/>
                  <a:t>D(5;\ 4)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4" name="Picture 13" descr="h4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553315"/>
            <a:ext cx="3383280" cy="21968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4.36 (SGK TR.72)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4538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4.36.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A(1;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B(3;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C(−1;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D(6;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a) Tìm toạ độ của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CD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Giải thích tại sao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CD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cùng phương. c) Giả sử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điểm có toạ độ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Tìm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để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BE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cùng phương. d) Với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tìm được, hãy biểu thị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AE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theo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4538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4.36.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</a:t>
                </a:r>
                <a:r>
                  <a:rPr lang="vi-VN"/>
                  <a:t>A(1;\ 2)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B(3;\ 4)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C(-1;\ -2)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D(6;\ 5)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a) Tìm toạ độ của </a:t>
                </a:r>
                <a:r>
                  <a:rPr lang="vi-VN"/>
                  <a:t>\overrightarrow{AB}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\overrightarrow{CD}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Giải thích tại sao </a:t>
                </a:r>
                <a:r>
                  <a:rPr lang="vi-VN"/>
                  <a:t>\overrightarrow{AB}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\overrightarrow{CD}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cùng phương. c) Giả sử </a:t>
                </a:r>
                <a:r>
                  <a:rPr lang="vi-VN"/>
                  <a:t>E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điểm có toạ độ </a:t>
                </a:r>
                <a:r>
                  <a:rPr lang="vi-VN"/>
                  <a:t>(a;\ 1)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Tìm </a:t>
                </a:r>
                <a:r>
                  <a:rPr lang="vi-VN"/>
                  <a:t>a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để </a:t>
                </a:r>
                <a:r>
                  <a:rPr lang="vi-VN"/>
                  <a:t>\overrightarrow{AC}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\overrightarrow{BE}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cùng phương. d) Với </a:t>
                </a:r>
                <a:r>
                  <a:rPr lang="vi-VN"/>
                  <a:t>a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tìm được, hãy biểu thị </a:t>
                </a:r>
                <a:r>
                  <a:rPr lang="vi-VN"/>
                  <a:t>\overrightarrow{AE}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theo </a:t>
                </a:r>
                <a:r>
                  <a:rPr lang="vi-VN"/>
                  <a:t>\overrightarrow{AB}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\overrightarrow{AC}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935224"/>
            <a:ext cx="11064240" cy="729233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971800"/>
                <a:ext cx="10735056" cy="656081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CD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CD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971800"/>
                <a:ext cx="10735056" cy="656081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\overrightarrow{AB}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(2;\ 2)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\overrightarrow{CD}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(7;\ 7)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\overrightarrow{AB}=\frac{2}{7}\overrightarrow{CD}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774186"/>
            <a:ext cx="11064240" cy="10172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810762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BE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cùng phương ⇔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a−3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⇔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810762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\overrightarrow{AC}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(-2;\ -4)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\overrightarrow{BE}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(a-3;\ -3)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cùng phương ⇔ </a:t>
                </a:r>
                <a:r>
                  <a:rPr lang="vi-VN"/>
                  <a:t>\frac{a-3}{-2}=\frac{-3}{-4}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⇔ </a:t>
                </a:r>
                <a:r>
                  <a:rPr lang="vi-VN"/>
                  <a:t>a=\frac{3}{2}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3_nen"/>
          <p:cNvSpPr/>
          <p:nvPr/>
        </p:nvSpPr>
        <p:spPr>
          <a:xfrm>
            <a:off x="548640" y="4901184"/>
            <a:ext cx="11064240" cy="10172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3_chu"/>
              <p:cNvSpPr txBox="1"/>
              <p:nvPr/>
            </p:nvSpPr>
            <p:spPr>
              <a:xfrm>
                <a:off x="713232" y="4937760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d)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BE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⇒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AE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BE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4937760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d) </a:t>
                </a:r>
                <a:r>
                  <a:rPr lang="vi-VN"/>
                  <a:t>\overrightarrow{BE}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\left(-\frac{3}{2};\ -3\right)=\frac{3}{4}\overrightarrow{AC}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⇒ </a:t>
                </a:r>
                <a:r>
                  <a:rPr lang="vi-VN"/>
                  <a:t>\overrightarrow{AE}=\overrightarrow{AB}+\overrightarrow{BE}=\overrightarrow{AB}+\frac{3}{4}\overrightarrow{AC}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GEOGEBRA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GEOGEBRA – KIỂM CHỨNG BÀI 4.35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035040" cy="35661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Đọc tích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BA</m:t>
                        </m:r>
                      </m:e>
                    </m:acc>
                  </m:oMath>
                </a14:m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</m:oMath>
                </a14:m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= 0, diện tích, chu vi, trọng tâm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Điểm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D=A+B−C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tứ giác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BCAD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hình bình hành,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D(5;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Kéo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để thấy khi nào tam giác còn vuông tại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035040" cy="35661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Đọc tích </a:t>
                </a:r>
                <a:r>
                  <a:rPr lang="vi-VN"/>
                  <a:t>\overrightarrow{BA}</a:t>
                </a:r>
                <a:r>
                  <a:rPr lang="vi-VN"/>
                  <a:t>\cdot</a:t>
                </a:r>
                <a:r>
                  <a:rPr lang="vi-VN"/>
                  <a:t>\overrightarrow{BC}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= 0, diện tích, chu vi, trọng tâm </a:t>
                </a:r>
                <a:r>
                  <a:rPr lang="vi-VN"/>
                  <a:t>G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Điểm </a:t>
                </a:r>
                <a:r>
                  <a:rPr lang="vi-VN"/>
                  <a:t>D = A + B - 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tứ giác </a:t>
                </a:r>
                <a:r>
                  <a:rPr lang="vi-VN"/>
                  <a:t>BCAD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hình bình hành, </a:t>
                </a:r>
                <a:r>
                  <a:rPr lang="vi-VN"/>
                  <a:t>D(5;\ 4)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Kéo </a:t>
                </a:r>
                <a:r>
                  <a:rPr lang="vi-VN"/>
                  <a:t>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B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để thấy khi nào tam giác còn vuông tại </a:t>
                </a:r>
                <a:r>
                  <a:rPr lang="vi-VN"/>
                  <a:t>B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074920"/>
            <a:ext cx="3840480" cy="6858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▶  MỞ GEOGEBRA</a:t>
            </a:r>
          </a:p>
        </p:txBody>
      </p:sp>
      <p:pic>
        <p:nvPicPr>
          <p:cNvPr id="9" name="Picture 8" descr="qr_ggb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572000"/>
            <a:ext cx="1325880" cy="1325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80644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Quét QR mở trên điện thoại. Kéo điểm để thay đổi hình.</a:t>
            </a:r>
          </a:p>
        </p:txBody>
      </p:sp>
      <p:pic>
        <p:nvPicPr>
          <p:cNvPr id="11" name="Picture 10" descr="h4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129872"/>
            <a:ext cx="4846320" cy="314689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TRẠM KIỂM CHỨNG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12969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Lời giải AI số 1 (4.33b).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"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sepChr m:val="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AB</m:t>
                            </m:r>
                          </m:e>
                        </m:acc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AC</m:t>
                            </m:r>
                          </m:e>
                        </m:acc>
                      </m:e>
                    </m:d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." – Tìm chỗ sai.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12969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Lời giải AI số 1 (4.33b).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"</a:t>
                </a:r>
                <a:r>
                  <a:rPr lang="vi-VN"/>
                  <a:t>\overrightarrow{AM}=\overrightarrow{AB}+\frac{3}{4}\overrightarrow{BC}=\overrightarrow{AB}+\frac{3}{4}\left(\overrightarrow{AB}-\overrightarrow{AC}\right)=\frac{7}{4}\overrightarrow{AB}-\frac{3}{4}\overrightarrow{AC}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." – Tìm chỗ sai.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942844"/>
            <a:ext cx="11064240" cy="90220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979420"/>
                <a:ext cx="1073505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Sai quy tắc hiệu: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đúng là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979420"/>
                <a:ext cx="1073505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Sai quy tắc hiệu: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\overrightarrow{BC}=\overrightarrow{AC}-\overrightarrow{AB}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đúng là </a:t>
                </a:r>
                <a:r>
                  <a:rPr lang="vi-VN"/>
                  <a:t>\overrightarrow{AM}=\frac{1}{4}\overrightarrow{AB}+\frac{3}{4}\overrightarrow{AC}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4027932"/>
                <a:ext cx="11064240" cy="844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Lời giải AI số 2 (4.35d).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"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BCAD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hình bình hành ⇔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AD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⇒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D(−1;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." – Tìm chỗ sai.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4027932"/>
                <a:ext cx="11064240" cy="844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Lời giải AI số 2 (4.35d).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"</a:t>
                </a:r>
                <a:r>
                  <a:rPr lang="vi-VN"/>
                  <a:t>BCAD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hình bình hành ⇔ </a:t>
                </a:r>
                <a:r>
                  <a:rPr lang="vi-VN"/>
                  <a:t>\overrightarrow{BC}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\overrightarrow{AD}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⇒ </a:t>
                </a:r>
                <a:r>
                  <a:rPr lang="vi-VN"/>
                  <a:t>D(-1;\ -2)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." – Tìm chỗ sai.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5055108"/>
            <a:ext cx="11064240" cy="9357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5091684"/>
                <a:ext cx="10735056" cy="862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Nhầm thứ tự đỉnh: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BCAD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hình bình hành ⇔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DA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⇒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D(5;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(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D(−1;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ứng với hình bình hành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BCDA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.)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5091684"/>
                <a:ext cx="10735056" cy="862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Nhầm thứ tự đỉnh: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BCAD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hình bình hành ⇔ </a:t>
                </a:r>
                <a:r>
                  <a:rPr lang="vi-VN"/>
                  <a:t>\overrightarrow{BC}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\overrightarrow{DA}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⇒ </a:t>
                </a:r>
                <a:r>
                  <a:rPr lang="vi-VN"/>
                  <a:t>D(5;\ 4)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(</a:t>
                </a:r>
                <a:r>
                  <a:rPr lang="vi-VN"/>
                  <a:t>D(-1;\ -2)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ứng với hình bình hành </a:t>
                </a:r>
                <a:r>
                  <a:rPr lang="vi-VN"/>
                  <a:t>BCDA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.)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4.37 – 4.38 (SGK TR.72)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1018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4.37.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Chứng minh rằng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sepChr m:val=""/>
                            <m:endChr m:val="|"/>
                          </m:dPr>
                          <m:e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acc>
                          </m:e>
                        </m:d>
                      </m:den>
                    </m:f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(hay còn được viết là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acc>
                          <m:accPr>
                            <m:chr m:val="⃗"/>
                          </m:accPr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</m:num>
                      <m:den>
                        <m:d>
                          <m:dPr>
                            <m:begChr m:val="|"/>
                            <m:sepChr m:val=""/>
                            <m:endChr m:val="|"/>
                          </m:dPr>
                          <m:e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 là một vectơ đơn vị, cùng hướng với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1018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4.37.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vectơ </a:t>
                </a:r>
                <a:r>
                  <a:rPr lang="vi-VN"/>
                  <a:t>\vec{a}\ne\vec{0}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Chứng minh rằng </a:t>
                </a:r>
                <a:r>
                  <a:rPr lang="vi-VN"/>
                  <a:t>\frac{1}{|\vec{a}|}\vec{a}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(hay còn được viết là </a:t>
                </a:r>
                <a:r>
                  <a:rPr lang="vi-VN"/>
                  <a:t>\frac{\vec{a}}{|\vec{a}|}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 là một vectơ đơn vị, cùng hướng với vectơ </a:t>
                </a:r>
                <a:r>
                  <a:rPr lang="vi-VN"/>
                  <a:t>\vec{a}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537460"/>
            <a:ext cx="11064240" cy="87325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574036"/>
                <a:ext cx="10735056" cy="80009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sepChr m:val=""/>
                            <m:endChr m:val="|"/>
                          </m:dPr>
                          <m:e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acc>
                          </m:e>
                        </m:d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nên cùng hướng với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độ dài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sepChr m:val=""/>
                            <m:endChr m:val="|"/>
                          </m:dPr>
                          <m:e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acc>
                          </m:e>
                        </m:d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·|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|=1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74036"/>
                <a:ext cx="10735056" cy="80009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\frac{1}{|\vec{a}|}&gt;0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nên cùng hướng với </a:t>
                </a:r>
                <a:r>
                  <a:rPr lang="vi-VN"/>
                  <a:t>\vec{a}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độ dài </a:t>
                </a:r>
                <a:r>
                  <a:rPr lang="vi-VN"/>
                  <a:t>\frac{1}{|\vec{a}|}\cdot|\vec{a}|=1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474720"/>
                <a:ext cx="11064240" cy="113385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4.38.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ba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với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|=|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|=1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Xét hệ trục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Oxy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với các vectơ đơn vị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Chứng minh rằng: a)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có toạ độ là </a:t>
                </a:r>
                <a14:m>
                  <m:oMath xmlns:m="http://schemas.openxmlformats.org/officeDocument/2006/math">
                    <m:d>
                      <m:dPr>
                        <m:sepChr m:val="·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</m:acc>
                      </m:e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</m:acc>
                      </m:e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+(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474720"/>
                <a:ext cx="11064240" cy="113385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4.38.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ba vectơ </a:t>
                </a:r>
                <a:r>
                  <a:rPr lang="vi-VN"/>
                  <a:t>\vec{a},\ \vec{b},\ \vec{u}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với </a:t>
                </a:r>
                <a:r>
                  <a:rPr lang="vi-VN"/>
                  <a:t>|\vec{a}|=|\vec{b}|=1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\vec{a}\perp\vec{b}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Xét hệ trục </a:t>
                </a:r>
                <a:r>
                  <a:rPr lang="vi-VN"/>
                  <a:t>Oxy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với các vectơ đơn vị </a:t>
                </a:r>
                <a:r>
                  <a:rPr lang="vi-VN"/>
                  <a:t>\vec{i}=\vec{a},\ \vec{j}=\vec{b}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Chứng minh rằng: a) Vectơ </a:t>
                </a:r>
                <a:r>
                  <a:rPr lang="vi-VN"/>
                  <a:t>\vec{u}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có toạ độ là </a:t>
                </a:r>
                <a:r>
                  <a:rPr lang="vi-VN"/>
                  <a:t>(\vec{u}\cdot\vec{a};\ \vec{u}\cdot\vec{b})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\vec{u}=(\vec{u}\cdot\vec{a})\vec{a}+(\vec{u}\cdot\vec{b})\vec{b}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672584"/>
            <a:ext cx="11064240" cy="90525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709160"/>
                <a:ext cx="10735056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=(1;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=(0;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=(x;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thì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=y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=x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+y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+(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709160"/>
                <a:ext cx="10735056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\vec{a}=(1;\ 0)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\vec{b}=(0;\ 1)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\vec{u}=(x;\ y)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thì </a:t>
                </a:r>
                <a:r>
                  <a:rPr lang="vi-VN"/>
                  <a:t>\vec{u}\cdot\vec{a}=x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\vec{u}\cdot\vec{b}=y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\vec{u}=x\vec{i}+y\vec{j}=(\vec{u}\cdot\vec{a})\vec{a}+(\vec{u}\cdot\vec{b})\vec{b}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4.39 (SGK TR.72) – VẬN TỐC CA NÔ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8046720" cy="1453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4.39.</a:t>
            </a:r>
            <a:r>
              <a:rPr sz="2100">
                <a:solidFill>
                  <a:srgbClr val="1E293B"/>
                </a:solidFill>
                <a:latin typeface="Calibri"/>
              </a:rPr>
              <a:t> Trên sông, một ca nô chuyển động thẳng đều theo hướng S15°E với vận tốc có độ lớn bằng 20 km/h. Tính độ lớn của vận tốc riêng của ca nô, biết rằng nước trên sông chảy về hướng đông với vận tốc có độ lớn bằng 3 km/h.</a:t>
            </a:r>
          </a:p>
        </p:txBody>
      </p:sp>
      <p:sp>
        <p:nvSpPr>
          <p:cNvPr id="8" name="s1_nen"/>
          <p:cNvSpPr/>
          <p:nvPr/>
        </p:nvSpPr>
        <p:spPr>
          <a:xfrm>
            <a:off x="548640" y="2916936"/>
            <a:ext cx="8046720" cy="122529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953512"/>
                <a:ext cx="7717536" cy="11521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Vận tốc thực tế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sub>
                        </m:sSub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(riêng + dòng nước). Chọn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Ox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hướng đông,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Oy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hướng bắc: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=(20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−20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=(3;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953512"/>
                <a:ext cx="7717536" cy="11521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Vận tốc thực tế </a:t>
                </a:r>
                <a:r>
                  <a:rPr lang="vi-VN"/>
                  <a:t>\vec{v}=\vec{v_r}+\vec{v_n}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(riêng + dòng nước). Chọn </a:t>
                </a:r>
                <a:r>
                  <a:rPr lang="vi-VN"/>
                  <a:t>Ox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hướng đông, </a:t>
                </a:r>
                <a:r>
                  <a:rPr lang="vi-VN"/>
                  <a:t>Oy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hướng bắc: </a:t>
                </a:r>
                <a:r>
                  <a:rPr lang="vi-VN"/>
                  <a:t>\vec{v}=(20\sin 15^\circ;\ -20\cos 15^\circ)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\vec{v_n}=(3;\ 0)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4233672"/>
            <a:ext cx="8046720" cy="58521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4270248"/>
                <a:ext cx="771753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sub>
                        </m:sSub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=(20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−20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4270248"/>
                <a:ext cx="771753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\vec{v_r}=\vec{v}-\vec{v_n}=(20\sin 15^\circ-3;\ -20\cos 15^\circ)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3_nen"/>
          <p:cNvSpPr/>
          <p:nvPr/>
        </p:nvSpPr>
        <p:spPr>
          <a:xfrm>
            <a:off x="548640" y="4910327"/>
            <a:ext cx="8046720" cy="90525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3_chu"/>
              <p:cNvSpPr txBox="1"/>
              <p:nvPr/>
            </p:nvSpPr>
            <p:spPr>
              <a:xfrm>
                <a:off x="713232" y="4946903"/>
                <a:ext cx="7717536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sub>
                        </m:sSub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409−120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ra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≈19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(km/h). (Cách khác – định lí côsin: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−2·20·3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.)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4946903"/>
                <a:ext cx="7717536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|\vec{v_r}|=\sqrt{409-120\sin 15^\circ}\approx 19{,}44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(km/h). (Cách khác – định lí côsin: </a:t>
                </a:r>
                <a:r>
                  <a:rPr lang="vi-VN"/>
                  <a:t>v_r^2=20^2+3^2-2\cdot 20\cdot 3\cos 75^\circ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.)</a:t>
                </a:r>
              </a:p>
            </p:txBody>
          </p:sp>
        </mc:Fallback>
      </mc:AlternateContent>
      <p:pic>
        <p:nvPicPr>
          <p:cNvPr id="14" name="Picture 13" descr="h4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822204"/>
            <a:ext cx="2926080" cy="27563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GEOGEBRA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GEOGEBRA – VẬN TỐC CA NÔ (BÀI 4.39)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035040" cy="35661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Đỏ: vận tốc thực tế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(20 km/h, hướng S15°E).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Xanh lá: dòng nước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hướng đông; kéo thanh trượt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(km/h).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Xanh dương: vận tốc riêng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sub>
                        </m:sSub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với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w=3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sub>
                        </m:sSub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|≈19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035040" cy="35661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Đỏ: vận tốc thực tế </a:t>
                </a:r>
                <a:r>
                  <a:rPr lang="vi-VN"/>
                  <a:t>\vec{v}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(20 km/h, hướng S15°E).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Xanh lá: dòng nước </a:t>
                </a:r>
                <a:r>
                  <a:rPr lang="vi-VN"/>
                  <a:t>\vec{v_n}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hướng đông; kéo thanh trượt </a:t>
                </a:r>
                <a:r>
                  <a:rPr lang="vi-VN"/>
                  <a:t>w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(km/h).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Xanh dương: vận tốc riêng </a:t>
                </a:r>
                <a:r>
                  <a:rPr lang="vi-VN"/>
                  <a:t>\vec{v_r}=\vec{v}-\vec{v_n}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với </a:t>
                </a:r>
                <a:r>
                  <a:rPr lang="vi-VN"/>
                  <a:t>w=3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|\vec{v_r}|\approx 19{,}44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074920"/>
            <a:ext cx="3840480" cy="6858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▶  MỞ GEOGEBRA</a:t>
            </a:r>
          </a:p>
        </p:txBody>
      </p:sp>
      <p:pic>
        <p:nvPicPr>
          <p:cNvPr id="9" name="Picture 8" descr="qr_ggb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572000"/>
            <a:ext cx="1325880" cy="1325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80644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Quét QR mở trên điện thoại. Kéo điểm để thay đổi hình.</a:t>
            </a:r>
          </a:p>
        </p:txBody>
      </p:sp>
      <p:pic>
        <p:nvPicPr>
          <p:cNvPr id="11" name="Picture 10" descr="h4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2965" y="1463040"/>
            <a:ext cx="475639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VÒNG 2: THỬ THÁCH CỦNG CỐ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645920"/>
            <a:ext cx="9418320" cy="2496312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682496"/>
            <a:ext cx="9089136" cy="2423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>
                <a:solidFill>
                  <a:srgbClr val="1E293B"/>
                </a:solidFill>
                <a:latin typeface="Calibri"/>
              </a:rPr>
              <a:t>🔔 </a:t>
            </a:r>
            <a:r>
              <a:rPr sz="3000" b="1">
                <a:solidFill>
                  <a:srgbClr val="1E293B"/>
                </a:solidFill>
                <a:latin typeface="Calibri"/>
              </a:rPr>
              <a:t>Vòng 2 – 8 câu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nhiều lựa chọn: ghi A, B, C hoặc D (30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Đúng/Sai: ghi Đ hoặc S cho từng ý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trả lời ngắn, thực tế: ghi một số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Bạn trụ lại cuối cùng </a:t>
            </a:r>
            <a:r>
              <a:rPr sz="2400" b="1">
                <a:solidFill>
                  <a:srgbClr val="1E293B"/>
                </a:solidFill>
                <a:latin typeface="Calibri"/>
              </a:rPr>
              <a:t>rung chuông vàng</a:t>
            </a:r>
            <a:r>
              <a:rPr sz="2400">
                <a:solidFill>
                  <a:srgbClr val="1E293B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VÒNG 2 – CÂU 1 (BIẾT)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23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=(1;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=(−2;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 Toạ độ của vectơ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Cho </a:t>
                </a:r>
                <a:r>
                  <a:rPr lang="vi-VN"/>
                  <a:t>\vec{u}=(1;\ 2)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\vec{v}=(-2;\ 3)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 Toạ độ của vectơ </a:t>
                </a:r>
                <a:r>
                  <a:rPr lang="vi-VN"/>
                  <a:t>2\vec{u}-\vec{v}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(0;\ 7)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(4;\ 1)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(4;\ 7)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(3;\ -1)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=(2+2;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4−3)=(4;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2\vec{u}-\vec{v}=(2+2;\ 4-3)=(4;\ 1)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VÒNG 2 – CÂU 2 (BIẾT)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Cho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 trọng tâm tam giác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 Khẳng định nào sau đây đúng?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Cho </a:t>
                </a:r>
                <a:r>
                  <a:rPr lang="vi-VN"/>
                  <a:t>G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 trọng tâm tam giác </a:t>
                </a:r>
                <a:r>
                  <a:rPr lang="vi-VN"/>
                  <a:t>ABC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 Khẳng định nào sau đây đúng?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GA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GB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GC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\overrightarrow{GA}=\overrightarrow{GB}+\overrightarrow{GC}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GA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GB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GC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\overrightarrow{GA}+\overrightarrow{GB}=\overrightarrow{GC}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GA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GB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GC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\overrightarrow{GA}+\overrightarrow{GB}+\overrightarrow{GC}=\vec{0}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AG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BG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CG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\overrightarrow{AG}+\overrightarrow{BG}+\overrightarrow{CG}=\overrightarrow{AC}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1_chu"/>
          <p:cNvSpPr txBox="1"/>
          <p:nvPr/>
        </p:nvSpPr>
        <p:spPr>
          <a:xfrm>
            <a:off x="713232" y="4654296"/>
            <a:ext cx="10735056" cy="5273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Đáp án C.</a:t>
            </a:r>
            <a:r>
              <a:rPr sz="2200">
                <a:solidFill>
                  <a:srgbClr val="1E293B"/>
                </a:solidFill>
                <a:latin typeface="Calibri"/>
              </a:rPr>
              <a:t> Tính chất trọng tâm.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VÒNG 2 – CÂU 3 (HIỂU)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Góc giữa hai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=(3;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=(1;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Góc giữa hai vectơ </a:t>
                </a:r>
                <a:r>
                  <a:rPr lang="vi-VN"/>
                  <a:t>\vec{u}=(3;\ -1)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\vec{v}=(1;\ 3)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0^\circ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45^\circ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90^\circ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180^\circ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=3−3=0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⇒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\vec{u}\cdot\vec{v}=3-3=0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⇒ </a:t>
                </a:r>
                <a:r>
                  <a:rPr lang="vi-VN"/>
                  <a:t>\vec{u}\perp\vec{v}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VÒNG 2 – CÂU 4 (HIỂU)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9662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Cho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A(1;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B(4;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C(2;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 Toạ độ điểm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để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ABCD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 hình bình hành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9662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Cho </a:t>
                </a:r>
                <a:r>
                  <a:rPr lang="vi-VN"/>
                  <a:t>A(1;\ 1)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B(4;\ 2)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C(2;\ 5)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 Toạ độ điểm </a:t>
                </a:r>
                <a:r>
                  <a:rPr lang="vi-VN"/>
                  <a:t>D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để </a:t>
                </a:r>
                <a:r>
                  <a:rPr lang="vi-VN"/>
                  <a:t>ABCD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 hình bình hành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(-1;\ 4)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(5;\ 6)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(3;\ -2)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(1;\ -4)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AD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=(−2;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⇒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D(−1;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\overrightarrow{AD}=\overrightarrow{BC}=(-2;\ 3)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⇒ </a:t>
                </a:r>
                <a:r>
                  <a:rPr lang="vi-VN"/>
                  <a:t>D(-1;\ 4)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VÒNG 2 – CÂU 5 (ĐÚNG/SAI)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27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394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A(1;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B(3;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C(5;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Xét tính đúng, sai: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394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</a:t>
                </a:r>
                <a:r>
                  <a:rPr lang="vi-VN"/>
                  <a:t>A(1;\ 1)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B(3;\ 3)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C(5;\ 1)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Xét tính đúng, sai: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2002536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2002536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\overrightarrow{AB}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(2;\ 2)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8412480" y="1975104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_chu"/>
          <p:cNvSpPr txBox="1"/>
          <p:nvPr/>
        </p:nvSpPr>
        <p:spPr>
          <a:xfrm>
            <a:off x="8577072" y="2011680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48640" y="2990088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Tam giác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vuông tại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548640" y="2990088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Tam giác </a:t>
                </a:r>
                <a:r>
                  <a:rPr lang="vi-VN"/>
                  <a:t>ABC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vuông tại </a:t>
                </a:r>
                <a:r>
                  <a:rPr lang="vi-VN"/>
                  <a:t>B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2_nen"/>
          <p:cNvSpPr/>
          <p:nvPr/>
        </p:nvSpPr>
        <p:spPr>
          <a:xfrm>
            <a:off x="8412480" y="2962656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2_chu"/>
          <p:cNvSpPr txBox="1"/>
          <p:nvPr/>
        </p:nvSpPr>
        <p:spPr>
          <a:xfrm>
            <a:off x="8577072" y="2999232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  <a:r>
              <a:rPr sz="2100">
                <a:solidFill>
                  <a:srgbClr val="1E293B"/>
                </a:solidFill>
                <a:latin typeface="Calibri"/>
              </a:rPr>
              <a:t> (BA·BC = 0)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48640" y="3977639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c) Trọng tâm tam giác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là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G(3;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548640" y="3977639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c) Trọng tâm tam giác </a:t>
                </a:r>
                <a:r>
                  <a:rPr lang="vi-VN"/>
                  <a:t>ABC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lang="vi-VN"/>
                  <a:t>G(3;\ 2)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5" name="s3_nen"/>
          <p:cNvSpPr/>
          <p:nvPr/>
        </p:nvSpPr>
        <p:spPr>
          <a:xfrm>
            <a:off x="8412480" y="3950207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3_chu"/>
          <p:cNvSpPr txBox="1"/>
          <p:nvPr/>
        </p:nvSpPr>
        <p:spPr>
          <a:xfrm>
            <a:off x="8577072" y="3986783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SAI</a:t>
            </a:r>
            <a:r>
              <a:rPr sz="2100">
                <a:solidFill>
                  <a:srgbClr val="1E293B"/>
                </a:solidFill>
                <a:latin typeface="Calibri"/>
              </a:rPr>
              <a:t> (G(3; 5/3))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548640" y="4965192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d) Diện tích tam giác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bằng 4.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548640" y="4965192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d) Diện tích tam giác </a:t>
                </a:r>
                <a:r>
                  <a:rPr lang="vi-VN"/>
                  <a:t>ABC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bằng 4.</a:t>
                </a:r>
              </a:p>
            </p:txBody>
          </p:sp>
        </mc:Fallback>
      </mc:AlternateContent>
      <p:sp>
        <p:nvSpPr>
          <p:cNvPr id="18" name="s4_nen"/>
          <p:cNvSpPr/>
          <p:nvPr/>
        </p:nvSpPr>
        <p:spPr>
          <a:xfrm>
            <a:off x="8412480" y="4937759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4_chu"/>
          <p:cNvSpPr txBox="1"/>
          <p:nvPr/>
        </p:nvSpPr>
        <p:spPr>
          <a:xfrm>
            <a:off x="8577072" y="4974336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VÒNG 2 – CÂU 6 (TRẢ LỜI NGẮN)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28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Tìm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để hai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=(2;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=(3;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vuông góc với nhau.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Tìm </a:t>
                </a:r>
                <a:r>
                  <a:rPr lang="vi-VN"/>
                  <a:t>m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để hai vectơ </a:t>
                </a:r>
                <a:r>
                  <a:rPr lang="vi-VN"/>
                  <a:t>\vec{a}=(2;\ m)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\vec{b}=(3;\ -2)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vuông góc với nhau.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630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=6−2m=0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⇒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\vec{a}\cdot\vec{b}=6-2m=0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⇒ </a:t>
                </a:r>
                <a:r>
                  <a:rPr lang="vi-VN"/>
                  <a:t>m=3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VÒNG 2 – CÂU 7 (TRẢ LỜI NGẮN)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29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Cho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A(1;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B(4;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 Tính độ dài đoạn thẳng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Cho </a:t>
                </a:r>
                <a:r>
                  <a:rPr lang="vi-VN"/>
                  <a:t>A(1;\ 2)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B(4;\ 6)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 Tính độ dài đoạn thẳng </a:t>
                </a:r>
                <a:r>
                  <a:rPr lang="vi-VN"/>
                  <a:t>AB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630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5.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⇒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AB=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5.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\overrightarrow{AB}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(3;\ 4)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⇒ </a:t>
                </a:r>
                <a:r>
                  <a:rPr lang="vi-VN"/>
                  <a:t>AB=\sqrt{3^2+4^2}=5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VÒNG 2 – CÂU 8 (THỰC TẾ)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7863840" cy="17586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Một chiếc phà qua sông Ba: vận tốc riêng hướng bắc có độ lớn 12 km/h, dòng nước chảy về hướng đông với vận tốc 5 km/h. Độ lớn vận tốc thực tế của phà bằng bao nhiêu km/h?</a:t>
            </a:r>
          </a:p>
        </p:txBody>
      </p:sp>
      <p:sp>
        <p:nvSpPr>
          <p:cNvPr id="8" name="s1_nen"/>
          <p:cNvSpPr/>
          <p:nvPr/>
        </p:nvSpPr>
        <p:spPr>
          <a:xfrm>
            <a:off x="548640" y="3931920"/>
            <a:ext cx="11064240" cy="630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13.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sub>
                        </m:sSub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=(5;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12)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⇒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|=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(km/h).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13.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\vec{v}=\vec{v_r}+\vec{v_n}=(5;\ 12)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⇒ </a:t>
                </a:r>
                <a:r>
                  <a:rPr lang="vi-VN"/>
                  <a:t>|\vec{v}|=\sqrt{5^2+12^2}=13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(km/h).</a:t>
                </a:r>
              </a:p>
            </p:txBody>
          </p:sp>
        </mc:Fallback>
      </mc:AlternateContent>
      <p:pic>
        <p:nvPicPr>
          <p:cNvPr id="10" name="Picture 9" descr="ph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485900"/>
            <a:ext cx="3108960" cy="2331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CỦNG CỐ TRỰC TUYẾN –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75895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Bài củng cố trực tuyến</a:t>
            </a:r>
            <a:r>
              <a:rPr sz="2200">
                <a:solidFill>
                  <a:srgbClr val="1E293B"/>
                </a:solidFill>
                <a:latin typeface="Calibri"/>
              </a:rPr>
              <a:t> – quét mã QR hoặc mở đường link: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https://trangtu66.github.io/Taode_thi_online/cc_chuong4_t10.html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Hoàn thành Bài 4.34, 4.37, 4.38, 4.39; nộp trên Classroom kèm Nhật ký sử dụng AI (nếu có dùng).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Đọc trước </a:t>
            </a:r>
            <a:r>
              <a:rPr sz="2200" b="1">
                <a:solidFill>
                  <a:srgbClr val="1E293B"/>
                </a:solidFill>
                <a:latin typeface="Calibri"/>
              </a:rPr>
              <a:t>Bài 12. Số gần đúng và sai số</a:t>
            </a:r>
            <a:r>
              <a:rPr sz="2200">
                <a:solidFill>
                  <a:srgbClr val="1E293B"/>
                </a:solidFill>
                <a:latin typeface="Calibri"/>
              </a:rPr>
              <a:t> (SGK tr.73 – 78; PPCT T39, T40).</a:t>
            </a:r>
          </a:p>
        </p:txBody>
      </p:sp>
      <p:pic>
        <p:nvPicPr>
          <p:cNvPr id="8" name="Picture 7" descr="QR_CungCo_Chuong4_Toan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554480"/>
            <a:ext cx="3291840" cy="3291840"/>
          </a:xfrm>
          <a:prstGeom prst="rect">
            <a:avLst/>
          </a:prstGeom>
        </p:spPr>
      </p:pic>
      <p:sp>
        <p:nvSpPr>
          <p:cNvPr id="9" name="Rounded Rectangle 8">
            <a:hlinkClick r:id="rId4"/>
          </p:cNvPr>
          <p:cNvSpPr/>
          <p:nvPr/>
        </p:nvSpPr>
        <p:spPr>
          <a:xfrm>
            <a:off x="8412480" y="5029200"/>
            <a:ext cx="3291840" cy="59436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MỞ BÀI CỦNG CỐ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SƠ ĐỒ TƯ DUY – CHƯƠNG IV. VECTƠ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32</a:t>
            </a:r>
          </a:p>
        </p:txBody>
      </p:sp>
      <p:pic>
        <p:nvPicPr>
          <p:cNvPr id="7" name="Picture 6" descr="SoDoTuDuy_TOAN10_BaiTapCuoiChuong4_T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9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1 – SAI LẦM THƯỜNG GẶP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33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Sai quy tắc hiệu: viết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Nhầm thứ tự đỉnh hình bình hành (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BCAD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khác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BCDA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Lấy góc giữa hai vectơ không chung gốc (4.32: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BD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Coi </a:t>
                </a:r>
                <a14:m>
                  <m:oMath xmlns:m="http://schemas.openxmlformats.org/officeDocument/2006/math">
                    <m:d>
                      <m:dPr>
                        <m:sepChr m:val=""/>
                        <m:endChr m:val="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  <m:s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e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acc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sSup>
                          <m:e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acc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luôn đúng; cộng độ lớn vận tốc thay vì cộng vectơ.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Sai quy tắc hiệu: viết </a:t>
                </a:r>
                <a:r>
                  <a:rPr lang="vi-VN"/>
                  <a:t>\overrightarrow{BC}=\overrightarrow{AB}-\overrightarrow{AC}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Nhầm thứ tự đỉnh hình bình hành (</a:t>
                </a:r>
                <a:r>
                  <a:rPr lang="vi-VN"/>
                  <a:t>BCAD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khác </a:t>
                </a:r>
                <a:r>
                  <a:rPr lang="vi-VN"/>
                  <a:t>BCDA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Lấy góc giữa hai vectơ không chung gốc (4.32: </a:t>
                </a:r>
                <a:r>
                  <a:rPr lang="vi-VN"/>
                  <a:t>(\overrightarrow{AB},\ \overrightarrow{BD})=135^\circ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Coi </a:t>
                </a:r>
                <a:r>
                  <a:rPr lang="vi-VN"/>
                  <a:t>(\vec{a}\cdot\vec{b})^2=\vec{a}^2\cdot\vec{b}^2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luôn đúng; cộng độ lớn vận tốc thay vì cộng vectơ.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2 – PHÂN HOÁ, DỰ PHÒNG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IV – Toán 10         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cần hỗ trợ:</a:t>
            </a:r>
            <a:r>
              <a:rPr sz="2000">
                <a:solidFill>
                  <a:srgbClr val="1E293B"/>
                </a:solidFill>
                <a:latin typeface="Calibri"/>
              </a:rPr>
              <a:t> 4.27 – 4.30, 4.33, 4.35a – c; dùng bảng công thức (slide hệ thống kiến thức).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khá, giỏi:</a:t>
            </a:r>
            <a:r>
              <a:rPr sz="2000">
                <a:solidFill>
                  <a:srgbClr val="1E293B"/>
                </a:solidFill>
                <a:latin typeface="Calibri"/>
              </a:rPr>
              <a:t> 4.34, 4.35d, 4.36, 4.38, 4.39; kiểm chứng bằng GeoGebra.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10A7 (khiếm thính):</a:t>
            </a:r>
            <a:r>
              <a:rPr sz="2000">
                <a:solidFill>
                  <a:srgbClr val="1E293B"/>
                </a:solidFill>
                <a:latin typeface="Calibri"/>
              </a:rPr>
              <a:t> luật chơi, yêu cầu có chữ trên slide; video có phụ đề. </a:t>
            </a:r>
            <a:r>
              <a:rPr sz="2000" b="1">
                <a:solidFill>
                  <a:srgbClr val="1E293B"/>
                </a:solidFill>
                <a:latin typeface="Calibri"/>
              </a:rPr>
              <a:t>10A4:</a:t>
            </a:r>
            <a:r>
              <a:rPr sz="2000">
                <a:solidFill>
                  <a:srgbClr val="1E293B"/>
                </a:solidFill>
                <a:latin typeface="Calibri"/>
              </a:rPr>
              <a:t> trả lời tại chỗ bằng bảng con.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Mất điện/mạng:</a:t>
            </a:r>
            <a:r>
              <a:rPr sz="2000">
                <a:solidFill>
                  <a:srgbClr val="1E293B"/>
                </a:solidFill>
                <a:latin typeface="Calibri"/>
              </a:rPr>
              <a:t> KHBD in, phiếu bài tập; thẻ A/B/C/D thay trò chơi trình chiếu; tính bằng máy tính cầm tay.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