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9" r:id="rId30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1.xml"/><Relationship Id="rId26" Type="http://schemas.openxmlformats.org/officeDocument/2006/relationships/slide" Target="slides/slide19.xml"/><Relationship Id="rId27" Type="http://schemas.openxmlformats.org/officeDocument/2006/relationships/slide" Target="slides/slide17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5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5. GIÁ TRỊ LƯỢNG GIÁC CỦA MỘT GÓC TỪ 0° ĐẾN 180°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16 – 17 theo PPCT (T16, T17)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giá trị lượng giác góc 0°–180°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dấu của sin, cos, tan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bảng giá trị góc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quan hệ góc bù, góc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đu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GÓC TÙ THÌ SAO?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sin 120° ≈ 0,866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cos 120° = −0,5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vuông không có góc tù!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120° được hiểu thế nào?</a:t>
            </a:r>
          </a:p>
        </p:txBody>
      </p:sp>
      <p:pic>
        <p:nvPicPr>
          <p:cNvPr id="9" name="Picture 8" descr="b5_h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83324"/>
            <a:ext cx="4389120" cy="1668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NỬA ĐƯỜNG TRÒN ĐƠN VỊ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trên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với góc xOM =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&lt; 90°: M bên phải trục tung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90°: M bên trái trục tung</a:t>
            </a:r>
          </a:p>
        </p:txBody>
      </p:sp>
      <p:pic>
        <p:nvPicPr>
          <p:cNvPr id="7" name="Picture 6" descr="b5_h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70" y="3913632"/>
            <a:ext cx="5105579" cy="230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0° &lt; α &lt; 90°: các giá trị đều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90° &lt; α &lt; 180°: sin &gt; 0; cos, tan, cot &lt;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2148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\alpha=\frac{\cos\ \alpha}{\sin\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GIÁ TRỊ LƯỢNG GIÁC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6</a:t>
            </a:r>
          </a:p>
        </p:txBody>
      </p:sp>
      <p:pic>
        <p:nvPicPr>
          <p:cNvPr id="6" name="Picture 5" descr="b5_ban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46" y="1417320"/>
            <a:ext cx="744582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Kí hiệu || : giá trị không xác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7</a:t>
            </a:r>
          </a:p>
        </p:txBody>
      </p:sp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135° (Hình 3.3)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MON có gì đặc biệt?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M\left(−\frac{\sqrt{2}}{2};\frac{\sqrt{2}}{2}\right)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135^\circ=\frac{\sqrt{2}}{2}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:r>
                  <a:rPr lang="vi-VN"/>
                  <a:t>\cos\ 135^\circ=−\frac{\sqrt{2}}{2}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Fallback>
      </mc:AlternateContent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9</a:t>
            </a:r>
          </a:p>
        </p:txBody>
      </p:sp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120° (Hình 3.4)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M\left(−\frac{1}{2};\frac{\sqrt{3}}{2}\right)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120^\circ=\frac{\sqrt{3}}{2}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\cos\ 120^\circ=−\frac{1}{2}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120^\circ=−\sqrt{3}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\cot\ 120^\circ=−\frac{\sqrt{3}}{3}</a:t>
                </a:r>
              </a:p>
            </p:txBody>
          </p:sp>
        </mc:Fallback>
      </mc:AlternateContent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chọn đơn vị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x = 0,5: máy chỉ cho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 180° − x cũng có cùng sin</a:t>
            </a:r>
          </a:p>
        </p:txBody>
      </p:sp>
      <p:pic>
        <p:nvPicPr>
          <p:cNvPr id="9" name="Picture 8" descr="b5_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91" y="3602736"/>
            <a:ext cx="788913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HAI GÓC BÙ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M, M′ đối xứng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bằng nhau; cos, tan đối nhau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sin(180° − α) = sin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cos(180° − α) = −cos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tan(180° − α) = −tan α</a:t>
            </a:r>
          </a:p>
        </p:txBody>
      </p:sp>
      <p:pic>
        <p:nvPicPr>
          <p:cNvPr id="9" name="Picture 8" descr="b5_h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0879"/>
            <a:ext cx="4389120" cy="28334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các góc 120°, 135°, 150°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góc bù: 60°, 45°,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778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GÓC PHỤ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ΔMOP = ΔNOQ (cạnh huyền – góc nhọn)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Suy ra OP = 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 α = sin(90° − α)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α = cot(90° − α)</a:t>
            </a:r>
          </a:p>
        </p:txBody>
      </p:sp>
      <p:pic>
        <p:nvPicPr>
          <p:cNvPr id="9" name="Picture 8" descr="b5_h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07466"/>
            <a:ext cx="4389120" cy="42203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:r>
                  <a:rPr lang="vi-VN"/>
                  <a:t>\tan\ \alpha=3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:r>
                  <a:rPr lang="vi-VN"/>
                  <a:t>P=\frac{2\tan\ \alpha−3}{3\tan\ \alpha+2}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:r>
                  <a:rPr lang="vi-VN"/>
                  <a:t>P=\frac{2\tan\ \alpha−3}{3\tan\ \alpha+2}=\frac{3}{11}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bù: sin bằng, cos đối nhau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nghiệm x = 150°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20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quay một vòng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Xuất phát từ điểm thấp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Sau 20 phút cabin cao bao nhiêu?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Sau 20 phút quay được bao nhiêu độ?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một vòng; sau 20 phút?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Quay 240° từ điểm thấp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 = 90 + 75·sin 150° = 127,5 m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Thanh chắn barie, cần kéo nước…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chiều dài L, độ cao trục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Mở ở hai góc bù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với h =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L·sin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Mô phỏng GeoGebra,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23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593073" y="1729694"/>
            <a:ext cx="1745815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19568" y="1352671"/>
            <a:ext cx="1573505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 α = tung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 M trên đtròn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ĐV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507221" y="2457917"/>
            <a:ext cx="183166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105420" y="2181606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 α = hoành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 M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593073" y="2670962"/>
            <a:ext cx="1745815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9568" y="280911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tan α = sin/cos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(cos≠0)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93073" y="2670962"/>
            <a:ext cx="1745815" cy="1041979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9568" y="3436630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cot α = cos/sin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(sin≠0)</a:t>
            </a:r>
          </a:p>
        </p:txBody>
      </p:sp>
      <p:sp>
        <p:nvSpPr>
          <p:cNvPr id="15" name="Oval 14"/>
          <p:cNvSpPr/>
          <p:nvPr/>
        </p:nvSpPr>
        <p:spPr>
          <a:xfrm>
            <a:off x="3225238" y="2259078"/>
            <a:ext cx="2227301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Định nghĩa qua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đường tròn ĐV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15646" y="1931116"/>
            <a:ext cx="1531185" cy="73984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46831" y="1755515"/>
            <a:ext cx="2002765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30°: sin=½, cos=√3/2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715646" y="2357206"/>
            <a:ext cx="1659963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5609" y="2181605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45°: sin=cos=√2/2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531185" cy="112334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46831" y="2607696"/>
            <a:ext cx="2002765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60°: sin=√3/2, cos=½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15646" y="2670962"/>
            <a:ext cx="1531185" cy="63913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46831" y="3033786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120°, 135°, 150°: bù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góc nhọn</a:t>
            </a:r>
          </a:p>
        </p:txBody>
      </p:sp>
      <p:sp>
        <p:nvSpPr>
          <p:cNvPr id="25" name="Oval 24"/>
          <p:cNvSpPr/>
          <p:nvPr/>
        </p:nvSpPr>
        <p:spPr>
          <a:xfrm>
            <a:off x="6740679" y="2259078"/>
            <a:ext cx="1949933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Bảng giá trị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đặc biệt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593073" y="4812507"/>
            <a:ext cx="1745815" cy="42609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68" y="4536196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sin²α + cos²α =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721851" y="5238597"/>
            <a:ext cx="1617037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0790" y="5163708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sin(180°−α) = sinα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764777" y="5238597"/>
            <a:ext cx="1574111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47864" y="5589798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cos(180°−α) = −cosα</a:t>
            </a:r>
          </a:p>
        </p:txBody>
      </p:sp>
      <p:sp>
        <p:nvSpPr>
          <p:cNvPr id="33" name="Oval 32"/>
          <p:cNvSpPr/>
          <p:nvPr/>
        </p:nvSpPr>
        <p:spPr>
          <a:xfrm>
            <a:off x="3433264" y="4826713"/>
            <a:ext cx="1811249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chất &amp;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hệ thức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15646" y="4924841"/>
            <a:ext cx="1659963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375609" y="4648530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Quy tắc sin trong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tam giác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15646" y="5238597"/>
            <a:ext cx="1960445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676091" y="5276042"/>
            <a:ext cx="114424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Góc A tù ⟺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cosA &lt; 0</a:t>
            </a:r>
          </a:p>
        </p:txBody>
      </p:sp>
      <p:sp>
        <p:nvSpPr>
          <p:cNvPr id="39" name="Oval 38"/>
          <p:cNvSpPr/>
          <p:nvPr/>
        </p:nvSpPr>
        <p:spPr>
          <a:xfrm>
            <a:off x="6601995" y="4826713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 trong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tam giác</a:t>
            </a:r>
          </a:p>
        </p:txBody>
      </p:sp>
      <p:sp>
        <p:nvSpPr>
          <p:cNvPr id="40" name="Oval 39"/>
          <p:cNvSpPr/>
          <p:nvPr/>
        </p:nvSpPr>
        <p:spPr>
          <a:xfrm>
            <a:off x="4627003" y="3484793"/>
            <a:ext cx="28005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GIÁ TRỊ LƯỢNG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GIÁC GÓC 0°–180°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5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trangtu66.github.io/Taode_thi_online/cc_bai5_t10.html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