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video mở trang online (cần Internet).</a:t>
            </a:r>
          </a:p>
          <a:p>
            <a:r>
              <a:t>Lớp 10A7 có HS khiếm thính: mọi yêu cầu, luật chơi đều có chữ trên slide; video có phụ đề.</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tr.51.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6' – HĐ1, HĐ2, quy tắc 10' – HĐ3, tính chất, Ví dụ 1, LT1: 10' – Hiệu hai vectơ 10' – Trò chơi 6'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Video mở đầu (phụ đề). HS dự đoán góc (thường đoán: hướng chếch ngược dòng). GV chưa chốt – giải ở Ví dụ 4 (Tiết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HĐ2 (SGK tr.51) – 5'. Click 1: AC = A'C' (tổng không phụ thuộc điểm đầu); click 2: AB + AD = AB + BC = AC.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chốt hai khung kiến thức (SGK tr.51 – 52).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(SGK tr.52) – 4'. Click 1, 2 theo Hình 4.14. Chốt tính chất; Chú ý: viết a + b + c không cần dấu ngoặc.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 GV hướng dẫn (click 1, 2). Luyện tập 1: HS làm 3' (click 3). Hình thoi góc BAD = 120° ⇒ góc ABC = 60°, tam giác ABC đều.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HĐ4 (SGK tr.52) – 4'. Hình kéo co: hai đội cân bằng. Click 1. Chốt vectơ đối, chú ý.</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chốt khung, chú ý, quy tắc hiệu (SGK tr.53).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hướng dẫn áp dụng quy tắc hiệu (click 1,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A=(0,0), B=(4,0), D=(1,3), C=B+D-A, polygon, u=Vector(A,B), w=Vector(A,D), t=u+w, h=u-w.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Luật in trên slide (HS khiếm thính 10A7). Lớp 10A4: HS đọc đáp án để bạn cùng đội ghi. Click 1–4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Hộp quà khởi động 7' – Ví dụ 3, LT2: 10' – Chú ý, Ví dụ 4 (giải tình huống mở đầu), GeoGebra 10' – Vận dụng 6' – Bài tập 9' – Củng cố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Đáp án đã kiểm tra bằng toạ độ. Hộp 4 là câu dẫn vào Ví dụ 3.</a:t>
            </a:r>
          </a:p>
          <a:p>
            <a:r>
              <a:t>Các slide câu hỏi đang ẩn – chỉ mở được bằng cách bấm vào hộp.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(click 1–3). Chốt Nhận xét (học thuộc). Lưu ý: G thuộc trung tuyến AI, GA = 2GI.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4' (gợi ý: dùng a của Ví dụ 3). Click 1, 2. Chú ý (Vật lí): trọng tâm vật mỏng đa giác.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ý (SGK tr.53) – 2'. Liên hệ Vật lí 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dẫn dắt từng bước (click 1–4), đối chiếu với dự đoán của HS ở đầu Tiết 1. Kết luận: lái vuông góc với bờ.</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Kiểm chứng Ví dụ 4. Lệnh: α=Slider(10°,170°,1°), vr=3*(cos(α),sin(α)), vn=(1.5,0), v=vr+vn, thoiGian=4/y(vr) (sông rộng 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Theo SGV: P + w hướng xuống theo mặt dốc, độ lớn |P|·sin30° = 11 074 N ⇒ cần ít nhất 111 người. Click 1–3.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tr.108 – 109). 4.9 dùng hình bình hành + định lí côsin.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tr.108 – 109). 4.9 dùng hình bình hành + định lí côsin.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tr.108 – 109). 4.9 dùng hình bình hành + định lí côsin.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0/VIDEO_MoDau_TOAN10_Bai8_TongHieuHaiVecto.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trangtu66.github.io/Taode_thi_online/GGB_T10_Bai8_1_HinhBinhHanh.html" TargetMode="External"/><Relationship Id="rId4" Type="http://schemas.openxmlformats.org/officeDocument/2006/relationships/image" Target="../media/image10.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slide" Target="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slide" Target="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slide" Target="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slide" Target="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trangtu66.github.io/Taode_thi_online/GGB_T10_Bai8_2_TauSangSong.html" TargetMode="External"/><Relationship Id="rId4" Type="http://schemas.openxmlformats.org/officeDocument/2006/relationships/image" Target="../media/image14.png"/><Relationship Id="rId5"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hyperlink" Target="https://trangtu66.github.io/Taode_thi_online/cc_bai8_t10.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CHƯƠNG IV. VECTƠ</a:t>
            </a:r>
          </a:p>
          <a:p>
            <a:pPr>
              <a:spcAft>
                <a:spcPts val="600"/>
              </a:spcAft>
            </a:pPr>
            <a:r>
              <a:rPr sz="3000" b="1">
                <a:solidFill>
                  <a:srgbClr val="FFFFFF"/>
                </a:solidFill>
                <a:latin typeface="Cambria"/>
              </a:rPr>
              <a:t>BÀI 8</a:t>
            </a:r>
          </a:p>
          <a:p>
            <a:pPr>
              <a:spcAft>
                <a:spcPts val="600"/>
              </a:spcAft>
            </a:pPr>
            <a:r>
              <a:rPr sz="4600" b="1">
                <a:solidFill>
                  <a:srgbClr val="FFFFFF"/>
                </a:solidFill>
                <a:latin typeface="Cambria"/>
              </a:rPr>
              <a:t>TỔNG VÀ HIỆU CỦA HAI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Toán 10 – Kết nối tri thức với cuộc sống (SGK tập một, tr.51 – 54)</a:t>
            </a:r>
          </a:p>
          <a:p>
            <a:pPr algn="l">
              <a:spcAft>
                <a:spcPts val="800"/>
              </a:spcAft>
            </a:pPr>
            <a:r>
              <a:rPr sz="2200">
                <a:solidFill>
                  <a:srgbClr val="E0E7FF"/>
                </a:solidFill>
                <a:latin typeface="Calibri"/>
              </a:rPr>
              <a:t>2 tiết: T28 – T29</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a:t>
            </a:r>
          </a:p>
        </p:txBody>
      </p:sp>
      <p:sp>
        <p:nvSpPr>
          <p:cNvPr id="7" name="Rounded Rectangle 6"/>
          <p:cNvSpPr/>
          <p:nvPr/>
        </p:nvSpPr>
        <p:spPr>
          <a:xfrm>
            <a:off x="548640" y="1417320"/>
            <a:ext cx="11064240" cy="1908047"/>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834895"/>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tr.51)</a:t>
            </a:r>
          </a:p>
          <a:p>
            <a:pPr algn="l" marL="365760" indent="-365760">
              <a:spcAft>
                <a:spcPts val="800"/>
              </a:spcAft>
              <a:buClr>
                <a:srgbClr val="1E40AF"/>
              </a:buClr>
              <a:buFont typeface="Arial"/>
              <a:buChar char="•"/>
            </a:pPr>
            <a:r>
              <a:rPr sz="2200">
                <a:solidFill>
                  <a:srgbClr val="1E293B"/>
                </a:solidFill>
                <a:latin typeface="Calibri"/>
              </a:rPr>
              <a:t>Thực hiện các phép toán cộng, trừ vectơ.</a:t>
            </a:r>
          </a:p>
          <a:p>
            <a:pPr algn="l" marL="365760" indent="-365760">
              <a:spcAft>
                <a:spcPts val="800"/>
              </a:spcAft>
              <a:buClr>
                <a:srgbClr val="1E40AF"/>
              </a:buClr>
              <a:buFont typeface="Arial"/>
              <a:buChar char="•"/>
            </a:pPr>
            <a:r>
              <a:rPr sz="2200">
                <a:solidFill>
                  <a:srgbClr val="1E293B"/>
                </a:solidFill>
                <a:latin typeface="Calibri"/>
              </a:rPr>
              <a:t>Mô tả trung điểm của đoạn thẳng, trọng tâm của tam giác bằng vectơ.</a:t>
            </a:r>
          </a:p>
          <a:p>
            <a:pPr algn="l" marL="365760" indent="-365760">
              <a:spcAft>
                <a:spcPts val="800"/>
              </a:spcAft>
              <a:buClr>
                <a:srgbClr val="1E40AF"/>
              </a:buClr>
              <a:buFont typeface="Arial"/>
              <a:buChar char="•"/>
            </a:pPr>
            <a:r>
              <a:rPr sz="2200">
                <a:solidFill>
                  <a:srgbClr val="1E293B"/>
                </a:solidFill>
                <a:latin typeface="Calibri"/>
              </a:rPr>
              <a:t>Vận dụng vectơ trong bài toán tổng hợp lực, tổng hợp vận tốc.</a:t>
            </a:r>
          </a:p>
        </p:txBody>
      </p:sp>
      <p:sp>
        <p:nvSpPr>
          <p:cNvPr id="9" name="TextBox 8"/>
          <p:cNvSpPr txBox="1"/>
          <p:nvPr/>
        </p:nvSpPr>
        <p:spPr>
          <a:xfrm>
            <a:off x="548640" y="3553968"/>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(chứng minh đẳng thức vectơ); mô hình hoá (tổng hợp lực, vận tốc); giải quyết vấn đề (tàu sang sông, kéo pháo); sử dụng công cụ (GeoGebra).</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2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T28</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Tổng của hai vectơ (quy tắc ba điểm, hình bình hành, tính chất). 2. Hiệu của hai vectơ</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Tiếp sức đồng đội · GeoGebra</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T29</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Trung điểm, trọng tâm; tổng hợp lực, vận tốc; Bài tập 4.6 – 4.10</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Hộp quà bí mật · GeoGebra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(T28)</a:t>
            </a:r>
          </a:p>
          <a:p>
            <a:pPr>
              <a:spcAft>
                <a:spcPts val="600"/>
              </a:spcAft>
            </a:pPr>
            <a:r>
              <a:rPr sz="4000" b="1">
                <a:solidFill>
                  <a:srgbClr val="FFFFFF"/>
                </a:solidFill>
                <a:latin typeface="Cambria"/>
              </a:rPr>
              <a:t>Tổng và hiệu của hai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Thực hiện phép cộng vectơ: quy tắc ba điểm, quy tắc hình bình hành.</a:t>
            </a:r>
          </a:p>
          <a:p>
            <a:pPr algn="l">
              <a:spcAft>
                <a:spcPts val="800"/>
              </a:spcAft>
            </a:pPr>
            <a:r>
              <a:rPr sz="2200">
                <a:solidFill>
                  <a:srgbClr val="E0E7FF"/>
                </a:solidFill>
                <a:latin typeface="Calibri"/>
              </a:rPr>
              <a:t>• Nhận biết vectơ đối; thực hiện phép trừ vectơ: quy tắc hiệu.</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TÀU SANG SÔNG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5</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con tàu chuyển động từ bờ bên này sang bờ bên kia của một dòng sông với vận tốc riêng không đổi. Giả sử vận tốc dòng nước là không đổi và đáng kể, các yếu tố bên ngoài khác không ảnh hưởng đến vận tốc thực tế của tàu. </a:t>
            </a:r>
            <a:r>
              <a:rPr sz="2200" b="1">
                <a:solidFill>
                  <a:srgbClr val="1E293B"/>
                </a:solidFill>
                <a:latin typeface="Calibri"/>
              </a:rPr>
              <a:t>Nếu không quan tâm đến điểm đến thì cần giữ lái cho tàu tạo với bờ sông một góc bao nhiêu để tàu sang bờ bên kia được nhanh nhất?</a:t>
            </a:r>
          </a:p>
          <a:p>
            <a:pPr algn="l">
              <a:spcAft>
                <a:spcPts val="800"/>
              </a:spcAft>
            </a:pPr>
            <a:r>
              <a:rPr sz="2000">
                <a:solidFill>
                  <a:srgbClr val="64748B"/>
                </a:solidFill>
                <a:latin typeface="Calibri"/>
              </a:rPr>
              <a:t>(SGK Toán 10 tập một, tr.51)</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tau.png"/>
          <p:cNvPicPr>
            <a:picLocks noChangeAspect="1"/>
          </p:cNvPicPr>
          <p:nvPr/>
        </p:nvPicPr>
        <p:blipFill>
          <a:blip r:embed="rId5"/>
          <a:stretch>
            <a:fillRect/>
          </a:stretch>
        </p:blipFill>
        <p:spPr>
          <a:xfrm>
            <a:off x="7315200" y="2170879"/>
            <a:ext cx="4389120" cy="2607681"/>
          </a:xfrm>
          <a:prstGeom prst="rect">
            <a:avLst/>
          </a:prstGeom>
        </p:spPr>
      </p:pic>
      <p:sp>
        <p:nvSpPr>
          <p:cNvPr id="11" name="TextBox 10"/>
          <p:cNvSpPr txBox="1"/>
          <p:nvPr/>
        </p:nvSpPr>
        <p:spPr>
          <a:xfrm>
            <a:off x="7315200" y="5504688"/>
            <a:ext cx="43891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Tàu sang sông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TỔNG CỦA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Với hai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cho trước, lấy một điểm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vẽ các vectơ </a:t>
                </a:r>
                <a14:m>
                  <m:oMath xmlns:m="http://schemas.openxmlformats.org/officeDocument/2006/math">
                    <m:acc>
                      <m:accPr>
                        <m:chr m:val="⃗"/>
                      </m:accPr>
                      <m:e>
                        <m:r>
                          <a:rPr lang="vi-VN" sz="2100" b="0">
                            <a:solidFill>
                              <a:srgbClr val="1E293B"/>
                            </a:solidFill>
                            <a:latin typeface="Cambria Math" panose="02040503050406030204" pitchFamily="18" charset="0"/>
                          </a:rPr>
                          <m:t>AB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Lấy điểm </a:t>
                </a:r>
                <a14:m>
                  <m:oMath xmlns:m="http://schemas.openxmlformats.org/officeDocument/2006/math">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khác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cũng vẽ các vectơ </a:t>
                </a:r>
                <a14:m>
                  <m:oMath xmlns:m="http://schemas.openxmlformats.org/officeDocument/2006/math">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Hỏi hai vectơ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 và </a:t>
                </a:r>
                <a14:m>
                  <m:oMath xmlns:m="http://schemas.openxmlformats.org/officeDocument/2006/math">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 có mối quan hệ gì?</a:t>
                </a:r>
              </a:p>
            </p:txBody>
          </p:sp>
        </mc:Choice>
        <mc:Fallback>
          <p:sp>
            <p:nvSpPr>
              <p:cNvPr id="7" name="TextBox 6"/>
              <p:cNvSpPr txBox="1"/>
              <p:nvPr/>
            </p:nvSpPr>
            <p:spPr>
              <a:xfrm>
                <a:off x="548640" y="1371600"/>
                <a:ext cx="786384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Với hai vectơ </a:t>
                </a:r>
                <a:r>
                  <a:rPr lang="vi-VN"/>
                  <a:t>\vec{a},\ \vec{b}</a:t>
                </a:r>
                <a:r>
                  <a:rPr sz="2100">
                    <a:solidFill>
                      <a:srgbClr val="1E293B"/>
                    </a:solidFill>
                    <a:latin typeface="Calibri"/>
                  </a:rPr>
                  <a:t> cho trước, lấy một điểm </a:t>
                </a:r>
                <a:r>
                  <a:rPr lang="vi-VN"/>
                  <a:t>A</a:t>
                </a:r>
                <a:r>
                  <a:rPr sz="2100">
                    <a:solidFill>
                      <a:srgbClr val="1E293B"/>
                    </a:solidFill>
                    <a:latin typeface="Calibri"/>
                  </a:rPr>
                  <a:t> và vẽ các vectơ </a:t>
                </a:r>
                <a:r>
                  <a:rPr lang="vi-VN"/>
                  <a:t>\overrightarrow{AB}=\vec{a},\ \overrightarrow{BC}=\vec{b}</a:t>
                </a:r>
                <a:r>
                  <a:rPr sz="2100">
                    <a:solidFill>
                      <a:srgbClr val="1E293B"/>
                    </a:solidFill>
                    <a:latin typeface="Calibri"/>
                  </a:rPr>
                  <a:t>. Lấy điểm </a:t>
                </a:r>
                <a:r>
                  <a:rPr lang="vi-VN"/>
                  <a:t>A'</a:t>
                </a:r>
                <a:r>
                  <a:rPr sz="2100">
                    <a:solidFill>
                      <a:srgbClr val="1E293B"/>
                    </a:solidFill>
                    <a:latin typeface="Calibri"/>
                  </a:rPr>
                  <a:t> khác </a:t>
                </a:r>
                <a:r>
                  <a:rPr lang="vi-VN"/>
                  <a:t>A</a:t>
                </a:r>
                <a:r>
                  <a:rPr sz="2100">
                    <a:solidFill>
                      <a:srgbClr val="1E293B"/>
                    </a:solidFill>
                    <a:latin typeface="Calibri"/>
                  </a:rPr>
                  <a:t> và cũng vẽ các vectơ </a:t>
                </a:r>
                <a:r>
                  <a:rPr lang="vi-VN"/>
                  <a:t>\overrightarrow{A'B'}=\vec{a},\ \overrightarrow{B'C'}=\vec{b}</a:t>
                </a:r>
                <a:r>
                  <a:rPr sz="2100">
                    <a:solidFill>
                      <a:srgbClr val="1E293B"/>
                    </a:solidFill>
                    <a:latin typeface="Calibri"/>
                  </a:rPr>
                  <a:t>. Hỏi hai vectơ </a:t>
                </a:r>
                <a:r>
                  <a:rPr lang="vi-VN"/>
                  <a:t>\overrightarrow{AC}</a:t>
                </a:r>
                <a:r>
                  <a:rPr sz="2100">
                    <a:solidFill>
                      <a:srgbClr val="1E293B"/>
                    </a:solidFill>
                    <a:latin typeface="Calibri"/>
                  </a:rPr>
                  <a:t> và </a:t>
                </a:r>
                <a:r>
                  <a:rPr lang="vi-VN"/>
                  <a:t>\overrightarrow{A'C'}</a:t>
                </a:r>
                <a:r>
                  <a:rPr sz="2100">
                    <a:solidFill>
                      <a:srgbClr val="1E293B"/>
                    </a:solidFill>
                    <a:latin typeface="Calibri"/>
                  </a:rPr>
                  <a:t> có mối quan hệ gì?</a:t>
                </a:r>
              </a:p>
            </p:txBody>
          </p:sp>
        </mc:Fallback>
      </mc:AlternateContent>
      <p:sp>
        <p:nvSpPr>
          <p:cNvPr id="8" name="s1_nen"/>
          <p:cNvSpPr/>
          <p:nvPr/>
        </p:nvSpPr>
        <p:spPr>
          <a:xfrm>
            <a:off x="548640" y="2935224"/>
            <a:ext cx="78638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971800"/>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 = </a:t>
                </a:r>
                <a14:m>
                  <m:oMath xmlns:m="http://schemas.openxmlformats.org/officeDocument/2006/math">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 – vectơ tổng không phụ thuộc cách chọn điểm đầu.</a:t>
                </a:r>
              </a:p>
            </p:txBody>
          </p:sp>
        </mc:Choice>
        <mc:Fallback>
          <p:sp>
            <p:nvSpPr>
              <p:cNvPr id="9" name="TextBox 8"/>
              <p:cNvSpPr txBox="1"/>
              <p:nvPr/>
            </p:nvSpPr>
            <p:spPr>
              <a:xfrm>
                <a:off x="713232" y="2971800"/>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\overrightarrow{AC}</a:t>
                </a:r>
                <a:r>
                  <a:rPr sz="2100">
                    <a:solidFill>
                      <a:srgbClr val="1E293B"/>
                    </a:solidFill>
                    <a:latin typeface="Calibri"/>
                  </a:rPr>
                  <a:t> = </a:t>
                </a:r>
                <a:r>
                  <a:rPr lang="vi-VN"/>
                  <a:t>\overrightarrow{A'C'}</a:t>
                </a:r>
                <a:r>
                  <a:rPr sz="2100">
                    <a:solidFill>
                      <a:srgbClr val="1E293B"/>
                    </a:solidFill>
                    <a:latin typeface="Calibri"/>
                  </a:rPr>
                  <a:t> – vectơ tổng không phụ thuộc cách chọn điểm đầu.</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950208"/>
                <a:ext cx="78638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HĐ2.</a:t>
                </a:r>
                <a:r>
                  <a:rPr sz="2100">
                    <a:solidFill>
                      <a:srgbClr val="1E293B"/>
                    </a:solidFill>
                    <a:latin typeface="Calibri"/>
                  </a:rPr>
                  <a:t> Cho hình bình hành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Tìm mối quan hệ giữa hai vectơ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AD</m:t>
                        </m:r>
                      </m:e>
                    </m:acc>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a:t>
                </a:r>
              </a:p>
            </p:txBody>
          </p:sp>
        </mc:Choice>
        <mc:Fallback>
          <p:sp>
            <p:nvSpPr>
              <p:cNvPr id="10" name="TextBox 9"/>
              <p:cNvSpPr txBox="1"/>
              <p:nvPr/>
            </p:nvSpPr>
            <p:spPr>
              <a:xfrm>
                <a:off x="548640" y="3950208"/>
                <a:ext cx="78638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HĐ2.</a:t>
                </a:r>
                <a:r>
                  <a:rPr sz="2100">
                    <a:solidFill>
                      <a:srgbClr val="1E293B"/>
                    </a:solidFill>
                    <a:latin typeface="Calibri"/>
                  </a:rPr>
                  <a:t> Cho hình bình hành </a:t>
                </a:r>
                <a:r>
                  <a:rPr lang="vi-VN"/>
                  <a:t>ABCD</a:t>
                </a:r>
                <a:r>
                  <a:rPr sz="2100">
                    <a:solidFill>
                      <a:srgbClr val="1E293B"/>
                    </a:solidFill>
                    <a:latin typeface="Calibri"/>
                  </a:rPr>
                  <a:t>. Tìm mối quan hệ giữa hai vectơ </a:t>
                </a:r>
                <a:r>
                  <a:rPr lang="vi-VN"/>
                  <a:t>\overrightarrow{AB}</a:t>
                </a:r>
                <a:r>
                  <a:rPr sz="2100">
                    <a:solidFill>
                      <a:srgbClr val="1E293B"/>
                    </a:solidFill>
                    <a:latin typeface="Calibri"/>
                  </a:rPr>
                  <a:t> + </a:t>
                </a:r>
                <a:r>
                  <a:rPr lang="vi-VN"/>
                  <a:t>\overrightarrow{AD}</a:t>
                </a:r>
                <a:r>
                  <a:rPr sz="2100">
                    <a:solidFill>
                      <a:srgbClr val="1E293B"/>
                    </a:solidFill>
                    <a:latin typeface="Calibri"/>
                  </a:rPr>
                  <a:t> và </a:t>
                </a:r>
                <a:r>
                  <a:rPr lang="vi-VN"/>
                  <a:t>\overrightarrow{AC}</a:t>
                </a:r>
                <a:r>
                  <a:rPr sz="2100">
                    <a:solidFill>
                      <a:srgbClr val="1E293B"/>
                    </a:solidFill>
                    <a:latin typeface="Calibri"/>
                  </a:rPr>
                  <a:t>.</a:t>
                </a:r>
              </a:p>
            </p:txBody>
          </p:sp>
        </mc:Fallback>
      </mc:AlternateContent>
      <p:sp>
        <p:nvSpPr>
          <p:cNvPr id="11" name="s3_nen"/>
          <p:cNvSpPr/>
          <p:nvPr/>
        </p:nvSpPr>
        <p:spPr>
          <a:xfrm>
            <a:off x="548640" y="4873752"/>
            <a:ext cx="78638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910328"/>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BC</m:t>
                        </m:r>
                      </m:e>
                    </m:acc>
                  </m:oMath>
                </a14:m>
                <a:r>
                  <a:rPr sz="2100">
                    <a:solidFill>
                      <a:srgbClr val="1E293B"/>
                    </a:solidFill>
                    <a:latin typeface="Calibri"/>
                  </a:rPr>
                  <a:t> nên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BC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a:t>
                </a:r>
              </a:p>
            </p:txBody>
          </p:sp>
        </mc:Choice>
        <mc:Fallback>
          <p:sp>
            <p:nvSpPr>
              <p:cNvPr id="12" name="TextBox 11"/>
              <p:cNvSpPr txBox="1"/>
              <p:nvPr/>
            </p:nvSpPr>
            <p:spPr>
              <a:xfrm>
                <a:off x="713232" y="4910328"/>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\overrightarrow{AD}</a:t>
                </a:r>
                <a:r>
                  <a:rPr sz="2100">
                    <a:solidFill>
                      <a:srgbClr val="1E293B"/>
                    </a:solidFill>
                    <a:latin typeface="Calibri"/>
                  </a:rPr>
                  <a:t> = </a:t>
                </a:r>
                <a:r>
                  <a:rPr lang="vi-VN"/>
                  <a:t>\overrightarrow{BC}</a:t>
                </a:r>
                <a:r>
                  <a:rPr sz="2100">
                    <a:solidFill>
                      <a:srgbClr val="1E293B"/>
                    </a:solidFill>
                    <a:latin typeface="Calibri"/>
                  </a:rPr>
                  <a:t> nên </a:t>
                </a:r>
                <a:r>
                  <a:rPr lang="vi-VN"/>
                  <a:t>\overrightarrow{AB}</a:t>
                </a:r>
                <a:r>
                  <a:rPr sz="2100">
                    <a:solidFill>
                      <a:srgbClr val="1E293B"/>
                    </a:solidFill>
                    <a:latin typeface="Calibri"/>
                  </a:rPr>
                  <a:t> + </a:t>
                </a:r>
                <a:r>
                  <a:rPr lang="vi-VN"/>
                  <a:t>\overrightarrow{AD}</a:t>
                </a:r>
                <a:r>
                  <a:rPr sz="2100">
                    <a:solidFill>
                      <a:srgbClr val="1E293B"/>
                    </a:solidFill>
                    <a:latin typeface="Calibri"/>
                  </a:rPr>
                  <a:t> = </a:t>
                </a:r>
                <a:r>
                  <a:rPr lang="vi-VN"/>
                  <a:t>\overrightarrow{AB}</a:t>
                </a:r>
                <a:r>
                  <a:rPr sz="2100">
                    <a:solidFill>
                      <a:srgbClr val="1E293B"/>
                    </a:solidFill>
                    <a:latin typeface="Calibri"/>
                  </a:rPr>
                  <a:t> + </a:t>
                </a:r>
                <a:r>
                  <a:rPr lang="vi-VN"/>
                  <a:t>\overrightarrow{BC}</a:t>
                </a:r>
                <a:r>
                  <a:rPr sz="2100">
                    <a:solidFill>
                      <a:srgbClr val="1E293B"/>
                    </a:solidFill>
                    <a:latin typeface="Calibri"/>
                  </a:rPr>
                  <a:t> = </a:t>
                </a:r>
                <a:r>
                  <a:rPr lang="vi-VN"/>
                  <a:t>\overrightarrow{AC}</a:t>
                </a:r>
                <a:r>
                  <a:rPr sz="2100">
                    <a:solidFill>
                      <a:srgbClr val="1E293B"/>
                    </a:solidFill>
                    <a:latin typeface="Calibri"/>
                  </a:rPr>
                  <a:t>.</a:t>
                </a:r>
              </a:p>
            </p:txBody>
          </p:sp>
        </mc:Fallback>
      </mc:AlternateContent>
      <p:pic>
        <p:nvPicPr>
          <p:cNvPr id="13" name="Picture 12" descr="hd1.png"/>
          <p:cNvPicPr>
            <a:picLocks noChangeAspect="1"/>
          </p:cNvPicPr>
          <p:nvPr/>
        </p:nvPicPr>
        <p:blipFill>
          <a:blip r:embed="rId3"/>
          <a:stretch>
            <a:fillRect/>
          </a:stretch>
        </p:blipFill>
        <p:spPr>
          <a:xfrm>
            <a:off x="8595360" y="1632814"/>
            <a:ext cx="3108960" cy="1855012"/>
          </a:xfrm>
          <a:prstGeom prst="rect">
            <a:avLst/>
          </a:prstGeom>
        </p:spPr>
      </p:pic>
      <p:pic>
        <p:nvPicPr>
          <p:cNvPr id="14" name="Picture 13" descr="hbh.png"/>
          <p:cNvPicPr>
            <a:picLocks noChangeAspect="1"/>
          </p:cNvPicPr>
          <p:nvPr/>
        </p:nvPicPr>
        <p:blipFill>
          <a:blip r:embed="rId4"/>
          <a:stretch>
            <a:fillRect/>
          </a:stretch>
        </p:blipFill>
        <p:spPr>
          <a:xfrm>
            <a:off x="8595360" y="4140605"/>
            <a:ext cx="3108960" cy="14114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TỔNG CỦA HAI VECTƠ – HAI QUY TẮC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7</a:t>
            </a:r>
          </a:p>
        </p:txBody>
      </p:sp>
      <p:sp>
        <p:nvSpPr>
          <p:cNvPr id="7" name="Rounded Rectangle 6"/>
          <p:cNvSpPr/>
          <p:nvPr/>
        </p:nvSpPr>
        <p:spPr>
          <a:xfrm>
            <a:off x="548640" y="1371600"/>
            <a:ext cx="7680960" cy="20421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7351776" cy="196900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Cho hai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Lấy một điểm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tuỳ ý và vẽ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(H.4.13). Khi đó vectơ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được gọi là </a:t>
                </a:r>
                <a:r>
                  <a:rPr sz="2200" b="1">
                    <a:solidFill>
                      <a:srgbClr val="1E293B"/>
                    </a:solidFill>
                    <a:latin typeface="Calibri"/>
                  </a:rPr>
                  <a:t>tổng của hai vectơ</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và được kí hiệu là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a:t>
                </a:r>
              </a:p>
              <a:p>
                <a:pPr algn="l">
                  <a:spcAft>
                    <a:spcPts val="800"/>
                  </a:spcAft>
                </a:pPr>
                <a:r>
                  <a:rPr sz="2200">
                    <a:solidFill>
                      <a:srgbClr val="1E293B"/>
                    </a:solidFill>
                    <a:latin typeface="Calibri"/>
                  </a:rPr>
                  <a:t>Phép lấy tổng của hai vectơ được gọi là </a:t>
                </a:r>
                <a:r>
                  <a:rPr sz="2200" b="1">
                    <a:solidFill>
                      <a:srgbClr val="1E293B"/>
                    </a:solidFill>
                    <a:latin typeface="Calibri"/>
                  </a:rPr>
                  <a:t>phép cộng vectơ</a:t>
                </a:r>
                <a:r>
                  <a:rPr sz="2200">
                    <a:solidFill>
                      <a:srgbClr val="1E293B"/>
                    </a:solidFill>
                    <a:latin typeface="Calibri"/>
                  </a:rPr>
                  <a:t>.</a:t>
                </a:r>
              </a:p>
            </p:txBody>
          </p:sp>
        </mc:Choice>
        <mc:Fallback>
          <p:sp>
            <p:nvSpPr>
              <p:cNvPr id="8" name="TextBox 7"/>
              <p:cNvSpPr txBox="1"/>
              <p:nvPr/>
            </p:nvSpPr>
            <p:spPr>
              <a:xfrm>
                <a:off x="713232" y="1408176"/>
                <a:ext cx="7351776" cy="196900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Cho hai vectơ </a:t>
                </a:r>
                <a:r>
                  <a:rPr lang="vi-VN"/>
                  <a:t>\vec{a},\ \vec{b}</a:t>
                </a:r>
                <a:r>
                  <a:rPr sz="2200">
                    <a:solidFill>
                      <a:srgbClr val="1E293B"/>
                    </a:solidFill>
                    <a:latin typeface="Calibri"/>
                  </a:rPr>
                  <a:t>. Lấy một điểm </a:t>
                </a:r>
                <a:r>
                  <a:rPr lang="vi-VN"/>
                  <a:t>A</a:t>
                </a:r>
                <a:r>
                  <a:rPr sz="2200">
                    <a:solidFill>
                      <a:srgbClr val="1E293B"/>
                    </a:solidFill>
                    <a:latin typeface="Calibri"/>
                  </a:rPr>
                  <a:t> tuỳ ý và vẽ </a:t>
                </a:r>
                <a:r>
                  <a:rPr lang="vi-VN"/>
                  <a:t>\overrightarrow{AB}=\vec{a},\ \overrightarrow{BC}=\vec{b}</a:t>
                </a:r>
                <a:r>
                  <a:rPr sz="2200">
                    <a:solidFill>
                      <a:srgbClr val="1E293B"/>
                    </a:solidFill>
                    <a:latin typeface="Calibri"/>
                  </a:rPr>
                  <a:t> (H.4.13). Khi đó vectơ </a:t>
                </a:r>
                <a:r>
                  <a:rPr lang="vi-VN"/>
                  <a:t>\overrightarrow{AC}</a:t>
                </a:r>
                <a:r>
                  <a:rPr sz="2200">
                    <a:solidFill>
                      <a:srgbClr val="1E293B"/>
                    </a:solidFill>
                    <a:latin typeface="Calibri"/>
                  </a:rPr>
                  <a:t> được gọi là </a:t>
                </a:r>
                <a:r>
                  <a:rPr sz="2200" b="1">
                    <a:solidFill>
                      <a:srgbClr val="1E293B"/>
                    </a:solidFill>
                    <a:latin typeface="Calibri"/>
                  </a:rPr>
                  <a:t>tổng của hai vectơ</a:t>
                </a:r>
                <a:r>
                  <a:rPr sz="2200">
                    <a:solidFill>
                      <a:srgbClr val="1E293B"/>
                    </a:solidFill>
                    <a:latin typeface="Calibri"/>
                  </a:rPr>
                  <a:t> </a:t>
                </a:r>
                <a:r>
                  <a:rPr lang="vi-VN"/>
                  <a:t>\vec{a}</a:t>
                </a:r>
                <a:r>
                  <a:rPr sz="2200">
                    <a:solidFill>
                      <a:srgbClr val="1E293B"/>
                    </a:solidFill>
                    <a:latin typeface="Calibri"/>
                  </a:rPr>
                  <a:t> và </a:t>
                </a:r>
                <a:r>
                  <a:rPr lang="vi-VN"/>
                  <a:t>\vec{b}</a:t>
                </a:r>
                <a:r>
                  <a:rPr sz="2200">
                    <a:solidFill>
                      <a:srgbClr val="1E293B"/>
                    </a:solidFill>
                    <a:latin typeface="Calibri"/>
                  </a:rPr>
                  <a:t> và được kí hiệu là </a:t>
                </a:r>
                <a:r>
                  <a:rPr lang="vi-VN"/>
                  <a:t>\vec{a}+\vec{b}</a:t>
                </a:r>
                <a:r>
                  <a:rPr sz="2200">
                    <a:solidFill>
                      <a:srgbClr val="1E293B"/>
                    </a:solidFill>
                    <a:latin typeface="Calibri"/>
                  </a:rPr>
                  <a:t>.</a:t>
                </a:r>
              </a:p>
              <a:p>
                <a:pPr algn="l">
                  <a:spcAft>
                    <a:spcPts val="800"/>
                  </a:spcAft>
                </a:pPr>
                <a:r>
                  <a:rPr sz="2200">
                    <a:solidFill>
                      <a:srgbClr val="1E293B"/>
                    </a:solidFill>
                    <a:latin typeface="Calibri"/>
                  </a:rPr>
                  <a:t>Phép lấy tổng của hai vectơ được gọi là </a:t>
                </a:r>
                <a:r>
                  <a:rPr sz="2200" b="1">
                    <a:solidFill>
                      <a:srgbClr val="1E293B"/>
                    </a:solidFill>
                    <a:latin typeface="Calibri"/>
                  </a:rPr>
                  <a:t>phép cộng vectơ</a:t>
                </a:r>
                <a:r>
                  <a:rPr sz="2200">
                    <a:solidFill>
                      <a:srgbClr val="1E293B"/>
                    </a:solidFill>
                    <a:latin typeface="Calibri"/>
                  </a:rPr>
                  <a:t>.</a:t>
                </a:r>
              </a:p>
            </p:txBody>
          </p:sp>
        </mc:Fallback>
      </mc:AlternateContent>
      <p:sp>
        <p:nvSpPr>
          <p:cNvPr id="9" name="Rounded Rectangle 8"/>
          <p:cNvSpPr/>
          <p:nvPr/>
        </p:nvSpPr>
        <p:spPr>
          <a:xfrm>
            <a:off x="548640" y="3688080"/>
            <a:ext cx="11064240" cy="146304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TextBox 9"/>
              <p:cNvSpPr txBox="1"/>
              <p:nvPr/>
            </p:nvSpPr>
            <p:spPr>
              <a:xfrm>
                <a:off x="713232" y="3724656"/>
                <a:ext cx="10735056" cy="138988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Quy tắc ba điểm:</a:t>
                </a:r>
                <a:r>
                  <a:rPr sz="2400">
                    <a:solidFill>
                      <a:srgbClr val="1E293B"/>
                    </a:solidFill>
                    <a:latin typeface="Calibri"/>
                  </a:rPr>
                  <a:t> Với ba điểm bất kì </a:t>
                </a:r>
                <a14:m>
                  <m:oMath xmlns:m="http://schemas.openxmlformats.org/officeDocument/2006/math">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C</m:t>
                    </m:r>
                  </m:oMath>
                </a14:m>
                <a:r>
                  <a:rPr sz="2400">
                    <a:solidFill>
                      <a:srgbClr val="1E293B"/>
                    </a:solidFill>
                    <a:latin typeface="Calibri"/>
                  </a:rPr>
                  <a:t>, ta có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BC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AC</m:t>
                        </m:r>
                      </m:e>
                    </m:acc>
                  </m:oMath>
                </a14:m>
                <a:r>
                  <a:rPr sz="2400">
                    <a:solidFill>
                      <a:srgbClr val="1E293B"/>
                    </a:solidFill>
                    <a:latin typeface="Calibri"/>
                  </a:rPr>
                  <a:t>.</a:t>
                </a:r>
              </a:p>
              <a:p>
                <a:pPr algn="l">
                  <a:spcAft>
                    <a:spcPts val="800"/>
                  </a:spcAft>
                </a:pPr>
                <a:r>
                  <a:rPr sz="2400" b="1">
                    <a:solidFill>
                      <a:srgbClr val="1E293B"/>
                    </a:solidFill>
                    <a:latin typeface="Calibri"/>
                  </a:rPr>
                  <a:t>Quy tắc hình bình hành:</a:t>
                </a:r>
                <a:r>
                  <a:rPr sz="2400">
                    <a:solidFill>
                      <a:srgbClr val="1E293B"/>
                    </a:solidFill>
                    <a:latin typeface="Calibri"/>
                  </a:rPr>
                  <a:t> Nếu </a:t>
                </a:r>
                <a14:m>
                  <m:oMath xmlns:m="http://schemas.openxmlformats.org/officeDocument/2006/math">
                    <m:r>
                      <a:rPr lang="vi-VN" sz="2400" b="0">
                        <a:solidFill>
                          <a:srgbClr val="1E293B"/>
                        </a:solidFill>
                        <a:latin typeface="Cambria Math" panose="02040503050406030204" pitchFamily="18" charset="0"/>
                      </a:rPr>
                      <m:t>ABCD</m:t>
                    </m:r>
                  </m:oMath>
                </a14:m>
                <a:r>
                  <a:rPr sz="2400">
                    <a:solidFill>
                      <a:srgbClr val="1E293B"/>
                    </a:solidFill>
                    <a:latin typeface="Calibri"/>
                  </a:rPr>
                  <a:t> là một hình bình hành thì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AC</m:t>
                        </m:r>
                      </m:e>
                    </m:acc>
                  </m:oMath>
                </a14:m>
                <a:r>
                  <a:rPr sz="2400">
                    <a:solidFill>
                      <a:srgbClr val="1E293B"/>
                    </a:solidFill>
                    <a:latin typeface="Calibri"/>
                  </a:rPr>
                  <a:t>.</a:t>
                </a:r>
              </a:p>
            </p:txBody>
          </p:sp>
        </mc:Choice>
        <mc:Fallback>
          <p:sp>
            <p:nvSpPr>
              <p:cNvPr id="10" name="TextBox 9"/>
              <p:cNvSpPr txBox="1"/>
              <p:nvPr/>
            </p:nvSpPr>
            <p:spPr>
              <a:xfrm>
                <a:off x="713232" y="3724656"/>
                <a:ext cx="10735056" cy="138988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Quy tắc ba điểm:</a:t>
                </a:r>
                <a:r>
                  <a:rPr sz="2400">
                    <a:solidFill>
                      <a:srgbClr val="1E293B"/>
                    </a:solidFill>
                    <a:latin typeface="Calibri"/>
                  </a:rPr>
                  <a:t> Với ba điểm bất kì </a:t>
                </a:r>
                <a:r>
                  <a:rPr lang="vi-VN"/>
                  <a:t>A,\ B,\ C</a:t>
                </a:r>
                <a:r>
                  <a:rPr sz="2400">
                    <a:solidFill>
                      <a:srgbClr val="1E293B"/>
                    </a:solidFill>
                    <a:latin typeface="Calibri"/>
                  </a:rPr>
                  <a:t>, ta có </a:t>
                </a:r>
                <a:r>
                  <a:rPr lang="vi-VN"/>
                  <a:t>\overrightarrow{AB}</a:t>
                </a:r>
                <a:r>
                  <a:rPr sz="2400">
                    <a:solidFill>
                      <a:srgbClr val="1E293B"/>
                    </a:solidFill>
                    <a:latin typeface="Calibri"/>
                  </a:rPr>
                  <a:t> + </a:t>
                </a:r>
                <a:r>
                  <a:rPr lang="vi-VN"/>
                  <a:t>\overrightarrow{BC}</a:t>
                </a:r>
                <a:r>
                  <a:rPr sz="2400">
                    <a:solidFill>
                      <a:srgbClr val="1E293B"/>
                    </a:solidFill>
                    <a:latin typeface="Calibri"/>
                  </a:rPr>
                  <a:t> = </a:t>
                </a:r>
                <a:r>
                  <a:rPr lang="vi-VN"/>
                  <a:t>\overrightarrow{AC}</a:t>
                </a:r>
                <a:r>
                  <a:rPr sz="2400">
                    <a:solidFill>
                      <a:srgbClr val="1E293B"/>
                    </a:solidFill>
                    <a:latin typeface="Calibri"/>
                  </a:rPr>
                  <a:t>.</a:t>
                </a:r>
              </a:p>
              <a:p>
                <a:pPr algn="l">
                  <a:spcAft>
                    <a:spcPts val="800"/>
                  </a:spcAft>
                </a:pPr>
                <a:r>
                  <a:rPr sz="2400" b="1">
                    <a:solidFill>
                      <a:srgbClr val="1E293B"/>
                    </a:solidFill>
                    <a:latin typeface="Calibri"/>
                  </a:rPr>
                  <a:t>Quy tắc hình bình hành:</a:t>
                </a:r>
                <a:r>
                  <a:rPr sz="2400">
                    <a:solidFill>
                      <a:srgbClr val="1E293B"/>
                    </a:solidFill>
                    <a:latin typeface="Calibri"/>
                  </a:rPr>
                  <a:t> Nếu </a:t>
                </a:r>
                <a:r>
                  <a:rPr lang="vi-VN"/>
                  <a:t>ABCD</a:t>
                </a:r>
                <a:r>
                  <a:rPr sz="2400">
                    <a:solidFill>
                      <a:srgbClr val="1E293B"/>
                    </a:solidFill>
                    <a:latin typeface="Calibri"/>
                  </a:rPr>
                  <a:t> là một hình bình hành thì </a:t>
                </a:r>
                <a:r>
                  <a:rPr lang="vi-VN"/>
                  <a:t>\overrightarrow{AB}</a:t>
                </a:r>
                <a:r>
                  <a:rPr sz="2400">
                    <a:solidFill>
                      <a:srgbClr val="1E293B"/>
                    </a:solidFill>
                    <a:latin typeface="Calibri"/>
                  </a:rPr>
                  <a:t> + </a:t>
                </a:r>
                <a:r>
                  <a:rPr lang="vi-VN"/>
                  <a:t>\overrightarrow{AD}</a:t>
                </a:r>
                <a:r>
                  <a:rPr sz="2400">
                    <a:solidFill>
                      <a:srgbClr val="1E293B"/>
                    </a:solidFill>
                    <a:latin typeface="Calibri"/>
                  </a:rPr>
                  <a:t> = </a:t>
                </a:r>
                <a:r>
                  <a:rPr lang="vi-VN"/>
                  <a:t>\overrightarrow{AC}</a:t>
                </a:r>
                <a:r>
                  <a:rPr sz="2400">
                    <a:solidFill>
                      <a:srgbClr val="1E293B"/>
                    </a:solidFill>
                    <a:latin typeface="Calibri"/>
                  </a:rPr>
                  <a:t>.</a:t>
                </a:r>
              </a:p>
            </p:txBody>
          </p:sp>
        </mc:Fallback>
      </mc:AlternateContent>
      <p:pic>
        <p:nvPicPr>
          <p:cNvPr id="11" name="Picture 10" descr="h413.png"/>
          <p:cNvPicPr>
            <a:picLocks noChangeAspect="1"/>
          </p:cNvPicPr>
          <p:nvPr/>
        </p:nvPicPr>
        <p:blipFill>
          <a:blip r:embed="rId3"/>
          <a:stretch>
            <a:fillRect/>
          </a:stretch>
        </p:blipFill>
        <p:spPr>
          <a:xfrm>
            <a:off x="8554091" y="1371600"/>
            <a:ext cx="3008618" cy="2011679"/>
          </a:xfrm>
          <a:prstGeom prst="rect">
            <a:avLst/>
          </a:prstGeom>
        </p:spPr>
      </p:pic>
      <p:sp>
        <p:nvSpPr>
          <p:cNvPr id="12" name="TextBox 11"/>
          <p:cNvSpPr txBox="1"/>
          <p:nvPr/>
        </p:nvSpPr>
        <p:spPr>
          <a:xfrm>
            <a:off x="8503920" y="3401568"/>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4.13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TÍNH CHẤT CỦA PHÉP CỘNG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a) Trong Hình 4.14a, hãy chỉ ra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và vectơ </a:t>
                </a:r>
                <a14:m>
                  <m:oMath xmlns:m="http://schemas.openxmlformats.org/officeDocument/2006/math">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b) Trong Hình 4.14b, hãy chỉ ra vectơ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oMath>
                </a14:m>
                <a:r>
                  <a:rPr sz="2100">
                    <a:solidFill>
                      <a:srgbClr val="1E293B"/>
                    </a:solidFill>
                    <a:latin typeface="Calibri"/>
                  </a:rPr>
                  <a:t> và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r>
                      <a:rPr lang="vi-VN" sz="2100" b="0">
                        <a:solidFill>
                          <a:srgbClr val="1E293B"/>
                        </a:solidFill>
                        <a:latin typeface="Cambria Math" panose="02040503050406030204" pitchFamily="18" charset="0"/>
                      </a:rPr>
                      <m:t>)</m:t>
                    </m:r>
                  </m:oMath>
                </a14:m>
                <a:r>
                  <a:rPr sz="2100">
                    <a:solidFill>
                      <a:srgbClr val="1E293B"/>
                    </a:solidFill>
                    <a:latin typeface="Calibri"/>
                  </a:rPr>
                  <a:t>.</a:t>
                </a:r>
              </a:p>
            </p:txBody>
          </p:sp>
        </mc:Choice>
        <mc:Fallback>
          <p:sp>
            <p:nvSpPr>
              <p:cNvPr id="7" name="TextBox 6"/>
              <p:cNvSpPr txBox="1"/>
              <p:nvPr/>
            </p:nvSpPr>
            <p:spPr>
              <a:xfrm>
                <a:off x="548640" y="1371600"/>
                <a:ext cx="78638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a) Trong Hình 4.14a, hãy chỉ ra vectơ </a:t>
                </a:r>
                <a:r>
                  <a:rPr lang="vi-VN"/>
                  <a:t>\vec{a}+\vec{b}</a:t>
                </a:r>
                <a:r>
                  <a:rPr sz="2100">
                    <a:solidFill>
                      <a:srgbClr val="1E293B"/>
                    </a:solidFill>
                    <a:latin typeface="Calibri"/>
                  </a:rPr>
                  <a:t> và vectơ </a:t>
                </a:r>
                <a:r>
                  <a:rPr lang="vi-VN"/>
                  <a:t>\vec{b}+\vec{a}</a:t>
                </a:r>
                <a:r>
                  <a:rPr sz="2100">
                    <a:solidFill>
                      <a:srgbClr val="1E293B"/>
                    </a:solidFill>
                    <a:latin typeface="Calibri"/>
                  </a:rPr>
                  <a:t>. b) Trong Hình 4.14b, hãy chỉ ra vectơ </a:t>
                </a:r>
                <a:r>
                  <a:rPr lang="vi-VN"/>
                  <a:t>(\vec{a}+\vec{b})+\vec{c}</a:t>
                </a:r>
                <a:r>
                  <a:rPr sz="2100">
                    <a:solidFill>
                      <a:srgbClr val="1E293B"/>
                    </a:solidFill>
                    <a:latin typeface="Calibri"/>
                  </a:rPr>
                  <a:t> và vectơ </a:t>
                </a:r>
                <a:r>
                  <a:rPr lang="vi-VN"/>
                  <a:t>\vec{a}+(\vec{b}+\vec{c})</a:t>
                </a:r>
                <a:r>
                  <a:rPr sz="2100">
                    <a:solidFill>
                      <a:srgbClr val="1E293B"/>
                    </a:solidFill>
                    <a:latin typeface="Calibri"/>
                  </a:rPr>
                  <a:t>.</a:t>
                </a:r>
              </a:p>
            </p:txBody>
          </p:sp>
        </mc:Fallback>
      </mc:AlternateContent>
      <p:sp>
        <p:nvSpPr>
          <p:cNvPr id="8" name="s1_nen"/>
          <p:cNvSpPr/>
          <p:nvPr/>
        </p:nvSpPr>
        <p:spPr>
          <a:xfrm>
            <a:off x="548640" y="2596896"/>
            <a:ext cx="78638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33472"/>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BC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DC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a:t>
                </a:r>
              </a:p>
            </p:txBody>
          </p:sp>
        </mc:Choice>
        <mc:Fallback>
          <p:sp>
            <p:nvSpPr>
              <p:cNvPr id="9" name="TextBox 8"/>
              <p:cNvSpPr txBox="1"/>
              <p:nvPr/>
            </p:nvSpPr>
            <p:spPr>
              <a:xfrm>
                <a:off x="713232" y="2633472"/>
                <a:ext cx="75346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\vec{a}+\vec{b}</a:t>
                </a:r>
                <a:r>
                  <a:rPr sz="2100">
                    <a:solidFill>
                      <a:srgbClr val="1E293B"/>
                    </a:solidFill>
                    <a:latin typeface="Calibri"/>
                  </a:rPr>
                  <a:t> = </a:t>
                </a:r>
                <a:r>
                  <a:rPr lang="vi-VN"/>
                  <a:t>\overrightarrow{AB}</a:t>
                </a:r>
                <a:r>
                  <a:rPr sz="2100">
                    <a:solidFill>
                      <a:srgbClr val="1E293B"/>
                    </a:solidFill>
                    <a:latin typeface="Calibri"/>
                  </a:rPr>
                  <a:t> + </a:t>
                </a:r>
                <a:r>
                  <a:rPr lang="vi-VN"/>
                  <a:t>\overrightarrow{BC}</a:t>
                </a:r>
                <a:r>
                  <a:rPr sz="2100">
                    <a:solidFill>
                      <a:srgbClr val="1E293B"/>
                    </a:solidFill>
                    <a:latin typeface="Calibri"/>
                  </a:rPr>
                  <a:t> = </a:t>
                </a:r>
                <a:r>
                  <a:rPr lang="vi-VN"/>
                  <a:t>\overrightarrow{AC}</a:t>
                </a:r>
                <a:r>
                  <a:rPr sz="2100">
                    <a:solidFill>
                      <a:srgbClr val="1E293B"/>
                    </a:solidFill>
                    <a:latin typeface="Calibri"/>
                  </a:rPr>
                  <a:t>; </a:t>
                </a:r>
                <a:r>
                  <a:rPr lang="vi-VN"/>
                  <a:t>\vec{b}+\vec{a}</a:t>
                </a:r>
                <a:r>
                  <a:rPr sz="2100">
                    <a:solidFill>
                      <a:srgbClr val="1E293B"/>
                    </a:solidFill>
                    <a:latin typeface="Calibri"/>
                  </a:rPr>
                  <a:t> = </a:t>
                </a:r>
                <a:r>
                  <a:rPr lang="vi-VN"/>
                  <a:t>\overrightarrow{AD}</a:t>
                </a:r>
                <a:r>
                  <a:rPr sz="2100">
                    <a:solidFill>
                      <a:srgbClr val="1E293B"/>
                    </a:solidFill>
                    <a:latin typeface="Calibri"/>
                  </a:rPr>
                  <a:t> + </a:t>
                </a:r>
                <a:r>
                  <a:rPr lang="vi-VN"/>
                  <a:t>\overrightarrow{DC}</a:t>
                </a:r>
                <a:r>
                  <a:rPr sz="2100">
                    <a:solidFill>
                      <a:srgbClr val="1E293B"/>
                    </a:solidFill>
                    <a:latin typeface="Calibri"/>
                  </a:rPr>
                  <a:t> = </a:t>
                </a:r>
                <a:r>
                  <a:rPr lang="vi-VN"/>
                  <a:t>\overrightarrow{AC}</a:t>
                </a:r>
                <a:r>
                  <a:rPr sz="2100">
                    <a:solidFill>
                      <a:srgbClr val="1E293B"/>
                    </a:solidFill>
                    <a:latin typeface="Calibri"/>
                  </a:rPr>
                  <a:t>.</a:t>
                </a:r>
              </a:p>
            </p:txBody>
          </p:sp>
        </mc:Fallback>
      </mc:AlternateContent>
      <p:sp>
        <p:nvSpPr>
          <p:cNvPr id="10" name="s2_nen"/>
          <p:cNvSpPr/>
          <p:nvPr/>
        </p:nvSpPr>
        <p:spPr>
          <a:xfrm>
            <a:off x="548640" y="3273551"/>
            <a:ext cx="78638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10127"/>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CD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AD</m:t>
                        </m:r>
                      </m:e>
                    </m:acc>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r>
                      <a:rPr lang="vi-VN" sz="2100" b="0">
                        <a:solidFill>
                          <a:srgbClr val="1E293B"/>
                        </a:solidFill>
                        <a:latin typeface="Cambria Math" panose="02040503050406030204" pitchFamily="18" charset="0"/>
                      </a:rPr>
                      <m:t>)</m:t>
                    </m:r>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BD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AD</m:t>
                        </m:r>
                      </m:e>
                    </m:acc>
                  </m:oMath>
                </a14:m>
                <a:r>
                  <a:rPr sz="2100">
                    <a:solidFill>
                      <a:srgbClr val="1E293B"/>
                    </a:solidFill>
                    <a:latin typeface="Calibri"/>
                  </a:rPr>
                  <a:t>.</a:t>
                </a:r>
              </a:p>
            </p:txBody>
          </p:sp>
        </mc:Choice>
        <mc:Fallback>
          <p:sp>
            <p:nvSpPr>
              <p:cNvPr id="11" name="TextBox 10"/>
              <p:cNvSpPr txBox="1"/>
              <p:nvPr/>
            </p:nvSpPr>
            <p:spPr>
              <a:xfrm>
                <a:off x="713232" y="3310127"/>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(\vec{a}+\vec{b})+\vec{c}</a:t>
                </a:r>
                <a:r>
                  <a:rPr sz="2100">
                    <a:solidFill>
                      <a:srgbClr val="1E293B"/>
                    </a:solidFill>
                    <a:latin typeface="Calibri"/>
                  </a:rPr>
                  <a:t> = </a:t>
                </a:r>
                <a:r>
                  <a:rPr lang="vi-VN"/>
                  <a:t>\overrightarrow{AC}</a:t>
                </a:r>
                <a:r>
                  <a:rPr sz="2100">
                    <a:solidFill>
                      <a:srgbClr val="1E293B"/>
                    </a:solidFill>
                    <a:latin typeface="Calibri"/>
                  </a:rPr>
                  <a:t> + </a:t>
                </a:r>
                <a:r>
                  <a:rPr lang="vi-VN"/>
                  <a:t>\overrightarrow{CD}</a:t>
                </a:r>
                <a:r>
                  <a:rPr sz="2100">
                    <a:solidFill>
                      <a:srgbClr val="1E293B"/>
                    </a:solidFill>
                    <a:latin typeface="Calibri"/>
                  </a:rPr>
                  <a:t> = </a:t>
                </a:r>
                <a:r>
                  <a:rPr lang="vi-VN"/>
                  <a:t>\overrightarrow{AD}</a:t>
                </a:r>
                <a:r>
                  <a:rPr sz="2100">
                    <a:solidFill>
                      <a:srgbClr val="1E293B"/>
                    </a:solidFill>
                    <a:latin typeface="Calibri"/>
                  </a:rPr>
                  <a:t>; </a:t>
                </a:r>
                <a:r>
                  <a:rPr lang="vi-VN"/>
                  <a:t>\vec{a}+(\vec{b}+\vec{c})</a:t>
                </a:r>
                <a:r>
                  <a:rPr sz="2100">
                    <a:solidFill>
                      <a:srgbClr val="1E293B"/>
                    </a:solidFill>
                    <a:latin typeface="Calibri"/>
                  </a:rPr>
                  <a:t> = </a:t>
                </a:r>
                <a:r>
                  <a:rPr lang="vi-VN"/>
                  <a:t>\overrightarrow{AB}</a:t>
                </a:r>
                <a:r>
                  <a:rPr sz="2100">
                    <a:solidFill>
                      <a:srgbClr val="1E293B"/>
                    </a:solidFill>
                    <a:latin typeface="Calibri"/>
                  </a:rPr>
                  <a:t> + </a:t>
                </a:r>
                <a:r>
                  <a:rPr lang="vi-VN"/>
                  <a:t>\overrightarrow{BD}</a:t>
                </a:r>
                <a:r>
                  <a:rPr sz="2100">
                    <a:solidFill>
                      <a:srgbClr val="1E293B"/>
                    </a:solidFill>
                    <a:latin typeface="Calibri"/>
                  </a:rPr>
                  <a:t> = </a:t>
                </a:r>
                <a:r>
                  <a:rPr lang="vi-VN"/>
                  <a:t>\overrightarrow{AD}</a:t>
                </a:r>
                <a:r>
                  <a:rPr sz="2100">
                    <a:solidFill>
                      <a:srgbClr val="1E293B"/>
                    </a:solidFill>
                    <a:latin typeface="Calibri"/>
                  </a:rPr>
                  <a:t>.</a:t>
                </a:r>
              </a:p>
            </p:txBody>
          </p:sp>
        </mc:Fallback>
      </mc:AlternateContent>
      <p:sp>
        <p:nvSpPr>
          <p:cNvPr id="12" name="s3_nen"/>
          <p:cNvSpPr/>
          <p:nvPr/>
        </p:nvSpPr>
        <p:spPr>
          <a:xfrm>
            <a:off x="548640" y="4270247"/>
            <a:ext cx="7863840" cy="90525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306823"/>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Với ba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c</m:t>
                        </m:r>
                      </m:e>
                    </m:acc>
                  </m:oMath>
                </a14:m>
                <a:r>
                  <a:rPr sz="2100">
                    <a:solidFill>
                      <a:srgbClr val="1E293B"/>
                    </a:solidFill>
                    <a:latin typeface="Calibri"/>
                  </a:rPr>
                  <a:t> tuỳ ý: </a:t>
                </a:r>
                <a:r>
                  <a:rPr sz="2100" b="1">
                    <a:solidFill>
                      <a:srgbClr val="1E293B"/>
                    </a:solidFill>
                    <a:latin typeface="Calibri"/>
                  </a:rPr>
                  <a:t>giao hoán</a:t>
                </a: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a:t>
                </a:r>
                <a:r>
                  <a:rPr sz="2100" b="1">
                    <a:solidFill>
                      <a:srgbClr val="1E293B"/>
                    </a:solidFill>
                    <a:latin typeface="Calibri"/>
                  </a:rPr>
                  <a:t>kết hợp</a:t>
                </a:r>
                <a:r>
                  <a:rPr sz="2100">
                    <a:solidFill>
                      <a:srgbClr val="1E293B"/>
                    </a:solidFill>
                    <a:latin typeface="Calibri"/>
                  </a:rPr>
                  <a:t> </a:t>
                </a:r>
                <a14:m>
                  <m:oMath xmlns:m="http://schemas.openxmlformats.org/officeDocument/2006/math">
                    <m:d>
                      <m:dPr>
                        <m:sepChr m:val=""/>
                      </m:dPr>
                      <m:e>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e>
                    </m:d>
                  </m:oMath>
                </a14:m>
                <a:r>
                  <a:rPr sz="2100">
                    <a:solidFill>
                      <a:srgbClr val="1E293B"/>
                    </a:solidFill>
                    <a:latin typeface="Calibri"/>
                  </a:rPr>
                  <a:t>; </a:t>
                </a:r>
                <a:r>
                  <a:rPr sz="2100" b="1">
                    <a:solidFill>
                      <a:srgbClr val="1E293B"/>
                    </a:solidFill>
                    <a:latin typeface="Calibri"/>
                  </a:rPr>
                  <a:t>vectơ-không</a:t>
                </a: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0</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0</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a:t>
                </a:r>
              </a:p>
            </p:txBody>
          </p:sp>
        </mc:Choice>
        <mc:Fallback>
          <p:sp>
            <p:nvSpPr>
              <p:cNvPr id="13" name="TextBox 12"/>
              <p:cNvSpPr txBox="1"/>
              <p:nvPr/>
            </p:nvSpPr>
            <p:spPr>
              <a:xfrm>
                <a:off x="713232" y="4306823"/>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Với ba vectơ </a:t>
                </a:r>
                <a:r>
                  <a:rPr lang="vi-VN"/>
                  <a:t>\vec{a},\ \vec{b},\ \vec{c}</a:t>
                </a:r>
                <a:r>
                  <a:rPr sz="2100">
                    <a:solidFill>
                      <a:srgbClr val="1E293B"/>
                    </a:solidFill>
                    <a:latin typeface="Calibri"/>
                  </a:rPr>
                  <a:t> tuỳ ý: </a:t>
                </a:r>
                <a:r>
                  <a:rPr sz="2100" b="1">
                    <a:solidFill>
                      <a:srgbClr val="1E293B"/>
                    </a:solidFill>
                    <a:latin typeface="Calibri"/>
                  </a:rPr>
                  <a:t>giao hoán</a:t>
                </a:r>
                <a:r>
                  <a:rPr sz="2100">
                    <a:solidFill>
                      <a:srgbClr val="1E293B"/>
                    </a:solidFill>
                    <a:latin typeface="Calibri"/>
                  </a:rPr>
                  <a:t> </a:t>
                </a:r>
                <a:r>
                  <a:rPr lang="vi-VN"/>
                  <a:t>\vec{a}+\vec{b}=\vec{b}+\vec{a}</a:t>
                </a:r>
                <a:r>
                  <a:rPr sz="2100">
                    <a:solidFill>
                      <a:srgbClr val="1E293B"/>
                    </a:solidFill>
                    <a:latin typeface="Calibri"/>
                  </a:rPr>
                  <a:t>; </a:t>
                </a:r>
                <a:r>
                  <a:rPr sz="2100" b="1">
                    <a:solidFill>
                      <a:srgbClr val="1E293B"/>
                    </a:solidFill>
                    <a:latin typeface="Calibri"/>
                  </a:rPr>
                  <a:t>kết hợp</a:t>
                </a:r>
                <a:r>
                  <a:rPr sz="2100">
                    <a:solidFill>
                      <a:srgbClr val="1E293B"/>
                    </a:solidFill>
                    <a:latin typeface="Calibri"/>
                  </a:rPr>
                  <a:t> </a:t>
                </a:r>
                <a:r>
                  <a:rPr lang="vi-VN"/>
                  <a:t>(\vec{a}+\vec{b})+\vec{c}=\vec{a}+(\vec{b}+\vec{c})</a:t>
                </a:r>
                <a:r>
                  <a:rPr sz="2100">
                    <a:solidFill>
                      <a:srgbClr val="1E293B"/>
                    </a:solidFill>
                    <a:latin typeface="Calibri"/>
                  </a:rPr>
                  <a:t>; </a:t>
                </a:r>
                <a:r>
                  <a:rPr sz="2100" b="1">
                    <a:solidFill>
                      <a:srgbClr val="1E293B"/>
                    </a:solidFill>
                    <a:latin typeface="Calibri"/>
                  </a:rPr>
                  <a:t>vectơ-không</a:t>
                </a:r>
                <a:r>
                  <a:rPr sz="2100">
                    <a:solidFill>
                      <a:srgbClr val="1E293B"/>
                    </a:solidFill>
                    <a:latin typeface="Calibri"/>
                  </a:rPr>
                  <a:t> </a:t>
                </a:r>
                <a:r>
                  <a:rPr lang="vi-VN"/>
                  <a:t>\vec{a}+\vec{0}=\vec{0}+\vec{a}=\vec{a}</a:t>
                </a:r>
                <a:r>
                  <a:rPr sz="2100">
                    <a:solidFill>
                      <a:srgbClr val="1E293B"/>
                    </a:solidFill>
                    <a:latin typeface="Calibri"/>
                  </a:rPr>
                  <a:t>.</a:t>
                </a:r>
              </a:p>
            </p:txBody>
          </p:sp>
        </mc:Fallback>
      </mc:AlternateContent>
      <p:pic>
        <p:nvPicPr>
          <p:cNvPr id="14" name="Picture 13" descr="h414.png"/>
          <p:cNvPicPr>
            <a:picLocks noChangeAspect="1"/>
          </p:cNvPicPr>
          <p:nvPr/>
        </p:nvPicPr>
        <p:blipFill>
          <a:blip r:embed="rId3"/>
          <a:stretch>
            <a:fillRect/>
          </a:stretch>
        </p:blipFill>
        <p:spPr>
          <a:xfrm>
            <a:off x="8595360" y="1872100"/>
            <a:ext cx="3108960" cy="3022359"/>
          </a:xfrm>
          <a:prstGeom prst="rect">
            <a:avLst/>
          </a:prstGeom>
        </p:spPr>
      </p:pic>
      <p:sp>
        <p:nvSpPr>
          <p:cNvPr id="15" name="TextBox 14"/>
          <p:cNvSpPr txBox="1"/>
          <p:nvPr/>
        </p:nvSpPr>
        <p:spPr>
          <a:xfrm>
            <a:off x="8595360" y="5321808"/>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4.14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1 – LUYỆN TẬP 1 (SGK TR.52)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Cho hình vuông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với cạnh có độ dài bằng 1. Tính độ dài của các vectơ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CB</m:t>
                        </m:r>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BD</m:t>
                        </m:r>
                      </m:e>
                    </m:acc>
                  </m:oMath>
                </a14:m>
                <a:r>
                  <a:rPr sz="2000">
                    <a:solidFill>
                      <a:srgbClr val="1E293B"/>
                    </a:solidFill>
                    <a:latin typeface="Calibri"/>
                  </a:rPr>
                  <a:t>.</a:t>
                </a:r>
              </a:p>
            </p:txBody>
          </p:sp>
        </mc:Choice>
        <mc:Fallback>
          <p:sp>
            <p:nvSpPr>
              <p:cNvPr id="7" name="TextBox 6"/>
              <p:cNvSpPr txBox="1"/>
              <p:nvPr/>
            </p:nvSpPr>
            <p:spPr>
              <a:xfrm>
                <a:off x="548640" y="1371600"/>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Cho hình vuông </a:t>
                </a:r>
                <a:r>
                  <a:rPr lang="vi-VN"/>
                  <a:t>ABCD</a:t>
                </a:r>
                <a:r>
                  <a:rPr sz="2000">
                    <a:solidFill>
                      <a:srgbClr val="1E293B"/>
                    </a:solidFill>
                    <a:latin typeface="Calibri"/>
                  </a:rPr>
                  <a:t> với cạnh có độ dài bằng 1. Tính độ dài của các vectơ </a:t>
                </a:r>
                <a:r>
                  <a:rPr lang="vi-VN"/>
                  <a:t>\overrightarrow{AB}</a:t>
                </a:r>
                <a:r>
                  <a:rPr sz="2000">
                    <a:solidFill>
                      <a:srgbClr val="1E293B"/>
                    </a:solidFill>
                    <a:latin typeface="Calibri"/>
                  </a:rPr>
                  <a:t> + </a:t>
                </a:r>
                <a:r>
                  <a:rPr lang="vi-VN"/>
                  <a:t>\overrightarrow{CB}</a:t>
                </a:r>
                <a:r>
                  <a:rPr sz="2000">
                    <a:solidFill>
                      <a:srgbClr val="1E293B"/>
                    </a:solidFill>
                    <a:latin typeface="Calibri"/>
                  </a:rPr>
                  <a:t>, </a:t>
                </a:r>
                <a:r>
                  <a:rPr lang="vi-VN"/>
                  <a:t>\overrightarrow{AB}</a:t>
                </a:r>
                <a:r>
                  <a:rPr sz="2000">
                    <a:solidFill>
                      <a:srgbClr val="1E293B"/>
                    </a:solidFill>
                    <a:latin typeface="Calibri"/>
                  </a:rPr>
                  <a:t> + </a:t>
                </a:r>
                <a:r>
                  <a:rPr lang="vi-VN"/>
                  <a:t>\overrightarrow{DC}</a:t>
                </a:r>
                <a:r>
                  <a:rPr sz="2000">
                    <a:solidFill>
                      <a:srgbClr val="1E293B"/>
                    </a:solidFill>
                    <a:latin typeface="Calibri"/>
                  </a:rPr>
                  <a:t> + </a:t>
                </a:r>
                <a:r>
                  <a:rPr lang="vi-VN"/>
                  <a:t>\overrightarrow{BD}</a:t>
                </a:r>
                <a:r>
                  <a:rPr sz="2000">
                    <a:solidFill>
                      <a:srgbClr val="1E293B"/>
                    </a:solidFill>
                    <a:latin typeface="Calibri"/>
                  </a:rPr>
                  <a:t>.</a:t>
                </a:r>
              </a:p>
            </p:txBody>
          </p:sp>
        </mc:Fallback>
      </mc:AlternateContent>
      <p:sp>
        <p:nvSpPr>
          <p:cNvPr id="8" name="s1_nen"/>
          <p:cNvSpPr/>
          <p:nvPr/>
        </p:nvSpPr>
        <p:spPr>
          <a:xfrm>
            <a:off x="548640" y="2228088"/>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64664"/>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nên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DB</m:t>
                        </m:r>
                      </m:e>
                    </m:acc>
                  </m:oMath>
                </a14:m>
                <a:r>
                  <a:rPr sz="2000">
                    <a:solidFill>
                      <a:srgbClr val="1E293B"/>
                    </a:solidFill>
                    <a:latin typeface="Calibri"/>
                  </a:rPr>
                  <a:t>. Vậy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CB</m:t>
                        </m:r>
                      </m:e>
                    </m:acc>
                    <m:r>
                      <a:rPr lang="vi-VN" sz="2000" b="0">
                        <a:solidFill>
                          <a:srgbClr val="1E293B"/>
                        </a:solidFill>
                        <a:latin typeface="Cambria Math" panose="02040503050406030204" pitchFamily="18" charset="0"/>
                      </a:rPr>
                      <m:t>|=DB=</m:t>
                    </m:r>
                    <m:rad>
                      <m:radPr>
                        <m:degHide m:val="on"/>
                      </m:radPr>
                      <m:deg/>
                      <m:e>
                        <m:r>
                          <a:rPr lang="vi-VN" sz="2000" b="0">
                            <a:solidFill>
                              <a:srgbClr val="1E293B"/>
                            </a:solidFill>
                            <a:latin typeface="Cambria Math" panose="02040503050406030204" pitchFamily="18" charset="0"/>
                          </a:rPr>
                          <m:t>2</m:t>
                        </m:r>
                      </m:e>
                    </m:rad>
                  </m:oMath>
                </a14:m>
                <a:r>
                  <a:rPr sz="2000">
                    <a:solidFill>
                      <a:srgbClr val="1E293B"/>
                    </a:solidFill>
                    <a:latin typeface="Calibri"/>
                  </a:rPr>
                  <a:t>.</a:t>
                </a:r>
              </a:p>
            </p:txBody>
          </p:sp>
        </mc:Choice>
        <mc:Fallback>
          <p:sp>
            <p:nvSpPr>
              <p:cNvPr id="9" name="TextBox 8"/>
              <p:cNvSpPr txBox="1"/>
              <p:nvPr/>
            </p:nvSpPr>
            <p:spPr>
              <a:xfrm>
                <a:off x="713232" y="2264664"/>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\overrightarrow{AB}</a:t>
                </a:r>
                <a:r>
                  <a:rPr sz="2000">
                    <a:solidFill>
                      <a:srgbClr val="1E293B"/>
                    </a:solidFill>
                    <a:latin typeface="Calibri"/>
                  </a:rPr>
                  <a:t> = </a:t>
                </a:r>
                <a:r>
                  <a:rPr lang="vi-VN"/>
                  <a:t>\overrightarrow{DC}</a:t>
                </a:r>
                <a:r>
                  <a:rPr sz="2000">
                    <a:solidFill>
                      <a:srgbClr val="1E293B"/>
                    </a:solidFill>
                    <a:latin typeface="Calibri"/>
                  </a:rPr>
                  <a:t> nên </a:t>
                </a:r>
                <a:r>
                  <a:rPr lang="vi-VN"/>
                  <a:t>\overrightarrow{AB}</a:t>
                </a:r>
                <a:r>
                  <a:rPr sz="2000">
                    <a:solidFill>
                      <a:srgbClr val="1E293B"/>
                    </a:solidFill>
                    <a:latin typeface="Calibri"/>
                  </a:rPr>
                  <a:t> + </a:t>
                </a:r>
                <a:r>
                  <a:rPr lang="vi-VN"/>
                  <a:t>\overrightarrow{CB}</a:t>
                </a:r>
                <a:r>
                  <a:rPr sz="2000">
                    <a:solidFill>
                      <a:srgbClr val="1E293B"/>
                    </a:solidFill>
                    <a:latin typeface="Calibri"/>
                  </a:rPr>
                  <a:t> = </a:t>
                </a:r>
                <a:r>
                  <a:rPr lang="vi-VN"/>
                  <a:t>\overrightarrow{DC}</a:t>
                </a:r>
                <a:r>
                  <a:rPr sz="2000">
                    <a:solidFill>
                      <a:srgbClr val="1E293B"/>
                    </a:solidFill>
                    <a:latin typeface="Calibri"/>
                  </a:rPr>
                  <a:t> + </a:t>
                </a:r>
                <a:r>
                  <a:rPr lang="vi-VN"/>
                  <a:t>\overrightarrow{CB}</a:t>
                </a:r>
                <a:r>
                  <a:rPr sz="2000">
                    <a:solidFill>
                      <a:srgbClr val="1E293B"/>
                    </a:solidFill>
                    <a:latin typeface="Calibri"/>
                  </a:rPr>
                  <a:t> = </a:t>
                </a:r>
                <a:r>
                  <a:rPr lang="vi-VN"/>
                  <a:t>\overrightarrow{DB}</a:t>
                </a:r>
                <a:r>
                  <a:rPr sz="2000">
                    <a:solidFill>
                      <a:srgbClr val="1E293B"/>
                    </a:solidFill>
                    <a:latin typeface="Calibri"/>
                  </a:rPr>
                  <a:t>. Vậy </a:t>
                </a:r>
                <a:r>
                  <a:rPr lang="vi-VN"/>
                  <a:t>|\overrightarrow{AB}+\overrightarrow{CB}|=DB=\sqrt{2}</a:t>
                </a:r>
                <a:r>
                  <a:rPr sz="2000">
                    <a:solidFill>
                      <a:srgbClr val="1E293B"/>
                    </a:solidFill>
                    <a:latin typeface="Calibri"/>
                  </a:rPr>
                  <a:t>.</a:t>
                </a:r>
              </a:p>
            </p:txBody>
          </p:sp>
        </mc:Fallback>
      </mc:AlternateContent>
      <p:sp>
        <p:nvSpPr>
          <p:cNvPr id="10" name="s2_nen"/>
          <p:cNvSpPr/>
          <p:nvPr/>
        </p:nvSpPr>
        <p:spPr>
          <a:xfrm>
            <a:off x="548640" y="2871215"/>
            <a:ext cx="8778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07791"/>
                <a:ext cx="8449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độ dài </a:t>
                </a:r>
                <a14:m>
                  <m:oMath xmlns:m="http://schemas.openxmlformats.org/officeDocument/2006/math">
                    <m:r>
                      <a:rPr lang="vi-VN" sz="2000" b="0">
                        <a:solidFill>
                          <a:srgbClr val="1E293B"/>
                        </a:solidFill>
                        <a:latin typeface="Cambria Math" panose="02040503050406030204" pitchFamily="18" charset="0"/>
                      </a:rPr>
                      <m:t>AC=</m:t>
                    </m:r>
                    <m:rad>
                      <m:radPr>
                        <m:degHide m:val="on"/>
                      </m:radPr>
                      <m:deg/>
                      <m:e>
                        <m:r>
                          <a:rPr lang="vi-VN" sz="2000" b="0">
                            <a:solidFill>
                              <a:srgbClr val="1E293B"/>
                            </a:solidFill>
                            <a:latin typeface="Cambria Math" panose="02040503050406030204" pitchFamily="18" charset="0"/>
                          </a:rPr>
                          <m:t>2</m:t>
                        </m:r>
                      </m:e>
                    </m:rad>
                  </m:oMath>
                </a14:m>
                <a:r>
                  <a:rPr sz="2000">
                    <a:solidFill>
                      <a:srgbClr val="1E293B"/>
                    </a:solidFill>
                    <a:latin typeface="Calibri"/>
                  </a:rPr>
                  <a:t>.</a:t>
                </a:r>
              </a:p>
            </p:txBody>
          </p:sp>
        </mc:Choice>
        <mc:Fallback>
          <p:sp>
            <p:nvSpPr>
              <p:cNvPr id="11" name="TextBox 10"/>
              <p:cNvSpPr txBox="1"/>
              <p:nvPr/>
            </p:nvSpPr>
            <p:spPr>
              <a:xfrm>
                <a:off x="713232" y="2907791"/>
                <a:ext cx="8449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\overrightarrow{AB}</a:t>
                </a:r>
                <a:r>
                  <a:rPr sz="2000">
                    <a:solidFill>
                      <a:srgbClr val="1E293B"/>
                    </a:solidFill>
                    <a:latin typeface="Calibri"/>
                  </a:rPr>
                  <a:t> + </a:t>
                </a:r>
                <a:r>
                  <a:rPr lang="vi-VN"/>
                  <a:t>\overrightarrow{DC}</a:t>
                </a:r>
                <a:r>
                  <a:rPr sz="2000">
                    <a:solidFill>
                      <a:srgbClr val="1E293B"/>
                    </a:solidFill>
                    <a:latin typeface="Calibri"/>
                  </a:rPr>
                  <a:t> + </a:t>
                </a:r>
                <a:r>
                  <a:rPr lang="vi-VN"/>
                  <a:t>\overrightarrow{BD}</a:t>
                </a:r>
                <a:r>
                  <a:rPr sz="2000">
                    <a:solidFill>
                      <a:srgbClr val="1E293B"/>
                    </a:solidFill>
                    <a:latin typeface="Calibri"/>
                  </a:rPr>
                  <a:t> = (</a:t>
                </a:r>
                <a:r>
                  <a:rPr lang="vi-VN"/>
                  <a:t>\overrightarrow{AB}</a:t>
                </a:r>
                <a:r>
                  <a:rPr sz="2000">
                    <a:solidFill>
                      <a:srgbClr val="1E293B"/>
                    </a:solidFill>
                    <a:latin typeface="Calibri"/>
                  </a:rPr>
                  <a:t> + </a:t>
                </a:r>
                <a:r>
                  <a:rPr lang="vi-VN"/>
                  <a:t>\overrightarrow{BD}</a:t>
                </a:r>
                <a:r>
                  <a:rPr sz="2000">
                    <a:solidFill>
                      <a:srgbClr val="1E293B"/>
                    </a:solidFill>
                    <a:latin typeface="Calibri"/>
                  </a:rPr>
                  <a:t>) + </a:t>
                </a:r>
                <a:r>
                  <a:rPr lang="vi-VN"/>
                  <a:t>\overrightarrow{DC}</a:t>
                </a:r>
                <a:r>
                  <a:rPr sz="2000">
                    <a:solidFill>
                      <a:srgbClr val="1E293B"/>
                    </a:solidFill>
                    <a:latin typeface="Calibri"/>
                  </a:rPr>
                  <a:t> = </a:t>
                </a:r>
                <a:r>
                  <a:rPr lang="vi-VN"/>
                  <a:t>\overrightarrow{AD}</a:t>
                </a:r>
                <a:r>
                  <a:rPr sz="2000">
                    <a:solidFill>
                      <a:srgbClr val="1E293B"/>
                    </a:solidFill>
                    <a:latin typeface="Calibri"/>
                  </a:rPr>
                  <a:t> + </a:t>
                </a:r>
                <a:r>
                  <a:rPr lang="vi-VN"/>
                  <a:t>\overrightarrow{DC}</a:t>
                </a:r>
                <a:r>
                  <a:rPr sz="2000">
                    <a:solidFill>
                      <a:srgbClr val="1E293B"/>
                    </a:solidFill>
                    <a:latin typeface="Calibri"/>
                  </a:rPr>
                  <a:t> = </a:t>
                </a:r>
                <a:r>
                  <a:rPr lang="vi-VN"/>
                  <a:t>\overrightarrow{AC}</a:t>
                </a:r>
                <a:r>
                  <a:rPr sz="2000">
                    <a:solidFill>
                      <a:srgbClr val="1E293B"/>
                    </a:solidFill>
                    <a:latin typeface="Calibri"/>
                  </a:rPr>
                  <a:t>, độ dài </a:t>
                </a:r>
                <a:r>
                  <a:rPr lang="vi-VN"/>
                  <a:t>AC=\sqrt{2}</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3819143"/>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1.</a:t>
                </a:r>
                <a:r>
                  <a:rPr sz="2000">
                    <a:solidFill>
                      <a:srgbClr val="1E293B"/>
                    </a:solidFill>
                    <a:latin typeface="Calibri"/>
                  </a:rPr>
                  <a:t> Cho hình thoi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với cạnh có độ dài bằng 1 và </a:t>
                </a:r>
                <a14:m>
                  <m:oMath xmlns:m="http://schemas.openxmlformats.org/officeDocument/2006/math">
                    <m:acc>
                      <m:accPr>
                        <m:chr m:val="̂"/>
                      </m:accPr>
                      <m:e>
                        <m:r>
                          <a:rPr lang="vi-VN" sz="2000" b="0">
                            <a:solidFill>
                              <a:srgbClr val="1E293B"/>
                            </a:solidFill>
                            <a:latin typeface="Cambria Math" panose="02040503050406030204" pitchFamily="18" charset="0"/>
                          </a:rPr>
                          <m:t>BAD</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120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Tính độ dài của các vectơ </a:t>
                </a:r>
                <a14:m>
                  <m:oMath xmlns:m="http://schemas.openxmlformats.org/officeDocument/2006/math">
                    <m:acc>
                      <m:accPr>
                        <m:chr m:val="⃗"/>
                      </m:accPr>
                      <m:e>
                        <m:r>
                          <a:rPr lang="vi-VN" sz="2000" b="0">
                            <a:solidFill>
                              <a:srgbClr val="1E293B"/>
                            </a:solidFill>
                            <a:latin typeface="Cambria Math" panose="02040503050406030204" pitchFamily="18" charset="0"/>
                          </a:rPr>
                          <m:t>CB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DB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BA</m:t>
                        </m:r>
                      </m:e>
                    </m:acc>
                  </m:oMath>
                </a14:m>
                <a:r>
                  <a:rPr sz="2000">
                    <a:solidFill>
                      <a:srgbClr val="1E293B"/>
                    </a:solidFill>
                    <a:latin typeface="Calibri"/>
                  </a:rPr>
                  <a:t>.</a:t>
                </a:r>
              </a:p>
            </p:txBody>
          </p:sp>
        </mc:Choice>
        <mc:Fallback>
          <p:sp>
            <p:nvSpPr>
              <p:cNvPr id="12" name="TextBox 11"/>
              <p:cNvSpPr txBox="1"/>
              <p:nvPr/>
            </p:nvSpPr>
            <p:spPr>
              <a:xfrm>
                <a:off x="548640" y="3819143"/>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1.</a:t>
                </a:r>
                <a:r>
                  <a:rPr sz="2000">
                    <a:solidFill>
                      <a:srgbClr val="1E293B"/>
                    </a:solidFill>
                    <a:latin typeface="Calibri"/>
                  </a:rPr>
                  <a:t> Cho hình thoi </a:t>
                </a:r>
                <a:r>
                  <a:rPr lang="vi-VN"/>
                  <a:t>ABCD</a:t>
                </a:r>
                <a:r>
                  <a:rPr sz="2000">
                    <a:solidFill>
                      <a:srgbClr val="1E293B"/>
                    </a:solidFill>
                    <a:latin typeface="Calibri"/>
                  </a:rPr>
                  <a:t> với cạnh có độ dài bằng 1 và </a:t>
                </a:r>
                <a:r>
                  <a:rPr lang="vi-VN"/>
                  <a:t>\widehat{BAD}=120^\circ</a:t>
                </a:r>
                <a:r>
                  <a:rPr sz="2000">
                    <a:solidFill>
                      <a:srgbClr val="1E293B"/>
                    </a:solidFill>
                    <a:latin typeface="Calibri"/>
                  </a:rPr>
                  <a:t>. Tính độ dài của các vectơ </a:t>
                </a:r>
                <a:r>
                  <a:rPr lang="vi-VN"/>
                  <a:t>\overrightarrow{CB}</a:t>
                </a:r>
                <a:r>
                  <a:rPr sz="2000">
                    <a:solidFill>
                      <a:srgbClr val="1E293B"/>
                    </a:solidFill>
                    <a:latin typeface="Calibri"/>
                  </a:rPr>
                  <a:t> + </a:t>
                </a:r>
                <a:r>
                  <a:rPr lang="vi-VN"/>
                  <a:t>\overrightarrow{CD}</a:t>
                </a:r>
                <a:r>
                  <a:rPr sz="2000">
                    <a:solidFill>
                      <a:srgbClr val="1E293B"/>
                    </a:solidFill>
                    <a:latin typeface="Calibri"/>
                  </a:rPr>
                  <a:t>, </a:t>
                </a:r>
                <a:r>
                  <a:rPr lang="vi-VN"/>
                  <a:t>\overrightarrow{DB}</a:t>
                </a:r>
                <a:r>
                  <a:rPr sz="2000">
                    <a:solidFill>
                      <a:srgbClr val="1E293B"/>
                    </a:solidFill>
                    <a:latin typeface="Calibri"/>
                  </a:rPr>
                  <a:t> + </a:t>
                </a:r>
                <a:r>
                  <a:rPr lang="vi-VN"/>
                  <a:t>\overrightarrow{CD}</a:t>
                </a:r>
                <a:r>
                  <a:rPr sz="2000">
                    <a:solidFill>
                      <a:srgbClr val="1E293B"/>
                    </a:solidFill>
                    <a:latin typeface="Calibri"/>
                  </a:rPr>
                  <a:t> + </a:t>
                </a:r>
                <a:r>
                  <a:rPr lang="vi-VN"/>
                  <a:t>\overrightarrow{BA}</a:t>
                </a:r>
                <a:r>
                  <a:rPr sz="2000">
                    <a:solidFill>
                      <a:srgbClr val="1E293B"/>
                    </a:solidFill>
                    <a:latin typeface="Calibri"/>
                  </a:rPr>
                  <a:t>.</a:t>
                </a:r>
              </a:p>
            </p:txBody>
          </p:sp>
        </mc:Fallback>
      </mc:AlternateContent>
      <p:sp>
        <p:nvSpPr>
          <p:cNvPr id="13" name="s4_nen"/>
          <p:cNvSpPr/>
          <p:nvPr/>
        </p:nvSpPr>
        <p:spPr>
          <a:xfrm>
            <a:off x="548640" y="4675631"/>
            <a:ext cx="8778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4712207"/>
                <a:ext cx="8449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CB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CA</m:t>
                        </m:r>
                      </m:e>
                    </m:acc>
                  </m:oMath>
                </a14:m>
                <a:r>
                  <a:rPr sz="2000">
                    <a:solidFill>
                      <a:srgbClr val="1E293B"/>
                    </a:solidFill>
                    <a:latin typeface="Calibri"/>
                  </a:rPr>
                  <a:t>;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đều nên độ dài bằng 1. </a:t>
                </a:r>
                <a14:m>
                  <m:oMath xmlns:m="http://schemas.openxmlformats.org/officeDocument/2006/math">
                    <m:acc>
                      <m:accPr>
                        <m:chr m:val="⃗"/>
                      </m:accPr>
                      <m:e>
                        <m:r>
                          <a:rPr lang="vi-VN" sz="2000" b="0">
                            <a:solidFill>
                              <a:srgbClr val="1E293B"/>
                            </a:solidFill>
                            <a:latin typeface="Cambria Math" panose="02040503050406030204" pitchFamily="18" charset="0"/>
                          </a:rPr>
                          <m:t>DB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CA</m:t>
                        </m:r>
                      </m:e>
                    </m:acc>
                  </m:oMath>
                </a14:m>
                <a:r>
                  <a:rPr sz="2000">
                    <a:solidFill>
                      <a:srgbClr val="1E293B"/>
                    </a:solidFill>
                    <a:latin typeface="Calibri"/>
                  </a:rPr>
                  <a:t>: độ dài bằng 1.</a:t>
                </a:r>
              </a:p>
            </p:txBody>
          </p:sp>
        </mc:Choice>
        <mc:Fallback>
          <p:sp>
            <p:nvSpPr>
              <p:cNvPr id="14" name="TextBox 13"/>
              <p:cNvSpPr txBox="1"/>
              <p:nvPr/>
            </p:nvSpPr>
            <p:spPr>
              <a:xfrm>
                <a:off x="713232" y="4712207"/>
                <a:ext cx="8449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\overrightarrow{CB}</a:t>
                </a:r>
                <a:r>
                  <a:rPr sz="2000">
                    <a:solidFill>
                      <a:srgbClr val="1E293B"/>
                    </a:solidFill>
                    <a:latin typeface="Calibri"/>
                  </a:rPr>
                  <a:t> + </a:t>
                </a:r>
                <a:r>
                  <a:rPr lang="vi-VN"/>
                  <a:t>\overrightarrow{CD}</a:t>
                </a:r>
                <a:r>
                  <a:rPr sz="2000">
                    <a:solidFill>
                      <a:srgbClr val="1E293B"/>
                    </a:solidFill>
                    <a:latin typeface="Calibri"/>
                  </a:rPr>
                  <a:t> = </a:t>
                </a:r>
                <a:r>
                  <a:rPr lang="vi-VN"/>
                  <a:t>\overrightarrow{CA}</a:t>
                </a:r>
                <a:r>
                  <a:rPr sz="2000">
                    <a:solidFill>
                      <a:srgbClr val="1E293B"/>
                    </a:solidFill>
                    <a:latin typeface="Calibri"/>
                  </a:rPr>
                  <a:t>; tam giác </a:t>
                </a:r>
                <a:r>
                  <a:rPr lang="vi-VN"/>
                  <a:t>ABC</a:t>
                </a:r>
                <a:r>
                  <a:rPr sz="2000">
                    <a:solidFill>
                      <a:srgbClr val="1E293B"/>
                    </a:solidFill>
                    <a:latin typeface="Calibri"/>
                  </a:rPr>
                  <a:t> đều nên độ dài bằng 1. </a:t>
                </a:r>
                <a:r>
                  <a:rPr lang="vi-VN"/>
                  <a:t>\overrightarrow{DB}</a:t>
                </a:r>
                <a:r>
                  <a:rPr sz="2000">
                    <a:solidFill>
                      <a:srgbClr val="1E293B"/>
                    </a:solidFill>
                    <a:latin typeface="Calibri"/>
                  </a:rPr>
                  <a:t> + </a:t>
                </a:r>
                <a:r>
                  <a:rPr lang="vi-VN"/>
                  <a:t>\overrightarrow{CD}</a:t>
                </a:r>
                <a:r>
                  <a:rPr sz="2000">
                    <a:solidFill>
                      <a:srgbClr val="1E293B"/>
                    </a:solidFill>
                    <a:latin typeface="Calibri"/>
                  </a:rPr>
                  <a:t> + </a:t>
                </a:r>
                <a:r>
                  <a:rPr lang="vi-VN"/>
                  <a:t>\overrightarrow{BA}</a:t>
                </a:r>
                <a:r>
                  <a:rPr sz="2000">
                    <a:solidFill>
                      <a:srgbClr val="1E293B"/>
                    </a:solidFill>
                    <a:latin typeface="Calibri"/>
                  </a:rPr>
                  <a:t> = </a:t>
                </a:r>
                <a:r>
                  <a:rPr lang="vi-VN"/>
                  <a:t>\overrightarrow{CD}</a:t>
                </a:r>
                <a:r>
                  <a:rPr sz="2000">
                    <a:solidFill>
                      <a:srgbClr val="1E293B"/>
                    </a:solidFill>
                    <a:latin typeface="Calibri"/>
                  </a:rPr>
                  <a:t> + </a:t>
                </a:r>
                <a:r>
                  <a:rPr lang="vi-VN"/>
                  <a:t>\overrightarrow{DB}</a:t>
                </a:r>
                <a:r>
                  <a:rPr sz="2000">
                    <a:solidFill>
                      <a:srgbClr val="1E293B"/>
                    </a:solidFill>
                    <a:latin typeface="Calibri"/>
                  </a:rPr>
                  <a:t> + </a:t>
                </a:r>
                <a:r>
                  <a:rPr lang="vi-VN"/>
                  <a:t>\overrightarrow{BA}</a:t>
                </a:r>
                <a:r>
                  <a:rPr sz="2000">
                    <a:solidFill>
                      <a:srgbClr val="1E293B"/>
                    </a:solidFill>
                    <a:latin typeface="Calibri"/>
                  </a:rPr>
                  <a:t> = </a:t>
                </a:r>
                <a:r>
                  <a:rPr lang="vi-VN"/>
                  <a:t>\overrightarrow{CA}</a:t>
                </a:r>
                <a:r>
                  <a:rPr sz="2000">
                    <a:solidFill>
                      <a:srgbClr val="1E293B"/>
                    </a:solidFill>
                    <a:latin typeface="Calibri"/>
                  </a:rPr>
                  <a:t>: độ dài bằng 1.</a:t>
                </a:r>
              </a:p>
            </p:txBody>
          </p:sp>
        </mc:Fallback>
      </mc:AlternateContent>
      <p:pic>
        <p:nvPicPr>
          <p:cNvPr id="15" name="Picture 14" descr="vd1.png"/>
          <p:cNvPicPr>
            <a:picLocks noChangeAspect="1"/>
          </p:cNvPicPr>
          <p:nvPr/>
        </p:nvPicPr>
        <p:blipFill>
          <a:blip r:embed="rId3"/>
          <a:stretch>
            <a:fillRect/>
          </a:stretch>
        </p:blipFill>
        <p:spPr>
          <a:xfrm>
            <a:off x="9509760" y="1600511"/>
            <a:ext cx="2194560" cy="1736737"/>
          </a:xfrm>
          <a:prstGeom prst="rect">
            <a:avLst/>
          </a:prstGeom>
        </p:spPr>
      </p:pic>
      <p:pic>
        <p:nvPicPr>
          <p:cNvPr id="16" name="Picture 15" descr="thoi.png"/>
          <p:cNvPicPr>
            <a:picLocks noChangeAspect="1"/>
          </p:cNvPicPr>
          <p:nvPr/>
        </p:nvPicPr>
        <p:blipFill>
          <a:blip r:embed="rId4"/>
          <a:stretch>
            <a:fillRect/>
          </a:stretch>
        </p:blipFill>
        <p:spPr>
          <a:xfrm>
            <a:off x="9509760" y="4188759"/>
            <a:ext cx="2194560" cy="13151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HIỆU CỦA HAI VECTƠ – VECTƠ ĐỐI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10</a:t>
            </a:r>
          </a:p>
        </p:txBody>
      </p:sp>
      <p:sp>
        <p:nvSpPr>
          <p:cNvPr id="7" name="TextBox 6"/>
          <p:cNvSpPr txBox="1"/>
          <p:nvPr/>
        </p:nvSpPr>
        <p:spPr>
          <a:xfrm>
            <a:off x="548640" y="1371600"/>
            <a:ext cx="76809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HĐ4.</a:t>
            </a:r>
            <a:r>
              <a:rPr sz="2100">
                <a:solidFill>
                  <a:srgbClr val="1E293B"/>
                </a:solidFill>
                <a:latin typeface="Calibri"/>
              </a:rPr>
              <a:t> Thế nào là hai lực cân bằng? Nếu dùng hai vectơ để biểu diễn hai lực cân bằng thì hai vectơ này có mối quan hệ gì với nhau?</a:t>
            </a:r>
          </a:p>
        </p:txBody>
      </p:sp>
      <p:sp>
        <p:nvSpPr>
          <p:cNvPr id="8" name="s1_nen"/>
          <p:cNvSpPr/>
          <p:nvPr/>
        </p:nvSpPr>
        <p:spPr>
          <a:xfrm>
            <a:off x="548640" y="2596896"/>
            <a:ext cx="76809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633472"/>
            <a:ext cx="73517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Hai lực cân bằng: cùng tác dụng lên một vật, cùng phương, cùng độ lớn, ngược chiều ⇒ hai vectơ biểu diễn có </a:t>
            </a:r>
            <a:r>
              <a:rPr sz="2100" b="1">
                <a:solidFill>
                  <a:srgbClr val="1E293B"/>
                </a:solidFill>
                <a:latin typeface="Calibri"/>
              </a:rPr>
              <a:t>cùng độ dài, ngược hướng</a:t>
            </a:r>
            <a:r>
              <a:rPr sz="2100">
                <a:solidFill>
                  <a:srgbClr val="1E293B"/>
                </a:solidFill>
                <a:latin typeface="Calibri"/>
              </a:rPr>
              <a:t>.</a:t>
            </a:r>
          </a:p>
        </p:txBody>
      </p:sp>
      <p:sp>
        <p:nvSpPr>
          <p:cNvPr id="10" name="s2_nen"/>
          <p:cNvSpPr/>
          <p:nvPr/>
        </p:nvSpPr>
        <p:spPr>
          <a:xfrm>
            <a:off x="548640" y="3913631"/>
            <a:ext cx="7680960" cy="164592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950207"/>
                <a:ext cx="7351776" cy="157276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Vectơ có cùng độ dài và ngược hướng với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được gọi là </a:t>
                </a:r>
                <a:r>
                  <a:rPr sz="2100" b="1">
                    <a:solidFill>
                      <a:srgbClr val="1E293B"/>
                    </a:solidFill>
                    <a:latin typeface="Calibri"/>
                  </a:rPr>
                  <a:t>vectơ đối</a:t>
                </a:r>
                <a:r>
                  <a:rPr sz="2100">
                    <a:solidFill>
                      <a:srgbClr val="1E293B"/>
                    </a:solidFill>
                    <a:latin typeface="Calibri"/>
                  </a:rPr>
                  <a:t> của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Vectơ đối của </a:t>
                </a:r>
                <a14:m>
                  <m:oMath xmlns:m="http://schemas.openxmlformats.org/officeDocument/2006/math">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được kí hiệu là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a:t>
                </a:r>
              </a:p>
              <a:p>
                <a:pPr algn="l">
                  <a:spcAft>
                    <a:spcPts val="800"/>
                  </a:spcAft>
                </a:pPr>
                <a:r>
                  <a:rPr sz="2100">
                    <a:solidFill>
                      <a:srgbClr val="1E293B"/>
                    </a:solidFill>
                    <a:latin typeface="Calibri"/>
                  </a:rPr>
                  <a:t>Vectơ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 được coi là vectơ đối của chính nó.</a:t>
                </a:r>
              </a:p>
            </p:txBody>
          </p:sp>
        </mc:Choice>
        <mc:Fallback>
          <p:sp>
            <p:nvSpPr>
              <p:cNvPr id="11" name="TextBox 10"/>
              <p:cNvSpPr txBox="1"/>
              <p:nvPr/>
            </p:nvSpPr>
            <p:spPr>
              <a:xfrm>
                <a:off x="713232" y="3950207"/>
                <a:ext cx="7351776" cy="157276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Vectơ có cùng độ dài và ngược hướng với vectơ </a:t>
                </a:r>
                <a:r>
                  <a:rPr lang="vi-VN"/>
                  <a:t>\vec{a}</a:t>
                </a:r>
                <a:r>
                  <a:rPr sz="2100">
                    <a:solidFill>
                      <a:srgbClr val="1E293B"/>
                    </a:solidFill>
                    <a:latin typeface="Calibri"/>
                  </a:rPr>
                  <a:t> được gọi là </a:t>
                </a:r>
                <a:r>
                  <a:rPr sz="2100" b="1">
                    <a:solidFill>
                      <a:srgbClr val="1E293B"/>
                    </a:solidFill>
                    <a:latin typeface="Calibri"/>
                  </a:rPr>
                  <a:t>vectơ đối</a:t>
                </a:r>
                <a:r>
                  <a:rPr sz="2100">
                    <a:solidFill>
                      <a:srgbClr val="1E293B"/>
                    </a:solidFill>
                    <a:latin typeface="Calibri"/>
                  </a:rPr>
                  <a:t> của vectơ </a:t>
                </a:r>
                <a:r>
                  <a:rPr lang="vi-VN"/>
                  <a:t>\vec{a}</a:t>
                </a:r>
                <a:r>
                  <a:rPr sz="2100">
                    <a:solidFill>
                      <a:srgbClr val="1E293B"/>
                    </a:solidFill>
                    <a:latin typeface="Calibri"/>
                  </a:rPr>
                  <a:t>. Vectơ đối của </a:t>
                </a:r>
                <a:r>
                  <a:rPr lang="vi-VN"/>
                  <a:t>\vec{a}</a:t>
                </a:r>
                <a:r>
                  <a:rPr sz="2100">
                    <a:solidFill>
                      <a:srgbClr val="1E293B"/>
                    </a:solidFill>
                    <a:latin typeface="Calibri"/>
                  </a:rPr>
                  <a:t> được kí hiệu là </a:t>
                </a:r>
                <a:r>
                  <a:rPr lang="vi-VN"/>
                  <a:t>-\vec{a}</a:t>
                </a:r>
                <a:r>
                  <a:rPr sz="2100">
                    <a:solidFill>
                      <a:srgbClr val="1E293B"/>
                    </a:solidFill>
                    <a:latin typeface="Calibri"/>
                  </a:rPr>
                  <a:t>.</a:t>
                </a:r>
              </a:p>
              <a:p>
                <a:pPr algn="l">
                  <a:spcAft>
                    <a:spcPts val="800"/>
                  </a:spcAft>
                </a:pPr>
                <a:r>
                  <a:rPr sz="2100">
                    <a:solidFill>
                      <a:srgbClr val="1E293B"/>
                    </a:solidFill>
                    <a:latin typeface="Calibri"/>
                  </a:rPr>
                  <a:t>Vectơ </a:t>
                </a:r>
                <a:r>
                  <a:rPr lang="vi-VN"/>
                  <a:t>\vec{0}</a:t>
                </a:r>
                <a:r>
                  <a:rPr sz="2100">
                    <a:solidFill>
                      <a:srgbClr val="1E293B"/>
                    </a:solidFill>
                    <a:latin typeface="Calibri"/>
                  </a:rPr>
                  <a:t> được coi là vectơ đối của chính nó.</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5650991"/>
                <a:ext cx="76809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Hai vectơ đối nhau khi và chỉ khi tổng của chúng bằng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a:t>
                </a:r>
              </a:p>
            </p:txBody>
          </p:sp>
        </mc:Choice>
        <mc:Fallback>
          <p:sp>
            <p:nvSpPr>
              <p:cNvPr id="12" name="TextBox 11"/>
              <p:cNvSpPr txBox="1"/>
              <p:nvPr/>
            </p:nvSpPr>
            <p:spPr>
              <a:xfrm>
                <a:off x="548640" y="5650991"/>
                <a:ext cx="76809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Hai vectơ đối nhau khi và chỉ khi tổng của chúng bằng </a:t>
                </a:r>
                <a:r>
                  <a:rPr lang="vi-VN"/>
                  <a:t>\vec{0}</a:t>
                </a:r>
                <a:r>
                  <a:rPr sz="2100">
                    <a:solidFill>
                      <a:srgbClr val="1E293B"/>
                    </a:solidFill>
                    <a:latin typeface="Calibri"/>
                  </a:rPr>
                  <a:t>.</a:t>
                </a:r>
              </a:p>
            </p:txBody>
          </p:sp>
        </mc:Fallback>
      </mc:AlternateContent>
      <p:pic>
        <p:nvPicPr>
          <p:cNvPr id="13" name="Picture 12" descr="keoco.png"/>
          <p:cNvPicPr>
            <a:picLocks noChangeAspect="1"/>
          </p:cNvPicPr>
          <p:nvPr/>
        </p:nvPicPr>
        <p:blipFill>
          <a:blip r:embed="rId3"/>
          <a:stretch>
            <a:fillRect/>
          </a:stretch>
        </p:blipFill>
        <p:spPr>
          <a:xfrm>
            <a:off x="8412480" y="2160421"/>
            <a:ext cx="3291840" cy="982677"/>
          </a:xfrm>
          <a:prstGeom prst="rect">
            <a:avLst/>
          </a:prstGeom>
        </p:spPr>
      </p:pic>
      <p:sp>
        <p:nvSpPr>
          <p:cNvPr id="14" name="TextBox 13"/>
          <p:cNvSpPr txBox="1"/>
          <p:nvPr/>
        </p:nvSpPr>
        <p:spPr>
          <a:xfrm>
            <a:off x="8412480" y="3858768"/>
            <a:ext cx="32918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Hai đội kéo co bất phân thắng bại!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HIỆU CỦA HAI VECTƠ – QUY TẮC HIỆU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11</a:t>
            </a:r>
          </a:p>
        </p:txBody>
      </p:sp>
      <p:sp>
        <p:nvSpPr>
          <p:cNvPr id="7" name="Rounded Rectangle 6"/>
          <p:cNvSpPr/>
          <p:nvPr/>
        </p:nvSpPr>
        <p:spPr>
          <a:xfrm>
            <a:off x="548640" y="1371600"/>
            <a:ext cx="110642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oMath>
                </a14:m>
                <a:r>
                  <a:rPr sz="2200">
                    <a:solidFill>
                      <a:srgbClr val="1E293B"/>
                    </a:solidFill>
                    <a:latin typeface="Calibri"/>
                  </a:rPr>
                  <a:t> được gọi là </a:t>
                </a:r>
                <a:r>
                  <a:rPr sz="2200" b="1">
                    <a:solidFill>
                      <a:srgbClr val="1E293B"/>
                    </a:solidFill>
                    <a:latin typeface="Calibri"/>
                  </a:rPr>
                  <a:t>hiệu của hai vectơ</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và được kí hiệu là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Phép lấy hiệu hai vectơ được gọi là </a:t>
                </a:r>
                <a:r>
                  <a:rPr sz="2200" b="1">
                    <a:solidFill>
                      <a:srgbClr val="1E293B"/>
                    </a:solidFill>
                    <a:latin typeface="Calibri"/>
                  </a:rPr>
                  <a:t>phép trừ vectơ</a:t>
                </a:r>
                <a:r>
                  <a:rPr sz="2200">
                    <a:solidFill>
                      <a:srgbClr val="1E293B"/>
                    </a:solidFill>
                    <a:latin typeface="Calibri"/>
                  </a:rPr>
                  <a:t>.</a:t>
                </a:r>
              </a:p>
            </p:txBody>
          </p:sp>
        </mc:Choice>
        <mc:Fallback>
          <p:sp>
            <p:nvSpPr>
              <p:cNvPr id="8" name="TextBox 7"/>
              <p:cNvSpPr txBox="1"/>
              <p:nvPr/>
            </p:nvSpPr>
            <p:spPr>
              <a:xfrm>
                <a:off x="713232" y="14081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Vectơ </a:t>
                </a:r>
                <a:r>
                  <a:rPr lang="vi-VN"/>
                  <a:t>\vec{a}+(-\vec{b})</a:t>
                </a:r>
                <a:r>
                  <a:rPr sz="2200">
                    <a:solidFill>
                      <a:srgbClr val="1E293B"/>
                    </a:solidFill>
                    <a:latin typeface="Calibri"/>
                  </a:rPr>
                  <a:t> được gọi là </a:t>
                </a:r>
                <a:r>
                  <a:rPr sz="2200" b="1">
                    <a:solidFill>
                      <a:srgbClr val="1E293B"/>
                    </a:solidFill>
                    <a:latin typeface="Calibri"/>
                  </a:rPr>
                  <a:t>hiệu của hai vectơ</a:t>
                </a:r>
                <a:r>
                  <a:rPr sz="2200">
                    <a:solidFill>
                      <a:srgbClr val="1E293B"/>
                    </a:solidFill>
                    <a:latin typeface="Calibri"/>
                  </a:rPr>
                  <a:t> </a:t>
                </a:r>
                <a:r>
                  <a:rPr lang="vi-VN"/>
                  <a:t>\vec{a}</a:t>
                </a:r>
                <a:r>
                  <a:rPr sz="2200">
                    <a:solidFill>
                      <a:srgbClr val="1E293B"/>
                    </a:solidFill>
                    <a:latin typeface="Calibri"/>
                  </a:rPr>
                  <a:t> và </a:t>
                </a:r>
                <a:r>
                  <a:rPr lang="vi-VN"/>
                  <a:t>\vec{b}</a:t>
                </a:r>
                <a:r>
                  <a:rPr sz="2200">
                    <a:solidFill>
                      <a:srgbClr val="1E293B"/>
                    </a:solidFill>
                    <a:latin typeface="Calibri"/>
                  </a:rPr>
                  <a:t> và được kí hiệu là </a:t>
                </a:r>
                <a:r>
                  <a:rPr lang="vi-VN"/>
                  <a:t>\vec{a}-\vec{b}</a:t>
                </a:r>
                <a:r>
                  <a:rPr sz="2200">
                    <a:solidFill>
                      <a:srgbClr val="1E293B"/>
                    </a:solidFill>
                    <a:latin typeface="Calibri"/>
                  </a:rPr>
                  <a:t>. Phép lấy hiệu hai vectơ được gọi là </a:t>
                </a:r>
                <a:r>
                  <a:rPr sz="2200" b="1">
                    <a:solidFill>
                      <a:srgbClr val="1E293B"/>
                    </a:solidFill>
                    <a:latin typeface="Calibri"/>
                  </a:rPr>
                  <a:t>phép trừ vectơ</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44496"/>
                <a:ext cx="11064240" cy="15544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Chú ý.</a:t>
                </a:r>
                <a:r>
                  <a:rPr sz="2200">
                    <a:solidFill>
                      <a:srgbClr val="1E293B"/>
                    </a:solidFill>
                    <a:latin typeface="Calibri"/>
                  </a:rPr>
                  <a:t> Nếu </a:t>
                </a:r>
                <a14:m>
                  <m:oMath xmlns:m="http://schemas.openxmlformats.org/officeDocument/2006/math">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thì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t>
                        </m:r>
                      </m:e>
                    </m:acc>
                  </m:oMath>
                </a14:m>
                <a:r>
                  <a:rPr sz="2200">
                    <a:solidFill>
                      <a:srgbClr val="1E293B"/>
                    </a:solidFill>
                    <a:latin typeface="Calibri"/>
                  </a:rPr>
                  <a:t>.</a:t>
                </a:r>
              </a:p>
              <a:p>
                <a:pPr algn="l">
                  <a:spcAft>
                    <a:spcPts val="800"/>
                  </a:spcAft>
                </a:pPr>
                <a:r>
                  <a:rPr sz="2200">
                    <a:solidFill>
                      <a:srgbClr val="1E293B"/>
                    </a:solidFill>
                    <a:latin typeface="Calibri"/>
                  </a:rPr>
                  <a:t>Với ba điểm </a:t>
                </a:r>
                <a14:m>
                  <m:oMath xmlns:m="http://schemas.openxmlformats.org/officeDocument/2006/math">
                    <m:r>
                      <a:rPr lang="vi-VN" sz="2200" b="0">
                        <a:solidFill>
                          <a:srgbClr val="1E293B"/>
                        </a:solidFill>
                        <a:latin typeface="Cambria Math" panose="02040503050406030204" pitchFamily="18" charset="0"/>
                      </a:rPr>
                      <m:t>O,</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N</m:t>
                    </m:r>
                  </m:oMath>
                </a14:m>
                <a:r>
                  <a:rPr sz="2200">
                    <a:solidFill>
                      <a:srgbClr val="1E293B"/>
                    </a:solidFill>
                    <a:latin typeface="Calibri"/>
                  </a:rPr>
                  <a:t> tuỳ ý: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MO</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a:t>
                </a:r>
              </a:p>
            </p:txBody>
          </p:sp>
        </mc:Choice>
        <mc:Fallback>
          <p:sp>
            <p:nvSpPr>
              <p:cNvPr id="9" name="TextBox 8"/>
              <p:cNvSpPr txBox="1"/>
              <p:nvPr/>
            </p:nvSpPr>
            <p:spPr>
              <a:xfrm>
                <a:off x="548640" y="2444496"/>
                <a:ext cx="11064240" cy="15544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Chú ý.</a:t>
                </a:r>
                <a:r>
                  <a:rPr sz="2200">
                    <a:solidFill>
                      <a:srgbClr val="1E293B"/>
                    </a:solidFill>
                    <a:latin typeface="Calibri"/>
                  </a:rPr>
                  <a:t> Nếu </a:t>
                </a:r>
                <a:r>
                  <a:rPr lang="vi-VN"/>
                  <a:t>\vec{b}+\vec{c}=\vec{a}</a:t>
                </a:r>
                <a:r>
                  <a:rPr sz="2200">
                    <a:solidFill>
                      <a:srgbClr val="1E293B"/>
                    </a:solidFill>
                    <a:latin typeface="Calibri"/>
                  </a:rPr>
                  <a:t> thì </a:t>
                </a:r>
                <a:r>
                  <a:rPr lang="vi-VN"/>
                  <a:t>\vec{a}-\vec{b}=\vec{a}+(-\vec{b})=\vec{c}+\vec{b}+(-\vec{b})=\vec{c}+\vec{0}=\vec{c}</a:t>
                </a:r>
                <a:r>
                  <a:rPr sz="2200">
                    <a:solidFill>
                      <a:srgbClr val="1E293B"/>
                    </a:solidFill>
                    <a:latin typeface="Calibri"/>
                  </a:rPr>
                  <a:t>.</a:t>
                </a:r>
              </a:p>
              <a:p>
                <a:pPr algn="l">
                  <a:spcAft>
                    <a:spcPts val="800"/>
                  </a:spcAft>
                </a:pPr>
                <a:r>
                  <a:rPr sz="2200">
                    <a:solidFill>
                      <a:srgbClr val="1E293B"/>
                    </a:solidFill>
                    <a:latin typeface="Calibri"/>
                  </a:rPr>
                  <a:t>Với ba điểm </a:t>
                </a:r>
                <a:r>
                  <a:rPr lang="vi-VN"/>
                  <a:t>O,\ M,\ N</a:t>
                </a:r>
                <a:r>
                  <a:rPr sz="2200">
                    <a:solidFill>
                      <a:srgbClr val="1E293B"/>
                    </a:solidFill>
                    <a:latin typeface="Calibri"/>
                  </a:rPr>
                  <a:t> tuỳ ý: </a:t>
                </a:r>
                <a:r>
                  <a:rPr lang="vi-VN"/>
                  <a:t>\overrightarrow{MN}</a:t>
                </a:r>
                <a:r>
                  <a:rPr sz="2200">
                    <a:solidFill>
                      <a:srgbClr val="1E293B"/>
                    </a:solidFill>
                    <a:latin typeface="Calibri"/>
                  </a:rPr>
                  <a:t> = </a:t>
                </a:r>
                <a:r>
                  <a:rPr lang="vi-VN"/>
                  <a:t>\overrightarrow{MO}</a:t>
                </a:r>
                <a:r>
                  <a:rPr sz="2200">
                    <a:solidFill>
                      <a:srgbClr val="1E293B"/>
                    </a:solidFill>
                    <a:latin typeface="Calibri"/>
                  </a:rPr>
                  <a:t> + </a:t>
                </a:r>
                <a:r>
                  <a:rPr lang="vi-VN"/>
                  <a:t>\overrightarrow{ON}</a:t>
                </a:r>
                <a:r>
                  <a:rPr sz="2200">
                    <a:solidFill>
                      <a:srgbClr val="1E293B"/>
                    </a:solidFill>
                    <a:latin typeface="Calibri"/>
                  </a:rPr>
                  <a:t> = (−</a:t>
                </a:r>
                <a:r>
                  <a:rPr lang="vi-VN"/>
                  <a:t>\overrightarrow{OM}</a:t>
                </a:r>
                <a:r>
                  <a:rPr sz="2200">
                    <a:solidFill>
                      <a:srgbClr val="1E293B"/>
                    </a:solidFill>
                    <a:latin typeface="Calibri"/>
                  </a:rPr>
                  <a:t>) + </a:t>
                </a:r>
                <a:r>
                  <a:rPr lang="vi-VN"/>
                  <a:t>\overrightarrow{ON}</a:t>
                </a:r>
                <a:r>
                  <a:rPr sz="2200">
                    <a:solidFill>
                      <a:srgbClr val="1E293B"/>
                    </a:solidFill>
                    <a:latin typeface="Calibri"/>
                  </a:rPr>
                  <a:t> = </a:t>
                </a:r>
                <a:r>
                  <a:rPr lang="vi-VN"/>
                  <a:t>\overrightarrow{ON}</a:t>
                </a:r>
                <a:r>
                  <a:rPr sz="2200">
                    <a:solidFill>
                      <a:srgbClr val="1E293B"/>
                    </a:solidFill>
                    <a:latin typeface="Calibri"/>
                  </a:rPr>
                  <a:t> − </a:t>
                </a:r>
                <a:r>
                  <a:rPr lang="vi-VN"/>
                  <a:t>\overrightarrow{OM}</a:t>
                </a:r>
                <a:r>
                  <a:rPr sz="2200">
                    <a:solidFill>
                      <a:srgbClr val="1E293B"/>
                    </a:solidFill>
                    <a:latin typeface="Calibri"/>
                  </a:rPr>
                  <a:t>.</a:t>
                </a:r>
              </a:p>
            </p:txBody>
          </p:sp>
        </mc:Fallback>
      </mc:AlternateContent>
      <p:sp>
        <p:nvSpPr>
          <p:cNvPr id="10" name="Rounded Rectangle 9"/>
          <p:cNvSpPr/>
          <p:nvPr/>
        </p:nvSpPr>
        <p:spPr>
          <a:xfrm>
            <a:off x="548640" y="4136136"/>
            <a:ext cx="11064240" cy="6614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713232" y="4172712"/>
                <a:ext cx="10735056" cy="588264"/>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Quy tắc hiệu:</a:t>
                </a:r>
                <a:r>
                  <a:rPr sz="2600">
                    <a:solidFill>
                      <a:srgbClr val="1E293B"/>
                    </a:solidFill>
                    <a:latin typeface="Calibri"/>
                  </a:rPr>
                  <a:t> Với ba điểm </a:t>
                </a:r>
                <a14:m>
                  <m:oMath xmlns:m="http://schemas.openxmlformats.org/officeDocument/2006/math">
                    <m:r>
                      <a:rPr lang="vi-VN" sz="2600" b="0">
                        <a:solidFill>
                          <a:srgbClr val="1E293B"/>
                        </a:solidFill>
                        <a:latin typeface="Cambria Math" panose="02040503050406030204" pitchFamily="18" charset="0"/>
                      </a:rPr>
                      <m:t>O,</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M,</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N</m:t>
                    </m:r>
                  </m:oMath>
                </a14:m>
                <a:r>
                  <a:rPr sz="2600">
                    <a:solidFill>
                      <a:srgbClr val="1E293B"/>
                    </a:solidFill>
                    <a:latin typeface="Calibri"/>
                  </a:rPr>
                  <a:t>, ta có </a:t>
                </a:r>
                <a14:m>
                  <m:oMath xmlns:m="http://schemas.openxmlformats.org/officeDocument/2006/math">
                    <m:acc>
                      <m:accPr>
                        <m:chr m:val="⃗"/>
                      </m:accPr>
                      <m:e>
                        <m:r>
                          <a:rPr lang="vi-VN" sz="2600" b="0">
                            <a:solidFill>
                              <a:srgbClr val="1E293B"/>
                            </a:solidFill>
                            <a:latin typeface="Cambria Math" panose="02040503050406030204" pitchFamily="18" charset="0"/>
                          </a:rPr>
                          <m:t>MN</m:t>
                        </m:r>
                      </m:e>
                    </m:acc>
                  </m:oMath>
                </a14:m>
                <a:r>
                  <a:rPr sz="2600">
                    <a:solidFill>
                      <a:srgbClr val="1E293B"/>
                    </a:solidFill>
                    <a:latin typeface="Calibri"/>
                  </a:rPr>
                  <a:t> = </a:t>
                </a:r>
                <a14:m>
                  <m:oMath xmlns:m="http://schemas.openxmlformats.org/officeDocument/2006/math">
                    <m:acc>
                      <m:accPr>
                        <m:chr m:val="⃗"/>
                      </m:accPr>
                      <m:e>
                        <m:r>
                          <a:rPr lang="vi-VN" sz="2600" b="0">
                            <a:solidFill>
                              <a:srgbClr val="1E293B"/>
                            </a:solidFill>
                            <a:latin typeface="Cambria Math" panose="02040503050406030204" pitchFamily="18" charset="0"/>
                          </a:rPr>
                          <m:t>ON</m:t>
                        </m:r>
                      </m:e>
                    </m:acc>
                  </m:oMath>
                </a14:m>
                <a:r>
                  <a:rPr sz="2600">
                    <a:solidFill>
                      <a:srgbClr val="1E293B"/>
                    </a:solidFill>
                    <a:latin typeface="Calibri"/>
                  </a:rPr>
                  <a:t> − </a:t>
                </a:r>
                <a14:m>
                  <m:oMath xmlns:m="http://schemas.openxmlformats.org/officeDocument/2006/math">
                    <m:acc>
                      <m:accPr>
                        <m:chr m:val="⃗"/>
                      </m:accPr>
                      <m:e>
                        <m:r>
                          <a:rPr lang="vi-VN" sz="2600" b="0">
                            <a:solidFill>
                              <a:srgbClr val="1E293B"/>
                            </a:solidFill>
                            <a:latin typeface="Cambria Math" panose="02040503050406030204" pitchFamily="18" charset="0"/>
                          </a:rPr>
                          <m:t>OM</m:t>
                        </m:r>
                      </m:e>
                    </m:acc>
                  </m:oMath>
                </a14:m>
                <a:r>
                  <a:rPr sz="2600">
                    <a:solidFill>
                      <a:srgbClr val="1E293B"/>
                    </a:solidFill>
                    <a:latin typeface="Calibri"/>
                  </a:rPr>
                  <a:t>.</a:t>
                </a:r>
              </a:p>
            </p:txBody>
          </p:sp>
        </mc:Choice>
        <mc:Fallback>
          <p:sp>
            <p:nvSpPr>
              <p:cNvPr id="11" name="TextBox 10"/>
              <p:cNvSpPr txBox="1"/>
              <p:nvPr/>
            </p:nvSpPr>
            <p:spPr>
              <a:xfrm>
                <a:off x="713232" y="4172712"/>
                <a:ext cx="10735056" cy="588264"/>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Quy tắc hiệu:</a:t>
                </a:r>
                <a:r>
                  <a:rPr sz="2600">
                    <a:solidFill>
                      <a:srgbClr val="1E293B"/>
                    </a:solidFill>
                    <a:latin typeface="Calibri"/>
                  </a:rPr>
                  <a:t> Với ba điểm </a:t>
                </a:r>
                <a:r>
                  <a:rPr lang="vi-VN"/>
                  <a:t>O,\ M,\ N</a:t>
                </a:r>
                <a:r>
                  <a:rPr sz="2600">
                    <a:solidFill>
                      <a:srgbClr val="1E293B"/>
                    </a:solidFill>
                    <a:latin typeface="Calibri"/>
                  </a:rPr>
                  <a:t>, ta có </a:t>
                </a:r>
                <a:r>
                  <a:rPr lang="vi-VN"/>
                  <a:t>\overrightarrow{MN}</a:t>
                </a:r>
                <a:r>
                  <a:rPr sz="2600">
                    <a:solidFill>
                      <a:srgbClr val="1E293B"/>
                    </a:solidFill>
                    <a:latin typeface="Calibri"/>
                  </a:rPr>
                  <a:t> = </a:t>
                </a:r>
                <a:r>
                  <a:rPr lang="vi-VN"/>
                  <a:t>\overrightarrow{ON}</a:t>
                </a:r>
                <a:r>
                  <a:rPr sz="2600">
                    <a:solidFill>
                      <a:srgbClr val="1E293B"/>
                    </a:solidFill>
                    <a:latin typeface="Calibri"/>
                  </a:rPr>
                  <a:t> − </a:t>
                </a:r>
                <a:r>
                  <a:rPr lang="vi-VN"/>
                  <a:t>\overrightarrow{OM}</a:t>
                </a:r>
                <a:r>
                  <a:rPr sz="2600">
                    <a:solidFill>
                      <a:srgbClr val="1E293B"/>
                    </a:solidFill>
                    <a:latin typeface="Calibri"/>
                  </a:rPr>
                  <a:t>.</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TR.53)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Ví dụ 2.</a:t>
                </a:r>
                <a:r>
                  <a:rPr sz="2400">
                    <a:solidFill>
                      <a:srgbClr val="1E293B"/>
                    </a:solidFill>
                    <a:latin typeface="Calibri"/>
                  </a:rPr>
                  <a:t> Cho hình bình hành </a:t>
                </a:r>
                <a14:m>
                  <m:oMath xmlns:m="http://schemas.openxmlformats.org/officeDocument/2006/math">
                    <m:r>
                      <a:rPr lang="vi-VN" sz="2400" b="0">
                        <a:solidFill>
                          <a:srgbClr val="1E293B"/>
                        </a:solidFill>
                        <a:latin typeface="Cambria Math" panose="02040503050406030204" pitchFamily="18" charset="0"/>
                      </a:rPr>
                      <m:t>ABCD</m:t>
                    </m:r>
                  </m:oMath>
                </a14:m>
                <a:r>
                  <a:rPr sz="2400">
                    <a:solidFill>
                      <a:srgbClr val="1E293B"/>
                    </a:solidFill>
                    <a:latin typeface="Calibri"/>
                  </a:rPr>
                  <a:t> và một điểm </a:t>
                </a:r>
                <a14:m>
                  <m:oMath xmlns:m="http://schemas.openxmlformats.org/officeDocument/2006/math">
                    <m:r>
                      <a:rPr lang="vi-VN" sz="2400" b="0">
                        <a:solidFill>
                          <a:srgbClr val="1E293B"/>
                        </a:solidFill>
                        <a:latin typeface="Cambria Math" panose="02040503050406030204" pitchFamily="18" charset="0"/>
                      </a:rPr>
                      <m:t>O</m:t>
                    </m:r>
                  </m:oMath>
                </a14:m>
                <a:r>
                  <a:rPr sz="2400">
                    <a:solidFill>
                      <a:srgbClr val="1E293B"/>
                    </a:solidFill>
                    <a:latin typeface="Calibri"/>
                  </a:rPr>
                  <a:t> bất kì. Chứng minh rằng </a:t>
                </a:r>
                <a14:m>
                  <m:oMath xmlns:m="http://schemas.openxmlformats.org/officeDocument/2006/math">
                    <m:acc>
                      <m:accPr>
                        <m:chr m:val="⃗"/>
                      </m:accPr>
                      <m:e>
                        <m:r>
                          <a:rPr lang="vi-VN" sz="2400" b="0">
                            <a:solidFill>
                              <a:srgbClr val="1E293B"/>
                            </a:solidFill>
                            <a:latin typeface="Cambria Math" panose="02040503050406030204" pitchFamily="18" charset="0"/>
                          </a:rPr>
                          <m:t>OB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OA</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OD</m:t>
                        </m:r>
                      </m:e>
                    </m:acc>
                  </m:oMath>
                </a14:m>
                <a:r>
                  <a:rPr sz="2400">
                    <a:solidFill>
                      <a:srgbClr val="1E293B"/>
                    </a:solidFill>
                    <a:latin typeface="Calibri"/>
                  </a:rPr>
                  <a:t>.</a:t>
                </a:r>
              </a:p>
            </p:txBody>
          </p:sp>
        </mc:Choice>
        <mc:Fallback>
          <p:sp>
            <p:nvSpPr>
              <p:cNvPr id="7" name="TextBox 6"/>
              <p:cNvSpPr txBox="1"/>
              <p:nvPr/>
            </p:nvSpPr>
            <p:spPr>
              <a:xfrm>
                <a:off x="548640" y="1371600"/>
                <a:ext cx="11064240" cy="905255"/>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Ví dụ 2.</a:t>
                </a:r>
                <a:r>
                  <a:rPr sz="2400">
                    <a:solidFill>
                      <a:srgbClr val="1E293B"/>
                    </a:solidFill>
                    <a:latin typeface="Calibri"/>
                  </a:rPr>
                  <a:t> Cho hình bình hành </a:t>
                </a:r>
                <a:r>
                  <a:rPr lang="vi-VN"/>
                  <a:t>ABCD</a:t>
                </a:r>
                <a:r>
                  <a:rPr sz="2400">
                    <a:solidFill>
                      <a:srgbClr val="1E293B"/>
                    </a:solidFill>
                    <a:latin typeface="Calibri"/>
                  </a:rPr>
                  <a:t> và một điểm </a:t>
                </a:r>
                <a:r>
                  <a:rPr lang="vi-VN"/>
                  <a:t>O</a:t>
                </a:r>
                <a:r>
                  <a:rPr sz="2400">
                    <a:solidFill>
                      <a:srgbClr val="1E293B"/>
                    </a:solidFill>
                    <a:latin typeface="Calibri"/>
                  </a:rPr>
                  <a:t> bất kì. Chứng minh rằng </a:t>
                </a:r>
                <a:r>
                  <a:rPr lang="vi-VN"/>
                  <a:t>\overrightarrow{OB}</a:t>
                </a:r>
                <a:r>
                  <a:rPr sz="2400">
                    <a:solidFill>
                      <a:srgbClr val="1E293B"/>
                    </a:solidFill>
                    <a:latin typeface="Calibri"/>
                  </a:rPr>
                  <a:t> − </a:t>
                </a:r>
                <a:r>
                  <a:rPr lang="vi-VN"/>
                  <a:t>\overrightarrow{OA}</a:t>
                </a:r>
                <a:r>
                  <a:rPr sz="2400">
                    <a:solidFill>
                      <a:srgbClr val="1E293B"/>
                    </a:solidFill>
                    <a:latin typeface="Calibri"/>
                  </a:rPr>
                  <a:t> = </a:t>
                </a:r>
                <a:r>
                  <a:rPr lang="vi-VN"/>
                  <a:t>\overrightarrow{OC}</a:t>
                </a:r>
                <a:r>
                  <a:rPr sz="2400">
                    <a:solidFill>
                      <a:srgbClr val="1E293B"/>
                    </a:solidFill>
                    <a:latin typeface="Calibri"/>
                  </a:rPr>
                  <a:t> − </a:t>
                </a:r>
                <a:r>
                  <a:rPr lang="vi-VN"/>
                  <a:t>\overrightarrow{OD}</a:t>
                </a:r>
                <a:r>
                  <a:rPr sz="2400">
                    <a:solidFill>
                      <a:srgbClr val="1E293B"/>
                    </a:solidFill>
                    <a:latin typeface="Calibri"/>
                  </a:rPr>
                  <a:t>.</a:t>
                </a:r>
              </a:p>
            </p:txBody>
          </p:sp>
        </mc:Fallback>
      </mc:AlternateContent>
      <p:sp>
        <p:nvSpPr>
          <p:cNvPr id="8" name="s1_nen"/>
          <p:cNvSpPr/>
          <p:nvPr/>
        </p:nvSpPr>
        <p:spPr>
          <a:xfrm>
            <a:off x="548640" y="2414015"/>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50591"/>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Áp dụng quy tắc hiệu: </a:t>
                </a:r>
                <a14:m>
                  <m:oMath xmlns:m="http://schemas.openxmlformats.org/officeDocument/2006/math">
                    <m:acc>
                      <m:accPr>
                        <m:chr m:val="⃗"/>
                      </m:accPr>
                      <m:e>
                        <m:r>
                          <a:rPr lang="vi-VN" sz="2400" b="0">
                            <a:solidFill>
                              <a:srgbClr val="1E293B"/>
                            </a:solidFill>
                            <a:latin typeface="Cambria Math" panose="02040503050406030204" pitchFamily="18" charset="0"/>
                          </a:rPr>
                          <m:t>OB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OA</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OC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OD</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DC</m:t>
                        </m:r>
                      </m:e>
                    </m:acc>
                  </m:oMath>
                </a14:m>
                <a:r>
                  <a:rPr sz="2400">
                    <a:solidFill>
                      <a:srgbClr val="1E293B"/>
                    </a:solidFill>
                    <a:latin typeface="Calibri"/>
                  </a:rPr>
                  <a:t>.</a:t>
                </a:r>
              </a:p>
            </p:txBody>
          </p:sp>
        </mc:Choice>
        <mc:Fallback>
          <p:sp>
            <p:nvSpPr>
              <p:cNvPr id="9" name="TextBox 8"/>
              <p:cNvSpPr txBox="1"/>
              <p:nvPr/>
            </p:nvSpPr>
            <p:spPr>
              <a:xfrm>
                <a:off x="713232" y="2450591"/>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Áp dụng quy tắc hiệu: </a:t>
                </a:r>
                <a:r>
                  <a:rPr lang="vi-VN"/>
                  <a:t>\overrightarrow{OB}</a:t>
                </a:r>
                <a:r>
                  <a:rPr sz="2400">
                    <a:solidFill>
                      <a:srgbClr val="1E293B"/>
                    </a:solidFill>
                    <a:latin typeface="Calibri"/>
                  </a:rPr>
                  <a:t> − </a:t>
                </a:r>
                <a:r>
                  <a:rPr lang="vi-VN"/>
                  <a:t>\overrightarrow{OA}</a:t>
                </a:r>
                <a:r>
                  <a:rPr sz="2400">
                    <a:solidFill>
                      <a:srgbClr val="1E293B"/>
                    </a:solidFill>
                    <a:latin typeface="Calibri"/>
                  </a:rPr>
                  <a:t> = </a:t>
                </a:r>
                <a:r>
                  <a:rPr lang="vi-VN"/>
                  <a:t>\overrightarrow{AB}</a:t>
                </a:r>
                <a:r>
                  <a:rPr sz="2400">
                    <a:solidFill>
                      <a:srgbClr val="1E293B"/>
                    </a:solidFill>
                    <a:latin typeface="Calibri"/>
                  </a:rPr>
                  <a:t>, </a:t>
                </a:r>
                <a:r>
                  <a:rPr lang="vi-VN"/>
                  <a:t>\overrightarrow{OC}</a:t>
                </a:r>
                <a:r>
                  <a:rPr sz="2400">
                    <a:solidFill>
                      <a:srgbClr val="1E293B"/>
                    </a:solidFill>
                    <a:latin typeface="Calibri"/>
                  </a:rPr>
                  <a:t> − </a:t>
                </a:r>
                <a:r>
                  <a:rPr lang="vi-VN"/>
                  <a:t>\overrightarrow{OD}</a:t>
                </a:r>
                <a:r>
                  <a:rPr sz="2400">
                    <a:solidFill>
                      <a:srgbClr val="1E293B"/>
                    </a:solidFill>
                    <a:latin typeface="Calibri"/>
                  </a:rPr>
                  <a:t> = </a:t>
                </a:r>
                <a:r>
                  <a:rPr lang="vi-VN"/>
                  <a:t>\overrightarrow{DC}</a:t>
                </a:r>
                <a:r>
                  <a:rPr sz="2400">
                    <a:solidFill>
                      <a:srgbClr val="1E293B"/>
                    </a:solidFill>
                    <a:latin typeface="Calibri"/>
                  </a:rPr>
                  <a:t>.</a:t>
                </a:r>
              </a:p>
            </p:txBody>
          </p:sp>
        </mc:Fallback>
      </mc:AlternateContent>
      <p:sp>
        <p:nvSpPr>
          <p:cNvPr id="10" name="s2_nen"/>
          <p:cNvSpPr/>
          <p:nvPr/>
        </p:nvSpPr>
        <p:spPr>
          <a:xfrm>
            <a:off x="548640" y="3182111"/>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18687"/>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Mặt khác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DC</m:t>
                        </m:r>
                      </m:e>
                    </m:acc>
                  </m:oMath>
                </a14:m>
                <a:r>
                  <a:rPr sz="2400">
                    <a:solidFill>
                      <a:srgbClr val="1E293B"/>
                    </a:solidFill>
                    <a:latin typeface="Calibri"/>
                  </a:rPr>
                  <a:t> (hình bình hành) nên </a:t>
                </a:r>
                <a14:m>
                  <m:oMath xmlns:m="http://schemas.openxmlformats.org/officeDocument/2006/math">
                    <m:acc>
                      <m:accPr>
                        <m:chr m:val="⃗"/>
                      </m:accPr>
                      <m:e>
                        <m:r>
                          <a:rPr lang="vi-VN" sz="2400" b="0">
                            <a:solidFill>
                              <a:srgbClr val="1E293B"/>
                            </a:solidFill>
                            <a:latin typeface="Cambria Math" panose="02040503050406030204" pitchFamily="18" charset="0"/>
                          </a:rPr>
                          <m:t>OB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OA</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OD</m:t>
                        </m:r>
                      </m:e>
                    </m:acc>
                  </m:oMath>
                </a14:m>
                <a:r>
                  <a:rPr sz="2400">
                    <a:solidFill>
                      <a:srgbClr val="1E293B"/>
                    </a:solidFill>
                    <a:latin typeface="Calibri"/>
                  </a:rPr>
                  <a:t>.</a:t>
                </a:r>
              </a:p>
            </p:txBody>
          </p:sp>
        </mc:Choice>
        <mc:Fallback>
          <p:sp>
            <p:nvSpPr>
              <p:cNvPr id="11" name="TextBox 10"/>
              <p:cNvSpPr txBox="1"/>
              <p:nvPr/>
            </p:nvSpPr>
            <p:spPr>
              <a:xfrm>
                <a:off x="713232" y="3218687"/>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Mặt khác </a:t>
                </a:r>
                <a:r>
                  <a:rPr lang="vi-VN"/>
                  <a:t>\overrightarrow{AB}</a:t>
                </a:r>
                <a:r>
                  <a:rPr sz="2400">
                    <a:solidFill>
                      <a:srgbClr val="1E293B"/>
                    </a:solidFill>
                    <a:latin typeface="Calibri"/>
                  </a:rPr>
                  <a:t> = </a:t>
                </a:r>
                <a:r>
                  <a:rPr lang="vi-VN"/>
                  <a:t>\overrightarrow{DC}</a:t>
                </a:r>
                <a:r>
                  <a:rPr sz="2400">
                    <a:solidFill>
                      <a:srgbClr val="1E293B"/>
                    </a:solidFill>
                    <a:latin typeface="Calibri"/>
                  </a:rPr>
                  <a:t> (hình bình hành) nên </a:t>
                </a:r>
                <a:r>
                  <a:rPr lang="vi-VN"/>
                  <a:t>\overrightarrow{OB}</a:t>
                </a:r>
                <a:r>
                  <a:rPr sz="2400">
                    <a:solidFill>
                      <a:srgbClr val="1E293B"/>
                    </a:solidFill>
                    <a:latin typeface="Calibri"/>
                  </a:rPr>
                  <a:t> − </a:t>
                </a:r>
                <a:r>
                  <a:rPr lang="vi-VN"/>
                  <a:t>\overrightarrow{OA}</a:t>
                </a:r>
                <a:r>
                  <a:rPr sz="2400">
                    <a:solidFill>
                      <a:srgbClr val="1E293B"/>
                    </a:solidFill>
                    <a:latin typeface="Calibri"/>
                  </a:rPr>
                  <a:t> = </a:t>
                </a:r>
                <a:r>
                  <a:rPr lang="vi-VN"/>
                  <a:t>\overrightarrow{OC}</a:t>
                </a:r>
                <a:r>
                  <a:rPr sz="2400">
                    <a:solidFill>
                      <a:srgbClr val="1E293B"/>
                    </a:solidFill>
                    <a:latin typeface="Calibri"/>
                  </a:rPr>
                  <a:t> − </a:t>
                </a:r>
                <a:r>
                  <a:rPr lang="vi-VN"/>
                  <a:t>\overrightarrow{OD}</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QUY TẮC HÌNH BÌNH HÀNH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13</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các điểm </a:t>
                </a:r>
                <a14:m>
                  <m:oMath xmlns:m="http://schemas.openxmlformats.org/officeDocument/2006/math">
                    <m:r>
                      <a:rPr lang="vi-VN" sz="2200" b="0">
                        <a:solidFill>
                          <a:srgbClr val="1E293B"/>
                        </a:solidFill>
                        <a:latin typeface="Cambria Math" panose="02040503050406030204" pitchFamily="18" charset="0"/>
                      </a:rPr>
                      <m:t>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D</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(xanh dương) thay đổi.</a:t>
                </a:r>
              </a:p>
              <a:p>
                <a:pPr algn="l" marL="365760" indent="-365760">
                  <a:spcAft>
                    <a:spcPts val="800"/>
                  </a:spcAft>
                  <a:buClr>
                    <a:srgbClr val="1E40AF"/>
                  </a:buClr>
                  <a:buFont typeface="Arial"/>
                  <a:buChar char="•"/>
                </a:pPr>
                <a:r>
                  <a:rPr sz="2200">
                    <a:solidFill>
                      <a:srgbClr val="1E293B"/>
                    </a:solidFill>
                    <a:latin typeface="Calibri"/>
                  </a:rPr>
                  <a:t>Vectơ tổng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(đỏ) luôn trùng đường chéo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hiệu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(cam) luôn bằng </a:t>
                </a:r>
                <a14:m>
                  <m:oMath xmlns:m="http://schemas.openxmlformats.org/officeDocument/2006/math">
                    <m:acc>
                      <m:accPr>
                        <m:chr m:val="⃗"/>
                      </m:accPr>
                      <m:e>
                        <m:r>
                          <a:rPr lang="vi-VN" sz="2200" b="0">
                            <a:solidFill>
                              <a:srgbClr val="1E293B"/>
                            </a:solidFill>
                            <a:latin typeface="Cambria Math" panose="02040503050406030204" pitchFamily="18" charset="0"/>
                          </a:rPr>
                          <m:t>DB</m:t>
                        </m:r>
                      </m:e>
                    </m:acc>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các điểm </a:t>
                </a:r>
                <a:r>
                  <a:rPr lang="vi-VN"/>
                  <a:t>B,\ D</a:t>
                </a:r>
                <a:r>
                  <a:rPr sz="2200">
                    <a:solidFill>
                      <a:srgbClr val="1E293B"/>
                    </a:solidFill>
                    <a:latin typeface="Calibri"/>
                  </a:rPr>
                  <a:t>: </a:t>
                </a:r>
                <a:r>
                  <a:rPr lang="vi-VN"/>
                  <a:t>\overrightarrow{AB}</a:t>
                </a:r>
                <a:r>
                  <a:rPr sz="2200">
                    <a:solidFill>
                      <a:srgbClr val="1E293B"/>
                    </a:solidFill>
                    <a:latin typeface="Calibri"/>
                  </a:rPr>
                  <a:t>, </a:t>
                </a:r>
                <a:r>
                  <a:rPr lang="vi-VN"/>
                  <a:t>\overrightarrow{AD}</a:t>
                </a:r>
                <a:r>
                  <a:rPr sz="2200">
                    <a:solidFill>
                      <a:srgbClr val="1E293B"/>
                    </a:solidFill>
                    <a:latin typeface="Calibri"/>
                  </a:rPr>
                  <a:t> (xanh dương) thay đổi.</a:t>
                </a:r>
              </a:p>
              <a:p>
                <a:pPr algn="l" marL="365760" indent="-365760">
                  <a:spcAft>
                    <a:spcPts val="800"/>
                  </a:spcAft>
                  <a:buClr>
                    <a:srgbClr val="1E40AF"/>
                  </a:buClr>
                  <a:buFont typeface="Arial"/>
                  <a:buChar char="•"/>
                </a:pPr>
                <a:r>
                  <a:rPr sz="2200">
                    <a:solidFill>
                      <a:srgbClr val="1E293B"/>
                    </a:solidFill>
                    <a:latin typeface="Calibri"/>
                  </a:rPr>
                  <a:t>Vectơ tổng </a:t>
                </a:r>
                <a:r>
                  <a:rPr lang="vi-VN"/>
                  <a:t>\overrightarrow{AB}</a:t>
                </a:r>
                <a:r>
                  <a:rPr sz="2200">
                    <a:solidFill>
                      <a:srgbClr val="1E293B"/>
                    </a:solidFill>
                    <a:latin typeface="Calibri"/>
                  </a:rPr>
                  <a:t> + </a:t>
                </a:r>
                <a:r>
                  <a:rPr lang="vi-VN"/>
                  <a:t>\overrightarrow{AD}</a:t>
                </a:r>
                <a:r>
                  <a:rPr sz="2200">
                    <a:solidFill>
                      <a:srgbClr val="1E293B"/>
                    </a:solidFill>
                    <a:latin typeface="Calibri"/>
                  </a:rPr>
                  <a:t> (đỏ) luôn trùng đường chéo </a:t>
                </a:r>
                <a:r>
                  <a:rPr lang="vi-VN"/>
                  <a:t>\overrightarrow{AC}</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hiệu </a:t>
                </a:r>
                <a:r>
                  <a:rPr lang="vi-VN"/>
                  <a:t>\overrightarrow{AB}</a:t>
                </a:r>
                <a:r>
                  <a:rPr sz="2200">
                    <a:solidFill>
                      <a:srgbClr val="1E293B"/>
                    </a:solidFill>
                    <a:latin typeface="Calibri"/>
                  </a:rPr>
                  <a:t> − </a:t>
                </a:r>
                <a:r>
                  <a:rPr lang="vi-VN"/>
                  <a:t>\overrightarrow{AD}</a:t>
                </a:r>
                <a:r>
                  <a:rPr sz="2200">
                    <a:solidFill>
                      <a:srgbClr val="1E293B"/>
                    </a:solidFill>
                    <a:latin typeface="Calibri"/>
                  </a:rPr>
                  <a:t> (cam) luôn bằng </a:t>
                </a:r>
                <a:r>
                  <a:rPr lang="vi-VN"/>
                  <a:t>\overrightarrow{DB}</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bh.png"/>
          <p:cNvPicPr>
            <a:picLocks noChangeAspect="1"/>
          </p:cNvPicPr>
          <p:nvPr/>
        </p:nvPicPr>
        <p:blipFill>
          <a:blip r:embed="rId5"/>
          <a:stretch>
            <a:fillRect/>
          </a:stretch>
        </p:blipFill>
        <p:spPr>
          <a:xfrm>
            <a:off x="6858000" y="2603235"/>
            <a:ext cx="4846320" cy="220016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TIẾP SỨC ĐỒNG ĐỘI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14</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4 đội, mỗi bạn lên bảng điền 1 ô rồi về chuyền phấn. Đội xong trước, đúng nhiều nhất thắng.</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bình hành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tâm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Điền vectơ thích hợp:</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bình hành </a:t>
                </a:r>
                <a:r>
                  <a:rPr lang="vi-VN"/>
                  <a:t>ABCD</a:t>
                </a:r>
                <a:r>
                  <a:rPr sz="2200">
                    <a:solidFill>
                      <a:srgbClr val="1E293B"/>
                    </a:solidFill>
                    <a:latin typeface="Calibri"/>
                  </a:rPr>
                  <a:t> tâm </a:t>
                </a:r>
                <a:r>
                  <a:rPr lang="vi-VN"/>
                  <a:t>O</a:t>
                </a:r>
                <a:r>
                  <a:rPr sz="2200">
                    <a:solidFill>
                      <a:srgbClr val="1E293B"/>
                    </a:solidFill>
                    <a:latin typeface="Calibri"/>
                  </a:rPr>
                  <a:t>. Điền vectơ thích hợp:</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p>
            </p:txBody>
          </p:sp>
        </mc:Choice>
        <mc:Fallback>
          <p:sp>
            <p:nvSpPr>
              <p:cNvPr id="9" name="TextBox 8"/>
              <p:cNvSpPr txBox="1"/>
              <p:nvPr/>
            </p:nvSpPr>
            <p:spPr>
              <a:xfrm>
                <a:off x="548640" y="2468879"/>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r>
                  <a:rPr lang="vi-VN"/>
                  <a:t>\overrightarrow{AB}</a:t>
                </a:r>
                <a:r>
                  <a:rPr sz="2400">
                    <a:solidFill>
                      <a:srgbClr val="1E293B"/>
                    </a:solidFill>
                    <a:latin typeface="Calibri"/>
                  </a:rPr>
                  <a:t> + </a:t>
                </a:r>
                <a:r>
                  <a:rPr lang="vi-VN"/>
                  <a:t>\overrightarrow{AD}</a:t>
                </a:r>
                <a:r>
                  <a:rPr sz="2400">
                    <a:solidFill>
                      <a:srgbClr val="1E293B"/>
                    </a:solidFill>
                    <a:latin typeface="Calibri"/>
                  </a:rPr>
                  <a:t> = ?</a:t>
                </a:r>
              </a:p>
            </p:txBody>
          </p:sp>
        </mc:Fallback>
      </mc:AlternateContent>
      <p:sp>
        <p:nvSpPr>
          <p:cNvPr id="10" name="s1_nen"/>
          <p:cNvSpPr/>
          <p:nvPr/>
        </p:nvSpPr>
        <p:spPr>
          <a:xfrm>
            <a:off x="5394960" y="242316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55955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AC</m:t>
                        </m:r>
                      </m:e>
                    </m:acc>
                  </m:oMath>
                </a14:m>
              </a:p>
            </p:txBody>
          </p:sp>
        </mc:Choice>
        <mc:Fallback>
          <p:sp>
            <p:nvSpPr>
              <p:cNvPr id="11" name="TextBox 10"/>
              <p:cNvSpPr txBox="1"/>
              <p:nvPr/>
            </p:nvSpPr>
            <p:spPr>
              <a:xfrm>
                <a:off x="555955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\overrightarrow{AC}</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p>
            </p:txBody>
          </p:sp>
        </mc:Choice>
        <mc:Fallback>
          <p:sp>
            <p:nvSpPr>
              <p:cNvPr id="12" name="TextBox 11"/>
              <p:cNvSpPr txBox="1"/>
              <p:nvPr/>
            </p:nvSpPr>
            <p:spPr>
              <a:xfrm>
                <a:off x="548640" y="3417570"/>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\overrightarrow{AB}</a:t>
                </a:r>
                <a:r>
                  <a:rPr sz="2400">
                    <a:solidFill>
                      <a:srgbClr val="1E293B"/>
                    </a:solidFill>
                    <a:latin typeface="Calibri"/>
                  </a:rPr>
                  <a:t> − </a:t>
                </a:r>
                <a:r>
                  <a:rPr lang="vi-VN"/>
                  <a:t>\overrightarrow{AD}</a:t>
                </a:r>
                <a:r>
                  <a:rPr sz="2400">
                    <a:solidFill>
                      <a:srgbClr val="1E293B"/>
                    </a:solidFill>
                    <a:latin typeface="Calibri"/>
                  </a:rPr>
                  <a:t> = ?</a:t>
                </a:r>
              </a:p>
            </p:txBody>
          </p:sp>
        </mc:Fallback>
      </mc:AlternateContent>
      <p:sp>
        <p:nvSpPr>
          <p:cNvPr id="13" name="s2_nen"/>
          <p:cNvSpPr/>
          <p:nvPr/>
        </p:nvSpPr>
        <p:spPr>
          <a:xfrm>
            <a:off x="5394960" y="337185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555955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DB</m:t>
                        </m:r>
                      </m:e>
                    </m:acc>
                  </m:oMath>
                </a14:m>
              </a:p>
            </p:txBody>
          </p:sp>
        </mc:Choice>
        <mc:Fallback>
          <p:sp>
            <p:nvSpPr>
              <p:cNvPr id="14" name="TextBox 13"/>
              <p:cNvSpPr txBox="1"/>
              <p:nvPr/>
            </p:nvSpPr>
            <p:spPr>
              <a:xfrm>
                <a:off x="555955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\overrightarrow{DB}</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48640" y="4366259"/>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OA</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OC</m:t>
                        </m:r>
                      </m:e>
                    </m:acc>
                  </m:oMath>
                </a14:m>
                <a:r>
                  <a:rPr sz="2400">
                    <a:solidFill>
                      <a:srgbClr val="1E293B"/>
                    </a:solidFill>
                    <a:latin typeface="Calibri"/>
                  </a:rPr>
                  <a:t> = ?</a:t>
                </a:r>
              </a:p>
            </p:txBody>
          </p:sp>
        </mc:Choice>
        <mc:Fallback>
          <p:sp>
            <p:nvSpPr>
              <p:cNvPr id="15" name="TextBox 14"/>
              <p:cNvSpPr txBox="1"/>
              <p:nvPr/>
            </p:nvSpPr>
            <p:spPr>
              <a:xfrm>
                <a:off x="548640" y="4366259"/>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\overrightarrow{OA}</a:t>
                </a:r>
                <a:r>
                  <a:rPr sz="2400">
                    <a:solidFill>
                      <a:srgbClr val="1E293B"/>
                    </a:solidFill>
                    <a:latin typeface="Calibri"/>
                  </a:rPr>
                  <a:t> + </a:t>
                </a:r>
                <a:r>
                  <a:rPr lang="vi-VN"/>
                  <a:t>\overrightarrow{OC}</a:t>
                </a:r>
                <a:r>
                  <a:rPr sz="2400">
                    <a:solidFill>
                      <a:srgbClr val="1E293B"/>
                    </a:solidFill>
                    <a:latin typeface="Calibri"/>
                  </a:rPr>
                  <a:t> = ?</a:t>
                </a:r>
              </a:p>
            </p:txBody>
          </p:sp>
        </mc:Fallback>
      </mc:AlternateContent>
      <p:sp>
        <p:nvSpPr>
          <p:cNvPr id="16" name="s3_nen"/>
          <p:cNvSpPr/>
          <p:nvPr/>
        </p:nvSpPr>
        <p:spPr>
          <a:xfrm>
            <a:off x="5394960" y="432054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559552" y="435711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0</m:t>
                        </m:r>
                      </m:e>
                    </m:acc>
                  </m:oMath>
                </a14:m>
              </a:p>
            </p:txBody>
          </p:sp>
        </mc:Choice>
        <mc:Fallback>
          <p:sp>
            <p:nvSpPr>
              <p:cNvPr id="17" name="TextBox 16"/>
              <p:cNvSpPr txBox="1"/>
              <p:nvPr/>
            </p:nvSpPr>
            <p:spPr>
              <a:xfrm>
                <a:off x="5559552" y="435711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\vec{0}</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548640" y="5314950"/>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BC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CA</m:t>
                        </m:r>
                      </m:e>
                    </m:acc>
                  </m:oMath>
                </a14:m>
                <a:r>
                  <a:rPr sz="2400">
                    <a:solidFill>
                      <a:srgbClr val="1E293B"/>
                    </a:solidFill>
                    <a:latin typeface="Calibri"/>
                  </a:rPr>
                  <a:t> = ?</a:t>
                </a:r>
              </a:p>
            </p:txBody>
          </p:sp>
        </mc:Choice>
        <mc:Fallback>
          <p:sp>
            <p:nvSpPr>
              <p:cNvPr id="18" name="TextBox 17"/>
              <p:cNvSpPr txBox="1"/>
              <p:nvPr/>
            </p:nvSpPr>
            <p:spPr>
              <a:xfrm>
                <a:off x="548640" y="5314950"/>
                <a:ext cx="47548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a:t>
                </a:r>
                <a:r>
                  <a:rPr lang="vi-VN"/>
                  <a:t>\overrightarrow{AB}</a:t>
                </a:r>
                <a:r>
                  <a:rPr sz="2400">
                    <a:solidFill>
                      <a:srgbClr val="1E293B"/>
                    </a:solidFill>
                    <a:latin typeface="Calibri"/>
                  </a:rPr>
                  <a:t> + </a:t>
                </a:r>
                <a:r>
                  <a:rPr lang="vi-VN"/>
                  <a:t>\overrightarrow{BC}</a:t>
                </a:r>
                <a:r>
                  <a:rPr sz="2400">
                    <a:solidFill>
                      <a:srgbClr val="1E293B"/>
                    </a:solidFill>
                    <a:latin typeface="Calibri"/>
                  </a:rPr>
                  <a:t> + </a:t>
                </a:r>
                <a:r>
                  <a:rPr lang="vi-VN"/>
                  <a:t>\overrightarrow{CA}</a:t>
                </a:r>
                <a:r>
                  <a:rPr sz="2400">
                    <a:solidFill>
                      <a:srgbClr val="1E293B"/>
                    </a:solidFill>
                    <a:latin typeface="Calibri"/>
                  </a:rPr>
                  <a:t> = ?</a:t>
                </a:r>
              </a:p>
            </p:txBody>
          </p:sp>
        </mc:Fallback>
      </mc:AlternateContent>
      <p:sp>
        <p:nvSpPr>
          <p:cNvPr id="19" name="s4_nen"/>
          <p:cNvSpPr/>
          <p:nvPr/>
        </p:nvSpPr>
        <p:spPr>
          <a:xfrm>
            <a:off x="5394960" y="526923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559552" y="530580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0</m:t>
                        </m:r>
                      </m:e>
                    </m:acc>
                  </m:oMath>
                </a14:m>
              </a:p>
            </p:txBody>
          </p:sp>
        </mc:Choice>
        <mc:Fallback>
          <p:sp>
            <p:nvSpPr>
              <p:cNvPr id="20" name="TextBox 19"/>
              <p:cNvSpPr txBox="1"/>
              <p:nvPr/>
            </p:nvSpPr>
            <p:spPr>
              <a:xfrm>
                <a:off x="5559552" y="530580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\vec{0}</a:t>
                </a:r>
              </a:p>
            </p:txBody>
          </p:sp>
        </mc:Fallback>
      </mc:AlternateContent>
      <p:pic>
        <p:nvPicPr>
          <p:cNvPr id="21" name="Picture 20" descr="hbh.png"/>
          <p:cNvPicPr>
            <a:picLocks noChangeAspect="1"/>
          </p:cNvPicPr>
          <p:nvPr/>
        </p:nvPicPr>
        <p:blipFill>
          <a:blip r:embed="rId3"/>
          <a:stretch>
            <a:fillRect/>
          </a:stretch>
        </p:blipFill>
        <p:spPr>
          <a:xfrm>
            <a:off x="8412480" y="2727493"/>
            <a:ext cx="3291840" cy="14944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15</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Quy tắc ba điểm: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quy tắc hình bình hành: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đối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hiệu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oMath>
                </a14:m>
                <a:r>
                  <a:rPr sz="2200">
                    <a:solidFill>
                      <a:srgbClr val="1E293B"/>
                    </a:solidFill>
                    <a:latin typeface="Calibri"/>
                  </a:rPr>
                  <a:t>; quy tắc hiệu: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Quy tắc ba điểm: </a:t>
                </a:r>
                <a:r>
                  <a:rPr lang="vi-VN"/>
                  <a:t>\overrightarrow{AB}</a:t>
                </a:r>
                <a:r>
                  <a:rPr sz="2200">
                    <a:solidFill>
                      <a:srgbClr val="1E293B"/>
                    </a:solidFill>
                    <a:latin typeface="Calibri"/>
                  </a:rPr>
                  <a:t> + </a:t>
                </a:r>
                <a:r>
                  <a:rPr lang="vi-VN"/>
                  <a:t>\overrightarrow{BC}</a:t>
                </a:r>
                <a:r>
                  <a:rPr sz="2200">
                    <a:solidFill>
                      <a:srgbClr val="1E293B"/>
                    </a:solidFill>
                    <a:latin typeface="Calibri"/>
                  </a:rPr>
                  <a:t> = </a:t>
                </a:r>
                <a:r>
                  <a:rPr lang="vi-VN"/>
                  <a:t>\overrightarrow{AC}</a:t>
                </a:r>
                <a:r>
                  <a:rPr sz="2200">
                    <a:solidFill>
                      <a:srgbClr val="1E293B"/>
                    </a:solidFill>
                    <a:latin typeface="Calibri"/>
                  </a:rPr>
                  <a:t>; quy tắc hình bình hành: </a:t>
                </a:r>
                <a:r>
                  <a:rPr lang="vi-VN"/>
                  <a:t>\overrightarrow{AB}</a:t>
                </a:r>
                <a:r>
                  <a:rPr sz="2200">
                    <a:solidFill>
                      <a:srgbClr val="1E293B"/>
                    </a:solidFill>
                    <a:latin typeface="Calibri"/>
                  </a:rPr>
                  <a:t> + </a:t>
                </a:r>
                <a:r>
                  <a:rPr lang="vi-VN"/>
                  <a:t>\overrightarrow{AD}</a:t>
                </a:r>
                <a:r>
                  <a:rPr sz="2200">
                    <a:solidFill>
                      <a:srgbClr val="1E293B"/>
                    </a:solidFill>
                    <a:latin typeface="Calibri"/>
                  </a:rPr>
                  <a:t> = </a:t>
                </a:r>
                <a:r>
                  <a:rPr lang="vi-VN"/>
                  <a:t>\overrightarrow{AC}</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đối </a:t>
                </a:r>
                <a:r>
                  <a:rPr lang="vi-VN"/>
                  <a:t>-\vec{a}</a:t>
                </a:r>
                <a:r>
                  <a:rPr sz="2200">
                    <a:solidFill>
                      <a:srgbClr val="1E293B"/>
                    </a:solidFill>
                    <a:latin typeface="Calibri"/>
                  </a:rPr>
                  <a:t>; hiệu </a:t>
                </a:r>
                <a:r>
                  <a:rPr lang="vi-VN"/>
                  <a:t>\vec{a}-\vec{b}=\vec{a}+(-\vec{b})</a:t>
                </a:r>
                <a:r>
                  <a:rPr sz="2200">
                    <a:solidFill>
                      <a:srgbClr val="1E293B"/>
                    </a:solidFill>
                    <a:latin typeface="Calibri"/>
                  </a:rPr>
                  <a:t>; quy tắc hiệu: </a:t>
                </a:r>
                <a:r>
                  <a:rPr lang="vi-VN"/>
                  <a:t>\overrightarrow{MN}</a:t>
                </a:r>
                <a:r>
                  <a:rPr sz="2200">
                    <a:solidFill>
                      <a:srgbClr val="1E293B"/>
                    </a:solidFill>
                    <a:latin typeface="Calibri"/>
                  </a:rPr>
                  <a:t> = </a:t>
                </a:r>
                <a:r>
                  <a:rPr lang="vi-VN"/>
                  <a:t>\overrightarrow{ON}</a:t>
                </a:r>
                <a:r>
                  <a:rPr sz="2200">
                    <a:solidFill>
                      <a:srgbClr val="1E293B"/>
                    </a:solidFill>
                    <a:latin typeface="Calibri"/>
                  </a:rPr>
                  <a:t> − </a:t>
                </a:r>
                <a:r>
                  <a:rPr lang="vi-VN"/>
                  <a:t>\overrightarrow{OM}</a:t>
                </a:r>
                <a:r>
                  <a:rPr sz="2200">
                    <a:solidFill>
                      <a:srgbClr val="1E293B"/>
                    </a:solidFill>
                    <a:latin typeface="Calibri"/>
                  </a:rPr>
                  <a:t>.</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4.6, 4.7 (SGK tr.54).</a:t>
            </a:r>
          </a:p>
          <a:p>
            <a:pPr algn="l" marL="365760" indent="-365760">
              <a:spcAft>
                <a:spcPts val="800"/>
              </a:spcAft>
              <a:buClr>
                <a:srgbClr val="1E40AF"/>
              </a:buClr>
              <a:buFont typeface="Arial"/>
              <a:buChar char="•"/>
            </a:pPr>
            <a:r>
              <a:rPr sz="2200">
                <a:solidFill>
                  <a:srgbClr val="1E293B"/>
                </a:solidFill>
                <a:latin typeface="Calibri"/>
              </a:rPr>
              <a:t>Đọc trước Ví dụ 3, Ví dụ 4 (SGK tr.53 – 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(T29)</a:t>
            </a:r>
          </a:p>
          <a:p>
            <a:pPr>
              <a:spcAft>
                <a:spcPts val="600"/>
              </a:spcAft>
            </a:pPr>
            <a:r>
              <a:rPr sz="4000" b="1">
                <a:solidFill>
                  <a:srgbClr val="FFFFFF"/>
                </a:solidFill>
                <a:latin typeface="Cambria"/>
              </a:rPr>
              <a:t>Trung điểm, trọng tâm. Tổng hợp lực, vận tốc</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Mô tả trung điểm đoạn thẳng, trọng tâm tam giác bằng vectơ.</a:t>
            </a:r>
          </a:p>
          <a:p>
            <a:pPr algn="l">
              <a:spcAft>
                <a:spcPts val="800"/>
              </a:spcAft>
            </a:pPr>
            <a:r>
              <a:rPr sz="2200">
                <a:solidFill>
                  <a:srgbClr val="E0E7FF"/>
                </a:solidFill>
                <a:latin typeface="Calibri"/>
              </a:rPr>
              <a:t>• Vận dụng phép cộng vectơ trong tổng hợp lực, tổng hợp vận tốc.</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HỘP QUÀ BÍ MẬT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17</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Cho hình vuông </a:t>
                </a:r>
                <a14:m>
                  <m:oMath xmlns:m="http://schemas.openxmlformats.org/officeDocument/2006/math">
                    <m:r>
                      <a:rPr lang="vi-VN" sz="2400" b="0">
                        <a:solidFill>
                          <a:srgbClr val="1E293B"/>
                        </a:solidFill>
                        <a:latin typeface="Cambria Math" panose="02040503050406030204" pitchFamily="18" charset="0"/>
                      </a:rPr>
                      <m:t>ABCD</m:t>
                    </m:r>
                  </m:oMath>
                </a14:m>
                <a:r>
                  <a:rPr sz="2400">
                    <a:solidFill>
                      <a:srgbClr val="1E293B"/>
                    </a:solidFill>
                    <a:latin typeface="Calibri"/>
                  </a:rPr>
                  <a:t> cạnh bằng 1, tâm </a:t>
                </a:r>
                <a14:m>
                  <m:oMath xmlns:m="http://schemas.openxmlformats.org/officeDocument/2006/math">
                    <m:r>
                      <a:rPr lang="vi-VN" sz="2400" b="0">
                        <a:solidFill>
                          <a:srgbClr val="1E293B"/>
                        </a:solidFill>
                        <a:latin typeface="Cambria Math" panose="02040503050406030204" pitchFamily="18" charset="0"/>
                      </a:rPr>
                      <m:t>O</m:t>
                    </m:r>
                  </m:oMath>
                </a14:m>
                <a:r>
                  <a:rPr sz="2400">
                    <a:solidFill>
                      <a:srgbClr val="1E293B"/>
                    </a:solidFill>
                    <a:latin typeface="Calibri"/>
                  </a:rPr>
                  <a:t>. Chọn một hộp quà!</a:t>
                </a:r>
              </a:p>
            </p:txBody>
          </p:sp>
        </mc:Choice>
        <mc:Fallback>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Cho hình vuông </a:t>
                </a:r>
                <a:r>
                  <a:rPr lang="vi-VN"/>
                  <a:t>ABCD</a:t>
                </a:r>
                <a:r>
                  <a:rPr sz="2400">
                    <a:solidFill>
                      <a:srgbClr val="1E293B"/>
                    </a:solidFill>
                    <a:latin typeface="Calibri"/>
                  </a:rPr>
                  <a:t> cạnh bằng 1, tâm </a:t>
                </a:r>
                <a:r>
                  <a:rPr lang="vi-VN"/>
                  <a:t>O</a:t>
                </a:r>
                <a:r>
                  <a:rPr sz="2400">
                    <a:solidFill>
                      <a:srgbClr val="1E293B"/>
                    </a:solidFill>
                    <a:latin typeface="Calibri"/>
                  </a:rPr>
                  <a:t>. Chọn một hộp quà!</a:t>
                </a:r>
              </a:p>
            </p:txBody>
          </p:sp>
        </mc:Fallback>
      </mc:AlternateContent>
      <p:sp>
        <p:nvSpPr>
          <p:cNvPr id="8" name="Rounded Rectangle 7">
            <a:hlinkClick action="ppaction://hlinksldjump" r:id="rId3"/>
          </p:cNvPr>
          <p:cNvSpPr/>
          <p:nvPr/>
        </p:nvSpPr>
        <p:spPr>
          <a:xfrm>
            <a:off x="914399" y="2468880"/>
            <a:ext cx="2377440" cy="21945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1</a:t>
            </a:r>
          </a:p>
        </p:txBody>
      </p:sp>
      <p:sp>
        <p:nvSpPr>
          <p:cNvPr id="9" name="Rounded Rectangle 8">
            <a:hlinkClick action="ppaction://hlinksldjump" r:id="rId4"/>
          </p:cNvPr>
          <p:cNvSpPr/>
          <p:nvPr/>
        </p:nvSpPr>
        <p:spPr>
          <a:xfrm>
            <a:off x="3566159" y="2468880"/>
            <a:ext cx="2377440" cy="219456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2</a:t>
            </a:r>
          </a:p>
        </p:txBody>
      </p:sp>
      <p:sp>
        <p:nvSpPr>
          <p:cNvPr id="10" name="Rounded Rectangle 9">
            <a:hlinkClick action="ppaction://hlinksldjump" r:id="rId5"/>
          </p:cNvPr>
          <p:cNvSpPr/>
          <p:nvPr/>
        </p:nvSpPr>
        <p:spPr>
          <a:xfrm>
            <a:off x="6217920" y="2468880"/>
            <a:ext cx="2377440" cy="21945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3</a:t>
            </a:r>
          </a:p>
        </p:txBody>
      </p:sp>
      <p:sp>
        <p:nvSpPr>
          <p:cNvPr id="11" name="Rounded Rectangle 10">
            <a:hlinkClick action="ppaction://hlinksldjump" r:id="rId6"/>
          </p:cNvPr>
          <p:cNvSpPr/>
          <p:nvPr/>
        </p:nvSpPr>
        <p:spPr>
          <a:xfrm>
            <a:off x="8869680" y="2468880"/>
            <a:ext cx="2377440" cy="21945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4</a:t>
            </a:r>
          </a:p>
        </p:txBody>
      </p:sp>
      <p:sp>
        <p:nvSpPr>
          <p:cNvPr id="12" name="TextBox 11"/>
          <p:cNvSpPr txBox="1"/>
          <p:nvPr/>
        </p:nvSpPr>
        <p:spPr>
          <a:xfrm>
            <a:off x="548640" y="5029200"/>
            <a:ext cx="11064240" cy="731520"/>
          </a:xfrm>
          <a:prstGeom prst="rect">
            <a:avLst/>
          </a:prstGeom>
          <a:noFill/>
        </p:spPr>
        <p:txBody>
          <a:bodyPr wrap="square" anchor="t" lIns="45720" rIns="45720">
            <a:spAutoFit/>
          </a:bodyPr>
          <a:lstStyle/>
          <a:p>
            <a:pPr algn="ctr">
              <a:spcAft>
                <a:spcPts val="800"/>
              </a:spcAft>
            </a:pPr>
            <a:r>
              <a:rPr sz="2000">
                <a:solidFill>
                  <a:srgbClr val="64748B"/>
                </a:solidFill>
                <a:latin typeface="Calibri"/>
              </a:rPr>
              <a:t>📋 Mỗi đội chọn 1 hộp – trả lời đúng trong 30 giây nhận quà ghi trong hộp.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18</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14:m>
                  <m:oMath xmlns:m="http://schemas.openxmlformats.org/officeDocument/2006/math">
                    <m:d>
                      <m:dPr>
                        <m:begChr m:val="|"/>
                        <m:sepChr m:val="+"/>
                        <m:endChr m:val="|"/>
                      </m:dPr>
                      <m:e>
                        <m:acc>
                          <m:accPr>
                            <m:chr m:val="⃗"/>
                          </m:accPr>
                          <m:e>
                            <m:r>
                              <a:rPr lang="vi-VN" sz="2600" b="0">
                                <a:solidFill>
                                  <a:srgbClr val="1E293B"/>
                                </a:solidFill>
                                <a:latin typeface="Cambria Math" panose="02040503050406030204" pitchFamily="18" charset="0"/>
                              </a:rPr>
                              <m:t>AB</m:t>
                            </m:r>
                          </m:e>
                        </m:acc>
                      </m:e>
                      <m:e>
                        <m:acc>
                          <m:accPr>
                            <m:chr m:val="⃗"/>
                          </m:accPr>
                          <m:e>
                            <m:r>
                              <a:rPr lang="vi-VN" sz="2600" b="0">
                                <a:solidFill>
                                  <a:srgbClr val="1E293B"/>
                                </a:solidFill>
                                <a:latin typeface="Cambria Math" panose="02040503050406030204" pitchFamily="18" charset="0"/>
                              </a:rPr>
                              <m:t>AD</m:t>
                            </m:r>
                          </m:e>
                        </m:acc>
                      </m:e>
                    </m:d>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r>
                  <a:rPr lang="vi-VN"/>
                  <a:t>|\overrightarrow{AB}+\overrightarrow{AD}|</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rad>
                      <m:radPr>
                        <m:degHide m:val="on"/>
                      </m:radPr>
                      <m:deg/>
                      <m:e>
                        <m:r>
                          <a:rPr lang="vi-VN" sz="2400" b="0">
                            <a:solidFill>
                              <a:srgbClr val="1E293B"/>
                            </a:solidFill>
                            <a:latin typeface="Cambria Math" panose="02040503050406030204" pitchFamily="18" charset="0"/>
                          </a:rPr>
                          <m:t>2</m:t>
                        </m:r>
                      </m:e>
                    </m:rad>
                  </m:oMath>
                </a14:m>
                <a:r>
                  <a:rPr sz="2400">
                    <a:solidFill>
                      <a:srgbClr val="1E293B"/>
                    </a:solidFill>
                    <a:latin typeface="Calibri"/>
                  </a:rPr>
                  <a:t> – quy tắc hình bình hành: bằng </a:t>
                </a:r>
                <a14:m>
                  <m:oMath xmlns:m="http://schemas.openxmlformats.org/officeDocument/2006/math">
                    <m:r>
                      <a:rPr lang="vi-VN" sz="2400" b="0">
                        <a:solidFill>
                          <a:srgbClr val="1E293B"/>
                        </a:solidFill>
                        <a:latin typeface="Cambria Math" panose="02040503050406030204" pitchFamily="18" charset="0"/>
                      </a:rPr>
                      <m:t>AC</m:t>
                    </m:r>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\sqrt{2}</a:t>
                </a:r>
                <a:r>
                  <a:rPr sz="2400">
                    <a:solidFill>
                      <a:srgbClr val="1E293B"/>
                    </a:solidFill>
                    <a:latin typeface="Calibri"/>
                  </a:rPr>
                  <a:t> – quy tắc hình bình hành: bằng </a:t>
                </a:r>
                <a:r>
                  <a:rPr lang="vi-VN"/>
                  <a:t>AC</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Một tràng pháo tay</a:t>
            </a:r>
          </a:p>
        </p:txBody>
      </p:sp>
      <p:pic>
        <p:nvPicPr>
          <p:cNvPr id="12" name="Picture 11" descr="h49.png"/>
          <p:cNvPicPr>
            <a:picLocks noChangeAspect="1"/>
          </p:cNvPicPr>
          <p:nvPr/>
        </p:nvPicPr>
        <p:blipFill>
          <a:blip r:embed="rId3"/>
          <a:stretch>
            <a:fillRect/>
          </a:stretch>
        </p:blipFill>
        <p:spPr>
          <a:xfrm>
            <a:off x="8412480" y="1907020"/>
            <a:ext cx="3291840" cy="2221000"/>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19</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14:m>
                  <m:oMath xmlns:m="http://schemas.openxmlformats.org/officeDocument/2006/math">
                    <m:d>
                      <m:dPr>
                        <m:begChr m:val="|"/>
                        <m:sepChr m:val=""/>
                        <m:endChr m:val="|"/>
                      </m:dPr>
                      <m:e>
                        <m:acc>
                          <m:accPr>
                            <m:chr m:val="⃗"/>
                          </m:accPr>
                          <m:e>
                            <m:r>
                              <a:rPr lang="vi-VN" sz="2600" b="0">
                                <a:solidFill>
                                  <a:srgbClr val="1E293B"/>
                                </a:solidFill>
                                <a:latin typeface="Cambria Math" panose="02040503050406030204" pitchFamily="18" charset="0"/>
                              </a:rPr>
                              <m:t>AB</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AD</m:t>
                            </m:r>
                          </m:e>
                        </m:acc>
                      </m:e>
                    </m:d>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r>
                  <a:rPr lang="vi-VN"/>
                  <a:t>|\overrightarrow{AB}-\overrightarrow{AD}|</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rad>
                      <m:radPr>
                        <m:degHide m:val="on"/>
                      </m:radPr>
                      <m:deg/>
                      <m:e>
                        <m:r>
                          <a:rPr lang="vi-VN" sz="2400" b="0">
                            <a:solidFill>
                              <a:srgbClr val="1E293B"/>
                            </a:solidFill>
                            <a:latin typeface="Cambria Math" panose="02040503050406030204" pitchFamily="18" charset="0"/>
                          </a:rPr>
                          <m:t>2</m:t>
                        </m:r>
                      </m:e>
                    </m:rad>
                  </m:oMath>
                </a14:m>
                <a:r>
                  <a:rPr sz="2400">
                    <a:solidFill>
                      <a:srgbClr val="1E293B"/>
                    </a:solidFill>
                    <a:latin typeface="Calibri"/>
                  </a:rPr>
                  <a:t> – quy tắc hiệu: bằng </a:t>
                </a:r>
                <a14:m>
                  <m:oMath xmlns:m="http://schemas.openxmlformats.org/officeDocument/2006/math">
                    <m:d>
                      <m:dPr>
                        <m:begChr m:val="|"/>
                        <m:sepChr m:val=""/>
                        <m:endChr m:val="|"/>
                      </m:dPr>
                      <m:e>
                        <m:acc>
                          <m:accPr>
                            <m:chr m:val="⃗"/>
                          </m:accPr>
                          <m:e>
                            <m:r>
                              <a:rPr lang="vi-VN" sz="2400" b="0">
                                <a:solidFill>
                                  <a:srgbClr val="1E293B"/>
                                </a:solidFill>
                                <a:latin typeface="Cambria Math" panose="02040503050406030204" pitchFamily="18" charset="0"/>
                              </a:rPr>
                              <m:t>DB</m:t>
                            </m:r>
                          </m:e>
                        </m:acc>
                      </m:e>
                    </m:d>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\sqrt{2}</a:t>
                </a:r>
                <a:r>
                  <a:rPr sz="2400">
                    <a:solidFill>
                      <a:srgbClr val="1E293B"/>
                    </a:solidFill>
                    <a:latin typeface="Calibri"/>
                  </a:rPr>
                  <a:t> – quy tắc hiệu: bằng </a:t>
                </a:r>
                <a:r>
                  <a:rPr lang="vi-VN"/>
                  <a:t>|\overrightarrow{DB}|</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49.png"/>
          <p:cNvPicPr>
            <a:picLocks noChangeAspect="1"/>
          </p:cNvPicPr>
          <p:nvPr/>
        </p:nvPicPr>
        <p:blipFill>
          <a:blip r:embed="rId3"/>
          <a:stretch>
            <a:fillRect/>
          </a:stretch>
        </p:blipFill>
        <p:spPr>
          <a:xfrm>
            <a:off x="8412480" y="1907020"/>
            <a:ext cx="3291840" cy="2221000"/>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20</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14:m>
                  <m:oMath xmlns:m="http://schemas.openxmlformats.org/officeDocument/2006/math">
                    <m:d>
                      <m:dPr>
                        <m:begChr m:val="|"/>
                        <m:sepChr m:val="+"/>
                        <m:endChr m:val="|"/>
                      </m:dPr>
                      <m:e>
                        <m:acc>
                          <m:accPr>
                            <m:chr m:val="⃗"/>
                          </m:accPr>
                          <m:e>
                            <m:r>
                              <a:rPr lang="vi-VN" sz="2600" b="0">
                                <a:solidFill>
                                  <a:srgbClr val="1E293B"/>
                                </a:solidFill>
                                <a:latin typeface="Cambria Math" panose="02040503050406030204" pitchFamily="18" charset="0"/>
                              </a:rPr>
                              <m:t>OA</m:t>
                            </m:r>
                          </m:e>
                        </m:acc>
                      </m:e>
                      <m:e>
                        <m:acc>
                          <m:accPr>
                            <m:chr m:val="⃗"/>
                          </m:accPr>
                          <m:e>
                            <m:r>
                              <a:rPr lang="vi-VN" sz="2600" b="0">
                                <a:solidFill>
                                  <a:srgbClr val="1E293B"/>
                                </a:solidFill>
                                <a:latin typeface="Cambria Math" panose="02040503050406030204" pitchFamily="18" charset="0"/>
                              </a:rPr>
                              <m:t>OC</m:t>
                            </m:r>
                          </m:e>
                        </m:acc>
                      </m:e>
                    </m:d>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r>
                  <a:rPr lang="vi-VN"/>
                  <a:t>|\overrightarrow{OA}+\overrightarrow{OC}|</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m:t>
                    </m:r>
                  </m:oMath>
                </a14:m>
                <a:r>
                  <a:rPr sz="2400">
                    <a:solidFill>
                      <a:srgbClr val="1E293B"/>
                    </a:solidFill>
                    <a:latin typeface="Calibri"/>
                  </a:rPr>
                  <a:t> – hai vectơ đối nhau.</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0</a:t>
                </a:r>
                <a:r>
                  <a:rPr sz="2400">
                    <a:solidFill>
                      <a:srgbClr val="1E293B"/>
                    </a:solidFill>
                    <a:latin typeface="Calibri"/>
                  </a:rPr>
                  <a:t> – hai vectơ đối nhau.</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Quyền chọn bạn trả lời câu tiếp</a:t>
            </a:r>
          </a:p>
        </p:txBody>
      </p:sp>
      <p:pic>
        <p:nvPicPr>
          <p:cNvPr id="12" name="Picture 11" descr="h49.png"/>
          <p:cNvPicPr>
            <a:picLocks noChangeAspect="1"/>
          </p:cNvPicPr>
          <p:nvPr/>
        </p:nvPicPr>
        <p:blipFill>
          <a:blip r:embed="rId3"/>
          <a:stretch>
            <a:fillRect/>
          </a:stretch>
        </p:blipFill>
        <p:spPr>
          <a:xfrm>
            <a:off x="8412480" y="1907020"/>
            <a:ext cx="3291840" cy="2221000"/>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21</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14:m>
                  <m:oMath xmlns:m="http://schemas.openxmlformats.org/officeDocument/2006/math">
                    <m:d>
                      <m:dPr>
                        <m:begChr m:val="|"/>
                        <m:sepChr m:val="+"/>
                        <m:endChr m:val="|"/>
                      </m:dPr>
                      <m:e>
                        <m:acc>
                          <m:accPr>
                            <m:chr m:val="⃗"/>
                          </m:accPr>
                          <m:e>
                            <m:r>
                              <a:rPr lang="vi-VN" sz="2600" b="0">
                                <a:solidFill>
                                  <a:srgbClr val="1E293B"/>
                                </a:solidFill>
                                <a:latin typeface="Cambria Math" panose="02040503050406030204" pitchFamily="18" charset="0"/>
                              </a:rPr>
                              <m:t>OA</m:t>
                            </m:r>
                          </m:e>
                        </m:acc>
                      </m:e>
                      <m:e>
                        <m:acc>
                          <m:accPr>
                            <m:chr m:val="⃗"/>
                          </m:accPr>
                          <m:e>
                            <m:r>
                              <a:rPr lang="vi-VN" sz="2600" b="0">
                                <a:solidFill>
                                  <a:srgbClr val="1E293B"/>
                                </a:solidFill>
                                <a:latin typeface="Cambria Math" panose="02040503050406030204" pitchFamily="18" charset="0"/>
                              </a:rPr>
                              <m:t>OB</m:t>
                            </m:r>
                          </m:e>
                        </m:acc>
                      </m:e>
                    </m:d>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a:t>
                </a:r>
                <a:r>
                  <a:rPr lang="vi-VN"/>
                  <a:t>|\overrightarrow{OA}+\overrightarrow{OB}|</a:t>
                </a:r>
                <a:r>
                  <a:rPr sz="2600">
                    <a:solidFill>
                      <a:srgbClr val="1E293B"/>
                    </a:solidFill>
                    <a:latin typeface="Calibri"/>
                  </a:rPr>
                  <a:t>.</a:t>
                </a:r>
              </a:p>
            </p:txBody>
          </p:sp>
        </mc:Fallback>
      </mc:AlternateContent>
      <p:sp>
        <p:nvSpPr>
          <p:cNvPr id="8" name="s1_nen"/>
          <p:cNvSpPr/>
          <p:nvPr/>
        </p:nvSpPr>
        <p:spPr>
          <a:xfrm>
            <a:off x="548640" y="3017520"/>
            <a:ext cx="768096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92354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r>
                  <a:rPr sz="2400">
                    <a:solidFill>
                      <a:srgbClr val="1E293B"/>
                    </a:solidFill>
                    <a:latin typeface="Calibri"/>
                  </a:rPr>
                  <a:t> – bằng </a:t>
                </a:r>
                <a14:m>
                  <m:oMath xmlns:m="http://schemas.openxmlformats.org/officeDocument/2006/math">
                    <m:r>
                      <a:rPr lang="vi-VN" sz="2400" b="0">
                        <a:solidFill>
                          <a:srgbClr val="1E293B"/>
                        </a:solidFill>
                        <a:latin typeface="Cambria Math" panose="02040503050406030204" pitchFamily="18" charset="0"/>
                      </a:rPr>
                      <m:t>2|</m:t>
                    </m:r>
                    <m:acc>
                      <m:accPr>
                        <m:chr m:val="⃗"/>
                      </m:accPr>
                      <m:e>
                        <m:r>
                          <a:rPr lang="vi-VN" sz="2400" b="0">
                            <a:solidFill>
                              <a:srgbClr val="1E293B"/>
                            </a:solidFill>
                            <a:latin typeface="Cambria Math" panose="02040503050406030204" pitchFamily="18" charset="0"/>
                          </a:rPr>
                          <m:t>OI</m:t>
                        </m:r>
                      </m:e>
                    </m:acc>
                    <m:r>
                      <a:rPr lang="vi-VN" sz="2400" b="0">
                        <a:solidFill>
                          <a:srgbClr val="1E293B"/>
                        </a:solidFill>
                        <a:latin typeface="Cambria Math" panose="02040503050406030204" pitchFamily="18" charset="0"/>
                      </a:rPr>
                      <m:t>|</m:t>
                    </m:r>
                  </m:oMath>
                </a14:m>
                <a:r>
                  <a:rPr sz="2400">
                    <a:solidFill>
                      <a:srgbClr val="1E293B"/>
                    </a:solidFill>
                    <a:latin typeface="Calibri"/>
                  </a:rPr>
                  <a:t> với </a:t>
                </a:r>
                <a14:m>
                  <m:oMath xmlns:m="http://schemas.openxmlformats.org/officeDocument/2006/math">
                    <m:r>
                      <a:rPr lang="vi-VN" sz="2400" b="0">
                        <a:solidFill>
                          <a:srgbClr val="1E293B"/>
                        </a:solidFill>
                        <a:latin typeface="Cambria Math" panose="02040503050406030204" pitchFamily="18" charset="0"/>
                      </a:rPr>
                      <m:t>I</m:t>
                    </m:r>
                  </m:oMath>
                </a14:m>
                <a:r>
                  <a:rPr sz="2400">
                    <a:solidFill>
                      <a:srgbClr val="1E293B"/>
                    </a:solidFill>
                    <a:latin typeface="Calibri"/>
                  </a:rPr>
                  <a:t> trung điểm </a:t>
                </a:r>
                <a14:m>
                  <m:oMath xmlns:m="http://schemas.openxmlformats.org/officeDocument/2006/math">
                    <m:r>
                      <a:rPr lang="vi-VN" sz="2400" b="0">
                        <a:solidFill>
                          <a:srgbClr val="1E293B"/>
                        </a:solidFill>
                        <a:latin typeface="Cambria Math" panose="02040503050406030204" pitchFamily="18" charset="0"/>
                      </a:rPr>
                      <m:t>AB</m:t>
                    </m:r>
                  </m:oMath>
                </a14:m>
                <a:r>
                  <a:rPr sz="2400">
                    <a:solidFill>
                      <a:srgbClr val="1E293B"/>
                    </a:solidFill>
                    <a:latin typeface="Calibri"/>
                  </a:rPr>
                  <a:t> (sẽ học ở Ví dụ 3).</a:t>
                </a:r>
              </a:p>
            </p:txBody>
          </p:sp>
        </mc:Choice>
        <mc:Fallback>
          <p:sp>
            <p:nvSpPr>
              <p:cNvPr id="9" name="TextBox 8"/>
              <p:cNvSpPr txBox="1"/>
              <p:nvPr/>
            </p:nvSpPr>
            <p:spPr>
              <a:xfrm>
                <a:off x="713232" y="3054096"/>
                <a:ext cx="7351776" cy="92354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1</a:t>
                </a:r>
                <a:r>
                  <a:rPr sz="2400">
                    <a:solidFill>
                      <a:srgbClr val="1E293B"/>
                    </a:solidFill>
                    <a:latin typeface="Calibri"/>
                  </a:rPr>
                  <a:t> – bằng </a:t>
                </a:r>
                <a:r>
                  <a:rPr lang="vi-VN"/>
                  <a:t>2|\overrightarrow{OI}|</a:t>
                </a:r>
                <a:r>
                  <a:rPr sz="2400">
                    <a:solidFill>
                      <a:srgbClr val="1E293B"/>
                    </a:solidFill>
                    <a:latin typeface="Calibri"/>
                  </a:rPr>
                  <a:t> với </a:t>
                </a:r>
                <a:r>
                  <a:rPr lang="vi-VN"/>
                  <a:t>I</a:t>
                </a:r>
                <a:r>
                  <a:rPr sz="2400">
                    <a:solidFill>
                      <a:srgbClr val="1E293B"/>
                    </a:solidFill>
                    <a:latin typeface="Calibri"/>
                  </a:rPr>
                  <a:t> trung điểm </a:t>
                </a:r>
                <a:r>
                  <a:rPr lang="vi-VN"/>
                  <a:t>AB</a:t>
                </a:r>
                <a:r>
                  <a:rPr sz="2400">
                    <a:solidFill>
                      <a:srgbClr val="1E293B"/>
                    </a:solidFill>
                    <a:latin typeface="Calibri"/>
                  </a:rPr>
                  <a:t> (sẽ học ở Ví dụ 3).</a:t>
                </a:r>
              </a:p>
            </p:txBody>
          </p:sp>
        </mc:Fallback>
      </mc:AlternateContent>
      <p:sp>
        <p:nvSpPr>
          <p:cNvPr id="10" name="s2_nen"/>
          <p:cNvSpPr/>
          <p:nvPr/>
        </p:nvSpPr>
        <p:spPr>
          <a:xfrm>
            <a:off x="548640" y="4197096"/>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4233672"/>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49.png"/>
          <p:cNvPicPr>
            <a:picLocks noChangeAspect="1"/>
          </p:cNvPicPr>
          <p:nvPr/>
        </p:nvPicPr>
        <p:blipFill>
          <a:blip r:embed="rId3"/>
          <a:stretch>
            <a:fillRect/>
          </a:stretch>
        </p:blipFill>
        <p:spPr>
          <a:xfrm>
            <a:off x="8412480" y="1907020"/>
            <a:ext cx="3291840" cy="2221000"/>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(SGK TR.53)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41248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a) Chứng minh rằng nếu </a:t>
                </a:r>
                <a14:m>
                  <m:oMath xmlns:m="http://schemas.openxmlformats.org/officeDocument/2006/math">
                    <m:r>
                      <a:rPr lang="vi-VN" sz="2100" b="0">
                        <a:solidFill>
                          <a:srgbClr val="1E293B"/>
                        </a:solidFill>
                        <a:latin typeface="Cambria Math" panose="02040503050406030204" pitchFamily="18" charset="0"/>
                      </a:rPr>
                      <m:t>I</m:t>
                    </m:r>
                  </m:oMath>
                </a14:m>
                <a:r>
                  <a:rPr sz="2100">
                    <a:solidFill>
                      <a:srgbClr val="1E293B"/>
                    </a:solidFill>
                    <a:latin typeface="Calibri"/>
                  </a:rPr>
                  <a:t> là trung điểm của đoạn thẳng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thì </a:t>
                </a:r>
                <a14:m>
                  <m:oMath xmlns:m="http://schemas.openxmlformats.org/officeDocument/2006/math">
                    <m:acc>
                      <m:accPr>
                        <m:chr m:val="⃗"/>
                      </m:accPr>
                      <m:e>
                        <m:r>
                          <a:rPr lang="vi-VN" sz="2100" b="0">
                            <a:solidFill>
                              <a:srgbClr val="1E293B"/>
                            </a:solidFill>
                            <a:latin typeface="Cambria Math" panose="02040503050406030204" pitchFamily="18" charset="0"/>
                          </a:rPr>
                          <m:t>IA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IB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 b) Chứng minh rằng nếu </a:t>
                </a:r>
                <a14:m>
                  <m:oMath xmlns:m="http://schemas.openxmlformats.org/officeDocument/2006/math">
                    <m:r>
                      <a:rPr lang="vi-VN" sz="2100" b="0">
                        <a:solidFill>
                          <a:srgbClr val="1E293B"/>
                        </a:solidFill>
                        <a:latin typeface="Cambria Math" panose="02040503050406030204" pitchFamily="18" charset="0"/>
                      </a:rPr>
                      <m:t>G</m:t>
                    </m:r>
                  </m:oMath>
                </a14:m>
                <a:r>
                  <a:rPr sz="2100">
                    <a:solidFill>
                      <a:srgbClr val="1E293B"/>
                    </a:solidFill>
                    <a:latin typeface="Calibri"/>
                  </a:rPr>
                  <a:t> là trọng tâm của tam giác </a:t>
                </a:r>
                <a14:m>
                  <m:oMath xmlns:m="http://schemas.openxmlformats.org/officeDocument/2006/math">
                    <m:r>
                      <a:rPr lang="vi-VN" sz="2100" b="0">
                        <a:solidFill>
                          <a:srgbClr val="1E293B"/>
                        </a:solidFill>
                        <a:latin typeface="Cambria Math" panose="02040503050406030204" pitchFamily="18" charset="0"/>
                      </a:rPr>
                      <m:t>ABC</m:t>
                    </m:r>
                  </m:oMath>
                </a14:m>
                <a:r>
                  <a:rPr sz="2100">
                    <a:solidFill>
                      <a:srgbClr val="1E293B"/>
                    </a:solidFill>
                    <a:latin typeface="Calibri"/>
                  </a:rPr>
                  <a:t> thì </a:t>
                </a:r>
                <a14:m>
                  <m:oMath xmlns:m="http://schemas.openxmlformats.org/officeDocument/2006/math">
                    <m:acc>
                      <m:accPr>
                        <m:chr m:val="⃗"/>
                      </m:accPr>
                      <m:e>
                        <m:r>
                          <a:rPr lang="vi-VN" sz="2100" b="0">
                            <a:solidFill>
                              <a:srgbClr val="1E293B"/>
                            </a:solidFill>
                            <a:latin typeface="Cambria Math" panose="02040503050406030204" pitchFamily="18" charset="0"/>
                          </a:rPr>
                          <m:t>GA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a:t>
                </a:r>
              </a:p>
            </p:txBody>
          </p:sp>
        </mc:Choice>
        <mc:Fallback>
          <p:sp>
            <p:nvSpPr>
              <p:cNvPr id="7" name="TextBox 6"/>
              <p:cNvSpPr txBox="1"/>
              <p:nvPr/>
            </p:nvSpPr>
            <p:spPr>
              <a:xfrm>
                <a:off x="548640" y="1371600"/>
                <a:ext cx="841248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a) Chứng minh rằng nếu </a:t>
                </a:r>
                <a:r>
                  <a:rPr lang="vi-VN"/>
                  <a:t>I</a:t>
                </a:r>
                <a:r>
                  <a:rPr sz="2100">
                    <a:solidFill>
                      <a:srgbClr val="1E293B"/>
                    </a:solidFill>
                    <a:latin typeface="Calibri"/>
                  </a:rPr>
                  <a:t> là trung điểm của đoạn thẳng </a:t>
                </a:r>
                <a:r>
                  <a:rPr lang="vi-VN"/>
                  <a:t>AB</a:t>
                </a:r>
                <a:r>
                  <a:rPr sz="2100">
                    <a:solidFill>
                      <a:srgbClr val="1E293B"/>
                    </a:solidFill>
                    <a:latin typeface="Calibri"/>
                  </a:rPr>
                  <a:t> thì </a:t>
                </a:r>
                <a:r>
                  <a:rPr lang="vi-VN"/>
                  <a:t>\overrightarrow{IA}</a:t>
                </a:r>
                <a:r>
                  <a:rPr sz="2100">
                    <a:solidFill>
                      <a:srgbClr val="1E293B"/>
                    </a:solidFill>
                    <a:latin typeface="Calibri"/>
                  </a:rPr>
                  <a:t> + </a:t>
                </a:r>
                <a:r>
                  <a:rPr lang="vi-VN"/>
                  <a:t>\overrightarrow{IB}</a:t>
                </a:r>
                <a:r>
                  <a:rPr sz="2100">
                    <a:solidFill>
                      <a:srgbClr val="1E293B"/>
                    </a:solidFill>
                    <a:latin typeface="Calibri"/>
                  </a:rPr>
                  <a:t> = </a:t>
                </a:r>
                <a:r>
                  <a:rPr lang="vi-VN"/>
                  <a:t>\vec{0}</a:t>
                </a:r>
                <a:r>
                  <a:rPr sz="2100">
                    <a:solidFill>
                      <a:srgbClr val="1E293B"/>
                    </a:solidFill>
                    <a:latin typeface="Calibri"/>
                  </a:rPr>
                  <a:t>. b) Chứng minh rằng nếu </a:t>
                </a:r>
                <a:r>
                  <a:rPr lang="vi-VN"/>
                  <a:t>G</a:t>
                </a:r>
                <a:r>
                  <a:rPr sz="2100">
                    <a:solidFill>
                      <a:srgbClr val="1E293B"/>
                    </a:solidFill>
                    <a:latin typeface="Calibri"/>
                  </a:rPr>
                  <a:t> là trọng tâm của tam giác </a:t>
                </a:r>
                <a:r>
                  <a:rPr lang="vi-VN"/>
                  <a:t>ABC</a:t>
                </a:r>
                <a:r>
                  <a:rPr sz="2100">
                    <a:solidFill>
                      <a:srgbClr val="1E293B"/>
                    </a:solidFill>
                    <a:latin typeface="Calibri"/>
                  </a:rPr>
                  <a:t> thì </a:t>
                </a:r>
                <a:r>
                  <a:rPr lang="vi-VN"/>
                  <a:t>\overrightarrow{GA}</a:t>
                </a:r>
                <a:r>
                  <a:rPr sz="2100">
                    <a:solidFill>
                      <a:srgbClr val="1E293B"/>
                    </a:solidFill>
                    <a:latin typeface="Calibri"/>
                  </a:rPr>
                  <a:t> + </a:t>
                </a:r>
                <a:r>
                  <a:rPr lang="vi-VN"/>
                  <a:t>\overrightarrow{GB}</a:t>
                </a:r>
                <a:r>
                  <a:rPr sz="2100">
                    <a:solidFill>
                      <a:srgbClr val="1E293B"/>
                    </a:solidFill>
                    <a:latin typeface="Calibri"/>
                  </a:rPr>
                  <a:t> + </a:t>
                </a:r>
                <a:r>
                  <a:rPr lang="vi-VN"/>
                  <a:t>\overrightarrow{GC}</a:t>
                </a:r>
                <a:r>
                  <a:rPr sz="2100">
                    <a:solidFill>
                      <a:srgbClr val="1E293B"/>
                    </a:solidFill>
                    <a:latin typeface="Calibri"/>
                  </a:rPr>
                  <a:t> = </a:t>
                </a:r>
                <a:r>
                  <a:rPr lang="vi-VN"/>
                  <a:t>\vec{0}</a:t>
                </a:r>
                <a:r>
                  <a:rPr sz="2100">
                    <a:solidFill>
                      <a:srgbClr val="1E293B"/>
                    </a:solidFill>
                    <a:latin typeface="Calibri"/>
                  </a:rPr>
                  <a:t>.</a:t>
                </a:r>
              </a:p>
            </p:txBody>
          </p:sp>
        </mc:Fallback>
      </mc:AlternateContent>
      <p:sp>
        <p:nvSpPr>
          <p:cNvPr id="8" name="s1_nen"/>
          <p:cNvSpPr/>
          <p:nvPr/>
        </p:nvSpPr>
        <p:spPr>
          <a:xfrm>
            <a:off x="548640" y="2578608"/>
            <a:ext cx="841248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15184"/>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acc>
                      <m:accPr>
                        <m:chr m:val="⃗"/>
                      </m:accPr>
                      <m:e>
                        <m:r>
                          <a:rPr lang="vi-VN" sz="2100" b="0">
                            <a:solidFill>
                              <a:srgbClr val="1E293B"/>
                            </a:solidFill>
                            <a:latin typeface="Cambria Math" panose="02040503050406030204" pitchFamily="18" charset="0"/>
                          </a:rPr>
                          <m:t>IA</m:t>
                        </m:r>
                      </m:e>
                    </m:acc>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IB</m:t>
                        </m:r>
                      </m:e>
                    </m:acc>
                  </m:oMath>
                </a14:m>
                <a:r>
                  <a:rPr sz="2100">
                    <a:solidFill>
                      <a:srgbClr val="1E293B"/>
                    </a:solidFill>
                    <a:latin typeface="Calibri"/>
                  </a:rPr>
                  <a:t> cùng độ dài, ngược hướng nên đối nhau: </a:t>
                </a:r>
                <a14:m>
                  <m:oMath xmlns:m="http://schemas.openxmlformats.org/officeDocument/2006/math">
                    <m:acc>
                      <m:accPr>
                        <m:chr m:val="⃗"/>
                      </m:accPr>
                      <m:e>
                        <m:r>
                          <a:rPr lang="vi-VN" sz="2100" b="0">
                            <a:solidFill>
                              <a:srgbClr val="1E293B"/>
                            </a:solidFill>
                            <a:latin typeface="Cambria Math" panose="02040503050406030204" pitchFamily="18" charset="0"/>
                          </a:rPr>
                          <m:t>IA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IB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a:t>
                </a:r>
              </a:p>
            </p:txBody>
          </p:sp>
        </mc:Choice>
        <mc:Fallback>
          <p:sp>
            <p:nvSpPr>
              <p:cNvPr id="9" name="TextBox 8"/>
              <p:cNvSpPr txBox="1"/>
              <p:nvPr/>
            </p:nvSpPr>
            <p:spPr>
              <a:xfrm>
                <a:off x="713232" y="2615184"/>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\overrightarrow{IA}</a:t>
                </a:r>
                <a:r>
                  <a:rPr sz="2100">
                    <a:solidFill>
                      <a:srgbClr val="1E293B"/>
                    </a:solidFill>
                    <a:latin typeface="Calibri"/>
                  </a:rPr>
                  <a:t>, </a:t>
                </a:r>
                <a:r>
                  <a:rPr lang="vi-VN"/>
                  <a:t>\overrightarrow{IB}</a:t>
                </a:r>
                <a:r>
                  <a:rPr sz="2100">
                    <a:solidFill>
                      <a:srgbClr val="1E293B"/>
                    </a:solidFill>
                    <a:latin typeface="Calibri"/>
                  </a:rPr>
                  <a:t> cùng độ dài, ngược hướng nên đối nhau: </a:t>
                </a:r>
                <a:r>
                  <a:rPr lang="vi-VN"/>
                  <a:t>\overrightarrow{IA}</a:t>
                </a:r>
                <a:r>
                  <a:rPr sz="2100">
                    <a:solidFill>
                      <a:srgbClr val="1E293B"/>
                    </a:solidFill>
                    <a:latin typeface="Calibri"/>
                  </a:rPr>
                  <a:t> + </a:t>
                </a:r>
                <a:r>
                  <a:rPr lang="vi-VN"/>
                  <a:t>\overrightarrow{IB}</a:t>
                </a:r>
                <a:r>
                  <a:rPr sz="2100">
                    <a:solidFill>
                      <a:srgbClr val="1E293B"/>
                    </a:solidFill>
                    <a:latin typeface="Calibri"/>
                  </a:rPr>
                  <a:t> = </a:t>
                </a:r>
                <a:r>
                  <a:rPr lang="vi-VN"/>
                  <a:t>\vec{0}</a:t>
                </a:r>
                <a:r>
                  <a:rPr sz="2100">
                    <a:solidFill>
                      <a:srgbClr val="1E293B"/>
                    </a:solidFill>
                    <a:latin typeface="Calibri"/>
                  </a:rPr>
                  <a:t>.</a:t>
                </a:r>
              </a:p>
            </p:txBody>
          </p:sp>
        </mc:Fallback>
      </mc:AlternateContent>
      <p:sp>
        <p:nvSpPr>
          <p:cNvPr id="10" name="s2_nen"/>
          <p:cNvSpPr/>
          <p:nvPr/>
        </p:nvSpPr>
        <p:spPr>
          <a:xfrm>
            <a:off x="548640" y="3557016"/>
            <a:ext cx="841248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93592"/>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Lấy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đối xứng với </a:t>
                </a:r>
                <a14:m>
                  <m:oMath xmlns:m="http://schemas.openxmlformats.org/officeDocument/2006/math">
                    <m:r>
                      <a:rPr lang="vi-VN" sz="2100" b="0">
                        <a:solidFill>
                          <a:srgbClr val="1E293B"/>
                        </a:solidFill>
                        <a:latin typeface="Cambria Math" panose="02040503050406030204" pitchFamily="18" charset="0"/>
                      </a:rPr>
                      <m:t>G</m:t>
                    </m:r>
                  </m:oMath>
                </a14:m>
                <a:r>
                  <a:rPr sz="2100">
                    <a:solidFill>
                      <a:srgbClr val="1E293B"/>
                    </a:solidFill>
                    <a:latin typeface="Calibri"/>
                  </a:rPr>
                  <a:t> qua trung điểm </a:t>
                </a:r>
                <a14:m>
                  <m:oMath xmlns:m="http://schemas.openxmlformats.org/officeDocument/2006/math">
                    <m:r>
                      <a:rPr lang="vi-VN" sz="2100" b="0">
                        <a:solidFill>
                          <a:srgbClr val="1E293B"/>
                        </a:solidFill>
                        <a:latin typeface="Cambria Math" panose="02040503050406030204" pitchFamily="18" charset="0"/>
                      </a:rPr>
                      <m:t>I</m:t>
                    </m:r>
                  </m:oMath>
                </a14:m>
                <a:r>
                  <a:rPr sz="2100">
                    <a:solidFill>
                      <a:srgbClr val="1E293B"/>
                    </a:solidFill>
                    <a:latin typeface="Calibri"/>
                  </a:rPr>
                  <a:t> của </a:t>
                </a:r>
                <a14:m>
                  <m:oMath xmlns:m="http://schemas.openxmlformats.org/officeDocument/2006/math">
                    <m:r>
                      <a:rPr lang="vi-VN" sz="2100" b="0">
                        <a:solidFill>
                          <a:srgbClr val="1E293B"/>
                        </a:solidFill>
                        <a:latin typeface="Cambria Math" panose="02040503050406030204" pitchFamily="18" charset="0"/>
                      </a:rPr>
                      <m:t>BC</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GBDC</m:t>
                    </m:r>
                  </m:oMath>
                </a14:m>
                <a:r>
                  <a:rPr sz="2100">
                    <a:solidFill>
                      <a:srgbClr val="1E293B"/>
                    </a:solidFill>
                    <a:latin typeface="Calibri"/>
                  </a:rPr>
                  <a:t> là hình bình hành, </a:t>
                </a:r>
                <a14:m>
                  <m:oMath xmlns:m="http://schemas.openxmlformats.org/officeDocument/2006/math">
                    <m:r>
                      <a:rPr lang="vi-VN" sz="2100" b="0">
                        <a:solidFill>
                          <a:srgbClr val="1E293B"/>
                        </a:solidFill>
                        <a:latin typeface="Cambria Math" panose="02040503050406030204" pitchFamily="18" charset="0"/>
                      </a:rPr>
                      <m:t>GA=2GI=GD</m:t>
                    </m:r>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a:t>
                </a:r>
              </a:p>
            </p:txBody>
          </p:sp>
        </mc:Choice>
        <mc:Fallback>
          <p:sp>
            <p:nvSpPr>
              <p:cNvPr id="11" name="TextBox 10"/>
              <p:cNvSpPr txBox="1"/>
              <p:nvPr/>
            </p:nvSpPr>
            <p:spPr>
              <a:xfrm>
                <a:off x="713232" y="3593592"/>
                <a:ext cx="808329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Lấy </a:t>
                </a:r>
                <a:r>
                  <a:rPr lang="vi-VN"/>
                  <a:t>D</a:t>
                </a:r>
                <a:r>
                  <a:rPr sz="2100">
                    <a:solidFill>
                      <a:srgbClr val="1E293B"/>
                    </a:solidFill>
                    <a:latin typeface="Calibri"/>
                  </a:rPr>
                  <a:t> đối xứng với </a:t>
                </a:r>
                <a:r>
                  <a:rPr lang="vi-VN"/>
                  <a:t>G</a:t>
                </a:r>
                <a:r>
                  <a:rPr sz="2100">
                    <a:solidFill>
                      <a:srgbClr val="1E293B"/>
                    </a:solidFill>
                    <a:latin typeface="Calibri"/>
                  </a:rPr>
                  <a:t> qua trung điểm </a:t>
                </a:r>
                <a:r>
                  <a:rPr lang="vi-VN"/>
                  <a:t>I</a:t>
                </a:r>
                <a:r>
                  <a:rPr sz="2100">
                    <a:solidFill>
                      <a:srgbClr val="1E293B"/>
                    </a:solidFill>
                    <a:latin typeface="Calibri"/>
                  </a:rPr>
                  <a:t> của </a:t>
                </a:r>
                <a:r>
                  <a:rPr lang="vi-VN"/>
                  <a:t>BC</a:t>
                </a:r>
                <a:r>
                  <a:rPr sz="2100">
                    <a:solidFill>
                      <a:srgbClr val="1E293B"/>
                    </a:solidFill>
                    <a:latin typeface="Calibri"/>
                  </a:rPr>
                  <a:t>: </a:t>
                </a:r>
                <a:r>
                  <a:rPr lang="vi-VN"/>
                  <a:t>GBDC</a:t>
                </a:r>
                <a:r>
                  <a:rPr sz="2100">
                    <a:solidFill>
                      <a:srgbClr val="1E293B"/>
                    </a:solidFill>
                    <a:latin typeface="Calibri"/>
                  </a:rPr>
                  <a:t> là hình bình hành, </a:t>
                </a:r>
                <a:r>
                  <a:rPr lang="vi-VN"/>
                  <a:t>GA=2GI=GD</a:t>
                </a:r>
                <a:r>
                  <a:rPr sz="2100">
                    <a:solidFill>
                      <a:srgbClr val="1E293B"/>
                    </a:solidFill>
                    <a:latin typeface="Calibri"/>
                  </a:rPr>
                  <a:t> ⇒ </a:t>
                </a:r>
                <a:r>
                  <a:rPr lang="vi-VN"/>
                  <a:t>\overrightarrow{GA}</a:t>
                </a:r>
                <a:r>
                  <a:rPr sz="2100">
                    <a:solidFill>
                      <a:srgbClr val="1E293B"/>
                    </a:solidFill>
                    <a:latin typeface="Calibri"/>
                  </a:rPr>
                  <a:t> + </a:t>
                </a:r>
                <a:r>
                  <a:rPr lang="vi-VN"/>
                  <a:t>\overrightarrow{GD}</a:t>
                </a:r>
                <a:r>
                  <a:rPr sz="2100">
                    <a:solidFill>
                      <a:srgbClr val="1E293B"/>
                    </a:solidFill>
                    <a:latin typeface="Calibri"/>
                  </a:rPr>
                  <a:t> = </a:t>
                </a:r>
                <a:r>
                  <a:rPr lang="vi-VN"/>
                  <a:t>\vec{0}</a:t>
                </a:r>
                <a:r>
                  <a:rPr sz="2100">
                    <a:solidFill>
                      <a:srgbClr val="1E293B"/>
                    </a:solidFill>
                    <a:latin typeface="Calibri"/>
                  </a:rPr>
                  <a:t>.</a:t>
                </a:r>
              </a:p>
            </p:txBody>
          </p:sp>
        </mc:Fallback>
      </mc:AlternateContent>
      <p:sp>
        <p:nvSpPr>
          <p:cNvPr id="12" name="s3_nen"/>
          <p:cNvSpPr/>
          <p:nvPr/>
        </p:nvSpPr>
        <p:spPr>
          <a:xfrm>
            <a:off x="548640" y="4535424"/>
            <a:ext cx="841248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572000"/>
                <a:ext cx="808329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Mà </a:t>
                </a:r>
                <a14:m>
                  <m:oMath xmlns:m="http://schemas.openxmlformats.org/officeDocument/2006/math">
                    <m:acc>
                      <m:accPr>
                        <m:chr m:val="⃗"/>
                      </m:accPr>
                      <m:e>
                        <m:r>
                          <a:rPr lang="vi-VN" sz="2100" b="0">
                            <a:solidFill>
                              <a:srgbClr val="1E293B"/>
                            </a:solidFill>
                            <a:latin typeface="Cambria Math" panose="02040503050406030204" pitchFamily="18" charset="0"/>
                          </a:rPr>
                          <m:t>GB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GD</m:t>
                        </m:r>
                      </m:e>
                    </m:acc>
                  </m:oMath>
                </a14:m>
                <a:r>
                  <a:rPr sz="2100">
                    <a:solidFill>
                      <a:srgbClr val="1E293B"/>
                    </a:solidFill>
                    <a:latin typeface="Calibri"/>
                  </a:rPr>
                  <a:t> nên </a:t>
                </a:r>
                <a14:m>
                  <m:oMath xmlns:m="http://schemas.openxmlformats.org/officeDocument/2006/math">
                    <m:acc>
                      <m:accPr>
                        <m:chr m:val="⃗"/>
                      </m:accPr>
                      <m:e>
                        <m:r>
                          <a:rPr lang="vi-VN" sz="2100" b="0">
                            <a:solidFill>
                              <a:srgbClr val="1E293B"/>
                            </a:solidFill>
                            <a:latin typeface="Cambria Math" panose="02040503050406030204" pitchFamily="18" charset="0"/>
                          </a:rPr>
                          <m:t>GA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GC</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GD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a:t>
                </a:r>
              </a:p>
            </p:txBody>
          </p:sp>
        </mc:Choice>
        <mc:Fallback>
          <p:sp>
            <p:nvSpPr>
              <p:cNvPr id="13" name="TextBox 12"/>
              <p:cNvSpPr txBox="1"/>
              <p:nvPr/>
            </p:nvSpPr>
            <p:spPr>
              <a:xfrm>
                <a:off x="713232" y="4572000"/>
                <a:ext cx="808329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Mà </a:t>
                </a:r>
                <a:r>
                  <a:rPr lang="vi-VN"/>
                  <a:t>\overrightarrow{GB}</a:t>
                </a:r>
                <a:r>
                  <a:rPr sz="2100">
                    <a:solidFill>
                      <a:srgbClr val="1E293B"/>
                    </a:solidFill>
                    <a:latin typeface="Calibri"/>
                  </a:rPr>
                  <a:t> + </a:t>
                </a:r>
                <a:r>
                  <a:rPr lang="vi-VN"/>
                  <a:t>\overrightarrow{GC}</a:t>
                </a:r>
                <a:r>
                  <a:rPr sz="2100">
                    <a:solidFill>
                      <a:srgbClr val="1E293B"/>
                    </a:solidFill>
                    <a:latin typeface="Calibri"/>
                  </a:rPr>
                  <a:t> = </a:t>
                </a:r>
                <a:r>
                  <a:rPr lang="vi-VN"/>
                  <a:t>\overrightarrow{GD}</a:t>
                </a:r>
                <a:r>
                  <a:rPr sz="2100">
                    <a:solidFill>
                      <a:srgbClr val="1E293B"/>
                    </a:solidFill>
                    <a:latin typeface="Calibri"/>
                  </a:rPr>
                  <a:t> nên </a:t>
                </a:r>
                <a:r>
                  <a:rPr lang="vi-VN"/>
                  <a:t>\overrightarrow{GA}</a:t>
                </a:r>
                <a:r>
                  <a:rPr sz="2100">
                    <a:solidFill>
                      <a:srgbClr val="1E293B"/>
                    </a:solidFill>
                    <a:latin typeface="Calibri"/>
                  </a:rPr>
                  <a:t> + </a:t>
                </a:r>
                <a:r>
                  <a:rPr lang="vi-VN"/>
                  <a:t>\overrightarrow{GB}</a:t>
                </a:r>
                <a:r>
                  <a:rPr sz="2100">
                    <a:solidFill>
                      <a:srgbClr val="1E293B"/>
                    </a:solidFill>
                    <a:latin typeface="Calibri"/>
                  </a:rPr>
                  <a:t> + </a:t>
                </a:r>
                <a:r>
                  <a:rPr lang="vi-VN"/>
                  <a:t>\overrightarrow{GC}</a:t>
                </a:r>
                <a:r>
                  <a:rPr sz="2100">
                    <a:solidFill>
                      <a:srgbClr val="1E293B"/>
                    </a:solidFill>
                    <a:latin typeface="Calibri"/>
                  </a:rPr>
                  <a:t> = </a:t>
                </a:r>
                <a:r>
                  <a:rPr lang="vi-VN"/>
                  <a:t>\overrightarrow{GA}</a:t>
                </a:r>
                <a:r>
                  <a:rPr sz="2100">
                    <a:solidFill>
                      <a:srgbClr val="1E293B"/>
                    </a:solidFill>
                    <a:latin typeface="Calibri"/>
                  </a:rPr>
                  <a:t> + </a:t>
                </a:r>
                <a:r>
                  <a:rPr lang="vi-VN"/>
                  <a:t>\overrightarrow{GD}</a:t>
                </a:r>
                <a:r>
                  <a:rPr sz="2100">
                    <a:solidFill>
                      <a:srgbClr val="1E293B"/>
                    </a:solidFill>
                    <a:latin typeface="Calibri"/>
                  </a:rPr>
                  <a:t> = </a:t>
                </a:r>
                <a:r>
                  <a:rPr lang="vi-VN"/>
                  <a:t>\vec{0}</a:t>
                </a:r>
                <a:r>
                  <a:rPr sz="2100">
                    <a:solidFill>
                      <a:srgbClr val="1E293B"/>
                    </a:solidFill>
                    <a:latin typeface="Calibri"/>
                  </a:rPr>
                  <a:t>.</a:t>
                </a:r>
              </a:p>
            </p:txBody>
          </p:sp>
        </mc:Fallback>
      </mc:AlternateContent>
      <p:pic>
        <p:nvPicPr>
          <p:cNvPr id="14" name="Picture 13" descr="h416.png"/>
          <p:cNvPicPr>
            <a:picLocks noChangeAspect="1"/>
          </p:cNvPicPr>
          <p:nvPr/>
        </p:nvPicPr>
        <p:blipFill>
          <a:blip r:embed="rId3"/>
          <a:stretch>
            <a:fillRect/>
          </a:stretch>
        </p:blipFill>
        <p:spPr>
          <a:xfrm>
            <a:off x="9144000" y="1583675"/>
            <a:ext cx="2560320" cy="2136170"/>
          </a:xfrm>
          <a:prstGeom prst="rect">
            <a:avLst/>
          </a:prstGeom>
        </p:spPr>
      </p:pic>
      <p:sp>
        <p:nvSpPr>
          <p:cNvPr id="15" name="TextBox 14"/>
          <p:cNvSpPr txBox="1"/>
          <p:nvPr/>
        </p:nvSpPr>
        <p:spPr>
          <a:xfrm>
            <a:off x="9144000" y="3858768"/>
            <a:ext cx="25603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4.16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(SGK TR.53)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tứ giác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Gọi </a:t>
                </a:r>
                <a14:m>
                  <m:oMath xmlns:m="http://schemas.openxmlformats.org/officeDocument/2006/math">
                    <m:r>
                      <a:rPr lang="vi-VN" sz="2200" b="0">
                        <a:solidFill>
                          <a:srgbClr val="1E293B"/>
                        </a:solidFill>
                        <a:latin typeface="Cambria Math" panose="02040503050406030204" pitchFamily="18" charset="0"/>
                      </a:rPr>
                      <m:t>M,</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N</m:t>
                    </m:r>
                  </m:oMath>
                </a14:m>
                <a:r>
                  <a:rPr sz="2200">
                    <a:solidFill>
                      <a:srgbClr val="1E293B"/>
                    </a:solidFill>
                    <a:latin typeface="Calibri"/>
                  </a:rPr>
                  <a:t> lần lượt là trung điểm của các cạnh </a:t>
                </a:r>
                <a14:m>
                  <m:oMath xmlns:m="http://schemas.openxmlformats.org/officeDocument/2006/math">
                    <m:r>
                      <a:rPr lang="vi-VN" sz="2200" b="0">
                        <a:solidFill>
                          <a:srgbClr val="1E293B"/>
                        </a:solidFill>
                        <a:latin typeface="Cambria Math" panose="02040503050406030204" pitchFamily="18" charset="0"/>
                      </a:rPr>
                      <m:t>AB,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CD</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là trung điểm của </a:t>
                </a:r>
                <a14:m>
                  <m:oMath xmlns:m="http://schemas.openxmlformats.org/officeDocument/2006/math">
                    <m:r>
                      <a:rPr lang="vi-VN" sz="2200" b="0">
                        <a:solidFill>
                          <a:srgbClr val="1E293B"/>
                        </a:solidFill>
                        <a:latin typeface="Cambria Math" panose="02040503050406030204" pitchFamily="18" charset="0"/>
                      </a:rPr>
                      <m:t>MN</m:t>
                    </m:r>
                  </m:oMath>
                </a14:m>
                <a:r>
                  <a:rPr sz="2200">
                    <a:solidFill>
                      <a:srgbClr val="1E293B"/>
                    </a:solidFill>
                    <a:latin typeface="Calibri"/>
                  </a:rPr>
                  <a:t>. Chứng minh rằng </a:t>
                </a:r>
                <a14:m>
                  <m:oMath xmlns:m="http://schemas.openxmlformats.org/officeDocument/2006/math">
                    <m:acc>
                      <m:accPr>
                        <m:chr m:val="⃗"/>
                      </m:accPr>
                      <m:e>
                        <m:r>
                          <a:rPr lang="vi-VN" sz="2200" b="0">
                            <a:solidFill>
                              <a:srgbClr val="1E293B"/>
                            </a:solidFill>
                            <a:latin typeface="Cambria Math" panose="02040503050406030204" pitchFamily="18" charset="0"/>
                          </a:rPr>
                          <m:t>OA</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OC</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OD</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tứ giác </a:t>
                </a:r>
                <a:r>
                  <a:rPr lang="vi-VN"/>
                  <a:t>ABCD</a:t>
                </a:r>
                <a:r>
                  <a:rPr sz="2200">
                    <a:solidFill>
                      <a:srgbClr val="1E293B"/>
                    </a:solidFill>
                    <a:latin typeface="Calibri"/>
                  </a:rPr>
                  <a:t>. Gọi </a:t>
                </a:r>
                <a:r>
                  <a:rPr lang="vi-VN"/>
                  <a:t>M,\ N</a:t>
                </a:r>
                <a:r>
                  <a:rPr sz="2200">
                    <a:solidFill>
                      <a:srgbClr val="1E293B"/>
                    </a:solidFill>
                    <a:latin typeface="Calibri"/>
                  </a:rPr>
                  <a:t> lần lượt là trung điểm của các cạnh </a:t>
                </a:r>
                <a:r>
                  <a:rPr lang="vi-VN"/>
                  <a:t>AB,\ CD</a:t>
                </a:r>
                <a:r>
                  <a:rPr sz="2200">
                    <a:solidFill>
                      <a:srgbClr val="1E293B"/>
                    </a:solidFill>
                    <a:latin typeface="Calibri"/>
                  </a:rPr>
                  <a:t> và </a:t>
                </a:r>
                <a:r>
                  <a:rPr lang="vi-VN"/>
                  <a:t>O</a:t>
                </a:r>
                <a:r>
                  <a:rPr sz="2200">
                    <a:solidFill>
                      <a:srgbClr val="1E293B"/>
                    </a:solidFill>
                    <a:latin typeface="Calibri"/>
                  </a:rPr>
                  <a:t> là trung điểm của </a:t>
                </a:r>
                <a:r>
                  <a:rPr lang="vi-VN"/>
                  <a:t>MN</a:t>
                </a:r>
                <a:r>
                  <a:rPr sz="2200">
                    <a:solidFill>
                      <a:srgbClr val="1E293B"/>
                    </a:solidFill>
                    <a:latin typeface="Calibri"/>
                  </a:rPr>
                  <a:t>. Chứng minh rằng </a:t>
                </a:r>
                <a:r>
                  <a:rPr lang="vi-VN"/>
                  <a:t>\overrightarrow{OA}</a:t>
                </a:r>
                <a:r>
                  <a:rPr sz="2200">
                    <a:solidFill>
                      <a:srgbClr val="1E293B"/>
                    </a:solidFill>
                    <a:latin typeface="Calibri"/>
                  </a:rPr>
                  <a:t> + </a:t>
                </a:r>
                <a:r>
                  <a:rPr lang="vi-VN"/>
                  <a:t>\overrightarrow{OB}</a:t>
                </a:r>
                <a:r>
                  <a:rPr sz="2200">
                    <a:solidFill>
                      <a:srgbClr val="1E293B"/>
                    </a:solidFill>
                    <a:latin typeface="Calibri"/>
                  </a:rPr>
                  <a:t> + </a:t>
                </a:r>
                <a:r>
                  <a:rPr lang="vi-VN"/>
                  <a:t>\overrightarrow{OC}</a:t>
                </a:r>
                <a:r>
                  <a:rPr sz="2200">
                    <a:solidFill>
                      <a:srgbClr val="1E293B"/>
                    </a:solidFill>
                    <a:latin typeface="Calibri"/>
                  </a:rPr>
                  <a:t> + </a:t>
                </a:r>
                <a:r>
                  <a:rPr lang="vi-VN"/>
                  <a:t>\overrightarrow{OD}</a:t>
                </a:r>
                <a:r>
                  <a:rPr sz="2200">
                    <a:solidFill>
                      <a:srgbClr val="1E293B"/>
                    </a:solidFill>
                    <a:latin typeface="Calibri"/>
                  </a:rPr>
                  <a:t> = </a:t>
                </a:r>
                <a:r>
                  <a:rPr lang="vi-VN"/>
                  <a:t>\vec{0}</a:t>
                </a:r>
                <a:r>
                  <a:rPr sz="2200">
                    <a:solidFill>
                      <a:srgbClr val="1E293B"/>
                    </a:solidFill>
                    <a:latin typeface="Calibri"/>
                  </a:rPr>
                  <a:t>.</a:t>
                </a:r>
              </a:p>
            </p:txBody>
          </p:sp>
        </mc:Fallback>
      </mc:AlternateContent>
      <p:sp>
        <p:nvSpPr>
          <p:cNvPr id="8" name="s1_nen"/>
          <p:cNvSpPr/>
          <p:nvPr/>
        </p:nvSpPr>
        <p:spPr>
          <a:xfrm>
            <a:off x="548640" y="2325623"/>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62199"/>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OA</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OB</m:t>
                        </m:r>
                      </m:e>
                    </m:acc>
                  </m:oMath>
                </a14:m>
                <a:r>
                  <a:rPr sz="2200">
                    <a:solidFill>
                      <a:srgbClr val="1E293B"/>
                    </a:solidFill>
                    <a:latin typeface="Calibri"/>
                  </a:rPr>
                  <a:t> = 2</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 (vì </a:t>
                </a:r>
                <a14:m>
                  <m:oMath xmlns:m="http://schemas.openxmlformats.org/officeDocument/2006/math">
                    <m:acc>
                      <m:accPr>
                        <m:chr m:val="⃗"/>
                      </m:accPr>
                      <m:e>
                        <m:r>
                          <a:rPr lang="vi-VN" sz="2200" b="0">
                            <a:solidFill>
                              <a:srgbClr val="1E293B"/>
                            </a:solidFill>
                            <a:latin typeface="Cambria Math" panose="02040503050406030204" pitchFamily="18" charset="0"/>
                          </a:rPr>
                          <m:t>MA</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MB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tương tự </a:t>
                </a:r>
                <a14:m>
                  <m:oMath xmlns:m="http://schemas.openxmlformats.org/officeDocument/2006/math">
                    <m:acc>
                      <m:accPr>
                        <m:chr m:val="⃗"/>
                      </m:accPr>
                      <m:e>
                        <m:r>
                          <a:rPr lang="vi-VN" sz="2200" b="0">
                            <a:solidFill>
                              <a:srgbClr val="1E293B"/>
                            </a:solidFill>
                            <a:latin typeface="Cambria Math" panose="02040503050406030204" pitchFamily="18" charset="0"/>
                          </a:rPr>
                          <m:t>OC</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OD</m:t>
                        </m:r>
                      </m:e>
                    </m:acc>
                  </m:oMath>
                </a14:m>
                <a:r>
                  <a:rPr sz="2200">
                    <a:solidFill>
                      <a:srgbClr val="1E293B"/>
                    </a:solidFill>
                    <a:latin typeface="Calibri"/>
                  </a:rPr>
                  <a:t> = 2</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a:t>
                </a:r>
              </a:p>
            </p:txBody>
          </p:sp>
        </mc:Choice>
        <mc:Fallback>
          <p:sp>
            <p:nvSpPr>
              <p:cNvPr id="9" name="TextBox 8"/>
              <p:cNvSpPr txBox="1"/>
              <p:nvPr/>
            </p:nvSpPr>
            <p:spPr>
              <a:xfrm>
                <a:off x="713232" y="2362199"/>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\overrightarrow{OA}</a:t>
                </a:r>
                <a:r>
                  <a:rPr sz="2200">
                    <a:solidFill>
                      <a:srgbClr val="1E293B"/>
                    </a:solidFill>
                    <a:latin typeface="Calibri"/>
                  </a:rPr>
                  <a:t> + </a:t>
                </a:r>
                <a:r>
                  <a:rPr lang="vi-VN"/>
                  <a:t>\overrightarrow{OB}</a:t>
                </a:r>
                <a:r>
                  <a:rPr sz="2200">
                    <a:solidFill>
                      <a:srgbClr val="1E293B"/>
                    </a:solidFill>
                    <a:latin typeface="Calibri"/>
                  </a:rPr>
                  <a:t> = 2</a:t>
                </a:r>
                <a:r>
                  <a:rPr lang="vi-VN"/>
                  <a:t>\overrightarrow{OM}</a:t>
                </a:r>
                <a:r>
                  <a:rPr sz="2200">
                    <a:solidFill>
                      <a:srgbClr val="1E293B"/>
                    </a:solidFill>
                    <a:latin typeface="Calibri"/>
                  </a:rPr>
                  <a:t> (vì </a:t>
                </a:r>
                <a:r>
                  <a:rPr lang="vi-VN"/>
                  <a:t>\overrightarrow{MA}</a:t>
                </a:r>
                <a:r>
                  <a:rPr sz="2200">
                    <a:solidFill>
                      <a:srgbClr val="1E293B"/>
                    </a:solidFill>
                    <a:latin typeface="Calibri"/>
                  </a:rPr>
                  <a:t> + </a:t>
                </a:r>
                <a:r>
                  <a:rPr lang="vi-VN"/>
                  <a:t>\overrightarrow{MB}</a:t>
                </a:r>
                <a:r>
                  <a:rPr sz="2200">
                    <a:solidFill>
                      <a:srgbClr val="1E293B"/>
                    </a:solidFill>
                    <a:latin typeface="Calibri"/>
                  </a:rPr>
                  <a:t> = </a:t>
                </a:r>
                <a:r>
                  <a:rPr lang="vi-VN"/>
                  <a:t>\vec{0}</a:t>
                </a:r>
                <a:r>
                  <a:rPr sz="2200">
                    <a:solidFill>
                      <a:srgbClr val="1E293B"/>
                    </a:solidFill>
                    <a:latin typeface="Calibri"/>
                  </a:rPr>
                  <a:t>); tương tự </a:t>
                </a:r>
                <a:r>
                  <a:rPr lang="vi-VN"/>
                  <a:t>\overrightarrow{OC}</a:t>
                </a:r>
                <a:r>
                  <a:rPr sz="2200">
                    <a:solidFill>
                      <a:srgbClr val="1E293B"/>
                    </a:solidFill>
                    <a:latin typeface="Calibri"/>
                  </a:rPr>
                  <a:t> + </a:t>
                </a:r>
                <a:r>
                  <a:rPr lang="vi-VN"/>
                  <a:t>\overrightarrow{OD}</a:t>
                </a:r>
                <a:r>
                  <a:rPr sz="2200">
                    <a:solidFill>
                      <a:srgbClr val="1E293B"/>
                    </a:solidFill>
                    <a:latin typeface="Calibri"/>
                  </a:rPr>
                  <a:t> = 2</a:t>
                </a:r>
                <a:r>
                  <a:rPr lang="vi-VN"/>
                  <a:t>\overrightarrow{ON}</a:t>
                </a:r>
                <a:r>
                  <a:rPr sz="2200">
                    <a:solidFill>
                      <a:srgbClr val="1E293B"/>
                    </a:solidFill>
                    <a:latin typeface="Calibri"/>
                  </a:rPr>
                  <a:t>.</a:t>
                </a:r>
              </a:p>
            </p:txBody>
          </p:sp>
        </mc:Fallback>
      </mc:AlternateContent>
      <p:sp>
        <p:nvSpPr>
          <p:cNvPr id="10" name="s2_nen"/>
          <p:cNvSpPr/>
          <p:nvPr/>
        </p:nvSpPr>
        <p:spPr>
          <a:xfrm>
            <a:off x="548640" y="3035808"/>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72384"/>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là trung điểm </a:t>
                </a:r>
                <a14:m>
                  <m:oMath xmlns:m="http://schemas.openxmlformats.org/officeDocument/2006/math">
                    <m:r>
                      <a:rPr lang="vi-VN" sz="2200" b="0">
                        <a:solidFill>
                          <a:srgbClr val="1E293B"/>
                        </a:solidFill>
                        <a:latin typeface="Cambria Math" panose="02040503050406030204" pitchFamily="18" charset="0"/>
                      </a:rPr>
                      <m:t>MN</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Cộng lại được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11" name="TextBox 10"/>
              <p:cNvSpPr txBox="1"/>
              <p:nvPr/>
            </p:nvSpPr>
            <p:spPr>
              <a:xfrm>
                <a:off x="713232" y="3072384"/>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a:t>
                </a:r>
                <a:r>
                  <a:rPr sz="2200">
                    <a:solidFill>
                      <a:srgbClr val="1E293B"/>
                    </a:solidFill>
                    <a:latin typeface="Calibri"/>
                  </a:rPr>
                  <a:t> là trung điểm </a:t>
                </a:r>
                <a:r>
                  <a:rPr lang="vi-VN"/>
                  <a:t>MN</a:t>
                </a:r>
                <a:r>
                  <a:rPr sz="2200">
                    <a:solidFill>
                      <a:srgbClr val="1E293B"/>
                    </a:solidFill>
                    <a:latin typeface="Calibri"/>
                  </a:rPr>
                  <a:t>: </a:t>
                </a:r>
                <a:r>
                  <a:rPr lang="vi-VN"/>
                  <a:t>\overrightarrow{OM}</a:t>
                </a:r>
                <a:r>
                  <a:rPr sz="2200">
                    <a:solidFill>
                      <a:srgbClr val="1E293B"/>
                    </a:solidFill>
                    <a:latin typeface="Calibri"/>
                  </a:rPr>
                  <a:t> + </a:t>
                </a:r>
                <a:r>
                  <a:rPr lang="vi-VN"/>
                  <a:t>\overrightarrow{ON}</a:t>
                </a:r>
                <a:r>
                  <a:rPr sz="2200">
                    <a:solidFill>
                      <a:srgbClr val="1E293B"/>
                    </a:solidFill>
                    <a:latin typeface="Calibri"/>
                  </a:rPr>
                  <a:t> = </a:t>
                </a:r>
                <a:r>
                  <a:rPr lang="vi-VN"/>
                  <a:t>\vec{0}</a:t>
                </a:r>
                <a:r>
                  <a:rPr sz="2200">
                    <a:solidFill>
                      <a:srgbClr val="1E293B"/>
                    </a:solidFill>
                    <a:latin typeface="Calibri"/>
                  </a:rPr>
                  <a:t>. Cộng lại được </a:t>
                </a:r>
                <a:r>
                  <a:rPr lang="vi-VN"/>
                  <a:t>\vec{0}</a:t>
                </a:r>
                <a:r>
                  <a:rPr sz="2200">
                    <a:solidFill>
                      <a:srgbClr val="1E293B"/>
                    </a:solidFill>
                    <a:latin typeface="Calibri"/>
                  </a:rPr>
                  <a:t>.</a:t>
                </a:r>
              </a:p>
            </p:txBody>
          </p:sp>
        </mc:Fallback>
      </mc:AlternateContent>
      <p:sp>
        <p:nvSpPr>
          <p:cNvPr id="12" name="s3_nen"/>
          <p:cNvSpPr/>
          <p:nvPr/>
        </p:nvSpPr>
        <p:spPr>
          <a:xfrm>
            <a:off x="548640" y="3745992"/>
            <a:ext cx="11064240" cy="935735"/>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782568"/>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Trong Vật lí, trọng tâm của vật mỏng hình đa giác </a:t>
                </a:r>
                <a14:m>
                  <m:oMath xmlns:m="http://schemas.openxmlformats.org/officeDocument/2006/math">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1</m:t>
                        </m:r>
                      </m:sub>
                    </m:sSub>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là điểm </a:t>
                </a: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 thoả mãn </a:t>
                </a:r>
                <a14:m>
                  <m:oMath xmlns:m="http://schemas.openxmlformats.org/officeDocument/2006/math">
                    <m:acc>
                      <m:accPr>
                        <m:chr m:val="⃗"/>
                      </m:accPr>
                      <m:e>
                        <m:r>
                          <a:rPr lang="vi-VN" sz="2200" b="0">
                            <a:solidFill>
                              <a:srgbClr val="1E293B"/>
                            </a:solidFill>
                            <a:latin typeface="Cambria Math" panose="02040503050406030204" pitchFamily="18" charset="0"/>
                          </a:rPr>
                          <m:t>G</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1</m:t>
                            </m:r>
                          </m:sub>
                        </m:sSub>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2</m:t>
                            </m:r>
                          </m:sub>
                        </m:sSub>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13" name="TextBox 12"/>
              <p:cNvSpPr txBox="1"/>
              <p:nvPr/>
            </p:nvSpPr>
            <p:spPr>
              <a:xfrm>
                <a:off x="713232" y="3782568"/>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Trong Vật lí, trọng tâm của vật mỏng hình đa giác </a:t>
                </a:r>
                <a:r>
                  <a:rPr lang="vi-VN"/>
                  <a:t>A_1A_2\ldots A_n</a:t>
                </a:r>
                <a:r>
                  <a:rPr sz="2200">
                    <a:solidFill>
                      <a:srgbClr val="1E293B"/>
                    </a:solidFill>
                    <a:latin typeface="Calibri"/>
                  </a:rPr>
                  <a:t> là điểm </a:t>
                </a:r>
                <a:r>
                  <a:rPr lang="vi-VN"/>
                  <a:t>G</a:t>
                </a:r>
                <a:r>
                  <a:rPr sz="2200">
                    <a:solidFill>
                      <a:srgbClr val="1E293B"/>
                    </a:solidFill>
                    <a:latin typeface="Calibri"/>
                  </a:rPr>
                  <a:t> thoả mãn </a:t>
                </a:r>
                <a:r>
                  <a:rPr lang="vi-VN"/>
                  <a:t>\overrightarrow{GA_1}+\overrightarrow{GA_2}+\cdots+\overrightarrow{GA_n}=\vec{0}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TỔNG HỢP LỰC, TỔNG HỢP VẬN TỐC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24</a:t>
            </a:r>
          </a:p>
        </p:txBody>
      </p:sp>
      <p:sp>
        <p:nvSpPr>
          <p:cNvPr id="7" name="Rounded Rectangle 6"/>
          <p:cNvSpPr/>
          <p:nvPr/>
        </p:nvSpPr>
        <p:spPr>
          <a:xfrm>
            <a:off x="548640" y="1463040"/>
            <a:ext cx="11064240" cy="327050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3197352"/>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Phép cộng vectơ tương ứng với các quy tắc tổng hợp lực, tổng hợp vận tốc:</a:t>
                </a:r>
              </a:p>
              <a:p>
                <a:pPr algn="l" marL="365760" indent="-365760">
                  <a:spcAft>
                    <a:spcPts val="800"/>
                  </a:spcAft>
                  <a:buClr>
                    <a:srgbClr val="1E40AF"/>
                  </a:buClr>
                  <a:buFont typeface="Arial"/>
                  <a:buChar char="•"/>
                </a:pPr>
                <a:r>
                  <a:rPr sz="2300">
                    <a:solidFill>
                      <a:srgbClr val="1E293B"/>
                    </a:solidFill>
                    <a:latin typeface="Calibri"/>
                  </a:rPr>
                  <a:t>Nếu hai lực cùng tác động vào chất điểm </a:t>
                </a:r>
                <a14:m>
                  <m:oMath xmlns:m="http://schemas.openxmlformats.org/officeDocument/2006/math">
                    <m:r>
                      <a:rPr lang="vi-VN" sz="2300" b="0">
                        <a:solidFill>
                          <a:srgbClr val="1E293B"/>
                        </a:solidFill>
                        <a:latin typeface="Cambria Math" panose="02040503050406030204" pitchFamily="18" charset="0"/>
                      </a:rPr>
                      <m:t>A</m:t>
                    </m:r>
                  </m:oMath>
                </a14:m>
                <a:r>
                  <a:rPr sz="2300">
                    <a:solidFill>
                      <a:srgbClr val="1E293B"/>
                    </a:solidFill>
                    <a:latin typeface="Calibri"/>
                  </a:rPr>
                  <a:t> và được biểu diễn bởi các vectơ </a:t>
                </a:r>
                <a14:m>
                  <m:oMath xmlns:m="http://schemas.openxmlformats.org/officeDocument/2006/math">
                    <m:acc>
                      <m:accPr>
                        <m:chr m:val="⃗"/>
                      </m:accPr>
                      <m:e>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e>
                    </m:acc>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acc>
                      <m:accPr>
                        <m:chr m:val="⃗"/>
                      </m:accPr>
                      <m:e>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2</m:t>
                            </m:r>
                          </m:sub>
                        </m:sSub>
                      </m:e>
                    </m:acc>
                  </m:oMath>
                </a14:m>
                <a:r>
                  <a:rPr sz="2300">
                    <a:solidFill>
                      <a:srgbClr val="1E293B"/>
                    </a:solidFill>
                    <a:latin typeface="Calibri"/>
                  </a:rPr>
                  <a:t> thì hợp lực tác động vào </a:t>
                </a:r>
                <a14:m>
                  <m:oMath xmlns:m="http://schemas.openxmlformats.org/officeDocument/2006/math">
                    <m:r>
                      <a:rPr lang="vi-VN" sz="2300" b="0">
                        <a:solidFill>
                          <a:srgbClr val="1E293B"/>
                        </a:solidFill>
                        <a:latin typeface="Cambria Math" panose="02040503050406030204" pitchFamily="18" charset="0"/>
                      </a:rPr>
                      <m:t>A</m:t>
                    </m:r>
                  </m:oMath>
                </a14:m>
                <a:r>
                  <a:rPr sz="2300">
                    <a:solidFill>
                      <a:srgbClr val="1E293B"/>
                    </a:solidFill>
                    <a:latin typeface="Calibri"/>
                  </a:rPr>
                  <a:t> được biểu diễn bởi vectơ </a:t>
                </a:r>
                <a14:m>
                  <m:oMath xmlns:m="http://schemas.openxmlformats.org/officeDocument/2006/math">
                    <m:acc>
                      <m:accPr>
                        <m:chr m:val="⃗"/>
                      </m:accPr>
                      <m:e>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e>
                    </m:acc>
                    <m:r>
                      <a:rPr lang="vi-VN" sz="2300" b="0">
                        <a:solidFill>
                          <a:srgbClr val="1E293B"/>
                        </a:solidFill>
                        <a:latin typeface="Cambria Math" panose="02040503050406030204" pitchFamily="18" charset="0"/>
                      </a:rPr>
                      <m:t>+</m:t>
                    </m:r>
                    <m:acc>
                      <m:accPr>
                        <m:chr m:val="⃗"/>
                      </m:accPr>
                      <m:e>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2</m:t>
                            </m:r>
                          </m:sub>
                        </m:sSub>
                      </m:e>
                    </m:acc>
                  </m:oMath>
                </a14:m>
                <a:r>
                  <a:rPr sz="2300">
                    <a:solidFill>
                      <a:srgbClr val="1E293B"/>
                    </a:solidFill>
                    <a:latin typeface="Calibri"/>
                  </a:rPr>
                  <a:t>.</a:t>
                </a:r>
              </a:p>
              <a:p>
                <a:pPr algn="l" marL="365760" indent="-365760">
                  <a:spcAft>
                    <a:spcPts val="800"/>
                  </a:spcAft>
                  <a:buClr>
                    <a:srgbClr val="1E40AF"/>
                  </a:buClr>
                  <a:buFont typeface="Arial"/>
                  <a:buChar char="•"/>
                </a:pPr>
                <a:r>
                  <a:rPr sz="2300">
                    <a:solidFill>
                      <a:srgbClr val="1E293B"/>
                    </a:solidFill>
                    <a:latin typeface="Calibri"/>
                  </a:rPr>
                  <a:t>Nếu một con thuyền di chuyển trên sông với vận tốc riêng (so với dòng nước) được biểu diễn bởi vectơ </a:t>
                </a:r>
                <a14:m>
                  <m:oMath xmlns:m="http://schemas.openxmlformats.org/officeDocument/2006/math">
                    <m:acc>
                      <m:accPr>
                        <m:chr m:val="⃗"/>
                      </m:accPr>
                      <m:e>
                        <m:sSub>
                          <m:e>
                            <m:r>
                              <a:rPr lang="vi-VN" sz="2300" b="0">
                                <a:solidFill>
                                  <a:srgbClr val="1E293B"/>
                                </a:solidFill>
                                <a:latin typeface="Cambria Math" panose="02040503050406030204" pitchFamily="18" charset="0"/>
                              </a:rPr>
                              <m:t>v</m:t>
                            </m:r>
                          </m:e>
                          <m:sub>
                            <m:r>
                              <a:rPr lang="vi-VN" sz="2300" b="0">
                                <a:solidFill>
                                  <a:srgbClr val="1E293B"/>
                                </a:solidFill>
                                <a:latin typeface="Cambria Math" panose="02040503050406030204" pitchFamily="18" charset="0"/>
                              </a:rPr>
                              <m:t>r</m:t>
                            </m:r>
                          </m:sub>
                        </m:sSub>
                      </m:e>
                    </m:acc>
                  </m:oMath>
                </a14:m>
                <a:r>
                  <a:rPr sz="2300">
                    <a:solidFill>
                      <a:srgbClr val="1E293B"/>
                    </a:solidFill>
                    <a:latin typeface="Calibri"/>
                  </a:rPr>
                  <a:t> và vận tốc của dòng nước (so với bờ) được biểu diễn bởi vectơ </a:t>
                </a:r>
                <a14:m>
                  <m:oMath xmlns:m="http://schemas.openxmlformats.org/officeDocument/2006/math">
                    <m:acc>
                      <m:accPr>
                        <m:chr m:val="⃗"/>
                      </m:accPr>
                      <m:e>
                        <m:sSub>
                          <m:e>
                            <m:r>
                              <a:rPr lang="vi-VN" sz="2300" b="0">
                                <a:solidFill>
                                  <a:srgbClr val="1E293B"/>
                                </a:solidFill>
                                <a:latin typeface="Cambria Math" panose="02040503050406030204" pitchFamily="18" charset="0"/>
                              </a:rPr>
                              <m:t>v</m:t>
                            </m:r>
                          </m:e>
                          <m:sub>
                            <m:r>
                              <a:rPr lang="vi-VN" sz="2300" b="0">
                                <a:solidFill>
                                  <a:srgbClr val="1E293B"/>
                                </a:solidFill>
                                <a:latin typeface="Cambria Math" panose="02040503050406030204" pitchFamily="18" charset="0"/>
                              </a:rPr>
                              <m:t>n</m:t>
                            </m:r>
                          </m:sub>
                        </m:sSub>
                      </m:e>
                    </m:acc>
                  </m:oMath>
                </a14:m>
                <a:r>
                  <a:rPr sz="2300">
                    <a:solidFill>
                      <a:srgbClr val="1E293B"/>
                    </a:solidFill>
                    <a:latin typeface="Calibri"/>
                  </a:rPr>
                  <a:t> thì vận tốc thực tế của thuyền (so với bờ) được biểu diễn bởi vectơ </a:t>
                </a:r>
                <a14:m>
                  <m:oMath xmlns:m="http://schemas.openxmlformats.org/officeDocument/2006/math">
                    <m:acc>
                      <m:accPr>
                        <m:chr m:val="⃗"/>
                      </m:accPr>
                      <m:e>
                        <m:sSub>
                          <m:e>
                            <m:r>
                              <a:rPr lang="vi-VN" sz="2300" b="0">
                                <a:solidFill>
                                  <a:srgbClr val="1E293B"/>
                                </a:solidFill>
                                <a:latin typeface="Cambria Math" panose="02040503050406030204" pitchFamily="18" charset="0"/>
                              </a:rPr>
                              <m:t>v</m:t>
                            </m:r>
                          </m:e>
                          <m:sub>
                            <m:r>
                              <a:rPr lang="vi-VN" sz="2300" b="0">
                                <a:solidFill>
                                  <a:srgbClr val="1E293B"/>
                                </a:solidFill>
                                <a:latin typeface="Cambria Math" panose="02040503050406030204" pitchFamily="18" charset="0"/>
                              </a:rPr>
                              <m:t>r</m:t>
                            </m:r>
                          </m:sub>
                        </m:sSub>
                      </m:e>
                    </m:acc>
                    <m:r>
                      <a:rPr lang="vi-VN" sz="2300" b="0">
                        <a:solidFill>
                          <a:srgbClr val="1E293B"/>
                        </a:solidFill>
                        <a:latin typeface="Cambria Math" panose="02040503050406030204" pitchFamily="18" charset="0"/>
                      </a:rPr>
                      <m:t>+</m:t>
                    </m:r>
                    <m:acc>
                      <m:accPr>
                        <m:chr m:val="⃗"/>
                      </m:accPr>
                      <m:e>
                        <m:sSub>
                          <m:e>
                            <m:r>
                              <a:rPr lang="vi-VN" sz="2300" b="0">
                                <a:solidFill>
                                  <a:srgbClr val="1E293B"/>
                                </a:solidFill>
                                <a:latin typeface="Cambria Math" panose="02040503050406030204" pitchFamily="18" charset="0"/>
                              </a:rPr>
                              <m:t>v</m:t>
                            </m:r>
                          </m:e>
                          <m:sub>
                            <m:r>
                              <a:rPr lang="vi-VN" sz="2300" b="0">
                                <a:solidFill>
                                  <a:srgbClr val="1E293B"/>
                                </a:solidFill>
                                <a:latin typeface="Cambria Math" panose="02040503050406030204" pitchFamily="18" charset="0"/>
                              </a:rPr>
                              <m:t>n</m:t>
                            </m:r>
                          </m:sub>
                        </m:sSub>
                      </m:e>
                    </m:acc>
                  </m:oMath>
                </a14:m>
                <a:r>
                  <a:rPr sz="2300">
                    <a:solidFill>
                      <a:srgbClr val="1E293B"/>
                    </a:solidFill>
                    <a:latin typeface="Calibri"/>
                  </a:rPr>
                  <a:t>.</a:t>
                </a:r>
              </a:p>
            </p:txBody>
          </p:sp>
        </mc:Choice>
        <mc:Fallback>
          <p:sp>
            <p:nvSpPr>
              <p:cNvPr id="8" name="TextBox 7"/>
              <p:cNvSpPr txBox="1"/>
              <p:nvPr/>
            </p:nvSpPr>
            <p:spPr>
              <a:xfrm>
                <a:off x="713232" y="1499616"/>
                <a:ext cx="10735056" cy="3197352"/>
              </a:xfrm>
              <a:prstGeom prst="rect">
                <a:avLst/>
              </a:prstGeom>
              <a:noFill/>
            </p:spPr>
            <p:txBody>
              <a:bodyPr wrap="square" anchor="ctr" lIns="45720" rIns="45720">
                <a:spAutoFit/>
              </a:bodyPr>
              <a:lstStyle/>
              <a:p>
                <a:pPr algn="l">
                  <a:spcAft>
                    <a:spcPts val="800"/>
                  </a:spcAft>
                </a:pPr>
                <a:r>
                  <a:rPr sz="2300" b="1">
                    <a:solidFill>
                      <a:srgbClr val="1E293B"/>
                    </a:solidFill>
                    <a:latin typeface="Calibri"/>
                  </a:rPr>
                  <a:t>Phép cộng vectơ tương ứng với các quy tắc tổng hợp lực, tổng hợp vận tốc:</a:t>
                </a:r>
              </a:p>
              <a:p>
                <a:pPr algn="l" marL="365760" indent="-365760">
                  <a:spcAft>
                    <a:spcPts val="800"/>
                  </a:spcAft>
                  <a:buClr>
                    <a:srgbClr val="1E40AF"/>
                  </a:buClr>
                  <a:buFont typeface="Arial"/>
                  <a:buChar char="•"/>
                </a:pPr>
                <a:r>
                  <a:rPr sz="2300">
                    <a:solidFill>
                      <a:srgbClr val="1E293B"/>
                    </a:solidFill>
                    <a:latin typeface="Calibri"/>
                  </a:rPr>
                  <a:t>Nếu hai lực cùng tác động vào chất điểm </a:t>
                </a:r>
                <a:r>
                  <a:rPr lang="vi-VN"/>
                  <a:t>A</a:t>
                </a:r>
                <a:r>
                  <a:rPr sz="2300">
                    <a:solidFill>
                      <a:srgbClr val="1E293B"/>
                    </a:solidFill>
                    <a:latin typeface="Calibri"/>
                  </a:rPr>
                  <a:t> và được biểu diễn bởi các vectơ </a:t>
                </a:r>
                <a:r>
                  <a:rPr lang="vi-VN"/>
                  <a:t>\vec{u_1},\ \vec{u_2}</a:t>
                </a:r>
                <a:r>
                  <a:rPr sz="2300">
                    <a:solidFill>
                      <a:srgbClr val="1E293B"/>
                    </a:solidFill>
                    <a:latin typeface="Calibri"/>
                  </a:rPr>
                  <a:t> thì hợp lực tác động vào </a:t>
                </a:r>
                <a:r>
                  <a:rPr lang="vi-VN"/>
                  <a:t>A</a:t>
                </a:r>
                <a:r>
                  <a:rPr sz="2300">
                    <a:solidFill>
                      <a:srgbClr val="1E293B"/>
                    </a:solidFill>
                    <a:latin typeface="Calibri"/>
                  </a:rPr>
                  <a:t> được biểu diễn bởi vectơ </a:t>
                </a:r>
                <a:r>
                  <a:rPr lang="vi-VN"/>
                  <a:t>\vec{u_1}+\vec{u_2}</a:t>
                </a:r>
                <a:r>
                  <a:rPr sz="2300">
                    <a:solidFill>
                      <a:srgbClr val="1E293B"/>
                    </a:solidFill>
                    <a:latin typeface="Calibri"/>
                  </a:rPr>
                  <a:t>.</a:t>
                </a:r>
              </a:p>
              <a:p>
                <a:pPr algn="l" marL="365760" indent="-365760">
                  <a:spcAft>
                    <a:spcPts val="800"/>
                  </a:spcAft>
                  <a:buClr>
                    <a:srgbClr val="1E40AF"/>
                  </a:buClr>
                  <a:buFont typeface="Arial"/>
                  <a:buChar char="•"/>
                </a:pPr>
                <a:r>
                  <a:rPr sz="2300">
                    <a:solidFill>
                      <a:srgbClr val="1E293B"/>
                    </a:solidFill>
                    <a:latin typeface="Calibri"/>
                  </a:rPr>
                  <a:t>Nếu một con thuyền di chuyển trên sông với vận tốc riêng (so với dòng nước) được biểu diễn bởi vectơ </a:t>
                </a:r>
                <a:r>
                  <a:rPr lang="vi-VN"/>
                  <a:t>\vec{v_r}</a:t>
                </a:r>
                <a:r>
                  <a:rPr sz="2300">
                    <a:solidFill>
                      <a:srgbClr val="1E293B"/>
                    </a:solidFill>
                    <a:latin typeface="Calibri"/>
                  </a:rPr>
                  <a:t> và vận tốc của dòng nước (so với bờ) được biểu diễn bởi vectơ </a:t>
                </a:r>
                <a:r>
                  <a:rPr lang="vi-VN"/>
                  <a:t>\vec{v_n}</a:t>
                </a:r>
                <a:r>
                  <a:rPr sz="2300">
                    <a:solidFill>
                      <a:srgbClr val="1E293B"/>
                    </a:solidFill>
                    <a:latin typeface="Calibri"/>
                  </a:rPr>
                  <a:t> thì vận tốc thực tế của thuyền (so với bờ) được biểu diễn bởi vectơ </a:t>
                </a:r>
                <a:r>
                  <a:rPr lang="vi-VN"/>
                  <a:t>\vec{v_r}+\vec{v_n}</a:t>
                </a:r>
                <a:r>
                  <a:rPr sz="2300">
                    <a:solidFill>
                      <a:srgbClr val="1E293B"/>
                    </a:solidFill>
                    <a:latin typeface="Calibri"/>
                  </a:rPr>
                  <a:t>.</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4 – GIẢI BÀI TOÁN MỞ ĐẦU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042415"/>
              </a:xfrm>
              <a:prstGeom prst="rect">
                <a:avLst/>
              </a:prstGeom>
              <a:noFill/>
            </p:spPr>
            <p:txBody>
              <a:bodyPr wrap="square" anchor="t" lIns="45720" rIns="45720">
                <a:spAutoFit/>
              </a:bodyPr>
              <a:lstStyle/>
              <a:p>
                <a:pPr algn="l">
                  <a:spcAft>
                    <a:spcPts val="800"/>
                  </a:spcAft>
                </a:pPr>
                <a:r>
                  <a:rPr sz="1900">
                    <a:solidFill>
                      <a:srgbClr val="1E293B"/>
                    </a:solidFill>
                    <a:latin typeface="Calibri"/>
                  </a:rPr>
                  <a:t>Biểu thị hai bờ sông là hai đường thẳng song song </a:t>
                </a:r>
                <a14:m>
                  <m:oMath xmlns:m="http://schemas.openxmlformats.org/officeDocument/2006/math">
                    <m:sSub>
                      <m:e>
                        <m:r>
                          <a:rPr lang="vi-VN" sz="1900" b="0">
                            <a:solidFill>
                              <a:srgbClr val="1E293B"/>
                            </a:solidFill>
                            <a:latin typeface="Cambria Math" panose="02040503050406030204" pitchFamily="18" charset="0"/>
                          </a:rPr>
                          <m:t>d</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sSub>
                      <m:e>
                        <m:r>
                          <a:rPr lang="vi-VN" sz="1900" b="0">
                            <a:solidFill>
                              <a:srgbClr val="1E293B"/>
                            </a:solidFill>
                            <a:latin typeface="Cambria Math" panose="02040503050406030204" pitchFamily="18" charset="0"/>
                          </a:rPr>
                          <m:t>d</m:t>
                        </m:r>
                      </m:e>
                      <m:sub>
                        <m:r>
                          <a:rPr lang="vi-VN" sz="1900" b="0">
                            <a:solidFill>
                              <a:srgbClr val="1E293B"/>
                            </a:solidFill>
                            <a:latin typeface="Cambria Math" panose="02040503050406030204" pitchFamily="18" charset="0"/>
                          </a:rPr>
                          <m:t>2</m:t>
                        </m:r>
                      </m:sub>
                    </m:sSub>
                  </m:oMath>
                </a14:m>
                <a:r>
                  <a:rPr sz="1900">
                    <a:solidFill>
                      <a:srgbClr val="1E293B"/>
                    </a:solidFill>
                    <a:latin typeface="Calibri"/>
                  </a:rPr>
                  <a:t>. Tàu xuất phát từ </a:t>
                </a:r>
                <a14:m>
                  <m:oMath xmlns:m="http://schemas.openxmlformats.org/officeDocument/2006/math">
                    <m:r>
                      <a:rPr lang="vi-VN" sz="1900" b="0">
                        <a:solidFill>
                          <a:srgbClr val="1E293B"/>
                        </a:solidFill>
                        <a:latin typeface="Cambria Math" panose="02040503050406030204" pitchFamily="18" charset="0"/>
                      </a:rPr>
                      <m:t>A∈</m:t>
                    </m:r>
                    <m:sSub>
                      <m:e>
                        <m:r>
                          <a:rPr lang="vi-VN" sz="1900" b="0">
                            <a:solidFill>
                              <a:srgbClr val="1E293B"/>
                            </a:solidFill>
                            <a:latin typeface="Cambria Math" panose="02040503050406030204" pitchFamily="18" charset="0"/>
                          </a:rPr>
                          <m:t>d</m:t>
                        </m:r>
                      </m:e>
                      <m:sub>
                        <m:r>
                          <a:rPr lang="vi-VN" sz="1900" b="0">
                            <a:solidFill>
                              <a:srgbClr val="1E293B"/>
                            </a:solidFill>
                            <a:latin typeface="Cambria Math" panose="02040503050406030204" pitchFamily="18" charset="0"/>
                          </a:rPr>
                          <m:t>1</m:t>
                        </m:r>
                      </m:sub>
                    </m:sSub>
                  </m:oMath>
                </a14:m>
                <a:r>
                  <a:rPr sz="1900">
                    <a:solidFill>
                      <a:srgbClr val="1E293B"/>
                    </a:solidFill>
                    <a:latin typeface="Calibri"/>
                  </a:rPr>
                  <a:t>, bánh lái giữ để tàu tạo với bờ góc </a:t>
                </a:r>
                <a14:m>
                  <m:oMath xmlns:m="http://schemas.openxmlformats.org/officeDocument/2006/math">
                    <m:r>
                      <a:rPr lang="vi-VN" sz="1900" b="0">
                        <a:solidFill>
                          <a:srgbClr val="1E293B"/>
                        </a:solidFill>
                        <a:latin typeface="Cambria Math" panose="02040503050406030204" pitchFamily="18" charset="0"/>
                      </a:rPr>
                      <m:t>α</m:t>
                    </m:r>
                  </m:oMath>
                </a14:m>
                <a:r>
                  <a:rPr sz="1900">
                    <a:solidFill>
                      <a:srgbClr val="1E293B"/>
                    </a:solidFill>
                    <a:latin typeface="Calibri"/>
                  </a:rPr>
                  <a:t>. </a:t>
                </a:r>
                <a14:m>
                  <m:oMath xmlns:m="http://schemas.openxmlformats.org/officeDocument/2006/math">
                    <m:acc>
                      <m:accPr>
                        <m:chr m:val="⃗"/>
                      </m:accPr>
                      <m:e>
                        <m:sSub>
                          <m:e>
                            <m:r>
                              <a:rPr lang="vi-VN" sz="1900" b="0">
                                <a:solidFill>
                                  <a:srgbClr val="1E293B"/>
                                </a:solidFill>
                                <a:latin typeface="Cambria Math" panose="02040503050406030204" pitchFamily="18" charset="0"/>
                              </a:rPr>
                              <m:t>v</m:t>
                            </m:r>
                          </m:e>
                          <m:sub>
                            <m:r>
                              <a:rPr lang="vi-VN" sz="1900" b="0">
                                <a:solidFill>
                                  <a:srgbClr val="1E293B"/>
                                </a:solidFill>
                                <a:latin typeface="Cambria Math" panose="02040503050406030204" pitchFamily="18" charset="0"/>
                              </a:rPr>
                              <m:t>r</m:t>
                            </m:r>
                          </m:sub>
                        </m:sSub>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AM</m:t>
                        </m:r>
                      </m:e>
                    </m:acc>
                  </m:oMath>
                </a14:m>
                <a:r>
                  <a:rPr sz="1900">
                    <a:solidFill>
                      <a:srgbClr val="1E293B"/>
                    </a:solidFill>
                    <a:latin typeface="Calibri"/>
                  </a:rPr>
                  <a:t>: vận tốc riêng; </a:t>
                </a:r>
                <a14:m>
                  <m:oMath xmlns:m="http://schemas.openxmlformats.org/officeDocument/2006/math">
                    <m:acc>
                      <m:accPr>
                        <m:chr m:val="⃗"/>
                      </m:accPr>
                      <m:e>
                        <m:sSub>
                          <m:e>
                            <m:r>
                              <a:rPr lang="vi-VN" sz="1900" b="0">
                                <a:solidFill>
                                  <a:srgbClr val="1E293B"/>
                                </a:solidFill>
                                <a:latin typeface="Cambria Math" panose="02040503050406030204" pitchFamily="18" charset="0"/>
                              </a:rPr>
                              <m:t>v</m:t>
                            </m:r>
                          </m:e>
                          <m:sub>
                            <m:r>
                              <a:rPr lang="vi-VN" sz="1900" b="0">
                                <a:solidFill>
                                  <a:srgbClr val="1E293B"/>
                                </a:solidFill>
                                <a:latin typeface="Cambria Math" panose="02040503050406030204" pitchFamily="18" charset="0"/>
                              </a:rPr>
                              <m:t>n</m:t>
                            </m:r>
                          </m:sub>
                        </m:sSub>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MN</m:t>
                        </m:r>
                      </m:e>
                    </m:acc>
                  </m:oMath>
                </a14:m>
                <a:r>
                  <a:rPr sz="1900">
                    <a:solidFill>
                      <a:srgbClr val="1E293B"/>
                    </a:solidFill>
                    <a:latin typeface="Calibri"/>
                  </a:rPr>
                  <a:t>: vận tốc dòng nước.</a:t>
                </a:r>
              </a:p>
            </p:txBody>
          </p:sp>
        </mc:Choice>
        <mc:Fallback>
          <p:sp>
            <p:nvSpPr>
              <p:cNvPr id="7" name="TextBox 6"/>
              <p:cNvSpPr txBox="1"/>
              <p:nvPr/>
            </p:nvSpPr>
            <p:spPr>
              <a:xfrm>
                <a:off x="548640" y="1371600"/>
                <a:ext cx="7863840" cy="1042415"/>
              </a:xfrm>
              <a:prstGeom prst="rect">
                <a:avLst/>
              </a:prstGeom>
              <a:noFill/>
            </p:spPr>
            <p:txBody>
              <a:bodyPr wrap="square" anchor="t" lIns="45720" rIns="45720">
                <a:spAutoFit/>
              </a:bodyPr>
              <a:lstStyle/>
              <a:p>
                <a:pPr algn="l">
                  <a:spcAft>
                    <a:spcPts val="800"/>
                  </a:spcAft>
                </a:pPr>
                <a:r>
                  <a:rPr sz="1900">
                    <a:solidFill>
                      <a:srgbClr val="1E293B"/>
                    </a:solidFill>
                    <a:latin typeface="Calibri"/>
                  </a:rPr>
                  <a:t>Biểu thị hai bờ sông là hai đường thẳng song song </a:t>
                </a:r>
                <a:r>
                  <a:rPr lang="vi-VN"/>
                  <a:t>d_1,\ d_2</a:t>
                </a:r>
                <a:r>
                  <a:rPr sz="1900">
                    <a:solidFill>
                      <a:srgbClr val="1E293B"/>
                    </a:solidFill>
                    <a:latin typeface="Calibri"/>
                  </a:rPr>
                  <a:t>. Tàu xuất phát từ </a:t>
                </a:r>
                <a:r>
                  <a:rPr lang="vi-VN"/>
                  <a:t>A\in d_1</a:t>
                </a:r>
                <a:r>
                  <a:rPr sz="1900">
                    <a:solidFill>
                      <a:srgbClr val="1E293B"/>
                    </a:solidFill>
                    <a:latin typeface="Calibri"/>
                  </a:rPr>
                  <a:t>, bánh lái giữ để tàu tạo với bờ góc </a:t>
                </a:r>
                <a:r>
                  <a:rPr lang="vi-VN"/>
                  <a:t>\alpha</a:t>
                </a:r>
                <a:r>
                  <a:rPr sz="1900">
                    <a:solidFill>
                      <a:srgbClr val="1E293B"/>
                    </a:solidFill>
                    <a:latin typeface="Calibri"/>
                  </a:rPr>
                  <a:t>. </a:t>
                </a:r>
                <a:r>
                  <a:rPr lang="vi-VN"/>
                  <a:t>\vec{v_r}</a:t>
                </a:r>
                <a:r>
                  <a:rPr sz="1900">
                    <a:solidFill>
                      <a:srgbClr val="1E293B"/>
                    </a:solidFill>
                    <a:latin typeface="Calibri"/>
                  </a:rPr>
                  <a:t> = </a:t>
                </a:r>
                <a:r>
                  <a:rPr lang="vi-VN"/>
                  <a:t>\overrightarrow{AM}</a:t>
                </a:r>
                <a:r>
                  <a:rPr sz="1900">
                    <a:solidFill>
                      <a:srgbClr val="1E293B"/>
                    </a:solidFill>
                    <a:latin typeface="Calibri"/>
                  </a:rPr>
                  <a:t>: vận tốc riêng; </a:t>
                </a:r>
                <a:r>
                  <a:rPr lang="vi-VN"/>
                  <a:t>\vec{v_n}</a:t>
                </a:r>
                <a:r>
                  <a:rPr sz="1900">
                    <a:solidFill>
                      <a:srgbClr val="1E293B"/>
                    </a:solidFill>
                    <a:latin typeface="Calibri"/>
                  </a:rPr>
                  <a:t> = </a:t>
                </a:r>
                <a:r>
                  <a:rPr lang="vi-VN"/>
                  <a:t>\overrightarrow{MN}</a:t>
                </a:r>
                <a:r>
                  <a:rPr sz="1900">
                    <a:solidFill>
                      <a:srgbClr val="1E293B"/>
                    </a:solidFill>
                    <a:latin typeface="Calibri"/>
                  </a:rPr>
                  <a:t>: vận tốc dòng nước.</a:t>
                </a:r>
              </a:p>
            </p:txBody>
          </p:sp>
        </mc:Fallback>
      </mc:AlternateContent>
      <p:sp>
        <p:nvSpPr>
          <p:cNvPr id="8" name="s1_nen"/>
          <p:cNvSpPr/>
          <p:nvPr/>
        </p:nvSpPr>
        <p:spPr>
          <a:xfrm>
            <a:off x="548640" y="2468880"/>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05456"/>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Vận tốc thực tế: </a:t>
                </a:r>
                <a14:m>
                  <m:oMath xmlns:m="http://schemas.openxmlformats.org/officeDocument/2006/math">
                    <m:acc>
                      <m:accPr>
                        <m:chr m:val="⃗"/>
                      </m:accPr>
                      <m:e>
                        <m:r>
                          <a:rPr lang="vi-VN" sz="1900" b="0">
                            <a:solidFill>
                              <a:srgbClr val="1E293B"/>
                            </a:solidFill>
                            <a:latin typeface="Cambria Math" panose="02040503050406030204" pitchFamily="18" charset="0"/>
                          </a:rPr>
                          <m:t>v</m:t>
                        </m:r>
                      </m:e>
                    </m:acc>
                    <m:r>
                      <a:rPr lang="vi-VN" sz="1900" b="0">
                        <a:solidFill>
                          <a:srgbClr val="1E293B"/>
                        </a:solidFill>
                        <a:latin typeface="Cambria Math" panose="02040503050406030204" pitchFamily="18" charset="0"/>
                      </a:rPr>
                      <m:t>=</m:t>
                    </m:r>
                    <m:acc>
                      <m:accPr>
                        <m:chr m:val="⃗"/>
                      </m:accPr>
                      <m:e>
                        <m:sSub>
                          <m:e>
                            <m:r>
                              <a:rPr lang="vi-VN" sz="1900" b="0">
                                <a:solidFill>
                                  <a:srgbClr val="1E293B"/>
                                </a:solidFill>
                                <a:latin typeface="Cambria Math" panose="02040503050406030204" pitchFamily="18" charset="0"/>
                              </a:rPr>
                              <m:t>v</m:t>
                            </m:r>
                          </m:e>
                          <m:sub>
                            <m:r>
                              <a:rPr lang="vi-VN" sz="1900" b="0">
                                <a:solidFill>
                                  <a:srgbClr val="1E293B"/>
                                </a:solidFill>
                                <a:latin typeface="Cambria Math" panose="02040503050406030204" pitchFamily="18" charset="0"/>
                              </a:rPr>
                              <m:t>r</m:t>
                            </m:r>
                          </m:sub>
                        </m:sSub>
                      </m:e>
                    </m:acc>
                    <m:r>
                      <a:rPr lang="vi-VN" sz="1900" b="0">
                        <a:solidFill>
                          <a:srgbClr val="1E293B"/>
                        </a:solidFill>
                        <a:latin typeface="Cambria Math" panose="02040503050406030204" pitchFamily="18" charset="0"/>
                      </a:rPr>
                      <m:t>+</m:t>
                    </m:r>
                    <m:acc>
                      <m:accPr>
                        <m:chr m:val="⃗"/>
                      </m:accPr>
                      <m:e>
                        <m:sSub>
                          <m:e>
                            <m:r>
                              <a:rPr lang="vi-VN" sz="1900" b="0">
                                <a:solidFill>
                                  <a:srgbClr val="1E293B"/>
                                </a:solidFill>
                                <a:latin typeface="Cambria Math" panose="02040503050406030204" pitchFamily="18" charset="0"/>
                              </a:rPr>
                              <m:t>v</m:t>
                            </m:r>
                          </m:e>
                          <m:sub>
                            <m:r>
                              <a:rPr lang="vi-VN" sz="1900" b="0">
                                <a:solidFill>
                                  <a:srgbClr val="1E293B"/>
                                </a:solidFill>
                                <a:latin typeface="Cambria Math" panose="02040503050406030204" pitchFamily="18" charset="0"/>
                              </a:rPr>
                              <m:t>n</m:t>
                            </m:r>
                          </m:sub>
                        </m:sSub>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AM</m:t>
                        </m:r>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MN</m:t>
                        </m:r>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AN</m:t>
                        </m:r>
                      </m:e>
                    </m:acc>
                  </m:oMath>
                </a14:m>
                <a:r>
                  <a:rPr sz="1900">
                    <a:solidFill>
                      <a:srgbClr val="1E293B"/>
                    </a:solidFill>
                    <a:latin typeface="Calibri"/>
                  </a:rPr>
                  <a:t>.</a:t>
                </a:r>
              </a:p>
            </p:txBody>
          </p:sp>
        </mc:Choice>
        <mc:Fallback>
          <p:sp>
            <p:nvSpPr>
              <p:cNvPr id="9" name="TextBox 8"/>
              <p:cNvSpPr txBox="1"/>
              <p:nvPr/>
            </p:nvSpPr>
            <p:spPr>
              <a:xfrm>
                <a:off x="713232" y="2505456"/>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Vận tốc thực tế: </a:t>
                </a:r>
                <a:r>
                  <a:rPr lang="vi-VN"/>
                  <a:t>\vec{v}=\vec{v_r}+\vec{v_n}</a:t>
                </a:r>
                <a:r>
                  <a:rPr sz="1900">
                    <a:solidFill>
                      <a:srgbClr val="1E293B"/>
                    </a:solidFill>
                    <a:latin typeface="Calibri"/>
                  </a:rPr>
                  <a:t> = </a:t>
                </a:r>
                <a:r>
                  <a:rPr lang="vi-VN"/>
                  <a:t>\overrightarrow{AM}</a:t>
                </a:r>
                <a:r>
                  <a:rPr sz="1900">
                    <a:solidFill>
                      <a:srgbClr val="1E293B"/>
                    </a:solidFill>
                    <a:latin typeface="Calibri"/>
                  </a:rPr>
                  <a:t> + </a:t>
                </a:r>
                <a:r>
                  <a:rPr lang="vi-VN"/>
                  <a:t>\overrightarrow{MN}</a:t>
                </a:r>
                <a:r>
                  <a:rPr sz="1900">
                    <a:solidFill>
                      <a:srgbClr val="1E293B"/>
                    </a:solidFill>
                    <a:latin typeface="Calibri"/>
                  </a:rPr>
                  <a:t> = </a:t>
                </a:r>
                <a:r>
                  <a:rPr lang="vi-VN"/>
                  <a:t>\overrightarrow{AN}</a:t>
                </a:r>
                <a:r>
                  <a:rPr sz="1900">
                    <a:solidFill>
                      <a:srgbClr val="1E293B"/>
                    </a:solidFill>
                    <a:latin typeface="Calibri"/>
                  </a:rPr>
                  <a:t>.</a:t>
                </a:r>
              </a:p>
            </p:txBody>
          </p:sp>
        </mc:Fallback>
      </mc:AlternateContent>
      <p:sp>
        <p:nvSpPr>
          <p:cNvPr id="10" name="s2_nen"/>
          <p:cNvSpPr/>
          <p:nvPr/>
        </p:nvSpPr>
        <p:spPr>
          <a:xfrm>
            <a:off x="548640" y="3078480"/>
            <a:ext cx="7863840" cy="11049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115056"/>
                <a:ext cx="7534656" cy="103174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Gọi </a:t>
                </a:r>
                <a14:m>
                  <m:oMath xmlns:m="http://schemas.openxmlformats.org/officeDocument/2006/math">
                    <m:r>
                      <a:rPr lang="vi-VN" sz="1900" b="0">
                        <a:solidFill>
                          <a:srgbClr val="1E293B"/>
                        </a:solidFill>
                        <a:latin typeface="Cambria Math" panose="02040503050406030204" pitchFamily="18" charset="0"/>
                      </a:rPr>
                      <m:t>B,</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C</m:t>
                    </m:r>
                  </m:oMath>
                </a14:m>
                <a:r>
                  <a:rPr sz="1900">
                    <a:solidFill>
                      <a:srgbClr val="1E293B"/>
                    </a:solidFill>
                    <a:latin typeface="Calibri"/>
                  </a:rPr>
                  <a:t> là giao điểm của </a:t>
                </a:r>
                <a14:m>
                  <m:oMath xmlns:m="http://schemas.openxmlformats.org/officeDocument/2006/math">
                    <m:r>
                      <a:rPr lang="vi-VN" sz="1900" b="0">
                        <a:solidFill>
                          <a:srgbClr val="1E293B"/>
                        </a:solidFill>
                        <a:latin typeface="Cambria Math" panose="02040503050406030204" pitchFamily="18" charset="0"/>
                      </a:rPr>
                      <m:t>AN,</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AM</m:t>
                    </m:r>
                  </m:oMath>
                </a14:m>
                <a:r>
                  <a:rPr sz="1900">
                    <a:solidFill>
                      <a:srgbClr val="1E293B"/>
                    </a:solidFill>
                    <a:latin typeface="Calibri"/>
                  </a:rPr>
                  <a:t> với </a:t>
                </a:r>
                <a14:m>
                  <m:oMath xmlns:m="http://schemas.openxmlformats.org/officeDocument/2006/math">
                    <m:sSub>
                      <m:e>
                        <m:r>
                          <a:rPr lang="vi-VN" sz="1900" b="0">
                            <a:solidFill>
                              <a:srgbClr val="1E293B"/>
                            </a:solidFill>
                            <a:latin typeface="Cambria Math" panose="02040503050406030204" pitchFamily="18" charset="0"/>
                          </a:rPr>
                          <m:t>d</m:t>
                        </m:r>
                      </m:e>
                      <m:sub>
                        <m:r>
                          <a:rPr lang="vi-VN" sz="1900" b="0">
                            <a:solidFill>
                              <a:srgbClr val="1E293B"/>
                            </a:solidFill>
                            <a:latin typeface="Cambria Math" panose="02040503050406030204" pitchFamily="18" charset="0"/>
                          </a:rPr>
                          <m:t>2</m:t>
                        </m:r>
                      </m:sub>
                    </m:sSub>
                  </m:oMath>
                </a14:m>
                <a:r>
                  <a:rPr sz="1900">
                    <a:solidFill>
                      <a:srgbClr val="1E293B"/>
                    </a:solidFill>
                    <a:latin typeface="Calibri"/>
                  </a:rPr>
                  <a:t>. Thời gian sang bờ: </a:t>
                </a:r>
                <a14:m>
                  <m:oMath xmlns:m="http://schemas.openxmlformats.org/officeDocument/2006/math">
                    <m:f>
                      <m:fPr>
                        <m:type m:val="bar"/>
                      </m:fPr>
                      <m:num>
                        <m:r>
                          <a:rPr lang="vi-VN" sz="1900" b="0">
                            <a:solidFill>
                              <a:srgbClr val="1E293B"/>
                            </a:solidFill>
                            <a:latin typeface="Cambria Math" panose="02040503050406030204" pitchFamily="18" charset="0"/>
                          </a:rPr>
                          <m:t>AB</m:t>
                        </m:r>
                      </m:num>
                      <m:den>
                        <m:r>
                          <a:rPr lang="vi-VN" sz="1900" b="0">
                            <a:solidFill>
                              <a:srgbClr val="1E293B"/>
                            </a:solidFill>
                            <a:latin typeface="Cambria Math" panose="02040503050406030204" pitchFamily="18" charset="0"/>
                          </a:rPr>
                          <m:t>AN</m:t>
                        </m:r>
                      </m:den>
                    </m:f>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AC</m:t>
                        </m:r>
                      </m:num>
                      <m:den>
                        <m:r>
                          <a:rPr lang="vi-VN" sz="1900" b="0">
                            <a:solidFill>
                              <a:srgbClr val="1E293B"/>
                            </a:solidFill>
                            <a:latin typeface="Cambria Math" panose="02040503050406030204" pitchFamily="18" charset="0"/>
                          </a:rPr>
                          <m:t>AM</m:t>
                        </m:r>
                      </m:den>
                    </m:f>
                  </m:oMath>
                </a14:m>
                <a:r>
                  <a:rPr sz="1900">
                    <a:solidFill>
                      <a:srgbClr val="1E293B"/>
                    </a:solidFill>
                    <a:latin typeface="Calibri"/>
                  </a:rPr>
                  <a:t>.</a:t>
                </a:r>
              </a:p>
            </p:txBody>
          </p:sp>
        </mc:Choice>
        <mc:Fallback>
          <p:sp>
            <p:nvSpPr>
              <p:cNvPr id="11" name="TextBox 10"/>
              <p:cNvSpPr txBox="1"/>
              <p:nvPr/>
            </p:nvSpPr>
            <p:spPr>
              <a:xfrm>
                <a:off x="713232" y="3115056"/>
                <a:ext cx="7534656" cy="103174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Gọi </a:t>
                </a:r>
                <a:r>
                  <a:rPr lang="vi-VN"/>
                  <a:t>B,\ C</a:t>
                </a:r>
                <a:r>
                  <a:rPr sz="1900">
                    <a:solidFill>
                      <a:srgbClr val="1E293B"/>
                    </a:solidFill>
                    <a:latin typeface="Calibri"/>
                  </a:rPr>
                  <a:t> là giao điểm của </a:t>
                </a:r>
                <a:r>
                  <a:rPr lang="vi-VN"/>
                  <a:t>AN,\ AM</a:t>
                </a:r>
                <a:r>
                  <a:rPr sz="1900">
                    <a:solidFill>
                      <a:srgbClr val="1E293B"/>
                    </a:solidFill>
                    <a:latin typeface="Calibri"/>
                  </a:rPr>
                  <a:t> với </a:t>
                </a:r>
                <a:r>
                  <a:rPr lang="vi-VN"/>
                  <a:t>d_2</a:t>
                </a:r>
                <a:r>
                  <a:rPr sz="1900">
                    <a:solidFill>
                      <a:srgbClr val="1E293B"/>
                    </a:solidFill>
                    <a:latin typeface="Calibri"/>
                  </a:rPr>
                  <a:t>. Thời gian sang bờ: </a:t>
                </a:r>
                <a:r>
                  <a:rPr lang="vi-VN"/>
                  <a:t>\frac{AB}{AN}=\frac{AC}{AM}</a:t>
                </a:r>
                <a:r>
                  <a:rPr sz="1900">
                    <a:solidFill>
                      <a:srgbClr val="1E293B"/>
                    </a:solidFill>
                    <a:latin typeface="Calibri"/>
                  </a:rPr>
                  <a:t>.</a:t>
                </a:r>
              </a:p>
            </p:txBody>
          </p:sp>
        </mc:Fallback>
      </mc:AlternateContent>
      <p:sp>
        <p:nvSpPr>
          <p:cNvPr id="12" name="s3_nen"/>
          <p:cNvSpPr/>
          <p:nvPr/>
        </p:nvSpPr>
        <p:spPr>
          <a:xfrm>
            <a:off x="548640" y="4238244"/>
            <a:ext cx="7863840" cy="97459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274820"/>
                <a:ext cx="75346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AM=|</m:t>
                    </m:r>
                    <m:acc>
                      <m:accPr>
                        <m:chr m:val="⃗"/>
                      </m:accPr>
                      <m:e>
                        <m:sSub>
                          <m:e>
                            <m:r>
                              <a:rPr lang="vi-VN" sz="1900" b="0">
                                <a:solidFill>
                                  <a:srgbClr val="1E293B"/>
                                </a:solidFill>
                                <a:latin typeface="Cambria Math" panose="02040503050406030204" pitchFamily="18" charset="0"/>
                              </a:rPr>
                              <m:t>v</m:t>
                            </m:r>
                          </m:e>
                          <m:sub>
                            <m:r>
                              <a:rPr lang="vi-VN" sz="1900" b="0">
                                <a:solidFill>
                                  <a:srgbClr val="1E293B"/>
                                </a:solidFill>
                                <a:latin typeface="Cambria Math" panose="02040503050406030204" pitchFamily="18" charset="0"/>
                              </a:rPr>
                              <m:t>r</m:t>
                            </m:r>
                          </m:sub>
                        </m:sSub>
                      </m:e>
                    </m:acc>
                    <m:r>
                      <a:rPr lang="vi-VN" sz="1900" b="0">
                        <a:solidFill>
                          <a:srgbClr val="1E293B"/>
                        </a:solidFill>
                        <a:latin typeface="Cambria Math" panose="02040503050406030204" pitchFamily="18" charset="0"/>
                      </a:rPr>
                      <m:t>|</m:t>
                    </m:r>
                  </m:oMath>
                </a14:m>
                <a:r>
                  <a:rPr sz="1900">
                    <a:solidFill>
                      <a:srgbClr val="1E293B"/>
                    </a:solidFill>
                    <a:latin typeface="Calibri"/>
                  </a:rPr>
                  <a:t> không đổi nên </a:t>
                </a:r>
                <a14:m>
                  <m:oMath xmlns:m="http://schemas.openxmlformats.org/officeDocument/2006/math">
                    <m:f>
                      <m:fPr>
                        <m:type m:val="bar"/>
                      </m:fPr>
                      <m:num>
                        <m:r>
                          <a:rPr lang="vi-VN" sz="1900" b="0">
                            <a:solidFill>
                              <a:srgbClr val="1E293B"/>
                            </a:solidFill>
                            <a:latin typeface="Cambria Math" panose="02040503050406030204" pitchFamily="18" charset="0"/>
                          </a:rPr>
                          <m:t>AC</m:t>
                        </m:r>
                      </m:num>
                      <m:den>
                        <m:r>
                          <a:rPr lang="vi-VN" sz="1900" b="0">
                            <a:solidFill>
                              <a:srgbClr val="1E293B"/>
                            </a:solidFill>
                            <a:latin typeface="Cambria Math" panose="02040503050406030204" pitchFamily="18" charset="0"/>
                          </a:rPr>
                          <m:t>AM</m:t>
                        </m:r>
                      </m:den>
                    </m:f>
                  </m:oMath>
                </a14:m>
                <a:r>
                  <a:rPr sz="1900">
                    <a:solidFill>
                      <a:srgbClr val="1E293B"/>
                    </a:solidFill>
                    <a:latin typeface="Calibri"/>
                  </a:rPr>
                  <a:t> nhỏ nhất ⇔ </a:t>
                </a:r>
                <a14:m>
                  <m:oMath xmlns:m="http://schemas.openxmlformats.org/officeDocument/2006/math">
                    <m:r>
                      <a:rPr lang="vi-VN" sz="1900" b="0">
                        <a:solidFill>
                          <a:srgbClr val="1E293B"/>
                        </a:solidFill>
                        <a:latin typeface="Cambria Math" panose="02040503050406030204" pitchFamily="18" charset="0"/>
                      </a:rPr>
                      <m:t>AC</m:t>
                    </m:r>
                  </m:oMath>
                </a14:m>
                <a:r>
                  <a:rPr sz="1900">
                    <a:solidFill>
                      <a:srgbClr val="1E293B"/>
                    </a:solidFill>
                    <a:latin typeface="Calibri"/>
                  </a:rPr>
                  <a:t> nhỏ nhất ⇔ </a:t>
                </a:r>
                <a14:m>
                  <m:oMath xmlns:m="http://schemas.openxmlformats.org/officeDocument/2006/math">
                    <m:r>
                      <a:rPr lang="vi-VN" sz="1900" b="0">
                        <a:solidFill>
                          <a:srgbClr val="1E293B"/>
                        </a:solidFill>
                        <a:latin typeface="Cambria Math" panose="02040503050406030204" pitchFamily="18" charset="0"/>
                      </a:rPr>
                      <m:t>AC⟂</m:t>
                    </m:r>
                    <m:sSub>
                      <m:e>
                        <m:r>
                          <a:rPr lang="vi-VN" sz="1900" b="0">
                            <a:solidFill>
                              <a:srgbClr val="1E293B"/>
                            </a:solidFill>
                            <a:latin typeface="Cambria Math" panose="02040503050406030204" pitchFamily="18" charset="0"/>
                          </a:rPr>
                          <m:t>d</m:t>
                        </m:r>
                      </m:e>
                      <m:sub>
                        <m:r>
                          <a:rPr lang="vi-VN" sz="1900" b="0">
                            <a:solidFill>
                              <a:srgbClr val="1E293B"/>
                            </a:solidFill>
                            <a:latin typeface="Cambria Math" panose="02040503050406030204" pitchFamily="18" charset="0"/>
                          </a:rPr>
                          <m:t>2</m:t>
                        </m:r>
                      </m:sub>
                    </m:sSub>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AM⟂</m:t>
                    </m:r>
                    <m:sSub>
                      <m:e>
                        <m:r>
                          <a:rPr lang="vi-VN" sz="1900" b="0">
                            <a:solidFill>
                              <a:srgbClr val="1E293B"/>
                            </a:solidFill>
                            <a:latin typeface="Cambria Math" panose="02040503050406030204" pitchFamily="18" charset="0"/>
                          </a:rPr>
                          <m:t>d</m:t>
                        </m:r>
                      </m:e>
                      <m:sub>
                        <m:r>
                          <a:rPr lang="vi-VN" sz="1900" b="0">
                            <a:solidFill>
                              <a:srgbClr val="1E293B"/>
                            </a:solidFill>
                            <a:latin typeface="Cambria Math" panose="02040503050406030204" pitchFamily="18" charset="0"/>
                          </a:rPr>
                          <m:t>2</m:t>
                        </m:r>
                      </m:sub>
                    </m:sSub>
                  </m:oMath>
                </a14:m>
                <a:r>
                  <a:rPr sz="1900">
                    <a:solidFill>
                      <a:srgbClr val="1E293B"/>
                    </a:solidFill>
                    <a:latin typeface="Calibri"/>
                  </a:rPr>
                  <a:t>.</a:t>
                </a:r>
              </a:p>
            </p:txBody>
          </p:sp>
        </mc:Choice>
        <mc:Fallback>
          <p:sp>
            <p:nvSpPr>
              <p:cNvPr id="13" name="TextBox 12"/>
              <p:cNvSpPr txBox="1"/>
              <p:nvPr/>
            </p:nvSpPr>
            <p:spPr>
              <a:xfrm>
                <a:off x="713232" y="4274820"/>
                <a:ext cx="75346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AM=|\vec{v_r}|</a:t>
                </a:r>
                <a:r>
                  <a:rPr sz="1900">
                    <a:solidFill>
                      <a:srgbClr val="1E293B"/>
                    </a:solidFill>
                    <a:latin typeface="Calibri"/>
                  </a:rPr>
                  <a:t> không đổi nên </a:t>
                </a:r>
                <a:r>
                  <a:rPr lang="vi-VN"/>
                  <a:t>\frac{AC}{AM}</a:t>
                </a:r>
                <a:r>
                  <a:rPr sz="1900">
                    <a:solidFill>
                      <a:srgbClr val="1E293B"/>
                    </a:solidFill>
                    <a:latin typeface="Calibri"/>
                  </a:rPr>
                  <a:t> nhỏ nhất ⇔ </a:t>
                </a:r>
                <a:r>
                  <a:rPr lang="vi-VN"/>
                  <a:t>AC</a:t>
                </a:r>
                <a:r>
                  <a:rPr sz="1900">
                    <a:solidFill>
                      <a:srgbClr val="1E293B"/>
                    </a:solidFill>
                    <a:latin typeface="Calibri"/>
                  </a:rPr>
                  <a:t> nhỏ nhất ⇔ </a:t>
                </a:r>
                <a:r>
                  <a:rPr lang="vi-VN"/>
                  <a:t>AC\perp d_2</a:t>
                </a:r>
                <a:r>
                  <a:rPr sz="1900">
                    <a:solidFill>
                      <a:srgbClr val="1E293B"/>
                    </a:solidFill>
                    <a:latin typeface="Calibri"/>
                  </a:rPr>
                  <a:t> ⇔ </a:t>
                </a:r>
                <a:r>
                  <a:rPr lang="vi-VN"/>
                  <a:t>AM\perp d_2</a:t>
                </a:r>
                <a:r>
                  <a:rPr sz="1900">
                    <a:solidFill>
                      <a:srgbClr val="1E293B"/>
                    </a:solidFill>
                    <a:latin typeface="Calibri"/>
                  </a:rPr>
                  <a:t>.</a:t>
                </a:r>
              </a:p>
            </p:txBody>
          </p:sp>
        </mc:Fallback>
      </mc:AlternateContent>
      <p:sp>
        <p:nvSpPr>
          <p:cNvPr id="14" name="s4_nen"/>
          <p:cNvSpPr/>
          <p:nvPr/>
        </p:nvSpPr>
        <p:spPr>
          <a:xfrm>
            <a:off x="548640" y="5267706"/>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4_chu"/>
          <p:cNvSpPr txBox="1"/>
          <p:nvPr/>
        </p:nvSpPr>
        <p:spPr>
          <a:xfrm>
            <a:off x="713232" y="5304282"/>
            <a:ext cx="7534656" cy="48158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Kết luận:</a:t>
            </a:r>
            <a:r>
              <a:rPr sz="1900">
                <a:solidFill>
                  <a:srgbClr val="1E293B"/>
                </a:solidFill>
                <a:latin typeface="Calibri"/>
              </a:rPr>
              <a:t> giữ bánh lái để tàu luôn </a:t>
            </a:r>
            <a:r>
              <a:rPr sz="1900" b="1">
                <a:solidFill>
                  <a:srgbClr val="1E293B"/>
                </a:solidFill>
                <a:latin typeface="Calibri"/>
              </a:rPr>
              <a:t>vuông góc với bờ</a:t>
            </a:r>
            <a:r>
              <a:rPr sz="1900">
                <a:solidFill>
                  <a:srgbClr val="1E293B"/>
                </a:solidFill>
                <a:latin typeface="Calibri"/>
              </a:rPr>
              <a:t>.</a:t>
            </a:r>
          </a:p>
        </p:txBody>
      </p:sp>
      <p:pic>
        <p:nvPicPr>
          <p:cNvPr id="16" name="Picture 15" descr="h417.png"/>
          <p:cNvPicPr>
            <a:picLocks noChangeAspect="1"/>
          </p:cNvPicPr>
          <p:nvPr/>
        </p:nvPicPr>
        <p:blipFill>
          <a:blip r:embed="rId3"/>
          <a:stretch>
            <a:fillRect/>
          </a:stretch>
        </p:blipFill>
        <p:spPr>
          <a:xfrm>
            <a:off x="8665138" y="1463040"/>
            <a:ext cx="2969404" cy="2194560"/>
          </a:xfrm>
          <a:prstGeom prst="rect">
            <a:avLst/>
          </a:prstGeom>
        </p:spPr>
      </p:pic>
      <p:sp>
        <p:nvSpPr>
          <p:cNvPr id="17" name="TextBox 16"/>
          <p:cNvSpPr txBox="1"/>
          <p:nvPr/>
        </p:nvSpPr>
        <p:spPr>
          <a:xfrm>
            <a:off x="8595360" y="3675887"/>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4.17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TÀU SANG SÔNG NHANH NHẤT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26</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góc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(góc lái so với bờ).</a:t>
                </a:r>
              </a:p>
              <a:p>
                <a:pPr algn="l" marL="365760" indent="-365760">
                  <a:spcAft>
                    <a:spcPts val="800"/>
                  </a:spcAft>
                  <a:buClr>
                    <a:srgbClr val="1E40AF"/>
                  </a:buClr>
                  <a:buFont typeface="Arial"/>
                  <a:buChar char="•"/>
                </a:pPr>
                <a:r>
                  <a:rPr sz="2200">
                    <a:solidFill>
                      <a:srgbClr val="1E293B"/>
                    </a:solidFill>
                    <a:latin typeface="Calibri"/>
                  </a:rPr>
                  <a:t>Vectơ đỏ: vận tốc thực tế </a:t>
                </a:r>
                <a14:m>
                  <m:oMath xmlns:m="http://schemas.openxmlformats.org/officeDocument/2006/math">
                    <m:acc>
                      <m:accPr>
                        <m:chr m:val="⃗"/>
                      </m:accPr>
                      <m:e>
                        <m:r>
                          <a:rPr lang="vi-VN" sz="2200" b="0">
                            <a:solidFill>
                              <a:srgbClr val="1E293B"/>
                            </a:solidFill>
                            <a:latin typeface="Cambria Math" panose="02040503050406030204" pitchFamily="18" charset="0"/>
                          </a:rPr>
                          <m:t>v</m:t>
                        </m:r>
                      </m:e>
                    </m:acc>
                    <m:r>
                      <a:rPr lang="vi-VN" sz="2200" b="0">
                        <a:solidFill>
                          <a:srgbClr val="1E293B"/>
                        </a:solidFill>
                        <a:latin typeface="Cambria Math" panose="02040503050406030204" pitchFamily="18" charset="0"/>
                      </a:rPr>
                      <m:t>=</m:t>
                    </m:r>
                    <m:acc>
                      <m:accPr>
                        <m:chr m:val="⃗"/>
                      </m:accPr>
                      <m:e>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r</m:t>
                            </m:r>
                          </m:sub>
                        </m:sSub>
                      </m:e>
                    </m:acc>
                    <m:r>
                      <a:rPr lang="vi-VN" sz="2200" b="0">
                        <a:solidFill>
                          <a:srgbClr val="1E293B"/>
                        </a:solidFill>
                        <a:latin typeface="Cambria Math" panose="02040503050406030204" pitchFamily="18" charset="0"/>
                      </a:rPr>
                      <m:t>+</m:t>
                    </m:r>
                    <m:acc>
                      <m:accPr>
                        <m:chr m:val="⃗"/>
                      </m:accPr>
                      <m:e>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n</m:t>
                            </m:r>
                          </m:sub>
                        </m:sSub>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Giá trị </a:t>
                </a:r>
                <a:r>
                  <a:rPr sz="2200" b="1">
                    <a:solidFill>
                      <a:srgbClr val="1E293B"/>
                    </a:solidFill>
                    <a:latin typeface="Calibri"/>
                  </a:rPr>
                  <a:t>thoiGian</a:t>
                </a:r>
                <a:r>
                  <a:rPr sz="2200">
                    <a:solidFill>
                      <a:srgbClr val="1E293B"/>
                    </a:solidFill>
                    <a:latin typeface="Calibri"/>
                  </a:rPr>
                  <a:t> = thời gian sang bờ: nhỏ nhất khi </a:t>
                </a:r>
                <a14:m>
                  <m:oMath xmlns:m="http://schemas.openxmlformats.org/officeDocument/2006/math">
                    <m:r>
                      <a:rPr lang="vi-VN" sz="2200" b="0">
                        <a:solidFill>
                          <a:srgbClr val="1E293B"/>
                        </a:solidFill>
                        <a:latin typeface="Cambria Math" panose="02040503050406030204" pitchFamily="18" charset="0"/>
                      </a:rPr>
                      <m:t>α=</m:t>
                    </m:r>
                    <m:sSup>
                      <m:e>
                        <m:r>
                          <a:rPr lang="vi-VN" sz="2200" b="0">
                            <a:solidFill>
                              <a:srgbClr val="1E293B"/>
                            </a:solidFill>
                            <a:latin typeface="Cambria Math" panose="02040503050406030204" pitchFamily="18" charset="0"/>
                          </a:rPr>
                          <m:t>90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góc </a:t>
                </a:r>
                <a:r>
                  <a:rPr lang="vi-VN"/>
                  <a:t>\alpha</a:t>
                </a:r>
                <a:r>
                  <a:rPr sz="2200">
                    <a:solidFill>
                      <a:srgbClr val="1E293B"/>
                    </a:solidFill>
                    <a:latin typeface="Calibri"/>
                  </a:rPr>
                  <a:t> (góc lái so với bờ).</a:t>
                </a:r>
              </a:p>
              <a:p>
                <a:pPr algn="l" marL="365760" indent="-365760">
                  <a:spcAft>
                    <a:spcPts val="800"/>
                  </a:spcAft>
                  <a:buClr>
                    <a:srgbClr val="1E40AF"/>
                  </a:buClr>
                  <a:buFont typeface="Arial"/>
                  <a:buChar char="•"/>
                </a:pPr>
                <a:r>
                  <a:rPr sz="2200">
                    <a:solidFill>
                      <a:srgbClr val="1E293B"/>
                    </a:solidFill>
                    <a:latin typeface="Calibri"/>
                  </a:rPr>
                  <a:t>Vectơ đỏ: vận tốc thực tế </a:t>
                </a:r>
                <a:r>
                  <a:rPr lang="vi-VN"/>
                  <a:t>\vec{v}=\vec{v_r}+\vec{v_n}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Giá trị </a:t>
                </a:r>
                <a:r>
                  <a:rPr sz="2200" b="1">
                    <a:solidFill>
                      <a:srgbClr val="1E293B"/>
                    </a:solidFill>
                    <a:latin typeface="Calibri"/>
                  </a:rPr>
                  <a:t>thoiGian</a:t>
                </a:r>
                <a:r>
                  <a:rPr sz="2200">
                    <a:solidFill>
                      <a:srgbClr val="1E293B"/>
                    </a:solidFill>
                    <a:latin typeface="Calibri"/>
                  </a:rPr>
                  <a:t> = thời gian sang bờ: nhỏ nhất khi </a:t>
                </a:r>
                <a:r>
                  <a:rPr lang="vi-VN"/>
                  <a:t>\alpha=90^\circ</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417.png"/>
          <p:cNvPicPr>
            <a:picLocks noChangeAspect="1"/>
          </p:cNvPicPr>
          <p:nvPr/>
        </p:nvPicPr>
        <p:blipFill>
          <a:blip r:embed="rId5"/>
          <a:stretch>
            <a:fillRect/>
          </a:stretch>
        </p:blipFill>
        <p:spPr>
          <a:xfrm>
            <a:off x="6858000" y="1912466"/>
            <a:ext cx="4846320" cy="3581707"/>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KÉO PHÁO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a:solidFill>
                      <a:srgbClr val="1E293B"/>
                    </a:solidFill>
                    <a:latin typeface="Calibri"/>
                  </a:rPr>
                  <a:t>Tính lực kéo cần thiết để kéo một khẩu pháo có trọng lượng 22 148 N (ứng với khối lượng xấp xỉ 2 260 kg) lên một con dốc nghiêng </a:t>
                </a:r>
                <a14:m>
                  <m:oMath xmlns:m="http://schemas.openxmlformats.org/officeDocument/2006/math">
                    <m:sSup>
                      <m:e>
                        <m:r>
                          <a:rPr lang="vi-VN" sz="1900" b="0">
                            <a:solidFill>
                              <a:srgbClr val="1E293B"/>
                            </a:solidFill>
                            <a:latin typeface="Cambria Math" panose="02040503050406030204" pitchFamily="18" charset="0"/>
                          </a:rPr>
                          <m:t>30</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 so với phương nằm ngang (H.4.18). Nếu lực kéo của mỗi người bằng 100 N, thì cần tối thiểu bao nhiêu người để kéo pháo?</a:t>
                </a:r>
              </a:p>
            </p:txBody>
          </p:sp>
        </mc:Choice>
        <mc:Fallback>
          <p:sp>
            <p:nvSpPr>
              <p:cNvPr id="7" name="TextBox 6"/>
              <p:cNvSpPr txBox="1"/>
              <p:nvPr/>
            </p:nvSpPr>
            <p:spPr>
              <a:xfrm>
                <a:off x="548640" y="1371600"/>
                <a:ext cx="7863840" cy="1621536"/>
              </a:xfrm>
              <a:prstGeom prst="rect">
                <a:avLst/>
              </a:prstGeom>
              <a:noFill/>
            </p:spPr>
            <p:txBody>
              <a:bodyPr wrap="square" anchor="t" lIns="45720" rIns="45720">
                <a:spAutoFit/>
              </a:bodyPr>
              <a:lstStyle/>
              <a:p>
                <a:pPr algn="l">
                  <a:spcAft>
                    <a:spcPts val="800"/>
                  </a:spcAft>
                </a:pPr>
                <a:r>
                  <a:rPr sz="1900">
                    <a:solidFill>
                      <a:srgbClr val="1E293B"/>
                    </a:solidFill>
                    <a:latin typeface="Calibri"/>
                  </a:rPr>
                  <a:t>Tính lực kéo cần thiết để kéo một khẩu pháo có trọng lượng 22 148 N (ứng với khối lượng xấp xỉ 2 260 kg) lên một con dốc nghiêng </a:t>
                </a:r>
                <a:r>
                  <a:rPr lang="vi-VN"/>
                  <a:t>30^\circ</a:t>
                </a:r>
                <a:r>
                  <a:rPr sz="1900">
                    <a:solidFill>
                      <a:srgbClr val="1E293B"/>
                    </a:solidFill>
                    <a:latin typeface="Calibri"/>
                  </a:rPr>
                  <a:t> so với phương nằm ngang (H.4.18). Nếu lực kéo của mỗi người bằng 100 N, thì cần tối thiểu bao nhiêu người để kéo pháo?</a:t>
                </a:r>
              </a:p>
            </p:txBody>
          </p:sp>
        </mc:Fallback>
      </mc:AlternateContent>
      <mc:AlternateContent xmlns:mc="http://schemas.openxmlformats.org/markup-compatibility/2006">
        <mc:Choice xmlns:a14="http://schemas.microsoft.com/office/drawing/2010/main" Requires="a14">
          <p:sp>
            <p:nvSpPr>
              <p:cNvPr id="8" name="s1_chu"/>
              <p:cNvSpPr txBox="1"/>
              <p:nvPr/>
            </p:nvSpPr>
            <p:spPr>
              <a:xfrm>
                <a:off x="548640" y="3048000"/>
                <a:ext cx="7863840" cy="1042415"/>
              </a:xfrm>
              <a:prstGeom prst="rect">
                <a:avLst/>
              </a:prstGeom>
              <a:noFill/>
            </p:spPr>
            <p:txBody>
              <a:bodyPr wrap="square" anchor="t" lIns="45720" rIns="45720">
                <a:spAutoFit/>
              </a:bodyPr>
              <a:lstStyle/>
              <a:p>
                <a:pPr algn="l">
                  <a:spcAft>
                    <a:spcPts val="800"/>
                  </a:spcAft>
                </a:pPr>
                <a:r>
                  <a:rPr sz="2000" b="1">
                    <a:solidFill>
                      <a:srgbClr val="64748B"/>
                    </a:solidFill>
                    <a:latin typeface="Calibri"/>
                  </a:rPr>
                  <a:t>Chú ý.</a:t>
                </a:r>
                <a:r>
                  <a:rPr sz="2000">
                    <a:solidFill>
                      <a:srgbClr val="64748B"/>
                    </a:solidFill>
                    <a:latin typeface="Calibri"/>
                  </a:rPr>
                  <a:t> Khẩu pháo chịu ba lực: trọng lực </a:t>
                </a:r>
                <a14:m>
                  <m:oMath xmlns:m="http://schemas.openxmlformats.org/officeDocument/2006/math">
                    <m:acc>
                      <m:accPr>
                        <m:chr m:val="⃗"/>
                      </m:accPr>
                      <m:e>
                        <m:r>
                          <a:rPr lang="vi-VN" sz="2000" b="0">
                            <a:solidFill>
                              <a:srgbClr val="64748B"/>
                            </a:solidFill>
                            <a:latin typeface="Cambria Math" panose="02040503050406030204" pitchFamily="18" charset="0"/>
                          </a:rPr>
                          <m:t>P</m:t>
                        </m:r>
                      </m:e>
                    </m:acc>
                  </m:oMath>
                </a14:m>
                <a:r>
                  <a:rPr sz="2000">
                    <a:solidFill>
                      <a:srgbClr val="64748B"/>
                    </a:solidFill>
                    <a:latin typeface="Calibri"/>
                  </a:rPr>
                  <a:t> (</a:t>
                </a:r>
                <a14:m>
                  <m:oMath xmlns:m="http://schemas.openxmlformats.org/officeDocument/2006/math">
                    <m:r>
                      <a:rPr lang="vi-VN" sz="2000" b="0">
                        <a:solidFill>
                          <a:srgbClr val="64748B"/>
                        </a:solidFill>
                        <a:latin typeface="Cambria Math" panose="02040503050406030204" pitchFamily="18" charset="0"/>
                      </a:rPr>
                      <m:t>|</m:t>
                    </m:r>
                    <m:acc>
                      <m:accPr>
                        <m:chr m:val="⃗"/>
                      </m:accPr>
                      <m:e>
                        <m:r>
                          <a:rPr lang="vi-VN" sz="2000" b="0">
                            <a:solidFill>
                              <a:srgbClr val="64748B"/>
                            </a:solidFill>
                            <a:latin typeface="Cambria Math" panose="02040503050406030204" pitchFamily="18" charset="0"/>
                          </a:rPr>
                          <m:t>P</m:t>
                        </m:r>
                      </m:e>
                    </m:acc>
                    <m:r>
                      <a:rPr lang="vi-VN" sz="2000" b="0">
                        <a:solidFill>
                          <a:srgbClr val="64748B"/>
                        </a:solidFill>
                        <a:latin typeface="Cambria Math" panose="02040503050406030204" pitchFamily="18" charset="0"/>
                      </a:rPr>
                      <m:t>|=22</m:t>
                    </m:r>
                    <m:r>
                      <m:rPr>
                        <m:sty m:val="p"/>
                      </m:rPr>
                      <a:rPr lang="vi-VN" sz="2000" b="0">
                        <a:solidFill>
                          <a:srgbClr val="64748B"/>
                        </a:solidFill>
                        <a:latin typeface="Cambria Math" panose="02040503050406030204" pitchFamily="18" charset="0"/>
                      </a:rPr>
                      <m:t> </m:t>
                    </m:r>
                    <m:r>
                      <a:rPr lang="vi-VN" sz="2000" b="0">
                        <a:solidFill>
                          <a:srgbClr val="64748B"/>
                        </a:solidFill>
                        <a:latin typeface="Cambria Math" panose="02040503050406030204" pitchFamily="18" charset="0"/>
                      </a:rPr>
                      <m:t>148</m:t>
                    </m:r>
                  </m:oMath>
                </a14:m>
                <a:r>
                  <a:rPr sz="2000">
                    <a:solidFill>
                      <a:srgbClr val="64748B"/>
                    </a:solidFill>
                    <a:latin typeface="Calibri"/>
                  </a:rPr>
                  <a:t> N), phản lực </a:t>
                </a:r>
                <a14:m>
                  <m:oMath xmlns:m="http://schemas.openxmlformats.org/officeDocument/2006/math">
                    <m:acc>
                      <m:accPr>
                        <m:chr m:val="⃗"/>
                      </m:accPr>
                      <m:e>
                        <m:r>
                          <a:rPr lang="vi-VN" sz="2000" b="0">
                            <a:solidFill>
                              <a:srgbClr val="64748B"/>
                            </a:solidFill>
                            <a:latin typeface="Cambria Math" panose="02040503050406030204" pitchFamily="18" charset="0"/>
                          </a:rPr>
                          <m:t>w</m:t>
                        </m:r>
                      </m:e>
                    </m:acc>
                  </m:oMath>
                </a14:m>
                <a:r>
                  <a:rPr sz="2000">
                    <a:solidFill>
                      <a:srgbClr val="64748B"/>
                    </a:solidFill>
                    <a:latin typeface="Calibri"/>
                  </a:rPr>
                  <a:t> (</a:t>
                </a:r>
                <a14:m>
                  <m:oMath xmlns:m="http://schemas.openxmlformats.org/officeDocument/2006/math">
                    <m:r>
                      <a:rPr lang="vi-VN" sz="2000" b="0">
                        <a:solidFill>
                          <a:srgbClr val="64748B"/>
                        </a:solidFill>
                        <a:latin typeface="Cambria Math" panose="02040503050406030204" pitchFamily="18" charset="0"/>
                      </a:rPr>
                      <m:t>|</m:t>
                    </m:r>
                    <m:acc>
                      <m:accPr>
                        <m:chr m:val="⃗"/>
                      </m:accPr>
                      <m:e>
                        <m:r>
                          <a:rPr lang="vi-VN" sz="2000" b="0">
                            <a:solidFill>
                              <a:srgbClr val="64748B"/>
                            </a:solidFill>
                            <a:latin typeface="Cambria Math" panose="02040503050406030204" pitchFamily="18" charset="0"/>
                          </a:rPr>
                          <m:t>w</m:t>
                        </m:r>
                      </m:e>
                    </m:acc>
                    <m:r>
                      <a:rPr lang="vi-VN" sz="2000" b="0">
                        <a:solidFill>
                          <a:srgbClr val="64748B"/>
                        </a:solidFill>
                        <a:latin typeface="Cambria Math" panose="02040503050406030204" pitchFamily="18" charset="0"/>
                      </a:rPr>
                      <m:t>|=|</m:t>
                    </m:r>
                    <m:acc>
                      <m:accPr>
                        <m:chr m:val="⃗"/>
                      </m:accPr>
                      <m:e>
                        <m:r>
                          <a:rPr lang="vi-VN" sz="2000" b="0">
                            <a:solidFill>
                              <a:srgbClr val="64748B"/>
                            </a:solidFill>
                            <a:latin typeface="Cambria Math" panose="02040503050406030204" pitchFamily="18" charset="0"/>
                          </a:rPr>
                          <m:t>P</m:t>
                        </m:r>
                      </m:e>
                    </m:acc>
                    <m:r>
                      <a:rPr lang="vi-VN" sz="2000" b="0">
                        <a:solidFill>
                          <a:srgbClr val="64748B"/>
                        </a:solidFill>
                        <a:latin typeface="Cambria Math" panose="02040503050406030204" pitchFamily="18" charset="0"/>
                      </a:rPr>
                      <m:t>|</m:t>
                    </m:r>
                    <m:r>
                      <m:rPr>
                        <m:sty m:val="p"/>
                      </m:rPr>
                      <a:rPr lang="vi-VN" sz="2000" b="0">
                        <a:solidFill>
                          <a:srgbClr val="64748B"/>
                        </a:solidFill>
                        <a:latin typeface="Cambria Math" panose="02040503050406030204" pitchFamily="18" charset="0"/>
                      </a:rPr>
                      <m:t>cos</m:t>
                    </m:r>
                    <m:r>
                      <m:rPr>
                        <m:sty m:val="p"/>
                      </m:rPr>
                      <a:rPr lang="vi-VN" sz="2000" b="0">
                        <a:solidFill>
                          <a:srgbClr val="64748B"/>
                        </a:solidFill>
                        <a:latin typeface="Cambria Math" panose="02040503050406030204" pitchFamily="18" charset="0"/>
                      </a:rPr>
                      <m:t> </m:t>
                    </m:r>
                    <m:sSup>
                      <m:e>
                        <m:r>
                          <a:rPr lang="vi-VN" sz="2000" b="0">
                            <a:solidFill>
                              <a:srgbClr val="64748B"/>
                            </a:solidFill>
                            <a:latin typeface="Cambria Math" panose="02040503050406030204" pitchFamily="18" charset="0"/>
                          </a:rPr>
                          <m:t>30</m:t>
                        </m:r>
                      </m:e>
                      <m:sup>
                        <m:r>
                          <a:rPr lang="vi-VN" sz="2000" b="0">
                            <a:solidFill>
                              <a:srgbClr val="64748B"/>
                            </a:solidFill>
                            <a:latin typeface="Cambria Math" panose="02040503050406030204" pitchFamily="18" charset="0"/>
                          </a:rPr>
                          <m:t>∘</m:t>
                        </m:r>
                      </m:sup>
                    </m:sSup>
                  </m:oMath>
                </a14:m>
                <a:r>
                  <a:rPr sz="2000">
                    <a:solidFill>
                      <a:srgbClr val="64748B"/>
                    </a:solidFill>
                    <a:latin typeface="Calibri"/>
                  </a:rPr>
                  <a:t>, vuông góc mặt dốc) và lực kéo </a:t>
                </a:r>
                <a14:m>
                  <m:oMath xmlns:m="http://schemas.openxmlformats.org/officeDocument/2006/math">
                    <m:acc>
                      <m:accPr>
                        <m:chr m:val="⃗"/>
                      </m:accPr>
                      <m:e>
                        <m:r>
                          <a:rPr lang="vi-VN" sz="2000" b="0">
                            <a:solidFill>
                              <a:srgbClr val="64748B"/>
                            </a:solidFill>
                            <a:latin typeface="Cambria Math" panose="02040503050406030204" pitchFamily="18" charset="0"/>
                          </a:rPr>
                          <m:t>F</m:t>
                        </m:r>
                      </m:e>
                    </m:acc>
                  </m:oMath>
                </a14:m>
                <a:r>
                  <a:rPr sz="2000">
                    <a:solidFill>
                      <a:srgbClr val="64748B"/>
                    </a:solidFill>
                    <a:latin typeface="Calibri"/>
                  </a:rPr>
                  <a:t> (theo phương dốc, hướng lên đỉnh dốc).</a:t>
                </a:r>
              </a:p>
            </p:txBody>
          </p:sp>
        </mc:Choice>
        <mc:Fallback>
          <p:sp>
            <p:nvSpPr>
              <p:cNvPr id="8" name="TextBox 7"/>
              <p:cNvSpPr txBox="1"/>
              <p:nvPr/>
            </p:nvSpPr>
            <p:spPr>
              <a:xfrm>
                <a:off x="548640" y="3048000"/>
                <a:ext cx="7863840" cy="1042415"/>
              </a:xfrm>
              <a:prstGeom prst="rect">
                <a:avLst/>
              </a:prstGeom>
              <a:noFill/>
            </p:spPr>
            <p:txBody>
              <a:bodyPr wrap="square" anchor="t" lIns="45720" rIns="45720">
                <a:spAutoFit/>
              </a:bodyPr>
              <a:lstStyle/>
              <a:p>
                <a:pPr algn="l">
                  <a:spcAft>
                    <a:spcPts val="800"/>
                  </a:spcAft>
                </a:pPr>
                <a:r>
                  <a:rPr sz="2000" b="1">
                    <a:solidFill>
                      <a:srgbClr val="64748B"/>
                    </a:solidFill>
                    <a:latin typeface="Calibri"/>
                  </a:rPr>
                  <a:t>Chú ý.</a:t>
                </a:r>
                <a:r>
                  <a:rPr sz="2000">
                    <a:solidFill>
                      <a:srgbClr val="64748B"/>
                    </a:solidFill>
                    <a:latin typeface="Calibri"/>
                  </a:rPr>
                  <a:t> Khẩu pháo chịu ba lực: trọng lực </a:t>
                </a:r>
                <a:r>
                  <a:rPr lang="vi-VN"/>
                  <a:t>\vec{P}</a:t>
                </a:r>
                <a:r>
                  <a:rPr sz="2000">
                    <a:solidFill>
                      <a:srgbClr val="64748B"/>
                    </a:solidFill>
                    <a:latin typeface="Calibri"/>
                  </a:rPr>
                  <a:t> (</a:t>
                </a:r>
                <a:r>
                  <a:rPr lang="vi-VN"/>
                  <a:t>|\vec{P}|=22\,148</a:t>
                </a:r>
                <a:r>
                  <a:rPr sz="2000">
                    <a:solidFill>
                      <a:srgbClr val="64748B"/>
                    </a:solidFill>
                    <a:latin typeface="Calibri"/>
                  </a:rPr>
                  <a:t> N), phản lực </a:t>
                </a:r>
                <a:r>
                  <a:rPr lang="vi-VN"/>
                  <a:t>\vec{w}</a:t>
                </a:r>
                <a:r>
                  <a:rPr sz="2000">
                    <a:solidFill>
                      <a:srgbClr val="64748B"/>
                    </a:solidFill>
                    <a:latin typeface="Calibri"/>
                  </a:rPr>
                  <a:t> (</a:t>
                </a:r>
                <a:r>
                  <a:rPr lang="vi-VN"/>
                  <a:t>|\vec{w}|=|\vec{P}|\cos 30^\circ</a:t>
                </a:r>
                <a:r>
                  <a:rPr sz="2000">
                    <a:solidFill>
                      <a:srgbClr val="64748B"/>
                    </a:solidFill>
                    <a:latin typeface="Calibri"/>
                  </a:rPr>
                  <a:t>, vuông góc mặt dốc) và lực kéo </a:t>
                </a:r>
                <a:r>
                  <a:rPr lang="vi-VN"/>
                  <a:t>\vec{F}</a:t>
                </a:r>
                <a:r>
                  <a:rPr sz="2000">
                    <a:solidFill>
                      <a:srgbClr val="64748B"/>
                    </a:solidFill>
                    <a:latin typeface="Calibri"/>
                  </a:rPr>
                  <a:t> (theo phương dốc, hướng lên đỉnh dốc).</a:t>
                </a:r>
              </a:p>
            </p:txBody>
          </p:sp>
        </mc:Fallback>
      </mc:AlternateContent>
      <p:sp>
        <p:nvSpPr>
          <p:cNvPr id="9" name="s2_nen"/>
          <p:cNvSpPr/>
          <p:nvPr/>
        </p:nvSpPr>
        <p:spPr>
          <a:xfrm>
            <a:off x="548640" y="4145280"/>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s2_chu"/>
              <p:cNvSpPr txBox="1"/>
              <p:nvPr/>
            </p:nvSpPr>
            <p:spPr>
              <a:xfrm>
                <a:off x="713232" y="4181856"/>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Hợp lực </a:t>
                </a:r>
                <a14:m>
                  <m:oMath xmlns:m="http://schemas.openxmlformats.org/officeDocument/2006/math">
                    <m:acc>
                      <m:accPr>
                        <m:chr m:val="⃗"/>
                      </m:accPr>
                      <m:e>
                        <m:r>
                          <a:rPr lang="vi-VN" sz="1900" b="0">
                            <a:solidFill>
                              <a:srgbClr val="1E293B"/>
                            </a:solidFill>
                            <a:latin typeface="Cambria Math" panose="02040503050406030204" pitchFamily="18" charset="0"/>
                          </a:rPr>
                          <m:t>P</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w</m:t>
                        </m:r>
                      </m:e>
                    </m:acc>
                  </m:oMath>
                </a14:m>
                <a:r>
                  <a:rPr sz="1900">
                    <a:solidFill>
                      <a:srgbClr val="1E293B"/>
                    </a:solidFill>
                    <a:latin typeface="Calibri"/>
                  </a:rPr>
                  <a:t> hướng xuống theo mặt dốc, có độ lớn </a:t>
                </a:r>
                <a14:m>
                  <m:oMath xmlns:m="http://schemas.openxmlformats.org/officeDocument/2006/math">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P</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sin</m:t>
                    </m:r>
                    <m:r>
                      <m:rPr>
                        <m:sty m:val="p"/>
                      </m:rPr>
                      <a:rPr lang="vi-VN" sz="1900" b="0">
                        <a:solidFill>
                          <a:srgbClr val="1E293B"/>
                        </a:solidFill>
                        <a:latin typeface="Cambria Math" panose="02040503050406030204" pitchFamily="18" charset="0"/>
                      </a:rPr>
                      <m:t> </m:t>
                    </m:r>
                    <m:sSup>
                      <m:e>
                        <m:r>
                          <a:rPr lang="vi-VN" sz="1900" b="0">
                            <a:solidFill>
                              <a:srgbClr val="1E293B"/>
                            </a:solidFill>
                            <a:latin typeface="Cambria Math" panose="02040503050406030204" pitchFamily="18" charset="0"/>
                          </a:rPr>
                          <m:t>30</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074</m:t>
                    </m:r>
                  </m:oMath>
                </a14:m>
                <a:r>
                  <a:rPr sz="1900">
                    <a:solidFill>
                      <a:srgbClr val="1E293B"/>
                    </a:solidFill>
                    <a:latin typeface="Calibri"/>
                  </a:rPr>
                  <a:t> N.</a:t>
                </a:r>
              </a:p>
            </p:txBody>
          </p:sp>
        </mc:Choice>
        <mc:Fallback>
          <p:sp>
            <p:nvSpPr>
              <p:cNvPr id="10" name="TextBox 9"/>
              <p:cNvSpPr txBox="1"/>
              <p:nvPr/>
            </p:nvSpPr>
            <p:spPr>
              <a:xfrm>
                <a:off x="713232" y="4181856"/>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Hợp lực </a:t>
                </a:r>
                <a:r>
                  <a:rPr lang="vi-VN"/>
                  <a:t>\vec{P}+\vec{w}</a:t>
                </a:r>
                <a:r>
                  <a:rPr sz="1900">
                    <a:solidFill>
                      <a:srgbClr val="1E293B"/>
                    </a:solidFill>
                    <a:latin typeface="Calibri"/>
                  </a:rPr>
                  <a:t> hướng xuống theo mặt dốc, có độ lớn </a:t>
                </a:r>
                <a:r>
                  <a:rPr lang="vi-VN"/>
                  <a:t>|\vec{P}|\sin 30^\circ=11\,074</a:t>
                </a:r>
                <a:r>
                  <a:rPr sz="1900">
                    <a:solidFill>
                      <a:srgbClr val="1E293B"/>
                    </a:solidFill>
                    <a:latin typeface="Calibri"/>
                  </a:rPr>
                  <a:t> N.</a:t>
                </a:r>
              </a:p>
            </p:txBody>
          </p:sp>
        </mc:Fallback>
      </mc:AlternateContent>
      <p:sp>
        <p:nvSpPr>
          <p:cNvPr id="11" name="s3_nen"/>
          <p:cNvSpPr/>
          <p:nvPr/>
        </p:nvSpPr>
        <p:spPr>
          <a:xfrm>
            <a:off x="548640" y="5044439"/>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081015"/>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Để kéo được pháo: </a:t>
                </a:r>
                <a14:m>
                  <m:oMath xmlns:m="http://schemas.openxmlformats.org/officeDocument/2006/math">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F</m:t>
                        </m:r>
                      </m:e>
                    </m:acc>
                    <m:r>
                      <a:rPr lang="vi-VN" sz="1900" b="0">
                        <a:solidFill>
                          <a:srgbClr val="1E293B"/>
                        </a:solidFill>
                        <a:latin typeface="Cambria Math" panose="02040503050406030204" pitchFamily="18" charset="0"/>
                      </a:rPr>
                      <m:t>|≥11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074</m:t>
                    </m:r>
                  </m:oMath>
                </a14:m>
                <a:r>
                  <a:rPr sz="1900">
                    <a:solidFill>
                      <a:srgbClr val="1E293B"/>
                    </a:solidFill>
                    <a:latin typeface="Calibri"/>
                  </a:rPr>
                  <a:t> N.</a:t>
                </a:r>
              </a:p>
            </p:txBody>
          </p:sp>
        </mc:Choice>
        <mc:Fallback>
          <p:sp>
            <p:nvSpPr>
              <p:cNvPr id="12" name="TextBox 11"/>
              <p:cNvSpPr txBox="1"/>
              <p:nvPr/>
            </p:nvSpPr>
            <p:spPr>
              <a:xfrm>
                <a:off x="713232" y="5081015"/>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Để kéo được pháo: </a:t>
                </a:r>
                <a:r>
                  <a:rPr lang="vi-VN"/>
                  <a:t>|\vec{F}|\ge 11\,074</a:t>
                </a:r>
                <a:r>
                  <a:rPr sz="1900">
                    <a:solidFill>
                      <a:srgbClr val="1E293B"/>
                    </a:solidFill>
                    <a:latin typeface="Calibri"/>
                  </a:rPr>
                  <a:t> N.</a:t>
                </a:r>
              </a:p>
            </p:txBody>
          </p:sp>
        </mc:Fallback>
      </mc:AlternateContent>
      <p:sp>
        <p:nvSpPr>
          <p:cNvPr id="13" name="s4_nen"/>
          <p:cNvSpPr/>
          <p:nvPr/>
        </p:nvSpPr>
        <p:spPr>
          <a:xfrm>
            <a:off x="548640" y="5654039"/>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690615"/>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Số người tối thiểu: </a:t>
                </a:r>
                <a14:m>
                  <m:oMath xmlns:m="http://schemas.openxmlformats.org/officeDocument/2006/math">
                    <m:r>
                      <a:rPr lang="vi-VN" sz="1900" b="0">
                        <a:solidFill>
                          <a:srgbClr val="1E293B"/>
                        </a:solidFill>
                        <a:latin typeface="Cambria Math" panose="02040503050406030204" pitchFamily="18" charset="0"/>
                      </a:rPr>
                      <m:t>11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074:100=110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74</m:t>
                    </m:r>
                  </m:oMath>
                </a14:m>
                <a:r>
                  <a:rPr sz="1900">
                    <a:solidFill>
                      <a:srgbClr val="1E293B"/>
                    </a:solidFill>
                    <a:latin typeface="Calibri"/>
                  </a:rPr>
                  <a:t> ⇒ </a:t>
                </a:r>
                <a:r>
                  <a:rPr sz="1900" b="1">
                    <a:solidFill>
                      <a:srgbClr val="1E293B"/>
                    </a:solidFill>
                    <a:latin typeface="Calibri"/>
                  </a:rPr>
                  <a:t>111 người</a:t>
                </a:r>
                <a:r>
                  <a:rPr sz="1900">
                    <a:solidFill>
                      <a:srgbClr val="1E293B"/>
                    </a:solidFill>
                    <a:latin typeface="Calibri"/>
                  </a:rPr>
                  <a:t>.</a:t>
                </a:r>
              </a:p>
            </p:txBody>
          </p:sp>
        </mc:Choice>
        <mc:Fallback>
          <p:sp>
            <p:nvSpPr>
              <p:cNvPr id="14" name="TextBox 13"/>
              <p:cNvSpPr txBox="1"/>
              <p:nvPr/>
            </p:nvSpPr>
            <p:spPr>
              <a:xfrm>
                <a:off x="713232" y="5690615"/>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Số người tối thiểu: </a:t>
                </a:r>
                <a:r>
                  <a:rPr lang="vi-VN"/>
                  <a:t>11\,074:100=110{,}74</a:t>
                </a:r>
                <a:r>
                  <a:rPr sz="1900">
                    <a:solidFill>
                      <a:srgbClr val="1E293B"/>
                    </a:solidFill>
                    <a:latin typeface="Calibri"/>
                  </a:rPr>
                  <a:t> ⇒ </a:t>
                </a:r>
                <a:r>
                  <a:rPr sz="1900" b="1">
                    <a:solidFill>
                      <a:srgbClr val="1E293B"/>
                    </a:solidFill>
                    <a:latin typeface="Calibri"/>
                  </a:rPr>
                  <a:t>111 người</a:t>
                </a:r>
                <a:r>
                  <a:rPr sz="1900">
                    <a:solidFill>
                      <a:srgbClr val="1E293B"/>
                    </a:solidFill>
                    <a:latin typeface="Calibri"/>
                  </a:rPr>
                  <a:t>.</a:t>
                </a:r>
              </a:p>
            </p:txBody>
          </p:sp>
        </mc:Fallback>
      </mc:AlternateContent>
      <p:pic>
        <p:nvPicPr>
          <p:cNvPr id="15" name="Picture 14" descr="h418.png"/>
          <p:cNvPicPr>
            <a:picLocks noChangeAspect="1"/>
          </p:cNvPicPr>
          <p:nvPr/>
        </p:nvPicPr>
        <p:blipFill>
          <a:blip r:embed="rId3"/>
          <a:stretch>
            <a:fillRect/>
          </a:stretch>
        </p:blipFill>
        <p:spPr>
          <a:xfrm>
            <a:off x="8761067" y="1463040"/>
            <a:ext cx="2777545" cy="2377440"/>
          </a:xfrm>
          <a:prstGeom prst="rect">
            <a:avLst/>
          </a:prstGeom>
        </p:spPr>
      </p:pic>
      <p:sp>
        <p:nvSpPr>
          <p:cNvPr id="16" name="TextBox 15"/>
          <p:cNvSpPr txBox="1"/>
          <p:nvPr/>
        </p:nvSpPr>
        <p:spPr>
          <a:xfrm>
            <a:off x="8595360" y="3858768"/>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4.18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4.6 – 4.7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4.6.</a:t>
                </a:r>
                <a:r>
                  <a:rPr sz="2000">
                    <a:solidFill>
                      <a:srgbClr val="1E293B"/>
                    </a:solidFill>
                    <a:latin typeface="Calibri"/>
                  </a:rPr>
                  <a:t> Cho bốn điểm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C,</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D</m:t>
                    </m:r>
                  </m:oMath>
                </a14:m>
                <a:r>
                  <a:rPr sz="2000">
                    <a:solidFill>
                      <a:srgbClr val="1E293B"/>
                    </a:solidFill>
                    <a:latin typeface="Calibri"/>
                  </a:rPr>
                  <a:t>. Chứng minh rằng: a)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BD</m:t>
                        </m:r>
                      </m:e>
                    </m:acc>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4.6.</a:t>
                </a:r>
                <a:r>
                  <a:rPr sz="2000">
                    <a:solidFill>
                      <a:srgbClr val="1E293B"/>
                    </a:solidFill>
                    <a:latin typeface="Calibri"/>
                  </a:rPr>
                  <a:t> Cho bốn điểm </a:t>
                </a:r>
                <a:r>
                  <a:rPr lang="vi-VN"/>
                  <a:t>A,\ B,\ C,\ D</a:t>
                </a:r>
                <a:r>
                  <a:rPr sz="2000">
                    <a:solidFill>
                      <a:srgbClr val="1E293B"/>
                    </a:solidFill>
                    <a:latin typeface="Calibri"/>
                  </a:rPr>
                  <a:t>. Chứng minh rằng: a) </a:t>
                </a:r>
                <a:r>
                  <a:rPr lang="vi-VN"/>
                  <a:t>\overrightarrow{AB}</a:t>
                </a:r>
                <a:r>
                  <a:rPr sz="2000">
                    <a:solidFill>
                      <a:srgbClr val="1E293B"/>
                    </a:solidFill>
                    <a:latin typeface="Calibri"/>
                  </a:rPr>
                  <a:t> + </a:t>
                </a:r>
                <a:r>
                  <a:rPr lang="vi-VN"/>
                  <a:t>\overrightarrow{BC}</a:t>
                </a:r>
                <a:r>
                  <a:rPr sz="2000">
                    <a:solidFill>
                      <a:srgbClr val="1E293B"/>
                    </a:solidFill>
                    <a:latin typeface="Calibri"/>
                  </a:rPr>
                  <a:t> + </a:t>
                </a:r>
                <a:r>
                  <a:rPr lang="vi-VN"/>
                  <a:t>\overrightarrow{CD}</a:t>
                </a:r>
                <a:r>
                  <a:rPr sz="2000">
                    <a:solidFill>
                      <a:srgbClr val="1E293B"/>
                    </a:solidFill>
                    <a:latin typeface="Calibri"/>
                  </a:rPr>
                  <a:t> + </a:t>
                </a:r>
                <a:r>
                  <a:rPr lang="vi-VN"/>
                  <a:t>\overrightarrow{DA}</a:t>
                </a:r>
                <a:r>
                  <a:rPr sz="2000">
                    <a:solidFill>
                      <a:srgbClr val="1E293B"/>
                    </a:solidFill>
                    <a:latin typeface="Calibri"/>
                  </a:rPr>
                  <a:t> = </a:t>
                </a:r>
                <a:r>
                  <a:rPr lang="vi-VN"/>
                  <a:t>\vec{0}</a:t>
                </a:r>
                <a:r>
                  <a:rPr sz="2000">
                    <a:solidFill>
                      <a:srgbClr val="1E293B"/>
                    </a:solidFill>
                    <a:latin typeface="Calibri"/>
                  </a:rPr>
                  <a:t>; b) </a:t>
                </a:r>
                <a:r>
                  <a:rPr lang="vi-VN"/>
                  <a:t>\overrightarrow{AC}</a:t>
                </a:r>
                <a:r>
                  <a:rPr sz="2000">
                    <a:solidFill>
                      <a:srgbClr val="1E293B"/>
                    </a:solidFill>
                    <a:latin typeface="Calibri"/>
                  </a:rPr>
                  <a:t> − </a:t>
                </a:r>
                <a:r>
                  <a:rPr lang="vi-VN"/>
                  <a:t>\overrightarrow{AD}</a:t>
                </a:r>
                <a:r>
                  <a:rPr sz="2000">
                    <a:solidFill>
                      <a:srgbClr val="1E293B"/>
                    </a:solidFill>
                    <a:latin typeface="Calibri"/>
                  </a:rPr>
                  <a:t> = </a:t>
                </a:r>
                <a:r>
                  <a:rPr lang="vi-VN"/>
                  <a:t>\overrightarrow{BC}</a:t>
                </a:r>
                <a:r>
                  <a:rPr sz="2000">
                    <a:solidFill>
                      <a:srgbClr val="1E293B"/>
                    </a:solidFill>
                    <a:latin typeface="Calibri"/>
                  </a:rPr>
                  <a:t> − </a:t>
                </a:r>
                <a:r>
                  <a:rPr lang="vi-VN"/>
                  <a:t>\overrightarrow{BD}</a:t>
                </a:r>
                <a:r>
                  <a:rPr sz="2000">
                    <a:solidFill>
                      <a:srgbClr val="1E293B"/>
                    </a:solidFill>
                    <a:latin typeface="Calibri"/>
                  </a:rPr>
                  <a:t>.</a:t>
                </a:r>
              </a:p>
            </p:txBody>
          </p:sp>
        </mc:Fallback>
      </mc:AlternateContent>
      <p:sp>
        <p:nvSpPr>
          <p:cNvPr id="8" name="s1_nen"/>
          <p:cNvSpPr/>
          <p:nvPr/>
        </p:nvSpPr>
        <p:spPr>
          <a:xfrm>
            <a:off x="548640" y="2218944"/>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4.6.</a:t>
                </a:r>
                <a:r>
                  <a:rPr sz="2000">
                    <a:solidFill>
                      <a:srgbClr val="1E293B"/>
                    </a:solidFill>
                    <a:latin typeface="Calibri"/>
                  </a:rPr>
                  <a:t> a) =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a:t>
                </a:r>
              </a:p>
            </p:txBody>
          </p:sp>
        </mc:Choice>
        <mc:Fallback>
          <p:sp>
            <p:nvSpPr>
              <p:cNvPr id="9" name="TextBox 8"/>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4.6.</a:t>
                </a:r>
                <a:r>
                  <a:rPr sz="2000">
                    <a:solidFill>
                      <a:srgbClr val="1E293B"/>
                    </a:solidFill>
                    <a:latin typeface="Calibri"/>
                  </a:rPr>
                  <a:t> a) = </a:t>
                </a:r>
                <a:r>
                  <a:rPr lang="vi-VN"/>
                  <a:t>\overrightarrow{AC}</a:t>
                </a:r>
                <a:r>
                  <a:rPr sz="2000">
                    <a:solidFill>
                      <a:srgbClr val="1E293B"/>
                    </a:solidFill>
                    <a:latin typeface="Calibri"/>
                  </a:rPr>
                  <a:t> + </a:t>
                </a:r>
                <a:r>
                  <a:rPr lang="vi-VN"/>
                  <a:t>\overrightarrow{CA}</a:t>
                </a:r>
                <a:r>
                  <a:rPr sz="2000">
                    <a:solidFill>
                      <a:srgbClr val="1E293B"/>
                    </a:solidFill>
                    <a:latin typeface="Calibri"/>
                  </a:rPr>
                  <a:t> = </a:t>
                </a:r>
                <a:r>
                  <a:rPr lang="vi-VN"/>
                  <a:t>\overrightarrow{AA}</a:t>
                </a:r>
                <a:r>
                  <a:rPr sz="2000">
                    <a:solidFill>
                      <a:srgbClr val="1E293B"/>
                    </a:solidFill>
                    <a:latin typeface="Calibri"/>
                  </a:rPr>
                  <a:t> = </a:t>
                </a:r>
                <a:r>
                  <a:rPr lang="vi-VN"/>
                  <a:t>\vec{0}</a:t>
                </a:r>
                <a:r>
                  <a:rPr sz="2000">
                    <a:solidFill>
                      <a:srgbClr val="1E293B"/>
                    </a:solidFill>
                    <a:latin typeface="Calibri"/>
                  </a:rPr>
                  <a:t>. b) </a:t>
                </a:r>
                <a:r>
                  <a:rPr lang="vi-VN"/>
                  <a:t>\overrightarrow{AC}</a:t>
                </a:r>
                <a:r>
                  <a:rPr sz="2000">
                    <a:solidFill>
                      <a:srgbClr val="1E293B"/>
                    </a:solidFill>
                    <a:latin typeface="Calibri"/>
                  </a:rPr>
                  <a:t> − </a:t>
                </a:r>
                <a:r>
                  <a:rPr lang="vi-VN"/>
                  <a:t>\overrightarrow{AD}</a:t>
                </a:r>
                <a:r>
                  <a:rPr sz="2000">
                    <a:solidFill>
                      <a:srgbClr val="1E293B"/>
                    </a:solidFill>
                    <a:latin typeface="Calibri"/>
                  </a:rPr>
                  <a:t> = </a:t>
                </a:r>
                <a:r>
                  <a:rPr lang="vi-VN"/>
                  <a:t>\overrightarrow{DC}</a:t>
                </a:r>
                <a:r>
                  <a:rPr sz="2000">
                    <a:solidFill>
                      <a:srgbClr val="1E293B"/>
                    </a:solidFill>
                    <a:latin typeface="Calibri"/>
                  </a:rPr>
                  <a:t> và </a:t>
                </a:r>
                <a:r>
                  <a:rPr lang="vi-VN"/>
                  <a:t>\overrightarrow{BC}</a:t>
                </a:r>
                <a:r>
                  <a:rPr sz="2000">
                    <a:solidFill>
                      <a:srgbClr val="1E293B"/>
                    </a:solidFill>
                    <a:latin typeface="Calibri"/>
                  </a:rPr>
                  <a:t> − </a:t>
                </a:r>
                <a:r>
                  <a:rPr lang="vi-VN"/>
                  <a:t>\overrightarrow{BD}</a:t>
                </a:r>
                <a:r>
                  <a:rPr sz="2000">
                    <a:solidFill>
                      <a:srgbClr val="1E293B"/>
                    </a:solidFill>
                    <a:latin typeface="Calibri"/>
                  </a:rPr>
                  <a:t> = </a:t>
                </a:r>
                <a:r>
                  <a:rPr lang="vi-VN"/>
                  <a:t>\overrightarrow{DC}</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2852927"/>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4.7.</a:t>
                </a:r>
                <a:r>
                  <a:rPr sz="2000">
                    <a:solidFill>
                      <a:srgbClr val="1E293B"/>
                    </a:solidFill>
                    <a:latin typeface="Calibri"/>
                  </a:rPr>
                  <a:t> Cho hình bình hành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Hãy tìm điểm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để </a:t>
                </a:r>
                <a14:m>
                  <m:oMath xmlns:m="http://schemas.openxmlformats.org/officeDocument/2006/math">
                    <m:acc>
                      <m:accPr>
                        <m:chr m:val="⃗"/>
                      </m:accPr>
                      <m:e>
                        <m:r>
                          <a:rPr lang="vi-VN" sz="2000" b="0">
                            <a:solidFill>
                              <a:srgbClr val="1E293B"/>
                            </a:solidFill>
                            <a:latin typeface="Cambria Math" panose="02040503050406030204" pitchFamily="18" charset="0"/>
                          </a:rPr>
                          <m:t>BM</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Tìm mối quan hệ giữa hai vectơ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CM</m:t>
                        </m:r>
                      </m:e>
                    </m:acc>
                  </m:oMath>
                </a14:m>
                <a:r>
                  <a:rPr sz="2000">
                    <a:solidFill>
                      <a:srgbClr val="1E293B"/>
                    </a:solidFill>
                    <a:latin typeface="Calibri"/>
                  </a:rPr>
                  <a:t>.</a:t>
                </a:r>
              </a:p>
            </p:txBody>
          </p:sp>
        </mc:Choice>
        <mc:Fallback>
          <p:sp>
            <p:nvSpPr>
              <p:cNvPr id="10" name="TextBox 9"/>
              <p:cNvSpPr txBox="1"/>
              <p:nvPr/>
            </p:nvSpPr>
            <p:spPr>
              <a:xfrm>
                <a:off x="548640" y="2852927"/>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4.7.</a:t>
                </a:r>
                <a:r>
                  <a:rPr sz="2000">
                    <a:solidFill>
                      <a:srgbClr val="1E293B"/>
                    </a:solidFill>
                    <a:latin typeface="Calibri"/>
                  </a:rPr>
                  <a:t> Cho hình bình hành </a:t>
                </a:r>
                <a:r>
                  <a:rPr lang="vi-VN"/>
                  <a:t>ABCD</a:t>
                </a:r>
                <a:r>
                  <a:rPr sz="2000">
                    <a:solidFill>
                      <a:srgbClr val="1E293B"/>
                    </a:solidFill>
                    <a:latin typeface="Calibri"/>
                  </a:rPr>
                  <a:t>. Hãy tìm điểm </a:t>
                </a:r>
                <a:r>
                  <a:rPr lang="vi-VN"/>
                  <a:t>M</a:t>
                </a:r>
                <a:r>
                  <a:rPr sz="2000">
                    <a:solidFill>
                      <a:srgbClr val="1E293B"/>
                    </a:solidFill>
                    <a:latin typeface="Calibri"/>
                  </a:rPr>
                  <a:t> để </a:t>
                </a:r>
                <a:r>
                  <a:rPr lang="vi-VN"/>
                  <a:t>\overrightarrow{BM}</a:t>
                </a:r>
                <a:r>
                  <a:rPr sz="2000">
                    <a:solidFill>
                      <a:srgbClr val="1E293B"/>
                    </a:solidFill>
                    <a:latin typeface="Calibri"/>
                  </a:rPr>
                  <a:t> = </a:t>
                </a:r>
                <a:r>
                  <a:rPr lang="vi-VN"/>
                  <a:t>\overrightarrow{AB}</a:t>
                </a:r>
                <a:r>
                  <a:rPr sz="2000">
                    <a:solidFill>
                      <a:srgbClr val="1E293B"/>
                    </a:solidFill>
                    <a:latin typeface="Calibri"/>
                  </a:rPr>
                  <a:t> + </a:t>
                </a:r>
                <a:r>
                  <a:rPr lang="vi-VN"/>
                  <a:t>\overrightarrow{AD}</a:t>
                </a:r>
                <a:r>
                  <a:rPr sz="2000">
                    <a:solidFill>
                      <a:srgbClr val="1E293B"/>
                    </a:solidFill>
                    <a:latin typeface="Calibri"/>
                  </a:rPr>
                  <a:t>. Tìm mối quan hệ giữa hai vectơ </a:t>
                </a:r>
                <a:r>
                  <a:rPr lang="vi-VN"/>
                  <a:t>\overrightarrow{CD}</a:t>
                </a:r>
                <a:r>
                  <a:rPr sz="2000">
                    <a:solidFill>
                      <a:srgbClr val="1E293B"/>
                    </a:solidFill>
                    <a:latin typeface="Calibri"/>
                  </a:rPr>
                  <a:t> và </a:t>
                </a:r>
                <a:r>
                  <a:rPr lang="vi-VN"/>
                  <a:t>\overrightarrow{CM}</a:t>
                </a:r>
                <a:r>
                  <a:rPr sz="2000">
                    <a:solidFill>
                      <a:srgbClr val="1E293B"/>
                    </a:solidFill>
                    <a:latin typeface="Calibri"/>
                  </a:rPr>
                  <a:t>.</a:t>
                </a:r>
              </a:p>
            </p:txBody>
          </p:sp>
        </mc:Fallback>
      </mc:AlternateContent>
      <p:sp>
        <p:nvSpPr>
          <p:cNvPr id="11" name="s3_nen"/>
          <p:cNvSpPr/>
          <p:nvPr/>
        </p:nvSpPr>
        <p:spPr>
          <a:xfrm>
            <a:off x="548640" y="3700271"/>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736847"/>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4.7.</a:t>
                </a: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là đỉnh thứ tư của hình bình hành </a:t>
                </a:r>
                <a14:m>
                  <m:oMath xmlns:m="http://schemas.openxmlformats.org/officeDocument/2006/math">
                    <m:r>
                      <a:rPr lang="vi-VN" sz="2000" b="0">
                        <a:solidFill>
                          <a:srgbClr val="1E293B"/>
                        </a:solidFill>
                        <a:latin typeface="Cambria Math" panose="02040503050406030204" pitchFamily="18" charset="0"/>
                      </a:rPr>
                      <m:t>ACMB</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CM</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CM</m:t>
                        </m:r>
                      </m:e>
                    </m:acc>
                  </m:oMath>
                </a14:m>
                <a:r>
                  <a:rPr sz="2000">
                    <a:solidFill>
                      <a:srgbClr val="1E293B"/>
                    </a:solidFill>
                    <a:latin typeface="Calibri"/>
                  </a:rPr>
                  <a:t> đối nhau (</a:t>
                </a:r>
                <a14:m>
                  <m:oMath xmlns:m="http://schemas.openxmlformats.org/officeDocument/2006/math">
                    <m:r>
                      <a:rPr lang="vi-VN" sz="2000" b="0">
                        <a:solidFill>
                          <a:srgbClr val="1E293B"/>
                        </a:solidFill>
                        <a:latin typeface="Cambria Math" panose="02040503050406030204" pitchFamily="18" charset="0"/>
                      </a:rPr>
                      <m:t>C</m:t>
                    </m:r>
                  </m:oMath>
                </a14:m>
                <a:r>
                  <a:rPr sz="2000">
                    <a:solidFill>
                      <a:srgbClr val="1E293B"/>
                    </a:solidFill>
                    <a:latin typeface="Calibri"/>
                  </a:rPr>
                  <a:t> là trung điểm </a:t>
                </a:r>
                <a14:m>
                  <m:oMath xmlns:m="http://schemas.openxmlformats.org/officeDocument/2006/math">
                    <m:r>
                      <a:rPr lang="vi-VN" sz="2000" b="0">
                        <a:solidFill>
                          <a:srgbClr val="1E293B"/>
                        </a:solidFill>
                        <a:latin typeface="Cambria Math" panose="02040503050406030204" pitchFamily="18" charset="0"/>
                      </a:rPr>
                      <m:t>DM</m:t>
                    </m:r>
                  </m:oMath>
                </a14:m>
                <a:r>
                  <a:rPr sz="2000">
                    <a:solidFill>
                      <a:srgbClr val="1E293B"/>
                    </a:solidFill>
                    <a:latin typeface="Calibri"/>
                  </a:rPr>
                  <a:t>).</a:t>
                </a:r>
              </a:p>
            </p:txBody>
          </p:sp>
        </mc:Choice>
        <mc:Fallback>
          <p:sp>
            <p:nvSpPr>
              <p:cNvPr id="12" name="TextBox 11"/>
              <p:cNvSpPr txBox="1"/>
              <p:nvPr/>
            </p:nvSpPr>
            <p:spPr>
              <a:xfrm>
                <a:off x="713232" y="3736847"/>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4.7.</a:t>
                </a:r>
                <a:r>
                  <a:rPr sz="2000">
                    <a:solidFill>
                      <a:srgbClr val="1E293B"/>
                    </a:solidFill>
                    <a:latin typeface="Calibri"/>
                  </a:rPr>
                  <a:t> </a:t>
                </a:r>
                <a:r>
                  <a:rPr lang="vi-VN"/>
                  <a:t>\overrightarrow{BM}</a:t>
                </a:r>
                <a:r>
                  <a:rPr sz="2000">
                    <a:solidFill>
                      <a:srgbClr val="1E293B"/>
                    </a:solidFill>
                    <a:latin typeface="Calibri"/>
                  </a:rPr>
                  <a:t> = </a:t>
                </a:r>
                <a:r>
                  <a:rPr lang="vi-VN"/>
                  <a:t>\overrightarrow{AC}</a:t>
                </a:r>
                <a:r>
                  <a:rPr sz="2000">
                    <a:solidFill>
                      <a:srgbClr val="1E293B"/>
                    </a:solidFill>
                    <a:latin typeface="Calibri"/>
                  </a:rPr>
                  <a:t>: </a:t>
                </a:r>
                <a:r>
                  <a:rPr lang="vi-VN"/>
                  <a:t>M</a:t>
                </a:r>
                <a:r>
                  <a:rPr sz="2000">
                    <a:solidFill>
                      <a:srgbClr val="1E293B"/>
                    </a:solidFill>
                    <a:latin typeface="Calibri"/>
                  </a:rPr>
                  <a:t> là đỉnh thứ tư của hình bình hành </a:t>
                </a:r>
                <a:r>
                  <a:rPr lang="vi-VN"/>
                  <a:t>ACMB</a:t>
                </a:r>
                <a:r>
                  <a:rPr sz="2000">
                    <a:solidFill>
                      <a:srgbClr val="1E293B"/>
                    </a:solidFill>
                    <a:latin typeface="Calibri"/>
                  </a:rPr>
                  <a:t>; </a:t>
                </a:r>
                <a:r>
                  <a:rPr lang="vi-VN"/>
                  <a:t>\overrightarrow{CM}</a:t>
                </a:r>
                <a:r>
                  <a:rPr sz="2000">
                    <a:solidFill>
                      <a:srgbClr val="1E293B"/>
                    </a:solidFill>
                    <a:latin typeface="Calibri"/>
                  </a:rPr>
                  <a:t> = </a:t>
                </a:r>
                <a:r>
                  <a:rPr lang="vi-VN"/>
                  <a:t>\overrightarrow{AB}</a:t>
                </a:r>
                <a:r>
                  <a:rPr sz="2000">
                    <a:solidFill>
                      <a:srgbClr val="1E293B"/>
                    </a:solidFill>
                    <a:latin typeface="Calibri"/>
                  </a:rPr>
                  <a:t> = </a:t>
                </a:r>
                <a:r>
                  <a:rPr lang="vi-VN"/>
                  <a:t>\overrightarrow{DC}</a:t>
                </a:r>
                <a:r>
                  <a:rPr sz="2000">
                    <a:solidFill>
                      <a:srgbClr val="1E293B"/>
                    </a:solidFill>
                    <a:latin typeface="Calibri"/>
                  </a:rPr>
                  <a:t> ⇒ </a:t>
                </a:r>
                <a:r>
                  <a:rPr lang="vi-VN"/>
                  <a:t>\overrightarrow{CD}</a:t>
                </a:r>
                <a:r>
                  <a:rPr sz="2000">
                    <a:solidFill>
                      <a:srgbClr val="1E293B"/>
                    </a:solidFill>
                    <a:latin typeface="Calibri"/>
                  </a:rPr>
                  <a:t>, </a:t>
                </a:r>
                <a:r>
                  <a:rPr lang="vi-VN"/>
                  <a:t>\overrightarrow{CM}</a:t>
                </a:r>
                <a:r>
                  <a:rPr sz="2000">
                    <a:solidFill>
                      <a:srgbClr val="1E293B"/>
                    </a:solidFill>
                    <a:latin typeface="Calibri"/>
                  </a:rPr>
                  <a:t> đối nhau (</a:t>
                </a:r>
                <a:r>
                  <a:rPr lang="vi-VN"/>
                  <a:t>C</a:t>
                </a:r>
                <a:r>
                  <a:rPr sz="2000">
                    <a:solidFill>
                      <a:srgbClr val="1E293B"/>
                    </a:solidFill>
                    <a:latin typeface="Calibri"/>
                  </a:rPr>
                  <a:t> là trung điểm </a:t>
                </a:r>
                <a:r>
                  <a:rPr lang="vi-VN"/>
                  <a:t>DM</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4.8 – 4.9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29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1381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4.8.</a:t>
                </a:r>
                <a:r>
                  <a:rPr sz="2000">
                    <a:solidFill>
                      <a:srgbClr val="1E293B"/>
                    </a:solidFill>
                    <a:latin typeface="Calibri"/>
                  </a:rPr>
                  <a:t> Cho tam giác đều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có cạnh bằng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Tính độ dài của các vectơ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a:t>
                </a:r>
              </a:p>
            </p:txBody>
          </p:sp>
        </mc:Choice>
        <mc:Fallback>
          <p:sp>
            <p:nvSpPr>
              <p:cNvPr id="7" name="TextBox 6"/>
              <p:cNvSpPr txBox="1"/>
              <p:nvPr/>
            </p:nvSpPr>
            <p:spPr>
              <a:xfrm>
                <a:off x="548640" y="1371600"/>
                <a:ext cx="81381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4.8.</a:t>
                </a:r>
                <a:r>
                  <a:rPr sz="2000">
                    <a:solidFill>
                      <a:srgbClr val="1E293B"/>
                    </a:solidFill>
                    <a:latin typeface="Calibri"/>
                  </a:rPr>
                  <a:t> Cho tam giác đều </a:t>
                </a:r>
                <a:r>
                  <a:rPr lang="vi-VN"/>
                  <a:t>ABC</a:t>
                </a:r>
                <a:r>
                  <a:rPr sz="2000">
                    <a:solidFill>
                      <a:srgbClr val="1E293B"/>
                    </a:solidFill>
                    <a:latin typeface="Calibri"/>
                  </a:rPr>
                  <a:t> có cạnh bằng </a:t>
                </a:r>
                <a:r>
                  <a:rPr lang="vi-VN"/>
                  <a:t>a</a:t>
                </a:r>
                <a:r>
                  <a:rPr sz="2000">
                    <a:solidFill>
                      <a:srgbClr val="1E293B"/>
                    </a:solidFill>
                    <a:latin typeface="Calibri"/>
                  </a:rPr>
                  <a:t>. Tính độ dài của các vectơ </a:t>
                </a:r>
                <a:r>
                  <a:rPr lang="vi-VN"/>
                  <a:t>\overrightarrow{AB}</a:t>
                </a:r>
                <a:r>
                  <a:rPr sz="2000">
                    <a:solidFill>
                      <a:srgbClr val="1E293B"/>
                    </a:solidFill>
                    <a:latin typeface="Calibri"/>
                  </a:rPr>
                  <a:t> − </a:t>
                </a:r>
                <a:r>
                  <a:rPr lang="vi-VN"/>
                  <a:t>\overrightarrow{AC}</a:t>
                </a:r>
                <a:r>
                  <a:rPr sz="2000">
                    <a:solidFill>
                      <a:srgbClr val="1E293B"/>
                    </a:solidFill>
                    <a:latin typeface="Calibri"/>
                  </a:rPr>
                  <a:t>, </a:t>
                </a:r>
                <a:r>
                  <a:rPr lang="vi-VN"/>
                  <a:t>\overrightarrow{AB}</a:t>
                </a:r>
                <a:r>
                  <a:rPr sz="2000">
                    <a:solidFill>
                      <a:srgbClr val="1E293B"/>
                    </a:solidFill>
                    <a:latin typeface="Calibri"/>
                  </a:rPr>
                  <a:t> + </a:t>
                </a:r>
                <a:r>
                  <a:rPr lang="vi-VN"/>
                  <a:t>\overrightarrow{AC}</a:t>
                </a:r>
                <a:r>
                  <a:rPr sz="2000">
                    <a:solidFill>
                      <a:srgbClr val="1E293B"/>
                    </a:solidFill>
                    <a:latin typeface="Calibri"/>
                  </a:rPr>
                  <a:t>.</a:t>
                </a:r>
              </a:p>
            </p:txBody>
          </p:sp>
        </mc:Fallback>
      </mc:AlternateContent>
      <p:sp>
        <p:nvSpPr>
          <p:cNvPr id="8" name="s1_nen"/>
          <p:cNvSpPr/>
          <p:nvPr/>
        </p:nvSpPr>
        <p:spPr>
          <a:xfrm>
            <a:off x="548640" y="2218944"/>
            <a:ext cx="81381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780897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4.8.</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CB</m:t>
                        </m:r>
                      </m:e>
                    </m:acc>
                    <m:r>
                      <a:rPr lang="vi-VN" sz="2000" b="0">
                        <a:solidFill>
                          <a:srgbClr val="1E293B"/>
                        </a:solidFill>
                        <a:latin typeface="Cambria Math" panose="02040503050406030204" pitchFamily="18" charset="0"/>
                      </a:rPr>
                      <m:t>|=a</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là đỉnh thứ tư của hình thoi </a:t>
                </a:r>
                <a14:m>
                  <m:oMath xmlns:m="http://schemas.openxmlformats.org/officeDocument/2006/math">
                    <m:r>
                      <a:rPr lang="vi-VN" sz="2000" b="0">
                        <a:solidFill>
                          <a:srgbClr val="1E293B"/>
                        </a:solidFill>
                        <a:latin typeface="Cambria Math" panose="02040503050406030204" pitchFamily="18" charset="0"/>
                      </a:rPr>
                      <m:t>ABDC</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|=AD=a</m:t>
                    </m:r>
                    <m:rad>
                      <m:radPr>
                        <m:degHide m:val="on"/>
                      </m:radPr>
                      <m:deg/>
                      <m:e>
                        <m:r>
                          <a:rPr lang="vi-VN" sz="2000" b="0">
                            <a:solidFill>
                              <a:srgbClr val="1E293B"/>
                            </a:solidFill>
                            <a:latin typeface="Cambria Math" panose="02040503050406030204" pitchFamily="18" charset="0"/>
                          </a:rPr>
                          <m:t>3</m:t>
                        </m:r>
                      </m:e>
                    </m:rad>
                  </m:oMath>
                </a14:m>
                <a:r>
                  <a:rPr sz="2000">
                    <a:solidFill>
                      <a:srgbClr val="1E293B"/>
                    </a:solidFill>
                    <a:latin typeface="Calibri"/>
                  </a:rPr>
                  <a:t>.</a:t>
                </a:r>
              </a:p>
            </p:txBody>
          </p:sp>
        </mc:Choice>
        <mc:Fallback>
          <p:sp>
            <p:nvSpPr>
              <p:cNvPr id="9" name="TextBox 8"/>
              <p:cNvSpPr txBox="1"/>
              <p:nvPr/>
            </p:nvSpPr>
            <p:spPr>
              <a:xfrm>
                <a:off x="713232" y="2255520"/>
                <a:ext cx="780897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4.8.</a:t>
                </a:r>
                <a:r>
                  <a:rPr sz="2000">
                    <a:solidFill>
                      <a:srgbClr val="1E293B"/>
                    </a:solidFill>
                    <a:latin typeface="Calibri"/>
                  </a:rPr>
                  <a:t> </a:t>
                </a:r>
                <a:r>
                  <a:rPr lang="vi-VN"/>
                  <a:t>|\overrightarrow{AB}-\overrightarrow{AC}|=|\overrightarrow{CB}|=a</a:t>
                </a:r>
                <a:r>
                  <a:rPr sz="2000">
                    <a:solidFill>
                      <a:srgbClr val="1E293B"/>
                    </a:solidFill>
                    <a:latin typeface="Calibri"/>
                  </a:rPr>
                  <a:t>; với </a:t>
                </a:r>
                <a:r>
                  <a:rPr lang="vi-VN"/>
                  <a:t>D</a:t>
                </a:r>
                <a:r>
                  <a:rPr sz="2000">
                    <a:solidFill>
                      <a:srgbClr val="1E293B"/>
                    </a:solidFill>
                    <a:latin typeface="Calibri"/>
                  </a:rPr>
                  <a:t> là đỉnh thứ tư của hình thoi </a:t>
                </a:r>
                <a:r>
                  <a:rPr lang="vi-VN"/>
                  <a:t>ABDC</a:t>
                </a:r>
                <a:r>
                  <a:rPr sz="2000">
                    <a:solidFill>
                      <a:srgbClr val="1E293B"/>
                    </a:solidFill>
                    <a:latin typeface="Calibri"/>
                  </a:rPr>
                  <a:t>: </a:t>
                </a:r>
                <a:r>
                  <a:rPr lang="vi-VN"/>
                  <a:t>|\overrightarrow{AB}+\overrightarrow{AC}|=AD=a\sqrt{3}</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157728"/>
                <a:ext cx="81381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4.9.</a:t>
                </a:r>
                <a:r>
                  <a:rPr sz="2000">
                    <a:solidFill>
                      <a:srgbClr val="1E293B"/>
                    </a:solidFill>
                    <a:latin typeface="Calibri"/>
                  </a:rPr>
                  <a:t> Hình 4.19 biểu diễn hai lực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 cùng tác động lên một vật, cho </a:t>
                </a:r>
                <a14:m>
                  <m:oMath xmlns:m="http://schemas.openxmlformats.org/officeDocument/2006/math">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|=3</m:t>
                    </m:r>
                  </m:oMath>
                </a14:m>
                <a:r>
                  <a:rPr sz="2000">
                    <a:solidFill>
                      <a:srgbClr val="1E293B"/>
                    </a:solidFill>
                    <a:latin typeface="Calibri"/>
                  </a:rPr>
                  <a:t> N, </a:t>
                </a:r>
                <a14:m>
                  <m:oMath xmlns:m="http://schemas.openxmlformats.org/officeDocument/2006/math">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r>
                      <a:rPr lang="vi-VN" sz="2000" b="0">
                        <a:solidFill>
                          <a:srgbClr val="1E293B"/>
                        </a:solidFill>
                        <a:latin typeface="Cambria Math" panose="02040503050406030204" pitchFamily="18" charset="0"/>
                      </a:rPr>
                      <m:t>|=2</m:t>
                    </m:r>
                  </m:oMath>
                </a14:m>
                <a:r>
                  <a:rPr sz="2000">
                    <a:solidFill>
                      <a:srgbClr val="1E293B"/>
                    </a:solidFill>
                    <a:latin typeface="Calibri"/>
                  </a:rPr>
                  <a:t> N. Tính độ lớn của hợp lực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a:t>
                </a:r>
              </a:p>
            </p:txBody>
          </p:sp>
        </mc:Choice>
        <mc:Fallback>
          <p:sp>
            <p:nvSpPr>
              <p:cNvPr id="10" name="TextBox 9"/>
              <p:cNvSpPr txBox="1"/>
              <p:nvPr/>
            </p:nvSpPr>
            <p:spPr>
              <a:xfrm>
                <a:off x="548640" y="3157728"/>
                <a:ext cx="81381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4.9.</a:t>
                </a:r>
                <a:r>
                  <a:rPr sz="2000">
                    <a:solidFill>
                      <a:srgbClr val="1E293B"/>
                    </a:solidFill>
                    <a:latin typeface="Calibri"/>
                  </a:rPr>
                  <a:t> Hình 4.19 biểu diễn hai lực </a:t>
                </a:r>
                <a:r>
                  <a:rPr lang="vi-VN"/>
                  <a:t>\vec{F_1},\ \vec{F_2}</a:t>
                </a:r>
                <a:r>
                  <a:rPr sz="2000">
                    <a:solidFill>
                      <a:srgbClr val="1E293B"/>
                    </a:solidFill>
                    <a:latin typeface="Calibri"/>
                  </a:rPr>
                  <a:t> cùng tác động lên một vật, cho </a:t>
                </a:r>
                <a:r>
                  <a:rPr lang="vi-VN"/>
                  <a:t>|\vec{F_1}|=3</a:t>
                </a:r>
                <a:r>
                  <a:rPr sz="2000">
                    <a:solidFill>
                      <a:srgbClr val="1E293B"/>
                    </a:solidFill>
                    <a:latin typeface="Calibri"/>
                  </a:rPr>
                  <a:t> N, </a:t>
                </a:r>
                <a:r>
                  <a:rPr lang="vi-VN"/>
                  <a:t>|\vec{F_2}|=2</a:t>
                </a:r>
                <a:r>
                  <a:rPr sz="2000">
                    <a:solidFill>
                      <a:srgbClr val="1E293B"/>
                    </a:solidFill>
                    <a:latin typeface="Calibri"/>
                  </a:rPr>
                  <a:t> N. Tính độ lớn của hợp lực </a:t>
                </a:r>
                <a:r>
                  <a:rPr lang="vi-VN"/>
                  <a:t>\vec{F_1}+\vec{F_2}</a:t>
                </a:r>
                <a:r>
                  <a:rPr sz="2000">
                    <a:solidFill>
                      <a:srgbClr val="1E293B"/>
                    </a:solidFill>
                    <a:latin typeface="Calibri"/>
                  </a:rPr>
                  <a:t>.</a:t>
                </a:r>
              </a:p>
            </p:txBody>
          </p:sp>
        </mc:Fallback>
      </mc:AlternateContent>
      <p:sp>
        <p:nvSpPr>
          <p:cNvPr id="11" name="s3_nen"/>
          <p:cNvSpPr/>
          <p:nvPr/>
        </p:nvSpPr>
        <p:spPr>
          <a:xfrm>
            <a:off x="548640" y="4309872"/>
            <a:ext cx="813816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346448"/>
                <a:ext cx="780897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4.9.</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sSup>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3</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2</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+2·3·2</m:t>
                    </m:r>
                    <m:r>
                      <m:rPr>
                        <m:sty m:val="p"/>
                      </m:rPr>
                      <a:rPr lang="vi-VN" sz="2000" b="0">
                        <a:solidFill>
                          <a:srgbClr val="1E293B"/>
                        </a:solidFill>
                        <a:latin typeface="Cambria Math" panose="02040503050406030204" pitchFamily="18" charset="0"/>
                      </a:rPr>
                      <m:t>cos</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120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=7</m:t>
                    </m:r>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7</m:t>
                        </m:r>
                      </m:e>
                    </m:rad>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65</m:t>
                    </m:r>
                  </m:oMath>
                </a14:m>
                <a:r>
                  <a:rPr sz="2000">
                    <a:solidFill>
                      <a:srgbClr val="1E293B"/>
                    </a:solidFill>
                    <a:latin typeface="Calibri"/>
                  </a:rPr>
                  <a:t> (N).</a:t>
                </a:r>
              </a:p>
            </p:txBody>
          </p:sp>
        </mc:Choice>
        <mc:Fallback>
          <p:sp>
            <p:nvSpPr>
              <p:cNvPr id="12" name="TextBox 11"/>
              <p:cNvSpPr txBox="1"/>
              <p:nvPr/>
            </p:nvSpPr>
            <p:spPr>
              <a:xfrm>
                <a:off x="713232" y="4346448"/>
                <a:ext cx="780897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4.9.</a:t>
                </a:r>
                <a:r>
                  <a:rPr sz="2000">
                    <a:solidFill>
                      <a:srgbClr val="1E293B"/>
                    </a:solidFill>
                    <a:latin typeface="Calibri"/>
                  </a:rPr>
                  <a:t> </a:t>
                </a:r>
                <a:r>
                  <a:rPr lang="vi-VN"/>
                  <a:t>|\vec{F_1}+\vec{F_2}|^2=3^2+2^2+2\cdot 3\cdot 2\cos 120^\circ=7</a:t>
                </a:r>
                <a:r>
                  <a:rPr sz="2000">
                    <a:solidFill>
                      <a:srgbClr val="1E293B"/>
                    </a:solidFill>
                    <a:latin typeface="Calibri"/>
                  </a:rPr>
                  <a:t> ⇒ </a:t>
                </a:r>
                <a:r>
                  <a:rPr lang="vi-VN"/>
                  <a:t>|\vec{F_1}+\vec{F_2}|=\sqrt{7}\approx 2{,}65</a:t>
                </a:r>
                <a:r>
                  <a:rPr sz="2000">
                    <a:solidFill>
                      <a:srgbClr val="1E293B"/>
                    </a:solidFill>
                    <a:latin typeface="Calibri"/>
                  </a:rPr>
                  <a:t> (N).</a:t>
                </a:r>
              </a:p>
            </p:txBody>
          </p:sp>
        </mc:Fallback>
      </mc:AlternateContent>
      <p:pic>
        <p:nvPicPr>
          <p:cNvPr id="13" name="Picture 12" descr="h419.png"/>
          <p:cNvPicPr>
            <a:picLocks noChangeAspect="1"/>
          </p:cNvPicPr>
          <p:nvPr/>
        </p:nvPicPr>
        <p:blipFill>
          <a:blip r:embed="rId3"/>
          <a:stretch>
            <a:fillRect/>
          </a:stretch>
        </p:blipFill>
        <p:spPr>
          <a:xfrm>
            <a:off x="8869680" y="1427706"/>
            <a:ext cx="2834640" cy="20823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4.10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30</a:t>
            </a:r>
          </a:p>
        </p:txBody>
      </p:sp>
      <p:sp>
        <p:nvSpPr>
          <p:cNvPr id="7" name="TextBox 6"/>
          <p:cNvSpPr txBox="1"/>
          <p:nvPr/>
        </p:nvSpPr>
        <p:spPr>
          <a:xfrm>
            <a:off x="548640" y="1371600"/>
            <a:ext cx="8138160" cy="23073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4.10.</a:t>
            </a:r>
            <a:r>
              <a:rPr sz="2000">
                <a:solidFill>
                  <a:srgbClr val="1E293B"/>
                </a:solidFill>
                <a:latin typeface="Calibri"/>
              </a:rPr>
              <a:t> Hai con tàu xuất phát cùng lúc từ bờ bên này để sang bờ bên kia của dòng sông với vận tốc riêng không đổi và có độ lớn bằng nhau. Hai tàu luôn được giữ lái sao cho chúng tạo với bờ cùng một góc nhọn nhưng một tàu hướng xuống hạ lưu, một tàu hướng lên thượng nguồn. Vận tốc dòng nước là đáng kể, các yếu tố bên ngoài khác không ảnh hưởng tới vận tốc của các tàu. Hỏi tàu nào sang bờ bên kia trước?</a:t>
            </a:r>
          </a:p>
        </p:txBody>
      </p:sp>
      <p:sp>
        <p:nvSpPr>
          <p:cNvPr id="8" name="s1_nen"/>
          <p:cNvSpPr/>
          <p:nvPr/>
        </p:nvSpPr>
        <p:spPr>
          <a:xfrm>
            <a:off x="548640" y="3742944"/>
            <a:ext cx="813816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779520"/>
                <a:ext cx="780897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Vận tốc dòng nước song song với bờ, không làm thay đổi thành phần vận tốc vuông góc với bờ. Hai tàu có cùng thành phần vuông góc </a:t>
                </a:r>
                <a14:m>
                  <m:oMath xmlns:m="http://schemas.openxmlformats.org/officeDocument/2006/math">
                    <m:r>
                      <a:rPr lang="vi-VN" sz="2000" b="0">
                        <a:solidFill>
                          <a:srgbClr val="1E293B"/>
                        </a:solidFill>
                        <a:latin typeface="Cambria Math" panose="02040503050406030204" pitchFamily="18" charset="0"/>
                      </a:rPr>
                      <m:t>|</m:t>
                    </m:r>
                    <m:acc>
                      <m:accPr>
                        <m:chr m:val="⃗"/>
                      </m:accPr>
                      <m:e>
                        <m:sSub>
                          <m:e>
                            <m:r>
                              <a:rPr lang="vi-VN" sz="2000" b="0">
                                <a:solidFill>
                                  <a:srgbClr val="1E293B"/>
                                </a:solidFill>
                                <a:latin typeface="Cambria Math" panose="02040503050406030204" pitchFamily="18" charset="0"/>
                              </a:rPr>
                              <m:t>v</m:t>
                            </m:r>
                          </m:e>
                          <m:sub>
                            <m:r>
                              <a:rPr lang="vi-VN" sz="2000" b="0">
                                <a:solidFill>
                                  <a:srgbClr val="1E293B"/>
                                </a:solidFill>
                                <a:latin typeface="Cambria Math" panose="02040503050406030204" pitchFamily="18" charset="0"/>
                              </a:rPr>
                              <m:t>r</m:t>
                            </m:r>
                          </m:sub>
                        </m:sSub>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sin</m:t>
                    </m:r>
                    <m:r>
                      <a:rPr lang="vi-VN" sz="2000" b="0">
                        <a:solidFill>
                          <a:srgbClr val="1E293B"/>
                        </a:solidFill>
                        <a:latin typeface="Cambria Math" panose="02040503050406030204" pitchFamily="18" charset="0"/>
                      </a:rPr>
                      <m:t>α</m:t>
                    </m:r>
                  </m:oMath>
                </a14:m>
                <a:r>
                  <a:rPr sz="2000">
                    <a:solidFill>
                      <a:srgbClr val="1E293B"/>
                    </a:solidFill>
                    <a:latin typeface="Calibri"/>
                  </a:rPr>
                  <a:t> nên </a:t>
                </a:r>
                <a:r>
                  <a:rPr sz="2000" b="1">
                    <a:solidFill>
                      <a:srgbClr val="1E293B"/>
                    </a:solidFill>
                    <a:latin typeface="Calibri"/>
                  </a:rPr>
                  <a:t>sang bờ bên kia cùng lúc</a:t>
                </a:r>
                <a:r>
                  <a:rPr sz="2000">
                    <a:solidFill>
                      <a:srgbClr val="1E293B"/>
                    </a:solidFill>
                    <a:latin typeface="Calibri"/>
                  </a:rPr>
                  <a:t>.</a:t>
                </a:r>
              </a:p>
            </p:txBody>
          </p:sp>
        </mc:Choice>
        <mc:Fallback>
          <p:sp>
            <p:nvSpPr>
              <p:cNvPr id="9" name="TextBox 8"/>
              <p:cNvSpPr txBox="1"/>
              <p:nvPr/>
            </p:nvSpPr>
            <p:spPr>
              <a:xfrm>
                <a:off x="713232" y="3779520"/>
                <a:ext cx="780897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Vận tốc dòng nước song song với bờ, không làm thay đổi thành phần vận tốc vuông góc với bờ. Hai tàu có cùng thành phần vuông góc </a:t>
                </a:r>
                <a:r>
                  <a:rPr lang="vi-VN"/>
                  <a:t>|\vec{v_r}|\sin\alpha</a:t>
                </a:r>
                <a:r>
                  <a:rPr sz="2000">
                    <a:solidFill>
                      <a:srgbClr val="1E293B"/>
                    </a:solidFill>
                    <a:latin typeface="Calibri"/>
                  </a:rPr>
                  <a:t> nên </a:t>
                </a:r>
                <a:r>
                  <a:rPr sz="2000" b="1">
                    <a:solidFill>
                      <a:srgbClr val="1E293B"/>
                    </a:solidFill>
                    <a:latin typeface="Calibri"/>
                  </a:rPr>
                  <a:t>sang bờ bên kia cùng lúc</a:t>
                </a:r>
                <a:r>
                  <a:rPr sz="2000">
                    <a:solidFill>
                      <a:srgbClr val="1E293B"/>
                    </a:solidFill>
                    <a:latin typeface="Calibri"/>
                  </a:rPr>
                  <a:t>.</a:t>
                </a:r>
              </a:p>
            </p:txBody>
          </p:sp>
        </mc:Fallback>
      </mc:AlternateContent>
      <p:pic>
        <p:nvPicPr>
          <p:cNvPr id="10" name="Picture 9" descr="tau.png"/>
          <p:cNvPicPr>
            <a:picLocks noChangeAspect="1"/>
          </p:cNvPicPr>
          <p:nvPr/>
        </p:nvPicPr>
        <p:blipFill>
          <a:blip r:embed="rId3"/>
          <a:stretch>
            <a:fillRect/>
          </a:stretch>
        </p:blipFill>
        <p:spPr>
          <a:xfrm>
            <a:off x="8869680" y="1626816"/>
            <a:ext cx="2834640" cy="16841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31</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https://trangtu66.github.io/Taode_thi_online/cc_bai8_t10.html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4.6 – 4.10.</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9. Tích của một vectơ với một số</a:t>
            </a:r>
            <a:r>
              <a:rPr sz="2200">
                <a:solidFill>
                  <a:srgbClr val="1E293B"/>
                </a:solidFill>
                <a:latin typeface="Calibri"/>
              </a:rPr>
              <a:t> (SGK tr.55).</a:t>
            </a:r>
          </a:p>
          <a:p>
            <a:pPr algn="l" marL="365760" indent="-365760">
              <a:spcAft>
                <a:spcPts val="800"/>
              </a:spcAft>
              <a:buClr>
                <a:srgbClr val="1E40AF"/>
              </a:buClr>
              <a:buFont typeface="Arial"/>
              <a:buChar char="•"/>
            </a:pPr>
            <a:r>
              <a:rPr sz="2200">
                <a:solidFill>
                  <a:srgbClr val="1E293B"/>
                </a:solidFill>
                <a:latin typeface="Calibri"/>
              </a:rPr>
              <a:t>Tìm hiểu: trong trò kéo co, khi nào sợi dây đứng yên? Giải thích bằng vectơ.</a:t>
            </a:r>
          </a:p>
        </p:txBody>
      </p:sp>
      <p:pic>
        <p:nvPicPr>
          <p:cNvPr id="8" name="Picture 7" descr="QR_CungCo_Bai8_Toan10.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32</a:t>
            </a:r>
          </a:p>
        </p:txBody>
      </p:sp>
      <p:pic>
        <p:nvPicPr>
          <p:cNvPr id="7" name="Picture 6" descr="SoDoTuDuy_TOAN10_Bai8_TongHieuHaiVecto_T28-29.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33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Viết </a:t>
                </a:r>
                <a14:m>
                  <m:oMath xmlns:m="http://schemas.openxmlformats.org/officeDocument/2006/math">
                    <m:d>
                      <m:dPr>
                        <m:begChr m:val="|"/>
                        <m:sepChr m:val=""/>
                        <m:endChr m:val="|"/>
                      </m:dPr>
                      <m:e>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e>
                    </m:d>
                  </m:oMath>
                </a14:m>
                <a:r>
                  <a:rPr sz="2100">
                    <a:solidFill>
                      <a:srgbClr val="1E293B"/>
                    </a:solidFill>
                    <a:latin typeface="Calibri"/>
                  </a:rPr>
                  <a:t> (chỉ đúng khi cùng hướng) – Bài 4.8, 4.9.</a:t>
                </a:r>
              </a:p>
              <a:p>
                <a:pPr algn="l" marL="365760" indent="-365760">
                  <a:spcAft>
                    <a:spcPts val="800"/>
                  </a:spcAft>
                  <a:buClr>
                    <a:srgbClr val="1E40AF"/>
                  </a:buClr>
                  <a:buFont typeface="Arial"/>
                  <a:buChar char="•"/>
                </a:pPr>
                <a:r>
                  <a:rPr sz="2100">
                    <a:solidFill>
                      <a:srgbClr val="1E293B"/>
                    </a:solidFill>
                    <a:latin typeface="Calibri"/>
                  </a:rPr>
                  <a:t>Nhầm quy tắc hiệu: </a:t>
                </a:r>
                <a14:m>
                  <m:oMath xmlns:m="http://schemas.openxmlformats.org/officeDocument/2006/math">
                    <m:acc>
                      <m:accPr>
                        <m:chr m:val="⃗"/>
                      </m:accPr>
                      <m:e>
                        <m:r>
                          <a:rPr lang="vi-VN" sz="2100" b="0">
                            <a:solidFill>
                              <a:srgbClr val="1E293B"/>
                            </a:solidFill>
                            <a:latin typeface="Cambria Math" panose="02040503050406030204" pitchFamily="18" charset="0"/>
                          </a:rPr>
                          <m:t>OB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OA</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BA</m:t>
                        </m:r>
                      </m:e>
                    </m:acc>
                  </m:oMath>
                </a14:m>
                <a:r>
                  <a:rPr sz="2100">
                    <a:solidFill>
                      <a:srgbClr val="1E293B"/>
                    </a:solidFill>
                    <a:latin typeface="Calibri"/>
                  </a:rPr>
                  <a:t> (đúng là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Quy tắc hình bình hành dùng sai đỉnh: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AD</m:t>
                        </m:r>
                      </m:e>
                    </m:acc>
                  </m:oMath>
                </a14:m>
                <a:r>
                  <a:rPr sz="2100">
                    <a:solidFill>
                      <a:srgbClr val="1E293B"/>
                    </a:solidFill>
                    <a:latin typeface="Calibri"/>
                  </a:rPr>
                  <a:t> phải là đường chéo xuất phát từ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Ví dụ 4: nghĩ phải lái chếch ngược dòng mới nhanh nhất (đó là cách đến đúng điểm đối diện, không phải nhanh nhất).</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Viết </a:t>
                </a:r>
                <a:r>
                  <a:rPr lang="vi-VN"/>
                  <a:t>|\vec{a}+\vec{b}|=|\vec{a}|+|\vec{b}|</a:t>
                </a:r>
                <a:r>
                  <a:rPr sz="2100">
                    <a:solidFill>
                      <a:srgbClr val="1E293B"/>
                    </a:solidFill>
                    <a:latin typeface="Calibri"/>
                  </a:rPr>
                  <a:t> (chỉ đúng khi cùng hướng) – Bài 4.8, 4.9.</a:t>
                </a:r>
              </a:p>
              <a:p>
                <a:pPr algn="l" marL="365760" indent="-365760">
                  <a:spcAft>
                    <a:spcPts val="800"/>
                  </a:spcAft>
                  <a:buClr>
                    <a:srgbClr val="1E40AF"/>
                  </a:buClr>
                  <a:buFont typeface="Arial"/>
                  <a:buChar char="•"/>
                </a:pPr>
                <a:r>
                  <a:rPr sz="2100">
                    <a:solidFill>
                      <a:srgbClr val="1E293B"/>
                    </a:solidFill>
                    <a:latin typeface="Calibri"/>
                  </a:rPr>
                  <a:t>Nhầm quy tắc hiệu: </a:t>
                </a:r>
                <a:r>
                  <a:rPr lang="vi-VN"/>
                  <a:t>\overrightarrow{OB}</a:t>
                </a:r>
                <a:r>
                  <a:rPr sz="2100">
                    <a:solidFill>
                      <a:srgbClr val="1E293B"/>
                    </a:solidFill>
                    <a:latin typeface="Calibri"/>
                  </a:rPr>
                  <a:t> − </a:t>
                </a:r>
                <a:r>
                  <a:rPr lang="vi-VN"/>
                  <a:t>\overrightarrow{OA}</a:t>
                </a:r>
                <a:r>
                  <a:rPr sz="2100">
                    <a:solidFill>
                      <a:srgbClr val="1E293B"/>
                    </a:solidFill>
                    <a:latin typeface="Calibri"/>
                  </a:rPr>
                  <a:t> = </a:t>
                </a:r>
                <a:r>
                  <a:rPr lang="vi-VN"/>
                  <a:t>\overrightarrow{BA}</a:t>
                </a:r>
                <a:r>
                  <a:rPr sz="2100">
                    <a:solidFill>
                      <a:srgbClr val="1E293B"/>
                    </a:solidFill>
                    <a:latin typeface="Calibri"/>
                  </a:rPr>
                  <a:t> (đúng là </a:t>
                </a:r>
                <a:r>
                  <a:rPr lang="vi-VN"/>
                  <a:t>\overrightarrow{AB}</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Quy tắc hình bình hành dùng sai đỉnh: </a:t>
                </a:r>
                <a:r>
                  <a:rPr lang="vi-VN"/>
                  <a:t>\overrightarrow{AB}</a:t>
                </a:r>
                <a:r>
                  <a:rPr sz="2100">
                    <a:solidFill>
                      <a:srgbClr val="1E293B"/>
                    </a:solidFill>
                    <a:latin typeface="Calibri"/>
                  </a:rPr>
                  <a:t> + </a:t>
                </a:r>
                <a:r>
                  <a:rPr lang="vi-VN"/>
                  <a:t>\overrightarrow{AD}</a:t>
                </a:r>
                <a:r>
                  <a:rPr sz="2100">
                    <a:solidFill>
                      <a:srgbClr val="1E293B"/>
                    </a:solidFill>
                    <a:latin typeface="Calibri"/>
                  </a:rPr>
                  <a:t> phải là đường chéo xuất phát từ </a:t>
                </a:r>
                <a:r>
                  <a:rPr lang="vi-VN"/>
                  <a:t>A</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Ví dụ 4: nghĩ phải lái chếch ngược dòng mới nhanh nhất (đó là cách đến đúng điểm đối diện, không phải nhanh nhất).</a:t>
                </a: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Tổng và hiệu của hai vectơ – Toán 10          34</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dùng giấy kẻ ô vẽ vectơ nối đuôi; giao HĐ1, HĐ2, Ví dụ 1, Bài 4.6a.</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4.9, 4.10; chứng minh trọng tâm tứ giác (Luyện tập 2) bằng nhiều cách.</a:t>
            </a:r>
          </a:p>
          <a:p>
            <a:pPr algn="l" marL="365760" indent="-365760">
              <a:spcAft>
                <a:spcPts val="800"/>
              </a:spcAft>
              <a:buClr>
                <a:srgbClr val="1E40AF"/>
              </a:buClr>
              <a:buFont typeface="Arial"/>
              <a:buChar char="•"/>
            </a:pPr>
            <a:r>
              <a:rPr sz="2000" b="1">
                <a:solidFill>
                  <a:srgbClr val="1E293B"/>
                </a:solidFill>
                <a:latin typeface="Calibri"/>
              </a:rPr>
              <a:t>10A7 (khiếm thính):</a:t>
            </a:r>
            <a:r>
              <a:rPr sz="2000">
                <a:solidFill>
                  <a:srgbClr val="1E293B"/>
                </a:solidFill>
                <a:latin typeface="Calibri"/>
              </a:rPr>
              <a:t> luật chơi, yêu cầu có chữ trên slide, video có phụ đề. </a:t>
            </a:r>
            <a:r>
              <a:rPr sz="2000" b="1">
                <a:solidFill>
                  <a:srgbClr val="1E293B"/>
                </a:solidFill>
                <a:latin typeface="Calibri"/>
              </a:rPr>
              <a:t>10A4:</a:t>
            </a:r>
            <a:r>
              <a:rPr sz="2000">
                <a:solidFill>
                  <a:srgbClr val="1E293B"/>
                </a:solidFill>
                <a:latin typeface="Calibri"/>
              </a:rPr>
              <a:t> trả lời tại chỗ, không bắt buộc chạy tiếp sức.</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vẽ bảng; GeoGebra thay bằng dây và ròng rọc minh hoạ hợp lực.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